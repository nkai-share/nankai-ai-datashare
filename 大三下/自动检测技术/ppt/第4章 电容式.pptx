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handoutMasterIdLst>
    <p:handoutMasterId r:id="rId51"/>
  </p:handoutMasterIdLst>
  <p:sldIdLst>
    <p:sldId id="259" r:id="rId2"/>
    <p:sldId id="321" r:id="rId3"/>
    <p:sldId id="281" r:id="rId4"/>
    <p:sldId id="317" r:id="rId5"/>
    <p:sldId id="282" r:id="rId6"/>
    <p:sldId id="366" r:id="rId7"/>
    <p:sldId id="371" r:id="rId8"/>
    <p:sldId id="367" r:id="rId9"/>
    <p:sldId id="368" r:id="rId10"/>
    <p:sldId id="369" r:id="rId11"/>
    <p:sldId id="372" r:id="rId12"/>
    <p:sldId id="398" r:id="rId13"/>
    <p:sldId id="319" r:id="rId14"/>
    <p:sldId id="293" r:id="rId15"/>
    <p:sldId id="322" r:id="rId16"/>
    <p:sldId id="295" r:id="rId17"/>
    <p:sldId id="323" r:id="rId18"/>
    <p:sldId id="320" r:id="rId19"/>
    <p:sldId id="375" r:id="rId20"/>
    <p:sldId id="376" r:id="rId21"/>
    <p:sldId id="377" r:id="rId22"/>
    <p:sldId id="378" r:id="rId23"/>
    <p:sldId id="294" r:id="rId24"/>
    <p:sldId id="373" r:id="rId25"/>
    <p:sldId id="374" r:id="rId26"/>
    <p:sldId id="303" r:id="rId27"/>
    <p:sldId id="370" r:id="rId28"/>
    <p:sldId id="379" r:id="rId29"/>
    <p:sldId id="304" r:id="rId30"/>
    <p:sldId id="305" r:id="rId31"/>
    <p:sldId id="324" r:id="rId32"/>
    <p:sldId id="380" r:id="rId33"/>
    <p:sldId id="381" r:id="rId34"/>
    <p:sldId id="325" r:id="rId35"/>
    <p:sldId id="306" r:id="rId36"/>
    <p:sldId id="326" r:id="rId37"/>
    <p:sldId id="308" r:id="rId38"/>
    <p:sldId id="383" r:id="rId39"/>
    <p:sldId id="384" r:id="rId40"/>
    <p:sldId id="315" r:id="rId41"/>
    <p:sldId id="316" r:id="rId42"/>
    <p:sldId id="397" r:id="rId43"/>
    <p:sldId id="396" r:id="rId44"/>
    <p:sldId id="386" r:id="rId45"/>
    <p:sldId id="387" r:id="rId46"/>
    <p:sldId id="389" r:id="rId47"/>
    <p:sldId id="311" r:id="rId48"/>
    <p:sldId id="328"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FF33"/>
    <a:srgbClr val="00FF00"/>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9" autoAdjust="0"/>
    <p:restoredTop sz="94660"/>
  </p:normalViewPr>
  <p:slideViewPr>
    <p:cSldViewPr snapToGrid="0">
      <p:cViewPr varScale="1">
        <p:scale>
          <a:sx n="90" d="100"/>
          <a:sy n="90" d="100"/>
        </p:scale>
        <p:origin x="630" y="90"/>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1677" y="60"/>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D1EF4F-0448-4C90-AE31-738F545EF7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a:extLst>
              <a:ext uri="{FF2B5EF4-FFF2-40B4-BE49-F238E27FC236}">
                <a16:creationId xmlns:a16="http://schemas.microsoft.com/office/drawing/2014/main" id="{3ECBE2B2-580F-41EE-AAB5-BA5E8053BD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A6A366-BC46-4200-ACAB-AB93AE17D30E}" type="datetimeFigureOut">
              <a:rPr lang="en-001" smtClean="0"/>
              <a:t>04/02/2026</a:t>
            </a:fld>
            <a:endParaRPr lang="en-001"/>
          </a:p>
        </p:txBody>
      </p:sp>
      <p:sp>
        <p:nvSpPr>
          <p:cNvPr id="4" name="Footer Placeholder 3">
            <a:extLst>
              <a:ext uri="{FF2B5EF4-FFF2-40B4-BE49-F238E27FC236}">
                <a16:creationId xmlns:a16="http://schemas.microsoft.com/office/drawing/2014/main" id="{1E7E5C37-16D7-4916-932D-06D87D778F6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5" name="Slide Number Placeholder 4">
            <a:extLst>
              <a:ext uri="{FF2B5EF4-FFF2-40B4-BE49-F238E27FC236}">
                <a16:creationId xmlns:a16="http://schemas.microsoft.com/office/drawing/2014/main" id="{B0A8B49A-5CEB-4766-AF4D-F7DAAA9D96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E36C54-03B4-4C86-848F-8FA8E5B87313}" type="slidenum">
              <a:rPr lang="en-001" smtClean="0"/>
              <a:t>‹#›</a:t>
            </a:fld>
            <a:endParaRPr lang="en-001"/>
          </a:p>
        </p:txBody>
      </p:sp>
    </p:spTree>
    <p:extLst>
      <p:ext uri="{BB962C8B-B14F-4D97-AF65-F5344CB8AC3E}">
        <p14:creationId xmlns:p14="http://schemas.microsoft.com/office/powerpoint/2010/main" val="35571229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2026/4/2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extLst>
      <p:ext uri="{BB962C8B-B14F-4D97-AF65-F5344CB8AC3E}">
        <p14:creationId xmlns:p14="http://schemas.microsoft.com/office/powerpoint/2010/main" val="941245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a:t>
            </a:fld>
            <a:endParaRPr lang="zh-CN" altLang="en-US"/>
          </a:p>
        </p:txBody>
      </p:sp>
    </p:spTree>
    <p:extLst>
      <p:ext uri="{BB962C8B-B14F-4D97-AF65-F5344CB8AC3E}">
        <p14:creationId xmlns:p14="http://schemas.microsoft.com/office/powerpoint/2010/main" val="823194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extLst>
      <p:ext uri="{BB962C8B-B14F-4D97-AF65-F5344CB8AC3E}">
        <p14:creationId xmlns:p14="http://schemas.microsoft.com/office/powerpoint/2010/main" val="2189633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extLst>
      <p:ext uri="{BB962C8B-B14F-4D97-AF65-F5344CB8AC3E}">
        <p14:creationId xmlns:p14="http://schemas.microsoft.com/office/powerpoint/2010/main" val="75465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3841133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extLst>
      <p:ext uri="{BB962C8B-B14F-4D97-AF65-F5344CB8AC3E}">
        <p14:creationId xmlns:p14="http://schemas.microsoft.com/office/powerpoint/2010/main" val="3405460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1162752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11</a:t>
            </a:fld>
            <a:endParaRPr lang="zh-CN" altLang="en-US"/>
          </a:p>
        </p:txBody>
      </p:sp>
    </p:spTree>
    <p:extLst>
      <p:ext uri="{BB962C8B-B14F-4D97-AF65-F5344CB8AC3E}">
        <p14:creationId xmlns:p14="http://schemas.microsoft.com/office/powerpoint/2010/main" val="3781936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extLst>
      <p:ext uri="{BB962C8B-B14F-4D97-AF65-F5344CB8AC3E}">
        <p14:creationId xmlns:p14="http://schemas.microsoft.com/office/powerpoint/2010/main" val="3384007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extLst>
      <p:ext uri="{BB962C8B-B14F-4D97-AF65-F5344CB8AC3E}">
        <p14:creationId xmlns:p14="http://schemas.microsoft.com/office/powerpoint/2010/main" val="4258271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extLst>
      <p:ext uri="{BB962C8B-B14F-4D97-AF65-F5344CB8AC3E}">
        <p14:creationId xmlns:p14="http://schemas.microsoft.com/office/powerpoint/2010/main" val="3967244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2000075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extLst>
      <p:ext uri="{BB962C8B-B14F-4D97-AF65-F5344CB8AC3E}">
        <p14:creationId xmlns:p14="http://schemas.microsoft.com/office/powerpoint/2010/main" val="3349088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2972459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extLst>
      <p:ext uri="{BB962C8B-B14F-4D97-AF65-F5344CB8AC3E}">
        <p14:creationId xmlns:p14="http://schemas.microsoft.com/office/powerpoint/2010/main" val="39975108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extLst>
      <p:ext uri="{BB962C8B-B14F-4D97-AF65-F5344CB8AC3E}">
        <p14:creationId xmlns:p14="http://schemas.microsoft.com/office/powerpoint/2010/main" val="2123492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1896669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extLst>
      <p:ext uri="{BB962C8B-B14F-4D97-AF65-F5344CB8AC3E}">
        <p14:creationId xmlns:p14="http://schemas.microsoft.com/office/powerpoint/2010/main" val="5937141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35494169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23060854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extLst>
      <p:ext uri="{BB962C8B-B14F-4D97-AF65-F5344CB8AC3E}">
        <p14:creationId xmlns:p14="http://schemas.microsoft.com/office/powerpoint/2010/main" val="14760807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extLst>
      <p:ext uri="{BB962C8B-B14F-4D97-AF65-F5344CB8AC3E}">
        <p14:creationId xmlns:p14="http://schemas.microsoft.com/office/powerpoint/2010/main" val="34624414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26137594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11368854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4132862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extLst>
      <p:ext uri="{BB962C8B-B14F-4D97-AF65-F5344CB8AC3E}">
        <p14:creationId xmlns:p14="http://schemas.microsoft.com/office/powerpoint/2010/main" val="22644302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37935191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44</a:t>
            </a:fld>
            <a:endParaRPr lang="zh-CN" altLang="en-US"/>
          </a:p>
        </p:txBody>
      </p:sp>
    </p:spTree>
    <p:extLst>
      <p:ext uri="{BB962C8B-B14F-4D97-AF65-F5344CB8AC3E}">
        <p14:creationId xmlns:p14="http://schemas.microsoft.com/office/powerpoint/2010/main" val="31028638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extLst>
      <p:ext uri="{BB962C8B-B14F-4D97-AF65-F5344CB8AC3E}">
        <p14:creationId xmlns:p14="http://schemas.microsoft.com/office/powerpoint/2010/main" val="32790208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46</a:t>
            </a:fld>
            <a:endParaRPr lang="zh-CN" altLang="en-US"/>
          </a:p>
        </p:txBody>
      </p:sp>
    </p:spTree>
    <p:extLst>
      <p:ext uri="{BB962C8B-B14F-4D97-AF65-F5344CB8AC3E}">
        <p14:creationId xmlns:p14="http://schemas.microsoft.com/office/powerpoint/2010/main" val="17164066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70C2627-5E11-4556-9137-C9FEA38A8C64}" type="datetime1">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CC03C2A-4C23-4720-AAEE-6DA564749DFB}" type="datetime1">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1F629BC-FB9C-4D9B-9DD7-E4C3251D763B}" type="datetime1">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098CAA1-6CF0-4703-813F-206EDE0A7C7A}" type="datetime1">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E56C943-7366-4959-8D30-C5B13ECEC76C}" type="datetime1">
              <a:rPr lang="zh-CN" altLang="en-US" smtClean="0"/>
              <a:t>2026/4/2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5E40FF0-4527-45A9-9EB9-5DFD3C676069}" type="datetime1">
              <a:rPr lang="zh-CN" altLang="en-US" smtClean="0"/>
              <a:t>2026/4/2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BD1CFDE-580D-4344-A229-8B5FE2B09A28}" type="datetime1">
              <a:rPr lang="zh-CN" altLang="en-US" smtClean="0"/>
              <a:t>2026/4/2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4EA5F68-E06C-450C-9BE1-79ACDDC281EA}" type="datetime1">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277643B-768A-46D2-A892-C4EF527C2644}" type="datetime1">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1039A53-3248-45AF-AD16-10F1A5143C0C}" type="datetime1">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02EA8C9-F513-41D7-8B61-42AAB45A77C4}" type="datetime1">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F682BD-9E12-41E6-BE87-26795E1BBC3F}" type="datetime1">
              <a:rPr lang="zh-CN" altLang="en-US" smtClean="0"/>
              <a:t>2026/4/2</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973205"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B53602B4-F12B-41CD-B648-531F86B2CC9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slide" Target="slide2.xml"/><Relationship Id="rId7" Type="http://schemas.openxmlformats.org/officeDocument/2006/relationships/slide" Target="slide26.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slide" Target="slide47.xml"/><Relationship Id="rId4" Type="http://schemas.openxmlformats.org/officeDocument/2006/relationships/slide" Target="slide13.xml"/><Relationship Id="rId9" Type="http://schemas.openxmlformats.org/officeDocument/2006/relationships/slide" Target="slide4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7"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4.wmf"/><Relationship Id="rId7" Type="http://schemas.openxmlformats.org/officeDocument/2006/relationships/image" Target="../media/image11.wmf"/><Relationship Id="rId12" Type="http://schemas.openxmlformats.org/officeDocument/2006/relationships/oleObject" Target="../embeddings/oleObject7.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13.wmf"/><Relationship Id="rId5" Type="http://schemas.openxmlformats.org/officeDocument/2006/relationships/image" Target="../media/image10.png"/><Relationship Id="rId10" Type="http://schemas.openxmlformats.org/officeDocument/2006/relationships/oleObject" Target="../embeddings/oleObject6.bin"/><Relationship Id="rId4" Type="http://schemas.openxmlformats.org/officeDocument/2006/relationships/image" Target="../media/image9.png"/><Relationship Id="rId9" Type="http://schemas.openxmlformats.org/officeDocument/2006/relationships/image" Target="../media/image12.emf"/></Relationships>
</file>

<file path=ppt/slides/_rels/slide10.xml.rels><?xml version="1.0" encoding="UTF-8" standalone="yes"?>
<Relationships xmlns="http://schemas.openxmlformats.org/package/2006/relationships"><Relationship Id="rId7" Type="http://schemas.openxmlformats.org/officeDocument/2006/relationships/image" Target="../media/image13.w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7" Type="http://schemas.openxmlformats.org/officeDocument/2006/relationships/image" Target="../media/image16.w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15.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6.wmf"/><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33.wmf"/><Relationship Id="rId3" Type="http://schemas.openxmlformats.org/officeDocument/2006/relationships/image" Target="../media/image28.png"/><Relationship Id="rId7" Type="http://schemas.openxmlformats.org/officeDocument/2006/relationships/image" Target="../media/image30.emf"/><Relationship Id="rId12" Type="http://schemas.openxmlformats.org/officeDocument/2006/relationships/oleObject" Target="../embeddings/oleObject14.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image" Target="../media/image32.emf"/><Relationship Id="rId5" Type="http://schemas.openxmlformats.org/officeDocument/2006/relationships/image" Target="../media/image29.wmf"/><Relationship Id="rId15" Type="http://schemas.openxmlformats.org/officeDocument/2006/relationships/image" Target="../media/image34.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31.emf"/><Relationship Id="rId14" Type="http://schemas.openxmlformats.org/officeDocument/2006/relationships/oleObject" Target="../embeddings/oleObject15.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17.bin"/></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41.emf"/><Relationship Id="rId7" Type="http://schemas.openxmlformats.org/officeDocument/2006/relationships/image" Target="../media/image43.wmf"/><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42.wmf"/><Relationship Id="rId4" Type="http://schemas.openxmlformats.org/officeDocument/2006/relationships/oleObject" Target="../embeddings/oleObject18.bin"/><Relationship Id="rId9" Type="http://schemas.openxmlformats.org/officeDocument/2006/relationships/image" Target="../media/image44.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155520"/>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130755"/>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宋体" panose="02010600030101010101" pitchFamily="2" charset="-122"/>
                <a:sym typeface="+mn-ea"/>
              </a:rPr>
              <a:t>4</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2622698" y="2377134"/>
            <a:ext cx="4041487"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sym typeface="+mn-ea"/>
              </a:rPr>
              <a:t>电容式传感器</a:t>
            </a:r>
            <a:endParaRPr lang="zh-CN" altLang="en-US" sz="4400" b="1" spc="600" dirty="0">
              <a:solidFill>
                <a:schemeClr val="bg1"/>
              </a:solidFill>
              <a:latin typeface="宋体" panose="02010600030101010101" pitchFamily="2" charset="-122"/>
              <a:ea typeface="宋体" panose="02010600030101010101" pitchFamily="2" charset="-122"/>
            </a:endParaRPr>
          </a:p>
        </p:txBody>
      </p:sp>
      <p:grpSp>
        <p:nvGrpSpPr>
          <p:cNvPr id="3" name="组 2"/>
          <p:cNvGrpSpPr/>
          <p:nvPr/>
        </p:nvGrpSpPr>
        <p:grpSpPr>
          <a:xfrm>
            <a:off x="-15717" y="2142184"/>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TextBox 20">
            <a:extLst>
              <a:ext uri="{FF2B5EF4-FFF2-40B4-BE49-F238E27FC236}">
                <a16:creationId xmlns:a16="http://schemas.microsoft.com/office/drawing/2014/main" id="{7FBEFBC7-6EC3-4738-A422-C1A61EF3F8B7}"/>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675472" y="35253"/>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2447152" y="822363"/>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4.1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447153" y="1620232"/>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4.2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598112" y="735557"/>
            <a:ext cx="3427533"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2" action="ppaction://hlinksldjump"/>
              </a:rPr>
              <a:t>工作原理及类型</a:t>
            </a:r>
            <a:endParaRPr lang="zh-CN" altLang="en-US" sz="3600" b="1" dirty="0">
              <a:solidFill>
                <a:schemeClr val="tx2"/>
              </a:solidFill>
            </a:endParaRPr>
          </a:p>
        </p:txBody>
      </p:sp>
      <p:sp>
        <p:nvSpPr>
          <p:cNvPr id="88" name="文本框 87">
            <a:hlinkClick r:id="rId3" action="ppaction://hlinksldjump"/>
          </p:cNvPr>
          <p:cNvSpPr txBox="1"/>
          <p:nvPr/>
        </p:nvSpPr>
        <p:spPr>
          <a:xfrm>
            <a:off x="3598112" y="1519085"/>
            <a:ext cx="3427533"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4" action="ppaction://hlinksldjump"/>
              </a:rPr>
              <a:t>灵敏度及非线性</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16" name="圆角矩形 72"/>
          <p:cNvSpPr/>
          <p:nvPr/>
        </p:nvSpPr>
        <p:spPr>
          <a:xfrm rot="10800000" flipV="1">
            <a:off x="2447152" y="5609588"/>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b="1" dirty="0">
              <a:latin typeface="宋体" panose="02010600030101010101" pitchFamily="2" charset="-122"/>
              <a:ea typeface="宋体" panose="02010600030101010101" pitchFamily="2" charset="-122"/>
            </a:endParaRPr>
          </a:p>
        </p:txBody>
      </p:sp>
      <p:sp>
        <p:nvSpPr>
          <p:cNvPr id="18" name="文本框 17"/>
          <p:cNvSpPr txBox="1"/>
          <p:nvPr/>
        </p:nvSpPr>
        <p:spPr>
          <a:xfrm>
            <a:off x="3598112" y="5436724"/>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本章要点</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31" name="圆角矩形 30"/>
          <p:cNvSpPr/>
          <p:nvPr/>
        </p:nvSpPr>
        <p:spPr>
          <a:xfrm rot="10800000" flipV="1">
            <a:off x="2447152" y="2418105"/>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4.3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2" name="圆角矩形 31"/>
          <p:cNvSpPr/>
          <p:nvPr/>
        </p:nvSpPr>
        <p:spPr>
          <a:xfrm rot="10800000" flipV="1">
            <a:off x="2447153" y="3215975"/>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4.4</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3" name="文本框 32"/>
          <p:cNvSpPr txBox="1"/>
          <p:nvPr/>
        </p:nvSpPr>
        <p:spPr>
          <a:xfrm>
            <a:off x="3598112" y="2302613"/>
            <a:ext cx="3427533"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6" action="ppaction://hlinksldjump"/>
              </a:rPr>
              <a:t>特点及等效电路</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34" name="文本框 33">
            <a:hlinkClick r:id="rId3" action="ppaction://hlinksldjump"/>
          </p:cNvPr>
          <p:cNvSpPr txBox="1"/>
          <p:nvPr/>
        </p:nvSpPr>
        <p:spPr>
          <a:xfrm>
            <a:off x="3598112" y="3086141"/>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7" action="ppaction://hlinksldjump"/>
              </a:rPr>
              <a:t>设计要点</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35" name="圆角矩形 34"/>
          <p:cNvSpPr/>
          <p:nvPr/>
        </p:nvSpPr>
        <p:spPr>
          <a:xfrm rot="10800000" flipV="1">
            <a:off x="2447153" y="4013847"/>
            <a:ext cx="861785" cy="424267"/>
          </a:xfrm>
          <a:prstGeom prst="roundRect">
            <a:avLst>
              <a:gd name="adj" fmla="val 5039"/>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4.5</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8" name="文本框 37"/>
          <p:cNvSpPr txBox="1"/>
          <p:nvPr/>
        </p:nvSpPr>
        <p:spPr>
          <a:xfrm>
            <a:off x="3598112" y="3869669"/>
            <a:ext cx="2037729" cy="646327"/>
          </a:xfrm>
          <a:prstGeom prst="rect">
            <a:avLst/>
          </a:prstGeom>
          <a:noFill/>
        </p:spPr>
        <p:txBody>
          <a:bodyPr wrap="none" lIns="91436" tIns="45718" rIns="91436" bIns="45718" rtlCol="0">
            <a:spAutoFit/>
          </a:bodyPr>
          <a:lstStyle/>
          <a:p>
            <a:r>
              <a:rPr lang="zh-CN" altLang="en-US" sz="3600" b="1" dirty="0">
                <a:solidFill>
                  <a:schemeClr val="bg1">
                    <a:lumMod val="85000"/>
                  </a:schemeClr>
                </a:solidFill>
                <a:latin typeface="宋体" panose="02010600030101010101" pitchFamily="2" charset="-122"/>
                <a:ea typeface="宋体" panose="02010600030101010101" pitchFamily="2" charset="-122"/>
                <a:sym typeface="+mn-ea"/>
                <a:hlinkClick r:id="rId8" action="ppaction://hlinksldjump">
                  <a:extLst>
                    <a:ext uri="{A12FA001-AC4F-418D-AE19-62706E023703}">
                      <ahyp:hlinkClr xmlns:ahyp="http://schemas.microsoft.com/office/drawing/2018/hyperlinkcolor" val="tx"/>
                    </a:ext>
                  </a:extLst>
                </a:hlinkClick>
              </a:rPr>
              <a:t>转换电路</a:t>
            </a:r>
            <a:endParaRPr lang="zh-CN" altLang="en-US" sz="3600" b="1" dirty="0">
              <a:solidFill>
                <a:schemeClr val="bg1">
                  <a:lumMod val="85000"/>
                </a:schemeClr>
              </a:solidFill>
              <a:latin typeface="宋体" panose="02010600030101010101" pitchFamily="2" charset="-122"/>
              <a:ea typeface="宋体" panose="02010600030101010101" pitchFamily="2" charset="-122"/>
              <a:sym typeface="+mn-ea"/>
            </a:endParaRPr>
          </a:p>
        </p:txBody>
      </p:sp>
      <p:sp>
        <p:nvSpPr>
          <p:cNvPr id="37" name="圆角矩形 36"/>
          <p:cNvSpPr/>
          <p:nvPr/>
        </p:nvSpPr>
        <p:spPr>
          <a:xfrm rot="10800000" flipV="1">
            <a:off x="2447153" y="4811717"/>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4.6</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9" name="文本框 38"/>
          <p:cNvSpPr txBox="1"/>
          <p:nvPr/>
        </p:nvSpPr>
        <p:spPr>
          <a:xfrm>
            <a:off x="3598112" y="4653197"/>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9" action="ppaction://hlinksldjump"/>
              </a:rPr>
              <a:t>应用举例</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36" name="文本框 19">
            <a:extLst>
              <a:ext uri="{FF2B5EF4-FFF2-40B4-BE49-F238E27FC236}">
                <a16:creationId xmlns:a16="http://schemas.microsoft.com/office/drawing/2014/main" id="{C2CA86A0-56B6-4C7A-A0D6-F7C9A3D69611}"/>
              </a:ext>
            </a:extLst>
          </p:cNvPr>
          <p:cNvSpPr txBox="1"/>
          <p:nvPr/>
        </p:nvSpPr>
        <p:spPr>
          <a:xfrm>
            <a:off x="104043" y="1495425"/>
            <a:ext cx="754047" cy="3269788"/>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
        <p:nvSpPr>
          <p:cNvPr id="2" name="Slide Number Placeholder 1">
            <a:extLst>
              <a:ext uri="{FF2B5EF4-FFF2-40B4-BE49-F238E27FC236}">
                <a16:creationId xmlns:a16="http://schemas.microsoft.com/office/drawing/2014/main" id="{3536270E-15B4-4B9D-A125-044B5F924ABF}"/>
              </a:ext>
            </a:extLst>
          </p:cNvPr>
          <p:cNvSpPr>
            <a:spLocks noGrp="1"/>
          </p:cNvSpPr>
          <p:nvPr>
            <p:ph type="sldNum" sz="quarter" idx="12"/>
          </p:nvPr>
        </p:nvSpPr>
        <p:spPr/>
        <p:txBody>
          <a:bodyPr/>
          <a:lstStyle/>
          <a:p>
            <a:fld id="{B53602B4-F12B-41CD-B648-531F86B2CC91}" type="slidenum">
              <a:rPr lang="zh-CN" altLang="en-US" smtClean="0"/>
              <a:t>2</a:t>
            </a:fld>
            <a:endParaRPr lang="zh-CN" altLang="en-US"/>
          </a:p>
        </p:txBody>
      </p:sp>
    </p:spTree>
    <p:extLst>
      <p:ext uri="{BB962C8B-B14F-4D97-AF65-F5344CB8AC3E}">
        <p14:creationId xmlns:p14="http://schemas.microsoft.com/office/powerpoint/2010/main" val="21150576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p:sp>
        <p:nvSpPr>
          <p:cNvPr id="20" name="Rectangle 6"/>
          <p:cNvSpPr>
            <a:spLocks noRot="1" noChangeArrowheads="1"/>
          </p:cNvSpPr>
          <p:nvPr/>
        </p:nvSpPr>
        <p:spPr bwMode="auto">
          <a:xfrm>
            <a:off x="1304360" y="1934255"/>
            <a:ext cx="6858565" cy="186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628650">
              <a:lnSpc>
                <a:spcPts val="3600"/>
              </a:lnSpc>
              <a:buFont typeface="Wingdings" pitchFamily="2" charset="2"/>
              <a:buNone/>
            </a:pPr>
            <a:r>
              <a:rPr lang="zh-CN" altLang="en-US" sz="2400" b="1" dirty="0">
                <a:latin typeface="宋体" panose="02010600030101010101" pitchFamily="2" charset="-122"/>
                <a:ea typeface="宋体" panose="02010600030101010101" pitchFamily="2" charset="-122"/>
              </a:rPr>
              <a:t>电容式传感器：将被测量</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如尺寸、压力等</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的变化转换成</a:t>
            </a:r>
            <a:r>
              <a:rPr lang="zh-CN" altLang="en-US" sz="2400" b="1" dirty="0">
                <a:solidFill>
                  <a:srgbClr val="0070C0"/>
                </a:solidFill>
                <a:latin typeface="宋体" panose="02010600030101010101" pitchFamily="2" charset="-122"/>
                <a:ea typeface="宋体" panose="02010600030101010101" pitchFamily="2" charset="-122"/>
              </a:rPr>
              <a:t>电容量</a:t>
            </a:r>
            <a:r>
              <a:rPr lang="zh-CN" altLang="en-US" sz="2400" b="1" dirty="0">
                <a:latin typeface="宋体" panose="02010600030101010101" pitchFamily="2" charset="-122"/>
                <a:ea typeface="宋体" panose="02010600030101010101" pitchFamily="2" charset="-122"/>
              </a:rPr>
              <a:t>变化的一种传感器。</a:t>
            </a:r>
          </a:p>
          <a:p>
            <a:pPr indent="628650">
              <a:lnSpc>
                <a:spcPts val="3600"/>
              </a:lnSpc>
              <a:buFont typeface="Wingdings" pitchFamily="2" charset="2"/>
              <a:buNone/>
            </a:pPr>
            <a:r>
              <a:rPr lang="zh-CN" altLang="en-US" sz="2400" b="1" dirty="0">
                <a:latin typeface="宋体" panose="02010600030101010101" pitchFamily="2" charset="-122"/>
                <a:ea typeface="宋体" panose="02010600030101010101" pitchFamily="2" charset="-122"/>
              </a:rPr>
              <a:t>两个平行金属极板组成的电容器，不考虑其边缘效应时，其电容为：</a:t>
            </a:r>
            <a:endParaRPr lang="en-US" altLang="zh-CN" sz="2400" b="1" dirty="0">
              <a:solidFill>
                <a:srgbClr val="FF0000"/>
              </a:solidFill>
              <a:latin typeface="宋体" panose="02010600030101010101" pitchFamily="2" charset="-122"/>
              <a:ea typeface="宋体" panose="02010600030101010101" pitchFamily="2" charset="-122"/>
            </a:endParaRPr>
          </a:p>
        </p:txBody>
      </p:sp>
      <p:sp>
        <p:nvSpPr>
          <p:cNvPr id="2" name="TextBox 1"/>
          <p:cNvSpPr txBox="1"/>
          <p:nvPr/>
        </p:nvSpPr>
        <p:spPr>
          <a:xfrm>
            <a:off x="1948831" y="1410160"/>
            <a:ext cx="5205529"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Capacitive Sensor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3" name="矩形 2"/>
          <p:cNvSpPr/>
          <p:nvPr/>
        </p:nvSpPr>
        <p:spPr>
          <a:xfrm>
            <a:off x="1334254" y="4878646"/>
            <a:ext cx="6941104" cy="1323439"/>
          </a:xfrm>
          <a:prstGeom prst="rect">
            <a:avLst/>
          </a:prstGeom>
        </p:spPr>
        <p:txBody>
          <a:bodyPr wrap="square">
            <a:spAutoFit/>
          </a:bodyPr>
          <a:lstStyle/>
          <a:p>
            <a:pPr lvl="0">
              <a:lnSpc>
                <a:spcPts val="3200"/>
              </a:lnSpc>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式中   </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ε </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两个极板间介质的介电常数；</a:t>
            </a:r>
          </a:p>
          <a:p>
            <a:pPr lvl="0">
              <a:lnSpc>
                <a:spcPts val="3200"/>
              </a:lnSpc>
            </a:pPr>
            <a:r>
              <a:rPr lang="en-US" altLang="zh-CN" sz="2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S </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两个极板相对有效面积；</a:t>
            </a:r>
          </a:p>
          <a:p>
            <a:pPr lvl="0">
              <a:lnSpc>
                <a:spcPts val="3200"/>
              </a:lnSpc>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d </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极板间的距离。</a:t>
            </a:r>
          </a:p>
        </p:txBody>
      </p:sp>
      <mc:AlternateContent xmlns:mc="http://schemas.openxmlformats.org/markup-compatibility/2006" xmlns:a14="http://schemas.microsoft.com/office/drawing/2010/main">
        <mc:Choice Requires="a14">
          <p:sp>
            <p:nvSpPr>
              <p:cNvPr id="4" name="TextBox 3"/>
              <p:cNvSpPr txBox="1"/>
              <p:nvPr/>
            </p:nvSpPr>
            <p:spPr>
              <a:xfrm>
                <a:off x="4023298" y="3901626"/>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4023298" y="3901626"/>
                <a:ext cx="1266116" cy="786241"/>
              </a:xfrm>
              <a:prstGeom prst="rect">
                <a:avLst/>
              </a:prstGeom>
              <a:blipFill>
                <a:blip r:embed="rId3"/>
                <a:stretch>
                  <a:fillRect/>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ECC4254C-5169-4A60-ACC0-7C7F5A25A3FD}"/>
              </a:ext>
            </a:extLst>
          </p:cNvPr>
          <p:cNvSpPr>
            <a:spLocks noGrp="1"/>
          </p:cNvSpPr>
          <p:nvPr>
            <p:ph type="sldNum" sz="quarter" idx="12"/>
          </p:nvPr>
        </p:nvSpPr>
        <p:spPr/>
        <p:txBody>
          <a:bodyPr/>
          <a:lstStyle/>
          <a:p>
            <a:fld id="{B53602B4-F12B-41CD-B648-531F86B2CC91}" type="slidenum">
              <a:rPr lang="zh-CN" altLang="en-US" smtClean="0"/>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p:sp>
        <p:nvSpPr>
          <p:cNvPr id="20" name="Rectangle 1043"/>
          <p:cNvSpPr>
            <a:spLocks noChangeArrowheads="1"/>
          </p:cNvSpPr>
          <p:nvPr/>
        </p:nvSpPr>
        <p:spPr bwMode="auto">
          <a:xfrm>
            <a:off x="891293" y="1524910"/>
            <a:ext cx="7143043" cy="4565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ct val="30000"/>
              </a:spcBef>
              <a:buFont typeface="Wingdings" pitchFamily="2" charset="2"/>
              <a:buNone/>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改</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变</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电容 </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C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的</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方</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法：</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ct val="30000"/>
              </a:spcBef>
              <a:buFont typeface="Wingdings" pitchFamily="2" charset="2"/>
              <a:buNone/>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①</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改变介质的介电</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常数 </a:t>
            </a:r>
            <a:r>
              <a:rPr lang="en-US" altLang="zh-CN" sz="2400" i="1">
                <a:solidFill>
                  <a:srgbClr val="FF0000"/>
                </a:solidFill>
                <a:latin typeface="Times New Roman" panose="02020603050405020304" pitchFamily="18" charset="0"/>
                <a:ea typeface="宋体" panose="02010600030101010101" pitchFamily="2" charset="-122"/>
                <a:cs typeface="Times New Roman" panose="02020603050405020304" pitchFamily="18" charset="0"/>
              </a:rPr>
              <a:t>ε</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ct val="30000"/>
              </a:spcBef>
              <a:buFont typeface="Wingdings" pitchFamily="2" charset="2"/>
              <a:buNone/>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②</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改变形成电容的有效</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面积 </a:t>
            </a:r>
            <a:r>
              <a:rPr lang="en-US" altLang="zh-CN" sz="2400" i="1">
                <a:solidFill>
                  <a:srgbClr val="FF0000"/>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ct val="30000"/>
              </a:spcBef>
              <a:buFont typeface="Wingdings" pitchFamily="2" charset="2"/>
              <a:buNone/>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③</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改变两个极板间的</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距离 </a:t>
            </a:r>
            <a:r>
              <a:rPr lang="en-US" altLang="zh-CN" sz="2400" i="1">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a:lnSpc>
                <a:spcPct val="150000"/>
              </a:lnSpc>
              <a:spcBef>
                <a:spcPct val="30000"/>
              </a:spcBef>
              <a:buFont typeface="Wingdings" pitchFamily="2" charset="2"/>
              <a:buNone/>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类型： </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ct val="30000"/>
              </a:spcBef>
              <a:buFont typeface="Wingdings" pitchFamily="2" charset="2"/>
              <a:buNone/>
            </a:pPr>
            <a:r>
              <a:rPr lang="zh-CN" altLang="en-US" sz="2400" b="1">
                <a:solidFill>
                  <a:srgbClr val="00B050"/>
                </a:solidFill>
                <a:latin typeface="Times New Roman" panose="02020603050405020304" pitchFamily="18" charset="0"/>
                <a:ea typeface="宋体" panose="02010600030101010101" pitchFamily="2" charset="-122"/>
                <a:cs typeface="Times New Roman" panose="02020603050405020304" pitchFamily="18" charset="0"/>
              </a:rPr>
              <a:t>变</a:t>
            </a:r>
            <a:r>
              <a:rPr lang="zh-CN" altLang="en-US" sz="2400" b="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极距</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或称变间隙）型、</a:t>
            </a:r>
            <a:r>
              <a:rPr lang="zh-CN" altLang="en-US" sz="2400" b="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变面积</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型和</a:t>
            </a:r>
            <a:r>
              <a:rPr lang="zh-CN" altLang="en-US" sz="2400" b="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变介电常数</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型。</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ct val="30000"/>
              </a:spcBef>
              <a:buFont typeface="Wingdings" pitchFamily="2" charset="2"/>
              <a:buNone/>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电</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极形状有</a:t>
            </a:r>
            <a:r>
              <a:rPr lang="zh-CN" altLang="en-US" sz="2400" b="1"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平板</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形、</a:t>
            </a:r>
            <a:r>
              <a:rPr lang="zh-CN" altLang="en-US" sz="2400" b="1"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圆柱</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形和</a:t>
            </a:r>
            <a:r>
              <a:rPr lang="zh-CN" altLang="en-US" sz="2400" b="1"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球平面</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形三种。</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A236D15-FBCA-406E-B12C-88E196D71F80}"/>
                  </a:ext>
                </a:extLst>
              </p:cNvPr>
              <p:cNvSpPr txBox="1"/>
              <p:nvPr/>
            </p:nvSpPr>
            <p:spPr>
              <a:xfrm>
                <a:off x="5853223" y="1540919"/>
                <a:ext cx="1746364" cy="1017523"/>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a:rPr>
                        <m:t>𝐶</m:t>
                      </m:r>
                      <m:r>
                        <a:rPr lang="en-US" altLang="zh-CN" sz="3200" b="0" i="1" smtClean="0">
                          <a:latin typeface="Cambria Math"/>
                        </a:rPr>
                        <m:t>=</m:t>
                      </m:r>
                      <m:f>
                        <m:fPr>
                          <m:ctrlPr>
                            <a:rPr lang="en-US" altLang="zh-CN" sz="3200" i="1" smtClean="0">
                              <a:latin typeface="Cambria Math" panose="02040503050406030204" pitchFamily="18" charset="0"/>
                            </a:rPr>
                          </m:ctrlPr>
                        </m:fPr>
                        <m:num>
                          <m:r>
                            <a:rPr lang="zh-CN" altLang="en-US" sz="3200" b="0" i="1" smtClean="0">
                              <a:latin typeface="Cambria Math"/>
                            </a:rPr>
                            <m:t>𝜀</m:t>
                          </m:r>
                          <m:r>
                            <a:rPr lang="en-US" altLang="zh-CN" sz="3200" b="0" i="1" smtClean="0">
                              <a:latin typeface="Cambria Math" panose="02040503050406030204" pitchFamily="18" charset="0"/>
                            </a:rPr>
                            <m:t> </m:t>
                          </m:r>
                          <m:r>
                            <a:rPr lang="en-US" altLang="zh-CN" sz="3200" b="0" i="1" smtClean="0">
                              <a:latin typeface="Cambria Math"/>
                            </a:rPr>
                            <m:t>𝑆</m:t>
                          </m:r>
                        </m:num>
                        <m:den>
                          <m:r>
                            <a:rPr lang="en-US" altLang="zh-CN" sz="3200" b="0" i="1" smtClean="0">
                              <a:latin typeface="Cambria Math"/>
                            </a:rPr>
                            <m:t>𝑑</m:t>
                          </m:r>
                        </m:den>
                      </m:f>
                    </m:oMath>
                  </m:oMathPara>
                </a14:m>
                <a:endParaRPr lang="zh-CN" altLang="en-US" sz="3200" dirty="0"/>
              </a:p>
            </p:txBody>
          </p:sp>
        </mc:Choice>
        <mc:Fallback xmlns="">
          <p:sp>
            <p:nvSpPr>
              <p:cNvPr id="19" name="TextBox 18">
                <a:extLst>
                  <a:ext uri="{FF2B5EF4-FFF2-40B4-BE49-F238E27FC236}">
                    <a16:creationId xmlns:a16="http://schemas.microsoft.com/office/drawing/2014/main" id="{0A236D15-FBCA-406E-B12C-88E196D71F80}"/>
                  </a:ext>
                </a:extLst>
              </p:cNvPr>
              <p:cNvSpPr txBox="1">
                <a:spLocks noRot="1" noChangeAspect="1" noMove="1" noResize="1" noEditPoints="1" noAdjustHandles="1" noChangeArrowheads="1" noChangeShapeType="1" noTextEdit="1"/>
              </p:cNvSpPr>
              <p:nvPr/>
            </p:nvSpPr>
            <p:spPr>
              <a:xfrm>
                <a:off x="5853223" y="1540919"/>
                <a:ext cx="1746364" cy="1017523"/>
              </a:xfrm>
              <a:prstGeom prst="rect">
                <a:avLst/>
              </a:prstGeom>
              <a:blipFill>
                <a:blip r:embed="rId3"/>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36CC79D-7A6A-45A7-85CB-819EF0E1827A}"/>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spTree>
    <p:extLst>
      <p:ext uri="{BB962C8B-B14F-4D97-AF65-F5344CB8AC3E}">
        <p14:creationId xmlns:p14="http://schemas.microsoft.com/office/powerpoint/2010/main" val="13921389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p:sp>
        <p:nvSpPr>
          <p:cNvPr id="20" name="Text Box 9">
            <a:extLst>
              <a:ext uri="{FF2B5EF4-FFF2-40B4-BE49-F238E27FC236}">
                <a16:creationId xmlns:a16="http://schemas.microsoft.com/office/drawing/2014/main" id="{F968F71D-EECE-4E77-8C77-2A816155BF14}"/>
              </a:ext>
            </a:extLst>
          </p:cNvPr>
          <p:cNvSpPr txBox="1">
            <a:spLocks noChangeArrowheads="1"/>
          </p:cNvSpPr>
          <p:nvPr/>
        </p:nvSpPr>
        <p:spPr bwMode="auto">
          <a:xfrm>
            <a:off x="1498935" y="6042022"/>
            <a:ext cx="60254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4-1  </a:t>
            </a:r>
            <a:r>
              <a:rPr lang="zh-CN" altLang="en-US" b="1" dirty="0">
                <a:solidFill>
                  <a:srgbClr val="000099"/>
                </a:solidFill>
              </a:rPr>
              <a:t>变极距型电容式传感器的结构原理图</a:t>
            </a:r>
          </a:p>
        </p:txBody>
      </p:sp>
      <p:pic>
        <p:nvPicPr>
          <p:cNvPr id="21" name="Picture 11">
            <a:extLst>
              <a:ext uri="{FF2B5EF4-FFF2-40B4-BE49-F238E27FC236}">
                <a16:creationId xmlns:a16="http://schemas.microsoft.com/office/drawing/2014/main" id="{4308322D-D052-40AB-9A90-6614A42E81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425" y="3424964"/>
            <a:ext cx="7236500" cy="258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322F6-BA0F-45A1-B597-C8868E5804E7}"/>
                  </a:ext>
                </a:extLst>
              </p:cNvPr>
              <p:cNvSpPr txBox="1"/>
              <p:nvPr/>
            </p:nvSpPr>
            <p:spPr>
              <a:xfrm>
                <a:off x="1960201" y="1262247"/>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23" name="TextBox 22">
                <a:extLst>
                  <a:ext uri="{FF2B5EF4-FFF2-40B4-BE49-F238E27FC236}">
                    <a16:creationId xmlns:a16="http://schemas.microsoft.com/office/drawing/2014/main" id="{1A1322F6-BA0F-45A1-B597-C8868E5804E7}"/>
                  </a:ext>
                </a:extLst>
              </p:cNvPr>
              <p:cNvSpPr txBox="1">
                <a:spLocks noRot="1" noChangeAspect="1" noMove="1" noResize="1" noEditPoints="1" noAdjustHandles="1" noChangeArrowheads="1" noChangeShapeType="1" noTextEdit="1"/>
              </p:cNvSpPr>
              <p:nvPr/>
            </p:nvSpPr>
            <p:spPr>
              <a:xfrm>
                <a:off x="1960201" y="1262247"/>
                <a:ext cx="1266116" cy="786241"/>
              </a:xfrm>
              <a:prstGeom prst="rect">
                <a:avLst/>
              </a:prstGeom>
              <a:blipFill>
                <a:blip r:embed="rId5"/>
                <a:stretch>
                  <a:fillRect/>
                </a:stretch>
              </a:blipFill>
            </p:spPr>
            <p:txBody>
              <a:bodyPr/>
              <a:lstStyle/>
              <a:p>
                <a:r>
                  <a:rPr lang="en-001">
                    <a:noFill/>
                  </a:rPr>
                  <a:t> </a:t>
                </a:r>
              </a:p>
            </p:txBody>
          </p:sp>
        </mc:Fallback>
      </mc:AlternateContent>
      <p:sp>
        <p:nvSpPr>
          <p:cNvPr id="24" name="矩形 1">
            <a:extLst>
              <a:ext uri="{FF2B5EF4-FFF2-40B4-BE49-F238E27FC236}">
                <a16:creationId xmlns:a16="http://schemas.microsoft.com/office/drawing/2014/main" id="{75C1CF6C-164A-4B7A-A289-79FE95BDD23A}"/>
              </a:ext>
            </a:extLst>
          </p:cNvPr>
          <p:cNvSpPr/>
          <p:nvPr/>
        </p:nvSpPr>
        <p:spPr>
          <a:xfrm>
            <a:off x="54061" y="1262247"/>
            <a:ext cx="1731564" cy="461665"/>
          </a:xfrm>
          <a:prstGeom prst="rect">
            <a:avLst/>
          </a:prstGeom>
          <a:solidFill>
            <a:srgbClr val="FFFF0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变极距型：</a:t>
            </a:r>
            <a:endParaRPr lang="zh-CN" altLang="en-US" dirty="0">
              <a:latin typeface="宋体" panose="02010600030101010101" pitchFamily="2" charset="-122"/>
              <a:ea typeface="宋体" panose="02010600030101010101" pitchFamily="2" charset="-122"/>
            </a:endParaRPr>
          </a:p>
        </p:txBody>
      </p:sp>
      <p:graphicFrame>
        <p:nvGraphicFramePr>
          <p:cNvPr id="6" name="Object 5">
            <a:extLst>
              <a:ext uri="{FF2B5EF4-FFF2-40B4-BE49-F238E27FC236}">
                <a16:creationId xmlns:a16="http://schemas.microsoft.com/office/drawing/2014/main" id="{2C9C578E-236B-4E48-A5CF-EDF6E87CC666}"/>
              </a:ext>
            </a:extLst>
          </p:cNvPr>
          <p:cNvGraphicFramePr>
            <a:graphicFrameLocks noChangeAspect="1"/>
          </p:cNvGraphicFramePr>
          <p:nvPr>
            <p:extLst>
              <p:ext uri="{D42A27DB-BD31-4B8C-83A1-F6EECF244321}">
                <p14:modId xmlns:p14="http://schemas.microsoft.com/office/powerpoint/2010/main" val="2908479832"/>
              </p:ext>
            </p:extLst>
          </p:nvPr>
        </p:nvGraphicFramePr>
        <p:xfrm>
          <a:off x="893425" y="2215452"/>
          <a:ext cx="7834312" cy="920750"/>
        </p:xfrm>
        <a:graphic>
          <a:graphicData uri="http://schemas.openxmlformats.org/presentationml/2006/ole">
            <mc:AlternateContent xmlns:mc="http://schemas.openxmlformats.org/markup-compatibility/2006">
              <mc:Choice xmlns:v="urn:schemas-microsoft-com:vml" Requires="v">
                <p:oleObj name="Equation" r:id="rId6" imgW="7834904" imgH="920553" progId="Equation.DSMT4">
                  <p:embed/>
                </p:oleObj>
              </mc:Choice>
              <mc:Fallback>
                <p:oleObj name="Equation" r:id="rId6" imgW="7834904" imgH="920553" progId="Equation.DSMT4">
                  <p:embed/>
                  <p:pic>
                    <p:nvPicPr>
                      <p:cNvPr id="0" name=""/>
                      <p:cNvPicPr/>
                      <p:nvPr/>
                    </p:nvPicPr>
                    <p:blipFill>
                      <a:blip r:embed="rId7"/>
                      <a:stretch>
                        <a:fillRect/>
                      </a:stretch>
                    </p:blipFill>
                    <p:spPr>
                      <a:xfrm>
                        <a:off x="893425" y="2215452"/>
                        <a:ext cx="7834312" cy="920750"/>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D8E8A2A6-E617-4DDB-A542-CCDF0E3F3CC9}"/>
              </a:ext>
            </a:extLst>
          </p:cNvPr>
          <p:cNvSpPr txBox="1"/>
          <p:nvPr/>
        </p:nvSpPr>
        <p:spPr>
          <a:xfrm>
            <a:off x="3369335" y="1280359"/>
            <a:ext cx="5358401" cy="735714"/>
          </a:xfrm>
          <a:prstGeom prst="rect">
            <a:avLst/>
          </a:prstGeom>
          <a:noFill/>
        </p:spPr>
        <p:txBody>
          <a:bodyPr wrap="square">
            <a:spAutoFit/>
          </a:bodyPr>
          <a:lstStyle/>
          <a:p>
            <a:pPr>
              <a:lnSpc>
                <a:spcPct val="120000"/>
              </a:lnSpc>
            </a:pPr>
            <a:r>
              <a:rPr lang="zh-CN" altLang="en-US">
                <a:latin typeface="宋体" panose="02010600030101010101" pitchFamily="2" charset="-122"/>
                <a:ea typeface="宋体" panose="02010600030101010101" pitchFamily="2" charset="-122"/>
              </a:rPr>
              <a:t>图中</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3</a:t>
            </a:r>
            <a:r>
              <a:rPr lang="zh-CN" altLang="en-US">
                <a:latin typeface="宋体" panose="02010600030101010101" pitchFamily="2" charset="-122"/>
                <a:ea typeface="宋体" panose="02010600030101010101" pitchFamily="2" charset="-122"/>
              </a:rPr>
              <a:t>为固定极板，</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为可动极板。当被测量变化使可动极板</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位移时，电容量</a:t>
            </a:r>
            <a:r>
              <a:rPr lang="en-US" altLang="zh-CN">
                <a:latin typeface="宋体" panose="02010600030101010101" pitchFamily="2" charset="-122"/>
                <a:ea typeface="宋体" panose="02010600030101010101" pitchFamily="2" charset="-122"/>
              </a:rPr>
              <a:t>C</a:t>
            </a:r>
            <a:r>
              <a:rPr lang="zh-CN" altLang="en-US">
                <a:latin typeface="宋体" panose="02010600030101010101" pitchFamily="2" charset="-122"/>
                <a:ea typeface="宋体" panose="02010600030101010101" pitchFamily="2" charset="-122"/>
              </a:rPr>
              <a:t>随之变化</a:t>
            </a:r>
            <a:endParaRPr lang="en-001">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9DDC4F90-8EA8-4AA0-9E02-785E9A4A363A}"/>
              </a:ext>
            </a:extLst>
          </p:cNvPr>
          <p:cNvSpPr>
            <a:spLocks noGrp="1"/>
          </p:cNvSpPr>
          <p:nvPr>
            <p:ph type="sldNum" sz="quarter" idx="12"/>
          </p:nvPr>
        </p:nvSpPr>
        <p:spPr/>
        <p:txBody>
          <a:bodyPr/>
          <a:lstStyle/>
          <a:p>
            <a:fld id="{B53602B4-F12B-41CD-B648-531F86B2CC91}" type="slidenum">
              <a:rPr lang="zh-CN" altLang="en-US" smtClean="0"/>
              <a:t>5</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322F6-BA0F-45A1-B597-C8868E5804E7}"/>
                  </a:ext>
                </a:extLst>
              </p:cNvPr>
              <p:cNvSpPr txBox="1"/>
              <p:nvPr/>
            </p:nvSpPr>
            <p:spPr>
              <a:xfrm>
                <a:off x="1960201" y="1262247"/>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23" name="TextBox 22">
                <a:extLst>
                  <a:ext uri="{FF2B5EF4-FFF2-40B4-BE49-F238E27FC236}">
                    <a16:creationId xmlns:a16="http://schemas.microsoft.com/office/drawing/2014/main" id="{1A1322F6-BA0F-45A1-B597-C8868E5804E7}"/>
                  </a:ext>
                </a:extLst>
              </p:cNvPr>
              <p:cNvSpPr txBox="1">
                <a:spLocks noRot="1" noChangeAspect="1" noMove="1" noResize="1" noEditPoints="1" noAdjustHandles="1" noChangeArrowheads="1" noChangeShapeType="1" noTextEdit="1"/>
              </p:cNvSpPr>
              <p:nvPr/>
            </p:nvSpPr>
            <p:spPr>
              <a:xfrm>
                <a:off x="1960201" y="1262247"/>
                <a:ext cx="1266116" cy="786241"/>
              </a:xfrm>
              <a:prstGeom prst="rect">
                <a:avLst/>
              </a:prstGeom>
              <a:blipFill>
                <a:blip r:embed="rId4"/>
                <a:stretch>
                  <a:fillRect/>
                </a:stretch>
              </a:blipFill>
            </p:spPr>
            <p:txBody>
              <a:bodyPr/>
              <a:lstStyle/>
              <a:p>
                <a:r>
                  <a:rPr lang="en-001">
                    <a:noFill/>
                  </a:rPr>
                  <a:t> </a:t>
                </a:r>
              </a:p>
            </p:txBody>
          </p:sp>
        </mc:Fallback>
      </mc:AlternateContent>
      <p:sp>
        <p:nvSpPr>
          <p:cNvPr id="24" name="矩形 1">
            <a:extLst>
              <a:ext uri="{FF2B5EF4-FFF2-40B4-BE49-F238E27FC236}">
                <a16:creationId xmlns:a16="http://schemas.microsoft.com/office/drawing/2014/main" id="{75C1CF6C-164A-4B7A-A289-79FE95BDD23A}"/>
              </a:ext>
            </a:extLst>
          </p:cNvPr>
          <p:cNvSpPr/>
          <p:nvPr/>
        </p:nvSpPr>
        <p:spPr>
          <a:xfrm>
            <a:off x="54061" y="1262247"/>
            <a:ext cx="1731564" cy="461665"/>
          </a:xfrm>
          <a:prstGeom prst="rect">
            <a:avLst/>
          </a:prstGeom>
          <a:solidFill>
            <a:srgbClr val="FFFF00"/>
          </a:solidFill>
        </p:spPr>
        <p:txBody>
          <a:bodyPr wrap="none">
            <a:spAutoFit/>
          </a:bodyPr>
          <a:lstStyle/>
          <a:p>
            <a:r>
              <a:rPr lang="zh-CN" altLang="en-US" sz="2400" b="1">
                <a:solidFill>
                  <a:prstClr val="black"/>
                </a:solidFill>
                <a:latin typeface="宋体" panose="02010600030101010101" pitchFamily="2" charset="-122"/>
                <a:ea typeface="宋体" panose="02010600030101010101" pitchFamily="2" charset="-122"/>
              </a:rPr>
              <a:t>变面积型</a:t>
            </a:r>
            <a:r>
              <a:rPr lang="zh-CN" altLang="en-US" sz="2400" b="1" dirty="0">
                <a:solidFill>
                  <a:prstClr val="black"/>
                </a:solidFill>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 name="Text Box 9">
            <a:extLst>
              <a:ext uri="{FF2B5EF4-FFF2-40B4-BE49-F238E27FC236}">
                <a16:creationId xmlns:a16="http://schemas.microsoft.com/office/drawing/2014/main" id="{631DDA00-426A-4638-ABBF-92F01897BE9B}"/>
              </a:ext>
            </a:extLst>
          </p:cNvPr>
          <p:cNvSpPr txBox="1">
            <a:spLocks noChangeArrowheads="1"/>
          </p:cNvSpPr>
          <p:nvPr/>
        </p:nvSpPr>
        <p:spPr bwMode="auto">
          <a:xfrm>
            <a:off x="1706386" y="5914963"/>
            <a:ext cx="60072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4-2  </a:t>
            </a:r>
            <a:r>
              <a:rPr lang="zh-CN" altLang="en-US" b="1" dirty="0">
                <a:solidFill>
                  <a:srgbClr val="000099"/>
                </a:solidFill>
              </a:rPr>
              <a:t>变面积型电容式传感器的结构原理图</a:t>
            </a:r>
          </a:p>
        </p:txBody>
      </p:sp>
      <p:graphicFrame>
        <p:nvGraphicFramePr>
          <p:cNvPr id="12" name="对象 1">
            <a:extLst>
              <a:ext uri="{FF2B5EF4-FFF2-40B4-BE49-F238E27FC236}">
                <a16:creationId xmlns:a16="http://schemas.microsoft.com/office/drawing/2014/main" id="{3B12A58C-C1FB-4A7A-9644-5C0C7693CA10}"/>
              </a:ext>
            </a:extLst>
          </p:cNvPr>
          <p:cNvGraphicFramePr>
            <a:graphicFrameLocks noChangeAspect="1"/>
          </p:cNvGraphicFramePr>
          <p:nvPr>
            <p:extLst>
              <p:ext uri="{D42A27DB-BD31-4B8C-83A1-F6EECF244321}">
                <p14:modId xmlns:p14="http://schemas.microsoft.com/office/powerpoint/2010/main" val="3520218816"/>
              </p:ext>
            </p:extLst>
          </p:nvPr>
        </p:nvGraphicFramePr>
        <p:xfrm>
          <a:off x="1645190" y="2275466"/>
          <a:ext cx="6370331" cy="1005143"/>
        </p:xfrm>
        <a:graphic>
          <a:graphicData uri="http://schemas.openxmlformats.org/presentationml/2006/ole">
            <mc:AlternateContent xmlns:mc="http://schemas.openxmlformats.org/markup-compatibility/2006">
              <mc:Choice xmlns:v="urn:schemas-microsoft-com:vml" Requires="v">
                <p:oleObj name="公式" r:id="rId5" imgW="2628720" imgH="406080" progId="Equation.3">
                  <p:embed/>
                </p:oleObj>
              </mc:Choice>
              <mc:Fallback>
                <p:oleObj name="公式" r:id="rId5" imgW="2628720" imgH="406080" progId="Equation.3">
                  <p:embed/>
                  <p:pic>
                    <p:nvPicPr>
                      <p:cNvPr id="2" name="对象 1"/>
                      <p:cNvPicPr>
                        <a:picLocks noChangeAspect="1" noChangeArrowheads="1"/>
                      </p:cNvPicPr>
                      <p:nvPr/>
                    </p:nvPicPr>
                    <p:blipFill>
                      <a:blip r:embed="rId6"/>
                      <a:srcRect/>
                      <a:stretch>
                        <a:fillRect/>
                      </a:stretch>
                    </p:blipFill>
                    <p:spPr bwMode="auto">
                      <a:xfrm>
                        <a:off x="1645190" y="2275466"/>
                        <a:ext cx="6370331" cy="1005143"/>
                      </a:xfrm>
                      <a:prstGeom prst="rect">
                        <a:avLst/>
                      </a:prstGeom>
                      <a:noFill/>
                      <a:ln>
                        <a:noFill/>
                      </a:ln>
                    </p:spPr>
                  </p:pic>
                </p:oleObj>
              </mc:Fallback>
            </mc:AlternateContent>
          </a:graphicData>
        </a:graphic>
      </p:graphicFrame>
      <p:sp>
        <p:nvSpPr>
          <p:cNvPr id="13" name="TextBox 12">
            <a:extLst>
              <a:ext uri="{FF2B5EF4-FFF2-40B4-BE49-F238E27FC236}">
                <a16:creationId xmlns:a16="http://schemas.microsoft.com/office/drawing/2014/main" id="{596CEC38-7CF0-4442-9E44-68CAAF609997}"/>
              </a:ext>
            </a:extLst>
          </p:cNvPr>
          <p:cNvSpPr txBox="1"/>
          <p:nvPr/>
        </p:nvSpPr>
        <p:spPr>
          <a:xfrm>
            <a:off x="3400893" y="1172047"/>
            <a:ext cx="5434692" cy="1045351"/>
          </a:xfrm>
          <a:prstGeom prst="rect">
            <a:avLst/>
          </a:prstGeom>
          <a:noFill/>
        </p:spPr>
        <p:txBody>
          <a:bodyPr wrap="square">
            <a:spAutoFit/>
          </a:bodyPr>
          <a:lstStyle>
            <a:defPPr>
              <a:defRPr lang="zh-CN"/>
            </a:defPPr>
            <a:lvl1pPr>
              <a:lnSpc>
                <a:spcPct val="120000"/>
              </a:lnSpc>
              <a:defRPr>
                <a:latin typeface="宋体" panose="02010600030101010101" pitchFamily="2" charset="-122"/>
                <a:ea typeface="宋体" panose="02010600030101010101" pitchFamily="2" charset="-122"/>
              </a:defRPr>
            </a:lvl1pPr>
          </a:lstStyle>
          <a:p>
            <a:r>
              <a:rPr lang="zh-CN" altLang="en-US"/>
              <a:t>图中</a:t>
            </a:r>
            <a:r>
              <a:rPr lang="en-US" altLang="zh-CN"/>
              <a:t>1</a:t>
            </a:r>
            <a:r>
              <a:rPr lang="zh-CN" altLang="en-US"/>
              <a:t>、</a:t>
            </a:r>
            <a:r>
              <a:rPr lang="en-US" altLang="zh-CN"/>
              <a:t>3</a:t>
            </a:r>
            <a:r>
              <a:rPr lang="zh-CN" altLang="en-US"/>
              <a:t>为固定极板，</a:t>
            </a:r>
            <a:r>
              <a:rPr lang="en-US" altLang="zh-CN"/>
              <a:t>2</a:t>
            </a:r>
            <a:r>
              <a:rPr lang="zh-CN" altLang="en-US"/>
              <a:t>为可动极板。当被测量变化使可动极板</a:t>
            </a:r>
            <a:r>
              <a:rPr lang="en-US" altLang="zh-CN"/>
              <a:t>2</a:t>
            </a:r>
            <a:r>
              <a:rPr lang="zh-CN" altLang="en-US"/>
              <a:t>位移时，就改变了电极间的遮盖面积，电容量</a:t>
            </a:r>
            <a:r>
              <a:rPr lang="en-US" altLang="zh-CN"/>
              <a:t>C</a:t>
            </a:r>
            <a:r>
              <a:rPr lang="zh-CN" altLang="en-US"/>
              <a:t>也就随之变化</a:t>
            </a:r>
            <a:endParaRPr lang="en-001"/>
          </a:p>
        </p:txBody>
      </p:sp>
      <p:pic>
        <p:nvPicPr>
          <p:cNvPr id="14" name="Picture 13">
            <a:extLst>
              <a:ext uri="{FF2B5EF4-FFF2-40B4-BE49-F238E27FC236}">
                <a16:creationId xmlns:a16="http://schemas.microsoft.com/office/drawing/2014/main" id="{E6483670-894F-41B2-8A77-FAF5D6E431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7745" y="3298426"/>
            <a:ext cx="7828509" cy="2598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1B8185DB-B6A4-45C5-B4A8-2489A284325D}"/>
              </a:ext>
            </a:extLst>
          </p:cNvPr>
          <p:cNvSpPr>
            <a:spLocks noGrp="1"/>
          </p:cNvSpPr>
          <p:nvPr>
            <p:ph type="sldNum" sz="quarter" idx="12"/>
          </p:nvPr>
        </p:nvSpPr>
        <p:spPr/>
        <p:txBody>
          <a:bodyPr/>
          <a:lstStyle/>
          <a:p>
            <a:fld id="{B53602B4-F12B-41CD-B648-531F86B2CC91}" type="slidenum">
              <a:rPr lang="zh-CN" altLang="en-US" smtClean="0"/>
              <a:t>6</a:t>
            </a:fld>
            <a:endParaRPr lang="zh-CN" altLang="en-US"/>
          </a:p>
        </p:txBody>
      </p:sp>
    </p:spTree>
    <p:extLst>
      <p:ext uri="{BB962C8B-B14F-4D97-AF65-F5344CB8AC3E}">
        <p14:creationId xmlns:p14="http://schemas.microsoft.com/office/powerpoint/2010/main" val="33054812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322F6-BA0F-45A1-B597-C8868E5804E7}"/>
                  </a:ext>
                </a:extLst>
              </p:cNvPr>
              <p:cNvSpPr txBox="1"/>
              <p:nvPr/>
            </p:nvSpPr>
            <p:spPr>
              <a:xfrm>
                <a:off x="1960201" y="1262247"/>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23" name="TextBox 22">
                <a:extLst>
                  <a:ext uri="{FF2B5EF4-FFF2-40B4-BE49-F238E27FC236}">
                    <a16:creationId xmlns:a16="http://schemas.microsoft.com/office/drawing/2014/main" id="{1A1322F6-BA0F-45A1-B597-C8868E5804E7}"/>
                  </a:ext>
                </a:extLst>
              </p:cNvPr>
              <p:cNvSpPr txBox="1">
                <a:spLocks noRot="1" noChangeAspect="1" noMove="1" noResize="1" noEditPoints="1" noAdjustHandles="1" noChangeArrowheads="1" noChangeShapeType="1" noTextEdit="1"/>
              </p:cNvSpPr>
              <p:nvPr/>
            </p:nvSpPr>
            <p:spPr>
              <a:xfrm>
                <a:off x="1960201" y="1262247"/>
                <a:ext cx="1266116" cy="786241"/>
              </a:xfrm>
              <a:prstGeom prst="rect">
                <a:avLst/>
              </a:prstGeom>
              <a:blipFill>
                <a:blip r:embed="rId4"/>
                <a:stretch>
                  <a:fillRect/>
                </a:stretch>
              </a:blipFill>
            </p:spPr>
            <p:txBody>
              <a:bodyPr/>
              <a:lstStyle/>
              <a:p>
                <a:r>
                  <a:rPr lang="en-001">
                    <a:noFill/>
                  </a:rPr>
                  <a:t> </a:t>
                </a:r>
              </a:p>
            </p:txBody>
          </p:sp>
        </mc:Fallback>
      </mc:AlternateContent>
      <p:sp>
        <p:nvSpPr>
          <p:cNvPr id="24" name="矩形 1">
            <a:extLst>
              <a:ext uri="{FF2B5EF4-FFF2-40B4-BE49-F238E27FC236}">
                <a16:creationId xmlns:a16="http://schemas.microsoft.com/office/drawing/2014/main" id="{75C1CF6C-164A-4B7A-A289-79FE95BDD23A}"/>
              </a:ext>
            </a:extLst>
          </p:cNvPr>
          <p:cNvSpPr/>
          <p:nvPr/>
        </p:nvSpPr>
        <p:spPr>
          <a:xfrm>
            <a:off x="54061" y="1262247"/>
            <a:ext cx="1731564" cy="461665"/>
          </a:xfrm>
          <a:prstGeom prst="rect">
            <a:avLst/>
          </a:prstGeom>
          <a:solidFill>
            <a:srgbClr val="FFFF00"/>
          </a:solidFill>
        </p:spPr>
        <p:txBody>
          <a:bodyPr wrap="none">
            <a:spAutoFit/>
          </a:bodyPr>
          <a:lstStyle/>
          <a:p>
            <a:r>
              <a:rPr lang="zh-CN" altLang="en-US" sz="2400" b="1">
                <a:solidFill>
                  <a:prstClr val="black"/>
                </a:solidFill>
                <a:latin typeface="宋体" panose="02010600030101010101" pitchFamily="2" charset="-122"/>
                <a:ea typeface="宋体" panose="02010600030101010101" pitchFamily="2" charset="-122"/>
              </a:rPr>
              <a:t>变面积型</a:t>
            </a:r>
            <a:r>
              <a:rPr lang="zh-CN" altLang="en-US" sz="2400" b="1" dirty="0">
                <a:solidFill>
                  <a:prstClr val="black"/>
                </a:solidFill>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 name="Text Box 9">
            <a:extLst>
              <a:ext uri="{FF2B5EF4-FFF2-40B4-BE49-F238E27FC236}">
                <a16:creationId xmlns:a16="http://schemas.microsoft.com/office/drawing/2014/main" id="{631DDA00-426A-4638-ABBF-92F01897BE9B}"/>
              </a:ext>
            </a:extLst>
          </p:cNvPr>
          <p:cNvSpPr txBox="1">
            <a:spLocks noChangeArrowheads="1"/>
          </p:cNvSpPr>
          <p:nvPr/>
        </p:nvSpPr>
        <p:spPr bwMode="auto">
          <a:xfrm>
            <a:off x="1706386" y="5914963"/>
            <a:ext cx="60072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4-2  </a:t>
            </a:r>
            <a:r>
              <a:rPr lang="zh-CN" altLang="en-US" b="1" dirty="0">
                <a:solidFill>
                  <a:srgbClr val="000099"/>
                </a:solidFill>
              </a:rPr>
              <a:t>变面积型电容式传感器的结构原理图</a:t>
            </a:r>
          </a:p>
        </p:txBody>
      </p:sp>
      <p:pic>
        <p:nvPicPr>
          <p:cNvPr id="11" name="Picture 10">
            <a:extLst>
              <a:ext uri="{FF2B5EF4-FFF2-40B4-BE49-F238E27FC236}">
                <a16:creationId xmlns:a16="http://schemas.microsoft.com/office/drawing/2014/main" id="{A86FD884-2A5A-410E-A9CC-C3C6ADBAD0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745" y="3298426"/>
            <a:ext cx="7828509" cy="2598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a:extLst>
              <a:ext uri="{FF2B5EF4-FFF2-40B4-BE49-F238E27FC236}">
                <a16:creationId xmlns:a16="http://schemas.microsoft.com/office/drawing/2014/main" id="{6DDBE77D-C2CD-495E-B9C2-9F03305971E2}"/>
              </a:ext>
            </a:extLst>
          </p:cNvPr>
          <p:cNvSpPr txBox="1"/>
          <p:nvPr/>
        </p:nvSpPr>
        <p:spPr>
          <a:xfrm>
            <a:off x="3466208" y="1209688"/>
            <a:ext cx="5256878" cy="1045351"/>
          </a:xfrm>
          <a:prstGeom prst="rect">
            <a:avLst/>
          </a:prstGeom>
          <a:noFill/>
        </p:spPr>
        <p:txBody>
          <a:bodyPr wrap="square">
            <a:spAutoFit/>
          </a:bodyPr>
          <a:lstStyle>
            <a:defPPr>
              <a:defRPr lang="zh-CN"/>
            </a:defPPr>
            <a:lvl1pPr>
              <a:lnSpc>
                <a:spcPct val="120000"/>
              </a:lnSpc>
              <a:defRPr>
                <a:latin typeface="宋体" panose="02010600030101010101" pitchFamily="2" charset="-122"/>
                <a:ea typeface="宋体" panose="02010600030101010101" pitchFamily="2" charset="-122"/>
              </a:defRPr>
            </a:lvl1pPr>
          </a:lstStyle>
          <a:p>
            <a:r>
              <a:rPr lang="en-001" dirty="0"/>
              <a:t>与变极距型相比，它们的</a:t>
            </a:r>
            <a:r>
              <a:rPr lang="en-001" b="1" dirty="0">
                <a:solidFill>
                  <a:srgbClr val="C00000"/>
                </a:solidFill>
              </a:rPr>
              <a:t>测量范围大</a:t>
            </a:r>
            <a:r>
              <a:rPr lang="en-001" dirty="0"/>
              <a:t>，可测较大的线位移或角位移。</a:t>
            </a:r>
            <a:endParaRPr lang="en-US" dirty="0"/>
          </a:p>
          <a:p>
            <a:r>
              <a:rPr lang="en-001" dirty="0"/>
              <a:t>电容的变化量与面积的变化量成线性关系。</a:t>
            </a:r>
          </a:p>
        </p:txBody>
      </p:sp>
      <p:graphicFrame>
        <p:nvGraphicFramePr>
          <p:cNvPr id="6" name="Object 5">
            <a:extLst>
              <a:ext uri="{FF2B5EF4-FFF2-40B4-BE49-F238E27FC236}">
                <a16:creationId xmlns:a16="http://schemas.microsoft.com/office/drawing/2014/main" id="{6252CB76-62FD-4222-AD97-066B2BF89BC8}"/>
              </a:ext>
            </a:extLst>
          </p:cNvPr>
          <p:cNvGraphicFramePr>
            <a:graphicFrameLocks noChangeAspect="1"/>
          </p:cNvGraphicFramePr>
          <p:nvPr>
            <p:extLst>
              <p:ext uri="{D42A27DB-BD31-4B8C-83A1-F6EECF244321}">
                <p14:modId xmlns:p14="http://schemas.microsoft.com/office/powerpoint/2010/main" val="2111263564"/>
              </p:ext>
            </p:extLst>
          </p:nvPr>
        </p:nvGraphicFramePr>
        <p:xfrm>
          <a:off x="1524679" y="2291951"/>
          <a:ext cx="6370638" cy="1006475"/>
        </p:xfrm>
        <a:graphic>
          <a:graphicData uri="http://schemas.openxmlformats.org/presentationml/2006/ole">
            <mc:AlternateContent xmlns:mc="http://schemas.openxmlformats.org/markup-compatibility/2006">
              <mc:Choice xmlns:v="urn:schemas-microsoft-com:vml" Requires="v">
                <p:oleObj name="Equation" r:id="rId6" imgW="6370315" imgH="1005876" progId="Equation.DSMT4">
                  <p:embed/>
                </p:oleObj>
              </mc:Choice>
              <mc:Fallback>
                <p:oleObj name="Equation" r:id="rId6" imgW="6370315" imgH="1005876" progId="Equation.DSMT4">
                  <p:embed/>
                  <p:pic>
                    <p:nvPicPr>
                      <p:cNvPr id="0" name=""/>
                      <p:cNvPicPr/>
                      <p:nvPr/>
                    </p:nvPicPr>
                    <p:blipFill>
                      <a:blip r:embed="rId7"/>
                      <a:stretch>
                        <a:fillRect/>
                      </a:stretch>
                    </p:blipFill>
                    <p:spPr>
                      <a:xfrm>
                        <a:off x="1524679" y="2291951"/>
                        <a:ext cx="6370638" cy="1006475"/>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3877C03D-35A7-4B91-A3D4-5518662B448E}"/>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spTree>
    <p:extLst>
      <p:ext uri="{BB962C8B-B14F-4D97-AF65-F5344CB8AC3E}">
        <p14:creationId xmlns:p14="http://schemas.microsoft.com/office/powerpoint/2010/main" val="1088478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322F6-BA0F-45A1-B597-C8868E5804E7}"/>
                  </a:ext>
                </a:extLst>
              </p:cNvPr>
              <p:cNvSpPr txBox="1"/>
              <p:nvPr/>
            </p:nvSpPr>
            <p:spPr>
              <a:xfrm>
                <a:off x="2652351" y="1262247"/>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23" name="TextBox 22">
                <a:extLst>
                  <a:ext uri="{FF2B5EF4-FFF2-40B4-BE49-F238E27FC236}">
                    <a16:creationId xmlns:a16="http://schemas.microsoft.com/office/drawing/2014/main" id="{1A1322F6-BA0F-45A1-B597-C8868E5804E7}"/>
                  </a:ext>
                </a:extLst>
              </p:cNvPr>
              <p:cNvSpPr txBox="1">
                <a:spLocks noRot="1" noChangeAspect="1" noMove="1" noResize="1" noEditPoints="1" noAdjustHandles="1" noChangeArrowheads="1" noChangeShapeType="1" noTextEdit="1"/>
              </p:cNvSpPr>
              <p:nvPr/>
            </p:nvSpPr>
            <p:spPr>
              <a:xfrm>
                <a:off x="2652351" y="1262247"/>
                <a:ext cx="1266116" cy="786241"/>
              </a:xfrm>
              <a:prstGeom prst="rect">
                <a:avLst/>
              </a:prstGeom>
              <a:blipFill>
                <a:blip r:embed="rId3"/>
                <a:stretch>
                  <a:fillRect/>
                </a:stretch>
              </a:blipFill>
            </p:spPr>
            <p:txBody>
              <a:bodyPr/>
              <a:lstStyle/>
              <a:p>
                <a:r>
                  <a:rPr lang="en-001">
                    <a:noFill/>
                  </a:rPr>
                  <a:t> </a:t>
                </a:r>
              </a:p>
            </p:txBody>
          </p:sp>
        </mc:Fallback>
      </mc:AlternateContent>
      <p:sp>
        <p:nvSpPr>
          <p:cNvPr id="24" name="矩形 1">
            <a:extLst>
              <a:ext uri="{FF2B5EF4-FFF2-40B4-BE49-F238E27FC236}">
                <a16:creationId xmlns:a16="http://schemas.microsoft.com/office/drawing/2014/main" id="{75C1CF6C-164A-4B7A-A289-79FE95BDD23A}"/>
              </a:ext>
            </a:extLst>
          </p:cNvPr>
          <p:cNvSpPr/>
          <p:nvPr/>
        </p:nvSpPr>
        <p:spPr>
          <a:xfrm>
            <a:off x="54061" y="1262247"/>
            <a:ext cx="2350323" cy="461665"/>
          </a:xfrm>
          <a:prstGeom prst="rect">
            <a:avLst/>
          </a:prstGeom>
          <a:solidFill>
            <a:srgbClr val="FFFF00"/>
          </a:solidFill>
        </p:spPr>
        <p:txBody>
          <a:bodyPr wrap="none">
            <a:spAutoFit/>
          </a:bodyPr>
          <a:lstStyle/>
          <a:p>
            <a:r>
              <a:rPr lang="zh-CN" altLang="en-US" sz="2400" b="1">
                <a:solidFill>
                  <a:prstClr val="black"/>
                </a:solidFill>
                <a:latin typeface="宋体" panose="02010600030101010101" pitchFamily="2" charset="-122"/>
                <a:ea typeface="宋体" panose="02010600030101010101" pitchFamily="2" charset="-122"/>
              </a:rPr>
              <a:t>变介电常数型</a:t>
            </a:r>
            <a:r>
              <a:rPr lang="zh-CN" altLang="en-US" sz="2400" b="1" dirty="0">
                <a:solidFill>
                  <a:prstClr val="black"/>
                </a:solidFill>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3" name="Text Box 9">
            <a:extLst>
              <a:ext uri="{FF2B5EF4-FFF2-40B4-BE49-F238E27FC236}">
                <a16:creationId xmlns:a16="http://schemas.microsoft.com/office/drawing/2014/main" id="{5BE6E04F-BE5E-453F-870E-C7768AAF528A}"/>
              </a:ext>
            </a:extLst>
          </p:cNvPr>
          <p:cNvSpPr txBox="1">
            <a:spLocks noChangeArrowheads="1"/>
          </p:cNvSpPr>
          <p:nvPr/>
        </p:nvSpPr>
        <p:spPr bwMode="auto">
          <a:xfrm>
            <a:off x="1304360" y="5192408"/>
            <a:ext cx="65800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4-3  </a:t>
            </a:r>
            <a:r>
              <a:rPr lang="zh-CN" altLang="en-US" b="1" dirty="0">
                <a:solidFill>
                  <a:srgbClr val="000099"/>
                </a:solidFill>
              </a:rPr>
              <a:t>变介电常数型电容式传感器的结构原理图</a:t>
            </a:r>
          </a:p>
        </p:txBody>
      </p:sp>
      <p:pic>
        <p:nvPicPr>
          <p:cNvPr id="2" name="Picture 1">
            <a:extLst>
              <a:ext uri="{FF2B5EF4-FFF2-40B4-BE49-F238E27FC236}">
                <a16:creationId xmlns:a16="http://schemas.microsoft.com/office/drawing/2014/main" id="{E23067C1-7B09-40BF-89BC-24B6AF5A171F}"/>
              </a:ext>
            </a:extLst>
          </p:cNvPr>
          <p:cNvPicPr>
            <a:picLocks noChangeAspect="1"/>
          </p:cNvPicPr>
          <p:nvPr/>
        </p:nvPicPr>
        <p:blipFill rotWithShape="1">
          <a:blip r:embed="rId4"/>
          <a:srcRect l="2547" r="2717"/>
          <a:stretch/>
        </p:blipFill>
        <p:spPr>
          <a:xfrm>
            <a:off x="185083" y="2585238"/>
            <a:ext cx="8595524" cy="2224275"/>
          </a:xfrm>
          <a:prstGeom prst="rect">
            <a:avLst/>
          </a:prstGeom>
        </p:spPr>
      </p:pic>
      <p:sp>
        <p:nvSpPr>
          <p:cNvPr id="3" name="Slide Number Placeholder 2">
            <a:extLst>
              <a:ext uri="{FF2B5EF4-FFF2-40B4-BE49-F238E27FC236}">
                <a16:creationId xmlns:a16="http://schemas.microsoft.com/office/drawing/2014/main" id="{AA6363C6-5448-4C91-B3BB-A5DE912E4413}"/>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spTree>
    <p:extLst>
      <p:ext uri="{BB962C8B-B14F-4D97-AF65-F5344CB8AC3E}">
        <p14:creationId xmlns:p14="http://schemas.microsoft.com/office/powerpoint/2010/main" val="18657660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322F6-BA0F-45A1-B597-C8868E5804E7}"/>
                  </a:ext>
                </a:extLst>
              </p:cNvPr>
              <p:cNvSpPr txBox="1"/>
              <p:nvPr/>
            </p:nvSpPr>
            <p:spPr>
              <a:xfrm>
                <a:off x="2652351" y="1262247"/>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23" name="TextBox 22">
                <a:extLst>
                  <a:ext uri="{FF2B5EF4-FFF2-40B4-BE49-F238E27FC236}">
                    <a16:creationId xmlns:a16="http://schemas.microsoft.com/office/drawing/2014/main" id="{1A1322F6-BA0F-45A1-B597-C8868E5804E7}"/>
                  </a:ext>
                </a:extLst>
              </p:cNvPr>
              <p:cNvSpPr txBox="1">
                <a:spLocks noRot="1" noChangeAspect="1" noMove="1" noResize="1" noEditPoints="1" noAdjustHandles="1" noChangeArrowheads="1" noChangeShapeType="1" noTextEdit="1"/>
              </p:cNvSpPr>
              <p:nvPr/>
            </p:nvSpPr>
            <p:spPr>
              <a:xfrm>
                <a:off x="2652351" y="1262247"/>
                <a:ext cx="1266116" cy="786241"/>
              </a:xfrm>
              <a:prstGeom prst="rect">
                <a:avLst/>
              </a:prstGeom>
              <a:blipFill>
                <a:blip r:embed="rId4"/>
                <a:stretch>
                  <a:fillRect/>
                </a:stretch>
              </a:blipFill>
            </p:spPr>
            <p:txBody>
              <a:bodyPr/>
              <a:lstStyle/>
              <a:p>
                <a:r>
                  <a:rPr lang="en-001">
                    <a:noFill/>
                  </a:rPr>
                  <a:t> </a:t>
                </a:r>
              </a:p>
            </p:txBody>
          </p:sp>
        </mc:Fallback>
      </mc:AlternateContent>
      <p:sp>
        <p:nvSpPr>
          <p:cNvPr id="24" name="矩形 1">
            <a:extLst>
              <a:ext uri="{FF2B5EF4-FFF2-40B4-BE49-F238E27FC236}">
                <a16:creationId xmlns:a16="http://schemas.microsoft.com/office/drawing/2014/main" id="{75C1CF6C-164A-4B7A-A289-79FE95BDD23A}"/>
              </a:ext>
            </a:extLst>
          </p:cNvPr>
          <p:cNvSpPr/>
          <p:nvPr/>
        </p:nvSpPr>
        <p:spPr>
          <a:xfrm>
            <a:off x="54061" y="1262247"/>
            <a:ext cx="2350323" cy="461665"/>
          </a:xfrm>
          <a:prstGeom prst="rect">
            <a:avLst/>
          </a:prstGeom>
          <a:solidFill>
            <a:srgbClr val="FFFF00"/>
          </a:solidFill>
        </p:spPr>
        <p:txBody>
          <a:bodyPr wrap="none">
            <a:spAutoFit/>
          </a:bodyPr>
          <a:lstStyle/>
          <a:p>
            <a:r>
              <a:rPr lang="zh-CN" altLang="en-US" sz="2400" b="1">
                <a:solidFill>
                  <a:prstClr val="black"/>
                </a:solidFill>
                <a:latin typeface="宋体" panose="02010600030101010101" pitchFamily="2" charset="-122"/>
                <a:ea typeface="宋体" panose="02010600030101010101" pitchFamily="2" charset="-122"/>
              </a:rPr>
              <a:t>变介电常数型</a:t>
            </a:r>
            <a:r>
              <a:rPr lang="zh-CN" altLang="en-US" sz="2400" b="1" dirty="0">
                <a:solidFill>
                  <a:prstClr val="black"/>
                </a:solidFill>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14" name="Picture 10">
            <a:extLst>
              <a:ext uri="{FF2B5EF4-FFF2-40B4-BE49-F238E27FC236}">
                <a16:creationId xmlns:a16="http://schemas.microsoft.com/office/drawing/2014/main" id="{0CD70706-882C-4B5F-A74F-981DBA6BBF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9350" y="1262247"/>
            <a:ext cx="3751625" cy="1795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Object 4">
            <a:extLst>
              <a:ext uri="{FF2B5EF4-FFF2-40B4-BE49-F238E27FC236}">
                <a16:creationId xmlns:a16="http://schemas.microsoft.com/office/drawing/2014/main" id="{46498BAB-3512-4B84-A0F7-CE85031C522C}"/>
              </a:ext>
            </a:extLst>
          </p:cNvPr>
          <p:cNvGraphicFramePr>
            <a:graphicFrameLocks noChangeAspect="1"/>
          </p:cNvGraphicFramePr>
          <p:nvPr>
            <p:extLst>
              <p:ext uri="{D42A27DB-BD31-4B8C-83A1-F6EECF244321}">
                <p14:modId xmlns:p14="http://schemas.microsoft.com/office/powerpoint/2010/main" val="2737908531"/>
              </p:ext>
            </p:extLst>
          </p:nvPr>
        </p:nvGraphicFramePr>
        <p:xfrm>
          <a:off x="3032552" y="2490783"/>
          <a:ext cx="1965176" cy="993822"/>
        </p:xfrm>
        <a:graphic>
          <a:graphicData uri="http://schemas.openxmlformats.org/presentationml/2006/ole">
            <mc:AlternateContent xmlns:mc="http://schemas.openxmlformats.org/markup-compatibility/2006">
              <mc:Choice xmlns:v="urn:schemas-microsoft-com:vml" Requires="v">
                <p:oleObj name="公式" r:id="rId6" imgW="888840" imgH="444240" progId="Equation.3">
                  <p:embed/>
                </p:oleObj>
              </mc:Choice>
              <mc:Fallback>
                <p:oleObj name="公式" r:id="rId6" imgW="888840" imgH="444240" progId="Equation.3">
                  <p:embed/>
                  <p:pic>
                    <p:nvPicPr>
                      <p:cNvPr id="4" name="Object 4"/>
                      <p:cNvPicPr>
                        <a:picLocks noChangeAspect="1" noChangeArrowheads="1"/>
                      </p:cNvPicPr>
                      <p:nvPr/>
                    </p:nvPicPr>
                    <p:blipFill>
                      <a:blip r:embed="rId7"/>
                      <a:srcRect/>
                      <a:stretch>
                        <a:fillRect/>
                      </a:stretch>
                    </p:blipFill>
                    <p:spPr bwMode="auto">
                      <a:xfrm>
                        <a:off x="3032552" y="2490783"/>
                        <a:ext cx="1965176" cy="993822"/>
                      </a:xfrm>
                      <a:prstGeom prst="rect">
                        <a:avLst/>
                      </a:prstGeom>
                      <a:noFill/>
                    </p:spPr>
                  </p:pic>
                </p:oleObj>
              </mc:Fallback>
            </mc:AlternateContent>
          </a:graphicData>
        </a:graphic>
      </p:graphicFrame>
      <p:sp>
        <p:nvSpPr>
          <p:cNvPr id="10" name="Text Box 6">
            <a:extLst>
              <a:ext uri="{FF2B5EF4-FFF2-40B4-BE49-F238E27FC236}">
                <a16:creationId xmlns:a16="http://schemas.microsoft.com/office/drawing/2014/main" id="{209E9253-418E-4123-B2F3-E0937B6DDCBE}"/>
              </a:ext>
            </a:extLst>
          </p:cNvPr>
          <p:cNvSpPr txBox="1">
            <a:spLocks noChangeArrowheads="1"/>
          </p:cNvSpPr>
          <p:nvPr/>
        </p:nvSpPr>
        <p:spPr bwMode="auto">
          <a:xfrm>
            <a:off x="185083" y="2717396"/>
            <a:ext cx="31482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宋体" panose="02010600030101010101" pitchFamily="2" charset="-122"/>
                <a:ea typeface="宋体" panose="02010600030101010101" pitchFamily="2" charset="-122"/>
              </a:rPr>
              <a:t>两间隙合计总电容：</a:t>
            </a:r>
          </a:p>
        </p:txBody>
      </p:sp>
      <p:sp>
        <p:nvSpPr>
          <p:cNvPr id="11" name="Text Box 7">
            <a:extLst>
              <a:ext uri="{FF2B5EF4-FFF2-40B4-BE49-F238E27FC236}">
                <a16:creationId xmlns:a16="http://schemas.microsoft.com/office/drawing/2014/main" id="{D2E953DD-A5D8-42B9-BD5D-FA1EE8B4C4C8}"/>
              </a:ext>
            </a:extLst>
          </p:cNvPr>
          <p:cNvSpPr txBox="1">
            <a:spLocks noChangeArrowheads="1"/>
          </p:cNvSpPr>
          <p:nvPr/>
        </p:nvSpPr>
        <p:spPr bwMode="auto">
          <a:xfrm>
            <a:off x="185083" y="3565248"/>
            <a:ext cx="4394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宋体" panose="02010600030101010101" pitchFamily="2" charset="-122"/>
                <a:ea typeface="宋体" panose="02010600030101010101" pitchFamily="2" charset="-122"/>
              </a:rPr>
              <a:t>被测物质上下表面形成的电容：</a:t>
            </a:r>
          </a:p>
        </p:txBody>
      </p:sp>
      <p:graphicFrame>
        <p:nvGraphicFramePr>
          <p:cNvPr id="12" name="Object 8">
            <a:extLst>
              <a:ext uri="{FF2B5EF4-FFF2-40B4-BE49-F238E27FC236}">
                <a16:creationId xmlns:a16="http://schemas.microsoft.com/office/drawing/2014/main" id="{EA6C756B-4DAF-45DE-B3C8-015D8C9BA9E0}"/>
              </a:ext>
            </a:extLst>
          </p:cNvPr>
          <p:cNvGraphicFramePr>
            <a:graphicFrameLocks noChangeAspect="1"/>
          </p:cNvGraphicFramePr>
          <p:nvPr>
            <p:extLst>
              <p:ext uri="{D42A27DB-BD31-4B8C-83A1-F6EECF244321}">
                <p14:modId xmlns:p14="http://schemas.microsoft.com/office/powerpoint/2010/main" val="363243175"/>
              </p:ext>
            </p:extLst>
          </p:nvPr>
        </p:nvGraphicFramePr>
        <p:xfrm>
          <a:off x="4670316" y="3357773"/>
          <a:ext cx="1270248" cy="967644"/>
        </p:xfrm>
        <a:graphic>
          <a:graphicData uri="http://schemas.openxmlformats.org/presentationml/2006/ole">
            <mc:AlternateContent xmlns:mc="http://schemas.openxmlformats.org/markup-compatibility/2006">
              <mc:Choice xmlns:v="urn:schemas-microsoft-com:vml" Requires="v">
                <p:oleObj r:id="rId8" imgW="558558" imgH="431613" progId="Equation.3">
                  <p:embed/>
                </p:oleObj>
              </mc:Choice>
              <mc:Fallback>
                <p:oleObj r:id="rId8" imgW="558558" imgH="431613" progId="Equation.3">
                  <p:embed/>
                  <p:pic>
                    <p:nvPicPr>
                      <p:cNvPr id="7"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0316" y="3357773"/>
                        <a:ext cx="1270248" cy="967644"/>
                      </a:xfrm>
                      <a:prstGeom prst="rect">
                        <a:avLst/>
                      </a:prstGeom>
                      <a:noFill/>
                    </p:spPr>
                  </p:pic>
                </p:oleObj>
              </mc:Fallback>
            </mc:AlternateContent>
          </a:graphicData>
        </a:graphic>
      </p:graphicFrame>
      <p:graphicFrame>
        <p:nvGraphicFramePr>
          <p:cNvPr id="15" name="Object 10">
            <a:extLst>
              <a:ext uri="{FF2B5EF4-FFF2-40B4-BE49-F238E27FC236}">
                <a16:creationId xmlns:a16="http://schemas.microsoft.com/office/drawing/2014/main" id="{9A15719E-869F-4DC8-91D4-E275D4299076}"/>
              </a:ext>
            </a:extLst>
          </p:cNvPr>
          <p:cNvGraphicFramePr>
            <a:graphicFrameLocks noChangeAspect="1"/>
          </p:cNvGraphicFramePr>
          <p:nvPr>
            <p:extLst>
              <p:ext uri="{D42A27DB-BD31-4B8C-83A1-F6EECF244321}">
                <p14:modId xmlns:p14="http://schemas.microsoft.com/office/powerpoint/2010/main" val="2310466400"/>
              </p:ext>
            </p:extLst>
          </p:nvPr>
        </p:nvGraphicFramePr>
        <p:xfrm>
          <a:off x="415874" y="4316358"/>
          <a:ext cx="7651791" cy="909198"/>
        </p:xfrm>
        <a:graphic>
          <a:graphicData uri="http://schemas.openxmlformats.org/presentationml/2006/ole">
            <mc:AlternateContent xmlns:mc="http://schemas.openxmlformats.org/markup-compatibility/2006">
              <mc:Choice xmlns:v="urn:schemas-microsoft-com:vml" Requires="v">
                <p:oleObj name="公式" r:id="rId10" imgW="3771720" imgH="444240" progId="Equation.3">
                  <p:embed/>
                </p:oleObj>
              </mc:Choice>
              <mc:Fallback>
                <p:oleObj name="公式" r:id="rId10" imgW="3771720" imgH="444240" progId="Equation.3">
                  <p:embed/>
                  <p:pic>
                    <p:nvPicPr>
                      <p:cNvPr id="8" name="Object 10"/>
                      <p:cNvPicPr>
                        <a:picLocks noChangeAspect="1" noChangeArrowheads="1"/>
                      </p:cNvPicPr>
                      <p:nvPr/>
                    </p:nvPicPr>
                    <p:blipFill>
                      <a:blip r:embed="rId11"/>
                      <a:srcRect/>
                      <a:stretch>
                        <a:fillRect/>
                      </a:stretch>
                    </p:blipFill>
                    <p:spPr bwMode="auto">
                      <a:xfrm>
                        <a:off x="415874" y="4316358"/>
                        <a:ext cx="7651791" cy="909198"/>
                      </a:xfrm>
                      <a:prstGeom prst="rect">
                        <a:avLst/>
                      </a:prstGeom>
                      <a:noFill/>
                    </p:spPr>
                  </p:pic>
                </p:oleObj>
              </mc:Fallback>
            </mc:AlternateContent>
          </a:graphicData>
        </a:graphic>
      </p:graphicFrame>
      <p:graphicFrame>
        <p:nvGraphicFramePr>
          <p:cNvPr id="16" name="Object 12">
            <a:extLst>
              <a:ext uri="{FF2B5EF4-FFF2-40B4-BE49-F238E27FC236}">
                <a16:creationId xmlns:a16="http://schemas.microsoft.com/office/drawing/2014/main" id="{ADA75CBF-10B3-473A-BFDA-4673590160C3}"/>
              </a:ext>
            </a:extLst>
          </p:cNvPr>
          <p:cNvGraphicFramePr>
            <a:graphicFrameLocks noChangeAspect="1"/>
          </p:cNvGraphicFramePr>
          <p:nvPr>
            <p:extLst>
              <p:ext uri="{D42A27DB-BD31-4B8C-83A1-F6EECF244321}">
                <p14:modId xmlns:p14="http://schemas.microsoft.com/office/powerpoint/2010/main" val="3522584530"/>
              </p:ext>
            </p:extLst>
          </p:nvPr>
        </p:nvGraphicFramePr>
        <p:xfrm>
          <a:off x="3501722" y="5359759"/>
          <a:ext cx="1168594" cy="956245"/>
        </p:xfrm>
        <a:graphic>
          <a:graphicData uri="http://schemas.openxmlformats.org/presentationml/2006/ole">
            <mc:AlternateContent xmlns:mc="http://schemas.openxmlformats.org/markup-compatibility/2006">
              <mc:Choice xmlns:v="urn:schemas-microsoft-com:vml" Requires="v">
                <p:oleObj r:id="rId12" imgW="520474" imgH="431613" progId="Equation.3">
                  <p:embed/>
                </p:oleObj>
              </mc:Choice>
              <mc:Fallback>
                <p:oleObj r:id="rId12" imgW="520474" imgH="431613" progId="Equation.3">
                  <p:embed/>
                  <p:pic>
                    <p:nvPicPr>
                      <p:cNvPr id="9"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1722" y="5359759"/>
                        <a:ext cx="1168594" cy="956245"/>
                      </a:xfrm>
                      <a:prstGeom prst="rect">
                        <a:avLst/>
                      </a:prstGeom>
                      <a:noFill/>
                    </p:spPr>
                  </p:pic>
                </p:oleObj>
              </mc:Fallback>
            </mc:AlternateContent>
          </a:graphicData>
        </a:graphic>
      </p:graphicFrame>
      <p:sp>
        <p:nvSpPr>
          <p:cNvPr id="17" name="Text Box 14">
            <a:extLst>
              <a:ext uri="{FF2B5EF4-FFF2-40B4-BE49-F238E27FC236}">
                <a16:creationId xmlns:a16="http://schemas.microsoft.com/office/drawing/2014/main" id="{CF4FE66B-B165-4265-A619-ED33ECE8E624}"/>
              </a:ext>
            </a:extLst>
          </p:cNvPr>
          <p:cNvSpPr txBox="1">
            <a:spLocks noChangeArrowheads="1"/>
          </p:cNvSpPr>
          <p:nvPr/>
        </p:nvSpPr>
        <p:spPr bwMode="auto">
          <a:xfrm>
            <a:off x="191586" y="5607050"/>
            <a:ext cx="34917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宋体" panose="02010600030101010101" pitchFamily="2" charset="-122"/>
                <a:ea typeface="宋体" panose="02010600030101010101" pitchFamily="2" charset="-122"/>
              </a:rPr>
              <a:t>其中，相对介电常数：</a:t>
            </a:r>
          </a:p>
        </p:txBody>
      </p:sp>
      <p:sp>
        <p:nvSpPr>
          <p:cNvPr id="2" name="Slide Number Placeholder 1">
            <a:extLst>
              <a:ext uri="{FF2B5EF4-FFF2-40B4-BE49-F238E27FC236}">
                <a16:creationId xmlns:a16="http://schemas.microsoft.com/office/drawing/2014/main" id="{16604EA4-1384-4EAC-8C08-28CA2A99DABE}"/>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spTree>
    <p:extLst>
      <p:ext uri="{BB962C8B-B14F-4D97-AF65-F5344CB8AC3E}">
        <p14:creationId xmlns:p14="http://schemas.microsoft.com/office/powerpoint/2010/main" val="3070124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322F6-BA0F-45A1-B597-C8868E5804E7}"/>
                  </a:ext>
                </a:extLst>
              </p:cNvPr>
              <p:cNvSpPr txBox="1"/>
              <p:nvPr/>
            </p:nvSpPr>
            <p:spPr>
              <a:xfrm>
                <a:off x="2652351" y="1262247"/>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23" name="TextBox 22">
                <a:extLst>
                  <a:ext uri="{FF2B5EF4-FFF2-40B4-BE49-F238E27FC236}">
                    <a16:creationId xmlns:a16="http://schemas.microsoft.com/office/drawing/2014/main" id="{1A1322F6-BA0F-45A1-B597-C8868E5804E7}"/>
                  </a:ext>
                </a:extLst>
              </p:cNvPr>
              <p:cNvSpPr txBox="1">
                <a:spLocks noRot="1" noChangeAspect="1" noMove="1" noResize="1" noEditPoints="1" noAdjustHandles="1" noChangeArrowheads="1" noChangeShapeType="1" noTextEdit="1"/>
              </p:cNvSpPr>
              <p:nvPr/>
            </p:nvSpPr>
            <p:spPr>
              <a:xfrm>
                <a:off x="2652351" y="1262247"/>
                <a:ext cx="1266116" cy="786241"/>
              </a:xfrm>
              <a:prstGeom prst="rect">
                <a:avLst/>
              </a:prstGeom>
              <a:blipFill>
                <a:blip r:embed="rId4"/>
                <a:stretch>
                  <a:fillRect/>
                </a:stretch>
              </a:blipFill>
            </p:spPr>
            <p:txBody>
              <a:bodyPr/>
              <a:lstStyle/>
              <a:p>
                <a:r>
                  <a:rPr lang="en-001">
                    <a:noFill/>
                  </a:rPr>
                  <a:t> </a:t>
                </a:r>
              </a:p>
            </p:txBody>
          </p:sp>
        </mc:Fallback>
      </mc:AlternateContent>
      <p:sp>
        <p:nvSpPr>
          <p:cNvPr id="24" name="矩形 1">
            <a:extLst>
              <a:ext uri="{FF2B5EF4-FFF2-40B4-BE49-F238E27FC236}">
                <a16:creationId xmlns:a16="http://schemas.microsoft.com/office/drawing/2014/main" id="{75C1CF6C-164A-4B7A-A289-79FE95BDD23A}"/>
              </a:ext>
            </a:extLst>
          </p:cNvPr>
          <p:cNvSpPr/>
          <p:nvPr/>
        </p:nvSpPr>
        <p:spPr>
          <a:xfrm>
            <a:off x="54061" y="1262247"/>
            <a:ext cx="2350323" cy="461665"/>
          </a:xfrm>
          <a:prstGeom prst="rect">
            <a:avLst/>
          </a:prstGeom>
          <a:solidFill>
            <a:srgbClr val="FFFF00"/>
          </a:solidFill>
        </p:spPr>
        <p:txBody>
          <a:bodyPr wrap="none">
            <a:spAutoFit/>
          </a:bodyPr>
          <a:lstStyle/>
          <a:p>
            <a:r>
              <a:rPr lang="zh-CN" altLang="en-US" sz="2400" b="1">
                <a:solidFill>
                  <a:prstClr val="black"/>
                </a:solidFill>
                <a:latin typeface="宋体" panose="02010600030101010101" pitchFamily="2" charset="-122"/>
                <a:ea typeface="宋体" panose="02010600030101010101" pitchFamily="2" charset="-122"/>
              </a:rPr>
              <a:t>变介电常数型</a:t>
            </a:r>
            <a:r>
              <a:rPr lang="zh-CN" altLang="en-US" sz="2400" b="1" dirty="0">
                <a:solidFill>
                  <a:prstClr val="black"/>
                </a:solidFill>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14" name="Picture 10">
            <a:extLst>
              <a:ext uri="{FF2B5EF4-FFF2-40B4-BE49-F238E27FC236}">
                <a16:creationId xmlns:a16="http://schemas.microsoft.com/office/drawing/2014/main" id="{0CD70706-882C-4B5F-A74F-981DBA6BBF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9350" y="1262247"/>
            <a:ext cx="3751625" cy="1795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5" name="Object 10">
            <a:extLst>
              <a:ext uri="{FF2B5EF4-FFF2-40B4-BE49-F238E27FC236}">
                <a16:creationId xmlns:a16="http://schemas.microsoft.com/office/drawing/2014/main" id="{9A15719E-869F-4DC8-91D4-E275D4299076}"/>
              </a:ext>
            </a:extLst>
          </p:cNvPr>
          <p:cNvGraphicFramePr>
            <a:graphicFrameLocks noChangeAspect="1"/>
          </p:cNvGraphicFramePr>
          <p:nvPr>
            <p:extLst>
              <p:ext uri="{D42A27DB-BD31-4B8C-83A1-F6EECF244321}">
                <p14:modId xmlns:p14="http://schemas.microsoft.com/office/powerpoint/2010/main" val="513312239"/>
              </p:ext>
            </p:extLst>
          </p:nvPr>
        </p:nvGraphicFramePr>
        <p:xfrm>
          <a:off x="54061" y="2694183"/>
          <a:ext cx="5483139" cy="651515"/>
        </p:xfrm>
        <a:graphic>
          <a:graphicData uri="http://schemas.openxmlformats.org/presentationml/2006/ole">
            <mc:AlternateContent xmlns:mc="http://schemas.openxmlformats.org/markup-compatibility/2006">
              <mc:Choice xmlns:v="urn:schemas-microsoft-com:vml" Requires="v">
                <p:oleObj name="公式" r:id="rId6" imgW="3771720" imgH="444240" progId="Equation.3">
                  <p:embed/>
                </p:oleObj>
              </mc:Choice>
              <mc:Fallback>
                <p:oleObj name="公式" r:id="rId6" imgW="3771720" imgH="444240" progId="Equation.3">
                  <p:embed/>
                  <p:pic>
                    <p:nvPicPr>
                      <p:cNvPr id="15" name="Object 10">
                        <a:extLst>
                          <a:ext uri="{FF2B5EF4-FFF2-40B4-BE49-F238E27FC236}">
                            <a16:creationId xmlns:a16="http://schemas.microsoft.com/office/drawing/2014/main" id="{9A15719E-869F-4DC8-91D4-E275D4299076}"/>
                          </a:ext>
                        </a:extLst>
                      </p:cNvPr>
                      <p:cNvPicPr>
                        <a:picLocks noChangeAspect="1" noChangeArrowheads="1"/>
                      </p:cNvPicPr>
                      <p:nvPr/>
                    </p:nvPicPr>
                    <p:blipFill>
                      <a:blip r:embed="rId7"/>
                      <a:srcRect/>
                      <a:stretch>
                        <a:fillRect/>
                      </a:stretch>
                    </p:blipFill>
                    <p:spPr bwMode="auto">
                      <a:xfrm>
                        <a:off x="54061" y="2694183"/>
                        <a:ext cx="5483139" cy="651515"/>
                      </a:xfrm>
                      <a:prstGeom prst="rect">
                        <a:avLst/>
                      </a:prstGeom>
                      <a:noFill/>
                    </p:spPr>
                  </p:pic>
                </p:oleObj>
              </mc:Fallback>
            </mc:AlternateContent>
          </a:graphicData>
        </a:graphic>
      </p:graphicFrame>
      <p:sp>
        <p:nvSpPr>
          <p:cNvPr id="18" name="Text Box 4">
            <a:extLst>
              <a:ext uri="{FF2B5EF4-FFF2-40B4-BE49-F238E27FC236}">
                <a16:creationId xmlns:a16="http://schemas.microsoft.com/office/drawing/2014/main" id="{3BBA1C0A-A3A3-4BF2-BC98-0A435C62E06F}"/>
              </a:ext>
            </a:extLst>
          </p:cNvPr>
          <p:cNvSpPr txBox="1">
            <a:spLocks noChangeArrowheads="1"/>
          </p:cNvSpPr>
          <p:nvPr/>
        </p:nvSpPr>
        <p:spPr bwMode="auto">
          <a:xfrm>
            <a:off x="241817" y="3650333"/>
            <a:ext cx="8752872" cy="2869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715963">
              <a:lnSpc>
                <a:spcPct val="150000"/>
              </a:lnSpc>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当</a:t>
            </a:r>
            <a:r>
              <a:rPr lang="el-GR" altLang="zh-CN" sz="2400"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δ</a:t>
            </a:r>
            <a:r>
              <a:rPr lang="en-US" altLang="zh-CN" sz="2400" i="1" baseline="-25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一定时，运动物体沿水平方向进入上下极板之间，此时极板间的介质改变，因此可用于测量介电常数 </a:t>
            </a:r>
            <a:r>
              <a:rPr lang="el-GR"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ε</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，即可以</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用来</a:t>
            </a:r>
            <a:r>
              <a:rPr lang="zh-CN" altLang="en-US" sz="2400"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分辨不同材料</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的</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非导电物质。</a:t>
            </a:r>
          </a:p>
          <a:p>
            <a:pPr indent="715963">
              <a:lnSpc>
                <a:spcPct val="150000"/>
              </a:lnSpc>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当介电常数</a:t>
            </a:r>
            <a:r>
              <a:rPr lang="el-GR"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ε</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不变时，可用于</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测量</a:t>
            </a:r>
            <a:r>
              <a:rPr lang="zh-CN" altLang="en-US" sz="2400" b="1" u="sng"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物质的厚度</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与变极距型原理类似。</a:t>
            </a:r>
          </a:p>
        </p:txBody>
      </p:sp>
      <p:sp>
        <p:nvSpPr>
          <p:cNvPr id="2" name="Slide Number Placeholder 1">
            <a:extLst>
              <a:ext uri="{FF2B5EF4-FFF2-40B4-BE49-F238E27FC236}">
                <a16:creationId xmlns:a16="http://schemas.microsoft.com/office/drawing/2014/main" id="{F78E71E8-53D3-4BB0-8E3C-640C3F78C104}"/>
              </a:ext>
            </a:extLst>
          </p:cNvPr>
          <p:cNvSpPr>
            <a:spLocks noGrp="1"/>
          </p:cNvSpPr>
          <p:nvPr>
            <p:ph type="sldNum" sz="quarter" idx="12"/>
          </p:nvPr>
        </p:nvSpPr>
        <p:spPr/>
        <p:txBody>
          <a:bodyPr/>
          <a:lstStyle/>
          <a:p>
            <a:fld id="{B53602B4-F12B-41CD-B648-531F86B2CC91}" type="slidenum">
              <a:rPr lang="zh-CN" altLang="en-US" smtClean="0"/>
              <a:t>10</a:t>
            </a:fld>
            <a:endParaRPr lang="zh-CN" altLang="en-US"/>
          </a:p>
        </p:txBody>
      </p:sp>
    </p:spTree>
    <p:extLst>
      <p:ext uri="{BB962C8B-B14F-4D97-AF65-F5344CB8AC3E}">
        <p14:creationId xmlns:p14="http://schemas.microsoft.com/office/powerpoint/2010/main" val="15725493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322F6-BA0F-45A1-B597-C8868E5804E7}"/>
                  </a:ext>
                </a:extLst>
              </p:cNvPr>
              <p:cNvSpPr txBox="1"/>
              <p:nvPr/>
            </p:nvSpPr>
            <p:spPr>
              <a:xfrm>
                <a:off x="185083" y="1783708"/>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23" name="TextBox 22">
                <a:extLst>
                  <a:ext uri="{FF2B5EF4-FFF2-40B4-BE49-F238E27FC236}">
                    <a16:creationId xmlns:a16="http://schemas.microsoft.com/office/drawing/2014/main" id="{1A1322F6-BA0F-45A1-B597-C8868E5804E7}"/>
                  </a:ext>
                </a:extLst>
              </p:cNvPr>
              <p:cNvSpPr txBox="1">
                <a:spLocks noRot="1" noChangeAspect="1" noMove="1" noResize="1" noEditPoints="1" noAdjustHandles="1" noChangeArrowheads="1" noChangeShapeType="1" noTextEdit="1"/>
              </p:cNvSpPr>
              <p:nvPr/>
            </p:nvSpPr>
            <p:spPr>
              <a:xfrm>
                <a:off x="185083" y="1783708"/>
                <a:ext cx="1266116" cy="786241"/>
              </a:xfrm>
              <a:prstGeom prst="rect">
                <a:avLst/>
              </a:prstGeom>
              <a:blipFill>
                <a:blip r:embed="rId4"/>
                <a:stretch>
                  <a:fillRect/>
                </a:stretch>
              </a:blipFill>
            </p:spPr>
            <p:txBody>
              <a:bodyPr/>
              <a:lstStyle/>
              <a:p>
                <a:r>
                  <a:rPr lang="en-001">
                    <a:noFill/>
                  </a:rPr>
                  <a:t> </a:t>
                </a:r>
              </a:p>
            </p:txBody>
          </p:sp>
        </mc:Fallback>
      </mc:AlternateContent>
      <p:sp>
        <p:nvSpPr>
          <p:cNvPr id="24" name="矩形 1">
            <a:extLst>
              <a:ext uri="{FF2B5EF4-FFF2-40B4-BE49-F238E27FC236}">
                <a16:creationId xmlns:a16="http://schemas.microsoft.com/office/drawing/2014/main" id="{75C1CF6C-164A-4B7A-A289-79FE95BDD23A}"/>
              </a:ext>
            </a:extLst>
          </p:cNvPr>
          <p:cNvSpPr/>
          <p:nvPr/>
        </p:nvSpPr>
        <p:spPr>
          <a:xfrm>
            <a:off x="185083" y="1259274"/>
            <a:ext cx="2350323" cy="461665"/>
          </a:xfrm>
          <a:prstGeom prst="rect">
            <a:avLst/>
          </a:prstGeom>
          <a:solidFill>
            <a:srgbClr val="FFFF00"/>
          </a:solidFill>
        </p:spPr>
        <p:txBody>
          <a:bodyPr wrap="none">
            <a:spAutoFit/>
          </a:bodyPr>
          <a:lstStyle/>
          <a:p>
            <a:r>
              <a:rPr lang="zh-CN" altLang="en-US" sz="2400" b="1">
                <a:solidFill>
                  <a:prstClr val="black"/>
                </a:solidFill>
                <a:latin typeface="宋体" panose="02010600030101010101" pitchFamily="2" charset="-122"/>
                <a:ea typeface="宋体" panose="02010600030101010101" pitchFamily="2" charset="-122"/>
              </a:rPr>
              <a:t>变介电常数型</a:t>
            </a:r>
            <a:r>
              <a:rPr lang="zh-CN" altLang="en-US" sz="2400" b="1" dirty="0">
                <a:solidFill>
                  <a:prstClr val="black"/>
                </a:solidFill>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10" name="Picture 2">
            <a:extLst>
              <a:ext uri="{FF2B5EF4-FFF2-40B4-BE49-F238E27FC236}">
                <a16:creationId xmlns:a16="http://schemas.microsoft.com/office/drawing/2014/main" id="{6CEBA992-DBA5-4297-9D1D-C318325A6D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4162" y="2798970"/>
            <a:ext cx="4746437" cy="3375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60">
            <a:extLst>
              <a:ext uri="{FF2B5EF4-FFF2-40B4-BE49-F238E27FC236}">
                <a16:creationId xmlns:a16="http://schemas.microsoft.com/office/drawing/2014/main" id="{BB64935A-3928-4EB7-B8F1-217D925C9C4C}"/>
              </a:ext>
            </a:extLst>
          </p:cNvPr>
          <p:cNvSpPr txBox="1">
            <a:spLocks noChangeArrowheads="1"/>
          </p:cNvSpPr>
          <p:nvPr/>
        </p:nvSpPr>
        <p:spPr bwMode="auto">
          <a:xfrm>
            <a:off x="5735851" y="2982946"/>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rgbClr val="FF0000"/>
                </a:solidFill>
              </a:rPr>
              <a:t>r</a:t>
            </a:r>
            <a:r>
              <a:rPr lang="en-US" altLang="zh-CN" baseline="-25000">
                <a:solidFill>
                  <a:srgbClr val="FF0000"/>
                </a:solidFill>
              </a:rPr>
              <a:t>2</a:t>
            </a:r>
            <a:endParaRPr lang="en-US" altLang="zh-CN">
              <a:solidFill>
                <a:srgbClr val="FF0000"/>
              </a:solidFill>
            </a:endParaRPr>
          </a:p>
        </p:txBody>
      </p:sp>
      <p:sp>
        <p:nvSpPr>
          <p:cNvPr id="12" name="Text Box 61">
            <a:extLst>
              <a:ext uri="{FF2B5EF4-FFF2-40B4-BE49-F238E27FC236}">
                <a16:creationId xmlns:a16="http://schemas.microsoft.com/office/drawing/2014/main" id="{19001642-3052-404B-AC92-5ACADA3790BE}"/>
              </a:ext>
            </a:extLst>
          </p:cNvPr>
          <p:cNvSpPr txBox="1">
            <a:spLocks noChangeArrowheads="1"/>
          </p:cNvSpPr>
          <p:nvPr/>
        </p:nvSpPr>
        <p:spPr bwMode="auto">
          <a:xfrm>
            <a:off x="4592851" y="3211546"/>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rgbClr val="FF0000"/>
                </a:solidFill>
              </a:rPr>
              <a:t>r</a:t>
            </a:r>
            <a:r>
              <a:rPr lang="en-US" altLang="zh-CN" baseline="-25000">
                <a:solidFill>
                  <a:srgbClr val="FF0000"/>
                </a:solidFill>
              </a:rPr>
              <a:t>1</a:t>
            </a:r>
            <a:endParaRPr lang="en-US" altLang="zh-CN">
              <a:solidFill>
                <a:srgbClr val="FF0000"/>
              </a:solidFill>
            </a:endParaRPr>
          </a:p>
        </p:txBody>
      </p:sp>
      <p:sp>
        <p:nvSpPr>
          <p:cNvPr id="13" name="Line 62">
            <a:extLst>
              <a:ext uri="{FF2B5EF4-FFF2-40B4-BE49-F238E27FC236}">
                <a16:creationId xmlns:a16="http://schemas.microsoft.com/office/drawing/2014/main" id="{A5E65A84-026C-47C2-A75E-081BB99BA6FD}"/>
              </a:ext>
            </a:extLst>
          </p:cNvPr>
          <p:cNvSpPr>
            <a:spLocks noChangeShapeType="1"/>
          </p:cNvSpPr>
          <p:nvPr/>
        </p:nvSpPr>
        <p:spPr bwMode="auto">
          <a:xfrm flipH="1">
            <a:off x="3678451" y="4506946"/>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63">
            <a:extLst>
              <a:ext uri="{FF2B5EF4-FFF2-40B4-BE49-F238E27FC236}">
                <a16:creationId xmlns:a16="http://schemas.microsoft.com/office/drawing/2014/main" id="{7BB3E3F7-138E-4D69-8DA7-C6F655555BAA}"/>
              </a:ext>
            </a:extLst>
          </p:cNvPr>
          <p:cNvSpPr>
            <a:spLocks noChangeShapeType="1"/>
          </p:cNvSpPr>
          <p:nvPr/>
        </p:nvSpPr>
        <p:spPr bwMode="auto">
          <a:xfrm flipH="1">
            <a:off x="3297451" y="5421346"/>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64">
            <a:extLst>
              <a:ext uri="{FF2B5EF4-FFF2-40B4-BE49-F238E27FC236}">
                <a16:creationId xmlns:a16="http://schemas.microsoft.com/office/drawing/2014/main" id="{C2962E41-BCFE-4085-8DE2-88858A90E9CD}"/>
              </a:ext>
            </a:extLst>
          </p:cNvPr>
          <p:cNvSpPr>
            <a:spLocks noChangeShapeType="1"/>
          </p:cNvSpPr>
          <p:nvPr/>
        </p:nvSpPr>
        <p:spPr bwMode="auto">
          <a:xfrm flipH="1">
            <a:off x="3297451" y="4311684"/>
            <a:ext cx="155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65">
            <a:extLst>
              <a:ext uri="{FF2B5EF4-FFF2-40B4-BE49-F238E27FC236}">
                <a16:creationId xmlns:a16="http://schemas.microsoft.com/office/drawing/2014/main" id="{7F35DEE7-9B00-42EF-A678-1DD8CD93FA0A}"/>
              </a:ext>
            </a:extLst>
          </p:cNvPr>
          <p:cNvSpPr>
            <a:spLocks noChangeShapeType="1"/>
          </p:cNvSpPr>
          <p:nvPr/>
        </p:nvSpPr>
        <p:spPr bwMode="auto">
          <a:xfrm>
            <a:off x="3907051" y="4506946"/>
            <a:ext cx="0" cy="91440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66">
            <a:extLst>
              <a:ext uri="{FF2B5EF4-FFF2-40B4-BE49-F238E27FC236}">
                <a16:creationId xmlns:a16="http://schemas.microsoft.com/office/drawing/2014/main" id="{776CAC9D-5518-4081-9E28-62DBEB7EA602}"/>
              </a:ext>
            </a:extLst>
          </p:cNvPr>
          <p:cNvSpPr>
            <a:spLocks noChangeShapeType="1"/>
          </p:cNvSpPr>
          <p:nvPr/>
        </p:nvSpPr>
        <p:spPr bwMode="auto">
          <a:xfrm>
            <a:off x="3413339" y="4311684"/>
            <a:ext cx="0" cy="1109662"/>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Text Box 67">
            <a:extLst>
              <a:ext uri="{FF2B5EF4-FFF2-40B4-BE49-F238E27FC236}">
                <a16:creationId xmlns:a16="http://schemas.microsoft.com/office/drawing/2014/main" id="{01919B10-A9C1-44ED-BB2B-30D9EE772658}"/>
              </a:ext>
            </a:extLst>
          </p:cNvPr>
          <p:cNvSpPr txBox="1">
            <a:spLocks noChangeArrowheads="1"/>
          </p:cNvSpPr>
          <p:nvPr/>
        </p:nvSpPr>
        <p:spPr bwMode="auto">
          <a:xfrm>
            <a:off x="3526051" y="47355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rgbClr val="FF0000"/>
                </a:solidFill>
              </a:rPr>
              <a:t>h</a:t>
            </a:r>
            <a:r>
              <a:rPr lang="en-US" altLang="zh-CN" i="1" baseline="-25000">
                <a:solidFill>
                  <a:srgbClr val="FF0000"/>
                </a:solidFill>
              </a:rPr>
              <a:t>x</a:t>
            </a:r>
            <a:endParaRPr lang="en-US" altLang="zh-CN" i="1">
              <a:solidFill>
                <a:srgbClr val="FF0000"/>
              </a:solidFill>
            </a:endParaRPr>
          </a:p>
        </p:txBody>
      </p:sp>
      <p:sp>
        <p:nvSpPr>
          <p:cNvPr id="22" name="Text Box 68">
            <a:extLst>
              <a:ext uri="{FF2B5EF4-FFF2-40B4-BE49-F238E27FC236}">
                <a16:creationId xmlns:a16="http://schemas.microsoft.com/office/drawing/2014/main" id="{1557B552-687E-4432-9E86-5352997D8125}"/>
              </a:ext>
            </a:extLst>
          </p:cNvPr>
          <p:cNvSpPr txBox="1">
            <a:spLocks noChangeArrowheads="1"/>
          </p:cNvSpPr>
          <p:nvPr/>
        </p:nvSpPr>
        <p:spPr bwMode="auto">
          <a:xfrm>
            <a:off x="3054564" y="4573621"/>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rgbClr val="FF0000"/>
                </a:solidFill>
              </a:rPr>
              <a:t>h</a:t>
            </a:r>
          </a:p>
        </p:txBody>
      </p:sp>
      <p:sp>
        <p:nvSpPr>
          <p:cNvPr id="25" name="Line 69">
            <a:extLst>
              <a:ext uri="{FF2B5EF4-FFF2-40B4-BE49-F238E27FC236}">
                <a16:creationId xmlns:a16="http://schemas.microsoft.com/office/drawing/2014/main" id="{E4392DDB-20A7-47C1-862A-B00C7B7106FE}"/>
              </a:ext>
            </a:extLst>
          </p:cNvPr>
          <p:cNvSpPr>
            <a:spLocks noChangeShapeType="1"/>
          </p:cNvSpPr>
          <p:nvPr/>
        </p:nvSpPr>
        <p:spPr bwMode="auto">
          <a:xfrm flipV="1">
            <a:off x="5278651" y="2754346"/>
            <a:ext cx="0" cy="2895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70">
            <a:extLst>
              <a:ext uri="{FF2B5EF4-FFF2-40B4-BE49-F238E27FC236}">
                <a16:creationId xmlns:a16="http://schemas.microsoft.com/office/drawing/2014/main" id="{5E1DE8DE-0601-4AC9-8A79-E487B93CF2BF}"/>
              </a:ext>
            </a:extLst>
          </p:cNvPr>
          <p:cNvSpPr>
            <a:spLocks noChangeShapeType="1"/>
          </p:cNvSpPr>
          <p:nvPr/>
        </p:nvSpPr>
        <p:spPr bwMode="auto">
          <a:xfrm>
            <a:off x="4973851" y="3516346"/>
            <a:ext cx="304800"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71">
            <a:extLst>
              <a:ext uri="{FF2B5EF4-FFF2-40B4-BE49-F238E27FC236}">
                <a16:creationId xmlns:a16="http://schemas.microsoft.com/office/drawing/2014/main" id="{A32EF79F-A9E9-49C4-8F8A-30B5470C456C}"/>
              </a:ext>
            </a:extLst>
          </p:cNvPr>
          <p:cNvSpPr>
            <a:spLocks noChangeShapeType="1"/>
          </p:cNvSpPr>
          <p:nvPr/>
        </p:nvSpPr>
        <p:spPr bwMode="auto">
          <a:xfrm>
            <a:off x="5278651" y="3287746"/>
            <a:ext cx="381000"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Text Box 9">
            <a:extLst>
              <a:ext uri="{FF2B5EF4-FFF2-40B4-BE49-F238E27FC236}">
                <a16:creationId xmlns:a16="http://schemas.microsoft.com/office/drawing/2014/main" id="{535D6678-0297-464F-B082-6BB37363CC1A}"/>
              </a:ext>
            </a:extLst>
          </p:cNvPr>
          <p:cNvSpPr txBox="1">
            <a:spLocks noChangeArrowheads="1"/>
          </p:cNvSpPr>
          <p:nvPr/>
        </p:nvSpPr>
        <p:spPr bwMode="auto">
          <a:xfrm>
            <a:off x="2867212" y="6174214"/>
            <a:ext cx="62187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99"/>
                </a:solidFill>
                <a:latin typeface="宋体" panose="02010600030101010101" pitchFamily="2" charset="-122"/>
                <a:ea typeface="宋体" panose="02010600030101010101" pitchFamily="2" charset="-122"/>
              </a:rPr>
              <a:t>图</a:t>
            </a:r>
            <a:r>
              <a:rPr lang="en-US" altLang="zh-CN" sz="2400" b="1" dirty="0">
                <a:solidFill>
                  <a:srgbClr val="000099"/>
                </a:solidFill>
                <a:latin typeface="宋体" panose="02010600030101010101" pitchFamily="2" charset="-122"/>
                <a:ea typeface="宋体" panose="02010600030101010101" pitchFamily="2" charset="-122"/>
              </a:rPr>
              <a:t>4-3  </a:t>
            </a:r>
            <a:r>
              <a:rPr lang="zh-CN" altLang="en-US" sz="2400" b="1" dirty="0">
                <a:solidFill>
                  <a:srgbClr val="000099"/>
                </a:solidFill>
                <a:latin typeface="宋体" panose="02010600030101010101" pitchFamily="2" charset="-122"/>
                <a:ea typeface="宋体" panose="02010600030101010101" pitchFamily="2" charset="-122"/>
              </a:rPr>
              <a:t>变介电常数型电容传感器结构原理图</a:t>
            </a:r>
          </a:p>
        </p:txBody>
      </p:sp>
      <p:graphicFrame>
        <p:nvGraphicFramePr>
          <p:cNvPr id="29" name="对象 3">
            <a:extLst>
              <a:ext uri="{FF2B5EF4-FFF2-40B4-BE49-F238E27FC236}">
                <a16:creationId xmlns:a16="http://schemas.microsoft.com/office/drawing/2014/main" id="{6072D632-5B86-42F7-B505-DE9150A32AC9}"/>
              </a:ext>
            </a:extLst>
          </p:cNvPr>
          <p:cNvGraphicFramePr>
            <a:graphicFrameLocks noChangeAspect="1"/>
          </p:cNvGraphicFramePr>
          <p:nvPr>
            <p:extLst>
              <p:ext uri="{D42A27DB-BD31-4B8C-83A1-F6EECF244321}">
                <p14:modId xmlns:p14="http://schemas.microsoft.com/office/powerpoint/2010/main" val="172548120"/>
              </p:ext>
            </p:extLst>
          </p:nvPr>
        </p:nvGraphicFramePr>
        <p:xfrm>
          <a:off x="3166482" y="1222826"/>
          <a:ext cx="5620192" cy="1271840"/>
        </p:xfrm>
        <a:graphic>
          <a:graphicData uri="http://schemas.openxmlformats.org/presentationml/2006/ole">
            <mc:AlternateContent xmlns:mc="http://schemas.openxmlformats.org/markup-compatibility/2006">
              <mc:Choice xmlns:v="urn:schemas-microsoft-com:vml" Requires="v">
                <p:oleObj name="Equation" r:id="rId6" imgW="1993680" imgH="444240" progId="Equation.DSMT4">
                  <p:embed/>
                </p:oleObj>
              </mc:Choice>
              <mc:Fallback>
                <p:oleObj name="Equation" r:id="rId6" imgW="1993680" imgH="444240" progId="Equation.DSMT4">
                  <p:embed/>
                  <p:pic>
                    <p:nvPicPr>
                      <p:cNvPr id="4" name="对象 3"/>
                      <p:cNvPicPr>
                        <a:picLocks noChangeAspect="1" noChangeArrowheads="1"/>
                      </p:cNvPicPr>
                      <p:nvPr/>
                    </p:nvPicPr>
                    <p:blipFill>
                      <a:blip r:embed="rId7"/>
                      <a:srcRect/>
                      <a:stretch>
                        <a:fillRect/>
                      </a:stretch>
                    </p:blipFill>
                    <p:spPr bwMode="auto">
                      <a:xfrm>
                        <a:off x="3166482" y="1222826"/>
                        <a:ext cx="5620192" cy="1271840"/>
                      </a:xfrm>
                      <a:prstGeom prst="rect">
                        <a:avLst/>
                      </a:prstGeom>
                      <a:noFill/>
                      <a:ln>
                        <a:noFill/>
                      </a:ln>
                    </p:spPr>
                  </p:pic>
                </p:oleObj>
              </mc:Fallback>
            </mc:AlternateContent>
          </a:graphicData>
        </a:graphic>
      </p:graphicFrame>
      <p:sp>
        <p:nvSpPr>
          <p:cNvPr id="30" name="TextBox 29">
            <a:extLst>
              <a:ext uri="{FF2B5EF4-FFF2-40B4-BE49-F238E27FC236}">
                <a16:creationId xmlns:a16="http://schemas.microsoft.com/office/drawing/2014/main" id="{65801688-4E3C-46DB-A5AF-DC5AEBD723CF}"/>
              </a:ext>
            </a:extLst>
          </p:cNvPr>
          <p:cNvSpPr txBox="1"/>
          <p:nvPr/>
        </p:nvSpPr>
        <p:spPr>
          <a:xfrm>
            <a:off x="131524" y="2516454"/>
            <a:ext cx="4898570" cy="1661289"/>
          </a:xfrm>
          <a:prstGeom prst="rect">
            <a:avLst/>
          </a:prstGeom>
          <a:noFill/>
        </p:spPr>
        <p:txBody>
          <a:bodyPr wrap="square">
            <a:spAutoFit/>
          </a:bodyPr>
          <a:lstStyle/>
          <a:p>
            <a:pPr>
              <a:lnSpc>
                <a:spcPct val="130000"/>
              </a:lnSpc>
            </a:pPr>
            <a:r>
              <a:rPr lang="en-001" sz="2000">
                <a:latin typeface="宋体" panose="02010600030101010101" pitchFamily="2" charset="-122"/>
                <a:ea typeface="宋体" panose="02010600030101010101" pitchFamily="2" charset="-122"/>
              </a:rPr>
              <a:t>h - 极筒高度；</a:t>
            </a:r>
          </a:p>
          <a:p>
            <a:pPr>
              <a:lnSpc>
                <a:spcPct val="130000"/>
              </a:lnSpc>
            </a:pPr>
            <a:r>
              <a:rPr lang="en-001" sz="2000">
                <a:latin typeface="宋体" panose="02010600030101010101" pitchFamily="2" charset="-122"/>
                <a:ea typeface="宋体" panose="02010600030101010101" pitchFamily="2" charset="-122"/>
              </a:rPr>
              <a:t>r</a:t>
            </a:r>
            <a:r>
              <a:rPr lang="en-001" sz="2000" baseline="-25000">
                <a:latin typeface="宋体" panose="02010600030101010101" pitchFamily="2" charset="-122"/>
                <a:ea typeface="宋体" panose="02010600030101010101" pitchFamily="2" charset="-122"/>
              </a:rPr>
              <a:t>1</a:t>
            </a:r>
            <a:r>
              <a:rPr lang="en-001" sz="2000">
                <a:latin typeface="宋体" panose="02010600030101010101" pitchFamily="2" charset="-122"/>
                <a:ea typeface="宋体" panose="02010600030101010101" pitchFamily="2" charset="-122"/>
              </a:rPr>
              <a:t>, r</a:t>
            </a:r>
            <a:r>
              <a:rPr lang="en-001" sz="2000" baseline="-25000">
                <a:latin typeface="宋体" panose="02010600030101010101" pitchFamily="2" charset="-122"/>
                <a:ea typeface="宋体" panose="02010600030101010101" pitchFamily="2" charset="-122"/>
              </a:rPr>
              <a:t>2</a:t>
            </a:r>
            <a:r>
              <a:rPr lang="en-001" sz="2000">
                <a:latin typeface="宋体" panose="02010600030101010101" pitchFamily="2" charset="-122"/>
                <a:ea typeface="宋体" panose="02010600030101010101" pitchFamily="2" charset="-122"/>
              </a:rPr>
              <a:t> - 内极筒外半径和外极筒内半径；</a:t>
            </a:r>
          </a:p>
          <a:p>
            <a:pPr>
              <a:lnSpc>
                <a:spcPct val="130000"/>
              </a:lnSpc>
            </a:pPr>
            <a:r>
              <a:rPr lang="en-001" sz="2000">
                <a:solidFill>
                  <a:srgbClr val="FF0000"/>
                </a:solidFill>
                <a:latin typeface="宋体" panose="02010600030101010101" pitchFamily="2" charset="-122"/>
                <a:ea typeface="宋体" panose="02010600030101010101" pitchFamily="2" charset="-122"/>
              </a:rPr>
              <a:t>h</a:t>
            </a:r>
            <a:r>
              <a:rPr lang="en-001" sz="2000" baseline="-25000">
                <a:solidFill>
                  <a:srgbClr val="FF0000"/>
                </a:solidFill>
                <a:latin typeface="宋体" panose="02010600030101010101" pitchFamily="2" charset="-122"/>
                <a:ea typeface="宋体" panose="02010600030101010101" pitchFamily="2" charset="-122"/>
              </a:rPr>
              <a:t>x</a:t>
            </a:r>
            <a:r>
              <a:rPr lang="en-001" sz="2000">
                <a:solidFill>
                  <a:srgbClr val="FF0000"/>
                </a:solidFill>
                <a:latin typeface="宋体" panose="02010600030101010101" pitchFamily="2" charset="-122"/>
                <a:ea typeface="宋体" panose="02010600030101010101" pitchFamily="2" charset="-122"/>
              </a:rPr>
              <a:t>, </a:t>
            </a:r>
            <a:r>
              <a:rPr lang="el-GR" sz="2000">
                <a:solidFill>
                  <a:srgbClr val="FF0000"/>
                </a:solidFill>
                <a:ea typeface="宋体" panose="02010600030101010101" pitchFamily="2" charset="-122"/>
              </a:rPr>
              <a:t>ε</a:t>
            </a:r>
            <a:r>
              <a:rPr lang="en-001" sz="2000">
                <a:latin typeface="宋体" panose="02010600030101010101" pitchFamily="2" charset="-122"/>
                <a:ea typeface="宋体" panose="02010600030101010101" pitchFamily="2" charset="-122"/>
              </a:rPr>
              <a:t>被测液面高度和它的介电常数；</a:t>
            </a:r>
          </a:p>
          <a:p>
            <a:pPr>
              <a:lnSpc>
                <a:spcPct val="130000"/>
              </a:lnSpc>
            </a:pPr>
            <a:r>
              <a:rPr lang="el-GR" sz="2000">
                <a:solidFill>
                  <a:srgbClr val="FF0000"/>
                </a:solidFill>
                <a:ea typeface="宋体" panose="02010600030101010101" pitchFamily="2" charset="-122"/>
              </a:rPr>
              <a:t>ε</a:t>
            </a:r>
            <a:r>
              <a:rPr lang="en-US" sz="2000" baseline="-25000">
                <a:solidFill>
                  <a:srgbClr val="FF0000"/>
                </a:solidFill>
                <a:latin typeface="宋体" panose="02010600030101010101" pitchFamily="2" charset="-122"/>
                <a:ea typeface="宋体" panose="02010600030101010101" pitchFamily="2" charset="-122"/>
              </a:rPr>
              <a:t>0</a:t>
            </a:r>
            <a:r>
              <a:rPr lang="en-US" sz="2000">
                <a:solidFill>
                  <a:srgbClr val="FF0000"/>
                </a:solidFill>
                <a:latin typeface="宋体" panose="02010600030101010101" pitchFamily="2" charset="-122"/>
                <a:ea typeface="宋体" panose="02010600030101010101" pitchFamily="2" charset="-122"/>
              </a:rPr>
              <a:t> </a:t>
            </a:r>
            <a:r>
              <a:rPr lang="en-US" sz="2000">
                <a:latin typeface="宋体" panose="02010600030101010101" pitchFamily="2" charset="-122"/>
                <a:ea typeface="宋体" panose="02010600030101010101" pitchFamily="2" charset="-122"/>
              </a:rPr>
              <a:t>- </a:t>
            </a:r>
            <a:r>
              <a:rPr lang="el-GR" sz="2000">
                <a:ea typeface="宋体" panose="02010600030101010101" pitchFamily="2" charset="-122"/>
              </a:rPr>
              <a:t> </a:t>
            </a:r>
            <a:r>
              <a:rPr lang="en-001" sz="2000">
                <a:latin typeface="宋体" panose="02010600030101010101" pitchFamily="2" charset="-122"/>
                <a:ea typeface="宋体" panose="02010600030101010101" pitchFamily="2" charset="-122"/>
              </a:rPr>
              <a:t>间隙内空气的介电常数。</a:t>
            </a:r>
          </a:p>
        </p:txBody>
      </p:sp>
      <p:sp>
        <p:nvSpPr>
          <p:cNvPr id="2" name="Slide Number Placeholder 1">
            <a:extLst>
              <a:ext uri="{FF2B5EF4-FFF2-40B4-BE49-F238E27FC236}">
                <a16:creationId xmlns:a16="http://schemas.microsoft.com/office/drawing/2014/main" id="{70EBE5CC-F932-44F3-8349-2116AC24F643}"/>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spTree>
    <p:extLst>
      <p:ext uri="{BB962C8B-B14F-4D97-AF65-F5344CB8AC3E}">
        <p14:creationId xmlns:p14="http://schemas.microsoft.com/office/powerpoint/2010/main" val="12041729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电容式传感器的工作原理及类型</a:t>
            </a:r>
          </a:p>
        </p:txBody>
      </p:sp>
      <p:sp>
        <p:nvSpPr>
          <p:cNvPr id="24" name="矩形 1">
            <a:extLst>
              <a:ext uri="{FF2B5EF4-FFF2-40B4-BE49-F238E27FC236}">
                <a16:creationId xmlns:a16="http://schemas.microsoft.com/office/drawing/2014/main" id="{75C1CF6C-164A-4B7A-A289-79FE95BDD23A}"/>
              </a:ext>
            </a:extLst>
          </p:cNvPr>
          <p:cNvSpPr/>
          <p:nvPr/>
        </p:nvSpPr>
        <p:spPr>
          <a:xfrm>
            <a:off x="185083" y="1259274"/>
            <a:ext cx="2350323" cy="461665"/>
          </a:xfrm>
          <a:prstGeom prst="rect">
            <a:avLst/>
          </a:prstGeom>
          <a:solidFill>
            <a:srgbClr val="FFFF00"/>
          </a:solidFill>
        </p:spPr>
        <p:txBody>
          <a:bodyPr wrap="none">
            <a:spAutoFit/>
          </a:bodyPr>
          <a:lstStyle/>
          <a:p>
            <a:r>
              <a:rPr lang="zh-CN" altLang="en-US" sz="2400" b="1">
                <a:solidFill>
                  <a:prstClr val="black"/>
                </a:solidFill>
                <a:latin typeface="宋体" panose="02010600030101010101" pitchFamily="2" charset="-122"/>
                <a:ea typeface="宋体" panose="02010600030101010101" pitchFamily="2" charset="-122"/>
              </a:rPr>
              <a:t>变介电常数型</a:t>
            </a:r>
            <a:r>
              <a:rPr lang="zh-CN" altLang="en-US" sz="2400" b="1" dirty="0">
                <a:solidFill>
                  <a:prstClr val="black"/>
                </a:solidFill>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10" name="Picture 2">
            <a:extLst>
              <a:ext uri="{FF2B5EF4-FFF2-40B4-BE49-F238E27FC236}">
                <a16:creationId xmlns:a16="http://schemas.microsoft.com/office/drawing/2014/main" id="{6CEBA992-DBA5-4297-9D1D-C318325A6D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1686" b="14211"/>
          <a:stretch/>
        </p:blipFill>
        <p:spPr bwMode="auto">
          <a:xfrm>
            <a:off x="6792726" y="2319989"/>
            <a:ext cx="2293218"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60">
            <a:extLst>
              <a:ext uri="{FF2B5EF4-FFF2-40B4-BE49-F238E27FC236}">
                <a16:creationId xmlns:a16="http://schemas.microsoft.com/office/drawing/2014/main" id="{BB64935A-3928-4EB7-B8F1-217D925C9C4C}"/>
              </a:ext>
            </a:extLst>
          </p:cNvPr>
          <p:cNvSpPr txBox="1">
            <a:spLocks noChangeArrowheads="1"/>
          </p:cNvSpPr>
          <p:nvPr/>
        </p:nvSpPr>
        <p:spPr bwMode="auto">
          <a:xfrm>
            <a:off x="8394414" y="250396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rgbClr val="FF0000"/>
                </a:solidFill>
              </a:rPr>
              <a:t>r</a:t>
            </a:r>
            <a:r>
              <a:rPr lang="en-US" altLang="zh-CN" baseline="-25000">
                <a:solidFill>
                  <a:srgbClr val="FF0000"/>
                </a:solidFill>
              </a:rPr>
              <a:t>2</a:t>
            </a:r>
            <a:endParaRPr lang="en-US" altLang="zh-CN">
              <a:solidFill>
                <a:srgbClr val="FF0000"/>
              </a:solidFill>
            </a:endParaRPr>
          </a:p>
        </p:txBody>
      </p:sp>
      <p:sp>
        <p:nvSpPr>
          <p:cNvPr id="12" name="Text Box 61">
            <a:extLst>
              <a:ext uri="{FF2B5EF4-FFF2-40B4-BE49-F238E27FC236}">
                <a16:creationId xmlns:a16="http://schemas.microsoft.com/office/drawing/2014/main" id="{19001642-3052-404B-AC92-5ACADA3790BE}"/>
              </a:ext>
            </a:extLst>
          </p:cNvPr>
          <p:cNvSpPr txBox="1">
            <a:spLocks noChangeArrowheads="1"/>
          </p:cNvSpPr>
          <p:nvPr/>
        </p:nvSpPr>
        <p:spPr bwMode="auto">
          <a:xfrm>
            <a:off x="7251414" y="273256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rgbClr val="FF0000"/>
                </a:solidFill>
              </a:rPr>
              <a:t>r</a:t>
            </a:r>
            <a:r>
              <a:rPr lang="en-US" altLang="zh-CN" baseline="-25000">
                <a:solidFill>
                  <a:srgbClr val="FF0000"/>
                </a:solidFill>
              </a:rPr>
              <a:t>1</a:t>
            </a:r>
            <a:endParaRPr lang="en-US" altLang="zh-CN">
              <a:solidFill>
                <a:srgbClr val="FF0000"/>
              </a:solidFill>
            </a:endParaRPr>
          </a:p>
        </p:txBody>
      </p:sp>
      <p:sp>
        <p:nvSpPr>
          <p:cNvPr id="13" name="Line 62">
            <a:extLst>
              <a:ext uri="{FF2B5EF4-FFF2-40B4-BE49-F238E27FC236}">
                <a16:creationId xmlns:a16="http://schemas.microsoft.com/office/drawing/2014/main" id="{A5E65A84-026C-47C2-A75E-081BB99BA6FD}"/>
              </a:ext>
            </a:extLst>
          </p:cNvPr>
          <p:cNvSpPr>
            <a:spLocks noChangeShapeType="1"/>
          </p:cNvSpPr>
          <p:nvPr/>
        </p:nvSpPr>
        <p:spPr bwMode="auto">
          <a:xfrm flipH="1">
            <a:off x="6337014" y="4027965"/>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63">
            <a:extLst>
              <a:ext uri="{FF2B5EF4-FFF2-40B4-BE49-F238E27FC236}">
                <a16:creationId xmlns:a16="http://schemas.microsoft.com/office/drawing/2014/main" id="{7BB3E3F7-138E-4D69-8DA7-C6F655555BAA}"/>
              </a:ext>
            </a:extLst>
          </p:cNvPr>
          <p:cNvSpPr>
            <a:spLocks noChangeShapeType="1"/>
          </p:cNvSpPr>
          <p:nvPr/>
        </p:nvSpPr>
        <p:spPr bwMode="auto">
          <a:xfrm flipH="1">
            <a:off x="5956014" y="4942365"/>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64">
            <a:extLst>
              <a:ext uri="{FF2B5EF4-FFF2-40B4-BE49-F238E27FC236}">
                <a16:creationId xmlns:a16="http://schemas.microsoft.com/office/drawing/2014/main" id="{C2962E41-BCFE-4085-8DE2-88858A90E9CD}"/>
              </a:ext>
            </a:extLst>
          </p:cNvPr>
          <p:cNvSpPr>
            <a:spLocks noChangeShapeType="1"/>
          </p:cNvSpPr>
          <p:nvPr/>
        </p:nvSpPr>
        <p:spPr bwMode="auto">
          <a:xfrm flipH="1">
            <a:off x="5956014" y="3832703"/>
            <a:ext cx="155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65">
            <a:extLst>
              <a:ext uri="{FF2B5EF4-FFF2-40B4-BE49-F238E27FC236}">
                <a16:creationId xmlns:a16="http://schemas.microsoft.com/office/drawing/2014/main" id="{7F35DEE7-9B00-42EF-A678-1DD8CD93FA0A}"/>
              </a:ext>
            </a:extLst>
          </p:cNvPr>
          <p:cNvSpPr>
            <a:spLocks noChangeShapeType="1"/>
          </p:cNvSpPr>
          <p:nvPr/>
        </p:nvSpPr>
        <p:spPr bwMode="auto">
          <a:xfrm>
            <a:off x="6565614" y="4027965"/>
            <a:ext cx="0" cy="91440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66">
            <a:extLst>
              <a:ext uri="{FF2B5EF4-FFF2-40B4-BE49-F238E27FC236}">
                <a16:creationId xmlns:a16="http://schemas.microsoft.com/office/drawing/2014/main" id="{776CAC9D-5518-4081-9E28-62DBEB7EA602}"/>
              </a:ext>
            </a:extLst>
          </p:cNvPr>
          <p:cNvSpPr>
            <a:spLocks noChangeShapeType="1"/>
          </p:cNvSpPr>
          <p:nvPr/>
        </p:nvSpPr>
        <p:spPr bwMode="auto">
          <a:xfrm>
            <a:off x="6071902" y="3832703"/>
            <a:ext cx="0" cy="1109662"/>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Text Box 67">
            <a:extLst>
              <a:ext uri="{FF2B5EF4-FFF2-40B4-BE49-F238E27FC236}">
                <a16:creationId xmlns:a16="http://schemas.microsoft.com/office/drawing/2014/main" id="{01919B10-A9C1-44ED-BB2B-30D9EE772658}"/>
              </a:ext>
            </a:extLst>
          </p:cNvPr>
          <p:cNvSpPr txBox="1">
            <a:spLocks noChangeArrowheads="1"/>
          </p:cNvSpPr>
          <p:nvPr/>
        </p:nvSpPr>
        <p:spPr bwMode="auto">
          <a:xfrm>
            <a:off x="6184614" y="4256565"/>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rgbClr val="FF0000"/>
                </a:solidFill>
              </a:rPr>
              <a:t>h</a:t>
            </a:r>
            <a:r>
              <a:rPr lang="en-US" altLang="zh-CN" i="1" baseline="-25000">
                <a:solidFill>
                  <a:srgbClr val="FF0000"/>
                </a:solidFill>
              </a:rPr>
              <a:t>x</a:t>
            </a:r>
            <a:endParaRPr lang="en-US" altLang="zh-CN" i="1">
              <a:solidFill>
                <a:srgbClr val="FF0000"/>
              </a:solidFill>
            </a:endParaRPr>
          </a:p>
        </p:txBody>
      </p:sp>
      <p:sp>
        <p:nvSpPr>
          <p:cNvPr id="22" name="Text Box 68">
            <a:extLst>
              <a:ext uri="{FF2B5EF4-FFF2-40B4-BE49-F238E27FC236}">
                <a16:creationId xmlns:a16="http://schemas.microsoft.com/office/drawing/2014/main" id="{1557B552-687E-4432-9E86-5352997D8125}"/>
              </a:ext>
            </a:extLst>
          </p:cNvPr>
          <p:cNvSpPr txBox="1">
            <a:spLocks noChangeArrowheads="1"/>
          </p:cNvSpPr>
          <p:nvPr/>
        </p:nvSpPr>
        <p:spPr bwMode="auto">
          <a:xfrm>
            <a:off x="5713127" y="409464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rgbClr val="FF0000"/>
                </a:solidFill>
              </a:rPr>
              <a:t>h</a:t>
            </a:r>
          </a:p>
        </p:txBody>
      </p:sp>
      <p:sp>
        <p:nvSpPr>
          <p:cNvPr id="25" name="Line 69">
            <a:extLst>
              <a:ext uri="{FF2B5EF4-FFF2-40B4-BE49-F238E27FC236}">
                <a16:creationId xmlns:a16="http://schemas.microsoft.com/office/drawing/2014/main" id="{E4392DDB-20A7-47C1-862A-B00C7B7106FE}"/>
              </a:ext>
            </a:extLst>
          </p:cNvPr>
          <p:cNvSpPr>
            <a:spLocks noChangeShapeType="1"/>
          </p:cNvSpPr>
          <p:nvPr/>
        </p:nvSpPr>
        <p:spPr bwMode="auto">
          <a:xfrm flipV="1">
            <a:off x="7937214" y="2275365"/>
            <a:ext cx="0" cy="2895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70">
            <a:extLst>
              <a:ext uri="{FF2B5EF4-FFF2-40B4-BE49-F238E27FC236}">
                <a16:creationId xmlns:a16="http://schemas.microsoft.com/office/drawing/2014/main" id="{5E1DE8DE-0601-4AC9-8A79-E487B93CF2BF}"/>
              </a:ext>
            </a:extLst>
          </p:cNvPr>
          <p:cNvSpPr>
            <a:spLocks noChangeShapeType="1"/>
          </p:cNvSpPr>
          <p:nvPr/>
        </p:nvSpPr>
        <p:spPr bwMode="auto">
          <a:xfrm>
            <a:off x="7632414" y="3037365"/>
            <a:ext cx="304800"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71">
            <a:extLst>
              <a:ext uri="{FF2B5EF4-FFF2-40B4-BE49-F238E27FC236}">
                <a16:creationId xmlns:a16="http://schemas.microsoft.com/office/drawing/2014/main" id="{A32EF79F-A9E9-49C4-8F8A-30B5470C456C}"/>
              </a:ext>
            </a:extLst>
          </p:cNvPr>
          <p:cNvSpPr>
            <a:spLocks noChangeShapeType="1"/>
          </p:cNvSpPr>
          <p:nvPr/>
        </p:nvSpPr>
        <p:spPr bwMode="auto">
          <a:xfrm>
            <a:off x="7937214" y="2808765"/>
            <a:ext cx="381000"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9" name="对象 3">
            <a:extLst>
              <a:ext uri="{FF2B5EF4-FFF2-40B4-BE49-F238E27FC236}">
                <a16:creationId xmlns:a16="http://schemas.microsoft.com/office/drawing/2014/main" id="{6072D632-5B86-42F7-B505-DE9150A32AC9}"/>
              </a:ext>
            </a:extLst>
          </p:cNvPr>
          <p:cNvGraphicFramePr>
            <a:graphicFrameLocks noChangeAspect="1"/>
          </p:cNvGraphicFramePr>
          <p:nvPr>
            <p:extLst>
              <p:ext uri="{D42A27DB-BD31-4B8C-83A1-F6EECF244321}">
                <p14:modId xmlns:p14="http://schemas.microsoft.com/office/powerpoint/2010/main" val="1796166211"/>
              </p:ext>
            </p:extLst>
          </p:nvPr>
        </p:nvGraphicFramePr>
        <p:xfrm>
          <a:off x="3216348" y="1196060"/>
          <a:ext cx="4273153" cy="967007"/>
        </p:xfrm>
        <a:graphic>
          <a:graphicData uri="http://schemas.openxmlformats.org/presentationml/2006/ole">
            <mc:AlternateContent xmlns:mc="http://schemas.openxmlformats.org/markup-compatibility/2006">
              <mc:Choice xmlns:v="urn:schemas-microsoft-com:vml" Requires="v">
                <p:oleObj name="Equation" r:id="rId4" imgW="1993680" imgH="444240" progId="Equation.DSMT4">
                  <p:embed/>
                </p:oleObj>
              </mc:Choice>
              <mc:Fallback>
                <p:oleObj name="Equation" r:id="rId4" imgW="1993680" imgH="444240" progId="Equation.DSMT4">
                  <p:embed/>
                  <p:pic>
                    <p:nvPicPr>
                      <p:cNvPr id="29" name="对象 3">
                        <a:extLst>
                          <a:ext uri="{FF2B5EF4-FFF2-40B4-BE49-F238E27FC236}">
                            <a16:creationId xmlns:a16="http://schemas.microsoft.com/office/drawing/2014/main" id="{6072D632-5B86-42F7-B505-DE9150A32AC9}"/>
                          </a:ext>
                        </a:extLst>
                      </p:cNvPr>
                      <p:cNvPicPr>
                        <a:picLocks noChangeAspect="1" noChangeArrowheads="1"/>
                      </p:cNvPicPr>
                      <p:nvPr/>
                    </p:nvPicPr>
                    <p:blipFill>
                      <a:blip r:embed="rId5"/>
                      <a:srcRect/>
                      <a:stretch>
                        <a:fillRect/>
                      </a:stretch>
                    </p:blipFill>
                    <p:spPr bwMode="auto">
                      <a:xfrm>
                        <a:off x="3216348" y="1196060"/>
                        <a:ext cx="4273153" cy="967007"/>
                      </a:xfrm>
                      <a:prstGeom prst="rect">
                        <a:avLst/>
                      </a:prstGeom>
                      <a:noFill/>
                      <a:ln>
                        <a:noFill/>
                      </a:ln>
                    </p:spPr>
                  </p:pic>
                </p:oleObj>
              </mc:Fallback>
            </mc:AlternateContent>
          </a:graphicData>
        </a:graphic>
      </p:graphicFrame>
      <p:sp>
        <p:nvSpPr>
          <p:cNvPr id="30" name="TextBox 29">
            <a:extLst>
              <a:ext uri="{FF2B5EF4-FFF2-40B4-BE49-F238E27FC236}">
                <a16:creationId xmlns:a16="http://schemas.microsoft.com/office/drawing/2014/main" id="{65801688-4E3C-46DB-A5AF-DC5AEBD723CF}"/>
              </a:ext>
            </a:extLst>
          </p:cNvPr>
          <p:cNvSpPr txBox="1"/>
          <p:nvPr/>
        </p:nvSpPr>
        <p:spPr>
          <a:xfrm>
            <a:off x="151482" y="1917382"/>
            <a:ext cx="4898570" cy="1661289"/>
          </a:xfrm>
          <a:prstGeom prst="rect">
            <a:avLst/>
          </a:prstGeom>
          <a:noFill/>
        </p:spPr>
        <p:txBody>
          <a:bodyPr wrap="square">
            <a:spAutoFit/>
          </a:bodyPr>
          <a:lstStyle/>
          <a:p>
            <a:pPr>
              <a:lnSpc>
                <a:spcPct val="130000"/>
              </a:lnSpc>
            </a:pPr>
            <a:r>
              <a:rPr lang="en-001" sz="2000" dirty="0">
                <a:latin typeface="宋体" panose="02010600030101010101" pitchFamily="2" charset="-122"/>
                <a:ea typeface="宋体" panose="02010600030101010101" pitchFamily="2" charset="-122"/>
              </a:rPr>
              <a:t>h - 极筒高度；</a:t>
            </a:r>
          </a:p>
          <a:p>
            <a:pPr>
              <a:lnSpc>
                <a:spcPct val="130000"/>
              </a:lnSpc>
            </a:pPr>
            <a:r>
              <a:rPr lang="en-001" sz="2000" dirty="0">
                <a:latin typeface="宋体" panose="02010600030101010101" pitchFamily="2" charset="-122"/>
                <a:ea typeface="宋体" panose="02010600030101010101" pitchFamily="2" charset="-122"/>
              </a:rPr>
              <a:t>r</a:t>
            </a:r>
            <a:r>
              <a:rPr lang="en-001" sz="2000" baseline="-25000" dirty="0">
                <a:latin typeface="宋体" panose="02010600030101010101" pitchFamily="2" charset="-122"/>
                <a:ea typeface="宋体" panose="02010600030101010101" pitchFamily="2" charset="-122"/>
              </a:rPr>
              <a:t>1</a:t>
            </a:r>
            <a:r>
              <a:rPr lang="en-001" sz="2000" dirty="0">
                <a:latin typeface="宋体" panose="02010600030101010101" pitchFamily="2" charset="-122"/>
                <a:ea typeface="宋体" panose="02010600030101010101" pitchFamily="2" charset="-122"/>
              </a:rPr>
              <a:t>, r</a:t>
            </a:r>
            <a:r>
              <a:rPr lang="en-001" sz="2000" baseline="-25000" dirty="0">
                <a:latin typeface="宋体" panose="02010600030101010101" pitchFamily="2" charset="-122"/>
                <a:ea typeface="宋体" panose="02010600030101010101" pitchFamily="2" charset="-122"/>
              </a:rPr>
              <a:t>2</a:t>
            </a:r>
            <a:r>
              <a:rPr lang="en-001" sz="2000" dirty="0">
                <a:latin typeface="宋体" panose="02010600030101010101" pitchFamily="2" charset="-122"/>
                <a:ea typeface="宋体" panose="02010600030101010101" pitchFamily="2" charset="-122"/>
              </a:rPr>
              <a:t> - 内极筒外半径和外极筒内半径；</a:t>
            </a:r>
          </a:p>
          <a:p>
            <a:pPr>
              <a:lnSpc>
                <a:spcPct val="130000"/>
              </a:lnSpc>
            </a:pPr>
            <a:r>
              <a:rPr lang="en-001" sz="2000" dirty="0">
                <a:solidFill>
                  <a:srgbClr val="FF0000"/>
                </a:solidFill>
                <a:latin typeface="宋体" panose="02010600030101010101" pitchFamily="2" charset="-122"/>
                <a:ea typeface="宋体" panose="02010600030101010101" pitchFamily="2" charset="-122"/>
              </a:rPr>
              <a:t>h</a:t>
            </a:r>
            <a:r>
              <a:rPr lang="en-001" sz="2000" baseline="-25000" dirty="0">
                <a:solidFill>
                  <a:srgbClr val="FF0000"/>
                </a:solidFill>
                <a:latin typeface="宋体" panose="02010600030101010101" pitchFamily="2" charset="-122"/>
                <a:ea typeface="宋体" panose="02010600030101010101" pitchFamily="2" charset="-122"/>
              </a:rPr>
              <a:t>x</a:t>
            </a:r>
            <a:r>
              <a:rPr lang="en-001" sz="2000" dirty="0">
                <a:solidFill>
                  <a:srgbClr val="FF0000"/>
                </a:solidFill>
                <a:latin typeface="宋体" panose="02010600030101010101" pitchFamily="2" charset="-122"/>
                <a:ea typeface="宋体" panose="02010600030101010101" pitchFamily="2" charset="-122"/>
              </a:rPr>
              <a:t>, </a:t>
            </a:r>
            <a:r>
              <a:rPr lang="el-GR" sz="2000" dirty="0">
                <a:solidFill>
                  <a:srgbClr val="FF0000"/>
                </a:solidFill>
                <a:ea typeface="宋体" panose="02010600030101010101" pitchFamily="2" charset="-122"/>
              </a:rPr>
              <a:t>ε</a:t>
            </a:r>
            <a:r>
              <a:rPr lang="en-001" sz="2000" dirty="0">
                <a:latin typeface="宋体" panose="02010600030101010101" pitchFamily="2" charset="-122"/>
                <a:ea typeface="宋体" panose="02010600030101010101" pitchFamily="2" charset="-122"/>
              </a:rPr>
              <a:t>被测液面高度和它的介电常数；</a:t>
            </a:r>
          </a:p>
          <a:p>
            <a:pPr>
              <a:lnSpc>
                <a:spcPct val="130000"/>
              </a:lnSpc>
            </a:pPr>
            <a:r>
              <a:rPr lang="el-GR" sz="2000" dirty="0">
                <a:solidFill>
                  <a:srgbClr val="FF0000"/>
                </a:solidFill>
                <a:ea typeface="宋体" panose="02010600030101010101" pitchFamily="2" charset="-122"/>
              </a:rPr>
              <a:t>ε</a:t>
            </a:r>
            <a:r>
              <a:rPr lang="en-US" sz="2000" baseline="-25000" dirty="0">
                <a:solidFill>
                  <a:srgbClr val="FF0000"/>
                </a:solidFill>
                <a:latin typeface="宋体" panose="02010600030101010101" pitchFamily="2" charset="-122"/>
                <a:ea typeface="宋体" panose="02010600030101010101" pitchFamily="2" charset="-122"/>
              </a:rPr>
              <a:t>0</a:t>
            </a:r>
            <a:r>
              <a:rPr lang="en-US" sz="2000" dirty="0">
                <a:solidFill>
                  <a:srgbClr val="FF0000"/>
                </a:solidFill>
                <a:latin typeface="宋体" panose="02010600030101010101" pitchFamily="2" charset="-122"/>
                <a:ea typeface="宋体" panose="02010600030101010101" pitchFamily="2" charset="-122"/>
              </a:rPr>
              <a:t> </a:t>
            </a:r>
            <a:r>
              <a:rPr lang="en-US" sz="2000" dirty="0">
                <a:latin typeface="宋体" panose="02010600030101010101" pitchFamily="2" charset="-122"/>
                <a:ea typeface="宋体" panose="02010600030101010101" pitchFamily="2" charset="-122"/>
              </a:rPr>
              <a:t>- </a:t>
            </a:r>
            <a:r>
              <a:rPr lang="el-GR" sz="2000" dirty="0">
                <a:ea typeface="宋体" panose="02010600030101010101" pitchFamily="2" charset="-122"/>
              </a:rPr>
              <a:t> </a:t>
            </a:r>
            <a:r>
              <a:rPr lang="en-001" sz="2000" dirty="0">
                <a:latin typeface="宋体" panose="02010600030101010101" pitchFamily="2" charset="-122"/>
                <a:ea typeface="宋体" panose="02010600030101010101" pitchFamily="2" charset="-122"/>
              </a:rPr>
              <a:t>间隙内空气的介电常数。</a:t>
            </a:r>
          </a:p>
        </p:txBody>
      </p:sp>
      <p:sp>
        <p:nvSpPr>
          <p:cNvPr id="2" name="Slide Number Placeholder 1">
            <a:extLst>
              <a:ext uri="{FF2B5EF4-FFF2-40B4-BE49-F238E27FC236}">
                <a16:creationId xmlns:a16="http://schemas.microsoft.com/office/drawing/2014/main" id="{70EBE5CC-F932-44F3-8349-2116AC24F643}"/>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pic>
        <p:nvPicPr>
          <p:cNvPr id="4" name="Picture 3">
            <a:extLst>
              <a:ext uri="{FF2B5EF4-FFF2-40B4-BE49-F238E27FC236}">
                <a16:creationId xmlns:a16="http://schemas.microsoft.com/office/drawing/2014/main" id="{FF19E55E-9FB4-4F30-AD66-4E95E20D93A4}"/>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260439" y="3676462"/>
            <a:ext cx="5430464" cy="2701911"/>
          </a:xfrm>
          <a:prstGeom prst="rect">
            <a:avLst/>
          </a:prstGeom>
          <a:solidFill>
            <a:schemeClr val="accent6">
              <a:lumMod val="20000"/>
              <a:lumOff val="80000"/>
            </a:schemeClr>
          </a:solidFill>
        </p:spPr>
      </p:pic>
    </p:spTree>
    <p:extLst>
      <p:ext uri="{BB962C8B-B14F-4D97-AF65-F5344CB8AC3E}">
        <p14:creationId xmlns:p14="http://schemas.microsoft.com/office/powerpoint/2010/main" val="9676262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11">
            <a:extLst>
              <a:ext uri="{FF2B5EF4-FFF2-40B4-BE49-F238E27FC236}">
                <a16:creationId xmlns:a16="http://schemas.microsoft.com/office/drawing/2014/main" id="{E50F8E76-EF73-4C32-97DB-0FAFE93DD0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5558"/>
          <a:stretch/>
        </p:blipFill>
        <p:spPr bwMode="auto">
          <a:xfrm>
            <a:off x="6512710" y="1296551"/>
            <a:ext cx="2492400" cy="258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4.2</a:t>
            </a:r>
          </a:p>
        </p:txBody>
      </p:sp>
      <p:sp>
        <p:nvSpPr>
          <p:cNvPr id="27" name="Rectangle 3"/>
          <p:cNvSpPr txBox="1">
            <a:spLocks noRot="1" noChangeArrowheads="1"/>
          </p:cNvSpPr>
          <p:nvPr/>
        </p:nvSpPr>
        <p:spPr>
          <a:xfrm>
            <a:off x="1000211" y="2679822"/>
            <a:ext cx="6262205" cy="24081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None/>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初</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始电容值为：</a:t>
            </a:r>
          </a:p>
          <a:p>
            <a:pPr>
              <a:lnSpc>
                <a:spcPct val="20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当极板距离有增量</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Δ</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时，则传感器电容为：</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Rectangle 208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mc:AlternateContent xmlns:mc="http://schemas.openxmlformats.org/markup-compatibility/2006" xmlns:a14="http://schemas.microsoft.com/office/drawing/2010/main">
        <mc:Choice Requires="a14">
          <p:sp>
            <p:nvSpPr>
              <p:cNvPr id="26" name="矩形 25"/>
              <p:cNvSpPr/>
              <p:nvPr/>
            </p:nvSpPr>
            <p:spPr>
              <a:xfrm>
                <a:off x="3316402" y="2501287"/>
                <a:ext cx="1368195" cy="8489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prstClr val="black"/>
                              </a:solidFill>
                              <a:latin typeface="Cambria Math" panose="02040503050406030204" pitchFamily="18" charset="0"/>
                            </a:rPr>
                          </m:ctrlPr>
                        </m:sSubPr>
                        <m:e>
                          <m:r>
                            <a:rPr lang="en-US" altLang="zh-CN" sz="2400" i="1">
                              <a:solidFill>
                                <a:prstClr val="black"/>
                              </a:solidFill>
                              <a:latin typeface="Cambria Math"/>
                            </a:rPr>
                            <m:t>𝐶</m:t>
                          </m:r>
                        </m:e>
                        <m:sub>
                          <m:r>
                            <a:rPr lang="en-US" altLang="zh-CN" sz="2400" b="0" i="1" smtClean="0">
                              <a:solidFill>
                                <a:prstClr val="black"/>
                              </a:solidFill>
                              <a:latin typeface="Cambria Math"/>
                            </a:rPr>
                            <m:t>0</m:t>
                          </m:r>
                        </m:sub>
                      </m:sSub>
                      <m:r>
                        <a:rPr lang="en-US" altLang="zh-CN" sz="2400" b="0" i="1">
                          <a:solidFill>
                            <a:prstClr val="black"/>
                          </a:solidFill>
                          <a:latin typeface="Cambria Math"/>
                        </a:rPr>
                        <m:t>=</m:t>
                      </m:r>
                      <m:f>
                        <m:fPr>
                          <m:ctrlPr>
                            <a:rPr lang="en-US" altLang="zh-CN" sz="2400" i="1">
                              <a:solidFill>
                                <a:prstClr val="black"/>
                              </a:solidFill>
                              <a:latin typeface="Cambria Math" panose="02040503050406030204" pitchFamily="18" charset="0"/>
                            </a:rPr>
                          </m:ctrlPr>
                        </m:fPr>
                        <m:num>
                          <m:r>
                            <a:rPr lang="zh-CN" altLang="en-US" sz="2400" b="0" i="1">
                              <a:solidFill>
                                <a:prstClr val="black"/>
                              </a:solidFill>
                              <a:latin typeface="Cambria Math"/>
                            </a:rPr>
                            <m:t>𝜀</m:t>
                          </m:r>
                          <m:r>
                            <a:rPr lang="en-US" altLang="zh-CN" sz="2400" b="0" i="1">
                              <a:solidFill>
                                <a:prstClr val="black"/>
                              </a:solidFill>
                              <a:latin typeface="Cambria Math"/>
                            </a:rPr>
                            <m:t>𝑆</m:t>
                          </m:r>
                        </m:num>
                        <m:den>
                          <m:sSub>
                            <m:sSubPr>
                              <m:ctrlPr>
                                <a:rPr lang="en-US" altLang="zh-CN" sz="2400" i="1" smtClean="0">
                                  <a:solidFill>
                                    <a:prstClr val="black"/>
                                  </a:solidFill>
                                  <a:latin typeface="Cambria Math" panose="02040503050406030204" pitchFamily="18" charset="0"/>
                                </a:rPr>
                              </m:ctrlPr>
                            </m:sSubPr>
                            <m:e>
                              <m:r>
                                <a:rPr lang="en-US" altLang="zh-CN" sz="2400" i="1">
                                  <a:solidFill>
                                    <a:prstClr val="black"/>
                                  </a:solidFill>
                                  <a:latin typeface="Cambria Math"/>
                                </a:rPr>
                                <m:t>𝑑</m:t>
                              </m:r>
                            </m:e>
                            <m:sub>
                              <m:r>
                                <a:rPr lang="en-US" altLang="zh-CN" sz="2400" b="0" i="1" smtClean="0">
                                  <a:solidFill>
                                    <a:prstClr val="black"/>
                                  </a:solidFill>
                                  <a:latin typeface="Cambria Math"/>
                                </a:rPr>
                                <m:t>0</m:t>
                              </m:r>
                            </m:sub>
                          </m:sSub>
                        </m:den>
                      </m:f>
                    </m:oMath>
                  </m:oMathPara>
                </a14:m>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3316402" y="2501287"/>
                <a:ext cx="1368195" cy="848950"/>
              </a:xfrm>
              <a:prstGeom prst="rect">
                <a:avLst/>
              </a:prstGeom>
              <a:blipFill>
                <a:blip r:embed="rId4"/>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2538761" y="4280990"/>
                <a:ext cx="3563742" cy="848950"/>
              </a:xfrm>
              <a:prstGeom prst="rect">
                <a:avLst/>
              </a:prstGeom>
              <a:solidFill>
                <a:schemeClr val="accent1">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a:rPr>
                        <m:t>𝐶</m:t>
                      </m:r>
                      <m:r>
                        <a:rPr lang="en-US" altLang="zh-CN" sz="2400" b="0" i="1" smtClean="0">
                          <a:solidFill>
                            <a:prstClr val="black"/>
                          </a:solidFill>
                          <a:latin typeface="Cambria Math"/>
                        </a:rPr>
                        <m:t>=</m:t>
                      </m:r>
                      <m:f>
                        <m:fPr>
                          <m:ctrlPr>
                            <a:rPr lang="en-US" altLang="zh-CN" sz="2400" i="1">
                              <a:solidFill>
                                <a:prstClr val="black"/>
                              </a:solidFill>
                              <a:latin typeface="Cambria Math" panose="02040503050406030204" pitchFamily="18" charset="0"/>
                            </a:rPr>
                          </m:ctrlPr>
                        </m:fPr>
                        <m:num>
                          <m:r>
                            <a:rPr lang="zh-CN" altLang="en-US" sz="2400" b="0" i="1">
                              <a:solidFill>
                                <a:prstClr val="black"/>
                              </a:solidFill>
                              <a:latin typeface="Cambria Math"/>
                            </a:rPr>
                            <m:t>𝜀</m:t>
                          </m:r>
                          <m:r>
                            <a:rPr lang="en-US" altLang="zh-CN" sz="2400" b="0" i="1">
                              <a:solidFill>
                                <a:prstClr val="black"/>
                              </a:solidFill>
                              <a:latin typeface="Cambria Math"/>
                            </a:rPr>
                            <m:t>𝑆</m:t>
                          </m:r>
                        </m:num>
                        <m:den>
                          <m:sSub>
                            <m:sSubPr>
                              <m:ctrlPr>
                                <a:rPr lang="en-US" altLang="zh-CN" sz="2400" i="1" smtClean="0">
                                  <a:solidFill>
                                    <a:prstClr val="black"/>
                                  </a:solidFill>
                                  <a:latin typeface="Cambria Math" panose="02040503050406030204" pitchFamily="18" charset="0"/>
                                </a:rPr>
                              </m:ctrlPr>
                            </m:sSubPr>
                            <m:e>
                              <m:r>
                                <a:rPr lang="en-US" altLang="zh-CN" sz="2400" b="0" i="1" smtClean="0">
                                  <a:solidFill>
                                    <a:prstClr val="black"/>
                                  </a:solidFill>
                                  <a:latin typeface="Cambria Math"/>
                                </a:rPr>
                                <m:t>𝑑</m:t>
                              </m:r>
                            </m:e>
                            <m:sub>
                              <m:r>
                                <a:rPr lang="en-US" altLang="zh-CN" sz="2400" b="0" i="1" smtClean="0">
                                  <a:solidFill>
                                    <a:prstClr val="black"/>
                                  </a:solidFill>
                                  <a:latin typeface="Cambria Math"/>
                                </a:rPr>
                                <m:t>0</m:t>
                              </m:r>
                            </m:sub>
                          </m:sSub>
                          <m:r>
                            <a:rPr lang="en-US" altLang="zh-CN" sz="2400" b="0" i="1" smtClean="0">
                              <a:solidFill>
                                <a:prstClr val="black"/>
                              </a:solidFill>
                              <a:latin typeface="Cambria Math"/>
                            </a:rPr>
                            <m:t>+</m:t>
                          </m:r>
                          <m:r>
                            <a:rPr lang="en-US" altLang="zh-CN" sz="2400" b="0" i="1" smtClean="0">
                              <a:solidFill>
                                <a:prstClr val="black"/>
                              </a:solidFill>
                              <a:latin typeface="Cambria Math"/>
                              <a:ea typeface="Cambria Math"/>
                            </a:rPr>
                            <m:t>∆</m:t>
                          </m:r>
                          <m:r>
                            <a:rPr lang="en-US" altLang="zh-CN" sz="2400" b="0" i="1">
                              <a:solidFill>
                                <a:prstClr val="black"/>
                              </a:solidFill>
                              <a:latin typeface="Cambria Math"/>
                            </a:rPr>
                            <m:t>𝑑</m:t>
                          </m:r>
                        </m:den>
                      </m:f>
                      <m:r>
                        <a:rPr lang="en-US" altLang="zh-CN" sz="2400" b="0" i="1" smtClean="0">
                          <a:solidFill>
                            <a:prstClr val="black"/>
                          </a:solidFill>
                          <a:latin typeface="Cambria Math"/>
                        </a:rPr>
                        <m:t>=</m:t>
                      </m:r>
                      <m:sSub>
                        <m:sSubPr>
                          <m:ctrlPr>
                            <a:rPr lang="en-US" altLang="zh-CN" sz="2400" b="0" i="1" smtClean="0">
                              <a:solidFill>
                                <a:prstClr val="black"/>
                              </a:solidFill>
                              <a:latin typeface="Cambria Math" panose="02040503050406030204" pitchFamily="18" charset="0"/>
                            </a:rPr>
                          </m:ctrlPr>
                        </m:sSubPr>
                        <m:e>
                          <m:r>
                            <a:rPr lang="en-US" altLang="zh-CN" sz="2400" b="0" i="1" smtClean="0">
                              <a:solidFill>
                                <a:prstClr val="black"/>
                              </a:solidFill>
                              <a:latin typeface="Cambria Math"/>
                            </a:rPr>
                            <m:t>𝐶</m:t>
                          </m:r>
                        </m:e>
                        <m:sub>
                          <m:r>
                            <a:rPr lang="en-US" altLang="zh-CN" sz="2400" b="0" i="1" smtClean="0">
                              <a:solidFill>
                                <a:prstClr val="black"/>
                              </a:solidFill>
                              <a:latin typeface="Cambria Math"/>
                            </a:rPr>
                            <m:t>0</m:t>
                          </m:r>
                        </m:sub>
                      </m:sSub>
                      <m:r>
                        <a:rPr lang="en-US" altLang="zh-CN" sz="2400" b="0" i="1" smtClean="0">
                          <a:solidFill>
                            <a:prstClr val="black"/>
                          </a:solidFill>
                          <a:latin typeface="Cambria Math"/>
                        </a:rPr>
                        <m:t>+</m:t>
                      </m:r>
                      <m:r>
                        <a:rPr lang="en-US" altLang="zh-CN" sz="2400" b="0" i="1" smtClean="0">
                          <a:solidFill>
                            <a:prstClr val="black"/>
                          </a:solidFill>
                          <a:latin typeface="Cambria Math"/>
                          <a:ea typeface="Cambria Math"/>
                        </a:rPr>
                        <m:t>∆</m:t>
                      </m:r>
                      <m:r>
                        <a:rPr lang="en-US" altLang="zh-CN" sz="2400" b="0" i="1" smtClean="0">
                          <a:solidFill>
                            <a:prstClr val="black"/>
                          </a:solidFill>
                          <a:latin typeface="Cambria Math"/>
                          <a:ea typeface="Cambria Math"/>
                        </a:rPr>
                        <m:t>𝐶</m:t>
                      </m:r>
                    </m:oMath>
                  </m:oMathPara>
                </a14:m>
                <a:endParaRPr lang="zh-CN" altLang="en-US" dirty="0"/>
              </a:p>
            </p:txBody>
          </p:sp>
        </mc:Choice>
        <mc:Fallback xmlns="">
          <p:sp>
            <p:nvSpPr>
              <p:cNvPr id="28" name="矩形 27"/>
              <p:cNvSpPr>
                <a:spLocks noRot="1" noChangeAspect="1" noMove="1" noResize="1" noEditPoints="1" noAdjustHandles="1" noChangeArrowheads="1" noChangeShapeType="1" noTextEdit="1"/>
              </p:cNvSpPr>
              <p:nvPr/>
            </p:nvSpPr>
            <p:spPr>
              <a:xfrm>
                <a:off x="2538761" y="4280990"/>
                <a:ext cx="3563742" cy="848950"/>
              </a:xfrm>
              <a:prstGeom prst="rect">
                <a:avLst/>
              </a:prstGeom>
              <a:blipFill>
                <a:blip r:embed="rId5"/>
                <a:stretch>
                  <a:fillRect/>
                </a:stretch>
              </a:blipFill>
            </p:spPr>
            <p:txBody>
              <a:bodyPr/>
              <a:lstStyle/>
              <a:p>
                <a:r>
                  <a:rPr lang="en-001">
                    <a:noFill/>
                  </a:rPr>
                  <a:t> </a:t>
                </a:r>
              </a:p>
            </p:txBody>
          </p:sp>
        </mc:Fallback>
      </mc:AlternateContent>
      <p:sp>
        <p:nvSpPr>
          <p:cNvPr id="23" name="矩形 45">
            <a:extLst>
              <a:ext uri="{FF2B5EF4-FFF2-40B4-BE49-F238E27FC236}">
                <a16:creationId xmlns:a16="http://schemas.microsoft.com/office/drawing/2014/main" id="{D01C96A5-8C5A-4480-B6BC-C965DB0C88FB}"/>
              </a:ext>
            </a:extLst>
          </p:cNvPr>
          <p:cNvSpPr/>
          <p:nvPr/>
        </p:nvSpPr>
        <p:spPr>
          <a:xfrm>
            <a:off x="1960200" y="329520"/>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电容传感器的灵敏度及非线性</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482D224-1CDB-4B77-8495-BDE3E601DCF0}"/>
                  </a:ext>
                </a:extLst>
              </p:cNvPr>
              <p:cNvSpPr txBox="1"/>
              <p:nvPr/>
            </p:nvSpPr>
            <p:spPr>
              <a:xfrm>
                <a:off x="1960201" y="1262247"/>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30" name="TextBox 29">
                <a:extLst>
                  <a:ext uri="{FF2B5EF4-FFF2-40B4-BE49-F238E27FC236}">
                    <a16:creationId xmlns:a16="http://schemas.microsoft.com/office/drawing/2014/main" id="{D482D224-1CDB-4B77-8495-BDE3E601DCF0}"/>
                  </a:ext>
                </a:extLst>
              </p:cNvPr>
              <p:cNvSpPr txBox="1">
                <a:spLocks noRot="1" noChangeAspect="1" noMove="1" noResize="1" noEditPoints="1" noAdjustHandles="1" noChangeArrowheads="1" noChangeShapeType="1" noTextEdit="1"/>
              </p:cNvSpPr>
              <p:nvPr/>
            </p:nvSpPr>
            <p:spPr>
              <a:xfrm>
                <a:off x="1960201" y="1262247"/>
                <a:ext cx="1266116" cy="786241"/>
              </a:xfrm>
              <a:prstGeom prst="rect">
                <a:avLst/>
              </a:prstGeom>
              <a:blipFill>
                <a:blip r:embed="rId6"/>
                <a:stretch>
                  <a:fillRect/>
                </a:stretch>
              </a:blipFill>
            </p:spPr>
            <p:txBody>
              <a:bodyPr/>
              <a:lstStyle/>
              <a:p>
                <a:r>
                  <a:rPr lang="en-001">
                    <a:noFill/>
                  </a:rPr>
                  <a:t> </a:t>
                </a:r>
              </a:p>
            </p:txBody>
          </p:sp>
        </mc:Fallback>
      </mc:AlternateContent>
      <p:sp>
        <p:nvSpPr>
          <p:cNvPr id="31" name="矩形 1">
            <a:extLst>
              <a:ext uri="{FF2B5EF4-FFF2-40B4-BE49-F238E27FC236}">
                <a16:creationId xmlns:a16="http://schemas.microsoft.com/office/drawing/2014/main" id="{E29A678B-A5A5-4ED4-B225-B0E210A058E3}"/>
              </a:ext>
            </a:extLst>
          </p:cNvPr>
          <p:cNvSpPr/>
          <p:nvPr/>
        </p:nvSpPr>
        <p:spPr>
          <a:xfrm>
            <a:off x="54061" y="1262247"/>
            <a:ext cx="1731564" cy="461665"/>
          </a:xfrm>
          <a:prstGeom prst="rect">
            <a:avLst/>
          </a:prstGeom>
          <a:solidFill>
            <a:srgbClr val="FFFF0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变极距型：</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07FE1C7-8E46-4775-9BE6-F61F2FFEFAC1}"/>
              </a:ext>
            </a:extLst>
          </p:cNvPr>
          <p:cNvSpPr>
            <a:spLocks noGrp="1"/>
          </p:cNvSpPr>
          <p:nvPr>
            <p:ph type="sldNum" sz="quarter" idx="12"/>
          </p:nvPr>
        </p:nvSpPr>
        <p:spPr/>
        <p:txBody>
          <a:bodyPr/>
          <a:lstStyle/>
          <a:p>
            <a:fld id="{B53602B4-F12B-41CD-B648-531F86B2CC91}" type="slidenum">
              <a:rPr lang="zh-CN" altLang="en-US" smtClean="0"/>
              <a:t>13</a:t>
            </a:fld>
            <a:endParaRPr lang="zh-CN" altLang="en-US"/>
          </a:p>
        </p:txBody>
      </p:sp>
    </p:spTree>
    <p:extLst>
      <p:ext uri="{BB962C8B-B14F-4D97-AF65-F5344CB8AC3E}">
        <p14:creationId xmlns:p14="http://schemas.microsoft.com/office/powerpoint/2010/main" val="10945203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电容传感器的灵敏度及非线性</a:t>
            </a:r>
          </a:p>
        </p:txBody>
      </p:sp>
      <p:sp>
        <p:nvSpPr>
          <p:cNvPr id="3" name="TextBox 2"/>
          <p:cNvSpPr txBox="1"/>
          <p:nvPr/>
        </p:nvSpPr>
        <p:spPr>
          <a:xfrm>
            <a:off x="2337076" y="1410709"/>
            <a:ext cx="184731" cy="369332"/>
          </a:xfrm>
          <a:prstGeom prst="rect">
            <a:avLst/>
          </a:prstGeom>
          <a:noFill/>
        </p:spPr>
        <p:txBody>
          <a:bodyPr wrap="none" rtlCol="0">
            <a:spAutoFit/>
          </a:bodyPr>
          <a:lstStyle/>
          <a:p>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582173" y="2205316"/>
                <a:ext cx="5077952" cy="974947"/>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a:rPr lang="en-US" altLang="zh-CN" sz="2800" i="1" smtClean="0">
                          <a:solidFill>
                            <a:prstClr val="black"/>
                          </a:solidFill>
                          <a:latin typeface="Cambria Math"/>
                          <a:ea typeface="Cambria Math"/>
                        </a:rPr>
                        <m:t>∆</m:t>
                      </m:r>
                      <m:r>
                        <a:rPr lang="en-US" altLang="zh-CN" sz="2800" i="1" smtClean="0">
                          <a:solidFill>
                            <a:prstClr val="black"/>
                          </a:solidFill>
                          <a:latin typeface="Cambria Math"/>
                          <a:ea typeface="Cambria Math"/>
                        </a:rPr>
                        <m:t>𝐶</m:t>
                      </m:r>
                      <m:r>
                        <a:rPr lang="en-US" altLang="zh-CN" sz="2800" i="1">
                          <a:solidFill>
                            <a:prstClr val="black"/>
                          </a:solidFill>
                          <a:latin typeface="Cambria Math"/>
                        </a:rPr>
                        <m:t>=</m:t>
                      </m:r>
                      <m:r>
                        <a:rPr lang="en-US" altLang="zh-CN" sz="2800" i="1">
                          <a:solidFill>
                            <a:prstClr val="black"/>
                          </a:solidFill>
                          <a:latin typeface="Cambria Math"/>
                        </a:rPr>
                        <m:t>𝐶</m:t>
                      </m:r>
                      <m:r>
                        <a:rPr lang="en-US" altLang="zh-CN" sz="2800" i="1">
                          <a:solidFill>
                            <a:prstClr val="black"/>
                          </a:solidFill>
                          <a:latin typeface="Cambria Math"/>
                        </a:rPr>
                        <m:t>−</m:t>
                      </m:r>
                      <m:sSub>
                        <m:sSubPr>
                          <m:ctrlPr>
                            <a:rPr lang="en-US" altLang="zh-CN" sz="2800" i="1">
                              <a:solidFill>
                                <a:prstClr val="black"/>
                              </a:solidFill>
                              <a:latin typeface="Cambria Math" panose="02040503050406030204" pitchFamily="18" charset="0"/>
                            </a:rPr>
                          </m:ctrlPr>
                        </m:sSubPr>
                        <m:e>
                          <m:r>
                            <a:rPr lang="en-US" altLang="zh-CN" sz="2800" i="1">
                              <a:solidFill>
                                <a:prstClr val="black"/>
                              </a:solidFill>
                              <a:latin typeface="Cambria Math"/>
                            </a:rPr>
                            <m:t>𝐶</m:t>
                          </m:r>
                        </m:e>
                        <m:sub>
                          <m:r>
                            <a:rPr lang="en-US" altLang="zh-CN" sz="2800" i="1">
                              <a:solidFill>
                                <a:prstClr val="black"/>
                              </a:solidFill>
                              <a:latin typeface="Cambria Math"/>
                            </a:rPr>
                            <m:t>0</m:t>
                          </m:r>
                        </m:sub>
                      </m:sSub>
                      <m:r>
                        <a:rPr lang="en-US" altLang="zh-CN" sz="2800" i="1">
                          <a:solidFill>
                            <a:prstClr val="black"/>
                          </a:solidFill>
                          <a:latin typeface="Cambria Math"/>
                        </a:rPr>
                        <m:t>=</m:t>
                      </m:r>
                      <m:f>
                        <m:fPr>
                          <m:ctrlPr>
                            <a:rPr lang="en-US" altLang="zh-CN" sz="2800" i="1">
                              <a:solidFill>
                                <a:prstClr val="black"/>
                              </a:solidFill>
                              <a:latin typeface="Cambria Math" panose="02040503050406030204" pitchFamily="18" charset="0"/>
                            </a:rPr>
                          </m:ctrlPr>
                        </m:fPr>
                        <m:num>
                          <m:r>
                            <a:rPr lang="zh-CN" altLang="en-US" sz="2800" i="1">
                              <a:solidFill>
                                <a:prstClr val="black"/>
                              </a:solidFill>
                              <a:latin typeface="Cambria Math"/>
                            </a:rPr>
                            <m:t>𝜀</m:t>
                          </m:r>
                          <m:r>
                            <a:rPr lang="en-US" altLang="zh-CN" sz="2800" i="1">
                              <a:solidFill>
                                <a:prstClr val="black"/>
                              </a:solidFill>
                              <a:latin typeface="Cambria Math"/>
                            </a:rPr>
                            <m:t>𝑆</m:t>
                          </m:r>
                        </m:num>
                        <m:den>
                          <m:sSub>
                            <m:sSubPr>
                              <m:ctrlPr>
                                <a:rPr lang="en-US" altLang="zh-CN" sz="2800" i="1">
                                  <a:solidFill>
                                    <a:prstClr val="black"/>
                                  </a:solidFill>
                                  <a:latin typeface="Cambria Math" panose="02040503050406030204" pitchFamily="18" charset="0"/>
                                </a:rPr>
                              </m:ctrlPr>
                            </m:sSubPr>
                            <m:e>
                              <m:r>
                                <a:rPr lang="en-US" altLang="zh-CN" sz="2800" i="1">
                                  <a:solidFill>
                                    <a:prstClr val="black"/>
                                  </a:solidFill>
                                  <a:latin typeface="Cambria Math"/>
                                </a:rPr>
                                <m:t>𝑑</m:t>
                              </m:r>
                            </m:e>
                            <m:sub>
                              <m:r>
                                <a:rPr lang="en-US" altLang="zh-CN" sz="2800" i="1">
                                  <a:solidFill>
                                    <a:prstClr val="black"/>
                                  </a:solidFill>
                                  <a:latin typeface="Cambria Math"/>
                                </a:rPr>
                                <m:t>0</m:t>
                              </m:r>
                            </m:sub>
                          </m:sSub>
                          <m:r>
                            <a:rPr lang="en-US" altLang="zh-CN" sz="2800" i="1">
                              <a:solidFill>
                                <a:prstClr val="black"/>
                              </a:solidFill>
                              <a:latin typeface="Cambria Math"/>
                            </a:rPr>
                            <m:t>+</m:t>
                          </m:r>
                          <m:r>
                            <a:rPr lang="en-US" altLang="zh-CN" sz="2800" i="1">
                              <a:solidFill>
                                <a:prstClr val="black"/>
                              </a:solidFill>
                              <a:latin typeface="Cambria Math"/>
                              <a:ea typeface="Cambria Math"/>
                            </a:rPr>
                            <m:t>∆</m:t>
                          </m:r>
                          <m:r>
                            <a:rPr lang="en-US" altLang="zh-CN" sz="2800" i="1">
                              <a:solidFill>
                                <a:prstClr val="black"/>
                              </a:solidFill>
                              <a:latin typeface="Cambria Math"/>
                              <a:ea typeface="Cambria Math"/>
                            </a:rPr>
                            <m:t>𝑑</m:t>
                          </m:r>
                        </m:den>
                      </m:f>
                      <m:r>
                        <a:rPr lang="en-US" altLang="zh-CN" sz="2800" i="1">
                          <a:solidFill>
                            <a:prstClr val="black"/>
                          </a:solidFill>
                          <a:latin typeface="Cambria Math"/>
                        </a:rPr>
                        <m:t>−</m:t>
                      </m:r>
                      <m:f>
                        <m:fPr>
                          <m:ctrlPr>
                            <a:rPr lang="en-US" altLang="zh-CN" sz="2800" i="1">
                              <a:solidFill>
                                <a:prstClr val="black"/>
                              </a:solidFill>
                              <a:latin typeface="Cambria Math" panose="02040503050406030204" pitchFamily="18" charset="0"/>
                            </a:rPr>
                          </m:ctrlPr>
                        </m:fPr>
                        <m:num>
                          <m:r>
                            <a:rPr lang="zh-CN" altLang="en-US" sz="2800" i="1">
                              <a:solidFill>
                                <a:prstClr val="black"/>
                              </a:solidFill>
                              <a:latin typeface="Cambria Math"/>
                            </a:rPr>
                            <m:t>𝜀</m:t>
                          </m:r>
                          <m:r>
                            <a:rPr lang="en-US" altLang="zh-CN" sz="2800" i="1">
                              <a:solidFill>
                                <a:prstClr val="black"/>
                              </a:solidFill>
                              <a:latin typeface="Cambria Math"/>
                            </a:rPr>
                            <m:t>𝑆</m:t>
                          </m:r>
                        </m:num>
                        <m:den>
                          <m:sSub>
                            <m:sSubPr>
                              <m:ctrlPr>
                                <a:rPr lang="en-US" altLang="zh-CN" sz="2800" i="1">
                                  <a:solidFill>
                                    <a:prstClr val="black"/>
                                  </a:solidFill>
                                  <a:latin typeface="Cambria Math" panose="02040503050406030204" pitchFamily="18" charset="0"/>
                                </a:rPr>
                              </m:ctrlPr>
                            </m:sSubPr>
                            <m:e>
                              <m:r>
                                <a:rPr lang="en-US" altLang="zh-CN" sz="2800" i="1">
                                  <a:solidFill>
                                    <a:prstClr val="black"/>
                                  </a:solidFill>
                                  <a:latin typeface="Cambria Math"/>
                                </a:rPr>
                                <m:t>𝑑</m:t>
                              </m:r>
                            </m:e>
                            <m:sub>
                              <m:r>
                                <a:rPr lang="en-US" altLang="zh-CN" sz="2800" i="1">
                                  <a:solidFill>
                                    <a:prstClr val="black"/>
                                  </a:solidFill>
                                  <a:latin typeface="Cambria Math"/>
                                </a:rPr>
                                <m:t>0</m:t>
                              </m:r>
                            </m:sub>
                          </m:sSub>
                        </m:den>
                      </m:f>
                    </m:oMath>
                  </m:oMathPara>
                </a14:m>
                <a:endParaRPr lang="zh-CN" altLang="en-US" sz="2800" dirty="0">
                  <a:solidFill>
                    <a:prstClr val="black"/>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582173" y="2205316"/>
                <a:ext cx="5077952" cy="974947"/>
              </a:xfrm>
              <a:prstGeom prst="rect">
                <a:avLst/>
              </a:prstGeom>
              <a:blipFill>
                <a:blip r:embed="rId3"/>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280319" y="3442945"/>
                <a:ext cx="4825873" cy="11794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smtClean="0">
                          <a:latin typeface="Cambria Math"/>
                        </a:rPr>
                        <m:t>=</m:t>
                      </m:r>
                      <m:f>
                        <m:fPr>
                          <m:ctrlPr>
                            <a:rPr lang="zh-CN" altLang="zh-CN" sz="2400" i="1">
                              <a:latin typeface="Cambria Math" panose="02040503050406030204" pitchFamily="18" charset="0"/>
                            </a:rPr>
                          </m:ctrlPr>
                        </m:fPr>
                        <m:num>
                          <m:r>
                            <a:rPr lang="en-US" altLang="zh-CN" sz="2400" i="1">
                              <a:latin typeface="Cambria Math"/>
                            </a:rPr>
                            <m:t>𝜀</m:t>
                          </m:r>
                          <m:r>
                            <a:rPr lang="en-US" altLang="zh-CN" sz="2400" i="1">
                              <a:latin typeface="Cambria Math"/>
                            </a:rPr>
                            <m:t>𝑆</m:t>
                          </m:r>
                          <m:d>
                            <m:dPr>
                              <m:ctrlPr>
                                <a:rPr lang="zh-CN" altLang="zh-CN" sz="2400" i="1">
                                  <a:latin typeface="Cambria Math" panose="02040503050406030204" pitchFamily="18" charset="0"/>
                                </a:rPr>
                              </m:ctrlPr>
                            </m:dPr>
                            <m:e>
                              <m:r>
                                <a:rPr lang="en-US" altLang="zh-CN" sz="2400" i="1">
                                  <a:latin typeface="Cambria Math"/>
                                </a:rPr>
                                <m:t>−∆</m:t>
                              </m:r>
                              <m:r>
                                <a:rPr lang="en-US" altLang="zh-CN" sz="2400" i="1">
                                  <a:latin typeface="Cambria Math"/>
                                </a:rPr>
                                <m:t>𝑑</m:t>
                              </m:r>
                            </m:e>
                          </m:d>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r>
                                <a:rPr lang="en-US" altLang="zh-CN" sz="2400" i="1">
                                  <a:latin typeface="Cambria Math"/>
                                </a:rPr>
                                <m:t>+∆</m:t>
                              </m:r>
                              <m:r>
                                <a:rPr lang="en-US" altLang="zh-CN" sz="2400" i="1">
                                  <a:latin typeface="Cambria Math"/>
                                </a:rPr>
                                <m:t>𝑑</m:t>
                              </m:r>
                            </m:e>
                          </m:d>
                        </m:den>
                      </m:f>
                      <m:r>
                        <a:rPr lang="en-US" altLang="zh-CN" sz="2400" i="1">
                          <a:latin typeface="Cambria Math"/>
                        </a:rPr>
                        <m:t>=−</m:t>
                      </m:r>
                      <m:f>
                        <m:fPr>
                          <m:ctrlPr>
                            <a:rPr lang="zh-CN" altLang="zh-CN" sz="2400" i="1">
                              <a:latin typeface="Cambria Math" panose="02040503050406030204" pitchFamily="18" charset="0"/>
                            </a:rPr>
                          </m:ctrlPr>
                        </m:fPr>
                        <m:num>
                          <m:r>
                            <a:rPr lang="en-US" altLang="zh-CN" sz="2400" i="1">
                              <a:latin typeface="Cambria Math"/>
                            </a:rPr>
                            <m:t>𝜀</m:t>
                          </m:r>
                          <m:r>
                            <a:rPr lang="en-US" altLang="zh-CN" sz="2400" i="1">
                              <a:latin typeface="Cambria Math"/>
                            </a:rPr>
                            <m:t>𝑆</m:t>
                          </m:r>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sSub>
                            <m:sSubPr>
                              <m:ctrlPr>
                                <a:rPr lang="zh-CN" altLang="zh-CN" sz="2400" i="1">
                                  <a:latin typeface="Cambria Math" panose="02040503050406030204" pitchFamily="18" charset="0"/>
                                </a:rPr>
                              </m:ctrlPr>
                            </m:sSubPr>
                            <m:e>
                              <m:r>
                                <a:rPr lang="en-US" altLang="zh-CN" sz="2400" i="1">
                                  <a:latin typeface="Cambria Math"/>
                                </a:rPr>
                                <m:t>∙</m:t>
                              </m:r>
                              <m:r>
                                <a:rPr lang="en-US" altLang="zh-CN" sz="2400" i="1">
                                  <a:latin typeface="Cambria Math"/>
                                </a:rPr>
                                <m:t>𝑑</m:t>
                              </m:r>
                            </m:e>
                            <m:sub>
                              <m:r>
                                <a:rPr lang="en-US" altLang="zh-CN" sz="2400" i="1">
                                  <a:latin typeface="Cambria Math"/>
                                </a:rPr>
                                <m:t>0</m:t>
                              </m:r>
                            </m:sub>
                          </m:sSub>
                        </m:den>
                      </m:f>
                      <m:r>
                        <a:rPr lang="en-US" altLang="zh-CN" sz="2400" b="0" i="1" smtClean="0">
                          <a:latin typeface="Cambria Math" panose="02040503050406030204" pitchFamily="18" charset="0"/>
                        </a:rPr>
                        <m:t> </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i="1">
                              <a:latin typeface="Cambria Math"/>
                            </a:rPr>
                            <m:t>1+</m:t>
                          </m:r>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den>
                      </m:f>
                    </m:oMath>
                  </m:oMathPara>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1280319" y="3442945"/>
                <a:ext cx="4825873" cy="1179425"/>
              </a:xfrm>
              <a:prstGeom prst="rect">
                <a:avLst/>
              </a:prstGeom>
              <a:blipFill>
                <a:blip r:embed="rId4"/>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122000" y="4897947"/>
                <a:ext cx="6492765" cy="106856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a:latin typeface="Cambria Math"/>
                        </a:rPr>
                        <m:t>=</m:t>
                      </m:r>
                      <m:sSub>
                        <m:sSubPr>
                          <m:ctrlPr>
                            <a:rPr lang="zh-CN" altLang="zh-CN" sz="2400" i="1">
                              <a:latin typeface="Cambria Math" panose="02040503050406030204" pitchFamily="18" charset="0"/>
                            </a:rPr>
                          </m:ctrlPr>
                        </m:sSubPr>
                        <m:e>
                          <m:r>
                            <a:rPr lang="en-US" altLang="zh-CN" sz="2400" i="1">
                              <a:latin typeface="Cambria Math"/>
                            </a:rPr>
                            <m:t>𝐶</m:t>
                          </m:r>
                        </m:e>
                        <m:sub>
                          <m:r>
                            <a:rPr lang="en-US" altLang="zh-CN" sz="2400" i="1">
                              <a:latin typeface="Cambria Math"/>
                            </a:rPr>
                            <m:t>0</m:t>
                          </m:r>
                        </m:sub>
                      </m:sSub>
                      <m:d>
                        <m:dPr>
                          <m:ctrlPr>
                            <a:rPr lang="zh-CN" altLang="zh-CN" sz="2400" i="1">
                              <a:latin typeface="Cambria Math" panose="02040503050406030204" pitchFamily="18" charset="0"/>
                            </a:rPr>
                          </m:ctrlPr>
                        </m:dPr>
                        <m:e>
                          <m:r>
                            <a:rPr lang="en-US" altLang="zh-CN" sz="2400" i="1">
                              <a:latin typeface="Cambria Math"/>
                            </a:rPr>
                            <m:t>−</m:t>
                          </m:r>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d>
                        <m:dPr>
                          <m:begChr m:val="["/>
                          <m:endChr m:val="]"/>
                          <m:ctrlPr>
                            <a:rPr lang="zh-CN" altLang="zh-CN" sz="2400" i="1">
                              <a:latin typeface="Cambria Math" panose="02040503050406030204" pitchFamily="18" charset="0"/>
                            </a:rPr>
                          </m:ctrlPr>
                        </m:dPr>
                        <m:e>
                          <m:r>
                            <a:rPr lang="en-US" altLang="zh-CN" sz="2400" i="1">
                              <a:latin typeface="Cambria Math"/>
                            </a:rPr>
                            <m:t>1−</m:t>
                          </m:r>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r>
                            <a:rPr lang="en-US" altLang="zh-CN" sz="2400" i="1">
                              <a:latin typeface="Cambria Math"/>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e>
                            <m:sup>
                              <m:r>
                                <a:rPr lang="en-US" altLang="zh-CN" sz="2400" i="1">
                                  <a:latin typeface="Cambria Math"/>
                                </a:rPr>
                                <m:t>2</m:t>
                              </m:r>
                            </m:sup>
                          </m:sSup>
                          <m:r>
                            <a:rPr lang="en-US" altLang="zh-CN" sz="2400" i="1">
                              <a:latin typeface="Cambria Math"/>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e>
                            <m:sup>
                              <m:r>
                                <a:rPr lang="en-US" altLang="zh-CN" sz="2400" i="1">
                                  <a:latin typeface="Cambria Math"/>
                                </a:rPr>
                                <m:t>3</m:t>
                              </m:r>
                            </m:sup>
                          </m:sSup>
                          <m:r>
                            <a:rPr lang="en-US" altLang="zh-CN" sz="2400" i="1">
                              <a:latin typeface="Cambria Math"/>
                            </a:rPr>
                            <m:t>+⋯</m:t>
                          </m:r>
                        </m:e>
                      </m:d>
                    </m:oMath>
                  </m:oMathPara>
                </a14:m>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1122000" y="4897947"/>
                <a:ext cx="6492765" cy="1068562"/>
              </a:xfrm>
              <a:prstGeom prst="rect">
                <a:avLst/>
              </a:prstGeom>
              <a:blipFill>
                <a:blip r:embed="rId5"/>
                <a:stretch>
                  <a:fillRect/>
                </a:stretch>
              </a:blipFill>
            </p:spPr>
            <p:txBody>
              <a:bodyPr/>
              <a:lstStyle/>
              <a:p>
                <a:r>
                  <a:rPr lang="en-001">
                    <a:noFill/>
                  </a:rPr>
                  <a:t> </a:t>
                </a:r>
              </a:p>
            </p:txBody>
          </p:sp>
        </mc:Fallback>
      </mc:AlternateContent>
      <p:pic>
        <p:nvPicPr>
          <p:cNvPr id="22" name="Picture 11">
            <a:extLst>
              <a:ext uri="{FF2B5EF4-FFF2-40B4-BE49-F238E27FC236}">
                <a16:creationId xmlns:a16="http://schemas.microsoft.com/office/drawing/2014/main" id="{76BB1AF0-A9A4-4B73-AF96-9E875ECAFA6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65558"/>
          <a:stretch/>
        </p:blipFill>
        <p:spPr bwMode="auto">
          <a:xfrm>
            <a:off x="6512710" y="1296551"/>
            <a:ext cx="2492400" cy="258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矩形 1">
            <a:extLst>
              <a:ext uri="{FF2B5EF4-FFF2-40B4-BE49-F238E27FC236}">
                <a16:creationId xmlns:a16="http://schemas.microsoft.com/office/drawing/2014/main" id="{75DD98E2-4C2C-4875-A1C1-A4F090A832D8}"/>
              </a:ext>
            </a:extLst>
          </p:cNvPr>
          <p:cNvSpPr/>
          <p:nvPr/>
        </p:nvSpPr>
        <p:spPr>
          <a:xfrm>
            <a:off x="54061" y="1262247"/>
            <a:ext cx="1731564" cy="461665"/>
          </a:xfrm>
          <a:prstGeom prst="rect">
            <a:avLst/>
          </a:prstGeom>
          <a:solidFill>
            <a:srgbClr val="FFFF0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变极距型：</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7E9A2DE-73B4-4BDA-85CC-DBC2B34B4C61}"/>
                  </a:ext>
                </a:extLst>
              </p:cNvPr>
              <p:cNvSpPr txBox="1"/>
              <p:nvPr/>
            </p:nvSpPr>
            <p:spPr>
              <a:xfrm>
                <a:off x="1960201" y="1262247"/>
                <a:ext cx="1266116" cy="78624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r>
                        <a:rPr lang="en-US" altLang="zh-CN" sz="2400" b="0" i="1" smtClean="0">
                          <a:latin typeface="Cambria Math"/>
                        </a:rPr>
                        <m:t>=</m:t>
                      </m:r>
                      <m:f>
                        <m:fPr>
                          <m:ctrlPr>
                            <a:rPr lang="en-US" altLang="zh-CN" sz="2400" i="1" smtClean="0">
                              <a:latin typeface="Cambria Math" panose="02040503050406030204" pitchFamily="18" charset="0"/>
                            </a:rPr>
                          </m:ctrlPr>
                        </m:fPr>
                        <m:num>
                          <m:r>
                            <a:rPr lang="zh-CN" altLang="en-US" sz="2400" b="0" i="1" smtClean="0">
                              <a:latin typeface="Cambria Math"/>
                            </a:rPr>
                            <m:t>𝜀</m:t>
                          </m:r>
                          <m:r>
                            <a:rPr lang="en-US" altLang="zh-CN" sz="2400" b="0" i="1" smtClean="0">
                              <a:latin typeface="Cambria Math" panose="02040503050406030204" pitchFamily="18" charset="0"/>
                            </a:rPr>
                            <m:t> </m:t>
                          </m:r>
                          <m:r>
                            <a:rPr lang="en-US" altLang="zh-CN" sz="2400" b="0" i="1" smtClean="0">
                              <a:latin typeface="Cambria Math"/>
                            </a:rPr>
                            <m:t>𝑆</m:t>
                          </m:r>
                        </m:num>
                        <m:den>
                          <m:r>
                            <a:rPr lang="en-US" altLang="zh-CN" sz="2400" b="0" i="1" smtClean="0">
                              <a:latin typeface="Cambria Math"/>
                            </a:rPr>
                            <m:t>𝑑</m:t>
                          </m:r>
                        </m:den>
                      </m:f>
                    </m:oMath>
                  </m:oMathPara>
                </a14:m>
                <a:endParaRPr lang="zh-CN" altLang="en-US" sz="2400" dirty="0"/>
              </a:p>
            </p:txBody>
          </p:sp>
        </mc:Choice>
        <mc:Fallback xmlns="">
          <p:sp>
            <p:nvSpPr>
              <p:cNvPr id="26" name="TextBox 25">
                <a:extLst>
                  <a:ext uri="{FF2B5EF4-FFF2-40B4-BE49-F238E27FC236}">
                    <a16:creationId xmlns:a16="http://schemas.microsoft.com/office/drawing/2014/main" id="{47E9A2DE-73B4-4BDA-85CC-DBC2B34B4C61}"/>
                  </a:ext>
                </a:extLst>
              </p:cNvPr>
              <p:cNvSpPr txBox="1">
                <a:spLocks noRot="1" noChangeAspect="1" noMove="1" noResize="1" noEditPoints="1" noAdjustHandles="1" noChangeArrowheads="1" noChangeShapeType="1" noTextEdit="1"/>
              </p:cNvSpPr>
              <p:nvPr/>
            </p:nvSpPr>
            <p:spPr>
              <a:xfrm>
                <a:off x="1960201" y="1262247"/>
                <a:ext cx="1266116" cy="786241"/>
              </a:xfrm>
              <a:prstGeom prst="rect">
                <a:avLst/>
              </a:prstGeom>
              <a:blipFill>
                <a:blip r:embed="rId7"/>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7D749E4A-D951-4E05-BE59-328B55EC39E6}"/>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电容传感器的灵敏度及非线性</a:t>
            </a:r>
          </a:p>
        </p:txBody>
      </p:sp>
      <p:sp>
        <p:nvSpPr>
          <p:cNvPr id="20" name="Rectangle 3"/>
          <p:cNvSpPr txBox="1">
            <a:spLocks noRot="1" noChangeArrowheads="1"/>
          </p:cNvSpPr>
          <p:nvPr/>
        </p:nvSpPr>
        <p:spPr>
          <a:xfrm>
            <a:off x="301625" y="2823674"/>
            <a:ext cx="1658575" cy="571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灵</a:t>
            </a:r>
            <a:r>
              <a:rPr lang="zh-CN" altLang="en-US" b="1">
                <a:latin typeface="Times New Roman" panose="02020603050405020304" pitchFamily="18" charset="0"/>
                <a:ea typeface="宋体" panose="02010600030101010101" pitchFamily="2" charset="-122"/>
                <a:cs typeface="Times New Roman" panose="02020603050405020304" pitchFamily="18" charset="0"/>
              </a:rPr>
              <a:t>敏度 </a:t>
            </a:r>
            <a:r>
              <a:rPr lang="en-US" altLang="zh-CN" i="1">
                <a:solidFill>
                  <a:srgbClr val="FF0000"/>
                </a:solidFill>
                <a:latin typeface="Times New Roman" panose="02020603050405020304" pitchFamily="18" charset="0"/>
                <a:ea typeface="宋体" panose="02010600030101010101" pitchFamily="2" charset="-122"/>
                <a:cs typeface="Times New Roman" panose="02020603050405020304" pitchFamily="18" charset="0"/>
              </a:rPr>
              <a:t>k</a:t>
            </a:r>
            <a:endPar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1247719" y="4564042"/>
            <a:ext cx="6648562" cy="1200329"/>
          </a:xfrm>
          <a:prstGeom prst="rect">
            <a:avLst/>
          </a:prstGeom>
        </p:spPr>
        <p:txBody>
          <a:bodyPr wrap="square">
            <a:spAutoFit/>
          </a:bodyPr>
          <a:lstStyle/>
          <a:p>
            <a:pPr lvl="0" indent="628650" fontAlgn="t">
              <a:lnSpc>
                <a:spcPct val="150000"/>
              </a:lnSpc>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比值</a:t>
            </a:r>
            <a:r>
              <a:rPr lang="zh-CN" altLang="en-US"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d</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d</a:t>
            </a:r>
            <a:r>
              <a:rPr lang="en-US" altLang="zh-CN" sz="2400" baseline="-34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0</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很小时接近线性关系，因此这种形式传感器的被测量范围</a:t>
            </a:r>
            <a:r>
              <a:rPr lang="zh-CN" altLang="en-US" sz="2400" b="1" u="sng"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不应太大</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2" name="矩形 21"/>
              <p:cNvSpPr/>
              <p:nvPr/>
            </p:nvSpPr>
            <p:spPr>
              <a:xfrm>
                <a:off x="1649050" y="3380235"/>
                <a:ext cx="6422135" cy="78617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b="0" i="1" smtClean="0">
                          <a:latin typeface="Cambria Math"/>
                        </a:rPr>
                        <m:t>𝑘</m:t>
                      </m:r>
                      <m:r>
                        <a:rPr lang="en-US" altLang="zh-CN" sz="2400">
                          <a:latin typeface="Cambria Math"/>
                        </a:rPr>
                        <m:t>=</m:t>
                      </m:r>
                      <m:f>
                        <m:fPr>
                          <m:ctrlPr>
                            <a:rPr lang="en-US" altLang="zh-CN" sz="2400" i="1" smtClean="0">
                              <a:latin typeface="Cambria Math" panose="02040503050406030204" pitchFamily="18" charset="0"/>
                            </a:rPr>
                          </m:ctrlPr>
                        </m:fPr>
                        <m:num>
                          <m:r>
                            <a:rPr lang="en-US" altLang="zh-CN" sz="2400" i="1" smtClean="0">
                              <a:latin typeface="Cambria Math"/>
                              <a:ea typeface="Cambria Math"/>
                            </a:rPr>
                            <m:t>∆</m:t>
                          </m:r>
                          <m:r>
                            <a:rPr lang="en-US" altLang="zh-CN" sz="2400" b="0" i="1" smtClean="0">
                              <a:latin typeface="Cambria Math"/>
                              <a:ea typeface="Cambria Math"/>
                            </a:rPr>
                            <m:t>𝐶</m:t>
                          </m:r>
                        </m:num>
                        <m:den>
                          <m:r>
                            <a:rPr lang="en-US" altLang="zh-CN" sz="2400" i="1" smtClean="0">
                              <a:latin typeface="Cambria Math"/>
                              <a:ea typeface="Cambria Math"/>
                            </a:rPr>
                            <m:t>∆</m:t>
                          </m:r>
                          <m:r>
                            <a:rPr lang="en-US" altLang="zh-CN" sz="2400" b="0" i="1" smtClean="0">
                              <a:latin typeface="Cambria Math"/>
                              <a:ea typeface="Cambria Math"/>
                            </a:rPr>
                            <m:t>𝑑</m:t>
                          </m:r>
                        </m:den>
                      </m:f>
                    </m:oMath>
                  </m:oMathPara>
                </a14:m>
                <a:endParaRPr lang="zh-CN"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1649050" y="3380235"/>
                <a:ext cx="6422135" cy="786177"/>
              </a:xfrm>
              <a:prstGeom prst="rect">
                <a:avLst/>
              </a:prstGeom>
              <a:blipFill>
                <a:blip r:embed="rId3"/>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2831530" y="3239042"/>
                <a:ext cx="5816237" cy="106856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b="0" i="1" smtClean="0">
                          <a:latin typeface="Cambria Math"/>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a:rPr>
                                <m:t>𝐶</m:t>
                              </m:r>
                            </m:e>
                            <m:sub>
                              <m:r>
                                <a:rPr lang="en-US" altLang="zh-CN" sz="2400" b="0" i="1" smtClean="0">
                                  <a:latin typeface="Cambria Math"/>
                                </a:rPr>
                                <m:t>0</m:t>
                              </m:r>
                            </m:sub>
                          </m:sSub>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d>
                        <m:dPr>
                          <m:begChr m:val="["/>
                          <m:endChr m:val="]"/>
                          <m:ctrlPr>
                            <a:rPr lang="zh-CN" altLang="zh-CN" sz="2400" i="1">
                              <a:latin typeface="Cambria Math" panose="02040503050406030204" pitchFamily="18" charset="0"/>
                            </a:rPr>
                          </m:ctrlPr>
                        </m:dPr>
                        <m:e>
                          <m:r>
                            <a:rPr lang="en-US" altLang="zh-CN" sz="2400" i="1">
                              <a:latin typeface="Cambria Math"/>
                            </a:rPr>
                            <m:t>1−</m:t>
                          </m:r>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r>
                            <a:rPr lang="en-US" altLang="zh-CN" sz="2400" i="1">
                              <a:latin typeface="Cambria Math"/>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e>
                            <m:sup>
                              <m:r>
                                <a:rPr lang="en-US" altLang="zh-CN" sz="2400" i="1">
                                  <a:latin typeface="Cambria Math"/>
                                </a:rPr>
                                <m:t>2</m:t>
                              </m:r>
                            </m:sup>
                          </m:sSup>
                          <m:r>
                            <a:rPr lang="en-US" altLang="zh-CN" sz="2400" i="1">
                              <a:latin typeface="Cambria Math"/>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e>
                            <m:sup>
                              <m:r>
                                <a:rPr lang="en-US" altLang="zh-CN" sz="2400" i="1">
                                  <a:latin typeface="Cambria Math"/>
                                </a:rPr>
                                <m:t>3</m:t>
                              </m:r>
                            </m:sup>
                          </m:sSup>
                          <m:r>
                            <a:rPr lang="en-US" altLang="zh-CN" sz="2400" i="1">
                              <a:latin typeface="Cambria Math"/>
                            </a:rPr>
                            <m:t>+⋯</m:t>
                          </m:r>
                        </m:e>
                      </m:d>
                    </m:oMath>
                  </m:oMathPara>
                </a14:m>
                <a:endParaRPr lang="zh-CN" altLang="en-US" sz="2400" dirty="0"/>
              </a:p>
            </p:txBody>
          </p:sp>
        </mc:Choice>
        <mc:Fallback xmlns="">
          <p:sp>
            <p:nvSpPr>
              <p:cNvPr id="26" name="矩形 25"/>
              <p:cNvSpPr>
                <a:spLocks noRot="1" noChangeAspect="1" noMove="1" noResize="1" noEditPoints="1" noAdjustHandles="1" noChangeArrowheads="1" noChangeShapeType="1" noTextEdit="1"/>
              </p:cNvSpPr>
              <p:nvPr/>
            </p:nvSpPr>
            <p:spPr>
              <a:xfrm>
                <a:off x="2831530" y="3239042"/>
                <a:ext cx="5816237" cy="1068562"/>
              </a:xfrm>
              <a:prstGeom prst="rect">
                <a:avLst/>
              </a:prstGeom>
              <a:blipFill>
                <a:blip r:embed="rId4"/>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23" name="矩形 5">
                <a:extLst>
                  <a:ext uri="{FF2B5EF4-FFF2-40B4-BE49-F238E27FC236}">
                    <a16:creationId xmlns:a16="http://schemas.microsoft.com/office/drawing/2014/main" id="{5B2D1857-B5C5-4AB2-8D3D-C08A05EB4A18}"/>
                  </a:ext>
                </a:extLst>
              </p:cNvPr>
              <p:cNvSpPr/>
              <p:nvPr/>
            </p:nvSpPr>
            <p:spPr>
              <a:xfrm>
                <a:off x="963787" y="1728125"/>
                <a:ext cx="7792660" cy="10591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prstClr val="black"/>
                          </a:solidFill>
                          <a:latin typeface="Cambria Math"/>
                          <a:ea typeface="Cambria Math"/>
                        </a:rPr>
                        <m:t>∆</m:t>
                      </m:r>
                      <m:r>
                        <a:rPr lang="en-US" altLang="zh-CN" sz="2400" i="1" smtClean="0">
                          <a:solidFill>
                            <a:prstClr val="black"/>
                          </a:solidFill>
                          <a:latin typeface="Cambria Math"/>
                          <a:ea typeface="Cambria Math"/>
                        </a:rPr>
                        <m:t>𝐶</m:t>
                      </m:r>
                      <m:r>
                        <a:rPr lang="en-US" altLang="zh-CN" sz="2400">
                          <a:latin typeface="Cambria Math"/>
                        </a:rPr>
                        <m:t>=</m:t>
                      </m:r>
                      <m:sSub>
                        <m:sSubPr>
                          <m:ctrlPr>
                            <a:rPr lang="zh-CN" altLang="zh-CN" sz="2400" i="1">
                              <a:latin typeface="Cambria Math" panose="02040503050406030204" pitchFamily="18" charset="0"/>
                            </a:rPr>
                          </m:ctrlPr>
                        </m:sSubPr>
                        <m:e>
                          <m:r>
                            <a:rPr lang="en-US" altLang="zh-CN" sz="2400" i="1">
                              <a:latin typeface="Cambria Math"/>
                            </a:rPr>
                            <m:t>𝐶</m:t>
                          </m:r>
                        </m:e>
                        <m:sub>
                          <m:r>
                            <a:rPr lang="en-US" altLang="zh-CN" sz="2400" i="1">
                              <a:latin typeface="Cambria Math"/>
                            </a:rPr>
                            <m:t>0</m:t>
                          </m:r>
                        </m:sub>
                      </m:sSub>
                      <m:d>
                        <m:dPr>
                          <m:ctrlPr>
                            <a:rPr lang="zh-CN" altLang="zh-CN" sz="2400" i="1">
                              <a:latin typeface="Cambria Math" panose="02040503050406030204" pitchFamily="18" charset="0"/>
                            </a:rPr>
                          </m:ctrlPr>
                        </m:dPr>
                        <m:e>
                          <m:r>
                            <a:rPr lang="en-US" altLang="zh-CN" sz="2400" i="1">
                              <a:latin typeface="Cambria Math"/>
                            </a:rPr>
                            <m:t>−</m:t>
                          </m:r>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d>
                        <m:dPr>
                          <m:begChr m:val="["/>
                          <m:endChr m:val="]"/>
                          <m:ctrlPr>
                            <a:rPr lang="zh-CN" altLang="zh-CN" sz="2400" i="1">
                              <a:latin typeface="Cambria Math" panose="02040503050406030204" pitchFamily="18" charset="0"/>
                            </a:rPr>
                          </m:ctrlPr>
                        </m:dPr>
                        <m:e>
                          <m:r>
                            <a:rPr lang="en-US" altLang="zh-CN" sz="2400" i="1">
                              <a:latin typeface="Cambria Math"/>
                            </a:rPr>
                            <m:t>1−</m:t>
                          </m:r>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r>
                            <a:rPr lang="en-US" altLang="zh-CN" sz="2400" i="1">
                              <a:latin typeface="Cambria Math"/>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e>
                            <m:sup>
                              <m:r>
                                <a:rPr lang="en-US" altLang="zh-CN" sz="2400" i="1">
                                  <a:latin typeface="Cambria Math"/>
                                </a:rPr>
                                <m:t>2</m:t>
                              </m:r>
                            </m:sup>
                          </m:sSup>
                          <m:r>
                            <a:rPr lang="en-US" altLang="zh-CN" sz="2400" i="1">
                              <a:latin typeface="Cambria Math"/>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e>
                            <m:sup>
                              <m:r>
                                <a:rPr lang="en-US" altLang="zh-CN" sz="2400" i="1">
                                  <a:latin typeface="Cambria Math"/>
                                </a:rPr>
                                <m:t>3</m:t>
                              </m:r>
                            </m:sup>
                          </m:sSup>
                          <m:r>
                            <a:rPr lang="en-US" altLang="zh-CN" sz="2400" i="1">
                              <a:latin typeface="Cambria Math"/>
                            </a:rPr>
                            <m:t>+⋯</m:t>
                          </m:r>
                        </m:e>
                      </m:d>
                    </m:oMath>
                  </m:oMathPara>
                </a14:m>
                <a:endParaRPr lang="zh-CN" altLang="en-US" sz="2400" dirty="0"/>
              </a:p>
            </p:txBody>
          </p:sp>
        </mc:Choice>
        <mc:Fallback xmlns="">
          <p:sp>
            <p:nvSpPr>
              <p:cNvPr id="23" name="矩形 5">
                <a:extLst>
                  <a:ext uri="{FF2B5EF4-FFF2-40B4-BE49-F238E27FC236}">
                    <a16:creationId xmlns:a16="http://schemas.microsoft.com/office/drawing/2014/main" id="{5B2D1857-B5C5-4AB2-8D3D-C08A05EB4A18}"/>
                  </a:ext>
                </a:extLst>
              </p:cNvPr>
              <p:cNvSpPr>
                <a:spLocks noRot="1" noChangeAspect="1" noMove="1" noResize="1" noEditPoints="1" noAdjustHandles="1" noChangeArrowheads="1" noChangeShapeType="1" noTextEdit="1"/>
              </p:cNvSpPr>
              <p:nvPr/>
            </p:nvSpPr>
            <p:spPr>
              <a:xfrm>
                <a:off x="963787" y="1728125"/>
                <a:ext cx="7792660" cy="1059136"/>
              </a:xfrm>
              <a:prstGeom prst="rect">
                <a:avLst/>
              </a:prstGeom>
              <a:blipFill>
                <a:blip r:embed="rId5"/>
                <a:stretch>
                  <a:fillRect/>
                </a:stretch>
              </a:blipFill>
            </p:spPr>
            <p:txBody>
              <a:bodyPr/>
              <a:lstStyle/>
              <a:p>
                <a:r>
                  <a:rPr lang="en-001">
                    <a:noFill/>
                  </a:rPr>
                  <a:t> </a:t>
                </a:r>
              </a:p>
            </p:txBody>
          </p:sp>
        </mc:Fallback>
      </mc:AlternateContent>
      <p:sp>
        <p:nvSpPr>
          <p:cNvPr id="28" name="矩形 1">
            <a:extLst>
              <a:ext uri="{FF2B5EF4-FFF2-40B4-BE49-F238E27FC236}">
                <a16:creationId xmlns:a16="http://schemas.microsoft.com/office/drawing/2014/main" id="{49E259FB-2A24-4EAD-90E2-2A6388D51163}"/>
              </a:ext>
            </a:extLst>
          </p:cNvPr>
          <p:cNvSpPr/>
          <p:nvPr/>
        </p:nvSpPr>
        <p:spPr>
          <a:xfrm>
            <a:off x="54061" y="1408297"/>
            <a:ext cx="1731564" cy="461665"/>
          </a:xfrm>
          <a:prstGeom prst="rect">
            <a:avLst/>
          </a:prstGeom>
          <a:solidFill>
            <a:srgbClr val="FFFF0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变极距型：</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54FA7EAE-BEDA-4FD5-B882-86570C283FEF}"/>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spTree>
    <p:extLst>
      <p:ext uri="{BB962C8B-B14F-4D97-AF65-F5344CB8AC3E}">
        <p14:creationId xmlns:p14="http://schemas.microsoft.com/office/powerpoint/2010/main" val="30838538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电容传感器的灵敏度及非线性</a:t>
            </a:r>
          </a:p>
        </p:txBody>
      </p:sp>
      <p:sp>
        <p:nvSpPr>
          <p:cNvPr id="20" name="Rectangle 3"/>
          <p:cNvSpPr txBox="1">
            <a:spLocks noRot="1" noChangeArrowheads="1"/>
          </p:cNvSpPr>
          <p:nvPr/>
        </p:nvSpPr>
        <p:spPr>
          <a:xfrm>
            <a:off x="1428976" y="2672592"/>
            <a:ext cx="6286048" cy="3245066"/>
          </a:xfrm>
          <a:prstGeom prst="rect">
            <a:avLst/>
          </a:prstGeom>
          <a:effectLst>
            <a:glow rad="101600">
              <a:schemeClr val="accent6">
                <a:satMod val="175000"/>
                <a:alpha val="40000"/>
              </a:schemeClr>
            </a:glo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400" b="1" dirty="0">
                <a:solidFill>
                  <a:srgbClr val="008000"/>
                </a:solidFill>
                <a:latin typeface="Times New Roman" panose="02020603050405020304" pitchFamily="18" charset="0"/>
                <a:ea typeface="宋体" panose="02010600030101010101" pitchFamily="2" charset="-122"/>
                <a:cs typeface="Times New Roman" panose="02020603050405020304" pitchFamily="18" charset="0"/>
              </a:rPr>
              <a:t>FOR</a:t>
            </a:r>
            <a:r>
              <a:rPr lang="en-US" altLang="zh-CN"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被测范围大，</a:t>
            </a:r>
            <a:r>
              <a:rPr lang="en-US" altLang="zh-CN" sz="2400" b="1" dirty="0">
                <a:solidFill>
                  <a:srgbClr val="FF33CC"/>
                </a:solidFill>
                <a:latin typeface="Times New Roman" panose="02020603050405020304" pitchFamily="18" charset="0"/>
                <a:ea typeface="宋体" panose="02010600030101010101" pitchFamily="2" charset="-122"/>
                <a:cs typeface="Times New Roman" panose="02020603050405020304" pitchFamily="18" charset="0"/>
              </a:rPr>
              <a:t>THEN</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适当增大极板间的初始</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距离</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d</a:t>
            </a:r>
            <a:r>
              <a:rPr lang="en-US" altLang="zh-CN" sz="2400" baseline="-2500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，保证比值</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d</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d</a:t>
            </a:r>
            <a:r>
              <a:rPr lang="en-US" altLang="zh-CN" sz="2400" baseline="-34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0</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a:lnSpc>
                <a:spcPct val="150000"/>
              </a:lnSpc>
              <a:buFont typeface="Wingdings" pitchFamily="2" charset="2"/>
              <a:buNone/>
            </a:pPr>
            <a:r>
              <a:rPr lang="zh-CN" altLang="en-US"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但</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d</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0</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，故灵敏度</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a:lnSpc>
                <a:spcPct val="150000"/>
              </a:lnSpc>
              <a:buFont typeface="Wingdings" pitchFamily="2" charset="2"/>
              <a:buNone/>
            </a:pPr>
            <a:r>
              <a:rPr lang="zh-CN" altLang="en-US"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l-GR" altLang="zh-CN" sz="2400" dirty="0">
                <a:latin typeface="Times New Roman" pitchFamily="18" charset="0"/>
                <a:ea typeface="宋体" panose="02010600030101010101" pitchFamily="2" charset="-122"/>
                <a:cs typeface="Times New Roman" pitchFamily="18" charset="0"/>
              </a:rPr>
              <a:t>ε</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d</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0</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，寄生电容的干扰作用</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常采用</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差动式</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差分式</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电容传感器</a:t>
            </a:r>
          </a:p>
        </p:txBody>
      </p:sp>
      <mc:AlternateContent xmlns:mc="http://schemas.openxmlformats.org/markup-compatibility/2006" xmlns:a14="http://schemas.microsoft.com/office/drawing/2010/main">
        <mc:Choice Requires="a14">
          <p:sp>
            <p:nvSpPr>
              <p:cNvPr id="19" name="矩形 21">
                <a:extLst>
                  <a:ext uri="{FF2B5EF4-FFF2-40B4-BE49-F238E27FC236}">
                    <a16:creationId xmlns:a16="http://schemas.microsoft.com/office/drawing/2014/main" id="{7772EC44-01C3-402F-93AF-D65AFE9DB85A}"/>
                  </a:ext>
                </a:extLst>
              </p:cNvPr>
              <p:cNvSpPr/>
              <p:nvPr/>
            </p:nvSpPr>
            <p:spPr>
              <a:xfrm>
                <a:off x="1128350" y="1505967"/>
                <a:ext cx="6422135" cy="78617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b="0" i="1" smtClean="0">
                          <a:latin typeface="Cambria Math"/>
                        </a:rPr>
                        <m:t>𝑘</m:t>
                      </m:r>
                      <m:r>
                        <a:rPr lang="en-US" altLang="zh-CN" sz="2400">
                          <a:latin typeface="Cambria Math"/>
                        </a:rPr>
                        <m:t>=</m:t>
                      </m:r>
                      <m:f>
                        <m:fPr>
                          <m:ctrlPr>
                            <a:rPr lang="en-US" altLang="zh-CN" sz="2400" i="1" smtClean="0">
                              <a:latin typeface="Cambria Math" panose="02040503050406030204" pitchFamily="18" charset="0"/>
                            </a:rPr>
                          </m:ctrlPr>
                        </m:fPr>
                        <m:num>
                          <m:r>
                            <a:rPr lang="en-US" altLang="zh-CN" sz="2400" i="1" smtClean="0">
                              <a:latin typeface="Cambria Math"/>
                              <a:ea typeface="Cambria Math"/>
                            </a:rPr>
                            <m:t>∆</m:t>
                          </m:r>
                          <m:r>
                            <a:rPr lang="en-US" altLang="zh-CN" sz="2400" b="0" i="1" smtClean="0">
                              <a:latin typeface="Cambria Math"/>
                              <a:ea typeface="Cambria Math"/>
                            </a:rPr>
                            <m:t>𝐶</m:t>
                          </m:r>
                        </m:num>
                        <m:den>
                          <m:r>
                            <a:rPr lang="en-US" altLang="zh-CN" sz="2400" i="1" smtClean="0">
                              <a:latin typeface="Cambria Math"/>
                              <a:ea typeface="Cambria Math"/>
                            </a:rPr>
                            <m:t>∆</m:t>
                          </m:r>
                          <m:r>
                            <a:rPr lang="en-US" altLang="zh-CN" sz="2400" b="0" i="1" smtClean="0">
                              <a:latin typeface="Cambria Math"/>
                              <a:ea typeface="Cambria Math"/>
                            </a:rPr>
                            <m:t>𝑑</m:t>
                          </m:r>
                        </m:den>
                      </m:f>
                    </m:oMath>
                  </m:oMathPara>
                </a14:m>
                <a:endParaRPr lang="zh-CN" altLang="en-US" sz="2400" dirty="0"/>
              </a:p>
            </p:txBody>
          </p:sp>
        </mc:Choice>
        <mc:Fallback xmlns="">
          <p:sp>
            <p:nvSpPr>
              <p:cNvPr id="19" name="矩形 21">
                <a:extLst>
                  <a:ext uri="{FF2B5EF4-FFF2-40B4-BE49-F238E27FC236}">
                    <a16:creationId xmlns:a16="http://schemas.microsoft.com/office/drawing/2014/main" id="{7772EC44-01C3-402F-93AF-D65AFE9DB85A}"/>
                  </a:ext>
                </a:extLst>
              </p:cNvPr>
              <p:cNvSpPr>
                <a:spLocks noRot="1" noChangeAspect="1" noMove="1" noResize="1" noEditPoints="1" noAdjustHandles="1" noChangeArrowheads="1" noChangeShapeType="1" noTextEdit="1"/>
              </p:cNvSpPr>
              <p:nvPr/>
            </p:nvSpPr>
            <p:spPr>
              <a:xfrm>
                <a:off x="1128350" y="1505967"/>
                <a:ext cx="6422135" cy="786177"/>
              </a:xfrm>
              <a:prstGeom prst="rect">
                <a:avLst/>
              </a:prstGeom>
              <a:blipFill>
                <a:blip r:embed="rId3"/>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21" name="矩形 25">
                <a:extLst>
                  <a:ext uri="{FF2B5EF4-FFF2-40B4-BE49-F238E27FC236}">
                    <a16:creationId xmlns:a16="http://schemas.microsoft.com/office/drawing/2014/main" id="{087DC088-F1BB-4F41-89A2-FC91A27E4D75}"/>
                  </a:ext>
                </a:extLst>
              </p:cNvPr>
              <p:cNvSpPr/>
              <p:nvPr/>
            </p:nvSpPr>
            <p:spPr>
              <a:xfrm>
                <a:off x="2310830" y="1364774"/>
                <a:ext cx="5816237" cy="106856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b="0" i="1" smtClean="0">
                          <a:latin typeface="Cambria Math"/>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a:rPr>
                                <m:t>𝐶</m:t>
                              </m:r>
                            </m:e>
                            <m:sub>
                              <m:r>
                                <a:rPr lang="en-US" altLang="zh-CN" sz="2400" b="0" i="1" smtClean="0">
                                  <a:latin typeface="Cambria Math"/>
                                </a:rPr>
                                <m:t>0</m:t>
                              </m:r>
                            </m:sub>
                          </m:sSub>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d>
                        <m:dPr>
                          <m:begChr m:val="["/>
                          <m:endChr m:val="]"/>
                          <m:ctrlPr>
                            <a:rPr lang="zh-CN" altLang="zh-CN" sz="2400" i="1">
                              <a:latin typeface="Cambria Math" panose="02040503050406030204" pitchFamily="18" charset="0"/>
                            </a:rPr>
                          </m:ctrlPr>
                        </m:dPr>
                        <m:e>
                          <m:r>
                            <a:rPr lang="en-US" altLang="zh-CN" sz="2400" i="1">
                              <a:latin typeface="Cambria Math"/>
                            </a:rPr>
                            <m:t>1−</m:t>
                          </m:r>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r>
                            <a:rPr lang="en-US" altLang="zh-CN" sz="2400" i="1">
                              <a:latin typeface="Cambria Math"/>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e>
                            <m:sup>
                              <m:r>
                                <a:rPr lang="en-US" altLang="zh-CN" sz="2400" i="1">
                                  <a:latin typeface="Cambria Math"/>
                                </a:rPr>
                                <m:t>2</m:t>
                              </m:r>
                            </m:sup>
                          </m:sSup>
                          <m:r>
                            <a:rPr lang="en-US" altLang="zh-CN" sz="2400" i="1">
                              <a:latin typeface="Cambria Math"/>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𝑑</m:t>
                                      </m:r>
                                    </m:num>
                                    <m:den>
                                      <m:sSub>
                                        <m:sSubPr>
                                          <m:ctrlPr>
                                            <a:rPr lang="zh-CN" altLang="zh-CN" sz="2400" i="1">
                                              <a:latin typeface="Cambria Math" panose="02040503050406030204" pitchFamily="18" charset="0"/>
                                            </a:rPr>
                                          </m:ctrlPr>
                                        </m:sSubPr>
                                        <m:e>
                                          <m:r>
                                            <a:rPr lang="en-US" altLang="zh-CN" sz="2400" i="1">
                                              <a:latin typeface="Cambria Math"/>
                                            </a:rPr>
                                            <m:t>𝑑</m:t>
                                          </m:r>
                                        </m:e>
                                        <m:sub>
                                          <m:r>
                                            <a:rPr lang="en-US" altLang="zh-CN" sz="2400" i="1">
                                              <a:latin typeface="Cambria Math"/>
                                            </a:rPr>
                                            <m:t>0</m:t>
                                          </m:r>
                                        </m:sub>
                                      </m:sSub>
                                    </m:den>
                                  </m:f>
                                </m:e>
                              </m:d>
                            </m:e>
                            <m:sup>
                              <m:r>
                                <a:rPr lang="en-US" altLang="zh-CN" sz="2400" i="1">
                                  <a:latin typeface="Cambria Math"/>
                                </a:rPr>
                                <m:t>3</m:t>
                              </m:r>
                            </m:sup>
                          </m:sSup>
                          <m:r>
                            <a:rPr lang="en-US" altLang="zh-CN" sz="2400" i="1">
                              <a:latin typeface="Cambria Math"/>
                            </a:rPr>
                            <m:t>+⋯</m:t>
                          </m:r>
                        </m:e>
                      </m:d>
                    </m:oMath>
                  </m:oMathPara>
                </a14:m>
                <a:endParaRPr lang="zh-CN" altLang="en-US" sz="2400" dirty="0"/>
              </a:p>
            </p:txBody>
          </p:sp>
        </mc:Choice>
        <mc:Fallback xmlns="">
          <p:sp>
            <p:nvSpPr>
              <p:cNvPr id="21" name="矩形 25">
                <a:extLst>
                  <a:ext uri="{FF2B5EF4-FFF2-40B4-BE49-F238E27FC236}">
                    <a16:creationId xmlns:a16="http://schemas.microsoft.com/office/drawing/2014/main" id="{087DC088-F1BB-4F41-89A2-FC91A27E4D75}"/>
                  </a:ext>
                </a:extLst>
              </p:cNvPr>
              <p:cNvSpPr>
                <a:spLocks noRot="1" noChangeAspect="1" noMove="1" noResize="1" noEditPoints="1" noAdjustHandles="1" noChangeArrowheads="1" noChangeShapeType="1" noTextEdit="1"/>
              </p:cNvSpPr>
              <p:nvPr/>
            </p:nvSpPr>
            <p:spPr>
              <a:xfrm>
                <a:off x="2310830" y="1364774"/>
                <a:ext cx="5816237" cy="1068562"/>
              </a:xfrm>
              <a:prstGeom prst="rect">
                <a:avLst/>
              </a:prstGeom>
              <a:blipFill>
                <a:blip r:embed="rId4"/>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63701A1D-E37D-4CEC-84A4-CA9C3F4D0CDB}"/>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电容传感器的灵敏度及非线性</a:t>
            </a:r>
          </a:p>
        </p:txBody>
      </p:sp>
      <p:sp>
        <p:nvSpPr>
          <p:cNvPr id="21" name="Rectangle 4"/>
          <p:cNvSpPr>
            <a:spLocks noChangeArrowheads="1"/>
          </p:cNvSpPr>
          <p:nvPr/>
        </p:nvSpPr>
        <p:spPr bwMode="auto">
          <a:xfrm>
            <a:off x="744721" y="2253340"/>
            <a:ext cx="7903140" cy="2914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200000"/>
              </a:lnSpc>
              <a:buFont typeface="Arial" pitchFamily="34" charset="0"/>
              <a:buChar char="•"/>
            </a:pPr>
            <a:r>
              <a:rPr lang="zh-CN" altLang="en-US" sz="2400" b="1" dirty="0">
                <a:latin typeface="宋体" panose="02010600030101010101" pitchFamily="2" charset="-122"/>
                <a:ea typeface="宋体" panose="02010600030101010101" pitchFamily="2" charset="-122"/>
              </a:rPr>
              <a:t>忽略电容器的边缘效应后，变面积型和变介电常数型</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测厚除外</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电容传感器具有</a:t>
            </a:r>
            <a:r>
              <a:rPr lang="zh-CN" altLang="en-US" sz="2400" b="1" dirty="0">
                <a:solidFill>
                  <a:schemeClr val="accent1"/>
                </a:solidFill>
                <a:latin typeface="宋体" panose="02010600030101010101" pitchFamily="2" charset="-122"/>
                <a:ea typeface="宋体" panose="02010600030101010101" pitchFamily="2" charset="-122"/>
              </a:rPr>
              <a:t>很好的线性</a:t>
            </a:r>
            <a:r>
              <a:rPr lang="zh-CN" altLang="en-US" sz="2400" b="1" dirty="0">
                <a:latin typeface="宋体" panose="02010600030101010101" pitchFamily="2" charset="-122"/>
                <a:ea typeface="宋体" panose="02010600030101010101" pitchFamily="2" charset="-122"/>
              </a:rPr>
              <a:t>。</a:t>
            </a:r>
          </a:p>
          <a:p>
            <a:pPr marL="342900" indent="-342900">
              <a:lnSpc>
                <a:spcPct val="200000"/>
              </a:lnSpc>
              <a:buFont typeface="Arial" pitchFamily="34" charset="0"/>
              <a:buChar char="•"/>
            </a:pPr>
            <a:r>
              <a:rPr lang="zh-CN" altLang="en-US" sz="2400" b="1" dirty="0">
                <a:latin typeface="宋体" panose="02010600030101010101" pitchFamily="2" charset="-122"/>
                <a:ea typeface="宋体" panose="02010600030101010101" pitchFamily="2" charset="-122"/>
              </a:rPr>
              <a:t>实际由于</a:t>
            </a:r>
            <a:r>
              <a:rPr lang="zh-CN" altLang="en-US" sz="2400" b="1" dirty="0">
                <a:solidFill>
                  <a:srgbClr val="0070C0"/>
                </a:solidFill>
                <a:latin typeface="宋体" panose="02010600030101010101" pitchFamily="2" charset="-122"/>
                <a:ea typeface="宋体" panose="02010600030101010101" pitchFamily="2" charset="-122"/>
              </a:rPr>
              <a:t>边缘效应</a:t>
            </a:r>
            <a:r>
              <a:rPr lang="zh-CN" altLang="en-US" sz="2400" b="1" dirty="0">
                <a:latin typeface="宋体" panose="02010600030101010101" pitchFamily="2" charset="-122"/>
                <a:ea typeface="宋体" panose="02010600030101010101" pitchFamily="2" charset="-122"/>
              </a:rPr>
              <a:t>，仍存在非线性问题，且灵敏度下降，但比变极距型好得多。</a:t>
            </a:r>
          </a:p>
        </p:txBody>
      </p:sp>
      <p:sp>
        <p:nvSpPr>
          <p:cNvPr id="20" name="矩形 19"/>
          <p:cNvSpPr/>
          <p:nvPr/>
        </p:nvSpPr>
        <p:spPr>
          <a:xfrm>
            <a:off x="674779" y="1475055"/>
            <a:ext cx="3897221" cy="461665"/>
          </a:xfrm>
          <a:prstGeom prst="rect">
            <a:avLst/>
          </a:prstGeom>
          <a:solidFill>
            <a:srgbClr val="99FF33"/>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变面积型和变介电常数型：</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EFB33CA5-530A-4610-8025-983D3F770FFB}"/>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Tree>
    <p:extLst>
      <p:ext uri="{BB962C8B-B14F-4D97-AF65-F5344CB8AC3E}">
        <p14:creationId xmlns:p14="http://schemas.microsoft.com/office/powerpoint/2010/main" val="4282691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4.3</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60001"/>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电容传感器的特点及等效电路</a:t>
            </a:r>
          </a:p>
        </p:txBody>
      </p:sp>
      <p:sp>
        <p:nvSpPr>
          <p:cNvPr id="3" name="矩形 2"/>
          <p:cNvSpPr/>
          <p:nvPr/>
        </p:nvSpPr>
        <p:spPr>
          <a:xfrm>
            <a:off x="257954" y="1411694"/>
            <a:ext cx="4498434" cy="461663"/>
          </a:xfrm>
          <a:prstGeom prst="rect">
            <a:avLst/>
          </a:prstGeom>
        </p:spPr>
        <p:txBody>
          <a:bodyPr wrap="square" lIns="91438" tIns="45719" rIns="91438" bIns="45719">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4.3.1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电容式传感器的特点 </a:t>
            </a:r>
          </a:p>
        </p:txBody>
      </p:sp>
      <p:sp>
        <p:nvSpPr>
          <p:cNvPr id="21" name="Rectangle 1027">
            <a:extLst>
              <a:ext uri="{FF2B5EF4-FFF2-40B4-BE49-F238E27FC236}">
                <a16:creationId xmlns:a16="http://schemas.microsoft.com/office/drawing/2014/main" id="{92D9B560-B3C1-435A-ABBE-DD2280B569F5}"/>
              </a:ext>
            </a:extLst>
          </p:cNvPr>
          <p:cNvSpPr txBox="1">
            <a:spLocks noRot="1" noChangeArrowheads="1"/>
          </p:cNvSpPr>
          <p:nvPr/>
        </p:nvSpPr>
        <p:spPr>
          <a:xfrm>
            <a:off x="1639914" y="2030077"/>
            <a:ext cx="5509509" cy="27193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None/>
            </a:pPr>
            <a:r>
              <a:rPr lang="zh-CN" altLang="en-US" sz="2400" b="1" dirty="0">
                <a:latin typeface="宋体" panose="02010600030101010101" pitchFamily="2" charset="-122"/>
                <a:ea typeface="宋体" panose="02010600030101010101" pitchFamily="2" charset="-122"/>
              </a:rPr>
              <a:t>①温度稳定性好；</a:t>
            </a:r>
          </a:p>
          <a:p>
            <a:pPr marL="0" indent="0">
              <a:lnSpc>
                <a:spcPct val="140000"/>
              </a:lnSpc>
              <a:buNone/>
            </a:pPr>
            <a:r>
              <a:rPr lang="zh-CN" altLang="en-US" sz="2400" b="1" dirty="0">
                <a:latin typeface="宋体" panose="02010600030101010101" pitchFamily="2" charset="-122"/>
                <a:ea typeface="宋体" panose="02010600030101010101" pitchFamily="2" charset="-122"/>
              </a:rPr>
              <a:t>②结构简单、适应性强；</a:t>
            </a:r>
          </a:p>
          <a:p>
            <a:pPr marL="0" indent="0">
              <a:lnSpc>
                <a:spcPct val="140000"/>
              </a:lnSpc>
              <a:buNone/>
            </a:pPr>
            <a:r>
              <a:rPr lang="zh-CN" altLang="en-US" sz="2400" b="1" dirty="0">
                <a:latin typeface="宋体" panose="02010600030101010101" pitchFamily="2" charset="-122"/>
                <a:ea typeface="宋体" panose="02010600030101010101" pitchFamily="2" charset="-122"/>
              </a:rPr>
              <a:t>③</a:t>
            </a:r>
            <a:r>
              <a:rPr lang="zh-CN" altLang="en-US" sz="2400" b="1" dirty="0">
                <a:solidFill>
                  <a:srgbClr val="C00000"/>
                </a:solidFill>
                <a:latin typeface="宋体" panose="02010600030101010101" pitchFamily="2" charset="-122"/>
                <a:ea typeface="宋体" panose="02010600030101010101" pitchFamily="2" charset="-122"/>
              </a:rPr>
              <a:t>动态响应好</a:t>
            </a:r>
            <a:r>
              <a:rPr lang="zh-CN" altLang="en-US" sz="2400" b="1" dirty="0">
                <a:latin typeface="宋体" panose="02010600030101010101" pitchFamily="2" charset="-122"/>
                <a:ea typeface="宋体" panose="02010600030101010101" pitchFamily="2" charset="-122"/>
              </a:rPr>
              <a:t>；</a:t>
            </a:r>
          </a:p>
          <a:p>
            <a:pPr marL="0" indent="0">
              <a:lnSpc>
                <a:spcPct val="140000"/>
              </a:lnSpc>
              <a:buNone/>
            </a:pPr>
            <a:r>
              <a:rPr lang="zh-CN" altLang="en-US" sz="2400" b="1" dirty="0">
                <a:latin typeface="宋体" panose="02010600030101010101" pitchFamily="2" charset="-122"/>
                <a:ea typeface="宋体" panose="02010600030101010101" pitchFamily="2" charset="-122"/>
              </a:rPr>
              <a:t>④可以实现</a:t>
            </a:r>
            <a:r>
              <a:rPr lang="zh-CN" altLang="en-US" sz="2400" b="1" dirty="0">
                <a:solidFill>
                  <a:srgbClr val="C00000"/>
                </a:solidFill>
                <a:latin typeface="宋体" panose="02010600030101010101" pitchFamily="2" charset="-122"/>
                <a:ea typeface="宋体" panose="02010600030101010101" pitchFamily="2" charset="-122"/>
              </a:rPr>
              <a:t>非接触测量</a:t>
            </a:r>
            <a:r>
              <a:rPr lang="zh-CN" altLang="en-US" sz="2400" b="1" dirty="0">
                <a:latin typeface="宋体" panose="02010600030101010101" pitchFamily="2" charset="-122"/>
                <a:ea typeface="宋体" panose="02010600030101010101" pitchFamily="2" charset="-122"/>
              </a:rPr>
              <a:t>，具有平均效应。</a:t>
            </a:r>
          </a:p>
        </p:txBody>
      </p:sp>
      <p:sp>
        <p:nvSpPr>
          <p:cNvPr id="22" name="矩形 1">
            <a:extLst>
              <a:ext uri="{FF2B5EF4-FFF2-40B4-BE49-F238E27FC236}">
                <a16:creationId xmlns:a16="http://schemas.microsoft.com/office/drawing/2014/main" id="{8FFE0F68-1773-4A58-B0A6-4D78DA4DA291}"/>
              </a:ext>
            </a:extLst>
          </p:cNvPr>
          <p:cNvSpPr/>
          <p:nvPr/>
        </p:nvSpPr>
        <p:spPr>
          <a:xfrm>
            <a:off x="4756388" y="1420439"/>
            <a:ext cx="1112805" cy="461665"/>
          </a:xfrm>
          <a:prstGeom prst="rect">
            <a:avLst/>
          </a:prstGeom>
          <a:solidFill>
            <a:srgbClr val="92D05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优点：</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7BF9B771-0CB6-456B-AEE4-2D4FD4BA5C72}"/>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spTree>
    <p:extLst>
      <p:ext uri="{BB962C8B-B14F-4D97-AF65-F5344CB8AC3E}">
        <p14:creationId xmlns:p14="http://schemas.microsoft.com/office/powerpoint/2010/main" val="20250670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4.3</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60001"/>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电容传感器的特点及等效电路</a:t>
            </a:r>
          </a:p>
        </p:txBody>
      </p:sp>
      <p:sp>
        <p:nvSpPr>
          <p:cNvPr id="3" name="矩形 2"/>
          <p:cNvSpPr/>
          <p:nvPr/>
        </p:nvSpPr>
        <p:spPr>
          <a:xfrm>
            <a:off x="257954" y="1411694"/>
            <a:ext cx="4498434" cy="461663"/>
          </a:xfrm>
          <a:prstGeom prst="rect">
            <a:avLst/>
          </a:prstGeom>
        </p:spPr>
        <p:txBody>
          <a:bodyPr wrap="square" lIns="91438" tIns="45719" rIns="91438" bIns="45719">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4.3.1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电容式传感器的特点 </a:t>
            </a:r>
          </a:p>
        </p:txBody>
      </p:sp>
      <p:sp>
        <p:nvSpPr>
          <p:cNvPr id="21" name="Rectangle 1027">
            <a:extLst>
              <a:ext uri="{FF2B5EF4-FFF2-40B4-BE49-F238E27FC236}">
                <a16:creationId xmlns:a16="http://schemas.microsoft.com/office/drawing/2014/main" id="{92D9B560-B3C1-435A-ABBE-DD2280B569F5}"/>
              </a:ext>
            </a:extLst>
          </p:cNvPr>
          <p:cNvSpPr txBox="1">
            <a:spLocks noRot="1" noChangeArrowheads="1"/>
          </p:cNvSpPr>
          <p:nvPr/>
        </p:nvSpPr>
        <p:spPr>
          <a:xfrm>
            <a:off x="362857" y="2030077"/>
            <a:ext cx="8469086" cy="27193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None/>
            </a:pPr>
            <a:r>
              <a:rPr lang="zh-CN" altLang="en-US" sz="2400" b="1" dirty="0">
                <a:latin typeface="宋体" panose="02010600030101010101" pitchFamily="2" charset="-122"/>
                <a:ea typeface="宋体" panose="02010600030101010101" pitchFamily="2" charset="-122"/>
              </a:rPr>
              <a:t>①</a:t>
            </a:r>
            <a:r>
              <a:rPr lang="zh-CN" altLang="en-US" sz="2400" b="1" dirty="0">
                <a:solidFill>
                  <a:srgbClr val="00B0F0"/>
                </a:solidFill>
                <a:latin typeface="宋体" panose="02010600030101010101" pitchFamily="2" charset="-122"/>
                <a:ea typeface="宋体" panose="02010600030101010101" pitchFamily="2" charset="-122"/>
              </a:rPr>
              <a:t>温度稳定性</a:t>
            </a:r>
            <a:r>
              <a:rPr lang="zh-CN" altLang="en-US" sz="2400" b="1">
                <a:solidFill>
                  <a:srgbClr val="00B0F0"/>
                </a:solidFill>
                <a:latin typeface="宋体" panose="02010600030101010101" pitchFamily="2" charset="-122"/>
                <a:ea typeface="宋体" panose="02010600030101010101" pitchFamily="2" charset="-122"/>
              </a:rPr>
              <a:t>好</a:t>
            </a:r>
            <a:r>
              <a:rPr lang="zh-CN" altLang="en-US"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a:lnSpc>
                <a:spcPct val="140000"/>
              </a:lnSpc>
            </a:pPr>
            <a:r>
              <a:rPr lang="zh-CN" altLang="en-US" sz="2000" b="1">
                <a:latin typeface="宋体" panose="02010600030101010101" pitchFamily="2" charset="-122"/>
                <a:ea typeface="宋体" panose="02010600030101010101" pitchFamily="2" charset="-122"/>
              </a:rPr>
              <a:t>其</a:t>
            </a:r>
            <a:r>
              <a:rPr lang="zh-CN" altLang="en-US" sz="2000" b="1">
                <a:solidFill>
                  <a:srgbClr val="00B0F0"/>
                </a:solidFill>
                <a:latin typeface="宋体" panose="02010600030101010101" pitchFamily="2" charset="-122"/>
                <a:ea typeface="宋体" panose="02010600030101010101" pitchFamily="2" charset="-122"/>
              </a:rPr>
              <a:t>电容值一般与电极材料无关，仅取决于电极的几何尺寸</a:t>
            </a:r>
            <a:r>
              <a:rPr lang="zh-CN" altLang="en-US" sz="2000" b="1">
                <a:latin typeface="宋体" panose="02010600030101010101" pitchFamily="2" charset="-122"/>
                <a:ea typeface="宋体" panose="02010600030101010101" pitchFamily="2" charset="-122"/>
              </a:rPr>
              <a:t>，且空气等介质损耗很小，因此只要从机械特性考虑，合理选择材料和结构尺寸即可</a:t>
            </a:r>
            <a:r>
              <a:rPr lang="en-US" altLang="zh-CN" sz="2000" b="1">
                <a:latin typeface="宋体" panose="02010600030101010101" pitchFamily="2" charset="-122"/>
                <a:ea typeface="宋体" panose="02010600030101010101" pitchFamily="2" charset="-122"/>
              </a:rPr>
              <a:t>;</a:t>
            </a:r>
          </a:p>
          <a:p>
            <a:pPr>
              <a:lnSpc>
                <a:spcPct val="140000"/>
              </a:lnSpc>
            </a:pPr>
            <a:r>
              <a:rPr lang="zh-CN" altLang="en-US" sz="2000" b="1">
                <a:solidFill>
                  <a:srgbClr val="00B0F0"/>
                </a:solidFill>
                <a:latin typeface="宋体" panose="02010600030101010101" pitchFamily="2" charset="-122"/>
                <a:ea typeface="宋体" panose="02010600030101010101" pitchFamily="2" charset="-122"/>
              </a:rPr>
              <a:t>其他因素影响甚微</a:t>
            </a:r>
            <a:r>
              <a:rPr lang="zh-CN" altLang="en-US" sz="2000" b="1">
                <a:latin typeface="宋体" panose="02010600030101010101" pitchFamily="2" charset="-122"/>
                <a:ea typeface="宋体" panose="02010600030101010101" pitchFamily="2" charset="-122"/>
              </a:rPr>
              <a:t>（因本身发热极小）。</a:t>
            </a:r>
          </a:p>
          <a:p>
            <a:pPr>
              <a:lnSpc>
                <a:spcPct val="140000"/>
              </a:lnSpc>
            </a:pP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电阻式传感器有电阻，供电后产生热量；电感式传感器存在铜损耗、磁游和涡流损耗等，引起本身发热产生零漂。</a:t>
            </a:r>
            <a:r>
              <a:rPr lang="en-US" altLang="zh-CN" sz="2000" b="1">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
        <p:nvSpPr>
          <p:cNvPr id="22" name="矩形 1">
            <a:extLst>
              <a:ext uri="{FF2B5EF4-FFF2-40B4-BE49-F238E27FC236}">
                <a16:creationId xmlns:a16="http://schemas.microsoft.com/office/drawing/2014/main" id="{8FFE0F68-1773-4A58-B0A6-4D78DA4DA291}"/>
              </a:ext>
            </a:extLst>
          </p:cNvPr>
          <p:cNvSpPr/>
          <p:nvPr/>
        </p:nvSpPr>
        <p:spPr>
          <a:xfrm>
            <a:off x="4756388" y="1410919"/>
            <a:ext cx="1112805" cy="461665"/>
          </a:xfrm>
          <a:prstGeom prst="rect">
            <a:avLst/>
          </a:prstGeom>
          <a:solidFill>
            <a:srgbClr val="92D05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优点：</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66F6AD4D-96A4-4625-A886-2B3B65B3FC4F}"/>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Tree>
    <p:extLst>
      <p:ext uri="{BB962C8B-B14F-4D97-AF65-F5344CB8AC3E}">
        <p14:creationId xmlns:p14="http://schemas.microsoft.com/office/powerpoint/2010/main" val="23682323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4.3</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60001"/>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电容传感器的特点及等效电路</a:t>
            </a:r>
          </a:p>
        </p:txBody>
      </p:sp>
      <p:sp>
        <p:nvSpPr>
          <p:cNvPr id="3" name="矩形 2"/>
          <p:cNvSpPr/>
          <p:nvPr/>
        </p:nvSpPr>
        <p:spPr>
          <a:xfrm>
            <a:off x="257954" y="1411694"/>
            <a:ext cx="4498434" cy="461663"/>
          </a:xfrm>
          <a:prstGeom prst="rect">
            <a:avLst/>
          </a:prstGeom>
        </p:spPr>
        <p:txBody>
          <a:bodyPr wrap="square" lIns="91438" tIns="45719" rIns="91438" bIns="45719">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4.3.1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电容式传感器的特点 </a:t>
            </a:r>
          </a:p>
        </p:txBody>
      </p:sp>
      <p:sp>
        <p:nvSpPr>
          <p:cNvPr id="21" name="Rectangle 1027">
            <a:extLst>
              <a:ext uri="{FF2B5EF4-FFF2-40B4-BE49-F238E27FC236}">
                <a16:creationId xmlns:a16="http://schemas.microsoft.com/office/drawing/2014/main" id="{92D9B560-B3C1-435A-ABBE-DD2280B569F5}"/>
              </a:ext>
            </a:extLst>
          </p:cNvPr>
          <p:cNvSpPr txBox="1">
            <a:spLocks noRot="1" noChangeArrowheads="1"/>
          </p:cNvSpPr>
          <p:nvPr/>
        </p:nvSpPr>
        <p:spPr>
          <a:xfrm>
            <a:off x="362857" y="2030077"/>
            <a:ext cx="8469086" cy="27193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None/>
            </a:pPr>
            <a:r>
              <a:rPr lang="zh-CN" altLang="en-US" sz="2400" b="1" dirty="0">
                <a:latin typeface="宋体" panose="02010600030101010101" pitchFamily="2" charset="-122"/>
                <a:ea typeface="宋体" panose="02010600030101010101" pitchFamily="2" charset="-122"/>
              </a:rPr>
              <a:t>②</a:t>
            </a:r>
            <a:r>
              <a:rPr lang="zh-CN" altLang="en-US" sz="2400" b="1" dirty="0">
                <a:solidFill>
                  <a:srgbClr val="00B0F0"/>
                </a:solidFill>
                <a:latin typeface="宋体" panose="02010600030101010101" pitchFamily="2" charset="-122"/>
                <a:ea typeface="宋体" panose="02010600030101010101" pitchFamily="2" charset="-122"/>
              </a:rPr>
              <a:t>结构简单、适应性强</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电容式传感器</a:t>
            </a:r>
            <a:r>
              <a:rPr lang="zh-CN" altLang="en-US" sz="2000" b="1" u="sng" dirty="0">
                <a:solidFill>
                  <a:srgbClr val="0000FF"/>
                </a:solidFill>
                <a:latin typeface="宋体" panose="02010600030101010101" pitchFamily="2" charset="-122"/>
                <a:ea typeface="宋体" panose="02010600030101010101" pitchFamily="2" charset="-122"/>
              </a:rPr>
              <a:t>结构简单，易于制造，易于保证高的精度</a:t>
            </a:r>
            <a:r>
              <a:rPr lang="zh-CN" altLang="en-US" sz="2000" b="1" dirty="0">
                <a:latin typeface="宋体" panose="02010600030101010101" pitchFamily="2" charset="-122"/>
                <a:ea typeface="宋体" panose="02010600030101010101" pitchFamily="2" charset="-122"/>
              </a:rPr>
              <a:t>，能在高温、低温、强辐射及强磁场等各种</a:t>
            </a:r>
            <a:r>
              <a:rPr lang="zh-CN" altLang="en-US" sz="2000" b="1" u="sng" dirty="0">
                <a:solidFill>
                  <a:srgbClr val="C00000"/>
                </a:solidFill>
                <a:latin typeface="宋体" panose="02010600030101010101" pitchFamily="2" charset="-122"/>
                <a:ea typeface="宋体" panose="02010600030101010101" pitchFamily="2" charset="-122"/>
              </a:rPr>
              <a:t>恶劣的环境条件下工作</a:t>
            </a:r>
            <a:r>
              <a:rPr lang="zh-CN" altLang="en-US" sz="2000" b="1" dirty="0">
                <a:latin typeface="宋体" panose="02010600030101010101" pitchFamily="2" charset="-122"/>
                <a:ea typeface="宋体" panose="02010600030101010101" pitchFamily="2" charset="-122"/>
              </a:rPr>
              <a:t>，适应能力强。</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尤其可以承受很大的温度变化，在高压力、高冲击、过载情况下都能正常工作，能测量高压和低压差，也能对带磁工件进行测量。</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此外，传感器可以做得</a:t>
            </a:r>
            <a:r>
              <a:rPr lang="zh-CN" altLang="en-US" sz="2000" b="1" u="sng" dirty="0">
                <a:solidFill>
                  <a:srgbClr val="0000FF"/>
                </a:solidFill>
                <a:latin typeface="宋体" panose="02010600030101010101" pitchFamily="2" charset="-122"/>
                <a:ea typeface="宋体" panose="02010600030101010101" pitchFamily="2" charset="-122"/>
              </a:rPr>
              <a:t>体积很小</a:t>
            </a:r>
            <a:r>
              <a:rPr lang="zh-CN" altLang="en-US" sz="2000" b="1" dirty="0">
                <a:latin typeface="宋体" panose="02010600030101010101" pitchFamily="2" charset="-122"/>
                <a:ea typeface="宋体" panose="02010600030101010101" pitchFamily="2" charset="-122"/>
              </a:rPr>
              <a:t>，以便实现特殊要求的测量。</a:t>
            </a:r>
          </a:p>
        </p:txBody>
      </p:sp>
      <p:sp>
        <p:nvSpPr>
          <p:cNvPr id="8" name="矩形 1">
            <a:extLst>
              <a:ext uri="{FF2B5EF4-FFF2-40B4-BE49-F238E27FC236}">
                <a16:creationId xmlns:a16="http://schemas.microsoft.com/office/drawing/2014/main" id="{D4ACF93E-CE67-415B-B826-E3DFA5FAB608}"/>
              </a:ext>
            </a:extLst>
          </p:cNvPr>
          <p:cNvSpPr/>
          <p:nvPr/>
        </p:nvSpPr>
        <p:spPr>
          <a:xfrm>
            <a:off x="4756388" y="1410919"/>
            <a:ext cx="1112805" cy="461665"/>
          </a:xfrm>
          <a:prstGeom prst="rect">
            <a:avLst/>
          </a:prstGeom>
          <a:solidFill>
            <a:srgbClr val="92D05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优点：</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19DA1414-90A7-420C-A868-1D207419FDF8}"/>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Tree>
    <p:extLst>
      <p:ext uri="{BB962C8B-B14F-4D97-AF65-F5344CB8AC3E}">
        <p14:creationId xmlns:p14="http://schemas.microsoft.com/office/powerpoint/2010/main" val="376011964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4.3</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60001"/>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电容传感器的特点及等效电路</a:t>
            </a:r>
          </a:p>
        </p:txBody>
      </p:sp>
      <p:sp>
        <p:nvSpPr>
          <p:cNvPr id="3" name="矩形 2"/>
          <p:cNvSpPr/>
          <p:nvPr/>
        </p:nvSpPr>
        <p:spPr>
          <a:xfrm>
            <a:off x="257954" y="1411694"/>
            <a:ext cx="4498434" cy="461663"/>
          </a:xfrm>
          <a:prstGeom prst="rect">
            <a:avLst/>
          </a:prstGeom>
        </p:spPr>
        <p:txBody>
          <a:bodyPr wrap="square" lIns="91438" tIns="45719" rIns="91438" bIns="45719">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4.3.1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电容式传感器的特点 </a:t>
            </a:r>
          </a:p>
        </p:txBody>
      </p:sp>
      <p:sp>
        <p:nvSpPr>
          <p:cNvPr id="21" name="Rectangle 1027">
            <a:extLst>
              <a:ext uri="{FF2B5EF4-FFF2-40B4-BE49-F238E27FC236}">
                <a16:creationId xmlns:a16="http://schemas.microsoft.com/office/drawing/2014/main" id="{92D9B560-B3C1-435A-ABBE-DD2280B569F5}"/>
              </a:ext>
            </a:extLst>
          </p:cNvPr>
          <p:cNvSpPr txBox="1">
            <a:spLocks noRot="1" noChangeArrowheads="1"/>
          </p:cNvSpPr>
          <p:nvPr/>
        </p:nvSpPr>
        <p:spPr>
          <a:xfrm>
            <a:off x="362857" y="2291333"/>
            <a:ext cx="8469086" cy="27193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zh-CN" altLang="en-US" sz="2400" b="1">
                <a:latin typeface="宋体" panose="02010600030101010101" pitchFamily="2" charset="-122"/>
                <a:ea typeface="宋体" panose="02010600030101010101" pitchFamily="2" charset="-122"/>
              </a:rPr>
              <a:t>③</a:t>
            </a:r>
            <a:r>
              <a:rPr lang="zh-CN" altLang="en-US" sz="2400" b="1">
                <a:solidFill>
                  <a:srgbClr val="00B0F0"/>
                </a:solidFill>
                <a:latin typeface="宋体" panose="02010600030101010101" pitchFamily="2" charset="-122"/>
                <a:ea typeface="宋体" panose="02010600030101010101" pitchFamily="2" charset="-122"/>
              </a:rPr>
              <a:t>动态响应好</a:t>
            </a:r>
            <a:r>
              <a:rPr lang="zh-CN" altLang="en-US"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a:lnSpc>
                <a:spcPct val="110000"/>
              </a:lnSpc>
            </a:pPr>
            <a:r>
              <a:rPr lang="zh-CN" altLang="en-US" sz="2000" b="1">
                <a:latin typeface="宋体" panose="02010600030101010101" pitchFamily="2" charset="-122"/>
                <a:ea typeface="宋体" panose="02010600030101010101" pitchFamily="2" charset="-122"/>
              </a:rPr>
              <a:t>固有频率很高，动态响应时间很短</a:t>
            </a:r>
          </a:p>
          <a:p>
            <a:pPr>
              <a:lnSpc>
                <a:spcPct val="110000"/>
              </a:lnSpc>
            </a:pPr>
            <a:r>
              <a:rPr lang="zh-CN" altLang="en-US" sz="2000" b="1">
                <a:latin typeface="宋体" panose="02010600030101010101" pitchFamily="2" charset="-122"/>
                <a:ea typeface="宋体" panose="02010600030101010101" pitchFamily="2" charset="-122"/>
              </a:rPr>
              <a:t>介质损耗小可以用较高频率供电，因此系统工作频率高</a:t>
            </a:r>
          </a:p>
          <a:p>
            <a:pPr>
              <a:lnSpc>
                <a:spcPct val="110000"/>
              </a:lnSpc>
            </a:pPr>
            <a:r>
              <a:rPr lang="zh-CN" altLang="en-US" sz="2000" b="1">
                <a:latin typeface="宋体" panose="02010600030101010101" pitchFamily="2" charset="-122"/>
                <a:ea typeface="宋体" panose="02010600030101010101" pitchFamily="2" charset="-122"/>
              </a:rPr>
              <a:t>可用于测量高速度变化的参数，如测量振动、瞬时压力等。</a:t>
            </a:r>
            <a:endParaRPr lang="en-US" altLang="zh-CN" sz="2000" b="1">
              <a:latin typeface="宋体" panose="02010600030101010101" pitchFamily="2" charset="-122"/>
              <a:ea typeface="宋体" panose="02010600030101010101" pitchFamily="2" charset="-122"/>
            </a:endParaRPr>
          </a:p>
          <a:p>
            <a:pPr>
              <a:lnSpc>
                <a:spcPct val="110000"/>
              </a:lnSpc>
            </a:pPr>
            <a:endParaRPr lang="zh-CN" altLang="en-US" sz="2000" b="1">
              <a:latin typeface="宋体" panose="02010600030101010101" pitchFamily="2" charset="-122"/>
              <a:ea typeface="宋体" panose="02010600030101010101" pitchFamily="2" charset="-122"/>
            </a:endParaRPr>
          </a:p>
          <a:p>
            <a:pPr marL="0" indent="0">
              <a:lnSpc>
                <a:spcPct val="110000"/>
              </a:lnSpc>
              <a:buNone/>
            </a:pPr>
            <a:r>
              <a:rPr lang="zh-CN" altLang="en-US" sz="2400" b="1">
                <a:latin typeface="宋体" panose="02010600030101010101" pitchFamily="2" charset="-122"/>
                <a:ea typeface="宋体" panose="02010600030101010101" pitchFamily="2" charset="-122"/>
              </a:rPr>
              <a:t>④可以实现</a:t>
            </a:r>
            <a:r>
              <a:rPr lang="zh-CN" altLang="en-US" sz="2400" b="1">
                <a:solidFill>
                  <a:srgbClr val="00B0F0"/>
                </a:solidFill>
                <a:latin typeface="宋体" panose="02010600030101010101" pitchFamily="2" charset="-122"/>
                <a:ea typeface="宋体" panose="02010600030101010101" pitchFamily="2" charset="-122"/>
              </a:rPr>
              <a:t>非接触测量，具有平均效应</a:t>
            </a:r>
            <a:r>
              <a:rPr lang="zh-CN" altLang="en-US" sz="2400" b="1">
                <a:latin typeface="宋体" panose="02010600030101010101" pitchFamily="2" charset="-122"/>
                <a:ea typeface="宋体" panose="02010600030101010101" pitchFamily="2" charset="-122"/>
              </a:rPr>
              <a:t>；</a:t>
            </a:r>
            <a:endParaRPr lang="zh-CN" altLang="en-US" sz="2000" b="1" dirty="0">
              <a:latin typeface="宋体" panose="02010600030101010101" pitchFamily="2" charset="-122"/>
              <a:ea typeface="宋体" panose="02010600030101010101" pitchFamily="2" charset="-122"/>
            </a:endParaRPr>
          </a:p>
        </p:txBody>
      </p:sp>
      <p:sp>
        <p:nvSpPr>
          <p:cNvPr id="8" name="矩形 1">
            <a:extLst>
              <a:ext uri="{FF2B5EF4-FFF2-40B4-BE49-F238E27FC236}">
                <a16:creationId xmlns:a16="http://schemas.microsoft.com/office/drawing/2014/main" id="{D4ACF93E-CE67-415B-B826-E3DFA5FAB608}"/>
              </a:ext>
            </a:extLst>
          </p:cNvPr>
          <p:cNvSpPr/>
          <p:nvPr/>
        </p:nvSpPr>
        <p:spPr>
          <a:xfrm>
            <a:off x="4756388" y="1410919"/>
            <a:ext cx="1112805" cy="461665"/>
          </a:xfrm>
          <a:prstGeom prst="rect">
            <a:avLst/>
          </a:prstGeom>
          <a:solidFill>
            <a:srgbClr val="92D05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优点：</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54F6CCE6-937E-48F4-9948-97A6AD83B94A}"/>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p:spTree>
    <p:extLst>
      <p:ext uri="{BB962C8B-B14F-4D97-AF65-F5344CB8AC3E}">
        <p14:creationId xmlns:p14="http://schemas.microsoft.com/office/powerpoint/2010/main" val="23335841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4.3</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60001"/>
            <a:ext cx="58737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电容传感器的特点及等效电路</a:t>
            </a:r>
          </a:p>
        </p:txBody>
      </p:sp>
      <p:sp>
        <p:nvSpPr>
          <p:cNvPr id="3" name="矩形 2"/>
          <p:cNvSpPr/>
          <p:nvPr/>
        </p:nvSpPr>
        <p:spPr>
          <a:xfrm>
            <a:off x="257954" y="1411694"/>
            <a:ext cx="4498434" cy="461663"/>
          </a:xfrm>
          <a:prstGeom prst="rect">
            <a:avLst/>
          </a:prstGeom>
        </p:spPr>
        <p:txBody>
          <a:bodyPr wrap="square" lIns="91438" tIns="45719" rIns="91438" bIns="45719">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4.3.1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电容式传感器的特点 </a:t>
            </a:r>
          </a:p>
        </p:txBody>
      </p:sp>
      <p:sp>
        <p:nvSpPr>
          <p:cNvPr id="21" name="Rectangle 1027">
            <a:extLst>
              <a:ext uri="{FF2B5EF4-FFF2-40B4-BE49-F238E27FC236}">
                <a16:creationId xmlns:a16="http://schemas.microsoft.com/office/drawing/2014/main" id="{92D9B560-B3C1-435A-ABBE-DD2280B569F5}"/>
              </a:ext>
            </a:extLst>
          </p:cNvPr>
          <p:cNvSpPr txBox="1">
            <a:spLocks noRot="1" noChangeArrowheads="1"/>
          </p:cNvSpPr>
          <p:nvPr/>
        </p:nvSpPr>
        <p:spPr>
          <a:xfrm>
            <a:off x="399143" y="2265314"/>
            <a:ext cx="8469086" cy="27193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zh-CN" altLang="en-US" sz="2400" b="1">
                <a:latin typeface="宋体" panose="02010600030101010101" pitchFamily="2" charset="-122"/>
                <a:ea typeface="宋体" panose="02010600030101010101" pitchFamily="2" charset="-122"/>
              </a:rPr>
              <a:t>带电极板间的静电引力很小，所需输入力和输入能量极小，因而可测极低的压力、力和很小的加速度、位移等，可以做得很</a:t>
            </a:r>
            <a:r>
              <a:rPr lang="zh-CN" altLang="en-US" sz="2400" b="1" u="sng">
                <a:solidFill>
                  <a:srgbClr val="00B0F0"/>
                </a:solidFill>
                <a:latin typeface="宋体" panose="02010600030101010101" pitchFamily="2" charset="-122"/>
                <a:ea typeface="宋体" panose="02010600030101010101" pitchFamily="2" charset="-122"/>
              </a:rPr>
              <a:t>灵敏，分辨率高</a:t>
            </a:r>
            <a:r>
              <a:rPr lang="zh-CN" altLang="en-US" sz="2400" b="1">
                <a:latin typeface="宋体" panose="02010600030101010101" pitchFamily="2" charset="-122"/>
                <a:ea typeface="宋体" panose="02010600030101010101" pitchFamily="2" charset="-122"/>
              </a:rPr>
              <a:t>，能敏感</a:t>
            </a:r>
            <a:r>
              <a:rPr lang="en-US" altLang="zh-CN" sz="2400" b="1">
                <a:latin typeface="宋体" panose="02010600030101010101" pitchFamily="2" charset="-122"/>
                <a:ea typeface="宋体" panose="02010600030101010101" pitchFamily="2" charset="-122"/>
              </a:rPr>
              <a:t>0.01um</a:t>
            </a:r>
            <a:r>
              <a:rPr lang="zh-CN" altLang="en-US" sz="2400" b="1">
                <a:latin typeface="宋体" panose="02010600030101010101" pitchFamily="2" charset="-122"/>
                <a:ea typeface="宋体" panose="02010600030101010101" pitchFamily="2" charset="-122"/>
              </a:rPr>
              <a:t>、甚至更小的位移；</a:t>
            </a:r>
          </a:p>
          <a:p>
            <a:pPr>
              <a:lnSpc>
                <a:spcPct val="140000"/>
              </a:lnSpc>
            </a:pPr>
            <a:r>
              <a:rPr lang="zh-CN" altLang="en-US" sz="2400" b="1">
                <a:latin typeface="宋体" panose="02010600030101010101" pitchFamily="2" charset="-122"/>
                <a:ea typeface="宋体" panose="02010600030101010101" pitchFamily="2" charset="-122"/>
              </a:rPr>
              <a:t>由于其空气等介质损耗小，采用差分结构并接成桥式时产生的零残极小，因此允许电路进行高倍率放大，使仪器具有很高的灵敏度。</a:t>
            </a:r>
            <a:endParaRPr lang="zh-CN" altLang="en-US" sz="2400" b="1" dirty="0">
              <a:latin typeface="宋体" panose="02010600030101010101" pitchFamily="2" charset="-122"/>
              <a:ea typeface="宋体" panose="02010600030101010101" pitchFamily="2" charset="-122"/>
            </a:endParaRPr>
          </a:p>
        </p:txBody>
      </p:sp>
      <p:sp>
        <p:nvSpPr>
          <p:cNvPr id="8" name="矩形 1">
            <a:extLst>
              <a:ext uri="{FF2B5EF4-FFF2-40B4-BE49-F238E27FC236}">
                <a16:creationId xmlns:a16="http://schemas.microsoft.com/office/drawing/2014/main" id="{D4ACF93E-CE67-415B-B826-E3DFA5FAB608}"/>
              </a:ext>
            </a:extLst>
          </p:cNvPr>
          <p:cNvSpPr/>
          <p:nvPr/>
        </p:nvSpPr>
        <p:spPr>
          <a:xfrm>
            <a:off x="4756388" y="1410919"/>
            <a:ext cx="1112805" cy="461665"/>
          </a:xfrm>
          <a:prstGeom prst="rect">
            <a:avLst/>
          </a:prstGeom>
          <a:solidFill>
            <a:srgbClr val="92D050"/>
          </a:solidFill>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优点：</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C63E9D88-A7DA-4E69-81ED-E625342907A2}"/>
              </a:ext>
            </a:extLst>
          </p:cNvPr>
          <p:cNvSpPr>
            <a:spLocks noGrp="1"/>
          </p:cNvSpPr>
          <p:nvPr>
            <p:ph type="sldNum" sz="quarter" idx="12"/>
          </p:nvPr>
        </p:nvSpPr>
        <p:spPr/>
        <p:txBody>
          <a:bodyPr/>
          <a:lstStyle/>
          <a:p>
            <a:fld id="{B53602B4-F12B-41CD-B648-531F86B2CC91}" type="slidenum">
              <a:rPr lang="zh-CN" altLang="en-US" smtClean="0"/>
              <a:t>22</a:t>
            </a:fld>
            <a:endParaRPr lang="zh-CN" altLang="en-US"/>
          </a:p>
        </p:txBody>
      </p:sp>
    </p:spTree>
    <p:extLst>
      <p:ext uri="{BB962C8B-B14F-4D97-AF65-F5344CB8AC3E}">
        <p14:creationId xmlns:p14="http://schemas.microsoft.com/office/powerpoint/2010/main" val="20537797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4.3 </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59226"/>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电容式传感器的特点及等效电路</a:t>
            </a:r>
          </a:p>
        </p:txBody>
      </p:sp>
      <p:sp>
        <p:nvSpPr>
          <p:cNvPr id="18" name="矩形 2">
            <a:extLst>
              <a:ext uri="{FF2B5EF4-FFF2-40B4-BE49-F238E27FC236}">
                <a16:creationId xmlns:a16="http://schemas.microsoft.com/office/drawing/2014/main" id="{C4592FA4-9F2D-47D2-9CF0-50C03B6D298D}"/>
              </a:ext>
            </a:extLst>
          </p:cNvPr>
          <p:cNvSpPr/>
          <p:nvPr/>
        </p:nvSpPr>
        <p:spPr>
          <a:xfrm>
            <a:off x="257954" y="1411694"/>
            <a:ext cx="4498434" cy="461663"/>
          </a:xfrm>
          <a:prstGeom prst="rect">
            <a:avLst/>
          </a:prstGeom>
        </p:spPr>
        <p:txBody>
          <a:bodyPr wrap="square" lIns="91438" tIns="45719" rIns="91438" bIns="45719">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4.3.1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电容式传感器的特点 </a:t>
            </a:r>
          </a:p>
        </p:txBody>
      </p:sp>
      <p:sp>
        <p:nvSpPr>
          <p:cNvPr id="19" name="Rectangle 3">
            <a:extLst>
              <a:ext uri="{FF2B5EF4-FFF2-40B4-BE49-F238E27FC236}">
                <a16:creationId xmlns:a16="http://schemas.microsoft.com/office/drawing/2014/main" id="{44905E60-2E11-46BE-A4E9-5459D856F6FD}"/>
              </a:ext>
            </a:extLst>
          </p:cNvPr>
          <p:cNvSpPr txBox="1">
            <a:spLocks noRot="1" noChangeArrowheads="1"/>
          </p:cNvSpPr>
          <p:nvPr/>
        </p:nvSpPr>
        <p:spPr>
          <a:xfrm>
            <a:off x="1717666" y="2056547"/>
            <a:ext cx="6553869" cy="3958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①输出阻抗高，</a:t>
            </a:r>
            <a:r>
              <a:rPr lang="zh-CN" altLang="en-US" sz="2400" b="1" dirty="0">
                <a:solidFill>
                  <a:srgbClr val="C00000"/>
                </a:solidFill>
                <a:latin typeface="宋体" panose="02010600030101010101" pitchFamily="2" charset="-122"/>
                <a:ea typeface="宋体" panose="02010600030101010101" pitchFamily="2" charset="-122"/>
              </a:rPr>
              <a:t>负载能力差</a:t>
            </a:r>
            <a:r>
              <a:rPr lang="zh-CN" altLang="en-US" sz="2400" b="1" dirty="0">
                <a:latin typeface="宋体" panose="02010600030101010101" pitchFamily="2" charset="-122"/>
                <a:ea typeface="宋体" panose="02010600030101010101" pitchFamily="2" charset="-122"/>
              </a:rPr>
              <a:t>；</a:t>
            </a:r>
          </a:p>
          <a:p>
            <a:pPr>
              <a:lnSpc>
                <a:spcPct val="150000"/>
              </a:lnSpc>
              <a:buFont typeface="Wingdings" pitchFamily="2" charset="2"/>
              <a:buNone/>
            </a:pPr>
            <a:r>
              <a:rPr lang="en-US" altLang="zh-CN" sz="2400" b="1" dirty="0">
                <a:latin typeface="宋体" panose="02010600030101010101" pitchFamily="2" charset="-122"/>
                <a:ea typeface="宋体" panose="02010600030101010101" pitchFamily="2" charset="-122"/>
              </a:rPr>
              <a:t>           , </a:t>
            </a:r>
            <a:r>
              <a:rPr lang="el-GR" altLang="zh-CN" sz="2400" i="1" dirty="0">
                <a:latin typeface="Times New Roman" pitchFamily="18" charset="0"/>
                <a:ea typeface="宋体" panose="02010600030101010101" pitchFamily="2" charset="-122"/>
                <a:cs typeface="Times New Roman" pitchFamily="18" charset="0"/>
              </a:rPr>
              <a:t>ω</a:t>
            </a:r>
            <a:r>
              <a:rPr lang="el-GR" altLang="zh-CN" sz="2400" b="1" dirty="0">
                <a:solidFill>
                  <a:srgbClr val="FF0000"/>
                </a:solidFill>
                <a:ea typeface="宋体" panose="02010600030101010101" pitchFamily="2" charset="-122"/>
                <a:cs typeface="Arial" charset="0"/>
              </a:rPr>
              <a:t>↑</a:t>
            </a:r>
            <a:r>
              <a:rPr lang="zh-CN" altLang="el-GR" sz="2400" b="1" dirty="0">
                <a:latin typeface="宋体" panose="02010600030101010101" pitchFamily="2" charset="-122"/>
                <a:ea typeface="宋体" panose="02010600030101010101" pitchFamily="2" charset="-122"/>
                <a:cs typeface="Arial" charset="0"/>
              </a:rPr>
              <a:t>则</a:t>
            </a:r>
            <a:r>
              <a:rPr lang="en-US" altLang="zh-CN" sz="2400" i="1" dirty="0">
                <a:latin typeface="Times New Roman" pitchFamily="18" charset="0"/>
                <a:ea typeface="宋体" panose="02010600030101010101" pitchFamily="2" charset="-122"/>
                <a:cs typeface="Times New Roman" pitchFamily="18" charset="0"/>
              </a:rPr>
              <a:t>Z</a:t>
            </a:r>
            <a:r>
              <a:rPr lang="en-US" altLang="zh-CN" sz="2400" i="1" baseline="-25000" dirty="0">
                <a:latin typeface="Times New Roman" pitchFamily="18" charset="0"/>
                <a:ea typeface="宋体" panose="02010600030101010101" pitchFamily="2" charset="-122"/>
                <a:cs typeface="Times New Roman" pitchFamily="18" charset="0"/>
              </a:rPr>
              <a:t>C</a:t>
            </a:r>
            <a:r>
              <a:rPr lang="en-US" altLang="zh-CN" sz="2400" b="1" dirty="0">
                <a:solidFill>
                  <a:srgbClr val="FF0000"/>
                </a:solidFill>
                <a:latin typeface="宋体" panose="02010600030101010101" pitchFamily="2" charset="-122"/>
                <a:ea typeface="宋体" panose="02010600030101010101" pitchFamily="2" charset="-122"/>
                <a:cs typeface="Arial" charset="0"/>
              </a:rPr>
              <a:t>↓</a:t>
            </a:r>
            <a:r>
              <a:rPr lang="en-US" altLang="zh-CN" sz="2400" b="1" dirty="0">
                <a:latin typeface="宋体" panose="02010600030101010101" pitchFamily="2" charset="-122"/>
                <a:ea typeface="宋体" panose="02010600030101010101" pitchFamily="2" charset="-122"/>
                <a:cs typeface="Arial" charset="0"/>
              </a:rPr>
              <a:t>,</a:t>
            </a:r>
            <a:r>
              <a:rPr lang="zh-CN" altLang="en-US" sz="2400" b="1" dirty="0">
                <a:latin typeface="宋体" panose="02010600030101010101" pitchFamily="2" charset="-122"/>
                <a:ea typeface="宋体" panose="02010600030101010101" pitchFamily="2" charset="-122"/>
                <a:cs typeface="Arial" charset="0"/>
              </a:rPr>
              <a:t>但是</a:t>
            </a:r>
            <a:r>
              <a:rPr lang="en-US" altLang="zh-CN" sz="2400" i="1" dirty="0">
                <a:latin typeface="Times New Roman" pitchFamily="18" charset="0"/>
                <a:ea typeface="宋体" panose="02010600030101010101" pitchFamily="2" charset="-122"/>
                <a:cs typeface="Times New Roman" pitchFamily="18" charset="0"/>
              </a:rPr>
              <a:t>C</a:t>
            </a:r>
            <a:r>
              <a:rPr lang="zh-CN" altLang="en-US" sz="2400" b="1" dirty="0">
                <a:latin typeface="宋体" panose="02010600030101010101" pitchFamily="2" charset="-122"/>
                <a:ea typeface="宋体" panose="02010600030101010101" pitchFamily="2" charset="-122"/>
                <a:cs typeface="Arial" charset="0"/>
              </a:rPr>
              <a:t>很小，故</a:t>
            </a:r>
            <a:r>
              <a:rPr lang="en-US" altLang="zh-CN" sz="2400" i="1" dirty="0">
                <a:latin typeface="Times New Roman" pitchFamily="18" charset="0"/>
                <a:ea typeface="宋体" panose="02010600030101010101" pitchFamily="2" charset="-122"/>
                <a:cs typeface="Times New Roman" pitchFamily="18" charset="0"/>
              </a:rPr>
              <a:t>Z</a:t>
            </a:r>
            <a:r>
              <a:rPr lang="en-US" altLang="zh-CN" sz="2400" i="1" baseline="-25000" dirty="0">
                <a:latin typeface="Times New Roman" pitchFamily="18" charset="0"/>
                <a:ea typeface="宋体" panose="02010600030101010101" pitchFamily="2" charset="-122"/>
                <a:cs typeface="Times New Roman" pitchFamily="18" charset="0"/>
              </a:rPr>
              <a:t>C</a:t>
            </a:r>
            <a:r>
              <a:rPr lang="zh-CN" altLang="en-US" sz="2400" b="1" dirty="0">
                <a:latin typeface="宋体" panose="02010600030101010101" pitchFamily="2" charset="-122"/>
                <a:ea typeface="宋体" panose="02010600030101010101" pitchFamily="2" charset="-122"/>
                <a:cs typeface="Arial" charset="0"/>
              </a:rPr>
              <a:t>大</a:t>
            </a:r>
          </a:p>
          <a:p>
            <a:pPr>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②</a:t>
            </a:r>
            <a:r>
              <a:rPr lang="zh-CN" altLang="en-US" sz="2400" b="1" dirty="0">
                <a:solidFill>
                  <a:srgbClr val="C00000"/>
                </a:solidFill>
                <a:latin typeface="宋体" panose="02010600030101010101" pitchFamily="2" charset="-122"/>
                <a:ea typeface="宋体" panose="02010600030101010101" pitchFamily="2" charset="-122"/>
              </a:rPr>
              <a:t>寄生电容影响大</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a:lnSpc>
                <a:spcPct val="150000"/>
              </a:lnSpc>
              <a:buFont typeface="Wingdings"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引线电容、电路杂散电容、极板与周围导体之间电容。</a:t>
            </a:r>
          </a:p>
          <a:p>
            <a:pPr>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③输出特性</a:t>
            </a:r>
            <a:r>
              <a:rPr lang="zh-CN" altLang="en-US" sz="2400" b="1" dirty="0">
                <a:solidFill>
                  <a:srgbClr val="C00000"/>
                </a:solidFill>
                <a:latin typeface="宋体" panose="02010600030101010101" pitchFamily="2" charset="-122"/>
                <a:ea typeface="宋体" panose="02010600030101010101" pitchFamily="2" charset="-122"/>
              </a:rPr>
              <a:t>非线性</a:t>
            </a:r>
            <a:r>
              <a:rPr lang="zh-CN" altLang="en-US" sz="2400" b="1" dirty="0">
                <a:latin typeface="宋体" panose="02010600030101010101" pitchFamily="2" charset="-122"/>
                <a:ea typeface="宋体" panose="02010600030101010101" pitchFamily="2" charset="-122"/>
              </a:rPr>
              <a:t>。</a:t>
            </a:r>
          </a:p>
        </p:txBody>
      </p:sp>
      <p:sp>
        <p:nvSpPr>
          <p:cNvPr id="21" name="矩形 1">
            <a:extLst>
              <a:ext uri="{FF2B5EF4-FFF2-40B4-BE49-F238E27FC236}">
                <a16:creationId xmlns:a16="http://schemas.microsoft.com/office/drawing/2014/main" id="{AF69C2D4-2F00-4655-A202-6809FEBDA838}"/>
              </a:ext>
            </a:extLst>
          </p:cNvPr>
          <p:cNvSpPr/>
          <p:nvPr/>
        </p:nvSpPr>
        <p:spPr>
          <a:xfrm>
            <a:off x="4830168" y="1411694"/>
            <a:ext cx="1112805" cy="461665"/>
          </a:xfrm>
          <a:prstGeom prst="rect">
            <a:avLst/>
          </a:prstGeom>
          <a:solidFill>
            <a:srgbClr val="7030A0"/>
          </a:solidFill>
        </p:spPr>
        <p:txBody>
          <a:bodyPr wrap="none">
            <a:spAutoFit/>
          </a:bodyPr>
          <a:lstStyle/>
          <a:p>
            <a:r>
              <a:rPr lang="zh-CN" altLang="en-US" sz="2400" b="1" dirty="0">
                <a:solidFill>
                  <a:schemeClr val="bg1"/>
                </a:solidFill>
                <a:latin typeface="宋体" panose="02010600030101010101" pitchFamily="2" charset="-122"/>
                <a:ea typeface="宋体" panose="02010600030101010101" pitchFamily="2" charset="-122"/>
              </a:rPr>
              <a:t>缺点：</a:t>
            </a:r>
            <a:endParaRPr lang="zh-CN" altLang="en-US" dirty="0">
              <a:solidFill>
                <a:schemeClr val="bg1"/>
              </a:solidFill>
              <a:latin typeface="宋体" panose="02010600030101010101" pitchFamily="2" charset="-122"/>
              <a:ea typeface="宋体" panose="02010600030101010101" pitchFamily="2" charset="-122"/>
            </a:endParaRPr>
          </a:p>
        </p:txBody>
      </p:sp>
      <p:graphicFrame>
        <p:nvGraphicFramePr>
          <p:cNvPr id="3" name="Object 2">
            <a:extLst>
              <a:ext uri="{FF2B5EF4-FFF2-40B4-BE49-F238E27FC236}">
                <a16:creationId xmlns:a16="http://schemas.microsoft.com/office/drawing/2014/main" id="{136355C4-9FA2-4515-8076-D47BC1995B3B}"/>
              </a:ext>
            </a:extLst>
          </p:cNvPr>
          <p:cNvGraphicFramePr>
            <a:graphicFrameLocks noChangeAspect="1"/>
          </p:cNvGraphicFramePr>
          <p:nvPr>
            <p:extLst>
              <p:ext uri="{D42A27DB-BD31-4B8C-83A1-F6EECF244321}">
                <p14:modId xmlns:p14="http://schemas.microsoft.com/office/powerpoint/2010/main" val="3891811714"/>
              </p:ext>
            </p:extLst>
          </p:nvPr>
        </p:nvGraphicFramePr>
        <p:xfrm>
          <a:off x="2239642" y="2723243"/>
          <a:ext cx="1166813" cy="684213"/>
        </p:xfrm>
        <a:graphic>
          <a:graphicData uri="http://schemas.openxmlformats.org/presentationml/2006/ole">
            <mc:AlternateContent xmlns:mc="http://schemas.openxmlformats.org/markup-compatibility/2006">
              <mc:Choice xmlns:v="urn:schemas-microsoft-com:vml" Requires="v">
                <p:oleObj name="Equation" r:id="rId3" imgW="1166127" imgH="684385" progId="Equation.DSMT4">
                  <p:embed/>
                </p:oleObj>
              </mc:Choice>
              <mc:Fallback>
                <p:oleObj name="Equation" r:id="rId3" imgW="1166127" imgH="684385" progId="Equation.DSMT4">
                  <p:embed/>
                  <p:pic>
                    <p:nvPicPr>
                      <p:cNvPr id="0" name=""/>
                      <p:cNvPicPr/>
                      <p:nvPr/>
                    </p:nvPicPr>
                    <p:blipFill>
                      <a:blip r:embed="rId4"/>
                      <a:stretch>
                        <a:fillRect/>
                      </a:stretch>
                    </p:blipFill>
                    <p:spPr>
                      <a:xfrm>
                        <a:off x="2239642" y="2723243"/>
                        <a:ext cx="1166813" cy="684213"/>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58ACCD0C-1A15-4F0D-AC58-39DDD6A8260E}"/>
              </a:ext>
            </a:extLst>
          </p:cNvPr>
          <p:cNvSpPr>
            <a:spLocks noGrp="1"/>
          </p:cNvSpPr>
          <p:nvPr>
            <p:ph type="sldNum" sz="quarter" idx="12"/>
          </p:nvPr>
        </p:nvSpPr>
        <p:spPr/>
        <p:txBody>
          <a:bodyPr/>
          <a:lstStyle/>
          <a:p>
            <a:fld id="{B53602B4-F12B-41CD-B648-531F86B2CC91}" type="slidenum">
              <a:rPr lang="zh-CN" altLang="en-US" smtClean="0"/>
              <a:t>23</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4.3 </a:t>
            </a:r>
          </a:p>
        </p:txBody>
      </p:sp>
      <p:sp>
        <p:nvSpPr>
          <p:cNvPr id="46" name="矩形 45"/>
          <p:cNvSpPr/>
          <p:nvPr/>
        </p:nvSpPr>
        <p:spPr>
          <a:xfrm>
            <a:off x="1960200"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电容式传感器的特点及等效电路</a:t>
            </a:r>
          </a:p>
        </p:txBody>
      </p:sp>
      <p:sp>
        <p:nvSpPr>
          <p:cNvPr id="8" name="矩形 4">
            <a:extLst>
              <a:ext uri="{FF2B5EF4-FFF2-40B4-BE49-F238E27FC236}">
                <a16:creationId xmlns:a16="http://schemas.microsoft.com/office/drawing/2014/main" id="{E32D6DE5-00B8-474F-AB4A-9BA9D30D22A5}"/>
              </a:ext>
            </a:extLst>
          </p:cNvPr>
          <p:cNvSpPr/>
          <p:nvPr/>
        </p:nvSpPr>
        <p:spPr>
          <a:xfrm>
            <a:off x="185083" y="1406470"/>
            <a:ext cx="5125282" cy="461665"/>
          </a:xfrm>
          <a:prstGeom prst="rect">
            <a:avLst/>
          </a:prstGeom>
        </p:spPr>
        <p:txBody>
          <a:bodyPr wrap="square">
            <a:spAutoFit/>
          </a:bodyPr>
          <a:lstStyle/>
          <a:p>
            <a:pPr lvl="0"/>
            <a:r>
              <a:rPr lang="en-US" altLang="zh-CN" sz="2400" b="1" dirty="0">
                <a:solidFill>
                  <a:prstClr val="black"/>
                </a:solidFill>
                <a:latin typeface="宋体" panose="02010600030101010101" pitchFamily="2" charset="-122"/>
                <a:ea typeface="宋体" panose="02010600030101010101" pitchFamily="2" charset="-122"/>
                <a:cs typeface="Arial" panose="020B0604020202020204" pitchFamily="34" charset="0"/>
                <a:sym typeface="+mn-ea"/>
              </a:rPr>
              <a:t>4.3.2    </a:t>
            </a:r>
            <a:r>
              <a:rPr lang="zh-CN" altLang="en-US" sz="2400" b="1" dirty="0">
                <a:solidFill>
                  <a:prstClr val="black"/>
                </a:solidFill>
                <a:latin typeface="宋体" panose="02010600030101010101" pitchFamily="2" charset="-122"/>
                <a:ea typeface="宋体" panose="02010600030101010101" pitchFamily="2" charset="-122"/>
                <a:cs typeface="Arial" panose="020B0604020202020204" pitchFamily="34" charset="0"/>
                <a:sym typeface="+mn-ea"/>
              </a:rPr>
              <a:t>电容式传感器的等效电路</a:t>
            </a:r>
          </a:p>
        </p:txBody>
      </p:sp>
      <p:pic>
        <p:nvPicPr>
          <p:cNvPr id="9" name="Picture 10">
            <a:extLst>
              <a:ext uri="{FF2B5EF4-FFF2-40B4-BE49-F238E27FC236}">
                <a16:creationId xmlns:a16="http://schemas.microsoft.com/office/drawing/2014/main" id="{EFE504AB-EDF4-47E9-ADE3-79329683A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17" y="2468423"/>
            <a:ext cx="3219966" cy="1921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9">
            <a:extLst>
              <a:ext uri="{FF2B5EF4-FFF2-40B4-BE49-F238E27FC236}">
                <a16:creationId xmlns:a16="http://schemas.microsoft.com/office/drawing/2014/main" id="{166A149B-A1A7-4838-B91B-B9512DCEB076}"/>
              </a:ext>
            </a:extLst>
          </p:cNvPr>
          <p:cNvSpPr txBox="1">
            <a:spLocks noChangeArrowheads="1"/>
          </p:cNvSpPr>
          <p:nvPr/>
        </p:nvSpPr>
        <p:spPr bwMode="auto">
          <a:xfrm>
            <a:off x="89289" y="4854165"/>
            <a:ext cx="4083567"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4-4a  </a:t>
            </a:r>
            <a:r>
              <a:rPr lang="zh-CN" altLang="en-US" b="1" dirty="0">
                <a:solidFill>
                  <a:srgbClr val="000099"/>
                </a:solidFill>
              </a:rPr>
              <a:t>电容式传感器原理图</a:t>
            </a:r>
            <a:endParaRPr lang="zh-CN" altLang="en-US" b="1" dirty="0"/>
          </a:p>
        </p:txBody>
      </p:sp>
      <p:pic>
        <p:nvPicPr>
          <p:cNvPr id="4" name="Picture 3">
            <a:extLst>
              <a:ext uri="{FF2B5EF4-FFF2-40B4-BE49-F238E27FC236}">
                <a16:creationId xmlns:a16="http://schemas.microsoft.com/office/drawing/2014/main" id="{7147CAE0-E172-4FFB-B2EB-574E233AEFC7}"/>
              </a:ext>
            </a:extLst>
          </p:cNvPr>
          <p:cNvPicPr>
            <a:picLocks noChangeAspect="1"/>
          </p:cNvPicPr>
          <p:nvPr/>
        </p:nvPicPr>
        <p:blipFill>
          <a:blip r:embed="rId4"/>
          <a:stretch>
            <a:fillRect/>
          </a:stretch>
        </p:blipFill>
        <p:spPr>
          <a:xfrm>
            <a:off x="4328193" y="2046218"/>
            <a:ext cx="4680519" cy="2402793"/>
          </a:xfrm>
          <a:prstGeom prst="rect">
            <a:avLst/>
          </a:prstGeom>
        </p:spPr>
      </p:pic>
      <p:sp>
        <p:nvSpPr>
          <p:cNvPr id="12" name="Text Box 5">
            <a:extLst>
              <a:ext uri="{FF2B5EF4-FFF2-40B4-BE49-F238E27FC236}">
                <a16:creationId xmlns:a16="http://schemas.microsoft.com/office/drawing/2014/main" id="{998F45BB-0F66-4705-8DBE-07859CB49250}"/>
              </a:ext>
            </a:extLst>
          </p:cNvPr>
          <p:cNvSpPr txBox="1">
            <a:spLocks noChangeArrowheads="1"/>
          </p:cNvSpPr>
          <p:nvPr/>
        </p:nvSpPr>
        <p:spPr bwMode="auto">
          <a:xfrm>
            <a:off x="4499434" y="4811782"/>
            <a:ext cx="468052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4-4b  </a:t>
            </a:r>
            <a:r>
              <a:rPr lang="zh-CN" altLang="en-US" b="1" dirty="0">
                <a:solidFill>
                  <a:srgbClr val="000099"/>
                </a:solidFill>
              </a:rPr>
              <a:t>电容式传感器的等效电路</a:t>
            </a:r>
            <a:endParaRPr lang="zh-CN" altLang="en-US" b="1" dirty="0"/>
          </a:p>
        </p:txBody>
      </p:sp>
      <p:sp>
        <p:nvSpPr>
          <p:cNvPr id="15" name="Text Box 15">
            <a:extLst>
              <a:ext uri="{FF2B5EF4-FFF2-40B4-BE49-F238E27FC236}">
                <a16:creationId xmlns:a16="http://schemas.microsoft.com/office/drawing/2014/main" id="{45612328-8B7E-4EC3-8058-6F7EC2C927C0}"/>
              </a:ext>
            </a:extLst>
          </p:cNvPr>
          <p:cNvSpPr txBox="1">
            <a:spLocks noChangeArrowheads="1"/>
          </p:cNvSpPr>
          <p:nvPr/>
        </p:nvSpPr>
        <p:spPr bwMode="auto">
          <a:xfrm>
            <a:off x="2222395" y="5705142"/>
            <a:ext cx="4617299" cy="420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spcBef>
                <a:spcPct val="50000"/>
              </a:spcBef>
            </a:pPr>
            <a:r>
              <a:rPr lang="zh-CN" altLang="en-US" sz="3200" b="1" baseline="-25000">
                <a:solidFill>
                  <a:srgbClr val="FF0000"/>
                </a:solidFill>
              </a:rPr>
              <a:t>首要问题是克服寄生电容</a:t>
            </a:r>
            <a:r>
              <a:rPr lang="en-US" altLang="zh-CN" sz="3200" b="1" baseline="-25000">
                <a:solidFill>
                  <a:srgbClr val="FF0000"/>
                </a:solidFill>
              </a:rPr>
              <a:t>Cp</a:t>
            </a:r>
            <a:r>
              <a:rPr lang="zh-CN" altLang="en-US" sz="3200" b="1" baseline="-25000">
                <a:solidFill>
                  <a:srgbClr val="FF0000"/>
                </a:solidFill>
              </a:rPr>
              <a:t>的影响</a:t>
            </a:r>
            <a:endParaRPr lang="en-US" altLang="zh-CN" sz="3200" b="1" baseline="-25000" dirty="0">
              <a:solidFill>
                <a:srgbClr val="FF0000"/>
              </a:solidFill>
            </a:endParaRPr>
          </a:p>
        </p:txBody>
      </p:sp>
      <p:sp>
        <p:nvSpPr>
          <p:cNvPr id="2" name="Slide Number Placeholder 1">
            <a:extLst>
              <a:ext uri="{FF2B5EF4-FFF2-40B4-BE49-F238E27FC236}">
                <a16:creationId xmlns:a16="http://schemas.microsoft.com/office/drawing/2014/main" id="{57FA67C2-10BF-4082-90F2-9314502A8225}"/>
              </a:ext>
            </a:extLst>
          </p:cNvPr>
          <p:cNvSpPr>
            <a:spLocks noGrp="1"/>
          </p:cNvSpPr>
          <p:nvPr>
            <p:ph type="sldNum" sz="quarter" idx="12"/>
          </p:nvPr>
        </p:nvSpPr>
        <p:spPr/>
        <p:txBody>
          <a:bodyPr/>
          <a:lstStyle/>
          <a:p>
            <a:fld id="{B53602B4-F12B-41CD-B648-531F86B2CC91}" type="slidenum">
              <a:rPr lang="zh-CN" altLang="en-US" smtClean="0"/>
              <a:t>24</a:t>
            </a:fld>
            <a:endParaRPr lang="zh-CN" altLang="en-US"/>
          </a:p>
        </p:txBody>
      </p:sp>
    </p:spTree>
    <p:extLst>
      <p:ext uri="{BB962C8B-B14F-4D97-AF65-F5344CB8AC3E}">
        <p14:creationId xmlns:p14="http://schemas.microsoft.com/office/powerpoint/2010/main" val="42884638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4.3 </a:t>
            </a:r>
          </a:p>
        </p:txBody>
      </p:sp>
      <p:sp>
        <p:nvSpPr>
          <p:cNvPr id="46" name="矩形 45"/>
          <p:cNvSpPr/>
          <p:nvPr/>
        </p:nvSpPr>
        <p:spPr>
          <a:xfrm>
            <a:off x="1960200" y="329520"/>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电容式传感器的特点及等效电路</a:t>
            </a:r>
          </a:p>
        </p:txBody>
      </p:sp>
      <p:sp>
        <p:nvSpPr>
          <p:cNvPr id="8" name="矩形 4">
            <a:extLst>
              <a:ext uri="{FF2B5EF4-FFF2-40B4-BE49-F238E27FC236}">
                <a16:creationId xmlns:a16="http://schemas.microsoft.com/office/drawing/2014/main" id="{E32D6DE5-00B8-474F-AB4A-9BA9D30D22A5}"/>
              </a:ext>
            </a:extLst>
          </p:cNvPr>
          <p:cNvSpPr/>
          <p:nvPr/>
        </p:nvSpPr>
        <p:spPr>
          <a:xfrm>
            <a:off x="185083" y="1406470"/>
            <a:ext cx="5125282" cy="461665"/>
          </a:xfrm>
          <a:prstGeom prst="rect">
            <a:avLst/>
          </a:prstGeom>
        </p:spPr>
        <p:txBody>
          <a:bodyPr wrap="square">
            <a:spAutoFit/>
          </a:bodyPr>
          <a:lstStyle/>
          <a:p>
            <a:pPr lvl="0"/>
            <a:r>
              <a:rPr lang="en-US" altLang="zh-CN" sz="2400" b="1" dirty="0">
                <a:solidFill>
                  <a:prstClr val="black"/>
                </a:solidFill>
                <a:latin typeface="宋体" panose="02010600030101010101" pitchFamily="2" charset="-122"/>
                <a:ea typeface="宋体" panose="02010600030101010101" pitchFamily="2" charset="-122"/>
                <a:cs typeface="Arial" panose="020B0604020202020204" pitchFamily="34" charset="0"/>
                <a:sym typeface="+mn-ea"/>
              </a:rPr>
              <a:t>4.3.2    </a:t>
            </a:r>
            <a:r>
              <a:rPr lang="zh-CN" altLang="en-US" sz="2400" b="1" dirty="0">
                <a:solidFill>
                  <a:prstClr val="black"/>
                </a:solidFill>
                <a:latin typeface="宋体" panose="02010600030101010101" pitchFamily="2" charset="-122"/>
                <a:ea typeface="宋体" panose="02010600030101010101" pitchFamily="2" charset="-122"/>
                <a:cs typeface="Arial" panose="020B0604020202020204" pitchFamily="34" charset="0"/>
                <a:sym typeface="+mn-ea"/>
              </a:rPr>
              <a:t>电容式传感器的等效电路</a:t>
            </a:r>
          </a:p>
        </p:txBody>
      </p:sp>
      <p:pic>
        <p:nvPicPr>
          <p:cNvPr id="4" name="Picture 3">
            <a:extLst>
              <a:ext uri="{FF2B5EF4-FFF2-40B4-BE49-F238E27FC236}">
                <a16:creationId xmlns:a16="http://schemas.microsoft.com/office/drawing/2014/main" id="{7147CAE0-E172-4FFB-B2EB-574E233AEFC7}"/>
              </a:ext>
            </a:extLst>
          </p:cNvPr>
          <p:cNvPicPr>
            <a:picLocks noChangeAspect="1"/>
          </p:cNvPicPr>
          <p:nvPr/>
        </p:nvPicPr>
        <p:blipFill rotWithShape="1">
          <a:blip r:embed="rId3"/>
          <a:srcRect r="5516"/>
          <a:stretch/>
        </p:blipFill>
        <p:spPr>
          <a:xfrm>
            <a:off x="5599723" y="1143894"/>
            <a:ext cx="3464447" cy="1882336"/>
          </a:xfrm>
          <a:prstGeom prst="rect">
            <a:avLst/>
          </a:prstGeom>
        </p:spPr>
      </p:pic>
      <p:graphicFrame>
        <p:nvGraphicFramePr>
          <p:cNvPr id="13" name="Object 13">
            <a:extLst>
              <a:ext uri="{FF2B5EF4-FFF2-40B4-BE49-F238E27FC236}">
                <a16:creationId xmlns:a16="http://schemas.microsoft.com/office/drawing/2014/main" id="{AF36C5F5-1573-4A02-849E-465A2D50B57A}"/>
              </a:ext>
            </a:extLst>
          </p:cNvPr>
          <p:cNvGraphicFramePr>
            <a:graphicFrameLocks noChangeAspect="1"/>
          </p:cNvGraphicFramePr>
          <p:nvPr>
            <p:extLst>
              <p:ext uri="{D42A27DB-BD31-4B8C-83A1-F6EECF244321}">
                <p14:modId xmlns:p14="http://schemas.microsoft.com/office/powerpoint/2010/main" val="2223601795"/>
              </p:ext>
            </p:extLst>
          </p:nvPr>
        </p:nvGraphicFramePr>
        <p:xfrm>
          <a:off x="207724" y="2586614"/>
          <a:ext cx="2540000" cy="791587"/>
        </p:xfrm>
        <a:graphic>
          <a:graphicData uri="http://schemas.openxmlformats.org/presentationml/2006/ole">
            <mc:AlternateContent xmlns:mc="http://schemas.openxmlformats.org/markup-compatibility/2006">
              <mc:Choice xmlns:v="urn:schemas-microsoft-com:vml" Requires="v">
                <p:oleObj name="公式" r:id="rId4" imgW="1422360" imgH="444240" progId="Equation.3">
                  <p:embed/>
                </p:oleObj>
              </mc:Choice>
              <mc:Fallback>
                <p:oleObj name="公式" r:id="rId4" imgW="1422360" imgH="444240" progId="Equation.3">
                  <p:embed/>
                  <p:pic>
                    <p:nvPicPr>
                      <p:cNvPr id="13" name="Object 13">
                        <a:extLst>
                          <a:ext uri="{FF2B5EF4-FFF2-40B4-BE49-F238E27FC236}">
                            <a16:creationId xmlns:a16="http://schemas.microsoft.com/office/drawing/2014/main" id="{AF36C5F5-1573-4A02-849E-465A2D50B57A}"/>
                          </a:ext>
                        </a:extLst>
                      </p:cNvPr>
                      <p:cNvPicPr>
                        <a:picLocks noChangeAspect="1" noChangeArrowheads="1"/>
                      </p:cNvPicPr>
                      <p:nvPr/>
                    </p:nvPicPr>
                    <p:blipFill>
                      <a:blip r:embed="rId5"/>
                      <a:srcRect/>
                      <a:stretch>
                        <a:fillRect/>
                      </a:stretch>
                    </p:blipFill>
                    <p:spPr bwMode="auto">
                      <a:xfrm>
                        <a:off x="207724" y="2586614"/>
                        <a:ext cx="2540000" cy="791587"/>
                      </a:xfrm>
                      <a:prstGeom prst="rect">
                        <a:avLst/>
                      </a:prstGeom>
                      <a:noFill/>
                    </p:spPr>
                  </p:pic>
                </p:oleObj>
              </mc:Fallback>
            </mc:AlternateContent>
          </a:graphicData>
        </a:graphic>
      </p:graphicFrame>
      <p:sp>
        <p:nvSpPr>
          <p:cNvPr id="14" name="Text Box 15">
            <a:extLst>
              <a:ext uri="{FF2B5EF4-FFF2-40B4-BE49-F238E27FC236}">
                <a16:creationId xmlns:a16="http://schemas.microsoft.com/office/drawing/2014/main" id="{044D0A60-8A7F-4E88-9103-7B456AC3A781}"/>
              </a:ext>
            </a:extLst>
          </p:cNvPr>
          <p:cNvSpPr txBox="1">
            <a:spLocks noChangeArrowheads="1"/>
          </p:cNvSpPr>
          <p:nvPr/>
        </p:nvSpPr>
        <p:spPr bwMode="auto">
          <a:xfrm>
            <a:off x="185083" y="1986502"/>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en-US" altLang="zh-CN" b="1" dirty="0"/>
              <a:t>AB</a:t>
            </a:r>
            <a:r>
              <a:rPr lang="zh-CN" altLang="en-US" b="1" dirty="0"/>
              <a:t>两端的等效电容</a:t>
            </a:r>
            <a:r>
              <a:rPr lang="en-US" altLang="zh-CN" b="1" i="1" dirty="0" err="1">
                <a:solidFill>
                  <a:srgbClr val="FF0000"/>
                </a:solidFill>
              </a:rPr>
              <a:t>C</a:t>
            </a:r>
            <a:r>
              <a:rPr lang="en-US" altLang="zh-CN" b="1" i="1" baseline="-25000" dirty="0" err="1">
                <a:solidFill>
                  <a:srgbClr val="FF0000"/>
                </a:solidFill>
              </a:rPr>
              <a:t>e</a:t>
            </a:r>
            <a:endParaRPr lang="en-US" altLang="zh-CN" b="1" i="1" baseline="-25000" dirty="0">
              <a:solidFill>
                <a:srgbClr val="FF0000"/>
              </a:solidFill>
            </a:endParaRPr>
          </a:p>
        </p:txBody>
      </p:sp>
      <p:graphicFrame>
        <p:nvGraphicFramePr>
          <p:cNvPr id="2" name="Object 1">
            <a:extLst>
              <a:ext uri="{FF2B5EF4-FFF2-40B4-BE49-F238E27FC236}">
                <a16:creationId xmlns:a16="http://schemas.microsoft.com/office/drawing/2014/main" id="{C82ABAFC-D79C-4EA4-906F-949F42784DDA}"/>
              </a:ext>
            </a:extLst>
          </p:cNvPr>
          <p:cNvGraphicFramePr>
            <a:graphicFrameLocks noChangeAspect="1"/>
          </p:cNvGraphicFramePr>
          <p:nvPr>
            <p:extLst>
              <p:ext uri="{D42A27DB-BD31-4B8C-83A1-F6EECF244321}">
                <p14:modId xmlns:p14="http://schemas.microsoft.com/office/powerpoint/2010/main" val="3879182536"/>
              </p:ext>
            </p:extLst>
          </p:nvPr>
        </p:nvGraphicFramePr>
        <p:xfrm>
          <a:off x="3439136" y="2544764"/>
          <a:ext cx="2160587" cy="833437"/>
        </p:xfrm>
        <a:graphic>
          <a:graphicData uri="http://schemas.openxmlformats.org/presentationml/2006/ole">
            <mc:AlternateContent xmlns:mc="http://schemas.openxmlformats.org/markup-compatibility/2006">
              <mc:Choice xmlns:v="urn:schemas-microsoft-com:vml" Requires="v">
                <p:oleObj name="Equation" r:id="rId6" imgW="2159801" imgH="833790" progId="Equation.DSMT4">
                  <p:embed/>
                </p:oleObj>
              </mc:Choice>
              <mc:Fallback>
                <p:oleObj name="Equation" r:id="rId6" imgW="2159801" imgH="833790" progId="Equation.DSMT4">
                  <p:embed/>
                  <p:pic>
                    <p:nvPicPr>
                      <p:cNvPr id="0" name=""/>
                      <p:cNvPicPr/>
                      <p:nvPr/>
                    </p:nvPicPr>
                    <p:blipFill>
                      <a:blip r:embed="rId7"/>
                      <a:stretch>
                        <a:fillRect/>
                      </a:stretch>
                    </p:blipFill>
                    <p:spPr>
                      <a:xfrm>
                        <a:off x="3439136" y="2544764"/>
                        <a:ext cx="2160587" cy="833437"/>
                      </a:xfrm>
                      <a:prstGeom prst="rect">
                        <a:avLst/>
                      </a:prstGeom>
                      <a:solidFill>
                        <a:schemeClr val="accent6">
                          <a:lumMod val="40000"/>
                          <a:lumOff val="60000"/>
                        </a:schemeClr>
                      </a:solidFill>
                    </p:spPr>
                  </p:pic>
                </p:oleObj>
              </mc:Fallback>
            </mc:AlternateContent>
          </a:graphicData>
        </a:graphic>
      </p:graphicFrame>
      <p:sp>
        <p:nvSpPr>
          <p:cNvPr id="24" name="AutoShape 24">
            <a:extLst>
              <a:ext uri="{FF2B5EF4-FFF2-40B4-BE49-F238E27FC236}">
                <a16:creationId xmlns:a16="http://schemas.microsoft.com/office/drawing/2014/main" id="{39980560-894E-493C-A68B-6CC938EAFBF3}"/>
              </a:ext>
            </a:extLst>
          </p:cNvPr>
          <p:cNvSpPr>
            <a:spLocks noChangeArrowheads="1"/>
          </p:cNvSpPr>
          <p:nvPr/>
        </p:nvSpPr>
        <p:spPr bwMode="auto">
          <a:xfrm>
            <a:off x="2913795" y="2854042"/>
            <a:ext cx="471688" cy="21488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sp>
        <p:nvSpPr>
          <p:cNvPr id="25" name="Text Box 7">
            <a:extLst>
              <a:ext uri="{FF2B5EF4-FFF2-40B4-BE49-F238E27FC236}">
                <a16:creationId xmlns:a16="http://schemas.microsoft.com/office/drawing/2014/main" id="{EDFFA792-EBE9-4BF5-B9C5-815E624C0E6B}"/>
              </a:ext>
            </a:extLst>
          </p:cNvPr>
          <p:cNvSpPr txBox="1">
            <a:spLocks noChangeArrowheads="1"/>
          </p:cNvSpPr>
          <p:nvPr/>
        </p:nvSpPr>
        <p:spPr bwMode="auto">
          <a:xfrm>
            <a:off x="185083" y="3499945"/>
            <a:ext cx="6019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dirty="0"/>
              <a:t>被测量∆</a:t>
            </a:r>
            <a:r>
              <a:rPr lang="en-US" altLang="zh-CN" b="1" i="1" dirty="0"/>
              <a:t>d</a:t>
            </a:r>
            <a:r>
              <a:rPr lang="zh-CN" altLang="en-US" b="1" dirty="0"/>
              <a:t>，</a:t>
            </a:r>
          </a:p>
          <a:p>
            <a:pPr eaLnBrk="1" hangingPunct="1">
              <a:spcBef>
                <a:spcPct val="50000"/>
              </a:spcBef>
            </a:pPr>
            <a:r>
              <a:rPr lang="zh-CN" altLang="en-US" b="1" dirty="0"/>
              <a:t>传感器的灵敏度 </a:t>
            </a:r>
            <a:r>
              <a:rPr lang="en-US" altLang="zh-CN" b="1" i="1" dirty="0" err="1">
                <a:solidFill>
                  <a:srgbClr val="0070C0"/>
                </a:solidFill>
              </a:rPr>
              <a:t>k</a:t>
            </a:r>
            <a:r>
              <a:rPr lang="en-US" altLang="zh-CN" b="1" i="1" baseline="-25000" dirty="0" err="1">
                <a:solidFill>
                  <a:srgbClr val="0070C0"/>
                </a:solidFill>
              </a:rPr>
              <a:t>e</a:t>
            </a:r>
            <a:r>
              <a:rPr lang="en-US" altLang="zh-CN" b="1" i="1" baseline="-25000" dirty="0">
                <a:solidFill>
                  <a:srgbClr val="0070C0"/>
                </a:solidFill>
              </a:rPr>
              <a:t> </a:t>
            </a:r>
            <a:r>
              <a:rPr lang="zh-CN" altLang="en-US" b="1" dirty="0"/>
              <a:t>将随</a:t>
            </a:r>
            <a:r>
              <a:rPr lang="zh-CN" altLang="en-US" b="1" dirty="0">
                <a:solidFill>
                  <a:srgbClr val="00B0F0"/>
                </a:solidFill>
              </a:rPr>
              <a:t>激励源频率</a:t>
            </a:r>
            <a:r>
              <a:rPr lang="zh-CN" altLang="en-US" b="1" dirty="0"/>
              <a:t>改变：</a:t>
            </a:r>
          </a:p>
        </p:txBody>
      </p:sp>
      <p:graphicFrame>
        <p:nvGraphicFramePr>
          <p:cNvPr id="3" name="Object 2">
            <a:extLst>
              <a:ext uri="{FF2B5EF4-FFF2-40B4-BE49-F238E27FC236}">
                <a16:creationId xmlns:a16="http://schemas.microsoft.com/office/drawing/2014/main" id="{A8AF41AB-20D1-435D-ACAC-6D1A849F237E}"/>
              </a:ext>
            </a:extLst>
          </p:cNvPr>
          <p:cNvGraphicFramePr>
            <a:graphicFrameLocks noChangeAspect="1"/>
          </p:cNvGraphicFramePr>
          <p:nvPr>
            <p:extLst>
              <p:ext uri="{D42A27DB-BD31-4B8C-83A1-F6EECF244321}">
                <p14:modId xmlns:p14="http://schemas.microsoft.com/office/powerpoint/2010/main" val="3636798594"/>
              </p:ext>
            </p:extLst>
          </p:nvPr>
        </p:nvGraphicFramePr>
        <p:xfrm>
          <a:off x="5917293" y="3884718"/>
          <a:ext cx="1270000" cy="842963"/>
        </p:xfrm>
        <a:graphic>
          <a:graphicData uri="http://schemas.openxmlformats.org/presentationml/2006/ole">
            <mc:AlternateContent xmlns:mc="http://schemas.openxmlformats.org/markup-compatibility/2006">
              <mc:Choice xmlns:v="urn:schemas-microsoft-com:vml" Requires="v">
                <p:oleObj name="Equation" r:id="rId8" imgW="1269455" imgH="842790" progId="Equation.DSMT4">
                  <p:embed/>
                </p:oleObj>
              </mc:Choice>
              <mc:Fallback>
                <p:oleObj name="Equation" r:id="rId8" imgW="1269455" imgH="842790" progId="Equation.DSMT4">
                  <p:embed/>
                  <p:pic>
                    <p:nvPicPr>
                      <p:cNvPr id="0" name=""/>
                      <p:cNvPicPr/>
                      <p:nvPr/>
                    </p:nvPicPr>
                    <p:blipFill>
                      <a:blip r:embed="rId9"/>
                      <a:stretch>
                        <a:fillRect/>
                      </a:stretch>
                    </p:blipFill>
                    <p:spPr>
                      <a:xfrm>
                        <a:off x="5917293" y="3884718"/>
                        <a:ext cx="1270000" cy="842963"/>
                      </a:xfrm>
                      <a:prstGeom prst="rect">
                        <a:avLst/>
                      </a:prstGeom>
                    </p:spPr>
                  </p:pic>
                </p:oleObj>
              </mc:Fallback>
            </mc:AlternateContent>
          </a:graphicData>
        </a:graphic>
      </p:graphicFrame>
      <p:graphicFrame>
        <p:nvGraphicFramePr>
          <p:cNvPr id="26" name="Object 12">
            <a:extLst>
              <a:ext uri="{FF2B5EF4-FFF2-40B4-BE49-F238E27FC236}">
                <a16:creationId xmlns:a16="http://schemas.microsoft.com/office/drawing/2014/main" id="{0F3238BA-1422-45ED-85C2-B971F3938AEE}"/>
              </a:ext>
            </a:extLst>
          </p:cNvPr>
          <p:cNvGraphicFramePr>
            <a:graphicFrameLocks noChangeAspect="1"/>
          </p:cNvGraphicFramePr>
          <p:nvPr>
            <p:extLst>
              <p:ext uri="{D42A27DB-BD31-4B8C-83A1-F6EECF244321}">
                <p14:modId xmlns:p14="http://schemas.microsoft.com/office/powerpoint/2010/main" val="1103369722"/>
              </p:ext>
            </p:extLst>
          </p:nvPr>
        </p:nvGraphicFramePr>
        <p:xfrm>
          <a:off x="3670300" y="4583766"/>
          <a:ext cx="2437991" cy="914097"/>
        </p:xfrm>
        <a:graphic>
          <a:graphicData uri="http://schemas.openxmlformats.org/presentationml/2006/ole">
            <mc:AlternateContent xmlns:mc="http://schemas.openxmlformats.org/markup-compatibility/2006">
              <mc:Choice xmlns:v="urn:schemas-microsoft-com:vml" Requires="v">
                <p:oleObj r:id="rId10" imgW="1219200" imgH="457200" progId="Equation.3">
                  <p:embed/>
                </p:oleObj>
              </mc:Choice>
              <mc:Fallback>
                <p:oleObj r:id="rId10" imgW="1219200" imgH="457200" progId="Equation.3">
                  <p:embed/>
                  <p:pic>
                    <p:nvPicPr>
                      <p:cNvPr id="8"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70300" y="4583766"/>
                        <a:ext cx="2437991" cy="914097"/>
                      </a:xfrm>
                      <a:prstGeom prst="rect">
                        <a:avLst/>
                      </a:prstGeom>
                      <a:noFill/>
                      <a:ln>
                        <a:noFill/>
                      </a:ln>
                    </p:spPr>
                  </p:pic>
                </p:oleObj>
              </mc:Fallback>
            </mc:AlternateContent>
          </a:graphicData>
        </a:graphic>
      </p:graphicFrame>
      <p:sp>
        <p:nvSpPr>
          <p:cNvPr id="27" name="Text Box 14">
            <a:extLst>
              <a:ext uri="{FF2B5EF4-FFF2-40B4-BE49-F238E27FC236}">
                <a16:creationId xmlns:a16="http://schemas.microsoft.com/office/drawing/2014/main" id="{94CF25D7-9A67-434C-96A5-668F75274368}"/>
              </a:ext>
            </a:extLst>
          </p:cNvPr>
          <p:cNvSpPr txBox="1">
            <a:spLocks noChangeArrowheads="1"/>
          </p:cNvSpPr>
          <p:nvPr/>
        </p:nvSpPr>
        <p:spPr bwMode="auto">
          <a:xfrm>
            <a:off x="216832" y="4760036"/>
            <a:ext cx="33645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dirty="0">
                <a:solidFill>
                  <a:srgbClr val="0000FF"/>
                </a:solidFill>
              </a:rPr>
              <a:t>求导</a:t>
            </a:r>
            <a:r>
              <a:rPr lang="zh-CN" altLang="en-US" b="1" dirty="0"/>
              <a:t>可得等效电容增量：</a:t>
            </a:r>
          </a:p>
        </p:txBody>
      </p:sp>
      <p:sp>
        <p:nvSpPr>
          <p:cNvPr id="28" name="Text Box 15">
            <a:extLst>
              <a:ext uri="{FF2B5EF4-FFF2-40B4-BE49-F238E27FC236}">
                <a16:creationId xmlns:a16="http://schemas.microsoft.com/office/drawing/2014/main" id="{7CA01747-DEED-4BFA-ABF1-40D74D0E660E}"/>
              </a:ext>
            </a:extLst>
          </p:cNvPr>
          <p:cNvSpPr txBox="1">
            <a:spLocks noChangeArrowheads="1"/>
          </p:cNvSpPr>
          <p:nvPr/>
        </p:nvSpPr>
        <p:spPr bwMode="auto">
          <a:xfrm>
            <a:off x="1886575" y="5919408"/>
            <a:ext cx="92129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a:t>则有</a:t>
            </a:r>
            <a:endParaRPr lang="zh-CN" altLang="en-US" b="1" dirty="0"/>
          </a:p>
        </p:txBody>
      </p:sp>
      <p:graphicFrame>
        <p:nvGraphicFramePr>
          <p:cNvPr id="29" name="Object 16">
            <a:extLst>
              <a:ext uri="{FF2B5EF4-FFF2-40B4-BE49-F238E27FC236}">
                <a16:creationId xmlns:a16="http://schemas.microsoft.com/office/drawing/2014/main" id="{59295B21-A787-4C0A-8B4B-869AEE72E74A}"/>
              </a:ext>
            </a:extLst>
          </p:cNvPr>
          <p:cNvGraphicFramePr>
            <a:graphicFrameLocks noChangeAspect="1"/>
          </p:cNvGraphicFramePr>
          <p:nvPr>
            <p:extLst>
              <p:ext uri="{D42A27DB-BD31-4B8C-83A1-F6EECF244321}">
                <p14:modId xmlns:p14="http://schemas.microsoft.com/office/powerpoint/2010/main" val="1937746464"/>
              </p:ext>
            </p:extLst>
          </p:nvPr>
        </p:nvGraphicFramePr>
        <p:xfrm>
          <a:off x="2632833" y="5693124"/>
          <a:ext cx="2256463" cy="1059557"/>
        </p:xfrm>
        <a:graphic>
          <a:graphicData uri="http://schemas.openxmlformats.org/presentationml/2006/ole">
            <mc:AlternateContent xmlns:mc="http://schemas.openxmlformats.org/markup-compatibility/2006">
              <mc:Choice xmlns:v="urn:schemas-microsoft-com:vml" Requires="v">
                <p:oleObj name="Equation" r:id="rId12" imgW="1079280" imgH="507960" progId="Equation.DSMT4">
                  <p:embed/>
                </p:oleObj>
              </mc:Choice>
              <mc:Fallback>
                <p:oleObj name="Equation" r:id="rId12" imgW="1079280" imgH="507960" progId="Equation.DSMT4">
                  <p:embed/>
                  <p:pic>
                    <p:nvPicPr>
                      <p:cNvPr id="11"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32833" y="5693124"/>
                        <a:ext cx="2256463" cy="1059557"/>
                      </a:xfrm>
                      <a:prstGeom prst="rect">
                        <a:avLst/>
                      </a:prstGeom>
                      <a:solidFill>
                        <a:schemeClr val="accent4"/>
                      </a:solidFill>
                    </p:spPr>
                  </p:pic>
                </p:oleObj>
              </mc:Fallback>
            </mc:AlternateContent>
          </a:graphicData>
        </a:graphic>
      </p:graphicFrame>
      <p:graphicFrame>
        <p:nvGraphicFramePr>
          <p:cNvPr id="30" name="Object 25">
            <a:extLst>
              <a:ext uri="{FF2B5EF4-FFF2-40B4-BE49-F238E27FC236}">
                <a16:creationId xmlns:a16="http://schemas.microsoft.com/office/drawing/2014/main" id="{B59FEA3D-855E-49BE-A61B-120B90E14B99}"/>
              </a:ext>
            </a:extLst>
          </p:cNvPr>
          <p:cNvGraphicFramePr>
            <a:graphicFrameLocks noChangeAspect="1"/>
          </p:cNvGraphicFramePr>
          <p:nvPr>
            <p:extLst>
              <p:ext uri="{D42A27DB-BD31-4B8C-83A1-F6EECF244321}">
                <p14:modId xmlns:p14="http://schemas.microsoft.com/office/powerpoint/2010/main" val="4126709589"/>
              </p:ext>
            </p:extLst>
          </p:nvPr>
        </p:nvGraphicFramePr>
        <p:xfrm>
          <a:off x="555961" y="5693124"/>
          <a:ext cx="1164566" cy="909262"/>
        </p:xfrm>
        <a:graphic>
          <a:graphicData uri="http://schemas.openxmlformats.org/presentationml/2006/ole">
            <mc:AlternateContent xmlns:mc="http://schemas.openxmlformats.org/markup-compatibility/2006">
              <mc:Choice xmlns:v="urn:schemas-microsoft-com:vml" Requires="v">
                <p:oleObj name="Equation" r:id="rId14" imgW="507960" imgH="393480" progId="Equation.DSMT4">
                  <p:embed/>
                </p:oleObj>
              </mc:Choice>
              <mc:Fallback>
                <p:oleObj name="Equation" r:id="rId14" imgW="507960" imgH="393480" progId="Equation.DSMT4">
                  <p:embed/>
                  <p:pic>
                    <p:nvPicPr>
                      <p:cNvPr id="13"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5961" y="5693124"/>
                        <a:ext cx="1164566" cy="909262"/>
                      </a:xfrm>
                      <a:prstGeom prst="rect">
                        <a:avLst/>
                      </a:prstGeom>
                      <a:noFill/>
                    </p:spPr>
                  </p:pic>
                </p:oleObj>
              </mc:Fallback>
            </mc:AlternateContent>
          </a:graphicData>
        </a:graphic>
      </p:graphicFrame>
      <p:sp>
        <p:nvSpPr>
          <p:cNvPr id="31" name="Text Box 15">
            <a:extLst>
              <a:ext uri="{FF2B5EF4-FFF2-40B4-BE49-F238E27FC236}">
                <a16:creationId xmlns:a16="http://schemas.microsoft.com/office/drawing/2014/main" id="{FE323F4F-AFEA-48B8-9EBF-C7C116EE3710}"/>
              </a:ext>
            </a:extLst>
          </p:cNvPr>
          <p:cNvSpPr txBox="1">
            <a:spLocks noChangeArrowheads="1"/>
          </p:cNvSpPr>
          <p:nvPr/>
        </p:nvSpPr>
        <p:spPr bwMode="auto">
          <a:xfrm>
            <a:off x="207724" y="5908266"/>
            <a:ext cx="61523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a:t>令</a:t>
            </a:r>
            <a:endParaRPr lang="zh-CN" altLang="en-US" b="1" dirty="0"/>
          </a:p>
        </p:txBody>
      </p:sp>
      <p:sp>
        <p:nvSpPr>
          <p:cNvPr id="32" name="Text Box 7">
            <a:extLst>
              <a:ext uri="{FF2B5EF4-FFF2-40B4-BE49-F238E27FC236}">
                <a16:creationId xmlns:a16="http://schemas.microsoft.com/office/drawing/2014/main" id="{8A5707D6-F85B-4BFE-B9EA-BAE0C33B7344}"/>
              </a:ext>
            </a:extLst>
          </p:cNvPr>
          <p:cNvSpPr txBox="1">
            <a:spLocks noChangeArrowheads="1"/>
          </p:cNvSpPr>
          <p:nvPr/>
        </p:nvSpPr>
        <p:spPr bwMode="auto">
          <a:xfrm>
            <a:off x="5164321" y="5497863"/>
            <a:ext cx="3899849"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342900" indent="-342900" eaLnBrk="1" hangingPunct="1">
              <a:spcBef>
                <a:spcPct val="50000"/>
              </a:spcBef>
              <a:buFont typeface="Arial" panose="020B0604020202020204" pitchFamily="34" charset="0"/>
              <a:buChar char="•"/>
            </a:pPr>
            <a:r>
              <a:rPr lang="zh-CN" altLang="en-US" sz="2000" b="1" dirty="0"/>
              <a:t>等效灵敏度受</a:t>
            </a:r>
            <a:r>
              <a:rPr lang="zh-CN" altLang="en-US" sz="2000" b="1" dirty="0">
                <a:solidFill>
                  <a:srgbClr val="00B0F0"/>
                </a:solidFill>
              </a:rPr>
              <a:t>激励频率的影响</a:t>
            </a:r>
            <a:endParaRPr lang="en-US" altLang="zh-CN" sz="2000" b="1" dirty="0">
              <a:solidFill>
                <a:srgbClr val="00B0F0"/>
              </a:solidFill>
            </a:endParaRPr>
          </a:p>
          <a:p>
            <a:pPr marL="342900" indent="-342900" eaLnBrk="1" hangingPunct="1">
              <a:spcBef>
                <a:spcPct val="50000"/>
              </a:spcBef>
              <a:buFont typeface="Arial" panose="020B0604020202020204" pitchFamily="34" charset="0"/>
              <a:buChar char="•"/>
            </a:pPr>
            <a:r>
              <a:rPr lang="zh-CN" altLang="en-US" sz="2000" b="1" dirty="0">
                <a:solidFill>
                  <a:srgbClr val="00B0F0"/>
                </a:solidFill>
              </a:rPr>
              <a:t>改变频率 </a:t>
            </a:r>
            <a:r>
              <a:rPr lang="en-US" altLang="zh-CN" sz="2000" b="1" dirty="0">
                <a:solidFill>
                  <a:srgbClr val="00B0F0"/>
                </a:solidFill>
              </a:rPr>
              <a:t>/ </a:t>
            </a:r>
            <a:r>
              <a:rPr lang="zh-CN" altLang="en-US" sz="2000" b="1" dirty="0">
                <a:solidFill>
                  <a:srgbClr val="00B0F0"/>
                </a:solidFill>
              </a:rPr>
              <a:t>更换输电线</a:t>
            </a:r>
            <a:r>
              <a:rPr lang="zh-CN" altLang="en-US" sz="2000" b="1" dirty="0"/>
              <a:t>之后，需要对测量系统</a:t>
            </a:r>
            <a:r>
              <a:rPr lang="zh-CN" altLang="en-US" sz="2000" b="1" dirty="0">
                <a:solidFill>
                  <a:srgbClr val="FF0000"/>
                </a:solidFill>
              </a:rPr>
              <a:t>重新标定</a:t>
            </a:r>
            <a:endParaRPr lang="en-US" altLang="zh-CN" sz="2000" b="1" dirty="0">
              <a:solidFill>
                <a:srgbClr val="FF0000"/>
              </a:solidFill>
            </a:endParaRPr>
          </a:p>
        </p:txBody>
      </p:sp>
      <p:sp>
        <p:nvSpPr>
          <p:cNvPr id="5" name="Slide Number Placeholder 4">
            <a:extLst>
              <a:ext uri="{FF2B5EF4-FFF2-40B4-BE49-F238E27FC236}">
                <a16:creationId xmlns:a16="http://schemas.microsoft.com/office/drawing/2014/main" id="{0FF04DD8-2D62-499D-A6F2-263BD6D2CDAF}"/>
              </a:ext>
            </a:extLst>
          </p:cNvPr>
          <p:cNvSpPr>
            <a:spLocks noGrp="1"/>
          </p:cNvSpPr>
          <p:nvPr>
            <p:ph type="sldNum" sz="quarter" idx="12"/>
          </p:nvPr>
        </p:nvSpPr>
        <p:spPr/>
        <p:txBody>
          <a:bodyPr/>
          <a:lstStyle/>
          <a:p>
            <a:fld id="{B53602B4-F12B-41CD-B648-531F86B2CC91}" type="slidenum">
              <a:rPr lang="zh-CN" altLang="en-US" smtClean="0"/>
              <a:t>25</a:t>
            </a:fld>
            <a:endParaRPr lang="zh-CN" altLang="en-US"/>
          </a:p>
        </p:txBody>
      </p:sp>
    </p:spTree>
    <p:extLst>
      <p:ext uri="{BB962C8B-B14F-4D97-AF65-F5344CB8AC3E}">
        <p14:creationId xmlns:p14="http://schemas.microsoft.com/office/powerpoint/2010/main" val="9803442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3" name="Rectangle 3"/>
          <p:cNvSpPr txBox="1">
            <a:spLocks noRot="1" noChangeArrowheads="1"/>
          </p:cNvSpPr>
          <p:nvPr/>
        </p:nvSpPr>
        <p:spPr>
          <a:xfrm>
            <a:off x="987703" y="1833110"/>
            <a:ext cx="7677326" cy="36536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Font typeface="Wingdings" pitchFamily="2" charset="2"/>
              <a:buNone/>
            </a:pPr>
            <a:r>
              <a:rPr lang="en-US" altLang="zh-CN" sz="2400" b="1" dirty="0">
                <a:latin typeface="宋体" panose="02010600030101010101" pitchFamily="2" charset="-122"/>
                <a:ea typeface="宋体" panose="02010600030101010101" pitchFamily="2" charset="-122"/>
                <a:cs typeface="Arial" pitchFamily="34" charset="0"/>
              </a:rPr>
              <a:t>4.4.1 </a:t>
            </a:r>
            <a:r>
              <a:rPr lang="zh-CN" altLang="en-US" sz="2400" b="1" dirty="0">
                <a:latin typeface="宋体" panose="02010600030101010101" pitchFamily="2" charset="-122"/>
                <a:ea typeface="宋体" panose="02010600030101010101" pitchFamily="2" charset="-122"/>
              </a:rPr>
              <a:t>保证绝缘材料的绝缘性能</a:t>
            </a:r>
          </a:p>
          <a:p>
            <a:pPr marL="0" indent="0">
              <a:lnSpc>
                <a:spcPct val="140000"/>
              </a:lnSpc>
              <a:buFont typeface="Wingdings" pitchFamily="2" charset="2"/>
              <a:buNone/>
            </a:pPr>
            <a:r>
              <a:rPr lang="zh-CN" altLang="en-US" sz="2400" b="1" dirty="0">
                <a:latin typeface="宋体" panose="02010600030101010101" pitchFamily="2" charset="-122"/>
                <a:ea typeface="宋体" panose="02010600030101010101" pitchFamily="2" charset="-122"/>
              </a:rPr>
              <a:t>    从选材、结构、加工工艺等方面来减小温度等误差和保证绝缘材料具有</a:t>
            </a:r>
            <a:r>
              <a:rPr lang="zh-CN" altLang="en-US" sz="2400" b="1" dirty="0">
                <a:solidFill>
                  <a:srgbClr val="FF0000"/>
                </a:solidFill>
                <a:latin typeface="宋体" panose="02010600030101010101" pitchFamily="2" charset="-122"/>
                <a:ea typeface="宋体" panose="02010600030101010101" pitchFamily="2" charset="-122"/>
              </a:rPr>
              <a:t>高的绝缘性</a:t>
            </a:r>
            <a:r>
              <a:rPr lang="zh-CN" altLang="en-US" sz="2400" b="1">
                <a:solidFill>
                  <a:srgbClr val="FF0000"/>
                </a:solidFill>
                <a:latin typeface="宋体" panose="02010600030101010101" pitchFamily="2" charset="-122"/>
                <a:ea typeface="宋体" panose="02010600030101010101" pitchFamily="2" charset="-122"/>
              </a:rPr>
              <a:t>能</a:t>
            </a:r>
            <a:r>
              <a:rPr lang="zh-CN" altLang="en-US" sz="2400" b="1">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9F76C67B-4AE4-42FE-B14E-55D4687F3868}"/>
              </a:ext>
            </a:extLst>
          </p:cNvPr>
          <p:cNvSpPr>
            <a:spLocks noGrp="1"/>
          </p:cNvSpPr>
          <p:nvPr>
            <p:ph type="sldNum" sz="quarter" idx="12"/>
          </p:nvPr>
        </p:nvSpPr>
        <p:spPr/>
        <p:txBody>
          <a:bodyPr/>
          <a:lstStyle/>
          <a:p>
            <a:fld id="{B53602B4-F12B-41CD-B648-531F86B2CC91}" type="slidenum">
              <a:rPr lang="zh-CN" altLang="en-US" smtClean="0"/>
              <a:t>26</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3" name="Rectangle 3"/>
          <p:cNvSpPr txBox="1">
            <a:spLocks noRot="1" noChangeArrowheads="1"/>
          </p:cNvSpPr>
          <p:nvPr/>
        </p:nvSpPr>
        <p:spPr>
          <a:xfrm>
            <a:off x="433627" y="1250112"/>
            <a:ext cx="8276746" cy="36536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Font typeface="Wingdings" pitchFamily="2" charset="2"/>
              <a:buNone/>
            </a:pPr>
            <a:r>
              <a:rPr lang="en-US" altLang="zh-CN" sz="2400" b="1">
                <a:latin typeface="宋体" panose="02010600030101010101" pitchFamily="2" charset="-122"/>
                <a:ea typeface="宋体" panose="02010600030101010101" pitchFamily="2" charset="-122"/>
                <a:cs typeface="Arial" pitchFamily="34" charset="0"/>
              </a:rPr>
              <a:t>4.4.2 </a:t>
            </a:r>
            <a:r>
              <a:rPr lang="zh-CN" altLang="en-US" sz="2400" b="1" dirty="0">
                <a:latin typeface="宋体" panose="02010600030101010101" pitchFamily="2" charset="-122"/>
                <a:ea typeface="宋体" panose="02010600030101010101" pitchFamily="2" charset="-122"/>
              </a:rPr>
              <a:t>消除和</a:t>
            </a:r>
            <a:r>
              <a:rPr lang="zh-CN" altLang="en-US" sz="2400" b="1" dirty="0">
                <a:solidFill>
                  <a:srgbClr val="00B050"/>
                </a:solidFill>
                <a:latin typeface="宋体" panose="02010600030101010101" pitchFamily="2" charset="-122"/>
                <a:ea typeface="宋体" panose="02010600030101010101" pitchFamily="2" charset="-122"/>
              </a:rPr>
              <a:t>减小边缘效应</a:t>
            </a:r>
            <a:r>
              <a:rPr lang="zh-CN" altLang="en-US" sz="2400" b="1" dirty="0">
                <a:latin typeface="宋体" panose="02010600030101010101" pitchFamily="2" charset="-122"/>
                <a:ea typeface="宋体" panose="02010600030101010101" pitchFamily="2" charset="-122"/>
              </a:rPr>
              <a:t>  </a:t>
            </a:r>
          </a:p>
          <a:p>
            <a:pPr marL="0" indent="0">
              <a:lnSpc>
                <a:spcPct val="150000"/>
              </a:lnSpc>
              <a:spcBef>
                <a:spcPts val="600"/>
              </a:spcBef>
              <a:buFont typeface="Wingdings" pitchFamily="2" charset="2"/>
              <a:buNone/>
            </a:pPr>
            <a:r>
              <a:rPr lang="zh-CN" altLang="en-US" sz="2000" b="1" dirty="0">
                <a:latin typeface="宋体" panose="02010600030101010101" pitchFamily="2" charset="-122"/>
                <a:ea typeface="宋体" panose="02010600030101010101" pitchFamily="2" charset="-122"/>
              </a:rPr>
              <a:t>    边缘效应不仅使电容传感器的灵敏度降低，而且产生非线性，因此应尽量消除或减小它。</a:t>
            </a:r>
          </a:p>
        </p:txBody>
      </p:sp>
      <p:sp>
        <p:nvSpPr>
          <p:cNvPr id="10" name="TextBox 9">
            <a:extLst>
              <a:ext uri="{FF2B5EF4-FFF2-40B4-BE49-F238E27FC236}">
                <a16:creationId xmlns:a16="http://schemas.microsoft.com/office/drawing/2014/main" id="{BFD0DF4D-B1B2-4F99-BDDC-2E6245D3D8B0}"/>
              </a:ext>
            </a:extLst>
          </p:cNvPr>
          <p:cNvSpPr txBox="1"/>
          <p:nvPr/>
        </p:nvSpPr>
        <p:spPr>
          <a:xfrm>
            <a:off x="433627" y="2935350"/>
            <a:ext cx="8378398" cy="232852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001" sz="2000" u="sng">
                <a:latin typeface="宋体" panose="02010600030101010101" pitchFamily="2" charset="-122"/>
                <a:ea typeface="宋体" panose="02010600030101010101" pitchFamily="2" charset="-122"/>
              </a:rPr>
              <a:t>适当减小极间距</a:t>
            </a:r>
            <a:r>
              <a:rPr lang="en-001" sz="2000">
                <a:latin typeface="宋体" panose="02010600030101010101" pitchFamily="2" charset="-122"/>
                <a:ea typeface="宋体" panose="02010600030101010101" pitchFamily="2" charset="-122"/>
              </a:rPr>
              <a:t>，使极径与间距比很大，可减少边缘效应的影响，但易产生击穿</a:t>
            </a:r>
            <a:r>
              <a:rPr lang="zh-CN" altLang="en-US" sz="2000">
                <a:latin typeface="宋体" panose="02010600030101010101" pitchFamily="2" charset="-122"/>
                <a:ea typeface="宋体" panose="02010600030101010101" pitchFamily="2" charset="-122"/>
              </a:rPr>
              <a:t>、</a:t>
            </a:r>
            <a:r>
              <a:rPr lang="en-001" sz="2000">
                <a:latin typeface="宋体" panose="02010600030101010101" pitchFamily="2" charset="-122"/>
                <a:ea typeface="宋体" panose="02010600030101010101" pitchFamily="2" charset="-122"/>
              </a:rPr>
              <a:t>并有可能限制测量范围。</a:t>
            </a:r>
          </a:p>
          <a:p>
            <a:pPr marL="285750" indent="-285750">
              <a:lnSpc>
                <a:spcPct val="150000"/>
              </a:lnSpc>
              <a:buFont typeface="Arial" panose="020B0604020202020204" pitchFamily="34" charset="0"/>
              <a:buChar char="•"/>
            </a:pPr>
            <a:r>
              <a:rPr lang="en-001" sz="2000">
                <a:latin typeface="宋体" panose="02010600030101010101" pitchFamily="2" charset="-122"/>
                <a:ea typeface="宋体" panose="02010600030101010101" pitchFamily="2" charset="-122"/>
              </a:rPr>
              <a:t>也可以采用上述</a:t>
            </a:r>
            <a:r>
              <a:rPr lang="en-001" sz="2000" u="sng">
                <a:latin typeface="宋体" panose="02010600030101010101" pitchFamily="2" charset="-122"/>
                <a:ea typeface="宋体" panose="02010600030101010101" pitchFamily="2" charset="-122"/>
              </a:rPr>
              <a:t>电极做得极薄</a:t>
            </a:r>
            <a:r>
              <a:rPr lang="en-001" sz="2000">
                <a:latin typeface="宋体" panose="02010600030101010101" pitchFamily="2" charset="-122"/>
                <a:ea typeface="宋体" panose="02010600030101010101" pitchFamily="2" charset="-122"/>
              </a:rPr>
              <a:t>、使之与间距相比很小的方法来减小边缘电场的影响。</a:t>
            </a:r>
          </a:p>
          <a:p>
            <a:pPr marL="285750" indent="-285750">
              <a:lnSpc>
                <a:spcPct val="150000"/>
              </a:lnSpc>
              <a:buFont typeface="Arial" panose="020B0604020202020204" pitchFamily="34" charset="0"/>
              <a:buChar char="•"/>
            </a:pPr>
            <a:r>
              <a:rPr lang="en-001" sz="2000">
                <a:latin typeface="宋体" panose="02010600030101010101" pitchFamily="2" charset="-122"/>
                <a:ea typeface="宋体" panose="02010600030101010101" pitchFamily="2" charset="-122"/>
              </a:rPr>
              <a:t>除此之外，可在结构上</a:t>
            </a:r>
            <a:r>
              <a:rPr lang="en-001" sz="2000" u="sng">
                <a:latin typeface="宋体" panose="02010600030101010101" pitchFamily="2" charset="-122"/>
                <a:ea typeface="宋体" panose="02010600030101010101" pitchFamily="2" charset="-122"/>
              </a:rPr>
              <a:t>增设等位环</a:t>
            </a:r>
            <a:r>
              <a:rPr lang="en-001" sz="2000">
                <a:latin typeface="宋体" panose="02010600030101010101" pitchFamily="2" charset="-122"/>
                <a:ea typeface="宋体" panose="02010600030101010101" pitchFamily="2" charset="-122"/>
              </a:rPr>
              <a:t>来消除边缘效应</a:t>
            </a:r>
          </a:p>
        </p:txBody>
      </p:sp>
      <p:sp>
        <p:nvSpPr>
          <p:cNvPr id="2" name="Slide Number Placeholder 1">
            <a:extLst>
              <a:ext uri="{FF2B5EF4-FFF2-40B4-BE49-F238E27FC236}">
                <a16:creationId xmlns:a16="http://schemas.microsoft.com/office/drawing/2014/main" id="{E3A266C8-D0A5-4711-8FB6-A79A4A072450}"/>
              </a:ext>
            </a:extLst>
          </p:cNvPr>
          <p:cNvSpPr>
            <a:spLocks noGrp="1"/>
          </p:cNvSpPr>
          <p:nvPr>
            <p:ph type="sldNum" sz="quarter" idx="12"/>
          </p:nvPr>
        </p:nvSpPr>
        <p:spPr/>
        <p:txBody>
          <a:bodyPr/>
          <a:lstStyle/>
          <a:p>
            <a:fld id="{B53602B4-F12B-41CD-B648-531F86B2CC91}" type="slidenum">
              <a:rPr lang="zh-CN" altLang="en-US" smtClean="0"/>
              <a:t>27</a:t>
            </a:fld>
            <a:endParaRPr lang="zh-CN" altLang="en-US"/>
          </a:p>
        </p:txBody>
      </p:sp>
    </p:spTree>
    <p:extLst>
      <p:ext uri="{BB962C8B-B14F-4D97-AF65-F5344CB8AC3E}">
        <p14:creationId xmlns:p14="http://schemas.microsoft.com/office/powerpoint/2010/main" val="35241675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0">
            <a:extLst>
              <a:ext uri="{FF2B5EF4-FFF2-40B4-BE49-F238E27FC236}">
                <a16:creationId xmlns:a16="http://schemas.microsoft.com/office/drawing/2014/main" id="{36272173-CFAF-421B-8E5F-7B245B83B8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53" y="3228329"/>
            <a:ext cx="4551388" cy="329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3" name="Rectangle 3"/>
          <p:cNvSpPr txBox="1">
            <a:spLocks noRot="1" noChangeArrowheads="1"/>
          </p:cNvSpPr>
          <p:nvPr/>
        </p:nvSpPr>
        <p:spPr>
          <a:xfrm>
            <a:off x="433627" y="1249200"/>
            <a:ext cx="8276746" cy="34015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itchFamily="2" charset="2"/>
              <a:buNone/>
            </a:pPr>
            <a:r>
              <a:rPr lang="en-US" altLang="zh-CN" sz="2400" b="1" dirty="0">
                <a:latin typeface="宋体" panose="02010600030101010101" pitchFamily="2" charset="-122"/>
                <a:ea typeface="宋体" panose="02010600030101010101" pitchFamily="2" charset="-122"/>
                <a:cs typeface="Arial" pitchFamily="34" charset="0"/>
              </a:rPr>
              <a:t>4.4.2 </a:t>
            </a:r>
            <a:r>
              <a:rPr lang="zh-CN" altLang="en-US" sz="2400" b="1" dirty="0">
                <a:latin typeface="宋体" panose="02010600030101010101" pitchFamily="2" charset="-122"/>
                <a:ea typeface="宋体" panose="02010600030101010101" pitchFamily="2" charset="-122"/>
              </a:rPr>
              <a:t>消除和减小</a:t>
            </a:r>
            <a:r>
              <a:rPr lang="zh-CN" altLang="en-US" sz="2400" b="1" dirty="0">
                <a:solidFill>
                  <a:srgbClr val="00B050"/>
                </a:solidFill>
                <a:latin typeface="宋体" panose="02010600030101010101" pitchFamily="2" charset="-122"/>
                <a:ea typeface="宋体" panose="02010600030101010101" pitchFamily="2" charset="-122"/>
              </a:rPr>
              <a:t>边缘效应</a:t>
            </a:r>
            <a:r>
              <a:rPr lang="zh-CN" altLang="en-US" sz="2400" b="1" dirty="0">
                <a:latin typeface="宋体" panose="02010600030101010101" pitchFamily="2" charset="-122"/>
                <a:ea typeface="宋体" panose="02010600030101010101" pitchFamily="2" charset="-122"/>
              </a:rPr>
              <a:t>  </a:t>
            </a:r>
          </a:p>
        </p:txBody>
      </p:sp>
      <p:sp>
        <p:nvSpPr>
          <p:cNvPr id="7" name="Text Box 9">
            <a:extLst>
              <a:ext uri="{FF2B5EF4-FFF2-40B4-BE49-F238E27FC236}">
                <a16:creationId xmlns:a16="http://schemas.microsoft.com/office/drawing/2014/main" id="{1528F65F-448A-4E14-9239-FE9A30C22ECC}"/>
              </a:ext>
            </a:extLst>
          </p:cNvPr>
          <p:cNvSpPr txBox="1">
            <a:spLocks noChangeArrowheads="1"/>
          </p:cNvSpPr>
          <p:nvPr/>
        </p:nvSpPr>
        <p:spPr bwMode="auto">
          <a:xfrm>
            <a:off x="5200999" y="4900914"/>
            <a:ext cx="377736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r>
              <a:rPr lang="zh-CN" altLang="en-US" sz="2000" b="1" dirty="0">
                <a:solidFill>
                  <a:srgbClr val="000099"/>
                </a:solidFill>
              </a:rPr>
              <a:t>图</a:t>
            </a:r>
            <a:r>
              <a:rPr lang="en-US" altLang="zh-CN" sz="2000" b="1" dirty="0">
                <a:solidFill>
                  <a:srgbClr val="000099"/>
                </a:solidFill>
              </a:rPr>
              <a:t>4-5  </a:t>
            </a:r>
            <a:r>
              <a:rPr lang="zh-CN" altLang="en-US" sz="2000" b="1" dirty="0">
                <a:solidFill>
                  <a:srgbClr val="000099"/>
                </a:solidFill>
              </a:rPr>
              <a:t>带有等位环的平板电容式传感器结构原理图</a:t>
            </a:r>
          </a:p>
        </p:txBody>
      </p:sp>
      <p:sp>
        <p:nvSpPr>
          <p:cNvPr id="11" name="TextBox 10">
            <a:extLst>
              <a:ext uri="{FF2B5EF4-FFF2-40B4-BE49-F238E27FC236}">
                <a16:creationId xmlns:a16="http://schemas.microsoft.com/office/drawing/2014/main" id="{445923B0-BCB6-404D-A795-A3361D42B68C}"/>
              </a:ext>
            </a:extLst>
          </p:cNvPr>
          <p:cNvSpPr txBox="1"/>
          <p:nvPr/>
        </p:nvSpPr>
        <p:spPr>
          <a:xfrm>
            <a:off x="380878" y="1823136"/>
            <a:ext cx="8597489" cy="1405193"/>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001" sz="2000" b="1" i="0" u="sng" strike="noStrike" kern="1200" cap="none" spc="0" normalizeH="0" baseline="0" noProof="0">
                <a:ln>
                  <a:noFill/>
                </a:ln>
                <a:solidFill>
                  <a:srgbClr val="00B0F0"/>
                </a:solidFill>
                <a:effectLst/>
                <a:uLnTx/>
                <a:uFillTx/>
                <a:latin typeface="宋体" panose="02010600030101010101" pitchFamily="2" charset="-122"/>
                <a:ea typeface="宋体" panose="02010600030101010101" pitchFamily="2" charset="-122"/>
                <a:cs typeface="+mn-cs"/>
              </a:rPr>
              <a:t>等位环3与电极2等电位</a:t>
            </a:r>
            <a:r>
              <a:rPr kumimoji="0" lang="en-001" sz="20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，这样就能使电极2的边缘电子线平直，两电极间的电场基本均匀</a:t>
            </a:r>
            <a:r>
              <a:rPr kumimoji="0" lang="zh-CN" altLang="en-US" sz="20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20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001" sz="20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而发散的边缘电场发生在等位环3的外周，不影响工作。</a:t>
            </a:r>
          </a:p>
        </p:txBody>
      </p:sp>
      <p:sp>
        <p:nvSpPr>
          <p:cNvPr id="2" name="Rectangle: Rounded Corners 1">
            <a:extLst>
              <a:ext uri="{FF2B5EF4-FFF2-40B4-BE49-F238E27FC236}">
                <a16:creationId xmlns:a16="http://schemas.microsoft.com/office/drawing/2014/main" id="{82265886-26A9-401B-8268-1EF9AC60F1AC}"/>
              </a:ext>
            </a:extLst>
          </p:cNvPr>
          <p:cNvSpPr/>
          <p:nvPr/>
        </p:nvSpPr>
        <p:spPr>
          <a:xfrm>
            <a:off x="2142211" y="4486342"/>
            <a:ext cx="670839" cy="627546"/>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0" name="Rectangle: Rounded Corners 9">
            <a:extLst>
              <a:ext uri="{FF2B5EF4-FFF2-40B4-BE49-F238E27FC236}">
                <a16:creationId xmlns:a16="http://schemas.microsoft.com/office/drawing/2014/main" id="{0EE9E0F2-C1ED-4BC6-AC0C-5E5B844183C6}"/>
              </a:ext>
            </a:extLst>
          </p:cNvPr>
          <p:cNvSpPr/>
          <p:nvPr/>
        </p:nvSpPr>
        <p:spPr>
          <a:xfrm>
            <a:off x="266700" y="4486342"/>
            <a:ext cx="203787" cy="627546"/>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 name="Slide Number Placeholder 2">
            <a:extLst>
              <a:ext uri="{FF2B5EF4-FFF2-40B4-BE49-F238E27FC236}">
                <a16:creationId xmlns:a16="http://schemas.microsoft.com/office/drawing/2014/main" id="{26B4FA30-4231-41D8-A4E5-9F6D17281135}"/>
              </a:ext>
            </a:extLst>
          </p:cNvPr>
          <p:cNvSpPr>
            <a:spLocks noGrp="1"/>
          </p:cNvSpPr>
          <p:nvPr>
            <p:ph type="sldNum" sz="quarter" idx="12"/>
          </p:nvPr>
        </p:nvSpPr>
        <p:spPr/>
        <p:txBody>
          <a:bodyPr/>
          <a:lstStyle/>
          <a:p>
            <a:fld id="{B53602B4-F12B-41CD-B648-531F86B2CC91}" type="slidenum">
              <a:rPr lang="zh-CN" altLang="en-US" smtClean="0"/>
              <a:t>28</a:t>
            </a:fld>
            <a:endParaRPr lang="zh-CN" altLang="en-US"/>
          </a:p>
        </p:txBody>
      </p:sp>
    </p:spTree>
    <p:extLst>
      <p:ext uri="{BB962C8B-B14F-4D97-AF65-F5344CB8AC3E}">
        <p14:creationId xmlns:p14="http://schemas.microsoft.com/office/powerpoint/2010/main" val="15112617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5" name="矩形 4"/>
          <p:cNvSpPr/>
          <p:nvPr/>
        </p:nvSpPr>
        <p:spPr>
          <a:xfrm>
            <a:off x="311946" y="1284721"/>
            <a:ext cx="5778052" cy="461663"/>
          </a:xfrm>
          <a:prstGeom prst="rect">
            <a:avLst/>
          </a:prstGeom>
        </p:spPr>
        <p:txBody>
          <a:bodyPr wrap="square" lIns="91438" tIns="45719" rIns="91438" bIns="45719">
            <a:spAutoFit/>
          </a:bodyPr>
          <a:lstStyle/>
          <a:p>
            <a:pPr>
              <a:spcBef>
                <a:spcPts val="670"/>
              </a:spcBef>
            </a:pPr>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4.4.3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消除和减小</a:t>
            </a:r>
            <a:r>
              <a:rPr lang="zh-CN" altLang="en-US" sz="2400" b="1" dirty="0">
                <a:solidFill>
                  <a:srgbClr val="00B050"/>
                </a:solidFill>
                <a:latin typeface="宋体" panose="02010600030101010101" pitchFamily="2" charset="-122"/>
                <a:ea typeface="宋体" panose="02010600030101010101" pitchFamily="2" charset="-122"/>
                <a:cs typeface="Arial" panose="020B0604020202020204" pitchFamily="34" charset="0"/>
                <a:sym typeface="+mn-ea"/>
              </a:rPr>
              <a:t>寄生电容</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的影响</a:t>
            </a:r>
            <a:endParaRPr lang="en-US" altLang="zh-CN" sz="2400" b="1" dirty="0">
              <a:latin typeface="宋体" panose="02010600030101010101" pitchFamily="2" charset="-122"/>
              <a:ea typeface="宋体" panose="02010600030101010101" pitchFamily="2" charset="-122"/>
              <a:cs typeface="Arial" panose="020B0604020202020204" pitchFamily="34" charset="0"/>
              <a:sym typeface="+mn-ea"/>
            </a:endParaRPr>
          </a:p>
        </p:txBody>
      </p:sp>
      <p:sp>
        <p:nvSpPr>
          <p:cNvPr id="2" name="矩形 1"/>
          <p:cNvSpPr/>
          <p:nvPr/>
        </p:nvSpPr>
        <p:spPr>
          <a:xfrm>
            <a:off x="861227" y="1746384"/>
            <a:ext cx="7196421" cy="1691810"/>
          </a:xfrm>
          <a:prstGeom prst="rect">
            <a:avLst/>
          </a:prstGeom>
        </p:spPr>
        <p:txBody>
          <a:bodyPr wrap="square">
            <a:spAutoFit/>
          </a:bodyPr>
          <a:lstStyle/>
          <a:p>
            <a:pPr indent="715963">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寄生电容与传感器电容相</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sym typeface="+mn-ea"/>
              </a:rPr>
              <a:t>并联</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，影响传感器的灵敏度，而它的变化则为虚假信号影响仪器的精度，必须</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sym typeface="+mn-ea"/>
              </a:rPr>
              <a:t>消除和减小</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它。 </a:t>
            </a:r>
            <a:endParaRPr lang="zh-CN" altLang="en-US" sz="1600" dirty="0"/>
          </a:p>
        </p:txBody>
      </p:sp>
      <p:sp>
        <p:nvSpPr>
          <p:cNvPr id="20" name="Rectangle 3">
            <a:extLst>
              <a:ext uri="{FF2B5EF4-FFF2-40B4-BE49-F238E27FC236}">
                <a16:creationId xmlns:a16="http://schemas.microsoft.com/office/drawing/2014/main" id="{259BCD64-47FF-4F5F-A692-4E7B5AAC80FF}"/>
              </a:ext>
            </a:extLst>
          </p:cNvPr>
          <p:cNvSpPr txBox="1">
            <a:spLocks noRot="1" noChangeArrowheads="1"/>
          </p:cNvSpPr>
          <p:nvPr/>
        </p:nvSpPr>
        <p:spPr>
          <a:xfrm>
            <a:off x="861227" y="3621200"/>
            <a:ext cx="7532558" cy="16827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itchFamily="2" charset="2"/>
              <a:buNone/>
            </a:pPr>
            <a:r>
              <a:rPr lang="zh-CN" altLang="en-US" sz="2400" b="1">
                <a:solidFill>
                  <a:srgbClr val="CC3300"/>
                </a:solidFill>
                <a:latin typeface="宋体" panose="02010600030101010101" pitchFamily="2" charset="-122"/>
                <a:ea typeface="宋体" panose="02010600030101010101" pitchFamily="2" charset="-122"/>
              </a:rPr>
              <a:t>①</a:t>
            </a:r>
            <a:r>
              <a:rPr lang="zh-CN" altLang="en-US" sz="2400" b="1" dirty="0">
                <a:solidFill>
                  <a:srgbClr val="00B0F0"/>
                </a:solidFill>
                <a:latin typeface="宋体" panose="02010600030101010101" pitchFamily="2" charset="-122"/>
                <a:ea typeface="宋体" panose="02010600030101010101" pitchFamily="2" charset="-122"/>
              </a:rPr>
              <a:t>增加原始电容值</a:t>
            </a:r>
            <a:r>
              <a:rPr lang="zh-CN" altLang="en-US" sz="2400" b="1" dirty="0">
                <a:latin typeface="宋体" panose="02010600030101010101" pitchFamily="2" charset="-122"/>
                <a:ea typeface="宋体" panose="02010600030101010101" pitchFamily="2" charset="-122"/>
              </a:rPr>
              <a:t>可减小寄生电容的影</a:t>
            </a:r>
            <a:r>
              <a:rPr lang="zh-CN" altLang="en-US" sz="2400" b="1">
                <a:latin typeface="宋体" panose="02010600030101010101" pitchFamily="2" charset="-122"/>
                <a:ea typeface="宋体" panose="02010600030101010101" pitchFamily="2" charset="-122"/>
              </a:rPr>
              <a:t>响。</a:t>
            </a:r>
            <a:endParaRPr lang="en-US" altLang="zh-CN" sz="2400" b="1">
              <a:latin typeface="宋体" panose="02010600030101010101" pitchFamily="2" charset="-122"/>
              <a:ea typeface="宋体" panose="02010600030101010101" pitchFamily="2" charset="-122"/>
            </a:endParaRPr>
          </a:p>
          <a:p>
            <a:pPr>
              <a:lnSpc>
                <a:spcPct val="150000"/>
              </a:lnSpc>
              <a:spcBef>
                <a:spcPts val="0"/>
              </a:spcBef>
            </a:pPr>
            <a:r>
              <a:rPr lang="zh-CN" altLang="en-US" sz="2400" b="1">
                <a:latin typeface="宋体" panose="02010600030101010101" pitchFamily="2" charset="-122"/>
                <a:ea typeface="宋体" panose="02010600030101010101" pitchFamily="2" charset="-122"/>
              </a:rPr>
              <a:t>减小极片或极筒间的间距，增加工作面积或工作长度，可增加原始电容值。</a:t>
            </a:r>
          </a:p>
          <a:p>
            <a:pPr>
              <a:lnSpc>
                <a:spcPct val="150000"/>
              </a:lnSpc>
              <a:spcBef>
                <a:spcPts val="0"/>
              </a:spcBef>
            </a:pPr>
            <a:r>
              <a:rPr lang="zh-CN" altLang="en-US" sz="2400" b="1">
                <a:latin typeface="宋体" panose="02010600030101010101" pitchFamily="2" charset="-122"/>
                <a:ea typeface="宋体" panose="02010600030101010101" pitchFamily="2" charset="-122"/>
              </a:rPr>
              <a:t>受到加工及装配工艺、精度、示值范围、击穿电压、结构等限制。</a:t>
            </a:r>
            <a:endParaRPr lang="zh-CN" altLang="en-US" sz="2400" b="1" dirty="0">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88AC0614-CB0C-42F7-8E4F-DBC847ED3A3C}"/>
              </a:ext>
            </a:extLst>
          </p:cNvPr>
          <p:cNvSpPr>
            <a:spLocks noGrp="1"/>
          </p:cNvSpPr>
          <p:nvPr>
            <p:ph type="sldNum" sz="quarter" idx="12"/>
          </p:nvPr>
        </p:nvSpPr>
        <p:spPr/>
        <p:txBody>
          <a:bodyPr/>
          <a:lstStyle/>
          <a:p>
            <a:fld id="{B53602B4-F12B-41CD-B648-531F86B2CC91}" type="slidenum">
              <a:rPr lang="zh-CN" altLang="en-US" smtClean="0"/>
              <a:t>29</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6" name="Text Box 9">
            <a:extLst>
              <a:ext uri="{FF2B5EF4-FFF2-40B4-BE49-F238E27FC236}">
                <a16:creationId xmlns:a16="http://schemas.microsoft.com/office/drawing/2014/main" id="{9C9EAB4D-F273-4043-AA05-235407BF9806}"/>
              </a:ext>
            </a:extLst>
          </p:cNvPr>
          <p:cNvSpPr txBox="1">
            <a:spLocks noChangeArrowheads="1"/>
          </p:cNvSpPr>
          <p:nvPr/>
        </p:nvSpPr>
        <p:spPr bwMode="auto">
          <a:xfrm>
            <a:off x="5271227" y="5471059"/>
            <a:ext cx="324426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r>
              <a:rPr lang="zh-CN" altLang="en-US" b="1" dirty="0">
                <a:solidFill>
                  <a:srgbClr val="000099"/>
                </a:solidFill>
              </a:rPr>
              <a:t>图</a:t>
            </a:r>
            <a:r>
              <a:rPr lang="en-US" altLang="zh-CN" b="1" dirty="0">
                <a:solidFill>
                  <a:srgbClr val="000099"/>
                </a:solidFill>
              </a:rPr>
              <a:t>4-6  </a:t>
            </a:r>
            <a:r>
              <a:rPr lang="zh-CN" altLang="en-US" b="1" dirty="0">
                <a:solidFill>
                  <a:srgbClr val="000099"/>
                </a:solidFill>
              </a:rPr>
              <a:t>接地屏蔽圆筒形电容式传感器示意图</a:t>
            </a:r>
          </a:p>
        </p:txBody>
      </p:sp>
      <p:graphicFrame>
        <p:nvGraphicFramePr>
          <p:cNvPr id="27" name="Object 51">
            <a:extLst>
              <a:ext uri="{FF2B5EF4-FFF2-40B4-BE49-F238E27FC236}">
                <a16:creationId xmlns:a16="http://schemas.microsoft.com/office/drawing/2014/main" id="{27DD6247-3144-41D9-B622-7F38E1A31DCA}"/>
              </a:ext>
            </a:extLst>
          </p:cNvPr>
          <p:cNvGraphicFramePr>
            <a:graphicFrameLocks noChangeAspect="1"/>
          </p:cNvGraphicFramePr>
          <p:nvPr>
            <p:extLst>
              <p:ext uri="{D42A27DB-BD31-4B8C-83A1-F6EECF244321}">
                <p14:modId xmlns:p14="http://schemas.microsoft.com/office/powerpoint/2010/main" val="2732513014"/>
              </p:ext>
            </p:extLst>
          </p:nvPr>
        </p:nvGraphicFramePr>
        <p:xfrm>
          <a:off x="4242340" y="2205215"/>
          <a:ext cx="4749260" cy="3035074"/>
        </p:xfrm>
        <a:graphic>
          <a:graphicData uri="http://schemas.openxmlformats.org/presentationml/2006/ole">
            <mc:AlternateContent xmlns:mc="http://schemas.openxmlformats.org/markup-compatibility/2006">
              <mc:Choice xmlns:v="urn:schemas-microsoft-com:vml" Requires="v">
                <p:oleObj name="Image" r:id="rId3" imgW="14497959" imgH="9266939" progId="Photoshop.Image.7">
                  <p:embed/>
                </p:oleObj>
              </mc:Choice>
              <mc:Fallback>
                <p:oleObj name="Image" r:id="rId3" imgW="14497959" imgH="9266939" progId="Photoshop.Image.7">
                  <p:embed/>
                  <p:pic>
                    <p:nvPicPr>
                      <p:cNvPr id="2099"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2340" y="2205215"/>
                        <a:ext cx="4749260" cy="3035074"/>
                      </a:xfrm>
                      <a:prstGeom prst="rect">
                        <a:avLst/>
                      </a:prstGeom>
                      <a:noFill/>
                      <a:ln>
                        <a:noFill/>
                      </a:ln>
                      <a:effectLst/>
                    </p:spPr>
                  </p:pic>
                </p:oleObj>
              </mc:Fallback>
            </mc:AlternateContent>
          </a:graphicData>
        </a:graphic>
      </p:graphicFrame>
      <p:sp>
        <p:nvSpPr>
          <p:cNvPr id="28" name="Rectangle 3">
            <a:extLst>
              <a:ext uri="{FF2B5EF4-FFF2-40B4-BE49-F238E27FC236}">
                <a16:creationId xmlns:a16="http://schemas.microsoft.com/office/drawing/2014/main" id="{ADAB2B83-79D7-4DD9-B91E-31B9B03875DE}"/>
              </a:ext>
            </a:extLst>
          </p:cNvPr>
          <p:cNvSpPr txBox="1">
            <a:spLocks noRot="1" noChangeArrowheads="1"/>
          </p:cNvSpPr>
          <p:nvPr/>
        </p:nvSpPr>
        <p:spPr>
          <a:xfrm>
            <a:off x="185083" y="1906312"/>
            <a:ext cx="4631983" cy="4480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itchFamily="2" charset="2"/>
              <a:buNone/>
            </a:pPr>
            <a:r>
              <a:rPr lang="zh-CN" altLang="en-US" sz="2400" b="1" dirty="0">
                <a:solidFill>
                  <a:srgbClr val="CC3300"/>
                </a:solidFill>
                <a:latin typeface="宋体" panose="02010600030101010101" pitchFamily="2" charset="-122"/>
                <a:ea typeface="宋体" panose="02010600030101010101" pitchFamily="2" charset="-122"/>
              </a:rPr>
              <a:t>②</a:t>
            </a:r>
            <a:r>
              <a:rPr lang="zh-CN" altLang="en-US" sz="2400" b="1" dirty="0">
                <a:latin typeface="宋体" panose="02010600030101010101" pitchFamily="2" charset="-122"/>
                <a:ea typeface="宋体" panose="02010600030101010101" pitchFamily="2" charset="-122"/>
              </a:rPr>
              <a:t>注意传感器的</a:t>
            </a:r>
            <a:r>
              <a:rPr lang="zh-CN" altLang="en-US" sz="2400" b="1" dirty="0">
                <a:solidFill>
                  <a:srgbClr val="00B0F0"/>
                </a:solidFill>
                <a:latin typeface="宋体" panose="02010600030101010101" pitchFamily="2" charset="-122"/>
                <a:ea typeface="宋体" panose="02010600030101010101" pitchFamily="2" charset="-122"/>
              </a:rPr>
              <a:t>接地和屏蔽</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571500" indent="-342900">
              <a:lnSpc>
                <a:spcPct val="130000"/>
              </a:lnSpc>
              <a:spcBef>
                <a:spcPts val="0"/>
              </a:spcBef>
            </a:pPr>
            <a:r>
              <a:rPr lang="zh-CN" altLang="en-US" sz="2400" b="1" dirty="0">
                <a:latin typeface="宋体" panose="02010600030101010101" pitchFamily="2" charset="-122"/>
                <a:ea typeface="宋体" panose="02010600030101010101" pitchFamily="2" charset="-122"/>
              </a:rPr>
              <a:t>可动极筒与连杆固定在一起随被测值位移。</a:t>
            </a:r>
            <a:endParaRPr lang="en-US" altLang="zh-CN" sz="2400" b="1" dirty="0">
              <a:latin typeface="宋体" panose="02010600030101010101" pitchFamily="2" charset="-122"/>
              <a:ea typeface="宋体" panose="02010600030101010101" pitchFamily="2" charset="-122"/>
            </a:endParaRPr>
          </a:p>
          <a:p>
            <a:pPr marL="571500" indent="-342900">
              <a:lnSpc>
                <a:spcPct val="130000"/>
              </a:lnSpc>
              <a:spcBef>
                <a:spcPts val="0"/>
              </a:spcBef>
            </a:pPr>
            <a:r>
              <a:rPr lang="zh-CN" altLang="en-US" sz="2400" b="1" dirty="0">
                <a:latin typeface="宋体" panose="02010600030101010101" pitchFamily="2" charset="-122"/>
                <a:ea typeface="宋体" panose="02010600030101010101" pitchFamily="2" charset="-122"/>
              </a:rPr>
              <a:t>可动极筒与传感器的屏蔽壳（良导体）同为地</a:t>
            </a:r>
            <a:endParaRPr lang="en-US" altLang="zh-CN" sz="2400" b="1" dirty="0">
              <a:latin typeface="宋体" panose="02010600030101010101" pitchFamily="2" charset="-122"/>
              <a:ea typeface="宋体" panose="02010600030101010101" pitchFamily="2" charset="-122"/>
            </a:endParaRPr>
          </a:p>
          <a:p>
            <a:pPr marL="571500" indent="-342900">
              <a:lnSpc>
                <a:spcPct val="130000"/>
              </a:lnSpc>
              <a:spcBef>
                <a:spcPts val="0"/>
              </a:spcBef>
            </a:pPr>
            <a:r>
              <a:rPr lang="zh-CN" altLang="en-US" sz="2400" b="1" dirty="0">
                <a:latin typeface="宋体" panose="02010600030101010101" pitchFamily="2" charset="-122"/>
                <a:ea typeface="宋体" panose="02010600030101010101" pitchFamily="2" charset="-122"/>
              </a:rPr>
              <a:t>可动极筒移动时，固定极筒与屏蔽壳之间的电容值保持不变，从而消除了由此产生的虚假信号。</a:t>
            </a:r>
          </a:p>
        </p:txBody>
      </p:sp>
      <p:sp>
        <p:nvSpPr>
          <p:cNvPr id="29" name="矩形 4">
            <a:extLst>
              <a:ext uri="{FF2B5EF4-FFF2-40B4-BE49-F238E27FC236}">
                <a16:creationId xmlns:a16="http://schemas.microsoft.com/office/drawing/2014/main" id="{A8BE7B62-84B9-4B07-AC0E-4CD122B58B08}"/>
              </a:ext>
            </a:extLst>
          </p:cNvPr>
          <p:cNvSpPr/>
          <p:nvPr/>
        </p:nvSpPr>
        <p:spPr>
          <a:xfrm>
            <a:off x="311946" y="1284721"/>
            <a:ext cx="5778052" cy="461663"/>
          </a:xfrm>
          <a:prstGeom prst="rect">
            <a:avLst/>
          </a:prstGeom>
        </p:spPr>
        <p:txBody>
          <a:bodyPr wrap="square" lIns="91438" tIns="45719" rIns="91438" bIns="45719">
            <a:spAutoFit/>
          </a:bodyPr>
          <a:lstStyle/>
          <a:p>
            <a:pPr>
              <a:spcBef>
                <a:spcPts val="670"/>
              </a:spcBef>
            </a:pPr>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4.4.3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消除和减小寄生电容的影响</a:t>
            </a:r>
            <a:endParaRPr lang="en-US" altLang="zh-CN" sz="2400" b="1" dirty="0">
              <a:latin typeface="宋体" panose="02010600030101010101" pitchFamily="2" charset="-122"/>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3010089E-76BB-4FE3-B336-CEC5F7629215}"/>
              </a:ext>
            </a:extLst>
          </p:cNvPr>
          <p:cNvSpPr>
            <a:spLocks noGrp="1"/>
          </p:cNvSpPr>
          <p:nvPr>
            <p:ph type="sldNum" sz="quarter" idx="12"/>
          </p:nvPr>
        </p:nvSpPr>
        <p:spPr/>
        <p:txBody>
          <a:bodyPr/>
          <a:lstStyle/>
          <a:p>
            <a:fld id="{B53602B4-F12B-41CD-B648-531F86B2CC91}" type="slidenum">
              <a:rPr lang="zh-CN" altLang="en-US" smtClean="0"/>
              <a:t>30</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6" name="Rectangle 4"/>
          <p:cNvSpPr>
            <a:spLocks noChangeArrowheads="1"/>
          </p:cNvSpPr>
          <p:nvPr/>
        </p:nvSpPr>
        <p:spPr bwMode="auto">
          <a:xfrm>
            <a:off x="643960" y="2411155"/>
            <a:ext cx="8071868" cy="1436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200000"/>
              </a:lnSpc>
              <a:spcAft>
                <a:spcPts val="600"/>
              </a:spcAft>
              <a:buFont typeface="Wingdings" pitchFamily="2" charset="2"/>
              <a:buNone/>
            </a:pPr>
            <a:r>
              <a:rPr lang="en-US" altLang="zh-CN" sz="2400" b="1" dirty="0">
                <a:solidFill>
                  <a:srgbClr val="CC3300"/>
                </a:solidFill>
                <a:latin typeface="宋体" panose="02010600030101010101" pitchFamily="2" charset="-122"/>
                <a:ea typeface="宋体" panose="02010600030101010101" pitchFamily="2" charset="-122"/>
              </a:rPr>
              <a:t>③</a:t>
            </a:r>
            <a:r>
              <a:rPr lang="zh-CN" altLang="en-US" sz="2400" b="1" dirty="0">
                <a:latin typeface="宋体" panose="02010600030101010101" pitchFamily="2" charset="-122"/>
                <a:ea typeface="宋体" panose="02010600030101010101" pitchFamily="2" charset="-122"/>
              </a:rPr>
              <a:t>将传感器与电子线路的前置级</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集成化</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装在一个壳体内，去除传感器至前置级的电</a:t>
            </a:r>
            <a:r>
              <a:rPr lang="zh-CN" altLang="en-US" sz="2400" b="1">
                <a:latin typeface="宋体" panose="02010600030101010101" pitchFamily="2" charset="-122"/>
                <a:ea typeface="宋体" panose="02010600030101010101" pitchFamily="2" charset="-122"/>
              </a:rPr>
              <a:t>缆。</a:t>
            </a:r>
            <a:endParaRPr lang="zh-CN" altLang="en-US" sz="2400" b="1" dirty="0">
              <a:latin typeface="宋体" panose="02010600030101010101" pitchFamily="2" charset="-122"/>
              <a:ea typeface="宋体" panose="02010600030101010101" pitchFamily="2" charset="-122"/>
            </a:endParaRPr>
          </a:p>
        </p:txBody>
      </p:sp>
      <p:sp>
        <p:nvSpPr>
          <p:cNvPr id="31" name="矩形 4">
            <a:extLst>
              <a:ext uri="{FF2B5EF4-FFF2-40B4-BE49-F238E27FC236}">
                <a16:creationId xmlns:a16="http://schemas.microsoft.com/office/drawing/2014/main" id="{6CA04BAD-4287-434D-960B-638CC249E779}"/>
              </a:ext>
            </a:extLst>
          </p:cNvPr>
          <p:cNvSpPr/>
          <p:nvPr/>
        </p:nvSpPr>
        <p:spPr>
          <a:xfrm>
            <a:off x="311946" y="1284721"/>
            <a:ext cx="5778052" cy="461663"/>
          </a:xfrm>
          <a:prstGeom prst="rect">
            <a:avLst/>
          </a:prstGeom>
        </p:spPr>
        <p:txBody>
          <a:bodyPr wrap="square" lIns="91438" tIns="45719" rIns="91438" bIns="45719">
            <a:spAutoFit/>
          </a:bodyPr>
          <a:lstStyle/>
          <a:p>
            <a:pPr>
              <a:spcBef>
                <a:spcPts val="670"/>
              </a:spcBef>
            </a:pPr>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4.4.3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消除和减小寄生电容的影响</a:t>
            </a:r>
            <a:endParaRPr lang="en-US" altLang="zh-CN" sz="2400" b="1" dirty="0">
              <a:latin typeface="宋体" panose="02010600030101010101" pitchFamily="2" charset="-122"/>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D06A6FED-29C2-4C16-B059-82DA925CA8BD}"/>
              </a:ext>
            </a:extLst>
          </p:cNvPr>
          <p:cNvSpPr>
            <a:spLocks noGrp="1"/>
          </p:cNvSpPr>
          <p:nvPr>
            <p:ph type="sldNum" sz="quarter" idx="12"/>
          </p:nvPr>
        </p:nvSpPr>
        <p:spPr/>
        <p:txBody>
          <a:bodyPr/>
          <a:lstStyle/>
          <a:p>
            <a:fld id="{B53602B4-F12B-41CD-B648-531F86B2CC91}" type="slidenum">
              <a:rPr lang="zh-CN" altLang="en-US" smtClean="0"/>
              <a:t>31</a:t>
            </a:fld>
            <a:endParaRPr lang="zh-CN" altLang="en-US"/>
          </a:p>
        </p:txBody>
      </p:sp>
    </p:spTree>
    <p:extLst>
      <p:ext uri="{BB962C8B-B14F-4D97-AF65-F5344CB8AC3E}">
        <p14:creationId xmlns:p14="http://schemas.microsoft.com/office/powerpoint/2010/main" val="41712166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6" name="Rectangle 4"/>
          <p:cNvSpPr>
            <a:spLocks noChangeArrowheads="1"/>
          </p:cNvSpPr>
          <p:nvPr/>
        </p:nvSpPr>
        <p:spPr bwMode="auto">
          <a:xfrm>
            <a:off x="426246" y="1833623"/>
            <a:ext cx="84436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Aft>
                <a:spcPts val="600"/>
              </a:spcAft>
              <a:buFont typeface="Wingdings" pitchFamily="2" charset="2"/>
              <a:buNone/>
            </a:pPr>
            <a:r>
              <a:rPr lang="zh-CN" altLang="en-US" sz="2400" b="1">
                <a:solidFill>
                  <a:srgbClr val="CC3300"/>
                </a:solidFill>
                <a:latin typeface="宋体" panose="02010600030101010101" pitchFamily="2" charset="-122"/>
                <a:ea typeface="宋体" panose="02010600030101010101" pitchFamily="2" charset="-122"/>
              </a:rPr>
              <a:t>④</a:t>
            </a:r>
            <a:r>
              <a:rPr lang="zh-CN" altLang="en-US" sz="2400" b="1" dirty="0">
                <a:latin typeface="宋体" panose="02010600030101010101" pitchFamily="2" charset="-122"/>
                <a:ea typeface="宋体" panose="02010600030101010101" pitchFamily="2" charset="-122"/>
              </a:rPr>
              <a:t>采用“驱动电缆”技术</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也称“双层屏蔽等位传输”技术</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p>
        </p:txBody>
      </p:sp>
      <p:sp>
        <p:nvSpPr>
          <p:cNvPr id="21" name="Text Box 9">
            <a:extLst>
              <a:ext uri="{FF2B5EF4-FFF2-40B4-BE49-F238E27FC236}">
                <a16:creationId xmlns:a16="http://schemas.microsoft.com/office/drawing/2014/main" id="{D10132E0-634D-4F60-9460-8A04AB7A20C3}"/>
              </a:ext>
            </a:extLst>
          </p:cNvPr>
          <p:cNvSpPr txBox="1">
            <a:spLocks noChangeArrowheads="1"/>
          </p:cNvSpPr>
          <p:nvPr/>
        </p:nvSpPr>
        <p:spPr bwMode="auto">
          <a:xfrm>
            <a:off x="5652857" y="4742282"/>
            <a:ext cx="316275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r>
              <a:rPr lang="zh-CN" altLang="en-US" b="1" dirty="0">
                <a:solidFill>
                  <a:srgbClr val="000099"/>
                </a:solidFill>
              </a:rPr>
              <a:t>图</a:t>
            </a:r>
            <a:r>
              <a:rPr lang="en-US" altLang="zh-CN" b="1" dirty="0">
                <a:solidFill>
                  <a:srgbClr val="000099"/>
                </a:solidFill>
              </a:rPr>
              <a:t>4-7  </a:t>
            </a:r>
            <a:r>
              <a:rPr lang="zh-CN" altLang="en-US" b="1" dirty="0">
                <a:solidFill>
                  <a:srgbClr val="000099"/>
                </a:solidFill>
              </a:rPr>
              <a:t>驱动电缆技术电原理图</a:t>
            </a:r>
          </a:p>
        </p:txBody>
      </p:sp>
      <p:sp>
        <p:nvSpPr>
          <p:cNvPr id="28" name="Text Box 56">
            <a:extLst>
              <a:ext uri="{FF2B5EF4-FFF2-40B4-BE49-F238E27FC236}">
                <a16:creationId xmlns:a16="http://schemas.microsoft.com/office/drawing/2014/main" id="{5FAF38B9-0474-4805-AA03-D643400111A9}"/>
              </a:ext>
            </a:extLst>
          </p:cNvPr>
          <p:cNvSpPr txBox="1">
            <a:spLocks noChangeArrowheads="1"/>
          </p:cNvSpPr>
          <p:nvPr/>
        </p:nvSpPr>
        <p:spPr bwMode="auto">
          <a:xfrm>
            <a:off x="185083" y="2402312"/>
            <a:ext cx="5044142" cy="4323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08000"/>
              </a:lnSpc>
              <a:spcBef>
                <a:spcPts val="600"/>
              </a:spcBef>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传感器与电子线路放置级间的引线为</a:t>
            </a:r>
            <a:r>
              <a:rPr lang="zh-CN" altLang="en-US" b="1" dirty="0">
                <a:solidFill>
                  <a:srgbClr val="0000FF"/>
                </a:solidFill>
                <a:latin typeface="宋体" panose="02010600030101010101" pitchFamily="2" charset="-122"/>
                <a:ea typeface="宋体" panose="02010600030101010101" pitchFamily="2" charset="-122"/>
              </a:rPr>
              <a:t>双屏蔽电缆</a:t>
            </a:r>
            <a:r>
              <a:rPr lang="zh-CN" altLang="en-US" b="1" dirty="0">
                <a:latin typeface="宋体" panose="02010600030101010101" pitchFamily="2" charset="-122"/>
                <a:ea typeface="宋体" panose="02010600030101010101" pitchFamily="2" charset="-122"/>
              </a:rPr>
              <a:t>，</a:t>
            </a:r>
            <a:r>
              <a:rPr lang="zh-CN" altLang="en-US" b="1" dirty="0">
                <a:solidFill>
                  <a:srgbClr val="00B050"/>
                </a:solidFill>
                <a:latin typeface="宋体" panose="02010600030101010101" pitchFamily="2" charset="-122"/>
                <a:ea typeface="宋体" panose="02010600030101010101" pitchFamily="2" charset="-122"/>
              </a:rPr>
              <a:t>其内屏蔽层与信号传输导线</a:t>
            </a:r>
            <a:r>
              <a:rPr lang="zh-CN" altLang="en-US" b="1" dirty="0">
                <a:latin typeface="宋体" panose="02010600030101010101" pitchFamily="2" charset="-122"/>
                <a:ea typeface="宋体" panose="02010600030101010101" pitchFamily="2" charset="-122"/>
              </a:rPr>
              <a:t>（即电缆芯线）通过</a:t>
            </a:r>
            <a:r>
              <a:rPr lang="en-US" altLang="zh-CN" b="1" dirty="0">
                <a:latin typeface="宋体" panose="02010600030101010101" pitchFamily="2" charset="-122"/>
                <a:ea typeface="宋体" panose="02010600030101010101" pitchFamily="2" charset="-122"/>
              </a:rPr>
              <a:t>1:1</a:t>
            </a:r>
            <a:r>
              <a:rPr lang="zh-CN" altLang="en-US" b="1" dirty="0">
                <a:latin typeface="宋体" panose="02010600030101010101" pitchFamily="2" charset="-122"/>
                <a:ea typeface="宋体" panose="02010600030101010101" pitchFamily="2" charset="-122"/>
              </a:rPr>
              <a:t>放大器成为</a:t>
            </a:r>
            <a:r>
              <a:rPr lang="zh-CN" altLang="en-US" b="1" dirty="0">
                <a:solidFill>
                  <a:srgbClr val="00B050"/>
                </a:solidFill>
                <a:latin typeface="宋体" panose="02010600030101010101" pitchFamily="2" charset="-122"/>
                <a:ea typeface="宋体" panose="02010600030101010101" pitchFamily="2" charset="-122"/>
              </a:rPr>
              <a:t>等电位</a:t>
            </a:r>
            <a:r>
              <a:rPr lang="zh-CN" altLang="en-US" b="1" dirty="0">
                <a:latin typeface="宋体" panose="02010600030101010101" pitchFamily="2" charset="-122"/>
                <a:ea typeface="宋体" panose="02010600030101010101" pitchFamily="2" charset="-122"/>
              </a:rPr>
              <a:t>，消除芯线与内屏蔽层之间的电容。</a:t>
            </a:r>
          </a:p>
          <a:p>
            <a:pPr marL="342900" indent="-342900">
              <a:lnSpc>
                <a:spcPct val="108000"/>
              </a:lnSpc>
              <a:spcBef>
                <a:spcPts val="600"/>
              </a:spcBef>
              <a:buFont typeface="Arial" panose="020B0604020202020204" pitchFamily="34" charset="0"/>
              <a:buChar char="•"/>
            </a:pPr>
            <a:r>
              <a:rPr lang="zh-CN" altLang="en-US" b="1" dirty="0">
                <a:solidFill>
                  <a:srgbClr val="00B0F0"/>
                </a:solidFill>
                <a:latin typeface="宋体" panose="02010600030101010101" pitchFamily="2" charset="-122"/>
                <a:ea typeface="宋体" panose="02010600030101010101" pitchFamily="2" charset="-122"/>
              </a:rPr>
              <a:t>外屏蔽层接大地</a:t>
            </a:r>
            <a:r>
              <a:rPr lang="zh-CN" altLang="en-US" b="1" dirty="0">
                <a:latin typeface="宋体" panose="02010600030101010101" pitchFamily="2" charset="-122"/>
                <a:ea typeface="宋体" panose="02010600030101010101" pitchFamily="2" charset="-122"/>
              </a:rPr>
              <a:t>或接仪器地，用来防止外界电场的干扰。</a:t>
            </a:r>
          </a:p>
          <a:p>
            <a:pPr marL="342900" indent="-342900">
              <a:lnSpc>
                <a:spcPct val="108000"/>
              </a:lnSpc>
              <a:spcBef>
                <a:spcPts val="600"/>
              </a:spcBef>
              <a:buFont typeface="Arial" panose="020B0604020202020204" pitchFamily="34" charset="0"/>
              <a:buChar char="•"/>
            </a:pPr>
            <a:r>
              <a:rPr lang="zh-CN" altLang="en-US" b="1" dirty="0">
                <a:solidFill>
                  <a:schemeClr val="accent2"/>
                </a:solidFill>
                <a:latin typeface="宋体" panose="02010600030101010101" pitchFamily="2" charset="-122"/>
                <a:ea typeface="宋体" panose="02010600030101010101" pitchFamily="2" charset="-122"/>
              </a:rPr>
              <a:t>内外屏蔽层之间的电容是</a:t>
            </a:r>
            <a:r>
              <a:rPr lang="en-US" altLang="zh-CN" b="1" dirty="0">
                <a:solidFill>
                  <a:schemeClr val="accent2"/>
                </a:solidFill>
                <a:latin typeface="宋体" panose="02010600030101010101" pitchFamily="2" charset="-122"/>
                <a:ea typeface="宋体" panose="02010600030101010101" pitchFamily="2" charset="-122"/>
              </a:rPr>
              <a:t>1:1</a:t>
            </a:r>
            <a:r>
              <a:rPr lang="zh-CN" altLang="en-US" b="1" dirty="0">
                <a:solidFill>
                  <a:schemeClr val="accent2"/>
                </a:solidFill>
                <a:latin typeface="宋体" panose="02010600030101010101" pitchFamily="2" charset="-122"/>
                <a:ea typeface="宋体" panose="02010600030101010101" pitchFamily="2" charset="-122"/>
              </a:rPr>
              <a:t>放大器的负载</a:t>
            </a:r>
            <a:r>
              <a:rPr lang="zh-CN" altLang="en-US" b="1" dirty="0">
                <a:latin typeface="宋体" panose="02010600030101010101" pitchFamily="2" charset="-122"/>
                <a:ea typeface="宋体" panose="02010600030101010101" pitchFamily="2" charset="-122"/>
              </a:rPr>
              <a:t>。</a:t>
            </a:r>
          </a:p>
          <a:p>
            <a:pPr marL="342900" indent="-342900">
              <a:lnSpc>
                <a:spcPct val="108000"/>
              </a:lnSpc>
              <a:spcBef>
                <a:spcPts val="600"/>
              </a:spcBef>
              <a:buFont typeface="Arial" panose="020B0604020202020204" pitchFamily="34" charset="0"/>
              <a:buChar char="•"/>
            </a:pPr>
            <a:r>
              <a:rPr lang="en-US" altLang="zh-CN" b="1" dirty="0">
                <a:latin typeface="宋体" panose="02010600030101010101" pitchFamily="2" charset="-122"/>
                <a:ea typeface="宋体" panose="02010600030101010101" pitchFamily="2" charset="-122"/>
              </a:rPr>
              <a:t>1:1</a:t>
            </a:r>
            <a:r>
              <a:rPr lang="zh-CN" altLang="en-US" b="1" dirty="0">
                <a:latin typeface="宋体" panose="02010600030101010101" pitchFamily="2" charset="-122"/>
                <a:ea typeface="宋体" panose="02010600030101010101" pitchFamily="2" charset="-122"/>
              </a:rPr>
              <a:t>放大器是一个输入阻抗要求很高，具有容性负载，放大倍数为</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准确度要求达</a:t>
            </a:r>
            <a:r>
              <a:rPr lang="en-US" altLang="zh-CN" b="1" dirty="0">
                <a:latin typeface="宋体" panose="02010600030101010101" pitchFamily="2" charset="-122"/>
                <a:ea typeface="宋体" panose="02010600030101010101" pitchFamily="2" charset="-122"/>
              </a:rPr>
              <a:t>1/10000)</a:t>
            </a:r>
            <a:r>
              <a:rPr lang="zh-CN" altLang="en-US" b="1" dirty="0">
                <a:latin typeface="宋体" panose="02010600030101010101" pitchFamily="2" charset="-122"/>
                <a:ea typeface="宋体" panose="02010600030101010101" pitchFamily="2" charset="-122"/>
              </a:rPr>
              <a:t>的同相放大器。</a:t>
            </a:r>
          </a:p>
          <a:p>
            <a:pPr marL="342900" indent="-342900">
              <a:lnSpc>
                <a:spcPct val="108000"/>
              </a:lnSpc>
              <a:spcBef>
                <a:spcPts val="600"/>
              </a:spcBef>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因此“驱动电缆”技术对</a:t>
            </a:r>
            <a:r>
              <a:rPr lang="en-US" altLang="zh-CN" b="1" dirty="0">
                <a:latin typeface="宋体" panose="02010600030101010101" pitchFamily="2" charset="-122"/>
                <a:ea typeface="宋体" panose="02010600030101010101" pitchFamily="2" charset="-122"/>
              </a:rPr>
              <a:t>1:1</a:t>
            </a:r>
            <a:r>
              <a:rPr lang="zh-CN" altLang="en-US" b="1" dirty="0">
                <a:latin typeface="宋体" panose="02010600030101010101" pitchFamily="2" charset="-122"/>
                <a:ea typeface="宋体" panose="02010600030101010101" pitchFamily="2" charset="-122"/>
              </a:rPr>
              <a:t>放大器要求很高，线路复杂，但能保证电容式传感器的电容值小于</a:t>
            </a:r>
            <a:r>
              <a:rPr lang="en-US" altLang="zh-CN" b="1" dirty="0">
                <a:latin typeface="宋体" panose="02010600030101010101" pitchFamily="2" charset="-122"/>
                <a:ea typeface="宋体" panose="02010600030101010101" pitchFamily="2" charset="-122"/>
              </a:rPr>
              <a:t>1pF</a:t>
            </a:r>
            <a:r>
              <a:rPr lang="zh-CN" altLang="en-US" b="1" dirty="0">
                <a:latin typeface="宋体" panose="02010600030101010101" pitchFamily="2" charset="-122"/>
                <a:ea typeface="宋体" panose="02010600030101010101" pitchFamily="2" charset="-122"/>
              </a:rPr>
              <a:t>时，仪器仍能正常工作。</a:t>
            </a:r>
          </a:p>
        </p:txBody>
      </p:sp>
      <p:pic>
        <p:nvPicPr>
          <p:cNvPr id="2" name="Picture 1">
            <a:extLst>
              <a:ext uri="{FF2B5EF4-FFF2-40B4-BE49-F238E27FC236}">
                <a16:creationId xmlns:a16="http://schemas.microsoft.com/office/drawing/2014/main" id="{3EE81151-5372-4B15-B194-9C481BE54600}"/>
              </a:ext>
            </a:extLst>
          </p:cNvPr>
          <p:cNvPicPr>
            <a:picLocks noChangeAspect="1"/>
          </p:cNvPicPr>
          <p:nvPr/>
        </p:nvPicPr>
        <p:blipFill rotWithShape="1">
          <a:blip r:embed="rId3"/>
          <a:srcRect l="4917" r="5932"/>
          <a:stretch/>
        </p:blipFill>
        <p:spPr>
          <a:xfrm>
            <a:off x="5419724" y="2523417"/>
            <a:ext cx="3629025" cy="2153412"/>
          </a:xfrm>
          <a:prstGeom prst="rect">
            <a:avLst/>
          </a:prstGeom>
        </p:spPr>
      </p:pic>
      <p:sp>
        <p:nvSpPr>
          <p:cNvPr id="11" name="矩形 4">
            <a:extLst>
              <a:ext uri="{FF2B5EF4-FFF2-40B4-BE49-F238E27FC236}">
                <a16:creationId xmlns:a16="http://schemas.microsoft.com/office/drawing/2014/main" id="{50934716-4619-4BE3-8285-98365AE43C4C}"/>
              </a:ext>
            </a:extLst>
          </p:cNvPr>
          <p:cNvSpPr/>
          <p:nvPr/>
        </p:nvSpPr>
        <p:spPr>
          <a:xfrm>
            <a:off x="311946" y="1284721"/>
            <a:ext cx="5778052" cy="461663"/>
          </a:xfrm>
          <a:prstGeom prst="rect">
            <a:avLst/>
          </a:prstGeom>
        </p:spPr>
        <p:txBody>
          <a:bodyPr wrap="square" lIns="91438" tIns="45719" rIns="91438" bIns="45719">
            <a:spAutoFit/>
          </a:bodyPr>
          <a:lstStyle/>
          <a:p>
            <a:pPr>
              <a:spcBef>
                <a:spcPts val="670"/>
              </a:spcBef>
            </a:pPr>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4.4.3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消除和减小寄生电容的影响</a:t>
            </a:r>
            <a:endParaRPr lang="en-US" altLang="zh-CN" sz="2400" b="1" dirty="0">
              <a:latin typeface="宋体" panose="02010600030101010101" pitchFamily="2" charset="-122"/>
              <a:ea typeface="宋体" panose="02010600030101010101" pitchFamily="2" charset="-122"/>
              <a:cs typeface="Arial" panose="020B0604020202020204" pitchFamily="34" charset="0"/>
              <a:sym typeface="+mn-ea"/>
            </a:endParaRPr>
          </a:p>
        </p:txBody>
      </p:sp>
      <p:sp>
        <p:nvSpPr>
          <p:cNvPr id="3" name="Slide Number Placeholder 2">
            <a:extLst>
              <a:ext uri="{FF2B5EF4-FFF2-40B4-BE49-F238E27FC236}">
                <a16:creationId xmlns:a16="http://schemas.microsoft.com/office/drawing/2014/main" id="{FABEE0FF-0D51-421A-86C8-AD94CB2A98D3}"/>
              </a:ext>
            </a:extLst>
          </p:cNvPr>
          <p:cNvSpPr>
            <a:spLocks noGrp="1"/>
          </p:cNvSpPr>
          <p:nvPr>
            <p:ph type="sldNum" sz="quarter" idx="12"/>
          </p:nvPr>
        </p:nvSpPr>
        <p:spPr/>
        <p:txBody>
          <a:bodyPr/>
          <a:lstStyle/>
          <a:p>
            <a:fld id="{B53602B4-F12B-41CD-B648-531F86B2CC91}" type="slidenum">
              <a:rPr lang="zh-CN" altLang="en-US" smtClean="0"/>
              <a:t>32</a:t>
            </a:fld>
            <a:endParaRPr lang="zh-CN" altLang="en-US"/>
          </a:p>
        </p:txBody>
      </p:sp>
    </p:spTree>
    <p:extLst>
      <p:ext uri="{BB962C8B-B14F-4D97-AF65-F5344CB8AC3E}">
        <p14:creationId xmlns:p14="http://schemas.microsoft.com/office/powerpoint/2010/main" val="28254304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1" name="Rectangle 4"/>
          <p:cNvSpPr>
            <a:spLocks noChangeArrowheads="1"/>
          </p:cNvSpPr>
          <p:nvPr/>
        </p:nvSpPr>
        <p:spPr bwMode="auto">
          <a:xfrm>
            <a:off x="311946" y="1769902"/>
            <a:ext cx="4572000"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Wingdings" pitchFamily="2" charset="2"/>
              <a:buNone/>
            </a:pPr>
            <a:r>
              <a:rPr lang="en-US" altLang="zh-CN" sz="2400" b="1" dirty="0">
                <a:solidFill>
                  <a:srgbClr val="CC3300"/>
                </a:solidFill>
                <a:latin typeface="宋体" panose="02010600030101010101" pitchFamily="2" charset="-122"/>
                <a:ea typeface="宋体" panose="02010600030101010101" pitchFamily="2" charset="-122"/>
              </a:rPr>
              <a:t>⑤</a:t>
            </a:r>
            <a:r>
              <a:rPr lang="zh-CN" altLang="en-US" sz="2400" b="1" dirty="0">
                <a:latin typeface="宋体" panose="02010600030101010101" pitchFamily="2" charset="-122"/>
                <a:ea typeface="宋体" panose="02010600030101010101" pitchFamily="2" charset="-122"/>
              </a:rPr>
              <a:t>采用运算放大器</a:t>
            </a:r>
            <a:r>
              <a:rPr lang="zh-CN" altLang="en-US" sz="2400" b="1">
                <a:latin typeface="宋体" panose="02010600030101010101" pitchFamily="2" charset="-122"/>
                <a:ea typeface="宋体" panose="02010600030101010101" pitchFamily="2" charset="-122"/>
              </a:rPr>
              <a:t>法。</a:t>
            </a:r>
            <a:endParaRPr lang="zh-CN" altLang="en-US" sz="2400" b="1" dirty="0">
              <a:latin typeface="宋体" panose="02010600030101010101" pitchFamily="2" charset="-122"/>
              <a:ea typeface="宋体" panose="02010600030101010101" pitchFamily="2" charset="-122"/>
            </a:endParaRPr>
          </a:p>
        </p:txBody>
      </p:sp>
      <p:sp>
        <p:nvSpPr>
          <p:cNvPr id="23" name="矩形 4">
            <a:extLst>
              <a:ext uri="{FF2B5EF4-FFF2-40B4-BE49-F238E27FC236}">
                <a16:creationId xmlns:a16="http://schemas.microsoft.com/office/drawing/2014/main" id="{586668C4-E814-4E8C-9FF2-F403AD6AAB8C}"/>
              </a:ext>
            </a:extLst>
          </p:cNvPr>
          <p:cNvSpPr/>
          <p:nvPr/>
        </p:nvSpPr>
        <p:spPr>
          <a:xfrm>
            <a:off x="311946" y="1284721"/>
            <a:ext cx="5778052" cy="461663"/>
          </a:xfrm>
          <a:prstGeom prst="rect">
            <a:avLst/>
          </a:prstGeom>
        </p:spPr>
        <p:txBody>
          <a:bodyPr wrap="square" lIns="91438" tIns="45719" rIns="91438" bIns="45719">
            <a:spAutoFit/>
          </a:bodyPr>
          <a:lstStyle/>
          <a:p>
            <a:pPr>
              <a:spcBef>
                <a:spcPts val="670"/>
              </a:spcBef>
            </a:pPr>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4.4.3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消除和减小寄生电容的影响</a:t>
            </a:r>
            <a:endParaRPr lang="en-US" altLang="zh-CN" sz="2400" b="1" dirty="0">
              <a:latin typeface="宋体" panose="02010600030101010101" pitchFamily="2" charset="-122"/>
              <a:ea typeface="宋体" panose="02010600030101010101" pitchFamily="2" charset="-122"/>
              <a:cs typeface="Arial" panose="020B0604020202020204" pitchFamily="34" charset="0"/>
              <a:sym typeface="+mn-ea"/>
            </a:endParaRPr>
          </a:p>
        </p:txBody>
      </p:sp>
      <p:pic>
        <p:nvPicPr>
          <p:cNvPr id="2" name="Picture 1">
            <a:extLst>
              <a:ext uri="{FF2B5EF4-FFF2-40B4-BE49-F238E27FC236}">
                <a16:creationId xmlns:a16="http://schemas.microsoft.com/office/drawing/2014/main" id="{F10D2560-1718-4156-BC60-601B58E4F4CC}"/>
              </a:ext>
            </a:extLst>
          </p:cNvPr>
          <p:cNvPicPr>
            <a:picLocks noChangeAspect="1"/>
          </p:cNvPicPr>
          <p:nvPr/>
        </p:nvPicPr>
        <p:blipFill>
          <a:blip r:embed="rId3"/>
          <a:stretch>
            <a:fillRect/>
          </a:stretch>
        </p:blipFill>
        <p:spPr>
          <a:xfrm>
            <a:off x="5481618" y="2430258"/>
            <a:ext cx="3402110" cy="2036183"/>
          </a:xfrm>
          <a:prstGeom prst="rect">
            <a:avLst/>
          </a:prstGeom>
        </p:spPr>
      </p:pic>
      <p:sp>
        <p:nvSpPr>
          <p:cNvPr id="10" name="Text Box 9">
            <a:extLst>
              <a:ext uri="{FF2B5EF4-FFF2-40B4-BE49-F238E27FC236}">
                <a16:creationId xmlns:a16="http://schemas.microsoft.com/office/drawing/2014/main" id="{FA217098-C143-4C5D-AF7B-D928EF731823}"/>
              </a:ext>
            </a:extLst>
          </p:cNvPr>
          <p:cNvSpPr txBox="1">
            <a:spLocks noChangeArrowheads="1"/>
          </p:cNvSpPr>
          <p:nvPr/>
        </p:nvSpPr>
        <p:spPr bwMode="auto">
          <a:xfrm>
            <a:off x="5433986" y="4630804"/>
            <a:ext cx="36497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r>
              <a:rPr lang="zh-CN" altLang="en-US" b="1" dirty="0">
                <a:solidFill>
                  <a:srgbClr val="000099"/>
                </a:solidFill>
              </a:rPr>
              <a:t>图</a:t>
            </a:r>
            <a:r>
              <a:rPr lang="en-US" altLang="zh-CN" b="1" dirty="0">
                <a:solidFill>
                  <a:srgbClr val="000099"/>
                </a:solidFill>
              </a:rPr>
              <a:t>4-8  </a:t>
            </a:r>
            <a:r>
              <a:rPr lang="zh-CN" altLang="en-US" b="1" dirty="0">
                <a:solidFill>
                  <a:srgbClr val="000099"/>
                </a:solidFill>
              </a:rPr>
              <a:t>采用运算放大器的电原理图</a:t>
            </a:r>
          </a:p>
        </p:txBody>
      </p:sp>
      <p:graphicFrame>
        <p:nvGraphicFramePr>
          <p:cNvPr id="11" name="Object 63">
            <a:extLst>
              <a:ext uri="{FF2B5EF4-FFF2-40B4-BE49-F238E27FC236}">
                <a16:creationId xmlns:a16="http://schemas.microsoft.com/office/drawing/2014/main" id="{BE01D561-93FB-4A2E-BB96-B103B1EBCC2A}"/>
              </a:ext>
            </a:extLst>
          </p:cNvPr>
          <p:cNvGraphicFramePr>
            <a:graphicFrameLocks noChangeAspect="1"/>
          </p:cNvGraphicFramePr>
          <p:nvPr>
            <p:extLst>
              <p:ext uri="{D42A27DB-BD31-4B8C-83A1-F6EECF244321}">
                <p14:modId xmlns:p14="http://schemas.microsoft.com/office/powerpoint/2010/main" val="2378121794"/>
              </p:ext>
            </p:extLst>
          </p:nvPr>
        </p:nvGraphicFramePr>
        <p:xfrm>
          <a:off x="6891337" y="1470543"/>
          <a:ext cx="1803258" cy="551682"/>
        </p:xfrm>
        <a:graphic>
          <a:graphicData uri="http://schemas.openxmlformats.org/presentationml/2006/ole">
            <mc:AlternateContent xmlns:mc="http://schemas.openxmlformats.org/markup-compatibility/2006">
              <mc:Choice xmlns:v="urn:schemas-microsoft-com:vml" Requires="v">
                <p:oleObj name="Equation" r:id="rId4" imgW="965160" imgH="291960" progId="Equation.DSMT4">
                  <p:embed/>
                </p:oleObj>
              </mc:Choice>
              <mc:Fallback>
                <p:oleObj name="Equation" r:id="rId4" imgW="965160" imgH="291960" progId="Equation.DSMT4">
                  <p:embed/>
                  <p:pic>
                    <p:nvPicPr>
                      <p:cNvPr id="15" name="Object 63"/>
                      <p:cNvPicPr>
                        <a:picLocks noChangeAspect="1" noChangeArrowheads="1"/>
                      </p:cNvPicPr>
                      <p:nvPr/>
                    </p:nvPicPr>
                    <p:blipFill>
                      <a:blip r:embed="rId5"/>
                      <a:srcRect/>
                      <a:stretch>
                        <a:fillRect/>
                      </a:stretch>
                    </p:blipFill>
                    <p:spPr bwMode="auto">
                      <a:xfrm>
                        <a:off x="6891337" y="1470543"/>
                        <a:ext cx="1803258" cy="551682"/>
                      </a:xfrm>
                      <a:prstGeom prst="rect">
                        <a:avLst/>
                      </a:prstGeom>
                      <a:solidFill>
                        <a:srgbClr val="FFC000"/>
                      </a:solidFill>
                    </p:spPr>
                  </p:pic>
                </p:oleObj>
              </mc:Fallback>
            </mc:AlternateContent>
          </a:graphicData>
        </a:graphic>
      </p:graphicFrame>
      <p:sp>
        <p:nvSpPr>
          <p:cNvPr id="29" name="TextBox 28">
            <a:extLst>
              <a:ext uri="{FF2B5EF4-FFF2-40B4-BE49-F238E27FC236}">
                <a16:creationId xmlns:a16="http://schemas.microsoft.com/office/drawing/2014/main" id="{E292C0BA-69CD-4083-8950-F89607537AE1}"/>
              </a:ext>
            </a:extLst>
          </p:cNvPr>
          <p:cNvSpPr txBox="1"/>
          <p:nvPr/>
        </p:nvSpPr>
        <p:spPr>
          <a:xfrm>
            <a:off x="311946" y="2364162"/>
            <a:ext cx="5076483" cy="3724096"/>
          </a:xfrm>
          <a:prstGeom prst="rect">
            <a:avLst/>
          </a:prstGeom>
          <a:noFill/>
        </p:spPr>
        <p:txBody>
          <a:bodyPr wrap="square">
            <a:spAutoFit/>
          </a:bodyPr>
          <a:lstStyle/>
          <a:p>
            <a:pPr marL="285750" indent="-285750">
              <a:spcBef>
                <a:spcPts val="600"/>
              </a:spcBef>
              <a:buFont typeface="Arial" panose="020B0604020202020204" pitchFamily="34" charset="0"/>
              <a:buChar char="•"/>
            </a:pPr>
            <a:r>
              <a:rPr lang="zh-CN" altLang="en-US" dirty="0">
                <a:latin typeface="宋体" panose="02010600030101010101" pitchFamily="2" charset="-122"/>
                <a:ea typeface="宋体" panose="02010600030101010101" pitchFamily="2" charset="-122"/>
              </a:rPr>
              <a:t>传感器的一个电极经电缆芯线</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接运算放大器的虚地</a:t>
            </a:r>
            <a:r>
              <a:rPr lang="en-US" altLang="zh-CN" dirty="0">
                <a:latin typeface="宋体" panose="02010600030101010101" pitchFamily="2" charset="-122"/>
                <a:ea typeface="宋体" panose="02010600030101010101" pitchFamily="2" charset="-122"/>
              </a:rPr>
              <a:t>Σ</a:t>
            </a:r>
            <a:r>
              <a:rPr lang="zh-CN" altLang="en-US" dirty="0">
                <a:latin typeface="宋体" panose="02010600030101010101" pitchFamily="2" charset="-122"/>
                <a:ea typeface="宋体" panose="02010600030101010101" pitchFamily="2" charset="-122"/>
              </a:rPr>
              <a:t>点，而电缆的屏蔽层接仪器地，这时与传感器电容相并联的为</a:t>
            </a:r>
            <a:r>
              <a:rPr lang="zh-CN" altLang="en-US" dirty="0">
                <a:solidFill>
                  <a:srgbClr val="00B0F0"/>
                </a:solidFill>
                <a:latin typeface="宋体" panose="02010600030101010101" pitchFamily="2" charset="-122"/>
                <a:ea typeface="宋体" panose="02010600030101010101" pitchFamily="2" charset="-122"/>
              </a:rPr>
              <a:t>等效电缆电容</a:t>
            </a:r>
            <a:r>
              <a:rPr lang="en-US" altLang="zh-CN" dirty="0">
                <a:solidFill>
                  <a:srgbClr val="00B0F0"/>
                </a:solidFill>
                <a:latin typeface="宋体" panose="02010600030101010101" pitchFamily="2" charset="-122"/>
                <a:ea typeface="宋体" panose="02010600030101010101" pitchFamily="2" charset="-122"/>
              </a:rPr>
              <a:t>Cp/(1+K)</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为开环放大倍数，因而大大减小了电缆电容的影响。</a:t>
            </a:r>
          </a:p>
          <a:p>
            <a:pPr marL="285750" indent="-285750">
              <a:spcBef>
                <a:spcPts val="600"/>
              </a:spcBef>
              <a:buFont typeface="Arial" panose="020B0604020202020204" pitchFamily="34" charset="0"/>
              <a:buChar char="•"/>
            </a:pPr>
            <a:r>
              <a:rPr lang="zh-CN" altLang="en-US" dirty="0">
                <a:latin typeface="宋体" panose="02010600030101010101" pitchFamily="2" charset="-122"/>
                <a:ea typeface="宋体" panose="02010600030101010101" pitchFamily="2" charset="-122"/>
              </a:rPr>
              <a:t>外界干扰因屏蔽层接仪器地，对芯线不起作用。</a:t>
            </a:r>
          </a:p>
          <a:p>
            <a:pPr marL="285750" indent="-285750">
              <a:spcBef>
                <a:spcPts val="600"/>
              </a:spcBef>
              <a:buFont typeface="Arial" panose="020B0604020202020204" pitchFamily="34" charset="0"/>
              <a:buChar char="•"/>
            </a:pPr>
            <a:r>
              <a:rPr lang="zh-CN" altLang="en-US" dirty="0">
                <a:latin typeface="宋体" panose="02010600030101010101" pitchFamily="2" charset="-122"/>
                <a:ea typeface="宋体" panose="02010600030101010101" pitchFamily="2" charset="-122"/>
              </a:rPr>
              <a:t>传感器的另一电极接大地，用来防止外电场的干扰。</a:t>
            </a:r>
          </a:p>
          <a:p>
            <a:pPr marL="285750" indent="-285750">
              <a:spcBef>
                <a:spcPts val="600"/>
              </a:spcBef>
              <a:buFont typeface="Arial" panose="020B0604020202020204" pitchFamily="34" charset="0"/>
              <a:buChar char="•"/>
            </a:pPr>
            <a:r>
              <a:rPr lang="zh-CN" altLang="en-US" dirty="0">
                <a:latin typeface="宋体" panose="02010600030101010101" pitchFamily="2" charset="-122"/>
                <a:ea typeface="宋体" panose="02010600030101010101" pitchFamily="2" charset="-122"/>
              </a:rPr>
              <a:t>若采用双屏蔽层电缆，外屏蔽层接大地，干扰影响就更小。</a:t>
            </a:r>
          </a:p>
          <a:p>
            <a:pPr marL="285750" indent="-285750">
              <a:spcBef>
                <a:spcPts val="600"/>
              </a:spcBef>
              <a:buFont typeface="Arial" panose="020B0604020202020204" pitchFamily="34" charset="0"/>
              <a:buChar char="•"/>
            </a:pPr>
            <a:r>
              <a:rPr lang="zh-CN" altLang="en-US" b="1" dirty="0">
                <a:solidFill>
                  <a:srgbClr val="0000FF"/>
                </a:solidFill>
                <a:latin typeface="宋体" panose="02010600030101010101" pitchFamily="2" charset="-122"/>
                <a:ea typeface="宋体" panose="02010600030101010101" pitchFamily="2" charset="-122"/>
              </a:rPr>
              <a:t>开环放大倍数</a:t>
            </a:r>
            <a:r>
              <a:rPr lang="en-US" altLang="zh-CN" b="1" dirty="0">
                <a:solidFill>
                  <a:srgbClr val="0000FF"/>
                </a:solidFill>
                <a:latin typeface="宋体" panose="02010600030101010101" pitchFamily="2" charset="-122"/>
                <a:ea typeface="宋体" panose="02010600030101010101" pitchFamily="2" charset="-122"/>
              </a:rPr>
              <a:t>K</a:t>
            </a:r>
            <a:r>
              <a:rPr lang="zh-CN" altLang="en-US" b="1" dirty="0">
                <a:solidFill>
                  <a:srgbClr val="0000FF"/>
                </a:solidFill>
                <a:latin typeface="宋体" panose="02010600030101010101" pitchFamily="2" charset="-122"/>
                <a:ea typeface="宋体" panose="02010600030101010101" pitchFamily="2" charset="-122"/>
              </a:rPr>
              <a:t>越大，精度越高</a:t>
            </a:r>
            <a:r>
              <a:rPr lang="zh-CN" altLang="en-US" dirty="0">
                <a:latin typeface="宋体" panose="02010600030101010101" pitchFamily="2" charset="-122"/>
                <a:ea typeface="宋体" panose="02010600030101010101" pitchFamily="2" charset="-122"/>
              </a:rPr>
              <a:t>。选择足够大的</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值可保证所需的测量精度。</a:t>
            </a:r>
            <a:endParaRPr lang="en-001" dirty="0">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B4693831-0081-4861-8902-23357146A98B}"/>
              </a:ext>
            </a:extLst>
          </p:cNvPr>
          <p:cNvSpPr>
            <a:spLocks noGrp="1"/>
          </p:cNvSpPr>
          <p:nvPr>
            <p:ph type="sldNum" sz="quarter" idx="12"/>
          </p:nvPr>
        </p:nvSpPr>
        <p:spPr/>
        <p:txBody>
          <a:bodyPr/>
          <a:lstStyle/>
          <a:p>
            <a:fld id="{B53602B4-F12B-41CD-B648-531F86B2CC91}" type="slidenum">
              <a:rPr lang="zh-CN" altLang="en-US" smtClean="0"/>
              <a:t>33</a:t>
            </a:fld>
            <a:endParaRPr lang="zh-CN" altLang="en-US"/>
          </a:p>
        </p:txBody>
      </p:sp>
    </p:spTree>
    <p:extLst>
      <p:ext uri="{BB962C8B-B14F-4D97-AF65-F5344CB8AC3E}">
        <p14:creationId xmlns:p14="http://schemas.microsoft.com/office/powerpoint/2010/main" val="22346647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1" name="Rectangle 4"/>
          <p:cNvSpPr>
            <a:spLocks noChangeArrowheads="1"/>
          </p:cNvSpPr>
          <p:nvPr/>
        </p:nvSpPr>
        <p:spPr bwMode="auto">
          <a:xfrm>
            <a:off x="311946" y="1739786"/>
            <a:ext cx="4572000"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Wingdings" pitchFamily="2" charset="2"/>
              <a:buNone/>
            </a:pPr>
            <a:r>
              <a:rPr lang="zh-CN" altLang="en-US" sz="2400" b="1">
                <a:solidFill>
                  <a:srgbClr val="CC3300"/>
                </a:solidFill>
                <a:latin typeface="宋体" panose="02010600030101010101" pitchFamily="2" charset="-122"/>
                <a:ea typeface="宋体" panose="02010600030101010101" pitchFamily="2" charset="-122"/>
              </a:rPr>
              <a:t>⑥</a:t>
            </a:r>
            <a:r>
              <a:rPr lang="zh-CN" altLang="en-US" sz="2400" b="1" dirty="0">
                <a:latin typeface="宋体" panose="02010600030101010101" pitchFamily="2" charset="-122"/>
                <a:ea typeface="宋体" panose="02010600030101010101" pitchFamily="2" charset="-122"/>
              </a:rPr>
              <a:t>整体屏蔽法。</a:t>
            </a:r>
          </a:p>
        </p:txBody>
      </p:sp>
      <p:sp>
        <p:nvSpPr>
          <p:cNvPr id="23" name="矩形 4">
            <a:extLst>
              <a:ext uri="{FF2B5EF4-FFF2-40B4-BE49-F238E27FC236}">
                <a16:creationId xmlns:a16="http://schemas.microsoft.com/office/drawing/2014/main" id="{586668C4-E814-4E8C-9FF2-F403AD6AAB8C}"/>
              </a:ext>
            </a:extLst>
          </p:cNvPr>
          <p:cNvSpPr/>
          <p:nvPr/>
        </p:nvSpPr>
        <p:spPr>
          <a:xfrm>
            <a:off x="311946" y="1284721"/>
            <a:ext cx="5778052" cy="461663"/>
          </a:xfrm>
          <a:prstGeom prst="rect">
            <a:avLst/>
          </a:prstGeom>
        </p:spPr>
        <p:txBody>
          <a:bodyPr wrap="square" lIns="91438" tIns="45719" rIns="91438" bIns="45719">
            <a:spAutoFit/>
          </a:bodyPr>
          <a:lstStyle/>
          <a:p>
            <a:pPr>
              <a:spcBef>
                <a:spcPts val="670"/>
              </a:spcBef>
            </a:pPr>
            <a:r>
              <a:rPr lang="en-US" altLang="zh-CN" sz="2400" b="1" dirty="0">
                <a:latin typeface="宋体" panose="02010600030101010101" pitchFamily="2" charset="-122"/>
                <a:ea typeface="宋体" panose="02010600030101010101" pitchFamily="2" charset="-122"/>
                <a:cs typeface="Arial" panose="020B0604020202020204" pitchFamily="34" charset="0"/>
                <a:sym typeface="+mn-ea"/>
              </a:rPr>
              <a:t>4.4.3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消除和减小寄生电容的影响</a:t>
            </a:r>
            <a:endParaRPr lang="en-US" altLang="zh-CN" sz="2400" b="1" dirty="0">
              <a:latin typeface="宋体" panose="02010600030101010101" pitchFamily="2" charset="-122"/>
              <a:ea typeface="宋体" panose="02010600030101010101" pitchFamily="2" charset="-122"/>
              <a:cs typeface="Arial" panose="020B0604020202020204" pitchFamily="34" charset="0"/>
              <a:sym typeface="+mn-ea"/>
            </a:endParaRPr>
          </a:p>
        </p:txBody>
      </p:sp>
      <p:sp>
        <p:nvSpPr>
          <p:cNvPr id="26" name="Text Box 9">
            <a:extLst>
              <a:ext uri="{FF2B5EF4-FFF2-40B4-BE49-F238E27FC236}">
                <a16:creationId xmlns:a16="http://schemas.microsoft.com/office/drawing/2014/main" id="{5283BFCA-BB3B-4266-9B82-6EFBFDF1F81D}"/>
              </a:ext>
            </a:extLst>
          </p:cNvPr>
          <p:cNvSpPr txBox="1">
            <a:spLocks noChangeArrowheads="1"/>
          </p:cNvSpPr>
          <p:nvPr/>
        </p:nvSpPr>
        <p:spPr bwMode="auto">
          <a:xfrm>
            <a:off x="2661444" y="5917000"/>
            <a:ext cx="433625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b="1" dirty="0"/>
              <a:t> </a:t>
            </a:r>
            <a:r>
              <a:rPr lang="zh-CN" altLang="en-US" b="1" dirty="0">
                <a:solidFill>
                  <a:srgbClr val="000099"/>
                </a:solidFill>
              </a:rPr>
              <a:t>图</a:t>
            </a:r>
            <a:r>
              <a:rPr lang="en-US" altLang="zh-CN" b="1" dirty="0">
                <a:solidFill>
                  <a:srgbClr val="000099"/>
                </a:solidFill>
              </a:rPr>
              <a:t>4-9 </a:t>
            </a:r>
            <a:r>
              <a:rPr lang="zh-CN" altLang="en-US" b="1" dirty="0">
                <a:solidFill>
                  <a:srgbClr val="000099"/>
                </a:solidFill>
              </a:rPr>
              <a:t>两个整体屏蔽法例子</a:t>
            </a:r>
          </a:p>
        </p:txBody>
      </p:sp>
      <p:pic>
        <p:nvPicPr>
          <p:cNvPr id="27" name="Picture 59">
            <a:extLst>
              <a:ext uri="{FF2B5EF4-FFF2-40B4-BE49-F238E27FC236}">
                <a16:creationId xmlns:a16="http://schemas.microsoft.com/office/drawing/2014/main" id="{C3C535DD-0FAF-4428-8B19-27C02E88E4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00" y="3710490"/>
            <a:ext cx="84328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Box 28">
            <a:extLst>
              <a:ext uri="{FF2B5EF4-FFF2-40B4-BE49-F238E27FC236}">
                <a16:creationId xmlns:a16="http://schemas.microsoft.com/office/drawing/2014/main" id="{1A43A0D1-1BC2-4635-A565-7D9DC152870F}"/>
              </a:ext>
            </a:extLst>
          </p:cNvPr>
          <p:cNvSpPr txBox="1"/>
          <p:nvPr/>
        </p:nvSpPr>
        <p:spPr>
          <a:xfrm>
            <a:off x="185083" y="2410098"/>
            <a:ext cx="8811676" cy="1200329"/>
          </a:xfrm>
          <a:prstGeom prst="rect">
            <a:avLst/>
          </a:prstGeom>
          <a:noFill/>
        </p:spPr>
        <p:txBody>
          <a:bodyPr wrap="square">
            <a:spAutoFit/>
          </a:bodyPr>
          <a:lstStyle/>
          <a:p>
            <a:r>
              <a:rPr lang="zh-CN" altLang="en-US" sz="2400">
                <a:latin typeface="宋体" panose="02010600030101010101" pitchFamily="2" charset="-122"/>
                <a:ea typeface="宋体" panose="02010600030101010101" pitchFamily="2" charset="-122"/>
              </a:rPr>
              <a:t>将电容式传感器和所采用的转换电路，传输电缆等用同一屏蔽壳屏蔽起来，正确选取接地点来消除寄生电容的影响和防止外界的干扰。</a:t>
            </a:r>
            <a:endParaRPr lang="en-001" sz="240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ED4D7858-A97B-496A-8591-57873413CA21}"/>
              </a:ext>
            </a:extLst>
          </p:cNvPr>
          <p:cNvSpPr>
            <a:spLocks noGrp="1"/>
          </p:cNvSpPr>
          <p:nvPr>
            <p:ph type="sldNum" sz="quarter" idx="12"/>
          </p:nvPr>
        </p:nvSpPr>
        <p:spPr/>
        <p:txBody>
          <a:bodyPr/>
          <a:lstStyle/>
          <a:p>
            <a:fld id="{B53602B4-F12B-41CD-B648-531F86B2CC91}" type="slidenum">
              <a:rPr lang="zh-CN" altLang="en-US" smtClean="0"/>
              <a:t>34</a:t>
            </a:fld>
            <a:endParaRPr lang="zh-CN" altLang="en-US"/>
          </a:p>
        </p:txBody>
      </p:sp>
    </p:spTree>
    <p:extLst>
      <p:ext uri="{BB962C8B-B14F-4D97-AF65-F5344CB8AC3E}">
        <p14:creationId xmlns:p14="http://schemas.microsoft.com/office/powerpoint/2010/main" val="6148838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0" name="Rectangle 3"/>
          <p:cNvSpPr txBox="1">
            <a:spLocks noRot="1" noChangeArrowheads="1"/>
          </p:cNvSpPr>
          <p:nvPr/>
        </p:nvSpPr>
        <p:spPr>
          <a:xfrm>
            <a:off x="1399965" y="1546951"/>
            <a:ext cx="6642348" cy="4429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Wingdings" pitchFamily="2" charset="2"/>
              <a:buNone/>
            </a:pPr>
            <a:r>
              <a:rPr lang="en-US" altLang="zh-CN" sz="2400" b="1" dirty="0">
                <a:solidFill>
                  <a:srgbClr val="008000"/>
                </a:solidFill>
                <a:latin typeface="宋体" panose="02010600030101010101" pitchFamily="2" charset="-122"/>
                <a:ea typeface="宋体" panose="02010600030101010101" pitchFamily="2" charset="-122"/>
                <a:cs typeface="Arial" pitchFamily="34" charset="0"/>
              </a:rPr>
              <a:t>4.4.4 </a:t>
            </a:r>
            <a:r>
              <a:rPr lang="zh-CN" altLang="en-US" sz="2400" b="1" dirty="0">
                <a:solidFill>
                  <a:srgbClr val="008000"/>
                </a:solidFill>
                <a:latin typeface="宋体" panose="02010600030101010101" pitchFamily="2" charset="-122"/>
                <a:ea typeface="宋体" panose="02010600030101010101" pitchFamily="2" charset="-122"/>
              </a:rPr>
              <a:t>防止和减小外界干扰</a:t>
            </a:r>
          </a:p>
          <a:p>
            <a:pPr marL="0" indent="0">
              <a:lnSpc>
                <a:spcPct val="150000"/>
              </a:lnSpc>
              <a:buFont typeface="Wingdings" pitchFamily="2" charset="2"/>
              <a:buNone/>
            </a:pPr>
            <a:r>
              <a:rPr lang="zh-CN" altLang="en-US" sz="2400" b="1" dirty="0">
                <a:solidFill>
                  <a:srgbClr val="CC3300"/>
                </a:solidFill>
                <a:latin typeface="宋体" panose="02010600030101010101" pitchFamily="2" charset="-122"/>
                <a:ea typeface="宋体" panose="02010600030101010101" pitchFamily="2" charset="-122"/>
              </a:rPr>
              <a:t>①</a:t>
            </a:r>
            <a:r>
              <a:rPr lang="zh-CN" altLang="en-US" sz="2400" b="1" dirty="0">
                <a:latin typeface="宋体" panose="02010600030101010101" pitchFamily="2" charset="-122"/>
                <a:ea typeface="宋体" panose="02010600030101010101" pitchFamily="2" charset="-122"/>
              </a:rPr>
              <a:t>屏蔽和接地。</a:t>
            </a:r>
          </a:p>
          <a:p>
            <a:pPr marL="0" indent="0">
              <a:lnSpc>
                <a:spcPct val="150000"/>
              </a:lnSpc>
              <a:buFont typeface="Wingdings" pitchFamily="2" charset="2"/>
              <a:buNone/>
            </a:pPr>
            <a:r>
              <a:rPr lang="zh-CN" altLang="en-US" sz="2400" b="1" dirty="0">
                <a:solidFill>
                  <a:srgbClr val="CC3300"/>
                </a:solidFill>
                <a:latin typeface="宋体" panose="02010600030101010101" pitchFamily="2" charset="-122"/>
                <a:ea typeface="宋体" panose="02010600030101010101" pitchFamily="2" charset="-122"/>
              </a:rPr>
              <a:t>②</a:t>
            </a:r>
            <a:r>
              <a:rPr lang="zh-CN" altLang="en-US" sz="2400" b="1" dirty="0">
                <a:latin typeface="宋体" panose="02010600030101010101" pitchFamily="2" charset="-122"/>
                <a:ea typeface="宋体" panose="02010600030101010101" pitchFamily="2" charset="-122"/>
              </a:rPr>
              <a:t>增加原始电容值以降低容抗。</a:t>
            </a:r>
          </a:p>
          <a:p>
            <a:pPr marL="0" indent="0">
              <a:lnSpc>
                <a:spcPct val="150000"/>
              </a:lnSpc>
              <a:buFont typeface="Wingdings" pitchFamily="2" charset="2"/>
              <a:buNone/>
            </a:pPr>
            <a:r>
              <a:rPr lang="zh-CN" altLang="en-US" sz="2400" b="1" dirty="0">
                <a:solidFill>
                  <a:srgbClr val="CC3300"/>
                </a:solidFill>
                <a:latin typeface="宋体" panose="02010600030101010101" pitchFamily="2" charset="-122"/>
                <a:ea typeface="宋体" panose="02010600030101010101" pitchFamily="2" charset="-122"/>
              </a:rPr>
              <a:t>③</a:t>
            </a:r>
            <a:r>
              <a:rPr lang="zh-CN" altLang="en-US" sz="2400" b="1" dirty="0">
                <a:latin typeface="宋体" panose="02010600030101010101" pitchFamily="2" charset="-122"/>
                <a:ea typeface="宋体" panose="02010600030101010101" pitchFamily="2" charset="-122"/>
              </a:rPr>
              <a:t>导线和导线要离得</a:t>
            </a:r>
            <a:r>
              <a:rPr lang="zh-CN" altLang="en-US" sz="2400" b="1" dirty="0">
                <a:solidFill>
                  <a:srgbClr val="FF0000"/>
                </a:solidFill>
                <a:latin typeface="宋体" panose="02010600030101010101" pitchFamily="2" charset="-122"/>
                <a:ea typeface="宋体" panose="02010600030101010101" pitchFamily="2" charset="-122"/>
              </a:rPr>
              <a:t>远</a:t>
            </a:r>
            <a:r>
              <a:rPr lang="zh-CN" altLang="en-US" sz="2400" b="1" dirty="0">
                <a:latin typeface="宋体" panose="02010600030101010101" pitchFamily="2" charset="-122"/>
                <a:ea typeface="宋体" panose="02010600030101010101" pitchFamily="2" charset="-122"/>
              </a:rPr>
              <a:t>，以减小导线间分布电容的静电感应。导线要尽可能</a:t>
            </a:r>
            <a:r>
              <a:rPr lang="zh-CN" altLang="en-US" sz="2400" b="1" dirty="0">
                <a:solidFill>
                  <a:srgbClr val="FF0000"/>
                </a:solidFill>
                <a:latin typeface="宋体" panose="02010600030101010101" pitchFamily="2" charset="-122"/>
                <a:ea typeface="宋体" panose="02010600030101010101" pitchFamily="2" charset="-122"/>
              </a:rPr>
              <a:t>短</a:t>
            </a:r>
            <a:r>
              <a:rPr lang="zh-CN" altLang="en-US" sz="2400" b="1" dirty="0">
                <a:latin typeface="宋体" panose="02010600030101010101" pitchFamily="2" charset="-122"/>
                <a:ea typeface="宋体" panose="02010600030101010101" pitchFamily="2" charset="-122"/>
              </a:rPr>
              <a:t>，最好成</a:t>
            </a:r>
            <a:r>
              <a:rPr lang="zh-CN" altLang="en-US" sz="2400" b="1" dirty="0">
                <a:solidFill>
                  <a:srgbClr val="FF0000"/>
                </a:solidFill>
                <a:latin typeface="宋体" panose="02010600030101010101" pitchFamily="2" charset="-122"/>
                <a:ea typeface="宋体" panose="02010600030101010101" pitchFamily="2" charset="-122"/>
              </a:rPr>
              <a:t>直角</a:t>
            </a:r>
            <a:r>
              <a:rPr lang="zh-CN" altLang="en-US" sz="2400" b="1" dirty="0">
                <a:latin typeface="宋体" panose="02010600030101010101" pitchFamily="2" charset="-122"/>
                <a:ea typeface="宋体" panose="02010600030101010101" pitchFamily="2" charset="-122"/>
              </a:rPr>
              <a:t>排列，必须平行排列时可采用</a:t>
            </a:r>
            <a:r>
              <a:rPr lang="zh-CN" altLang="en-US" sz="2400" b="1" dirty="0">
                <a:solidFill>
                  <a:srgbClr val="FF0000"/>
                </a:solidFill>
                <a:latin typeface="宋体" panose="02010600030101010101" pitchFamily="2" charset="-122"/>
                <a:ea typeface="宋体" panose="02010600030101010101" pitchFamily="2" charset="-122"/>
              </a:rPr>
              <a:t>同轴屏蔽线</a:t>
            </a:r>
            <a:r>
              <a:rPr lang="zh-CN" altLang="en-US" sz="2400" b="1" dirty="0">
                <a:solidFill>
                  <a:schemeClr val="tx2"/>
                </a:solidFill>
                <a:latin typeface="宋体" panose="02010600030101010101" pitchFamily="2" charset="-122"/>
                <a:ea typeface="宋体" panose="02010600030101010101" pitchFamily="2" charset="-122"/>
              </a:rPr>
              <a:t>。</a:t>
            </a:r>
          </a:p>
        </p:txBody>
      </p:sp>
      <p:sp>
        <p:nvSpPr>
          <p:cNvPr id="6" name="圆角矩形 43">
            <a:extLst>
              <a:ext uri="{FF2B5EF4-FFF2-40B4-BE49-F238E27FC236}">
                <a16:creationId xmlns:a16="http://schemas.microsoft.com/office/drawing/2014/main" id="{6F441F9D-BA88-40C7-ADBC-6C065E9F5A9C}"/>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2" name="Slide Number Placeholder 1">
            <a:extLst>
              <a:ext uri="{FF2B5EF4-FFF2-40B4-BE49-F238E27FC236}">
                <a16:creationId xmlns:a16="http://schemas.microsoft.com/office/drawing/2014/main" id="{2D2AD9D7-6248-49A0-9A8F-2C39C36360F7}"/>
              </a:ext>
            </a:extLst>
          </p:cNvPr>
          <p:cNvSpPr>
            <a:spLocks noGrp="1"/>
          </p:cNvSpPr>
          <p:nvPr>
            <p:ph type="sldNum" sz="quarter" idx="12"/>
          </p:nvPr>
        </p:nvSpPr>
        <p:spPr/>
        <p:txBody>
          <a:bodyPr/>
          <a:lstStyle/>
          <a:p>
            <a:fld id="{B53602B4-F12B-41CD-B648-531F86B2CC91}" type="slidenum">
              <a:rPr lang="zh-CN" altLang="en-US" smtClean="0"/>
              <a:t>35</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电容式传感器的设计要点</a:t>
            </a:r>
          </a:p>
        </p:txBody>
      </p:sp>
      <p:sp>
        <p:nvSpPr>
          <p:cNvPr id="20" name="Rectangle 4"/>
          <p:cNvSpPr>
            <a:spLocks noChangeArrowheads="1"/>
          </p:cNvSpPr>
          <p:nvPr/>
        </p:nvSpPr>
        <p:spPr bwMode="auto">
          <a:xfrm>
            <a:off x="481396" y="1971870"/>
            <a:ext cx="8357804" cy="2914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200000"/>
              </a:lnSpc>
              <a:buFont typeface="Wingdings" pitchFamily="2" charset="2"/>
              <a:buNone/>
            </a:pPr>
            <a:r>
              <a:rPr lang="en-US" altLang="zh-CN" sz="2400" b="1" dirty="0">
                <a:solidFill>
                  <a:srgbClr val="CC3300"/>
                </a:solidFill>
                <a:latin typeface="宋体" panose="02010600030101010101" pitchFamily="2" charset="-122"/>
                <a:ea typeface="宋体" panose="02010600030101010101" pitchFamily="2" charset="-122"/>
              </a:rPr>
              <a:t>④</a:t>
            </a:r>
            <a:r>
              <a:rPr lang="zh-CN" altLang="en-US" sz="2400" b="1" dirty="0">
                <a:latin typeface="宋体" panose="02010600030101010101" pitchFamily="2" charset="-122"/>
                <a:ea typeface="宋体" panose="02010600030101010101" pitchFamily="2" charset="-122"/>
              </a:rPr>
              <a:t>尽可能</a:t>
            </a:r>
            <a:r>
              <a:rPr lang="zh-CN" altLang="en-US" sz="2400" b="1" dirty="0">
                <a:solidFill>
                  <a:srgbClr val="FF0000"/>
                </a:solidFill>
                <a:latin typeface="宋体" panose="02010600030101010101" pitchFamily="2" charset="-122"/>
                <a:ea typeface="宋体" panose="02010600030101010101" pitchFamily="2" charset="-122"/>
              </a:rPr>
              <a:t>一点接地</a:t>
            </a:r>
            <a:r>
              <a:rPr lang="zh-CN" altLang="en-US" sz="2400" b="1" dirty="0">
                <a:latin typeface="宋体" panose="02010600030101010101" pitchFamily="2" charset="-122"/>
                <a:ea typeface="宋体" panose="02010600030101010101" pitchFamily="2" charset="-122"/>
              </a:rPr>
              <a:t>，避免多点接地。地线要用</a:t>
            </a:r>
            <a:r>
              <a:rPr lang="zh-CN" altLang="en-US" sz="2400" b="1" dirty="0">
                <a:solidFill>
                  <a:srgbClr val="FF0000"/>
                </a:solidFill>
                <a:latin typeface="宋体" panose="02010600030101010101" pitchFamily="2" charset="-122"/>
                <a:ea typeface="宋体" panose="02010600030101010101" pitchFamily="2" charset="-122"/>
              </a:rPr>
              <a:t>粗</a:t>
            </a:r>
            <a:r>
              <a:rPr lang="zh-CN" altLang="en-US" sz="2400" b="1" dirty="0">
                <a:latin typeface="宋体" panose="02010600030101010101" pitchFamily="2" charset="-122"/>
                <a:ea typeface="宋体" panose="02010600030101010101" pitchFamily="2" charset="-122"/>
              </a:rPr>
              <a:t>的良导体或宽印刷线。</a:t>
            </a:r>
          </a:p>
          <a:p>
            <a:pPr>
              <a:lnSpc>
                <a:spcPct val="200000"/>
              </a:lnSpc>
              <a:buFont typeface="Wingdings" pitchFamily="2" charset="2"/>
              <a:buNone/>
            </a:pPr>
            <a:r>
              <a:rPr lang="zh-CN" altLang="en-US" sz="2400" b="1" dirty="0">
                <a:solidFill>
                  <a:srgbClr val="CC3300"/>
                </a:solidFill>
                <a:latin typeface="宋体" panose="02010600030101010101" pitchFamily="2" charset="-122"/>
                <a:ea typeface="宋体" panose="02010600030101010101" pitchFamily="2" charset="-122"/>
              </a:rPr>
              <a:t>⑤</a:t>
            </a:r>
            <a:r>
              <a:rPr lang="zh-CN" altLang="en-US" sz="2400" b="1" dirty="0">
                <a:latin typeface="宋体" panose="02010600030101010101" pitchFamily="2" charset="-122"/>
                <a:ea typeface="宋体" panose="02010600030101010101" pitchFamily="2" charset="-122"/>
              </a:rPr>
              <a:t>尽量采用</a:t>
            </a:r>
            <a:r>
              <a:rPr lang="zh-CN" altLang="en-US" sz="2400" b="1" dirty="0">
                <a:solidFill>
                  <a:srgbClr val="FF0000"/>
                </a:solidFill>
                <a:latin typeface="宋体" panose="02010600030101010101" pitchFamily="2" charset="-122"/>
                <a:ea typeface="宋体" panose="02010600030101010101" pitchFamily="2" charset="-122"/>
              </a:rPr>
              <a:t>差动式</a:t>
            </a:r>
            <a:r>
              <a:rPr lang="zh-CN" altLang="en-US" sz="2400" b="1" dirty="0">
                <a:latin typeface="宋体" panose="02010600030101010101" pitchFamily="2" charset="-122"/>
                <a:ea typeface="宋体" panose="02010600030101010101" pitchFamily="2" charset="-122"/>
              </a:rPr>
              <a:t>电容传感电路，可减小非线性误差，提高传感器灵敏度，减小寄生电容的影响和干扰。</a:t>
            </a:r>
            <a:r>
              <a:rPr lang="zh-CN" altLang="en-US" sz="2400" dirty="0">
                <a:latin typeface="宋体" panose="02010600030101010101" pitchFamily="2" charset="-122"/>
                <a:ea typeface="宋体" panose="02010600030101010101" pitchFamily="2" charset="-122"/>
              </a:rPr>
              <a:t>  </a:t>
            </a:r>
          </a:p>
        </p:txBody>
      </p:sp>
      <p:sp>
        <p:nvSpPr>
          <p:cNvPr id="6" name="圆角矩形 43">
            <a:extLst>
              <a:ext uri="{FF2B5EF4-FFF2-40B4-BE49-F238E27FC236}">
                <a16:creationId xmlns:a16="http://schemas.microsoft.com/office/drawing/2014/main" id="{BAD0ED97-F40E-479E-99D6-A99E3BCEEAD0}"/>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4.4</a:t>
            </a:r>
          </a:p>
        </p:txBody>
      </p:sp>
      <p:sp>
        <p:nvSpPr>
          <p:cNvPr id="2" name="Slide Number Placeholder 1">
            <a:extLst>
              <a:ext uri="{FF2B5EF4-FFF2-40B4-BE49-F238E27FC236}">
                <a16:creationId xmlns:a16="http://schemas.microsoft.com/office/drawing/2014/main" id="{CE721B2E-D583-44E1-9CB0-994171BD5B2E}"/>
              </a:ext>
            </a:extLst>
          </p:cNvPr>
          <p:cNvSpPr>
            <a:spLocks noGrp="1"/>
          </p:cNvSpPr>
          <p:nvPr>
            <p:ph type="sldNum" sz="quarter" idx="12"/>
          </p:nvPr>
        </p:nvSpPr>
        <p:spPr/>
        <p:txBody>
          <a:bodyPr/>
          <a:lstStyle/>
          <a:p>
            <a:fld id="{B53602B4-F12B-41CD-B648-531F86B2CC91}" type="slidenum">
              <a:rPr lang="zh-CN" altLang="en-US" smtClean="0"/>
              <a:t>36</a:t>
            </a:fld>
            <a:endParaRPr lang="zh-CN" altLang="en-US"/>
          </a:p>
        </p:txBody>
      </p:sp>
    </p:spTree>
    <p:extLst>
      <p:ext uri="{BB962C8B-B14F-4D97-AF65-F5344CB8AC3E}">
        <p14:creationId xmlns:p14="http://schemas.microsoft.com/office/powerpoint/2010/main" val="18478962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248439" cy="620462"/>
          </a:xfrm>
          <a:prstGeom prst="rect">
            <a:avLst/>
          </a:prstGeom>
          <a:solidFill>
            <a:schemeClr val="bg1">
              <a:lumMod val="85000"/>
            </a:schemeClr>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电容式传感器的转换电路</a:t>
            </a:r>
          </a:p>
        </p:txBody>
      </p:sp>
      <p:sp>
        <p:nvSpPr>
          <p:cNvPr id="23" name="Rectangle 3"/>
          <p:cNvSpPr txBox="1">
            <a:spLocks noRot="1" noChangeArrowheads="1"/>
          </p:cNvSpPr>
          <p:nvPr/>
        </p:nvSpPr>
        <p:spPr>
          <a:xfrm>
            <a:off x="-419759" y="3771895"/>
            <a:ext cx="3043464" cy="6275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715963">
              <a:lnSpc>
                <a:spcPct val="140000"/>
              </a:lnSpc>
              <a:spcBef>
                <a:spcPct val="40000"/>
              </a:spcBef>
              <a:buFont typeface="Wingdings" pitchFamily="2" charset="2"/>
              <a:buNone/>
            </a:pPr>
            <a:r>
              <a:rPr lang="zh-CN" altLang="en-US" sz="2400" b="1">
                <a:latin typeface="宋体" panose="02010600030101010101" pitchFamily="2" charset="-122"/>
                <a:ea typeface="宋体" panose="02010600030101010101" pitchFamily="2" charset="-122"/>
              </a:rPr>
              <a:t>调频电路</a:t>
            </a:r>
            <a:endParaRPr lang="zh-CN" altLang="en-US" sz="2400" b="1" dirty="0">
              <a:latin typeface="宋体" panose="02010600030101010101" pitchFamily="2" charset="-122"/>
              <a:ea typeface="宋体" panose="02010600030101010101" pitchFamily="2" charset="-122"/>
            </a:endParaRPr>
          </a:p>
        </p:txBody>
      </p:sp>
      <p:sp>
        <p:nvSpPr>
          <p:cNvPr id="29" name="Text Box 9">
            <a:extLst>
              <a:ext uri="{FF2B5EF4-FFF2-40B4-BE49-F238E27FC236}">
                <a16:creationId xmlns:a16="http://schemas.microsoft.com/office/drawing/2014/main" id="{CC3702E3-0ED6-4CC3-8C23-B979EBB1B23F}"/>
              </a:ext>
            </a:extLst>
          </p:cNvPr>
          <p:cNvSpPr txBox="1">
            <a:spLocks noChangeArrowheads="1"/>
          </p:cNvSpPr>
          <p:nvPr/>
        </p:nvSpPr>
        <p:spPr bwMode="auto">
          <a:xfrm>
            <a:off x="3471813" y="6134254"/>
            <a:ext cx="3100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4-10  </a:t>
            </a:r>
            <a:r>
              <a:rPr lang="zh-CN" altLang="en-US" b="1" dirty="0">
                <a:solidFill>
                  <a:srgbClr val="000099"/>
                </a:solidFill>
              </a:rPr>
              <a:t>调频电路</a:t>
            </a:r>
          </a:p>
        </p:txBody>
      </p:sp>
      <p:sp>
        <p:nvSpPr>
          <p:cNvPr id="35" name="TextBox 34">
            <a:extLst>
              <a:ext uri="{FF2B5EF4-FFF2-40B4-BE49-F238E27FC236}">
                <a16:creationId xmlns:a16="http://schemas.microsoft.com/office/drawing/2014/main" id="{943721AB-F1ED-45FC-A857-51C06F435CFC}"/>
              </a:ext>
            </a:extLst>
          </p:cNvPr>
          <p:cNvSpPr txBox="1"/>
          <p:nvPr/>
        </p:nvSpPr>
        <p:spPr>
          <a:xfrm>
            <a:off x="590550" y="1283156"/>
            <a:ext cx="8362950" cy="2375650"/>
          </a:xfrm>
          <a:prstGeom prst="rect">
            <a:avLst/>
          </a:prstGeom>
          <a:noFill/>
        </p:spPr>
        <p:txBody>
          <a:bodyPr wrap="square">
            <a:spAutoFit/>
          </a:bodyPr>
          <a:lstStyle>
            <a:defPPr>
              <a:defRPr lang="zh-CN"/>
            </a:defPPr>
            <a:lvl1pPr marL="285750" indent="-285750">
              <a:spcBef>
                <a:spcPts val="600"/>
              </a:spcBef>
              <a:buFont typeface="Arial" panose="020B0604020202020204" pitchFamily="34" charset="0"/>
              <a:buChar char="•"/>
              <a:defRPr sz="2000">
                <a:latin typeface="宋体" panose="02010600030101010101" pitchFamily="2" charset="-122"/>
                <a:ea typeface="宋体" panose="02010600030101010101" pitchFamily="2" charset="-122"/>
              </a:defRPr>
            </a:lvl1pPr>
          </a:lstStyle>
          <a:p>
            <a:pPr>
              <a:lnSpc>
                <a:spcPct val="150000"/>
              </a:lnSpc>
              <a:spcBef>
                <a:spcPts val="1200"/>
              </a:spcBef>
            </a:pPr>
            <a:r>
              <a:rPr lang="en-001" sz="2400"/>
              <a:t>电容式传感器把</a:t>
            </a:r>
            <a:r>
              <a:rPr lang="en-001" sz="2400">
                <a:solidFill>
                  <a:srgbClr val="00B0F0"/>
                </a:solidFill>
              </a:rPr>
              <a:t>被测量转换成电路参数C</a:t>
            </a:r>
          </a:p>
          <a:p>
            <a:pPr>
              <a:lnSpc>
                <a:spcPct val="150000"/>
              </a:lnSpc>
              <a:spcBef>
                <a:spcPts val="1200"/>
              </a:spcBef>
            </a:pPr>
            <a:r>
              <a:rPr lang="en-001" sz="2400"/>
              <a:t>将电路参数C</a:t>
            </a:r>
            <a:r>
              <a:rPr lang="en-001" sz="2400">
                <a:solidFill>
                  <a:srgbClr val="00B0F0"/>
                </a:solidFill>
              </a:rPr>
              <a:t>进一步转换成电压、电流、频率等电量参数</a:t>
            </a:r>
            <a:r>
              <a:rPr lang="en-001" sz="2400"/>
              <a:t>，使信号能传输、放大、运算、处理、指示、记录、控制，得到所需的测量结果或控制某些设备工作</a:t>
            </a:r>
          </a:p>
        </p:txBody>
      </p:sp>
      <p:pic>
        <p:nvPicPr>
          <p:cNvPr id="4" name="Picture 3">
            <a:extLst>
              <a:ext uri="{FF2B5EF4-FFF2-40B4-BE49-F238E27FC236}">
                <a16:creationId xmlns:a16="http://schemas.microsoft.com/office/drawing/2014/main" id="{F187E84D-8A2B-4ECA-9CC6-54E6FFED64D6}"/>
              </a:ext>
            </a:extLst>
          </p:cNvPr>
          <p:cNvPicPr>
            <a:picLocks noChangeAspect="1"/>
          </p:cNvPicPr>
          <p:nvPr/>
        </p:nvPicPr>
        <p:blipFill rotWithShape="1">
          <a:blip r:embed="rId3"/>
          <a:srcRect t="19832"/>
          <a:stretch/>
        </p:blipFill>
        <p:spPr>
          <a:xfrm>
            <a:off x="789297" y="4485954"/>
            <a:ext cx="7578962" cy="1600809"/>
          </a:xfrm>
          <a:prstGeom prst="rect">
            <a:avLst/>
          </a:prstGeom>
        </p:spPr>
      </p:pic>
      <p:sp>
        <p:nvSpPr>
          <p:cNvPr id="5" name="Slide Number Placeholder 4">
            <a:extLst>
              <a:ext uri="{FF2B5EF4-FFF2-40B4-BE49-F238E27FC236}">
                <a16:creationId xmlns:a16="http://schemas.microsoft.com/office/drawing/2014/main" id="{F6DBB0E0-2BF0-44F4-8C3C-CFB87137CC92}"/>
              </a:ext>
            </a:extLst>
          </p:cNvPr>
          <p:cNvSpPr>
            <a:spLocks noGrp="1"/>
          </p:cNvSpPr>
          <p:nvPr>
            <p:ph type="sldNum" sz="quarter" idx="12"/>
          </p:nvPr>
        </p:nvSpPr>
        <p:spPr/>
        <p:txBody>
          <a:bodyPr/>
          <a:lstStyle/>
          <a:p>
            <a:fld id="{B53602B4-F12B-41CD-B648-531F86B2CC91}"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248439" cy="620462"/>
          </a:xfrm>
          <a:prstGeom prst="rect">
            <a:avLst/>
          </a:prstGeom>
          <a:solidFill>
            <a:schemeClr val="bg1">
              <a:lumMod val="85000"/>
            </a:schemeClr>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电容式传感器的转换电路</a:t>
            </a:r>
          </a:p>
        </p:txBody>
      </p:sp>
      <p:sp>
        <p:nvSpPr>
          <p:cNvPr id="29" name="Text Box 9">
            <a:extLst>
              <a:ext uri="{FF2B5EF4-FFF2-40B4-BE49-F238E27FC236}">
                <a16:creationId xmlns:a16="http://schemas.microsoft.com/office/drawing/2014/main" id="{CC3702E3-0ED6-4CC3-8C23-B979EBB1B23F}"/>
              </a:ext>
            </a:extLst>
          </p:cNvPr>
          <p:cNvSpPr txBox="1">
            <a:spLocks noChangeArrowheads="1"/>
          </p:cNvSpPr>
          <p:nvPr/>
        </p:nvSpPr>
        <p:spPr bwMode="auto">
          <a:xfrm>
            <a:off x="3471813" y="6134254"/>
            <a:ext cx="3100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4-10  </a:t>
            </a:r>
            <a:r>
              <a:rPr lang="zh-CN" altLang="en-US" b="1" dirty="0">
                <a:solidFill>
                  <a:srgbClr val="000099"/>
                </a:solidFill>
              </a:rPr>
              <a:t>调频电路</a:t>
            </a:r>
          </a:p>
        </p:txBody>
      </p:sp>
      <p:pic>
        <p:nvPicPr>
          <p:cNvPr id="4" name="Picture 3">
            <a:extLst>
              <a:ext uri="{FF2B5EF4-FFF2-40B4-BE49-F238E27FC236}">
                <a16:creationId xmlns:a16="http://schemas.microsoft.com/office/drawing/2014/main" id="{F187E84D-8A2B-4ECA-9CC6-54E6FFED64D6}"/>
              </a:ext>
            </a:extLst>
          </p:cNvPr>
          <p:cNvPicPr>
            <a:picLocks noChangeAspect="1"/>
          </p:cNvPicPr>
          <p:nvPr/>
        </p:nvPicPr>
        <p:blipFill rotWithShape="1">
          <a:blip r:embed="rId3"/>
          <a:srcRect t="19832"/>
          <a:stretch/>
        </p:blipFill>
        <p:spPr>
          <a:xfrm>
            <a:off x="789297" y="4485954"/>
            <a:ext cx="7578962" cy="1600809"/>
          </a:xfrm>
          <a:prstGeom prst="rect">
            <a:avLst/>
          </a:prstGeom>
        </p:spPr>
      </p:pic>
      <p:sp>
        <p:nvSpPr>
          <p:cNvPr id="9" name="Rectangle 2">
            <a:extLst>
              <a:ext uri="{FF2B5EF4-FFF2-40B4-BE49-F238E27FC236}">
                <a16:creationId xmlns:a16="http://schemas.microsoft.com/office/drawing/2014/main" id="{4ED8A464-50C3-4415-B231-4F37425C0B76}"/>
              </a:ext>
            </a:extLst>
          </p:cNvPr>
          <p:cNvSpPr>
            <a:spLocks noChangeArrowheads="1"/>
          </p:cNvSpPr>
          <p:nvPr/>
        </p:nvSpPr>
        <p:spPr bwMode="auto">
          <a:xfrm>
            <a:off x="4009590" y="955796"/>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15" name="TextBox 14">
            <a:extLst>
              <a:ext uri="{FF2B5EF4-FFF2-40B4-BE49-F238E27FC236}">
                <a16:creationId xmlns:a16="http://schemas.microsoft.com/office/drawing/2014/main" id="{6C155C14-191B-4266-84FC-CDFCA3A994C3}"/>
              </a:ext>
            </a:extLst>
          </p:cNvPr>
          <p:cNvSpPr txBox="1"/>
          <p:nvPr/>
        </p:nvSpPr>
        <p:spPr>
          <a:xfrm>
            <a:off x="199092" y="1316945"/>
            <a:ext cx="8759371" cy="3169009"/>
          </a:xfrm>
          <a:prstGeom prst="rect">
            <a:avLst/>
          </a:prstGeom>
          <a:noFill/>
        </p:spPr>
        <p:txBody>
          <a:bodyPr wrap="square">
            <a:spAutoFit/>
          </a:bodyPr>
          <a:lstStyle>
            <a:defPPr>
              <a:defRPr lang="zh-CN"/>
            </a:defPPr>
            <a:lvl1pPr marL="285750" indent="-285750">
              <a:lnSpc>
                <a:spcPct val="150000"/>
              </a:lnSpc>
              <a:spcBef>
                <a:spcPts val="1200"/>
              </a:spcBef>
              <a:buFont typeface="Arial" panose="020B0604020202020204" pitchFamily="34" charset="0"/>
              <a:buChar char="•"/>
              <a:defRPr sz="2400">
                <a:latin typeface="宋体" panose="02010600030101010101" pitchFamily="2" charset="-122"/>
                <a:ea typeface="宋体" panose="02010600030101010101" pitchFamily="2" charset="-122"/>
              </a:defRPr>
            </a:lvl1pPr>
          </a:lstStyle>
          <a:p>
            <a:pPr>
              <a:lnSpc>
                <a:spcPct val="120000"/>
              </a:lnSpc>
            </a:pPr>
            <a:r>
              <a:rPr lang="en-001" sz="1800" dirty="0"/>
              <a:t>电容式传感器接在振荡器的振荡槽路中，当传感器</a:t>
            </a:r>
            <a:r>
              <a:rPr lang="en-001" sz="1800" b="1" dirty="0">
                <a:solidFill>
                  <a:srgbClr val="00B0F0"/>
                </a:solidFill>
              </a:rPr>
              <a:t>电容C</a:t>
            </a:r>
            <a:r>
              <a:rPr lang="en-US" sz="1800" b="1" dirty="0">
                <a:solidFill>
                  <a:srgbClr val="00B0F0"/>
                </a:solidFill>
              </a:rPr>
              <a:t>x</a:t>
            </a:r>
            <a:r>
              <a:rPr lang="en-001" sz="1800" b="1" dirty="0">
                <a:solidFill>
                  <a:srgbClr val="00B0F0"/>
                </a:solidFill>
              </a:rPr>
              <a:t>发生改变时，其振荡频率</a:t>
            </a:r>
            <a:r>
              <a:rPr lang="en-US" sz="1800" b="1" dirty="0">
                <a:solidFill>
                  <a:srgbClr val="00B0F0"/>
                </a:solidFill>
              </a:rPr>
              <a:t>f</a:t>
            </a:r>
            <a:r>
              <a:rPr lang="en-001" sz="1800" b="1" dirty="0">
                <a:solidFill>
                  <a:srgbClr val="00B0F0"/>
                </a:solidFill>
              </a:rPr>
              <a:t>也发生相应变化</a:t>
            </a:r>
            <a:r>
              <a:rPr lang="en-001" sz="1800" dirty="0"/>
              <a:t>，实现由电路到频率的转换。</a:t>
            </a:r>
            <a:endParaRPr lang="en-US" sz="1800" dirty="0"/>
          </a:p>
          <a:p>
            <a:pPr>
              <a:lnSpc>
                <a:spcPct val="120000"/>
              </a:lnSpc>
            </a:pPr>
            <a:r>
              <a:rPr lang="en-001" sz="1800" dirty="0"/>
              <a:t>振荡器的频率受电容式传感器的电容调制，实现</a:t>
            </a:r>
            <a:r>
              <a:rPr lang="zh-CN" altLang="en-US" sz="1800" dirty="0"/>
              <a:t>了</a:t>
            </a:r>
            <a:r>
              <a:rPr lang="en-001" sz="1800" dirty="0"/>
              <a:t>C-f的转换，故称为</a:t>
            </a:r>
            <a:r>
              <a:rPr lang="en-001" sz="1800" dirty="0">
                <a:solidFill>
                  <a:srgbClr val="0000FF"/>
                </a:solidFill>
              </a:rPr>
              <a:t>调频电路</a:t>
            </a:r>
            <a:r>
              <a:rPr lang="en-001" sz="1800" dirty="0"/>
              <a:t>。</a:t>
            </a:r>
            <a:endParaRPr lang="en-US" sz="1800" dirty="0"/>
          </a:p>
          <a:p>
            <a:pPr>
              <a:lnSpc>
                <a:spcPct val="120000"/>
              </a:lnSpc>
            </a:pPr>
            <a:r>
              <a:rPr lang="en-001" sz="1800" dirty="0"/>
              <a:t>伴随频率的改变，振荡器输出幅值也</a:t>
            </a:r>
            <a:r>
              <a:rPr lang="zh-CN" altLang="en-US" sz="1800" dirty="0"/>
              <a:t>会</a:t>
            </a:r>
            <a:r>
              <a:rPr lang="en-001" sz="1800" dirty="0"/>
              <a:t>改变，为</a:t>
            </a:r>
            <a:r>
              <a:rPr lang="zh-CN" altLang="en-US" sz="1800" dirty="0"/>
              <a:t>此</a:t>
            </a:r>
            <a:r>
              <a:rPr lang="en-001" sz="1800" dirty="0"/>
              <a:t>在振荡器之后加</a:t>
            </a:r>
            <a:r>
              <a:rPr lang="zh-CN" altLang="en-US" sz="1800" dirty="0"/>
              <a:t>入</a:t>
            </a:r>
            <a:r>
              <a:rPr lang="en-001" sz="1800" dirty="0"/>
              <a:t>限幅环节。</a:t>
            </a:r>
            <a:endParaRPr lang="en-US" sz="1800" dirty="0"/>
          </a:p>
          <a:p>
            <a:pPr>
              <a:lnSpc>
                <a:spcPct val="120000"/>
              </a:lnSpc>
            </a:pPr>
            <a:r>
              <a:rPr lang="en-001" sz="1800" dirty="0"/>
              <a:t>虽然可</a:t>
            </a:r>
            <a:r>
              <a:rPr lang="zh-CN" altLang="en-US" sz="1800" dirty="0"/>
              <a:t>以</a:t>
            </a:r>
            <a:r>
              <a:rPr lang="en-001" sz="1800" dirty="0"/>
              <a:t>将此频率作为测量系统的输出量，用以判断被测量的大小，但这时系统是非线性的，而且不易校正。因此在系统之后可再加入鉴频器，用此鉴频器可调整的非线性特性去补偿其他部分的非线性，使整个系统获得线性特性，这时整个系统的输出将为电压或电流等模拟量</a:t>
            </a:r>
          </a:p>
        </p:txBody>
      </p:sp>
      <p:sp>
        <p:nvSpPr>
          <p:cNvPr id="3" name="Slide Number Placeholder 2">
            <a:extLst>
              <a:ext uri="{FF2B5EF4-FFF2-40B4-BE49-F238E27FC236}">
                <a16:creationId xmlns:a16="http://schemas.microsoft.com/office/drawing/2014/main" id="{A88FEBE4-18AC-41B7-9AC0-7A59CB60E7AB}"/>
              </a:ext>
            </a:extLst>
          </p:cNvPr>
          <p:cNvSpPr>
            <a:spLocks noGrp="1"/>
          </p:cNvSpPr>
          <p:nvPr>
            <p:ph type="sldNum" sz="quarter" idx="12"/>
          </p:nvPr>
        </p:nvSpPr>
        <p:spPr/>
        <p:txBody>
          <a:bodyPr/>
          <a:lstStyle/>
          <a:p>
            <a:fld id="{B53602B4-F12B-41CD-B648-531F86B2CC91}" type="slidenum">
              <a:rPr lang="zh-CN" altLang="en-US" smtClean="0"/>
              <a:t>38</a:t>
            </a:fld>
            <a:endParaRPr lang="zh-CN" altLang="en-US"/>
          </a:p>
        </p:txBody>
      </p:sp>
    </p:spTree>
    <p:extLst>
      <p:ext uri="{BB962C8B-B14F-4D97-AF65-F5344CB8AC3E}">
        <p14:creationId xmlns:p14="http://schemas.microsoft.com/office/powerpoint/2010/main" val="382933528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248439" cy="620462"/>
          </a:xfrm>
          <a:prstGeom prst="rect">
            <a:avLst/>
          </a:prstGeom>
          <a:solidFill>
            <a:schemeClr val="bg1">
              <a:lumMod val="85000"/>
            </a:schemeClr>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4.5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电容式传感器的转换电路</a:t>
            </a:r>
          </a:p>
        </p:txBody>
      </p:sp>
      <p:sp>
        <p:nvSpPr>
          <p:cNvPr id="29" name="Text Box 9">
            <a:extLst>
              <a:ext uri="{FF2B5EF4-FFF2-40B4-BE49-F238E27FC236}">
                <a16:creationId xmlns:a16="http://schemas.microsoft.com/office/drawing/2014/main" id="{CC3702E3-0ED6-4CC3-8C23-B979EBB1B23F}"/>
              </a:ext>
            </a:extLst>
          </p:cNvPr>
          <p:cNvSpPr txBox="1">
            <a:spLocks noChangeArrowheads="1"/>
          </p:cNvSpPr>
          <p:nvPr/>
        </p:nvSpPr>
        <p:spPr bwMode="auto">
          <a:xfrm>
            <a:off x="3471813" y="6134254"/>
            <a:ext cx="3100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4-10  </a:t>
            </a:r>
            <a:r>
              <a:rPr lang="zh-CN" altLang="en-US" b="1" dirty="0">
                <a:solidFill>
                  <a:srgbClr val="000099"/>
                </a:solidFill>
              </a:rPr>
              <a:t>调频电路</a:t>
            </a:r>
          </a:p>
        </p:txBody>
      </p:sp>
      <p:pic>
        <p:nvPicPr>
          <p:cNvPr id="4" name="Picture 3">
            <a:extLst>
              <a:ext uri="{FF2B5EF4-FFF2-40B4-BE49-F238E27FC236}">
                <a16:creationId xmlns:a16="http://schemas.microsoft.com/office/drawing/2014/main" id="{F187E84D-8A2B-4ECA-9CC6-54E6FFED64D6}"/>
              </a:ext>
            </a:extLst>
          </p:cNvPr>
          <p:cNvPicPr>
            <a:picLocks noChangeAspect="1"/>
          </p:cNvPicPr>
          <p:nvPr/>
        </p:nvPicPr>
        <p:blipFill rotWithShape="1">
          <a:blip r:embed="rId3"/>
          <a:srcRect t="19832"/>
          <a:stretch/>
        </p:blipFill>
        <p:spPr>
          <a:xfrm>
            <a:off x="789297" y="4485954"/>
            <a:ext cx="7578962" cy="1600809"/>
          </a:xfrm>
          <a:prstGeom prst="rect">
            <a:avLst/>
          </a:prstGeom>
        </p:spPr>
      </p:pic>
      <p:sp>
        <p:nvSpPr>
          <p:cNvPr id="9" name="Rectangle 2">
            <a:extLst>
              <a:ext uri="{FF2B5EF4-FFF2-40B4-BE49-F238E27FC236}">
                <a16:creationId xmlns:a16="http://schemas.microsoft.com/office/drawing/2014/main" id="{4ED8A464-50C3-4415-B231-4F37425C0B76}"/>
              </a:ext>
            </a:extLst>
          </p:cNvPr>
          <p:cNvSpPr>
            <a:spLocks noChangeArrowheads="1"/>
          </p:cNvSpPr>
          <p:nvPr/>
        </p:nvSpPr>
        <p:spPr bwMode="auto">
          <a:xfrm>
            <a:off x="4009590" y="955796"/>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graphicFrame>
        <p:nvGraphicFramePr>
          <p:cNvPr id="10" name="Object 60">
            <a:extLst>
              <a:ext uri="{FF2B5EF4-FFF2-40B4-BE49-F238E27FC236}">
                <a16:creationId xmlns:a16="http://schemas.microsoft.com/office/drawing/2014/main" id="{0DA67D99-6BD1-4DB0-9211-C5CEE9B0CDC4}"/>
              </a:ext>
            </a:extLst>
          </p:cNvPr>
          <p:cNvGraphicFramePr>
            <a:graphicFrameLocks noChangeAspect="1"/>
          </p:cNvGraphicFramePr>
          <p:nvPr>
            <p:extLst>
              <p:ext uri="{D42A27DB-BD31-4B8C-83A1-F6EECF244321}">
                <p14:modId xmlns:p14="http://schemas.microsoft.com/office/powerpoint/2010/main" val="1505848179"/>
              </p:ext>
            </p:extLst>
          </p:nvPr>
        </p:nvGraphicFramePr>
        <p:xfrm>
          <a:off x="3288138" y="1165524"/>
          <a:ext cx="2384946" cy="1188730"/>
        </p:xfrm>
        <a:graphic>
          <a:graphicData uri="http://schemas.openxmlformats.org/presentationml/2006/ole">
            <mc:AlternateContent xmlns:mc="http://schemas.openxmlformats.org/markup-compatibility/2006">
              <mc:Choice xmlns:v="urn:schemas-microsoft-com:vml" Requires="v">
                <p:oleObj name="公式" r:id="rId4" imgW="965160" imgH="482400" progId="Equation.3">
                  <p:embed/>
                </p:oleObj>
              </mc:Choice>
              <mc:Fallback>
                <p:oleObj name="公式" r:id="rId4" imgW="965160" imgH="482400" progId="Equation.3">
                  <p:embed/>
                  <p:pic>
                    <p:nvPicPr>
                      <p:cNvPr id="10" name="Object 60">
                        <a:extLst>
                          <a:ext uri="{FF2B5EF4-FFF2-40B4-BE49-F238E27FC236}">
                            <a16:creationId xmlns:a16="http://schemas.microsoft.com/office/drawing/2014/main" id="{0DA67D99-6BD1-4DB0-9211-C5CEE9B0CDC4}"/>
                          </a:ext>
                        </a:extLst>
                      </p:cNvPr>
                      <p:cNvPicPr>
                        <a:picLocks noChangeAspect="1" noChangeArrowheads="1"/>
                      </p:cNvPicPr>
                      <p:nvPr/>
                    </p:nvPicPr>
                    <p:blipFill>
                      <a:blip r:embed="rId5"/>
                      <a:srcRect/>
                      <a:stretch>
                        <a:fillRect/>
                      </a:stretch>
                    </p:blipFill>
                    <p:spPr bwMode="auto">
                      <a:xfrm>
                        <a:off x="3288138" y="1165524"/>
                        <a:ext cx="2384946" cy="1188730"/>
                      </a:xfrm>
                      <a:prstGeom prst="rect">
                        <a:avLst/>
                      </a:prstGeom>
                      <a:noFill/>
                    </p:spPr>
                  </p:pic>
                </p:oleObj>
              </mc:Fallback>
            </mc:AlternateContent>
          </a:graphicData>
        </a:graphic>
      </p:graphicFrame>
      <p:sp>
        <p:nvSpPr>
          <p:cNvPr id="11" name="Text Box 62">
            <a:extLst>
              <a:ext uri="{FF2B5EF4-FFF2-40B4-BE49-F238E27FC236}">
                <a16:creationId xmlns:a16="http://schemas.microsoft.com/office/drawing/2014/main" id="{76F576F5-13A2-4916-9038-47BB5DD46813}"/>
              </a:ext>
            </a:extLst>
          </p:cNvPr>
          <p:cNvSpPr txBox="1">
            <a:spLocks noChangeArrowheads="1"/>
          </p:cNvSpPr>
          <p:nvPr/>
        </p:nvSpPr>
        <p:spPr bwMode="auto">
          <a:xfrm>
            <a:off x="377767" y="2438307"/>
            <a:ext cx="7698499" cy="426335"/>
          </a:xfrm>
          <a:prstGeom prst="rect">
            <a:avLst/>
          </a:prstGeom>
          <a:noFill/>
        </p:spPr>
        <p:txBody>
          <a:bodyPr wrap="square">
            <a:spAutoFit/>
          </a:bodyPr>
          <a:lstStyle>
            <a:defPPr>
              <a:defRPr lang="zh-CN"/>
            </a:defPPr>
            <a:lvl1pPr marL="285750" indent="-285750">
              <a:lnSpc>
                <a:spcPct val="120000"/>
              </a:lnSpc>
              <a:spcBef>
                <a:spcPts val="1200"/>
              </a:spcBef>
              <a:buFont typeface="Arial" panose="020B0604020202020204" pitchFamily="34" charset="0"/>
              <a:buChar char="•"/>
              <a:defRPr sz="2000">
                <a:latin typeface="宋体" panose="02010600030101010101" pitchFamily="2" charset="-122"/>
                <a:ea typeface="宋体" panose="02010600030101010101" pitchFamily="2" charset="-122"/>
              </a:defRPr>
            </a:lvl1pPr>
          </a:lstStyle>
          <a:p>
            <a:r>
              <a:rPr lang="zh-CN" altLang="en-US"/>
              <a:t>初始状态，电容传感器未工作，</a:t>
            </a:r>
            <a:r>
              <a:rPr lang="en-US" altLang="zh-CN">
                <a:latin typeface="Times New Roman" panose="02020603050405020304" pitchFamily="18" charset="0"/>
                <a:cs typeface="Times New Roman" panose="02020603050405020304" pitchFamily="18" charset="0"/>
              </a:rPr>
              <a:t>C</a:t>
            </a:r>
            <a:r>
              <a:rPr lang="en-US" altLang="zh-CN" baseline="-25000">
                <a:latin typeface="Times New Roman" panose="02020603050405020304" pitchFamily="18" charset="0"/>
                <a:cs typeface="Times New Roman" panose="02020603050405020304" pitchFamily="18" charset="0"/>
              </a:rPr>
              <a:t>x</a:t>
            </a:r>
            <a:r>
              <a:rPr lang="en-US" altLang="zh-CN">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 </a:t>
            </a:r>
            <a:r>
              <a:rPr lang="en-US" altLang="zh-CN">
                <a:latin typeface="Times New Roman" panose="02020603050405020304" pitchFamily="18" charset="0"/>
                <a:cs typeface="Times New Roman" panose="02020603050405020304" pitchFamily="18" charset="0"/>
              </a:rPr>
              <a:t>C</a:t>
            </a:r>
            <a:r>
              <a:rPr lang="en-US" altLang="zh-CN" baseline="-25000">
                <a:latin typeface="Times New Roman" panose="02020603050405020304" pitchFamily="18" charset="0"/>
                <a:cs typeface="Times New Roman" panose="02020603050405020304" pitchFamily="18" charset="0"/>
              </a:rPr>
              <a:t>0</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f</a:t>
            </a:r>
            <a:r>
              <a:rPr lang="en-US" altLang="zh-CN" baseline="-25000">
                <a:latin typeface="Times New Roman" panose="02020603050405020304" pitchFamily="18" charset="0"/>
                <a:cs typeface="Times New Roman" panose="02020603050405020304" pitchFamily="18" charset="0"/>
              </a:rPr>
              <a:t>0 </a:t>
            </a:r>
            <a:r>
              <a:rPr lang="en-US" altLang="zh-CN">
                <a:latin typeface="Times New Roman" panose="02020603050405020304" pitchFamily="18" charset="0"/>
                <a:cs typeface="Times New Roman" panose="02020603050405020304" pitchFamily="18" charset="0"/>
              </a:rPr>
              <a:t>&gt;= 1MHz</a:t>
            </a:r>
            <a:endParaRPr lang="en-US" altLang="zh-CN" dirty="0">
              <a:latin typeface="Times New Roman" panose="02020603050405020304" pitchFamily="18" charset="0"/>
              <a:cs typeface="Times New Roman" panose="02020603050405020304" pitchFamily="18" charset="0"/>
            </a:endParaRPr>
          </a:p>
        </p:txBody>
      </p:sp>
      <p:graphicFrame>
        <p:nvGraphicFramePr>
          <p:cNvPr id="12" name="Object 63">
            <a:extLst>
              <a:ext uri="{FF2B5EF4-FFF2-40B4-BE49-F238E27FC236}">
                <a16:creationId xmlns:a16="http://schemas.microsoft.com/office/drawing/2014/main" id="{A4098ED2-58E4-4AE0-BAEA-C1C66CF3B646}"/>
              </a:ext>
            </a:extLst>
          </p:cNvPr>
          <p:cNvGraphicFramePr>
            <a:graphicFrameLocks noChangeAspect="1"/>
          </p:cNvGraphicFramePr>
          <p:nvPr>
            <p:extLst>
              <p:ext uri="{D42A27DB-BD31-4B8C-83A1-F6EECF244321}">
                <p14:modId xmlns:p14="http://schemas.microsoft.com/office/powerpoint/2010/main" val="1473429700"/>
              </p:ext>
            </p:extLst>
          </p:nvPr>
        </p:nvGraphicFramePr>
        <p:xfrm>
          <a:off x="3046966" y="3153480"/>
          <a:ext cx="1685277" cy="426335"/>
        </p:xfrm>
        <a:graphic>
          <a:graphicData uri="http://schemas.openxmlformats.org/presentationml/2006/ole">
            <mc:AlternateContent xmlns:mc="http://schemas.openxmlformats.org/markup-compatibility/2006">
              <mc:Choice xmlns:v="urn:schemas-microsoft-com:vml" Requires="v">
                <p:oleObj r:id="rId6" imgW="901309" imgH="228501" progId="Equation.3">
                  <p:embed/>
                </p:oleObj>
              </mc:Choice>
              <mc:Fallback>
                <p:oleObj r:id="rId6" imgW="901309" imgH="228501" progId="Equation.3">
                  <p:embed/>
                  <p:pic>
                    <p:nvPicPr>
                      <p:cNvPr id="12" name="Object 63">
                        <a:extLst>
                          <a:ext uri="{FF2B5EF4-FFF2-40B4-BE49-F238E27FC236}">
                            <a16:creationId xmlns:a16="http://schemas.microsoft.com/office/drawing/2014/main" id="{A4098ED2-58E4-4AE0-BAEA-C1C66CF3B6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6966" y="3153480"/>
                        <a:ext cx="1685277" cy="426335"/>
                      </a:xfrm>
                      <a:prstGeom prst="rect">
                        <a:avLst/>
                      </a:prstGeom>
                      <a:noFill/>
                    </p:spPr>
                  </p:pic>
                </p:oleObj>
              </mc:Fallback>
            </mc:AlternateContent>
          </a:graphicData>
        </a:graphic>
      </p:graphicFrame>
      <p:graphicFrame>
        <p:nvGraphicFramePr>
          <p:cNvPr id="13" name="Object 65">
            <a:extLst>
              <a:ext uri="{FF2B5EF4-FFF2-40B4-BE49-F238E27FC236}">
                <a16:creationId xmlns:a16="http://schemas.microsoft.com/office/drawing/2014/main" id="{1B21A968-9D47-4E19-921D-CE4D63C8AF7D}"/>
              </a:ext>
            </a:extLst>
          </p:cNvPr>
          <p:cNvGraphicFramePr>
            <a:graphicFrameLocks noChangeAspect="1"/>
          </p:cNvGraphicFramePr>
          <p:nvPr>
            <p:extLst>
              <p:ext uri="{D42A27DB-BD31-4B8C-83A1-F6EECF244321}">
                <p14:modId xmlns:p14="http://schemas.microsoft.com/office/powerpoint/2010/main" val="3923066415"/>
              </p:ext>
            </p:extLst>
          </p:nvPr>
        </p:nvGraphicFramePr>
        <p:xfrm>
          <a:off x="5367888" y="2912133"/>
          <a:ext cx="3398345" cy="911034"/>
        </p:xfrm>
        <a:graphic>
          <a:graphicData uri="http://schemas.openxmlformats.org/presentationml/2006/ole">
            <mc:AlternateContent xmlns:mc="http://schemas.openxmlformats.org/markup-compatibility/2006">
              <mc:Choice xmlns:v="urn:schemas-microsoft-com:vml" Requires="v">
                <p:oleObj r:id="rId8" imgW="1701800" imgH="457200" progId="Equation.3">
                  <p:embed/>
                </p:oleObj>
              </mc:Choice>
              <mc:Fallback>
                <p:oleObj r:id="rId8" imgW="1701800" imgH="457200" progId="Equation.3">
                  <p:embed/>
                  <p:pic>
                    <p:nvPicPr>
                      <p:cNvPr id="13" name="Object 65">
                        <a:extLst>
                          <a:ext uri="{FF2B5EF4-FFF2-40B4-BE49-F238E27FC236}">
                            <a16:creationId xmlns:a16="http://schemas.microsoft.com/office/drawing/2014/main" id="{1B21A968-9D47-4E19-921D-CE4D63C8AF7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7888" y="2912133"/>
                        <a:ext cx="3398345" cy="911034"/>
                      </a:xfrm>
                      <a:prstGeom prst="rect">
                        <a:avLst/>
                      </a:prstGeom>
                      <a:noFill/>
                    </p:spPr>
                  </p:pic>
                </p:oleObj>
              </mc:Fallback>
            </mc:AlternateContent>
          </a:graphicData>
        </a:graphic>
      </p:graphicFrame>
      <p:sp>
        <p:nvSpPr>
          <p:cNvPr id="14" name="TextBox 13">
            <a:extLst>
              <a:ext uri="{FF2B5EF4-FFF2-40B4-BE49-F238E27FC236}">
                <a16:creationId xmlns:a16="http://schemas.microsoft.com/office/drawing/2014/main" id="{B00EB347-9D2D-46D0-8E43-D800EACE3443}"/>
              </a:ext>
            </a:extLst>
          </p:cNvPr>
          <p:cNvSpPr txBox="1"/>
          <p:nvPr/>
        </p:nvSpPr>
        <p:spPr>
          <a:xfrm>
            <a:off x="377767" y="1537229"/>
            <a:ext cx="2607128" cy="412613"/>
          </a:xfrm>
          <a:prstGeom prst="rect">
            <a:avLst/>
          </a:prstGeom>
          <a:noFill/>
        </p:spPr>
        <p:txBody>
          <a:bodyPr wrap="square">
            <a:spAutoFit/>
          </a:bodyPr>
          <a:lstStyle>
            <a:defPPr>
              <a:defRPr lang="zh-CN"/>
            </a:defPPr>
            <a:lvl1pPr marL="285750" indent="-285750">
              <a:lnSpc>
                <a:spcPct val="120000"/>
              </a:lnSpc>
              <a:spcBef>
                <a:spcPts val="1200"/>
              </a:spcBef>
              <a:buFont typeface="Arial" panose="020B0604020202020204" pitchFamily="34" charset="0"/>
              <a:buChar char="•"/>
              <a:defRPr>
                <a:latin typeface="宋体" panose="02010600030101010101" pitchFamily="2" charset="-122"/>
                <a:ea typeface="宋体" panose="02010600030101010101" pitchFamily="2" charset="-122"/>
              </a:defRPr>
            </a:lvl1pPr>
          </a:lstStyle>
          <a:p>
            <a:r>
              <a:rPr lang="en-001" sz="2000"/>
              <a:t>调频振荡器的频率</a:t>
            </a:r>
          </a:p>
        </p:txBody>
      </p:sp>
      <p:sp>
        <p:nvSpPr>
          <p:cNvPr id="16" name="Text Box 62">
            <a:extLst>
              <a:ext uri="{FF2B5EF4-FFF2-40B4-BE49-F238E27FC236}">
                <a16:creationId xmlns:a16="http://schemas.microsoft.com/office/drawing/2014/main" id="{68B90E64-6238-48AC-ACB1-CD3FAE88CF56}"/>
              </a:ext>
            </a:extLst>
          </p:cNvPr>
          <p:cNvSpPr txBox="1">
            <a:spLocks noChangeArrowheads="1"/>
          </p:cNvSpPr>
          <p:nvPr/>
        </p:nvSpPr>
        <p:spPr bwMode="auto">
          <a:xfrm>
            <a:off x="377767" y="3143334"/>
            <a:ext cx="2910372" cy="426335"/>
          </a:xfrm>
          <a:prstGeom prst="rect">
            <a:avLst/>
          </a:prstGeom>
          <a:noFill/>
        </p:spPr>
        <p:txBody>
          <a:bodyPr wrap="square">
            <a:spAutoFit/>
          </a:bodyPr>
          <a:lstStyle>
            <a:defPPr>
              <a:defRPr lang="zh-CN"/>
            </a:defPPr>
            <a:lvl1pPr marL="285750" indent="-285750">
              <a:lnSpc>
                <a:spcPct val="120000"/>
              </a:lnSpc>
              <a:spcBef>
                <a:spcPts val="1200"/>
              </a:spcBef>
              <a:buFont typeface="Arial" panose="020B0604020202020204" pitchFamily="34" charset="0"/>
              <a:buChar char="•"/>
              <a:defRPr sz="2000">
                <a:latin typeface="宋体" panose="02010600030101010101" pitchFamily="2" charset="-122"/>
                <a:ea typeface="宋体" panose="02010600030101010101" pitchFamily="2" charset="-122"/>
              </a:defRPr>
            </a:lvl1pPr>
          </a:lstStyle>
          <a:p>
            <a:r>
              <a:rPr lang="zh-CN" altLang="en-US"/>
              <a:t>电容传感器工作时，</a:t>
            </a:r>
            <a:endParaRPr lang="en-US" altLang="zh-CN"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8057F57-EDAB-44A1-820A-E39C52ABA213}"/>
              </a:ext>
            </a:extLst>
          </p:cNvPr>
          <p:cNvSpPr txBox="1"/>
          <p:nvPr/>
        </p:nvSpPr>
        <p:spPr>
          <a:xfrm>
            <a:off x="377767" y="3948254"/>
            <a:ext cx="7141215" cy="412613"/>
          </a:xfrm>
          <a:prstGeom prst="rect">
            <a:avLst/>
          </a:prstGeom>
          <a:noFill/>
        </p:spPr>
        <p:txBody>
          <a:bodyPr wrap="square">
            <a:spAutoFit/>
          </a:bodyPr>
          <a:lstStyle>
            <a:defPPr>
              <a:defRPr lang="zh-CN"/>
            </a:defPPr>
            <a:lvl1pPr marL="285750" indent="-285750">
              <a:lnSpc>
                <a:spcPct val="120000"/>
              </a:lnSpc>
              <a:spcBef>
                <a:spcPts val="1200"/>
              </a:spcBef>
              <a:buFont typeface="Arial" panose="020B0604020202020204" pitchFamily="34" charset="0"/>
              <a:buChar char="•"/>
              <a:defRPr sz="2000">
                <a:latin typeface="宋体" panose="02010600030101010101" pitchFamily="2" charset="-122"/>
                <a:ea typeface="宋体" panose="02010600030101010101" pitchFamily="2" charset="-122"/>
              </a:defRPr>
            </a:lvl1pPr>
          </a:lstStyle>
          <a:p>
            <a:r>
              <a:rPr lang="en-001" dirty="0"/>
              <a:t>振荡器输出的高频电压将是一个</a:t>
            </a:r>
            <a:r>
              <a:rPr lang="en-001" dirty="0">
                <a:solidFill>
                  <a:srgbClr val="0000FF"/>
                </a:solidFill>
              </a:rPr>
              <a:t>受被测信号调制的调频波</a:t>
            </a:r>
          </a:p>
        </p:txBody>
      </p:sp>
      <p:sp>
        <p:nvSpPr>
          <p:cNvPr id="5" name="Slide Number Placeholder 4">
            <a:extLst>
              <a:ext uri="{FF2B5EF4-FFF2-40B4-BE49-F238E27FC236}">
                <a16:creationId xmlns:a16="http://schemas.microsoft.com/office/drawing/2014/main" id="{8F055ADA-57C7-43FF-8AA8-0C605EB5C6DC}"/>
              </a:ext>
            </a:extLst>
          </p:cNvPr>
          <p:cNvSpPr>
            <a:spLocks noGrp="1"/>
          </p:cNvSpPr>
          <p:nvPr>
            <p:ph type="sldNum" sz="quarter" idx="12"/>
          </p:nvPr>
        </p:nvSpPr>
        <p:spPr/>
        <p:txBody>
          <a:bodyPr/>
          <a:lstStyle/>
          <a:p>
            <a:fld id="{B53602B4-F12B-41CD-B648-531F86B2CC91}" type="slidenum">
              <a:rPr lang="zh-CN" altLang="en-US" smtClean="0"/>
              <a:t>39</a:t>
            </a:fld>
            <a:endParaRPr lang="zh-CN" altLang="en-US"/>
          </a:p>
        </p:txBody>
      </p:sp>
    </p:spTree>
    <p:extLst>
      <p:ext uri="{BB962C8B-B14F-4D97-AF65-F5344CB8AC3E}">
        <p14:creationId xmlns:p14="http://schemas.microsoft.com/office/powerpoint/2010/main" val="21943707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电容式传感器的应用举例</a:t>
            </a:r>
          </a:p>
        </p:txBody>
      </p:sp>
      <p:sp>
        <p:nvSpPr>
          <p:cNvPr id="24" name="Rectangle 3"/>
          <p:cNvSpPr txBox="1">
            <a:spLocks noRot="1" noChangeArrowheads="1"/>
          </p:cNvSpPr>
          <p:nvPr/>
        </p:nvSpPr>
        <p:spPr>
          <a:xfrm>
            <a:off x="1024294" y="1705894"/>
            <a:ext cx="7095412" cy="3967794"/>
          </a:xfrm>
          <a:prstGeom prst="rect">
            <a:avLst/>
          </a:prstGeom>
          <a:effectLst>
            <a:glow rad="101600">
              <a:schemeClr val="accent6">
                <a:satMod val="175000"/>
                <a:alpha val="40000"/>
              </a:schemeClr>
            </a:glo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Font typeface="Wingdings" pitchFamily="2" charset="2"/>
              <a:buNone/>
            </a:pPr>
            <a:r>
              <a:rPr lang="en-US" altLang="zh-CN" sz="2400" b="1" dirty="0">
                <a:solidFill>
                  <a:srgbClr val="FF0000"/>
                </a:solidFill>
                <a:latin typeface="宋体" pitchFamily="2" charset="-122"/>
                <a:ea typeface="宋体" pitchFamily="2" charset="-122"/>
              </a:rPr>
              <a:t>①</a:t>
            </a:r>
            <a:r>
              <a:rPr lang="zh-CN" altLang="en-US" sz="2400" b="1" dirty="0">
                <a:latin typeface="宋体" pitchFamily="2" charset="-122"/>
                <a:ea typeface="宋体" pitchFamily="2" charset="-122"/>
              </a:rPr>
              <a:t>电容传感器可用于测量直线位移、角位移，振动振幅</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可测至</a:t>
            </a:r>
            <a:r>
              <a:rPr lang="en-US" altLang="zh-CN" sz="2400" dirty="0">
                <a:latin typeface="Times New Roman" pitchFamily="18" charset="0"/>
                <a:ea typeface="宋体" pitchFamily="2" charset="-122"/>
                <a:cs typeface="Times New Roman" pitchFamily="18" charset="0"/>
              </a:rPr>
              <a:t>0.05μm</a:t>
            </a:r>
            <a:r>
              <a:rPr lang="zh-CN" altLang="en-US" sz="2400" b="1" dirty="0">
                <a:latin typeface="宋体" pitchFamily="2" charset="-122"/>
                <a:ea typeface="宋体" pitchFamily="2" charset="-122"/>
              </a:rPr>
              <a:t>的</a:t>
            </a:r>
            <a:r>
              <a:rPr lang="zh-CN" altLang="en-US" sz="2400" b="1" dirty="0">
                <a:solidFill>
                  <a:srgbClr val="0070C0"/>
                </a:solidFill>
                <a:latin typeface="宋体" pitchFamily="2" charset="-122"/>
                <a:ea typeface="宋体" pitchFamily="2" charset="-122"/>
              </a:rPr>
              <a:t>微小振幅</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，尤其适合测量高频振动振幅、精密轴系回转精度、加速度等机械量；</a:t>
            </a:r>
          </a:p>
          <a:p>
            <a:pPr marL="0" indent="0">
              <a:lnSpc>
                <a:spcPct val="150000"/>
              </a:lnSpc>
              <a:spcBef>
                <a:spcPts val="0"/>
              </a:spcBef>
              <a:buFont typeface="Wingdings" pitchFamily="2" charset="2"/>
              <a:buNone/>
            </a:pPr>
            <a:r>
              <a:rPr lang="zh-CN" altLang="en-US" sz="2400" b="1" dirty="0">
                <a:solidFill>
                  <a:srgbClr val="FF0000"/>
                </a:solidFill>
                <a:latin typeface="宋体" pitchFamily="2" charset="-122"/>
                <a:ea typeface="宋体" pitchFamily="2" charset="-122"/>
              </a:rPr>
              <a:t>②</a:t>
            </a:r>
            <a:r>
              <a:rPr lang="zh-CN" altLang="en-US" sz="2400" b="1" dirty="0">
                <a:latin typeface="宋体" pitchFamily="2" charset="-122"/>
                <a:ea typeface="宋体" pitchFamily="2" charset="-122"/>
              </a:rPr>
              <a:t>可用于测量压力、差压力、液位、料位、粮食中的水分含量、非金属材料的涂层、油膜厚度、测量电介质的湿度、密度、厚度等等。</a:t>
            </a:r>
          </a:p>
          <a:p>
            <a:pPr marL="0" indent="0">
              <a:lnSpc>
                <a:spcPct val="150000"/>
              </a:lnSpc>
              <a:spcBef>
                <a:spcPts val="0"/>
              </a:spcBef>
              <a:buFont typeface="Wingdings" pitchFamily="2" charset="2"/>
              <a:buNone/>
            </a:pPr>
            <a:r>
              <a:rPr lang="zh-CN" altLang="en-US" sz="2400" b="1" dirty="0">
                <a:solidFill>
                  <a:srgbClr val="FF0000"/>
                </a:solidFill>
                <a:latin typeface="宋体" pitchFamily="2" charset="-122"/>
                <a:ea typeface="宋体" pitchFamily="2" charset="-122"/>
              </a:rPr>
              <a:t>③</a:t>
            </a:r>
            <a:r>
              <a:rPr lang="zh-CN" altLang="en-US" sz="2400" b="1" dirty="0">
                <a:latin typeface="宋体" pitchFamily="2" charset="-122"/>
                <a:ea typeface="宋体" pitchFamily="2" charset="-122"/>
              </a:rPr>
              <a:t>在自动检测和控制系统中常作为位置信号发生器。</a:t>
            </a:r>
          </a:p>
        </p:txBody>
      </p:sp>
      <p:sp>
        <p:nvSpPr>
          <p:cNvPr id="6" name="圆角矩形 43">
            <a:extLst>
              <a:ext uri="{FF2B5EF4-FFF2-40B4-BE49-F238E27FC236}">
                <a16:creationId xmlns:a16="http://schemas.microsoft.com/office/drawing/2014/main" id="{8F7882EC-E4BA-4E4E-8820-E2F4CE72E121}"/>
              </a:ext>
            </a:extLst>
          </p:cNvPr>
          <p:cNvSpPr/>
          <p:nvPr/>
        </p:nvSpPr>
        <p:spPr>
          <a:xfrm rot="10800000" flipV="1">
            <a:off x="12793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4.6</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5EE03587-3F91-4273-8183-A0F95BF333C4}"/>
              </a:ext>
            </a:extLst>
          </p:cNvPr>
          <p:cNvSpPr>
            <a:spLocks noGrp="1"/>
          </p:cNvSpPr>
          <p:nvPr>
            <p:ph type="sldNum" sz="quarter" idx="12"/>
          </p:nvPr>
        </p:nvSpPr>
        <p:spPr/>
        <p:txBody>
          <a:bodyPr/>
          <a:lstStyle/>
          <a:p>
            <a:fld id="{B53602B4-F12B-41CD-B648-531F86B2CC91}" type="slidenum">
              <a:rPr lang="zh-CN" altLang="en-US" smtClean="0"/>
              <a:t>40</a:t>
            </a:fld>
            <a:endParaRPr lang="zh-CN" altLang="en-US"/>
          </a:p>
        </p:txBody>
      </p:sp>
    </p:spTree>
    <p:extLst>
      <p:ext uri="{BB962C8B-B14F-4D97-AF65-F5344CB8AC3E}">
        <p14:creationId xmlns:p14="http://schemas.microsoft.com/office/powerpoint/2010/main" val="42431930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电容式传感器的应用举例</a:t>
            </a:r>
          </a:p>
        </p:txBody>
      </p:sp>
      <p:sp>
        <p:nvSpPr>
          <p:cNvPr id="6" name="圆角矩形 43">
            <a:extLst>
              <a:ext uri="{FF2B5EF4-FFF2-40B4-BE49-F238E27FC236}">
                <a16:creationId xmlns:a16="http://schemas.microsoft.com/office/drawing/2014/main" id="{96F3B085-F683-4ADC-8C6B-3F9F03FB73F9}"/>
              </a:ext>
            </a:extLst>
          </p:cNvPr>
          <p:cNvSpPr/>
          <p:nvPr/>
        </p:nvSpPr>
        <p:spPr>
          <a:xfrm rot="10800000" flipV="1">
            <a:off x="12793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4.6</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7" name="Rectangle 2">
            <a:extLst>
              <a:ext uri="{FF2B5EF4-FFF2-40B4-BE49-F238E27FC236}">
                <a16:creationId xmlns:a16="http://schemas.microsoft.com/office/drawing/2014/main" id="{7043ECC2-263F-4124-AC00-8423E7833775}"/>
              </a:ext>
            </a:extLst>
          </p:cNvPr>
          <p:cNvSpPr>
            <a:spLocks noChangeArrowheads="1"/>
          </p:cNvSpPr>
          <p:nvPr/>
        </p:nvSpPr>
        <p:spPr bwMode="auto">
          <a:xfrm>
            <a:off x="4414611" y="3732164"/>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8" name="Text Box 9">
            <a:extLst>
              <a:ext uri="{FF2B5EF4-FFF2-40B4-BE49-F238E27FC236}">
                <a16:creationId xmlns:a16="http://schemas.microsoft.com/office/drawing/2014/main" id="{19CEFE45-9ADF-4743-9CC3-DBC03DB2DE1A}"/>
              </a:ext>
            </a:extLst>
          </p:cNvPr>
          <p:cNvSpPr txBox="1">
            <a:spLocks noChangeArrowheads="1"/>
          </p:cNvSpPr>
          <p:nvPr/>
        </p:nvSpPr>
        <p:spPr bwMode="auto">
          <a:xfrm>
            <a:off x="1122310" y="6057851"/>
            <a:ext cx="71872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4-19  </a:t>
            </a:r>
            <a:r>
              <a:rPr lang="zh-CN" altLang="en-US" b="1" dirty="0">
                <a:solidFill>
                  <a:srgbClr val="000099"/>
                </a:solidFill>
              </a:rPr>
              <a:t>典型的差分式电容压力传感器的结构示意图</a:t>
            </a:r>
            <a:endParaRPr lang="en-US" altLang="zh-CN" b="1" dirty="0">
              <a:solidFill>
                <a:srgbClr val="000099"/>
              </a:solidFill>
            </a:endParaRPr>
          </a:p>
        </p:txBody>
      </p:sp>
      <p:pic>
        <p:nvPicPr>
          <p:cNvPr id="9" name="图片 1">
            <a:extLst>
              <a:ext uri="{FF2B5EF4-FFF2-40B4-BE49-F238E27FC236}">
                <a16:creationId xmlns:a16="http://schemas.microsoft.com/office/drawing/2014/main" id="{09E4CC1F-E760-4B04-8620-0466F7FDB7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168" y="2892299"/>
            <a:ext cx="3216593" cy="3028958"/>
          </a:xfrm>
          <a:prstGeom prst="rect">
            <a:avLst/>
          </a:prstGeom>
        </p:spPr>
      </p:pic>
      <p:sp>
        <p:nvSpPr>
          <p:cNvPr id="10" name="文本框 2">
            <a:extLst>
              <a:ext uri="{FF2B5EF4-FFF2-40B4-BE49-F238E27FC236}">
                <a16:creationId xmlns:a16="http://schemas.microsoft.com/office/drawing/2014/main" id="{BD0CCA34-FCEB-418A-B811-83F8CE00714C}"/>
              </a:ext>
            </a:extLst>
          </p:cNvPr>
          <p:cNvSpPr txBox="1"/>
          <p:nvPr/>
        </p:nvSpPr>
        <p:spPr>
          <a:xfrm>
            <a:off x="4958208" y="3155130"/>
            <a:ext cx="2502278" cy="2328523"/>
          </a:xfrm>
          <a:prstGeom prst="rect">
            <a:avLst/>
          </a:prstGeom>
          <a:noFill/>
        </p:spPr>
        <p:txBody>
          <a:bodyPr wrap="square" rtlCol="0">
            <a:spAutoFit/>
          </a:bodyPr>
          <a:lstStyle/>
          <a:p>
            <a:pPr>
              <a:lnSpc>
                <a:spcPct val="150000"/>
              </a:lnSpc>
            </a:pPr>
            <a:r>
              <a:rPr lang="en-US" altLang="zh-CN" sz="2000" b="1" dirty="0">
                <a:latin typeface="宋体" panose="02010600030101010101" pitchFamily="2" charset="-122"/>
                <a:ea typeface="宋体" panose="02010600030101010101" pitchFamily="2" charset="-122"/>
              </a:rPr>
              <a:t>1—O</a:t>
            </a:r>
            <a:r>
              <a:rPr lang="zh-CN" altLang="en-US" sz="2000" b="1" dirty="0">
                <a:latin typeface="宋体" panose="02010600030101010101" pitchFamily="2" charset="-122"/>
                <a:ea typeface="宋体" panose="02010600030101010101" pitchFamily="2" charset="-122"/>
              </a:rPr>
              <a:t>型垫圈；</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金属动膜片；</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玻璃；</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多孔金属过滤器；</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5—</a:t>
            </a:r>
            <a:r>
              <a:rPr lang="zh-CN" altLang="en-US" sz="2000" b="1" dirty="0">
                <a:latin typeface="宋体" panose="02010600030101010101" pitchFamily="2" charset="-122"/>
                <a:ea typeface="宋体" panose="02010600030101010101" pitchFamily="2" charset="-122"/>
              </a:rPr>
              <a:t>电镀金属表面层</a:t>
            </a:r>
          </a:p>
        </p:txBody>
      </p:sp>
      <p:sp>
        <p:nvSpPr>
          <p:cNvPr id="12" name="TextBox 11">
            <a:extLst>
              <a:ext uri="{FF2B5EF4-FFF2-40B4-BE49-F238E27FC236}">
                <a16:creationId xmlns:a16="http://schemas.microsoft.com/office/drawing/2014/main" id="{FE28F182-3AD4-4B72-8565-49D428A59A27}"/>
              </a:ext>
            </a:extLst>
          </p:cNvPr>
          <p:cNvSpPr txBox="1"/>
          <p:nvPr/>
        </p:nvSpPr>
        <p:spPr>
          <a:xfrm>
            <a:off x="587245" y="1296651"/>
            <a:ext cx="7344811" cy="1459054"/>
          </a:xfrm>
          <a:prstGeom prst="rect">
            <a:avLst/>
          </a:prstGeom>
          <a:noFill/>
        </p:spPr>
        <p:txBody>
          <a:bodyPr wrap="square">
            <a:spAutoFit/>
          </a:bodyPr>
          <a:lstStyle>
            <a:defPPr>
              <a:defRPr lang="zh-CN"/>
            </a:defPPr>
            <a:lvl1pPr marL="285750" indent="-285750">
              <a:lnSpc>
                <a:spcPct val="120000"/>
              </a:lnSpc>
              <a:spcBef>
                <a:spcPts val="1200"/>
              </a:spcBef>
              <a:buFont typeface="Arial" panose="020B0604020202020204" pitchFamily="34" charset="0"/>
              <a:buChar char="•"/>
              <a:defRPr sz="2000">
                <a:latin typeface="宋体" panose="02010600030101010101" pitchFamily="2" charset="-122"/>
                <a:ea typeface="宋体" panose="02010600030101010101" pitchFamily="2" charset="-122"/>
              </a:defRPr>
            </a:lvl1pPr>
          </a:lstStyle>
          <a:p>
            <a:r>
              <a:rPr lang="en-001"/>
              <a:t>金属动膜片2与电镀金属表面层5的固定极板形成电容。</a:t>
            </a:r>
          </a:p>
          <a:p>
            <a:r>
              <a:rPr lang="en-001"/>
              <a:t>在压差作用下，膜片凹向压力小的一面，从而电容量发生变化</a:t>
            </a:r>
          </a:p>
          <a:p>
            <a:r>
              <a:rPr lang="en-001"/>
              <a:t>当过载时，膜片受到凹曲的玻璃3表面的保护不致发生破裂。</a:t>
            </a:r>
          </a:p>
        </p:txBody>
      </p:sp>
      <p:sp>
        <p:nvSpPr>
          <p:cNvPr id="3" name="Slide Number Placeholder 2">
            <a:extLst>
              <a:ext uri="{FF2B5EF4-FFF2-40B4-BE49-F238E27FC236}">
                <a16:creationId xmlns:a16="http://schemas.microsoft.com/office/drawing/2014/main" id="{6230EAA2-4984-49B9-8EE2-DB9502598A15}"/>
              </a:ext>
            </a:extLst>
          </p:cNvPr>
          <p:cNvSpPr>
            <a:spLocks noGrp="1"/>
          </p:cNvSpPr>
          <p:nvPr>
            <p:ph type="sldNum" sz="quarter" idx="12"/>
          </p:nvPr>
        </p:nvSpPr>
        <p:spPr/>
        <p:txBody>
          <a:bodyPr/>
          <a:lstStyle/>
          <a:p>
            <a:fld id="{B53602B4-F12B-41CD-B648-531F86B2CC91}" type="slidenum">
              <a:rPr lang="zh-CN" altLang="en-US" smtClean="0"/>
              <a:t>41</a:t>
            </a:fld>
            <a:endParaRPr lang="zh-CN" altLang="en-US"/>
          </a:p>
        </p:txBody>
      </p:sp>
    </p:spTree>
    <p:extLst>
      <p:ext uri="{BB962C8B-B14F-4D97-AF65-F5344CB8AC3E}">
        <p14:creationId xmlns:p14="http://schemas.microsoft.com/office/powerpoint/2010/main" val="29644234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电容式传感器的应用举例</a:t>
            </a:r>
          </a:p>
        </p:txBody>
      </p:sp>
      <p:sp>
        <p:nvSpPr>
          <p:cNvPr id="6" name="圆角矩形 43">
            <a:extLst>
              <a:ext uri="{FF2B5EF4-FFF2-40B4-BE49-F238E27FC236}">
                <a16:creationId xmlns:a16="http://schemas.microsoft.com/office/drawing/2014/main" id="{96F3B085-F683-4ADC-8C6B-3F9F03FB73F9}"/>
              </a:ext>
            </a:extLst>
          </p:cNvPr>
          <p:cNvSpPr/>
          <p:nvPr/>
        </p:nvSpPr>
        <p:spPr>
          <a:xfrm rot="10800000" flipV="1">
            <a:off x="12793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4.6</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3" name="Slide Number Placeholder 2">
            <a:extLst>
              <a:ext uri="{FF2B5EF4-FFF2-40B4-BE49-F238E27FC236}">
                <a16:creationId xmlns:a16="http://schemas.microsoft.com/office/drawing/2014/main" id="{6230EAA2-4984-49B9-8EE2-DB9502598A15}"/>
              </a:ext>
            </a:extLst>
          </p:cNvPr>
          <p:cNvSpPr>
            <a:spLocks noGrp="1"/>
          </p:cNvSpPr>
          <p:nvPr>
            <p:ph type="sldNum" sz="quarter" idx="12"/>
          </p:nvPr>
        </p:nvSpPr>
        <p:spPr/>
        <p:txBody>
          <a:bodyPr/>
          <a:lstStyle/>
          <a:p>
            <a:fld id="{B53602B4-F12B-41CD-B648-531F86B2CC91}" type="slidenum">
              <a:rPr lang="zh-CN" altLang="en-US" smtClean="0"/>
              <a:t>42</a:t>
            </a:fld>
            <a:endParaRPr lang="zh-CN" altLang="en-US"/>
          </a:p>
        </p:txBody>
      </p:sp>
      <p:pic>
        <p:nvPicPr>
          <p:cNvPr id="11" name="Picture 10">
            <a:extLst>
              <a:ext uri="{FF2B5EF4-FFF2-40B4-BE49-F238E27FC236}">
                <a16:creationId xmlns:a16="http://schemas.microsoft.com/office/drawing/2014/main" id="{218044D7-8EB4-4953-8CF0-C690C66249E6}"/>
              </a:ext>
            </a:extLst>
          </p:cNvPr>
          <p:cNvPicPr>
            <a:picLocks noChangeAspect="1"/>
          </p:cNvPicPr>
          <p:nvPr/>
        </p:nvPicPr>
        <p:blipFill>
          <a:blip r:embed="rId3"/>
          <a:stretch>
            <a:fillRect/>
          </a:stretch>
        </p:blipFill>
        <p:spPr>
          <a:xfrm>
            <a:off x="5694270" y="1264208"/>
            <a:ext cx="3247752" cy="2855138"/>
          </a:xfrm>
          <a:prstGeom prst="rect">
            <a:avLst/>
          </a:prstGeom>
        </p:spPr>
      </p:pic>
      <p:pic>
        <p:nvPicPr>
          <p:cNvPr id="13" name="图片 1">
            <a:extLst>
              <a:ext uri="{FF2B5EF4-FFF2-40B4-BE49-F238E27FC236}">
                <a16:creationId xmlns:a16="http://schemas.microsoft.com/office/drawing/2014/main" id="{DF8E6CD8-1EF4-4C99-B351-D71D8B9E8C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2705212" y="1546181"/>
            <a:ext cx="2713349" cy="2555070"/>
          </a:xfrm>
          <a:prstGeom prst="rect">
            <a:avLst/>
          </a:prstGeom>
        </p:spPr>
      </p:pic>
      <p:sp>
        <p:nvSpPr>
          <p:cNvPr id="14" name="文本框 2">
            <a:extLst>
              <a:ext uri="{FF2B5EF4-FFF2-40B4-BE49-F238E27FC236}">
                <a16:creationId xmlns:a16="http://schemas.microsoft.com/office/drawing/2014/main" id="{093D7E7E-B56D-46E1-B48D-4194A48878CE}"/>
              </a:ext>
            </a:extLst>
          </p:cNvPr>
          <p:cNvSpPr txBox="1"/>
          <p:nvPr/>
        </p:nvSpPr>
        <p:spPr>
          <a:xfrm>
            <a:off x="216468" y="1657284"/>
            <a:ext cx="2502278" cy="2328523"/>
          </a:xfrm>
          <a:prstGeom prst="rect">
            <a:avLst/>
          </a:prstGeom>
          <a:noFill/>
        </p:spPr>
        <p:txBody>
          <a:bodyPr wrap="square" rtlCol="0">
            <a:spAutoFit/>
          </a:bodyPr>
          <a:lstStyle/>
          <a:p>
            <a:pPr>
              <a:lnSpc>
                <a:spcPct val="150000"/>
              </a:lnSpc>
            </a:pPr>
            <a:r>
              <a:rPr lang="en-US" altLang="zh-CN" sz="2000" b="1" dirty="0">
                <a:latin typeface="宋体" panose="02010600030101010101" pitchFamily="2" charset="-122"/>
                <a:ea typeface="宋体" panose="02010600030101010101" pitchFamily="2" charset="-122"/>
              </a:rPr>
              <a:t>1—O</a:t>
            </a:r>
            <a:r>
              <a:rPr lang="zh-CN" altLang="en-US" sz="2000" b="1" dirty="0">
                <a:latin typeface="宋体" panose="02010600030101010101" pitchFamily="2" charset="-122"/>
                <a:ea typeface="宋体" panose="02010600030101010101" pitchFamily="2" charset="-122"/>
              </a:rPr>
              <a:t>型垫圈；</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金属动膜片；</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玻璃；</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多孔金属过滤器；</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5—</a:t>
            </a:r>
            <a:r>
              <a:rPr lang="zh-CN" altLang="en-US" sz="2000" b="1" dirty="0">
                <a:latin typeface="宋体" panose="02010600030101010101" pitchFamily="2" charset="-122"/>
                <a:ea typeface="宋体" panose="02010600030101010101" pitchFamily="2" charset="-122"/>
              </a:rPr>
              <a:t>电镀金属表面层</a:t>
            </a:r>
          </a:p>
        </p:txBody>
      </p:sp>
      <p:sp>
        <p:nvSpPr>
          <p:cNvPr id="15" name="TextBox 14">
            <a:extLst>
              <a:ext uri="{FF2B5EF4-FFF2-40B4-BE49-F238E27FC236}">
                <a16:creationId xmlns:a16="http://schemas.microsoft.com/office/drawing/2014/main" id="{4EDE8495-3D4E-4DFF-8DF2-DBA00510EE55}"/>
              </a:ext>
            </a:extLst>
          </p:cNvPr>
          <p:cNvSpPr txBox="1"/>
          <p:nvPr/>
        </p:nvSpPr>
        <p:spPr>
          <a:xfrm>
            <a:off x="627480" y="4408004"/>
            <a:ext cx="7889039" cy="1405193"/>
          </a:xfrm>
          <a:prstGeom prst="rect">
            <a:avLst/>
          </a:prstGeom>
          <a:noFill/>
        </p:spPr>
        <p:txBody>
          <a:bodyPr wrap="square">
            <a:spAutoFit/>
          </a:bodyPr>
          <a:lstStyle/>
          <a:p>
            <a:pPr>
              <a:lnSpc>
                <a:spcPct val="150000"/>
              </a:lnSpc>
            </a:pPr>
            <a:r>
              <a:rPr lang="en-001" sz="2000" b="1" dirty="0">
                <a:solidFill>
                  <a:srgbClr val="00B0F0"/>
                </a:solidFill>
                <a:latin typeface="宋体" panose="02010600030101010101" pitchFamily="2" charset="-122"/>
                <a:ea typeface="宋体" panose="02010600030101010101" pitchFamily="2" charset="-122"/>
              </a:rPr>
              <a:t>正负压力（差压）</a:t>
            </a:r>
            <a:r>
              <a:rPr lang="en-001" sz="2000" b="1" dirty="0">
                <a:latin typeface="宋体" panose="02010600030101010101" pitchFamily="2" charset="-122"/>
                <a:ea typeface="宋体" panose="02010600030101010101" pitchFamily="2" charset="-122"/>
              </a:rPr>
              <a:t>加到膜盒两边的隔离膜片上，通过腔室内硅油液体传递到中心测量膜片上，</a:t>
            </a:r>
            <a:r>
              <a:rPr lang="en-001" sz="2000" b="1" dirty="0">
                <a:solidFill>
                  <a:srgbClr val="00B0F0"/>
                </a:solidFill>
                <a:latin typeface="宋体" panose="02010600030101010101" pitchFamily="2" charset="-122"/>
                <a:ea typeface="宋体" panose="02010600030101010101" pitchFamily="2" charset="-122"/>
              </a:rPr>
              <a:t>中心感压膜片产生位移</a:t>
            </a:r>
            <a:r>
              <a:rPr lang="en-001" sz="2000" b="1" dirty="0">
                <a:latin typeface="宋体" panose="02010600030101010101" pitchFamily="2" charset="-122"/>
                <a:ea typeface="宋体" panose="02010600030101010101" pitchFamily="2" charset="-122"/>
              </a:rPr>
              <a:t>，使可动极板和左右两个极板之间的间距不相对，</a:t>
            </a:r>
            <a:r>
              <a:rPr lang="en-001" sz="2000" b="1" dirty="0">
                <a:solidFill>
                  <a:srgbClr val="00B0F0"/>
                </a:solidFill>
                <a:latin typeface="宋体" panose="02010600030101010101" pitchFamily="2" charset="-122"/>
                <a:ea typeface="宋体" panose="02010600030101010101" pitchFamily="2" charset="-122"/>
              </a:rPr>
              <a:t>形成差动电容</a:t>
            </a:r>
            <a:endParaRPr lang="en-001" sz="20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7901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电容式传感器的应用举例</a:t>
            </a:r>
          </a:p>
        </p:txBody>
      </p:sp>
      <p:sp>
        <p:nvSpPr>
          <p:cNvPr id="6" name="圆角矩形 43">
            <a:extLst>
              <a:ext uri="{FF2B5EF4-FFF2-40B4-BE49-F238E27FC236}">
                <a16:creationId xmlns:a16="http://schemas.microsoft.com/office/drawing/2014/main" id="{96F3B085-F683-4ADC-8C6B-3F9F03FB73F9}"/>
              </a:ext>
            </a:extLst>
          </p:cNvPr>
          <p:cNvSpPr/>
          <p:nvPr/>
        </p:nvSpPr>
        <p:spPr>
          <a:xfrm rot="10800000" flipV="1">
            <a:off x="12793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4.6</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7" name="Rectangle 2">
            <a:extLst>
              <a:ext uri="{FF2B5EF4-FFF2-40B4-BE49-F238E27FC236}">
                <a16:creationId xmlns:a16="http://schemas.microsoft.com/office/drawing/2014/main" id="{7043ECC2-263F-4124-AC00-8423E7833775}"/>
              </a:ext>
            </a:extLst>
          </p:cNvPr>
          <p:cNvSpPr>
            <a:spLocks noChangeArrowheads="1"/>
          </p:cNvSpPr>
          <p:nvPr/>
        </p:nvSpPr>
        <p:spPr bwMode="auto">
          <a:xfrm>
            <a:off x="4414611" y="3732164"/>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3" name="Slide Number Placeholder 2">
            <a:extLst>
              <a:ext uri="{FF2B5EF4-FFF2-40B4-BE49-F238E27FC236}">
                <a16:creationId xmlns:a16="http://schemas.microsoft.com/office/drawing/2014/main" id="{6230EAA2-4984-49B9-8EE2-DB9502598A15}"/>
              </a:ext>
            </a:extLst>
          </p:cNvPr>
          <p:cNvSpPr>
            <a:spLocks noGrp="1"/>
          </p:cNvSpPr>
          <p:nvPr>
            <p:ph type="sldNum" sz="quarter" idx="12"/>
          </p:nvPr>
        </p:nvSpPr>
        <p:spPr/>
        <p:txBody>
          <a:bodyPr/>
          <a:lstStyle/>
          <a:p>
            <a:fld id="{B53602B4-F12B-41CD-B648-531F86B2CC91}" type="slidenum">
              <a:rPr lang="zh-CN" altLang="en-US" smtClean="0"/>
              <a:t>43</a:t>
            </a:fld>
            <a:endParaRPr lang="zh-CN" altLang="en-US"/>
          </a:p>
        </p:txBody>
      </p:sp>
      <p:sp>
        <p:nvSpPr>
          <p:cNvPr id="19" name="TextBox 18">
            <a:extLst>
              <a:ext uri="{FF2B5EF4-FFF2-40B4-BE49-F238E27FC236}">
                <a16:creationId xmlns:a16="http://schemas.microsoft.com/office/drawing/2014/main" id="{C589645F-B770-4E73-ACD4-3EDF3635C368}"/>
              </a:ext>
            </a:extLst>
          </p:cNvPr>
          <p:cNvSpPr txBox="1"/>
          <p:nvPr/>
        </p:nvSpPr>
        <p:spPr>
          <a:xfrm>
            <a:off x="4661013" y="1459339"/>
            <a:ext cx="4054108" cy="463684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000" b="1" dirty="0">
                <a:latin typeface="宋体" panose="02010600030101010101" pitchFamily="2" charset="-122"/>
                <a:ea typeface="宋体" panose="02010600030101010101" pitchFamily="2" charset="-122"/>
              </a:rPr>
              <a:t>一个</a:t>
            </a:r>
            <a:r>
              <a:rPr lang="zh-CN" altLang="en-US" sz="2000" b="1" dirty="0">
                <a:solidFill>
                  <a:srgbClr val="C00000"/>
                </a:solidFill>
                <a:latin typeface="宋体" panose="02010600030101010101" pitchFamily="2" charset="-122"/>
                <a:ea typeface="宋体" panose="02010600030101010101" pitchFamily="2" charset="-122"/>
              </a:rPr>
              <a:t>膜片动电极</a:t>
            </a:r>
            <a:r>
              <a:rPr lang="zh-CN" altLang="en-US" sz="2000" b="1" dirty="0">
                <a:latin typeface="宋体" panose="02010600030101010101" pitchFamily="2" charset="-122"/>
                <a:ea typeface="宋体" panose="02010600030101010101" pitchFamily="2" charset="-122"/>
              </a:rPr>
              <a:t>和两个在凹形玻璃上电镀成的</a:t>
            </a:r>
            <a:r>
              <a:rPr lang="zh-CN" altLang="en-US" sz="2000" b="1" dirty="0">
                <a:solidFill>
                  <a:srgbClr val="C00000"/>
                </a:solidFill>
                <a:latin typeface="宋体" panose="02010600030101010101" pitchFamily="2" charset="-122"/>
                <a:ea typeface="宋体" panose="02010600030101010101" pitchFamily="2" charset="-122"/>
              </a:rPr>
              <a:t>固定电极</a:t>
            </a:r>
            <a:r>
              <a:rPr lang="zh-CN" altLang="en-US" sz="2000" b="1" dirty="0">
                <a:latin typeface="宋体" panose="02010600030101010101" pitchFamily="2" charset="-122"/>
                <a:ea typeface="宋体" panose="02010600030101010101" pitchFamily="2" charset="-122"/>
              </a:rPr>
              <a:t>组成的差动电容器。</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000" b="1" dirty="0">
                <a:latin typeface="宋体" panose="02010600030101010101" pitchFamily="2" charset="-122"/>
                <a:ea typeface="宋体" panose="02010600030101010101" pitchFamily="2" charset="-122"/>
              </a:rPr>
              <a:t>当被测压力</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压力差作用于膜片并使其产生位移时</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形成的两个电容器的电容量一个增大</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一个减小。</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000" b="1" dirty="0">
                <a:latin typeface="宋体" panose="02010600030101010101" pitchFamily="2" charset="-122"/>
                <a:ea typeface="宋体" panose="02010600030101010101" pitchFamily="2" charset="-122"/>
              </a:rPr>
              <a:t>该电容值的变化经测量电路转换为与压力或压力差相对应的电流或电压的变化。</a:t>
            </a:r>
          </a:p>
        </p:txBody>
      </p:sp>
      <p:pic>
        <p:nvPicPr>
          <p:cNvPr id="4" name="Picture 3">
            <a:extLst>
              <a:ext uri="{FF2B5EF4-FFF2-40B4-BE49-F238E27FC236}">
                <a16:creationId xmlns:a16="http://schemas.microsoft.com/office/drawing/2014/main" id="{63D58C7D-9277-4A6A-9CFD-089771E958D6}"/>
              </a:ext>
            </a:extLst>
          </p:cNvPr>
          <p:cNvPicPr>
            <a:picLocks noChangeAspect="1"/>
          </p:cNvPicPr>
          <p:nvPr/>
        </p:nvPicPr>
        <p:blipFill>
          <a:blip r:embed="rId3"/>
          <a:stretch>
            <a:fillRect/>
          </a:stretch>
        </p:blipFill>
        <p:spPr>
          <a:xfrm>
            <a:off x="1" y="1613907"/>
            <a:ext cx="4482988" cy="3330621"/>
          </a:xfrm>
          <a:prstGeom prst="rect">
            <a:avLst/>
          </a:prstGeom>
        </p:spPr>
      </p:pic>
    </p:spTree>
    <p:extLst>
      <p:ext uri="{BB962C8B-B14F-4D97-AF65-F5344CB8AC3E}">
        <p14:creationId xmlns:p14="http://schemas.microsoft.com/office/powerpoint/2010/main" val="3535106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电容式传感器的应用举例</a:t>
            </a:r>
          </a:p>
        </p:txBody>
      </p:sp>
      <p:sp>
        <p:nvSpPr>
          <p:cNvPr id="6" name="圆角矩形 43">
            <a:extLst>
              <a:ext uri="{FF2B5EF4-FFF2-40B4-BE49-F238E27FC236}">
                <a16:creationId xmlns:a16="http://schemas.microsoft.com/office/drawing/2014/main" id="{96F3B085-F683-4ADC-8C6B-3F9F03FB73F9}"/>
              </a:ext>
            </a:extLst>
          </p:cNvPr>
          <p:cNvSpPr/>
          <p:nvPr/>
        </p:nvSpPr>
        <p:spPr>
          <a:xfrm rot="10800000" flipV="1">
            <a:off x="12793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4.6</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5" name="Rectangle 2">
            <a:extLst>
              <a:ext uri="{FF2B5EF4-FFF2-40B4-BE49-F238E27FC236}">
                <a16:creationId xmlns:a16="http://schemas.microsoft.com/office/drawing/2014/main" id="{47E6936A-9DD8-474D-B5E0-28029A1DF3CB}"/>
              </a:ext>
            </a:extLst>
          </p:cNvPr>
          <p:cNvSpPr>
            <a:spLocks noChangeArrowheads="1"/>
          </p:cNvSpPr>
          <p:nvPr/>
        </p:nvSpPr>
        <p:spPr bwMode="auto">
          <a:xfrm>
            <a:off x="4454098" y="3710646"/>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kumimoji="1" lang="zh-CN" altLang="zh-CN" sz="4400" b="0">
              <a:solidFill>
                <a:schemeClr val="tx2"/>
              </a:solidFill>
              <a:latin typeface="Times New Roman" pitchFamily="18" charset="0"/>
              <a:ea typeface="宋体" charset="-122"/>
            </a:endParaRPr>
          </a:p>
        </p:txBody>
      </p:sp>
      <p:sp>
        <p:nvSpPr>
          <p:cNvPr id="7" name="Text Box 9">
            <a:extLst>
              <a:ext uri="{FF2B5EF4-FFF2-40B4-BE49-F238E27FC236}">
                <a16:creationId xmlns:a16="http://schemas.microsoft.com/office/drawing/2014/main" id="{5D04464C-4E8D-4366-964B-09BE5E76C46D}"/>
              </a:ext>
            </a:extLst>
          </p:cNvPr>
          <p:cNvSpPr txBox="1">
            <a:spLocks noChangeArrowheads="1"/>
          </p:cNvSpPr>
          <p:nvPr/>
        </p:nvSpPr>
        <p:spPr bwMode="auto">
          <a:xfrm>
            <a:off x="54872" y="5373051"/>
            <a:ext cx="409815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defRPr b="1">
                <a:solidFill>
                  <a:srgbClr val="000066"/>
                </a:solidFill>
                <a:latin typeface="Arial" charset="0"/>
                <a:ea typeface="华文细黑" pitchFamily="2" charset="-122"/>
              </a:defRPr>
            </a:lvl1pPr>
            <a:lvl2pPr marL="742950" indent="-285750">
              <a:spcBef>
                <a:spcPct val="50000"/>
              </a:spcBef>
              <a:defRPr b="1">
                <a:solidFill>
                  <a:srgbClr val="000066"/>
                </a:solidFill>
                <a:latin typeface="Arial" charset="0"/>
                <a:ea typeface="华文细黑" pitchFamily="2" charset="-122"/>
              </a:defRPr>
            </a:lvl2pPr>
            <a:lvl3pPr marL="1143000" indent="-228600">
              <a:spcBef>
                <a:spcPct val="50000"/>
              </a:spcBef>
              <a:defRPr b="1">
                <a:solidFill>
                  <a:srgbClr val="000066"/>
                </a:solidFill>
                <a:latin typeface="Arial" charset="0"/>
                <a:ea typeface="华文细黑" pitchFamily="2" charset="-122"/>
              </a:defRPr>
            </a:lvl3pPr>
            <a:lvl4pPr marL="1600200" indent="-228600">
              <a:spcBef>
                <a:spcPct val="50000"/>
              </a:spcBef>
              <a:defRPr b="1">
                <a:solidFill>
                  <a:srgbClr val="000066"/>
                </a:solidFill>
                <a:latin typeface="Arial" charset="0"/>
                <a:ea typeface="华文细黑" pitchFamily="2" charset="-122"/>
              </a:defRPr>
            </a:lvl4pPr>
            <a:lvl5pPr marL="2057400" indent="-228600">
              <a:spcBef>
                <a:spcPct val="50000"/>
              </a:spcBef>
              <a:defRPr b="1">
                <a:solidFill>
                  <a:srgbClr val="000066"/>
                </a:solidFill>
                <a:latin typeface="Arial" charset="0"/>
                <a:ea typeface="华文细黑" pitchFamily="2" charset="-122"/>
              </a:defRPr>
            </a:lvl5pPr>
            <a:lvl6pPr marL="2514600" indent="-228600" eaLnBrk="0" fontAlgn="base" hangingPunct="0">
              <a:spcBef>
                <a:spcPct val="50000"/>
              </a:spcBef>
              <a:spcAft>
                <a:spcPct val="0"/>
              </a:spcAft>
              <a:defRPr b="1">
                <a:solidFill>
                  <a:srgbClr val="000066"/>
                </a:solidFill>
                <a:latin typeface="Arial" charset="0"/>
                <a:ea typeface="华文细黑" pitchFamily="2" charset="-122"/>
              </a:defRPr>
            </a:lvl6pPr>
            <a:lvl7pPr marL="2971800" indent="-228600" eaLnBrk="0" fontAlgn="base" hangingPunct="0">
              <a:spcBef>
                <a:spcPct val="50000"/>
              </a:spcBef>
              <a:spcAft>
                <a:spcPct val="0"/>
              </a:spcAft>
              <a:defRPr b="1">
                <a:solidFill>
                  <a:srgbClr val="000066"/>
                </a:solidFill>
                <a:latin typeface="Arial" charset="0"/>
                <a:ea typeface="华文细黑" pitchFamily="2" charset="-122"/>
              </a:defRPr>
            </a:lvl7pPr>
            <a:lvl8pPr marL="3429000" indent="-228600" eaLnBrk="0" fontAlgn="base" hangingPunct="0">
              <a:spcBef>
                <a:spcPct val="50000"/>
              </a:spcBef>
              <a:spcAft>
                <a:spcPct val="0"/>
              </a:spcAft>
              <a:defRPr b="1">
                <a:solidFill>
                  <a:srgbClr val="000066"/>
                </a:solidFill>
                <a:latin typeface="Arial" charset="0"/>
                <a:ea typeface="华文细黑" pitchFamily="2" charset="-122"/>
              </a:defRPr>
            </a:lvl8pPr>
            <a:lvl9pPr marL="3886200" indent="-228600" eaLnBrk="0" fontAlgn="base" hangingPunct="0">
              <a:spcBef>
                <a:spcPct val="50000"/>
              </a:spcBef>
              <a:spcAft>
                <a:spcPct val="0"/>
              </a:spcAft>
              <a:defRPr b="1">
                <a:solidFill>
                  <a:srgbClr val="000066"/>
                </a:solidFill>
                <a:latin typeface="Arial" charset="0"/>
                <a:ea typeface="华文细黑" pitchFamily="2" charset="-122"/>
              </a:defRPr>
            </a:lvl9pPr>
          </a:lstStyle>
          <a:p>
            <a:pPr algn="r" eaLnBrk="1" hangingPunct="1">
              <a:spcBef>
                <a:spcPct val="0"/>
              </a:spcBef>
            </a:pPr>
            <a:r>
              <a:rPr kumimoji="1" lang="zh-CN" altLang="en-US" sz="2400" dirty="0">
                <a:solidFill>
                  <a:srgbClr val="000099"/>
                </a:solidFill>
                <a:latin typeface="Times New Roman" pitchFamily="18" charset="0"/>
                <a:ea typeface="宋体" charset="-122"/>
              </a:rPr>
              <a:t>图</a:t>
            </a:r>
            <a:r>
              <a:rPr kumimoji="1" lang="en-US" altLang="zh-CN" sz="2400" dirty="0">
                <a:solidFill>
                  <a:srgbClr val="000099"/>
                </a:solidFill>
                <a:latin typeface="Times New Roman" pitchFamily="18" charset="0"/>
                <a:ea typeface="宋体" charset="-122"/>
              </a:rPr>
              <a:t>4-21 </a:t>
            </a:r>
            <a:r>
              <a:rPr kumimoji="1" lang="zh-CN" altLang="en-US" sz="2400" dirty="0">
                <a:solidFill>
                  <a:srgbClr val="000099"/>
                </a:solidFill>
                <a:latin typeface="Times New Roman" pitchFamily="18" charset="0"/>
                <a:ea typeface="宋体" charset="-122"/>
              </a:rPr>
              <a:t>电容式加速度传感器的结构示意图</a:t>
            </a:r>
          </a:p>
        </p:txBody>
      </p:sp>
      <p:pic>
        <p:nvPicPr>
          <p:cNvPr id="8" name="Picture 10">
            <a:extLst>
              <a:ext uri="{FF2B5EF4-FFF2-40B4-BE49-F238E27FC236}">
                <a16:creationId xmlns:a16="http://schemas.microsoft.com/office/drawing/2014/main" id="{DA915F24-D51B-4028-AD97-710B4CA0C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054" y="1540760"/>
            <a:ext cx="3831788" cy="3597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D6B304AA-1037-4C68-BF26-72579317BB9E}"/>
              </a:ext>
            </a:extLst>
          </p:cNvPr>
          <p:cNvSpPr txBox="1"/>
          <p:nvPr/>
        </p:nvSpPr>
        <p:spPr>
          <a:xfrm>
            <a:off x="4282132" y="1388851"/>
            <a:ext cx="4806996" cy="4936929"/>
          </a:xfrm>
          <a:prstGeom prst="rect">
            <a:avLst/>
          </a:prstGeom>
          <a:noFill/>
        </p:spPr>
        <p:txBody>
          <a:bodyPr wrap="square">
            <a:spAutoFit/>
          </a:bodyPr>
          <a:lstStyle>
            <a:defPPr>
              <a:defRPr lang="zh-CN"/>
            </a:defPPr>
            <a:lvl1pPr marL="285750" indent="-285750">
              <a:lnSpc>
                <a:spcPct val="120000"/>
              </a:lnSpc>
              <a:spcBef>
                <a:spcPts val="1200"/>
              </a:spcBef>
              <a:buFont typeface="Arial" panose="020B0604020202020204" pitchFamily="34" charset="0"/>
              <a:buChar char="•"/>
              <a:defRPr sz="2000">
                <a:latin typeface="宋体" panose="02010600030101010101" pitchFamily="2" charset="-122"/>
                <a:ea typeface="宋体" panose="02010600030101010101" pitchFamily="2" charset="-122"/>
              </a:defRPr>
            </a:lvl1pPr>
          </a:lstStyle>
          <a:p>
            <a:pPr>
              <a:spcBef>
                <a:spcPts val="600"/>
              </a:spcBef>
            </a:pPr>
            <a:r>
              <a:rPr lang="en-001"/>
              <a:t>测量垂直方向的直线加速度</a:t>
            </a:r>
          </a:p>
          <a:p>
            <a:pPr>
              <a:spcBef>
                <a:spcPts val="600"/>
              </a:spcBef>
            </a:pPr>
            <a:r>
              <a:rPr lang="en-001"/>
              <a:t>传感器壳体</a:t>
            </a:r>
            <a:r>
              <a:rPr lang="en-US"/>
              <a:t>2</a:t>
            </a:r>
            <a:r>
              <a:rPr lang="en-001"/>
              <a:t>固定在被测振动体上</a:t>
            </a:r>
          </a:p>
          <a:p>
            <a:pPr>
              <a:spcBef>
                <a:spcPts val="600"/>
              </a:spcBef>
            </a:pPr>
            <a:r>
              <a:rPr lang="en-001"/>
              <a:t>振动体的振动使壳体</a:t>
            </a:r>
            <a:r>
              <a:rPr lang="en-US"/>
              <a:t>2</a:t>
            </a:r>
            <a:r>
              <a:rPr lang="en-001"/>
              <a:t>相对重量块运动</a:t>
            </a:r>
            <a:endParaRPr lang="en-US"/>
          </a:p>
          <a:p>
            <a:pPr>
              <a:spcBef>
                <a:spcPts val="600"/>
              </a:spcBef>
              <a:buFont typeface="宋体" panose="02010600030101010101" pitchFamily="2" charset="-122"/>
              <a:buChar char="→"/>
            </a:pPr>
            <a:r>
              <a:rPr lang="en-001"/>
              <a:t>与壳体2固定在一起的两固定极板1、5相对质量块4运动</a:t>
            </a:r>
            <a:endParaRPr lang="en-US"/>
          </a:p>
          <a:p>
            <a:pPr>
              <a:spcBef>
                <a:spcPts val="600"/>
              </a:spcBef>
              <a:buFont typeface="宋体" panose="02010600030101010101" pitchFamily="2" charset="-122"/>
              <a:buChar char="→"/>
            </a:pPr>
            <a:r>
              <a:rPr lang="en-001"/>
              <a:t>固定极板5与质量块4的A面组成的电容Cx1值以及下面的固定极板1与质量块4的B面组成的电容Cx2值随之改变，一个增大，一个减小。</a:t>
            </a:r>
          </a:p>
          <a:p>
            <a:pPr>
              <a:spcBef>
                <a:spcPts val="600"/>
              </a:spcBef>
            </a:pPr>
            <a:r>
              <a:rPr lang="en-001"/>
              <a:t>它们的差值正比于被测加速度。</a:t>
            </a:r>
          </a:p>
          <a:p>
            <a:pPr>
              <a:spcBef>
                <a:spcPts val="600"/>
              </a:spcBef>
            </a:pPr>
            <a:r>
              <a:rPr lang="en-001"/>
              <a:t>采用空气阻尼，加速传感器精度较高，频率响应范围宽，量程大。</a:t>
            </a:r>
          </a:p>
        </p:txBody>
      </p:sp>
      <p:sp>
        <p:nvSpPr>
          <p:cNvPr id="3" name="Slide Number Placeholder 2">
            <a:extLst>
              <a:ext uri="{FF2B5EF4-FFF2-40B4-BE49-F238E27FC236}">
                <a16:creationId xmlns:a16="http://schemas.microsoft.com/office/drawing/2014/main" id="{8F1AB510-77E5-4FD5-94C5-0B9B15CA2F3D}"/>
              </a:ext>
            </a:extLst>
          </p:cNvPr>
          <p:cNvSpPr>
            <a:spLocks noGrp="1"/>
          </p:cNvSpPr>
          <p:nvPr>
            <p:ph type="sldNum" sz="quarter" idx="12"/>
          </p:nvPr>
        </p:nvSpPr>
        <p:spPr/>
        <p:txBody>
          <a:bodyPr/>
          <a:lstStyle/>
          <a:p>
            <a:fld id="{B53602B4-F12B-41CD-B648-531F86B2CC91}" type="slidenum">
              <a:rPr lang="zh-CN" altLang="en-US" smtClean="0"/>
              <a:t>44</a:t>
            </a:fld>
            <a:endParaRPr lang="zh-CN" altLang="en-US"/>
          </a:p>
        </p:txBody>
      </p:sp>
    </p:spTree>
    <p:extLst>
      <p:ext uri="{BB962C8B-B14F-4D97-AF65-F5344CB8AC3E}">
        <p14:creationId xmlns:p14="http://schemas.microsoft.com/office/powerpoint/2010/main" val="18622613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电容式传感器的应用举例</a:t>
            </a:r>
          </a:p>
        </p:txBody>
      </p:sp>
      <p:sp>
        <p:nvSpPr>
          <p:cNvPr id="6" name="圆角矩形 43">
            <a:extLst>
              <a:ext uri="{FF2B5EF4-FFF2-40B4-BE49-F238E27FC236}">
                <a16:creationId xmlns:a16="http://schemas.microsoft.com/office/drawing/2014/main" id="{96F3B085-F683-4ADC-8C6B-3F9F03FB73F9}"/>
              </a:ext>
            </a:extLst>
          </p:cNvPr>
          <p:cNvSpPr/>
          <p:nvPr/>
        </p:nvSpPr>
        <p:spPr>
          <a:xfrm rot="10800000" flipV="1">
            <a:off x="12793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4.6</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5" name="Rectangle 2">
            <a:extLst>
              <a:ext uri="{FF2B5EF4-FFF2-40B4-BE49-F238E27FC236}">
                <a16:creationId xmlns:a16="http://schemas.microsoft.com/office/drawing/2014/main" id="{A9D110C0-5B12-43B7-8864-138E03C5B984}"/>
              </a:ext>
            </a:extLst>
          </p:cNvPr>
          <p:cNvSpPr>
            <a:spLocks noChangeArrowheads="1"/>
          </p:cNvSpPr>
          <p:nvPr/>
        </p:nvSpPr>
        <p:spPr bwMode="auto">
          <a:xfrm>
            <a:off x="4712153" y="3710646"/>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7" name="Text Box 9">
            <a:extLst>
              <a:ext uri="{FF2B5EF4-FFF2-40B4-BE49-F238E27FC236}">
                <a16:creationId xmlns:a16="http://schemas.microsoft.com/office/drawing/2014/main" id="{8A78F4F4-B0DD-4BEA-9BAE-DA527A133E05}"/>
              </a:ext>
            </a:extLst>
          </p:cNvPr>
          <p:cNvSpPr txBox="1">
            <a:spLocks noChangeArrowheads="1"/>
          </p:cNvSpPr>
          <p:nvPr/>
        </p:nvSpPr>
        <p:spPr bwMode="auto">
          <a:xfrm>
            <a:off x="371066" y="5627974"/>
            <a:ext cx="390339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r>
              <a:rPr lang="zh-CN" altLang="en-US" b="1" dirty="0">
                <a:solidFill>
                  <a:srgbClr val="000099"/>
                </a:solidFill>
              </a:rPr>
              <a:t>图</a:t>
            </a:r>
            <a:r>
              <a:rPr lang="en-US" altLang="zh-CN" b="1" dirty="0">
                <a:solidFill>
                  <a:srgbClr val="000099"/>
                </a:solidFill>
              </a:rPr>
              <a:t>4-22  </a:t>
            </a:r>
            <a:r>
              <a:rPr lang="zh-CN" altLang="en-US" b="1" dirty="0">
                <a:solidFill>
                  <a:srgbClr val="000099"/>
                </a:solidFill>
              </a:rPr>
              <a:t>电容式料位传感器的结构示意图</a:t>
            </a:r>
          </a:p>
        </p:txBody>
      </p:sp>
      <p:pic>
        <p:nvPicPr>
          <p:cNvPr id="8" name="Picture 10">
            <a:extLst>
              <a:ext uri="{FF2B5EF4-FFF2-40B4-BE49-F238E27FC236}">
                <a16:creationId xmlns:a16="http://schemas.microsoft.com/office/drawing/2014/main" id="{30A21435-199E-460C-B3BB-E57E65865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902" y="1729991"/>
            <a:ext cx="4601326" cy="375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a:extLst>
              <a:ext uri="{FF2B5EF4-FFF2-40B4-BE49-F238E27FC236}">
                <a16:creationId xmlns:a16="http://schemas.microsoft.com/office/drawing/2014/main" id="{1A5FC0BC-3629-4418-8BF7-A3E75FBC237F}"/>
              </a:ext>
            </a:extLst>
          </p:cNvPr>
          <p:cNvPicPr>
            <a:picLocks noChangeAspect="1"/>
          </p:cNvPicPr>
          <p:nvPr/>
        </p:nvPicPr>
        <p:blipFill>
          <a:blip r:embed="rId4"/>
          <a:stretch>
            <a:fillRect/>
          </a:stretch>
        </p:blipFill>
        <p:spPr>
          <a:xfrm>
            <a:off x="4896303" y="3161176"/>
            <a:ext cx="4029030" cy="1583437"/>
          </a:xfrm>
          <a:prstGeom prst="rect">
            <a:avLst/>
          </a:prstGeom>
        </p:spPr>
      </p:pic>
      <p:sp>
        <p:nvSpPr>
          <p:cNvPr id="10" name="TextBox 9">
            <a:extLst>
              <a:ext uri="{FF2B5EF4-FFF2-40B4-BE49-F238E27FC236}">
                <a16:creationId xmlns:a16="http://schemas.microsoft.com/office/drawing/2014/main" id="{9B3820DB-7FA5-4809-AD66-63A0CF6A7285}"/>
              </a:ext>
            </a:extLst>
          </p:cNvPr>
          <p:cNvSpPr txBox="1"/>
          <p:nvPr/>
        </p:nvSpPr>
        <p:spPr>
          <a:xfrm>
            <a:off x="4658013" y="2190016"/>
            <a:ext cx="4601326" cy="781945"/>
          </a:xfrm>
          <a:prstGeom prst="rect">
            <a:avLst/>
          </a:prstGeom>
          <a:noFill/>
        </p:spPr>
        <p:txBody>
          <a:bodyPr wrap="square">
            <a:spAutoFit/>
          </a:bodyPr>
          <a:lstStyle>
            <a:defPPr>
              <a:defRPr lang="zh-CN"/>
            </a:defPPr>
            <a:lvl1pPr marL="285750" indent="-285750">
              <a:lnSpc>
                <a:spcPct val="120000"/>
              </a:lnSpc>
              <a:spcBef>
                <a:spcPts val="1200"/>
              </a:spcBef>
              <a:buFont typeface="Arial" panose="020B0604020202020204" pitchFamily="34" charset="0"/>
              <a:buChar char="•"/>
              <a:defRPr sz="2000">
                <a:latin typeface="宋体" panose="02010600030101010101" pitchFamily="2" charset="-122"/>
                <a:ea typeface="宋体" panose="02010600030101010101" pitchFamily="2" charset="-122"/>
              </a:defRPr>
            </a:lvl1pPr>
          </a:lstStyle>
          <a:p>
            <a:r>
              <a:rPr lang="en-001"/>
              <a:t>用金属电极棒插人容器来测量料位，电容变化与料位的升降关系为</a:t>
            </a:r>
          </a:p>
        </p:txBody>
      </p:sp>
      <p:sp>
        <p:nvSpPr>
          <p:cNvPr id="4" name="Slide Number Placeholder 3">
            <a:extLst>
              <a:ext uri="{FF2B5EF4-FFF2-40B4-BE49-F238E27FC236}">
                <a16:creationId xmlns:a16="http://schemas.microsoft.com/office/drawing/2014/main" id="{AE960150-C606-46F7-827C-67E621E97B00}"/>
              </a:ext>
            </a:extLst>
          </p:cNvPr>
          <p:cNvSpPr>
            <a:spLocks noGrp="1"/>
          </p:cNvSpPr>
          <p:nvPr>
            <p:ph type="sldNum" sz="quarter" idx="12"/>
          </p:nvPr>
        </p:nvSpPr>
        <p:spPr/>
        <p:txBody>
          <a:bodyPr/>
          <a:lstStyle/>
          <a:p>
            <a:fld id="{B53602B4-F12B-41CD-B648-531F86B2CC91}" type="slidenum">
              <a:rPr lang="zh-CN" altLang="en-US" smtClean="0"/>
              <a:t>45</a:t>
            </a:fld>
            <a:endParaRPr lang="zh-CN" altLang="en-US"/>
          </a:p>
        </p:txBody>
      </p:sp>
    </p:spTree>
    <p:extLst>
      <p:ext uri="{BB962C8B-B14F-4D97-AF65-F5344CB8AC3E}">
        <p14:creationId xmlns:p14="http://schemas.microsoft.com/office/powerpoint/2010/main" val="5003843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电容式传感器的应用举例</a:t>
            </a:r>
          </a:p>
        </p:txBody>
      </p:sp>
      <p:sp>
        <p:nvSpPr>
          <p:cNvPr id="6" name="圆角矩形 43">
            <a:extLst>
              <a:ext uri="{FF2B5EF4-FFF2-40B4-BE49-F238E27FC236}">
                <a16:creationId xmlns:a16="http://schemas.microsoft.com/office/drawing/2014/main" id="{96F3B085-F683-4ADC-8C6B-3F9F03FB73F9}"/>
              </a:ext>
            </a:extLst>
          </p:cNvPr>
          <p:cNvSpPr/>
          <p:nvPr/>
        </p:nvSpPr>
        <p:spPr>
          <a:xfrm rot="10800000" flipV="1">
            <a:off x="12793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4.6</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5" name="Rectangle 2">
            <a:extLst>
              <a:ext uri="{FF2B5EF4-FFF2-40B4-BE49-F238E27FC236}">
                <a16:creationId xmlns:a16="http://schemas.microsoft.com/office/drawing/2014/main" id="{354B8E53-9F9A-4E1B-B559-97003CBB550F}"/>
              </a:ext>
            </a:extLst>
          </p:cNvPr>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7" name="Text Box 9">
            <a:extLst>
              <a:ext uri="{FF2B5EF4-FFF2-40B4-BE49-F238E27FC236}">
                <a16:creationId xmlns:a16="http://schemas.microsoft.com/office/drawing/2014/main" id="{EDC3F304-4011-4341-84A5-A0C2874BCA6A}"/>
              </a:ext>
            </a:extLst>
          </p:cNvPr>
          <p:cNvSpPr txBox="1">
            <a:spLocks noChangeArrowheads="1"/>
          </p:cNvSpPr>
          <p:nvPr/>
        </p:nvSpPr>
        <p:spPr bwMode="auto">
          <a:xfrm>
            <a:off x="1692275" y="5445125"/>
            <a:ext cx="61920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4-24  </a:t>
            </a:r>
            <a:r>
              <a:rPr lang="zh-CN" altLang="en-US" b="1" dirty="0">
                <a:solidFill>
                  <a:srgbClr val="000099"/>
                </a:solidFill>
              </a:rPr>
              <a:t>电容式振动位移传感器的应用示意图</a:t>
            </a:r>
          </a:p>
        </p:txBody>
      </p:sp>
      <p:pic>
        <p:nvPicPr>
          <p:cNvPr id="8" name="Picture 10">
            <a:extLst>
              <a:ext uri="{FF2B5EF4-FFF2-40B4-BE49-F238E27FC236}">
                <a16:creationId xmlns:a16="http://schemas.microsoft.com/office/drawing/2014/main" id="{784D8D0F-5CD8-42C4-BE5C-61049EA15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068" y="1852011"/>
            <a:ext cx="7815834" cy="3153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783C3D9A-6BE1-41CF-8CD4-6E092377074D}"/>
              </a:ext>
            </a:extLst>
          </p:cNvPr>
          <p:cNvSpPr>
            <a:spLocks noGrp="1"/>
          </p:cNvSpPr>
          <p:nvPr>
            <p:ph type="sldNum" sz="quarter" idx="12"/>
          </p:nvPr>
        </p:nvSpPr>
        <p:spPr/>
        <p:txBody>
          <a:bodyPr/>
          <a:lstStyle/>
          <a:p>
            <a:fld id="{B53602B4-F12B-41CD-B648-531F86B2CC91}" type="slidenum">
              <a:rPr lang="zh-CN" altLang="en-US" smtClean="0"/>
              <a:t>46</a:t>
            </a:fld>
            <a:endParaRPr lang="zh-CN" altLang="en-US"/>
          </a:p>
        </p:txBody>
      </p:sp>
    </p:spTree>
    <p:extLst>
      <p:ext uri="{BB962C8B-B14F-4D97-AF65-F5344CB8AC3E}">
        <p14:creationId xmlns:p14="http://schemas.microsoft.com/office/powerpoint/2010/main" val="18387162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3" name="矩形 22"/>
          <p:cNvSpPr/>
          <p:nvPr/>
        </p:nvSpPr>
        <p:spPr>
          <a:xfrm>
            <a:off x="1571711" y="1474467"/>
            <a:ext cx="2423644" cy="523218"/>
          </a:xfrm>
          <a:prstGeom prst="rect">
            <a:avLst/>
          </a:prstGeom>
          <a:solidFill>
            <a:srgbClr val="FFC000"/>
          </a:solidFill>
        </p:spPr>
        <p:txBody>
          <a:bodyPr wrap="square" lIns="91438" tIns="45719" rIns="91438" bIns="45719">
            <a:spAutoFit/>
          </a:bodyPr>
          <a:lstStyle/>
          <a:p>
            <a:pPr>
              <a:spcBef>
                <a:spcPts val="670"/>
              </a:spcBef>
            </a:pPr>
            <a:r>
              <a:rPr lang="zh-CN" altLang="en-US" sz="2800" b="1" dirty="0">
                <a:latin typeface="Arial" panose="020B0604020202020204" pitchFamily="34" charset="0"/>
                <a:ea typeface="宋体" panose="02010600030101010101" pitchFamily="2" charset="-122"/>
                <a:cs typeface="Arial" panose="020B0604020202020204" pitchFamily="34" charset="0"/>
              </a:rPr>
              <a:t>电容式传感器</a:t>
            </a:r>
          </a:p>
        </p:txBody>
      </p:sp>
      <p:sp>
        <p:nvSpPr>
          <p:cNvPr id="24" name="矩形 23"/>
          <p:cNvSpPr/>
          <p:nvPr/>
        </p:nvSpPr>
        <p:spPr>
          <a:xfrm>
            <a:off x="1470092" y="2145586"/>
            <a:ext cx="3519725" cy="3865159"/>
          </a:xfrm>
          <a:prstGeom prst="rect">
            <a:avLst/>
          </a:prstGeom>
        </p:spPr>
        <p:txBody>
          <a:bodyPr wrap="square" lIns="91438" tIns="45719" rIns="91438" bIns="45719">
            <a:spAutoFit/>
          </a:bodyPr>
          <a:lstStyle/>
          <a:p>
            <a:pPr marL="342900" indent="-3429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工作原理</a:t>
            </a:r>
          </a:p>
          <a:p>
            <a:pPr marL="342900" indent="-3429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灵敏度及非线性</a:t>
            </a:r>
          </a:p>
          <a:p>
            <a:pPr marL="342900" indent="-3429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特点及等效电路</a:t>
            </a:r>
          </a:p>
          <a:p>
            <a:pPr marL="342900" indent="-3429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设计要点</a:t>
            </a:r>
          </a:p>
          <a:p>
            <a:pPr marL="342900" indent="-3429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转换电路</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42900" indent="-3429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应用</a:t>
            </a:r>
          </a:p>
        </p:txBody>
      </p:sp>
      <p:sp>
        <p:nvSpPr>
          <p:cNvPr id="2" name="Slide Number Placeholder 1">
            <a:extLst>
              <a:ext uri="{FF2B5EF4-FFF2-40B4-BE49-F238E27FC236}">
                <a16:creationId xmlns:a16="http://schemas.microsoft.com/office/drawing/2014/main" id="{822B2331-EEDC-4121-920B-7B10DF0E5AA1}"/>
              </a:ext>
            </a:extLst>
          </p:cNvPr>
          <p:cNvSpPr>
            <a:spLocks noGrp="1"/>
          </p:cNvSpPr>
          <p:nvPr>
            <p:ph type="sldNum" sz="quarter" idx="12"/>
          </p:nvPr>
        </p:nvSpPr>
        <p:spPr/>
        <p:txBody>
          <a:bodyPr/>
          <a:lstStyle/>
          <a:p>
            <a:fld id="{B53602B4-F12B-41CD-B648-531F86B2CC91}" type="slidenum">
              <a:rPr lang="zh-CN" altLang="en-US" smtClean="0"/>
              <a:t>47</a:t>
            </a:fld>
            <a:endParaRPr lang="zh-CN" altLang="en-US"/>
          </a:p>
        </p:txBody>
      </p:sp>
    </p:spTree>
    <p:extLst>
      <p:ext uri="{BB962C8B-B14F-4D97-AF65-F5344CB8AC3E}">
        <p14:creationId xmlns:p14="http://schemas.microsoft.com/office/powerpoint/2010/main" val="27465260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4">
            <a:extLst>
              <a:ext uri="{FF2B5EF4-FFF2-40B4-BE49-F238E27FC236}">
                <a16:creationId xmlns:a16="http://schemas.microsoft.com/office/drawing/2014/main" id="{B8DA265D-27B5-4968-9202-5A20E7DB901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4</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15" name="矩形 45">
            <a:extLst>
              <a:ext uri="{FF2B5EF4-FFF2-40B4-BE49-F238E27FC236}">
                <a16:creationId xmlns:a16="http://schemas.microsoft.com/office/drawing/2014/main" id="{78F4C9EF-5026-43A8-AF0F-D3AFB8966AC9}"/>
              </a:ext>
            </a:extLst>
          </p:cNvPr>
          <p:cNvSpPr/>
          <p:nvPr/>
        </p:nvSpPr>
        <p:spPr>
          <a:xfrm>
            <a:off x="1960200" y="360001"/>
            <a:ext cx="1059897"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作业</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16" name="矩形 23">
            <a:extLst>
              <a:ext uri="{FF2B5EF4-FFF2-40B4-BE49-F238E27FC236}">
                <a16:creationId xmlns:a16="http://schemas.microsoft.com/office/drawing/2014/main" id="{765FEDAC-69EF-4667-87EC-DEC1A6AB337E}"/>
              </a:ext>
            </a:extLst>
          </p:cNvPr>
          <p:cNvSpPr/>
          <p:nvPr/>
        </p:nvSpPr>
        <p:spPr>
          <a:xfrm>
            <a:off x="1551129" y="1823299"/>
            <a:ext cx="7039451" cy="2409119"/>
          </a:xfrm>
          <a:prstGeom prst="rect">
            <a:avLst/>
          </a:prstGeom>
        </p:spPr>
        <p:txBody>
          <a:bodyPr wrap="square" lIns="68579" tIns="34289" rIns="68579" bIns="34289">
            <a:spAutoFit/>
          </a:bodyPr>
          <a:lstStyle/>
          <a:p>
            <a:pPr>
              <a:lnSpc>
                <a:spcPct val="150000"/>
              </a:lnSpc>
              <a:spcBef>
                <a:spcPts val="503"/>
              </a:spcBef>
            </a:pPr>
            <a:r>
              <a:rPr lang="zh-CN" altLang="en-US" sz="2400" b="1">
                <a:latin typeface="Arial" panose="020B0604020202020204" pitchFamily="34" charset="0"/>
                <a:ea typeface="宋体" panose="02010600030101010101" pitchFamily="2" charset="-122"/>
                <a:cs typeface="Arial" panose="020B0604020202020204" pitchFamily="34" charset="0"/>
              </a:rPr>
              <a:t>习题</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457200" indent="-457200">
              <a:lnSpc>
                <a:spcPct val="150000"/>
              </a:lnSpc>
              <a:spcBef>
                <a:spcPts val="503"/>
              </a:spcBef>
              <a:buFont typeface="+mj-lt"/>
              <a:buAutoNum type="arabicParenR"/>
            </a:pPr>
            <a:r>
              <a:rPr lang="en-US" altLang="zh-CN" sz="2400" b="1">
                <a:latin typeface="Arial" panose="020B0604020202020204" pitchFamily="34" charset="0"/>
                <a:ea typeface="宋体" panose="02010600030101010101" pitchFamily="2" charset="-122"/>
                <a:cs typeface="Arial" panose="020B0604020202020204" pitchFamily="34" charset="0"/>
              </a:rPr>
              <a:t>4.3</a:t>
            </a:r>
          </a:p>
          <a:p>
            <a:pPr marL="457200" indent="-457200">
              <a:lnSpc>
                <a:spcPct val="150000"/>
              </a:lnSpc>
              <a:spcBef>
                <a:spcPts val="503"/>
              </a:spcBef>
              <a:buFont typeface="+mj-lt"/>
              <a:buAutoNum type="arabicParenR"/>
            </a:pPr>
            <a:r>
              <a:rPr lang="en-US" altLang="zh-CN" sz="2400" b="1">
                <a:latin typeface="Arial" panose="020B0604020202020204" pitchFamily="34" charset="0"/>
                <a:ea typeface="宋体" panose="02010600030101010101" pitchFamily="2" charset="-122"/>
                <a:cs typeface="Arial" panose="020B0604020202020204" pitchFamily="34" charset="0"/>
              </a:rPr>
              <a:t>4.5</a:t>
            </a:r>
          </a:p>
          <a:p>
            <a:pPr marL="457200" indent="-457200">
              <a:lnSpc>
                <a:spcPct val="150000"/>
              </a:lnSpc>
              <a:spcBef>
                <a:spcPts val="503"/>
              </a:spcBef>
              <a:buFont typeface="+mj-lt"/>
              <a:buAutoNum type="arabicParenR"/>
            </a:pPr>
            <a:r>
              <a:rPr lang="en-US" altLang="zh-CN" sz="2400" b="1">
                <a:latin typeface="Arial" panose="020B0604020202020204" pitchFamily="34" charset="0"/>
                <a:ea typeface="宋体" panose="02010600030101010101" pitchFamily="2" charset="-122"/>
                <a:cs typeface="Arial" panose="020B0604020202020204" pitchFamily="34" charset="0"/>
              </a:rPr>
              <a:t>4.6</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9E5CC583-28DA-48CA-BC82-2454E1A00DF1}"/>
              </a:ext>
            </a:extLst>
          </p:cNvPr>
          <p:cNvSpPr>
            <a:spLocks noGrp="1"/>
          </p:cNvSpPr>
          <p:nvPr>
            <p:ph type="sldNum" sz="quarter" idx="12"/>
          </p:nvPr>
        </p:nvSpPr>
        <p:spPr/>
        <p:txBody>
          <a:bodyPr/>
          <a:lstStyle/>
          <a:p>
            <a:fld id="{B53602B4-F12B-41CD-B648-531F86B2CC91}" type="slidenum">
              <a:rPr lang="zh-CN" altLang="en-US" smtClean="0"/>
              <a:t>48</a:t>
            </a:fld>
            <a:endParaRPr lang="zh-CN" altLang="en-US"/>
          </a:p>
        </p:txBody>
      </p:sp>
    </p:spTree>
    <p:extLst>
      <p:ext uri="{BB962C8B-B14F-4D97-AF65-F5344CB8AC3E}">
        <p14:creationId xmlns:p14="http://schemas.microsoft.com/office/powerpoint/2010/main" val="295623614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4374</TotalTime>
  <Words>2903</Words>
  <Application>Microsoft Office PowerPoint</Application>
  <PresentationFormat>全屏显示(4:3)</PresentationFormat>
  <Paragraphs>445</Paragraphs>
  <Slides>48</Slides>
  <Notes>46</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4</vt:i4>
      </vt:variant>
      <vt:variant>
        <vt:lpstr>幻灯片标题</vt:lpstr>
      </vt:variant>
      <vt:variant>
        <vt:i4>48</vt:i4>
      </vt:variant>
    </vt:vector>
  </HeadingPairs>
  <TitlesOfParts>
    <vt:vector size="62" baseType="lpstr">
      <vt:lpstr>等线</vt:lpstr>
      <vt:lpstr>等线 Light</vt:lpstr>
      <vt:lpstr>宋体</vt:lpstr>
      <vt:lpstr>微软雅黑</vt:lpstr>
      <vt:lpstr>Arial</vt:lpstr>
      <vt:lpstr>Calibri</vt:lpstr>
      <vt:lpstr>Cambria Math</vt:lpstr>
      <vt:lpstr>Times New Roman</vt:lpstr>
      <vt:lpstr>Wingdings</vt:lpstr>
      <vt:lpstr>Office 主题​​</vt:lpstr>
      <vt:lpstr>Equation</vt:lpstr>
      <vt:lpstr>公式</vt:lpstr>
      <vt:lpstr>Equation.3</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GE FANG</cp:lastModifiedBy>
  <cp:revision>166</cp:revision>
  <dcterms:created xsi:type="dcterms:W3CDTF">2020-09-26T11:04:00Z</dcterms:created>
  <dcterms:modified xsi:type="dcterms:W3CDTF">2026-04-02T05:15:40Z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