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9" r:id="rId2"/>
    <p:sldId id="314" r:id="rId3"/>
    <p:sldId id="281" r:id="rId4"/>
    <p:sldId id="282" r:id="rId5"/>
    <p:sldId id="315" r:id="rId6"/>
    <p:sldId id="316" r:id="rId7"/>
    <p:sldId id="356" r:id="rId8"/>
    <p:sldId id="371" r:id="rId9"/>
    <p:sldId id="358" r:id="rId10"/>
    <p:sldId id="360" r:id="rId11"/>
    <p:sldId id="361" r:id="rId12"/>
    <p:sldId id="363" r:id="rId13"/>
    <p:sldId id="317" r:id="rId14"/>
    <p:sldId id="364" r:id="rId15"/>
    <p:sldId id="365" r:id="rId16"/>
    <p:sldId id="293" r:id="rId17"/>
    <p:sldId id="366" r:id="rId18"/>
    <p:sldId id="386" r:id="rId19"/>
    <p:sldId id="367" r:id="rId20"/>
    <p:sldId id="368" r:id="rId21"/>
    <p:sldId id="369" r:id="rId22"/>
    <p:sldId id="370" r:id="rId23"/>
    <p:sldId id="295" r:id="rId24"/>
    <p:sldId id="372" r:id="rId25"/>
    <p:sldId id="374" r:id="rId26"/>
    <p:sldId id="373" r:id="rId27"/>
    <p:sldId id="375" r:id="rId28"/>
    <p:sldId id="376" r:id="rId29"/>
    <p:sldId id="294" r:id="rId30"/>
    <p:sldId id="377" r:id="rId31"/>
    <p:sldId id="391" r:id="rId32"/>
    <p:sldId id="303" r:id="rId33"/>
    <p:sldId id="304" r:id="rId34"/>
    <p:sldId id="379" r:id="rId35"/>
    <p:sldId id="380" r:id="rId36"/>
    <p:sldId id="381" r:id="rId37"/>
    <p:sldId id="378" r:id="rId38"/>
    <p:sldId id="305" r:id="rId39"/>
    <p:sldId id="323" r:id="rId40"/>
    <p:sldId id="306" r:id="rId41"/>
    <p:sldId id="324" r:id="rId42"/>
    <p:sldId id="325" r:id="rId43"/>
    <p:sldId id="326" r:id="rId44"/>
    <p:sldId id="327" r:id="rId45"/>
    <p:sldId id="308" r:id="rId46"/>
    <p:sldId id="382" r:id="rId47"/>
    <p:sldId id="387" r:id="rId48"/>
    <p:sldId id="388" r:id="rId49"/>
    <p:sldId id="389" r:id="rId50"/>
    <p:sldId id="309" r:id="rId51"/>
    <p:sldId id="328" r:id="rId52"/>
    <p:sldId id="384" r:id="rId53"/>
    <p:sldId id="383" r:id="rId54"/>
    <p:sldId id="390" r:id="rId55"/>
    <p:sldId id="329" r:id="rId56"/>
    <p:sldId id="331" r:id="rId57"/>
    <p:sldId id="311" r:id="rId58"/>
    <p:sldId id="362" r:id="rId59"/>
    <p:sldId id="385" r:id="rId6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7D2FF"/>
    <a:srgbClr val="C1FFA6"/>
    <a:srgbClr val="FFAB7C"/>
    <a:srgbClr val="0000FF"/>
    <a:srgbClr val="F4B183"/>
    <a:srgbClr val="3333CC"/>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9" autoAdjust="0"/>
    <p:restoredTop sz="94660"/>
  </p:normalViewPr>
  <p:slideViewPr>
    <p:cSldViewPr snapToGrid="0">
      <p:cViewPr varScale="1">
        <p:scale>
          <a:sx n="92" d="100"/>
          <a:sy n="92" d="100"/>
        </p:scale>
        <p:origin x="872" y="64"/>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2026/4/16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extLst>
      <p:ext uri="{BB962C8B-B14F-4D97-AF65-F5344CB8AC3E}">
        <p14:creationId xmlns:p14="http://schemas.microsoft.com/office/powerpoint/2010/main" val="1664757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a:t>
            </a:fld>
            <a:endParaRPr lang="zh-CN" altLang="en-US"/>
          </a:p>
        </p:txBody>
      </p:sp>
    </p:spTree>
    <p:extLst>
      <p:ext uri="{BB962C8B-B14F-4D97-AF65-F5344CB8AC3E}">
        <p14:creationId xmlns:p14="http://schemas.microsoft.com/office/powerpoint/2010/main" val="1775494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extLst>
      <p:ext uri="{BB962C8B-B14F-4D97-AF65-F5344CB8AC3E}">
        <p14:creationId xmlns:p14="http://schemas.microsoft.com/office/powerpoint/2010/main" val="1991562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extLst>
      <p:ext uri="{BB962C8B-B14F-4D97-AF65-F5344CB8AC3E}">
        <p14:creationId xmlns:p14="http://schemas.microsoft.com/office/powerpoint/2010/main" val="562268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extLst>
      <p:ext uri="{BB962C8B-B14F-4D97-AF65-F5344CB8AC3E}">
        <p14:creationId xmlns:p14="http://schemas.microsoft.com/office/powerpoint/2010/main" val="2876116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11</a:t>
            </a:fld>
            <a:endParaRPr lang="zh-CN" altLang="en-US"/>
          </a:p>
        </p:txBody>
      </p:sp>
    </p:spTree>
    <p:extLst>
      <p:ext uri="{BB962C8B-B14F-4D97-AF65-F5344CB8AC3E}">
        <p14:creationId xmlns:p14="http://schemas.microsoft.com/office/powerpoint/2010/main" val="3620633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extLst>
      <p:ext uri="{BB962C8B-B14F-4D97-AF65-F5344CB8AC3E}">
        <p14:creationId xmlns:p14="http://schemas.microsoft.com/office/powerpoint/2010/main" val="83860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extLst>
      <p:ext uri="{BB962C8B-B14F-4D97-AF65-F5344CB8AC3E}">
        <p14:creationId xmlns:p14="http://schemas.microsoft.com/office/powerpoint/2010/main" val="872561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15</a:t>
            </a:fld>
            <a:endParaRPr lang="zh-CN" altLang="en-US"/>
          </a:p>
        </p:txBody>
      </p:sp>
    </p:spTree>
    <p:extLst>
      <p:ext uri="{BB962C8B-B14F-4D97-AF65-F5344CB8AC3E}">
        <p14:creationId xmlns:p14="http://schemas.microsoft.com/office/powerpoint/2010/main" val="1040219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extLst>
      <p:ext uri="{BB962C8B-B14F-4D97-AF65-F5344CB8AC3E}">
        <p14:creationId xmlns:p14="http://schemas.microsoft.com/office/powerpoint/2010/main" val="21784579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extLst>
      <p:ext uri="{BB962C8B-B14F-4D97-AF65-F5344CB8AC3E}">
        <p14:creationId xmlns:p14="http://schemas.microsoft.com/office/powerpoint/2010/main" val="2419155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extLst>
      <p:ext uri="{BB962C8B-B14F-4D97-AF65-F5344CB8AC3E}">
        <p14:creationId xmlns:p14="http://schemas.microsoft.com/office/powerpoint/2010/main" val="24734911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extLst>
      <p:ext uri="{BB962C8B-B14F-4D97-AF65-F5344CB8AC3E}">
        <p14:creationId xmlns:p14="http://schemas.microsoft.com/office/powerpoint/2010/main" val="1955115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extLst>
      <p:ext uri="{BB962C8B-B14F-4D97-AF65-F5344CB8AC3E}">
        <p14:creationId xmlns:p14="http://schemas.microsoft.com/office/powerpoint/2010/main" val="1099777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22</a:t>
            </a:fld>
            <a:endParaRPr lang="zh-CN" altLang="en-US"/>
          </a:p>
        </p:txBody>
      </p:sp>
    </p:spTree>
    <p:extLst>
      <p:ext uri="{BB962C8B-B14F-4D97-AF65-F5344CB8AC3E}">
        <p14:creationId xmlns:p14="http://schemas.microsoft.com/office/powerpoint/2010/main" val="22774160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24</a:t>
            </a:fld>
            <a:endParaRPr lang="zh-CN" altLang="en-US"/>
          </a:p>
        </p:txBody>
      </p:sp>
    </p:spTree>
    <p:extLst>
      <p:ext uri="{BB962C8B-B14F-4D97-AF65-F5344CB8AC3E}">
        <p14:creationId xmlns:p14="http://schemas.microsoft.com/office/powerpoint/2010/main" val="3367211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27728454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extLst>
      <p:ext uri="{BB962C8B-B14F-4D97-AF65-F5344CB8AC3E}">
        <p14:creationId xmlns:p14="http://schemas.microsoft.com/office/powerpoint/2010/main" val="33729687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27</a:t>
            </a:fld>
            <a:endParaRPr lang="zh-CN" altLang="en-US"/>
          </a:p>
        </p:txBody>
      </p:sp>
    </p:spTree>
    <p:extLst>
      <p:ext uri="{BB962C8B-B14F-4D97-AF65-F5344CB8AC3E}">
        <p14:creationId xmlns:p14="http://schemas.microsoft.com/office/powerpoint/2010/main" val="1685311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40341591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41313655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extLst>
      <p:ext uri="{BB962C8B-B14F-4D97-AF65-F5344CB8AC3E}">
        <p14:creationId xmlns:p14="http://schemas.microsoft.com/office/powerpoint/2010/main" val="11364091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33</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extLst>
      <p:ext uri="{BB962C8B-B14F-4D97-AF65-F5344CB8AC3E}">
        <p14:creationId xmlns:p14="http://schemas.microsoft.com/office/powerpoint/2010/main" val="11676048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extLst>
      <p:ext uri="{BB962C8B-B14F-4D97-AF65-F5344CB8AC3E}">
        <p14:creationId xmlns:p14="http://schemas.microsoft.com/office/powerpoint/2010/main" val="15811874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36</a:t>
            </a:fld>
            <a:endParaRPr lang="zh-CN" altLang="en-US"/>
          </a:p>
        </p:txBody>
      </p:sp>
    </p:spTree>
    <p:extLst>
      <p:ext uri="{BB962C8B-B14F-4D97-AF65-F5344CB8AC3E}">
        <p14:creationId xmlns:p14="http://schemas.microsoft.com/office/powerpoint/2010/main" val="27200005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37</a:t>
            </a:fld>
            <a:endParaRPr lang="zh-CN" altLang="en-US"/>
          </a:p>
        </p:txBody>
      </p:sp>
    </p:spTree>
    <p:extLst>
      <p:ext uri="{BB962C8B-B14F-4D97-AF65-F5344CB8AC3E}">
        <p14:creationId xmlns:p14="http://schemas.microsoft.com/office/powerpoint/2010/main" val="29050715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38</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44</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46</a:t>
            </a:fld>
            <a:endParaRPr lang="zh-CN" altLang="en-US"/>
          </a:p>
        </p:txBody>
      </p:sp>
    </p:spTree>
    <p:extLst>
      <p:ext uri="{BB962C8B-B14F-4D97-AF65-F5344CB8AC3E}">
        <p14:creationId xmlns:p14="http://schemas.microsoft.com/office/powerpoint/2010/main" val="25803558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extLst>
      <p:ext uri="{BB962C8B-B14F-4D97-AF65-F5344CB8AC3E}">
        <p14:creationId xmlns:p14="http://schemas.microsoft.com/office/powerpoint/2010/main" val="25558340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extLst>
      <p:ext uri="{BB962C8B-B14F-4D97-AF65-F5344CB8AC3E}">
        <p14:creationId xmlns:p14="http://schemas.microsoft.com/office/powerpoint/2010/main" val="41472695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50</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51</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52</a:t>
            </a:fld>
            <a:endParaRPr lang="zh-CN" altLang="en-US"/>
          </a:p>
        </p:txBody>
      </p:sp>
    </p:spTree>
    <p:extLst>
      <p:ext uri="{BB962C8B-B14F-4D97-AF65-F5344CB8AC3E}">
        <p14:creationId xmlns:p14="http://schemas.microsoft.com/office/powerpoint/2010/main" val="26428293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53</a:t>
            </a:fld>
            <a:endParaRPr lang="zh-CN" altLang="en-US"/>
          </a:p>
        </p:txBody>
      </p:sp>
    </p:spTree>
    <p:extLst>
      <p:ext uri="{BB962C8B-B14F-4D97-AF65-F5344CB8AC3E}">
        <p14:creationId xmlns:p14="http://schemas.microsoft.com/office/powerpoint/2010/main" val="11860542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54</a:t>
            </a:fld>
            <a:endParaRPr lang="zh-CN" altLang="en-US"/>
          </a:p>
        </p:txBody>
      </p:sp>
    </p:spTree>
    <p:extLst>
      <p:ext uri="{BB962C8B-B14F-4D97-AF65-F5344CB8AC3E}">
        <p14:creationId xmlns:p14="http://schemas.microsoft.com/office/powerpoint/2010/main" val="25902205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55</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56</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57</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58</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59</a:t>
            </a:fld>
            <a:endParaRPr lang="zh-CN" altLang="en-US"/>
          </a:p>
        </p:txBody>
      </p:sp>
    </p:spTree>
    <p:extLst>
      <p:ext uri="{BB962C8B-B14F-4D97-AF65-F5344CB8AC3E}">
        <p14:creationId xmlns:p14="http://schemas.microsoft.com/office/powerpoint/2010/main" val="1478291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C5CA61F-574E-47BF-B19E-E674F77A7248}" type="datetime1">
              <a:rPr lang="zh-CN" altLang="en-US" smtClean="0"/>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B789ACA-9978-4C1F-9A28-84B20799C0E9}" type="datetime1">
              <a:rPr lang="zh-CN" altLang="en-US" smtClean="0"/>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91D24B5-CC5D-45C0-A22D-5C461A65F722}" type="datetime1">
              <a:rPr lang="zh-CN" altLang="en-US" smtClean="0"/>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C50DAA9C-9276-4BE0-9558-2EC8311CBFD4}" type="datetime1">
              <a:rPr lang="zh-CN" altLang="en-US" smtClean="0"/>
              <a:t>2026/4/16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5F3774C-2722-4123-BEEC-3432C10BFEA1}" type="datetime1">
              <a:rPr lang="zh-CN" altLang="en-US" smtClean="0"/>
              <a:t>2026/4/16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B8C44E8-9D7A-4473-B081-E60D00F01593}" type="datetime1">
              <a:rPr lang="zh-CN" altLang="en-US" smtClean="0"/>
              <a:t>2026/4/16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6235AFC-77DB-4ABE-BBC5-C14BD579F9EA}" type="datetime1">
              <a:rPr lang="zh-CN" altLang="en-US" smtClean="0"/>
              <a:t>2026/4/16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CBAA814-891B-4707-A50C-ED13861F8B1F}" type="datetime1">
              <a:rPr lang="zh-CN" altLang="en-US" smtClean="0"/>
              <a:t>2026/4/16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C068F9B-52CD-48CE-A652-876A69634FA6}" type="datetime1">
              <a:rPr lang="zh-CN" altLang="en-US" smtClean="0"/>
              <a:t>2026/4/16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6361A7C6-3260-41B8-A6B1-9CF78144DF8B}" type="datetime1">
              <a:rPr lang="zh-CN" altLang="en-US" smtClean="0"/>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80E2EF2-F992-4F5D-B52F-AB7435E7A6D7}" type="datetime1">
              <a:rPr lang="zh-CN" altLang="en-US" smtClean="0"/>
              <a:t>2026/4/16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8814F6-57E1-4077-8561-490FC7C67C75}" type="datetime1">
              <a:rPr lang="zh-CN" altLang="en-US" smtClean="0"/>
              <a:t>2026/4/16</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515350" y="6356351"/>
            <a:ext cx="450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602B4-F12B-41CD-B648-531F86B2CC9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xml"/><Relationship Id="rId1" Type="http://schemas.openxmlformats.org/officeDocument/2006/relationships/slideLayout" Target="../slideLayouts/slideLayout2.xml"/><Relationship Id="rId5" Type="http://schemas.openxmlformats.org/officeDocument/2006/relationships/slide" Target="slide57.xml"/><Relationship Id="rId4" Type="http://schemas.openxmlformats.org/officeDocument/2006/relationships/slide" Target="slide32.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29.xml"/><Relationship Id="rId5" Type="http://schemas.openxmlformats.org/officeDocument/2006/relationships/slide" Target="slide23.xml"/><Relationship Id="rId4" Type="http://schemas.openxmlformats.org/officeDocument/2006/relationships/slide" Target="slide16.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8" Type="http://schemas.openxmlformats.org/officeDocument/2006/relationships/image" Target="../media/image1.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gif"/><Relationship Id="rId4" Type="http://schemas.openxmlformats.org/officeDocument/2006/relationships/image" Target="../media/image11.gif"/></Relationships>
</file>

<file path=ppt/slides/_rels/slide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gif"/></Relationships>
</file>

<file path=ppt/slides/_rels/slide10.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gif"/><Relationship Id="rId5" Type="http://schemas.openxmlformats.org/officeDocument/2006/relationships/image" Target="../media/image10.gif"/><Relationship Id="rId4"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emf"/><Relationship Id="rId7" Type="http://schemas.openxmlformats.org/officeDocument/2006/relationships/image" Target="../media/image19.w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8.png"/><Relationship Id="rId4" Type="http://schemas.openxmlformats.org/officeDocument/2006/relationships/image" Target="../media/image17.emf"/></Relationships>
</file>

<file path=ppt/slides/_rels/slide14.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16.emf"/><Relationship Id="rId7" Type="http://schemas.openxmlformats.org/officeDocument/2006/relationships/oleObject" Target="../embeddings/oleObject6.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7.bin"/><Relationship Id="rId4" Type="http://schemas.openxmlformats.org/officeDocument/2006/relationships/image" Target="../media/image20.emf"/></Relationships>
</file>

<file path=ppt/slides/_rels/slide1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wmf"/><Relationship Id="rId4"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30.wmf"/><Relationship Id="rId18" Type="http://schemas.openxmlformats.org/officeDocument/2006/relationships/image" Target="../media/image33.wmf"/><Relationship Id="rId3" Type="http://schemas.openxmlformats.org/officeDocument/2006/relationships/image" Target="../media/image16.emf"/><Relationship Id="rId21" Type="http://schemas.openxmlformats.org/officeDocument/2006/relationships/oleObject" Target="../embeddings/oleObject17.bin"/><Relationship Id="rId7" Type="http://schemas.openxmlformats.org/officeDocument/2006/relationships/image" Target="../media/image27.wmf"/><Relationship Id="rId12" Type="http://schemas.openxmlformats.org/officeDocument/2006/relationships/oleObject" Target="../embeddings/oleObject13.bin"/><Relationship Id="rId17" Type="http://schemas.openxmlformats.org/officeDocument/2006/relationships/oleObject" Target="../embeddings/oleObject15.bin"/><Relationship Id="rId2" Type="http://schemas.openxmlformats.org/officeDocument/2006/relationships/notesSlide" Target="../notesSlides/notesSlide15.xml"/><Relationship Id="rId16" Type="http://schemas.openxmlformats.org/officeDocument/2006/relationships/image" Target="../media/image32.png"/><Relationship Id="rId20" Type="http://schemas.openxmlformats.org/officeDocument/2006/relationships/image" Target="../media/image34.wmf"/><Relationship Id="rId1" Type="http://schemas.openxmlformats.org/officeDocument/2006/relationships/slideLayout" Target="../slideLayouts/slideLayout2.xml"/><Relationship Id="rId6" Type="http://schemas.openxmlformats.org/officeDocument/2006/relationships/oleObject" Target="../embeddings/oleObject10.bin"/><Relationship Id="rId11" Type="http://schemas.openxmlformats.org/officeDocument/2006/relationships/image" Target="../media/image29.wmf"/><Relationship Id="rId24" Type="http://schemas.openxmlformats.org/officeDocument/2006/relationships/image" Target="../media/image36.wmf"/><Relationship Id="rId5" Type="http://schemas.openxmlformats.org/officeDocument/2006/relationships/image" Target="../media/image26.wmf"/><Relationship Id="rId15" Type="http://schemas.openxmlformats.org/officeDocument/2006/relationships/image" Target="../media/image31.wmf"/><Relationship Id="rId23" Type="http://schemas.openxmlformats.org/officeDocument/2006/relationships/oleObject" Target="../embeddings/oleObject18.bin"/><Relationship Id="rId10" Type="http://schemas.openxmlformats.org/officeDocument/2006/relationships/oleObject" Target="../embeddings/oleObject12.bin"/><Relationship Id="rId19" Type="http://schemas.openxmlformats.org/officeDocument/2006/relationships/oleObject" Target="../embeddings/oleObject16.bin"/><Relationship Id="rId4" Type="http://schemas.openxmlformats.org/officeDocument/2006/relationships/oleObject" Target="../embeddings/oleObject9.bin"/><Relationship Id="rId9" Type="http://schemas.openxmlformats.org/officeDocument/2006/relationships/image" Target="../media/image28.wmf"/><Relationship Id="rId14" Type="http://schemas.openxmlformats.org/officeDocument/2006/relationships/oleObject" Target="../embeddings/oleObject14.bin"/><Relationship Id="rId22" Type="http://schemas.openxmlformats.org/officeDocument/2006/relationships/image" Target="../media/image35.wmf"/></Relationships>
</file>

<file path=ppt/slides/_rels/slide1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37.emf"/></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image" Target="../media/image23.emf"/><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4.emf"/><Relationship Id="rId4" Type="http://schemas.openxmlformats.org/officeDocument/2006/relationships/image" Target="../media/image43.emf"/></Relationships>
</file>

<file path=ppt/slides/_rels/slide2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6.emf"/><Relationship Id="rId4" Type="http://schemas.openxmlformats.org/officeDocument/2006/relationships/image" Target="../media/image45.emf"/></Relationships>
</file>

<file path=ppt/slides/_rels/slide2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8.emf"/></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55.emf"/><Relationship Id="rId3" Type="http://schemas.openxmlformats.org/officeDocument/2006/relationships/image" Target="../media/image50.emf"/><Relationship Id="rId7" Type="http://schemas.openxmlformats.org/officeDocument/2006/relationships/image" Target="../media/image54.emf"/><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3.emf"/><Relationship Id="rId5" Type="http://schemas.openxmlformats.org/officeDocument/2006/relationships/image" Target="../media/image52.emf"/><Relationship Id="rId10" Type="http://schemas.openxmlformats.org/officeDocument/2006/relationships/image" Target="../media/image57.emf"/><Relationship Id="rId4" Type="http://schemas.openxmlformats.org/officeDocument/2006/relationships/image" Target="../media/image51.emf"/><Relationship Id="rId9" Type="http://schemas.openxmlformats.org/officeDocument/2006/relationships/image" Target="../media/image56.emf"/></Relationships>
</file>

<file path=ppt/slides/_rels/slide25.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5.emf"/><Relationship Id="rId5" Type="http://schemas.openxmlformats.org/officeDocument/2006/relationships/image" Target="../media/image58.emf"/><Relationship Id="rId4" Type="http://schemas.openxmlformats.org/officeDocument/2006/relationships/image" Target="../media/image56.emf"/></Relationships>
</file>

<file path=ppt/slides/_rels/slide26.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image" Target="../media/image60.png"/><Relationship Id="rId7" Type="http://schemas.openxmlformats.org/officeDocument/2006/relationships/image" Target="../media/image64.em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emf"/><Relationship Id="rId4" Type="http://schemas.openxmlformats.org/officeDocument/2006/relationships/image" Target="../media/image61.png"/></Relationships>
</file>

<file path=ppt/slides/_rels/slide28.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68.emf"/><Relationship Id="rId4" Type="http://schemas.openxmlformats.org/officeDocument/2006/relationships/image" Target="../media/image67.emf"/></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8" Type="http://schemas.openxmlformats.org/officeDocument/2006/relationships/image" Target="../media/image73.jpeg"/><Relationship Id="rId3" Type="http://schemas.openxmlformats.org/officeDocument/2006/relationships/slide" Target="slide33.xml"/><Relationship Id="rId7" Type="http://schemas.openxmlformats.org/officeDocument/2006/relationships/slide" Target="slide50.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slide" Target="slide45.xml"/><Relationship Id="rId5" Type="http://schemas.openxmlformats.org/officeDocument/2006/relationships/slide" Target="slide40.xml"/><Relationship Id="rId4" Type="http://schemas.openxmlformats.org/officeDocument/2006/relationships/slide" Target="slide38.xml"/></Relationships>
</file>

<file path=ppt/slides/_rels/slide3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75.png"/><Relationship Id="rId7" Type="http://schemas.openxmlformats.org/officeDocument/2006/relationships/image" Target="../media/image77.wmf"/><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76.wmf"/><Relationship Id="rId4" Type="http://schemas.openxmlformats.org/officeDocument/2006/relationships/oleObject" Target="../embeddings/oleObject19.bin"/><Relationship Id="rId9" Type="http://schemas.openxmlformats.org/officeDocument/2006/relationships/image" Target="../media/image78.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83.emf"/><Relationship Id="rId3" Type="http://schemas.openxmlformats.org/officeDocument/2006/relationships/image" Target="../media/image75.png"/><Relationship Id="rId7" Type="http://schemas.openxmlformats.org/officeDocument/2006/relationships/image" Target="../media/image80.wmf"/><Relationship Id="rId12" Type="http://schemas.openxmlformats.org/officeDocument/2006/relationships/oleObject" Target="../embeddings/oleObject26.bin"/><Relationship Id="rId17" Type="http://schemas.openxmlformats.org/officeDocument/2006/relationships/image" Target="../media/image85.wmf"/><Relationship Id="rId2" Type="http://schemas.openxmlformats.org/officeDocument/2006/relationships/notesSlide" Target="../notesSlides/notesSlide33.xml"/><Relationship Id="rId16"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23.bin"/><Relationship Id="rId11" Type="http://schemas.openxmlformats.org/officeDocument/2006/relationships/image" Target="../media/image82.wmf"/><Relationship Id="rId5" Type="http://schemas.openxmlformats.org/officeDocument/2006/relationships/image" Target="../media/image79.wmf"/><Relationship Id="rId15" Type="http://schemas.openxmlformats.org/officeDocument/2006/relationships/image" Target="../media/image84.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81.wmf"/><Relationship Id="rId14" Type="http://schemas.openxmlformats.org/officeDocument/2006/relationships/oleObject" Target="../embeddings/oleObject27.bin"/></Relationships>
</file>

<file path=ppt/slides/_rels/slide36.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87.emf"/><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oleObject" Target="../embeddings/oleObject28.bin"/><Relationship Id="rId5" Type="http://schemas.openxmlformats.org/officeDocument/2006/relationships/image" Target="../media/image86.wmf"/><Relationship Id="rId4" Type="http://schemas.openxmlformats.org/officeDocument/2006/relationships/oleObject" Target="../embeddings/oleObject29.bin"/></Relationships>
</file>

<file path=ppt/slides/_rels/slide3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88.wmf"/><Relationship Id="rId4" Type="http://schemas.openxmlformats.org/officeDocument/2006/relationships/oleObject" Target="../embeddings/oleObject30.bin"/></Relationships>
</file>

<file path=ppt/slides/_rels/slide3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93.e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92.wmf"/><Relationship Id="rId5" Type="http://schemas.openxmlformats.org/officeDocument/2006/relationships/oleObject" Target="../embeddings/oleObject32.bin"/><Relationship Id="rId4" Type="http://schemas.openxmlformats.org/officeDocument/2006/relationships/image" Target="../media/image91.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4.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97.e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96.emf"/><Relationship Id="rId5" Type="http://schemas.openxmlformats.org/officeDocument/2006/relationships/oleObject" Target="../embeddings/oleObject36.bin"/><Relationship Id="rId10" Type="http://schemas.openxmlformats.org/officeDocument/2006/relationships/image" Target="../media/image98.emf"/><Relationship Id="rId4" Type="http://schemas.openxmlformats.org/officeDocument/2006/relationships/image" Target="../media/image95.emf"/><Relationship Id="rId9" Type="http://schemas.openxmlformats.org/officeDocument/2006/relationships/oleObject" Target="../embeddings/oleObject38.bin"/></Relationships>
</file>

<file path=ppt/slides/_rels/slide4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102.e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01.emf"/><Relationship Id="rId5" Type="http://schemas.openxmlformats.org/officeDocument/2006/relationships/oleObject" Target="../embeddings/oleObject40.bin"/><Relationship Id="rId10" Type="http://schemas.openxmlformats.org/officeDocument/2006/relationships/image" Target="../media/image103.wmf"/><Relationship Id="rId4" Type="http://schemas.openxmlformats.org/officeDocument/2006/relationships/image" Target="../media/image100.png"/><Relationship Id="rId9" Type="http://schemas.openxmlformats.org/officeDocument/2006/relationships/oleObject" Target="../embeddings/oleObject42.bin"/></Relationships>
</file>

<file path=ppt/slides/_rels/slide47.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oleObject" Target="../embeddings/oleObject46.bin"/><Relationship Id="rId18" Type="http://schemas.openxmlformats.org/officeDocument/2006/relationships/image" Target="../media/image111.wmf"/><Relationship Id="rId3" Type="http://schemas.openxmlformats.org/officeDocument/2006/relationships/oleObject" Target="../embeddings/oleObject39.bin"/><Relationship Id="rId7" Type="http://schemas.openxmlformats.org/officeDocument/2006/relationships/image" Target="../media/image105.png"/><Relationship Id="rId12" Type="http://schemas.openxmlformats.org/officeDocument/2006/relationships/image" Target="../media/image108.wmf"/><Relationship Id="rId17" Type="http://schemas.openxmlformats.org/officeDocument/2006/relationships/oleObject" Target="../embeddings/oleObject48.bin"/><Relationship Id="rId2" Type="http://schemas.openxmlformats.org/officeDocument/2006/relationships/notesSlide" Target="../notesSlides/notesSlide45.xml"/><Relationship Id="rId16" Type="http://schemas.openxmlformats.org/officeDocument/2006/relationships/image" Target="../media/image110.wmf"/><Relationship Id="rId20" Type="http://schemas.openxmlformats.org/officeDocument/2006/relationships/image" Target="../media/image112.wmf"/><Relationship Id="rId1" Type="http://schemas.openxmlformats.org/officeDocument/2006/relationships/slideLayout" Target="../slideLayouts/slideLayout2.xml"/><Relationship Id="rId6" Type="http://schemas.openxmlformats.org/officeDocument/2006/relationships/image" Target="../media/image104.wmf"/><Relationship Id="rId11" Type="http://schemas.openxmlformats.org/officeDocument/2006/relationships/oleObject" Target="../embeddings/oleObject45.bin"/><Relationship Id="rId5" Type="http://schemas.openxmlformats.org/officeDocument/2006/relationships/oleObject" Target="../embeddings/oleObject43.bin"/><Relationship Id="rId15" Type="http://schemas.openxmlformats.org/officeDocument/2006/relationships/oleObject" Target="../embeddings/oleObject47.bin"/><Relationship Id="rId10" Type="http://schemas.openxmlformats.org/officeDocument/2006/relationships/image" Target="../media/image107.wmf"/><Relationship Id="rId19" Type="http://schemas.openxmlformats.org/officeDocument/2006/relationships/oleObject" Target="../embeddings/oleObject49.bin"/><Relationship Id="rId4" Type="http://schemas.openxmlformats.org/officeDocument/2006/relationships/image" Target="../media/image100.png"/><Relationship Id="rId9" Type="http://schemas.openxmlformats.org/officeDocument/2006/relationships/oleObject" Target="../embeddings/oleObject44.bin"/><Relationship Id="rId14" Type="http://schemas.openxmlformats.org/officeDocument/2006/relationships/image" Target="../media/image109.wmf"/></Relationships>
</file>

<file path=ppt/slides/_rels/slide48.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oleObject" Target="../embeddings/oleObject52.bin"/><Relationship Id="rId18" Type="http://schemas.openxmlformats.org/officeDocument/2006/relationships/image" Target="../media/image117.wmf"/><Relationship Id="rId3" Type="http://schemas.openxmlformats.org/officeDocument/2006/relationships/oleObject" Target="../embeddings/oleObject39.bin"/><Relationship Id="rId21" Type="http://schemas.openxmlformats.org/officeDocument/2006/relationships/oleObject" Target="../embeddings/oleObject48.bin"/><Relationship Id="rId7" Type="http://schemas.openxmlformats.org/officeDocument/2006/relationships/image" Target="../media/image105.png"/><Relationship Id="rId12" Type="http://schemas.openxmlformats.org/officeDocument/2006/relationships/image" Target="../media/image114.wmf"/><Relationship Id="rId17" Type="http://schemas.openxmlformats.org/officeDocument/2006/relationships/oleObject" Target="../embeddings/oleObject54.bin"/><Relationship Id="rId2" Type="http://schemas.openxmlformats.org/officeDocument/2006/relationships/notesSlide" Target="../notesSlides/notesSlide46.xml"/><Relationship Id="rId16" Type="http://schemas.openxmlformats.org/officeDocument/2006/relationships/image" Target="../media/image116.wmf"/><Relationship Id="rId20" Type="http://schemas.openxmlformats.org/officeDocument/2006/relationships/image" Target="../media/image118.wmf"/><Relationship Id="rId1" Type="http://schemas.openxmlformats.org/officeDocument/2006/relationships/slideLayout" Target="../slideLayouts/slideLayout2.xml"/><Relationship Id="rId6" Type="http://schemas.openxmlformats.org/officeDocument/2006/relationships/image" Target="../media/image104.wmf"/><Relationship Id="rId11" Type="http://schemas.openxmlformats.org/officeDocument/2006/relationships/oleObject" Target="../embeddings/oleObject51.bin"/><Relationship Id="rId5" Type="http://schemas.openxmlformats.org/officeDocument/2006/relationships/oleObject" Target="../embeddings/oleObject43.bin"/><Relationship Id="rId15" Type="http://schemas.openxmlformats.org/officeDocument/2006/relationships/oleObject" Target="../embeddings/oleObject53.bin"/><Relationship Id="rId10" Type="http://schemas.openxmlformats.org/officeDocument/2006/relationships/image" Target="../media/image113.wmf"/><Relationship Id="rId19" Type="http://schemas.openxmlformats.org/officeDocument/2006/relationships/oleObject" Target="../embeddings/oleObject55.bin"/><Relationship Id="rId4" Type="http://schemas.openxmlformats.org/officeDocument/2006/relationships/image" Target="../media/image100.png"/><Relationship Id="rId9" Type="http://schemas.openxmlformats.org/officeDocument/2006/relationships/oleObject" Target="../embeddings/oleObject50.bin"/><Relationship Id="rId14" Type="http://schemas.openxmlformats.org/officeDocument/2006/relationships/image" Target="../media/image115.wmf"/><Relationship Id="rId22" Type="http://schemas.openxmlformats.org/officeDocument/2006/relationships/image" Target="../media/image111.wmf"/></Relationships>
</file>

<file path=ppt/slides/_rels/slide4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6.bin"/><Relationship Id="rId7" Type="http://schemas.openxmlformats.org/officeDocument/2006/relationships/image" Target="../media/image123.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22.png"/><Relationship Id="rId5" Type="http://schemas.openxmlformats.org/officeDocument/2006/relationships/image" Target="../media/image121.emf"/><Relationship Id="rId4" Type="http://schemas.openxmlformats.org/officeDocument/2006/relationships/image" Target="../media/image120.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7.bin"/><Relationship Id="rId7" Type="http://schemas.openxmlformats.org/officeDocument/2006/relationships/image" Target="../media/image123.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22.png"/><Relationship Id="rId5" Type="http://schemas.openxmlformats.org/officeDocument/2006/relationships/image" Target="../media/image121.emf"/><Relationship Id="rId4" Type="http://schemas.openxmlformats.org/officeDocument/2006/relationships/image" Target="../media/image124.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54.xml.rels><?xml version="1.0" encoding="UTF-8" standalone="yes"?>
<Relationships xmlns="http://schemas.openxmlformats.org/package/2006/relationships"><Relationship Id="rId3" Type="http://schemas.openxmlformats.org/officeDocument/2006/relationships/image" Target="../media/image126.gi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128.png"/><Relationship Id="rId4" Type="http://schemas.openxmlformats.org/officeDocument/2006/relationships/image" Target="../media/image124.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50">
            <a:extLst>
              <a:ext uri="{FF2B5EF4-FFF2-40B4-BE49-F238E27FC236}">
                <a16:creationId xmlns:a16="http://schemas.microsoft.com/office/drawing/2014/main" id="{8C53740C-DAFE-4410-A164-3AE5764081A5}"/>
              </a:ext>
            </a:extLst>
          </p:cNvPr>
          <p:cNvSpPr/>
          <p:nvPr/>
        </p:nvSpPr>
        <p:spPr>
          <a:xfrm flipH="1">
            <a:off x="1303497" y="2155520"/>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39">
            <a:extLst>
              <a:ext uri="{FF2B5EF4-FFF2-40B4-BE49-F238E27FC236}">
                <a16:creationId xmlns:a16="http://schemas.microsoft.com/office/drawing/2014/main" id="{72C99747-A267-4CAA-9EBE-1310ECCB8B92}"/>
              </a:ext>
            </a:extLst>
          </p:cNvPr>
          <p:cNvSpPr/>
          <p:nvPr/>
        </p:nvSpPr>
        <p:spPr>
          <a:xfrm rot="10800000" flipV="1">
            <a:off x="348139" y="2130755"/>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宋体" panose="02010600030101010101" pitchFamily="2" charset="-122"/>
                <a:cs typeface="Arial" panose="020B0604020202020204" pitchFamily="34" charset="0"/>
                <a:sym typeface="+mn-ea"/>
              </a:rPr>
              <a:t>5</a:t>
            </a:r>
            <a:endParaRPr lang="zh-CN" altLang="en-US" sz="6000" b="1" dirty="0">
              <a:latin typeface="Arial" panose="020B0604020202020204" pitchFamily="34" charset="0"/>
              <a:cs typeface="Arial" panose="020B0604020202020204" pitchFamily="34" charset="0"/>
            </a:endParaRPr>
          </a:p>
        </p:txBody>
      </p:sp>
      <p:sp>
        <p:nvSpPr>
          <p:cNvPr id="23" name="文本框 41">
            <a:extLst>
              <a:ext uri="{FF2B5EF4-FFF2-40B4-BE49-F238E27FC236}">
                <a16:creationId xmlns:a16="http://schemas.microsoft.com/office/drawing/2014/main" id="{98D03344-D030-490D-A0AB-0514B8AEA6BC}"/>
              </a:ext>
            </a:extLst>
          </p:cNvPr>
          <p:cNvSpPr txBox="1"/>
          <p:nvPr/>
        </p:nvSpPr>
        <p:spPr>
          <a:xfrm>
            <a:off x="2622698" y="2377134"/>
            <a:ext cx="4041487" cy="769439"/>
          </a:xfrm>
          <a:prstGeom prst="rect">
            <a:avLst/>
          </a:prstGeom>
          <a:noFill/>
        </p:spPr>
        <p:txBody>
          <a:bodyPr wrap="none" lIns="91438" tIns="45719" rIns="91438" bIns="45719" rtlCol="0">
            <a:spAutoFit/>
          </a:bodyPr>
          <a:lstStyle/>
          <a:p>
            <a:r>
              <a:rPr lang="zh-CN" altLang="en-US" sz="4400" b="1" spc="600">
                <a:solidFill>
                  <a:schemeClr val="bg1"/>
                </a:solidFill>
                <a:latin typeface="宋体" panose="02010600030101010101" pitchFamily="2" charset="-122"/>
                <a:ea typeface="宋体" panose="02010600030101010101" pitchFamily="2" charset="-122"/>
                <a:sym typeface="+mn-ea"/>
              </a:rPr>
              <a:t>磁电式传感器</a:t>
            </a:r>
            <a:endParaRPr lang="zh-CN" altLang="en-US" sz="4400" b="1" spc="600" dirty="0">
              <a:solidFill>
                <a:schemeClr val="bg1"/>
              </a:solidFill>
              <a:latin typeface="宋体" panose="02010600030101010101" pitchFamily="2" charset="-122"/>
              <a:ea typeface="宋体" panose="02010600030101010101" pitchFamily="2" charset="-122"/>
              <a:sym typeface="+mn-ea"/>
            </a:endParaRPr>
          </a:p>
        </p:txBody>
      </p:sp>
      <p:grpSp>
        <p:nvGrpSpPr>
          <p:cNvPr id="24" name="组 2">
            <a:extLst>
              <a:ext uri="{FF2B5EF4-FFF2-40B4-BE49-F238E27FC236}">
                <a16:creationId xmlns:a16="http://schemas.microsoft.com/office/drawing/2014/main" id="{E94FDF99-A49B-48AB-95B0-6408F00C65E8}"/>
              </a:ext>
            </a:extLst>
          </p:cNvPr>
          <p:cNvGrpSpPr/>
          <p:nvPr/>
        </p:nvGrpSpPr>
        <p:grpSpPr>
          <a:xfrm>
            <a:off x="-15717" y="2142184"/>
            <a:ext cx="181928" cy="1285240"/>
            <a:chOff x="-21102" y="2858492"/>
            <a:chExt cx="242777" cy="1285286"/>
          </a:xfrm>
        </p:grpSpPr>
        <p:sp>
          <p:nvSpPr>
            <p:cNvPr id="25" name="圆角矩形 45">
              <a:extLst>
                <a:ext uri="{FF2B5EF4-FFF2-40B4-BE49-F238E27FC236}">
                  <a16:creationId xmlns:a16="http://schemas.microsoft.com/office/drawing/2014/main" id="{8A9E084A-6ED9-47CC-9269-03C8247999FE}"/>
                </a:ext>
              </a:extLst>
            </p:cNvPr>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46">
              <a:extLst>
                <a:ext uri="{FF2B5EF4-FFF2-40B4-BE49-F238E27FC236}">
                  <a16:creationId xmlns:a16="http://schemas.microsoft.com/office/drawing/2014/main" id="{7E728DF0-1AAB-4122-A319-BA86BDCEBA68}"/>
                </a:ext>
              </a:extLst>
            </p:cNvPr>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47">
              <a:extLst>
                <a:ext uri="{FF2B5EF4-FFF2-40B4-BE49-F238E27FC236}">
                  <a16:creationId xmlns:a16="http://schemas.microsoft.com/office/drawing/2014/main" id="{BF17D9C0-F1BE-42FD-8241-D8807EAA61C4}"/>
                </a:ext>
              </a:extLst>
            </p:cNvPr>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48">
              <a:extLst>
                <a:ext uri="{FF2B5EF4-FFF2-40B4-BE49-F238E27FC236}">
                  <a16:creationId xmlns:a16="http://schemas.microsoft.com/office/drawing/2014/main" id="{97751015-5158-418A-842A-6C42EDBD761D}"/>
                </a:ext>
              </a:extLst>
            </p:cNvPr>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44">
              <a:extLst>
                <a:ext uri="{FF2B5EF4-FFF2-40B4-BE49-F238E27FC236}">
                  <a16:creationId xmlns:a16="http://schemas.microsoft.com/office/drawing/2014/main" id="{DD0D0BBC-9180-4D05-814B-551AA98DD1F0}"/>
                </a:ext>
              </a:extLst>
            </p:cNvPr>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TextBox 40">
            <a:extLst>
              <a:ext uri="{FF2B5EF4-FFF2-40B4-BE49-F238E27FC236}">
                <a16:creationId xmlns:a16="http://schemas.microsoft.com/office/drawing/2014/main" id="{9C9BDFEA-968A-4052-B696-C9A5047B54DC}"/>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427819" y="25400"/>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2763170" y="3127247"/>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5.1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763171" y="4133122"/>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5.2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928921" y="3018925"/>
            <a:ext cx="3890801"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2" action="ppaction://hlinksldjump"/>
              </a:rPr>
              <a:t>磁电感应式传感器</a:t>
            </a:r>
            <a:endParaRPr lang="zh-CN" altLang="en-US" sz="3600" b="1" dirty="0">
              <a:solidFill>
                <a:schemeClr val="tx2"/>
              </a:solidFill>
            </a:endParaRPr>
          </a:p>
        </p:txBody>
      </p:sp>
      <p:sp>
        <p:nvSpPr>
          <p:cNvPr id="88" name="文本框 87">
            <a:hlinkClick r:id="rId3" action="ppaction://hlinksldjump"/>
          </p:cNvPr>
          <p:cNvSpPr txBox="1"/>
          <p:nvPr/>
        </p:nvSpPr>
        <p:spPr>
          <a:xfrm>
            <a:off x="3928921" y="3987150"/>
            <a:ext cx="296426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sym typeface="+mn-ea"/>
                <a:hlinkClick r:id="rId4" action="ppaction://hlinksldjump"/>
              </a:rPr>
              <a:t>霍尔式传感器</a:t>
            </a:r>
            <a:endParaRPr lang="zh-CN" altLang="en-US" sz="3600" b="1" dirty="0">
              <a:solidFill>
                <a:schemeClr val="tx2"/>
              </a:solidFill>
              <a:latin typeface="宋体" panose="02010600030101010101" pitchFamily="2" charset="-122"/>
              <a:ea typeface="宋体" panose="02010600030101010101" pitchFamily="2" charset="-122"/>
              <a:sym typeface="+mn-ea"/>
            </a:endParaRPr>
          </a:p>
        </p:txBody>
      </p:sp>
      <p:sp>
        <p:nvSpPr>
          <p:cNvPr id="16" name="圆角矩形 72"/>
          <p:cNvSpPr/>
          <p:nvPr/>
        </p:nvSpPr>
        <p:spPr>
          <a:xfrm rot="10800000" flipV="1">
            <a:off x="2763171" y="5128241"/>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b="1" dirty="0">
              <a:latin typeface="宋体" panose="02010600030101010101" pitchFamily="2" charset="-122"/>
              <a:ea typeface="宋体" panose="02010600030101010101" pitchFamily="2" charset="-122"/>
            </a:endParaRPr>
          </a:p>
        </p:txBody>
      </p:sp>
      <p:sp>
        <p:nvSpPr>
          <p:cNvPr id="18" name="文本框 17"/>
          <p:cNvSpPr txBox="1"/>
          <p:nvPr/>
        </p:nvSpPr>
        <p:spPr>
          <a:xfrm>
            <a:off x="3928921" y="4955375"/>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本章要点</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31" name="Rectangle 61"/>
          <p:cNvSpPr>
            <a:spLocks noChangeArrowheads="1"/>
          </p:cNvSpPr>
          <p:nvPr/>
        </p:nvSpPr>
        <p:spPr bwMode="auto">
          <a:xfrm>
            <a:off x="1592919" y="904997"/>
            <a:ext cx="6451166"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buFont typeface="Wingdings" pitchFamily="2" charset="2"/>
              <a:buNone/>
            </a:pP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磁电式传感器是通过磁电作用将被测量</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如振动、位移、转速等</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转换成电信号的一种传感器。</a:t>
            </a:r>
          </a:p>
        </p:txBody>
      </p:sp>
      <p:sp>
        <p:nvSpPr>
          <p:cNvPr id="29" name="文本框 19">
            <a:extLst>
              <a:ext uri="{FF2B5EF4-FFF2-40B4-BE49-F238E27FC236}">
                <a16:creationId xmlns:a16="http://schemas.microsoft.com/office/drawing/2014/main" id="{515CA7B4-8FBE-423D-A0F2-6FABA1F73138}"/>
              </a:ext>
            </a:extLst>
          </p:cNvPr>
          <p:cNvSpPr txBox="1"/>
          <p:nvPr/>
        </p:nvSpPr>
        <p:spPr>
          <a:xfrm>
            <a:off x="104043" y="1495425"/>
            <a:ext cx="754047" cy="3269788"/>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
        <p:nvSpPr>
          <p:cNvPr id="5" name="Slide Number Placeholder 4">
            <a:extLst>
              <a:ext uri="{FF2B5EF4-FFF2-40B4-BE49-F238E27FC236}">
                <a16:creationId xmlns:a16="http://schemas.microsoft.com/office/drawing/2014/main" id="{EC0FFCE6-A42D-4E64-BA03-1362E6A88840}"/>
              </a:ext>
            </a:extLst>
          </p:cNvPr>
          <p:cNvSpPr>
            <a:spLocks noGrp="1"/>
          </p:cNvSpPr>
          <p:nvPr>
            <p:ph type="sldNum" sz="quarter" idx="12"/>
          </p:nvPr>
        </p:nvSpPr>
        <p:spPr/>
        <p:txBody>
          <a:bodyPr/>
          <a:lstStyle/>
          <a:p>
            <a:fld id="{B53602B4-F12B-41CD-B648-531F86B2CC91}" type="slidenum">
              <a:rPr lang="zh-CN" altLang="en-US" smtClean="0"/>
              <a:t>2</a:t>
            </a:fld>
            <a:endParaRPr lang="zh-CN" altLang="en-US"/>
          </a:p>
        </p:txBody>
      </p:sp>
    </p:spTree>
    <p:extLst>
      <p:ext uri="{BB962C8B-B14F-4D97-AF65-F5344CB8AC3E}">
        <p14:creationId xmlns:p14="http://schemas.microsoft.com/office/powerpoint/2010/main" val="14501943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5.1</a:t>
            </a:r>
          </a:p>
        </p:txBody>
      </p:sp>
      <p:sp>
        <p:nvSpPr>
          <p:cNvPr id="46" name="矩形 45"/>
          <p:cNvSpPr/>
          <p:nvPr/>
        </p:nvSpPr>
        <p:spPr>
          <a:xfrm>
            <a:off x="1960200"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磁电感应式传感器</a:t>
            </a:r>
          </a:p>
        </p:txBody>
      </p:sp>
      <p:sp>
        <p:nvSpPr>
          <p:cNvPr id="21" name="Text Box 16"/>
          <p:cNvSpPr txBox="1">
            <a:spLocks noChangeArrowheads="1"/>
          </p:cNvSpPr>
          <p:nvPr/>
        </p:nvSpPr>
        <p:spPr bwMode="auto">
          <a:xfrm>
            <a:off x="1058698" y="1964229"/>
            <a:ext cx="7328844" cy="1682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lgn="just" eaLnBrk="1" hangingPunct="1">
              <a:lnSpc>
                <a:spcPct val="150000"/>
              </a:lnSpc>
              <a:buFont typeface="Wingdings" pitchFamily="2" charset="2"/>
              <a:buNone/>
            </a:pPr>
            <a:r>
              <a:rPr lang="en-US" altLang="zh-CN" sz="2400" b="1" dirty="0">
                <a:solidFill>
                  <a:schemeClr val="tx1"/>
                </a:solidFill>
              </a:rPr>
              <a:t>        </a:t>
            </a:r>
            <a:r>
              <a:rPr lang="zh-CN" altLang="en-US" sz="2400" b="1" dirty="0">
                <a:solidFill>
                  <a:schemeClr val="tx1"/>
                </a:solidFill>
              </a:rPr>
              <a:t>磁电感应式传感器利用导体和磁场发生相对运动而在导体两端输出感应电</a:t>
            </a:r>
            <a:r>
              <a:rPr lang="zh-CN" altLang="en-US" sz="2400" b="1">
                <a:solidFill>
                  <a:schemeClr val="tx1"/>
                </a:solidFill>
              </a:rPr>
              <a:t>势，是</a:t>
            </a:r>
            <a:r>
              <a:rPr lang="zh-CN" altLang="en-US" sz="2400" b="1" dirty="0">
                <a:solidFill>
                  <a:schemeClr val="tx1"/>
                </a:solidFill>
              </a:rPr>
              <a:t>一种机电能量转换型传感器，不需供电电源。</a:t>
            </a:r>
          </a:p>
        </p:txBody>
      </p:sp>
      <p:sp>
        <p:nvSpPr>
          <p:cNvPr id="22" name="Rectangle 15"/>
          <p:cNvSpPr>
            <a:spLocks noRot="1" noChangeArrowheads="1"/>
          </p:cNvSpPr>
          <p:nvPr/>
        </p:nvSpPr>
        <p:spPr bwMode="auto">
          <a:xfrm>
            <a:off x="2993956" y="3742388"/>
            <a:ext cx="4206944" cy="2488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ts val="600"/>
              </a:spcBef>
            </a:pPr>
            <a:r>
              <a:rPr lang="zh-CN" altLang="en-US" sz="2400" b="1" dirty="0">
                <a:latin typeface="宋体" panose="02010600030101010101" pitchFamily="2" charset="-122"/>
                <a:ea typeface="宋体" panose="02010600030101010101" pitchFamily="2" charset="-122"/>
                <a:hlinkClick r:id="rId3" action="ppaction://hlinksldjump"/>
              </a:rPr>
              <a:t>工作原理和结构类型</a:t>
            </a:r>
            <a:endParaRPr lang="zh-CN" altLang="en-US" sz="2400" b="1" dirty="0">
              <a:latin typeface="宋体" panose="02010600030101010101" pitchFamily="2" charset="-122"/>
              <a:ea typeface="宋体" panose="02010600030101010101" pitchFamily="2" charset="-122"/>
            </a:endParaRPr>
          </a:p>
          <a:p>
            <a:pPr>
              <a:lnSpc>
                <a:spcPct val="150000"/>
              </a:lnSpc>
              <a:spcBef>
                <a:spcPts val="600"/>
              </a:spcBef>
            </a:pPr>
            <a:r>
              <a:rPr lang="zh-CN" altLang="en-US" sz="2400" b="1" dirty="0">
                <a:latin typeface="宋体" panose="02010600030101010101" pitchFamily="2" charset="-122"/>
                <a:ea typeface="宋体" panose="02010600030101010101" pitchFamily="2" charset="-122"/>
                <a:hlinkClick r:id="rId4" action="ppaction://hlinksldjump"/>
              </a:rPr>
              <a:t>动态特性分析</a:t>
            </a:r>
            <a:endParaRPr lang="zh-CN" altLang="en-US" sz="2400" b="1" dirty="0">
              <a:latin typeface="宋体" panose="02010600030101010101" pitchFamily="2" charset="-122"/>
              <a:ea typeface="宋体" panose="02010600030101010101" pitchFamily="2" charset="-122"/>
            </a:endParaRPr>
          </a:p>
          <a:p>
            <a:pPr>
              <a:lnSpc>
                <a:spcPct val="150000"/>
              </a:lnSpc>
              <a:spcBef>
                <a:spcPts val="600"/>
              </a:spcBef>
            </a:pPr>
            <a:r>
              <a:rPr lang="zh-CN" altLang="en-US" sz="2400" b="1" dirty="0">
                <a:latin typeface="宋体" panose="02010600030101010101" pitchFamily="2" charset="-122"/>
                <a:ea typeface="宋体" panose="02010600030101010101" pitchFamily="2" charset="-122"/>
                <a:hlinkClick r:id="rId5" action="ppaction://hlinksldjump"/>
              </a:rPr>
              <a:t>测量电路</a:t>
            </a:r>
            <a:endParaRPr lang="zh-CN" altLang="en-US" sz="2400" b="1" dirty="0">
              <a:latin typeface="宋体" panose="02010600030101010101" pitchFamily="2" charset="-122"/>
              <a:ea typeface="宋体" panose="02010600030101010101" pitchFamily="2" charset="-122"/>
            </a:endParaRPr>
          </a:p>
          <a:p>
            <a:pPr>
              <a:lnSpc>
                <a:spcPct val="150000"/>
              </a:lnSpc>
              <a:spcBef>
                <a:spcPts val="600"/>
              </a:spcBef>
            </a:pPr>
            <a:r>
              <a:rPr lang="zh-CN" altLang="en-US" sz="2400" b="1" dirty="0">
                <a:latin typeface="宋体" panose="02010600030101010101" pitchFamily="2" charset="-122"/>
                <a:ea typeface="宋体" panose="02010600030101010101" pitchFamily="2" charset="-122"/>
                <a:hlinkClick r:id="rId6" action="ppaction://hlinksldjump"/>
              </a:rPr>
              <a:t>磁电感应式传感器应用举例</a:t>
            </a:r>
            <a:endParaRPr lang="zh-CN" altLang="en-US" sz="2400" b="1" dirty="0">
              <a:latin typeface="宋体" panose="02010600030101010101" pitchFamily="2" charset="-122"/>
              <a:ea typeface="宋体" panose="02010600030101010101" pitchFamily="2" charset="-122"/>
            </a:endParaRPr>
          </a:p>
        </p:txBody>
      </p:sp>
      <p:sp>
        <p:nvSpPr>
          <p:cNvPr id="32" name="文本框 3"/>
          <p:cNvSpPr txBox="1"/>
          <p:nvPr/>
        </p:nvSpPr>
        <p:spPr>
          <a:xfrm>
            <a:off x="1571711" y="1394691"/>
            <a:ext cx="6359325"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Sensors Based on Faraday's Law</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0" name="圆角矩形 72">
            <a:extLst>
              <a:ext uri="{FF2B5EF4-FFF2-40B4-BE49-F238E27FC236}">
                <a16:creationId xmlns:a16="http://schemas.microsoft.com/office/drawing/2014/main" id="{343D7C8A-72E9-4E11-82F9-04D1F37F1B07}"/>
              </a:ext>
            </a:extLst>
          </p:cNvPr>
          <p:cNvSpPr/>
          <p:nvPr/>
        </p:nvSpPr>
        <p:spPr>
          <a:xfrm rot="10800000" flipV="1">
            <a:off x="1829759" y="3784952"/>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5.1.1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3" name="圆角矩形 73">
            <a:extLst>
              <a:ext uri="{FF2B5EF4-FFF2-40B4-BE49-F238E27FC236}">
                <a16:creationId xmlns:a16="http://schemas.microsoft.com/office/drawing/2014/main" id="{7997A031-0667-4F3B-9AA0-BAB02B443096}"/>
              </a:ext>
            </a:extLst>
          </p:cNvPr>
          <p:cNvSpPr/>
          <p:nvPr/>
        </p:nvSpPr>
        <p:spPr>
          <a:xfrm rot="10800000" flipV="1">
            <a:off x="1829755" y="4417695"/>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5.1.2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4" name="圆角矩形 72">
            <a:extLst>
              <a:ext uri="{FF2B5EF4-FFF2-40B4-BE49-F238E27FC236}">
                <a16:creationId xmlns:a16="http://schemas.microsoft.com/office/drawing/2014/main" id="{343D7C8A-72E9-4E11-82F9-04D1F37F1B07}"/>
              </a:ext>
            </a:extLst>
          </p:cNvPr>
          <p:cNvSpPr/>
          <p:nvPr/>
        </p:nvSpPr>
        <p:spPr>
          <a:xfrm rot="10800000" flipV="1">
            <a:off x="1829754" y="5028168"/>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5.1.3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7" name="圆角矩形 73">
            <a:extLst>
              <a:ext uri="{FF2B5EF4-FFF2-40B4-BE49-F238E27FC236}">
                <a16:creationId xmlns:a16="http://schemas.microsoft.com/office/drawing/2014/main" id="{7997A031-0667-4F3B-9AA0-BAB02B443096}"/>
              </a:ext>
            </a:extLst>
          </p:cNvPr>
          <p:cNvSpPr/>
          <p:nvPr/>
        </p:nvSpPr>
        <p:spPr>
          <a:xfrm rot="10800000" flipV="1">
            <a:off x="1829750" y="5650853"/>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5.1.4</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737C1C01-CCD8-48C6-8E7E-AB7BA0F1E4AD}"/>
              </a:ext>
            </a:extLst>
          </p:cNvPr>
          <p:cNvSpPr>
            <a:spLocks noGrp="1"/>
          </p:cNvSpPr>
          <p:nvPr>
            <p:ph type="sldNum" sz="quarter" idx="12"/>
          </p:nvPr>
        </p:nvSpPr>
        <p:spPr/>
        <p:txBody>
          <a:bodyPr/>
          <a:lstStyle/>
          <a:p>
            <a:fld id="{B53602B4-F12B-41CD-B648-531F86B2CC91}" type="slidenum">
              <a:rPr lang="zh-CN" altLang="en-US" smtClean="0"/>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工作原理和结构类型</a:t>
            </a:r>
          </a:p>
        </p:txBody>
      </p:sp>
      <p:sp>
        <p:nvSpPr>
          <p:cNvPr id="33" name="Rectangle 15"/>
          <p:cNvSpPr>
            <a:spLocks noRot="1" noChangeArrowheads="1"/>
          </p:cNvSpPr>
          <p:nvPr/>
        </p:nvSpPr>
        <p:spPr bwMode="auto">
          <a:xfrm>
            <a:off x="508000" y="1266407"/>
            <a:ext cx="4129741"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628650">
              <a:lnSpc>
                <a:spcPct val="150000"/>
              </a:lnSpc>
              <a:buFont typeface="Wingdings" pitchFamily="2" charset="2"/>
              <a:buNone/>
            </a:pPr>
            <a:r>
              <a:rPr lang="zh-CN" altLang="en-US" sz="2400" b="1" dirty="0">
                <a:latin typeface="宋体" panose="02010600030101010101" pitchFamily="2" charset="-122"/>
                <a:ea typeface="宋体" panose="02010600030101010101" pitchFamily="2" charset="-122"/>
              </a:rPr>
              <a:t>磁电感应式传感器是以</a:t>
            </a:r>
            <a:r>
              <a:rPr lang="zh-CN" altLang="en-US" sz="2400" b="1" dirty="0">
                <a:solidFill>
                  <a:srgbClr val="0000FF"/>
                </a:solidFill>
                <a:latin typeface="宋体" panose="02010600030101010101" pitchFamily="2" charset="-122"/>
                <a:ea typeface="宋体" panose="02010600030101010101" pitchFamily="2" charset="-122"/>
              </a:rPr>
              <a:t>电磁感应原理</a:t>
            </a:r>
            <a:r>
              <a:rPr lang="zh-CN" altLang="en-US" sz="2400" b="1" dirty="0">
                <a:latin typeface="宋体" panose="02010600030101010101" pitchFamily="2" charset="-122"/>
                <a:ea typeface="宋体" panose="02010600030101010101" pitchFamily="2" charset="-122"/>
              </a:rPr>
              <a:t>为基础，根据电磁感应定律，线圈两端的感应电动势正比于线圈所包围的磁链对时间的变化率。</a:t>
            </a:r>
          </a:p>
        </p:txBody>
      </p:sp>
      <p:sp>
        <p:nvSpPr>
          <p:cNvPr id="34" name="Text Box 29"/>
          <p:cNvSpPr txBox="1">
            <a:spLocks noChangeArrowheads="1"/>
          </p:cNvSpPr>
          <p:nvPr/>
        </p:nvSpPr>
        <p:spPr bwMode="auto">
          <a:xfrm>
            <a:off x="930639" y="5199705"/>
            <a:ext cx="3962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ct val="150000"/>
              </a:lnSpc>
              <a:buFont typeface="Wingdings" pitchFamily="2" charset="2"/>
              <a:buNone/>
            </a:pPr>
            <a:r>
              <a:rPr lang="en-US" altLang="zh-CN" sz="2400" i="1" dirty="0">
                <a:solidFill>
                  <a:schemeClr val="tx1"/>
                </a:solidFill>
                <a:latin typeface="Times New Roman" pitchFamily="18" charset="0"/>
              </a:rPr>
              <a:t>W</a:t>
            </a:r>
            <a:r>
              <a:rPr lang="en-US" altLang="zh-CN" sz="2400" b="1" dirty="0">
                <a:solidFill>
                  <a:schemeClr val="tx1"/>
                </a:solidFill>
              </a:rPr>
              <a:t>--</a:t>
            </a:r>
            <a:r>
              <a:rPr lang="zh-CN" altLang="en-US" sz="2400" b="1" dirty="0">
                <a:solidFill>
                  <a:schemeClr val="tx1"/>
                </a:solidFill>
              </a:rPr>
              <a:t>线圈匝数：</a:t>
            </a:r>
          </a:p>
          <a:p>
            <a:pPr eaLnBrk="1" hangingPunct="1">
              <a:lnSpc>
                <a:spcPct val="150000"/>
              </a:lnSpc>
              <a:buFont typeface="Wingdings" pitchFamily="2" charset="2"/>
              <a:buNone/>
            </a:pPr>
            <a:r>
              <a:rPr lang="en-US" altLang="zh-CN" sz="2400" i="1" dirty="0">
                <a:solidFill>
                  <a:schemeClr val="tx1"/>
                </a:solidFill>
                <a:latin typeface="Times New Roman" pitchFamily="18" charset="0"/>
              </a:rPr>
              <a:t>Φ</a:t>
            </a:r>
            <a:r>
              <a:rPr lang="en-US" altLang="zh-CN" sz="2400" b="1" dirty="0">
                <a:solidFill>
                  <a:schemeClr val="tx1"/>
                </a:solidFill>
              </a:rPr>
              <a:t>--</a:t>
            </a:r>
            <a:r>
              <a:rPr lang="zh-CN" altLang="en-US" sz="2400" b="1" dirty="0">
                <a:solidFill>
                  <a:schemeClr val="tx1"/>
                </a:solidFill>
              </a:rPr>
              <a:t>线圈所包围的磁通量。</a:t>
            </a:r>
          </a:p>
        </p:txBody>
      </p:sp>
      <p:graphicFrame>
        <p:nvGraphicFramePr>
          <p:cNvPr id="35" name="Object 35"/>
          <p:cNvGraphicFramePr>
            <a:graphicFrameLocks noChangeAspect="1"/>
          </p:cNvGraphicFramePr>
          <p:nvPr>
            <p:extLst>
              <p:ext uri="{D42A27DB-BD31-4B8C-83A1-F6EECF244321}">
                <p14:modId xmlns:p14="http://schemas.microsoft.com/office/powerpoint/2010/main" val="522264128"/>
              </p:ext>
            </p:extLst>
          </p:nvPr>
        </p:nvGraphicFramePr>
        <p:xfrm>
          <a:off x="930639" y="4033672"/>
          <a:ext cx="2808287" cy="1157288"/>
        </p:xfrm>
        <a:graphic>
          <a:graphicData uri="http://schemas.openxmlformats.org/presentationml/2006/ole">
            <mc:AlternateContent xmlns:mc="http://schemas.openxmlformats.org/markup-compatibility/2006">
              <mc:Choice xmlns:v="urn:schemas-microsoft-com:vml" Requires="v">
                <p:oleObj name="Flash 影片" r:id="rId3" imgW="1223640" imgH="504360" progId="Flash.Movie">
                  <p:embed/>
                </p:oleObj>
              </mc:Choice>
              <mc:Fallback>
                <p:oleObj name="Flash 影片" r:id="rId3" imgW="1223640" imgH="504360" progId="Flash.Movi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639" y="4033672"/>
                        <a:ext cx="2808287" cy="115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Picture 1">
            <a:extLst>
              <a:ext uri="{FF2B5EF4-FFF2-40B4-BE49-F238E27FC236}">
                <a16:creationId xmlns:a16="http://schemas.microsoft.com/office/drawing/2014/main" id="{DC6CBDE8-E73C-4B7E-8D0B-33F16B2CA608}"/>
              </a:ext>
            </a:extLst>
          </p:cNvPr>
          <p:cNvPicPr>
            <a:picLocks noChangeAspect="1"/>
          </p:cNvPicPr>
          <p:nvPr/>
        </p:nvPicPr>
        <p:blipFill>
          <a:blip r:embed="rId5"/>
          <a:stretch>
            <a:fillRect/>
          </a:stretch>
        </p:blipFill>
        <p:spPr>
          <a:xfrm>
            <a:off x="5264164" y="1257018"/>
            <a:ext cx="3371836" cy="2706341"/>
          </a:xfrm>
          <a:prstGeom prst="rect">
            <a:avLst/>
          </a:prstGeom>
        </p:spPr>
      </p:pic>
      <p:pic>
        <p:nvPicPr>
          <p:cNvPr id="3" name="Picture 2">
            <a:extLst>
              <a:ext uri="{FF2B5EF4-FFF2-40B4-BE49-F238E27FC236}">
                <a16:creationId xmlns:a16="http://schemas.microsoft.com/office/drawing/2014/main" id="{4F37CE40-C135-43B2-8F64-89A55F29F0AF}"/>
              </a:ext>
            </a:extLst>
          </p:cNvPr>
          <p:cNvPicPr>
            <a:picLocks noChangeAspect="1"/>
          </p:cNvPicPr>
          <p:nvPr/>
        </p:nvPicPr>
        <p:blipFill>
          <a:blip r:embed="rId6"/>
          <a:stretch>
            <a:fillRect/>
          </a:stretch>
        </p:blipFill>
        <p:spPr>
          <a:xfrm>
            <a:off x="5166989" y="4084531"/>
            <a:ext cx="3610885" cy="1979239"/>
          </a:xfrm>
          <a:prstGeom prst="rect">
            <a:avLst/>
          </a:prstGeom>
        </p:spPr>
      </p:pic>
      <p:sp>
        <p:nvSpPr>
          <p:cNvPr id="4" name="Slide Number Placeholder 3">
            <a:extLst>
              <a:ext uri="{FF2B5EF4-FFF2-40B4-BE49-F238E27FC236}">
                <a16:creationId xmlns:a16="http://schemas.microsoft.com/office/drawing/2014/main" id="{733C78CB-0B1F-40D2-9B72-552B5F510CA5}"/>
              </a:ext>
            </a:extLst>
          </p:cNvPr>
          <p:cNvSpPr>
            <a:spLocks noGrp="1"/>
          </p:cNvSpPr>
          <p:nvPr>
            <p:ph type="sldNum" sz="quarter" idx="12"/>
          </p:nvPr>
        </p:nvSpPr>
        <p:spPr/>
        <p:txBody>
          <a:bodyPr/>
          <a:lstStyle/>
          <a:p>
            <a:fld id="{B53602B4-F12B-41CD-B648-531F86B2CC91}" type="slidenum">
              <a:rPr lang="zh-CN" altLang="en-US" smtClean="0"/>
              <a:t>4</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工作原理和结构类型</a:t>
            </a:r>
          </a:p>
        </p:txBody>
      </p:sp>
      <p:sp>
        <p:nvSpPr>
          <p:cNvPr id="25" name="Text Box 14"/>
          <p:cNvSpPr txBox="1">
            <a:spLocks noChangeArrowheads="1"/>
          </p:cNvSpPr>
          <p:nvPr/>
        </p:nvSpPr>
        <p:spPr bwMode="auto">
          <a:xfrm>
            <a:off x="295906" y="2098750"/>
            <a:ext cx="4690040" cy="1000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ct val="130000"/>
              </a:lnSpc>
              <a:buFont typeface="Wingdings" pitchFamily="2" charset="2"/>
              <a:buNone/>
            </a:pPr>
            <a:r>
              <a:rPr lang="en-US" altLang="zh-CN" sz="2400" b="1" dirty="0">
                <a:solidFill>
                  <a:schemeClr val="tx1"/>
                </a:solidFill>
              </a:rPr>
              <a:t>       </a:t>
            </a:r>
            <a:r>
              <a:rPr lang="zh-CN" altLang="en-US" sz="2400" b="1" dirty="0">
                <a:solidFill>
                  <a:schemeClr val="tx1"/>
                </a:solidFill>
              </a:rPr>
              <a:t>若线圈相对磁场运动为速度</a:t>
            </a:r>
            <a:r>
              <a:rPr lang="en-US" altLang="zh-CN" sz="2400" i="1" dirty="0">
                <a:solidFill>
                  <a:schemeClr val="tx1"/>
                </a:solidFill>
                <a:latin typeface="Times New Roman" pitchFamily="18" charset="0"/>
              </a:rPr>
              <a:t>v</a:t>
            </a:r>
            <a:r>
              <a:rPr lang="zh-CN" altLang="en-US" sz="2400" b="1" dirty="0">
                <a:solidFill>
                  <a:schemeClr val="tx1"/>
                </a:solidFill>
              </a:rPr>
              <a:t>或角速度</a:t>
            </a:r>
            <a:r>
              <a:rPr lang="en-US" altLang="zh-CN" sz="2400" i="1" dirty="0">
                <a:solidFill>
                  <a:schemeClr val="tx1"/>
                </a:solidFill>
                <a:latin typeface="Times New Roman" pitchFamily="18" charset="0"/>
              </a:rPr>
              <a:t>ω</a:t>
            </a:r>
            <a:r>
              <a:rPr lang="zh-CN" altLang="en-US" sz="2400" b="1" dirty="0">
                <a:solidFill>
                  <a:schemeClr val="tx1"/>
                </a:solidFill>
              </a:rPr>
              <a:t>时，上式可改写为                </a:t>
            </a:r>
          </a:p>
        </p:txBody>
      </p:sp>
      <p:sp>
        <p:nvSpPr>
          <p:cNvPr id="26" name="Text Box 20"/>
          <p:cNvSpPr txBox="1">
            <a:spLocks noChangeArrowheads="1"/>
          </p:cNvSpPr>
          <p:nvPr/>
        </p:nvSpPr>
        <p:spPr bwMode="auto">
          <a:xfrm>
            <a:off x="295906" y="4612224"/>
            <a:ext cx="4800863" cy="1481111"/>
          </a:xfrm>
          <a:prstGeom prst="rect">
            <a:avLst/>
          </a:prstGeom>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ct val="130000"/>
              </a:lnSpc>
              <a:buFont typeface="Wingdings" pitchFamily="2" charset="2"/>
              <a:buNone/>
            </a:pPr>
            <a:r>
              <a:rPr lang="en-US" altLang="zh-CN" sz="2400" i="1">
                <a:solidFill>
                  <a:schemeClr val="tx1"/>
                </a:solidFill>
                <a:latin typeface="Times New Roman" pitchFamily="18" charset="0"/>
              </a:rPr>
              <a:t>l</a:t>
            </a:r>
            <a:r>
              <a:rPr lang="en-US" altLang="zh-CN" sz="2400" b="1" i="1">
                <a:solidFill>
                  <a:schemeClr val="tx1"/>
                </a:solidFill>
                <a:latin typeface="Times New Roman" pitchFamily="18" charset="0"/>
              </a:rPr>
              <a:t>  </a:t>
            </a:r>
            <a:r>
              <a:rPr lang="en-US" altLang="zh-CN" sz="2400" b="1">
                <a:solidFill>
                  <a:schemeClr val="tx1"/>
                </a:solidFill>
              </a:rPr>
              <a:t>— </a:t>
            </a:r>
            <a:r>
              <a:rPr lang="zh-CN" altLang="en-US" sz="2400" b="1">
                <a:solidFill>
                  <a:schemeClr val="tx1"/>
                </a:solidFill>
              </a:rPr>
              <a:t>每</a:t>
            </a:r>
            <a:r>
              <a:rPr lang="zh-CN" altLang="en-US" sz="2400" b="1" dirty="0">
                <a:solidFill>
                  <a:schemeClr val="tx1"/>
                </a:solidFill>
              </a:rPr>
              <a:t>匝线圈的平均长度；</a:t>
            </a:r>
          </a:p>
          <a:p>
            <a:pPr eaLnBrk="1" hangingPunct="1">
              <a:lnSpc>
                <a:spcPct val="130000"/>
              </a:lnSpc>
              <a:buFont typeface="Wingdings" pitchFamily="2" charset="2"/>
              <a:buNone/>
            </a:pPr>
            <a:r>
              <a:rPr lang="en-US" altLang="zh-CN" sz="2400" i="1" dirty="0">
                <a:solidFill>
                  <a:schemeClr val="tx1"/>
                </a:solidFill>
                <a:latin typeface="Times New Roman" pitchFamily="18" charset="0"/>
              </a:rPr>
              <a:t>B </a:t>
            </a:r>
            <a:r>
              <a:rPr lang="en-US" altLang="zh-CN" sz="2400" b="1" dirty="0">
                <a:solidFill>
                  <a:schemeClr val="tx1"/>
                </a:solidFill>
              </a:rPr>
              <a:t>— </a:t>
            </a:r>
            <a:r>
              <a:rPr lang="zh-CN" altLang="en-US" sz="2400" b="1" dirty="0">
                <a:solidFill>
                  <a:schemeClr val="tx1"/>
                </a:solidFill>
              </a:rPr>
              <a:t>线圈所在磁场的磁感应强度；</a:t>
            </a:r>
          </a:p>
          <a:p>
            <a:pPr eaLnBrk="1" hangingPunct="1">
              <a:lnSpc>
                <a:spcPct val="130000"/>
              </a:lnSpc>
              <a:buFont typeface="Wingdings" pitchFamily="2" charset="2"/>
              <a:buNone/>
            </a:pPr>
            <a:r>
              <a:rPr lang="en-US" altLang="zh-CN" sz="2400" i="1" dirty="0">
                <a:solidFill>
                  <a:schemeClr val="tx1"/>
                </a:solidFill>
                <a:latin typeface="Times New Roman" pitchFamily="18" charset="0"/>
              </a:rPr>
              <a:t>S </a:t>
            </a:r>
            <a:r>
              <a:rPr lang="en-US" altLang="zh-CN" sz="2400" b="1" dirty="0">
                <a:solidFill>
                  <a:schemeClr val="tx1"/>
                </a:solidFill>
              </a:rPr>
              <a:t>— </a:t>
            </a:r>
            <a:r>
              <a:rPr lang="zh-CN" altLang="en-US" sz="2400" b="1" dirty="0">
                <a:solidFill>
                  <a:schemeClr val="tx1"/>
                </a:solidFill>
              </a:rPr>
              <a:t>每匝线圈的平均截面积。</a:t>
            </a:r>
          </a:p>
        </p:txBody>
      </p:sp>
      <p:graphicFrame>
        <p:nvGraphicFramePr>
          <p:cNvPr id="27" name="Object 21"/>
          <p:cNvGraphicFramePr>
            <a:graphicFrameLocks noChangeAspect="1"/>
          </p:cNvGraphicFramePr>
          <p:nvPr>
            <p:extLst>
              <p:ext uri="{D42A27DB-BD31-4B8C-83A1-F6EECF244321}">
                <p14:modId xmlns:p14="http://schemas.microsoft.com/office/powerpoint/2010/main" val="1540383063"/>
              </p:ext>
            </p:extLst>
          </p:nvPr>
        </p:nvGraphicFramePr>
        <p:xfrm>
          <a:off x="1304360" y="3146602"/>
          <a:ext cx="2282145" cy="556519"/>
        </p:xfrm>
        <a:graphic>
          <a:graphicData uri="http://schemas.openxmlformats.org/presentationml/2006/ole">
            <mc:AlternateContent xmlns:mc="http://schemas.openxmlformats.org/markup-compatibility/2006">
              <mc:Choice xmlns:v="urn:schemas-microsoft-com:vml" Requires="v">
                <p:oleObj name="Equation" r:id="rId3" imgW="939600" imgH="177480" progId="Equation.DSMT4">
                  <p:embed/>
                </p:oleObj>
              </mc:Choice>
              <mc:Fallback>
                <p:oleObj name="Equation" r:id="rId3" imgW="939600" imgH="177480" progId="Equation.DSMT4">
                  <p:embed/>
                  <p:pic>
                    <p:nvPicPr>
                      <p:cNvPr id="0" name=""/>
                      <p:cNvPicPr>
                        <a:picLocks noChangeAspect="1" noChangeArrowheads="1"/>
                      </p:cNvPicPr>
                      <p:nvPr/>
                    </p:nvPicPr>
                    <p:blipFill>
                      <a:blip r:embed="rId4"/>
                      <a:srcRect/>
                      <a:stretch>
                        <a:fillRect/>
                      </a:stretch>
                    </p:blipFill>
                    <p:spPr bwMode="auto">
                      <a:xfrm>
                        <a:off x="1304360" y="3146602"/>
                        <a:ext cx="2282145" cy="556519"/>
                      </a:xfrm>
                      <a:prstGeom prst="rect">
                        <a:avLst/>
                      </a:prstGeom>
                      <a:noFill/>
                      <a:ln>
                        <a:noFill/>
                      </a:ln>
                      <a:effectLst/>
                    </p:spPr>
                  </p:pic>
                </p:oleObj>
              </mc:Fallback>
            </mc:AlternateContent>
          </a:graphicData>
        </a:graphic>
      </p:graphicFrame>
      <p:graphicFrame>
        <p:nvGraphicFramePr>
          <p:cNvPr id="28" name="Object 22"/>
          <p:cNvGraphicFramePr>
            <a:graphicFrameLocks noChangeAspect="1"/>
          </p:cNvGraphicFramePr>
          <p:nvPr>
            <p:extLst>
              <p:ext uri="{D42A27DB-BD31-4B8C-83A1-F6EECF244321}">
                <p14:modId xmlns:p14="http://schemas.microsoft.com/office/powerpoint/2010/main" val="651672686"/>
              </p:ext>
            </p:extLst>
          </p:nvPr>
        </p:nvGraphicFramePr>
        <p:xfrm>
          <a:off x="1304360" y="3888068"/>
          <a:ext cx="2520950" cy="576247"/>
        </p:xfrm>
        <a:graphic>
          <a:graphicData uri="http://schemas.openxmlformats.org/presentationml/2006/ole">
            <mc:AlternateContent xmlns:mc="http://schemas.openxmlformats.org/markup-compatibility/2006">
              <mc:Choice xmlns:v="urn:schemas-microsoft-com:vml" Requires="v">
                <p:oleObj name="Equation" r:id="rId5" imgW="1015920" imgH="177480" progId="Equation.DSMT4">
                  <p:embed/>
                </p:oleObj>
              </mc:Choice>
              <mc:Fallback>
                <p:oleObj name="Equation" r:id="rId5" imgW="1015920" imgH="177480" progId="Equation.DSMT4">
                  <p:embed/>
                  <p:pic>
                    <p:nvPicPr>
                      <p:cNvPr id="0" name=""/>
                      <p:cNvPicPr>
                        <a:picLocks noChangeAspect="1" noChangeArrowheads="1"/>
                      </p:cNvPicPr>
                      <p:nvPr/>
                    </p:nvPicPr>
                    <p:blipFill>
                      <a:blip r:embed="rId6"/>
                      <a:srcRect/>
                      <a:stretch>
                        <a:fillRect/>
                      </a:stretch>
                    </p:blipFill>
                    <p:spPr bwMode="auto">
                      <a:xfrm>
                        <a:off x="1304360" y="3888068"/>
                        <a:ext cx="2520950" cy="576247"/>
                      </a:xfrm>
                      <a:prstGeom prst="rect">
                        <a:avLst/>
                      </a:prstGeom>
                      <a:noFill/>
                      <a:ln>
                        <a:noFill/>
                      </a:ln>
                      <a:effectLst/>
                    </p:spPr>
                  </p:pic>
                </p:oleObj>
              </mc:Fallback>
            </mc:AlternateContent>
          </a:graphicData>
        </a:graphic>
      </p:graphicFrame>
      <p:sp>
        <p:nvSpPr>
          <p:cNvPr id="36" name="Text Box 23"/>
          <p:cNvSpPr txBox="1">
            <a:spLocks noChangeArrowheads="1"/>
          </p:cNvSpPr>
          <p:nvPr/>
        </p:nvSpPr>
        <p:spPr bwMode="auto">
          <a:xfrm>
            <a:off x="322041" y="3539119"/>
            <a:ext cx="647700" cy="546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ct val="140000"/>
              </a:lnSpc>
              <a:buFont typeface="Wingdings" pitchFamily="2" charset="2"/>
              <a:buNone/>
            </a:pPr>
            <a:r>
              <a:rPr lang="zh-CN" altLang="en-US" sz="2400" b="1" dirty="0">
                <a:solidFill>
                  <a:schemeClr val="tx1"/>
                </a:solidFill>
              </a:rPr>
              <a:t>或                </a:t>
            </a:r>
          </a:p>
        </p:txBody>
      </p:sp>
      <p:graphicFrame>
        <p:nvGraphicFramePr>
          <p:cNvPr id="30" name="Object 35">
            <a:extLst>
              <a:ext uri="{FF2B5EF4-FFF2-40B4-BE49-F238E27FC236}">
                <a16:creationId xmlns:a16="http://schemas.microsoft.com/office/drawing/2014/main" id="{2B1C787B-AB1E-4846-9442-F36DBF4C6F35}"/>
              </a:ext>
            </a:extLst>
          </p:cNvPr>
          <p:cNvGraphicFramePr>
            <a:graphicFrameLocks noChangeAspect="1"/>
          </p:cNvGraphicFramePr>
          <p:nvPr>
            <p:extLst>
              <p:ext uri="{D42A27DB-BD31-4B8C-83A1-F6EECF244321}">
                <p14:modId xmlns:p14="http://schemas.microsoft.com/office/powerpoint/2010/main" val="71594139"/>
              </p:ext>
            </p:extLst>
          </p:nvPr>
        </p:nvGraphicFramePr>
        <p:xfrm>
          <a:off x="912625" y="1046940"/>
          <a:ext cx="2808287" cy="1157288"/>
        </p:xfrm>
        <a:graphic>
          <a:graphicData uri="http://schemas.openxmlformats.org/presentationml/2006/ole">
            <mc:AlternateContent xmlns:mc="http://schemas.openxmlformats.org/markup-compatibility/2006">
              <mc:Choice xmlns:v="urn:schemas-microsoft-com:vml" Requires="v">
                <p:oleObj name="Flash 影片" r:id="rId7" imgW="1223640" imgH="504360" progId="Flash.Movie">
                  <p:embed/>
                </p:oleObj>
              </mc:Choice>
              <mc:Fallback>
                <p:oleObj name="Flash 影片" r:id="rId7" imgW="1223640" imgH="504360" progId="Flash.Movie">
                  <p:embed/>
                  <p:pic>
                    <p:nvPicPr>
                      <p:cNvPr id="35"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625" y="1046940"/>
                        <a:ext cx="2808287" cy="1157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 name="TextBox 31">
            <a:extLst>
              <a:ext uri="{FF2B5EF4-FFF2-40B4-BE49-F238E27FC236}">
                <a16:creationId xmlns:a16="http://schemas.microsoft.com/office/drawing/2014/main" id="{27A7A85D-F6A0-4D94-971B-DDD12AB0B781}"/>
              </a:ext>
            </a:extLst>
          </p:cNvPr>
          <p:cNvSpPr txBox="1"/>
          <p:nvPr/>
        </p:nvSpPr>
        <p:spPr>
          <a:xfrm>
            <a:off x="5195623" y="1251304"/>
            <a:ext cx="3652471" cy="48420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i="1">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r>
              <a:rPr lang="en-001" b="1" i="0"/>
              <a:t>在传感器中，当结构参数确定后，即B、</a:t>
            </a:r>
            <a:r>
              <a:rPr lang="en-US" b="1" i="0"/>
              <a:t>l</a:t>
            </a:r>
            <a:r>
              <a:rPr lang="en-001" b="1" i="0"/>
              <a:t>、W、S均为定值，那么感应电动势与线圈相对磁场的运动速度（v 或 w) 成正比。</a:t>
            </a:r>
          </a:p>
          <a:p>
            <a:endParaRPr lang="en-001" b="1" i="0"/>
          </a:p>
          <a:p>
            <a:r>
              <a:rPr lang="en-001" b="1" i="0"/>
              <a:t>根据上述原理，可以设计两种类型的结构：</a:t>
            </a:r>
          </a:p>
          <a:p>
            <a:pPr marL="342900" indent="-342900">
              <a:buFont typeface="Arial" panose="020B0604020202020204" pitchFamily="34" charset="0"/>
              <a:buChar char="•"/>
            </a:pPr>
            <a:r>
              <a:rPr lang="en-001" b="1" i="0">
                <a:solidFill>
                  <a:srgbClr val="C00000"/>
                </a:solidFill>
              </a:rPr>
              <a:t>变磁通式</a:t>
            </a:r>
          </a:p>
          <a:p>
            <a:pPr marL="342900" indent="-342900">
              <a:buFont typeface="Arial" panose="020B0604020202020204" pitchFamily="34" charset="0"/>
              <a:buChar char="•"/>
            </a:pPr>
            <a:r>
              <a:rPr lang="en-001" b="1" i="0">
                <a:solidFill>
                  <a:srgbClr val="C00000"/>
                </a:solidFill>
              </a:rPr>
              <a:t>恒定磁通式</a:t>
            </a:r>
          </a:p>
        </p:txBody>
      </p:sp>
      <p:sp>
        <p:nvSpPr>
          <p:cNvPr id="4" name="Slide Number Placeholder 3">
            <a:extLst>
              <a:ext uri="{FF2B5EF4-FFF2-40B4-BE49-F238E27FC236}">
                <a16:creationId xmlns:a16="http://schemas.microsoft.com/office/drawing/2014/main" id="{1EE37EB2-970F-4E08-8855-4C2F5514CD53}"/>
              </a:ext>
            </a:extLst>
          </p:cNvPr>
          <p:cNvSpPr>
            <a:spLocks noGrp="1"/>
          </p:cNvSpPr>
          <p:nvPr>
            <p:ph type="sldNum" sz="quarter" idx="12"/>
          </p:nvPr>
        </p:nvSpPr>
        <p:spPr/>
        <p:txBody>
          <a:bodyPr/>
          <a:lstStyle/>
          <a:p>
            <a:fld id="{B53602B4-F12B-41CD-B648-531F86B2CC91}" type="slidenum">
              <a:rPr lang="zh-CN" altLang="en-US" smtClean="0"/>
              <a:t>5</a:t>
            </a:fld>
            <a:endParaRPr lang="zh-CN" altLang="en-US"/>
          </a:p>
        </p:txBody>
      </p:sp>
    </p:spTree>
    <p:extLst>
      <p:ext uri="{BB962C8B-B14F-4D97-AF65-F5344CB8AC3E}">
        <p14:creationId xmlns:p14="http://schemas.microsoft.com/office/powerpoint/2010/main" val="34251616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
            <a:extLst>
              <a:ext uri="{FF2B5EF4-FFF2-40B4-BE49-F238E27FC236}">
                <a16:creationId xmlns:a16="http://schemas.microsoft.com/office/drawing/2014/main" id="{63C2F14E-2B96-4820-BE53-27B5A06C974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197811" y="840528"/>
            <a:ext cx="3726072" cy="3105060"/>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工作原理和结构类型</a:t>
            </a:r>
          </a:p>
        </p:txBody>
      </p:sp>
      <p:sp>
        <p:nvSpPr>
          <p:cNvPr id="20" name="Text Box 75">
            <a:extLst>
              <a:ext uri="{FF2B5EF4-FFF2-40B4-BE49-F238E27FC236}">
                <a16:creationId xmlns:a16="http://schemas.microsoft.com/office/drawing/2014/main" id="{C5AD2013-0A1D-4942-BE4F-1A052AF47AE8}"/>
              </a:ext>
            </a:extLst>
          </p:cNvPr>
          <p:cNvSpPr txBox="1">
            <a:spLocks noChangeArrowheads="1"/>
          </p:cNvSpPr>
          <p:nvPr/>
        </p:nvSpPr>
        <p:spPr bwMode="auto">
          <a:xfrm>
            <a:off x="5069840" y="5473438"/>
            <a:ext cx="3982015"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charset="-122"/>
              </a:rPr>
              <a:t>图</a:t>
            </a:r>
            <a:r>
              <a:rPr kumimoji="0" lang="en-US" altLang="zh-CN" b="1" dirty="0">
                <a:solidFill>
                  <a:srgbClr val="3333CC"/>
                </a:solidFill>
                <a:latin typeface="宋体" charset="-122"/>
              </a:rPr>
              <a:t>5-1 </a:t>
            </a:r>
            <a:r>
              <a:rPr kumimoji="0" lang="zh-CN" altLang="en-US" b="1" dirty="0">
                <a:solidFill>
                  <a:srgbClr val="3333CC"/>
                </a:solidFill>
                <a:latin typeface="宋体" charset="-122"/>
              </a:rPr>
              <a:t>变磁通式磁电感应式传感器的结构原理图</a:t>
            </a:r>
          </a:p>
        </p:txBody>
      </p:sp>
      <p:pic>
        <p:nvPicPr>
          <p:cNvPr id="22" name="Picture 9">
            <a:extLst>
              <a:ext uri="{FF2B5EF4-FFF2-40B4-BE49-F238E27FC236}">
                <a16:creationId xmlns:a16="http://schemas.microsoft.com/office/drawing/2014/main" id="{4FBAB512-3A79-4902-9B30-1DEC5D909EA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644" r="47709" b="39313"/>
          <a:stretch/>
        </p:blipFill>
        <p:spPr bwMode="auto">
          <a:xfrm>
            <a:off x="5417929" y="2977772"/>
            <a:ext cx="3726071" cy="188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a:extLst>
              <a:ext uri="{FF2B5EF4-FFF2-40B4-BE49-F238E27FC236}">
                <a16:creationId xmlns:a16="http://schemas.microsoft.com/office/drawing/2014/main" id="{14EFED76-204E-4088-BB21-AE41987CA008}"/>
              </a:ext>
            </a:extLst>
          </p:cNvPr>
          <p:cNvSpPr txBox="1"/>
          <p:nvPr/>
        </p:nvSpPr>
        <p:spPr>
          <a:xfrm>
            <a:off x="177800" y="1316016"/>
            <a:ext cx="5082069" cy="53122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zh-CN" altLang="en-US" sz="2000">
                <a:solidFill>
                  <a:srgbClr val="C00000"/>
                </a:solidFill>
              </a:rPr>
              <a:t>变磁通式结构</a:t>
            </a:r>
            <a:endParaRPr lang="en-US" altLang="zh-CN" sz="2000">
              <a:solidFill>
                <a:srgbClr val="C00000"/>
              </a:solidFill>
            </a:endParaRPr>
          </a:p>
          <a:p>
            <a:pPr>
              <a:spcAft>
                <a:spcPts val="600"/>
              </a:spcAft>
            </a:pPr>
            <a:r>
              <a:rPr lang="zh-CN" altLang="en-US" sz="2000"/>
              <a:t>（也称为</a:t>
            </a:r>
            <a:r>
              <a:rPr lang="zh-CN" altLang="en-US" sz="2000">
                <a:solidFill>
                  <a:srgbClr val="C00000"/>
                </a:solidFill>
              </a:rPr>
              <a:t>变磁阻式</a:t>
            </a:r>
            <a:r>
              <a:rPr lang="zh-CN" altLang="en-US" sz="2000"/>
              <a:t>或变气隙式）</a:t>
            </a:r>
            <a:endParaRPr lang="en-US" altLang="zh-CN" sz="2000"/>
          </a:p>
          <a:p>
            <a:pPr>
              <a:spcAft>
                <a:spcPts val="600"/>
              </a:spcAft>
            </a:pPr>
            <a:r>
              <a:rPr lang="zh-CN" altLang="en-US" sz="2000"/>
              <a:t>常用于旋转角速度的测量</a:t>
            </a:r>
            <a:endParaRPr lang="en-US" altLang="zh-CN" sz="2000"/>
          </a:p>
          <a:p>
            <a:pPr>
              <a:spcAft>
                <a:spcPts val="600"/>
              </a:spcAft>
            </a:pPr>
            <a:r>
              <a:rPr lang="en-US" altLang="zh-CN" sz="2000">
                <a:solidFill>
                  <a:srgbClr val="00B0F0"/>
                </a:solidFill>
              </a:rPr>
              <a:t>(a)</a:t>
            </a:r>
            <a:r>
              <a:rPr lang="zh-CN" altLang="en-US" sz="2000">
                <a:solidFill>
                  <a:srgbClr val="00B0F0"/>
                </a:solidFill>
              </a:rPr>
              <a:t>：开磁路变磁通式</a:t>
            </a:r>
            <a:endParaRPr lang="en-US" altLang="zh-CN" sz="2000">
              <a:solidFill>
                <a:srgbClr val="00B0F0"/>
              </a:solidFill>
            </a:endParaRPr>
          </a:p>
          <a:p>
            <a:pPr marL="342900" indent="-342900">
              <a:spcAft>
                <a:spcPts val="600"/>
              </a:spcAft>
              <a:buFont typeface="Arial" panose="020B0604020202020204" pitchFamily="34" charset="0"/>
              <a:buChar char="•"/>
            </a:pPr>
            <a:r>
              <a:rPr lang="zh-CN" altLang="en-US" sz="2000"/>
              <a:t>线圈</a:t>
            </a:r>
            <a:r>
              <a:rPr lang="en-US" altLang="zh-CN" sz="2000"/>
              <a:t>3</a:t>
            </a:r>
            <a:r>
              <a:rPr lang="zh-CN" altLang="en-US" sz="2000"/>
              <a:t>和永久磁铁</a:t>
            </a:r>
            <a:r>
              <a:rPr lang="en-US" altLang="zh-CN" sz="2000"/>
              <a:t>5</a:t>
            </a:r>
            <a:r>
              <a:rPr lang="zh-CN" altLang="en-US" sz="2000"/>
              <a:t>静止不动，测量齿轮</a:t>
            </a:r>
            <a:r>
              <a:rPr lang="en-US" altLang="zh-CN" sz="2000"/>
              <a:t>2</a:t>
            </a:r>
            <a:r>
              <a:rPr lang="zh-CN" altLang="en-US" sz="2000"/>
              <a:t>（导磁材料制成）安装在被测转轴</a:t>
            </a:r>
            <a:r>
              <a:rPr lang="en-US" altLang="zh-CN" sz="2000"/>
              <a:t>1</a:t>
            </a:r>
            <a:r>
              <a:rPr lang="zh-CN" altLang="en-US" sz="2000"/>
              <a:t>上，随之一起转动；每转过一个齿，传感器磁路磁阻变化一次，磁通也就变化一次；</a:t>
            </a:r>
            <a:endParaRPr lang="en-US" altLang="zh-CN" sz="2000"/>
          </a:p>
          <a:p>
            <a:pPr marL="342900" indent="-342900">
              <a:spcAft>
                <a:spcPts val="600"/>
              </a:spcAft>
              <a:buFont typeface="Arial" panose="020B0604020202020204" pitchFamily="34" charset="0"/>
              <a:buChar char="•"/>
            </a:pPr>
            <a:r>
              <a:rPr lang="zh-CN" altLang="en-US" sz="2000"/>
              <a:t>线圈</a:t>
            </a:r>
            <a:r>
              <a:rPr lang="en-US" altLang="zh-CN" sz="2000"/>
              <a:t>3</a:t>
            </a:r>
            <a:r>
              <a:rPr lang="zh-CN" altLang="en-US" sz="2000"/>
              <a:t>中产生的感应电动势的变化频率等于铁心</a:t>
            </a:r>
            <a:r>
              <a:rPr lang="en-US" altLang="zh-CN" sz="2000"/>
              <a:t>2</a:t>
            </a:r>
            <a:r>
              <a:rPr lang="zh-CN" altLang="en-US" sz="2000"/>
              <a:t>上齿轮的齿数和转速的乘积。</a:t>
            </a:r>
          </a:p>
          <a:p>
            <a:pPr marL="342900" indent="-342900">
              <a:spcAft>
                <a:spcPts val="600"/>
              </a:spcAft>
              <a:buFont typeface="Arial" panose="020B0604020202020204" pitchFamily="34" charset="0"/>
              <a:buChar char="•"/>
            </a:pPr>
            <a:r>
              <a:rPr lang="zh-CN" altLang="en-US" sz="2000"/>
              <a:t>结构简单，但输出信号较小，且因高速轴上加装齿轮较危险而不宜测高转速。</a:t>
            </a:r>
            <a:endParaRPr lang="en-001" sz="2000"/>
          </a:p>
        </p:txBody>
      </p:sp>
      <p:pic>
        <p:nvPicPr>
          <p:cNvPr id="5" name="Picture 4">
            <a:extLst>
              <a:ext uri="{FF2B5EF4-FFF2-40B4-BE49-F238E27FC236}">
                <a16:creationId xmlns:a16="http://schemas.microsoft.com/office/drawing/2014/main" id="{DF62F9E4-8881-4674-8E8D-79C04339DE25}"/>
              </a:ext>
            </a:extLst>
          </p:cNvPr>
          <p:cNvPicPr>
            <a:picLocks noChangeAspect="1"/>
          </p:cNvPicPr>
          <p:nvPr/>
        </p:nvPicPr>
        <p:blipFill>
          <a:blip r:embed="rId5"/>
          <a:stretch>
            <a:fillRect/>
          </a:stretch>
        </p:blipFill>
        <p:spPr>
          <a:xfrm>
            <a:off x="5926036" y="4820641"/>
            <a:ext cx="2848664" cy="348961"/>
          </a:xfrm>
          <a:prstGeom prst="rect">
            <a:avLst/>
          </a:prstGeom>
        </p:spPr>
      </p:pic>
      <p:pic>
        <p:nvPicPr>
          <p:cNvPr id="6" name="Picture 5">
            <a:extLst>
              <a:ext uri="{FF2B5EF4-FFF2-40B4-BE49-F238E27FC236}">
                <a16:creationId xmlns:a16="http://schemas.microsoft.com/office/drawing/2014/main" id="{5A2AFC40-26A6-4176-89C7-FD5167B97675}"/>
              </a:ext>
            </a:extLst>
          </p:cNvPr>
          <p:cNvPicPr>
            <a:picLocks noChangeAspect="1"/>
          </p:cNvPicPr>
          <p:nvPr/>
        </p:nvPicPr>
        <p:blipFill>
          <a:blip r:embed="rId6"/>
          <a:stretch>
            <a:fillRect/>
          </a:stretch>
        </p:blipFill>
        <p:spPr>
          <a:xfrm>
            <a:off x="5926036" y="5165883"/>
            <a:ext cx="2029672" cy="348961"/>
          </a:xfrm>
          <a:prstGeom prst="rect">
            <a:avLst/>
          </a:prstGeom>
        </p:spPr>
      </p:pic>
      <p:sp>
        <p:nvSpPr>
          <p:cNvPr id="7" name="Slide Number Placeholder 6">
            <a:extLst>
              <a:ext uri="{FF2B5EF4-FFF2-40B4-BE49-F238E27FC236}">
                <a16:creationId xmlns:a16="http://schemas.microsoft.com/office/drawing/2014/main" id="{9A5B9D73-B927-4DA7-B3C9-E29B8902522B}"/>
              </a:ext>
            </a:extLst>
          </p:cNvPr>
          <p:cNvSpPr>
            <a:spLocks noGrp="1"/>
          </p:cNvSpPr>
          <p:nvPr>
            <p:ph type="sldNum" sz="quarter" idx="12"/>
          </p:nvPr>
        </p:nvSpPr>
        <p:spPr/>
        <p:txBody>
          <a:bodyPr/>
          <a:lstStyle/>
          <a:p>
            <a:fld id="{B53602B4-F12B-41CD-B648-531F86B2CC91}" type="slidenum">
              <a:rPr lang="zh-CN" altLang="en-US" smtClean="0"/>
              <a:t>6</a:t>
            </a:fld>
            <a:endParaRPr lang="zh-CN" altLang="en-US"/>
          </a:p>
        </p:txBody>
      </p:sp>
    </p:spTree>
    <p:extLst>
      <p:ext uri="{BB962C8B-B14F-4D97-AF65-F5344CB8AC3E}">
        <p14:creationId xmlns:p14="http://schemas.microsoft.com/office/powerpoint/2010/main" val="39701522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工作原理和结构类型</a:t>
            </a:r>
          </a:p>
        </p:txBody>
      </p:sp>
      <p:pic>
        <p:nvPicPr>
          <p:cNvPr id="22" name="Picture 9">
            <a:extLst>
              <a:ext uri="{FF2B5EF4-FFF2-40B4-BE49-F238E27FC236}">
                <a16:creationId xmlns:a16="http://schemas.microsoft.com/office/drawing/2014/main" id="{4FBAB512-3A79-4902-9B30-1DEC5D909E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260" b="15138"/>
          <a:stretch/>
        </p:blipFill>
        <p:spPr bwMode="auto">
          <a:xfrm>
            <a:off x="5863700" y="1531675"/>
            <a:ext cx="2977502" cy="292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TextBox 24">
            <a:extLst>
              <a:ext uri="{FF2B5EF4-FFF2-40B4-BE49-F238E27FC236}">
                <a16:creationId xmlns:a16="http://schemas.microsoft.com/office/drawing/2014/main" id="{36ECE46A-ACA9-4649-ADBA-9331B13EE6CB}"/>
              </a:ext>
            </a:extLst>
          </p:cNvPr>
          <p:cNvSpPr txBox="1"/>
          <p:nvPr/>
        </p:nvSpPr>
        <p:spPr>
          <a:xfrm>
            <a:off x="134283" y="1873873"/>
            <a:ext cx="5211879" cy="460440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en-001" sz="2000">
                <a:solidFill>
                  <a:srgbClr val="00B0F0"/>
                </a:solidFill>
              </a:rPr>
              <a:t>(b)：两极式闭磁路变磁通式</a:t>
            </a:r>
          </a:p>
          <a:p>
            <a:pPr marL="342900" indent="-342900">
              <a:spcAft>
                <a:spcPts val="600"/>
              </a:spcAft>
              <a:buFont typeface="Arial" panose="020B0604020202020204" pitchFamily="34" charset="0"/>
              <a:buChar char="•"/>
            </a:pPr>
            <a:r>
              <a:rPr lang="en-001" sz="2000"/>
              <a:t>被测转轴1带动椭圆形铁心2在磁场气隙中等速转动，使气隙平均长度周期性变化，因而磁路磁阻也周期性地变化，致使磁通同样地周期性变化，在线圈3中产生频率与铁心2转速成正比的感应电动势。</a:t>
            </a:r>
          </a:p>
          <a:p>
            <a:pPr marL="342900" indent="-342900">
              <a:spcAft>
                <a:spcPts val="600"/>
              </a:spcAft>
              <a:buFont typeface="Arial" panose="020B0604020202020204" pitchFamily="34" charset="0"/>
              <a:buChar char="•"/>
            </a:pPr>
            <a:r>
              <a:rPr lang="en-001" sz="2000"/>
              <a:t>也可以用齿轮代表椭圆形铁心2，软铁（极掌）4制成内齿轮形式，两齿轮的齿数相等，当被测物体转动时，两齿轮相对运动，磁路的磁阻发生变化，因而在线圈3中产生频率与转速成正比的感应电动势。</a:t>
            </a:r>
          </a:p>
        </p:txBody>
      </p:sp>
      <p:sp>
        <p:nvSpPr>
          <p:cNvPr id="2" name="Slide Number Placeholder 1">
            <a:extLst>
              <a:ext uri="{FF2B5EF4-FFF2-40B4-BE49-F238E27FC236}">
                <a16:creationId xmlns:a16="http://schemas.microsoft.com/office/drawing/2014/main" id="{0A1F7F6F-6DD5-4566-8391-1D56058DE682}"/>
              </a:ext>
            </a:extLst>
          </p:cNvPr>
          <p:cNvSpPr>
            <a:spLocks noGrp="1"/>
          </p:cNvSpPr>
          <p:nvPr>
            <p:ph type="sldNum" sz="quarter" idx="12"/>
          </p:nvPr>
        </p:nvSpPr>
        <p:spPr/>
        <p:txBody>
          <a:bodyPr/>
          <a:lstStyle/>
          <a:p>
            <a:fld id="{B53602B4-F12B-41CD-B648-531F86B2CC91}" type="slidenum">
              <a:rPr lang="zh-CN" altLang="en-US" smtClean="0"/>
              <a:t>7</a:t>
            </a:fld>
            <a:endParaRPr lang="zh-CN" altLang="en-US"/>
          </a:p>
        </p:txBody>
      </p:sp>
      <p:sp>
        <p:nvSpPr>
          <p:cNvPr id="13" name="Text Box 75">
            <a:extLst>
              <a:ext uri="{FF2B5EF4-FFF2-40B4-BE49-F238E27FC236}">
                <a16:creationId xmlns:a16="http://schemas.microsoft.com/office/drawing/2014/main" id="{8327C489-5F33-4A05-9E90-C6376ACB4311}"/>
              </a:ext>
            </a:extLst>
          </p:cNvPr>
          <p:cNvSpPr txBox="1">
            <a:spLocks noChangeArrowheads="1"/>
          </p:cNvSpPr>
          <p:nvPr/>
        </p:nvSpPr>
        <p:spPr bwMode="auto">
          <a:xfrm>
            <a:off x="5095908" y="5277820"/>
            <a:ext cx="3982015"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charset="-122"/>
              </a:rPr>
              <a:t>图</a:t>
            </a:r>
            <a:r>
              <a:rPr kumimoji="0" lang="en-US" altLang="zh-CN" b="1" dirty="0">
                <a:solidFill>
                  <a:srgbClr val="3333CC"/>
                </a:solidFill>
                <a:latin typeface="宋体" charset="-122"/>
              </a:rPr>
              <a:t>5-1 </a:t>
            </a:r>
            <a:r>
              <a:rPr kumimoji="0" lang="zh-CN" altLang="en-US" b="1" dirty="0">
                <a:solidFill>
                  <a:srgbClr val="3333CC"/>
                </a:solidFill>
                <a:latin typeface="宋体" charset="-122"/>
              </a:rPr>
              <a:t>变磁通式磁电感应式传感器的结构原理图</a:t>
            </a:r>
          </a:p>
        </p:txBody>
      </p:sp>
      <p:pic>
        <p:nvPicPr>
          <p:cNvPr id="14" name="Picture 13">
            <a:extLst>
              <a:ext uri="{FF2B5EF4-FFF2-40B4-BE49-F238E27FC236}">
                <a16:creationId xmlns:a16="http://schemas.microsoft.com/office/drawing/2014/main" id="{F3BA4656-5EA8-4942-8763-CDFAEE73A7E7}"/>
              </a:ext>
            </a:extLst>
          </p:cNvPr>
          <p:cNvPicPr>
            <a:picLocks noChangeAspect="1"/>
          </p:cNvPicPr>
          <p:nvPr/>
        </p:nvPicPr>
        <p:blipFill>
          <a:blip r:embed="rId4"/>
          <a:stretch>
            <a:fillRect/>
          </a:stretch>
        </p:blipFill>
        <p:spPr>
          <a:xfrm>
            <a:off x="5992538" y="4582646"/>
            <a:ext cx="2848664" cy="348961"/>
          </a:xfrm>
          <a:prstGeom prst="rect">
            <a:avLst/>
          </a:prstGeom>
        </p:spPr>
      </p:pic>
      <p:pic>
        <p:nvPicPr>
          <p:cNvPr id="15" name="Picture 14">
            <a:extLst>
              <a:ext uri="{FF2B5EF4-FFF2-40B4-BE49-F238E27FC236}">
                <a16:creationId xmlns:a16="http://schemas.microsoft.com/office/drawing/2014/main" id="{839FD3CB-75F1-405A-A3AF-413D1A9648CB}"/>
              </a:ext>
            </a:extLst>
          </p:cNvPr>
          <p:cNvPicPr>
            <a:picLocks noChangeAspect="1"/>
          </p:cNvPicPr>
          <p:nvPr/>
        </p:nvPicPr>
        <p:blipFill>
          <a:blip r:embed="rId5"/>
          <a:stretch>
            <a:fillRect/>
          </a:stretch>
        </p:blipFill>
        <p:spPr>
          <a:xfrm>
            <a:off x="5992538" y="4927888"/>
            <a:ext cx="2029672" cy="348961"/>
          </a:xfrm>
          <a:prstGeom prst="rect">
            <a:avLst/>
          </a:prstGeom>
        </p:spPr>
      </p:pic>
      <p:sp>
        <p:nvSpPr>
          <p:cNvPr id="17" name="TextBox 16">
            <a:extLst>
              <a:ext uri="{FF2B5EF4-FFF2-40B4-BE49-F238E27FC236}">
                <a16:creationId xmlns:a16="http://schemas.microsoft.com/office/drawing/2014/main" id="{281143B5-9DA9-4580-B4F6-4CE2DBF1EDBD}"/>
              </a:ext>
            </a:extLst>
          </p:cNvPr>
          <p:cNvSpPr txBox="1"/>
          <p:nvPr/>
        </p:nvSpPr>
        <p:spPr>
          <a:xfrm>
            <a:off x="177800" y="1316016"/>
            <a:ext cx="5082069" cy="4494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zh-CN" altLang="en-US" sz="2000">
                <a:solidFill>
                  <a:srgbClr val="C00000"/>
                </a:solidFill>
              </a:rPr>
              <a:t>变磁通式结构</a:t>
            </a:r>
            <a:endParaRPr lang="en-001" sz="2000">
              <a:solidFill>
                <a:srgbClr val="C00000"/>
              </a:solidFill>
            </a:endParaRPr>
          </a:p>
        </p:txBody>
      </p:sp>
    </p:spTree>
    <p:extLst>
      <p:ext uri="{BB962C8B-B14F-4D97-AF65-F5344CB8AC3E}">
        <p14:creationId xmlns:p14="http://schemas.microsoft.com/office/powerpoint/2010/main" val="294210578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工作原理和结构类型</a:t>
            </a:r>
          </a:p>
        </p:txBody>
      </p:sp>
      <p:sp>
        <p:nvSpPr>
          <p:cNvPr id="2" name="Slide Number Placeholder 1">
            <a:extLst>
              <a:ext uri="{FF2B5EF4-FFF2-40B4-BE49-F238E27FC236}">
                <a16:creationId xmlns:a16="http://schemas.microsoft.com/office/drawing/2014/main" id="{871C41E2-D5C7-47FE-BC64-88A9AF829D5C}"/>
              </a:ext>
            </a:extLst>
          </p:cNvPr>
          <p:cNvSpPr>
            <a:spLocks noGrp="1"/>
          </p:cNvSpPr>
          <p:nvPr>
            <p:ph type="sldNum" sz="quarter" idx="12"/>
          </p:nvPr>
        </p:nvSpPr>
        <p:spPr/>
        <p:txBody>
          <a:bodyPr/>
          <a:lstStyle/>
          <a:p>
            <a:fld id="{B53602B4-F12B-41CD-B648-531F86B2CC91}" type="slidenum">
              <a:rPr lang="zh-CN" altLang="en-US" smtClean="0"/>
              <a:t>8</a:t>
            </a:fld>
            <a:endParaRPr lang="zh-CN" altLang="en-US"/>
          </a:p>
        </p:txBody>
      </p:sp>
      <p:pic>
        <p:nvPicPr>
          <p:cNvPr id="29700" name="Picture 4">
            <a:extLst>
              <a:ext uri="{FF2B5EF4-FFF2-40B4-BE49-F238E27FC236}">
                <a16:creationId xmlns:a16="http://schemas.microsoft.com/office/drawing/2014/main" id="{FCE65AC9-C338-4B0E-8D07-26F8D7B5E2D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85083" y="2799347"/>
            <a:ext cx="3124897" cy="3124897"/>
          </a:xfrm>
          <a:prstGeom prst="rect">
            <a:avLst/>
          </a:prstGeom>
          <a:noFill/>
          <a:extLst>
            <a:ext uri="{909E8E84-426E-40DD-AFC4-6F175D3DCCD1}">
              <a14:hiddenFill xmlns:a14="http://schemas.microsoft.com/office/drawing/2010/main">
                <a:solidFill>
                  <a:srgbClr val="FFFFFF"/>
                </a:solidFill>
              </a14:hiddenFill>
            </a:ext>
          </a:extLst>
        </p:spPr>
      </p:pic>
      <p:pic>
        <p:nvPicPr>
          <p:cNvPr id="29702" name="Picture 6">
            <a:extLst>
              <a:ext uri="{FF2B5EF4-FFF2-40B4-BE49-F238E27FC236}">
                <a16:creationId xmlns:a16="http://schemas.microsoft.com/office/drawing/2014/main" id="{BA644CF8-D294-4B8B-9692-8BDB18F98FE8}"/>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309980" y="2911701"/>
            <a:ext cx="2900187" cy="290018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a:extLst>
              <a:ext uri="{FF2B5EF4-FFF2-40B4-BE49-F238E27FC236}">
                <a16:creationId xmlns:a16="http://schemas.microsoft.com/office/drawing/2014/main" id="{C4BF3475-14B4-497E-980B-4A2B9A3B1EDF}"/>
              </a:ext>
            </a:extLst>
          </p:cNvPr>
          <p:cNvPicPr>
            <a:picLocks noChangeAspect="1" noChangeArrowheads="1" noCrop="1"/>
          </p:cNvPicPr>
          <p:nvPr/>
        </p:nvPicPr>
        <p:blipFill>
          <a:blip r:embed="rId5">
            <a:clrChange>
              <a:clrFrom>
                <a:srgbClr val="DEE79C"/>
              </a:clrFrom>
              <a:clrTo>
                <a:srgbClr val="DEE79C">
                  <a:alpha val="0"/>
                </a:srgbClr>
              </a:clrTo>
            </a:clrChange>
            <a:extLst>
              <a:ext uri="{28A0092B-C50C-407E-A947-70E740481C1C}">
                <a14:useLocalDpi xmlns:a14="http://schemas.microsoft.com/office/drawing/2010/main" val="0"/>
              </a:ext>
            </a:extLst>
          </a:blip>
          <a:srcRect/>
          <a:stretch>
            <a:fillRect/>
          </a:stretch>
        </p:blipFill>
        <p:spPr bwMode="auto">
          <a:xfrm>
            <a:off x="6434877" y="2611967"/>
            <a:ext cx="2445239" cy="33122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4D1C137-79F4-4754-98C2-7F3FABBACA3A}"/>
              </a:ext>
            </a:extLst>
          </p:cNvPr>
          <p:cNvSpPr txBox="1"/>
          <p:nvPr/>
        </p:nvSpPr>
        <p:spPr>
          <a:xfrm>
            <a:off x="177800" y="1316016"/>
            <a:ext cx="5082069" cy="4494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zh-CN" altLang="en-US" sz="2000">
                <a:solidFill>
                  <a:srgbClr val="C00000"/>
                </a:solidFill>
              </a:rPr>
              <a:t>恒定磁通式结构</a:t>
            </a:r>
            <a:endParaRPr lang="en-001" sz="2000">
              <a:solidFill>
                <a:srgbClr val="C00000"/>
              </a:solidFill>
            </a:endParaRPr>
          </a:p>
        </p:txBody>
      </p:sp>
      <p:sp>
        <p:nvSpPr>
          <p:cNvPr id="19" name="TextBox 18">
            <a:extLst>
              <a:ext uri="{FF2B5EF4-FFF2-40B4-BE49-F238E27FC236}">
                <a16:creationId xmlns:a16="http://schemas.microsoft.com/office/drawing/2014/main" id="{B050BABF-BDAD-4196-877F-9639345C6E7B}"/>
              </a:ext>
            </a:extLst>
          </p:cNvPr>
          <p:cNvSpPr txBox="1"/>
          <p:nvPr/>
        </p:nvSpPr>
        <p:spPr>
          <a:xfrm>
            <a:off x="134283" y="1873873"/>
            <a:ext cx="2977407" cy="92647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marL="342900" indent="-342900">
              <a:spcAft>
                <a:spcPts val="600"/>
              </a:spcAft>
              <a:buFont typeface="Arial" panose="020B0604020202020204" pitchFamily="34" charset="0"/>
              <a:buChar char="•"/>
            </a:pPr>
            <a:r>
              <a:rPr lang="en-US" altLang="zh-CN" sz="2000">
                <a:solidFill>
                  <a:srgbClr val="00B0F0"/>
                </a:solidFill>
              </a:rPr>
              <a:t>(a) </a:t>
            </a:r>
            <a:r>
              <a:rPr lang="zh-CN" altLang="en-US" sz="2000">
                <a:solidFill>
                  <a:srgbClr val="00B0F0"/>
                </a:solidFill>
              </a:rPr>
              <a:t>动圈式</a:t>
            </a:r>
          </a:p>
          <a:p>
            <a:pPr marL="342900" indent="-342900">
              <a:spcAft>
                <a:spcPts val="600"/>
              </a:spcAft>
              <a:buFont typeface="Arial" panose="020B0604020202020204" pitchFamily="34" charset="0"/>
              <a:buChar char="•"/>
            </a:pPr>
            <a:r>
              <a:rPr lang="en-US" altLang="zh-CN" sz="2000">
                <a:solidFill>
                  <a:srgbClr val="00B0F0"/>
                </a:solidFill>
              </a:rPr>
              <a:t>(b) </a:t>
            </a:r>
            <a:r>
              <a:rPr lang="zh-CN" altLang="en-US" sz="2000">
                <a:solidFill>
                  <a:srgbClr val="00B0F0"/>
                </a:solidFill>
              </a:rPr>
              <a:t>动铁式</a:t>
            </a:r>
            <a:endParaRPr lang="en-001" sz="2000">
              <a:solidFill>
                <a:srgbClr val="00B0F0"/>
              </a:solidFill>
            </a:endParaRPr>
          </a:p>
        </p:txBody>
      </p:sp>
      <p:sp>
        <p:nvSpPr>
          <p:cNvPr id="12" name="TextBox 11">
            <a:extLst>
              <a:ext uri="{FF2B5EF4-FFF2-40B4-BE49-F238E27FC236}">
                <a16:creationId xmlns:a16="http://schemas.microsoft.com/office/drawing/2014/main" id="{498DD8D0-EA82-45E8-98C2-982173E205EA}"/>
              </a:ext>
            </a:extLst>
          </p:cNvPr>
          <p:cNvSpPr txBox="1"/>
          <p:nvPr/>
        </p:nvSpPr>
        <p:spPr>
          <a:xfrm>
            <a:off x="2718834" y="1336835"/>
            <a:ext cx="5374624" cy="1000274"/>
          </a:xfrm>
          <a:prstGeom prst="rect">
            <a:avLst/>
          </a:prstGeom>
          <a:noFill/>
        </p:spPr>
        <p:txBody>
          <a:bodyPr wrap="square">
            <a:spAutoFit/>
          </a:bodyPr>
          <a:lstStyle/>
          <a:p>
            <a:pPr marL="285750" indent="-285750">
              <a:spcAft>
                <a:spcPts val="600"/>
              </a:spcAft>
              <a:buFont typeface="Arial" panose="020B0604020202020204" pitchFamily="34" charset="0"/>
              <a:buChar char="•"/>
            </a:pPr>
            <a:r>
              <a:rPr lang="zh-CN" altLang="en-US">
                <a:latin typeface="新宋体" panose="02010609030101010101" pitchFamily="49" charset="-122"/>
                <a:ea typeface="新宋体" panose="02010609030101010101" pitchFamily="49" charset="-122"/>
              </a:rPr>
              <a:t>工作气隙中的</a:t>
            </a:r>
            <a:r>
              <a:rPr lang="zh-CN" altLang="en-US">
                <a:solidFill>
                  <a:srgbClr val="00B050"/>
                </a:solidFill>
                <a:latin typeface="新宋体" panose="02010609030101010101" pitchFamily="49" charset="-122"/>
                <a:ea typeface="新宋体" panose="02010609030101010101" pitchFamily="49" charset="-122"/>
              </a:rPr>
              <a:t>磁通恒定</a:t>
            </a:r>
            <a:endParaRPr lang="en-US" altLang="zh-CN">
              <a:solidFill>
                <a:srgbClr val="00B050"/>
              </a:solidFill>
              <a:latin typeface="新宋体" panose="02010609030101010101" pitchFamily="49" charset="-122"/>
              <a:ea typeface="新宋体" panose="02010609030101010101" pitchFamily="49" charset="-122"/>
            </a:endParaRPr>
          </a:p>
          <a:p>
            <a:pPr marL="285750" indent="-285750">
              <a:spcAft>
                <a:spcPts val="600"/>
              </a:spcAft>
              <a:buFont typeface="Arial" panose="020B0604020202020204" pitchFamily="34" charset="0"/>
              <a:buChar char="•"/>
            </a:pPr>
            <a:r>
              <a:rPr lang="zh-CN" altLang="en-US">
                <a:latin typeface="新宋体" panose="02010609030101010101" pitchFamily="49" charset="-122"/>
                <a:ea typeface="新宋体" panose="02010609030101010101" pitchFamily="49" charset="-122"/>
              </a:rPr>
              <a:t>感应电势是由于永久磁铁与线圈之间有相对运动</a:t>
            </a:r>
            <a:r>
              <a:rPr lang="en-US" altLang="zh-CN">
                <a:latin typeface="新宋体" panose="02010609030101010101" pitchFamily="49" charset="-122"/>
                <a:ea typeface="新宋体" panose="02010609030101010101" pitchFamily="49" charset="-122"/>
              </a:rPr>
              <a:t>--</a:t>
            </a:r>
            <a:r>
              <a:rPr lang="zh-CN" altLang="en-US">
                <a:solidFill>
                  <a:srgbClr val="00B050"/>
                </a:solidFill>
                <a:latin typeface="新宋体" panose="02010609030101010101" pitchFamily="49" charset="-122"/>
                <a:ea typeface="新宋体" panose="02010609030101010101" pitchFamily="49" charset="-122"/>
              </a:rPr>
              <a:t>线圈切割磁力线</a:t>
            </a:r>
            <a:r>
              <a:rPr lang="zh-CN" altLang="en-US">
                <a:latin typeface="新宋体" panose="02010609030101010101" pitchFamily="49" charset="-122"/>
                <a:ea typeface="新宋体" panose="02010609030101010101" pitchFamily="49" charset="-122"/>
              </a:rPr>
              <a:t>而产生</a:t>
            </a:r>
            <a:endParaRPr lang="en-001">
              <a:latin typeface="新宋体" panose="02010609030101010101" pitchFamily="49" charset="-122"/>
              <a:ea typeface="新宋体" panose="02010609030101010101" pitchFamily="49" charset="-122"/>
            </a:endParaRPr>
          </a:p>
        </p:txBody>
      </p:sp>
    </p:spTree>
    <p:extLst>
      <p:ext uri="{BB962C8B-B14F-4D97-AF65-F5344CB8AC3E}">
        <p14:creationId xmlns:p14="http://schemas.microsoft.com/office/powerpoint/2010/main" val="4502696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4">
            <a:extLst>
              <a:ext uri="{FF2B5EF4-FFF2-40B4-BE49-F238E27FC236}">
                <a16:creationId xmlns:a16="http://schemas.microsoft.com/office/drawing/2014/main" id="{B144C28E-09A7-4EE5-B745-B001F9DBAED7}"/>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070205" y="2115420"/>
            <a:ext cx="2951613" cy="2951613"/>
          </a:xfrm>
          <a:prstGeom prst="rect">
            <a:avLst/>
          </a:prstGeom>
          <a:noFill/>
          <a:extLst>
            <a:ext uri="{909E8E84-426E-40DD-AFC4-6F175D3DCCD1}">
              <a14:hiddenFill xmlns:a14="http://schemas.microsoft.com/office/drawing/2010/main">
                <a:solidFill>
                  <a:srgbClr val="FFFFFF"/>
                </a:solidFill>
              </a14:hiddenFill>
            </a:ext>
          </a:extLst>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工作原理和结构类型</a:t>
            </a:r>
          </a:p>
        </p:txBody>
      </p:sp>
      <p:sp>
        <p:nvSpPr>
          <p:cNvPr id="2" name="Slide Number Placeholder 1">
            <a:extLst>
              <a:ext uri="{FF2B5EF4-FFF2-40B4-BE49-F238E27FC236}">
                <a16:creationId xmlns:a16="http://schemas.microsoft.com/office/drawing/2014/main" id="{871C41E2-D5C7-47FE-BC64-88A9AF829D5C}"/>
              </a:ext>
            </a:extLst>
          </p:cNvPr>
          <p:cNvSpPr>
            <a:spLocks noGrp="1"/>
          </p:cNvSpPr>
          <p:nvPr>
            <p:ph type="sldNum" sz="quarter" idx="12"/>
          </p:nvPr>
        </p:nvSpPr>
        <p:spPr/>
        <p:txBody>
          <a:bodyPr/>
          <a:lstStyle/>
          <a:p>
            <a:fld id="{B53602B4-F12B-41CD-B648-531F86B2CC91}" type="slidenum">
              <a:rPr lang="zh-CN" altLang="en-US" smtClean="0"/>
              <a:t>9</a:t>
            </a:fld>
            <a:endParaRPr lang="zh-CN" altLang="en-US"/>
          </a:p>
        </p:txBody>
      </p:sp>
      <p:sp>
        <p:nvSpPr>
          <p:cNvPr id="12" name="TextBox 11">
            <a:extLst>
              <a:ext uri="{FF2B5EF4-FFF2-40B4-BE49-F238E27FC236}">
                <a16:creationId xmlns:a16="http://schemas.microsoft.com/office/drawing/2014/main" id="{93D4A21F-AD32-42D9-B8F9-3D47C78A5EB3}"/>
              </a:ext>
            </a:extLst>
          </p:cNvPr>
          <p:cNvSpPr txBox="1"/>
          <p:nvPr/>
        </p:nvSpPr>
        <p:spPr>
          <a:xfrm>
            <a:off x="1431455" y="1833595"/>
            <a:ext cx="1579685" cy="4494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en-US" altLang="zh-CN" sz="2000" dirty="0">
                <a:solidFill>
                  <a:srgbClr val="00B0F0"/>
                </a:solidFill>
              </a:rPr>
              <a:t>(a) </a:t>
            </a:r>
            <a:r>
              <a:rPr lang="zh-CN" altLang="en-US" sz="2000" dirty="0">
                <a:solidFill>
                  <a:srgbClr val="00B0F0"/>
                </a:solidFill>
              </a:rPr>
              <a:t>动圈式      </a:t>
            </a:r>
            <a:endParaRPr lang="en-001" sz="2000" dirty="0">
              <a:solidFill>
                <a:srgbClr val="00B0F0"/>
              </a:solidFill>
            </a:endParaRPr>
          </a:p>
        </p:txBody>
      </p:sp>
      <p:sp>
        <p:nvSpPr>
          <p:cNvPr id="13" name="TextBox 12">
            <a:extLst>
              <a:ext uri="{FF2B5EF4-FFF2-40B4-BE49-F238E27FC236}">
                <a16:creationId xmlns:a16="http://schemas.microsoft.com/office/drawing/2014/main" id="{AFC4ADB1-0921-41B9-AD2E-A85BA49A115E}"/>
              </a:ext>
            </a:extLst>
          </p:cNvPr>
          <p:cNvSpPr txBox="1"/>
          <p:nvPr/>
        </p:nvSpPr>
        <p:spPr>
          <a:xfrm>
            <a:off x="177800" y="1316016"/>
            <a:ext cx="5082069" cy="4494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zh-CN" altLang="en-US" sz="2000">
                <a:solidFill>
                  <a:srgbClr val="C00000"/>
                </a:solidFill>
              </a:rPr>
              <a:t>恒定磁通式结构</a:t>
            </a:r>
            <a:endParaRPr lang="en-001" sz="2000">
              <a:solidFill>
                <a:srgbClr val="C00000"/>
              </a:solidFill>
            </a:endParaRPr>
          </a:p>
        </p:txBody>
      </p:sp>
      <p:sp>
        <p:nvSpPr>
          <p:cNvPr id="14" name="TextBox 13">
            <a:extLst>
              <a:ext uri="{FF2B5EF4-FFF2-40B4-BE49-F238E27FC236}">
                <a16:creationId xmlns:a16="http://schemas.microsoft.com/office/drawing/2014/main" id="{7ADCDCB9-4645-419B-AB74-A07C366EFF1A}"/>
              </a:ext>
            </a:extLst>
          </p:cNvPr>
          <p:cNvSpPr txBox="1"/>
          <p:nvPr/>
        </p:nvSpPr>
        <p:spPr>
          <a:xfrm>
            <a:off x="2180457" y="1338275"/>
            <a:ext cx="6886990" cy="4494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zh-CN" altLang="en-US" sz="2000" dirty="0"/>
              <a:t>磁路系统产生恒定的直流磁场，磁路中的工作气隙固定不变。</a:t>
            </a:r>
            <a:endParaRPr lang="en-001" sz="2000" dirty="0"/>
          </a:p>
        </p:txBody>
      </p:sp>
      <p:pic>
        <p:nvPicPr>
          <p:cNvPr id="17" name="Picture 8">
            <a:extLst>
              <a:ext uri="{FF2B5EF4-FFF2-40B4-BE49-F238E27FC236}">
                <a16:creationId xmlns:a16="http://schemas.microsoft.com/office/drawing/2014/main" id="{311222A8-AE76-4DC9-9812-44DEF3D63555}"/>
              </a:ext>
            </a:extLst>
          </p:cNvPr>
          <p:cNvPicPr>
            <a:picLocks noChangeAspect="1" noChangeArrowheads="1" noCrop="1"/>
          </p:cNvPicPr>
          <p:nvPr/>
        </p:nvPicPr>
        <p:blipFill>
          <a:blip r:embed="rId4">
            <a:clrChange>
              <a:clrFrom>
                <a:srgbClr val="DEE79C"/>
              </a:clrFrom>
              <a:clrTo>
                <a:srgbClr val="DEE79C">
                  <a:alpha val="0"/>
                </a:srgbClr>
              </a:clrTo>
            </a:clrChange>
            <a:extLst>
              <a:ext uri="{28A0092B-C50C-407E-A947-70E740481C1C}">
                <a14:useLocalDpi xmlns:a14="http://schemas.microsoft.com/office/drawing/2010/main" val="0"/>
              </a:ext>
            </a:extLst>
          </a:blip>
          <a:srcRect/>
          <a:stretch>
            <a:fillRect/>
          </a:stretch>
        </p:blipFill>
        <p:spPr bwMode="auto">
          <a:xfrm>
            <a:off x="5903728" y="2261632"/>
            <a:ext cx="1863506" cy="252427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CD3D8F57-A766-42BC-8DFD-097218F7EF9F}"/>
              </a:ext>
            </a:extLst>
          </p:cNvPr>
          <p:cNvSpPr txBox="1"/>
          <p:nvPr/>
        </p:nvSpPr>
        <p:spPr>
          <a:xfrm>
            <a:off x="110890" y="5076698"/>
            <a:ext cx="4220813" cy="1235916"/>
          </a:xfrm>
          <a:prstGeom prst="rect">
            <a:avLst/>
          </a:prstGeom>
          <a:noFill/>
        </p:spPr>
        <p:txBody>
          <a:bodyPr wrap="square">
            <a:spAutoFit/>
          </a:bodyPr>
          <a:lstStyle/>
          <a:p>
            <a:pPr marL="342900" marR="0" lvl="0" indent="-342900" algn="l" defTabSz="914400" rtl="0" eaLnBrk="1" fontAlgn="auto" latinLnBrk="0" hangingPunct="1">
              <a:lnSpc>
                <a:spcPct val="130000"/>
              </a:lnSpc>
              <a:spcBef>
                <a:spcPts val="0"/>
              </a:spcBef>
              <a:spcAft>
                <a:spcPts val="600"/>
              </a:spcAft>
              <a:buClrTx/>
              <a:buSzTx/>
              <a:buFont typeface="Arial" panose="020B0604020202020204" pitchFamily="34" charset="0"/>
              <a:buChar char="•"/>
              <a:tabLst/>
              <a:defRPr/>
            </a:pPr>
            <a:r>
              <a:rPr lang="zh-CN" altLang="en-US" sz="2000" b="1" dirty="0">
                <a:solidFill>
                  <a:srgbClr val="00B0F0"/>
                </a:solidFill>
                <a:latin typeface="Times New Roman" pitchFamily="18" charset="0"/>
                <a:ea typeface="宋体" charset="-122"/>
              </a:rPr>
              <a:t>动圈式</a:t>
            </a:r>
            <a:r>
              <a:rPr kumimoji="0" lang="zh-CN" altLang="en-US"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a:t>
            </a:r>
            <a:r>
              <a:rPr kumimoji="0" lang="zh-CN" altLang="en-US" sz="2000" b="1" i="0" u="sng"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运动部件是线圈</a:t>
            </a:r>
            <a:r>
              <a:rPr kumimoji="0" lang="zh-CN" altLang="en-US" sz="2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，永久磁铁与传感器壳体固定，线圈与金属骨架用柔软弹簧支承。</a:t>
            </a:r>
          </a:p>
        </p:txBody>
      </p:sp>
      <p:sp>
        <p:nvSpPr>
          <p:cNvPr id="20" name="TextBox 19">
            <a:extLst>
              <a:ext uri="{FF2B5EF4-FFF2-40B4-BE49-F238E27FC236}">
                <a16:creationId xmlns:a16="http://schemas.microsoft.com/office/drawing/2014/main" id="{37A5C525-1556-497E-8D65-801FB6364D9A}"/>
              </a:ext>
            </a:extLst>
          </p:cNvPr>
          <p:cNvSpPr txBox="1"/>
          <p:nvPr/>
        </p:nvSpPr>
        <p:spPr>
          <a:xfrm>
            <a:off x="4572000" y="4974670"/>
            <a:ext cx="4402536" cy="12496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marL="342900" indent="-342900">
              <a:spcAft>
                <a:spcPts val="600"/>
              </a:spcAft>
              <a:buFont typeface="Arial" panose="020B0604020202020204" pitchFamily="34" charset="0"/>
              <a:buChar char="•"/>
            </a:pPr>
            <a:r>
              <a:rPr lang="zh-CN" altLang="en-US" sz="2000" dirty="0">
                <a:solidFill>
                  <a:srgbClr val="00B0F0"/>
                </a:solidFill>
              </a:rPr>
              <a:t>动铁式</a:t>
            </a:r>
            <a:r>
              <a:rPr lang="zh-CN" altLang="en-US" sz="2000" dirty="0"/>
              <a:t>：</a:t>
            </a:r>
            <a:r>
              <a:rPr lang="zh-CN" altLang="en-US" sz="2000" u="sng" dirty="0"/>
              <a:t>运动部件是磁铁</a:t>
            </a:r>
            <a:r>
              <a:rPr lang="zh-CN" altLang="en-US" sz="2000" dirty="0"/>
              <a:t>，线圈、金属骨架和壳体固定，永久磁铁用柔软弹簧支撑。</a:t>
            </a:r>
          </a:p>
        </p:txBody>
      </p:sp>
      <p:sp>
        <p:nvSpPr>
          <p:cNvPr id="21" name="TextBox 20">
            <a:extLst>
              <a:ext uri="{FF2B5EF4-FFF2-40B4-BE49-F238E27FC236}">
                <a16:creationId xmlns:a16="http://schemas.microsoft.com/office/drawing/2014/main" id="{E13B77A0-6CAB-4325-8219-98C02CFA6C8C}"/>
              </a:ext>
            </a:extLst>
          </p:cNvPr>
          <p:cNvSpPr txBox="1"/>
          <p:nvPr/>
        </p:nvSpPr>
        <p:spPr>
          <a:xfrm>
            <a:off x="6203347" y="1833595"/>
            <a:ext cx="1732794" cy="4494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en-US" altLang="zh-CN" sz="2000" dirty="0">
                <a:solidFill>
                  <a:srgbClr val="00B0F0"/>
                </a:solidFill>
              </a:rPr>
              <a:t>(b) </a:t>
            </a:r>
            <a:r>
              <a:rPr lang="zh-CN" altLang="en-US" sz="2000" dirty="0">
                <a:solidFill>
                  <a:srgbClr val="00B0F0"/>
                </a:solidFill>
              </a:rPr>
              <a:t>动铁式</a:t>
            </a:r>
            <a:endParaRPr lang="en-001" sz="2000" dirty="0">
              <a:solidFill>
                <a:srgbClr val="00B0F0"/>
              </a:solidFill>
            </a:endParaRPr>
          </a:p>
        </p:txBody>
      </p:sp>
      <p:sp>
        <p:nvSpPr>
          <p:cNvPr id="22" name="TextBox 21">
            <a:extLst>
              <a:ext uri="{FF2B5EF4-FFF2-40B4-BE49-F238E27FC236}">
                <a16:creationId xmlns:a16="http://schemas.microsoft.com/office/drawing/2014/main" id="{865DA167-7395-4F42-91AE-A6459F1467DB}"/>
              </a:ext>
            </a:extLst>
          </p:cNvPr>
          <p:cNvSpPr txBox="1"/>
          <p:nvPr/>
        </p:nvSpPr>
        <p:spPr>
          <a:xfrm>
            <a:off x="4021818" y="2472224"/>
            <a:ext cx="1563887" cy="1938992"/>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600"/>
              </a:spcAft>
              <a:buClrTx/>
              <a:buSzTx/>
              <a:tabLst/>
              <a:defRPr/>
            </a:pPr>
            <a:r>
              <a:rPr lang="zh-CN" altLang="en-US" sz="2000" b="1" dirty="0">
                <a:latin typeface="Times New Roman" pitchFamily="18" charset="0"/>
                <a:ea typeface="宋体" charset="-122"/>
              </a:rPr>
              <a:t>两者的阻尼都是由金属骨架</a:t>
            </a:r>
            <a:r>
              <a:rPr lang="en-US" altLang="zh-CN" sz="2000" b="1" dirty="0">
                <a:latin typeface="Times New Roman" pitchFamily="18" charset="0"/>
                <a:ea typeface="宋体" charset="-122"/>
              </a:rPr>
              <a:t>1</a:t>
            </a:r>
            <a:r>
              <a:rPr lang="zh-CN" altLang="en-US" sz="2000" b="1" dirty="0">
                <a:latin typeface="Times New Roman" pitchFamily="18" charset="0"/>
                <a:ea typeface="宋体" charset="-122"/>
              </a:rPr>
              <a:t>与磁场发生相对运动而产生的电磁阻尼。</a:t>
            </a:r>
            <a:endParaRPr lang="en-001" sz="2000" b="1" dirty="0">
              <a:latin typeface="Times New Roman" pitchFamily="18" charset="0"/>
              <a:ea typeface="宋体" charset="-122"/>
            </a:endParaRPr>
          </a:p>
        </p:txBody>
      </p:sp>
      <p:pic>
        <p:nvPicPr>
          <p:cNvPr id="23" name="Picture 10">
            <a:extLst>
              <a:ext uri="{FF2B5EF4-FFF2-40B4-BE49-F238E27FC236}">
                <a16:creationId xmlns:a16="http://schemas.microsoft.com/office/drawing/2014/main" id="{179EA855-A533-4C94-9017-57A80B5A4FB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717" r="44284" b="17492"/>
          <a:stretch/>
        </p:blipFill>
        <p:spPr bwMode="auto">
          <a:xfrm>
            <a:off x="18194" y="2443204"/>
            <a:ext cx="1491703" cy="1431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10">
            <a:extLst>
              <a:ext uri="{FF2B5EF4-FFF2-40B4-BE49-F238E27FC236}">
                <a16:creationId xmlns:a16="http://schemas.microsoft.com/office/drawing/2014/main" id="{7F63B19C-ED2E-4AF6-BD74-2AD7E6AA66E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697" b="6690"/>
          <a:stretch/>
        </p:blipFill>
        <p:spPr bwMode="auto">
          <a:xfrm>
            <a:off x="7805487" y="2415057"/>
            <a:ext cx="1320319" cy="210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022946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工作原理和结构类型</a:t>
            </a:r>
          </a:p>
        </p:txBody>
      </p:sp>
      <p:sp>
        <p:nvSpPr>
          <p:cNvPr id="2" name="Slide Number Placeholder 1">
            <a:extLst>
              <a:ext uri="{FF2B5EF4-FFF2-40B4-BE49-F238E27FC236}">
                <a16:creationId xmlns:a16="http://schemas.microsoft.com/office/drawing/2014/main" id="{871C41E2-D5C7-47FE-BC64-88A9AF829D5C}"/>
              </a:ext>
            </a:extLst>
          </p:cNvPr>
          <p:cNvSpPr>
            <a:spLocks noGrp="1"/>
          </p:cNvSpPr>
          <p:nvPr>
            <p:ph type="sldNum" sz="quarter" idx="12"/>
          </p:nvPr>
        </p:nvSpPr>
        <p:spPr/>
        <p:txBody>
          <a:bodyPr/>
          <a:lstStyle/>
          <a:p>
            <a:fld id="{B53602B4-F12B-41CD-B648-531F86B2CC91}" type="slidenum">
              <a:rPr lang="zh-CN" altLang="en-US" smtClean="0"/>
              <a:t>10</a:t>
            </a:fld>
            <a:endParaRPr lang="zh-CN" altLang="en-US"/>
          </a:p>
        </p:txBody>
      </p:sp>
      <p:sp>
        <p:nvSpPr>
          <p:cNvPr id="14" name="TextBox 13">
            <a:extLst>
              <a:ext uri="{FF2B5EF4-FFF2-40B4-BE49-F238E27FC236}">
                <a16:creationId xmlns:a16="http://schemas.microsoft.com/office/drawing/2014/main" id="{7ADCDCB9-4645-419B-AB74-A07C366EFF1A}"/>
              </a:ext>
            </a:extLst>
          </p:cNvPr>
          <p:cNvSpPr txBox="1"/>
          <p:nvPr/>
        </p:nvSpPr>
        <p:spPr>
          <a:xfrm>
            <a:off x="185083" y="1857486"/>
            <a:ext cx="4765264" cy="372723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marL="342900" indent="-342900" algn="just">
              <a:spcAft>
                <a:spcPts val="600"/>
              </a:spcAft>
              <a:buFont typeface="Arial" panose="020B0604020202020204" pitchFamily="34" charset="0"/>
              <a:buChar char="•"/>
            </a:pPr>
            <a:r>
              <a:rPr lang="zh-CN" altLang="en-US" sz="2000" dirty="0"/>
              <a:t>动圈式和动铁式的工作原理相同</a:t>
            </a:r>
            <a:endParaRPr lang="en-US" altLang="zh-CN" sz="2000" dirty="0"/>
          </a:p>
          <a:p>
            <a:pPr marL="342900" indent="-342900" algn="just">
              <a:spcAft>
                <a:spcPts val="600"/>
              </a:spcAft>
              <a:buFont typeface="Arial" panose="020B0604020202020204" pitchFamily="34" charset="0"/>
              <a:buChar char="•"/>
            </a:pPr>
            <a:r>
              <a:rPr lang="zh-CN" altLang="en-US" sz="2000" dirty="0"/>
              <a:t>当壳体</a:t>
            </a:r>
            <a:r>
              <a:rPr lang="en-US" altLang="zh-CN" sz="2000" dirty="0"/>
              <a:t>5</a:t>
            </a:r>
            <a:r>
              <a:rPr lang="zh-CN" altLang="en-US" sz="2000" dirty="0"/>
              <a:t>随被测振动体一起振动时，由于弹簧</a:t>
            </a:r>
            <a:r>
              <a:rPr lang="en-US" altLang="zh-CN" sz="2000" dirty="0"/>
              <a:t>2</a:t>
            </a:r>
            <a:r>
              <a:rPr lang="zh-CN" altLang="en-US" sz="2000" dirty="0"/>
              <a:t>较软，运动部件质量相对较大，因此振动频率足够高（远高于传感器的固有频率），运动部件的惯性很大，来不及跟踪振动体一起振动，近似于静止不动，振动能量几乎全被弹簧 </a:t>
            </a:r>
            <a:r>
              <a:rPr lang="en-US" altLang="zh-CN" sz="2000" dirty="0"/>
              <a:t>2 </a:t>
            </a:r>
            <a:r>
              <a:rPr lang="zh-CN" altLang="en-US" sz="2000" dirty="0"/>
              <a:t>吸收，永久磁铁</a:t>
            </a:r>
            <a:r>
              <a:rPr lang="en-US" altLang="zh-CN" sz="2000" dirty="0"/>
              <a:t>4</a:t>
            </a:r>
            <a:r>
              <a:rPr lang="zh-CN" altLang="en-US" sz="2000" dirty="0"/>
              <a:t>与线圈</a:t>
            </a:r>
            <a:r>
              <a:rPr lang="en-US" altLang="zh-CN" sz="2000" dirty="0"/>
              <a:t>3</a:t>
            </a:r>
            <a:r>
              <a:rPr lang="zh-CN" altLang="en-US" sz="2000" dirty="0"/>
              <a:t>之间的相对运动速度接近于振动体振动速度。</a:t>
            </a:r>
            <a:endParaRPr lang="en-001" sz="2000" dirty="0"/>
          </a:p>
        </p:txBody>
      </p:sp>
      <p:sp>
        <p:nvSpPr>
          <p:cNvPr id="16" name="TextBox 15">
            <a:extLst>
              <a:ext uri="{FF2B5EF4-FFF2-40B4-BE49-F238E27FC236}">
                <a16:creationId xmlns:a16="http://schemas.microsoft.com/office/drawing/2014/main" id="{843CA7F8-BD95-47E5-A229-F6D24729F96D}"/>
              </a:ext>
            </a:extLst>
          </p:cNvPr>
          <p:cNvSpPr txBox="1"/>
          <p:nvPr/>
        </p:nvSpPr>
        <p:spPr>
          <a:xfrm>
            <a:off x="177800" y="1316016"/>
            <a:ext cx="5082069" cy="4494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zh-CN" altLang="en-US" sz="2000">
                <a:solidFill>
                  <a:srgbClr val="C00000"/>
                </a:solidFill>
              </a:rPr>
              <a:t>恒定磁通式结构</a:t>
            </a:r>
            <a:endParaRPr lang="en-001" sz="2000">
              <a:solidFill>
                <a:srgbClr val="C00000"/>
              </a:solidFill>
            </a:endParaRPr>
          </a:p>
        </p:txBody>
      </p:sp>
      <p:pic>
        <p:nvPicPr>
          <p:cNvPr id="12" name="Picture 4">
            <a:extLst>
              <a:ext uri="{FF2B5EF4-FFF2-40B4-BE49-F238E27FC236}">
                <a16:creationId xmlns:a16="http://schemas.microsoft.com/office/drawing/2014/main" id="{5851C28E-08FF-4026-85C6-E067511D3259}"/>
              </a:ext>
            </a:extLst>
          </p:cNvPr>
          <p:cNvPicPr>
            <a:picLocks noChangeAspect="1" noChangeArrowheads="1" noCrop="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05024" y="1035557"/>
            <a:ext cx="2951613" cy="29516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a:extLst>
              <a:ext uri="{FF2B5EF4-FFF2-40B4-BE49-F238E27FC236}">
                <a16:creationId xmlns:a16="http://schemas.microsoft.com/office/drawing/2014/main" id="{A40831C7-BD72-42ED-BDF0-449048D798BD}"/>
              </a:ext>
            </a:extLst>
          </p:cNvPr>
          <p:cNvPicPr>
            <a:picLocks noChangeAspect="1" noChangeArrowheads="1" noCrop="1"/>
          </p:cNvPicPr>
          <p:nvPr/>
        </p:nvPicPr>
        <p:blipFill>
          <a:blip r:embed="rId4">
            <a:clrChange>
              <a:clrFrom>
                <a:srgbClr val="DEE79C"/>
              </a:clrFrom>
              <a:clrTo>
                <a:srgbClr val="DEE79C">
                  <a:alpha val="0"/>
                </a:srgbClr>
              </a:clrTo>
            </a:clrChange>
            <a:extLst>
              <a:ext uri="{28A0092B-C50C-407E-A947-70E740481C1C}">
                <a14:useLocalDpi xmlns:a14="http://schemas.microsoft.com/office/drawing/2010/main" val="0"/>
              </a:ext>
            </a:extLst>
          </a:blip>
          <a:srcRect/>
          <a:stretch>
            <a:fillRect/>
          </a:stretch>
        </p:blipFill>
        <p:spPr bwMode="auto">
          <a:xfrm>
            <a:off x="6329363" y="3796060"/>
            <a:ext cx="2049462" cy="2776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29724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工作原理和结构类型</a:t>
            </a:r>
          </a:p>
        </p:txBody>
      </p:sp>
      <p:sp>
        <p:nvSpPr>
          <p:cNvPr id="2" name="Slide Number Placeholder 1">
            <a:extLst>
              <a:ext uri="{FF2B5EF4-FFF2-40B4-BE49-F238E27FC236}">
                <a16:creationId xmlns:a16="http://schemas.microsoft.com/office/drawing/2014/main" id="{871C41E2-D5C7-47FE-BC64-88A9AF829D5C}"/>
              </a:ext>
            </a:extLst>
          </p:cNvPr>
          <p:cNvSpPr>
            <a:spLocks noGrp="1"/>
          </p:cNvSpPr>
          <p:nvPr>
            <p:ph type="sldNum" sz="quarter" idx="12"/>
          </p:nvPr>
        </p:nvSpPr>
        <p:spPr/>
        <p:txBody>
          <a:bodyPr/>
          <a:lstStyle/>
          <a:p>
            <a:fld id="{B53602B4-F12B-41CD-B648-531F86B2CC91}" type="slidenum">
              <a:rPr lang="zh-CN" altLang="en-US" smtClean="0"/>
              <a:t>11</a:t>
            </a:fld>
            <a:endParaRPr lang="zh-CN" altLang="en-US"/>
          </a:p>
        </p:txBody>
      </p:sp>
      <p:sp>
        <p:nvSpPr>
          <p:cNvPr id="14" name="TextBox 13">
            <a:extLst>
              <a:ext uri="{FF2B5EF4-FFF2-40B4-BE49-F238E27FC236}">
                <a16:creationId xmlns:a16="http://schemas.microsoft.com/office/drawing/2014/main" id="{7ADCDCB9-4645-419B-AB74-A07C366EFF1A}"/>
              </a:ext>
            </a:extLst>
          </p:cNvPr>
          <p:cNvSpPr txBox="1"/>
          <p:nvPr/>
        </p:nvSpPr>
        <p:spPr>
          <a:xfrm>
            <a:off x="248715" y="1871773"/>
            <a:ext cx="4721747" cy="124963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marL="342900" indent="-342900">
              <a:spcAft>
                <a:spcPts val="600"/>
              </a:spcAft>
              <a:buFont typeface="Arial" panose="020B0604020202020204" pitchFamily="34" charset="0"/>
              <a:buChar char="•"/>
            </a:pPr>
            <a:r>
              <a:rPr lang="zh-CN" altLang="en-US" sz="2000"/>
              <a:t>永久磁铁</a:t>
            </a:r>
            <a:r>
              <a:rPr lang="en-US" altLang="zh-CN" sz="2000"/>
              <a:t>4</a:t>
            </a:r>
            <a:r>
              <a:rPr lang="zh-CN" altLang="en-US" sz="2000"/>
              <a:t>与线圈</a:t>
            </a:r>
            <a:r>
              <a:rPr lang="en-US" altLang="zh-CN" sz="2000"/>
              <a:t>3</a:t>
            </a:r>
            <a:r>
              <a:rPr lang="zh-CN" altLang="en-US" sz="2000"/>
              <a:t>相对运动使线圈</a:t>
            </a:r>
            <a:r>
              <a:rPr lang="en-US" altLang="zh-CN" sz="2000"/>
              <a:t>3</a:t>
            </a:r>
            <a:r>
              <a:rPr lang="zh-CN" altLang="en-US" sz="2000"/>
              <a:t>切割磁力线，产生与运动速度成正比的感应电动势，则</a:t>
            </a:r>
            <a:endParaRPr lang="en-001" sz="2000"/>
          </a:p>
        </p:txBody>
      </p:sp>
      <p:sp>
        <p:nvSpPr>
          <p:cNvPr id="16" name="TextBox 15">
            <a:extLst>
              <a:ext uri="{FF2B5EF4-FFF2-40B4-BE49-F238E27FC236}">
                <a16:creationId xmlns:a16="http://schemas.microsoft.com/office/drawing/2014/main" id="{843CA7F8-BD95-47E5-A229-F6D24729F96D}"/>
              </a:ext>
            </a:extLst>
          </p:cNvPr>
          <p:cNvSpPr txBox="1"/>
          <p:nvPr/>
        </p:nvSpPr>
        <p:spPr>
          <a:xfrm>
            <a:off x="177800" y="1316016"/>
            <a:ext cx="5082069" cy="4494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30000"/>
              </a:lnSpc>
              <a:buFont typeface="Wingdings" pitchFamily="2" charset="2"/>
              <a:buNone/>
              <a:defRPr sz="2400" b="1" i="0">
                <a:latin typeface="Times New Roman" pitchFamily="18"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spcAft>
                <a:spcPts val="600"/>
              </a:spcAft>
            </a:pPr>
            <a:r>
              <a:rPr lang="zh-CN" altLang="en-US" sz="2000">
                <a:solidFill>
                  <a:srgbClr val="C00000"/>
                </a:solidFill>
              </a:rPr>
              <a:t>恒定磁通式结构</a:t>
            </a:r>
            <a:endParaRPr lang="en-001" sz="2000">
              <a:solidFill>
                <a:srgbClr val="C00000"/>
              </a:solidFill>
            </a:endParaRPr>
          </a:p>
        </p:txBody>
      </p:sp>
      <p:sp>
        <p:nvSpPr>
          <p:cNvPr id="12" name="Text Box 20">
            <a:extLst>
              <a:ext uri="{FF2B5EF4-FFF2-40B4-BE49-F238E27FC236}">
                <a16:creationId xmlns:a16="http://schemas.microsoft.com/office/drawing/2014/main" id="{DF17C204-27E9-4DB9-AF1E-F14E1B2C0CC9}"/>
              </a:ext>
            </a:extLst>
          </p:cNvPr>
          <p:cNvSpPr txBox="1">
            <a:spLocks noChangeArrowheads="1"/>
          </p:cNvSpPr>
          <p:nvPr/>
        </p:nvSpPr>
        <p:spPr bwMode="auto">
          <a:xfrm>
            <a:off x="576262" y="4573405"/>
            <a:ext cx="4721747" cy="1481111"/>
          </a:xfrm>
          <a:prstGeom prst="rect">
            <a:avLst/>
          </a:prstGeom>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ct val="130000"/>
              </a:lnSpc>
              <a:buFont typeface="Wingdings" pitchFamily="2" charset="2"/>
              <a:buNone/>
            </a:pPr>
            <a:r>
              <a:rPr lang="en-US" altLang="zh-CN" sz="2400" i="1">
                <a:solidFill>
                  <a:schemeClr val="tx1"/>
                </a:solidFill>
                <a:latin typeface="Times New Roman" pitchFamily="18" charset="0"/>
              </a:rPr>
              <a:t>B0</a:t>
            </a:r>
            <a:r>
              <a:rPr lang="en-US" altLang="zh-CN" sz="2400" b="1" i="1">
                <a:solidFill>
                  <a:schemeClr val="tx1"/>
                </a:solidFill>
                <a:latin typeface="Times New Roman" pitchFamily="18" charset="0"/>
              </a:rPr>
              <a:t>: </a:t>
            </a:r>
            <a:r>
              <a:rPr lang="zh-CN" altLang="en-US" sz="2400" b="1">
                <a:solidFill>
                  <a:schemeClr val="tx1"/>
                </a:solidFill>
              </a:rPr>
              <a:t>线</a:t>
            </a:r>
            <a:r>
              <a:rPr lang="zh-CN" altLang="en-US" sz="2400" b="1" dirty="0">
                <a:solidFill>
                  <a:schemeClr val="tx1"/>
                </a:solidFill>
              </a:rPr>
              <a:t>圈所在磁场的磁感应强度；</a:t>
            </a:r>
          </a:p>
          <a:p>
            <a:pPr eaLnBrk="1" hangingPunct="1">
              <a:lnSpc>
                <a:spcPct val="130000"/>
              </a:lnSpc>
              <a:buFont typeface="Wingdings" pitchFamily="2" charset="2"/>
              <a:buNone/>
            </a:pPr>
            <a:r>
              <a:rPr lang="en-US" altLang="zh-CN" sz="2400" i="1">
                <a:solidFill>
                  <a:schemeClr val="tx1"/>
                </a:solidFill>
                <a:latin typeface="Times New Roman" pitchFamily="18" charset="0"/>
              </a:rPr>
              <a:t>W0: </a:t>
            </a:r>
            <a:r>
              <a:rPr lang="zh-CN" altLang="en-US" sz="2400" b="1">
                <a:solidFill>
                  <a:schemeClr val="tx1"/>
                </a:solidFill>
              </a:rPr>
              <a:t>每</a:t>
            </a:r>
            <a:r>
              <a:rPr lang="zh-CN" altLang="en-US" sz="2400" b="1" dirty="0">
                <a:solidFill>
                  <a:schemeClr val="tx1"/>
                </a:solidFill>
              </a:rPr>
              <a:t>匝线圈的平均截</a:t>
            </a:r>
            <a:r>
              <a:rPr lang="zh-CN" altLang="en-US" sz="2400" b="1">
                <a:solidFill>
                  <a:schemeClr val="tx1"/>
                </a:solidFill>
              </a:rPr>
              <a:t>面积</a:t>
            </a:r>
            <a:r>
              <a:rPr lang="en-US" altLang="zh-CN" sz="2400" b="1">
                <a:solidFill>
                  <a:schemeClr val="tx1"/>
                </a:solidFill>
              </a:rPr>
              <a:t>;</a:t>
            </a:r>
          </a:p>
          <a:p>
            <a:pPr eaLnBrk="1" hangingPunct="1">
              <a:lnSpc>
                <a:spcPct val="130000"/>
              </a:lnSpc>
            </a:pPr>
            <a:r>
              <a:rPr lang="en-US" altLang="zh-CN" sz="2400" i="1">
                <a:solidFill>
                  <a:schemeClr val="tx1"/>
                </a:solidFill>
                <a:latin typeface="Times New Roman" pitchFamily="18" charset="0"/>
              </a:rPr>
              <a:t>l</a:t>
            </a:r>
            <a:r>
              <a:rPr lang="en-US" altLang="zh-CN" sz="2400" b="1" i="1">
                <a:solidFill>
                  <a:schemeClr val="tx1"/>
                </a:solidFill>
                <a:latin typeface="Times New Roman" pitchFamily="18" charset="0"/>
              </a:rPr>
              <a:t>: </a:t>
            </a:r>
            <a:r>
              <a:rPr lang="zh-CN" altLang="en-US" sz="2400" b="1">
                <a:solidFill>
                  <a:schemeClr val="tx1"/>
                </a:solidFill>
              </a:rPr>
              <a:t>每匝线圈的平均长度；</a:t>
            </a:r>
          </a:p>
        </p:txBody>
      </p:sp>
      <p:graphicFrame>
        <p:nvGraphicFramePr>
          <p:cNvPr id="13" name="Object 21">
            <a:extLst>
              <a:ext uri="{FF2B5EF4-FFF2-40B4-BE49-F238E27FC236}">
                <a16:creationId xmlns:a16="http://schemas.microsoft.com/office/drawing/2014/main" id="{A54F1ABA-FB53-478B-9478-8C7AF7306D14}"/>
              </a:ext>
            </a:extLst>
          </p:cNvPr>
          <p:cNvGraphicFramePr>
            <a:graphicFrameLocks noChangeAspect="1"/>
          </p:cNvGraphicFramePr>
          <p:nvPr>
            <p:extLst>
              <p:ext uri="{D42A27DB-BD31-4B8C-83A1-F6EECF244321}">
                <p14:modId xmlns:p14="http://schemas.microsoft.com/office/powerpoint/2010/main" val="2565402637"/>
              </p:ext>
            </p:extLst>
          </p:nvPr>
        </p:nvGraphicFramePr>
        <p:xfrm>
          <a:off x="1081233" y="3511166"/>
          <a:ext cx="2468562" cy="717550"/>
        </p:xfrm>
        <a:graphic>
          <a:graphicData uri="http://schemas.openxmlformats.org/presentationml/2006/ole">
            <mc:AlternateContent xmlns:mc="http://schemas.openxmlformats.org/markup-compatibility/2006">
              <mc:Choice xmlns:v="urn:schemas-microsoft-com:vml" Requires="v">
                <p:oleObj name="Equation" r:id="rId3" imgW="1015920" imgH="228600" progId="Equation.DSMT4">
                  <p:embed/>
                </p:oleObj>
              </mc:Choice>
              <mc:Fallback>
                <p:oleObj name="Equation" r:id="rId3" imgW="1015920" imgH="228600" progId="Equation.DSMT4">
                  <p:embed/>
                  <p:pic>
                    <p:nvPicPr>
                      <p:cNvPr id="27" name="Object 21"/>
                      <p:cNvPicPr>
                        <a:picLocks noChangeAspect="1" noChangeArrowheads="1"/>
                      </p:cNvPicPr>
                      <p:nvPr/>
                    </p:nvPicPr>
                    <p:blipFill>
                      <a:blip r:embed="rId4"/>
                      <a:srcRect/>
                      <a:stretch>
                        <a:fillRect/>
                      </a:stretch>
                    </p:blipFill>
                    <p:spPr bwMode="auto">
                      <a:xfrm>
                        <a:off x="1081233" y="3511166"/>
                        <a:ext cx="2468562" cy="717550"/>
                      </a:xfrm>
                      <a:prstGeom prst="rect">
                        <a:avLst/>
                      </a:prstGeom>
                      <a:solidFill>
                        <a:srgbClr val="FFC000"/>
                      </a:solidFill>
                      <a:ln>
                        <a:noFill/>
                      </a:ln>
                      <a:effectLst/>
                    </p:spPr>
                  </p:pic>
                </p:oleObj>
              </mc:Fallback>
            </mc:AlternateContent>
          </a:graphicData>
        </a:graphic>
      </p:graphicFrame>
      <p:pic>
        <p:nvPicPr>
          <p:cNvPr id="21" name="Picture 4">
            <a:extLst>
              <a:ext uri="{FF2B5EF4-FFF2-40B4-BE49-F238E27FC236}">
                <a16:creationId xmlns:a16="http://schemas.microsoft.com/office/drawing/2014/main" id="{8EDE6BB8-7868-478B-96DE-97B5A7FF8710}"/>
              </a:ext>
            </a:extLst>
          </p:cNvPr>
          <p:cNvPicPr>
            <a:picLocks noChangeAspect="1" noChangeArrowheads="1" noCrop="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05024" y="1035557"/>
            <a:ext cx="2951613" cy="295161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a:extLst>
              <a:ext uri="{FF2B5EF4-FFF2-40B4-BE49-F238E27FC236}">
                <a16:creationId xmlns:a16="http://schemas.microsoft.com/office/drawing/2014/main" id="{811B582D-A907-4223-B966-27401E307048}"/>
              </a:ext>
            </a:extLst>
          </p:cNvPr>
          <p:cNvPicPr>
            <a:picLocks noChangeAspect="1" noChangeArrowheads="1" noCrop="1"/>
          </p:cNvPicPr>
          <p:nvPr/>
        </p:nvPicPr>
        <p:blipFill>
          <a:blip r:embed="rId6">
            <a:clrChange>
              <a:clrFrom>
                <a:srgbClr val="DEE79C"/>
              </a:clrFrom>
              <a:clrTo>
                <a:srgbClr val="DEE79C">
                  <a:alpha val="0"/>
                </a:srgbClr>
              </a:clrTo>
            </a:clrChange>
            <a:extLst>
              <a:ext uri="{28A0092B-C50C-407E-A947-70E740481C1C}">
                <a14:useLocalDpi xmlns:a14="http://schemas.microsoft.com/office/drawing/2010/main" val="0"/>
              </a:ext>
            </a:extLst>
          </a:blip>
          <a:srcRect/>
          <a:stretch>
            <a:fillRect/>
          </a:stretch>
        </p:blipFill>
        <p:spPr bwMode="auto">
          <a:xfrm>
            <a:off x="6329363" y="3796060"/>
            <a:ext cx="2049462" cy="2776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2960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21C6C8-3DFE-4663-AE90-2BE234A3D10C}"/>
              </a:ext>
            </a:extLst>
          </p:cNvPr>
          <p:cNvPicPr>
            <a:picLocks noChangeAspect="1"/>
          </p:cNvPicPr>
          <p:nvPr/>
        </p:nvPicPr>
        <p:blipFill rotWithShape="1">
          <a:blip r:embed="rId3"/>
          <a:srcRect l="51191"/>
          <a:stretch/>
        </p:blipFill>
        <p:spPr>
          <a:xfrm>
            <a:off x="4715589" y="4179144"/>
            <a:ext cx="4004932" cy="2141883"/>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2" name="Slide Number Placeholder 1">
            <a:extLst>
              <a:ext uri="{FF2B5EF4-FFF2-40B4-BE49-F238E27FC236}">
                <a16:creationId xmlns:a16="http://schemas.microsoft.com/office/drawing/2014/main" id="{AC9AC1AF-3435-442E-AD2B-BAEE78205C00}"/>
              </a:ext>
            </a:extLst>
          </p:cNvPr>
          <p:cNvSpPr>
            <a:spLocks noGrp="1"/>
          </p:cNvSpPr>
          <p:nvPr>
            <p:ph type="sldNum" sz="quarter" idx="12"/>
          </p:nvPr>
        </p:nvSpPr>
        <p:spPr/>
        <p:txBody>
          <a:bodyPr/>
          <a:lstStyle/>
          <a:p>
            <a:fld id="{B53602B4-F12B-41CD-B648-531F86B2CC91}" type="slidenum">
              <a:rPr lang="zh-CN" altLang="en-US" smtClean="0"/>
              <a:t>12</a:t>
            </a:fld>
            <a:endParaRPr lang="zh-CN" altLang="en-US"/>
          </a:p>
        </p:txBody>
      </p:sp>
      <p:sp>
        <p:nvSpPr>
          <p:cNvPr id="30" name="Text Box 25">
            <a:extLst>
              <a:ext uri="{FF2B5EF4-FFF2-40B4-BE49-F238E27FC236}">
                <a16:creationId xmlns:a16="http://schemas.microsoft.com/office/drawing/2014/main" id="{E5DEB572-1488-478C-9645-8D478B0D2869}"/>
              </a:ext>
            </a:extLst>
          </p:cNvPr>
          <p:cNvSpPr txBox="1">
            <a:spLocks noChangeArrowheads="1"/>
          </p:cNvSpPr>
          <p:nvPr/>
        </p:nvSpPr>
        <p:spPr bwMode="auto">
          <a:xfrm>
            <a:off x="655670" y="1327533"/>
            <a:ext cx="8119839" cy="1481624"/>
          </a:xfrm>
          <a:prstGeom prst="rect">
            <a:avLst/>
          </a:prstGeom>
          <a:noFill/>
          <a:ln>
            <a:noFill/>
          </a:ln>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ct val="130000"/>
              </a:lnSpc>
              <a:buFont typeface="Wingdings" pitchFamily="2" charset="2"/>
              <a:buNone/>
            </a:pPr>
            <a:r>
              <a:rPr lang="zh-CN" altLang="en-US" sz="1800" b="1">
                <a:solidFill>
                  <a:srgbClr val="C00000"/>
                </a:solidFill>
                <a:latin typeface="宋体" pitchFamily="2" charset="-122"/>
                <a:ea typeface="宋体" pitchFamily="2" charset="-122"/>
              </a:rPr>
              <a:t>磁电感应式传感器只适用于测量动态物理量</a:t>
            </a:r>
            <a:r>
              <a:rPr lang="zh-CN" altLang="en-US" sz="1800" b="1">
                <a:solidFill>
                  <a:schemeClr val="tx1"/>
                </a:solidFill>
                <a:latin typeface="宋体" pitchFamily="2" charset="-122"/>
                <a:ea typeface="宋体" pitchFamily="2" charset="-122"/>
              </a:rPr>
              <a:t>，动态特性是其主要性能。</a:t>
            </a:r>
          </a:p>
          <a:p>
            <a:pPr marL="342900" indent="-342900" eaLnBrk="1" hangingPunct="1">
              <a:lnSpc>
                <a:spcPct val="130000"/>
              </a:lnSpc>
              <a:buFont typeface="Arial" panose="020B0604020202020204" pitchFamily="34" charset="0"/>
              <a:buChar char="•"/>
            </a:pPr>
            <a:r>
              <a:rPr lang="zh-CN" altLang="en-US" sz="1800" b="1">
                <a:solidFill>
                  <a:schemeClr val="tx1"/>
                </a:solidFill>
                <a:latin typeface="宋体" pitchFamily="2" charset="-122"/>
                <a:ea typeface="宋体" pitchFamily="2" charset="-122"/>
              </a:rPr>
              <a:t>求解运动微分方程来研究系统的动态特性，比较复杂，高阶系统求解困难</a:t>
            </a:r>
          </a:p>
          <a:p>
            <a:pPr marL="342900" indent="-342900" eaLnBrk="1" hangingPunct="1">
              <a:lnSpc>
                <a:spcPct val="130000"/>
              </a:lnSpc>
              <a:buFont typeface="Arial" panose="020B0604020202020204" pitchFamily="34" charset="0"/>
              <a:buChar char="•"/>
            </a:pPr>
            <a:r>
              <a:rPr lang="zh-CN" altLang="en-US" sz="1800" b="1">
                <a:solidFill>
                  <a:schemeClr val="tx1"/>
                </a:solidFill>
                <a:latin typeface="宋体" pitchFamily="2" charset="-122"/>
                <a:ea typeface="宋体" pitchFamily="2" charset="-122"/>
              </a:rPr>
              <a:t>应用</a:t>
            </a:r>
            <a:r>
              <a:rPr lang="zh-CN" altLang="en-US" sz="1800" b="1">
                <a:solidFill>
                  <a:srgbClr val="C00000"/>
                </a:solidFill>
                <a:latin typeface="宋体" pitchFamily="2" charset="-122"/>
                <a:ea typeface="宋体" pitchFamily="2" charset="-122"/>
              </a:rPr>
              <a:t>机械阻抗</a:t>
            </a:r>
            <a:r>
              <a:rPr lang="zh-CN" altLang="en-US" sz="1800" b="1">
                <a:solidFill>
                  <a:schemeClr val="tx1"/>
                </a:solidFill>
                <a:latin typeface="宋体" pitchFamily="2" charset="-122"/>
                <a:ea typeface="宋体" pitchFamily="2" charset="-122"/>
              </a:rPr>
              <a:t>的概念分析动态特性，可以用简单的代数方法解出描述系统动态特性的传递函数方程</a:t>
            </a:r>
            <a:endParaRPr lang="zh-CN" altLang="en-US" sz="1800" b="1" dirty="0">
              <a:solidFill>
                <a:schemeClr val="tx1"/>
              </a:solidFill>
              <a:latin typeface="宋体" pitchFamily="2" charset="-122"/>
              <a:ea typeface="宋体" pitchFamily="2" charset="-122"/>
            </a:endParaRPr>
          </a:p>
        </p:txBody>
      </p:sp>
      <p:sp>
        <p:nvSpPr>
          <p:cNvPr id="22" name="TextBox 21">
            <a:extLst>
              <a:ext uri="{FF2B5EF4-FFF2-40B4-BE49-F238E27FC236}">
                <a16:creationId xmlns:a16="http://schemas.microsoft.com/office/drawing/2014/main" id="{BA98459C-5490-443D-AB5B-5B024A263348}"/>
              </a:ext>
            </a:extLst>
          </p:cNvPr>
          <p:cNvSpPr txBox="1"/>
          <p:nvPr/>
        </p:nvSpPr>
        <p:spPr>
          <a:xfrm>
            <a:off x="1156400" y="3248192"/>
            <a:ext cx="2489175" cy="761427"/>
          </a:xfrm>
          <a:prstGeom prst="rect">
            <a:avLst/>
          </a:prstGeom>
          <a:noFill/>
          <a:ln>
            <a:noFill/>
          </a:ln>
        </p:spPr>
        <p:txBody>
          <a:bodyPr wrap="square">
            <a:spAutoFit/>
          </a:bodyPr>
          <a:lstStyle>
            <a:defPPr>
              <a:defRPr lang="zh-CN"/>
            </a:defPPr>
            <a:lvl1pPr>
              <a:lnSpc>
                <a:spcPct val="130000"/>
              </a:lnSpc>
              <a:buFont typeface="Wingdings" pitchFamily="2" charset="2"/>
              <a:buNone/>
              <a:defRPr sz="2000" b="1">
                <a:latin typeface="宋体" pitchFamily="2" charset="-122"/>
                <a:ea typeface="宋体" pitchFamily="2"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r>
              <a:rPr lang="zh-CN" altLang="en-US" sz="1800"/>
              <a:t>输入：速度</a:t>
            </a:r>
            <a:r>
              <a:rPr lang="en-US" altLang="zh-CN" sz="1800"/>
              <a:t>v</a:t>
            </a:r>
            <a:r>
              <a:rPr lang="zh-CN" altLang="en-US" sz="1800"/>
              <a:t>和力</a:t>
            </a:r>
            <a:r>
              <a:rPr lang="en-US" altLang="zh-CN" sz="1800"/>
              <a:t>F</a:t>
            </a:r>
          </a:p>
          <a:p>
            <a:r>
              <a:rPr lang="zh-CN" altLang="en-US" sz="1800"/>
              <a:t>输出：电动势和电流</a:t>
            </a:r>
            <a:endParaRPr lang="en-001" sz="1800"/>
          </a:p>
        </p:txBody>
      </p:sp>
      <p:sp>
        <p:nvSpPr>
          <p:cNvPr id="23" name="TextBox 22">
            <a:extLst>
              <a:ext uri="{FF2B5EF4-FFF2-40B4-BE49-F238E27FC236}">
                <a16:creationId xmlns:a16="http://schemas.microsoft.com/office/drawing/2014/main" id="{6DBC402A-C948-4E7A-8EE7-A2F8D7626CF3}"/>
              </a:ext>
            </a:extLst>
          </p:cNvPr>
          <p:cNvSpPr txBox="1"/>
          <p:nvPr/>
        </p:nvSpPr>
        <p:spPr>
          <a:xfrm>
            <a:off x="4715589" y="2933388"/>
            <a:ext cx="3651802" cy="1121525"/>
          </a:xfrm>
          <a:prstGeom prst="rect">
            <a:avLst/>
          </a:prstGeom>
          <a:noFill/>
          <a:ln>
            <a:noFill/>
          </a:ln>
        </p:spPr>
        <p:txBody>
          <a:bodyPr wrap="square">
            <a:spAutoFit/>
          </a:bodyPr>
          <a:lstStyle>
            <a:defPPr>
              <a:defRPr lang="zh-CN"/>
            </a:defPPr>
            <a:lvl1pPr>
              <a:lnSpc>
                <a:spcPct val="130000"/>
              </a:lnSpc>
              <a:buFont typeface="Wingdings" pitchFamily="2" charset="2"/>
              <a:buNone/>
              <a:defRPr sz="2000" b="1">
                <a:latin typeface="宋体" pitchFamily="2" charset="-122"/>
                <a:ea typeface="宋体" pitchFamily="2"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r>
              <a:rPr lang="zh-CN" altLang="en-US" sz="1800"/>
              <a:t>实际的传感器存在内部损耗：</a:t>
            </a:r>
            <a:endParaRPr lang="en-US" altLang="zh-CN" sz="1800"/>
          </a:p>
          <a:p>
            <a:pPr marL="285750" indent="-285750">
              <a:buFont typeface="Arial" panose="020B0604020202020204" pitchFamily="34" charset="0"/>
              <a:buChar char="•"/>
            </a:pPr>
            <a:r>
              <a:rPr lang="zh-CN" altLang="en-US" sz="1800"/>
              <a:t>在机械输人端有机械阻抗</a:t>
            </a:r>
            <a:r>
              <a:rPr lang="en-US" altLang="zh-CN" sz="1800"/>
              <a:t>Zm</a:t>
            </a:r>
          </a:p>
          <a:p>
            <a:pPr marL="285750" indent="-285750">
              <a:buFont typeface="Arial" panose="020B0604020202020204" pitchFamily="34" charset="0"/>
              <a:buChar char="•"/>
            </a:pPr>
            <a:r>
              <a:rPr lang="zh-CN" altLang="en-US" sz="1800"/>
              <a:t>在电输出端有电阻抗</a:t>
            </a:r>
            <a:r>
              <a:rPr lang="en-US" altLang="zh-CN" sz="1800"/>
              <a:t>Ze</a:t>
            </a:r>
            <a:endParaRPr lang="en-001" sz="1800"/>
          </a:p>
        </p:txBody>
      </p:sp>
      <p:pic>
        <p:nvPicPr>
          <p:cNvPr id="24" name="Picture 23">
            <a:extLst>
              <a:ext uri="{FF2B5EF4-FFF2-40B4-BE49-F238E27FC236}">
                <a16:creationId xmlns:a16="http://schemas.microsoft.com/office/drawing/2014/main" id="{8E98463E-A29C-4EEC-A8DB-303C86EDA04E}"/>
              </a:ext>
            </a:extLst>
          </p:cNvPr>
          <p:cNvPicPr>
            <a:picLocks noChangeAspect="1"/>
          </p:cNvPicPr>
          <p:nvPr/>
        </p:nvPicPr>
        <p:blipFill rotWithShape="1">
          <a:blip r:embed="rId3"/>
          <a:srcRect t="41122" r="57643"/>
          <a:stretch/>
        </p:blipFill>
        <p:spPr>
          <a:xfrm>
            <a:off x="952843" y="4435176"/>
            <a:ext cx="3475569" cy="1261089"/>
          </a:xfrm>
          <a:prstGeom prst="rect">
            <a:avLst/>
          </a:prstGeom>
        </p:spPr>
      </p:pic>
    </p:spTree>
    <p:extLst>
      <p:ext uri="{BB962C8B-B14F-4D97-AF65-F5344CB8AC3E}">
        <p14:creationId xmlns:p14="http://schemas.microsoft.com/office/powerpoint/2010/main" val="11281974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40" name="Text Box 15"/>
          <p:cNvSpPr txBox="1">
            <a:spLocks noChangeArrowheads="1"/>
          </p:cNvSpPr>
          <p:nvPr/>
        </p:nvSpPr>
        <p:spPr bwMode="auto">
          <a:xfrm>
            <a:off x="2373902" y="1808650"/>
            <a:ext cx="3231106"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50000"/>
              </a:spcBef>
              <a:buClrTx/>
              <a:buFontTx/>
              <a:buNone/>
            </a:pPr>
            <a:r>
              <a:rPr kumimoji="1" lang="zh-CN" altLang="en-US" sz="2000">
                <a:solidFill>
                  <a:schemeClr val="tx1"/>
                </a:solidFill>
                <a:latin typeface="华文中宋" pitchFamily="2" charset="-122"/>
                <a:ea typeface="华文中宋" pitchFamily="2" charset="-122"/>
              </a:rPr>
              <a:t>二阶机械系统：</a:t>
            </a:r>
            <a:endParaRPr kumimoji="1" lang="en-US" altLang="zh-CN" sz="2000">
              <a:solidFill>
                <a:schemeClr val="tx1"/>
              </a:solidFill>
              <a:latin typeface="华文中宋" pitchFamily="2" charset="-122"/>
              <a:ea typeface="华文中宋" pitchFamily="2" charset="-122"/>
            </a:endParaRPr>
          </a:p>
          <a:p>
            <a:pPr marL="342900" indent="-342900" eaLnBrk="1" hangingPunct="1">
              <a:spcBef>
                <a:spcPct val="50000"/>
              </a:spcBef>
              <a:buClrTx/>
              <a:buFont typeface="Arial" panose="020B0604020202020204" pitchFamily="34" charset="0"/>
              <a:buChar char="•"/>
            </a:pPr>
            <a:r>
              <a:rPr kumimoji="1" lang="zh-CN" altLang="en-US" sz="2000">
                <a:solidFill>
                  <a:schemeClr val="tx1"/>
                </a:solidFill>
                <a:latin typeface="华文中宋" pitchFamily="2" charset="-122"/>
                <a:ea typeface="华文中宋" pitchFamily="2" charset="-122"/>
              </a:rPr>
              <a:t>质量块</a:t>
            </a:r>
            <a:r>
              <a:rPr kumimoji="1" lang="en-US" altLang="zh-CN" sz="2000">
                <a:solidFill>
                  <a:schemeClr val="tx1"/>
                </a:solidFill>
                <a:latin typeface="华文中宋" pitchFamily="2" charset="-122"/>
                <a:ea typeface="华文中宋" pitchFamily="2" charset="-122"/>
              </a:rPr>
              <a:t>(</a:t>
            </a:r>
            <a:r>
              <a:rPr kumimoji="1" lang="zh-CN" altLang="en-US" sz="2000">
                <a:solidFill>
                  <a:schemeClr val="tx1"/>
                </a:solidFill>
                <a:latin typeface="华文中宋" pitchFamily="2" charset="-122"/>
                <a:ea typeface="华文中宋" pitchFamily="2" charset="-122"/>
              </a:rPr>
              <a:t>质量</a:t>
            </a:r>
            <a:r>
              <a:rPr kumimoji="1" lang="en-US" altLang="zh-CN" sz="2000">
                <a:solidFill>
                  <a:schemeClr val="tx1"/>
                </a:solidFill>
                <a:latin typeface="华文中宋" pitchFamily="2" charset="-122"/>
                <a:ea typeface="华文中宋" pitchFamily="2" charset="-122"/>
              </a:rPr>
              <a:t>m)</a:t>
            </a:r>
          </a:p>
          <a:p>
            <a:pPr marL="342900" indent="-342900" eaLnBrk="1" hangingPunct="1">
              <a:spcBef>
                <a:spcPct val="50000"/>
              </a:spcBef>
              <a:buClrTx/>
              <a:buFont typeface="Arial" panose="020B0604020202020204" pitchFamily="34" charset="0"/>
              <a:buChar char="•"/>
            </a:pPr>
            <a:r>
              <a:rPr kumimoji="1" lang="zh-CN" altLang="en-US" sz="2000">
                <a:solidFill>
                  <a:schemeClr val="tx1"/>
                </a:solidFill>
                <a:latin typeface="华文中宋" pitchFamily="2" charset="-122"/>
                <a:ea typeface="华文中宋" pitchFamily="2" charset="-122"/>
              </a:rPr>
              <a:t>弹簧</a:t>
            </a:r>
            <a:r>
              <a:rPr kumimoji="1" lang="en-US" altLang="zh-CN" sz="2000">
                <a:solidFill>
                  <a:schemeClr val="tx1"/>
                </a:solidFill>
                <a:latin typeface="华文中宋" pitchFamily="2" charset="-122"/>
                <a:ea typeface="华文中宋" pitchFamily="2" charset="-122"/>
              </a:rPr>
              <a:t>(</a:t>
            </a:r>
            <a:r>
              <a:rPr kumimoji="1" lang="zh-CN" altLang="en-US" sz="2000">
                <a:solidFill>
                  <a:schemeClr val="tx1"/>
                </a:solidFill>
                <a:latin typeface="华文中宋" pitchFamily="2" charset="-122"/>
                <a:ea typeface="华文中宋" pitchFamily="2" charset="-122"/>
              </a:rPr>
              <a:t>刚度</a:t>
            </a:r>
            <a:r>
              <a:rPr kumimoji="1" lang="en-US" altLang="zh-CN" sz="2000">
                <a:solidFill>
                  <a:schemeClr val="tx1"/>
                </a:solidFill>
                <a:latin typeface="华文中宋" pitchFamily="2" charset="-122"/>
                <a:ea typeface="华文中宋" pitchFamily="2" charset="-122"/>
              </a:rPr>
              <a:t>c)</a:t>
            </a:r>
          </a:p>
          <a:p>
            <a:pPr marL="342900" indent="-342900" eaLnBrk="1" hangingPunct="1">
              <a:spcBef>
                <a:spcPct val="50000"/>
              </a:spcBef>
              <a:buClrTx/>
              <a:buFont typeface="Arial" panose="020B0604020202020204" pitchFamily="34" charset="0"/>
              <a:buChar char="•"/>
            </a:pPr>
            <a:r>
              <a:rPr kumimoji="1" lang="zh-CN" altLang="en-US" sz="2000">
                <a:solidFill>
                  <a:schemeClr val="tx1"/>
                </a:solidFill>
                <a:latin typeface="华文中宋" pitchFamily="2" charset="-122"/>
                <a:ea typeface="华文中宋" pitchFamily="2" charset="-122"/>
              </a:rPr>
              <a:t>阻尼器</a:t>
            </a:r>
            <a:r>
              <a:rPr kumimoji="1" lang="en-US" altLang="zh-CN" sz="2000">
                <a:solidFill>
                  <a:schemeClr val="tx1"/>
                </a:solidFill>
                <a:latin typeface="华文中宋" pitchFamily="2" charset="-122"/>
                <a:ea typeface="华文中宋" pitchFamily="2" charset="-122"/>
              </a:rPr>
              <a:t>(</a:t>
            </a:r>
            <a:r>
              <a:rPr kumimoji="1" lang="zh-CN" altLang="en-US" sz="2000">
                <a:solidFill>
                  <a:schemeClr val="tx1"/>
                </a:solidFill>
                <a:latin typeface="华文中宋" pitchFamily="2" charset="-122"/>
                <a:ea typeface="华文中宋" pitchFamily="2" charset="-122"/>
              </a:rPr>
              <a:t>阻尼系数</a:t>
            </a:r>
            <a:r>
              <a:rPr kumimoji="1" lang="en-US" altLang="zh-CN" sz="2000">
                <a:solidFill>
                  <a:schemeClr val="tx1"/>
                </a:solidFill>
                <a:latin typeface="华文中宋" pitchFamily="2" charset="-122"/>
                <a:ea typeface="华文中宋" pitchFamily="2" charset="-122"/>
              </a:rPr>
              <a:t>b)</a:t>
            </a:r>
            <a:endParaRPr kumimoji="1" lang="zh-CN" altLang="en-US" sz="2000" dirty="0">
              <a:solidFill>
                <a:schemeClr val="tx1"/>
              </a:solidFill>
              <a:latin typeface="华文中宋" pitchFamily="2" charset="-122"/>
              <a:ea typeface="华文中宋" pitchFamily="2" charset="-122"/>
            </a:endParaRPr>
          </a:p>
        </p:txBody>
      </p:sp>
      <p:sp>
        <p:nvSpPr>
          <p:cNvPr id="2" name="Slide Number Placeholder 1">
            <a:extLst>
              <a:ext uri="{FF2B5EF4-FFF2-40B4-BE49-F238E27FC236}">
                <a16:creationId xmlns:a16="http://schemas.microsoft.com/office/drawing/2014/main" id="{29792AB6-CA2B-4850-A7C8-59B596E71100}"/>
              </a:ext>
            </a:extLst>
          </p:cNvPr>
          <p:cNvSpPr>
            <a:spLocks noGrp="1"/>
          </p:cNvSpPr>
          <p:nvPr>
            <p:ph type="sldNum" sz="quarter" idx="12"/>
          </p:nvPr>
        </p:nvSpPr>
        <p:spPr/>
        <p:txBody>
          <a:bodyPr/>
          <a:lstStyle/>
          <a:p>
            <a:fld id="{B53602B4-F12B-41CD-B648-531F86B2CC91}" type="slidenum">
              <a:rPr lang="zh-CN" altLang="en-US" smtClean="0"/>
              <a:t>13</a:t>
            </a:fld>
            <a:endParaRPr lang="zh-CN" altLang="en-US"/>
          </a:p>
        </p:txBody>
      </p:sp>
      <p:pic>
        <p:nvPicPr>
          <p:cNvPr id="3" name="Picture 2">
            <a:extLst>
              <a:ext uri="{FF2B5EF4-FFF2-40B4-BE49-F238E27FC236}">
                <a16:creationId xmlns:a16="http://schemas.microsoft.com/office/drawing/2014/main" id="{242C6BB3-B1AE-4918-818B-BD0D10F4E917}"/>
              </a:ext>
            </a:extLst>
          </p:cNvPr>
          <p:cNvPicPr>
            <a:picLocks noChangeAspect="1"/>
          </p:cNvPicPr>
          <p:nvPr/>
        </p:nvPicPr>
        <p:blipFill>
          <a:blip r:embed="rId3"/>
          <a:stretch>
            <a:fillRect/>
          </a:stretch>
        </p:blipFill>
        <p:spPr>
          <a:xfrm>
            <a:off x="180474" y="1658662"/>
            <a:ext cx="2031361" cy="3631698"/>
          </a:xfrm>
          <a:prstGeom prst="rect">
            <a:avLst/>
          </a:prstGeom>
        </p:spPr>
      </p:pic>
      <p:sp>
        <p:nvSpPr>
          <p:cNvPr id="25" name="TextBox 24">
            <a:extLst>
              <a:ext uri="{FF2B5EF4-FFF2-40B4-BE49-F238E27FC236}">
                <a16:creationId xmlns:a16="http://schemas.microsoft.com/office/drawing/2014/main" id="{884AF008-9AE1-4C92-BEC5-5095B3F7F57E}"/>
              </a:ext>
            </a:extLst>
          </p:cNvPr>
          <p:cNvSpPr txBox="1"/>
          <p:nvPr/>
        </p:nvSpPr>
        <p:spPr>
          <a:xfrm>
            <a:off x="221176" y="1172710"/>
            <a:ext cx="1949958" cy="461665"/>
          </a:xfrm>
          <a:prstGeom prst="rect">
            <a:avLst/>
          </a:prstGeom>
          <a:noFill/>
        </p:spPr>
        <p:txBody>
          <a:bodyPr wrap="square">
            <a:spAutoFit/>
          </a:bodyPr>
          <a:lstStyle/>
          <a:p>
            <a:r>
              <a:rPr kumimoji="0" lang="zh-CN" altLang="en-US" sz="2400" b="1" i="0" u="none" strike="noStrike" kern="1200" cap="none" spc="0" normalizeH="0" baseline="0" noProof="0">
                <a:ln>
                  <a:noFill/>
                </a:ln>
                <a:solidFill>
                  <a:srgbClr val="C00000"/>
                </a:solidFill>
                <a:effectLst/>
                <a:uLnTx/>
                <a:uFillTx/>
                <a:latin typeface="宋体" pitchFamily="2" charset="-122"/>
                <a:ea typeface="宋体" pitchFamily="2" charset="-122"/>
                <a:cs typeface="+mn-cs"/>
              </a:rPr>
              <a:t>机械阻抗</a:t>
            </a:r>
            <a:endParaRPr lang="en-001" sz="2400"/>
          </a:p>
        </p:txBody>
      </p:sp>
      <p:pic>
        <p:nvPicPr>
          <p:cNvPr id="4" name="Picture 3">
            <a:extLst>
              <a:ext uri="{FF2B5EF4-FFF2-40B4-BE49-F238E27FC236}">
                <a16:creationId xmlns:a16="http://schemas.microsoft.com/office/drawing/2014/main" id="{F7CDD35A-E349-40A7-A59B-EED95308BA2B}"/>
              </a:ext>
            </a:extLst>
          </p:cNvPr>
          <p:cNvPicPr>
            <a:picLocks noChangeAspect="1"/>
          </p:cNvPicPr>
          <p:nvPr/>
        </p:nvPicPr>
        <p:blipFill>
          <a:blip r:embed="rId4"/>
          <a:stretch>
            <a:fillRect/>
          </a:stretch>
        </p:blipFill>
        <p:spPr>
          <a:xfrm>
            <a:off x="5929313" y="2199585"/>
            <a:ext cx="3116424" cy="1707502"/>
          </a:xfrm>
          <a:prstGeom prst="rect">
            <a:avLst/>
          </a:prstGeom>
        </p:spPr>
      </p:pic>
      <p:pic>
        <p:nvPicPr>
          <p:cNvPr id="5" name="Picture 4">
            <a:extLst>
              <a:ext uri="{FF2B5EF4-FFF2-40B4-BE49-F238E27FC236}">
                <a16:creationId xmlns:a16="http://schemas.microsoft.com/office/drawing/2014/main" id="{016C9345-BB0C-467B-A4A9-02561A5FFC89}"/>
              </a:ext>
            </a:extLst>
          </p:cNvPr>
          <p:cNvPicPr>
            <a:picLocks noChangeAspect="1"/>
          </p:cNvPicPr>
          <p:nvPr/>
        </p:nvPicPr>
        <p:blipFill>
          <a:blip r:embed="rId5"/>
          <a:stretch>
            <a:fillRect/>
          </a:stretch>
        </p:blipFill>
        <p:spPr>
          <a:xfrm>
            <a:off x="5863712" y="4028692"/>
            <a:ext cx="3182025" cy="812800"/>
          </a:xfrm>
          <a:prstGeom prst="rect">
            <a:avLst/>
          </a:prstGeom>
        </p:spPr>
      </p:pic>
      <p:sp>
        <p:nvSpPr>
          <p:cNvPr id="6" name="Arrow: Left-Right 5">
            <a:extLst>
              <a:ext uri="{FF2B5EF4-FFF2-40B4-BE49-F238E27FC236}">
                <a16:creationId xmlns:a16="http://schemas.microsoft.com/office/drawing/2014/main" id="{A758F9FF-2A6A-4F19-8238-84699922B958}"/>
              </a:ext>
            </a:extLst>
          </p:cNvPr>
          <p:cNvSpPr/>
          <p:nvPr/>
        </p:nvSpPr>
        <p:spPr>
          <a:xfrm>
            <a:off x="4953259" y="2829308"/>
            <a:ext cx="813816" cy="44805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graphicFrame>
        <p:nvGraphicFramePr>
          <p:cNvPr id="42" name="对象 2"/>
          <p:cNvGraphicFramePr>
            <a:graphicFrameLocks noChangeAspect="1"/>
          </p:cNvGraphicFramePr>
          <p:nvPr>
            <p:extLst>
              <p:ext uri="{D42A27DB-BD31-4B8C-83A1-F6EECF244321}">
                <p14:modId xmlns:p14="http://schemas.microsoft.com/office/powerpoint/2010/main" val="1213963208"/>
              </p:ext>
            </p:extLst>
          </p:nvPr>
        </p:nvGraphicFramePr>
        <p:xfrm>
          <a:off x="2373902" y="4084254"/>
          <a:ext cx="2678112" cy="757238"/>
        </p:xfrm>
        <a:graphic>
          <a:graphicData uri="http://schemas.openxmlformats.org/presentationml/2006/ole">
            <mc:AlternateContent xmlns:mc="http://schemas.openxmlformats.org/markup-compatibility/2006">
              <mc:Choice xmlns:v="urn:schemas-microsoft-com:vml" Requires="v">
                <p:oleObj name="Equation" r:id="rId6" imgW="1384200" imgH="393480" progId="Equation.DSMT4">
                  <p:embed/>
                </p:oleObj>
              </mc:Choice>
              <mc:Fallback>
                <p:oleObj name="Equation" r:id="rId6" imgW="1384200" imgH="393480" progId="Equation.DSMT4">
                  <p:embed/>
                  <p:pic>
                    <p:nvPicPr>
                      <p:cNvPr id="0" name=""/>
                      <p:cNvPicPr>
                        <a:picLocks noChangeAspect="1" noChangeArrowheads="1"/>
                      </p:cNvPicPr>
                      <p:nvPr/>
                    </p:nvPicPr>
                    <p:blipFill>
                      <a:blip r:embed="rId7"/>
                      <a:srcRect/>
                      <a:stretch>
                        <a:fillRect/>
                      </a:stretch>
                    </p:blipFill>
                    <p:spPr bwMode="auto">
                      <a:xfrm>
                        <a:off x="2373902" y="4084254"/>
                        <a:ext cx="2678112" cy="757238"/>
                      </a:xfrm>
                      <a:prstGeom prst="rect">
                        <a:avLst/>
                      </a:prstGeom>
                      <a:noFill/>
                      <a:ln>
                        <a:noFill/>
                      </a:ln>
                    </p:spPr>
                  </p:pic>
                </p:oleObj>
              </mc:Fallback>
            </mc:AlternateContent>
          </a:graphicData>
        </a:graphic>
      </p:graphicFrame>
      <p:sp>
        <p:nvSpPr>
          <p:cNvPr id="29" name="Text Box 15">
            <a:extLst>
              <a:ext uri="{FF2B5EF4-FFF2-40B4-BE49-F238E27FC236}">
                <a16:creationId xmlns:a16="http://schemas.microsoft.com/office/drawing/2014/main" id="{97F8A827-DFC2-4657-889B-C254FE323729}"/>
              </a:ext>
            </a:extLst>
          </p:cNvPr>
          <p:cNvSpPr txBox="1">
            <a:spLocks noChangeArrowheads="1"/>
          </p:cNvSpPr>
          <p:nvPr/>
        </p:nvSpPr>
        <p:spPr bwMode="auto">
          <a:xfrm>
            <a:off x="6406670" y="1736982"/>
            <a:ext cx="18137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50000"/>
              </a:spcBef>
              <a:buClrTx/>
              <a:buFontTx/>
              <a:buNone/>
            </a:pPr>
            <a:r>
              <a:rPr kumimoji="1" lang="en-US" altLang="zh-CN" sz="2000">
                <a:solidFill>
                  <a:schemeClr val="tx1"/>
                </a:solidFill>
                <a:latin typeface="华文中宋" pitchFamily="2" charset="-122"/>
                <a:ea typeface="华文中宋" pitchFamily="2" charset="-122"/>
              </a:rPr>
              <a:t>RLC</a:t>
            </a:r>
            <a:r>
              <a:rPr kumimoji="1" lang="zh-CN" altLang="en-US" sz="2000">
                <a:solidFill>
                  <a:schemeClr val="tx1"/>
                </a:solidFill>
                <a:latin typeface="华文中宋" pitchFamily="2" charset="-122"/>
                <a:ea typeface="华文中宋" pitchFamily="2" charset="-122"/>
              </a:rPr>
              <a:t>串联电路</a:t>
            </a:r>
            <a:endParaRPr kumimoji="1" lang="zh-CN" altLang="en-US" sz="2000" dirty="0">
              <a:solidFill>
                <a:schemeClr val="tx1"/>
              </a:solidFill>
              <a:latin typeface="华文中宋" pitchFamily="2" charset="-122"/>
              <a:ea typeface="华文中宋" pitchFamily="2" charset="-122"/>
            </a:endParaRPr>
          </a:p>
        </p:txBody>
      </p:sp>
    </p:spTree>
    <p:extLst>
      <p:ext uri="{BB962C8B-B14F-4D97-AF65-F5344CB8AC3E}">
        <p14:creationId xmlns:p14="http://schemas.microsoft.com/office/powerpoint/2010/main" val="25389388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40" name="Text Box 15"/>
          <p:cNvSpPr txBox="1">
            <a:spLocks noChangeArrowheads="1"/>
          </p:cNvSpPr>
          <p:nvPr/>
        </p:nvSpPr>
        <p:spPr bwMode="auto">
          <a:xfrm>
            <a:off x="2373902" y="1808650"/>
            <a:ext cx="3231106"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50000"/>
              </a:spcBef>
              <a:buClrTx/>
              <a:buFontTx/>
              <a:buNone/>
            </a:pPr>
            <a:r>
              <a:rPr kumimoji="1" lang="zh-CN" altLang="en-US" sz="2000">
                <a:solidFill>
                  <a:schemeClr val="tx1"/>
                </a:solidFill>
                <a:latin typeface="华文中宋" pitchFamily="2" charset="-122"/>
                <a:ea typeface="华文中宋" pitchFamily="2" charset="-122"/>
              </a:rPr>
              <a:t>二阶机械系统：</a:t>
            </a:r>
            <a:endParaRPr kumimoji="1" lang="en-US" altLang="zh-CN" sz="2000">
              <a:solidFill>
                <a:schemeClr val="tx1"/>
              </a:solidFill>
              <a:latin typeface="华文中宋" pitchFamily="2" charset="-122"/>
              <a:ea typeface="华文中宋" pitchFamily="2" charset="-122"/>
            </a:endParaRPr>
          </a:p>
          <a:p>
            <a:pPr marL="342900" indent="-342900" eaLnBrk="1" hangingPunct="1">
              <a:spcBef>
                <a:spcPct val="50000"/>
              </a:spcBef>
              <a:buClrTx/>
              <a:buFont typeface="Arial" panose="020B0604020202020204" pitchFamily="34" charset="0"/>
              <a:buChar char="•"/>
            </a:pPr>
            <a:r>
              <a:rPr kumimoji="1" lang="zh-CN" altLang="en-US" sz="2000">
                <a:solidFill>
                  <a:schemeClr val="tx1"/>
                </a:solidFill>
                <a:latin typeface="华文中宋" pitchFamily="2" charset="-122"/>
                <a:ea typeface="华文中宋" pitchFamily="2" charset="-122"/>
              </a:rPr>
              <a:t>质量块</a:t>
            </a:r>
            <a:r>
              <a:rPr kumimoji="1" lang="en-US" altLang="zh-CN" sz="2000">
                <a:solidFill>
                  <a:schemeClr val="tx1"/>
                </a:solidFill>
                <a:latin typeface="华文中宋" pitchFamily="2" charset="-122"/>
                <a:ea typeface="华文中宋" pitchFamily="2" charset="-122"/>
              </a:rPr>
              <a:t>(</a:t>
            </a:r>
            <a:r>
              <a:rPr kumimoji="1" lang="zh-CN" altLang="en-US" sz="2000">
                <a:solidFill>
                  <a:schemeClr val="tx1"/>
                </a:solidFill>
                <a:latin typeface="华文中宋" pitchFamily="2" charset="-122"/>
                <a:ea typeface="华文中宋" pitchFamily="2" charset="-122"/>
              </a:rPr>
              <a:t>质量</a:t>
            </a:r>
            <a:r>
              <a:rPr kumimoji="1" lang="en-US" altLang="zh-CN" sz="2000">
                <a:solidFill>
                  <a:schemeClr val="tx1"/>
                </a:solidFill>
                <a:latin typeface="华文中宋" pitchFamily="2" charset="-122"/>
                <a:ea typeface="华文中宋" pitchFamily="2" charset="-122"/>
              </a:rPr>
              <a:t>m)</a:t>
            </a:r>
          </a:p>
          <a:p>
            <a:pPr marL="342900" indent="-342900" eaLnBrk="1" hangingPunct="1">
              <a:spcBef>
                <a:spcPct val="50000"/>
              </a:spcBef>
              <a:buClrTx/>
              <a:buFont typeface="Arial" panose="020B0604020202020204" pitchFamily="34" charset="0"/>
              <a:buChar char="•"/>
            </a:pPr>
            <a:r>
              <a:rPr kumimoji="1" lang="zh-CN" altLang="en-US" sz="2000">
                <a:solidFill>
                  <a:schemeClr val="tx1"/>
                </a:solidFill>
                <a:latin typeface="华文中宋" pitchFamily="2" charset="-122"/>
                <a:ea typeface="华文中宋" pitchFamily="2" charset="-122"/>
              </a:rPr>
              <a:t>弹簧</a:t>
            </a:r>
            <a:r>
              <a:rPr kumimoji="1" lang="en-US" altLang="zh-CN" sz="2000">
                <a:solidFill>
                  <a:schemeClr val="tx1"/>
                </a:solidFill>
                <a:latin typeface="华文中宋" pitchFamily="2" charset="-122"/>
                <a:ea typeface="华文中宋" pitchFamily="2" charset="-122"/>
              </a:rPr>
              <a:t>(</a:t>
            </a:r>
            <a:r>
              <a:rPr kumimoji="1" lang="zh-CN" altLang="en-US" sz="2000">
                <a:solidFill>
                  <a:schemeClr val="tx1"/>
                </a:solidFill>
                <a:latin typeface="华文中宋" pitchFamily="2" charset="-122"/>
                <a:ea typeface="华文中宋" pitchFamily="2" charset="-122"/>
              </a:rPr>
              <a:t>刚度</a:t>
            </a:r>
            <a:r>
              <a:rPr kumimoji="1" lang="en-US" altLang="zh-CN" sz="2000">
                <a:solidFill>
                  <a:schemeClr val="tx1"/>
                </a:solidFill>
                <a:latin typeface="华文中宋" pitchFamily="2" charset="-122"/>
                <a:ea typeface="华文中宋" pitchFamily="2" charset="-122"/>
              </a:rPr>
              <a:t>c)</a:t>
            </a:r>
          </a:p>
          <a:p>
            <a:pPr marL="342900" indent="-342900" eaLnBrk="1" hangingPunct="1">
              <a:spcBef>
                <a:spcPct val="50000"/>
              </a:spcBef>
              <a:buClrTx/>
              <a:buFont typeface="Arial" panose="020B0604020202020204" pitchFamily="34" charset="0"/>
              <a:buChar char="•"/>
            </a:pPr>
            <a:r>
              <a:rPr kumimoji="1" lang="zh-CN" altLang="en-US" sz="2000">
                <a:solidFill>
                  <a:schemeClr val="tx1"/>
                </a:solidFill>
                <a:latin typeface="华文中宋" pitchFamily="2" charset="-122"/>
                <a:ea typeface="华文中宋" pitchFamily="2" charset="-122"/>
              </a:rPr>
              <a:t>阻尼器</a:t>
            </a:r>
            <a:r>
              <a:rPr kumimoji="1" lang="en-US" altLang="zh-CN" sz="2000">
                <a:solidFill>
                  <a:schemeClr val="tx1"/>
                </a:solidFill>
                <a:latin typeface="华文中宋" pitchFamily="2" charset="-122"/>
                <a:ea typeface="华文中宋" pitchFamily="2" charset="-122"/>
              </a:rPr>
              <a:t>(</a:t>
            </a:r>
            <a:r>
              <a:rPr kumimoji="1" lang="zh-CN" altLang="en-US" sz="2000">
                <a:solidFill>
                  <a:schemeClr val="tx1"/>
                </a:solidFill>
                <a:latin typeface="华文中宋" pitchFamily="2" charset="-122"/>
                <a:ea typeface="华文中宋" pitchFamily="2" charset="-122"/>
              </a:rPr>
              <a:t>阻尼系数</a:t>
            </a:r>
            <a:r>
              <a:rPr kumimoji="1" lang="en-US" altLang="zh-CN" sz="2000">
                <a:solidFill>
                  <a:schemeClr val="tx1"/>
                </a:solidFill>
                <a:latin typeface="华文中宋" pitchFamily="2" charset="-122"/>
                <a:ea typeface="华文中宋" pitchFamily="2" charset="-122"/>
              </a:rPr>
              <a:t>b)</a:t>
            </a:r>
            <a:endParaRPr kumimoji="1" lang="zh-CN" altLang="en-US" sz="2000" dirty="0">
              <a:solidFill>
                <a:schemeClr val="tx1"/>
              </a:solidFill>
              <a:latin typeface="华文中宋" pitchFamily="2" charset="-122"/>
              <a:ea typeface="华文中宋" pitchFamily="2" charset="-122"/>
            </a:endParaRPr>
          </a:p>
        </p:txBody>
      </p:sp>
      <p:sp>
        <p:nvSpPr>
          <p:cNvPr id="2" name="Slide Number Placeholder 1">
            <a:extLst>
              <a:ext uri="{FF2B5EF4-FFF2-40B4-BE49-F238E27FC236}">
                <a16:creationId xmlns:a16="http://schemas.microsoft.com/office/drawing/2014/main" id="{29792AB6-CA2B-4850-A7C8-59B596E71100}"/>
              </a:ext>
            </a:extLst>
          </p:cNvPr>
          <p:cNvSpPr>
            <a:spLocks noGrp="1"/>
          </p:cNvSpPr>
          <p:nvPr>
            <p:ph type="sldNum" sz="quarter" idx="12"/>
          </p:nvPr>
        </p:nvSpPr>
        <p:spPr/>
        <p:txBody>
          <a:bodyPr/>
          <a:lstStyle/>
          <a:p>
            <a:fld id="{B53602B4-F12B-41CD-B648-531F86B2CC91}" type="slidenum">
              <a:rPr lang="zh-CN" altLang="en-US" smtClean="0"/>
              <a:t>14</a:t>
            </a:fld>
            <a:endParaRPr lang="zh-CN" altLang="en-US"/>
          </a:p>
        </p:txBody>
      </p:sp>
      <p:pic>
        <p:nvPicPr>
          <p:cNvPr id="3" name="Picture 2">
            <a:extLst>
              <a:ext uri="{FF2B5EF4-FFF2-40B4-BE49-F238E27FC236}">
                <a16:creationId xmlns:a16="http://schemas.microsoft.com/office/drawing/2014/main" id="{242C6BB3-B1AE-4918-818B-BD0D10F4E917}"/>
              </a:ext>
            </a:extLst>
          </p:cNvPr>
          <p:cNvPicPr>
            <a:picLocks noChangeAspect="1"/>
          </p:cNvPicPr>
          <p:nvPr/>
        </p:nvPicPr>
        <p:blipFill>
          <a:blip r:embed="rId3"/>
          <a:stretch>
            <a:fillRect/>
          </a:stretch>
        </p:blipFill>
        <p:spPr>
          <a:xfrm>
            <a:off x="180474" y="1658662"/>
            <a:ext cx="2031361" cy="3631698"/>
          </a:xfrm>
          <a:prstGeom prst="rect">
            <a:avLst/>
          </a:prstGeom>
        </p:spPr>
      </p:pic>
      <p:sp>
        <p:nvSpPr>
          <p:cNvPr id="25" name="TextBox 24">
            <a:extLst>
              <a:ext uri="{FF2B5EF4-FFF2-40B4-BE49-F238E27FC236}">
                <a16:creationId xmlns:a16="http://schemas.microsoft.com/office/drawing/2014/main" id="{884AF008-9AE1-4C92-BEC5-5095B3F7F57E}"/>
              </a:ext>
            </a:extLst>
          </p:cNvPr>
          <p:cNvSpPr txBox="1"/>
          <p:nvPr/>
        </p:nvSpPr>
        <p:spPr>
          <a:xfrm>
            <a:off x="221176" y="1172710"/>
            <a:ext cx="1949958" cy="461665"/>
          </a:xfrm>
          <a:prstGeom prst="rect">
            <a:avLst/>
          </a:prstGeom>
          <a:noFill/>
        </p:spPr>
        <p:txBody>
          <a:bodyPr wrap="square">
            <a:spAutoFit/>
          </a:bodyPr>
          <a:lstStyle/>
          <a:p>
            <a:r>
              <a:rPr kumimoji="0" lang="zh-CN" altLang="en-US" sz="2400" b="1" i="0" u="none" strike="noStrike" kern="1200" cap="none" spc="0" normalizeH="0" baseline="0" noProof="0">
                <a:ln>
                  <a:noFill/>
                </a:ln>
                <a:solidFill>
                  <a:srgbClr val="C00000"/>
                </a:solidFill>
                <a:effectLst/>
                <a:uLnTx/>
                <a:uFillTx/>
                <a:latin typeface="宋体" pitchFamily="2" charset="-122"/>
                <a:ea typeface="宋体" pitchFamily="2" charset="-122"/>
                <a:cs typeface="+mn-cs"/>
              </a:rPr>
              <a:t>机械阻抗</a:t>
            </a:r>
            <a:endParaRPr lang="en-001" sz="2400"/>
          </a:p>
        </p:txBody>
      </p:sp>
      <p:sp>
        <p:nvSpPr>
          <p:cNvPr id="14" name="Text Box 15">
            <a:extLst>
              <a:ext uri="{FF2B5EF4-FFF2-40B4-BE49-F238E27FC236}">
                <a16:creationId xmlns:a16="http://schemas.microsoft.com/office/drawing/2014/main" id="{797BA3CC-9BEC-4C54-A589-40D5E019F7C3}"/>
              </a:ext>
            </a:extLst>
          </p:cNvPr>
          <p:cNvSpPr txBox="1">
            <a:spLocks noChangeArrowheads="1"/>
          </p:cNvSpPr>
          <p:nvPr/>
        </p:nvSpPr>
        <p:spPr bwMode="auto">
          <a:xfrm>
            <a:off x="5409710" y="1742780"/>
            <a:ext cx="323110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50000"/>
              </a:spcBef>
              <a:buClrTx/>
              <a:buFontTx/>
              <a:buNone/>
            </a:pPr>
            <a:r>
              <a:rPr kumimoji="1" lang="zh-CN" altLang="en-US" sz="2000">
                <a:solidFill>
                  <a:schemeClr val="tx1"/>
                </a:solidFill>
                <a:latin typeface="华文中宋" pitchFamily="2" charset="-122"/>
                <a:ea typeface="华文中宋" pitchFamily="2" charset="-122"/>
              </a:rPr>
              <a:t>机械阻抗是表明机械系统中某一点上的运动响应（位移、速度</a:t>
            </a:r>
            <a:r>
              <a:rPr kumimoji="1" lang="en-US" altLang="zh-CN" sz="2000">
                <a:solidFill>
                  <a:schemeClr val="tx1"/>
                </a:solidFill>
                <a:latin typeface="华文中宋" pitchFamily="2" charset="-122"/>
                <a:ea typeface="华文中宋" pitchFamily="2" charset="-122"/>
              </a:rPr>
              <a:t>v</a:t>
            </a:r>
            <a:r>
              <a:rPr kumimoji="1" lang="zh-CN" altLang="en-US" sz="2000">
                <a:solidFill>
                  <a:schemeClr val="tx1"/>
                </a:solidFill>
                <a:latin typeface="华文中宋" pitchFamily="2" charset="-122"/>
                <a:ea typeface="华文中宋" pitchFamily="2" charset="-122"/>
              </a:rPr>
              <a:t>或加速度</a:t>
            </a:r>
            <a:r>
              <a:rPr kumimoji="1" lang="en-US" altLang="zh-CN" sz="2000">
                <a:solidFill>
                  <a:schemeClr val="tx1"/>
                </a:solidFill>
                <a:latin typeface="华文中宋" pitchFamily="2" charset="-122"/>
                <a:ea typeface="华文中宋" pitchFamily="2" charset="-122"/>
              </a:rPr>
              <a:t>a</a:t>
            </a:r>
            <a:r>
              <a:rPr kumimoji="1" lang="zh-CN" altLang="en-US" sz="2000">
                <a:solidFill>
                  <a:schemeClr val="tx1"/>
                </a:solidFill>
                <a:latin typeface="华文中宋" pitchFamily="2" charset="-122"/>
                <a:ea typeface="华文中宋" pitchFamily="2" charset="-122"/>
              </a:rPr>
              <a:t>）和引起这个运动的力</a:t>
            </a:r>
            <a:r>
              <a:rPr kumimoji="1" lang="en-US" altLang="zh-CN" sz="2000">
                <a:solidFill>
                  <a:schemeClr val="tx1"/>
                </a:solidFill>
                <a:latin typeface="华文中宋" pitchFamily="2" charset="-122"/>
                <a:ea typeface="华文中宋" pitchFamily="2" charset="-122"/>
              </a:rPr>
              <a:t>F</a:t>
            </a:r>
            <a:r>
              <a:rPr kumimoji="1" lang="zh-CN" altLang="en-US" sz="2000">
                <a:solidFill>
                  <a:schemeClr val="tx1"/>
                </a:solidFill>
                <a:latin typeface="华文中宋" pitchFamily="2" charset="-122"/>
                <a:ea typeface="华文中宋" pitchFamily="2" charset="-122"/>
              </a:rPr>
              <a:t>之间的关系。</a:t>
            </a:r>
          </a:p>
          <a:p>
            <a:pPr eaLnBrk="1" hangingPunct="1">
              <a:spcBef>
                <a:spcPct val="50000"/>
              </a:spcBef>
              <a:buClrTx/>
              <a:buFontTx/>
              <a:buNone/>
            </a:pPr>
            <a:r>
              <a:rPr kumimoji="1" lang="zh-CN" altLang="en-US" sz="2000">
                <a:solidFill>
                  <a:schemeClr val="tx1"/>
                </a:solidFill>
                <a:latin typeface="华文中宋" pitchFamily="2" charset="-122"/>
                <a:ea typeface="华文中宋" pitchFamily="2" charset="-122"/>
              </a:rPr>
              <a:t>速度型传感器的机械阻抗 </a:t>
            </a:r>
            <a:endParaRPr kumimoji="1" lang="en-US" altLang="zh-CN" sz="2000">
              <a:solidFill>
                <a:schemeClr val="tx1"/>
              </a:solidFill>
              <a:latin typeface="华文中宋" pitchFamily="2" charset="-122"/>
              <a:ea typeface="华文中宋" pitchFamily="2" charset="-122"/>
            </a:endParaRPr>
          </a:p>
          <a:p>
            <a:pPr algn="ctr" eaLnBrk="1" hangingPunct="1">
              <a:spcBef>
                <a:spcPct val="50000"/>
              </a:spcBef>
              <a:buClrTx/>
              <a:buFontTx/>
              <a:buNone/>
            </a:pPr>
            <a:r>
              <a:rPr kumimoji="1" lang="en-US" altLang="zh-CN" sz="2000">
                <a:solidFill>
                  <a:schemeClr val="tx1"/>
                </a:solidFill>
                <a:latin typeface="华文中宋" pitchFamily="2" charset="-122"/>
                <a:ea typeface="华文中宋" pitchFamily="2" charset="-122"/>
              </a:rPr>
              <a:t>Z=F/v</a:t>
            </a:r>
            <a:endParaRPr kumimoji="1" lang="zh-CN" altLang="en-US" sz="2000" dirty="0">
              <a:solidFill>
                <a:schemeClr val="tx1"/>
              </a:solidFill>
              <a:latin typeface="华文中宋" pitchFamily="2" charset="-122"/>
              <a:ea typeface="华文中宋" pitchFamily="2" charset="-122"/>
            </a:endParaRPr>
          </a:p>
        </p:txBody>
      </p:sp>
      <p:pic>
        <p:nvPicPr>
          <p:cNvPr id="8" name="Picture 7">
            <a:extLst>
              <a:ext uri="{FF2B5EF4-FFF2-40B4-BE49-F238E27FC236}">
                <a16:creationId xmlns:a16="http://schemas.microsoft.com/office/drawing/2014/main" id="{2D33E49F-32D7-4F8E-B243-1CBE8E4D7B1E}"/>
              </a:ext>
            </a:extLst>
          </p:cNvPr>
          <p:cNvPicPr>
            <a:picLocks noChangeAspect="1"/>
          </p:cNvPicPr>
          <p:nvPr/>
        </p:nvPicPr>
        <p:blipFill>
          <a:blip r:embed="rId4"/>
          <a:stretch>
            <a:fillRect/>
          </a:stretch>
        </p:blipFill>
        <p:spPr>
          <a:xfrm>
            <a:off x="6147885" y="5606698"/>
            <a:ext cx="1895456" cy="634979"/>
          </a:xfrm>
          <a:prstGeom prst="rect">
            <a:avLst/>
          </a:prstGeom>
        </p:spPr>
      </p:pic>
      <p:sp>
        <p:nvSpPr>
          <p:cNvPr id="18" name="TextBox 17">
            <a:extLst>
              <a:ext uri="{FF2B5EF4-FFF2-40B4-BE49-F238E27FC236}">
                <a16:creationId xmlns:a16="http://schemas.microsoft.com/office/drawing/2014/main" id="{637ED017-0A72-4D98-8818-A81B304D39A4}"/>
              </a:ext>
            </a:extLst>
          </p:cNvPr>
          <p:cNvSpPr txBox="1"/>
          <p:nvPr/>
        </p:nvSpPr>
        <p:spPr>
          <a:xfrm>
            <a:off x="5605008" y="5090305"/>
            <a:ext cx="2125595" cy="400110"/>
          </a:xfrm>
          <a:prstGeom prst="rect">
            <a:avLst/>
          </a:prstGeom>
          <a:noFill/>
        </p:spPr>
        <p:txBody>
          <a:bodyPr wrap="square">
            <a:spAutoFit/>
          </a:bodyPr>
          <a:lstStyle/>
          <a:p>
            <a:r>
              <a:rPr kumimoji="1" lang="en-001" sz="2000" dirty="0">
                <a:latin typeface="华文中宋" pitchFamily="2" charset="-122"/>
                <a:ea typeface="华文中宋" pitchFamily="2" charset="-122"/>
              </a:rPr>
              <a:t>系统</a:t>
            </a:r>
            <a:r>
              <a:rPr kumimoji="1" lang="zh-CN" altLang="en-US" sz="2000" dirty="0">
                <a:latin typeface="华文中宋" pitchFamily="2" charset="-122"/>
                <a:ea typeface="华文中宋" pitchFamily="2" charset="-122"/>
              </a:rPr>
              <a:t>固有</a:t>
            </a:r>
            <a:r>
              <a:rPr kumimoji="1" lang="en-001" sz="2000" dirty="0">
                <a:latin typeface="华文中宋" pitchFamily="2" charset="-122"/>
                <a:ea typeface="华文中宋" pitchFamily="2" charset="-122"/>
              </a:rPr>
              <a:t>频率</a:t>
            </a:r>
          </a:p>
        </p:txBody>
      </p:sp>
      <p:graphicFrame>
        <p:nvGraphicFramePr>
          <p:cNvPr id="19" name="对象 2">
            <a:extLst>
              <a:ext uri="{FF2B5EF4-FFF2-40B4-BE49-F238E27FC236}">
                <a16:creationId xmlns:a16="http://schemas.microsoft.com/office/drawing/2014/main" id="{DE435D24-C54A-4516-ACED-4692C7A2D9E7}"/>
              </a:ext>
            </a:extLst>
          </p:cNvPr>
          <p:cNvGraphicFramePr>
            <a:graphicFrameLocks noChangeAspect="1"/>
          </p:cNvGraphicFramePr>
          <p:nvPr>
            <p:extLst>
              <p:ext uri="{D42A27DB-BD31-4B8C-83A1-F6EECF244321}">
                <p14:modId xmlns:p14="http://schemas.microsoft.com/office/powerpoint/2010/main" val="2666357699"/>
              </p:ext>
            </p:extLst>
          </p:nvPr>
        </p:nvGraphicFramePr>
        <p:xfrm>
          <a:off x="5605008" y="4087995"/>
          <a:ext cx="2530475" cy="755650"/>
        </p:xfrm>
        <a:graphic>
          <a:graphicData uri="http://schemas.openxmlformats.org/presentationml/2006/ole">
            <mc:AlternateContent xmlns:mc="http://schemas.openxmlformats.org/markup-compatibility/2006">
              <mc:Choice xmlns:v="urn:schemas-microsoft-com:vml" Requires="v">
                <p:oleObj name="Equation" r:id="rId5" imgW="1307880" imgH="393480" progId="Equation.DSMT4">
                  <p:embed/>
                </p:oleObj>
              </mc:Choice>
              <mc:Fallback>
                <p:oleObj name="Equation" r:id="rId5" imgW="1307880" imgH="393480" progId="Equation.DSMT4">
                  <p:embed/>
                  <p:pic>
                    <p:nvPicPr>
                      <p:cNvPr id="42" name="对象 2"/>
                      <p:cNvPicPr>
                        <a:picLocks noChangeAspect="1" noChangeArrowheads="1"/>
                      </p:cNvPicPr>
                      <p:nvPr/>
                    </p:nvPicPr>
                    <p:blipFill>
                      <a:blip r:embed="rId6"/>
                      <a:srcRect/>
                      <a:stretch>
                        <a:fillRect/>
                      </a:stretch>
                    </p:blipFill>
                    <p:spPr bwMode="auto">
                      <a:xfrm>
                        <a:off x="5605008" y="4087995"/>
                        <a:ext cx="2530475" cy="755650"/>
                      </a:xfrm>
                      <a:prstGeom prst="rect">
                        <a:avLst/>
                      </a:prstGeom>
                      <a:solidFill>
                        <a:schemeClr val="accent4"/>
                      </a:solidFill>
                      <a:ln>
                        <a:noFill/>
                      </a:ln>
                    </p:spPr>
                  </p:pic>
                </p:oleObj>
              </mc:Fallback>
            </mc:AlternateContent>
          </a:graphicData>
        </a:graphic>
      </p:graphicFrame>
      <p:graphicFrame>
        <p:nvGraphicFramePr>
          <p:cNvPr id="4" name="Object 3">
            <a:extLst>
              <a:ext uri="{FF2B5EF4-FFF2-40B4-BE49-F238E27FC236}">
                <a16:creationId xmlns:a16="http://schemas.microsoft.com/office/drawing/2014/main" id="{2D139D9A-2C1A-4AD5-A7EA-8FB78CAECA35}"/>
              </a:ext>
            </a:extLst>
          </p:cNvPr>
          <p:cNvGraphicFramePr>
            <a:graphicFrameLocks noChangeAspect="1"/>
          </p:cNvGraphicFramePr>
          <p:nvPr>
            <p:extLst>
              <p:ext uri="{D42A27DB-BD31-4B8C-83A1-F6EECF244321}">
                <p14:modId xmlns:p14="http://schemas.microsoft.com/office/powerpoint/2010/main" val="2585214001"/>
              </p:ext>
            </p:extLst>
          </p:nvPr>
        </p:nvGraphicFramePr>
        <p:xfrm>
          <a:off x="2373902" y="4087995"/>
          <a:ext cx="2678113" cy="757237"/>
        </p:xfrm>
        <a:graphic>
          <a:graphicData uri="http://schemas.openxmlformats.org/presentationml/2006/ole">
            <mc:AlternateContent xmlns:mc="http://schemas.openxmlformats.org/markup-compatibility/2006">
              <mc:Choice xmlns:v="urn:schemas-microsoft-com:vml" Requires="v">
                <p:oleObj name="Equation" r:id="rId7" imgW="2677880" imgH="757467" progId="Equation.DSMT4">
                  <p:embed/>
                </p:oleObj>
              </mc:Choice>
              <mc:Fallback>
                <p:oleObj name="Equation" r:id="rId7" imgW="2677880" imgH="757467" progId="Equation.DSMT4">
                  <p:embed/>
                  <p:pic>
                    <p:nvPicPr>
                      <p:cNvPr id="0" name=""/>
                      <p:cNvPicPr/>
                      <p:nvPr/>
                    </p:nvPicPr>
                    <p:blipFill>
                      <a:blip r:embed="rId8"/>
                      <a:stretch>
                        <a:fillRect/>
                      </a:stretch>
                    </p:blipFill>
                    <p:spPr>
                      <a:xfrm>
                        <a:off x="2373902" y="4087995"/>
                        <a:ext cx="2678113" cy="757237"/>
                      </a:xfrm>
                      <a:prstGeom prst="rect">
                        <a:avLst/>
                      </a:prstGeom>
                    </p:spPr>
                  </p:pic>
                </p:oleObj>
              </mc:Fallback>
            </mc:AlternateContent>
          </a:graphicData>
        </a:graphic>
      </p:graphicFrame>
    </p:spTree>
    <p:extLst>
      <p:ext uri="{BB962C8B-B14F-4D97-AF65-F5344CB8AC3E}">
        <p14:creationId xmlns:p14="http://schemas.microsoft.com/office/powerpoint/2010/main" val="322601854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4B7F6C-44E9-43DC-BAFA-5A00F7DE015A}"/>
              </a:ext>
            </a:extLst>
          </p:cNvPr>
          <p:cNvPicPr>
            <a:picLocks noChangeAspect="1"/>
          </p:cNvPicPr>
          <p:nvPr/>
        </p:nvPicPr>
        <p:blipFill>
          <a:blip r:embed="rId3"/>
          <a:stretch>
            <a:fillRect/>
          </a:stretch>
        </p:blipFill>
        <p:spPr>
          <a:xfrm>
            <a:off x="467475" y="4456463"/>
            <a:ext cx="8209050" cy="2009729"/>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2" name="Slide Number Placeholder 1">
            <a:extLst>
              <a:ext uri="{FF2B5EF4-FFF2-40B4-BE49-F238E27FC236}">
                <a16:creationId xmlns:a16="http://schemas.microsoft.com/office/drawing/2014/main" id="{29792AB6-CA2B-4850-A7C8-59B596E71100}"/>
              </a:ext>
            </a:extLst>
          </p:cNvPr>
          <p:cNvSpPr>
            <a:spLocks noGrp="1"/>
          </p:cNvSpPr>
          <p:nvPr>
            <p:ph type="sldNum" sz="quarter" idx="12"/>
          </p:nvPr>
        </p:nvSpPr>
        <p:spPr/>
        <p:txBody>
          <a:bodyPr/>
          <a:lstStyle/>
          <a:p>
            <a:fld id="{B53602B4-F12B-41CD-B648-531F86B2CC91}" type="slidenum">
              <a:rPr lang="zh-CN" altLang="en-US" smtClean="0"/>
              <a:t>15</a:t>
            </a:fld>
            <a:endParaRPr lang="zh-CN" altLang="en-US"/>
          </a:p>
        </p:txBody>
      </p:sp>
      <p:sp>
        <p:nvSpPr>
          <p:cNvPr id="25" name="TextBox 24">
            <a:extLst>
              <a:ext uri="{FF2B5EF4-FFF2-40B4-BE49-F238E27FC236}">
                <a16:creationId xmlns:a16="http://schemas.microsoft.com/office/drawing/2014/main" id="{884AF008-9AE1-4C92-BEC5-5095B3F7F57E}"/>
              </a:ext>
            </a:extLst>
          </p:cNvPr>
          <p:cNvSpPr txBox="1"/>
          <p:nvPr/>
        </p:nvSpPr>
        <p:spPr>
          <a:xfrm>
            <a:off x="221176" y="1172710"/>
            <a:ext cx="1949958"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传递矩阵</a:t>
            </a:r>
            <a:endParaRPr lang="en-001" sz="2400"/>
          </a:p>
        </p:txBody>
      </p:sp>
      <p:sp>
        <p:nvSpPr>
          <p:cNvPr id="15" name="Text Box 15">
            <a:extLst>
              <a:ext uri="{FF2B5EF4-FFF2-40B4-BE49-F238E27FC236}">
                <a16:creationId xmlns:a16="http://schemas.microsoft.com/office/drawing/2014/main" id="{1AFBD03C-40F4-4305-9995-44603C56BEB8}"/>
              </a:ext>
            </a:extLst>
          </p:cNvPr>
          <p:cNvSpPr txBox="1">
            <a:spLocks noChangeArrowheads="1"/>
          </p:cNvSpPr>
          <p:nvPr/>
        </p:nvSpPr>
        <p:spPr bwMode="auto">
          <a:xfrm>
            <a:off x="348343" y="1901918"/>
            <a:ext cx="8270702"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50000"/>
              </a:spcBef>
              <a:buClrTx/>
              <a:buFontTx/>
              <a:buNone/>
            </a:pPr>
            <a:r>
              <a:rPr kumimoji="1" lang="zh-CN" altLang="en-US" sz="2000">
                <a:solidFill>
                  <a:schemeClr val="tx1"/>
                </a:solidFill>
                <a:latin typeface="华文中宋" pitchFamily="2" charset="-122"/>
                <a:ea typeface="华文中宋" pitchFamily="2" charset="-122"/>
              </a:rPr>
              <a:t>磁电感应式传感器作为一种机电型传感器，其电气参数和机械参数之间存在着密切的机电联系，它们</a:t>
            </a:r>
            <a:r>
              <a:rPr kumimoji="1" lang="zh-CN" altLang="en-US" sz="2000">
                <a:solidFill>
                  <a:srgbClr val="00B0F0"/>
                </a:solidFill>
                <a:latin typeface="华文中宋" pitchFamily="2" charset="-122"/>
                <a:ea typeface="华文中宋" pitchFamily="2" charset="-122"/>
              </a:rPr>
              <a:t>既能作为机械量的测量传感器，又能作为发动机，即它们具有双向（可逆）的性质</a:t>
            </a:r>
            <a:r>
              <a:rPr kumimoji="1" lang="zh-CN" altLang="en-US" sz="2000">
                <a:solidFill>
                  <a:schemeClr val="tx1"/>
                </a:solidFill>
                <a:latin typeface="华文中宋" pitchFamily="2" charset="-122"/>
                <a:ea typeface="华文中宋" pitchFamily="2" charset="-122"/>
              </a:rPr>
              <a:t>。</a:t>
            </a:r>
          </a:p>
          <a:p>
            <a:pPr eaLnBrk="1" hangingPunct="1">
              <a:spcBef>
                <a:spcPct val="50000"/>
              </a:spcBef>
              <a:buClrTx/>
              <a:buFontTx/>
              <a:buNone/>
            </a:pPr>
            <a:r>
              <a:rPr kumimoji="1" lang="zh-CN" altLang="en-US" sz="2000">
                <a:solidFill>
                  <a:schemeClr val="tx1"/>
                </a:solidFill>
                <a:latin typeface="华文中宋" pitchFamily="2" charset="-122"/>
                <a:ea typeface="华文中宋" pitchFamily="2" charset="-122"/>
              </a:rPr>
              <a:t>为了进一步讨论机电传感器的双向性质，我们用网络理论对传感器进行分析并结合矩阵导出描述磁电感应式传感器双向性质的传递矩阵</a:t>
            </a:r>
            <a:endParaRPr kumimoji="1" lang="en-US" altLang="zh-CN" sz="2000">
              <a:solidFill>
                <a:schemeClr val="tx1"/>
              </a:solidFill>
              <a:latin typeface="华文中宋" pitchFamily="2" charset="-122"/>
              <a:ea typeface="华文中宋" pitchFamily="2" charset="-122"/>
            </a:endParaRPr>
          </a:p>
          <a:p>
            <a:pPr eaLnBrk="1" hangingPunct="1">
              <a:spcBef>
                <a:spcPct val="50000"/>
              </a:spcBef>
              <a:buClrTx/>
              <a:buFontTx/>
              <a:buNone/>
            </a:pPr>
            <a:r>
              <a:rPr kumimoji="1" lang="zh-CN" altLang="en-US" sz="2000">
                <a:solidFill>
                  <a:schemeClr val="tx1"/>
                </a:solidFill>
                <a:latin typeface="华文中宋" pitchFamily="2" charset="-122"/>
                <a:ea typeface="华文中宋" pitchFamily="2" charset="-122"/>
              </a:rPr>
              <a:t>传感器的输人端（机械系统）有机械阻抗，输出端有电阻抗，因此可用三个二端口网络表示</a:t>
            </a:r>
            <a:endParaRPr kumimoji="1" lang="zh-CN" altLang="en-US" sz="2000" dirty="0">
              <a:solidFill>
                <a:schemeClr val="tx1"/>
              </a:solidFill>
              <a:latin typeface="华文中宋" pitchFamily="2" charset="-122"/>
              <a:ea typeface="华文中宋" pitchFamily="2" charset="-122"/>
            </a:endParaRPr>
          </a:p>
        </p:txBody>
      </p:sp>
    </p:spTree>
    <p:extLst>
      <p:ext uri="{BB962C8B-B14F-4D97-AF65-F5344CB8AC3E}">
        <p14:creationId xmlns:p14="http://schemas.microsoft.com/office/powerpoint/2010/main" val="24198545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grpSp>
        <p:nvGrpSpPr>
          <p:cNvPr id="31" name="Group 23"/>
          <p:cNvGrpSpPr>
            <a:grpSpLocks/>
          </p:cNvGrpSpPr>
          <p:nvPr/>
        </p:nvGrpSpPr>
        <p:grpSpPr bwMode="auto">
          <a:xfrm>
            <a:off x="1196155" y="1785269"/>
            <a:ext cx="7064941" cy="4689954"/>
            <a:chOff x="249" y="-17"/>
            <a:chExt cx="5108" cy="4338"/>
          </a:xfrm>
        </p:grpSpPr>
        <p:pic>
          <p:nvPicPr>
            <p:cNvPr id="32" name="Picture 24" descr="c8_4_fig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49" y="-17"/>
              <a:ext cx="5103" cy="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 Box 25"/>
            <p:cNvSpPr txBox="1">
              <a:spLocks noChangeArrowheads="1"/>
            </p:cNvSpPr>
            <p:nvPr/>
          </p:nvSpPr>
          <p:spPr bwMode="auto">
            <a:xfrm>
              <a:off x="4041" y="710"/>
              <a:ext cx="423" cy="541"/>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0"/>
                </a:spcBef>
                <a:buClrTx/>
                <a:buFontTx/>
                <a:buNone/>
              </a:pPr>
              <a:r>
                <a:rPr kumimoji="1" lang="en-US" altLang="zh-CN" i="1">
                  <a:solidFill>
                    <a:schemeClr val="tx1"/>
                  </a:solidFill>
                  <a:latin typeface="Times New Roman" pitchFamily="18" charset="0"/>
                </a:rPr>
                <a:t>v</a:t>
              </a:r>
              <a:r>
                <a:rPr kumimoji="1" lang="en-US" altLang="zh-CN" i="1" baseline="-25000">
                  <a:solidFill>
                    <a:schemeClr val="tx1"/>
                  </a:solidFill>
                  <a:latin typeface="Times New Roman" pitchFamily="18" charset="0"/>
                </a:rPr>
                <a:t>m</a:t>
              </a:r>
            </a:p>
          </p:txBody>
        </p:sp>
        <p:sp>
          <p:nvSpPr>
            <p:cNvPr id="34" name="Text Box 26"/>
            <p:cNvSpPr txBox="1">
              <a:spLocks noChangeArrowheads="1"/>
            </p:cNvSpPr>
            <p:nvPr/>
          </p:nvSpPr>
          <p:spPr bwMode="auto">
            <a:xfrm>
              <a:off x="4041" y="1862"/>
              <a:ext cx="349" cy="996"/>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0"/>
                </a:spcBef>
                <a:buClrTx/>
                <a:buFontTx/>
                <a:buNone/>
              </a:pPr>
              <a:endParaRPr kumimoji="1" lang="en-US" altLang="zh-CN" i="1">
                <a:solidFill>
                  <a:schemeClr val="tx1"/>
                </a:solidFill>
                <a:latin typeface="Times New Roman" pitchFamily="18" charset="0"/>
              </a:endParaRPr>
            </a:p>
            <a:p>
              <a:pPr eaLnBrk="1" hangingPunct="1">
                <a:spcBef>
                  <a:spcPct val="0"/>
                </a:spcBef>
                <a:buClrTx/>
                <a:buFontTx/>
                <a:buNone/>
              </a:pPr>
              <a:r>
                <a:rPr kumimoji="1" lang="en-US" altLang="zh-CN" i="1">
                  <a:solidFill>
                    <a:schemeClr val="tx1"/>
                  </a:solidFill>
                  <a:latin typeface="Times New Roman" pitchFamily="18" charset="0"/>
                </a:rPr>
                <a:t>v</a:t>
              </a:r>
              <a:r>
                <a:rPr kumimoji="1" lang="en-US" altLang="zh-CN" sz="1200" i="1">
                  <a:solidFill>
                    <a:schemeClr val="tx1"/>
                  </a:solidFill>
                  <a:latin typeface="Times New Roman" pitchFamily="18" charset="0"/>
                </a:rPr>
                <a:t>0</a:t>
              </a:r>
            </a:p>
          </p:txBody>
        </p:sp>
        <p:sp>
          <p:nvSpPr>
            <p:cNvPr id="35" name="Text Box 27"/>
            <p:cNvSpPr txBox="1">
              <a:spLocks noChangeArrowheads="1"/>
            </p:cNvSpPr>
            <p:nvPr/>
          </p:nvSpPr>
          <p:spPr bwMode="auto">
            <a:xfrm>
              <a:off x="2593" y="487"/>
              <a:ext cx="416" cy="455"/>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0"/>
                </a:spcBef>
                <a:buClrTx/>
                <a:buFontTx/>
                <a:buNone/>
              </a:pPr>
              <a:r>
                <a:rPr kumimoji="1" lang="en-US" altLang="zh-CN" i="1">
                  <a:solidFill>
                    <a:schemeClr val="tx1"/>
                  </a:solidFill>
                  <a:latin typeface="Times New Roman" pitchFamily="18" charset="0"/>
                </a:rPr>
                <a:t>v</a:t>
              </a:r>
              <a:r>
                <a:rPr kumimoji="1" lang="en-US" altLang="zh-CN" sz="2800" i="1" baseline="-25000">
                  <a:solidFill>
                    <a:schemeClr val="tx1"/>
                  </a:solidFill>
                  <a:latin typeface="Times New Roman" pitchFamily="18" charset="0"/>
                </a:rPr>
                <a:t>t</a:t>
              </a:r>
              <a:endParaRPr kumimoji="1" lang="en-US" altLang="zh-CN" sz="2800" i="1" baseline="-25000" dirty="0">
                <a:solidFill>
                  <a:schemeClr val="tx1"/>
                </a:solidFill>
                <a:latin typeface="Times New Roman" pitchFamily="18" charset="0"/>
              </a:endParaRPr>
            </a:p>
          </p:txBody>
        </p:sp>
        <p:sp>
          <p:nvSpPr>
            <p:cNvPr id="36" name="Text Box 28"/>
            <p:cNvSpPr txBox="1">
              <a:spLocks noChangeArrowheads="1"/>
            </p:cNvSpPr>
            <p:nvPr/>
          </p:nvSpPr>
          <p:spPr bwMode="auto">
            <a:xfrm>
              <a:off x="430" y="3746"/>
              <a:ext cx="4900"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50000"/>
                </a:spcBef>
                <a:buClrTx/>
                <a:buFontTx/>
                <a:buNone/>
              </a:pPr>
              <a:endParaRPr lang="zh-CN" altLang="zh-CN" sz="1800">
                <a:solidFill>
                  <a:schemeClr val="tx1"/>
                </a:solidFill>
              </a:endParaRPr>
            </a:p>
          </p:txBody>
        </p:sp>
        <p:sp>
          <p:nvSpPr>
            <p:cNvPr id="37" name="Text Box 29"/>
            <p:cNvSpPr txBox="1">
              <a:spLocks noChangeArrowheads="1"/>
            </p:cNvSpPr>
            <p:nvPr/>
          </p:nvSpPr>
          <p:spPr bwMode="auto">
            <a:xfrm>
              <a:off x="249" y="3780"/>
              <a:ext cx="5108" cy="5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algn="ctr" eaLnBrk="1" hangingPunct="1">
                <a:spcBef>
                  <a:spcPct val="0"/>
                </a:spcBef>
                <a:buClrTx/>
                <a:buFontTx/>
                <a:buNone/>
              </a:pPr>
              <a:r>
                <a:rPr lang="zh-CN" altLang="en-US" b="1" dirty="0">
                  <a:solidFill>
                    <a:schemeClr val="tx1"/>
                  </a:solidFill>
                  <a:latin typeface="宋体" pitchFamily="2" charset="-122"/>
                  <a:ea typeface="宋体" pitchFamily="2" charset="-122"/>
                </a:rPr>
                <a:t>力学模型</a:t>
              </a:r>
            </a:p>
          </p:txBody>
        </p:sp>
      </p:grpSp>
      <p:sp>
        <p:nvSpPr>
          <p:cNvPr id="3" name="TextBox 2"/>
          <p:cNvSpPr txBox="1"/>
          <p:nvPr/>
        </p:nvSpPr>
        <p:spPr>
          <a:xfrm>
            <a:off x="7333361" y="5118401"/>
            <a:ext cx="1122949" cy="707886"/>
          </a:xfrm>
          <a:prstGeom prst="rect">
            <a:avLst/>
          </a:prstGeom>
          <a:noFill/>
        </p:spPr>
        <p:txBody>
          <a:bodyPr wrap="square" rtlCol="0">
            <a:spAutoFit/>
          </a:bodyPr>
          <a:lstStyle/>
          <a:p>
            <a:r>
              <a:rPr lang="zh-CN" altLang="en-US" sz="2000" b="1" dirty="0">
                <a:latin typeface="宋体" panose="02010600030101010101" pitchFamily="2" charset="-122"/>
                <a:ea typeface="宋体" panose="02010600030101010101" pitchFamily="2" charset="-122"/>
              </a:rPr>
              <a:t>载体绝对速度</a:t>
            </a:r>
          </a:p>
        </p:txBody>
      </p:sp>
      <p:sp>
        <p:nvSpPr>
          <p:cNvPr id="38" name="TextBox 37"/>
          <p:cNvSpPr txBox="1"/>
          <p:nvPr/>
        </p:nvSpPr>
        <p:spPr>
          <a:xfrm>
            <a:off x="7392401" y="2599362"/>
            <a:ext cx="1122949" cy="1015663"/>
          </a:xfrm>
          <a:prstGeom prst="rect">
            <a:avLst/>
          </a:prstGeom>
          <a:noFill/>
        </p:spPr>
        <p:txBody>
          <a:bodyPr wrap="square" rtlCol="0">
            <a:spAutoFit/>
          </a:bodyPr>
          <a:lstStyle/>
          <a:p>
            <a:r>
              <a:rPr lang="zh-CN" altLang="en-US" sz="2000" b="1" dirty="0">
                <a:latin typeface="宋体" panose="02010600030101010101" pitchFamily="2" charset="-122"/>
                <a:ea typeface="宋体" panose="02010600030101010101" pitchFamily="2" charset="-122"/>
              </a:rPr>
              <a:t>质</a:t>
            </a:r>
            <a:r>
              <a:rPr lang="zh-CN" altLang="en-US" sz="2000" b="1">
                <a:latin typeface="宋体" panose="02010600030101010101" pitchFamily="2" charset="-122"/>
                <a:ea typeface="宋体" panose="02010600030101010101" pitchFamily="2" charset="-122"/>
              </a:rPr>
              <a:t>量块的绝</a:t>
            </a:r>
            <a:r>
              <a:rPr lang="zh-CN" altLang="en-US" sz="2000" b="1" dirty="0">
                <a:latin typeface="宋体" panose="02010600030101010101" pitchFamily="2" charset="-122"/>
                <a:ea typeface="宋体" panose="02010600030101010101" pitchFamily="2" charset="-122"/>
              </a:rPr>
              <a:t>对速度</a:t>
            </a:r>
          </a:p>
        </p:txBody>
      </p:sp>
      <p:sp>
        <p:nvSpPr>
          <p:cNvPr id="39" name="TextBox 38"/>
          <p:cNvSpPr txBox="1"/>
          <p:nvPr/>
        </p:nvSpPr>
        <p:spPr>
          <a:xfrm>
            <a:off x="3167743" y="1785269"/>
            <a:ext cx="3026125" cy="400110"/>
          </a:xfrm>
          <a:prstGeom prst="rect">
            <a:avLst/>
          </a:prstGeom>
          <a:noFill/>
        </p:spPr>
        <p:txBody>
          <a:bodyPr wrap="square" rtlCol="0">
            <a:spAutoFit/>
          </a:bodyPr>
          <a:lstStyle/>
          <a:p>
            <a:r>
              <a:rPr lang="zh-CN" altLang="en-US" sz="2000" b="1">
                <a:latin typeface="宋体" panose="02010600030101010101" pitchFamily="2" charset="-122"/>
                <a:ea typeface="宋体" panose="02010600030101010101" pitchFamily="2" charset="-122"/>
              </a:rPr>
              <a:t>壳体与质量块的相</a:t>
            </a:r>
            <a:r>
              <a:rPr lang="zh-CN" altLang="en-US" sz="2000" b="1" dirty="0">
                <a:latin typeface="宋体" panose="02010600030101010101" pitchFamily="2" charset="-122"/>
                <a:ea typeface="宋体" panose="02010600030101010101" pitchFamily="2" charset="-122"/>
              </a:rPr>
              <a:t>对速度</a:t>
            </a:r>
          </a:p>
        </p:txBody>
      </p:sp>
      <p:cxnSp>
        <p:nvCxnSpPr>
          <p:cNvPr id="6" name="直接箭头连接符 5"/>
          <p:cNvCxnSpPr>
            <a:cxnSpLocks/>
            <a:endCxn id="35" idx="0"/>
          </p:cNvCxnSpPr>
          <p:nvPr/>
        </p:nvCxnSpPr>
        <p:spPr>
          <a:xfrm>
            <a:off x="4725167" y="2104414"/>
            <a:ext cx="693" cy="2247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H="1">
            <a:off x="4725167" y="2137749"/>
            <a:ext cx="3458" cy="224785"/>
          </a:xfrm>
          <a:prstGeom prst="straightConnector1">
            <a:avLst/>
          </a:prstGeom>
          <a:ln w="28575">
            <a:solidFill>
              <a:schemeClr val="tx1"/>
            </a:solidFill>
            <a:tailEnd type="arrow"/>
          </a:ln>
        </p:spPr>
        <p:style>
          <a:lnRef idx="3">
            <a:schemeClr val="accent4"/>
          </a:lnRef>
          <a:fillRef idx="0">
            <a:schemeClr val="accent4"/>
          </a:fillRef>
          <a:effectRef idx="2">
            <a:schemeClr val="accent4"/>
          </a:effectRef>
          <a:fontRef idx="minor">
            <a:schemeClr val="tx1"/>
          </a:fontRef>
        </p:style>
      </p:cxnSp>
      <p:sp>
        <p:nvSpPr>
          <p:cNvPr id="2" name="Slide Number Placeholder 1">
            <a:extLst>
              <a:ext uri="{FF2B5EF4-FFF2-40B4-BE49-F238E27FC236}">
                <a16:creationId xmlns:a16="http://schemas.microsoft.com/office/drawing/2014/main" id="{AC9AC1AF-3435-442E-AD2B-BAEE78205C00}"/>
              </a:ext>
            </a:extLst>
          </p:cNvPr>
          <p:cNvSpPr>
            <a:spLocks noGrp="1"/>
          </p:cNvSpPr>
          <p:nvPr>
            <p:ph type="sldNum" sz="quarter" idx="12"/>
          </p:nvPr>
        </p:nvSpPr>
        <p:spPr/>
        <p:txBody>
          <a:bodyPr/>
          <a:lstStyle/>
          <a:p>
            <a:fld id="{B53602B4-F12B-41CD-B648-531F86B2CC91}" type="slidenum">
              <a:rPr lang="zh-CN" altLang="en-US" smtClean="0"/>
              <a:t>16</a:t>
            </a:fld>
            <a:endParaRPr lang="zh-CN" altLang="en-US"/>
          </a:p>
        </p:txBody>
      </p:sp>
      <p:graphicFrame>
        <p:nvGraphicFramePr>
          <p:cNvPr id="5" name="Object 4">
            <a:extLst>
              <a:ext uri="{FF2B5EF4-FFF2-40B4-BE49-F238E27FC236}">
                <a16:creationId xmlns:a16="http://schemas.microsoft.com/office/drawing/2014/main" id="{431DC3DE-48DB-4C18-9192-4E288B1E1D61}"/>
              </a:ext>
            </a:extLst>
          </p:cNvPr>
          <p:cNvGraphicFramePr>
            <a:graphicFrameLocks noChangeAspect="1"/>
          </p:cNvGraphicFramePr>
          <p:nvPr>
            <p:extLst>
              <p:ext uri="{D42A27DB-BD31-4B8C-83A1-F6EECF244321}">
                <p14:modId xmlns:p14="http://schemas.microsoft.com/office/powerpoint/2010/main" val="169505378"/>
              </p:ext>
            </p:extLst>
          </p:nvPr>
        </p:nvGraphicFramePr>
        <p:xfrm>
          <a:off x="3741738" y="1082675"/>
          <a:ext cx="1966912" cy="642938"/>
        </p:xfrm>
        <a:graphic>
          <a:graphicData uri="http://schemas.openxmlformats.org/presentationml/2006/ole">
            <mc:AlternateContent xmlns:mc="http://schemas.openxmlformats.org/markup-compatibility/2006">
              <mc:Choice xmlns:v="urn:schemas-microsoft-com:vml" Requires="v">
                <p:oleObj name="Equation" r:id="rId4" imgW="698400" imgH="228600" progId="Equation.DSMT4">
                  <p:embed/>
                </p:oleObj>
              </mc:Choice>
              <mc:Fallback>
                <p:oleObj name="Equation" r:id="rId4" imgW="698400" imgH="228600" progId="Equation.DSMT4">
                  <p:embed/>
                  <p:pic>
                    <p:nvPicPr>
                      <p:cNvPr id="0" name=""/>
                      <p:cNvPicPr/>
                      <p:nvPr/>
                    </p:nvPicPr>
                    <p:blipFill>
                      <a:blip r:embed="rId5"/>
                      <a:stretch>
                        <a:fillRect/>
                      </a:stretch>
                    </p:blipFill>
                    <p:spPr>
                      <a:xfrm>
                        <a:off x="3741738" y="1082675"/>
                        <a:ext cx="1966912" cy="642938"/>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E09B3F72-5B7F-42E1-8745-94455D3E0ACA}"/>
              </a:ext>
            </a:extLst>
          </p:cNvPr>
          <p:cNvPicPr>
            <a:picLocks noChangeAspect="1"/>
          </p:cNvPicPr>
          <p:nvPr/>
        </p:nvPicPr>
        <p:blipFill>
          <a:blip r:embed="rId3"/>
          <a:stretch>
            <a:fillRect/>
          </a:stretch>
        </p:blipFill>
        <p:spPr>
          <a:xfrm>
            <a:off x="191379" y="1634375"/>
            <a:ext cx="1166744" cy="2085921"/>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2" name="Slide Number Placeholder 1">
            <a:extLst>
              <a:ext uri="{FF2B5EF4-FFF2-40B4-BE49-F238E27FC236}">
                <a16:creationId xmlns:a16="http://schemas.microsoft.com/office/drawing/2014/main" id="{29792AB6-CA2B-4850-A7C8-59B596E71100}"/>
              </a:ext>
            </a:extLst>
          </p:cNvPr>
          <p:cNvSpPr>
            <a:spLocks noGrp="1"/>
          </p:cNvSpPr>
          <p:nvPr>
            <p:ph type="sldNum" sz="quarter" idx="12"/>
          </p:nvPr>
        </p:nvSpPr>
        <p:spPr/>
        <p:txBody>
          <a:bodyPr/>
          <a:lstStyle/>
          <a:p>
            <a:fld id="{B53602B4-F12B-41CD-B648-531F86B2CC91}" type="slidenum">
              <a:rPr lang="zh-CN" altLang="en-US" smtClean="0"/>
              <a:t>17</a:t>
            </a:fld>
            <a:endParaRPr lang="zh-CN" altLang="en-US"/>
          </a:p>
        </p:txBody>
      </p:sp>
      <p:sp>
        <p:nvSpPr>
          <p:cNvPr id="25" name="TextBox 24">
            <a:extLst>
              <a:ext uri="{FF2B5EF4-FFF2-40B4-BE49-F238E27FC236}">
                <a16:creationId xmlns:a16="http://schemas.microsoft.com/office/drawing/2014/main" id="{884AF008-9AE1-4C92-BEC5-5095B3F7F57E}"/>
              </a:ext>
            </a:extLst>
          </p:cNvPr>
          <p:cNvSpPr txBox="1"/>
          <p:nvPr/>
        </p:nvSpPr>
        <p:spPr>
          <a:xfrm>
            <a:off x="221176" y="1172710"/>
            <a:ext cx="1949958"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传递矩阵</a:t>
            </a:r>
            <a:endParaRPr lang="en-001" sz="2400"/>
          </a:p>
        </p:txBody>
      </p:sp>
      <p:sp>
        <p:nvSpPr>
          <p:cNvPr id="12" name="TextBox 11">
            <a:extLst>
              <a:ext uri="{FF2B5EF4-FFF2-40B4-BE49-F238E27FC236}">
                <a16:creationId xmlns:a16="http://schemas.microsoft.com/office/drawing/2014/main" id="{D102405B-77FF-4BF3-B318-E964BA66162B}"/>
              </a:ext>
            </a:extLst>
          </p:cNvPr>
          <p:cNvSpPr txBox="1"/>
          <p:nvPr/>
        </p:nvSpPr>
        <p:spPr>
          <a:xfrm>
            <a:off x="1627979" y="1163808"/>
            <a:ext cx="3814877" cy="461665"/>
          </a:xfrm>
          <a:prstGeom prst="rect">
            <a:avLst/>
          </a:prstGeom>
          <a:noFill/>
        </p:spPr>
        <p:txBody>
          <a:bodyPr wrap="square">
            <a:spAutoFit/>
          </a:bodyPr>
          <a:lstStyle/>
          <a:p>
            <a:r>
              <a:rPr lang="en-US" altLang="zh-CN" sz="2400" b="1">
                <a:solidFill>
                  <a:srgbClr val="00B0F0"/>
                </a:solidFill>
                <a:latin typeface="宋体" pitchFamily="2" charset="-122"/>
                <a:ea typeface="宋体" pitchFamily="2" charset="-122"/>
              </a:rPr>
              <a:t>1.</a:t>
            </a:r>
            <a:r>
              <a:rPr lang="zh-CN" altLang="en-US" sz="2400" b="1">
                <a:solidFill>
                  <a:srgbClr val="00B0F0"/>
                </a:solidFill>
                <a:latin typeface="宋体" pitchFamily="2" charset="-122"/>
                <a:ea typeface="宋体" pitchFamily="2" charset="-122"/>
              </a:rPr>
              <a:t>机械阻抗的传递矩阵</a:t>
            </a:r>
            <a:endParaRPr lang="en-001" sz="2400">
              <a:solidFill>
                <a:srgbClr val="00B0F0"/>
              </a:solidFill>
            </a:endParaRPr>
          </a:p>
        </p:txBody>
      </p:sp>
      <p:grpSp>
        <p:nvGrpSpPr>
          <p:cNvPr id="38" name="Group 37">
            <a:extLst>
              <a:ext uri="{FF2B5EF4-FFF2-40B4-BE49-F238E27FC236}">
                <a16:creationId xmlns:a16="http://schemas.microsoft.com/office/drawing/2014/main" id="{79779FC1-8983-40A6-BE2B-6B0434FAE206}"/>
              </a:ext>
            </a:extLst>
          </p:cNvPr>
          <p:cNvGrpSpPr/>
          <p:nvPr/>
        </p:nvGrpSpPr>
        <p:grpSpPr>
          <a:xfrm>
            <a:off x="1337474" y="1760162"/>
            <a:ext cx="2635582" cy="996148"/>
            <a:chOff x="1220813" y="2208989"/>
            <a:chExt cx="2635582" cy="996148"/>
          </a:xfrm>
        </p:grpSpPr>
        <p:graphicFrame>
          <p:nvGraphicFramePr>
            <p:cNvPr id="9" name="Object 8">
              <a:extLst>
                <a:ext uri="{FF2B5EF4-FFF2-40B4-BE49-F238E27FC236}">
                  <a16:creationId xmlns:a16="http://schemas.microsoft.com/office/drawing/2014/main" id="{594F90AF-0AF6-4AB8-89FD-C146112A4ED7}"/>
                </a:ext>
              </a:extLst>
            </p:cNvPr>
            <p:cNvGraphicFramePr>
              <a:graphicFrameLocks noChangeAspect="1"/>
            </p:cNvGraphicFramePr>
            <p:nvPr>
              <p:extLst>
                <p:ext uri="{D42A27DB-BD31-4B8C-83A1-F6EECF244321}">
                  <p14:modId xmlns:p14="http://schemas.microsoft.com/office/powerpoint/2010/main" val="2133693663"/>
                </p:ext>
              </p:extLst>
            </p:nvPr>
          </p:nvGraphicFramePr>
          <p:xfrm>
            <a:off x="1571711" y="2208989"/>
            <a:ext cx="2284684" cy="389636"/>
          </p:xfrm>
          <a:graphic>
            <a:graphicData uri="http://schemas.openxmlformats.org/presentationml/2006/ole">
              <mc:AlternateContent xmlns:mc="http://schemas.openxmlformats.org/markup-compatibility/2006">
                <mc:Choice xmlns:v="urn:schemas-microsoft-com:vml" Requires="v">
                  <p:oleObj name="Equation" r:id="rId4" imgW="1638000" imgH="279360" progId="Equation.DSMT4">
                    <p:embed/>
                  </p:oleObj>
                </mc:Choice>
                <mc:Fallback>
                  <p:oleObj name="Equation" r:id="rId4" imgW="1638000" imgH="279360" progId="Equation.DSMT4">
                    <p:embed/>
                    <p:pic>
                      <p:nvPicPr>
                        <p:cNvPr id="0" name=""/>
                        <p:cNvPicPr/>
                        <p:nvPr/>
                      </p:nvPicPr>
                      <p:blipFill>
                        <a:blip r:embed="rId5"/>
                        <a:stretch>
                          <a:fillRect/>
                        </a:stretch>
                      </p:blipFill>
                      <p:spPr>
                        <a:xfrm>
                          <a:off x="1571711" y="2208989"/>
                          <a:ext cx="2284684" cy="389636"/>
                        </a:xfrm>
                        <a:prstGeom prst="rect">
                          <a:avLst/>
                        </a:prstGeom>
                      </p:spPr>
                    </p:pic>
                  </p:oleObj>
                </mc:Fallback>
              </mc:AlternateContent>
            </a:graphicData>
          </a:graphic>
        </p:graphicFrame>
        <p:sp>
          <p:nvSpPr>
            <p:cNvPr id="17" name="TextBox 16">
              <a:extLst>
                <a:ext uri="{FF2B5EF4-FFF2-40B4-BE49-F238E27FC236}">
                  <a16:creationId xmlns:a16="http://schemas.microsoft.com/office/drawing/2014/main" id="{D573A0A9-BD4E-43D6-8951-269F4CD27B2D}"/>
                </a:ext>
              </a:extLst>
            </p:cNvPr>
            <p:cNvSpPr txBox="1"/>
            <p:nvPr/>
          </p:nvSpPr>
          <p:spPr>
            <a:xfrm>
              <a:off x="1220813" y="2866583"/>
              <a:ext cx="2515972" cy="338554"/>
            </a:xfrm>
            <a:prstGeom prst="rect">
              <a:avLst/>
            </a:prstGeom>
            <a:noFill/>
          </p:spPr>
          <p:txBody>
            <a:bodyPr wrap="square">
              <a:spAutoFit/>
            </a:bodyPr>
            <a:lstStyle/>
            <a:p>
              <a:r>
                <a:rPr lang="zh-CN" altLang="en-US" sz="1600">
                  <a:latin typeface="宋体" panose="02010600030101010101" pitchFamily="2" charset="-122"/>
                  <a:ea typeface="宋体" panose="02010600030101010101" pitchFamily="2" charset="-122"/>
                </a:rPr>
                <a:t>惯性力</a:t>
              </a: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弹性力</a:t>
              </a: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阻尼力</a:t>
              </a:r>
              <a:endParaRPr lang="en-001" sz="1600">
                <a:latin typeface="宋体" panose="02010600030101010101" pitchFamily="2" charset="-122"/>
                <a:ea typeface="宋体" panose="02010600030101010101" pitchFamily="2" charset="-122"/>
              </a:endParaRPr>
            </a:p>
          </p:txBody>
        </p:sp>
        <p:grpSp>
          <p:nvGrpSpPr>
            <p:cNvPr id="27" name="Group 26">
              <a:extLst>
                <a:ext uri="{FF2B5EF4-FFF2-40B4-BE49-F238E27FC236}">
                  <a16:creationId xmlns:a16="http://schemas.microsoft.com/office/drawing/2014/main" id="{25ACE0E9-4AC4-4699-B7C9-CAFC58A2C408}"/>
                </a:ext>
              </a:extLst>
            </p:cNvPr>
            <p:cNvGrpSpPr/>
            <p:nvPr/>
          </p:nvGrpSpPr>
          <p:grpSpPr>
            <a:xfrm>
              <a:off x="1494289" y="2646427"/>
              <a:ext cx="1666096" cy="244156"/>
              <a:chOff x="824318" y="4232632"/>
              <a:chExt cx="1884375" cy="337611"/>
            </a:xfrm>
          </p:grpSpPr>
          <p:cxnSp>
            <p:nvCxnSpPr>
              <p:cNvPr id="13" name="Straight Arrow Connector 12">
                <a:extLst>
                  <a:ext uri="{FF2B5EF4-FFF2-40B4-BE49-F238E27FC236}">
                    <a16:creationId xmlns:a16="http://schemas.microsoft.com/office/drawing/2014/main" id="{DC8D5508-B666-4A0A-BF9E-65F701682265}"/>
                  </a:ext>
                </a:extLst>
              </p:cNvPr>
              <p:cNvCxnSpPr>
                <a:cxnSpLocks/>
              </p:cNvCxnSpPr>
              <p:nvPr/>
            </p:nvCxnSpPr>
            <p:spPr>
              <a:xfrm flipV="1">
                <a:off x="824318" y="4268843"/>
                <a:ext cx="234933" cy="3014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E7BFA12-E3E3-4DE1-A647-D6A2786B2512}"/>
                  </a:ext>
                </a:extLst>
              </p:cNvPr>
              <p:cNvCxnSpPr>
                <a:cxnSpLocks/>
              </p:cNvCxnSpPr>
              <p:nvPr/>
            </p:nvCxnSpPr>
            <p:spPr>
              <a:xfrm flipV="1">
                <a:off x="1690519" y="4232632"/>
                <a:ext cx="0" cy="33708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7554765-A32B-4129-BD5B-8C9413F4E49D}"/>
                  </a:ext>
                </a:extLst>
              </p:cNvPr>
              <p:cNvCxnSpPr>
                <a:cxnSpLocks/>
              </p:cNvCxnSpPr>
              <p:nvPr/>
            </p:nvCxnSpPr>
            <p:spPr>
              <a:xfrm flipH="1" flipV="1">
                <a:off x="2388820" y="4250471"/>
                <a:ext cx="319873" cy="319241"/>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grpSp>
      </p:grpSp>
      <p:graphicFrame>
        <p:nvGraphicFramePr>
          <p:cNvPr id="21" name="Object 20">
            <a:extLst>
              <a:ext uri="{FF2B5EF4-FFF2-40B4-BE49-F238E27FC236}">
                <a16:creationId xmlns:a16="http://schemas.microsoft.com/office/drawing/2014/main" id="{591277DC-C0C1-4511-90CA-9C07388E4606}"/>
              </a:ext>
            </a:extLst>
          </p:cNvPr>
          <p:cNvGraphicFramePr>
            <a:graphicFrameLocks noChangeAspect="1"/>
          </p:cNvGraphicFramePr>
          <p:nvPr>
            <p:extLst>
              <p:ext uri="{D42A27DB-BD31-4B8C-83A1-F6EECF244321}">
                <p14:modId xmlns:p14="http://schemas.microsoft.com/office/powerpoint/2010/main" val="1137268463"/>
              </p:ext>
            </p:extLst>
          </p:nvPr>
        </p:nvGraphicFramePr>
        <p:xfrm>
          <a:off x="1471493" y="3423462"/>
          <a:ext cx="2116261" cy="601872"/>
        </p:xfrm>
        <a:graphic>
          <a:graphicData uri="http://schemas.openxmlformats.org/presentationml/2006/ole">
            <mc:AlternateContent xmlns:mc="http://schemas.openxmlformats.org/markup-compatibility/2006">
              <mc:Choice xmlns:v="urn:schemas-microsoft-com:vml" Requires="v">
                <p:oleObj name="Equation" r:id="rId6" imgW="1384200" imgH="393480" progId="Equation.DSMT4">
                  <p:embed/>
                </p:oleObj>
              </mc:Choice>
              <mc:Fallback>
                <p:oleObj name="Equation" r:id="rId6" imgW="1384200" imgH="393480" progId="Equation.DSMT4">
                  <p:embed/>
                  <p:pic>
                    <p:nvPicPr>
                      <p:cNvPr id="0" name=""/>
                      <p:cNvPicPr/>
                      <p:nvPr/>
                    </p:nvPicPr>
                    <p:blipFill>
                      <a:blip r:embed="rId7"/>
                      <a:stretch>
                        <a:fillRect/>
                      </a:stretch>
                    </p:blipFill>
                    <p:spPr>
                      <a:xfrm>
                        <a:off x="1471493" y="3423462"/>
                        <a:ext cx="2116261" cy="601872"/>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4416E786-9102-421C-AC10-04D93FE03B9E}"/>
              </a:ext>
            </a:extLst>
          </p:cNvPr>
          <p:cNvGraphicFramePr>
            <a:graphicFrameLocks noChangeAspect="1"/>
          </p:cNvGraphicFramePr>
          <p:nvPr>
            <p:extLst>
              <p:ext uri="{D42A27DB-BD31-4B8C-83A1-F6EECF244321}">
                <p14:modId xmlns:p14="http://schemas.microsoft.com/office/powerpoint/2010/main" val="3321136755"/>
              </p:ext>
            </p:extLst>
          </p:nvPr>
        </p:nvGraphicFramePr>
        <p:xfrm>
          <a:off x="1464437" y="4675710"/>
          <a:ext cx="1977151" cy="1864872"/>
        </p:xfrm>
        <a:graphic>
          <a:graphicData uri="http://schemas.openxmlformats.org/presentationml/2006/ole">
            <mc:AlternateContent xmlns:mc="http://schemas.openxmlformats.org/markup-compatibility/2006">
              <mc:Choice xmlns:v="urn:schemas-microsoft-com:vml" Requires="v">
                <p:oleObj name="Equation" r:id="rId8" imgW="1320480" imgH="1244520" progId="Equation.DSMT4">
                  <p:embed/>
                </p:oleObj>
              </mc:Choice>
              <mc:Fallback>
                <p:oleObj name="Equation" r:id="rId8" imgW="1320480" imgH="1244520" progId="Equation.DSMT4">
                  <p:embed/>
                  <p:pic>
                    <p:nvPicPr>
                      <p:cNvPr id="0" name=""/>
                      <p:cNvPicPr/>
                      <p:nvPr/>
                    </p:nvPicPr>
                    <p:blipFill>
                      <a:blip r:embed="rId9"/>
                      <a:stretch>
                        <a:fillRect/>
                      </a:stretch>
                    </p:blipFill>
                    <p:spPr>
                      <a:xfrm>
                        <a:off x="1464437" y="4675710"/>
                        <a:ext cx="1977151" cy="1864872"/>
                      </a:xfrm>
                      <a:prstGeom prst="rect">
                        <a:avLst/>
                      </a:prstGeom>
                      <a:noFill/>
                    </p:spPr>
                  </p:pic>
                </p:oleObj>
              </mc:Fallback>
            </mc:AlternateContent>
          </a:graphicData>
        </a:graphic>
      </p:graphicFrame>
      <p:graphicFrame>
        <p:nvGraphicFramePr>
          <p:cNvPr id="26" name="Object 25">
            <a:extLst>
              <a:ext uri="{FF2B5EF4-FFF2-40B4-BE49-F238E27FC236}">
                <a16:creationId xmlns:a16="http://schemas.microsoft.com/office/drawing/2014/main" id="{06DF9DCE-13E3-44AF-B0A9-6A2F4A5C25CB}"/>
              </a:ext>
            </a:extLst>
          </p:cNvPr>
          <p:cNvGraphicFramePr>
            <a:graphicFrameLocks noChangeAspect="1"/>
          </p:cNvGraphicFramePr>
          <p:nvPr>
            <p:extLst>
              <p:ext uri="{D42A27DB-BD31-4B8C-83A1-F6EECF244321}">
                <p14:modId xmlns:p14="http://schemas.microsoft.com/office/powerpoint/2010/main" val="3184247168"/>
              </p:ext>
            </p:extLst>
          </p:nvPr>
        </p:nvGraphicFramePr>
        <p:xfrm>
          <a:off x="1068553" y="3954488"/>
          <a:ext cx="2534863" cy="691326"/>
        </p:xfrm>
        <a:graphic>
          <a:graphicData uri="http://schemas.openxmlformats.org/presentationml/2006/ole">
            <mc:AlternateContent xmlns:mc="http://schemas.openxmlformats.org/markup-compatibility/2006">
              <mc:Choice xmlns:v="urn:schemas-microsoft-com:vml" Requires="v">
                <p:oleObj name="Equation" r:id="rId10" imgW="1536480" imgH="419040" progId="Equation.DSMT4">
                  <p:embed/>
                </p:oleObj>
              </mc:Choice>
              <mc:Fallback>
                <p:oleObj name="Equation" r:id="rId10" imgW="1536480" imgH="419040" progId="Equation.DSMT4">
                  <p:embed/>
                  <p:pic>
                    <p:nvPicPr>
                      <p:cNvPr id="0" name=""/>
                      <p:cNvPicPr/>
                      <p:nvPr/>
                    </p:nvPicPr>
                    <p:blipFill>
                      <a:blip r:embed="rId11"/>
                      <a:stretch>
                        <a:fillRect/>
                      </a:stretch>
                    </p:blipFill>
                    <p:spPr>
                      <a:xfrm>
                        <a:off x="1068553" y="3954488"/>
                        <a:ext cx="2534863" cy="691326"/>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159C48EE-89E4-4246-8D43-E5FAD4F418D0}"/>
              </a:ext>
            </a:extLst>
          </p:cNvPr>
          <p:cNvGraphicFramePr>
            <a:graphicFrameLocks noChangeAspect="1"/>
          </p:cNvGraphicFramePr>
          <p:nvPr>
            <p:extLst>
              <p:ext uri="{D42A27DB-BD31-4B8C-83A1-F6EECF244321}">
                <p14:modId xmlns:p14="http://schemas.microsoft.com/office/powerpoint/2010/main" val="1523180595"/>
              </p:ext>
            </p:extLst>
          </p:nvPr>
        </p:nvGraphicFramePr>
        <p:xfrm>
          <a:off x="4276723" y="3764120"/>
          <a:ext cx="3570287" cy="736600"/>
        </p:xfrm>
        <a:graphic>
          <a:graphicData uri="http://schemas.openxmlformats.org/presentationml/2006/ole">
            <mc:AlternateContent xmlns:mc="http://schemas.openxmlformats.org/markup-compatibility/2006">
              <mc:Choice xmlns:v="urn:schemas-microsoft-com:vml" Requires="v">
                <p:oleObj name="Equation" r:id="rId12" imgW="2031840" imgH="419040" progId="Equation.DSMT4">
                  <p:embed/>
                </p:oleObj>
              </mc:Choice>
              <mc:Fallback>
                <p:oleObj name="Equation" r:id="rId12" imgW="2031840" imgH="419040" progId="Equation.DSMT4">
                  <p:embed/>
                  <p:pic>
                    <p:nvPicPr>
                      <p:cNvPr id="0" name=""/>
                      <p:cNvPicPr/>
                      <p:nvPr/>
                    </p:nvPicPr>
                    <p:blipFill>
                      <a:blip r:embed="rId13"/>
                      <a:stretch>
                        <a:fillRect/>
                      </a:stretch>
                    </p:blipFill>
                    <p:spPr>
                      <a:xfrm>
                        <a:off x="4276723" y="3764120"/>
                        <a:ext cx="3570287" cy="7366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27DC3847-A33D-4802-A619-0CED604EBAB4}"/>
              </a:ext>
            </a:extLst>
          </p:cNvPr>
          <p:cNvGraphicFramePr>
            <a:graphicFrameLocks noChangeAspect="1"/>
          </p:cNvGraphicFramePr>
          <p:nvPr>
            <p:extLst>
              <p:ext uri="{D42A27DB-BD31-4B8C-83A1-F6EECF244321}">
                <p14:modId xmlns:p14="http://schemas.microsoft.com/office/powerpoint/2010/main" val="4164255763"/>
              </p:ext>
            </p:extLst>
          </p:nvPr>
        </p:nvGraphicFramePr>
        <p:xfrm>
          <a:off x="5011736" y="3168380"/>
          <a:ext cx="2749552" cy="703338"/>
        </p:xfrm>
        <a:graphic>
          <a:graphicData uri="http://schemas.openxmlformats.org/presentationml/2006/ole">
            <mc:AlternateContent xmlns:mc="http://schemas.openxmlformats.org/markup-compatibility/2006">
              <mc:Choice xmlns:v="urn:schemas-microsoft-com:vml" Requires="v">
                <p:oleObj name="Equation" r:id="rId14" imgW="1536480" imgH="393480" progId="Equation.DSMT4">
                  <p:embed/>
                </p:oleObj>
              </mc:Choice>
              <mc:Fallback>
                <p:oleObj name="Equation" r:id="rId14" imgW="1536480" imgH="393480" progId="Equation.DSMT4">
                  <p:embed/>
                  <p:pic>
                    <p:nvPicPr>
                      <p:cNvPr id="0" name=""/>
                      <p:cNvPicPr/>
                      <p:nvPr/>
                    </p:nvPicPr>
                    <p:blipFill>
                      <a:blip r:embed="rId15"/>
                      <a:stretch>
                        <a:fillRect/>
                      </a:stretch>
                    </p:blipFill>
                    <p:spPr>
                      <a:xfrm>
                        <a:off x="5011736" y="3168380"/>
                        <a:ext cx="2749552" cy="70333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id="{953227BB-E71D-41D9-8D48-2714AC367CBE}"/>
              </a:ext>
            </a:extLst>
          </p:cNvPr>
          <p:cNvPicPr>
            <a:picLocks noChangeAspect="1"/>
          </p:cNvPicPr>
          <p:nvPr/>
        </p:nvPicPr>
        <p:blipFill rotWithShape="1">
          <a:blip r:embed="rId16"/>
          <a:srcRect b="14622"/>
          <a:stretch/>
        </p:blipFill>
        <p:spPr>
          <a:xfrm>
            <a:off x="5170946" y="999568"/>
            <a:ext cx="3292515" cy="2144019"/>
          </a:xfrm>
          <a:prstGeom prst="rect">
            <a:avLst/>
          </a:prstGeom>
        </p:spPr>
      </p:pic>
      <p:graphicFrame>
        <p:nvGraphicFramePr>
          <p:cNvPr id="36" name="Object 35">
            <a:extLst>
              <a:ext uri="{FF2B5EF4-FFF2-40B4-BE49-F238E27FC236}">
                <a16:creationId xmlns:a16="http://schemas.microsoft.com/office/drawing/2014/main" id="{3240E56B-955E-4A2A-B875-428A97E966E5}"/>
              </a:ext>
            </a:extLst>
          </p:cNvPr>
          <p:cNvGraphicFramePr>
            <a:graphicFrameLocks noChangeAspect="1"/>
          </p:cNvGraphicFramePr>
          <p:nvPr>
            <p:extLst>
              <p:ext uri="{D42A27DB-BD31-4B8C-83A1-F6EECF244321}">
                <p14:modId xmlns:p14="http://schemas.microsoft.com/office/powerpoint/2010/main" val="1380906023"/>
              </p:ext>
            </p:extLst>
          </p:nvPr>
        </p:nvGraphicFramePr>
        <p:xfrm>
          <a:off x="4862510" y="4467458"/>
          <a:ext cx="4103690" cy="756547"/>
        </p:xfrm>
        <a:graphic>
          <a:graphicData uri="http://schemas.openxmlformats.org/presentationml/2006/ole">
            <mc:AlternateContent xmlns:mc="http://schemas.openxmlformats.org/markup-compatibility/2006">
              <mc:Choice xmlns:v="urn:schemas-microsoft-com:vml" Requires="v">
                <p:oleObj name="Equation" r:id="rId17" imgW="2273040" imgH="419040" progId="Equation.DSMT4">
                  <p:embed/>
                </p:oleObj>
              </mc:Choice>
              <mc:Fallback>
                <p:oleObj name="Equation" r:id="rId17" imgW="2273040" imgH="419040" progId="Equation.DSMT4">
                  <p:embed/>
                  <p:pic>
                    <p:nvPicPr>
                      <p:cNvPr id="0" name=""/>
                      <p:cNvPicPr/>
                      <p:nvPr/>
                    </p:nvPicPr>
                    <p:blipFill>
                      <a:blip r:embed="rId18"/>
                      <a:stretch>
                        <a:fillRect/>
                      </a:stretch>
                    </p:blipFill>
                    <p:spPr>
                      <a:xfrm>
                        <a:off x="4862510" y="4467458"/>
                        <a:ext cx="4103690" cy="756547"/>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958E3A07-CCE1-4685-B06E-EA5F0ACE9B72}"/>
              </a:ext>
            </a:extLst>
          </p:cNvPr>
          <p:cNvGraphicFramePr>
            <a:graphicFrameLocks noChangeAspect="1"/>
          </p:cNvGraphicFramePr>
          <p:nvPr>
            <p:extLst>
              <p:ext uri="{D42A27DB-BD31-4B8C-83A1-F6EECF244321}">
                <p14:modId xmlns:p14="http://schemas.microsoft.com/office/powerpoint/2010/main" val="1643866329"/>
              </p:ext>
            </p:extLst>
          </p:nvPr>
        </p:nvGraphicFramePr>
        <p:xfrm>
          <a:off x="4862510" y="5927343"/>
          <a:ext cx="2194525" cy="411474"/>
        </p:xfrm>
        <a:graphic>
          <a:graphicData uri="http://schemas.openxmlformats.org/presentationml/2006/ole">
            <mc:AlternateContent xmlns:mc="http://schemas.openxmlformats.org/markup-compatibility/2006">
              <mc:Choice xmlns:v="urn:schemas-microsoft-com:vml" Requires="v">
                <p:oleObj name="Equation" r:id="rId19" imgW="1218960" imgH="228600" progId="Equation.DSMT4">
                  <p:embed/>
                </p:oleObj>
              </mc:Choice>
              <mc:Fallback>
                <p:oleObj name="Equation" r:id="rId19" imgW="1218960" imgH="228600" progId="Equation.DSMT4">
                  <p:embed/>
                  <p:pic>
                    <p:nvPicPr>
                      <p:cNvPr id="0" name=""/>
                      <p:cNvPicPr/>
                      <p:nvPr/>
                    </p:nvPicPr>
                    <p:blipFill>
                      <a:blip r:embed="rId20"/>
                      <a:stretch>
                        <a:fillRect/>
                      </a:stretch>
                    </p:blipFill>
                    <p:spPr>
                      <a:xfrm>
                        <a:off x="4862510" y="5927343"/>
                        <a:ext cx="2194525" cy="411474"/>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39D7AC2F-5D80-424D-8F9D-DD22A5D9F9E5}"/>
              </a:ext>
            </a:extLst>
          </p:cNvPr>
          <p:cNvGraphicFramePr>
            <a:graphicFrameLocks noChangeAspect="1"/>
          </p:cNvGraphicFramePr>
          <p:nvPr>
            <p:extLst>
              <p:ext uri="{D42A27DB-BD31-4B8C-83A1-F6EECF244321}">
                <p14:modId xmlns:p14="http://schemas.microsoft.com/office/powerpoint/2010/main" val="1104854030"/>
              </p:ext>
            </p:extLst>
          </p:nvPr>
        </p:nvGraphicFramePr>
        <p:xfrm>
          <a:off x="1487156" y="2760566"/>
          <a:ext cx="2116260" cy="601872"/>
        </p:xfrm>
        <a:graphic>
          <a:graphicData uri="http://schemas.openxmlformats.org/presentationml/2006/ole">
            <mc:AlternateContent xmlns:mc="http://schemas.openxmlformats.org/markup-compatibility/2006">
              <mc:Choice xmlns:v="urn:schemas-microsoft-com:vml" Requires="v">
                <p:oleObj name="Equation" r:id="rId21" imgW="1384200" imgH="393480" progId="Equation.DSMT4">
                  <p:embed/>
                </p:oleObj>
              </mc:Choice>
              <mc:Fallback>
                <p:oleObj name="Equation" r:id="rId21" imgW="1384200" imgH="393480" progId="Equation.DSMT4">
                  <p:embed/>
                  <p:pic>
                    <p:nvPicPr>
                      <p:cNvPr id="0" name=""/>
                      <p:cNvPicPr/>
                      <p:nvPr/>
                    </p:nvPicPr>
                    <p:blipFill>
                      <a:blip r:embed="rId22"/>
                      <a:stretch>
                        <a:fillRect/>
                      </a:stretch>
                    </p:blipFill>
                    <p:spPr>
                      <a:xfrm>
                        <a:off x="1487156" y="2760566"/>
                        <a:ext cx="2116260" cy="601872"/>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F161AFA1-C2A6-4BF7-82D9-EDBD388A4323}"/>
              </a:ext>
            </a:extLst>
          </p:cNvPr>
          <p:cNvGraphicFramePr>
            <a:graphicFrameLocks noChangeAspect="1"/>
          </p:cNvGraphicFramePr>
          <p:nvPr>
            <p:extLst>
              <p:ext uri="{D42A27DB-BD31-4B8C-83A1-F6EECF244321}">
                <p14:modId xmlns:p14="http://schemas.microsoft.com/office/powerpoint/2010/main" val="3995793051"/>
              </p:ext>
            </p:extLst>
          </p:nvPr>
        </p:nvGraphicFramePr>
        <p:xfrm>
          <a:off x="4913313" y="5188336"/>
          <a:ext cx="3508375" cy="701675"/>
        </p:xfrm>
        <a:graphic>
          <a:graphicData uri="http://schemas.openxmlformats.org/presentationml/2006/ole">
            <mc:AlternateContent xmlns:mc="http://schemas.openxmlformats.org/markup-compatibility/2006">
              <mc:Choice xmlns:v="urn:schemas-microsoft-com:vml" Requires="v">
                <p:oleObj name="Equation" r:id="rId23" imgW="2095200" imgH="419040" progId="Equation.DSMT4">
                  <p:embed/>
                </p:oleObj>
              </mc:Choice>
              <mc:Fallback>
                <p:oleObj name="Equation" r:id="rId23" imgW="2095200" imgH="419040" progId="Equation.DSMT4">
                  <p:embed/>
                  <p:pic>
                    <p:nvPicPr>
                      <p:cNvPr id="0" name=""/>
                      <p:cNvPicPr/>
                      <p:nvPr/>
                    </p:nvPicPr>
                    <p:blipFill>
                      <a:blip r:embed="rId24"/>
                      <a:stretch>
                        <a:fillRect/>
                      </a:stretch>
                    </p:blipFill>
                    <p:spPr>
                      <a:xfrm>
                        <a:off x="4913313" y="5188336"/>
                        <a:ext cx="3508375" cy="701675"/>
                      </a:xfrm>
                      <a:prstGeom prst="rect">
                        <a:avLst/>
                      </a:prstGeom>
                    </p:spPr>
                  </p:pic>
                </p:oleObj>
              </mc:Fallback>
            </mc:AlternateContent>
          </a:graphicData>
        </a:graphic>
      </p:graphicFrame>
    </p:spTree>
    <p:extLst>
      <p:ext uri="{BB962C8B-B14F-4D97-AF65-F5344CB8AC3E}">
        <p14:creationId xmlns:p14="http://schemas.microsoft.com/office/powerpoint/2010/main" val="14495480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219BABD3-54B4-473A-BBD7-108C9FC2A244}"/>
              </a:ext>
            </a:extLst>
          </p:cNvPr>
          <p:cNvSpPr/>
          <p:nvPr/>
        </p:nvSpPr>
        <p:spPr>
          <a:xfrm>
            <a:off x="1369650" y="4660289"/>
            <a:ext cx="1181100" cy="935318"/>
          </a:xfrm>
          <a:prstGeom prst="roundRect">
            <a:avLst>
              <a:gd name="adj" fmla="val 10557"/>
            </a:avLst>
          </a:prstGeom>
          <a:solidFill>
            <a:srgbClr val="C1FF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24B7F6C-44E9-43DC-BAFA-5A00F7DE015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31725" y="4477250"/>
            <a:ext cx="8209050" cy="2009729"/>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2" name="Slide Number Placeholder 1">
            <a:extLst>
              <a:ext uri="{FF2B5EF4-FFF2-40B4-BE49-F238E27FC236}">
                <a16:creationId xmlns:a16="http://schemas.microsoft.com/office/drawing/2014/main" id="{29792AB6-CA2B-4850-A7C8-59B596E71100}"/>
              </a:ext>
            </a:extLst>
          </p:cNvPr>
          <p:cNvSpPr>
            <a:spLocks noGrp="1"/>
          </p:cNvSpPr>
          <p:nvPr>
            <p:ph type="sldNum" sz="quarter" idx="12"/>
          </p:nvPr>
        </p:nvSpPr>
        <p:spPr/>
        <p:txBody>
          <a:bodyPr/>
          <a:lstStyle/>
          <a:p>
            <a:fld id="{B53602B4-F12B-41CD-B648-531F86B2CC91}" type="slidenum">
              <a:rPr lang="zh-CN" altLang="en-US" smtClean="0"/>
              <a:t>18</a:t>
            </a:fld>
            <a:endParaRPr lang="zh-CN" altLang="en-US"/>
          </a:p>
        </p:txBody>
      </p:sp>
      <p:sp>
        <p:nvSpPr>
          <p:cNvPr id="25" name="TextBox 24">
            <a:extLst>
              <a:ext uri="{FF2B5EF4-FFF2-40B4-BE49-F238E27FC236}">
                <a16:creationId xmlns:a16="http://schemas.microsoft.com/office/drawing/2014/main" id="{884AF008-9AE1-4C92-BEC5-5095B3F7F57E}"/>
              </a:ext>
            </a:extLst>
          </p:cNvPr>
          <p:cNvSpPr txBox="1"/>
          <p:nvPr/>
        </p:nvSpPr>
        <p:spPr>
          <a:xfrm>
            <a:off x="221176" y="1172710"/>
            <a:ext cx="1949958"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传递矩阵</a:t>
            </a:r>
            <a:endParaRPr lang="en-001" sz="2400"/>
          </a:p>
        </p:txBody>
      </p:sp>
      <p:sp>
        <p:nvSpPr>
          <p:cNvPr id="15" name="Text Box 15">
            <a:extLst>
              <a:ext uri="{FF2B5EF4-FFF2-40B4-BE49-F238E27FC236}">
                <a16:creationId xmlns:a16="http://schemas.microsoft.com/office/drawing/2014/main" id="{1AFBD03C-40F4-4305-9995-44603C56BEB8}"/>
              </a:ext>
            </a:extLst>
          </p:cNvPr>
          <p:cNvSpPr txBox="1">
            <a:spLocks noChangeArrowheads="1"/>
          </p:cNvSpPr>
          <p:nvPr/>
        </p:nvSpPr>
        <p:spPr bwMode="auto">
          <a:xfrm>
            <a:off x="869793" y="1753969"/>
            <a:ext cx="7532914" cy="96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ct val="150000"/>
              </a:lnSpc>
              <a:spcBef>
                <a:spcPct val="50000"/>
              </a:spcBef>
              <a:buClrTx/>
              <a:buFontTx/>
              <a:buNone/>
            </a:pPr>
            <a:r>
              <a:rPr kumimoji="1" lang="zh-CN" altLang="en-US" sz="2000">
                <a:solidFill>
                  <a:schemeClr val="tx1"/>
                </a:solidFill>
                <a:latin typeface="华文中宋" pitchFamily="2" charset="-122"/>
                <a:ea typeface="华文中宋" pitchFamily="2" charset="-122"/>
              </a:rPr>
              <a:t>考虑到传感器整体，其响应速度（即输入量）</a:t>
            </a:r>
            <a:r>
              <a:rPr kumimoji="1" lang="en-US" altLang="zh-CN" sz="2000">
                <a:solidFill>
                  <a:schemeClr val="tx1"/>
                </a:solidFill>
                <a:latin typeface="华文中宋" pitchFamily="2" charset="-122"/>
                <a:ea typeface="华文中宋" pitchFamily="2" charset="-122"/>
              </a:rPr>
              <a:t>v</a:t>
            </a:r>
            <a:r>
              <a:rPr kumimoji="1" lang="zh-CN" altLang="en-US" sz="2000">
                <a:solidFill>
                  <a:schemeClr val="tx1"/>
                </a:solidFill>
                <a:latin typeface="华文中宋" pitchFamily="2" charset="-122"/>
                <a:ea typeface="华文中宋" pitchFamily="2" charset="-122"/>
              </a:rPr>
              <a:t>与弹簧和阻尼器的相对运动速</a:t>
            </a:r>
            <a:r>
              <a:rPr kumimoji="1" lang="en-US" altLang="zh-CN" sz="2000">
                <a:solidFill>
                  <a:schemeClr val="tx1"/>
                </a:solidFill>
                <a:latin typeface="华文中宋" pitchFamily="2" charset="-122"/>
                <a:ea typeface="华文中宋" pitchFamily="2" charset="-122"/>
              </a:rPr>
              <a:t>vt</a:t>
            </a:r>
            <a:r>
              <a:rPr kumimoji="1" lang="zh-CN" altLang="en-US" sz="2000">
                <a:solidFill>
                  <a:schemeClr val="tx1"/>
                </a:solidFill>
                <a:latin typeface="华文中宋" pitchFamily="2" charset="-122"/>
                <a:ea typeface="华文中宋" pitchFamily="2" charset="-122"/>
              </a:rPr>
              <a:t>相同，所以</a:t>
            </a:r>
            <a:endParaRPr kumimoji="1" lang="zh-CN" altLang="en-US" sz="2000" dirty="0">
              <a:solidFill>
                <a:schemeClr val="tx1"/>
              </a:solidFill>
              <a:latin typeface="华文中宋" pitchFamily="2" charset="-122"/>
              <a:ea typeface="华文中宋" pitchFamily="2" charset="-122"/>
            </a:endParaRPr>
          </a:p>
        </p:txBody>
      </p:sp>
      <p:pic>
        <p:nvPicPr>
          <p:cNvPr id="3" name="Picture 2">
            <a:extLst>
              <a:ext uri="{FF2B5EF4-FFF2-40B4-BE49-F238E27FC236}">
                <a16:creationId xmlns:a16="http://schemas.microsoft.com/office/drawing/2014/main" id="{3D21F9B7-24D0-4192-922E-83CD37977AA1}"/>
              </a:ext>
            </a:extLst>
          </p:cNvPr>
          <p:cNvPicPr>
            <a:picLocks noChangeAspect="1"/>
          </p:cNvPicPr>
          <p:nvPr/>
        </p:nvPicPr>
        <p:blipFill>
          <a:blip r:embed="rId4"/>
          <a:stretch>
            <a:fillRect/>
          </a:stretch>
        </p:blipFill>
        <p:spPr>
          <a:xfrm>
            <a:off x="596778" y="2803284"/>
            <a:ext cx="3148711" cy="1419304"/>
          </a:xfrm>
          <a:prstGeom prst="rect">
            <a:avLst/>
          </a:prstGeom>
        </p:spPr>
      </p:pic>
      <p:sp>
        <p:nvSpPr>
          <p:cNvPr id="5" name="Arrow: Right 4">
            <a:extLst>
              <a:ext uri="{FF2B5EF4-FFF2-40B4-BE49-F238E27FC236}">
                <a16:creationId xmlns:a16="http://schemas.microsoft.com/office/drawing/2014/main" id="{56962B7A-FE67-4692-A16A-BA57CD22AE0E}"/>
              </a:ext>
            </a:extLst>
          </p:cNvPr>
          <p:cNvSpPr/>
          <p:nvPr/>
        </p:nvSpPr>
        <p:spPr>
          <a:xfrm>
            <a:off x="3845360" y="3360875"/>
            <a:ext cx="794657" cy="5192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6" name="Picture 5">
            <a:extLst>
              <a:ext uri="{FF2B5EF4-FFF2-40B4-BE49-F238E27FC236}">
                <a16:creationId xmlns:a16="http://schemas.microsoft.com/office/drawing/2014/main" id="{9E206220-E087-40E4-AED3-9CF47759160E}"/>
              </a:ext>
            </a:extLst>
          </p:cNvPr>
          <p:cNvPicPr>
            <a:picLocks noChangeAspect="1"/>
          </p:cNvPicPr>
          <p:nvPr/>
        </p:nvPicPr>
        <p:blipFill rotWithShape="1">
          <a:blip r:embed="rId5">
            <a:duotone>
              <a:prstClr val="black"/>
              <a:schemeClr val="accent6">
                <a:tint val="45000"/>
                <a:satMod val="400000"/>
              </a:schemeClr>
            </a:duotone>
          </a:blip>
          <a:srcRect l="3142" r="7212"/>
          <a:stretch/>
        </p:blipFill>
        <p:spPr>
          <a:xfrm>
            <a:off x="4996543" y="2974954"/>
            <a:ext cx="3550679" cy="1290563"/>
          </a:xfrm>
          <a:prstGeom prst="rect">
            <a:avLst/>
          </a:prstGeom>
          <a:solidFill>
            <a:schemeClr val="accent6">
              <a:lumMod val="60000"/>
              <a:lumOff val="40000"/>
            </a:schemeClr>
          </a:solidFill>
          <a:ln w="19050">
            <a:noFill/>
          </a:ln>
        </p:spPr>
      </p:pic>
      <p:sp>
        <p:nvSpPr>
          <p:cNvPr id="12" name="TextBox 11">
            <a:extLst>
              <a:ext uri="{FF2B5EF4-FFF2-40B4-BE49-F238E27FC236}">
                <a16:creationId xmlns:a16="http://schemas.microsoft.com/office/drawing/2014/main" id="{D102405B-77FF-4BF3-B318-E964BA66162B}"/>
              </a:ext>
            </a:extLst>
          </p:cNvPr>
          <p:cNvSpPr txBox="1"/>
          <p:nvPr/>
        </p:nvSpPr>
        <p:spPr>
          <a:xfrm>
            <a:off x="1627979" y="1163808"/>
            <a:ext cx="3814877" cy="461665"/>
          </a:xfrm>
          <a:prstGeom prst="rect">
            <a:avLst/>
          </a:prstGeom>
          <a:noFill/>
        </p:spPr>
        <p:txBody>
          <a:bodyPr wrap="square">
            <a:spAutoFit/>
          </a:bodyPr>
          <a:lstStyle/>
          <a:p>
            <a:r>
              <a:rPr lang="en-US" altLang="zh-CN" sz="2400" b="1">
                <a:solidFill>
                  <a:srgbClr val="00B0F0"/>
                </a:solidFill>
                <a:latin typeface="宋体" pitchFamily="2" charset="-122"/>
                <a:ea typeface="宋体" pitchFamily="2" charset="-122"/>
              </a:rPr>
              <a:t>1.</a:t>
            </a:r>
            <a:r>
              <a:rPr lang="zh-CN" altLang="en-US" sz="2400" b="1">
                <a:solidFill>
                  <a:srgbClr val="00B0F0"/>
                </a:solidFill>
                <a:latin typeface="宋体" pitchFamily="2" charset="-122"/>
                <a:ea typeface="宋体" pitchFamily="2" charset="-122"/>
              </a:rPr>
              <a:t>机械阻抗的传递矩阵</a:t>
            </a:r>
            <a:endParaRPr lang="en-001" sz="2400">
              <a:solidFill>
                <a:srgbClr val="00B0F0"/>
              </a:solidFill>
            </a:endParaRPr>
          </a:p>
        </p:txBody>
      </p:sp>
    </p:spTree>
    <p:extLst>
      <p:ext uri="{BB962C8B-B14F-4D97-AF65-F5344CB8AC3E}">
        <p14:creationId xmlns:p14="http://schemas.microsoft.com/office/powerpoint/2010/main" val="247509234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4D1B7ADB-7919-45D0-86DE-CDCD633E2950}"/>
              </a:ext>
            </a:extLst>
          </p:cNvPr>
          <p:cNvSpPr/>
          <p:nvPr/>
        </p:nvSpPr>
        <p:spPr>
          <a:xfrm>
            <a:off x="3633788" y="4660620"/>
            <a:ext cx="1181100" cy="935318"/>
          </a:xfrm>
          <a:prstGeom prst="roundRect">
            <a:avLst>
              <a:gd name="adj" fmla="val 10557"/>
            </a:avLst>
          </a:prstGeom>
          <a:solidFill>
            <a:srgbClr val="FFAB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56A12D1-DFE2-4A12-9361-00B3FB1BDBBB}"/>
              </a:ext>
            </a:extLst>
          </p:cNvPr>
          <p:cNvPicPr>
            <a:picLocks noChangeAspect="1"/>
          </p:cNvPicPr>
          <p:nvPr/>
        </p:nvPicPr>
        <p:blipFill>
          <a:blip r:embed="rId3"/>
          <a:stretch>
            <a:fillRect/>
          </a:stretch>
        </p:blipFill>
        <p:spPr>
          <a:xfrm>
            <a:off x="1196155" y="2197971"/>
            <a:ext cx="2255711" cy="786081"/>
          </a:xfrm>
          <a:prstGeom prst="rect">
            <a:avLst/>
          </a:prstGeom>
        </p:spPr>
      </p:pic>
      <p:pic>
        <p:nvPicPr>
          <p:cNvPr id="8" name="Picture 7">
            <a:extLst>
              <a:ext uri="{FF2B5EF4-FFF2-40B4-BE49-F238E27FC236}">
                <a16:creationId xmlns:a16="http://schemas.microsoft.com/office/drawing/2014/main" id="{54037DF0-BE59-41A4-9FC4-F3D55770F871}"/>
              </a:ext>
            </a:extLst>
          </p:cNvPr>
          <p:cNvPicPr>
            <a:picLocks noChangeAspect="1"/>
          </p:cNvPicPr>
          <p:nvPr/>
        </p:nvPicPr>
        <p:blipFill>
          <a:blip r:embed="rId4"/>
          <a:stretch>
            <a:fillRect/>
          </a:stretch>
        </p:blipFill>
        <p:spPr>
          <a:xfrm>
            <a:off x="4770577" y="2044857"/>
            <a:ext cx="2395997" cy="948586"/>
          </a:xfrm>
          <a:prstGeom prst="rect">
            <a:avLst/>
          </a:prstGeom>
        </p:spPr>
      </p:pic>
      <p:sp>
        <p:nvSpPr>
          <p:cNvPr id="16" name="Arrow: Right 15">
            <a:extLst>
              <a:ext uri="{FF2B5EF4-FFF2-40B4-BE49-F238E27FC236}">
                <a16:creationId xmlns:a16="http://schemas.microsoft.com/office/drawing/2014/main" id="{9708AD9A-ED0E-4609-AE25-D41BF17DCA22}"/>
              </a:ext>
            </a:extLst>
          </p:cNvPr>
          <p:cNvSpPr/>
          <p:nvPr/>
        </p:nvSpPr>
        <p:spPr>
          <a:xfrm>
            <a:off x="3975920" y="2279716"/>
            <a:ext cx="794657" cy="5192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4" name="Picture 3">
            <a:extLst>
              <a:ext uri="{FF2B5EF4-FFF2-40B4-BE49-F238E27FC236}">
                <a16:creationId xmlns:a16="http://schemas.microsoft.com/office/drawing/2014/main" id="{924B7F6C-44E9-43DC-BAFA-5A00F7DE015A}"/>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31725" y="4477250"/>
            <a:ext cx="8209050" cy="2009729"/>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2" name="Slide Number Placeholder 1">
            <a:extLst>
              <a:ext uri="{FF2B5EF4-FFF2-40B4-BE49-F238E27FC236}">
                <a16:creationId xmlns:a16="http://schemas.microsoft.com/office/drawing/2014/main" id="{29792AB6-CA2B-4850-A7C8-59B596E71100}"/>
              </a:ext>
            </a:extLst>
          </p:cNvPr>
          <p:cNvSpPr>
            <a:spLocks noGrp="1"/>
          </p:cNvSpPr>
          <p:nvPr>
            <p:ph type="sldNum" sz="quarter" idx="12"/>
          </p:nvPr>
        </p:nvSpPr>
        <p:spPr/>
        <p:txBody>
          <a:bodyPr/>
          <a:lstStyle/>
          <a:p>
            <a:fld id="{B53602B4-F12B-41CD-B648-531F86B2CC91}" type="slidenum">
              <a:rPr lang="zh-CN" altLang="en-US" smtClean="0"/>
              <a:t>19</a:t>
            </a:fld>
            <a:endParaRPr lang="zh-CN" altLang="en-US"/>
          </a:p>
        </p:txBody>
      </p:sp>
      <p:sp>
        <p:nvSpPr>
          <p:cNvPr id="25" name="TextBox 24">
            <a:extLst>
              <a:ext uri="{FF2B5EF4-FFF2-40B4-BE49-F238E27FC236}">
                <a16:creationId xmlns:a16="http://schemas.microsoft.com/office/drawing/2014/main" id="{884AF008-9AE1-4C92-BEC5-5095B3F7F57E}"/>
              </a:ext>
            </a:extLst>
          </p:cNvPr>
          <p:cNvSpPr txBox="1"/>
          <p:nvPr/>
        </p:nvSpPr>
        <p:spPr>
          <a:xfrm>
            <a:off x="221176" y="1172710"/>
            <a:ext cx="1949958"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传递矩阵</a:t>
            </a:r>
            <a:endParaRPr lang="en-001" sz="2400"/>
          </a:p>
        </p:txBody>
      </p:sp>
      <p:sp>
        <p:nvSpPr>
          <p:cNvPr id="12" name="TextBox 11">
            <a:extLst>
              <a:ext uri="{FF2B5EF4-FFF2-40B4-BE49-F238E27FC236}">
                <a16:creationId xmlns:a16="http://schemas.microsoft.com/office/drawing/2014/main" id="{D102405B-77FF-4BF3-B318-E964BA66162B}"/>
              </a:ext>
            </a:extLst>
          </p:cNvPr>
          <p:cNvSpPr txBox="1"/>
          <p:nvPr/>
        </p:nvSpPr>
        <p:spPr>
          <a:xfrm>
            <a:off x="1627979" y="1163808"/>
            <a:ext cx="3901963" cy="461665"/>
          </a:xfrm>
          <a:prstGeom prst="rect">
            <a:avLst/>
          </a:prstGeom>
          <a:noFill/>
        </p:spPr>
        <p:txBody>
          <a:bodyPr wrap="square">
            <a:spAutoFit/>
          </a:bodyPr>
          <a:lstStyle/>
          <a:p>
            <a:r>
              <a:rPr lang="en-US" altLang="zh-CN" sz="2400" b="1">
                <a:solidFill>
                  <a:srgbClr val="00B0F0"/>
                </a:solidFill>
                <a:latin typeface="宋体" pitchFamily="2" charset="-122"/>
                <a:ea typeface="宋体" pitchFamily="2" charset="-122"/>
              </a:rPr>
              <a:t>2.</a:t>
            </a:r>
            <a:r>
              <a:rPr lang="zh-CN" altLang="en-US" sz="2400" b="1">
                <a:solidFill>
                  <a:srgbClr val="00B0F0"/>
                </a:solidFill>
                <a:latin typeface="宋体" pitchFamily="2" charset="-122"/>
                <a:ea typeface="宋体" pitchFamily="2" charset="-122"/>
              </a:rPr>
              <a:t>理想传感器的传递矩阵</a:t>
            </a:r>
            <a:endParaRPr lang="en-001" sz="2400">
              <a:solidFill>
                <a:srgbClr val="00B0F0"/>
              </a:solidFill>
            </a:endParaRPr>
          </a:p>
        </p:txBody>
      </p:sp>
      <p:sp>
        <p:nvSpPr>
          <p:cNvPr id="13" name="TextBox 12">
            <a:extLst>
              <a:ext uri="{FF2B5EF4-FFF2-40B4-BE49-F238E27FC236}">
                <a16:creationId xmlns:a16="http://schemas.microsoft.com/office/drawing/2014/main" id="{EF81D9E7-6352-43C0-B3CC-E921DEB44F18}"/>
              </a:ext>
            </a:extLst>
          </p:cNvPr>
          <p:cNvSpPr txBox="1"/>
          <p:nvPr/>
        </p:nvSpPr>
        <p:spPr>
          <a:xfrm>
            <a:off x="221176" y="1772188"/>
            <a:ext cx="5711538" cy="461665"/>
          </a:xfrm>
          <a:prstGeom prst="rect">
            <a:avLst/>
          </a:prstGeom>
          <a:noFill/>
        </p:spPr>
        <p:txBody>
          <a:bodyPr wrap="square">
            <a:spAutoFit/>
          </a:bodyPr>
          <a:lstStyle/>
          <a:p>
            <a:r>
              <a:rPr lang="zh-CN" altLang="en-US" sz="2400" b="1">
                <a:latin typeface="宋体" pitchFamily="2" charset="-122"/>
                <a:ea typeface="宋体" pitchFamily="2" charset="-122"/>
              </a:rPr>
              <a:t>不考虑机械阻抗和电阻抗，感应电动势为：</a:t>
            </a:r>
            <a:endParaRPr lang="en-001" sz="2400"/>
          </a:p>
        </p:txBody>
      </p:sp>
      <p:sp>
        <p:nvSpPr>
          <p:cNvPr id="18" name="TextBox 17">
            <a:extLst>
              <a:ext uri="{FF2B5EF4-FFF2-40B4-BE49-F238E27FC236}">
                <a16:creationId xmlns:a16="http://schemas.microsoft.com/office/drawing/2014/main" id="{B5A677AC-2C97-4167-9C37-5E7ACCCD2F7B}"/>
              </a:ext>
            </a:extLst>
          </p:cNvPr>
          <p:cNvSpPr txBox="1"/>
          <p:nvPr/>
        </p:nvSpPr>
        <p:spPr>
          <a:xfrm>
            <a:off x="221177" y="3111760"/>
            <a:ext cx="7344394" cy="461665"/>
          </a:xfrm>
          <a:prstGeom prst="rect">
            <a:avLst/>
          </a:prstGeom>
          <a:noFill/>
        </p:spPr>
        <p:txBody>
          <a:bodyPr wrap="square">
            <a:spAutoFit/>
          </a:bodyPr>
          <a:lstStyle/>
          <a:p>
            <a:r>
              <a:rPr lang="en-001" sz="2400" b="1">
                <a:latin typeface="宋体" pitchFamily="2" charset="-122"/>
                <a:ea typeface="宋体" pitchFamily="2" charset="-122"/>
              </a:rPr>
              <a:t>线圈中的电流为</a:t>
            </a:r>
            <a:r>
              <a:rPr lang="en-US" altLang="zh-CN" sz="2400" b="1" i="1">
                <a:latin typeface="宋体" pitchFamily="2" charset="-122"/>
                <a:ea typeface="宋体" pitchFamily="2" charset="-122"/>
              </a:rPr>
              <a:t>i</a:t>
            </a:r>
            <a:r>
              <a:rPr lang="en-US" altLang="zh-CN" sz="2400" b="1" i="1" baseline="-25000">
                <a:latin typeface="宋体" pitchFamily="2" charset="-122"/>
                <a:ea typeface="宋体" pitchFamily="2" charset="-122"/>
              </a:rPr>
              <a:t>t</a:t>
            </a:r>
            <a:r>
              <a:rPr lang="en-001" sz="2400" b="1">
                <a:latin typeface="宋体" pitchFamily="2" charset="-122"/>
                <a:ea typeface="宋体" pitchFamily="2" charset="-122"/>
              </a:rPr>
              <a:t>，则线圈在同一磁场中受到的力为</a:t>
            </a:r>
          </a:p>
        </p:txBody>
      </p:sp>
      <p:pic>
        <p:nvPicPr>
          <p:cNvPr id="10" name="Picture 9">
            <a:extLst>
              <a:ext uri="{FF2B5EF4-FFF2-40B4-BE49-F238E27FC236}">
                <a16:creationId xmlns:a16="http://schemas.microsoft.com/office/drawing/2014/main" id="{DA221663-DD42-451A-992B-9FA77FA9C5CF}"/>
              </a:ext>
            </a:extLst>
          </p:cNvPr>
          <p:cNvPicPr>
            <a:picLocks noChangeAspect="1"/>
          </p:cNvPicPr>
          <p:nvPr/>
        </p:nvPicPr>
        <p:blipFill>
          <a:blip r:embed="rId6"/>
          <a:stretch>
            <a:fillRect/>
          </a:stretch>
        </p:blipFill>
        <p:spPr>
          <a:xfrm>
            <a:off x="7501812" y="3111760"/>
            <a:ext cx="1642188" cy="527180"/>
          </a:xfrm>
          <a:prstGeom prst="rect">
            <a:avLst/>
          </a:prstGeom>
        </p:spPr>
      </p:pic>
      <p:pic>
        <p:nvPicPr>
          <p:cNvPr id="11" name="Picture 10">
            <a:extLst>
              <a:ext uri="{FF2B5EF4-FFF2-40B4-BE49-F238E27FC236}">
                <a16:creationId xmlns:a16="http://schemas.microsoft.com/office/drawing/2014/main" id="{03EC9E8E-4ADB-46BD-A5D8-05CAB72C7C6E}"/>
              </a:ext>
            </a:extLst>
          </p:cNvPr>
          <p:cNvPicPr>
            <a:picLocks noChangeAspect="1"/>
          </p:cNvPicPr>
          <p:nvPr/>
        </p:nvPicPr>
        <p:blipFill rotWithShape="1">
          <a:blip r:embed="rId7">
            <a:duotone>
              <a:prstClr val="black"/>
              <a:schemeClr val="accent2">
                <a:tint val="45000"/>
                <a:satMod val="400000"/>
              </a:schemeClr>
            </a:duotone>
          </a:blip>
          <a:srcRect l="3602" r="2460" b="3210"/>
          <a:stretch/>
        </p:blipFill>
        <p:spPr>
          <a:xfrm>
            <a:off x="3722914" y="3672815"/>
            <a:ext cx="3211287" cy="804435"/>
          </a:xfrm>
          <a:prstGeom prst="rect">
            <a:avLst/>
          </a:prstGeom>
          <a:ln w="19050">
            <a:noFill/>
          </a:ln>
        </p:spPr>
      </p:pic>
      <p:sp>
        <p:nvSpPr>
          <p:cNvPr id="21" name="TextBox 20">
            <a:extLst>
              <a:ext uri="{FF2B5EF4-FFF2-40B4-BE49-F238E27FC236}">
                <a16:creationId xmlns:a16="http://schemas.microsoft.com/office/drawing/2014/main" id="{C2643C5E-E095-4F47-B13A-35955014E499}"/>
              </a:ext>
            </a:extLst>
          </p:cNvPr>
          <p:cNvSpPr txBox="1"/>
          <p:nvPr/>
        </p:nvSpPr>
        <p:spPr>
          <a:xfrm>
            <a:off x="258817" y="3886190"/>
            <a:ext cx="3901963" cy="461665"/>
          </a:xfrm>
          <a:prstGeom prst="rect">
            <a:avLst/>
          </a:prstGeom>
          <a:noFill/>
        </p:spPr>
        <p:txBody>
          <a:bodyPr wrap="square">
            <a:spAutoFit/>
          </a:bodyPr>
          <a:lstStyle/>
          <a:p>
            <a:r>
              <a:rPr lang="zh-CN" altLang="en-US" sz="2400" b="1">
                <a:latin typeface="宋体" pitchFamily="2" charset="-122"/>
                <a:ea typeface="宋体" pitchFamily="2" charset="-122"/>
              </a:rPr>
              <a:t>理想传感器的传递矩阵</a:t>
            </a:r>
            <a:endParaRPr lang="en-001" sz="2400"/>
          </a:p>
        </p:txBody>
      </p:sp>
    </p:spTree>
    <p:extLst>
      <p:ext uri="{BB962C8B-B14F-4D97-AF65-F5344CB8AC3E}">
        <p14:creationId xmlns:p14="http://schemas.microsoft.com/office/powerpoint/2010/main" val="8706012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ACD2A729-DD73-456D-825A-6FE3543B293C}"/>
              </a:ext>
            </a:extLst>
          </p:cNvPr>
          <p:cNvSpPr/>
          <p:nvPr/>
        </p:nvSpPr>
        <p:spPr>
          <a:xfrm>
            <a:off x="5779723" y="4626951"/>
            <a:ext cx="1181100" cy="935318"/>
          </a:xfrm>
          <a:prstGeom prst="roundRect">
            <a:avLst>
              <a:gd name="adj" fmla="val 10557"/>
            </a:avLst>
          </a:prstGeom>
          <a:solidFill>
            <a:srgbClr val="97D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24B7F6C-44E9-43DC-BAFA-5A00F7DE015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31725" y="4477250"/>
            <a:ext cx="8209050" cy="2009729"/>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2" name="Slide Number Placeholder 1">
            <a:extLst>
              <a:ext uri="{FF2B5EF4-FFF2-40B4-BE49-F238E27FC236}">
                <a16:creationId xmlns:a16="http://schemas.microsoft.com/office/drawing/2014/main" id="{29792AB6-CA2B-4850-A7C8-59B596E71100}"/>
              </a:ext>
            </a:extLst>
          </p:cNvPr>
          <p:cNvSpPr>
            <a:spLocks noGrp="1"/>
          </p:cNvSpPr>
          <p:nvPr>
            <p:ph type="sldNum" sz="quarter" idx="12"/>
          </p:nvPr>
        </p:nvSpPr>
        <p:spPr/>
        <p:txBody>
          <a:bodyPr/>
          <a:lstStyle/>
          <a:p>
            <a:fld id="{B53602B4-F12B-41CD-B648-531F86B2CC91}" type="slidenum">
              <a:rPr lang="zh-CN" altLang="en-US" smtClean="0"/>
              <a:t>20</a:t>
            </a:fld>
            <a:endParaRPr lang="zh-CN" altLang="en-US"/>
          </a:p>
        </p:txBody>
      </p:sp>
      <p:sp>
        <p:nvSpPr>
          <p:cNvPr id="25" name="TextBox 24">
            <a:extLst>
              <a:ext uri="{FF2B5EF4-FFF2-40B4-BE49-F238E27FC236}">
                <a16:creationId xmlns:a16="http://schemas.microsoft.com/office/drawing/2014/main" id="{884AF008-9AE1-4C92-BEC5-5095B3F7F57E}"/>
              </a:ext>
            </a:extLst>
          </p:cNvPr>
          <p:cNvSpPr txBox="1"/>
          <p:nvPr/>
        </p:nvSpPr>
        <p:spPr>
          <a:xfrm>
            <a:off x="221176" y="1172710"/>
            <a:ext cx="1949958"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传递矩阵</a:t>
            </a:r>
            <a:endParaRPr lang="en-001" sz="2400"/>
          </a:p>
        </p:txBody>
      </p:sp>
      <p:sp>
        <p:nvSpPr>
          <p:cNvPr id="12" name="TextBox 11">
            <a:extLst>
              <a:ext uri="{FF2B5EF4-FFF2-40B4-BE49-F238E27FC236}">
                <a16:creationId xmlns:a16="http://schemas.microsoft.com/office/drawing/2014/main" id="{D102405B-77FF-4BF3-B318-E964BA66162B}"/>
              </a:ext>
            </a:extLst>
          </p:cNvPr>
          <p:cNvSpPr txBox="1"/>
          <p:nvPr/>
        </p:nvSpPr>
        <p:spPr>
          <a:xfrm>
            <a:off x="1627979" y="1163808"/>
            <a:ext cx="3901963" cy="461665"/>
          </a:xfrm>
          <a:prstGeom prst="rect">
            <a:avLst/>
          </a:prstGeom>
          <a:noFill/>
        </p:spPr>
        <p:txBody>
          <a:bodyPr wrap="square">
            <a:spAutoFit/>
          </a:bodyPr>
          <a:lstStyle/>
          <a:p>
            <a:r>
              <a:rPr lang="en-US" altLang="zh-CN" sz="2400" b="1">
                <a:solidFill>
                  <a:srgbClr val="00B0F0"/>
                </a:solidFill>
                <a:latin typeface="宋体" pitchFamily="2" charset="-122"/>
                <a:ea typeface="宋体" pitchFamily="2" charset="-122"/>
              </a:rPr>
              <a:t>3.</a:t>
            </a:r>
            <a:r>
              <a:rPr lang="zh-CN" altLang="en-US" sz="2400" b="1">
                <a:solidFill>
                  <a:srgbClr val="00B0F0"/>
                </a:solidFill>
                <a:latin typeface="宋体" pitchFamily="2" charset="-122"/>
                <a:ea typeface="宋体" pitchFamily="2" charset="-122"/>
              </a:rPr>
              <a:t>传感器电阻抗的传递矩阵</a:t>
            </a:r>
            <a:endParaRPr lang="en-001" sz="2400">
              <a:solidFill>
                <a:srgbClr val="00B0F0"/>
              </a:solidFill>
            </a:endParaRPr>
          </a:p>
        </p:txBody>
      </p:sp>
      <p:sp>
        <p:nvSpPr>
          <p:cNvPr id="19" name="TextBox 18">
            <a:extLst>
              <a:ext uri="{FF2B5EF4-FFF2-40B4-BE49-F238E27FC236}">
                <a16:creationId xmlns:a16="http://schemas.microsoft.com/office/drawing/2014/main" id="{5B75639F-F5C3-4478-8857-585D5245AE34}"/>
              </a:ext>
            </a:extLst>
          </p:cNvPr>
          <p:cNvSpPr txBox="1"/>
          <p:nvPr/>
        </p:nvSpPr>
        <p:spPr>
          <a:xfrm>
            <a:off x="358404" y="1766373"/>
            <a:ext cx="8555692" cy="1235916"/>
          </a:xfrm>
          <a:prstGeom prst="rect">
            <a:avLst/>
          </a:prstGeom>
          <a:noFill/>
        </p:spPr>
        <p:txBody>
          <a:bodyPr wrap="square">
            <a:spAutoFit/>
          </a:bodyPr>
          <a:lstStyle/>
          <a:p>
            <a:pPr marL="342900" indent="-342900">
              <a:lnSpc>
                <a:spcPct val="130000"/>
              </a:lnSpc>
              <a:buFont typeface="Arial" panose="020B0604020202020204" pitchFamily="34" charset="0"/>
              <a:buChar char="•"/>
            </a:pPr>
            <a:r>
              <a:rPr lang="en-001" sz="2000">
                <a:latin typeface="宋体" panose="02010600030101010101" pitchFamily="2" charset="-122"/>
                <a:ea typeface="宋体" panose="02010600030101010101" pitchFamily="2" charset="-122"/>
              </a:rPr>
              <a:t>传感器的电阻抗就是线圈的阻抗Ze。</a:t>
            </a:r>
            <a:endParaRPr lang="en-US" sz="2000">
              <a:latin typeface="宋体" panose="02010600030101010101" pitchFamily="2" charset="-122"/>
              <a:ea typeface="宋体" panose="02010600030101010101" pitchFamily="2" charset="-122"/>
            </a:endParaRPr>
          </a:p>
          <a:p>
            <a:pPr marL="342900" indent="-342900">
              <a:lnSpc>
                <a:spcPct val="130000"/>
              </a:lnSpc>
              <a:buFont typeface="Arial" panose="020B0604020202020204" pitchFamily="34" charset="0"/>
              <a:buChar char="•"/>
            </a:pPr>
            <a:r>
              <a:rPr lang="en-001" sz="2000">
                <a:latin typeface="宋体" panose="02010600030101010101" pitchFamily="2" charset="-122"/>
                <a:ea typeface="宋体" panose="02010600030101010101" pitchFamily="2" charset="-122"/>
              </a:rPr>
              <a:t>磁电感应式传感器是电压源类型的传感器，线圈阻抗相当于理想传感器电压源的一个内阻抗，输出电流 i 就是流过线圈的电流 </a:t>
            </a:r>
            <a:r>
              <a:rPr lang="en-US" altLang="zh-CN" sz="2000" b="1" i="1">
                <a:latin typeface="宋体" panose="02010600030101010101" pitchFamily="2" charset="-122"/>
                <a:ea typeface="宋体" panose="02010600030101010101" pitchFamily="2" charset="-122"/>
              </a:rPr>
              <a:t>i</a:t>
            </a:r>
            <a:r>
              <a:rPr lang="en-US" altLang="zh-CN" sz="2000" b="1" i="1" baseline="-25000">
                <a:latin typeface="宋体" panose="02010600030101010101" pitchFamily="2" charset="-122"/>
                <a:ea typeface="宋体" panose="02010600030101010101" pitchFamily="2" charset="-122"/>
              </a:rPr>
              <a:t>t</a:t>
            </a:r>
            <a:endParaRPr lang="en-001" sz="2000">
              <a:latin typeface="宋体" panose="02010600030101010101" pitchFamily="2" charset="-122"/>
              <a:ea typeface="宋体" panose="02010600030101010101" pitchFamily="2" charset="-122"/>
            </a:endParaRPr>
          </a:p>
        </p:txBody>
      </p:sp>
      <p:pic>
        <p:nvPicPr>
          <p:cNvPr id="5" name="Picture 4">
            <a:extLst>
              <a:ext uri="{FF2B5EF4-FFF2-40B4-BE49-F238E27FC236}">
                <a16:creationId xmlns:a16="http://schemas.microsoft.com/office/drawing/2014/main" id="{55D369E3-2A98-44C3-97CB-86A5D2E3554F}"/>
              </a:ext>
            </a:extLst>
          </p:cNvPr>
          <p:cNvPicPr>
            <a:picLocks noChangeAspect="1"/>
          </p:cNvPicPr>
          <p:nvPr/>
        </p:nvPicPr>
        <p:blipFill>
          <a:blip r:embed="rId4"/>
          <a:stretch>
            <a:fillRect/>
          </a:stretch>
        </p:blipFill>
        <p:spPr>
          <a:xfrm>
            <a:off x="185083" y="3114527"/>
            <a:ext cx="4040275" cy="1084582"/>
          </a:xfrm>
          <a:prstGeom prst="rect">
            <a:avLst/>
          </a:prstGeom>
        </p:spPr>
      </p:pic>
      <p:sp>
        <p:nvSpPr>
          <p:cNvPr id="20" name="Arrow: Right 19">
            <a:extLst>
              <a:ext uri="{FF2B5EF4-FFF2-40B4-BE49-F238E27FC236}">
                <a16:creationId xmlns:a16="http://schemas.microsoft.com/office/drawing/2014/main" id="{1871A68A-D7E2-4F69-849A-D968D46CD619}"/>
              </a:ext>
            </a:extLst>
          </p:cNvPr>
          <p:cNvSpPr/>
          <p:nvPr/>
        </p:nvSpPr>
        <p:spPr>
          <a:xfrm>
            <a:off x="4572000" y="3397178"/>
            <a:ext cx="794657" cy="5192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6" name="Picture 5">
            <a:extLst>
              <a:ext uri="{FF2B5EF4-FFF2-40B4-BE49-F238E27FC236}">
                <a16:creationId xmlns:a16="http://schemas.microsoft.com/office/drawing/2014/main" id="{5B93DE57-29F4-4C6C-A4F5-8A5E8FD450E2}"/>
              </a:ext>
            </a:extLst>
          </p:cNvPr>
          <p:cNvPicPr>
            <a:picLocks noChangeAspect="1"/>
          </p:cNvPicPr>
          <p:nvPr/>
        </p:nvPicPr>
        <p:blipFill>
          <a:blip r:embed="rId5">
            <a:duotone>
              <a:prstClr val="black"/>
              <a:schemeClr val="accent5">
                <a:tint val="45000"/>
                <a:satMod val="400000"/>
              </a:schemeClr>
            </a:duotone>
          </a:blip>
          <a:stretch>
            <a:fillRect/>
          </a:stretch>
        </p:blipFill>
        <p:spPr>
          <a:xfrm>
            <a:off x="5713299" y="3173286"/>
            <a:ext cx="2894868" cy="1070178"/>
          </a:xfrm>
          <a:prstGeom prst="rect">
            <a:avLst/>
          </a:prstGeom>
        </p:spPr>
      </p:pic>
    </p:spTree>
    <p:extLst>
      <p:ext uri="{BB962C8B-B14F-4D97-AF65-F5344CB8AC3E}">
        <p14:creationId xmlns:p14="http://schemas.microsoft.com/office/powerpoint/2010/main" val="37724299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4B7F6C-44E9-43DC-BAFA-5A00F7DE015A}"/>
              </a:ext>
            </a:extLst>
          </p:cNvPr>
          <p:cNvPicPr>
            <a:picLocks noChangeAspect="1"/>
          </p:cNvPicPr>
          <p:nvPr/>
        </p:nvPicPr>
        <p:blipFill>
          <a:blip r:embed="rId3"/>
          <a:stretch>
            <a:fillRect/>
          </a:stretch>
        </p:blipFill>
        <p:spPr>
          <a:xfrm>
            <a:off x="900726" y="4983933"/>
            <a:ext cx="7448676" cy="1823575"/>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2" name="Slide Number Placeholder 1">
            <a:extLst>
              <a:ext uri="{FF2B5EF4-FFF2-40B4-BE49-F238E27FC236}">
                <a16:creationId xmlns:a16="http://schemas.microsoft.com/office/drawing/2014/main" id="{29792AB6-CA2B-4850-A7C8-59B596E71100}"/>
              </a:ext>
            </a:extLst>
          </p:cNvPr>
          <p:cNvSpPr>
            <a:spLocks noGrp="1"/>
          </p:cNvSpPr>
          <p:nvPr>
            <p:ph type="sldNum" sz="quarter" idx="12"/>
          </p:nvPr>
        </p:nvSpPr>
        <p:spPr/>
        <p:txBody>
          <a:bodyPr/>
          <a:lstStyle/>
          <a:p>
            <a:fld id="{B53602B4-F12B-41CD-B648-531F86B2CC91}" type="slidenum">
              <a:rPr lang="zh-CN" altLang="en-US" smtClean="0"/>
              <a:t>21</a:t>
            </a:fld>
            <a:endParaRPr lang="zh-CN" altLang="en-US"/>
          </a:p>
        </p:txBody>
      </p:sp>
      <p:sp>
        <p:nvSpPr>
          <p:cNvPr id="25" name="TextBox 24">
            <a:extLst>
              <a:ext uri="{FF2B5EF4-FFF2-40B4-BE49-F238E27FC236}">
                <a16:creationId xmlns:a16="http://schemas.microsoft.com/office/drawing/2014/main" id="{884AF008-9AE1-4C92-BEC5-5095B3F7F57E}"/>
              </a:ext>
            </a:extLst>
          </p:cNvPr>
          <p:cNvSpPr txBox="1"/>
          <p:nvPr/>
        </p:nvSpPr>
        <p:spPr>
          <a:xfrm>
            <a:off x="221176" y="1172710"/>
            <a:ext cx="1949958"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传递矩阵</a:t>
            </a:r>
            <a:endParaRPr lang="en-001" sz="2400"/>
          </a:p>
        </p:txBody>
      </p:sp>
      <p:pic>
        <p:nvPicPr>
          <p:cNvPr id="7" name="Picture 6">
            <a:extLst>
              <a:ext uri="{FF2B5EF4-FFF2-40B4-BE49-F238E27FC236}">
                <a16:creationId xmlns:a16="http://schemas.microsoft.com/office/drawing/2014/main" id="{98B7A524-E192-45F1-A67F-E60936E46B9E}"/>
              </a:ext>
            </a:extLst>
          </p:cNvPr>
          <p:cNvPicPr>
            <a:picLocks noChangeAspect="1"/>
          </p:cNvPicPr>
          <p:nvPr/>
        </p:nvPicPr>
        <p:blipFill>
          <a:blip r:embed="rId4"/>
          <a:stretch>
            <a:fillRect/>
          </a:stretch>
        </p:blipFill>
        <p:spPr>
          <a:xfrm>
            <a:off x="974993" y="2904949"/>
            <a:ext cx="7300143" cy="2017679"/>
          </a:xfrm>
          <a:prstGeom prst="rect">
            <a:avLst/>
          </a:prstGeom>
        </p:spPr>
      </p:pic>
      <p:sp>
        <p:nvSpPr>
          <p:cNvPr id="16" name="TextBox 15">
            <a:extLst>
              <a:ext uri="{FF2B5EF4-FFF2-40B4-BE49-F238E27FC236}">
                <a16:creationId xmlns:a16="http://schemas.microsoft.com/office/drawing/2014/main" id="{62579575-C0A3-4AD9-9DE5-3BBE5AD15126}"/>
              </a:ext>
            </a:extLst>
          </p:cNvPr>
          <p:cNvSpPr txBox="1"/>
          <p:nvPr/>
        </p:nvSpPr>
        <p:spPr>
          <a:xfrm>
            <a:off x="1674443" y="1168136"/>
            <a:ext cx="7448677" cy="400110"/>
          </a:xfrm>
          <a:prstGeom prst="rect">
            <a:avLst/>
          </a:prstGeom>
          <a:noFill/>
        </p:spPr>
        <p:txBody>
          <a:bodyPr wrap="square">
            <a:spAutoFit/>
          </a:bodyPr>
          <a:lstStyle/>
          <a:p>
            <a:r>
              <a:rPr lang="en-001" sz="2000" b="1">
                <a:latin typeface="宋体" panose="02010600030101010101" pitchFamily="2" charset="-122"/>
                <a:ea typeface="宋体" panose="02010600030101010101" pitchFamily="2" charset="-122"/>
              </a:rPr>
              <a:t>实际传感器由传感器机械阻抗、理想传感器、传感器电阻抗组成</a:t>
            </a:r>
          </a:p>
        </p:txBody>
      </p:sp>
      <p:sp>
        <p:nvSpPr>
          <p:cNvPr id="11" name="Rectangle: Rounded Corners 10">
            <a:extLst>
              <a:ext uri="{FF2B5EF4-FFF2-40B4-BE49-F238E27FC236}">
                <a16:creationId xmlns:a16="http://schemas.microsoft.com/office/drawing/2014/main" id="{A64E443E-7A22-4101-9A74-A36705035A49}"/>
              </a:ext>
            </a:extLst>
          </p:cNvPr>
          <p:cNvSpPr/>
          <p:nvPr/>
        </p:nvSpPr>
        <p:spPr>
          <a:xfrm>
            <a:off x="2545988" y="1802003"/>
            <a:ext cx="1181100" cy="935318"/>
          </a:xfrm>
          <a:prstGeom prst="roundRect">
            <a:avLst>
              <a:gd name="adj" fmla="val 10557"/>
            </a:avLst>
          </a:prstGeom>
          <a:solidFill>
            <a:srgbClr val="C1FF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67EBEC9F-827B-4122-8988-0794FB4F0582}"/>
              </a:ext>
            </a:extLst>
          </p:cNvPr>
          <p:cNvSpPr/>
          <p:nvPr/>
        </p:nvSpPr>
        <p:spPr>
          <a:xfrm>
            <a:off x="3727088" y="1792283"/>
            <a:ext cx="2268900" cy="935318"/>
          </a:xfrm>
          <a:prstGeom prst="roundRect">
            <a:avLst>
              <a:gd name="adj" fmla="val 10557"/>
            </a:avLst>
          </a:prstGeom>
          <a:solidFill>
            <a:srgbClr val="FFAB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5D1C0D-3E95-488C-A77E-C6FEA2C03B60}"/>
              </a:ext>
            </a:extLst>
          </p:cNvPr>
          <p:cNvSpPr/>
          <p:nvPr/>
        </p:nvSpPr>
        <p:spPr>
          <a:xfrm>
            <a:off x="5995988" y="1802003"/>
            <a:ext cx="1357312" cy="935318"/>
          </a:xfrm>
          <a:prstGeom prst="roundRect">
            <a:avLst>
              <a:gd name="adj" fmla="val 10557"/>
            </a:avLst>
          </a:prstGeom>
          <a:solidFill>
            <a:srgbClr val="97D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C7D3BFE-1C3B-4595-A777-C561BA4B828D}"/>
              </a:ext>
            </a:extLst>
          </p:cNvPr>
          <p:cNvPicPr>
            <a:picLocks noChangeAspect="1"/>
          </p:cNvPicPr>
          <p:nvPr/>
        </p:nvPicPr>
        <p:blipFill>
          <a:blip r:embed="rId5">
            <a:clrChange>
              <a:clrFrom>
                <a:srgbClr val="FFFFFF"/>
              </a:clrFrom>
              <a:clrTo>
                <a:srgbClr val="FFFFFF">
                  <a:alpha val="0"/>
                </a:srgbClr>
              </a:clrTo>
            </a:clrChange>
            <a:biLevel thresh="75000"/>
          </a:blip>
          <a:stretch>
            <a:fillRect/>
          </a:stretch>
        </p:blipFill>
        <p:spPr>
          <a:xfrm>
            <a:off x="1674443" y="1761607"/>
            <a:ext cx="6192267" cy="965994"/>
          </a:xfrm>
          <a:prstGeom prst="rect">
            <a:avLst/>
          </a:prstGeom>
          <a:noFill/>
        </p:spPr>
      </p:pic>
    </p:spTree>
    <p:extLst>
      <p:ext uri="{BB962C8B-B14F-4D97-AF65-F5344CB8AC3E}">
        <p14:creationId xmlns:p14="http://schemas.microsoft.com/office/powerpoint/2010/main" val="38544725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动态特性分析</a:t>
            </a:r>
          </a:p>
        </p:txBody>
      </p:sp>
      <p:sp>
        <p:nvSpPr>
          <p:cNvPr id="2" name="Slide Number Placeholder 1">
            <a:extLst>
              <a:ext uri="{FF2B5EF4-FFF2-40B4-BE49-F238E27FC236}">
                <a16:creationId xmlns:a16="http://schemas.microsoft.com/office/drawing/2014/main" id="{29792AB6-CA2B-4850-A7C8-59B596E71100}"/>
              </a:ext>
            </a:extLst>
          </p:cNvPr>
          <p:cNvSpPr>
            <a:spLocks noGrp="1"/>
          </p:cNvSpPr>
          <p:nvPr>
            <p:ph type="sldNum" sz="quarter" idx="12"/>
          </p:nvPr>
        </p:nvSpPr>
        <p:spPr/>
        <p:txBody>
          <a:bodyPr/>
          <a:lstStyle/>
          <a:p>
            <a:fld id="{B53602B4-F12B-41CD-B648-531F86B2CC91}" type="slidenum">
              <a:rPr lang="zh-CN" altLang="en-US" smtClean="0"/>
              <a:t>22</a:t>
            </a:fld>
            <a:endParaRPr lang="zh-CN" altLang="en-US"/>
          </a:p>
        </p:txBody>
      </p:sp>
      <p:sp>
        <p:nvSpPr>
          <p:cNvPr id="25" name="TextBox 24">
            <a:extLst>
              <a:ext uri="{FF2B5EF4-FFF2-40B4-BE49-F238E27FC236}">
                <a16:creationId xmlns:a16="http://schemas.microsoft.com/office/drawing/2014/main" id="{884AF008-9AE1-4C92-BEC5-5095B3F7F57E}"/>
              </a:ext>
            </a:extLst>
          </p:cNvPr>
          <p:cNvSpPr txBox="1"/>
          <p:nvPr/>
        </p:nvSpPr>
        <p:spPr>
          <a:xfrm>
            <a:off x="221175" y="1172710"/>
            <a:ext cx="3536177"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传递函数和幅频特性</a:t>
            </a:r>
            <a:endParaRPr lang="en-001" sz="2400"/>
          </a:p>
        </p:txBody>
      </p:sp>
      <p:sp>
        <p:nvSpPr>
          <p:cNvPr id="15" name="TextBox 14">
            <a:extLst>
              <a:ext uri="{FF2B5EF4-FFF2-40B4-BE49-F238E27FC236}">
                <a16:creationId xmlns:a16="http://schemas.microsoft.com/office/drawing/2014/main" id="{EF0D8D66-0D4D-42BB-9B8F-34D9B948B0CD}"/>
              </a:ext>
            </a:extLst>
          </p:cNvPr>
          <p:cNvSpPr txBox="1"/>
          <p:nvPr/>
        </p:nvSpPr>
        <p:spPr>
          <a:xfrm>
            <a:off x="101600" y="1686474"/>
            <a:ext cx="5376487" cy="5075428"/>
          </a:xfrm>
          <a:prstGeom prst="rect">
            <a:avLst/>
          </a:prstGeom>
          <a:noFill/>
        </p:spPr>
        <p:txBody>
          <a:bodyPr wrap="square">
            <a:spAutoFit/>
          </a:bodyPr>
          <a:lstStyle/>
          <a:p>
            <a:pPr marL="285750" indent="-285750">
              <a:lnSpc>
                <a:spcPct val="120000"/>
              </a:lnSpc>
              <a:spcAft>
                <a:spcPts val="600"/>
              </a:spcAft>
              <a:buFont typeface="Arial" panose="020B0604020202020204" pitchFamily="34" charset="0"/>
              <a:buChar char="•"/>
            </a:pPr>
            <a:r>
              <a:rPr lang="en-001" sz="2000">
                <a:latin typeface="宋体" panose="02010600030101010101" pitchFamily="2" charset="-122"/>
                <a:ea typeface="宋体" panose="02010600030101010101" pitchFamily="2" charset="-122"/>
              </a:rPr>
              <a:t>当频率低于传感器的固有频率时，传感器的灵敏度随频率而明显变化。</a:t>
            </a:r>
          </a:p>
          <a:p>
            <a:pPr marL="285750" indent="-285750">
              <a:lnSpc>
                <a:spcPct val="120000"/>
              </a:lnSpc>
              <a:spcAft>
                <a:spcPts val="600"/>
              </a:spcAft>
              <a:buFont typeface="Arial" panose="020B0604020202020204" pitchFamily="34" charset="0"/>
              <a:buChar char="•"/>
            </a:pPr>
            <a:r>
              <a:rPr lang="en-001" sz="2000">
                <a:latin typeface="宋体" panose="02010600030101010101" pitchFamily="2" charset="-122"/>
                <a:ea typeface="宋体" panose="02010600030101010101" pitchFamily="2" charset="-122"/>
              </a:rPr>
              <a:t>当频率远高于传感器的固有频率时，灵敏度接近为一常数，它基本上不随频率变化。在这一频率范围内，传感器的输出电压与振动速度成正比关系。这一频段就是传感器的工作频段，或称为传感器的频响范围。这时传感器可看作是一个理想的速度传感器。</a:t>
            </a:r>
          </a:p>
          <a:p>
            <a:pPr marL="285750" indent="-285750">
              <a:lnSpc>
                <a:spcPct val="120000"/>
              </a:lnSpc>
              <a:spcAft>
                <a:spcPts val="600"/>
              </a:spcAft>
              <a:buFont typeface="Arial" panose="020B0604020202020204" pitchFamily="34" charset="0"/>
              <a:buChar char="•"/>
            </a:pPr>
            <a:r>
              <a:rPr lang="en-001" sz="2000">
                <a:latin typeface="宋体" panose="02010600030101010101" pitchFamily="2" charset="-122"/>
                <a:ea typeface="宋体" panose="02010600030101010101" pitchFamily="2" charset="-122"/>
              </a:rPr>
              <a:t>当频率更高时，由于线圈阻抗增加，灵敏度也将随着频率的增加而下降。</a:t>
            </a:r>
          </a:p>
          <a:p>
            <a:pPr marL="285750" indent="-285750">
              <a:lnSpc>
                <a:spcPct val="120000"/>
              </a:lnSpc>
              <a:spcAft>
                <a:spcPts val="600"/>
              </a:spcAft>
              <a:buFont typeface="Arial" panose="020B0604020202020204" pitchFamily="34" charset="0"/>
              <a:buChar char="•"/>
            </a:pPr>
            <a:r>
              <a:rPr lang="en-001" sz="2000">
                <a:latin typeface="宋体" panose="02010600030101010101" pitchFamily="2" charset="-122"/>
                <a:ea typeface="宋体" panose="02010600030101010101" pitchFamily="2" charset="-122"/>
              </a:rPr>
              <a:t>不同结构的磁电感应式传感器的频率响应特性有差异，一般频响范围在几十至几百赫。低的可至10Hz左右，高的可达2000Hz左右。</a:t>
            </a:r>
          </a:p>
        </p:txBody>
      </p:sp>
      <p:pic>
        <p:nvPicPr>
          <p:cNvPr id="32770" name="Picture 2">
            <a:extLst>
              <a:ext uri="{FF2B5EF4-FFF2-40B4-BE49-F238E27FC236}">
                <a16:creationId xmlns:a16="http://schemas.microsoft.com/office/drawing/2014/main" id="{82783282-A284-49C8-AA1D-E5FB3C7F78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186" r="11793"/>
          <a:stretch/>
        </p:blipFill>
        <p:spPr bwMode="auto">
          <a:xfrm>
            <a:off x="5583257" y="2454355"/>
            <a:ext cx="3365141" cy="22863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F0682CC-4BE1-4867-8276-F7C56106002F}"/>
              </a:ext>
            </a:extLst>
          </p:cNvPr>
          <p:cNvPicPr>
            <a:picLocks noChangeAspect="1"/>
          </p:cNvPicPr>
          <p:nvPr/>
        </p:nvPicPr>
        <p:blipFill>
          <a:blip r:embed="rId4">
            <a:duotone>
              <a:prstClr val="black"/>
              <a:schemeClr val="accent2">
                <a:tint val="45000"/>
                <a:satMod val="400000"/>
              </a:schemeClr>
            </a:duotone>
          </a:blip>
          <a:stretch>
            <a:fillRect/>
          </a:stretch>
        </p:blipFill>
        <p:spPr>
          <a:xfrm>
            <a:off x="5583258" y="1750947"/>
            <a:ext cx="3459142" cy="643989"/>
          </a:xfrm>
          <a:prstGeom prst="rect">
            <a:avLst/>
          </a:prstGeom>
        </p:spPr>
      </p:pic>
      <p:sp>
        <p:nvSpPr>
          <p:cNvPr id="12" name="TextBox 11">
            <a:extLst>
              <a:ext uri="{FF2B5EF4-FFF2-40B4-BE49-F238E27FC236}">
                <a16:creationId xmlns:a16="http://schemas.microsoft.com/office/drawing/2014/main" id="{BB27CBF0-3DA4-44A6-8AAE-D4E09C024BEA}"/>
              </a:ext>
            </a:extLst>
          </p:cNvPr>
          <p:cNvSpPr txBox="1"/>
          <p:nvPr/>
        </p:nvSpPr>
        <p:spPr>
          <a:xfrm>
            <a:off x="5761057" y="4782036"/>
            <a:ext cx="3306602" cy="461665"/>
          </a:xfrm>
          <a:prstGeom prst="rect">
            <a:avLst/>
          </a:prstGeom>
          <a:noFill/>
        </p:spPr>
        <p:txBody>
          <a:bodyPr wrap="square">
            <a:spAutoFit/>
          </a:bodyPr>
          <a:lstStyle/>
          <a:p>
            <a:r>
              <a:rPr lang="zh-CN" altLang="en-US" sz="2400" b="1">
                <a:solidFill>
                  <a:srgbClr val="00B050"/>
                </a:solidFill>
                <a:latin typeface="宋体" pitchFamily="2" charset="-122"/>
                <a:ea typeface="宋体" pitchFamily="2" charset="-122"/>
              </a:rPr>
              <a:t>特性：自己仿真看一下</a:t>
            </a:r>
            <a:endParaRPr lang="en-001" sz="2400">
              <a:solidFill>
                <a:srgbClr val="00B050"/>
              </a:solidFill>
            </a:endParaRPr>
          </a:p>
        </p:txBody>
      </p:sp>
    </p:spTree>
    <p:extLst>
      <p:ext uri="{BB962C8B-B14F-4D97-AF65-F5344CB8AC3E}">
        <p14:creationId xmlns:p14="http://schemas.microsoft.com/office/powerpoint/2010/main" val="36446334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35" name="Rectangle 18"/>
          <p:cNvSpPr>
            <a:spLocks noRot="1" noChangeArrowheads="1"/>
          </p:cNvSpPr>
          <p:nvPr/>
        </p:nvSpPr>
        <p:spPr bwMode="auto">
          <a:xfrm>
            <a:off x="410508" y="1207835"/>
            <a:ext cx="8330267" cy="26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628650">
              <a:lnSpc>
                <a:spcPct val="150000"/>
              </a:lnSpc>
            </a:pPr>
            <a:r>
              <a:rPr lang="zh-CN" altLang="en-US" sz="2000" b="1" dirty="0">
                <a:latin typeface="宋体" panose="02010600030101010101" pitchFamily="2" charset="-122"/>
                <a:ea typeface="宋体" panose="02010600030101010101" pitchFamily="2" charset="-122"/>
              </a:rPr>
              <a:t>磁电感应式传感器</a:t>
            </a:r>
            <a:r>
              <a:rPr lang="zh-CN" altLang="en-US" sz="2000" b="1" dirty="0">
                <a:solidFill>
                  <a:srgbClr val="C00000"/>
                </a:solidFill>
                <a:latin typeface="宋体" panose="02010600030101010101" pitchFamily="2" charset="-122"/>
                <a:ea typeface="宋体" panose="02010600030101010101" pitchFamily="2" charset="-122"/>
              </a:rPr>
              <a:t>直接输出</a:t>
            </a:r>
            <a:r>
              <a:rPr lang="zh-CN" altLang="en-US" sz="2000" b="1" dirty="0">
                <a:latin typeface="宋体" panose="02010600030101010101" pitchFamily="2" charset="-122"/>
                <a:ea typeface="宋体" panose="02010600030101010101" pitchFamily="2" charset="-122"/>
              </a:rPr>
              <a:t>感应电势，故任何具有一定工作频带的电压表或示波器都可采用。</a:t>
            </a:r>
          </a:p>
          <a:p>
            <a:pPr indent="628650">
              <a:lnSpc>
                <a:spcPct val="150000"/>
              </a:lnSpc>
            </a:pPr>
            <a:r>
              <a:rPr lang="zh-CN" altLang="en-US" sz="2000" b="1" dirty="0">
                <a:latin typeface="宋体" panose="02010600030101010101" pitchFamily="2" charset="-122"/>
                <a:ea typeface="宋体" panose="02010600030101010101" pitchFamily="2" charset="-122"/>
              </a:rPr>
              <a:t>由于该传感器通常具有</a:t>
            </a:r>
            <a:r>
              <a:rPr lang="zh-CN" altLang="en-US" sz="2000" b="1" dirty="0">
                <a:solidFill>
                  <a:srgbClr val="002060"/>
                </a:solidFill>
                <a:latin typeface="宋体" panose="02010600030101010101" pitchFamily="2" charset="-122"/>
                <a:ea typeface="宋体" panose="02010600030101010101" pitchFamily="2" charset="-122"/>
              </a:rPr>
              <a:t>较高的灵敏度</a:t>
            </a:r>
            <a:r>
              <a:rPr lang="zh-CN" altLang="en-US" sz="2000" b="1" dirty="0">
                <a:latin typeface="宋体" panose="02010600030101010101" pitchFamily="2" charset="-122"/>
                <a:ea typeface="宋体" panose="02010600030101010101" pitchFamily="2" charset="-122"/>
              </a:rPr>
              <a:t>，一般不需增益放大器。</a:t>
            </a:r>
            <a:endParaRPr lang="en-US" altLang="zh-CN" sz="2000" b="1" dirty="0">
              <a:latin typeface="宋体" panose="02010600030101010101" pitchFamily="2" charset="-122"/>
              <a:ea typeface="宋体" panose="02010600030101010101" pitchFamily="2" charset="-122"/>
            </a:endParaRPr>
          </a:p>
          <a:p>
            <a:pPr indent="628650">
              <a:lnSpc>
                <a:spcPct val="150000"/>
              </a:lnSpc>
            </a:pPr>
            <a:r>
              <a:rPr lang="zh-CN" altLang="en-US" sz="2000" b="1" dirty="0">
                <a:solidFill>
                  <a:srgbClr val="C00000"/>
                </a:solidFill>
                <a:latin typeface="宋体" panose="02010600030101010101" pitchFamily="2" charset="-122"/>
                <a:ea typeface="宋体" panose="02010600030101010101" pitchFamily="2" charset="-122"/>
              </a:rPr>
              <a:t>速度→位移、加速度</a:t>
            </a:r>
          </a:p>
        </p:txBody>
      </p:sp>
      <p:sp>
        <p:nvSpPr>
          <p:cNvPr id="2" name="Slide Number Placeholder 1">
            <a:extLst>
              <a:ext uri="{FF2B5EF4-FFF2-40B4-BE49-F238E27FC236}">
                <a16:creationId xmlns:a16="http://schemas.microsoft.com/office/drawing/2014/main" id="{066C5BA7-F880-498E-8722-4140BEECE023}"/>
              </a:ext>
            </a:extLst>
          </p:cNvPr>
          <p:cNvSpPr>
            <a:spLocks noGrp="1"/>
          </p:cNvSpPr>
          <p:nvPr>
            <p:ph type="sldNum" sz="quarter" idx="12"/>
          </p:nvPr>
        </p:nvSpPr>
        <p:spPr/>
        <p:txBody>
          <a:bodyPr/>
          <a:lstStyle/>
          <a:p>
            <a:fld id="{B53602B4-F12B-41CD-B648-531F86B2CC91}" type="slidenum">
              <a:rPr lang="zh-CN" altLang="en-US" smtClean="0"/>
              <a:t>23</a:t>
            </a:fld>
            <a:endParaRPr lang="zh-CN" altLang="en-US"/>
          </a:p>
        </p:txBody>
      </p:sp>
      <p:pic>
        <p:nvPicPr>
          <p:cNvPr id="19" name="Picture 89">
            <a:extLst>
              <a:ext uri="{FF2B5EF4-FFF2-40B4-BE49-F238E27FC236}">
                <a16:creationId xmlns:a16="http://schemas.microsoft.com/office/drawing/2014/main" id="{CFD4F4BE-86CD-4232-8734-3C2BE44DB1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083" y="3170580"/>
            <a:ext cx="8760520" cy="2315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矩形 15">
            <a:extLst>
              <a:ext uri="{FF2B5EF4-FFF2-40B4-BE49-F238E27FC236}">
                <a16:creationId xmlns:a16="http://schemas.microsoft.com/office/drawing/2014/main" id="{95D77B12-F598-4EA4-84EC-3089471BD118}"/>
              </a:ext>
            </a:extLst>
          </p:cNvPr>
          <p:cNvSpPr>
            <a:spLocks noChangeArrowheads="1"/>
          </p:cNvSpPr>
          <p:nvPr/>
        </p:nvSpPr>
        <p:spPr bwMode="auto">
          <a:xfrm>
            <a:off x="1571711" y="5564984"/>
            <a:ext cx="6276542" cy="698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spAutoFit/>
          </a:bodyPr>
          <a:lstStyle/>
          <a:p>
            <a:pPr>
              <a:lnSpc>
                <a:spcPct val="200000"/>
              </a:lnSpc>
              <a:buClrTx/>
              <a:buFontTx/>
              <a:buNone/>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5-9 </a:t>
            </a:r>
            <a:r>
              <a:rPr lang="zh-CN" altLang="en-US" sz="2400" b="1" dirty="0">
                <a:solidFill>
                  <a:srgbClr val="3333CC"/>
                </a:solidFill>
                <a:latin typeface="宋体" panose="02010600030101010101" pitchFamily="2" charset="-122"/>
                <a:ea typeface="宋体" panose="02010600030101010101" pitchFamily="2" charset="-122"/>
              </a:rPr>
              <a:t>磁电感应式传感器测量电路的方框图</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 name="Slide Number Placeholder 1">
            <a:extLst>
              <a:ext uri="{FF2B5EF4-FFF2-40B4-BE49-F238E27FC236}">
                <a16:creationId xmlns:a16="http://schemas.microsoft.com/office/drawing/2014/main" id="{066C5BA7-F880-498E-8722-4140BEECE023}"/>
              </a:ext>
            </a:extLst>
          </p:cNvPr>
          <p:cNvSpPr>
            <a:spLocks noGrp="1"/>
          </p:cNvSpPr>
          <p:nvPr>
            <p:ph type="sldNum" sz="quarter" idx="12"/>
          </p:nvPr>
        </p:nvSpPr>
        <p:spPr/>
        <p:txBody>
          <a:bodyPr/>
          <a:lstStyle/>
          <a:p>
            <a:fld id="{B53602B4-F12B-41CD-B648-531F86B2CC91}" type="slidenum">
              <a:rPr lang="zh-CN" altLang="en-US" smtClean="0"/>
              <a:t>24</a:t>
            </a:fld>
            <a:endParaRPr lang="zh-CN" altLang="en-US"/>
          </a:p>
        </p:txBody>
      </p:sp>
      <p:sp>
        <p:nvSpPr>
          <p:cNvPr id="9" name="TextBox 8">
            <a:extLst>
              <a:ext uri="{FF2B5EF4-FFF2-40B4-BE49-F238E27FC236}">
                <a16:creationId xmlns:a16="http://schemas.microsoft.com/office/drawing/2014/main" id="{F99F91B9-3DE8-4698-98B7-D1C12A30A628}"/>
              </a:ext>
            </a:extLst>
          </p:cNvPr>
          <p:cNvSpPr txBox="1"/>
          <p:nvPr/>
        </p:nvSpPr>
        <p:spPr>
          <a:xfrm>
            <a:off x="221175" y="1172710"/>
            <a:ext cx="3536177"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积分电路</a:t>
            </a:r>
            <a:endParaRPr lang="en-001" sz="2400"/>
          </a:p>
        </p:txBody>
      </p:sp>
      <p:pic>
        <p:nvPicPr>
          <p:cNvPr id="3" name="Picture 2">
            <a:extLst>
              <a:ext uri="{FF2B5EF4-FFF2-40B4-BE49-F238E27FC236}">
                <a16:creationId xmlns:a16="http://schemas.microsoft.com/office/drawing/2014/main" id="{D0E40D35-1CF1-42BB-82D9-B0280028FBB6}"/>
              </a:ext>
            </a:extLst>
          </p:cNvPr>
          <p:cNvPicPr>
            <a:picLocks noChangeAspect="1"/>
          </p:cNvPicPr>
          <p:nvPr/>
        </p:nvPicPr>
        <p:blipFill>
          <a:blip r:embed="rId3"/>
          <a:stretch>
            <a:fillRect/>
          </a:stretch>
        </p:blipFill>
        <p:spPr>
          <a:xfrm>
            <a:off x="5045455" y="1328145"/>
            <a:ext cx="3469895" cy="2191174"/>
          </a:xfrm>
          <a:prstGeom prst="rect">
            <a:avLst/>
          </a:prstGeom>
        </p:spPr>
      </p:pic>
      <p:pic>
        <p:nvPicPr>
          <p:cNvPr id="4" name="Picture 3">
            <a:extLst>
              <a:ext uri="{FF2B5EF4-FFF2-40B4-BE49-F238E27FC236}">
                <a16:creationId xmlns:a16="http://schemas.microsoft.com/office/drawing/2014/main" id="{F38D734E-00FD-4130-8A17-D9869F7910A0}"/>
              </a:ext>
            </a:extLst>
          </p:cNvPr>
          <p:cNvPicPr>
            <a:picLocks noChangeAspect="1"/>
          </p:cNvPicPr>
          <p:nvPr/>
        </p:nvPicPr>
        <p:blipFill rotWithShape="1">
          <a:blip r:embed="rId4"/>
          <a:srcRect t="20231"/>
          <a:stretch/>
        </p:blipFill>
        <p:spPr>
          <a:xfrm>
            <a:off x="243806" y="2271202"/>
            <a:ext cx="4328194" cy="676967"/>
          </a:xfrm>
          <a:prstGeom prst="rect">
            <a:avLst/>
          </a:prstGeom>
        </p:spPr>
      </p:pic>
      <p:sp>
        <p:nvSpPr>
          <p:cNvPr id="12" name="TextBox 11">
            <a:extLst>
              <a:ext uri="{FF2B5EF4-FFF2-40B4-BE49-F238E27FC236}">
                <a16:creationId xmlns:a16="http://schemas.microsoft.com/office/drawing/2014/main" id="{C40A641A-0156-4061-B3ED-00ACD720D649}"/>
              </a:ext>
            </a:extLst>
          </p:cNvPr>
          <p:cNvSpPr txBox="1"/>
          <p:nvPr/>
        </p:nvSpPr>
        <p:spPr>
          <a:xfrm>
            <a:off x="256609" y="1640114"/>
            <a:ext cx="2252785" cy="400110"/>
          </a:xfrm>
          <a:prstGeom prst="rect">
            <a:avLst/>
          </a:prstGeom>
          <a:noFill/>
        </p:spPr>
        <p:txBody>
          <a:bodyPr wrap="square">
            <a:spAutoFit/>
          </a:bodyPr>
          <a:lstStyle/>
          <a:p>
            <a:r>
              <a:rPr lang="zh-CN" altLang="en-US" sz="2000" b="1">
                <a:latin typeface="宋体" pitchFamily="2" charset="-122"/>
                <a:ea typeface="宋体" pitchFamily="2" charset="-122"/>
              </a:rPr>
              <a:t>输入输出关系：</a:t>
            </a:r>
            <a:endParaRPr lang="en-001" sz="2000"/>
          </a:p>
        </p:txBody>
      </p:sp>
      <p:sp>
        <p:nvSpPr>
          <p:cNvPr id="14" name="TextBox 13">
            <a:extLst>
              <a:ext uri="{FF2B5EF4-FFF2-40B4-BE49-F238E27FC236}">
                <a16:creationId xmlns:a16="http://schemas.microsoft.com/office/drawing/2014/main" id="{D5E5365A-D7D2-4140-A1CC-02AA8F1C365D}"/>
              </a:ext>
            </a:extLst>
          </p:cNvPr>
          <p:cNvSpPr txBox="1"/>
          <p:nvPr/>
        </p:nvSpPr>
        <p:spPr>
          <a:xfrm>
            <a:off x="3204890" y="2953493"/>
            <a:ext cx="1018345" cy="400110"/>
          </a:xfrm>
          <a:prstGeom prst="rect">
            <a:avLst/>
          </a:prstGeom>
          <a:noFill/>
        </p:spPr>
        <p:txBody>
          <a:bodyPr wrap="square">
            <a:spAutoFit/>
          </a:bodyPr>
          <a:lstStyle/>
          <a:p>
            <a:r>
              <a:rPr lang="zh-CN" altLang="en-US" sz="2000" b="1">
                <a:solidFill>
                  <a:srgbClr val="C00000"/>
                </a:solidFill>
                <a:latin typeface="宋体" pitchFamily="2" charset="-122"/>
                <a:ea typeface="宋体" pitchFamily="2" charset="-122"/>
              </a:rPr>
              <a:t>误差项</a:t>
            </a:r>
            <a:endParaRPr lang="en-001" sz="2000">
              <a:solidFill>
                <a:srgbClr val="C00000"/>
              </a:solidFill>
            </a:endParaRPr>
          </a:p>
        </p:txBody>
      </p:sp>
      <p:pic>
        <p:nvPicPr>
          <p:cNvPr id="6" name="Picture 5">
            <a:extLst>
              <a:ext uri="{FF2B5EF4-FFF2-40B4-BE49-F238E27FC236}">
                <a16:creationId xmlns:a16="http://schemas.microsoft.com/office/drawing/2014/main" id="{5CDC80F6-1E01-4687-8E60-13AECD0BF8FD}"/>
              </a:ext>
            </a:extLst>
          </p:cNvPr>
          <p:cNvPicPr>
            <a:picLocks noChangeAspect="1"/>
          </p:cNvPicPr>
          <p:nvPr/>
        </p:nvPicPr>
        <p:blipFill>
          <a:blip r:embed="rId5"/>
          <a:stretch>
            <a:fillRect/>
          </a:stretch>
        </p:blipFill>
        <p:spPr>
          <a:xfrm>
            <a:off x="1546447" y="3370118"/>
            <a:ext cx="2004248" cy="676967"/>
          </a:xfrm>
          <a:prstGeom prst="rect">
            <a:avLst/>
          </a:prstGeom>
        </p:spPr>
      </p:pic>
      <p:pic>
        <p:nvPicPr>
          <p:cNvPr id="7" name="Picture 6">
            <a:extLst>
              <a:ext uri="{FF2B5EF4-FFF2-40B4-BE49-F238E27FC236}">
                <a16:creationId xmlns:a16="http://schemas.microsoft.com/office/drawing/2014/main" id="{10E74B81-B055-4C3B-9766-5A7B04B92116}"/>
              </a:ext>
            </a:extLst>
          </p:cNvPr>
          <p:cNvPicPr>
            <a:picLocks noChangeAspect="1"/>
          </p:cNvPicPr>
          <p:nvPr/>
        </p:nvPicPr>
        <p:blipFill>
          <a:blip r:embed="rId6"/>
          <a:stretch>
            <a:fillRect/>
          </a:stretch>
        </p:blipFill>
        <p:spPr>
          <a:xfrm>
            <a:off x="1546447" y="4080355"/>
            <a:ext cx="2369976" cy="653143"/>
          </a:xfrm>
          <a:prstGeom prst="rect">
            <a:avLst/>
          </a:prstGeom>
        </p:spPr>
      </p:pic>
      <p:sp>
        <p:nvSpPr>
          <p:cNvPr id="8" name="Arrow: Right 7">
            <a:extLst>
              <a:ext uri="{FF2B5EF4-FFF2-40B4-BE49-F238E27FC236}">
                <a16:creationId xmlns:a16="http://schemas.microsoft.com/office/drawing/2014/main" id="{C4962B1B-2DCA-4E00-A101-C52428B18FBE}"/>
              </a:ext>
            </a:extLst>
          </p:cNvPr>
          <p:cNvSpPr/>
          <p:nvPr/>
        </p:nvSpPr>
        <p:spPr>
          <a:xfrm>
            <a:off x="806523" y="3490737"/>
            <a:ext cx="472573" cy="373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8" name="Arrow: Right 17">
            <a:extLst>
              <a:ext uri="{FF2B5EF4-FFF2-40B4-BE49-F238E27FC236}">
                <a16:creationId xmlns:a16="http://schemas.microsoft.com/office/drawing/2014/main" id="{09409A00-92EF-4F11-B351-96E29C2ED4A2}"/>
              </a:ext>
            </a:extLst>
          </p:cNvPr>
          <p:cNvSpPr/>
          <p:nvPr/>
        </p:nvSpPr>
        <p:spPr>
          <a:xfrm>
            <a:off x="815416" y="4229816"/>
            <a:ext cx="472573" cy="373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10" name="Picture 9">
            <a:extLst>
              <a:ext uri="{FF2B5EF4-FFF2-40B4-BE49-F238E27FC236}">
                <a16:creationId xmlns:a16="http://schemas.microsoft.com/office/drawing/2014/main" id="{4F00F487-1FA3-412A-AEA9-4DD2AC9B0CA8}"/>
              </a:ext>
            </a:extLst>
          </p:cNvPr>
          <p:cNvPicPr>
            <a:picLocks noChangeAspect="1"/>
          </p:cNvPicPr>
          <p:nvPr/>
        </p:nvPicPr>
        <p:blipFill rotWithShape="1">
          <a:blip r:embed="rId7"/>
          <a:srcRect l="46676" t="-14717" r="13716" b="19182"/>
          <a:stretch/>
        </p:blipFill>
        <p:spPr>
          <a:xfrm>
            <a:off x="1449088" y="4811376"/>
            <a:ext cx="1168326" cy="373381"/>
          </a:xfrm>
          <a:prstGeom prst="rect">
            <a:avLst/>
          </a:prstGeom>
        </p:spPr>
      </p:pic>
      <p:pic>
        <p:nvPicPr>
          <p:cNvPr id="11" name="Picture 10">
            <a:extLst>
              <a:ext uri="{FF2B5EF4-FFF2-40B4-BE49-F238E27FC236}">
                <a16:creationId xmlns:a16="http://schemas.microsoft.com/office/drawing/2014/main" id="{8E5D1437-60BD-49F8-A2CE-CF1B023562BE}"/>
              </a:ext>
            </a:extLst>
          </p:cNvPr>
          <p:cNvPicPr>
            <a:picLocks noChangeAspect="1"/>
          </p:cNvPicPr>
          <p:nvPr/>
        </p:nvPicPr>
        <p:blipFill>
          <a:blip r:embed="rId8"/>
          <a:stretch>
            <a:fillRect/>
          </a:stretch>
        </p:blipFill>
        <p:spPr>
          <a:xfrm>
            <a:off x="984442" y="5866030"/>
            <a:ext cx="2266201" cy="777191"/>
          </a:xfrm>
          <a:prstGeom prst="rect">
            <a:avLst/>
          </a:prstGeom>
        </p:spPr>
      </p:pic>
      <p:sp>
        <p:nvSpPr>
          <p:cNvPr id="5" name="Oval 4">
            <a:extLst>
              <a:ext uri="{FF2B5EF4-FFF2-40B4-BE49-F238E27FC236}">
                <a16:creationId xmlns:a16="http://schemas.microsoft.com/office/drawing/2014/main" id="{D6E50E57-817B-44FA-A668-EEDA3C453650}"/>
              </a:ext>
            </a:extLst>
          </p:cNvPr>
          <p:cNvSpPr/>
          <p:nvPr/>
        </p:nvSpPr>
        <p:spPr>
          <a:xfrm>
            <a:off x="2773855" y="2006129"/>
            <a:ext cx="1898991" cy="14914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1" name="TextBox 20">
            <a:extLst>
              <a:ext uri="{FF2B5EF4-FFF2-40B4-BE49-F238E27FC236}">
                <a16:creationId xmlns:a16="http://schemas.microsoft.com/office/drawing/2014/main" id="{0A330A32-BE4E-44C3-AA12-2AB7B25D79DB}"/>
              </a:ext>
            </a:extLst>
          </p:cNvPr>
          <p:cNvSpPr txBox="1"/>
          <p:nvPr/>
        </p:nvSpPr>
        <p:spPr>
          <a:xfrm>
            <a:off x="684392" y="4850072"/>
            <a:ext cx="2866303" cy="1015663"/>
          </a:xfrm>
          <a:prstGeom prst="rect">
            <a:avLst/>
          </a:prstGeom>
          <a:noFill/>
        </p:spPr>
        <p:txBody>
          <a:bodyPr wrap="square">
            <a:spAutoFit/>
          </a:bodyPr>
          <a:lstStyle/>
          <a:p>
            <a:r>
              <a:rPr lang="zh-CN" altLang="en-US" sz="2000" b="1">
                <a:latin typeface="宋体" pitchFamily="2" charset="-122"/>
                <a:ea typeface="宋体" pitchFamily="2" charset="-122"/>
              </a:rPr>
              <a:t>如果</a:t>
            </a:r>
            <a:endParaRPr lang="en-US" altLang="zh-CN" sz="2000" b="1">
              <a:latin typeface="宋体" pitchFamily="2" charset="-122"/>
              <a:ea typeface="宋体" pitchFamily="2" charset="-122"/>
            </a:endParaRPr>
          </a:p>
          <a:p>
            <a:endParaRPr lang="en-US" sz="2000" b="1">
              <a:latin typeface="宋体" pitchFamily="2" charset="-122"/>
              <a:ea typeface="宋体" pitchFamily="2" charset="-122"/>
            </a:endParaRPr>
          </a:p>
          <a:p>
            <a:r>
              <a:rPr lang="zh-CN" altLang="en-US" sz="2000" b="1">
                <a:latin typeface="宋体" pitchFamily="2" charset="-122"/>
                <a:ea typeface="宋体" pitchFamily="2" charset="-122"/>
              </a:rPr>
              <a:t>则为理想积分特性：</a:t>
            </a:r>
            <a:endParaRPr lang="en-001" sz="2000"/>
          </a:p>
        </p:txBody>
      </p:sp>
      <p:sp>
        <p:nvSpPr>
          <p:cNvPr id="22" name="TextBox 21">
            <a:extLst>
              <a:ext uri="{FF2B5EF4-FFF2-40B4-BE49-F238E27FC236}">
                <a16:creationId xmlns:a16="http://schemas.microsoft.com/office/drawing/2014/main" id="{060B190C-8D20-4569-B60E-CF55D807BCAC}"/>
              </a:ext>
            </a:extLst>
          </p:cNvPr>
          <p:cNvSpPr txBox="1"/>
          <p:nvPr/>
        </p:nvSpPr>
        <p:spPr>
          <a:xfrm>
            <a:off x="4610100" y="3829706"/>
            <a:ext cx="3905250" cy="400110"/>
          </a:xfrm>
          <a:prstGeom prst="rect">
            <a:avLst/>
          </a:prstGeom>
          <a:noFill/>
        </p:spPr>
        <p:txBody>
          <a:bodyPr wrap="square">
            <a:spAutoFit/>
          </a:bodyPr>
          <a:lstStyle/>
          <a:p>
            <a:r>
              <a:rPr lang="zh-CN" altLang="en-US" sz="2000" b="1">
                <a:latin typeface="宋体" pitchFamily="2" charset="-122"/>
                <a:ea typeface="宋体" pitchFamily="2" charset="-122"/>
              </a:rPr>
              <a:t>一般情况下的幅值和相角误差：</a:t>
            </a:r>
            <a:endParaRPr lang="en-001" sz="2000"/>
          </a:p>
        </p:txBody>
      </p:sp>
      <p:pic>
        <p:nvPicPr>
          <p:cNvPr id="13" name="Picture 12">
            <a:extLst>
              <a:ext uri="{FF2B5EF4-FFF2-40B4-BE49-F238E27FC236}">
                <a16:creationId xmlns:a16="http://schemas.microsoft.com/office/drawing/2014/main" id="{EF87EA5C-75DC-47FA-B6DC-9D0984E0E70C}"/>
              </a:ext>
            </a:extLst>
          </p:cNvPr>
          <p:cNvPicPr>
            <a:picLocks noChangeAspect="1"/>
          </p:cNvPicPr>
          <p:nvPr/>
        </p:nvPicPr>
        <p:blipFill>
          <a:blip r:embed="rId9"/>
          <a:stretch>
            <a:fillRect/>
          </a:stretch>
        </p:blipFill>
        <p:spPr>
          <a:xfrm>
            <a:off x="4727885" y="4290994"/>
            <a:ext cx="4105034" cy="713375"/>
          </a:xfrm>
          <a:prstGeom prst="rect">
            <a:avLst/>
          </a:prstGeom>
        </p:spPr>
      </p:pic>
      <p:pic>
        <p:nvPicPr>
          <p:cNvPr id="15" name="Picture 14">
            <a:extLst>
              <a:ext uri="{FF2B5EF4-FFF2-40B4-BE49-F238E27FC236}">
                <a16:creationId xmlns:a16="http://schemas.microsoft.com/office/drawing/2014/main" id="{11CDA53B-2DD3-48F2-966F-FDC2E99924E2}"/>
              </a:ext>
            </a:extLst>
          </p:cNvPr>
          <p:cNvPicPr>
            <a:picLocks noChangeAspect="1"/>
          </p:cNvPicPr>
          <p:nvPr/>
        </p:nvPicPr>
        <p:blipFill>
          <a:blip r:embed="rId10"/>
          <a:stretch>
            <a:fillRect/>
          </a:stretch>
        </p:blipFill>
        <p:spPr>
          <a:xfrm>
            <a:off x="4779865" y="5578325"/>
            <a:ext cx="4053054" cy="510499"/>
          </a:xfrm>
          <a:prstGeom prst="rect">
            <a:avLst/>
          </a:prstGeom>
        </p:spPr>
      </p:pic>
      <p:sp>
        <p:nvSpPr>
          <p:cNvPr id="26" name="TextBox 25">
            <a:extLst>
              <a:ext uri="{FF2B5EF4-FFF2-40B4-BE49-F238E27FC236}">
                <a16:creationId xmlns:a16="http://schemas.microsoft.com/office/drawing/2014/main" id="{C49C9358-2267-486E-808E-AEA165418CE6}"/>
              </a:ext>
            </a:extLst>
          </p:cNvPr>
          <p:cNvSpPr txBox="1"/>
          <p:nvPr/>
        </p:nvSpPr>
        <p:spPr>
          <a:xfrm>
            <a:off x="5491529" y="4988571"/>
            <a:ext cx="3905250" cy="369332"/>
          </a:xfrm>
          <a:prstGeom prst="rect">
            <a:avLst/>
          </a:prstGeom>
          <a:noFill/>
        </p:spPr>
        <p:txBody>
          <a:bodyPr wrap="square">
            <a:spAutoFit/>
          </a:bodyPr>
          <a:lstStyle>
            <a:defPPr>
              <a:defRPr lang="zh-CN"/>
            </a:defPPr>
            <a:lvl1pPr>
              <a:defRPr sz="2000" b="1">
                <a:latin typeface="宋体" pitchFamily="2" charset="-122"/>
                <a:ea typeface="宋体" pitchFamily="2" charset="-122"/>
              </a:defRPr>
            </a:lvl1pPr>
          </a:lstStyle>
          <a:p>
            <a:r>
              <a:rPr lang="en-001" sz="1800">
                <a:solidFill>
                  <a:srgbClr val="C00000"/>
                </a:solidFill>
              </a:rPr>
              <a:t>最大幅值误差将出现在低频下限处</a:t>
            </a:r>
          </a:p>
        </p:txBody>
      </p:sp>
      <p:sp>
        <p:nvSpPr>
          <p:cNvPr id="23" name="TextBox 22">
            <a:extLst>
              <a:ext uri="{FF2B5EF4-FFF2-40B4-BE49-F238E27FC236}">
                <a16:creationId xmlns:a16="http://schemas.microsoft.com/office/drawing/2014/main" id="{1C88E83B-6273-4FB3-B5AA-43792BF5E28A}"/>
              </a:ext>
            </a:extLst>
          </p:cNvPr>
          <p:cNvSpPr txBox="1"/>
          <p:nvPr/>
        </p:nvSpPr>
        <p:spPr>
          <a:xfrm>
            <a:off x="1518853" y="2930933"/>
            <a:ext cx="1018345" cy="400110"/>
          </a:xfrm>
          <a:prstGeom prst="rect">
            <a:avLst/>
          </a:prstGeom>
          <a:noFill/>
        </p:spPr>
        <p:txBody>
          <a:bodyPr wrap="square">
            <a:spAutoFit/>
          </a:bodyPr>
          <a:lstStyle/>
          <a:p>
            <a:r>
              <a:rPr lang="zh-CN" altLang="en-US" sz="2000" b="1">
                <a:solidFill>
                  <a:srgbClr val="C00000"/>
                </a:solidFill>
                <a:latin typeface="宋体" pitchFamily="2" charset="-122"/>
                <a:ea typeface="宋体" pitchFamily="2" charset="-122"/>
              </a:rPr>
              <a:t>积分项</a:t>
            </a:r>
            <a:endParaRPr lang="en-001" sz="2000">
              <a:solidFill>
                <a:srgbClr val="C00000"/>
              </a:solidFill>
            </a:endParaRPr>
          </a:p>
        </p:txBody>
      </p:sp>
      <p:sp>
        <p:nvSpPr>
          <p:cNvPr id="24" name="Oval 23">
            <a:extLst>
              <a:ext uri="{FF2B5EF4-FFF2-40B4-BE49-F238E27FC236}">
                <a16:creationId xmlns:a16="http://schemas.microsoft.com/office/drawing/2014/main" id="{9E90E987-199A-4199-ACC2-9DAD10BF3830}"/>
              </a:ext>
            </a:extLst>
          </p:cNvPr>
          <p:cNvSpPr/>
          <p:nvPr/>
        </p:nvSpPr>
        <p:spPr>
          <a:xfrm>
            <a:off x="1304360" y="1983569"/>
            <a:ext cx="1450918" cy="14914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Tree>
    <p:extLst>
      <p:ext uri="{BB962C8B-B14F-4D97-AF65-F5344CB8AC3E}">
        <p14:creationId xmlns:p14="http://schemas.microsoft.com/office/powerpoint/2010/main" val="32868281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8" grpId="0" animBg="1"/>
      <p:bldP spid="18" grpId="0" animBg="1"/>
      <p:bldP spid="5" grpId="0" animBg="1"/>
      <p:bldP spid="21" grpId="0"/>
      <p:bldP spid="22" grpId="0"/>
      <p:bldP spid="26" grpId="0"/>
      <p:bldP spid="23" grpId="0"/>
      <p:bldP spid="2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 name="Slide Number Placeholder 1">
            <a:extLst>
              <a:ext uri="{FF2B5EF4-FFF2-40B4-BE49-F238E27FC236}">
                <a16:creationId xmlns:a16="http://schemas.microsoft.com/office/drawing/2014/main" id="{066C5BA7-F880-498E-8722-4140BEECE023}"/>
              </a:ext>
            </a:extLst>
          </p:cNvPr>
          <p:cNvSpPr>
            <a:spLocks noGrp="1"/>
          </p:cNvSpPr>
          <p:nvPr>
            <p:ph type="sldNum" sz="quarter" idx="12"/>
          </p:nvPr>
        </p:nvSpPr>
        <p:spPr/>
        <p:txBody>
          <a:bodyPr/>
          <a:lstStyle/>
          <a:p>
            <a:fld id="{B53602B4-F12B-41CD-B648-531F86B2CC91}" type="slidenum">
              <a:rPr lang="zh-CN" altLang="en-US" smtClean="0"/>
              <a:t>25</a:t>
            </a:fld>
            <a:endParaRPr lang="zh-CN" altLang="en-US"/>
          </a:p>
        </p:txBody>
      </p:sp>
      <p:sp>
        <p:nvSpPr>
          <p:cNvPr id="9" name="TextBox 8">
            <a:extLst>
              <a:ext uri="{FF2B5EF4-FFF2-40B4-BE49-F238E27FC236}">
                <a16:creationId xmlns:a16="http://schemas.microsoft.com/office/drawing/2014/main" id="{F99F91B9-3DE8-4698-98B7-D1C12A30A628}"/>
              </a:ext>
            </a:extLst>
          </p:cNvPr>
          <p:cNvSpPr txBox="1"/>
          <p:nvPr/>
        </p:nvSpPr>
        <p:spPr>
          <a:xfrm>
            <a:off x="221175" y="1172710"/>
            <a:ext cx="3536177"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积分电路</a:t>
            </a:r>
            <a:endParaRPr lang="en-001" sz="2400"/>
          </a:p>
        </p:txBody>
      </p:sp>
      <p:pic>
        <p:nvPicPr>
          <p:cNvPr id="7" name="Picture 6">
            <a:extLst>
              <a:ext uri="{FF2B5EF4-FFF2-40B4-BE49-F238E27FC236}">
                <a16:creationId xmlns:a16="http://schemas.microsoft.com/office/drawing/2014/main" id="{10E74B81-B055-4C3B-9766-5A7B04B92116}"/>
              </a:ext>
            </a:extLst>
          </p:cNvPr>
          <p:cNvPicPr>
            <a:picLocks noChangeAspect="1"/>
          </p:cNvPicPr>
          <p:nvPr/>
        </p:nvPicPr>
        <p:blipFill>
          <a:blip r:embed="rId3"/>
          <a:stretch>
            <a:fillRect/>
          </a:stretch>
        </p:blipFill>
        <p:spPr>
          <a:xfrm>
            <a:off x="247438" y="1832310"/>
            <a:ext cx="2369976" cy="653143"/>
          </a:xfrm>
          <a:prstGeom prst="rect">
            <a:avLst/>
          </a:prstGeom>
        </p:spPr>
      </p:pic>
      <p:pic>
        <p:nvPicPr>
          <p:cNvPr id="13" name="Picture 12">
            <a:extLst>
              <a:ext uri="{FF2B5EF4-FFF2-40B4-BE49-F238E27FC236}">
                <a16:creationId xmlns:a16="http://schemas.microsoft.com/office/drawing/2014/main" id="{EF87EA5C-75DC-47FA-B6DC-9D0984E0E70C}"/>
              </a:ext>
            </a:extLst>
          </p:cNvPr>
          <p:cNvPicPr>
            <a:picLocks noChangeAspect="1"/>
          </p:cNvPicPr>
          <p:nvPr/>
        </p:nvPicPr>
        <p:blipFill>
          <a:blip r:embed="rId4"/>
          <a:stretch>
            <a:fillRect/>
          </a:stretch>
        </p:blipFill>
        <p:spPr>
          <a:xfrm>
            <a:off x="3005691" y="2636611"/>
            <a:ext cx="5337944" cy="927631"/>
          </a:xfrm>
          <a:prstGeom prst="rect">
            <a:avLst/>
          </a:prstGeom>
        </p:spPr>
      </p:pic>
      <p:sp>
        <p:nvSpPr>
          <p:cNvPr id="24" name="TextBox 23">
            <a:extLst>
              <a:ext uri="{FF2B5EF4-FFF2-40B4-BE49-F238E27FC236}">
                <a16:creationId xmlns:a16="http://schemas.microsoft.com/office/drawing/2014/main" id="{A56EE464-06F1-401E-983D-EAA2D04B64CD}"/>
              </a:ext>
            </a:extLst>
          </p:cNvPr>
          <p:cNvSpPr txBox="1"/>
          <p:nvPr/>
        </p:nvSpPr>
        <p:spPr>
          <a:xfrm>
            <a:off x="185083" y="4147289"/>
            <a:ext cx="8917637" cy="1843262"/>
          </a:xfrm>
          <a:prstGeom prst="rect">
            <a:avLst/>
          </a:prstGeom>
          <a:noFill/>
        </p:spPr>
        <p:txBody>
          <a:bodyPr wrap="square">
            <a:spAutoFit/>
          </a:bodyPr>
          <a:lstStyle/>
          <a:p>
            <a:pPr>
              <a:lnSpc>
                <a:spcPct val="150000"/>
              </a:lnSpc>
              <a:spcAft>
                <a:spcPts val="600"/>
              </a:spcAft>
            </a:pPr>
            <a:r>
              <a:rPr lang="en-001" b="1">
                <a:solidFill>
                  <a:srgbClr val="C00000"/>
                </a:solidFill>
                <a:latin typeface="宋体" panose="02010600030101010101" pitchFamily="2" charset="-122"/>
                <a:ea typeface="宋体" panose="02010600030101010101" pitchFamily="2" charset="-122"/>
              </a:rPr>
              <a:t>积分误差与输出信号幅度衰减之间的矛盾：</a:t>
            </a:r>
          </a:p>
          <a:p>
            <a:pPr marL="285750" indent="-285750">
              <a:lnSpc>
                <a:spcPct val="150000"/>
              </a:lnSpc>
              <a:spcAft>
                <a:spcPts val="600"/>
              </a:spcAft>
              <a:buFont typeface="Arial" panose="020B0604020202020204" pitchFamily="34" charset="0"/>
              <a:buChar char="•"/>
            </a:pPr>
            <a:r>
              <a:rPr lang="en-001" b="1">
                <a:latin typeface="宋体" panose="02010600030101010101" pitchFamily="2" charset="-122"/>
                <a:ea typeface="宋体" panose="02010600030101010101" pitchFamily="2" charset="-122"/>
              </a:rPr>
              <a:t>欲减小积分误差，需选用较大的时间常数RC,而RC值增大的结果是使输出衰减严重，往往为了保证低端的误差不超过允许值而使得高频端的输出信号衰诚到无法利用。</a:t>
            </a:r>
          </a:p>
          <a:p>
            <a:pPr marL="285750" indent="-285750">
              <a:lnSpc>
                <a:spcPct val="150000"/>
              </a:lnSpc>
              <a:spcAft>
                <a:spcPts val="600"/>
              </a:spcAft>
              <a:buFont typeface="Arial" panose="020B0604020202020204" pitchFamily="34" charset="0"/>
              <a:buChar char="•"/>
            </a:pPr>
            <a:r>
              <a:rPr lang="en-001" b="1">
                <a:latin typeface="宋体" panose="02010600030101010101" pitchFamily="2" charset="-122"/>
                <a:ea typeface="宋体" panose="02010600030101010101" pitchFamily="2" charset="-122"/>
              </a:rPr>
              <a:t>分频段积分：把全部工作频带分成几段，对每个频段使用不同的积分电路。</a:t>
            </a:r>
          </a:p>
        </p:txBody>
      </p:sp>
      <p:pic>
        <p:nvPicPr>
          <p:cNvPr id="17" name="Picture 16">
            <a:extLst>
              <a:ext uri="{FF2B5EF4-FFF2-40B4-BE49-F238E27FC236}">
                <a16:creationId xmlns:a16="http://schemas.microsoft.com/office/drawing/2014/main" id="{576D6660-DC81-4B18-8BF1-56BE5BEF13CD}"/>
              </a:ext>
            </a:extLst>
          </p:cNvPr>
          <p:cNvPicPr>
            <a:picLocks noChangeAspect="1"/>
          </p:cNvPicPr>
          <p:nvPr/>
        </p:nvPicPr>
        <p:blipFill>
          <a:blip r:embed="rId5"/>
          <a:stretch>
            <a:fillRect/>
          </a:stretch>
        </p:blipFill>
        <p:spPr>
          <a:xfrm>
            <a:off x="7042817" y="1829549"/>
            <a:ext cx="1853533" cy="620462"/>
          </a:xfrm>
          <a:prstGeom prst="rect">
            <a:avLst/>
          </a:prstGeom>
        </p:spPr>
      </p:pic>
      <p:pic>
        <p:nvPicPr>
          <p:cNvPr id="27" name="Picture 26">
            <a:extLst>
              <a:ext uri="{FF2B5EF4-FFF2-40B4-BE49-F238E27FC236}">
                <a16:creationId xmlns:a16="http://schemas.microsoft.com/office/drawing/2014/main" id="{D137B493-B867-40E1-A502-51ADCCA4BC14}"/>
              </a:ext>
            </a:extLst>
          </p:cNvPr>
          <p:cNvPicPr>
            <a:picLocks noChangeAspect="1"/>
          </p:cNvPicPr>
          <p:nvPr/>
        </p:nvPicPr>
        <p:blipFill>
          <a:blip r:embed="rId6"/>
          <a:stretch>
            <a:fillRect/>
          </a:stretch>
        </p:blipFill>
        <p:spPr>
          <a:xfrm>
            <a:off x="2927768" y="1805070"/>
            <a:ext cx="2266201" cy="777191"/>
          </a:xfrm>
          <a:prstGeom prst="rect">
            <a:avLst/>
          </a:prstGeom>
        </p:spPr>
      </p:pic>
      <p:sp>
        <p:nvSpPr>
          <p:cNvPr id="28" name="Oval 27">
            <a:extLst>
              <a:ext uri="{FF2B5EF4-FFF2-40B4-BE49-F238E27FC236}">
                <a16:creationId xmlns:a16="http://schemas.microsoft.com/office/drawing/2014/main" id="{340B02F8-F105-4CF7-A12B-434C929683E8}"/>
              </a:ext>
            </a:extLst>
          </p:cNvPr>
          <p:cNvSpPr/>
          <p:nvPr/>
        </p:nvSpPr>
        <p:spPr>
          <a:xfrm>
            <a:off x="4005449" y="1730232"/>
            <a:ext cx="1133101" cy="10295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9" name="Oval 28">
            <a:extLst>
              <a:ext uri="{FF2B5EF4-FFF2-40B4-BE49-F238E27FC236}">
                <a16:creationId xmlns:a16="http://schemas.microsoft.com/office/drawing/2014/main" id="{95CAB03C-E374-40F1-BC99-BCA02EA6D9C6}"/>
              </a:ext>
            </a:extLst>
          </p:cNvPr>
          <p:cNvSpPr/>
          <p:nvPr/>
        </p:nvSpPr>
        <p:spPr>
          <a:xfrm>
            <a:off x="6024749" y="2581310"/>
            <a:ext cx="2266201" cy="12972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Tree>
    <p:extLst>
      <p:ext uri="{BB962C8B-B14F-4D97-AF65-F5344CB8AC3E}">
        <p14:creationId xmlns:p14="http://schemas.microsoft.com/office/powerpoint/2010/main" val="36480514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 name="Slide Number Placeholder 1">
            <a:extLst>
              <a:ext uri="{FF2B5EF4-FFF2-40B4-BE49-F238E27FC236}">
                <a16:creationId xmlns:a16="http://schemas.microsoft.com/office/drawing/2014/main" id="{066C5BA7-F880-498E-8722-4140BEECE023}"/>
              </a:ext>
            </a:extLst>
          </p:cNvPr>
          <p:cNvSpPr>
            <a:spLocks noGrp="1"/>
          </p:cNvSpPr>
          <p:nvPr>
            <p:ph type="sldNum" sz="quarter" idx="12"/>
          </p:nvPr>
        </p:nvSpPr>
        <p:spPr/>
        <p:txBody>
          <a:bodyPr/>
          <a:lstStyle/>
          <a:p>
            <a:fld id="{B53602B4-F12B-41CD-B648-531F86B2CC91}" type="slidenum">
              <a:rPr lang="zh-CN" altLang="en-US" smtClean="0"/>
              <a:t>26</a:t>
            </a:fld>
            <a:endParaRPr lang="zh-CN" altLang="en-US"/>
          </a:p>
        </p:txBody>
      </p:sp>
      <p:sp>
        <p:nvSpPr>
          <p:cNvPr id="9" name="TextBox 8">
            <a:extLst>
              <a:ext uri="{FF2B5EF4-FFF2-40B4-BE49-F238E27FC236}">
                <a16:creationId xmlns:a16="http://schemas.microsoft.com/office/drawing/2014/main" id="{F99F91B9-3DE8-4698-98B7-D1C12A30A628}"/>
              </a:ext>
            </a:extLst>
          </p:cNvPr>
          <p:cNvSpPr txBox="1"/>
          <p:nvPr/>
        </p:nvSpPr>
        <p:spPr>
          <a:xfrm>
            <a:off x="221175" y="1172710"/>
            <a:ext cx="3536177"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积分电路</a:t>
            </a:r>
            <a:endParaRPr lang="en-001" sz="2400"/>
          </a:p>
        </p:txBody>
      </p:sp>
      <p:sp>
        <p:nvSpPr>
          <p:cNvPr id="7" name="TextBox 6">
            <a:extLst>
              <a:ext uri="{FF2B5EF4-FFF2-40B4-BE49-F238E27FC236}">
                <a16:creationId xmlns:a16="http://schemas.microsoft.com/office/drawing/2014/main" id="{EB9855F7-8DED-4F48-ABE1-33A5FC64172D}"/>
              </a:ext>
            </a:extLst>
          </p:cNvPr>
          <p:cNvSpPr txBox="1"/>
          <p:nvPr/>
        </p:nvSpPr>
        <p:spPr>
          <a:xfrm>
            <a:off x="579839" y="1997091"/>
            <a:ext cx="7984321" cy="461665"/>
          </a:xfrm>
          <a:prstGeom prst="rect">
            <a:avLst/>
          </a:prstGeom>
          <a:solidFill>
            <a:schemeClr val="accent4"/>
          </a:solidFill>
        </p:spPr>
        <p:txBody>
          <a:bodyPr wrap="square">
            <a:spAutoFit/>
          </a:bodyPr>
          <a:lstStyle>
            <a:defPPr>
              <a:defRPr lang="zh-CN"/>
            </a:defPPr>
            <a:lvl1pPr>
              <a:defRPr sz="2400" b="1">
                <a:latin typeface="宋体" pitchFamily="2" charset="-122"/>
                <a:ea typeface="宋体" pitchFamily="2" charset="-122"/>
              </a:defRPr>
            </a:lvl1pPr>
          </a:lstStyle>
          <a:p>
            <a:r>
              <a:rPr lang="zh-CN" altLang="en-US" dirty="0"/>
              <a:t>有源积分：练习，自己推导分析其幅值误差和相角误差</a:t>
            </a:r>
            <a:endParaRPr lang="en-001" dirty="0"/>
          </a:p>
        </p:txBody>
      </p:sp>
      <p:pic>
        <p:nvPicPr>
          <p:cNvPr id="3" name="Picture 2">
            <a:extLst>
              <a:ext uri="{FF2B5EF4-FFF2-40B4-BE49-F238E27FC236}">
                <a16:creationId xmlns:a16="http://schemas.microsoft.com/office/drawing/2014/main" id="{7E89CC41-7C74-4016-BEEF-A3339B0846BA}"/>
              </a:ext>
            </a:extLst>
          </p:cNvPr>
          <p:cNvPicPr>
            <a:picLocks noChangeAspect="1"/>
          </p:cNvPicPr>
          <p:nvPr/>
        </p:nvPicPr>
        <p:blipFill>
          <a:blip r:embed="rId3"/>
          <a:stretch>
            <a:fillRect/>
          </a:stretch>
        </p:blipFill>
        <p:spPr>
          <a:xfrm>
            <a:off x="2080259" y="2821472"/>
            <a:ext cx="4415359" cy="3236428"/>
          </a:xfrm>
          <a:prstGeom prst="rect">
            <a:avLst/>
          </a:prstGeom>
        </p:spPr>
      </p:pic>
    </p:spTree>
    <p:extLst>
      <p:ext uri="{BB962C8B-B14F-4D97-AF65-F5344CB8AC3E}">
        <p14:creationId xmlns:p14="http://schemas.microsoft.com/office/powerpoint/2010/main" val="32471608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 name="Slide Number Placeholder 1">
            <a:extLst>
              <a:ext uri="{FF2B5EF4-FFF2-40B4-BE49-F238E27FC236}">
                <a16:creationId xmlns:a16="http://schemas.microsoft.com/office/drawing/2014/main" id="{066C5BA7-F880-498E-8722-4140BEECE023}"/>
              </a:ext>
            </a:extLst>
          </p:cNvPr>
          <p:cNvSpPr>
            <a:spLocks noGrp="1"/>
          </p:cNvSpPr>
          <p:nvPr>
            <p:ph type="sldNum" sz="quarter" idx="12"/>
          </p:nvPr>
        </p:nvSpPr>
        <p:spPr/>
        <p:txBody>
          <a:bodyPr/>
          <a:lstStyle/>
          <a:p>
            <a:fld id="{B53602B4-F12B-41CD-B648-531F86B2CC91}" type="slidenum">
              <a:rPr lang="zh-CN" altLang="en-US" smtClean="0"/>
              <a:t>27</a:t>
            </a:fld>
            <a:endParaRPr lang="zh-CN" altLang="en-US"/>
          </a:p>
        </p:txBody>
      </p:sp>
      <p:sp>
        <p:nvSpPr>
          <p:cNvPr id="9" name="TextBox 8">
            <a:extLst>
              <a:ext uri="{FF2B5EF4-FFF2-40B4-BE49-F238E27FC236}">
                <a16:creationId xmlns:a16="http://schemas.microsoft.com/office/drawing/2014/main" id="{F99F91B9-3DE8-4698-98B7-D1C12A30A628}"/>
              </a:ext>
            </a:extLst>
          </p:cNvPr>
          <p:cNvSpPr txBox="1"/>
          <p:nvPr/>
        </p:nvSpPr>
        <p:spPr>
          <a:xfrm>
            <a:off x="221175" y="1172710"/>
            <a:ext cx="3536177"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微分电路</a:t>
            </a:r>
            <a:endParaRPr lang="en-001" sz="2400"/>
          </a:p>
        </p:txBody>
      </p:sp>
      <p:pic>
        <p:nvPicPr>
          <p:cNvPr id="3" name="Picture 2">
            <a:extLst>
              <a:ext uri="{FF2B5EF4-FFF2-40B4-BE49-F238E27FC236}">
                <a16:creationId xmlns:a16="http://schemas.microsoft.com/office/drawing/2014/main" id="{5247ACE0-0B45-474F-9BD6-B2D4BAEF6BF3}"/>
              </a:ext>
            </a:extLst>
          </p:cNvPr>
          <p:cNvPicPr>
            <a:picLocks noChangeAspect="1"/>
          </p:cNvPicPr>
          <p:nvPr/>
        </p:nvPicPr>
        <p:blipFill>
          <a:blip r:embed="rId3"/>
          <a:stretch>
            <a:fillRect/>
          </a:stretch>
        </p:blipFill>
        <p:spPr>
          <a:xfrm>
            <a:off x="5658449" y="1120623"/>
            <a:ext cx="2856901" cy="2162473"/>
          </a:xfrm>
          <a:prstGeom prst="rect">
            <a:avLst/>
          </a:prstGeom>
        </p:spPr>
      </p:pic>
      <p:sp>
        <p:nvSpPr>
          <p:cNvPr id="8" name="TextBox 7">
            <a:extLst>
              <a:ext uri="{FF2B5EF4-FFF2-40B4-BE49-F238E27FC236}">
                <a16:creationId xmlns:a16="http://schemas.microsoft.com/office/drawing/2014/main" id="{FB4754D1-E24D-4DFF-BC7C-310D841606D8}"/>
              </a:ext>
            </a:extLst>
          </p:cNvPr>
          <p:cNvSpPr txBox="1"/>
          <p:nvPr/>
        </p:nvSpPr>
        <p:spPr>
          <a:xfrm>
            <a:off x="348188" y="1806074"/>
            <a:ext cx="2252785" cy="400110"/>
          </a:xfrm>
          <a:prstGeom prst="rect">
            <a:avLst/>
          </a:prstGeom>
          <a:noFill/>
        </p:spPr>
        <p:txBody>
          <a:bodyPr wrap="square">
            <a:spAutoFit/>
          </a:bodyPr>
          <a:lstStyle/>
          <a:p>
            <a:r>
              <a:rPr lang="zh-CN" altLang="en-US" sz="2000" b="1">
                <a:latin typeface="宋体" pitchFamily="2" charset="-122"/>
                <a:ea typeface="宋体" pitchFamily="2" charset="-122"/>
              </a:rPr>
              <a:t>输入输出关系：</a:t>
            </a:r>
            <a:endParaRPr lang="en-001" sz="2000"/>
          </a:p>
        </p:txBody>
      </p:sp>
      <p:sp>
        <p:nvSpPr>
          <p:cNvPr id="10" name="Arrow: Right 9">
            <a:extLst>
              <a:ext uri="{FF2B5EF4-FFF2-40B4-BE49-F238E27FC236}">
                <a16:creationId xmlns:a16="http://schemas.microsoft.com/office/drawing/2014/main" id="{87C860D3-E5D8-4A76-871E-1A6841C3CF07}"/>
              </a:ext>
            </a:extLst>
          </p:cNvPr>
          <p:cNvSpPr/>
          <p:nvPr/>
        </p:nvSpPr>
        <p:spPr>
          <a:xfrm>
            <a:off x="885705" y="3759115"/>
            <a:ext cx="472573" cy="3733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1" name="TextBox 10">
            <a:extLst>
              <a:ext uri="{FF2B5EF4-FFF2-40B4-BE49-F238E27FC236}">
                <a16:creationId xmlns:a16="http://schemas.microsoft.com/office/drawing/2014/main" id="{F320F805-6C81-4A83-AE86-F4165DB1678C}"/>
              </a:ext>
            </a:extLst>
          </p:cNvPr>
          <p:cNvSpPr txBox="1"/>
          <p:nvPr/>
        </p:nvSpPr>
        <p:spPr>
          <a:xfrm>
            <a:off x="722492" y="4531327"/>
            <a:ext cx="2866303" cy="1015663"/>
          </a:xfrm>
          <a:prstGeom prst="rect">
            <a:avLst/>
          </a:prstGeom>
          <a:noFill/>
        </p:spPr>
        <p:txBody>
          <a:bodyPr wrap="square">
            <a:spAutoFit/>
          </a:bodyPr>
          <a:lstStyle/>
          <a:p>
            <a:r>
              <a:rPr lang="zh-CN" altLang="en-US" sz="2000" b="1">
                <a:latin typeface="宋体" pitchFamily="2" charset="-122"/>
                <a:ea typeface="宋体" pitchFamily="2" charset="-122"/>
              </a:rPr>
              <a:t>如果</a:t>
            </a:r>
            <a:endParaRPr lang="en-US" altLang="zh-CN" sz="2000" b="1">
              <a:latin typeface="宋体" pitchFamily="2" charset="-122"/>
              <a:ea typeface="宋体" pitchFamily="2" charset="-122"/>
            </a:endParaRPr>
          </a:p>
          <a:p>
            <a:endParaRPr lang="en-US" sz="2000" b="1">
              <a:latin typeface="宋体" pitchFamily="2" charset="-122"/>
              <a:ea typeface="宋体" pitchFamily="2" charset="-122"/>
            </a:endParaRPr>
          </a:p>
          <a:p>
            <a:r>
              <a:rPr lang="zh-CN" altLang="en-US" sz="2000" b="1">
                <a:latin typeface="宋体" pitchFamily="2" charset="-122"/>
                <a:ea typeface="宋体" pitchFamily="2" charset="-122"/>
              </a:rPr>
              <a:t>则为理想微分特性：</a:t>
            </a:r>
            <a:endParaRPr lang="en-001" sz="2000"/>
          </a:p>
        </p:txBody>
      </p:sp>
      <p:pic>
        <p:nvPicPr>
          <p:cNvPr id="4" name="Picture 3">
            <a:extLst>
              <a:ext uri="{FF2B5EF4-FFF2-40B4-BE49-F238E27FC236}">
                <a16:creationId xmlns:a16="http://schemas.microsoft.com/office/drawing/2014/main" id="{D410D100-0AFF-4B9B-BEBD-C60894E9801D}"/>
              </a:ext>
            </a:extLst>
          </p:cNvPr>
          <p:cNvPicPr>
            <a:picLocks noChangeAspect="1"/>
          </p:cNvPicPr>
          <p:nvPr/>
        </p:nvPicPr>
        <p:blipFill>
          <a:blip r:embed="rId4"/>
          <a:stretch>
            <a:fillRect/>
          </a:stretch>
        </p:blipFill>
        <p:spPr>
          <a:xfrm>
            <a:off x="938052" y="2282656"/>
            <a:ext cx="3870230" cy="826576"/>
          </a:xfrm>
          <a:prstGeom prst="rect">
            <a:avLst/>
          </a:prstGeom>
        </p:spPr>
      </p:pic>
      <p:pic>
        <p:nvPicPr>
          <p:cNvPr id="5" name="Picture 4">
            <a:extLst>
              <a:ext uri="{FF2B5EF4-FFF2-40B4-BE49-F238E27FC236}">
                <a16:creationId xmlns:a16="http://schemas.microsoft.com/office/drawing/2014/main" id="{BC418397-49A5-4A19-9C2B-75E88FFD2BA7}"/>
              </a:ext>
            </a:extLst>
          </p:cNvPr>
          <p:cNvPicPr>
            <a:picLocks noChangeAspect="1"/>
          </p:cNvPicPr>
          <p:nvPr/>
        </p:nvPicPr>
        <p:blipFill>
          <a:blip r:embed="rId5"/>
          <a:stretch>
            <a:fillRect/>
          </a:stretch>
        </p:blipFill>
        <p:spPr>
          <a:xfrm>
            <a:off x="1543062" y="3493541"/>
            <a:ext cx="2472996" cy="821387"/>
          </a:xfrm>
          <a:prstGeom prst="rect">
            <a:avLst/>
          </a:prstGeom>
        </p:spPr>
      </p:pic>
      <p:pic>
        <p:nvPicPr>
          <p:cNvPr id="6" name="Picture 5">
            <a:extLst>
              <a:ext uri="{FF2B5EF4-FFF2-40B4-BE49-F238E27FC236}">
                <a16:creationId xmlns:a16="http://schemas.microsoft.com/office/drawing/2014/main" id="{D92F6785-C54C-4EB7-A93F-31D12673FAF1}"/>
              </a:ext>
            </a:extLst>
          </p:cNvPr>
          <p:cNvPicPr>
            <a:picLocks noChangeAspect="1"/>
          </p:cNvPicPr>
          <p:nvPr/>
        </p:nvPicPr>
        <p:blipFill>
          <a:blip r:embed="rId6"/>
          <a:stretch>
            <a:fillRect/>
          </a:stretch>
        </p:blipFill>
        <p:spPr>
          <a:xfrm>
            <a:off x="1673259" y="4342268"/>
            <a:ext cx="1540911" cy="734340"/>
          </a:xfrm>
          <a:prstGeom prst="rect">
            <a:avLst/>
          </a:prstGeom>
        </p:spPr>
      </p:pic>
      <p:pic>
        <p:nvPicPr>
          <p:cNvPr id="7" name="Picture 6">
            <a:extLst>
              <a:ext uri="{FF2B5EF4-FFF2-40B4-BE49-F238E27FC236}">
                <a16:creationId xmlns:a16="http://schemas.microsoft.com/office/drawing/2014/main" id="{BF711C7C-C97F-4532-8712-A46E18F99355}"/>
              </a:ext>
            </a:extLst>
          </p:cNvPr>
          <p:cNvPicPr>
            <a:picLocks noChangeAspect="1"/>
          </p:cNvPicPr>
          <p:nvPr/>
        </p:nvPicPr>
        <p:blipFill>
          <a:blip r:embed="rId7"/>
          <a:stretch>
            <a:fillRect/>
          </a:stretch>
        </p:blipFill>
        <p:spPr>
          <a:xfrm>
            <a:off x="1648572" y="5606190"/>
            <a:ext cx="2501266" cy="580651"/>
          </a:xfrm>
          <a:prstGeom prst="rect">
            <a:avLst/>
          </a:prstGeom>
        </p:spPr>
      </p:pic>
      <p:pic>
        <p:nvPicPr>
          <p:cNvPr id="12" name="Picture 11">
            <a:extLst>
              <a:ext uri="{FF2B5EF4-FFF2-40B4-BE49-F238E27FC236}">
                <a16:creationId xmlns:a16="http://schemas.microsoft.com/office/drawing/2014/main" id="{7C35F50B-B88B-47A6-A07A-2AA6C67685D5}"/>
              </a:ext>
            </a:extLst>
          </p:cNvPr>
          <p:cNvPicPr>
            <a:picLocks noChangeAspect="1"/>
          </p:cNvPicPr>
          <p:nvPr/>
        </p:nvPicPr>
        <p:blipFill>
          <a:blip r:embed="rId8"/>
          <a:stretch>
            <a:fillRect/>
          </a:stretch>
        </p:blipFill>
        <p:spPr>
          <a:xfrm>
            <a:off x="5255508" y="3904056"/>
            <a:ext cx="3007462" cy="1172552"/>
          </a:xfrm>
          <a:prstGeom prst="rect">
            <a:avLst/>
          </a:prstGeom>
        </p:spPr>
      </p:pic>
      <p:sp>
        <p:nvSpPr>
          <p:cNvPr id="16" name="TextBox 15">
            <a:extLst>
              <a:ext uri="{FF2B5EF4-FFF2-40B4-BE49-F238E27FC236}">
                <a16:creationId xmlns:a16="http://schemas.microsoft.com/office/drawing/2014/main" id="{2251F122-9D51-4B76-B043-09019AC4BA32}"/>
              </a:ext>
            </a:extLst>
          </p:cNvPr>
          <p:cNvSpPr txBox="1"/>
          <p:nvPr/>
        </p:nvSpPr>
        <p:spPr>
          <a:xfrm>
            <a:off x="4907280" y="3428944"/>
            <a:ext cx="3905250" cy="400110"/>
          </a:xfrm>
          <a:prstGeom prst="rect">
            <a:avLst/>
          </a:prstGeom>
          <a:noFill/>
        </p:spPr>
        <p:txBody>
          <a:bodyPr wrap="square">
            <a:spAutoFit/>
          </a:bodyPr>
          <a:lstStyle/>
          <a:p>
            <a:r>
              <a:rPr lang="zh-CN" altLang="en-US" sz="2000" b="1">
                <a:latin typeface="宋体" pitchFamily="2" charset="-122"/>
                <a:ea typeface="宋体" pitchFamily="2" charset="-122"/>
              </a:rPr>
              <a:t>一般情况下的幅值和相角误差：</a:t>
            </a:r>
            <a:endParaRPr lang="en-001" sz="2000"/>
          </a:p>
        </p:txBody>
      </p:sp>
      <p:sp>
        <p:nvSpPr>
          <p:cNvPr id="18" name="TextBox 17">
            <a:extLst>
              <a:ext uri="{FF2B5EF4-FFF2-40B4-BE49-F238E27FC236}">
                <a16:creationId xmlns:a16="http://schemas.microsoft.com/office/drawing/2014/main" id="{26071454-6DDB-4E77-BA21-D2A02423A988}"/>
              </a:ext>
            </a:extLst>
          </p:cNvPr>
          <p:cNvSpPr txBox="1"/>
          <p:nvPr/>
        </p:nvSpPr>
        <p:spPr>
          <a:xfrm>
            <a:off x="4808282" y="5151610"/>
            <a:ext cx="4064773" cy="1323439"/>
          </a:xfrm>
          <a:prstGeom prst="rect">
            <a:avLst/>
          </a:prstGeom>
          <a:noFill/>
        </p:spPr>
        <p:txBody>
          <a:bodyPr wrap="square">
            <a:spAutoFit/>
          </a:bodyPr>
          <a:lstStyle>
            <a:defPPr>
              <a:defRPr lang="zh-CN"/>
            </a:defPPr>
            <a:lvl1pPr>
              <a:defRPr sz="2000" b="1">
                <a:latin typeface="宋体" pitchFamily="2" charset="-122"/>
                <a:ea typeface="宋体" pitchFamily="2" charset="-122"/>
              </a:defRPr>
            </a:lvl1pPr>
          </a:lstStyle>
          <a:p>
            <a:pPr marL="342900" indent="-342900">
              <a:buFont typeface="Arial" panose="020B0604020202020204" pitchFamily="34" charset="0"/>
              <a:buChar char="•"/>
            </a:pPr>
            <a:r>
              <a:rPr lang="en-001">
                <a:solidFill>
                  <a:srgbClr val="C00000"/>
                </a:solidFill>
              </a:rPr>
              <a:t>最大微分误差将在工作频段的高端出现</a:t>
            </a:r>
            <a:r>
              <a:rPr lang="en-US">
                <a:solidFill>
                  <a:srgbClr val="C00000"/>
                </a:solidFill>
              </a:rPr>
              <a:t> -- </a:t>
            </a:r>
            <a:r>
              <a:rPr lang="en-001"/>
              <a:t>与积分电路相反</a:t>
            </a:r>
            <a:endParaRPr lang="en-US"/>
          </a:p>
          <a:p>
            <a:pPr marL="342900" indent="-342900">
              <a:buFont typeface="Arial" panose="020B0604020202020204" pitchFamily="34" charset="0"/>
              <a:buChar char="•"/>
            </a:pPr>
            <a:r>
              <a:rPr lang="en-001"/>
              <a:t>最大输出幅度衰减将限制工作频段的下限值。</a:t>
            </a:r>
          </a:p>
        </p:txBody>
      </p:sp>
      <p:sp>
        <p:nvSpPr>
          <p:cNvPr id="19" name="TextBox 18">
            <a:extLst>
              <a:ext uri="{FF2B5EF4-FFF2-40B4-BE49-F238E27FC236}">
                <a16:creationId xmlns:a16="http://schemas.microsoft.com/office/drawing/2014/main" id="{DAD61912-54E7-4819-A873-6C7BE9C6E367}"/>
              </a:ext>
            </a:extLst>
          </p:cNvPr>
          <p:cNvSpPr txBox="1"/>
          <p:nvPr/>
        </p:nvSpPr>
        <p:spPr>
          <a:xfrm>
            <a:off x="3500809" y="2975690"/>
            <a:ext cx="1018345" cy="400110"/>
          </a:xfrm>
          <a:prstGeom prst="rect">
            <a:avLst/>
          </a:prstGeom>
          <a:noFill/>
        </p:spPr>
        <p:txBody>
          <a:bodyPr wrap="square">
            <a:spAutoFit/>
          </a:bodyPr>
          <a:lstStyle/>
          <a:p>
            <a:r>
              <a:rPr lang="zh-CN" altLang="en-US" sz="2000" b="1">
                <a:solidFill>
                  <a:srgbClr val="C00000"/>
                </a:solidFill>
                <a:latin typeface="宋体" pitchFamily="2" charset="-122"/>
                <a:ea typeface="宋体" pitchFamily="2" charset="-122"/>
              </a:rPr>
              <a:t>误差项</a:t>
            </a:r>
            <a:endParaRPr lang="en-001" sz="2000">
              <a:solidFill>
                <a:srgbClr val="C00000"/>
              </a:solidFill>
            </a:endParaRPr>
          </a:p>
        </p:txBody>
      </p:sp>
      <p:sp>
        <p:nvSpPr>
          <p:cNvPr id="20" name="Oval 19">
            <a:extLst>
              <a:ext uri="{FF2B5EF4-FFF2-40B4-BE49-F238E27FC236}">
                <a16:creationId xmlns:a16="http://schemas.microsoft.com/office/drawing/2014/main" id="{C023AE48-82EE-48B3-B51B-09E84AF335E9}"/>
              </a:ext>
            </a:extLst>
          </p:cNvPr>
          <p:cNvSpPr/>
          <p:nvPr/>
        </p:nvSpPr>
        <p:spPr>
          <a:xfrm>
            <a:off x="3180194" y="2028326"/>
            <a:ext cx="1544206" cy="14914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1" name="TextBox 20">
            <a:extLst>
              <a:ext uri="{FF2B5EF4-FFF2-40B4-BE49-F238E27FC236}">
                <a16:creationId xmlns:a16="http://schemas.microsoft.com/office/drawing/2014/main" id="{34482EFA-20FD-4D97-B439-6733C7700320}"/>
              </a:ext>
            </a:extLst>
          </p:cNvPr>
          <p:cNvSpPr txBox="1"/>
          <p:nvPr/>
        </p:nvSpPr>
        <p:spPr>
          <a:xfrm>
            <a:off x="2059698" y="2953130"/>
            <a:ext cx="1018345" cy="400110"/>
          </a:xfrm>
          <a:prstGeom prst="rect">
            <a:avLst/>
          </a:prstGeom>
          <a:noFill/>
        </p:spPr>
        <p:txBody>
          <a:bodyPr wrap="square">
            <a:spAutoFit/>
          </a:bodyPr>
          <a:lstStyle/>
          <a:p>
            <a:r>
              <a:rPr lang="zh-CN" altLang="en-US" sz="2000" b="1">
                <a:solidFill>
                  <a:srgbClr val="C00000"/>
                </a:solidFill>
                <a:latin typeface="宋体" pitchFamily="2" charset="-122"/>
                <a:ea typeface="宋体" pitchFamily="2" charset="-122"/>
              </a:rPr>
              <a:t>微分项</a:t>
            </a:r>
            <a:endParaRPr lang="en-001" sz="2000">
              <a:solidFill>
                <a:srgbClr val="C00000"/>
              </a:solidFill>
            </a:endParaRPr>
          </a:p>
        </p:txBody>
      </p:sp>
      <p:sp>
        <p:nvSpPr>
          <p:cNvPr id="22" name="Oval 21">
            <a:extLst>
              <a:ext uri="{FF2B5EF4-FFF2-40B4-BE49-F238E27FC236}">
                <a16:creationId xmlns:a16="http://schemas.microsoft.com/office/drawing/2014/main" id="{9603D4CD-1ED8-463F-BA68-50D072ED4567}"/>
              </a:ext>
            </a:extLst>
          </p:cNvPr>
          <p:cNvSpPr/>
          <p:nvPr/>
        </p:nvSpPr>
        <p:spPr>
          <a:xfrm>
            <a:off x="1845205" y="2005766"/>
            <a:ext cx="1290787" cy="149145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Tree>
    <p:extLst>
      <p:ext uri="{BB962C8B-B14F-4D97-AF65-F5344CB8AC3E}">
        <p14:creationId xmlns:p14="http://schemas.microsoft.com/office/powerpoint/2010/main" val="4235867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6" grpId="0"/>
      <p:bldP spid="18" grpId="0"/>
      <p:bldP spid="19" grpId="0"/>
      <p:bldP spid="20" grpId="0" animBg="1"/>
      <p:bldP spid="21" grpId="0"/>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测量电路</a:t>
            </a:r>
          </a:p>
        </p:txBody>
      </p:sp>
      <p:sp>
        <p:nvSpPr>
          <p:cNvPr id="2" name="Slide Number Placeholder 1">
            <a:extLst>
              <a:ext uri="{FF2B5EF4-FFF2-40B4-BE49-F238E27FC236}">
                <a16:creationId xmlns:a16="http://schemas.microsoft.com/office/drawing/2014/main" id="{066C5BA7-F880-498E-8722-4140BEECE023}"/>
              </a:ext>
            </a:extLst>
          </p:cNvPr>
          <p:cNvSpPr>
            <a:spLocks noGrp="1"/>
          </p:cNvSpPr>
          <p:nvPr>
            <p:ph type="sldNum" sz="quarter" idx="12"/>
          </p:nvPr>
        </p:nvSpPr>
        <p:spPr/>
        <p:txBody>
          <a:bodyPr/>
          <a:lstStyle/>
          <a:p>
            <a:fld id="{B53602B4-F12B-41CD-B648-531F86B2CC91}" type="slidenum">
              <a:rPr lang="zh-CN" altLang="en-US" smtClean="0"/>
              <a:t>28</a:t>
            </a:fld>
            <a:endParaRPr lang="zh-CN" altLang="en-US"/>
          </a:p>
        </p:txBody>
      </p:sp>
      <p:sp>
        <p:nvSpPr>
          <p:cNvPr id="9" name="TextBox 8">
            <a:extLst>
              <a:ext uri="{FF2B5EF4-FFF2-40B4-BE49-F238E27FC236}">
                <a16:creationId xmlns:a16="http://schemas.microsoft.com/office/drawing/2014/main" id="{F99F91B9-3DE8-4698-98B7-D1C12A30A628}"/>
              </a:ext>
            </a:extLst>
          </p:cNvPr>
          <p:cNvSpPr txBox="1"/>
          <p:nvPr/>
        </p:nvSpPr>
        <p:spPr>
          <a:xfrm>
            <a:off x="221175" y="1172710"/>
            <a:ext cx="3536177" cy="461665"/>
          </a:xfrm>
          <a:prstGeom prst="rect">
            <a:avLst/>
          </a:prstGeom>
          <a:noFill/>
        </p:spPr>
        <p:txBody>
          <a:bodyPr wrap="square">
            <a:spAutoFit/>
          </a:bodyPr>
          <a:lstStyle/>
          <a:p>
            <a:r>
              <a:rPr lang="zh-CN" altLang="en-US" sz="2400" b="1">
                <a:solidFill>
                  <a:srgbClr val="C00000"/>
                </a:solidFill>
                <a:latin typeface="宋体" pitchFamily="2" charset="-122"/>
                <a:ea typeface="宋体" pitchFamily="2" charset="-122"/>
              </a:rPr>
              <a:t>微分电路</a:t>
            </a:r>
            <a:endParaRPr lang="en-001" sz="2400"/>
          </a:p>
        </p:txBody>
      </p:sp>
      <p:pic>
        <p:nvPicPr>
          <p:cNvPr id="13" name="Picture 12">
            <a:extLst>
              <a:ext uri="{FF2B5EF4-FFF2-40B4-BE49-F238E27FC236}">
                <a16:creationId xmlns:a16="http://schemas.microsoft.com/office/drawing/2014/main" id="{C9EF50A7-8291-4748-8BED-D2DD74A0184F}"/>
              </a:ext>
            </a:extLst>
          </p:cNvPr>
          <p:cNvPicPr>
            <a:picLocks noChangeAspect="1"/>
          </p:cNvPicPr>
          <p:nvPr/>
        </p:nvPicPr>
        <p:blipFill rotWithShape="1">
          <a:blip r:embed="rId3"/>
          <a:srcRect t="4604"/>
          <a:stretch/>
        </p:blipFill>
        <p:spPr>
          <a:xfrm>
            <a:off x="1072460" y="1832310"/>
            <a:ext cx="3422450" cy="1937165"/>
          </a:xfrm>
          <a:prstGeom prst="rect">
            <a:avLst/>
          </a:prstGeom>
        </p:spPr>
      </p:pic>
      <p:pic>
        <p:nvPicPr>
          <p:cNvPr id="14" name="Picture 13">
            <a:extLst>
              <a:ext uri="{FF2B5EF4-FFF2-40B4-BE49-F238E27FC236}">
                <a16:creationId xmlns:a16="http://schemas.microsoft.com/office/drawing/2014/main" id="{D7A90AD2-65AF-48B2-9C09-DAA60A341679}"/>
              </a:ext>
            </a:extLst>
          </p:cNvPr>
          <p:cNvPicPr>
            <a:picLocks noChangeAspect="1"/>
          </p:cNvPicPr>
          <p:nvPr/>
        </p:nvPicPr>
        <p:blipFill>
          <a:blip r:embed="rId4"/>
          <a:stretch>
            <a:fillRect/>
          </a:stretch>
        </p:blipFill>
        <p:spPr>
          <a:xfrm>
            <a:off x="5164145" y="1933475"/>
            <a:ext cx="3766445" cy="1024003"/>
          </a:xfrm>
          <a:prstGeom prst="rect">
            <a:avLst/>
          </a:prstGeom>
        </p:spPr>
      </p:pic>
      <p:pic>
        <p:nvPicPr>
          <p:cNvPr id="15" name="Picture 14">
            <a:extLst>
              <a:ext uri="{FF2B5EF4-FFF2-40B4-BE49-F238E27FC236}">
                <a16:creationId xmlns:a16="http://schemas.microsoft.com/office/drawing/2014/main" id="{AE112A17-AF90-44B0-B141-2BC0AB77861A}"/>
              </a:ext>
            </a:extLst>
          </p:cNvPr>
          <p:cNvPicPr>
            <a:picLocks noChangeAspect="1"/>
          </p:cNvPicPr>
          <p:nvPr/>
        </p:nvPicPr>
        <p:blipFill>
          <a:blip r:embed="rId5"/>
          <a:stretch>
            <a:fillRect/>
          </a:stretch>
        </p:blipFill>
        <p:spPr>
          <a:xfrm>
            <a:off x="5320922" y="3429000"/>
            <a:ext cx="3194428" cy="2604549"/>
          </a:xfrm>
          <a:prstGeom prst="rect">
            <a:avLst/>
          </a:prstGeom>
        </p:spPr>
      </p:pic>
      <p:sp>
        <p:nvSpPr>
          <p:cNvPr id="22" name="TextBox 21">
            <a:extLst>
              <a:ext uri="{FF2B5EF4-FFF2-40B4-BE49-F238E27FC236}">
                <a16:creationId xmlns:a16="http://schemas.microsoft.com/office/drawing/2014/main" id="{C49C2753-5001-404D-B173-34677181BFB6}"/>
              </a:ext>
            </a:extLst>
          </p:cNvPr>
          <p:cNvSpPr txBox="1"/>
          <p:nvPr/>
        </p:nvSpPr>
        <p:spPr>
          <a:xfrm>
            <a:off x="403225" y="4280581"/>
            <a:ext cx="4760920" cy="943528"/>
          </a:xfrm>
          <a:prstGeom prst="rect">
            <a:avLst/>
          </a:prstGeom>
          <a:noFill/>
        </p:spPr>
        <p:txBody>
          <a:bodyPr wrap="square">
            <a:spAutoFit/>
          </a:bodyPr>
          <a:lstStyle/>
          <a:p>
            <a:pPr>
              <a:lnSpc>
                <a:spcPct val="150000"/>
              </a:lnSpc>
            </a:pPr>
            <a:r>
              <a:rPr lang="en-001" sz="2000" b="1">
                <a:latin typeface="宋体" pitchFamily="2" charset="-122"/>
                <a:ea typeface="宋体" pitchFamily="2" charset="-122"/>
              </a:rPr>
              <a:t>在工作频段内可近似为</a:t>
            </a:r>
            <a:r>
              <a:rPr lang="en-US" sz="2000" b="1">
                <a:latin typeface="宋体" pitchFamily="2" charset="-122"/>
                <a:ea typeface="宋体" pitchFamily="2" charset="-122"/>
              </a:rPr>
              <a:t> </a:t>
            </a:r>
            <a:r>
              <a:rPr lang="en-001" sz="2000" b="1">
                <a:latin typeface="宋体" pitchFamily="2" charset="-122"/>
                <a:ea typeface="宋体" pitchFamily="2" charset="-122"/>
              </a:rPr>
              <a:t>D2(jw)≈</a:t>
            </a:r>
            <a:r>
              <a:rPr lang="en-US" sz="2000" b="1">
                <a:latin typeface="宋体" pitchFamily="2" charset="-122"/>
                <a:ea typeface="宋体" pitchFamily="2" charset="-122"/>
              </a:rPr>
              <a:t>-</a:t>
            </a:r>
            <a:r>
              <a:rPr lang="en-001" sz="2000" b="1">
                <a:latin typeface="宋体" pitchFamily="2" charset="-122"/>
                <a:ea typeface="宋体" pitchFamily="2" charset="-122"/>
              </a:rPr>
              <a:t>jw</a:t>
            </a:r>
            <a:r>
              <a:rPr lang="el-GR" sz="2000" b="1">
                <a:latin typeface="宋体" pitchFamily="2" charset="-122"/>
                <a:ea typeface="宋体" pitchFamily="2" charset="-122"/>
              </a:rPr>
              <a:t>τ</a:t>
            </a:r>
            <a:r>
              <a:rPr lang="zh-CN" altLang="en-US" sz="2000" b="1">
                <a:latin typeface="宋体" pitchFamily="2" charset="-122"/>
                <a:ea typeface="宋体" pitchFamily="2" charset="-122"/>
              </a:rPr>
              <a:t>的</a:t>
            </a:r>
            <a:r>
              <a:rPr lang="en-001" sz="2000" b="1">
                <a:latin typeface="宋体" pitchFamily="2" charset="-122"/>
                <a:ea typeface="宋体" pitchFamily="2" charset="-122"/>
              </a:rPr>
              <a:t>理想微分特性。</a:t>
            </a:r>
          </a:p>
        </p:txBody>
      </p:sp>
    </p:spTree>
    <p:extLst>
      <p:ext uri="{BB962C8B-B14F-4D97-AF65-F5344CB8AC3E}">
        <p14:creationId xmlns:p14="http://schemas.microsoft.com/office/powerpoint/2010/main" val="361107502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5.1.4</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磁电感应式传感器应用举例</a:t>
            </a:r>
          </a:p>
        </p:txBody>
      </p:sp>
      <p:sp>
        <p:nvSpPr>
          <p:cNvPr id="2" name="Slide Number Placeholder 1">
            <a:extLst>
              <a:ext uri="{FF2B5EF4-FFF2-40B4-BE49-F238E27FC236}">
                <a16:creationId xmlns:a16="http://schemas.microsoft.com/office/drawing/2014/main" id="{7B5792CD-E1AB-4274-805C-6A29D79BFC3E}"/>
              </a:ext>
            </a:extLst>
          </p:cNvPr>
          <p:cNvSpPr>
            <a:spLocks noGrp="1"/>
          </p:cNvSpPr>
          <p:nvPr>
            <p:ph type="sldNum" sz="quarter" idx="12"/>
          </p:nvPr>
        </p:nvSpPr>
        <p:spPr/>
        <p:txBody>
          <a:bodyPr/>
          <a:lstStyle/>
          <a:p>
            <a:fld id="{B53602B4-F12B-41CD-B648-531F86B2CC91}" type="slidenum">
              <a:rPr lang="zh-CN" altLang="en-US" smtClean="0"/>
              <a:t>29</a:t>
            </a:fld>
            <a:endParaRPr lang="zh-CN" altLang="en-US"/>
          </a:p>
        </p:txBody>
      </p:sp>
      <p:sp>
        <p:nvSpPr>
          <p:cNvPr id="23" name="Text Box 109">
            <a:extLst>
              <a:ext uri="{FF2B5EF4-FFF2-40B4-BE49-F238E27FC236}">
                <a16:creationId xmlns:a16="http://schemas.microsoft.com/office/drawing/2014/main" id="{AAE99EF5-B320-4F73-8603-D3EA65DD9C54}"/>
              </a:ext>
            </a:extLst>
          </p:cNvPr>
          <p:cNvSpPr txBox="1">
            <a:spLocks noChangeArrowheads="1"/>
          </p:cNvSpPr>
          <p:nvPr/>
        </p:nvSpPr>
        <p:spPr bwMode="auto">
          <a:xfrm>
            <a:off x="1653912" y="5694929"/>
            <a:ext cx="6048672"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1252538" indent="-1252538"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cs typeface="Times New Roman" panose="02020603050405020304" pitchFamily="18" charset="0"/>
              </a:rPr>
              <a:t>图</a:t>
            </a:r>
            <a:r>
              <a:rPr kumimoji="0" lang="en-US" altLang="zh-CN" b="1" dirty="0">
                <a:solidFill>
                  <a:srgbClr val="3333CC"/>
                </a:solidFill>
                <a:latin typeface="宋体" panose="02010600030101010101" pitchFamily="2" charset="-122"/>
                <a:ea typeface="宋体" panose="02010600030101010101" pitchFamily="2" charset="-122"/>
                <a:cs typeface="Times New Roman" panose="02020603050405020304" pitchFamily="18" charset="0"/>
              </a:rPr>
              <a:t>5-18  CD-1</a:t>
            </a:r>
            <a:r>
              <a:rPr kumimoji="0" lang="zh-CN" altLang="en-US" b="1" dirty="0">
                <a:solidFill>
                  <a:srgbClr val="3333CC"/>
                </a:solidFill>
                <a:latin typeface="宋体" panose="02010600030101010101" pitchFamily="2" charset="-122"/>
                <a:ea typeface="宋体" panose="02010600030101010101" pitchFamily="2" charset="-122"/>
                <a:cs typeface="Times New Roman" panose="02020603050405020304" pitchFamily="18" charset="0"/>
              </a:rPr>
              <a:t>型磁电感应式振动速度传感器的结构原理图</a:t>
            </a:r>
          </a:p>
        </p:txBody>
      </p:sp>
      <p:pic>
        <p:nvPicPr>
          <p:cNvPr id="25" name="Picture 9">
            <a:extLst>
              <a:ext uri="{FF2B5EF4-FFF2-40B4-BE49-F238E27FC236}">
                <a16:creationId xmlns:a16="http://schemas.microsoft.com/office/drawing/2014/main" id="{2F7ADBE1-BC41-4C81-A07A-9605C61EB7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721" y="1560528"/>
            <a:ext cx="7491422" cy="2983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TextBox 25">
            <a:extLst>
              <a:ext uri="{FF2B5EF4-FFF2-40B4-BE49-F238E27FC236}">
                <a16:creationId xmlns:a16="http://schemas.microsoft.com/office/drawing/2014/main" id="{BD1F9A89-B9A8-4593-977C-7FFEF939AC11}"/>
              </a:ext>
            </a:extLst>
          </p:cNvPr>
          <p:cNvSpPr txBox="1"/>
          <p:nvPr/>
        </p:nvSpPr>
        <p:spPr>
          <a:xfrm>
            <a:off x="896040" y="4601767"/>
            <a:ext cx="7619310" cy="943528"/>
          </a:xfrm>
          <a:prstGeom prst="rect">
            <a:avLst/>
          </a:prstGeom>
          <a:noFill/>
        </p:spPr>
        <p:txBody>
          <a:bodyPr wrap="square" rtlCol="0">
            <a:spAutoFit/>
          </a:bodyPr>
          <a:lstStyle/>
          <a:p>
            <a:pPr>
              <a:lnSpc>
                <a:spcPct val="150000"/>
              </a:lnSpc>
            </a:pP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8—</a:t>
            </a:r>
            <a:r>
              <a:rPr lang="zh-CN" altLang="en-US" sz="2000" b="1" dirty="0">
                <a:latin typeface="宋体" panose="02010600030101010101" pitchFamily="2" charset="-122"/>
                <a:ea typeface="宋体" panose="02010600030101010101" pitchFamily="2" charset="-122"/>
              </a:rPr>
              <a:t>圆形弹簧片；</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圆环形阻尼器；</a:t>
            </a:r>
            <a:r>
              <a:rPr lang="en-US" altLang="zh-CN" sz="2000" b="1" dirty="0">
                <a:latin typeface="宋体" panose="02010600030101010101" pitchFamily="2" charset="-122"/>
                <a:ea typeface="宋体" panose="02010600030101010101" pitchFamily="2" charset="-122"/>
              </a:rPr>
              <a:t>3—</a:t>
            </a:r>
            <a:r>
              <a:rPr lang="zh-CN" altLang="en-US" sz="2000" b="1" dirty="0">
                <a:latin typeface="宋体" panose="02010600030101010101" pitchFamily="2" charset="-122"/>
                <a:ea typeface="宋体" panose="02010600030101010101" pitchFamily="2" charset="-122"/>
              </a:rPr>
              <a:t>永久磁铁；</a:t>
            </a: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铝架；</a:t>
            </a:r>
            <a:r>
              <a:rPr lang="en-US" altLang="zh-CN" sz="2000" b="1" dirty="0">
                <a:latin typeface="宋体" panose="02010600030101010101" pitchFamily="2" charset="-122"/>
                <a:ea typeface="宋体" panose="02010600030101010101" pitchFamily="2" charset="-122"/>
              </a:rPr>
              <a:t>5—</a:t>
            </a:r>
            <a:r>
              <a:rPr lang="zh-CN" altLang="en-US" sz="2000" b="1" dirty="0">
                <a:latin typeface="宋体" panose="02010600030101010101" pitchFamily="2" charset="-122"/>
                <a:ea typeface="宋体" panose="02010600030101010101" pitchFamily="2" charset="-122"/>
              </a:rPr>
              <a:t>芯轴；</a:t>
            </a:r>
            <a:r>
              <a:rPr lang="en-US" altLang="zh-CN" sz="2000" b="1" dirty="0">
                <a:latin typeface="宋体" panose="02010600030101010101" pitchFamily="2" charset="-122"/>
                <a:ea typeface="宋体" panose="02010600030101010101" pitchFamily="2" charset="-122"/>
              </a:rPr>
              <a:t>6—</a:t>
            </a:r>
            <a:r>
              <a:rPr lang="zh-CN" altLang="en-US" sz="2000" b="1" dirty="0">
                <a:latin typeface="宋体" panose="02010600030101010101" pitchFamily="2" charset="-122"/>
                <a:ea typeface="宋体" panose="02010600030101010101" pitchFamily="2" charset="-122"/>
              </a:rPr>
              <a:t>工作线圈；</a:t>
            </a:r>
            <a:r>
              <a:rPr lang="en-US" altLang="zh-CN" sz="2000" b="1" dirty="0">
                <a:latin typeface="宋体" panose="02010600030101010101" pitchFamily="2" charset="-122"/>
                <a:ea typeface="宋体" panose="02010600030101010101" pitchFamily="2" charset="-122"/>
              </a:rPr>
              <a:t>7—</a:t>
            </a:r>
            <a:r>
              <a:rPr lang="zh-CN" altLang="en-US" sz="2000" b="1" dirty="0">
                <a:latin typeface="宋体" panose="02010600030101010101" pitchFamily="2" charset="-122"/>
                <a:ea typeface="宋体" panose="02010600030101010101" pitchFamily="2" charset="-122"/>
              </a:rPr>
              <a:t>壳体；</a:t>
            </a:r>
            <a:r>
              <a:rPr lang="en-US" altLang="zh-CN" sz="2000" b="1" dirty="0">
                <a:latin typeface="宋体" panose="02010600030101010101" pitchFamily="2" charset="-122"/>
                <a:ea typeface="宋体" panose="02010600030101010101" pitchFamily="2" charset="-122"/>
              </a:rPr>
              <a:t>9—</a:t>
            </a:r>
            <a:r>
              <a:rPr lang="zh-CN" altLang="en-US" sz="2000" b="1" dirty="0">
                <a:latin typeface="宋体" panose="02010600030101010101" pitchFamily="2" charset="-122"/>
                <a:ea typeface="宋体" panose="02010600030101010101" pitchFamily="2" charset="-122"/>
              </a:rPr>
              <a:t>引线</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5.1.4</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磁电感应式传感器应用举例</a:t>
            </a:r>
          </a:p>
        </p:txBody>
      </p:sp>
      <p:sp>
        <p:nvSpPr>
          <p:cNvPr id="2" name="Slide Number Placeholder 1">
            <a:extLst>
              <a:ext uri="{FF2B5EF4-FFF2-40B4-BE49-F238E27FC236}">
                <a16:creationId xmlns:a16="http://schemas.microsoft.com/office/drawing/2014/main" id="{7B5792CD-E1AB-4274-805C-6A29D79BFC3E}"/>
              </a:ext>
            </a:extLst>
          </p:cNvPr>
          <p:cNvSpPr>
            <a:spLocks noGrp="1"/>
          </p:cNvSpPr>
          <p:nvPr>
            <p:ph type="sldNum" sz="quarter" idx="12"/>
          </p:nvPr>
        </p:nvSpPr>
        <p:spPr/>
        <p:txBody>
          <a:bodyPr/>
          <a:lstStyle/>
          <a:p>
            <a:fld id="{B53602B4-F12B-41CD-B648-531F86B2CC91}" type="slidenum">
              <a:rPr lang="zh-CN" altLang="en-US" smtClean="0"/>
              <a:t>30</a:t>
            </a:fld>
            <a:endParaRPr lang="zh-CN" altLang="en-US"/>
          </a:p>
        </p:txBody>
      </p:sp>
      <p:sp>
        <p:nvSpPr>
          <p:cNvPr id="9" name="Text Box 111">
            <a:extLst>
              <a:ext uri="{FF2B5EF4-FFF2-40B4-BE49-F238E27FC236}">
                <a16:creationId xmlns:a16="http://schemas.microsoft.com/office/drawing/2014/main" id="{AE9BEA23-A782-4FD8-8506-4F554B60F8AD}"/>
              </a:ext>
            </a:extLst>
          </p:cNvPr>
          <p:cNvSpPr txBox="1">
            <a:spLocks noChangeArrowheads="1"/>
          </p:cNvSpPr>
          <p:nvPr/>
        </p:nvSpPr>
        <p:spPr bwMode="auto">
          <a:xfrm>
            <a:off x="1409229" y="6160351"/>
            <a:ext cx="6336704"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5-19  </a:t>
            </a:r>
            <a:r>
              <a:rPr kumimoji="0" lang="zh-CN" altLang="en-US" b="1" dirty="0">
                <a:solidFill>
                  <a:srgbClr val="3333CC"/>
                </a:solidFill>
                <a:latin typeface="宋体" panose="02010600030101010101" pitchFamily="2" charset="-122"/>
                <a:ea typeface="宋体" panose="02010600030101010101" pitchFamily="2" charset="-122"/>
              </a:rPr>
              <a:t>磁电感应式转速传感器的结构原理图</a:t>
            </a:r>
          </a:p>
        </p:txBody>
      </p:sp>
      <p:pic>
        <p:nvPicPr>
          <p:cNvPr id="10" name="Picture 9">
            <a:extLst>
              <a:ext uri="{FF2B5EF4-FFF2-40B4-BE49-F238E27FC236}">
                <a16:creationId xmlns:a16="http://schemas.microsoft.com/office/drawing/2014/main" id="{CC36C47E-2F10-41F9-8F3E-7AA9D4C3A1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41527" y="1322783"/>
            <a:ext cx="4660946" cy="4080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5D7C76CE-5237-4FB9-9ED2-D6661884D813}"/>
              </a:ext>
            </a:extLst>
          </p:cNvPr>
          <p:cNvSpPr txBox="1"/>
          <p:nvPr/>
        </p:nvSpPr>
        <p:spPr>
          <a:xfrm>
            <a:off x="945566" y="5385935"/>
            <a:ext cx="7619310" cy="646331"/>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转轴；</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转子；</a:t>
            </a:r>
            <a:r>
              <a:rPr lang="en-US" altLang="zh-CN" sz="2400" b="1"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永久磁铁；</a:t>
            </a: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线圈；</a:t>
            </a:r>
            <a:r>
              <a:rPr lang="en-US" altLang="zh-CN" sz="2400" b="1" dirty="0">
                <a:latin typeface="宋体" panose="02010600030101010101" pitchFamily="2" charset="-122"/>
                <a:ea typeface="宋体" panose="02010600030101010101" pitchFamily="2" charset="-122"/>
              </a:rPr>
              <a:t>5—</a:t>
            </a:r>
            <a:r>
              <a:rPr lang="zh-CN" altLang="en-US" sz="2400" b="1" dirty="0">
                <a:latin typeface="宋体" panose="02010600030101010101" pitchFamily="2" charset="-122"/>
                <a:ea typeface="宋体" panose="02010600030101010101" pitchFamily="2" charset="-122"/>
              </a:rPr>
              <a:t>定子</a:t>
            </a:r>
          </a:p>
        </p:txBody>
      </p:sp>
    </p:spTree>
    <p:extLst>
      <p:ext uri="{BB962C8B-B14F-4D97-AF65-F5344CB8AC3E}">
        <p14:creationId xmlns:p14="http://schemas.microsoft.com/office/powerpoint/2010/main" val="36900329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5.1.4</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29520"/>
            <a:ext cx="543609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磁电感应式传感器应用举例</a:t>
            </a:r>
          </a:p>
        </p:txBody>
      </p:sp>
      <p:sp>
        <p:nvSpPr>
          <p:cNvPr id="2" name="Slide Number Placeholder 1">
            <a:extLst>
              <a:ext uri="{FF2B5EF4-FFF2-40B4-BE49-F238E27FC236}">
                <a16:creationId xmlns:a16="http://schemas.microsoft.com/office/drawing/2014/main" id="{7B5792CD-E1AB-4274-805C-6A29D79BFC3E}"/>
              </a:ext>
            </a:extLst>
          </p:cNvPr>
          <p:cNvSpPr>
            <a:spLocks noGrp="1"/>
          </p:cNvSpPr>
          <p:nvPr>
            <p:ph type="sldNum" sz="quarter" idx="12"/>
          </p:nvPr>
        </p:nvSpPr>
        <p:spPr/>
        <p:txBody>
          <a:bodyPr/>
          <a:lstStyle/>
          <a:p>
            <a:fld id="{B53602B4-F12B-41CD-B648-531F86B2CC91}" type="slidenum">
              <a:rPr lang="zh-CN" altLang="en-US" smtClean="0"/>
              <a:t>31</a:t>
            </a:fld>
            <a:endParaRPr lang="zh-CN" altLang="en-US"/>
          </a:p>
        </p:txBody>
      </p:sp>
      <p:sp>
        <p:nvSpPr>
          <p:cNvPr id="9" name="Text Box 111">
            <a:extLst>
              <a:ext uri="{FF2B5EF4-FFF2-40B4-BE49-F238E27FC236}">
                <a16:creationId xmlns:a16="http://schemas.microsoft.com/office/drawing/2014/main" id="{AE9BEA23-A782-4FD8-8506-4F554B60F8AD}"/>
              </a:ext>
            </a:extLst>
          </p:cNvPr>
          <p:cNvSpPr txBox="1">
            <a:spLocks noChangeArrowheads="1"/>
          </p:cNvSpPr>
          <p:nvPr/>
        </p:nvSpPr>
        <p:spPr bwMode="auto">
          <a:xfrm>
            <a:off x="1409229" y="6160351"/>
            <a:ext cx="6336704"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5-19  </a:t>
            </a:r>
            <a:r>
              <a:rPr kumimoji="0" lang="zh-CN" altLang="en-US" b="1" dirty="0">
                <a:solidFill>
                  <a:srgbClr val="3333CC"/>
                </a:solidFill>
                <a:latin typeface="宋体" panose="02010600030101010101" pitchFamily="2" charset="-122"/>
                <a:ea typeface="宋体" panose="02010600030101010101" pitchFamily="2" charset="-122"/>
              </a:rPr>
              <a:t>磁电感应式转速传感器的结构原理图</a:t>
            </a:r>
          </a:p>
        </p:txBody>
      </p:sp>
      <p:pic>
        <p:nvPicPr>
          <p:cNvPr id="10" name="Picture 9">
            <a:extLst>
              <a:ext uri="{FF2B5EF4-FFF2-40B4-BE49-F238E27FC236}">
                <a16:creationId xmlns:a16="http://schemas.microsoft.com/office/drawing/2014/main" id="{CC36C47E-2F10-41F9-8F3E-7AA9D4C3A1A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6401" y="1840168"/>
            <a:ext cx="2573644" cy="2253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5D7C76CE-5237-4FB9-9ED2-D6661884D813}"/>
              </a:ext>
            </a:extLst>
          </p:cNvPr>
          <p:cNvSpPr txBox="1"/>
          <p:nvPr/>
        </p:nvSpPr>
        <p:spPr>
          <a:xfrm>
            <a:off x="945566" y="5385935"/>
            <a:ext cx="7619310" cy="646331"/>
          </a:xfrm>
          <a:prstGeom prst="rect">
            <a:avLst/>
          </a:prstGeom>
          <a:noFill/>
        </p:spPr>
        <p:txBody>
          <a:bodyPr wrap="square" rtlCol="0">
            <a:spAutoFit/>
          </a:bodyPr>
          <a:lstStyle/>
          <a:p>
            <a:pPr>
              <a:lnSpc>
                <a:spcPct val="150000"/>
              </a:lnSpc>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转轴；</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转子；</a:t>
            </a:r>
            <a:r>
              <a:rPr lang="en-US" altLang="zh-CN" sz="2400" b="1"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永久磁铁；</a:t>
            </a: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线圈；</a:t>
            </a:r>
            <a:r>
              <a:rPr lang="en-US" altLang="zh-CN" sz="2400" b="1" dirty="0">
                <a:latin typeface="宋体" panose="02010600030101010101" pitchFamily="2" charset="-122"/>
                <a:ea typeface="宋体" panose="02010600030101010101" pitchFamily="2" charset="-122"/>
              </a:rPr>
              <a:t>5—</a:t>
            </a:r>
            <a:r>
              <a:rPr lang="zh-CN" altLang="en-US" sz="2400" b="1" dirty="0">
                <a:latin typeface="宋体" panose="02010600030101010101" pitchFamily="2" charset="-122"/>
                <a:ea typeface="宋体" panose="02010600030101010101" pitchFamily="2" charset="-122"/>
              </a:rPr>
              <a:t>定子</a:t>
            </a:r>
          </a:p>
        </p:txBody>
      </p:sp>
      <p:pic>
        <p:nvPicPr>
          <p:cNvPr id="3" name="Electromagnetic-sensor02">
            <a:hlinkClick r:id="" action="ppaction://media"/>
            <a:extLst>
              <a:ext uri="{FF2B5EF4-FFF2-40B4-BE49-F238E27FC236}">
                <a16:creationId xmlns:a16="http://schemas.microsoft.com/office/drawing/2014/main" id="{B5FCF33C-CD20-4D1F-8BE6-912867444FD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6"/>
          <a:srcRect b="10698"/>
          <a:stretch/>
        </p:blipFill>
        <p:spPr>
          <a:xfrm>
            <a:off x="3198909" y="1471173"/>
            <a:ext cx="5767291" cy="3090195"/>
          </a:xfrm>
          <a:prstGeom prst="rect">
            <a:avLst/>
          </a:prstGeom>
        </p:spPr>
      </p:pic>
    </p:spTree>
    <p:extLst>
      <p:ext uri="{BB962C8B-B14F-4D97-AF65-F5344CB8AC3E}">
        <p14:creationId xmlns:p14="http://schemas.microsoft.com/office/powerpoint/2010/main" val="24120580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5.2</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霍尔式传感器</a:t>
            </a:r>
          </a:p>
        </p:txBody>
      </p:sp>
      <p:sp>
        <p:nvSpPr>
          <p:cNvPr id="29" name="Rectangle 15"/>
          <p:cNvSpPr>
            <a:spLocks noRot="1" noChangeArrowheads="1"/>
          </p:cNvSpPr>
          <p:nvPr/>
        </p:nvSpPr>
        <p:spPr bwMode="auto">
          <a:xfrm>
            <a:off x="2120900" y="3153926"/>
            <a:ext cx="3703777" cy="3107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ts val="600"/>
              </a:spcBef>
            </a:pPr>
            <a:r>
              <a:rPr lang="zh-CN" altLang="en-US" sz="2400" b="1" dirty="0">
                <a:latin typeface="宋体" panose="02010600030101010101" pitchFamily="2" charset="-122"/>
                <a:ea typeface="宋体" panose="02010600030101010101" pitchFamily="2" charset="-122"/>
                <a:hlinkClick r:id="rId3" action="ppaction://hlinksldjump"/>
              </a:rPr>
              <a:t>霍尔效应和霍尔元件材料</a:t>
            </a:r>
            <a:endParaRPr lang="zh-CN" altLang="en-US" sz="2400" b="1" dirty="0">
              <a:latin typeface="宋体" panose="02010600030101010101" pitchFamily="2" charset="-122"/>
              <a:ea typeface="宋体" panose="02010600030101010101" pitchFamily="2" charset="-122"/>
            </a:endParaRPr>
          </a:p>
          <a:p>
            <a:pPr>
              <a:lnSpc>
                <a:spcPct val="150000"/>
              </a:lnSpc>
              <a:spcBef>
                <a:spcPts val="600"/>
              </a:spcBef>
            </a:pPr>
            <a:r>
              <a:rPr lang="zh-CN" altLang="en-US" sz="2400" b="1" dirty="0">
                <a:latin typeface="宋体" panose="02010600030101010101" pitchFamily="2" charset="-122"/>
                <a:ea typeface="宋体" panose="02010600030101010101" pitchFamily="2" charset="-122"/>
                <a:hlinkClick r:id="rId4" action="ppaction://hlinksldjump"/>
              </a:rPr>
              <a:t>霍尔元件构造及测量电路</a:t>
            </a:r>
            <a:endParaRPr lang="zh-CN" altLang="en-US" sz="2400" b="1" dirty="0">
              <a:latin typeface="宋体" panose="02010600030101010101" pitchFamily="2" charset="-122"/>
              <a:ea typeface="宋体" panose="02010600030101010101" pitchFamily="2" charset="-122"/>
            </a:endParaRPr>
          </a:p>
          <a:p>
            <a:pPr>
              <a:lnSpc>
                <a:spcPct val="150000"/>
              </a:lnSpc>
              <a:spcBef>
                <a:spcPts val="600"/>
              </a:spcBef>
            </a:pPr>
            <a:r>
              <a:rPr lang="zh-CN" altLang="en-US" sz="2400" b="1" dirty="0">
                <a:latin typeface="宋体" panose="02010600030101010101" pitchFamily="2" charset="-122"/>
                <a:ea typeface="宋体" panose="02010600030101010101" pitchFamily="2" charset="-122"/>
                <a:hlinkClick r:id="rId5" action="ppaction://hlinksldjump"/>
              </a:rPr>
              <a:t>霍尔元件的主要技术指标</a:t>
            </a:r>
            <a:endParaRPr lang="zh-CN" altLang="en-US" sz="2400" b="1" dirty="0">
              <a:latin typeface="宋体" panose="02010600030101010101" pitchFamily="2" charset="-122"/>
              <a:ea typeface="宋体" panose="02010600030101010101" pitchFamily="2" charset="-122"/>
            </a:endParaRPr>
          </a:p>
          <a:p>
            <a:pPr>
              <a:lnSpc>
                <a:spcPct val="150000"/>
              </a:lnSpc>
              <a:spcBef>
                <a:spcPts val="600"/>
              </a:spcBef>
            </a:pPr>
            <a:r>
              <a:rPr lang="zh-CN" altLang="en-US" sz="2400" b="1" dirty="0">
                <a:latin typeface="宋体" panose="02010600030101010101" pitchFamily="2" charset="-122"/>
                <a:ea typeface="宋体" panose="02010600030101010101" pitchFamily="2" charset="-122"/>
                <a:hlinkClick r:id="rId6" action="ppaction://hlinksldjump"/>
              </a:rPr>
              <a:t>霍尔元件的补偿电路</a:t>
            </a:r>
            <a:endParaRPr lang="zh-CN" altLang="en-US" sz="2400" b="1" dirty="0">
              <a:latin typeface="宋体" panose="02010600030101010101" pitchFamily="2" charset="-122"/>
              <a:ea typeface="宋体" panose="02010600030101010101" pitchFamily="2" charset="-122"/>
            </a:endParaRPr>
          </a:p>
          <a:p>
            <a:pPr>
              <a:lnSpc>
                <a:spcPct val="150000"/>
              </a:lnSpc>
              <a:spcBef>
                <a:spcPts val="600"/>
              </a:spcBef>
            </a:pPr>
            <a:r>
              <a:rPr lang="zh-CN" altLang="en-US" sz="2400" b="1" dirty="0">
                <a:latin typeface="宋体" panose="02010600030101010101" pitchFamily="2" charset="-122"/>
                <a:ea typeface="宋体" panose="02010600030101010101" pitchFamily="2" charset="-122"/>
                <a:hlinkClick r:id="rId7" action="ppaction://hlinksldjump"/>
              </a:rPr>
              <a:t>霍尔式传感器的应用举例</a:t>
            </a:r>
            <a:endParaRPr lang="zh-CN" altLang="en-US" sz="2400" b="1" dirty="0">
              <a:latin typeface="宋体" panose="02010600030101010101" pitchFamily="2" charset="-122"/>
              <a:ea typeface="宋体" panose="02010600030101010101" pitchFamily="2" charset="-122"/>
            </a:endParaRPr>
          </a:p>
        </p:txBody>
      </p:sp>
      <p:sp>
        <p:nvSpPr>
          <p:cNvPr id="30" name="Text Box 16"/>
          <p:cNvSpPr txBox="1">
            <a:spLocks noChangeArrowheads="1"/>
          </p:cNvSpPr>
          <p:nvPr/>
        </p:nvSpPr>
        <p:spPr bwMode="auto">
          <a:xfrm>
            <a:off x="972190" y="1820842"/>
            <a:ext cx="7405001" cy="1128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indent="628650" algn="just" eaLnBrk="1" hangingPunct="1">
              <a:lnSpc>
                <a:spcPct val="150000"/>
              </a:lnSpc>
              <a:buFont typeface="Wingdings" pitchFamily="2" charset="2"/>
              <a:buNone/>
            </a:pPr>
            <a:r>
              <a:rPr lang="zh-CN" altLang="en-US" sz="2400" b="1" dirty="0">
                <a:solidFill>
                  <a:schemeClr val="tx1"/>
                </a:solidFill>
              </a:rPr>
              <a:t>基于霍尔效应原理，将被测量，如电流、磁场、位移、压力等转换成电动势输出的传感器。</a:t>
            </a:r>
          </a:p>
        </p:txBody>
      </p:sp>
      <p:pic>
        <p:nvPicPr>
          <p:cNvPr id="31" name="Picture 24" descr="jk-c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6116" y="3420273"/>
            <a:ext cx="2251075" cy="276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文本框 3"/>
          <p:cNvSpPr txBox="1"/>
          <p:nvPr/>
        </p:nvSpPr>
        <p:spPr>
          <a:xfrm>
            <a:off x="1571711" y="1372657"/>
            <a:ext cx="5842641"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Hall Effect Sensor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1" name="圆角矩形 72">
            <a:extLst>
              <a:ext uri="{FF2B5EF4-FFF2-40B4-BE49-F238E27FC236}">
                <a16:creationId xmlns:a16="http://schemas.microsoft.com/office/drawing/2014/main" id="{343D7C8A-72E9-4E11-82F9-04D1F37F1B07}"/>
              </a:ext>
            </a:extLst>
          </p:cNvPr>
          <p:cNvSpPr/>
          <p:nvPr/>
        </p:nvSpPr>
        <p:spPr>
          <a:xfrm rot="10800000" flipV="1">
            <a:off x="977900" y="3185847"/>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5.2.1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2" name="圆角矩形 73">
            <a:extLst>
              <a:ext uri="{FF2B5EF4-FFF2-40B4-BE49-F238E27FC236}">
                <a16:creationId xmlns:a16="http://schemas.microsoft.com/office/drawing/2014/main" id="{7997A031-0667-4F3B-9AA0-BAB02B443096}"/>
              </a:ext>
            </a:extLst>
          </p:cNvPr>
          <p:cNvSpPr/>
          <p:nvPr/>
        </p:nvSpPr>
        <p:spPr>
          <a:xfrm rot="10800000" flipV="1">
            <a:off x="977896" y="3818590"/>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5.2.2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3" name="圆角矩形 72">
            <a:extLst>
              <a:ext uri="{FF2B5EF4-FFF2-40B4-BE49-F238E27FC236}">
                <a16:creationId xmlns:a16="http://schemas.microsoft.com/office/drawing/2014/main" id="{343D7C8A-72E9-4E11-82F9-04D1F37F1B07}"/>
              </a:ext>
            </a:extLst>
          </p:cNvPr>
          <p:cNvSpPr/>
          <p:nvPr/>
        </p:nvSpPr>
        <p:spPr>
          <a:xfrm rot="10800000" flipV="1">
            <a:off x="977895" y="4429063"/>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5.2.3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4" name="圆角矩形 73">
            <a:extLst>
              <a:ext uri="{FF2B5EF4-FFF2-40B4-BE49-F238E27FC236}">
                <a16:creationId xmlns:a16="http://schemas.microsoft.com/office/drawing/2014/main" id="{7997A031-0667-4F3B-9AA0-BAB02B443096}"/>
              </a:ext>
            </a:extLst>
          </p:cNvPr>
          <p:cNvSpPr/>
          <p:nvPr/>
        </p:nvSpPr>
        <p:spPr>
          <a:xfrm rot="10800000" flipV="1">
            <a:off x="977891" y="5051748"/>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5.2.4</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5" name="圆角矩形 72">
            <a:extLst>
              <a:ext uri="{FF2B5EF4-FFF2-40B4-BE49-F238E27FC236}">
                <a16:creationId xmlns:a16="http://schemas.microsoft.com/office/drawing/2014/main" id="{343D7C8A-72E9-4E11-82F9-04D1F37F1B07}"/>
              </a:ext>
            </a:extLst>
          </p:cNvPr>
          <p:cNvSpPr/>
          <p:nvPr/>
        </p:nvSpPr>
        <p:spPr>
          <a:xfrm rot="10800000" flipV="1">
            <a:off x="972190" y="5677391"/>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5.2.5</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C6D7287E-5F77-4AEB-ABE2-261FABBF9177}"/>
              </a:ext>
            </a:extLst>
          </p:cNvPr>
          <p:cNvSpPr>
            <a:spLocks noGrp="1"/>
          </p:cNvSpPr>
          <p:nvPr>
            <p:ph type="sldNum" sz="quarter" idx="12"/>
          </p:nvPr>
        </p:nvSpPr>
        <p:spPr/>
        <p:txBody>
          <a:bodyPr/>
          <a:lstStyle/>
          <a:p>
            <a:fld id="{B53602B4-F12B-41CD-B648-531F86B2CC91}" type="slidenum">
              <a:rPr lang="zh-CN" altLang="en-US" smtClean="0"/>
              <a:t>32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9">
            <a:extLst>
              <a:ext uri="{FF2B5EF4-FFF2-40B4-BE49-F238E27FC236}">
                <a16:creationId xmlns:a16="http://schemas.microsoft.com/office/drawing/2014/main" id="{9EC675B4-2EFA-4B08-A17E-49A0907B8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5374" y="1236212"/>
            <a:ext cx="6406295" cy="3062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5.2.1</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霍尔效应和霍尔元件材料</a:t>
            </a:r>
          </a:p>
        </p:txBody>
      </p:sp>
      <p:sp>
        <p:nvSpPr>
          <p:cNvPr id="6" name="矩形 5"/>
          <p:cNvSpPr/>
          <p:nvPr/>
        </p:nvSpPr>
        <p:spPr>
          <a:xfrm>
            <a:off x="185083" y="1321274"/>
            <a:ext cx="1524776" cy="492443"/>
          </a:xfrm>
          <a:prstGeom prst="rect">
            <a:avLst/>
          </a:prstGeom>
        </p:spPr>
        <p:txBody>
          <a:bodyPr wrap="none">
            <a:spAutoFit/>
          </a:bodyPr>
          <a:lstStyle/>
          <a:p>
            <a:r>
              <a:rPr lang="zh-CN" altLang="en-US" sz="2600" b="1" dirty="0">
                <a:solidFill>
                  <a:prstClr val="black"/>
                </a:solidFill>
                <a:latin typeface="宋体" panose="02010600030101010101" pitchFamily="2" charset="-122"/>
                <a:ea typeface="宋体" panose="02010600030101010101" pitchFamily="2" charset="-122"/>
              </a:rPr>
              <a:t>霍尔效应</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D8D7F963-6760-47E4-93AC-DEC7F56E06A0}"/>
              </a:ext>
            </a:extLst>
          </p:cNvPr>
          <p:cNvSpPr>
            <a:spLocks noGrp="1"/>
          </p:cNvSpPr>
          <p:nvPr>
            <p:ph type="sldNum" sz="quarter" idx="12"/>
          </p:nvPr>
        </p:nvSpPr>
        <p:spPr/>
        <p:txBody>
          <a:bodyPr/>
          <a:lstStyle/>
          <a:p>
            <a:fld id="{B53602B4-F12B-41CD-B648-531F86B2CC91}" type="slidenum">
              <a:rPr lang="zh-CN" altLang="en-US" smtClean="0"/>
              <a:t>33</a:t>
            </a:fld>
            <a:endParaRPr lang="zh-CN" altLang="en-US"/>
          </a:p>
        </p:txBody>
      </p:sp>
      <p:sp>
        <p:nvSpPr>
          <p:cNvPr id="20" name="Text Box 113">
            <a:extLst>
              <a:ext uri="{FF2B5EF4-FFF2-40B4-BE49-F238E27FC236}">
                <a16:creationId xmlns:a16="http://schemas.microsoft.com/office/drawing/2014/main" id="{464FBC9F-9C46-4160-AF07-1712275A5B58}"/>
              </a:ext>
            </a:extLst>
          </p:cNvPr>
          <p:cNvSpPr txBox="1">
            <a:spLocks noChangeArrowheads="1"/>
          </p:cNvSpPr>
          <p:nvPr/>
        </p:nvSpPr>
        <p:spPr bwMode="auto">
          <a:xfrm>
            <a:off x="2776736" y="4430295"/>
            <a:ext cx="3590528"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5-20  </a:t>
            </a:r>
            <a:r>
              <a:rPr kumimoji="0" lang="zh-CN" altLang="en-US" b="1" dirty="0">
                <a:solidFill>
                  <a:srgbClr val="3333CC"/>
                </a:solidFill>
                <a:latin typeface="宋体" panose="02010600030101010101" pitchFamily="2" charset="-122"/>
                <a:ea typeface="宋体" panose="02010600030101010101" pitchFamily="2" charset="-122"/>
              </a:rPr>
              <a:t>霍尔效应原理图</a:t>
            </a:r>
          </a:p>
        </p:txBody>
      </p:sp>
      <p:sp>
        <p:nvSpPr>
          <p:cNvPr id="22" name="Rectangle 122">
            <a:extLst>
              <a:ext uri="{FF2B5EF4-FFF2-40B4-BE49-F238E27FC236}">
                <a16:creationId xmlns:a16="http://schemas.microsoft.com/office/drawing/2014/main" id="{1048FB47-2680-4E9C-BD6D-409C342963E0}"/>
              </a:ext>
            </a:extLst>
          </p:cNvPr>
          <p:cNvSpPr>
            <a:spLocks noChangeArrowheads="1"/>
          </p:cNvSpPr>
          <p:nvPr/>
        </p:nvSpPr>
        <p:spPr bwMode="auto">
          <a:xfrm>
            <a:off x="539750" y="5038071"/>
            <a:ext cx="8064500"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20000"/>
              </a:spcBef>
              <a:buClr>
                <a:schemeClr val="folHlink"/>
              </a:buClr>
              <a:buFont typeface="Wingdings" pitchFamily="2" charset="2"/>
              <a:buNone/>
            </a:pPr>
            <a:r>
              <a:rPr kumimoji="0"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磁场方向垂直于薄片</a:t>
            </a:r>
            <a:r>
              <a:rPr kumimoji="0"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当有</a:t>
            </a:r>
            <a:r>
              <a:rPr kumimoji="0" lang="zh-CN" altLang="en-US"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电流 </a:t>
            </a:r>
            <a:r>
              <a:rPr kumimoji="0" lang="en-US" altLang="zh-CN" sz="2400" b="1" i="1">
                <a:solidFill>
                  <a:srgbClr val="3333CC"/>
                </a:solidFill>
                <a:latin typeface="Times New Roman" panose="02020603050405020304" pitchFamily="18" charset="0"/>
                <a:ea typeface="宋体" panose="02010600030101010101" pitchFamily="2" charset="-122"/>
                <a:cs typeface="Times New Roman" panose="02020603050405020304" pitchFamily="18" charset="0"/>
              </a:rPr>
              <a:t>I </a:t>
            </a:r>
            <a:r>
              <a:rPr kumimoji="0" lang="zh-CN" altLang="en-US"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流</a:t>
            </a:r>
            <a:r>
              <a:rPr kumimoji="0" lang="zh-CN" altLang="en-US" sz="24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过时</a:t>
            </a:r>
            <a:r>
              <a:rPr kumimoji="0"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在垂直于电流和磁场的方向上将产生电动势</a:t>
            </a:r>
            <a:r>
              <a:rPr kumimoji="0" lang="en-US" altLang="zh-CN" sz="2400" b="1" i="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U</a:t>
            </a:r>
            <a:r>
              <a:rPr kumimoji="0" lang="en-US" altLang="zh-CN" sz="2400" b="1" baseline="-250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H</a:t>
            </a:r>
            <a:r>
              <a:rPr kumimoji="0" lang="zh-CN" altLang="en-US" sz="2400" b="1" dirty="0">
                <a:latin typeface="Times New Roman" panose="02020603050405020304" pitchFamily="18" charset="0"/>
                <a:ea typeface="宋体" panose="02010600030101010101" pitchFamily="2" charset="-122"/>
                <a:cs typeface="Times New Roman" panose="02020603050405020304" pitchFamily="18" charset="0"/>
              </a:rPr>
              <a:t>，这种现象称为</a:t>
            </a:r>
            <a:r>
              <a:rPr kumimoji="0"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霍尔效应</a:t>
            </a:r>
            <a:r>
              <a:rPr kumimoji="0"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23" name="Oval 22">
            <a:extLst>
              <a:ext uri="{FF2B5EF4-FFF2-40B4-BE49-F238E27FC236}">
                <a16:creationId xmlns:a16="http://schemas.microsoft.com/office/drawing/2014/main" id="{F5935CBA-500A-423D-85B5-442C89052EEF}"/>
              </a:ext>
            </a:extLst>
          </p:cNvPr>
          <p:cNvSpPr/>
          <p:nvPr/>
        </p:nvSpPr>
        <p:spPr>
          <a:xfrm>
            <a:off x="3809507" y="1105104"/>
            <a:ext cx="1133101" cy="905703"/>
          </a:xfrm>
          <a:prstGeom prst="ellipse">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4" name="Oval 23">
            <a:extLst>
              <a:ext uri="{FF2B5EF4-FFF2-40B4-BE49-F238E27FC236}">
                <a16:creationId xmlns:a16="http://schemas.microsoft.com/office/drawing/2014/main" id="{5D44A4E5-0B7E-40FC-84C8-0A77FDDD5C40}"/>
              </a:ext>
            </a:extLst>
          </p:cNvPr>
          <p:cNvSpPr/>
          <p:nvPr/>
        </p:nvSpPr>
        <p:spPr>
          <a:xfrm>
            <a:off x="6215253" y="2202760"/>
            <a:ext cx="893118" cy="932326"/>
          </a:xfrm>
          <a:prstGeom prst="ellipse">
            <a:avLst/>
          </a:prstGeom>
          <a:noFill/>
          <a:ln w="28575">
            <a:solidFill>
              <a:srgbClr val="3333C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5" name="Oval 24">
            <a:extLst>
              <a:ext uri="{FF2B5EF4-FFF2-40B4-BE49-F238E27FC236}">
                <a16:creationId xmlns:a16="http://schemas.microsoft.com/office/drawing/2014/main" id="{D2C57F06-382D-4287-B05F-06ACD0FCC320}"/>
              </a:ext>
            </a:extLst>
          </p:cNvPr>
          <p:cNvSpPr/>
          <p:nvPr/>
        </p:nvSpPr>
        <p:spPr>
          <a:xfrm rot="1754072">
            <a:off x="7339776" y="1264974"/>
            <a:ext cx="489533" cy="3354014"/>
          </a:xfrm>
          <a:prstGeom prst="ellipse">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B46713-5833-44FA-B6DA-2D11F4567A1D}"/>
              </a:ext>
            </a:extLst>
          </p:cNvPr>
          <p:cNvPicPr>
            <a:picLocks noChangeAspect="1"/>
          </p:cNvPicPr>
          <p:nvPr/>
        </p:nvPicPr>
        <p:blipFill>
          <a:blip r:embed="rId3"/>
          <a:stretch>
            <a:fillRect/>
          </a:stretch>
        </p:blipFill>
        <p:spPr>
          <a:xfrm>
            <a:off x="1928805" y="1147298"/>
            <a:ext cx="3492949" cy="1794031"/>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5.2.1</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霍尔效应和霍尔元件材料</a:t>
            </a:r>
          </a:p>
        </p:txBody>
      </p:sp>
      <p:sp>
        <p:nvSpPr>
          <p:cNvPr id="6" name="矩形 5"/>
          <p:cNvSpPr/>
          <p:nvPr/>
        </p:nvSpPr>
        <p:spPr>
          <a:xfrm>
            <a:off x="185083" y="1321274"/>
            <a:ext cx="1524776" cy="492443"/>
          </a:xfrm>
          <a:prstGeom prst="rect">
            <a:avLst/>
          </a:prstGeom>
        </p:spPr>
        <p:txBody>
          <a:bodyPr wrap="none">
            <a:spAutoFit/>
          </a:bodyPr>
          <a:lstStyle/>
          <a:p>
            <a:r>
              <a:rPr lang="zh-CN" altLang="en-US" sz="2600" b="1" dirty="0">
                <a:solidFill>
                  <a:prstClr val="black"/>
                </a:solidFill>
                <a:latin typeface="宋体" panose="02010600030101010101" pitchFamily="2" charset="-122"/>
                <a:ea typeface="宋体" panose="02010600030101010101" pitchFamily="2" charset="-122"/>
              </a:rPr>
              <a:t>霍尔效应</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D8D7F963-6760-47E4-93AC-DEC7F56E06A0}"/>
              </a:ext>
            </a:extLst>
          </p:cNvPr>
          <p:cNvSpPr>
            <a:spLocks noGrp="1"/>
          </p:cNvSpPr>
          <p:nvPr>
            <p:ph type="sldNum" sz="quarter" idx="12"/>
          </p:nvPr>
        </p:nvSpPr>
        <p:spPr/>
        <p:txBody>
          <a:bodyPr/>
          <a:lstStyle/>
          <a:p>
            <a:fld id="{B53602B4-F12B-41CD-B648-531F86B2CC91}" type="slidenum">
              <a:rPr lang="zh-CN" altLang="en-US" smtClean="0"/>
              <a:t>34</a:t>
            </a:fld>
            <a:endParaRPr lang="zh-CN" altLang="en-US"/>
          </a:p>
        </p:txBody>
      </p:sp>
      <p:sp>
        <p:nvSpPr>
          <p:cNvPr id="13" name="Text Box 4">
            <a:extLst>
              <a:ext uri="{FF2B5EF4-FFF2-40B4-BE49-F238E27FC236}">
                <a16:creationId xmlns:a16="http://schemas.microsoft.com/office/drawing/2014/main" id="{9F914907-D983-491A-9348-E2655937298A}"/>
              </a:ext>
            </a:extLst>
          </p:cNvPr>
          <p:cNvSpPr txBox="1">
            <a:spLocks noChangeArrowheads="1"/>
          </p:cNvSpPr>
          <p:nvPr/>
        </p:nvSpPr>
        <p:spPr bwMode="auto">
          <a:xfrm>
            <a:off x="305604" y="3003526"/>
            <a:ext cx="3246402"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6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电子受到的</a:t>
            </a:r>
            <a:r>
              <a:rPr lang="zh-CN" altLang="en-US" sz="2400" b="1" dirty="0">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洛伦兹</a:t>
            </a:r>
            <a:r>
              <a:rPr lang="zh-CN" altLang="en-US" sz="2400" b="1">
                <a:solidFill>
                  <a:schemeClr val="accent2">
                    <a:lumMod val="75000"/>
                  </a:schemeClr>
                </a:solidFill>
                <a:latin typeface="Times New Roman" panose="02020603050405020304" pitchFamily="18" charset="0"/>
                <a:ea typeface="宋体" panose="02010600030101010101" pitchFamily="2" charset="-122"/>
                <a:cs typeface="Times New Roman" panose="02020603050405020304" pitchFamily="18" charset="0"/>
              </a:rPr>
              <a:t>力</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ts val="600"/>
              </a:spcBef>
              <a:buFont typeface="Arial" panose="020B0604020202020204" pitchFamily="34" charset="0"/>
              <a:buChar char="•"/>
            </a:pP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e</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：电子电荷电量</a:t>
            </a:r>
          </a:p>
          <a:p>
            <a:pPr marL="342900" indent="-342900">
              <a:spcBef>
                <a:spcPts val="600"/>
              </a:spcBef>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v</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：电子运动速度</a:t>
            </a:r>
          </a:p>
          <a:p>
            <a:pPr marL="342900" indent="-342900">
              <a:spcBef>
                <a:spcPts val="600"/>
              </a:spcBef>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：磁感应强度</a:t>
            </a:r>
          </a:p>
        </p:txBody>
      </p:sp>
      <p:sp>
        <p:nvSpPr>
          <p:cNvPr id="14" name="Text Box 5">
            <a:extLst>
              <a:ext uri="{FF2B5EF4-FFF2-40B4-BE49-F238E27FC236}">
                <a16:creationId xmlns:a16="http://schemas.microsoft.com/office/drawing/2014/main" id="{0FC1B63F-5B35-4AE6-9224-9D1A15489582}"/>
              </a:ext>
            </a:extLst>
          </p:cNvPr>
          <p:cNvSpPr txBox="1">
            <a:spLocks noChangeArrowheads="1"/>
          </p:cNvSpPr>
          <p:nvPr/>
        </p:nvSpPr>
        <p:spPr bwMode="auto">
          <a:xfrm>
            <a:off x="4315525" y="3010483"/>
            <a:ext cx="4650675"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6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电子受到的</a:t>
            </a:r>
            <a:r>
              <a:rPr lang="zh-CN" altLang="en-US" sz="2400" b="1" dirty="0">
                <a:solidFill>
                  <a:srgbClr val="009900"/>
                </a:solidFill>
                <a:latin typeface="Times New Roman" panose="02020603050405020304" pitchFamily="18" charset="0"/>
                <a:ea typeface="宋体" panose="02010600030101010101" pitchFamily="2" charset="-122"/>
                <a:cs typeface="Times New Roman" panose="02020603050405020304" pitchFamily="18" charset="0"/>
              </a:rPr>
              <a:t>电场</a:t>
            </a:r>
            <a:r>
              <a:rPr lang="zh-CN" altLang="en-US" sz="2400" b="1">
                <a:solidFill>
                  <a:srgbClr val="009900"/>
                </a:solidFill>
                <a:latin typeface="Times New Roman" panose="02020603050405020304" pitchFamily="18" charset="0"/>
                <a:ea typeface="宋体" panose="02010600030101010101" pitchFamily="2" charset="-122"/>
                <a:cs typeface="Times New Roman" panose="02020603050405020304" pitchFamily="18" charset="0"/>
              </a:rPr>
              <a:t>力</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ts val="600"/>
              </a:spcBef>
              <a:buFont typeface="Arial" panose="020B0604020202020204" pitchFamily="34" charset="0"/>
              <a:buChar char="•"/>
            </a:pP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E</a:t>
            </a:r>
            <a:r>
              <a:rPr lang="en-US" altLang="zh-CN" sz="2400" i="1" baseline="-2500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：电子积累形成的电场强度</a:t>
            </a:r>
          </a:p>
          <a:p>
            <a:pPr marL="342900" indent="-342900">
              <a:spcBef>
                <a:spcPts val="600"/>
              </a:spcBef>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U</a:t>
            </a:r>
            <a:r>
              <a:rPr lang="en-US" altLang="zh-CN" sz="2400" i="1" baseline="-2500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：电子积累形成的电位差</a:t>
            </a:r>
          </a:p>
          <a:p>
            <a:pPr marL="342900" indent="-342900">
              <a:spcBef>
                <a:spcPts val="600"/>
              </a:spcBef>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：霍尔元件的宽度</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5" name="Object 6">
            <a:extLst>
              <a:ext uri="{FF2B5EF4-FFF2-40B4-BE49-F238E27FC236}">
                <a16:creationId xmlns:a16="http://schemas.microsoft.com/office/drawing/2014/main" id="{AA285AF0-20C2-4CE5-9167-D9F6EF8A8060}"/>
              </a:ext>
            </a:extLst>
          </p:cNvPr>
          <p:cNvGraphicFramePr>
            <a:graphicFrameLocks noChangeAspect="1"/>
          </p:cNvGraphicFramePr>
          <p:nvPr>
            <p:extLst>
              <p:ext uri="{D42A27DB-BD31-4B8C-83A1-F6EECF244321}">
                <p14:modId xmlns:p14="http://schemas.microsoft.com/office/powerpoint/2010/main" val="439953264"/>
              </p:ext>
            </p:extLst>
          </p:nvPr>
        </p:nvGraphicFramePr>
        <p:xfrm>
          <a:off x="716878" y="3617061"/>
          <a:ext cx="1985962" cy="449263"/>
        </p:xfrm>
        <a:graphic>
          <a:graphicData uri="http://schemas.openxmlformats.org/presentationml/2006/ole">
            <mc:AlternateContent xmlns:mc="http://schemas.openxmlformats.org/markup-compatibility/2006">
              <mc:Choice xmlns:v="urn:schemas-microsoft-com:vml" Requires="v">
                <p:oleObj name="公式" r:id="rId4" imgW="1028520" imgH="228600" progId="Equation.3">
                  <p:embed/>
                </p:oleObj>
              </mc:Choice>
              <mc:Fallback>
                <p:oleObj name="公式" r:id="rId4" imgW="1028520" imgH="228600" progId="Equation.3">
                  <p:embed/>
                  <p:pic>
                    <p:nvPicPr>
                      <p:cNvPr id="6" name="Object 6"/>
                      <p:cNvPicPr>
                        <a:picLocks noChangeAspect="1" noChangeArrowheads="1"/>
                      </p:cNvPicPr>
                      <p:nvPr/>
                    </p:nvPicPr>
                    <p:blipFill>
                      <a:blip r:embed="rId5"/>
                      <a:srcRect/>
                      <a:stretch>
                        <a:fillRect/>
                      </a:stretch>
                    </p:blipFill>
                    <p:spPr bwMode="auto">
                      <a:xfrm>
                        <a:off x="716878" y="3617061"/>
                        <a:ext cx="1985962" cy="449263"/>
                      </a:xfrm>
                      <a:prstGeom prst="rect">
                        <a:avLst/>
                      </a:prstGeom>
                      <a:solidFill>
                        <a:schemeClr val="accent2">
                          <a:lumMod val="60000"/>
                          <a:lumOff val="40000"/>
                        </a:schemeClr>
                      </a:solidFill>
                    </p:spPr>
                  </p:pic>
                </p:oleObj>
              </mc:Fallback>
            </mc:AlternateContent>
          </a:graphicData>
        </a:graphic>
      </p:graphicFrame>
      <p:graphicFrame>
        <p:nvGraphicFramePr>
          <p:cNvPr id="16" name="Object 8">
            <a:extLst>
              <a:ext uri="{FF2B5EF4-FFF2-40B4-BE49-F238E27FC236}">
                <a16:creationId xmlns:a16="http://schemas.microsoft.com/office/drawing/2014/main" id="{7D3CA3D0-148D-43CD-8F0F-535F03771FB8}"/>
              </a:ext>
            </a:extLst>
          </p:cNvPr>
          <p:cNvGraphicFramePr>
            <a:graphicFrameLocks noChangeAspect="1"/>
          </p:cNvGraphicFramePr>
          <p:nvPr>
            <p:extLst>
              <p:ext uri="{D42A27DB-BD31-4B8C-83A1-F6EECF244321}">
                <p14:modId xmlns:p14="http://schemas.microsoft.com/office/powerpoint/2010/main" val="2046190628"/>
              </p:ext>
            </p:extLst>
          </p:nvPr>
        </p:nvGraphicFramePr>
        <p:xfrm>
          <a:off x="4572000" y="3566495"/>
          <a:ext cx="2871787" cy="731838"/>
        </p:xfrm>
        <a:graphic>
          <a:graphicData uri="http://schemas.openxmlformats.org/presentationml/2006/ole">
            <mc:AlternateContent xmlns:mc="http://schemas.openxmlformats.org/markup-compatibility/2006">
              <mc:Choice xmlns:v="urn:schemas-microsoft-com:vml" Requires="v">
                <p:oleObj name="公式" r:id="rId6" imgW="1600200" imgH="406080" progId="Equation.3">
                  <p:embed/>
                </p:oleObj>
              </mc:Choice>
              <mc:Fallback>
                <p:oleObj name="公式" r:id="rId6" imgW="1600200" imgH="406080" progId="Equation.3">
                  <p:embed/>
                  <p:pic>
                    <p:nvPicPr>
                      <p:cNvPr id="7" name="Object 8"/>
                      <p:cNvPicPr>
                        <a:picLocks noChangeAspect="1" noChangeArrowheads="1"/>
                      </p:cNvPicPr>
                      <p:nvPr/>
                    </p:nvPicPr>
                    <p:blipFill>
                      <a:blip r:embed="rId7"/>
                      <a:srcRect/>
                      <a:stretch>
                        <a:fillRect/>
                      </a:stretch>
                    </p:blipFill>
                    <p:spPr bwMode="auto">
                      <a:xfrm>
                        <a:off x="4572000" y="3566495"/>
                        <a:ext cx="2871787" cy="731838"/>
                      </a:xfrm>
                      <a:prstGeom prst="rect">
                        <a:avLst/>
                      </a:prstGeom>
                      <a:solidFill>
                        <a:schemeClr val="accent6">
                          <a:lumMod val="40000"/>
                          <a:lumOff val="60000"/>
                        </a:schemeClr>
                      </a:solidFill>
                    </p:spPr>
                  </p:pic>
                </p:oleObj>
              </mc:Fallback>
            </mc:AlternateContent>
          </a:graphicData>
        </a:graphic>
      </p:graphicFrame>
      <p:sp>
        <p:nvSpPr>
          <p:cNvPr id="4" name="Rectangle: Rounded Corners 3">
            <a:extLst>
              <a:ext uri="{FF2B5EF4-FFF2-40B4-BE49-F238E27FC236}">
                <a16:creationId xmlns:a16="http://schemas.microsoft.com/office/drawing/2014/main" id="{17FD569B-8E5A-4509-9EF1-DE78B792297B}"/>
              </a:ext>
            </a:extLst>
          </p:cNvPr>
          <p:cNvSpPr/>
          <p:nvPr/>
        </p:nvSpPr>
        <p:spPr>
          <a:xfrm>
            <a:off x="454697" y="5935142"/>
            <a:ext cx="4457225" cy="688626"/>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7" name="Text Box 10">
            <a:extLst>
              <a:ext uri="{FF2B5EF4-FFF2-40B4-BE49-F238E27FC236}">
                <a16:creationId xmlns:a16="http://schemas.microsoft.com/office/drawing/2014/main" id="{FDF7EA09-81D6-440C-B279-0D88FA3F331E}"/>
              </a:ext>
            </a:extLst>
          </p:cNvPr>
          <p:cNvSpPr txBox="1">
            <a:spLocks noChangeArrowheads="1"/>
          </p:cNvSpPr>
          <p:nvPr/>
        </p:nvSpPr>
        <p:spPr bwMode="auto">
          <a:xfrm>
            <a:off x="716878" y="6036334"/>
            <a:ext cx="1752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平衡时：</a:t>
            </a:r>
          </a:p>
        </p:txBody>
      </p:sp>
      <p:graphicFrame>
        <p:nvGraphicFramePr>
          <p:cNvPr id="18" name="Object 11">
            <a:extLst>
              <a:ext uri="{FF2B5EF4-FFF2-40B4-BE49-F238E27FC236}">
                <a16:creationId xmlns:a16="http://schemas.microsoft.com/office/drawing/2014/main" id="{4C3422D0-B432-48E1-A0B4-E73D4C485FEA}"/>
              </a:ext>
            </a:extLst>
          </p:cNvPr>
          <p:cNvGraphicFramePr>
            <a:graphicFrameLocks noChangeAspect="1"/>
          </p:cNvGraphicFramePr>
          <p:nvPr>
            <p:extLst>
              <p:ext uri="{D42A27DB-BD31-4B8C-83A1-F6EECF244321}">
                <p14:modId xmlns:p14="http://schemas.microsoft.com/office/powerpoint/2010/main" val="322150589"/>
              </p:ext>
            </p:extLst>
          </p:nvPr>
        </p:nvGraphicFramePr>
        <p:xfrm>
          <a:off x="2224854" y="6036334"/>
          <a:ext cx="2285851" cy="486242"/>
        </p:xfrm>
        <a:graphic>
          <a:graphicData uri="http://schemas.openxmlformats.org/presentationml/2006/ole">
            <mc:AlternateContent xmlns:mc="http://schemas.openxmlformats.org/markup-compatibility/2006">
              <mc:Choice xmlns:v="urn:schemas-microsoft-com:vml" Requires="v">
                <p:oleObj name="公式" r:id="rId8" imgW="1091880" imgH="228600" progId="Equation.3">
                  <p:embed/>
                </p:oleObj>
              </mc:Choice>
              <mc:Fallback>
                <p:oleObj name="公式" r:id="rId8" imgW="1091880" imgH="228600" progId="Equation.3">
                  <p:embed/>
                  <p:pic>
                    <p:nvPicPr>
                      <p:cNvPr id="9" name="Object 11"/>
                      <p:cNvPicPr>
                        <a:picLocks noChangeAspect="1" noChangeArrowheads="1"/>
                      </p:cNvPicPr>
                      <p:nvPr/>
                    </p:nvPicPr>
                    <p:blipFill>
                      <a:blip r:embed="rId9"/>
                      <a:srcRect/>
                      <a:stretch>
                        <a:fillRect/>
                      </a:stretch>
                    </p:blipFill>
                    <p:spPr bwMode="auto">
                      <a:xfrm>
                        <a:off x="2224854" y="6036334"/>
                        <a:ext cx="2285851" cy="486242"/>
                      </a:xfrm>
                      <a:prstGeom prst="rect">
                        <a:avLst/>
                      </a:prstGeom>
                      <a:noFill/>
                    </p:spPr>
                  </p:pic>
                </p:oleObj>
              </mc:Fallback>
            </mc:AlternateContent>
          </a:graphicData>
        </a:graphic>
      </p:graphicFrame>
      <p:sp>
        <p:nvSpPr>
          <p:cNvPr id="26" name="矩形 5">
            <a:extLst>
              <a:ext uri="{FF2B5EF4-FFF2-40B4-BE49-F238E27FC236}">
                <a16:creationId xmlns:a16="http://schemas.microsoft.com/office/drawing/2014/main" id="{5C53E0FC-D375-41D9-8AF2-E6F6734AB6B1}"/>
              </a:ext>
            </a:extLst>
          </p:cNvPr>
          <p:cNvSpPr/>
          <p:nvPr/>
        </p:nvSpPr>
        <p:spPr>
          <a:xfrm>
            <a:off x="5174103" y="6003312"/>
            <a:ext cx="3199915" cy="492443"/>
          </a:xfrm>
          <a:prstGeom prst="rect">
            <a:avLst/>
          </a:prstGeom>
        </p:spPr>
        <p:txBody>
          <a:bodyPr wrap="none">
            <a:spAutoFit/>
          </a:bodyPr>
          <a:lstStyle/>
          <a:p>
            <a:r>
              <a:rPr lang="zh-CN" altLang="en-US" sz="2600" b="1">
                <a:solidFill>
                  <a:prstClr val="black"/>
                </a:solidFill>
                <a:latin typeface="宋体" panose="02010600030101010101" pitchFamily="2" charset="-122"/>
                <a:ea typeface="宋体" panose="02010600030101010101" pitchFamily="2" charset="-122"/>
              </a:rPr>
              <a:t>霍尔电场、霍尔电压</a:t>
            </a:r>
            <a:endParaRPr lang="zh-CN" altLang="en-US"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3848020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animBg="1"/>
      <p:bldP spid="17" grpId="0"/>
      <p:bldP spid="2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B46713-5833-44FA-B6DA-2D11F4567A1D}"/>
              </a:ext>
            </a:extLst>
          </p:cNvPr>
          <p:cNvPicPr>
            <a:picLocks noChangeAspect="1"/>
          </p:cNvPicPr>
          <p:nvPr/>
        </p:nvPicPr>
        <p:blipFill>
          <a:blip r:embed="rId3"/>
          <a:stretch>
            <a:fillRect/>
          </a:stretch>
        </p:blipFill>
        <p:spPr>
          <a:xfrm>
            <a:off x="1928805" y="1147298"/>
            <a:ext cx="3492949" cy="1794031"/>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5.2.1</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霍尔效应和霍尔元件材料</a:t>
            </a:r>
          </a:p>
        </p:txBody>
      </p:sp>
      <p:sp>
        <p:nvSpPr>
          <p:cNvPr id="6" name="矩形 5"/>
          <p:cNvSpPr/>
          <p:nvPr/>
        </p:nvSpPr>
        <p:spPr>
          <a:xfrm>
            <a:off x="185083" y="1321274"/>
            <a:ext cx="1524776" cy="492443"/>
          </a:xfrm>
          <a:prstGeom prst="rect">
            <a:avLst/>
          </a:prstGeom>
        </p:spPr>
        <p:txBody>
          <a:bodyPr wrap="none">
            <a:spAutoFit/>
          </a:bodyPr>
          <a:lstStyle/>
          <a:p>
            <a:r>
              <a:rPr lang="zh-CN" altLang="en-US" sz="2600" b="1" dirty="0">
                <a:solidFill>
                  <a:prstClr val="black"/>
                </a:solidFill>
                <a:latin typeface="宋体" panose="02010600030101010101" pitchFamily="2" charset="-122"/>
                <a:ea typeface="宋体" panose="02010600030101010101" pitchFamily="2" charset="-122"/>
              </a:rPr>
              <a:t>霍尔效应</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D8D7F963-6760-47E4-93AC-DEC7F56E06A0}"/>
              </a:ext>
            </a:extLst>
          </p:cNvPr>
          <p:cNvSpPr>
            <a:spLocks noGrp="1"/>
          </p:cNvSpPr>
          <p:nvPr>
            <p:ph type="sldNum" sz="quarter" idx="12"/>
          </p:nvPr>
        </p:nvSpPr>
        <p:spPr/>
        <p:txBody>
          <a:bodyPr/>
          <a:lstStyle/>
          <a:p>
            <a:fld id="{B53602B4-F12B-41CD-B648-531F86B2CC91}" type="slidenum">
              <a:rPr lang="zh-CN" altLang="en-US" smtClean="0"/>
              <a:t>35</a:t>
            </a:fld>
            <a:endParaRPr lang="zh-CN" altLang="en-US"/>
          </a:p>
        </p:txBody>
      </p:sp>
      <p:sp>
        <p:nvSpPr>
          <p:cNvPr id="19" name="Text Box 4">
            <a:extLst>
              <a:ext uri="{FF2B5EF4-FFF2-40B4-BE49-F238E27FC236}">
                <a16:creationId xmlns:a16="http://schemas.microsoft.com/office/drawing/2014/main" id="{F125248C-C772-473E-888C-95013B2BD281}"/>
              </a:ext>
            </a:extLst>
          </p:cNvPr>
          <p:cNvSpPr txBox="1">
            <a:spLocks noChangeArrowheads="1"/>
          </p:cNvSpPr>
          <p:nvPr/>
        </p:nvSpPr>
        <p:spPr bwMode="auto">
          <a:xfrm>
            <a:off x="158301" y="3047630"/>
            <a:ext cx="18805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电流密度：</a:t>
            </a:r>
          </a:p>
        </p:txBody>
      </p:sp>
      <p:graphicFrame>
        <p:nvGraphicFramePr>
          <p:cNvPr id="20" name="Object 5">
            <a:extLst>
              <a:ext uri="{FF2B5EF4-FFF2-40B4-BE49-F238E27FC236}">
                <a16:creationId xmlns:a16="http://schemas.microsoft.com/office/drawing/2014/main" id="{BFB14736-1C7E-4940-9DB7-D5852BF66252}"/>
              </a:ext>
            </a:extLst>
          </p:cNvPr>
          <p:cNvGraphicFramePr>
            <a:graphicFrameLocks noChangeAspect="1"/>
          </p:cNvGraphicFramePr>
          <p:nvPr>
            <p:extLst>
              <p:ext uri="{D42A27DB-BD31-4B8C-83A1-F6EECF244321}">
                <p14:modId xmlns:p14="http://schemas.microsoft.com/office/powerpoint/2010/main" val="1902165367"/>
              </p:ext>
            </p:extLst>
          </p:nvPr>
        </p:nvGraphicFramePr>
        <p:xfrm>
          <a:off x="1635584" y="3122349"/>
          <a:ext cx="1866900" cy="423863"/>
        </p:xfrm>
        <a:graphic>
          <a:graphicData uri="http://schemas.openxmlformats.org/presentationml/2006/ole">
            <mc:AlternateContent xmlns:mc="http://schemas.openxmlformats.org/markup-compatibility/2006">
              <mc:Choice xmlns:v="urn:schemas-microsoft-com:vml" Requires="v">
                <p:oleObj r:id="rId4" imgW="838200" imgH="190500" progId="Equation.3">
                  <p:embed/>
                </p:oleObj>
              </mc:Choice>
              <mc:Fallback>
                <p:oleObj r:id="rId4" imgW="838200" imgH="190500" progId="Equation.3">
                  <p:embed/>
                  <p:pic>
                    <p:nvPicPr>
                      <p:cNvPr id="5"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5584" y="3122349"/>
                        <a:ext cx="1866900"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7">
            <a:extLst>
              <a:ext uri="{FF2B5EF4-FFF2-40B4-BE49-F238E27FC236}">
                <a16:creationId xmlns:a16="http://schemas.microsoft.com/office/drawing/2014/main" id="{98384E54-E6A2-4F63-A4EB-C9F62A3A89D2}"/>
              </a:ext>
            </a:extLst>
          </p:cNvPr>
          <p:cNvSpPr txBox="1">
            <a:spLocks noChangeArrowheads="1"/>
          </p:cNvSpPr>
          <p:nvPr/>
        </p:nvSpPr>
        <p:spPr bwMode="auto">
          <a:xfrm>
            <a:off x="185083" y="3629439"/>
            <a:ext cx="1304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电流：</a:t>
            </a:r>
          </a:p>
        </p:txBody>
      </p:sp>
      <p:graphicFrame>
        <p:nvGraphicFramePr>
          <p:cNvPr id="22" name="Object 8">
            <a:extLst>
              <a:ext uri="{FF2B5EF4-FFF2-40B4-BE49-F238E27FC236}">
                <a16:creationId xmlns:a16="http://schemas.microsoft.com/office/drawing/2014/main" id="{91807CD2-31D7-47F9-9B70-0F228F151A95}"/>
              </a:ext>
            </a:extLst>
          </p:cNvPr>
          <p:cNvGraphicFramePr>
            <a:graphicFrameLocks noChangeAspect="1"/>
          </p:cNvGraphicFramePr>
          <p:nvPr>
            <p:extLst>
              <p:ext uri="{D42A27DB-BD31-4B8C-83A1-F6EECF244321}">
                <p14:modId xmlns:p14="http://schemas.microsoft.com/office/powerpoint/2010/main" val="3703168754"/>
              </p:ext>
            </p:extLst>
          </p:nvPr>
        </p:nvGraphicFramePr>
        <p:xfrm>
          <a:off x="1161835" y="3626113"/>
          <a:ext cx="3959146" cy="519494"/>
        </p:xfrm>
        <a:graphic>
          <a:graphicData uri="http://schemas.openxmlformats.org/presentationml/2006/ole">
            <mc:AlternateContent xmlns:mc="http://schemas.openxmlformats.org/markup-compatibility/2006">
              <mc:Choice xmlns:v="urn:schemas-microsoft-com:vml" Requires="v">
                <p:oleObj r:id="rId6" imgW="1524000" imgH="203200" progId="Equation.3">
                  <p:embed/>
                </p:oleObj>
              </mc:Choice>
              <mc:Fallback>
                <p:oleObj r:id="rId6" imgW="1524000" imgH="203200" progId="Equation.3">
                  <p:embed/>
                  <p:pic>
                    <p:nvPicPr>
                      <p:cNvPr id="7"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1835" y="3626113"/>
                        <a:ext cx="3959146" cy="519494"/>
                      </a:xfrm>
                      <a:prstGeom prst="rect">
                        <a:avLst/>
                      </a:prstGeom>
                      <a:noFill/>
                    </p:spPr>
                  </p:pic>
                </p:oleObj>
              </mc:Fallback>
            </mc:AlternateContent>
          </a:graphicData>
        </a:graphic>
      </p:graphicFrame>
      <p:graphicFrame>
        <p:nvGraphicFramePr>
          <p:cNvPr id="23" name="Object 10">
            <a:extLst>
              <a:ext uri="{FF2B5EF4-FFF2-40B4-BE49-F238E27FC236}">
                <a16:creationId xmlns:a16="http://schemas.microsoft.com/office/drawing/2014/main" id="{6AC5BD06-1A6A-4F27-81F6-7A2366BE894E}"/>
              </a:ext>
            </a:extLst>
          </p:cNvPr>
          <p:cNvGraphicFramePr>
            <a:graphicFrameLocks noChangeAspect="1"/>
          </p:cNvGraphicFramePr>
          <p:nvPr>
            <p:extLst>
              <p:ext uri="{D42A27DB-BD31-4B8C-83A1-F6EECF244321}">
                <p14:modId xmlns:p14="http://schemas.microsoft.com/office/powerpoint/2010/main" val="362791444"/>
              </p:ext>
            </p:extLst>
          </p:nvPr>
        </p:nvGraphicFramePr>
        <p:xfrm>
          <a:off x="1165669" y="4076321"/>
          <a:ext cx="1813520" cy="977964"/>
        </p:xfrm>
        <a:graphic>
          <a:graphicData uri="http://schemas.openxmlformats.org/presentationml/2006/ole">
            <mc:AlternateContent xmlns:mc="http://schemas.openxmlformats.org/markup-compatibility/2006">
              <mc:Choice xmlns:v="urn:schemas-microsoft-com:vml" Requires="v">
                <p:oleObj r:id="rId8" imgW="723586" imgH="393529" progId="Equation.3">
                  <p:embed/>
                </p:oleObj>
              </mc:Choice>
              <mc:Fallback>
                <p:oleObj r:id="rId8" imgW="723586" imgH="393529" progId="Equation.3">
                  <p:embed/>
                  <p:pic>
                    <p:nvPicPr>
                      <p:cNvPr id="8"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65669" y="4076321"/>
                        <a:ext cx="1813520" cy="977964"/>
                      </a:xfrm>
                      <a:prstGeom prst="rect">
                        <a:avLst/>
                      </a:prstGeom>
                      <a:noFill/>
                    </p:spPr>
                  </p:pic>
                </p:oleObj>
              </mc:Fallback>
            </mc:AlternateContent>
          </a:graphicData>
        </a:graphic>
      </p:graphicFrame>
      <p:graphicFrame>
        <p:nvGraphicFramePr>
          <p:cNvPr id="24" name="Object 12">
            <a:extLst>
              <a:ext uri="{FF2B5EF4-FFF2-40B4-BE49-F238E27FC236}">
                <a16:creationId xmlns:a16="http://schemas.microsoft.com/office/drawing/2014/main" id="{3DFD0CDC-8AB9-4805-9AE7-836331CF875E}"/>
              </a:ext>
            </a:extLst>
          </p:cNvPr>
          <p:cNvGraphicFramePr>
            <a:graphicFrameLocks noChangeAspect="1"/>
          </p:cNvGraphicFramePr>
          <p:nvPr>
            <p:extLst>
              <p:ext uri="{D42A27DB-BD31-4B8C-83A1-F6EECF244321}">
                <p14:modId xmlns:p14="http://schemas.microsoft.com/office/powerpoint/2010/main" val="1647849977"/>
              </p:ext>
            </p:extLst>
          </p:nvPr>
        </p:nvGraphicFramePr>
        <p:xfrm>
          <a:off x="5687152" y="2970177"/>
          <a:ext cx="1727056" cy="2042776"/>
        </p:xfrm>
        <a:graphic>
          <a:graphicData uri="http://schemas.openxmlformats.org/presentationml/2006/ole">
            <mc:AlternateContent xmlns:mc="http://schemas.openxmlformats.org/markup-compatibility/2006">
              <mc:Choice xmlns:v="urn:schemas-microsoft-com:vml" Requires="v">
                <p:oleObj name="Equation" r:id="rId10" imgW="1130040" imgH="1346040" progId="Equation.DSMT4">
                  <p:embed/>
                </p:oleObj>
              </mc:Choice>
              <mc:Fallback>
                <p:oleObj name="Equation" r:id="rId10" imgW="1130040" imgH="1346040" progId="Equation.DSMT4">
                  <p:embed/>
                  <p:pic>
                    <p:nvPicPr>
                      <p:cNvPr id="9" name="Object 12"/>
                      <p:cNvPicPr>
                        <a:picLocks noChangeAspect="1" noChangeArrowheads="1"/>
                      </p:cNvPicPr>
                      <p:nvPr/>
                    </p:nvPicPr>
                    <p:blipFill>
                      <a:blip r:embed="rId11"/>
                      <a:srcRect/>
                      <a:stretch>
                        <a:fillRect/>
                      </a:stretch>
                    </p:blipFill>
                    <p:spPr bwMode="auto">
                      <a:xfrm>
                        <a:off x="5687152" y="2970177"/>
                        <a:ext cx="1727056" cy="2042776"/>
                      </a:xfrm>
                      <a:prstGeom prst="rect">
                        <a:avLst/>
                      </a:prstGeom>
                      <a:solidFill>
                        <a:srgbClr val="FFFF00"/>
                      </a:solidFill>
                    </p:spPr>
                  </p:pic>
                </p:oleObj>
              </mc:Fallback>
            </mc:AlternateContent>
          </a:graphicData>
        </a:graphic>
      </p:graphicFrame>
      <p:sp>
        <p:nvSpPr>
          <p:cNvPr id="28" name="Text Box 4">
            <a:extLst>
              <a:ext uri="{FF2B5EF4-FFF2-40B4-BE49-F238E27FC236}">
                <a16:creationId xmlns:a16="http://schemas.microsoft.com/office/drawing/2014/main" id="{004CF0AF-76AD-4F27-9886-CA505FDEE12C}"/>
              </a:ext>
            </a:extLst>
          </p:cNvPr>
          <p:cNvSpPr txBox="1">
            <a:spLocks noChangeArrowheads="1"/>
          </p:cNvSpPr>
          <p:nvPr/>
        </p:nvSpPr>
        <p:spPr bwMode="auto">
          <a:xfrm>
            <a:off x="2702361" y="6281660"/>
            <a:ext cx="3427894" cy="461665"/>
          </a:xfrm>
          <a:prstGeom prst="rect">
            <a:avLst/>
          </a:prstGeom>
          <a:solidFill>
            <a:schemeClr val="accent6">
              <a:lumMod val="60000"/>
              <a:lumOff val="40000"/>
            </a:schemeClr>
          </a:solidFill>
          <a:ln>
            <a:noFill/>
          </a:ln>
          <a:effectLst/>
        </p:spPr>
        <p:txBody>
          <a:bodyPr wrap="square">
            <a:spAutoFit/>
          </a:bodyPr>
          <a:lstStyle/>
          <a:p>
            <a:pPr>
              <a:spcBef>
                <a:spcPct val="500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为了</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k</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，则</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p>
        </p:txBody>
      </p:sp>
      <p:graphicFrame>
        <p:nvGraphicFramePr>
          <p:cNvPr id="7" name="Object 6">
            <a:extLst>
              <a:ext uri="{FF2B5EF4-FFF2-40B4-BE49-F238E27FC236}">
                <a16:creationId xmlns:a16="http://schemas.microsoft.com/office/drawing/2014/main" id="{8554E5C3-C4E7-497F-B8AE-2E6A6692D75F}"/>
              </a:ext>
            </a:extLst>
          </p:cNvPr>
          <p:cNvGraphicFramePr>
            <a:graphicFrameLocks noChangeAspect="1"/>
          </p:cNvGraphicFramePr>
          <p:nvPr>
            <p:extLst>
              <p:ext uri="{D42A27DB-BD31-4B8C-83A1-F6EECF244321}">
                <p14:modId xmlns:p14="http://schemas.microsoft.com/office/powerpoint/2010/main" val="2690397741"/>
              </p:ext>
            </p:extLst>
          </p:nvPr>
        </p:nvGraphicFramePr>
        <p:xfrm>
          <a:off x="5640700" y="1801425"/>
          <a:ext cx="2286000" cy="485775"/>
        </p:xfrm>
        <a:graphic>
          <a:graphicData uri="http://schemas.openxmlformats.org/presentationml/2006/ole">
            <mc:AlternateContent xmlns:mc="http://schemas.openxmlformats.org/markup-compatibility/2006">
              <mc:Choice xmlns:v="urn:schemas-microsoft-com:vml" Requires="v">
                <p:oleObj name="Equation" r:id="rId12" imgW="2286171" imgH="486377" progId="Equation.DSMT4">
                  <p:embed/>
                </p:oleObj>
              </mc:Choice>
              <mc:Fallback>
                <p:oleObj name="Equation" r:id="rId12" imgW="2286171" imgH="486377" progId="Equation.DSMT4">
                  <p:embed/>
                  <p:pic>
                    <p:nvPicPr>
                      <p:cNvPr id="0" name=""/>
                      <p:cNvPicPr/>
                      <p:nvPr/>
                    </p:nvPicPr>
                    <p:blipFill>
                      <a:blip r:embed="rId13"/>
                      <a:stretch>
                        <a:fillRect/>
                      </a:stretch>
                    </p:blipFill>
                    <p:spPr>
                      <a:xfrm>
                        <a:off x="5640700" y="1801425"/>
                        <a:ext cx="2286000" cy="485775"/>
                      </a:xfrm>
                      <a:prstGeom prst="rect">
                        <a:avLst/>
                      </a:prstGeom>
                      <a:solidFill>
                        <a:schemeClr val="accent4">
                          <a:lumMod val="60000"/>
                          <a:lumOff val="40000"/>
                        </a:schemeClr>
                      </a:solidFill>
                    </p:spPr>
                  </p:pic>
                </p:oleObj>
              </mc:Fallback>
            </mc:AlternateContent>
          </a:graphicData>
        </a:graphic>
      </p:graphicFrame>
      <p:grpSp>
        <p:nvGrpSpPr>
          <p:cNvPr id="8" name="Group 7">
            <a:extLst>
              <a:ext uri="{FF2B5EF4-FFF2-40B4-BE49-F238E27FC236}">
                <a16:creationId xmlns:a16="http://schemas.microsoft.com/office/drawing/2014/main" id="{EFDDF422-8D59-4127-9DD6-AE6C9893D166}"/>
              </a:ext>
            </a:extLst>
          </p:cNvPr>
          <p:cNvGrpSpPr/>
          <p:nvPr/>
        </p:nvGrpSpPr>
        <p:grpSpPr>
          <a:xfrm>
            <a:off x="744721" y="5262338"/>
            <a:ext cx="7458256" cy="896728"/>
            <a:chOff x="128785" y="5824748"/>
            <a:chExt cx="7458256" cy="896728"/>
          </a:xfrm>
        </p:grpSpPr>
        <p:grpSp>
          <p:nvGrpSpPr>
            <p:cNvPr id="5" name="Group 4">
              <a:extLst>
                <a:ext uri="{FF2B5EF4-FFF2-40B4-BE49-F238E27FC236}">
                  <a16:creationId xmlns:a16="http://schemas.microsoft.com/office/drawing/2014/main" id="{7EB34DE7-4814-4A38-B4EF-1C122D750D9C}"/>
                </a:ext>
              </a:extLst>
            </p:cNvPr>
            <p:cNvGrpSpPr/>
            <p:nvPr/>
          </p:nvGrpSpPr>
          <p:grpSpPr>
            <a:xfrm>
              <a:off x="185083" y="5852890"/>
              <a:ext cx="3852000" cy="823913"/>
              <a:chOff x="4954892" y="4873252"/>
              <a:chExt cx="3852000" cy="823913"/>
            </a:xfrm>
          </p:grpSpPr>
          <p:graphicFrame>
            <p:nvGraphicFramePr>
              <p:cNvPr id="25" name="Object 14">
                <a:extLst>
                  <a:ext uri="{FF2B5EF4-FFF2-40B4-BE49-F238E27FC236}">
                    <a16:creationId xmlns:a16="http://schemas.microsoft.com/office/drawing/2014/main" id="{26B772E9-24FC-4B56-9555-FDD41854964B}"/>
                  </a:ext>
                </a:extLst>
              </p:cNvPr>
              <p:cNvGraphicFramePr>
                <a:graphicFrameLocks noChangeAspect="1"/>
              </p:cNvGraphicFramePr>
              <p:nvPr>
                <p:extLst>
                  <p:ext uri="{D42A27DB-BD31-4B8C-83A1-F6EECF244321}">
                    <p14:modId xmlns:p14="http://schemas.microsoft.com/office/powerpoint/2010/main" val="2367055664"/>
                  </p:ext>
                </p:extLst>
              </p:nvPr>
            </p:nvGraphicFramePr>
            <p:xfrm>
              <a:off x="5619096" y="4873252"/>
              <a:ext cx="1447800" cy="823913"/>
            </p:xfrm>
            <a:graphic>
              <a:graphicData uri="http://schemas.openxmlformats.org/presentationml/2006/ole">
                <mc:AlternateContent xmlns:mc="http://schemas.openxmlformats.org/markup-compatibility/2006">
                  <mc:Choice xmlns:v="urn:schemas-microsoft-com:vml" Requires="v">
                    <p:oleObj r:id="rId14" imgW="685800" imgH="393700" progId="Equation.3">
                      <p:embed/>
                    </p:oleObj>
                  </mc:Choice>
                  <mc:Fallback>
                    <p:oleObj r:id="rId14" imgW="685800" imgH="393700" progId="Equation.3">
                      <p:embed/>
                      <p:pic>
                        <p:nvPicPr>
                          <p:cNvPr id="10" name="Object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19096" y="4873252"/>
                            <a:ext cx="144780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 Box 16">
                <a:extLst>
                  <a:ext uri="{FF2B5EF4-FFF2-40B4-BE49-F238E27FC236}">
                    <a16:creationId xmlns:a16="http://schemas.microsoft.com/office/drawing/2014/main" id="{AAA8F091-8BD2-42CF-8927-895A7DB118FC}"/>
                  </a:ext>
                </a:extLst>
              </p:cNvPr>
              <p:cNvSpPr txBox="1">
                <a:spLocks noChangeArrowheads="1"/>
              </p:cNvSpPr>
              <p:nvPr/>
            </p:nvSpPr>
            <p:spPr bwMode="auto">
              <a:xfrm>
                <a:off x="4954892" y="5087335"/>
                <a:ext cx="385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其</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中                  为</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霍尔</a:t>
                </a:r>
                <a:r>
                  <a:rPr lang="zh-CN"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系数</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endParaRPr lang="zh-CN" alt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grpSp>
        <p:graphicFrame>
          <p:nvGraphicFramePr>
            <p:cNvPr id="29" name="Object 12">
              <a:extLst>
                <a:ext uri="{FF2B5EF4-FFF2-40B4-BE49-F238E27FC236}">
                  <a16:creationId xmlns:a16="http://schemas.microsoft.com/office/drawing/2014/main" id="{B5D96D9A-3AFD-49E6-AC92-3B881F8BEBE4}"/>
                </a:ext>
              </a:extLst>
            </p:cNvPr>
            <p:cNvGraphicFramePr>
              <a:graphicFrameLocks noChangeAspect="1"/>
            </p:cNvGraphicFramePr>
            <p:nvPr>
              <p:extLst>
                <p:ext uri="{D42A27DB-BD31-4B8C-83A1-F6EECF244321}">
                  <p14:modId xmlns:p14="http://schemas.microsoft.com/office/powerpoint/2010/main" val="2562686935"/>
                </p:ext>
              </p:extLst>
            </p:nvPr>
          </p:nvGraphicFramePr>
          <p:xfrm>
            <a:off x="4265463" y="5824748"/>
            <a:ext cx="1106487" cy="769937"/>
          </p:xfrm>
          <a:graphic>
            <a:graphicData uri="http://schemas.openxmlformats.org/presentationml/2006/ole">
              <mc:AlternateContent xmlns:mc="http://schemas.openxmlformats.org/markup-compatibility/2006">
                <mc:Choice xmlns:v="urn:schemas-microsoft-com:vml" Requires="v">
                  <p:oleObj name="Equation" r:id="rId16" imgW="723600" imgH="507960" progId="Equation.DSMT4">
                    <p:embed/>
                  </p:oleObj>
                </mc:Choice>
                <mc:Fallback>
                  <p:oleObj name="Equation" r:id="rId16" imgW="723600" imgH="507960" progId="Equation.DSMT4">
                    <p:embed/>
                    <p:pic>
                      <p:nvPicPr>
                        <p:cNvPr id="24" name="Object 12">
                          <a:extLst>
                            <a:ext uri="{FF2B5EF4-FFF2-40B4-BE49-F238E27FC236}">
                              <a16:creationId xmlns:a16="http://schemas.microsoft.com/office/drawing/2014/main" id="{3DFD0CDC-8AB9-4805-9AE7-836331CF875E}"/>
                            </a:ext>
                          </a:extLst>
                        </p:cNvPr>
                        <p:cNvPicPr>
                          <a:picLocks noChangeAspect="1" noChangeArrowheads="1"/>
                        </p:cNvPicPr>
                        <p:nvPr/>
                      </p:nvPicPr>
                      <p:blipFill>
                        <a:blip r:embed="rId17"/>
                        <a:srcRect/>
                        <a:stretch>
                          <a:fillRect/>
                        </a:stretch>
                      </p:blipFill>
                      <p:spPr bwMode="auto">
                        <a:xfrm>
                          <a:off x="4265463" y="5824748"/>
                          <a:ext cx="1106487" cy="769937"/>
                        </a:xfrm>
                        <a:prstGeom prst="rect">
                          <a:avLst/>
                        </a:prstGeom>
                        <a:solidFill>
                          <a:srgbClr val="FFFF00"/>
                        </a:solidFill>
                      </p:spPr>
                    </p:pic>
                  </p:oleObj>
                </mc:Fallback>
              </mc:AlternateContent>
            </a:graphicData>
          </a:graphic>
        </p:graphicFrame>
        <p:sp>
          <p:nvSpPr>
            <p:cNvPr id="30" name="Text Box 7">
              <a:extLst>
                <a:ext uri="{FF2B5EF4-FFF2-40B4-BE49-F238E27FC236}">
                  <a16:creationId xmlns:a16="http://schemas.microsoft.com/office/drawing/2014/main" id="{BC716E6A-1734-4873-9913-827BA12179DB}"/>
                </a:ext>
              </a:extLst>
            </p:cNvPr>
            <p:cNvSpPr txBox="1">
              <a:spLocks noChangeArrowheads="1"/>
            </p:cNvSpPr>
            <p:nvPr/>
          </p:nvSpPr>
          <p:spPr bwMode="auto">
            <a:xfrm>
              <a:off x="5514319" y="6034013"/>
              <a:ext cx="20727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为</a:t>
              </a:r>
              <a:r>
                <a:rPr lang="zh-CN"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灵敏度系数</a:t>
              </a:r>
              <a:endPar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 name="Rectangle: Rounded Corners 30">
              <a:extLst>
                <a:ext uri="{FF2B5EF4-FFF2-40B4-BE49-F238E27FC236}">
                  <a16:creationId xmlns:a16="http://schemas.microsoft.com/office/drawing/2014/main" id="{FD12F7A5-C2A8-434C-A8CA-7924B319F8F1}"/>
                </a:ext>
              </a:extLst>
            </p:cNvPr>
            <p:cNvSpPr/>
            <p:nvPr/>
          </p:nvSpPr>
          <p:spPr>
            <a:xfrm>
              <a:off x="128785" y="5824748"/>
              <a:ext cx="7458256" cy="89672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grpSp>
      <p:sp>
        <p:nvSpPr>
          <p:cNvPr id="26" name="Text Box 4">
            <a:extLst>
              <a:ext uri="{FF2B5EF4-FFF2-40B4-BE49-F238E27FC236}">
                <a16:creationId xmlns:a16="http://schemas.microsoft.com/office/drawing/2014/main" id="{BD9F9E10-45C4-4B32-A782-B4C939160605}"/>
              </a:ext>
            </a:extLst>
          </p:cNvPr>
          <p:cNvSpPr txBox="1">
            <a:spLocks noChangeArrowheads="1"/>
          </p:cNvSpPr>
          <p:nvPr/>
        </p:nvSpPr>
        <p:spPr bwMode="auto">
          <a:xfrm>
            <a:off x="3806560" y="3063813"/>
            <a:ext cx="18805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i="1">
                <a:latin typeface="Times New Roman" panose="02020603050405020304" pitchFamily="18" charset="0"/>
                <a:ea typeface="宋体" panose="02010600030101010101" pitchFamily="2" charset="-122"/>
                <a:cs typeface="Times New Roman" panose="02020603050405020304" pitchFamily="18" charset="0"/>
              </a:rPr>
              <a:t>n</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电子浓度</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140689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B46713-5833-44FA-B6DA-2D11F4567A1D}"/>
              </a:ext>
            </a:extLst>
          </p:cNvPr>
          <p:cNvPicPr>
            <a:picLocks noChangeAspect="1"/>
          </p:cNvPicPr>
          <p:nvPr/>
        </p:nvPicPr>
        <p:blipFill>
          <a:blip r:embed="rId3"/>
          <a:stretch>
            <a:fillRect/>
          </a:stretch>
        </p:blipFill>
        <p:spPr>
          <a:xfrm>
            <a:off x="1928805" y="1147298"/>
            <a:ext cx="3492949" cy="1794031"/>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5.2.1</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霍尔效应和霍尔元件材料</a:t>
            </a:r>
          </a:p>
        </p:txBody>
      </p:sp>
      <p:sp>
        <p:nvSpPr>
          <p:cNvPr id="6" name="矩形 5"/>
          <p:cNvSpPr/>
          <p:nvPr/>
        </p:nvSpPr>
        <p:spPr>
          <a:xfrm>
            <a:off x="185083" y="1321274"/>
            <a:ext cx="1524776" cy="492443"/>
          </a:xfrm>
          <a:prstGeom prst="rect">
            <a:avLst/>
          </a:prstGeom>
        </p:spPr>
        <p:txBody>
          <a:bodyPr wrap="none">
            <a:spAutoFit/>
          </a:bodyPr>
          <a:lstStyle/>
          <a:p>
            <a:r>
              <a:rPr lang="zh-CN" altLang="en-US" sz="2600" b="1">
                <a:solidFill>
                  <a:prstClr val="black"/>
                </a:solidFill>
                <a:latin typeface="宋体" panose="02010600030101010101" pitchFamily="2" charset="-122"/>
                <a:ea typeface="宋体" panose="02010600030101010101" pitchFamily="2" charset="-122"/>
              </a:rPr>
              <a:t>霍尔元件</a:t>
            </a:r>
            <a:endParaRPr lang="zh-CN" altLang="en-US"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D8D7F963-6760-47E4-93AC-DEC7F56E06A0}"/>
              </a:ext>
            </a:extLst>
          </p:cNvPr>
          <p:cNvSpPr>
            <a:spLocks noGrp="1"/>
          </p:cNvSpPr>
          <p:nvPr>
            <p:ph type="sldNum" sz="quarter" idx="12"/>
          </p:nvPr>
        </p:nvSpPr>
        <p:spPr/>
        <p:txBody>
          <a:bodyPr/>
          <a:lstStyle/>
          <a:p>
            <a:fld id="{B53602B4-F12B-41CD-B648-531F86B2CC91}" type="slidenum">
              <a:rPr lang="zh-CN" altLang="en-US" smtClean="0"/>
              <a:t>36</a:t>
            </a:fld>
            <a:endParaRPr lang="zh-CN" altLang="en-US"/>
          </a:p>
        </p:txBody>
      </p:sp>
      <p:graphicFrame>
        <p:nvGraphicFramePr>
          <p:cNvPr id="7" name="Object 6">
            <a:extLst>
              <a:ext uri="{FF2B5EF4-FFF2-40B4-BE49-F238E27FC236}">
                <a16:creationId xmlns:a16="http://schemas.microsoft.com/office/drawing/2014/main" id="{8554E5C3-C4E7-497F-B8AE-2E6A6692D75F}"/>
              </a:ext>
            </a:extLst>
          </p:cNvPr>
          <p:cNvGraphicFramePr>
            <a:graphicFrameLocks noChangeAspect="1"/>
          </p:cNvGraphicFramePr>
          <p:nvPr>
            <p:extLst>
              <p:ext uri="{D42A27DB-BD31-4B8C-83A1-F6EECF244321}">
                <p14:modId xmlns:p14="http://schemas.microsoft.com/office/powerpoint/2010/main" val="3922083020"/>
              </p:ext>
            </p:extLst>
          </p:nvPr>
        </p:nvGraphicFramePr>
        <p:xfrm>
          <a:off x="6236203" y="3293589"/>
          <a:ext cx="2575287" cy="396198"/>
        </p:xfrm>
        <a:graphic>
          <a:graphicData uri="http://schemas.openxmlformats.org/presentationml/2006/ole">
            <mc:AlternateContent xmlns:mc="http://schemas.openxmlformats.org/markup-compatibility/2006">
              <mc:Choice xmlns:v="urn:schemas-microsoft-com:vml" Requires="v">
                <p:oleObj name="Equation" r:id="rId4" imgW="1815840" imgH="279360" progId="Equation.DSMT4">
                  <p:embed/>
                </p:oleObj>
              </mc:Choice>
              <mc:Fallback>
                <p:oleObj name="Equation" r:id="rId4" imgW="1815840" imgH="279360" progId="Equation.DSMT4">
                  <p:embed/>
                  <p:pic>
                    <p:nvPicPr>
                      <p:cNvPr id="7" name="Object 6">
                        <a:extLst>
                          <a:ext uri="{FF2B5EF4-FFF2-40B4-BE49-F238E27FC236}">
                            <a16:creationId xmlns:a16="http://schemas.microsoft.com/office/drawing/2014/main" id="{8554E5C3-C4E7-497F-B8AE-2E6A6692D75F}"/>
                          </a:ext>
                        </a:extLst>
                      </p:cNvPr>
                      <p:cNvPicPr/>
                      <p:nvPr/>
                    </p:nvPicPr>
                    <p:blipFill>
                      <a:blip r:embed="rId5"/>
                      <a:stretch>
                        <a:fillRect/>
                      </a:stretch>
                    </p:blipFill>
                    <p:spPr>
                      <a:xfrm>
                        <a:off x="6236203" y="3293589"/>
                        <a:ext cx="2575287" cy="396198"/>
                      </a:xfrm>
                      <a:prstGeom prst="rect">
                        <a:avLst/>
                      </a:prstGeom>
                      <a:solidFill>
                        <a:schemeClr val="accent4">
                          <a:lumMod val="60000"/>
                          <a:lumOff val="40000"/>
                        </a:schemeClr>
                      </a:solidFill>
                    </p:spPr>
                  </p:pic>
                </p:oleObj>
              </mc:Fallback>
            </mc:AlternateContent>
          </a:graphicData>
        </a:graphic>
      </p:graphicFrame>
      <p:sp>
        <p:nvSpPr>
          <p:cNvPr id="26" name="TextBox 25">
            <a:extLst>
              <a:ext uri="{FF2B5EF4-FFF2-40B4-BE49-F238E27FC236}">
                <a16:creationId xmlns:a16="http://schemas.microsoft.com/office/drawing/2014/main" id="{25267229-ABF0-470E-AB0D-B3676AFBDD8C}"/>
              </a:ext>
            </a:extLst>
          </p:cNvPr>
          <p:cNvSpPr txBox="1"/>
          <p:nvPr/>
        </p:nvSpPr>
        <p:spPr>
          <a:xfrm>
            <a:off x="332510" y="3251974"/>
            <a:ext cx="5922818" cy="492443"/>
          </a:xfrm>
          <a:prstGeom prst="rect">
            <a:avLst/>
          </a:prstGeom>
          <a:noFill/>
        </p:spPr>
        <p:txBody>
          <a:bodyPr wrap="square">
            <a:spAutoFit/>
          </a:bodyPr>
          <a:lstStyle/>
          <a:p>
            <a:pPr marL="457200" indent="-457200">
              <a:buFont typeface="Arial" panose="020B0604020202020204" pitchFamily="34" charset="0"/>
              <a:buChar char="•"/>
            </a:pPr>
            <a:r>
              <a:rPr lang="en-001" sz="2600" b="1">
                <a:solidFill>
                  <a:prstClr val="black"/>
                </a:solidFill>
                <a:latin typeface="宋体" panose="02010600030101010101" pitchFamily="2" charset="-122"/>
                <a:ea typeface="宋体" panose="02010600030101010101" pitchFamily="2" charset="-122"/>
              </a:rPr>
              <a:t>如果磁场与薄片法线有α夹角，</a:t>
            </a:r>
            <a:r>
              <a:rPr lang="zh-CN" altLang="en-US" sz="2600" b="1">
                <a:solidFill>
                  <a:prstClr val="black"/>
                </a:solidFill>
                <a:latin typeface="宋体" panose="02010600030101010101" pitchFamily="2" charset="-122"/>
                <a:ea typeface="宋体" panose="02010600030101010101" pitchFamily="2" charset="-122"/>
              </a:rPr>
              <a:t>则</a:t>
            </a:r>
            <a:endParaRPr lang="en-001" sz="2600" b="1">
              <a:solidFill>
                <a:prstClr val="black"/>
              </a:solidFill>
              <a:latin typeface="宋体" panose="02010600030101010101" pitchFamily="2" charset="-122"/>
              <a:ea typeface="宋体" panose="02010600030101010101" pitchFamily="2" charset="-122"/>
            </a:endParaRPr>
          </a:p>
        </p:txBody>
      </p:sp>
      <p:sp>
        <p:nvSpPr>
          <p:cNvPr id="32" name="TextBox 31">
            <a:extLst>
              <a:ext uri="{FF2B5EF4-FFF2-40B4-BE49-F238E27FC236}">
                <a16:creationId xmlns:a16="http://schemas.microsoft.com/office/drawing/2014/main" id="{2F5E74D8-A101-419E-9F75-72798DC2B158}"/>
              </a:ext>
            </a:extLst>
          </p:cNvPr>
          <p:cNvSpPr txBox="1"/>
          <p:nvPr/>
        </p:nvSpPr>
        <p:spPr>
          <a:xfrm>
            <a:off x="332510" y="4046430"/>
            <a:ext cx="8633690" cy="2354491"/>
          </a:xfrm>
          <a:prstGeom prst="rect">
            <a:avLst/>
          </a:prstGeom>
          <a:noFill/>
        </p:spPr>
        <p:txBody>
          <a:bodyPr wrap="square">
            <a:spAutoFit/>
          </a:bodyPr>
          <a:lstStyle/>
          <a:p>
            <a:pPr marL="457200" indent="-457200">
              <a:spcBef>
                <a:spcPts val="600"/>
              </a:spcBef>
              <a:buFont typeface="Arial" panose="020B0604020202020204" pitchFamily="34" charset="0"/>
              <a:buChar char="•"/>
            </a:pPr>
            <a:r>
              <a:rPr lang="zh-CN" altLang="en-US" sz="2600" b="1">
                <a:solidFill>
                  <a:prstClr val="black"/>
                </a:solidFill>
                <a:latin typeface="宋体" panose="02010600030101010101" pitchFamily="2" charset="-122"/>
                <a:ea typeface="宋体" panose="02010600030101010101" pitchFamily="2" charset="-122"/>
              </a:rPr>
              <a:t>具有霍尔效应的元件称为霍尔元件</a:t>
            </a:r>
            <a:endParaRPr lang="en-US" altLang="zh-CN" sz="2600" b="1">
              <a:solidFill>
                <a:prstClr val="black"/>
              </a:solidFill>
              <a:latin typeface="宋体" panose="02010600030101010101" pitchFamily="2" charset="-122"/>
              <a:ea typeface="宋体" panose="02010600030101010101" pitchFamily="2" charset="-122"/>
            </a:endParaRPr>
          </a:p>
          <a:p>
            <a:pPr marL="457200" indent="-457200">
              <a:spcBef>
                <a:spcPts val="600"/>
              </a:spcBef>
              <a:buFont typeface="Arial" panose="020B0604020202020204" pitchFamily="34" charset="0"/>
              <a:buChar char="•"/>
            </a:pPr>
            <a:r>
              <a:rPr lang="zh-CN" altLang="en-US" sz="2600" b="1">
                <a:solidFill>
                  <a:prstClr val="black"/>
                </a:solidFill>
                <a:latin typeface="宋体" panose="02010600030101010101" pitchFamily="2" charset="-122"/>
                <a:ea typeface="宋体" panose="02010600030101010101" pitchFamily="2" charset="-122"/>
              </a:rPr>
              <a:t>霍尔式传感器由霍尔元件所组成</a:t>
            </a:r>
            <a:endParaRPr lang="en-US" altLang="zh-CN" sz="2600" b="1">
              <a:solidFill>
                <a:prstClr val="black"/>
              </a:solidFill>
              <a:latin typeface="宋体" panose="02010600030101010101" pitchFamily="2" charset="-122"/>
              <a:ea typeface="宋体" panose="02010600030101010101" pitchFamily="2" charset="-122"/>
            </a:endParaRPr>
          </a:p>
          <a:p>
            <a:pPr marL="457200" indent="-457200">
              <a:spcBef>
                <a:spcPts val="600"/>
              </a:spcBef>
              <a:buFont typeface="Arial" panose="020B0604020202020204" pitchFamily="34" charset="0"/>
              <a:buChar char="•"/>
            </a:pPr>
            <a:r>
              <a:rPr lang="zh-CN" altLang="en-US" sz="28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多用</a:t>
            </a:r>
            <a:r>
              <a:rPr lang="en-US" altLang="zh-CN" sz="28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N</a:t>
            </a:r>
            <a:r>
              <a:rPr lang="zh-CN" altLang="en-US" sz="28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型半导体</a:t>
            </a:r>
            <a:endParaRPr lang="en-US" altLang="zh-CN" sz="2800" b="1">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457200" indent="-457200">
              <a:spcBef>
                <a:spcPts val="600"/>
              </a:spcBef>
              <a:buFont typeface="Arial" panose="020B0604020202020204" pitchFamily="34" charset="0"/>
              <a:buChar char="•"/>
            </a:pPr>
            <a:r>
              <a:rPr lang="zh-CN" altLang="en-US" sz="2600" b="1">
                <a:solidFill>
                  <a:prstClr val="black"/>
                </a:solidFill>
                <a:latin typeface="宋体" panose="02010600030101010101" pitchFamily="2" charset="-122"/>
                <a:ea typeface="宋体" panose="02010600030101010101" pitchFamily="2" charset="-122"/>
              </a:rPr>
              <a:t>霍尔元件越薄（即</a:t>
            </a:r>
            <a:r>
              <a:rPr lang="en-US" altLang="zh-CN" sz="2600" b="1">
                <a:solidFill>
                  <a:prstClr val="black"/>
                </a:solidFill>
                <a:latin typeface="宋体" panose="02010600030101010101" pitchFamily="2" charset="-122"/>
                <a:ea typeface="宋体" panose="02010600030101010101" pitchFamily="2" charset="-122"/>
              </a:rPr>
              <a:t>d</a:t>
            </a:r>
            <a:r>
              <a:rPr lang="zh-CN" altLang="en-US" sz="2600" b="1">
                <a:solidFill>
                  <a:prstClr val="black"/>
                </a:solidFill>
                <a:latin typeface="宋体" panose="02010600030101010101" pitchFamily="2" charset="-122"/>
                <a:ea typeface="宋体" panose="02010600030101010101" pitchFamily="2" charset="-122"/>
              </a:rPr>
              <a:t>越小），</a:t>
            </a:r>
            <a:r>
              <a:rPr lang="en-US" altLang="zh-CN" sz="2600" b="1">
                <a:solidFill>
                  <a:prstClr val="black"/>
                </a:solidFill>
                <a:latin typeface="宋体" panose="02010600030101010101" pitchFamily="2" charset="-122"/>
                <a:ea typeface="宋体" panose="02010600030101010101" pitchFamily="2" charset="-122"/>
              </a:rPr>
              <a:t>k</a:t>
            </a:r>
            <a:r>
              <a:rPr lang="en-US" altLang="zh-CN" sz="2600" b="1" baseline="-25000">
                <a:solidFill>
                  <a:prstClr val="black"/>
                </a:solidFill>
                <a:latin typeface="宋体" panose="02010600030101010101" pitchFamily="2" charset="-122"/>
                <a:ea typeface="宋体" panose="02010600030101010101" pitchFamily="2" charset="-122"/>
              </a:rPr>
              <a:t>H</a:t>
            </a:r>
            <a:r>
              <a:rPr lang="zh-CN" altLang="en-US" sz="2600" b="1">
                <a:solidFill>
                  <a:prstClr val="black"/>
                </a:solidFill>
                <a:latin typeface="宋体" panose="02010600030101010101" pitchFamily="2" charset="-122"/>
                <a:ea typeface="宋体" panose="02010600030101010101" pitchFamily="2" charset="-122"/>
              </a:rPr>
              <a:t>就越大，所以霍尔元件都</a:t>
            </a:r>
            <a:r>
              <a:rPr lang="zh-CN" altLang="en-US" sz="2600" b="1">
                <a:solidFill>
                  <a:srgbClr val="C00000"/>
                </a:solidFill>
                <a:latin typeface="宋体" panose="02010600030101010101" pitchFamily="2" charset="-122"/>
                <a:ea typeface="宋体" panose="02010600030101010101" pitchFamily="2" charset="-122"/>
              </a:rPr>
              <a:t>比较薄</a:t>
            </a:r>
            <a:r>
              <a:rPr lang="zh-CN" altLang="en-US" sz="2600" b="1">
                <a:solidFill>
                  <a:prstClr val="black"/>
                </a:solidFill>
                <a:latin typeface="宋体" panose="02010600030101010101" pitchFamily="2" charset="-122"/>
                <a:ea typeface="宋体" panose="02010600030101010101" pitchFamily="2" charset="-122"/>
              </a:rPr>
              <a:t>。薄膜霍尔元件厚度只有</a:t>
            </a:r>
            <a:r>
              <a:rPr lang="en-US" altLang="zh-CN" sz="2600" b="1">
                <a:solidFill>
                  <a:prstClr val="black"/>
                </a:solidFill>
                <a:latin typeface="宋体" panose="02010600030101010101" pitchFamily="2" charset="-122"/>
                <a:ea typeface="宋体" panose="02010600030101010101" pitchFamily="2" charset="-122"/>
              </a:rPr>
              <a:t>1um</a:t>
            </a:r>
            <a:r>
              <a:rPr lang="zh-CN" altLang="en-US" sz="2600" b="1">
                <a:solidFill>
                  <a:prstClr val="black"/>
                </a:solidFill>
                <a:latin typeface="宋体" panose="02010600030101010101" pitchFamily="2" charset="-122"/>
                <a:ea typeface="宋体" panose="02010600030101010101" pitchFamily="2" charset="-122"/>
              </a:rPr>
              <a:t>左右。</a:t>
            </a:r>
            <a:endParaRPr lang="en-001" sz="2600" b="1">
              <a:solidFill>
                <a:prstClr val="black"/>
              </a:solidFill>
              <a:latin typeface="宋体" panose="02010600030101010101" pitchFamily="2" charset="-122"/>
              <a:ea typeface="宋体" panose="02010600030101010101" pitchFamily="2" charset="-122"/>
            </a:endParaRPr>
          </a:p>
        </p:txBody>
      </p:sp>
      <p:graphicFrame>
        <p:nvGraphicFramePr>
          <p:cNvPr id="9" name="Object 8">
            <a:extLst>
              <a:ext uri="{FF2B5EF4-FFF2-40B4-BE49-F238E27FC236}">
                <a16:creationId xmlns:a16="http://schemas.microsoft.com/office/drawing/2014/main" id="{0C30D4AA-5D69-45CC-8B91-B8478B95BD48}"/>
              </a:ext>
            </a:extLst>
          </p:cNvPr>
          <p:cNvGraphicFramePr>
            <a:graphicFrameLocks noChangeAspect="1"/>
          </p:cNvGraphicFramePr>
          <p:nvPr>
            <p:extLst>
              <p:ext uri="{D42A27DB-BD31-4B8C-83A1-F6EECF244321}">
                <p14:modId xmlns:p14="http://schemas.microsoft.com/office/powerpoint/2010/main" val="2782355150"/>
              </p:ext>
            </p:extLst>
          </p:nvPr>
        </p:nvGraphicFramePr>
        <p:xfrm>
          <a:off x="6074650" y="1922007"/>
          <a:ext cx="1106487" cy="769937"/>
        </p:xfrm>
        <a:graphic>
          <a:graphicData uri="http://schemas.openxmlformats.org/presentationml/2006/ole">
            <mc:AlternateContent xmlns:mc="http://schemas.openxmlformats.org/markup-compatibility/2006">
              <mc:Choice xmlns:v="urn:schemas-microsoft-com:vml" Requires="v">
                <p:oleObj name="Equation" r:id="rId6" imgW="1106723" imgH="769708" progId="Equation.DSMT4">
                  <p:embed/>
                </p:oleObj>
              </mc:Choice>
              <mc:Fallback>
                <p:oleObj name="Equation" r:id="rId6" imgW="1106723" imgH="769708" progId="Equation.DSMT4">
                  <p:embed/>
                  <p:pic>
                    <p:nvPicPr>
                      <p:cNvPr id="0" name=""/>
                      <p:cNvPicPr/>
                      <p:nvPr/>
                    </p:nvPicPr>
                    <p:blipFill>
                      <a:blip r:embed="rId7"/>
                      <a:stretch>
                        <a:fillRect/>
                      </a:stretch>
                    </p:blipFill>
                    <p:spPr>
                      <a:xfrm>
                        <a:off x="6074650" y="1922007"/>
                        <a:ext cx="1106487" cy="769937"/>
                      </a:xfrm>
                      <a:prstGeom prst="rect">
                        <a:avLst/>
                      </a:prstGeom>
                    </p:spPr>
                  </p:pic>
                </p:oleObj>
              </mc:Fallback>
            </mc:AlternateContent>
          </a:graphicData>
        </a:graphic>
      </p:graphicFrame>
    </p:spTree>
    <p:extLst>
      <p:ext uri="{BB962C8B-B14F-4D97-AF65-F5344CB8AC3E}">
        <p14:creationId xmlns:p14="http://schemas.microsoft.com/office/powerpoint/2010/main" val="37834112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5.2.1</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霍尔效应和霍尔元件材料</a:t>
            </a:r>
          </a:p>
        </p:txBody>
      </p:sp>
      <p:sp>
        <p:nvSpPr>
          <p:cNvPr id="2" name="Slide Number Placeholder 1">
            <a:extLst>
              <a:ext uri="{FF2B5EF4-FFF2-40B4-BE49-F238E27FC236}">
                <a16:creationId xmlns:a16="http://schemas.microsoft.com/office/drawing/2014/main" id="{D8D7F963-6760-47E4-93AC-DEC7F56E06A0}"/>
              </a:ext>
            </a:extLst>
          </p:cNvPr>
          <p:cNvSpPr>
            <a:spLocks noGrp="1"/>
          </p:cNvSpPr>
          <p:nvPr>
            <p:ph type="sldNum" sz="quarter" idx="12"/>
          </p:nvPr>
        </p:nvSpPr>
        <p:spPr/>
        <p:txBody>
          <a:bodyPr/>
          <a:lstStyle/>
          <a:p>
            <a:fld id="{B53602B4-F12B-41CD-B648-531F86B2CC91}" type="slidenum">
              <a:rPr lang="zh-CN" altLang="en-US" smtClean="0"/>
              <a:t>37</a:t>
            </a:fld>
            <a:endParaRPr lang="zh-CN" altLang="en-US"/>
          </a:p>
        </p:txBody>
      </p:sp>
      <p:pic>
        <p:nvPicPr>
          <p:cNvPr id="9" name="Picture 8">
            <a:extLst>
              <a:ext uri="{FF2B5EF4-FFF2-40B4-BE49-F238E27FC236}">
                <a16:creationId xmlns:a16="http://schemas.microsoft.com/office/drawing/2014/main" id="{928947B1-C2E2-45EE-8C89-3AE1818B2853}"/>
              </a:ext>
            </a:extLst>
          </p:cNvPr>
          <p:cNvPicPr>
            <a:picLocks noChangeAspect="1"/>
          </p:cNvPicPr>
          <p:nvPr/>
        </p:nvPicPr>
        <p:blipFill>
          <a:blip r:embed="rId3"/>
          <a:stretch>
            <a:fillRect/>
          </a:stretch>
        </p:blipFill>
        <p:spPr>
          <a:xfrm>
            <a:off x="499015" y="1274342"/>
            <a:ext cx="3690600" cy="1895548"/>
          </a:xfrm>
          <a:prstGeom prst="rect">
            <a:avLst/>
          </a:prstGeom>
        </p:spPr>
      </p:pic>
      <p:graphicFrame>
        <p:nvGraphicFramePr>
          <p:cNvPr id="3" name="Object 2">
            <a:extLst>
              <a:ext uri="{FF2B5EF4-FFF2-40B4-BE49-F238E27FC236}">
                <a16:creationId xmlns:a16="http://schemas.microsoft.com/office/drawing/2014/main" id="{EEF6D22B-0C5A-406F-87D6-995C18FDFC98}"/>
              </a:ext>
            </a:extLst>
          </p:cNvPr>
          <p:cNvGraphicFramePr>
            <a:graphicFrameLocks noChangeAspect="1"/>
          </p:cNvGraphicFramePr>
          <p:nvPr>
            <p:extLst>
              <p:ext uri="{D42A27DB-BD31-4B8C-83A1-F6EECF244321}">
                <p14:modId xmlns:p14="http://schemas.microsoft.com/office/powerpoint/2010/main" val="2358602846"/>
              </p:ext>
            </p:extLst>
          </p:nvPr>
        </p:nvGraphicFramePr>
        <p:xfrm>
          <a:off x="4954386" y="1736949"/>
          <a:ext cx="2406237" cy="615549"/>
        </p:xfrm>
        <a:graphic>
          <a:graphicData uri="http://schemas.openxmlformats.org/presentationml/2006/ole">
            <mc:AlternateContent xmlns:mc="http://schemas.openxmlformats.org/markup-compatibility/2006">
              <mc:Choice xmlns:v="urn:schemas-microsoft-com:vml" Requires="v">
                <p:oleObj name="Equation" r:id="rId4" imgW="1091880" imgH="279360" progId="Equation.DSMT4">
                  <p:embed/>
                </p:oleObj>
              </mc:Choice>
              <mc:Fallback>
                <p:oleObj name="Equation" r:id="rId4" imgW="1091880" imgH="279360" progId="Equation.DSMT4">
                  <p:embed/>
                  <p:pic>
                    <p:nvPicPr>
                      <p:cNvPr id="0" name=""/>
                      <p:cNvPicPr/>
                      <p:nvPr/>
                    </p:nvPicPr>
                    <p:blipFill>
                      <a:blip r:embed="rId5"/>
                      <a:stretch>
                        <a:fillRect/>
                      </a:stretch>
                    </p:blipFill>
                    <p:spPr>
                      <a:xfrm>
                        <a:off x="4954386" y="1736949"/>
                        <a:ext cx="2406237" cy="615549"/>
                      </a:xfrm>
                      <a:prstGeom prst="rect">
                        <a:avLst/>
                      </a:prstGeom>
                    </p:spPr>
                  </p:pic>
                </p:oleObj>
              </mc:Fallback>
            </mc:AlternateContent>
          </a:graphicData>
        </a:graphic>
      </p:graphicFrame>
      <p:sp>
        <p:nvSpPr>
          <p:cNvPr id="12" name="TextBox 11">
            <a:extLst>
              <a:ext uri="{FF2B5EF4-FFF2-40B4-BE49-F238E27FC236}">
                <a16:creationId xmlns:a16="http://schemas.microsoft.com/office/drawing/2014/main" id="{6C6738C1-511D-44DD-8A08-E4AD9E11C365}"/>
              </a:ext>
            </a:extLst>
          </p:cNvPr>
          <p:cNvSpPr txBox="1"/>
          <p:nvPr/>
        </p:nvSpPr>
        <p:spPr>
          <a:xfrm>
            <a:off x="54202" y="3241269"/>
            <a:ext cx="9057140" cy="3347519"/>
          </a:xfrm>
          <a:prstGeom prst="rect">
            <a:avLst/>
          </a:prstGeom>
          <a:noFill/>
        </p:spPr>
        <p:txBody>
          <a:bodyPr wrap="square">
            <a:spAutoFit/>
          </a:bodyPr>
          <a:lstStyle>
            <a:defPPr>
              <a:defRPr lang="zh-CN"/>
            </a:defPPr>
            <a:lvl1pPr marL="457200" indent="-457200">
              <a:spcBef>
                <a:spcPts val="600"/>
              </a:spcBef>
              <a:buFont typeface="Arial" panose="020B0604020202020204" pitchFamily="34" charset="0"/>
              <a:buChar char="•"/>
              <a:defRPr sz="2600" b="1">
                <a:solidFill>
                  <a:prstClr val="black"/>
                </a:solidFill>
                <a:latin typeface="宋体" panose="02010600030101010101" pitchFamily="2" charset="-122"/>
                <a:ea typeface="宋体" panose="02010600030101010101" pitchFamily="2" charset="-122"/>
              </a:defRPr>
            </a:lvl1pPr>
          </a:lstStyle>
          <a:p>
            <a:pPr marL="288000" indent="-288000">
              <a:lnSpc>
                <a:spcPct val="120000"/>
              </a:lnSpc>
            </a:pPr>
            <a:r>
              <a:rPr lang="en-001" sz="1800"/>
              <a:t>控制电流（或磁场）方向改变时，霍尔电压方向也将改变；</a:t>
            </a:r>
          </a:p>
          <a:p>
            <a:pPr marL="288000" indent="-288000">
              <a:lnSpc>
                <a:spcPct val="120000"/>
              </a:lnSpc>
            </a:pPr>
            <a:r>
              <a:rPr lang="en-001" sz="1800"/>
              <a:t>电流与磁场方向同时改变时，霍尔电压方向不变；</a:t>
            </a:r>
          </a:p>
          <a:p>
            <a:pPr marL="288000" indent="-288000">
              <a:lnSpc>
                <a:spcPct val="120000"/>
              </a:lnSpc>
            </a:pPr>
            <a:r>
              <a:rPr lang="en-001" sz="1800"/>
              <a:t>当载流材料和几何尺寸确定后，霍尔电压U</a:t>
            </a:r>
            <a:r>
              <a:rPr lang="en-001" sz="1800" baseline="-25000"/>
              <a:t>H</a:t>
            </a:r>
            <a:r>
              <a:rPr lang="en-001" sz="1800"/>
              <a:t>的大小正比于控制电流I和磁感应强度B，因此霍尔元件可用来</a:t>
            </a:r>
            <a:r>
              <a:rPr lang="en-001" sz="1800">
                <a:solidFill>
                  <a:srgbClr val="C00000"/>
                </a:solidFill>
              </a:rPr>
              <a:t>测量磁场(I恒定)、检测电流（B恒定）</a:t>
            </a:r>
            <a:r>
              <a:rPr lang="zh-CN" altLang="en-US" sz="1800"/>
              <a:t>、</a:t>
            </a:r>
            <a:r>
              <a:rPr lang="en-001" sz="1800"/>
              <a:t>或制成各种运算器。</a:t>
            </a:r>
          </a:p>
          <a:p>
            <a:pPr marL="288000" indent="-288000">
              <a:lnSpc>
                <a:spcPct val="120000"/>
              </a:lnSpc>
            </a:pPr>
            <a:r>
              <a:rPr lang="en-001" sz="1800"/>
              <a:t>当霍尔元件在一个线性梯度磁场中移动时，输出霍尔电压反映了磁场变化，由此可测</a:t>
            </a:r>
            <a:r>
              <a:rPr lang="en-001" sz="1800">
                <a:solidFill>
                  <a:srgbClr val="C00000"/>
                </a:solidFill>
              </a:rPr>
              <a:t>微小位移、压力、机械振动</a:t>
            </a:r>
            <a:r>
              <a:rPr lang="en-001" sz="1800"/>
              <a:t>等。</a:t>
            </a:r>
          </a:p>
          <a:p>
            <a:pPr marL="288000" indent="-288000">
              <a:lnSpc>
                <a:spcPct val="120000"/>
              </a:lnSpc>
            </a:pPr>
            <a:r>
              <a:rPr lang="en-001" sz="1800"/>
              <a:t>霍尔式传感器转换效率较低，受温度影响大，但结构简单，体积小，坚固，频率响应宽，动态范围（输出电压的变化）大，无触点，使用寿命长，可靠性高，易微型化和集成电路化，因此得到广泛立用。</a:t>
            </a:r>
          </a:p>
        </p:txBody>
      </p:sp>
    </p:spTree>
    <p:extLst>
      <p:ext uri="{BB962C8B-B14F-4D97-AF65-F5344CB8AC3E}">
        <p14:creationId xmlns:p14="http://schemas.microsoft.com/office/powerpoint/2010/main" val="40518406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霍尔元件构造及测量电路</a:t>
            </a:r>
          </a:p>
        </p:txBody>
      </p:sp>
      <p:sp>
        <p:nvSpPr>
          <p:cNvPr id="29" name="Rectangle 15"/>
          <p:cNvSpPr>
            <a:spLocks noRot="1" noChangeArrowheads="1"/>
          </p:cNvSpPr>
          <p:nvPr/>
        </p:nvSpPr>
        <p:spPr bwMode="auto">
          <a:xfrm>
            <a:off x="934568" y="1276191"/>
            <a:ext cx="3637432" cy="1771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Aft>
                <a:spcPts val="600"/>
              </a:spcAft>
            </a:pPr>
            <a:r>
              <a:rPr lang="zh-CN" altLang="en-US" sz="2400" b="1" dirty="0">
                <a:latin typeface="宋体" panose="02010600030101010101" pitchFamily="2" charset="-122"/>
                <a:ea typeface="宋体" panose="02010600030101010101" pitchFamily="2" charset="-122"/>
              </a:rPr>
              <a:t>霍尔元件结构</a:t>
            </a:r>
            <a:r>
              <a:rPr lang="en-US" altLang="zh-CN" sz="2400" b="1" dirty="0">
                <a:latin typeface="宋体" panose="02010600030101010101" pitchFamily="2" charset="-122"/>
                <a:ea typeface="宋体" panose="02010600030101010101" pitchFamily="2" charset="-122"/>
              </a:rPr>
              <a:t>:</a:t>
            </a:r>
          </a:p>
          <a:p>
            <a:pPr marL="342900" indent="-342900">
              <a:spcAft>
                <a:spcPts val="600"/>
              </a:spcAft>
              <a:buClr>
                <a:srgbClr val="954F72"/>
              </a:buClr>
              <a:buFont typeface="Arial" pitchFamily="34" charset="0"/>
              <a:buChar char="•"/>
            </a:pPr>
            <a:r>
              <a:rPr lang="zh-CN" altLang="en-US" sz="2400" b="1" dirty="0">
                <a:latin typeface="宋体" panose="02010600030101010101" pitchFamily="2" charset="-122"/>
                <a:ea typeface="宋体" panose="02010600030101010101" pitchFamily="2" charset="-122"/>
              </a:rPr>
              <a:t>霍尔片</a:t>
            </a:r>
          </a:p>
          <a:p>
            <a:pPr marL="342900" indent="-342900">
              <a:spcAft>
                <a:spcPts val="600"/>
              </a:spcAft>
              <a:buClr>
                <a:srgbClr val="954F72"/>
              </a:buClr>
              <a:buFont typeface="Arial" pitchFamily="34" charset="0"/>
              <a:buChar char="•"/>
            </a:pPr>
            <a:r>
              <a:rPr lang="zh-CN" altLang="en-US" sz="2400" b="1" dirty="0">
                <a:latin typeface="宋体" panose="02010600030101010101" pitchFamily="2" charset="-122"/>
                <a:ea typeface="宋体" panose="02010600030101010101" pitchFamily="2" charset="-122"/>
              </a:rPr>
              <a:t>四极引线</a:t>
            </a:r>
          </a:p>
          <a:p>
            <a:pPr marL="342900" indent="-342900">
              <a:spcAft>
                <a:spcPts val="600"/>
              </a:spcAft>
              <a:buClr>
                <a:srgbClr val="954F72"/>
              </a:buClr>
              <a:buFont typeface="Arial" pitchFamily="34" charset="0"/>
              <a:buChar char="•"/>
            </a:pPr>
            <a:r>
              <a:rPr lang="zh-CN" altLang="en-US" sz="2400" b="1" dirty="0">
                <a:latin typeface="宋体" panose="02010600030101010101" pitchFamily="2" charset="-122"/>
                <a:ea typeface="宋体" panose="02010600030101010101" pitchFamily="2" charset="-122"/>
              </a:rPr>
              <a:t>壳体</a:t>
            </a:r>
          </a:p>
        </p:txBody>
      </p:sp>
      <p:sp>
        <p:nvSpPr>
          <p:cNvPr id="2" name="Slide Number Placeholder 1">
            <a:extLst>
              <a:ext uri="{FF2B5EF4-FFF2-40B4-BE49-F238E27FC236}">
                <a16:creationId xmlns:a16="http://schemas.microsoft.com/office/drawing/2014/main" id="{67F32350-F8E3-4D00-B35E-84DFF30BC78E}"/>
              </a:ext>
            </a:extLst>
          </p:cNvPr>
          <p:cNvSpPr>
            <a:spLocks noGrp="1"/>
          </p:cNvSpPr>
          <p:nvPr>
            <p:ph type="sldNum" sz="quarter" idx="12"/>
          </p:nvPr>
        </p:nvSpPr>
        <p:spPr/>
        <p:txBody>
          <a:bodyPr/>
          <a:lstStyle/>
          <a:p>
            <a:fld id="{B53602B4-F12B-41CD-B648-531F86B2CC91}" type="slidenum">
              <a:rPr lang="zh-CN" altLang="en-US" smtClean="0"/>
              <a:t>38</a:t>
            </a:fld>
            <a:endParaRPr lang="zh-CN" altLang="en-US"/>
          </a:p>
        </p:txBody>
      </p:sp>
      <p:sp>
        <p:nvSpPr>
          <p:cNvPr id="20" name="Text Box 115">
            <a:extLst>
              <a:ext uri="{FF2B5EF4-FFF2-40B4-BE49-F238E27FC236}">
                <a16:creationId xmlns:a16="http://schemas.microsoft.com/office/drawing/2014/main" id="{171F2214-7C0E-418D-968E-E67D42DD32B8}"/>
              </a:ext>
            </a:extLst>
          </p:cNvPr>
          <p:cNvSpPr txBox="1">
            <a:spLocks noChangeArrowheads="1"/>
          </p:cNvSpPr>
          <p:nvPr/>
        </p:nvSpPr>
        <p:spPr bwMode="auto">
          <a:xfrm>
            <a:off x="3733090" y="6106795"/>
            <a:ext cx="2676128"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5-21 </a:t>
            </a:r>
            <a:r>
              <a:rPr kumimoji="0" lang="zh-CN" altLang="en-US" b="1" dirty="0">
                <a:solidFill>
                  <a:srgbClr val="3333CC"/>
                </a:solidFill>
                <a:latin typeface="宋体" panose="02010600030101010101" pitchFamily="2" charset="-122"/>
                <a:ea typeface="宋体" panose="02010600030101010101" pitchFamily="2" charset="-122"/>
              </a:rPr>
              <a:t>霍尔元件</a:t>
            </a:r>
          </a:p>
        </p:txBody>
      </p:sp>
      <p:pic>
        <p:nvPicPr>
          <p:cNvPr id="21" name="Picture 9">
            <a:extLst>
              <a:ext uri="{FF2B5EF4-FFF2-40B4-BE49-F238E27FC236}">
                <a16:creationId xmlns:a16="http://schemas.microsoft.com/office/drawing/2014/main" id="{082C0E19-C02C-4E8C-A5D9-AC6B534A3C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711" y="3349889"/>
            <a:ext cx="6896093" cy="2756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5.2.2</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霍尔元件构造及测量电路</a:t>
            </a:r>
          </a:p>
        </p:txBody>
      </p:sp>
      <p:sp>
        <p:nvSpPr>
          <p:cNvPr id="21" name="Rectangle 9"/>
          <p:cNvSpPr>
            <a:spLocks noRot="1" noChangeArrowheads="1"/>
          </p:cNvSpPr>
          <p:nvPr/>
        </p:nvSpPr>
        <p:spPr bwMode="auto">
          <a:xfrm>
            <a:off x="473775" y="1619580"/>
            <a:ext cx="4544539" cy="45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40000"/>
              </a:lnSpc>
            </a:pPr>
            <a:r>
              <a:rPr lang="zh-CN" altLang="en-US" sz="2400" b="1" dirty="0">
                <a:latin typeface="Times New Roman" pitchFamily="18" charset="0"/>
                <a:ea typeface="宋体" panose="02010600030101010101" pitchFamily="2" charset="-122"/>
                <a:cs typeface="Times New Roman" pitchFamily="18" charset="0"/>
              </a:rPr>
              <a:t>测量</a:t>
            </a:r>
            <a:r>
              <a:rPr lang="zh-CN" altLang="en-US" sz="2400" b="1">
                <a:latin typeface="Times New Roman" pitchFamily="18" charset="0"/>
                <a:ea typeface="宋体" panose="02010600030101010101" pitchFamily="2" charset="-122"/>
                <a:cs typeface="Times New Roman" pitchFamily="18" charset="0"/>
              </a:rPr>
              <a:t>电路</a:t>
            </a:r>
            <a:endParaRPr lang="en-US" altLang="zh-CN" sz="2400" b="1">
              <a:latin typeface="Times New Roman" pitchFamily="18" charset="0"/>
              <a:ea typeface="宋体" panose="02010600030101010101" pitchFamily="2" charset="-122"/>
              <a:cs typeface="Times New Roman" pitchFamily="18" charset="0"/>
            </a:endParaRPr>
          </a:p>
          <a:p>
            <a:pPr marL="342900" indent="-342900">
              <a:lnSpc>
                <a:spcPct val="140000"/>
              </a:lnSpc>
              <a:buFont typeface="Arial" panose="020B0604020202020204" pitchFamily="34" charset="0"/>
              <a:buChar char="•"/>
            </a:pPr>
            <a:r>
              <a:rPr lang="zh-CN" altLang="en-US" sz="2400" b="1">
                <a:latin typeface="Times New Roman" pitchFamily="18" charset="0"/>
                <a:ea typeface="宋体" panose="02010600030101010101" pitchFamily="2" charset="-122"/>
                <a:cs typeface="Times New Roman" pitchFamily="18" charset="0"/>
              </a:rPr>
              <a:t>激</a:t>
            </a:r>
            <a:r>
              <a:rPr lang="zh-CN" altLang="en-US" sz="2400" b="1" dirty="0">
                <a:latin typeface="Times New Roman" pitchFamily="18" charset="0"/>
                <a:ea typeface="宋体" panose="02010600030101010101" pitchFamily="2" charset="-122"/>
                <a:cs typeface="Times New Roman" pitchFamily="18" charset="0"/>
              </a:rPr>
              <a:t>励电流由</a:t>
            </a:r>
            <a:r>
              <a:rPr lang="zh-CN" altLang="en-US" sz="2400" b="1">
                <a:latin typeface="Times New Roman" pitchFamily="18" charset="0"/>
                <a:ea typeface="宋体" panose="02010600030101010101" pitchFamily="2" charset="-122"/>
                <a:cs typeface="Times New Roman" pitchFamily="18" charset="0"/>
              </a:rPr>
              <a:t>电源 </a:t>
            </a:r>
            <a:r>
              <a:rPr lang="en-US" altLang="zh-CN" sz="2400" i="1">
                <a:latin typeface="Times New Roman" pitchFamily="18" charset="0"/>
                <a:ea typeface="宋体" panose="02010600030101010101" pitchFamily="2" charset="-122"/>
                <a:cs typeface="Times New Roman" pitchFamily="18" charset="0"/>
              </a:rPr>
              <a:t>E </a:t>
            </a:r>
            <a:r>
              <a:rPr lang="zh-CN" altLang="en-US" sz="2400" b="1">
                <a:latin typeface="Times New Roman" pitchFamily="18" charset="0"/>
                <a:ea typeface="宋体" panose="02010600030101010101" pitchFamily="2" charset="-122"/>
                <a:cs typeface="Times New Roman" pitchFamily="18" charset="0"/>
              </a:rPr>
              <a:t>供给</a:t>
            </a:r>
            <a:endParaRPr lang="en-US" altLang="zh-CN" sz="2400" b="1">
              <a:latin typeface="Times New Roman" pitchFamily="18" charset="0"/>
              <a:ea typeface="宋体" panose="02010600030101010101" pitchFamily="2" charset="-122"/>
              <a:cs typeface="Times New Roman" pitchFamily="18" charset="0"/>
            </a:endParaRPr>
          </a:p>
          <a:p>
            <a:pPr marL="342900" indent="-342900">
              <a:lnSpc>
                <a:spcPct val="140000"/>
              </a:lnSpc>
              <a:buFont typeface="Arial" panose="020B0604020202020204" pitchFamily="34" charset="0"/>
              <a:buChar char="•"/>
            </a:pPr>
            <a:r>
              <a:rPr lang="zh-CN" altLang="en-US" sz="2400" b="1">
                <a:latin typeface="Times New Roman" pitchFamily="18" charset="0"/>
                <a:ea typeface="宋体" panose="02010600030101010101" pitchFamily="2" charset="-122"/>
                <a:cs typeface="Times New Roman" pitchFamily="18" charset="0"/>
              </a:rPr>
              <a:t>可</a:t>
            </a:r>
            <a:r>
              <a:rPr lang="zh-CN" altLang="en-US" sz="2400" b="1" dirty="0">
                <a:latin typeface="Times New Roman" pitchFamily="18" charset="0"/>
                <a:ea typeface="宋体" panose="02010600030101010101" pitchFamily="2" charset="-122"/>
                <a:cs typeface="Times New Roman" pitchFamily="18" charset="0"/>
              </a:rPr>
              <a:t>变电阻</a:t>
            </a:r>
            <a:r>
              <a:rPr lang="en-US" altLang="zh-CN" sz="2400" i="1" dirty="0">
                <a:latin typeface="Times New Roman" pitchFamily="18" charset="0"/>
                <a:ea typeface="宋体" panose="02010600030101010101" pitchFamily="2" charset="-122"/>
                <a:cs typeface="Times New Roman" pitchFamily="18" charset="0"/>
              </a:rPr>
              <a:t>R</a:t>
            </a:r>
            <a:r>
              <a:rPr lang="en-US" altLang="zh-CN" sz="2400" i="1" baseline="-25000" dirty="0">
                <a:latin typeface="Times New Roman" pitchFamily="18" charset="0"/>
                <a:ea typeface="宋体" panose="02010600030101010101" pitchFamily="2" charset="-122"/>
                <a:cs typeface="Times New Roman" pitchFamily="18" charset="0"/>
              </a:rPr>
              <a:t>P</a:t>
            </a:r>
            <a:r>
              <a:rPr lang="zh-CN" altLang="en-US" sz="2400" b="1" dirty="0">
                <a:latin typeface="Times New Roman" pitchFamily="18" charset="0"/>
                <a:ea typeface="宋体" panose="02010600030101010101" pitchFamily="2" charset="-122"/>
                <a:cs typeface="Times New Roman" pitchFamily="18" charset="0"/>
              </a:rPr>
              <a:t>用来调节激励电</a:t>
            </a:r>
            <a:r>
              <a:rPr lang="zh-CN" altLang="en-US" sz="2400" b="1">
                <a:latin typeface="Times New Roman" pitchFamily="18" charset="0"/>
                <a:ea typeface="宋体" panose="02010600030101010101" pitchFamily="2" charset="-122"/>
                <a:cs typeface="Times New Roman" pitchFamily="18" charset="0"/>
              </a:rPr>
              <a:t>流</a:t>
            </a:r>
            <a:r>
              <a:rPr lang="en-US" altLang="zh-CN" sz="2400" i="1">
                <a:latin typeface="Times New Roman" pitchFamily="18" charset="0"/>
                <a:ea typeface="宋体" panose="02010600030101010101" pitchFamily="2" charset="-122"/>
                <a:cs typeface="Times New Roman" pitchFamily="18" charset="0"/>
              </a:rPr>
              <a:t>I </a:t>
            </a:r>
            <a:r>
              <a:rPr lang="zh-CN" altLang="en-US" sz="2400" b="1">
                <a:latin typeface="Times New Roman" pitchFamily="18" charset="0"/>
                <a:ea typeface="宋体" panose="02010600030101010101" pitchFamily="2" charset="-122"/>
                <a:cs typeface="Times New Roman" pitchFamily="18" charset="0"/>
              </a:rPr>
              <a:t>的大小</a:t>
            </a:r>
            <a:endParaRPr lang="en-US" altLang="zh-CN" sz="2400" b="1">
              <a:latin typeface="Times New Roman" pitchFamily="18" charset="0"/>
              <a:ea typeface="宋体" panose="02010600030101010101" pitchFamily="2" charset="-122"/>
              <a:cs typeface="Times New Roman" pitchFamily="18" charset="0"/>
            </a:endParaRPr>
          </a:p>
          <a:p>
            <a:pPr marL="342900" indent="-342900">
              <a:lnSpc>
                <a:spcPct val="140000"/>
              </a:lnSpc>
              <a:buFont typeface="Arial" panose="020B0604020202020204" pitchFamily="34" charset="0"/>
              <a:buChar char="•"/>
            </a:pPr>
            <a:r>
              <a:rPr lang="en-US" altLang="zh-CN" sz="2400" i="1">
                <a:latin typeface="Times New Roman" pitchFamily="18" charset="0"/>
                <a:ea typeface="宋体" panose="02010600030101010101" pitchFamily="2" charset="-122"/>
                <a:cs typeface="Times New Roman" pitchFamily="18" charset="0"/>
              </a:rPr>
              <a:t>R</a:t>
            </a:r>
            <a:r>
              <a:rPr lang="en-US" altLang="zh-CN" sz="2400" i="1" baseline="-25000">
                <a:latin typeface="Times New Roman" pitchFamily="18" charset="0"/>
                <a:ea typeface="宋体" panose="02010600030101010101" pitchFamily="2" charset="-122"/>
                <a:cs typeface="Times New Roman" pitchFamily="18" charset="0"/>
              </a:rPr>
              <a:t>L</a:t>
            </a:r>
            <a:r>
              <a:rPr lang="zh-CN" altLang="en-US" sz="2400" b="1" dirty="0">
                <a:latin typeface="Times New Roman" pitchFamily="18" charset="0"/>
                <a:ea typeface="宋体" panose="02010600030101010101" pitchFamily="2" charset="-122"/>
                <a:cs typeface="Times New Roman" pitchFamily="18" charset="0"/>
              </a:rPr>
              <a:t>为输出霍尔电势</a:t>
            </a:r>
            <a:r>
              <a:rPr lang="en-US" altLang="zh-CN" sz="2400" i="1" dirty="0">
                <a:latin typeface="Times New Roman" pitchFamily="18" charset="0"/>
                <a:ea typeface="宋体" panose="02010600030101010101" pitchFamily="2" charset="-122"/>
                <a:cs typeface="Times New Roman" pitchFamily="18" charset="0"/>
              </a:rPr>
              <a:t>U</a:t>
            </a:r>
            <a:r>
              <a:rPr lang="en-US" altLang="zh-CN" sz="2400" baseline="-25000" dirty="0">
                <a:latin typeface="Times New Roman" pitchFamily="18" charset="0"/>
                <a:ea typeface="宋体" panose="02010600030101010101" pitchFamily="2" charset="-122"/>
                <a:cs typeface="Times New Roman" pitchFamily="18" charset="0"/>
              </a:rPr>
              <a:t>H</a:t>
            </a:r>
            <a:r>
              <a:rPr lang="zh-CN" altLang="en-US" sz="2400" b="1" dirty="0">
                <a:latin typeface="Times New Roman" pitchFamily="18" charset="0"/>
                <a:ea typeface="宋体" panose="02010600030101010101" pitchFamily="2" charset="-122"/>
                <a:cs typeface="Times New Roman" pitchFamily="18" charset="0"/>
              </a:rPr>
              <a:t>的负载</a:t>
            </a:r>
            <a:r>
              <a:rPr lang="zh-CN" altLang="en-US" sz="2400" b="1">
                <a:latin typeface="Times New Roman" pitchFamily="18" charset="0"/>
                <a:ea typeface="宋体" panose="02010600030101010101" pitchFamily="2" charset="-122"/>
                <a:cs typeface="Times New Roman" pitchFamily="18" charset="0"/>
              </a:rPr>
              <a:t>电阻（显</a:t>
            </a:r>
            <a:r>
              <a:rPr lang="zh-CN" altLang="en-US" sz="2400" b="1" dirty="0">
                <a:latin typeface="Times New Roman" pitchFamily="18" charset="0"/>
                <a:ea typeface="宋体" panose="02010600030101010101" pitchFamily="2" charset="-122"/>
                <a:cs typeface="Times New Roman" pitchFamily="18" charset="0"/>
              </a:rPr>
              <a:t>示仪表、记录</a:t>
            </a:r>
            <a:r>
              <a:rPr lang="zh-CN" altLang="en-US" sz="2400" b="1">
                <a:latin typeface="Times New Roman" pitchFamily="18" charset="0"/>
                <a:ea typeface="宋体" panose="02010600030101010101" pitchFamily="2" charset="-122"/>
                <a:cs typeface="Times New Roman" pitchFamily="18" charset="0"/>
              </a:rPr>
              <a:t>装置 或</a:t>
            </a:r>
            <a:r>
              <a:rPr lang="zh-CN" altLang="en-US" sz="2400" b="1" dirty="0">
                <a:latin typeface="Times New Roman" pitchFamily="18" charset="0"/>
                <a:ea typeface="宋体" panose="02010600030101010101" pitchFamily="2" charset="-122"/>
                <a:cs typeface="Times New Roman" pitchFamily="18" charset="0"/>
              </a:rPr>
              <a:t>放大器的输入</a:t>
            </a:r>
            <a:r>
              <a:rPr lang="zh-CN" altLang="en-US" sz="2400" b="1">
                <a:latin typeface="Times New Roman" pitchFamily="18" charset="0"/>
                <a:ea typeface="宋体" panose="02010600030101010101" pitchFamily="2" charset="-122"/>
                <a:cs typeface="Times New Roman" pitchFamily="18" charset="0"/>
              </a:rPr>
              <a:t>阻抗）</a:t>
            </a:r>
            <a:endParaRPr lang="zh-CN" altLang="en-US" sz="2400" b="1" dirty="0">
              <a:latin typeface="Times New Roman" pitchFamily="18" charset="0"/>
              <a:ea typeface="宋体" panose="02010600030101010101" pitchFamily="2" charset="-122"/>
              <a:cs typeface="Times New Roman" pitchFamily="18" charset="0"/>
            </a:endParaRPr>
          </a:p>
        </p:txBody>
      </p:sp>
      <p:sp>
        <p:nvSpPr>
          <p:cNvPr id="2" name="Slide Number Placeholder 1">
            <a:extLst>
              <a:ext uri="{FF2B5EF4-FFF2-40B4-BE49-F238E27FC236}">
                <a16:creationId xmlns:a16="http://schemas.microsoft.com/office/drawing/2014/main" id="{565B8AF6-7488-4AC7-BB98-8CA018182942}"/>
              </a:ext>
            </a:extLst>
          </p:cNvPr>
          <p:cNvSpPr>
            <a:spLocks noGrp="1"/>
          </p:cNvSpPr>
          <p:nvPr>
            <p:ph type="sldNum" sz="quarter" idx="12"/>
          </p:nvPr>
        </p:nvSpPr>
        <p:spPr/>
        <p:txBody>
          <a:bodyPr/>
          <a:lstStyle/>
          <a:p>
            <a:fld id="{B53602B4-F12B-41CD-B648-531F86B2CC91}" type="slidenum">
              <a:rPr lang="zh-CN" altLang="en-US" smtClean="0"/>
              <a:t>39</a:t>
            </a:fld>
            <a:endParaRPr lang="zh-CN" altLang="en-US"/>
          </a:p>
        </p:txBody>
      </p:sp>
      <p:sp>
        <p:nvSpPr>
          <p:cNvPr id="24" name="Text Box 117">
            <a:extLst>
              <a:ext uri="{FF2B5EF4-FFF2-40B4-BE49-F238E27FC236}">
                <a16:creationId xmlns:a16="http://schemas.microsoft.com/office/drawing/2014/main" id="{A7CA749F-6A9A-46D6-AA66-878747C19BE8}"/>
              </a:ext>
            </a:extLst>
          </p:cNvPr>
          <p:cNvSpPr txBox="1">
            <a:spLocks noChangeArrowheads="1"/>
          </p:cNvSpPr>
          <p:nvPr/>
        </p:nvSpPr>
        <p:spPr bwMode="auto">
          <a:xfrm>
            <a:off x="5462385" y="4815038"/>
            <a:ext cx="2992582"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5-22 </a:t>
            </a:r>
            <a:r>
              <a:rPr kumimoji="0" lang="zh-CN" altLang="en-US" b="1" dirty="0">
                <a:solidFill>
                  <a:srgbClr val="3333CC"/>
                </a:solidFill>
                <a:latin typeface="宋体" panose="02010600030101010101" pitchFamily="2" charset="-122"/>
                <a:ea typeface="宋体" panose="02010600030101010101" pitchFamily="2" charset="-122"/>
              </a:rPr>
              <a:t>霍尔元件的基本测量电路</a:t>
            </a:r>
          </a:p>
        </p:txBody>
      </p:sp>
      <p:pic>
        <p:nvPicPr>
          <p:cNvPr id="25" name="Picture 9">
            <a:extLst>
              <a:ext uri="{FF2B5EF4-FFF2-40B4-BE49-F238E27FC236}">
                <a16:creationId xmlns:a16="http://schemas.microsoft.com/office/drawing/2014/main" id="{99A066A4-D275-4D15-B84F-95C14537F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2366" y="1701786"/>
            <a:ext cx="3567859" cy="2745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71710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5.2.3</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霍尔元件的主要技术指标</a:t>
            </a:r>
          </a:p>
        </p:txBody>
      </p:sp>
      <p:sp>
        <p:nvSpPr>
          <p:cNvPr id="28" name="Rectangle 16"/>
          <p:cNvSpPr>
            <a:spLocks noRot="1" noChangeArrowheads="1"/>
          </p:cNvSpPr>
          <p:nvPr/>
        </p:nvSpPr>
        <p:spPr bwMode="auto">
          <a:xfrm>
            <a:off x="1438459" y="1955218"/>
            <a:ext cx="6577855" cy="4193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536575" algn="just">
              <a:lnSpc>
                <a:spcPct val="150000"/>
              </a:lnSpc>
              <a:buClr>
                <a:schemeClr val="bg1"/>
              </a:buClr>
              <a:buFont typeface="Wingdings" pitchFamily="2" charset="2"/>
              <a:buNone/>
            </a:pPr>
            <a:r>
              <a:rPr lang="zh-CN" altLang="en-US" sz="2200" b="1" dirty="0">
                <a:latin typeface="宋体" panose="02010600030101010101" pitchFamily="2" charset="-122"/>
                <a:ea typeface="宋体" panose="02010600030101010101" pitchFamily="2" charset="-122"/>
              </a:rPr>
              <a:t>使霍尔元件温升</a:t>
            </a:r>
            <a:r>
              <a:rPr lang="en-US" altLang="zh-CN" sz="2200" b="1" dirty="0">
                <a:latin typeface="宋体" panose="02010600030101010101" pitchFamily="2" charset="-122"/>
                <a:ea typeface="宋体" panose="02010600030101010101" pitchFamily="2" charset="-122"/>
              </a:rPr>
              <a:t>10℃</a:t>
            </a:r>
            <a:r>
              <a:rPr lang="zh-CN" altLang="en-US" sz="2200" b="1" dirty="0">
                <a:latin typeface="宋体" panose="02010600030101010101" pitchFamily="2" charset="-122"/>
                <a:ea typeface="宋体" panose="02010600030101010101" pitchFamily="2" charset="-122"/>
              </a:rPr>
              <a:t>所施加的控制电流值称为额定激励电流。通常用</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H</a:t>
            </a:r>
            <a:r>
              <a:rPr lang="zh-CN" altLang="en-US" sz="2200" b="1" dirty="0">
                <a:latin typeface="宋体" panose="02010600030101010101" pitchFamily="2" charset="-122"/>
                <a:ea typeface="宋体" panose="02010600030101010101" pitchFamily="2" charset="-122"/>
              </a:rPr>
              <a:t>表示。</a:t>
            </a:r>
          </a:p>
          <a:p>
            <a:pPr indent="536575" algn="just">
              <a:lnSpc>
                <a:spcPct val="120000"/>
              </a:lnSpc>
              <a:buClr>
                <a:schemeClr val="bg1"/>
              </a:buClr>
              <a:buFont typeface="Wingdings" pitchFamily="2" charset="2"/>
              <a:buNone/>
            </a:pPr>
            <a:r>
              <a:rPr lang="zh-CN" altLang="en-US" sz="2200" b="1" dirty="0">
                <a:latin typeface="宋体" panose="02010600030101010101" pitchFamily="2" charset="-122"/>
                <a:ea typeface="宋体" panose="02010600030101010101" pitchFamily="2" charset="-122"/>
              </a:rPr>
              <a:t>焦耳热：</a:t>
            </a:r>
          </a:p>
          <a:p>
            <a:pPr algn="just">
              <a:lnSpc>
                <a:spcPct val="120000"/>
              </a:lnSpc>
              <a:buClr>
                <a:schemeClr val="bg1"/>
              </a:buClr>
              <a:buFont typeface="Wingdings" pitchFamily="2" charset="2"/>
              <a:buNone/>
            </a:pPr>
            <a:r>
              <a:rPr lang="zh-CN" altLang="en-US" sz="2200" b="1" dirty="0">
                <a:latin typeface="宋体" panose="02010600030101010101" pitchFamily="2" charset="-122"/>
                <a:ea typeface="宋体" panose="02010600030101010101" pitchFamily="2" charset="-122"/>
              </a:rPr>
              <a:t>         </a:t>
            </a:r>
          </a:p>
        </p:txBody>
      </p:sp>
      <p:graphicFrame>
        <p:nvGraphicFramePr>
          <p:cNvPr id="29" name="Object 30"/>
          <p:cNvGraphicFramePr>
            <a:graphicFrameLocks noChangeAspect="1"/>
          </p:cNvGraphicFramePr>
          <p:nvPr>
            <p:extLst>
              <p:ext uri="{D42A27DB-BD31-4B8C-83A1-F6EECF244321}">
                <p14:modId xmlns:p14="http://schemas.microsoft.com/office/powerpoint/2010/main" val="1797443852"/>
              </p:ext>
            </p:extLst>
          </p:nvPr>
        </p:nvGraphicFramePr>
        <p:xfrm>
          <a:off x="3182168" y="2900046"/>
          <a:ext cx="2620963" cy="785813"/>
        </p:xfrm>
        <a:graphic>
          <a:graphicData uri="http://schemas.openxmlformats.org/presentationml/2006/ole">
            <mc:AlternateContent xmlns:mc="http://schemas.openxmlformats.org/markup-compatibility/2006">
              <mc:Choice xmlns:v="urn:schemas-microsoft-com:vml" Requires="v">
                <p:oleObj name="Equation" r:id="rId3" imgW="1247778" imgH="333285" progId="Equation.DSMT4">
                  <p:embed/>
                </p:oleObj>
              </mc:Choice>
              <mc:Fallback>
                <p:oleObj name="Equation" r:id="rId3" imgW="1247778" imgH="33328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2168" y="2900046"/>
                        <a:ext cx="2620963"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32"/>
          <p:cNvGraphicFramePr>
            <a:graphicFrameLocks noChangeAspect="1"/>
          </p:cNvGraphicFramePr>
          <p:nvPr>
            <p:extLst>
              <p:ext uri="{D42A27DB-BD31-4B8C-83A1-F6EECF244321}">
                <p14:modId xmlns:p14="http://schemas.microsoft.com/office/powerpoint/2010/main" val="3295448943"/>
              </p:ext>
            </p:extLst>
          </p:nvPr>
        </p:nvGraphicFramePr>
        <p:xfrm>
          <a:off x="3175366" y="3974431"/>
          <a:ext cx="2189536" cy="523748"/>
        </p:xfrm>
        <a:graphic>
          <a:graphicData uri="http://schemas.openxmlformats.org/presentationml/2006/ole">
            <mc:AlternateContent xmlns:mc="http://schemas.openxmlformats.org/markup-compatibility/2006">
              <mc:Choice xmlns:v="urn:schemas-microsoft-com:vml" Requires="v">
                <p:oleObj name="Equation" r:id="rId5" imgW="965200" imgH="228600" progId="Equation.DSMT4">
                  <p:embed/>
                </p:oleObj>
              </mc:Choice>
              <mc:Fallback>
                <p:oleObj name="Equation" r:id="rId5" imgW="965200" imgH="228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5366" y="3974431"/>
                        <a:ext cx="2189536" cy="523748"/>
                      </a:xfrm>
                      <a:prstGeom prst="rect">
                        <a:avLst/>
                      </a:prstGeom>
                      <a:noFill/>
                      <a:ln>
                        <a:noFill/>
                      </a:ln>
                    </p:spPr>
                  </p:pic>
                </p:oleObj>
              </mc:Fallback>
            </mc:AlternateContent>
          </a:graphicData>
        </a:graphic>
      </p:graphicFrame>
      <p:graphicFrame>
        <p:nvGraphicFramePr>
          <p:cNvPr id="31" name="Object 34"/>
          <p:cNvGraphicFramePr>
            <a:graphicFrameLocks noChangeAspect="1"/>
          </p:cNvGraphicFramePr>
          <p:nvPr>
            <p:extLst>
              <p:ext uri="{D42A27DB-BD31-4B8C-83A1-F6EECF244321}">
                <p14:modId xmlns:p14="http://schemas.microsoft.com/office/powerpoint/2010/main" val="3940079332"/>
              </p:ext>
            </p:extLst>
          </p:nvPr>
        </p:nvGraphicFramePr>
        <p:xfrm>
          <a:off x="2046317" y="4678631"/>
          <a:ext cx="4270375" cy="600075"/>
        </p:xfrm>
        <a:graphic>
          <a:graphicData uri="http://schemas.openxmlformats.org/presentationml/2006/ole">
            <mc:AlternateContent xmlns:mc="http://schemas.openxmlformats.org/markup-compatibility/2006">
              <mc:Choice xmlns:v="urn:schemas-microsoft-com:vml" Requires="v">
                <p:oleObj name="Equation" r:id="rId7" imgW="1771554" imgH="200025" progId="Equation.DSMT4">
                  <p:embed/>
                </p:oleObj>
              </mc:Choice>
              <mc:Fallback>
                <p:oleObj name="Equation" r:id="rId7" imgW="1771554" imgH="200025"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46317" y="4678631"/>
                        <a:ext cx="42703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1571711" y="1209631"/>
            <a:ext cx="2141933" cy="600164"/>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lvl="0" algn="just">
              <a:lnSpc>
                <a:spcPct val="150000"/>
              </a:lnSpc>
              <a:buClr>
                <a:prstClr val="white"/>
              </a:buClr>
            </a:pPr>
            <a:r>
              <a:rPr lang="zh-CN" altLang="en-US" sz="2200" b="1" dirty="0">
                <a:solidFill>
                  <a:prstClr val="black"/>
                </a:solidFill>
                <a:latin typeface="宋体" panose="02010600030101010101" pitchFamily="2" charset="-122"/>
                <a:ea typeface="宋体" panose="02010600030101010101" pitchFamily="2" charset="-122"/>
              </a:rPr>
              <a:t>额定激励电流</a:t>
            </a:r>
            <a:r>
              <a:rPr lang="en-US" altLang="zh-CN" sz="2200" b="1" i="1" dirty="0">
                <a:solidFill>
                  <a:prstClr val="black"/>
                </a:solidFill>
                <a:latin typeface="宋体" panose="02010600030101010101" pitchFamily="2" charset="-122"/>
                <a:ea typeface="宋体" panose="02010600030101010101" pitchFamily="2" charset="-122"/>
              </a:rPr>
              <a:t>I</a:t>
            </a:r>
            <a:r>
              <a:rPr lang="en-US" altLang="zh-CN" sz="2200" b="1" baseline="-25000" dirty="0">
                <a:solidFill>
                  <a:prstClr val="black"/>
                </a:solidFill>
                <a:latin typeface="宋体" panose="02010600030101010101" pitchFamily="2" charset="-122"/>
                <a:ea typeface="宋体" panose="02010600030101010101" pitchFamily="2" charset="-122"/>
              </a:rPr>
              <a:t>H</a:t>
            </a:r>
          </a:p>
        </p:txBody>
      </p:sp>
      <p:sp>
        <p:nvSpPr>
          <p:cNvPr id="7" name="矩形 6"/>
          <p:cNvSpPr/>
          <p:nvPr/>
        </p:nvSpPr>
        <p:spPr>
          <a:xfrm>
            <a:off x="1960199" y="3475833"/>
            <a:ext cx="5019045" cy="498598"/>
          </a:xfrm>
          <a:prstGeom prst="rect">
            <a:avLst/>
          </a:prstGeom>
        </p:spPr>
        <p:txBody>
          <a:bodyPr wrap="square">
            <a:spAutoFit/>
          </a:bodyPr>
          <a:lstStyle/>
          <a:p>
            <a:pPr lvl="0" algn="just">
              <a:lnSpc>
                <a:spcPct val="120000"/>
              </a:lnSpc>
              <a:buClr>
                <a:prstClr val="white"/>
              </a:buClr>
            </a:pPr>
            <a:r>
              <a:rPr lang="zh-CN" altLang="en-US" sz="2200" b="1" dirty="0">
                <a:solidFill>
                  <a:prstClr val="black"/>
                </a:solidFill>
                <a:latin typeface="宋体" panose="02010600030101010101" pitchFamily="2" charset="-122"/>
                <a:ea typeface="宋体" panose="02010600030101010101" pitchFamily="2" charset="-122"/>
              </a:rPr>
              <a:t>散热由上、下面承担：</a:t>
            </a:r>
          </a:p>
        </p:txBody>
      </p:sp>
      <p:sp>
        <p:nvSpPr>
          <p:cNvPr id="8" name="矩形 7"/>
          <p:cNvSpPr/>
          <p:nvPr/>
        </p:nvSpPr>
        <p:spPr>
          <a:xfrm>
            <a:off x="1438459" y="5386400"/>
            <a:ext cx="6577855" cy="498598"/>
          </a:xfrm>
          <a:prstGeom prst="rect">
            <a:avLst/>
          </a:prstGeom>
        </p:spPr>
        <p:txBody>
          <a:bodyPr wrap="square">
            <a:spAutoFit/>
          </a:bodyPr>
          <a:lstStyle/>
          <a:p>
            <a:pPr lvl="0" algn="just">
              <a:lnSpc>
                <a:spcPct val="120000"/>
              </a:lnSpc>
              <a:buClr>
                <a:prstClr val="white"/>
              </a:buClr>
            </a:pPr>
            <a:r>
              <a:rPr lang="zh-CN" altLang="en-US" sz="2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2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Δ</a:t>
            </a:r>
            <a:r>
              <a:rPr lang="en-US" altLang="zh-CN" sz="22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限定温升，</a:t>
            </a:r>
            <a:r>
              <a:rPr lang="en-US" altLang="zh-CN" sz="22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：散热系数（</a:t>
            </a:r>
            <a:r>
              <a:rPr lang="en-US" altLang="zh-CN" sz="2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W/cm</a:t>
            </a:r>
            <a:r>
              <a:rPr lang="en-US" altLang="zh-CN" sz="2200" b="1" baseline="30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 </a:t>
            </a:r>
            <a:r>
              <a:rPr lang="en-US" altLang="zh-CN" sz="2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2" name="Slide Number Placeholder 1">
            <a:extLst>
              <a:ext uri="{FF2B5EF4-FFF2-40B4-BE49-F238E27FC236}">
                <a16:creationId xmlns:a16="http://schemas.microsoft.com/office/drawing/2014/main" id="{82BF8830-3EF7-47AE-A7FF-492776C18CB3}"/>
              </a:ext>
            </a:extLst>
          </p:cNvPr>
          <p:cNvSpPr>
            <a:spLocks noGrp="1"/>
          </p:cNvSpPr>
          <p:nvPr>
            <p:ph type="sldNum" sz="quarter" idx="12"/>
          </p:nvPr>
        </p:nvSpPr>
        <p:spPr/>
        <p:txBody>
          <a:bodyPr/>
          <a:lstStyle/>
          <a:p>
            <a:fld id="{B53602B4-F12B-41CD-B648-531F86B2CC91}" type="slidenum">
              <a:rPr lang="zh-CN" altLang="en-US" smtClean="0"/>
              <a:t>40</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5.2.3</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霍尔元件的主要技术指标</a:t>
            </a:r>
          </a:p>
        </p:txBody>
      </p:sp>
      <p:sp>
        <p:nvSpPr>
          <p:cNvPr id="19" name="Rectangle 5"/>
          <p:cNvSpPr>
            <a:spLocks noRot="1" noChangeArrowheads="1"/>
          </p:cNvSpPr>
          <p:nvPr/>
        </p:nvSpPr>
        <p:spPr bwMode="auto">
          <a:xfrm>
            <a:off x="1653360" y="4608705"/>
            <a:ext cx="4484955" cy="125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11200" indent="-711200" algn="just">
              <a:lnSpc>
                <a:spcPct val="150000"/>
              </a:lnSpc>
              <a:buClr>
                <a:schemeClr val="bg1"/>
              </a:buClr>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它是指霍尔电极间的电阻值。</a:t>
            </a:r>
          </a:p>
          <a:p>
            <a:pPr marL="711200" indent="-711200" algn="just">
              <a:lnSpc>
                <a:spcPct val="150000"/>
              </a:lnSpc>
              <a:buClr>
                <a:schemeClr val="bg1"/>
              </a:buClr>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(20±5)℃</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的条件下测取。</a:t>
            </a:r>
          </a:p>
        </p:txBody>
      </p:sp>
      <p:sp>
        <p:nvSpPr>
          <p:cNvPr id="2" name="矩形 1"/>
          <p:cNvSpPr/>
          <p:nvPr/>
        </p:nvSpPr>
        <p:spPr>
          <a:xfrm>
            <a:off x="1664377" y="2250326"/>
            <a:ext cx="5294299" cy="1200329"/>
          </a:xfrm>
          <a:prstGeom prst="rect">
            <a:avLst/>
          </a:prstGeom>
        </p:spPr>
        <p:txBody>
          <a:bodyPr wrap="square">
            <a:spAutoFit/>
          </a:bodyPr>
          <a:lstStyle/>
          <a:p>
            <a:pPr marL="711200" lvl="0" indent="-711200" algn="just">
              <a:lnSpc>
                <a:spcPct val="150000"/>
              </a:lnSpc>
              <a:buClr>
                <a:prstClr val="white"/>
              </a:buClr>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它是指控制电流极间的电阻值。</a:t>
            </a:r>
          </a:p>
          <a:p>
            <a:pPr marL="711200" lvl="0" indent="-711200" algn="just">
              <a:lnSpc>
                <a:spcPct val="150000"/>
              </a:lnSpc>
              <a:buClr>
                <a:prstClr val="white"/>
              </a:buClr>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在室温</a:t>
            </a:r>
            <a:r>
              <a:rPr lang="en-US" altLang="zh-CN"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(20±5)℃</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的环境温度中测取。 </a:t>
            </a:r>
          </a:p>
        </p:txBody>
      </p:sp>
      <p:sp>
        <p:nvSpPr>
          <p:cNvPr id="3" name="矩形 2"/>
          <p:cNvSpPr/>
          <p:nvPr/>
        </p:nvSpPr>
        <p:spPr>
          <a:xfrm>
            <a:off x="1664377" y="1567062"/>
            <a:ext cx="1707111" cy="68326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lvl="0">
              <a:lnSpc>
                <a:spcPct val="160000"/>
              </a:lnSpc>
              <a:buClr>
                <a:prstClr val="white"/>
              </a:buClr>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输入电阻</a:t>
            </a:r>
            <a:r>
              <a:rPr lang="en-US" altLang="zh-CN" sz="2400" b="1" i="1"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i="1" baseline="-25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 name="矩形 3"/>
          <p:cNvSpPr/>
          <p:nvPr/>
        </p:nvSpPr>
        <p:spPr>
          <a:xfrm>
            <a:off x="1664377" y="3771735"/>
            <a:ext cx="1707111" cy="683264"/>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lvl="0">
              <a:lnSpc>
                <a:spcPct val="160000"/>
              </a:lnSpc>
              <a:buClr>
                <a:prstClr val="white"/>
              </a:buClr>
            </a:pP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输出电阻</a:t>
            </a:r>
            <a:r>
              <a:rPr lang="en-US" altLang="zh-CN" sz="2400" b="1" i="1"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1" baseline="-25000" dirty="0" err="1">
                <a:solidFill>
                  <a:prstClr val="black"/>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400" b="1"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5" name="Slide Number Placeholder 4">
            <a:extLst>
              <a:ext uri="{FF2B5EF4-FFF2-40B4-BE49-F238E27FC236}">
                <a16:creationId xmlns:a16="http://schemas.microsoft.com/office/drawing/2014/main" id="{9C2B426D-9132-4C52-AF58-99FA8B074768}"/>
              </a:ext>
            </a:extLst>
          </p:cNvPr>
          <p:cNvSpPr>
            <a:spLocks noGrp="1"/>
          </p:cNvSpPr>
          <p:nvPr>
            <p:ph type="sldNum" sz="quarter" idx="12"/>
          </p:nvPr>
        </p:nvSpPr>
        <p:spPr/>
        <p:txBody>
          <a:bodyPr/>
          <a:lstStyle/>
          <a:p>
            <a:fld id="{B53602B4-F12B-41CD-B648-531F86B2CC91}" type="slidenum">
              <a:rPr lang="zh-CN" altLang="en-US" smtClean="0"/>
              <a:t>41</a:t>
            </a:fld>
            <a:endParaRPr lang="zh-CN" altLang="en-US"/>
          </a:p>
        </p:txBody>
      </p:sp>
    </p:spTree>
    <p:extLst>
      <p:ext uri="{BB962C8B-B14F-4D97-AF65-F5344CB8AC3E}">
        <p14:creationId xmlns:p14="http://schemas.microsoft.com/office/powerpoint/2010/main" val="42818791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5.2.3</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霍尔元件的主要技术指标</a:t>
            </a:r>
          </a:p>
        </p:txBody>
      </p:sp>
      <p:sp>
        <p:nvSpPr>
          <p:cNvPr id="24" name="Rectangle 5"/>
          <p:cNvSpPr>
            <a:spLocks noRot="1" noChangeArrowheads="1"/>
          </p:cNvSpPr>
          <p:nvPr/>
        </p:nvSpPr>
        <p:spPr bwMode="auto">
          <a:xfrm>
            <a:off x="1499722" y="2086077"/>
            <a:ext cx="7466478" cy="1620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40000"/>
              </a:lnSpc>
              <a:buClr>
                <a:schemeClr val="bg1"/>
              </a:buClr>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当霍尔元件</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通以</a:t>
            </a:r>
            <a:r>
              <a:rPr lang="en-US" altLang="zh-CN" sz="2400" i="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H</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而不加外磁场时</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，霍尔输出端仍有空载电势存在，该电势称为不等位电势</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或零位电势</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，记为</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U</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26" name="Text Box 8"/>
          <p:cNvSpPr txBox="1">
            <a:spLocks noChangeArrowheads="1"/>
          </p:cNvSpPr>
          <p:nvPr/>
        </p:nvSpPr>
        <p:spPr bwMode="auto">
          <a:xfrm>
            <a:off x="1499722" y="4516326"/>
            <a:ext cx="6525687"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ct val="120000"/>
              </a:lnSpc>
              <a:buFont typeface="Wingdings" pitchFamily="2" charset="2"/>
              <a:buNone/>
            </a:pPr>
            <a:r>
              <a:rPr lang="zh-CN" altLang="en-US" sz="2400" b="1" dirty="0">
                <a:solidFill>
                  <a:schemeClr val="tx1"/>
                </a:solidFill>
              </a:rPr>
              <a:t>主要原因</a:t>
            </a:r>
            <a:r>
              <a:rPr lang="en-US" altLang="zh-CN" sz="2400" b="1" dirty="0">
                <a:solidFill>
                  <a:schemeClr val="tx1"/>
                </a:solidFill>
              </a:rPr>
              <a:t>:</a:t>
            </a:r>
          </a:p>
          <a:p>
            <a:pPr eaLnBrk="1" hangingPunct="1">
              <a:lnSpc>
                <a:spcPct val="120000"/>
              </a:lnSpc>
              <a:buFont typeface="Wingdings" pitchFamily="2" charset="2"/>
              <a:buNone/>
            </a:pPr>
            <a:r>
              <a:rPr lang="en-US" altLang="zh-CN" sz="2400" b="1" dirty="0">
                <a:solidFill>
                  <a:schemeClr val="tx1"/>
                </a:solidFill>
              </a:rPr>
              <a:t>1</a:t>
            </a:r>
            <a:r>
              <a:rPr lang="zh-CN" altLang="en-US" sz="2400" b="1" dirty="0">
                <a:solidFill>
                  <a:schemeClr val="tx1"/>
                </a:solidFill>
              </a:rPr>
              <a:t>、霍尔电极位置不对称或不在同一等位面上；</a:t>
            </a:r>
          </a:p>
          <a:p>
            <a:pPr eaLnBrk="1" hangingPunct="1">
              <a:lnSpc>
                <a:spcPct val="120000"/>
              </a:lnSpc>
              <a:buFont typeface="Wingdings" pitchFamily="2" charset="2"/>
              <a:buNone/>
            </a:pPr>
            <a:r>
              <a:rPr lang="en-US" altLang="zh-CN" sz="2400" b="1" dirty="0">
                <a:solidFill>
                  <a:schemeClr val="tx1"/>
                </a:solidFill>
              </a:rPr>
              <a:t>2</a:t>
            </a:r>
            <a:r>
              <a:rPr lang="zh-CN" altLang="en-US" sz="2400" b="1" dirty="0">
                <a:solidFill>
                  <a:schemeClr val="tx1"/>
                </a:solidFill>
              </a:rPr>
              <a:t>、电阻率不均匀或几何尺寸不均匀；</a:t>
            </a:r>
          </a:p>
          <a:p>
            <a:pPr eaLnBrk="1" hangingPunct="1">
              <a:lnSpc>
                <a:spcPct val="120000"/>
              </a:lnSpc>
              <a:buFont typeface="Wingdings" pitchFamily="2" charset="2"/>
              <a:buNone/>
            </a:pPr>
            <a:r>
              <a:rPr lang="en-US" altLang="zh-CN" sz="2400" b="1" dirty="0">
                <a:solidFill>
                  <a:schemeClr val="tx1"/>
                </a:solidFill>
              </a:rPr>
              <a:t>3</a:t>
            </a:r>
            <a:r>
              <a:rPr lang="zh-CN" altLang="en-US" sz="2400" b="1" dirty="0">
                <a:solidFill>
                  <a:schemeClr val="tx1"/>
                </a:solidFill>
              </a:rPr>
              <a:t>、控制电流分布不均匀。</a:t>
            </a:r>
          </a:p>
        </p:txBody>
      </p:sp>
      <p:sp>
        <p:nvSpPr>
          <p:cNvPr id="5" name="矩形 4"/>
          <p:cNvSpPr/>
          <p:nvPr/>
        </p:nvSpPr>
        <p:spPr>
          <a:xfrm>
            <a:off x="1561535" y="1413585"/>
            <a:ext cx="3803367" cy="609398"/>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lvl="0" algn="just">
              <a:lnSpc>
                <a:spcPct val="140000"/>
              </a:lnSpc>
              <a:buClr>
                <a:prstClr val="white"/>
              </a:buClr>
            </a:pPr>
            <a:r>
              <a:rPr lang="zh-CN" altLang="en-US" sz="2400" b="1" dirty="0">
                <a:solidFill>
                  <a:schemeClr val="tx1"/>
                </a:solidFill>
                <a:latin typeface="宋体" panose="02010600030101010101" pitchFamily="2" charset="-122"/>
                <a:ea typeface="宋体" panose="02010600030101010101" pitchFamily="2" charset="-122"/>
              </a:rPr>
              <a:t>不等位电势及零位电阻</a:t>
            </a:r>
            <a:r>
              <a:rPr lang="en-US" altLang="zh-CN" sz="2400" i="1" dirty="0">
                <a:solidFill>
                  <a:schemeClr val="tx1"/>
                </a:solidFill>
                <a:latin typeface="宋体" panose="02010600030101010101" pitchFamily="2" charset="-122"/>
                <a:ea typeface="宋体" panose="02010600030101010101" pitchFamily="2" charset="-122"/>
              </a:rPr>
              <a:t>r</a:t>
            </a:r>
            <a:r>
              <a:rPr lang="en-US" altLang="zh-CN" sz="2400" baseline="-25000" dirty="0">
                <a:solidFill>
                  <a:schemeClr val="tx1"/>
                </a:solidFill>
                <a:latin typeface="宋体" panose="02010600030101010101" pitchFamily="2" charset="-122"/>
                <a:ea typeface="宋体" panose="02010600030101010101" pitchFamily="2" charset="-122"/>
              </a:rPr>
              <a:t>0</a:t>
            </a:r>
          </a:p>
        </p:txBody>
      </p:sp>
      <p:sp>
        <p:nvSpPr>
          <p:cNvPr id="6" name="矩形 5"/>
          <p:cNvSpPr/>
          <p:nvPr/>
        </p:nvSpPr>
        <p:spPr>
          <a:xfrm>
            <a:off x="1506313" y="3800791"/>
            <a:ext cx="1725707" cy="46166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zh-CN" altLang="en-US" sz="2400" b="1" dirty="0">
                <a:solidFill>
                  <a:prstClr val="black"/>
                </a:solidFill>
                <a:latin typeface="宋体" panose="02010600030101010101" pitchFamily="2" charset="-122"/>
                <a:ea typeface="宋体" panose="02010600030101010101" pitchFamily="2" charset="-122"/>
              </a:rPr>
              <a:t>不等位电阻</a:t>
            </a:r>
            <a:endParaRPr lang="zh-CN" altLang="en-US" sz="2000" dirty="0">
              <a:latin typeface="宋体" panose="02010600030101010101" pitchFamily="2" charset="-122"/>
              <a:ea typeface="宋体" panose="02010600030101010101" pitchFamily="2"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64528844"/>
              </p:ext>
            </p:extLst>
          </p:nvPr>
        </p:nvGraphicFramePr>
        <p:xfrm>
          <a:off x="3748594" y="3827484"/>
          <a:ext cx="1105050" cy="800761"/>
        </p:xfrm>
        <a:graphic>
          <a:graphicData uri="http://schemas.openxmlformats.org/presentationml/2006/ole">
            <mc:AlternateContent xmlns:mc="http://schemas.openxmlformats.org/markup-compatibility/2006">
              <mc:Choice xmlns:v="urn:schemas-microsoft-com:vml" Requires="v">
                <p:oleObj name="公式" r:id="rId3" imgW="583920" imgH="444240" progId="Equation.3">
                  <p:embed/>
                </p:oleObj>
              </mc:Choice>
              <mc:Fallback>
                <p:oleObj name="公式" r:id="rId3" imgW="583920" imgH="444240" progId="Equation.3">
                  <p:embed/>
                  <p:pic>
                    <p:nvPicPr>
                      <p:cNvPr id="0" name="Object 6"/>
                      <p:cNvPicPr>
                        <a:picLocks noChangeAspect="1" noChangeArrowheads="1"/>
                      </p:cNvPicPr>
                      <p:nvPr/>
                    </p:nvPicPr>
                    <p:blipFill>
                      <a:blip r:embed="rId4"/>
                      <a:srcRect/>
                      <a:stretch>
                        <a:fillRect/>
                      </a:stretch>
                    </p:blipFill>
                    <p:spPr bwMode="auto">
                      <a:xfrm>
                        <a:off x="3748594" y="3827484"/>
                        <a:ext cx="1105050" cy="800761"/>
                      </a:xfrm>
                      <a:prstGeom prst="rect">
                        <a:avLst/>
                      </a:prstGeom>
                      <a:noFill/>
                      <a:ln>
                        <a:noFill/>
                      </a:ln>
                    </p:spPr>
                  </p:pic>
                </p:oleObj>
              </mc:Fallback>
            </mc:AlternateContent>
          </a:graphicData>
        </a:graphic>
      </p:graphicFrame>
      <p:sp>
        <p:nvSpPr>
          <p:cNvPr id="2" name="Slide Number Placeholder 1">
            <a:extLst>
              <a:ext uri="{FF2B5EF4-FFF2-40B4-BE49-F238E27FC236}">
                <a16:creationId xmlns:a16="http://schemas.microsoft.com/office/drawing/2014/main" id="{247362E2-21C1-4A15-9CBF-2025C716E1F0}"/>
              </a:ext>
            </a:extLst>
          </p:cNvPr>
          <p:cNvSpPr>
            <a:spLocks noGrp="1"/>
          </p:cNvSpPr>
          <p:nvPr>
            <p:ph type="sldNum" sz="quarter" idx="12"/>
          </p:nvPr>
        </p:nvSpPr>
        <p:spPr/>
        <p:txBody>
          <a:bodyPr/>
          <a:lstStyle/>
          <a:p>
            <a:fld id="{B53602B4-F12B-41CD-B648-531F86B2CC91}" type="slidenum">
              <a:rPr lang="zh-CN" altLang="en-US" smtClean="0"/>
              <a:t>42</a:t>
            </a:fld>
            <a:endParaRPr lang="zh-CN" altLang="en-US"/>
          </a:p>
        </p:txBody>
      </p:sp>
    </p:spTree>
    <p:extLst>
      <p:ext uri="{BB962C8B-B14F-4D97-AF65-F5344CB8AC3E}">
        <p14:creationId xmlns:p14="http://schemas.microsoft.com/office/powerpoint/2010/main" val="26240240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5.2.3</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霍尔元件的主要技术指标</a:t>
            </a:r>
          </a:p>
        </p:txBody>
      </p:sp>
      <p:sp>
        <p:nvSpPr>
          <p:cNvPr id="19" name="Rectangle 15"/>
          <p:cNvSpPr>
            <a:spLocks noRot="1" noChangeArrowheads="1"/>
          </p:cNvSpPr>
          <p:nvPr/>
        </p:nvSpPr>
        <p:spPr bwMode="auto">
          <a:xfrm>
            <a:off x="1502307" y="2010081"/>
            <a:ext cx="6866839" cy="2242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40000"/>
              </a:lnSpc>
              <a:buClr>
                <a:schemeClr val="bg1"/>
              </a:buClr>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当不加外磁场，控制电流改用额定交流电流时，霍尔电极间的空载电势为直流与交流电势之和。其中的交流霍尔电势与前述零位电势相对应，而直流霍尔电势是个寄生量，称为寄生直流电势</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U</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&lt;1mV</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20" name="Text Box 25"/>
          <p:cNvSpPr txBox="1">
            <a:spLocks noChangeArrowheads="1"/>
          </p:cNvSpPr>
          <p:nvPr/>
        </p:nvSpPr>
        <p:spPr bwMode="auto">
          <a:xfrm>
            <a:off x="1429608" y="4740924"/>
            <a:ext cx="6939538" cy="135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ts val="3400"/>
              </a:lnSpc>
              <a:buFont typeface="Wingdings" pitchFamily="2" charset="2"/>
              <a:buNone/>
            </a:pPr>
            <a:r>
              <a:rPr lang="zh-CN" altLang="en-US" sz="2400" b="1" dirty="0">
                <a:solidFill>
                  <a:schemeClr val="tx1"/>
                </a:solidFill>
              </a:rPr>
              <a:t>主要原因：</a:t>
            </a:r>
          </a:p>
          <a:p>
            <a:pPr eaLnBrk="1" hangingPunct="1">
              <a:lnSpc>
                <a:spcPts val="3400"/>
              </a:lnSpc>
              <a:buFont typeface="Wingdings" pitchFamily="2" charset="2"/>
              <a:buNone/>
            </a:pPr>
            <a:r>
              <a:rPr lang="en-US" altLang="zh-CN" sz="2400" b="1" dirty="0">
                <a:solidFill>
                  <a:schemeClr val="tx1"/>
                </a:solidFill>
              </a:rPr>
              <a:t>1</a:t>
            </a:r>
            <a:r>
              <a:rPr lang="zh-CN" altLang="en-US" sz="2400" b="1" dirty="0">
                <a:solidFill>
                  <a:schemeClr val="tx1"/>
                </a:solidFill>
              </a:rPr>
              <a:t>、控制电极、霍尔电极非欧姆接触，整流效果；</a:t>
            </a:r>
          </a:p>
          <a:p>
            <a:pPr eaLnBrk="1" hangingPunct="1">
              <a:lnSpc>
                <a:spcPts val="3400"/>
              </a:lnSpc>
              <a:buFont typeface="Wingdings" pitchFamily="2" charset="2"/>
              <a:buNone/>
            </a:pPr>
            <a:r>
              <a:rPr lang="en-US" altLang="zh-CN" sz="2400" b="1" dirty="0">
                <a:solidFill>
                  <a:schemeClr val="tx1"/>
                </a:solidFill>
              </a:rPr>
              <a:t>2</a:t>
            </a:r>
            <a:r>
              <a:rPr lang="zh-CN" altLang="en-US" sz="2400" b="1" dirty="0">
                <a:solidFill>
                  <a:schemeClr val="tx1"/>
                </a:solidFill>
              </a:rPr>
              <a:t>、两个霍尔电极不对称，形成的温差电势，</a:t>
            </a:r>
            <a:r>
              <a:rPr lang="zh-CN" altLang="en-US" sz="2400" b="1" dirty="0">
                <a:solidFill>
                  <a:srgbClr val="C00000"/>
                </a:solidFill>
              </a:rPr>
              <a:t>温漂</a:t>
            </a:r>
            <a:r>
              <a:rPr lang="zh-CN" altLang="en-US" sz="2400" b="1" dirty="0">
                <a:solidFill>
                  <a:schemeClr val="tx1"/>
                </a:solidFill>
              </a:rPr>
              <a:t>。</a:t>
            </a:r>
          </a:p>
        </p:txBody>
      </p:sp>
      <p:sp>
        <p:nvSpPr>
          <p:cNvPr id="2" name="矩形 1"/>
          <p:cNvSpPr/>
          <p:nvPr/>
        </p:nvSpPr>
        <p:spPr>
          <a:xfrm>
            <a:off x="1571711" y="1217083"/>
            <a:ext cx="2286000" cy="609398"/>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lvl="0" algn="just">
              <a:lnSpc>
                <a:spcPct val="140000"/>
              </a:lnSpc>
              <a:buClr>
                <a:prstClr val="white"/>
              </a:buClr>
            </a:pPr>
            <a:r>
              <a:rPr lang="zh-CN" altLang="en-US" sz="2400" b="1" dirty="0">
                <a:solidFill>
                  <a:prstClr val="black"/>
                </a:solidFill>
                <a:latin typeface="宋体" panose="02010600030101010101" pitchFamily="2" charset="-122"/>
                <a:ea typeface="宋体" panose="02010600030101010101" pitchFamily="2" charset="-122"/>
              </a:rPr>
              <a:t>寄生直流电势</a:t>
            </a:r>
          </a:p>
        </p:txBody>
      </p:sp>
      <p:sp>
        <p:nvSpPr>
          <p:cNvPr id="3" name="Slide Number Placeholder 2">
            <a:extLst>
              <a:ext uri="{FF2B5EF4-FFF2-40B4-BE49-F238E27FC236}">
                <a16:creationId xmlns:a16="http://schemas.microsoft.com/office/drawing/2014/main" id="{16056C59-689B-43E8-876C-92AFD2EE5486}"/>
              </a:ext>
            </a:extLst>
          </p:cNvPr>
          <p:cNvSpPr>
            <a:spLocks noGrp="1"/>
          </p:cNvSpPr>
          <p:nvPr>
            <p:ph type="sldNum" sz="quarter" idx="12"/>
          </p:nvPr>
        </p:nvSpPr>
        <p:spPr/>
        <p:txBody>
          <a:bodyPr/>
          <a:lstStyle/>
          <a:p>
            <a:fld id="{B53602B4-F12B-41CD-B648-531F86B2CC91}" type="slidenum">
              <a:rPr lang="zh-CN" altLang="en-US" smtClean="0"/>
              <a:t>43</a:t>
            </a:fld>
            <a:endParaRPr lang="zh-CN" altLang="en-US"/>
          </a:p>
        </p:txBody>
      </p:sp>
    </p:spTree>
    <p:extLst>
      <p:ext uri="{BB962C8B-B14F-4D97-AF65-F5344CB8AC3E}">
        <p14:creationId xmlns:p14="http://schemas.microsoft.com/office/powerpoint/2010/main" val="36635293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1487904" y="3456285"/>
            <a:ext cx="2811814" cy="2362570"/>
          </a:xfrm>
          <a:prstGeom prst="roundRect">
            <a:avLst>
              <a:gd name="adj" fmla="val 11741"/>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5.2.3</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霍尔元件的主要技术指标</a:t>
            </a:r>
          </a:p>
        </p:txBody>
      </p:sp>
      <p:sp>
        <p:nvSpPr>
          <p:cNvPr id="19" name="Rectangle 5"/>
          <p:cNvSpPr>
            <a:spLocks noRot="1" noChangeArrowheads="1"/>
          </p:cNvSpPr>
          <p:nvPr/>
        </p:nvSpPr>
        <p:spPr bwMode="auto">
          <a:xfrm>
            <a:off x="1571710" y="2141939"/>
            <a:ext cx="6779075" cy="1350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lnSpc>
                <a:spcPct val="150000"/>
              </a:lnSpc>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在霍尔电极开路情况下，在霍尔元件上输入</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1mW</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的电功率时产生的温升，单位为℃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err="1">
                <a:latin typeface="Times New Roman" panose="02020603050405020304" pitchFamily="18" charset="0"/>
                <a:ea typeface="宋体" panose="02010600030101010101" pitchFamily="2" charset="-122"/>
                <a:cs typeface="Times New Roman" panose="02020603050405020304" pitchFamily="18" charset="0"/>
              </a:rPr>
              <a:t>mW</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0" name="Object 6"/>
          <p:cNvGraphicFramePr>
            <a:graphicFrameLocks noChangeAspect="1"/>
          </p:cNvGraphicFramePr>
          <p:nvPr>
            <p:extLst>
              <p:ext uri="{D42A27DB-BD31-4B8C-83A1-F6EECF244321}">
                <p14:modId xmlns:p14="http://schemas.microsoft.com/office/powerpoint/2010/main" val="1803605705"/>
              </p:ext>
            </p:extLst>
          </p:nvPr>
        </p:nvGraphicFramePr>
        <p:xfrm>
          <a:off x="2182611" y="4021620"/>
          <a:ext cx="1582738" cy="469900"/>
        </p:xfrm>
        <a:graphic>
          <a:graphicData uri="http://schemas.openxmlformats.org/presentationml/2006/ole">
            <mc:AlternateContent xmlns:mc="http://schemas.openxmlformats.org/markup-compatibility/2006">
              <mc:Choice xmlns:v="urn:schemas-microsoft-com:vml" Requires="v">
                <p:oleObj name="Equation" r:id="rId3" imgW="542935" imgH="123799" progId="Equation.DSMT4">
                  <p:embed/>
                </p:oleObj>
              </mc:Choice>
              <mc:Fallback>
                <p:oleObj name="Equation" r:id="rId3" imgW="542935" imgH="12379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2611" y="4021620"/>
                        <a:ext cx="15827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17"/>
          <p:cNvGraphicFramePr>
            <a:graphicFrameLocks noChangeAspect="1"/>
          </p:cNvGraphicFramePr>
          <p:nvPr>
            <p:extLst>
              <p:ext uri="{D42A27DB-BD31-4B8C-83A1-F6EECF244321}">
                <p14:modId xmlns:p14="http://schemas.microsoft.com/office/powerpoint/2010/main" val="1363922225"/>
              </p:ext>
            </p:extLst>
          </p:nvPr>
        </p:nvGraphicFramePr>
        <p:xfrm>
          <a:off x="4961247" y="4851012"/>
          <a:ext cx="2892425" cy="1039813"/>
        </p:xfrm>
        <a:graphic>
          <a:graphicData uri="http://schemas.openxmlformats.org/presentationml/2006/ole">
            <mc:AlternateContent xmlns:mc="http://schemas.openxmlformats.org/markup-compatibility/2006">
              <mc:Choice xmlns:v="urn:schemas-microsoft-com:vml" Requires="v">
                <p:oleObj name="Equation" r:id="rId5" imgW="1038106" imgH="333285" progId="Equation.DSMT4">
                  <p:embed/>
                </p:oleObj>
              </mc:Choice>
              <mc:Fallback>
                <p:oleObj name="Equation" r:id="rId5" imgW="1038106" imgH="333285"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61247" y="4851012"/>
                        <a:ext cx="2892425"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18"/>
          <p:cNvGraphicFramePr>
            <a:graphicFrameLocks noChangeAspect="1"/>
          </p:cNvGraphicFramePr>
          <p:nvPr>
            <p:extLst>
              <p:ext uri="{D42A27DB-BD31-4B8C-83A1-F6EECF244321}">
                <p14:modId xmlns:p14="http://schemas.microsoft.com/office/powerpoint/2010/main" val="223937905"/>
              </p:ext>
            </p:extLst>
          </p:nvPr>
        </p:nvGraphicFramePr>
        <p:xfrm>
          <a:off x="1647624" y="4637570"/>
          <a:ext cx="2492375" cy="536575"/>
        </p:xfrm>
        <a:graphic>
          <a:graphicData uri="http://schemas.openxmlformats.org/presentationml/2006/ole">
            <mc:AlternateContent xmlns:mc="http://schemas.openxmlformats.org/markup-compatibility/2006">
              <mc:Choice xmlns:v="urn:schemas-microsoft-com:vml" Requires="v">
                <p:oleObj name="Equation" r:id="rId7" imgW="885912" imgH="142991" progId="Equation.DSMT4">
                  <p:embed/>
                </p:oleObj>
              </mc:Choice>
              <mc:Fallback>
                <p:oleObj name="Equation" r:id="rId7" imgW="885912" imgH="142991"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7624" y="4637570"/>
                        <a:ext cx="24923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19"/>
          <p:cNvGraphicFramePr>
            <a:graphicFrameLocks noChangeAspect="1"/>
          </p:cNvGraphicFramePr>
          <p:nvPr>
            <p:extLst>
              <p:ext uri="{D42A27DB-BD31-4B8C-83A1-F6EECF244321}">
                <p14:modId xmlns:p14="http://schemas.microsoft.com/office/powerpoint/2010/main" val="2395594567"/>
              </p:ext>
            </p:extLst>
          </p:nvPr>
        </p:nvGraphicFramePr>
        <p:xfrm>
          <a:off x="2081011" y="5234470"/>
          <a:ext cx="1482725" cy="638175"/>
        </p:xfrm>
        <a:graphic>
          <a:graphicData uri="http://schemas.openxmlformats.org/presentationml/2006/ole">
            <mc:AlternateContent xmlns:mc="http://schemas.openxmlformats.org/markup-compatibility/2006">
              <mc:Choice xmlns:v="urn:schemas-microsoft-com:vml" Requires="v">
                <p:oleObj name="Equation" r:id="rId9" imgW="504886" imgH="181104" progId="Equation.DSMT4">
                  <p:embed/>
                </p:oleObj>
              </mc:Choice>
              <mc:Fallback>
                <p:oleObj name="Equation" r:id="rId9" imgW="504886" imgH="181104"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81011" y="5234470"/>
                        <a:ext cx="148272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p:nvPr/>
        </p:nvSpPr>
        <p:spPr>
          <a:xfrm>
            <a:off x="1571711" y="1256047"/>
            <a:ext cx="1250663" cy="692497"/>
          </a:xfrm>
          <a:prstGeom prst="rect">
            <a:avLst/>
          </a:prstGeom>
          <a:solidFill>
            <a:srgbClr val="FF0000"/>
          </a:solidFill>
        </p:spPr>
        <p:txBody>
          <a:bodyPr wrap="none" anchor="ctr" anchorCtr="0">
            <a:spAutoFit/>
          </a:bodyPr>
          <a:lstStyle/>
          <a:p>
            <a:pPr lvl="0" algn="just">
              <a:lnSpc>
                <a:spcPct val="150000"/>
              </a:lnSpc>
              <a:buClr>
                <a:prstClr val="white"/>
              </a:buClr>
            </a:pPr>
            <a:r>
              <a:rPr lang="zh-CN" altLang="en-US" sz="2600" b="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热阻</a:t>
            </a:r>
            <a:r>
              <a:rPr lang="en-US" altLang="zh-CN" sz="2600" b="1" i="1"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600" b="1" baseline="-250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Q</a:t>
            </a:r>
          </a:p>
        </p:txBody>
      </p:sp>
      <p:sp>
        <p:nvSpPr>
          <p:cNvPr id="3" name="矩形 2"/>
          <p:cNvSpPr/>
          <p:nvPr/>
        </p:nvSpPr>
        <p:spPr>
          <a:xfrm>
            <a:off x="1562393" y="3510075"/>
            <a:ext cx="1112805" cy="461665"/>
          </a:xfrm>
          <a:prstGeom prst="rect">
            <a:avLst/>
          </a:prstGeom>
        </p:spPr>
        <p:txBody>
          <a:bodyPr wrap="none">
            <a:spAutoFit/>
          </a:bodyP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比拟：</a:t>
            </a:r>
            <a:endParaRPr lang="zh-CN" altLang="en-US" sz="2400" dirty="0"/>
          </a:p>
        </p:txBody>
      </p:sp>
      <p:sp>
        <p:nvSpPr>
          <p:cNvPr id="28" name="矩形 27"/>
          <p:cNvSpPr/>
          <p:nvPr/>
        </p:nvSpPr>
        <p:spPr>
          <a:xfrm>
            <a:off x="4834706" y="3571515"/>
            <a:ext cx="3675102" cy="1200329"/>
          </a:xfrm>
          <a:prstGeom prst="rect">
            <a:avLst/>
          </a:prstGeom>
        </p:spPr>
        <p:txBody>
          <a:bodyPr wrap="square">
            <a:spAutoFit/>
          </a:bodyPr>
          <a:lstStyle/>
          <a:p>
            <a:pPr>
              <a:lnSpc>
                <a:spcPct val="15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与欧姆定律相似，热阻可表示为：</a:t>
            </a:r>
            <a:endParaRPr lang="zh-CN" altLang="en-US" sz="2400" dirty="0"/>
          </a:p>
        </p:txBody>
      </p:sp>
      <p:sp>
        <p:nvSpPr>
          <p:cNvPr id="5" name="Slide Number Placeholder 4">
            <a:extLst>
              <a:ext uri="{FF2B5EF4-FFF2-40B4-BE49-F238E27FC236}">
                <a16:creationId xmlns:a16="http://schemas.microsoft.com/office/drawing/2014/main" id="{DD444996-6C53-41FA-9C0C-A7AE36E04D30}"/>
              </a:ext>
            </a:extLst>
          </p:cNvPr>
          <p:cNvSpPr>
            <a:spLocks noGrp="1"/>
          </p:cNvSpPr>
          <p:nvPr>
            <p:ph type="sldNum" sz="quarter" idx="12"/>
          </p:nvPr>
        </p:nvSpPr>
        <p:spPr/>
        <p:txBody>
          <a:bodyPr/>
          <a:lstStyle/>
          <a:p>
            <a:fld id="{B53602B4-F12B-41CD-B648-531F86B2CC91}" type="slidenum">
              <a:rPr lang="zh-CN" altLang="en-US" smtClean="0"/>
              <a:t>44</a:t>
            </a:fld>
            <a:endParaRPr lang="zh-CN" altLang="en-US"/>
          </a:p>
        </p:txBody>
      </p:sp>
    </p:spTree>
    <p:extLst>
      <p:ext uri="{BB962C8B-B14F-4D97-AF65-F5344CB8AC3E}">
        <p14:creationId xmlns:p14="http://schemas.microsoft.com/office/powerpoint/2010/main" val="31357327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5.2.4</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霍尔元件的补偿电路</a:t>
            </a:r>
          </a:p>
        </p:txBody>
      </p:sp>
      <p:sp>
        <p:nvSpPr>
          <p:cNvPr id="5" name="矩形 4"/>
          <p:cNvSpPr/>
          <p:nvPr/>
        </p:nvSpPr>
        <p:spPr>
          <a:xfrm>
            <a:off x="315884" y="1200823"/>
            <a:ext cx="7039451" cy="461663"/>
          </a:xfrm>
          <a:prstGeom prst="rect">
            <a:avLst/>
          </a:prstGeom>
        </p:spPr>
        <p:txBody>
          <a:bodyPr wrap="square" lIns="91438" tIns="45719" rIns="91438" bIns="45719">
            <a:spAutoFit/>
          </a:bodyPr>
          <a:lstStyle/>
          <a:p>
            <a:pPr>
              <a:spcBef>
                <a:spcPts val="670"/>
              </a:spcBef>
            </a:pP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sym typeface="+mn-ea"/>
              </a:rPr>
              <a:t>不等位电动势的补偿 </a:t>
            </a:r>
          </a:p>
        </p:txBody>
      </p:sp>
      <p:sp>
        <p:nvSpPr>
          <p:cNvPr id="2" name="Slide Number Placeholder 1">
            <a:extLst>
              <a:ext uri="{FF2B5EF4-FFF2-40B4-BE49-F238E27FC236}">
                <a16:creationId xmlns:a16="http://schemas.microsoft.com/office/drawing/2014/main" id="{78334426-E4B7-42F2-8B07-29DC56B91AD1}"/>
              </a:ext>
            </a:extLst>
          </p:cNvPr>
          <p:cNvSpPr>
            <a:spLocks noGrp="1"/>
          </p:cNvSpPr>
          <p:nvPr>
            <p:ph type="sldNum" sz="quarter" idx="12"/>
          </p:nvPr>
        </p:nvSpPr>
        <p:spPr/>
        <p:txBody>
          <a:bodyPr/>
          <a:lstStyle/>
          <a:p>
            <a:fld id="{B53602B4-F12B-41CD-B648-531F86B2CC91}" type="slidenum">
              <a:rPr lang="zh-CN" altLang="en-US" smtClean="0"/>
              <a:t>45</a:t>
            </a:fld>
            <a:endParaRPr lang="zh-CN" altLang="en-US"/>
          </a:p>
        </p:txBody>
      </p:sp>
      <p:sp>
        <p:nvSpPr>
          <p:cNvPr id="23" name="Text Box 119">
            <a:extLst>
              <a:ext uri="{FF2B5EF4-FFF2-40B4-BE49-F238E27FC236}">
                <a16:creationId xmlns:a16="http://schemas.microsoft.com/office/drawing/2014/main" id="{78F3BBB7-7CB3-437A-B5FA-08696CE420F8}"/>
              </a:ext>
            </a:extLst>
          </p:cNvPr>
          <p:cNvSpPr txBox="1">
            <a:spLocks noChangeArrowheads="1"/>
          </p:cNvSpPr>
          <p:nvPr/>
        </p:nvSpPr>
        <p:spPr bwMode="auto">
          <a:xfrm>
            <a:off x="4833795" y="4896328"/>
            <a:ext cx="3906980"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5-23 </a:t>
            </a:r>
            <a:r>
              <a:rPr kumimoji="0" lang="zh-CN" altLang="en-US" b="1" dirty="0">
                <a:solidFill>
                  <a:srgbClr val="3333CC"/>
                </a:solidFill>
                <a:latin typeface="宋体" panose="02010600030101010101" pitchFamily="2" charset="-122"/>
                <a:ea typeface="宋体" panose="02010600030101010101" pitchFamily="2" charset="-122"/>
              </a:rPr>
              <a:t>不等位电压的补偿</a:t>
            </a:r>
          </a:p>
        </p:txBody>
      </p:sp>
      <p:pic>
        <p:nvPicPr>
          <p:cNvPr id="24" name="Picture 9">
            <a:extLst>
              <a:ext uri="{FF2B5EF4-FFF2-40B4-BE49-F238E27FC236}">
                <a16:creationId xmlns:a16="http://schemas.microsoft.com/office/drawing/2014/main" id="{2926B78C-2F39-4D6C-B24D-BA16417F1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5593" y="1981389"/>
            <a:ext cx="4620607" cy="2698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TextBox 25">
            <a:extLst>
              <a:ext uri="{FF2B5EF4-FFF2-40B4-BE49-F238E27FC236}">
                <a16:creationId xmlns:a16="http://schemas.microsoft.com/office/drawing/2014/main" id="{7A1A3D68-EBA0-4FB7-AA60-73EA175615C2}"/>
              </a:ext>
            </a:extLst>
          </p:cNvPr>
          <p:cNvSpPr txBox="1"/>
          <p:nvPr/>
        </p:nvSpPr>
        <p:spPr>
          <a:xfrm>
            <a:off x="315884" y="1738518"/>
            <a:ext cx="3906981" cy="5021888"/>
          </a:xfrm>
          <a:prstGeom prst="rect">
            <a:avLst/>
          </a:prstGeom>
          <a:noFill/>
        </p:spPr>
        <p:txBody>
          <a:bodyPr wrap="square">
            <a:spAutoFit/>
          </a:bodyPr>
          <a:lstStyle/>
          <a:p>
            <a:pPr marL="342900" indent="-342900">
              <a:lnSpc>
                <a:spcPct val="120000"/>
              </a:lnSpc>
              <a:spcAft>
                <a:spcPts val="300"/>
              </a:spcAft>
              <a:buFont typeface="Arial" panose="020B0604020202020204" pitchFamily="34" charset="0"/>
              <a:buChar char="•"/>
            </a:pPr>
            <a:r>
              <a:rPr lang="en-001" b="1">
                <a:latin typeface="Times New Roman" panose="02020603050405020304" pitchFamily="18" charset="0"/>
                <a:ea typeface="宋体" panose="02010600030101010101" pitchFamily="2" charset="-122"/>
                <a:cs typeface="Times New Roman" panose="02020603050405020304" pitchFamily="18" charset="0"/>
              </a:rPr>
              <a:t>不等位电压与不等位电阻一致，因此可分析其电阻进行补偿</a:t>
            </a:r>
          </a:p>
          <a:p>
            <a:pPr marL="342900" indent="-342900">
              <a:lnSpc>
                <a:spcPct val="120000"/>
              </a:lnSpc>
              <a:spcAft>
                <a:spcPts val="300"/>
              </a:spcAft>
              <a:buFont typeface="Arial" panose="020B0604020202020204" pitchFamily="34" charset="0"/>
              <a:buChar char="•"/>
            </a:pPr>
            <a:r>
              <a:rPr lang="en-001" b="1">
                <a:latin typeface="Times New Roman" panose="02020603050405020304" pitchFamily="18" charset="0"/>
                <a:ea typeface="宋体" panose="02010600030101010101" pitchFamily="2" charset="-122"/>
                <a:cs typeface="Times New Roman" panose="02020603050405020304" pitchFamily="18" charset="0"/>
              </a:rPr>
              <a:t>A、B为控制电极，C、D为霍尔电极，在极间分布的电阻</a:t>
            </a:r>
            <a:r>
              <a:rPr lang="zh-CN" altLang="en-US" b="1">
                <a:latin typeface="Times New Roman" panose="02020603050405020304" pitchFamily="18" charset="0"/>
                <a:ea typeface="宋体" panose="02010600030101010101" pitchFamily="2" charset="-122"/>
                <a:cs typeface="Times New Roman" panose="02020603050405020304" pitchFamily="18" charset="0"/>
              </a:rPr>
              <a:t>为</a:t>
            </a:r>
            <a:r>
              <a:rPr lang="en-001" b="1">
                <a:latin typeface="Times New Roman" panose="02020603050405020304" pitchFamily="18" charset="0"/>
                <a:ea typeface="宋体" panose="02010600030101010101" pitchFamily="2" charset="-122"/>
                <a:cs typeface="Times New Roman" panose="02020603050405020304" pitchFamily="18" charset="0"/>
              </a:rPr>
              <a:t>R1、R2、R3、R4</a:t>
            </a:r>
          </a:p>
          <a:p>
            <a:pPr marL="342900" indent="-342900">
              <a:lnSpc>
                <a:spcPct val="120000"/>
              </a:lnSpc>
              <a:spcAft>
                <a:spcPts val="300"/>
              </a:spcAft>
              <a:buFont typeface="Arial" panose="020B0604020202020204" pitchFamily="34" charset="0"/>
              <a:buChar char="•"/>
            </a:pPr>
            <a:r>
              <a:rPr lang="en-001" b="1">
                <a:latin typeface="Times New Roman" panose="02020603050405020304" pitchFamily="18" charset="0"/>
                <a:ea typeface="宋体" panose="02010600030101010101" pitchFamily="2" charset="-122"/>
                <a:cs typeface="Times New Roman" panose="02020603050405020304" pitchFamily="18" charset="0"/>
              </a:rPr>
              <a:t>理想情况是R1=R2=R3=R4，即可取得不等位电压为零（或不等位电阻为零）</a:t>
            </a:r>
          </a:p>
          <a:p>
            <a:pPr marL="342900" indent="-342900">
              <a:lnSpc>
                <a:spcPct val="120000"/>
              </a:lnSpc>
              <a:spcAft>
                <a:spcPts val="300"/>
              </a:spcAft>
              <a:buFont typeface="Arial" panose="020B0604020202020204" pitchFamily="34" charset="0"/>
              <a:buChar char="•"/>
            </a:pPr>
            <a:r>
              <a:rPr lang="en-001" b="1">
                <a:latin typeface="Times New Roman" panose="02020603050405020304" pitchFamily="18" charset="0"/>
                <a:ea typeface="宋体" panose="02010600030101010101" pitchFamily="2" charset="-122"/>
                <a:cs typeface="Times New Roman" panose="02020603050405020304" pitchFamily="18" charset="0"/>
              </a:rPr>
              <a:t>若存在零位电压，则此四个电阻不等</a:t>
            </a:r>
            <a:r>
              <a:rPr lang="zh-CN" altLang="en-US" b="1">
                <a:latin typeface="Times New Roman" panose="02020603050405020304" pitchFamily="18" charset="0"/>
                <a:ea typeface="宋体" panose="02010600030101010101" pitchFamily="2" charset="-122"/>
                <a:cs typeface="Times New Roman" panose="02020603050405020304" pitchFamily="18" charset="0"/>
              </a:rPr>
              <a:t>；</a:t>
            </a:r>
            <a:r>
              <a:rPr lang="en-001" b="1">
                <a:latin typeface="Times New Roman" panose="02020603050405020304" pitchFamily="18" charset="0"/>
                <a:ea typeface="宋体" panose="02010600030101010101" pitchFamily="2" charset="-122"/>
                <a:cs typeface="Times New Roman" panose="02020603050405020304" pitchFamily="18" charset="0"/>
              </a:rPr>
              <a:t>将其视为电桥的四个臂，即电桥不平衡。</a:t>
            </a:r>
          </a:p>
          <a:p>
            <a:pPr marL="342900" indent="-342900">
              <a:lnSpc>
                <a:spcPct val="120000"/>
              </a:lnSpc>
              <a:spcAft>
                <a:spcPts val="300"/>
              </a:spcAft>
              <a:buFont typeface="Arial" panose="020B0604020202020204" pitchFamily="34" charset="0"/>
              <a:buChar char="•"/>
            </a:pPr>
            <a:r>
              <a:rPr lang="en-001" b="1">
                <a:latin typeface="Times New Roman" panose="02020603050405020304" pitchFamily="18" charset="0"/>
                <a:ea typeface="宋体" panose="02010600030101010101" pitchFamily="2" charset="-122"/>
                <a:cs typeface="Times New Roman" panose="02020603050405020304" pitchFamily="18" charset="0"/>
              </a:rPr>
              <a:t>为使其达到平衡可在阻值较大的臂上并联电阻（a）或在两个臂上同时并联电阻</a:t>
            </a:r>
            <a:r>
              <a:rPr lang="en-US" b="1">
                <a:latin typeface="Times New Roman" panose="02020603050405020304" pitchFamily="18" charset="0"/>
                <a:ea typeface="宋体" panose="02010600030101010101" pitchFamily="2" charset="-122"/>
                <a:cs typeface="Times New Roman" panose="02020603050405020304" pitchFamily="18" charset="0"/>
              </a:rPr>
              <a:t> </a:t>
            </a:r>
            <a:r>
              <a:rPr lang="en-001" b="1">
                <a:latin typeface="Times New Roman" panose="02020603050405020304" pitchFamily="18" charset="0"/>
                <a:ea typeface="宋体" panose="02010600030101010101" pitchFamily="2" charset="-122"/>
                <a:cs typeface="Times New Roman" panose="02020603050405020304" pitchFamily="18" charset="0"/>
              </a:rPr>
              <a:t>(b)、(c)。</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5.2.4</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霍尔元件的补偿电路</a:t>
            </a:r>
          </a:p>
        </p:txBody>
      </p:sp>
      <p:sp>
        <p:nvSpPr>
          <p:cNvPr id="5" name="矩形 4"/>
          <p:cNvSpPr/>
          <p:nvPr/>
        </p:nvSpPr>
        <p:spPr>
          <a:xfrm>
            <a:off x="315884" y="1200823"/>
            <a:ext cx="7039451" cy="461663"/>
          </a:xfrm>
          <a:prstGeom prst="rect">
            <a:avLst/>
          </a:prstGeom>
        </p:spPr>
        <p:txBody>
          <a:bodyPr wrap="square" lIns="91438" tIns="45719" rIns="91438" bIns="45719">
            <a:spAutoFit/>
          </a:bodyPr>
          <a:lstStyle/>
          <a:p>
            <a:pPr>
              <a:spcBef>
                <a:spcPts val="670"/>
              </a:spcBef>
            </a:pP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sym typeface="+mn-ea"/>
              </a:rPr>
              <a:t>温度补偿：</a:t>
            </a:r>
            <a:r>
              <a:rPr kumimoji="0" lang="zh-CN" altLang="en-US" sz="2400" b="1">
                <a:solidFill>
                  <a:srgbClr val="3333CC"/>
                </a:solidFill>
                <a:latin typeface="宋体" panose="02010600030101010101" pitchFamily="2" charset="-122"/>
                <a:ea typeface="宋体" panose="02010600030101010101" pitchFamily="2" charset="-122"/>
              </a:rPr>
              <a:t>分流电阻法</a:t>
            </a:r>
            <a:endPar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sym typeface="+mn-ea"/>
            </a:endParaRPr>
          </a:p>
        </p:txBody>
      </p:sp>
      <p:sp>
        <p:nvSpPr>
          <p:cNvPr id="2" name="Slide Number Placeholder 1">
            <a:extLst>
              <a:ext uri="{FF2B5EF4-FFF2-40B4-BE49-F238E27FC236}">
                <a16:creationId xmlns:a16="http://schemas.microsoft.com/office/drawing/2014/main" id="{78334426-E4B7-42F2-8B07-29DC56B91AD1}"/>
              </a:ext>
            </a:extLst>
          </p:cNvPr>
          <p:cNvSpPr>
            <a:spLocks noGrp="1"/>
          </p:cNvSpPr>
          <p:nvPr>
            <p:ph type="sldNum" sz="quarter" idx="12"/>
          </p:nvPr>
        </p:nvSpPr>
        <p:spPr/>
        <p:txBody>
          <a:bodyPr/>
          <a:lstStyle/>
          <a:p>
            <a:fld id="{B53602B4-F12B-41CD-B648-531F86B2CC91}" type="slidenum">
              <a:rPr lang="zh-CN" altLang="en-US" smtClean="0"/>
              <a:t>46</a:t>
            </a:fld>
            <a:endParaRPr lang="zh-CN" altLang="en-US"/>
          </a:p>
        </p:txBody>
      </p:sp>
      <p:sp>
        <p:nvSpPr>
          <p:cNvPr id="11" name="Text Box 121">
            <a:extLst>
              <a:ext uri="{FF2B5EF4-FFF2-40B4-BE49-F238E27FC236}">
                <a16:creationId xmlns:a16="http://schemas.microsoft.com/office/drawing/2014/main" id="{31320361-3F17-4A15-B166-2F7EDDA730EA}"/>
              </a:ext>
            </a:extLst>
          </p:cNvPr>
          <p:cNvSpPr txBox="1">
            <a:spLocks noChangeArrowheads="1"/>
          </p:cNvSpPr>
          <p:nvPr/>
        </p:nvSpPr>
        <p:spPr bwMode="auto">
          <a:xfrm>
            <a:off x="-28270" y="4772907"/>
            <a:ext cx="3705466"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rPr>
              <a:t>图</a:t>
            </a:r>
            <a:r>
              <a:rPr kumimoji="0" lang="en-US" altLang="zh-CN" b="1" dirty="0">
                <a:solidFill>
                  <a:srgbClr val="3333CC"/>
                </a:solidFill>
                <a:latin typeface="宋体" panose="02010600030101010101" pitchFamily="2" charset="-122"/>
              </a:rPr>
              <a:t>5-24  </a:t>
            </a:r>
            <a:r>
              <a:rPr kumimoji="0" lang="zh-CN" altLang="en-US" b="1" dirty="0">
                <a:solidFill>
                  <a:srgbClr val="3333CC"/>
                </a:solidFill>
                <a:latin typeface="宋体" panose="02010600030101010101" pitchFamily="2" charset="-122"/>
              </a:rPr>
              <a:t>采用分流电阻法的温度补偿电路</a:t>
            </a:r>
          </a:p>
        </p:txBody>
      </p:sp>
      <p:graphicFrame>
        <p:nvGraphicFramePr>
          <p:cNvPr id="13" name="Object 132">
            <a:extLst>
              <a:ext uri="{FF2B5EF4-FFF2-40B4-BE49-F238E27FC236}">
                <a16:creationId xmlns:a16="http://schemas.microsoft.com/office/drawing/2014/main" id="{FE0308B5-1649-4E53-A28C-6E37913449A7}"/>
              </a:ext>
            </a:extLst>
          </p:cNvPr>
          <p:cNvGraphicFramePr>
            <a:graphicFrameLocks noChangeAspect="1"/>
          </p:cNvGraphicFramePr>
          <p:nvPr>
            <p:extLst>
              <p:ext uri="{D42A27DB-BD31-4B8C-83A1-F6EECF244321}">
                <p14:modId xmlns:p14="http://schemas.microsoft.com/office/powerpoint/2010/main" val="3775240211"/>
              </p:ext>
            </p:extLst>
          </p:nvPr>
        </p:nvGraphicFramePr>
        <p:xfrm>
          <a:off x="185083" y="1804880"/>
          <a:ext cx="3492113" cy="2629007"/>
        </p:xfrm>
        <a:graphic>
          <a:graphicData uri="http://schemas.openxmlformats.org/presentationml/2006/ole">
            <mc:AlternateContent xmlns:mc="http://schemas.openxmlformats.org/markup-compatibility/2006">
              <mc:Choice xmlns:v="urn:schemas-microsoft-com:vml" Requires="v">
                <p:oleObj name="位图图像" r:id="rId3" imgW="3971429" imgH="2991268" progId="Paint.Picture">
                  <p:embed/>
                </p:oleObj>
              </mc:Choice>
              <mc:Fallback>
                <p:oleObj name="位图图像" r:id="rId3" imgW="3971429" imgH="2991268" progId="Paint.Picture">
                  <p:embed/>
                  <p:pic>
                    <p:nvPicPr>
                      <p:cNvPr id="2054" name="Object 1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083" y="1804880"/>
                        <a:ext cx="3492113" cy="2629007"/>
                      </a:xfrm>
                      <a:prstGeom prst="rect">
                        <a:avLst/>
                      </a:prstGeom>
                      <a:noFill/>
                      <a:ln>
                        <a:noFill/>
                      </a:ln>
                      <a:effectLst/>
                    </p:spPr>
                  </p:pic>
                </p:oleObj>
              </mc:Fallback>
            </mc:AlternateContent>
          </a:graphicData>
        </a:graphic>
      </p:graphicFrame>
      <p:sp>
        <p:nvSpPr>
          <p:cNvPr id="4" name="TextBox 3">
            <a:extLst>
              <a:ext uri="{FF2B5EF4-FFF2-40B4-BE49-F238E27FC236}">
                <a16:creationId xmlns:a16="http://schemas.microsoft.com/office/drawing/2014/main" id="{7021AF0D-16ED-4752-985D-F07D814D317B}"/>
              </a:ext>
            </a:extLst>
          </p:cNvPr>
          <p:cNvSpPr txBox="1"/>
          <p:nvPr/>
        </p:nvSpPr>
        <p:spPr>
          <a:xfrm>
            <a:off x="5003769" y="2548038"/>
            <a:ext cx="1556836" cy="1554272"/>
          </a:xfrm>
          <a:prstGeom prst="rect">
            <a:avLst/>
          </a:prstGeom>
          <a:noFill/>
        </p:spPr>
        <p:txBody>
          <a:bodyPr wrap="none" rtlCol="0">
            <a:spAutoFit/>
          </a:bodyPr>
          <a:lstStyle/>
          <a:p>
            <a:pPr algn="l">
              <a:spcBef>
                <a:spcPts val="600"/>
              </a:spcBef>
            </a:pPr>
            <a:r>
              <a:rPr lang="zh-CN" altLang="en-US" sz="2000">
                <a:latin typeface="宋体" panose="02010600030101010101" pitchFamily="2" charset="-122"/>
                <a:ea typeface="宋体" panose="02010600030101010101" pitchFamily="2" charset="-122"/>
              </a:rPr>
              <a:t>霍尔元件</a:t>
            </a:r>
            <a:r>
              <a:rPr lang="en-US" altLang="zh-CN" sz="2000">
                <a:latin typeface="宋体" panose="02010600030101010101" pitchFamily="2" charset="-122"/>
                <a:ea typeface="宋体" panose="02010600030101010101" pitchFamily="2" charset="-122"/>
              </a:rPr>
              <a:t>:</a:t>
            </a:r>
          </a:p>
          <a:p>
            <a:pPr marL="342900" indent="-342900" algn="l">
              <a:spcBef>
                <a:spcPts val="600"/>
              </a:spcBef>
              <a:buFont typeface="Arial" panose="020B0604020202020204" pitchFamily="34" charset="0"/>
              <a:buChar char="•"/>
            </a:pPr>
            <a:r>
              <a:rPr lang="zh-CN" altLang="en-US" sz="2000">
                <a:latin typeface="宋体" panose="02010600030101010101" pitchFamily="2" charset="-122"/>
                <a:ea typeface="宋体" panose="02010600030101010101" pitchFamily="2" charset="-122"/>
              </a:rPr>
              <a:t>输入电阻</a:t>
            </a:r>
          </a:p>
          <a:p>
            <a:pPr marL="342900" indent="-342900">
              <a:spcBef>
                <a:spcPts val="600"/>
              </a:spcBef>
              <a:buFont typeface="Arial" panose="020B0604020202020204" pitchFamily="34" charset="0"/>
              <a:buChar char="•"/>
            </a:pPr>
            <a:r>
              <a:rPr lang="zh-CN" altLang="en-US" sz="2000">
                <a:latin typeface="宋体" panose="02010600030101010101" pitchFamily="2" charset="-122"/>
                <a:ea typeface="宋体" panose="02010600030101010101" pitchFamily="2" charset="-122"/>
              </a:rPr>
              <a:t>控制电流</a:t>
            </a:r>
            <a:endParaRPr lang="en-001" sz="2000">
              <a:latin typeface="宋体" panose="02010600030101010101" pitchFamily="2" charset="-122"/>
              <a:ea typeface="宋体" panose="02010600030101010101" pitchFamily="2" charset="-122"/>
            </a:endParaRPr>
          </a:p>
          <a:p>
            <a:pPr marL="342900" indent="-342900" algn="l">
              <a:spcBef>
                <a:spcPts val="600"/>
              </a:spcBef>
              <a:buFont typeface="Arial" panose="020B0604020202020204" pitchFamily="34" charset="0"/>
              <a:buChar char="•"/>
            </a:pPr>
            <a:r>
              <a:rPr lang="zh-CN" altLang="en-US" sz="2000">
                <a:latin typeface="宋体" panose="02010600030101010101" pitchFamily="2" charset="-122"/>
                <a:ea typeface="宋体" panose="02010600030101010101" pitchFamily="2" charset="-122"/>
              </a:rPr>
              <a:t>灵敏系数</a:t>
            </a:r>
            <a:endParaRPr lang="en-001" sz="2000">
              <a:latin typeface="宋体" panose="02010600030101010101" pitchFamily="2" charset="-122"/>
              <a:ea typeface="宋体" panose="02010600030101010101" pitchFamily="2" charset="-122"/>
            </a:endParaRPr>
          </a:p>
        </p:txBody>
      </p:sp>
      <p:graphicFrame>
        <p:nvGraphicFramePr>
          <p:cNvPr id="14" name="Object 4">
            <a:extLst>
              <a:ext uri="{FF2B5EF4-FFF2-40B4-BE49-F238E27FC236}">
                <a16:creationId xmlns:a16="http://schemas.microsoft.com/office/drawing/2014/main" id="{250485B7-C8C1-4272-8938-1C1DF05711CE}"/>
              </a:ext>
            </a:extLst>
          </p:cNvPr>
          <p:cNvGraphicFramePr>
            <a:graphicFrameLocks noChangeAspect="1"/>
          </p:cNvGraphicFramePr>
          <p:nvPr>
            <p:extLst>
              <p:ext uri="{D42A27DB-BD31-4B8C-83A1-F6EECF244321}">
                <p14:modId xmlns:p14="http://schemas.microsoft.com/office/powerpoint/2010/main" val="3343306675"/>
              </p:ext>
            </p:extLst>
          </p:nvPr>
        </p:nvGraphicFramePr>
        <p:xfrm>
          <a:off x="6800735" y="4766126"/>
          <a:ext cx="952552" cy="801230"/>
        </p:xfrm>
        <a:graphic>
          <a:graphicData uri="http://schemas.openxmlformats.org/presentationml/2006/ole">
            <mc:AlternateContent xmlns:mc="http://schemas.openxmlformats.org/markup-compatibility/2006">
              <mc:Choice xmlns:v="urn:schemas-microsoft-com:vml" Requires="v">
                <p:oleObj name="Equation" r:id="rId5" imgW="533490" imgH="447624" progId="Equation.DSMT4">
                  <p:embed/>
                </p:oleObj>
              </mc:Choice>
              <mc:Fallback>
                <p:oleObj name="Equation" r:id="rId5" imgW="533490" imgH="447624" progId="Equation.DSMT4">
                  <p:embed/>
                  <p:pic>
                    <p:nvPicPr>
                      <p:cNvPr id="308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0735" y="4766126"/>
                        <a:ext cx="952552" cy="801230"/>
                      </a:xfrm>
                      <a:prstGeom prst="rect">
                        <a:avLst/>
                      </a:prstGeom>
                      <a:noFill/>
                      <a:ln>
                        <a:noFill/>
                      </a:ln>
                    </p:spPr>
                  </p:pic>
                </p:oleObj>
              </mc:Fallback>
            </mc:AlternateContent>
          </a:graphicData>
        </a:graphic>
      </p:graphicFrame>
      <p:graphicFrame>
        <p:nvGraphicFramePr>
          <p:cNvPr id="15" name="Object 4">
            <a:extLst>
              <a:ext uri="{FF2B5EF4-FFF2-40B4-BE49-F238E27FC236}">
                <a16:creationId xmlns:a16="http://schemas.microsoft.com/office/drawing/2014/main" id="{8E782B59-5422-489E-AA0F-F393D35AEF03}"/>
              </a:ext>
            </a:extLst>
          </p:cNvPr>
          <p:cNvGraphicFramePr>
            <a:graphicFrameLocks noChangeAspect="1"/>
          </p:cNvGraphicFramePr>
          <p:nvPr>
            <p:extLst>
              <p:ext uri="{D42A27DB-BD31-4B8C-83A1-F6EECF244321}">
                <p14:modId xmlns:p14="http://schemas.microsoft.com/office/powerpoint/2010/main" val="1830664001"/>
              </p:ext>
            </p:extLst>
          </p:nvPr>
        </p:nvGraphicFramePr>
        <p:xfrm>
          <a:off x="6800735" y="2851023"/>
          <a:ext cx="1114987" cy="1260464"/>
        </p:xfrm>
        <a:graphic>
          <a:graphicData uri="http://schemas.openxmlformats.org/presentationml/2006/ole">
            <mc:AlternateContent xmlns:mc="http://schemas.openxmlformats.org/markup-compatibility/2006">
              <mc:Choice xmlns:v="urn:schemas-microsoft-com:vml" Requires="v">
                <p:oleObj name="Equation" r:id="rId7" imgW="600142" imgH="676301" progId="Equation.DSMT4">
                  <p:embed/>
                </p:oleObj>
              </mc:Choice>
              <mc:Fallback>
                <p:oleObj name="Equation" r:id="rId7" imgW="600142" imgH="676301" progId="Equation.DSMT4">
                  <p:embed/>
                  <p:pic>
                    <p:nvPicPr>
                      <p:cNvPr id="3083"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00735" y="2851023"/>
                        <a:ext cx="1114987" cy="1260464"/>
                      </a:xfrm>
                      <a:prstGeom prst="rect">
                        <a:avLst/>
                      </a:prstGeom>
                      <a:noFill/>
                      <a:ln>
                        <a:noFill/>
                      </a:ln>
                    </p:spPr>
                  </p:pic>
                </p:oleObj>
              </mc:Fallback>
            </mc:AlternateContent>
          </a:graphicData>
        </a:graphic>
      </p:graphicFrame>
      <p:graphicFrame>
        <p:nvGraphicFramePr>
          <p:cNvPr id="16" name="Object 12">
            <a:extLst>
              <a:ext uri="{FF2B5EF4-FFF2-40B4-BE49-F238E27FC236}">
                <a16:creationId xmlns:a16="http://schemas.microsoft.com/office/drawing/2014/main" id="{0FF30C0F-3498-4D27-8C62-A68045D39902}"/>
              </a:ext>
            </a:extLst>
          </p:cNvPr>
          <p:cNvGraphicFramePr>
            <a:graphicFrameLocks noChangeAspect="1"/>
          </p:cNvGraphicFramePr>
          <p:nvPr>
            <p:extLst>
              <p:ext uri="{D42A27DB-BD31-4B8C-83A1-F6EECF244321}">
                <p14:modId xmlns:p14="http://schemas.microsoft.com/office/powerpoint/2010/main" val="3445516258"/>
              </p:ext>
            </p:extLst>
          </p:nvPr>
        </p:nvGraphicFramePr>
        <p:xfrm>
          <a:off x="5089494" y="1226236"/>
          <a:ext cx="2202424" cy="578644"/>
        </p:xfrm>
        <a:graphic>
          <a:graphicData uri="http://schemas.openxmlformats.org/presentationml/2006/ole">
            <mc:AlternateContent xmlns:mc="http://schemas.openxmlformats.org/markup-compatibility/2006">
              <mc:Choice xmlns:v="urn:schemas-microsoft-com:vml" Requires="v">
                <p:oleObj name="Equation" r:id="rId9" imgW="1917360" imgH="507960" progId="Equation.DSMT4">
                  <p:embed/>
                </p:oleObj>
              </mc:Choice>
              <mc:Fallback>
                <p:oleObj name="Equation" r:id="rId9" imgW="1917360" imgH="507960" progId="Equation.DSMT4">
                  <p:embed/>
                  <p:pic>
                    <p:nvPicPr>
                      <p:cNvPr id="24" name="Object 12">
                        <a:extLst>
                          <a:ext uri="{FF2B5EF4-FFF2-40B4-BE49-F238E27FC236}">
                            <a16:creationId xmlns:a16="http://schemas.microsoft.com/office/drawing/2014/main" id="{3DFD0CDC-8AB9-4805-9AE7-836331CF875E}"/>
                          </a:ext>
                        </a:extLst>
                      </p:cNvPr>
                      <p:cNvPicPr>
                        <a:picLocks noChangeAspect="1" noChangeArrowheads="1"/>
                      </p:cNvPicPr>
                      <p:nvPr/>
                    </p:nvPicPr>
                    <p:blipFill>
                      <a:blip r:embed="rId10"/>
                      <a:srcRect/>
                      <a:stretch>
                        <a:fillRect/>
                      </a:stretch>
                    </p:blipFill>
                    <p:spPr bwMode="auto">
                      <a:xfrm>
                        <a:off x="5089494" y="1226236"/>
                        <a:ext cx="2202424" cy="578644"/>
                      </a:xfrm>
                      <a:prstGeom prst="rect">
                        <a:avLst/>
                      </a:prstGeom>
                      <a:solidFill>
                        <a:srgbClr val="FFFF00"/>
                      </a:solidFill>
                    </p:spPr>
                  </p:pic>
                </p:oleObj>
              </mc:Fallback>
            </mc:AlternateContent>
          </a:graphicData>
        </a:graphic>
      </p:graphicFrame>
      <p:sp>
        <p:nvSpPr>
          <p:cNvPr id="17" name="TextBox 16">
            <a:extLst>
              <a:ext uri="{FF2B5EF4-FFF2-40B4-BE49-F238E27FC236}">
                <a16:creationId xmlns:a16="http://schemas.microsoft.com/office/drawing/2014/main" id="{2F4554B0-CDAD-4262-A1E5-E13DEE2D6675}"/>
              </a:ext>
            </a:extLst>
          </p:cNvPr>
          <p:cNvSpPr txBox="1"/>
          <p:nvPr/>
        </p:nvSpPr>
        <p:spPr>
          <a:xfrm>
            <a:off x="5003769" y="4345418"/>
            <a:ext cx="1556836" cy="1169551"/>
          </a:xfrm>
          <a:prstGeom prst="rect">
            <a:avLst/>
          </a:prstGeom>
          <a:noFill/>
        </p:spPr>
        <p:txBody>
          <a:bodyPr wrap="none" rtlCol="0">
            <a:spAutoFit/>
          </a:bodyPr>
          <a:lstStyle/>
          <a:p>
            <a:pPr algn="l">
              <a:spcBef>
                <a:spcPts val="600"/>
              </a:spcBef>
            </a:pPr>
            <a:r>
              <a:rPr lang="zh-CN" altLang="en-US" sz="2000">
                <a:latin typeface="宋体" panose="02010600030101010101" pitchFamily="2" charset="-122"/>
                <a:ea typeface="宋体" panose="02010600030101010101" pitchFamily="2" charset="-122"/>
              </a:rPr>
              <a:t>分流电阻</a:t>
            </a:r>
          </a:p>
          <a:p>
            <a:pPr marL="342900" indent="-342900" algn="l">
              <a:spcBef>
                <a:spcPts val="600"/>
              </a:spcBef>
              <a:buFont typeface="Arial" panose="020B0604020202020204" pitchFamily="34" charset="0"/>
              <a:buChar char="•"/>
            </a:pPr>
            <a:r>
              <a:rPr lang="zh-CN" altLang="en-US" sz="2000">
                <a:latin typeface="宋体" panose="02010600030101010101" pitchFamily="2" charset="-122"/>
                <a:ea typeface="宋体" panose="02010600030101010101" pitchFamily="2" charset="-122"/>
              </a:rPr>
              <a:t>电阻</a:t>
            </a:r>
            <a:endParaRPr lang="en-US" altLang="zh-CN" sz="2000">
              <a:latin typeface="宋体" panose="02010600030101010101" pitchFamily="2" charset="-122"/>
              <a:ea typeface="宋体" panose="02010600030101010101" pitchFamily="2" charset="-122"/>
            </a:endParaRPr>
          </a:p>
          <a:p>
            <a:pPr marL="342900" indent="-342900" algn="l">
              <a:spcBef>
                <a:spcPts val="600"/>
              </a:spcBef>
              <a:buFont typeface="Arial" panose="020B0604020202020204" pitchFamily="34" charset="0"/>
              <a:buChar char="•"/>
            </a:pPr>
            <a:r>
              <a:rPr lang="zh-CN" altLang="en-US" sz="2000">
                <a:latin typeface="宋体" panose="02010600030101010101" pitchFamily="2" charset="-122"/>
                <a:ea typeface="宋体" panose="02010600030101010101" pitchFamily="2" charset="-122"/>
              </a:rPr>
              <a:t>分流的流</a:t>
            </a:r>
          </a:p>
        </p:txBody>
      </p:sp>
      <p:sp>
        <p:nvSpPr>
          <p:cNvPr id="18" name="矩形 4">
            <a:extLst>
              <a:ext uri="{FF2B5EF4-FFF2-40B4-BE49-F238E27FC236}">
                <a16:creationId xmlns:a16="http://schemas.microsoft.com/office/drawing/2014/main" id="{1E71ADD2-1997-4951-974E-6A4D5FECEF22}"/>
              </a:ext>
            </a:extLst>
          </p:cNvPr>
          <p:cNvSpPr/>
          <p:nvPr/>
        </p:nvSpPr>
        <p:spPr>
          <a:xfrm>
            <a:off x="4916370" y="1980560"/>
            <a:ext cx="2360641" cy="461663"/>
          </a:xfrm>
          <a:prstGeom prst="rect">
            <a:avLst/>
          </a:prstGeom>
        </p:spPr>
        <p:txBody>
          <a:bodyPr wrap="square" lIns="91438" tIns="45719" rIns="91438" bIns="45719">
            <a:spAutoFit/>
          </a:bodyPr>
          <a:lstStyle/>
          <a:p>
            <a:pPr>
              <a:spcBef>
                <a:spcPts val="670"/>
              </a:spcBef>
            </a:pPr>
            <a:r>
              <a:rPr lang="zh-CN" altLang="en-US" sz="2400" b="1">
                <a:latin typeface="Arial" panose="020B0604020202020204" pitchFamily="34" charset="0"/>
                <a:ea typeface="宋体" panose="02010600030101010101" pitchFamily="2" charset="-122"/>
                <a:cs typeface="Arial" panose="020B0604020202020204" pitchFamily="34" charset="0"/>
                <a:sym typeface="+mn-ea"/>
              </a:rPr>
              <a:t>温度发生变化：</a:t>
            </a:r>
            <a:endParaRPr lang="zh-CN" altLang="en-US" sz="2400" b="1" dirty="0">
              <a:latin typeface="宋体" panose="02010600030101010101" pitchFamily="2" charset="-122"/>
              <a:ea typeface="宋体" panose="02010600030101010101" pitchFamily="2" charset="-122"/>
              <a:cs typeface="Arial" panose="020B0604020202020204" pitchFamily="34" charset="0"/>
              <a:sym typeface="+mn-ea"/>
            </a:endParaRPr>
          </a:p>
        </p:txBody>
      </p:sp>
    </p:spTree>
    <p:extLst>
      <p:ext uri="{BB962C8B-B14F-4D97-AF65-F5344CB8AC3E}">
        <p14:creationId xmlns:p14="http://schemas.microsoft.com/office/powerpoint/2010/main" val="2992141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5.2.4</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霍尔元件的补偿电路</a:t>
            </a:r>
          </a:p>
        </p:txBody>
      </p:sp>
      <p:sp>
        <p:nvSpPr>
          <p:cNvPr id="5" name="矩形 4"/>
          <p:cNvSpPr/>
          <p:nvPr/>
        </p:nvSpPr>
        <p:spPr>
          <a:xfrm>
            <a:off x="315884" y="1200823"/>
            <a:ext cx="7039451" cy="461663"/>
          </a:xfrm>
          <a:prstGeom prst="rect">
            <a:avLst/>
          </a:prstGeom>
        </p:spPr>
        <p:txBody>
          <a:bodyPr wrap="square" lIns="91438" tIns="45719" rIns="91438" bIns="45719">
            <a:spAutoFit/>
          </a:bodyPr>
          <a:lstStyle/>
          <a:p>
            <a:pPr>
              <a:spcBef>
                <a:spcPts val="670"/>
              </a:spcBef>
            </a:pP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sym typeface="+mn-ea"/>
              </a:rPr>
              <a:t>温度补偿：</a:t>
            </a:r>
            <a:r>
              <a:rPr kumimoji="0" lang="zh-CN" altLang="en-US" sz="2400" b="1">
                <a:solidFill>
                  <a:srgbClr val="3333CC"/>
                </a:solidFill>
                <a:latin typeface="宋体" panose="02010600030101010101" pitchFamily="2" charset="-122"/>
                <a:ea typeface="宋体" panose="02010600030101010101" pitchFamily="2" charset="-122"/>
              </a:rPr>
              <a:t>分流电阻法</a:t>
            </a:r>
            <a:endPar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sym typeface="+mn-ea"/>
            </a:endParaRPr>
          </a:p>
        </p:txBody>
      </p:sp>
      <p:sp>
        <p:nvSpPr>
          <p:cNvPr id="2" name="Slide Number Placeholder 1">
            <a:extLst>
              <a:ext uri="{FF2B5EF4-FFF2-40B4-BE49-F238E27FC236}">
                <a16:creationId xmlns:a16="http://schemas.microsoft.com/office/drawing/2014/main" id="{78334426-E4B7-42F2-8B07-29DC56B91AD1}"/>
              </a:ext>
            </a:extLst>
          </p:cNvPr>
          <p:cNvSpPr>
            <a:spLocks noGrp="1"/>
          </p:cNvSpPr>
          <p:nvPr>
            <p:ph type="sldNum" sz="quarter" idx="12"/>
          </p:nvPr>
        </p:nvSpPr>
        <p:spPr/>
        <p:txBody>
          <a:bodyPr/>
          <a:lstStyle/>
          <a:p>
            <a:fld id="{B53602B4-F12B-41CD-B648-531F86B2CC91}" type="slidenum">
              <a:rPr lang="zh-CN" altLang="en-US" smtClean="0"/>
              <a:t>47</a:t>
            </a:fld>
            <a:endParaRPr lang="zh-CN" altLang="en-US"/>
          </a:p>
        </p:txBody>
      </p:sp>
      <p:graphicFrame>
        <p:nvGraphicFramePr>
          <p:cNvPr id="13" name="Object 132">
            <a:extLst>
              <a:ext uri="{FF2B5EF4-FFF2-40B4-BE49-F238E27FC236}">
                <a16:creationId xmlns:a16="http://schemas.microsoft.com/office/drawing/2014/main" id="{FE0308B5-1649-4E53-A28C-6E37913449A7}"/>
              </a:ext>
            </a:extLst>
          </p:cNvPr>
          <p:cNvGraphicFramePr>
            <a:graphicFrameLocks noChangeAspect="1"/>
          </p:cNvGraphicFramePr>
          <p:nvPr/>
        </p:nvGraphicFramePr>
        <p:xfrm>
          <a:off x="185083" y="1804880"/>
          <a:ext cx="3492113" cy="2629007"/>
        </p:xfrm>
        <a:graphic>
          <a:graphicData uri="http://schemas.openxmlformats.org/presentationml/2006/ole">
            <mc:AlternateContent xmlns:mc="http://schemas.openxmlformats.org/markup-compatibility/2006">
              <mc:Choice xmlns:v="urn:schemas-microsoft-com:vml" Requires="v">
                <p:oleObj name="位图图像" r:id="rId3" imgW="3971429" imgH="2991268" progId="Paint.Picture">
                  <p:embed/>
                </p:oleObj>
              </mc:Choice>
              <mc:Fallback>
                <p:oleObj name="位图图像" r:id="rId3" imgW="3971429" imgH="2991268" progId="Paint.Picture">
                  <p:embed/>
                  <p:pic>
                    <p:nvPicPr>
                      <p:cNvPr id="13" name="Object 132">
                        <a:extLst>
                          <a:ext uri="{FF2B5EF4-FFF2-40B4-BE49-F238E27FC236}">
                            <a16:creationId xmlns:a16="http://schemas.microsoft.com/office/drawing/2014/main" id="{FE0308B5-1649-4E53-A28C-6E37913449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083" y="1804880"/>
                        <a:ext cx="3492113" cy="2629007"/>
                      </a:xfrm>
                      <a:prstGeom prst="rect">
                        <a:avLst/>
                      </a:prstGeom>
                      <a:noFill/>
                      <a:ln>
                        <a:noFill/>
                      </a:ln>
                      <a:effectLst/>
                    </p:spPr>
                  </p:pic>
                </p:oleObj>
              </mc:Fallback>
            </mc:AlternateContent>
          </a:graphicData>
        </a:graphic>
      </p:graphicFrame>
      <p:graphicFrame>
        <p:nvGraphicFramePr>
          <p:cNvPr id="16" name="Object 12">
            <a:extLst>
              <a:ext uri="{FF2B5EF4-FFF2-40B4-BE49-F238E27FC236}">
                <a16:creationId xmlns:a16="http://schemas.microsoft.com/office/drawing/2014/main" id="{0FF30C0F-3498-4D27-8C62-A68045D39902}"/>
              </a:ext>
            </a:extLst>
          </p:cNvPr>
          <p:cNvGraphicFramePr>
            <a:graphicFrameLocks noChangeAspect="1"/>
          </p:cNvGraphicFramePr>
          <p:nvPr/>
        </p:nvGraphicFramePr>
        <p:xfrm>
          <a:off x="5089494" y="1226236"/>
          <a:ext cx="2202424" cy="578644"/>
        </p:xfrm>
        <a:graphic>
          <a:graphicData uri="http://schemas.openxmlformats.org/presentationml/2006/ole">
            <mc:AlternateContent xmlns:mc="http://schemas.openxmlformats.org/markup-compatibility/2006">
              <mc:Choice xmlns:v="urn:schemas-microsoft-com:vml" Requires="v">
                <p:oleObj name="Equation" r:id="rId5" imgW="1917360" imgH="507960" progId="Equation.DSMT4">
                  <p:embed/>
                </p:oleObj>
              </mc:Choice>
              <mc:Fallback>
                <p:oleObj name="Equation" r:id="rId5" imgW="1917360" imgH="507960" progId="Equation.DSMT4">
                  <p:embed/>
                  <p:pic>
                    <p:nvPicPr>
                      <p:cNvPr id="16" name="Object 12">
                        <a:extLst>
                          <a:ext uri="{FF2B5EF4-FFF2-40B4-BE49-F238E27FC236}">
                            <a16:creationId xmlns:a16="http://schemas.microsoft.com/office/drawing/2014/main" id="{0FF30C0F-3498-4D27-8C62-A68045D39902}"/>
                          </a:ext>
                        </a:extLst>
                      </p:cNvPr>
                      <p:cNvPicPr>
                        <a:picLocks noChangeAspect="1" noChangeArrowheads="1"/>
                      </p:cNvPicPr>
                      <p:nvPr/>
                    </p:nvPicPr>
                    <p:blipFill>
                      <a:blip r:embed="rId6"/>
                      <a:srcRect/>
                      <a:stretch>
                        <a:fillRect/>
                      </a:stretch>
                    </p:blipFill>
                    <p:spPr bwMode="auto">
                      <a:xfrm>
                        <a:off x="5089494" y="1226236"/>
                        <a:ext cx="2202424" cy="578644"/>
                      </a:xfrm>
                      <a:prstGeom prst="rect">
                        <a:avLst/>
                      </a:prstGeom>
                      <a:solidFill>
                        <a:srgbClr val="FFFF00"/>
                      </a:solidFill>
                    </p:spPr>
                  </p:pic>
                </p:oleObj>
              </mc:Fallback>
            </mc:AlternateContent>
          </a:graphicData>
        </a:graphic>
      </p:graphicFrame>
      <p:pic>
        <p:nvPicPr>
          <p:cNvPr id="3" name="Picture 2">
            <a:extLst>
              <a:ext uri="{FF2B5EF4-FFF2-40B4-BE49-F238E27FC236}">
                <a16:creationId xmlns:a16="http://schemas.microsoft.com/office/drawing/2014/main" id="{C926ED52-680B-40AA-BC6A-047AD5B08C0F}"/>
              </a:ext>
            </a:extLst>
          </p:cNvPr>
          <p:cNvPicPr>
            <a:picLocks noChangeAspect="1"/>
          </p:cNvPicPr>
          <p:nvPr/>
        </p:nvPicPr>
        <p:blipFill>
          <a:blip r:embed="rId7"/>
          <a:stretch>
            <a:fillRect/>
          </a:stretch>
        </p:blipFill>
        <p:spPr>
          <a:xfrm>
            <a:off x="622301" y="4170197"/>
            <a:ext cx="2359193" cy="1331570"/>
          </a:xfrm>
          <a:prstGeom prst="rect">
            <a:avLst/>
          </a:prstGeom>
        </p:spPr>
      </p:pic>
      <p:pic>
        <p:nvPicPr>
          <p:cNvPr id="6" name="Picture 5">
            <a:extLst>
              <a:ext uri="{FF2B5EF4-FFF2-40B4-BE49-F238E27FC236}">
                <a16:creationId xmlns:a16="http://schemas.microsoft.com/office/drawing/2014/main" id="{E970C66D-079F-4155-BCFF-8A9434C5DA35}"/>
              </a:ext>
            </a:extLst>
          </p:cNvPr>
          <p:cNvPicPr>
            <a:picLocks noChangeAspect="1"/>
          </p:cNvPicPr>
          <p:nvPr/>
        </p:nvPicPr>
        <p:blipFill>
          <a:blip r:embed="rId8"/>
          <a:stretch>
            <a:fillRect/>
          </a:stretch>
        </p:blipFill>
        <p:spPr>
          <a:xfrm>
            <a:off x="584201" y="5501767"/>
            <a:ext cx="2288761" cy="1060162"/>
          </a:xfrm>
          <a:prstGeom prst="rect">
            <a:avLst/>
          </a:prstGeom>
        </p:spPr>
      </p:pic>
      <p:grpSp>
        <p:nvGrpSpPr>
          <p:cNvPr id="10" name="Group 9">
            <a:extLst>
              <a:ext uri="{FF2B5EF4-FFF2-40B4-BE49-F238E27FC236}">
                <a16:creationId xmlns:a16="http://schemas.microsoft.com/office/drawing/2014/main" id="{824FEE7C-DC01-418F-BBE7-C63C56A29927}"/>
              </a:ext>
            </a:extLst>
          </p:cNvPr>
          <p:cNvGrpSpPr/>
          <p:nvPr/>
        </p:nvGrpSpPr>
        <p:grpSpPr>
          <a:xfrm>
            <a:off x="3879610" y="3184818"/>
            <a:ext cx="5086590" cy="2607194"/>
            <a:chOff x="3996054" y="3323896"/>
            <a:chExt cx="5086590" cy="2607194"/>
          </a:xfrm>
        </p:grpSpPr>
        <p:graphicFrame>
          <p:nvGraphicFramePr>
            <p:cNvPr id="21" name="Object 4">
              <a:extLst>
                <a:ext uri="{FF2B5EF4-FFF2-40B4-BE49-F238E27FC236}">
                  <a16:creationId xmlns:a16="http://schemas.microsoft.com/office/drawing/2014/main" id="{1E8727AF-D0DD-4C31-8A5D-60C15459E994}"/>
                </a:ext>
              </a:extLst>
            </p:cNvPr>
            <p:cNvGraphicFramePr>
              <a:graphicFrameLocks noChangeAspect="1"/>
            </p:cNvGraphicFramePr>
            <p:nvPr>
              <p:extLst>
                <p:ext uri="{D42A27DB-BD31-4B8C-83A1-F6EECF244321}">
                  <p14:modId xmlns:p14="http://schemas.microsoft.com/office/powerpoint/2010/main" val="3468068791"/>
                </p:ext>
              </p:extLst>
            </p:nvPr>
          </p:nvGraphicFramePr>
          <p:xfrm>
            <a:off x="4330371" y="3323896"/>
            <a:ext cx="1356354" cy="588403"/>
          </p:xfrm>
          <a:graphic>
            <a:graphicData uri="http://schemas.openxmlformats.org/presentationml/2006/ole">
              <mc:AlternateContent xmlns:mc="http://schemas.openxmlformats.org/markup-compatibility/2006">
                <mc:Choice xmlns:v="urn:schemas-microsoft-com:vml" Requires="v">
                  <p:oleObj name="Equation" r:id="rId9" imgW="1295280" imgH="558720" progId="Equation.DSMT4">
                    <p:embed/>
                  </p:oleObj>
                </mc:Choice>
                <mc:Fallback>
                  <p:oleObj name="Equation" r:id="rId9" imgW="1295280" imgH="558720" progId="Equation.DSMT4">
                    <p:embed/>
                    <p:pic>
                      <p:nvPicPr>
                        <p:cNvPr id="4099" name="Object 4"/>
                        <p:cNvPicPr>
                          <a:picLocks noChangeAspect="1" noChangeArrowheads="1"/>
                        </p:cNvPicPr>
                        <p:nvPr/>
                      </p:nvPicPr>
                      <p:blipFill>
                        <a:blip r:embed="rId10"/>
                        <a:srcRect/>
                        <a:stretch>
                          <a:fillRect/>
                        </a:stretch>
                      </p:blipFill>
                      <p:spPr bwMode="auto">
                        <a:xfrm>
                          <a:off x="4330371" y="3323896"/>
                          <a:ext cx="1356354" cy="588403"/>
                        </a:xfrm>
                        <a:prstGeom prst="rect">
                          <a:avLst/>
                        </a:prstGeom>
                        <a:noFill/>
                        <a:ln>
                          <a:noFill/>
                        </a:ln>
                      </p:spPr>
                    </p:pic>
                  </p:oleObj>
                </mc:Fallback>
              </mc:AlternateContent>
            </a:graphicData>
          </a:graphic>
        </p:graphicFrame>
        <p:graphicFrame>
          <p:nvGraphicFramePr>
            <p:cNvPr id="22" name="Object 6">
              <a:extLst>
                <a:ext uri="{FF2B5EF4-FFF2-40B4-BE49-F238E27FC236}">
                  <a16:creationId xmlns:a16="http://schemas.microsoft.com/office/drawing/2014/main" id="{5BF2704D-4359-4C5B-ADA2-EA5D696DA93E}"/>
                </a:ext>
              </a:extLst>
            </p:cNvPr>
            <p:cNvGraphicFramePr>
              <a:graphicFrameLocks noChangeAspect="1"/>
            </p:cNvGraphicFramePr>
            <p:nvPr>
              <p:extLst>
                <p:ext uri="{D42A27DB-BD31-4B8C-83A1-F6EECF244321}">
                  <p14:modId xmlns:p14="http://schemas.microsoft.com/office/powerpoint/2010/main" val="1278644567"/>
                </p:ext>
              </p:extLst>
            </p:nvPr>
          </p:nvGraphicFramePr>
          <p:xfrm>
            <a:off x="4330371" y="3955371"/>
            <a:ext cx="2859568" cy="592097"/>
          </p:xfrm>
          <a:graphic>
            <a:graphicData uri="http://schemas.openxmlformats.org/presentationml/2006/ole">
              <mc:AlternateContent xmlns:mc="http://schemas.openxmlformats.org/markup-compatibility/2006">
                <mc:Choice xmlns:v="urn:schemas-microsoft-com:vml" Requires="v">
                  <p:oleObj r:id="rId11" imgW="2159000" imgH="444500" progId="Equation.3">
                    <p:embed/>
                  </p:oleObj>
                </mc:Choice>
                <mc:Fallback>
                  <p:oleObj r:id="rId11" imgW="2159000" imgH="444500" progId="Equation.3">
                    <p:embed/>
                    <p:pic>
                      <p:nvPicPr>
                        <p:cNvPr id="4101"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30371" y="3955371"/>
                          <a:ext cx="2859568" cy="592097"/>
                        </a:xfrm>
                        <a:prstGeom prst="rect">
                          <a:avLst/>
                        </a:prstGeom>
                        <a:noFill/>
                        <a:ln>
                          <a:noFill/>
                        </a:ln>
                      </p:spPr>
                    </p:pic>
                  </p:oleObj>
                </mc:Fallback>
              </mc:AlternateContent>
            </a:graphicData>
          </a:graphic>
        </p:graphicFrame>
        <p:graphicFrame>
          <p:nvGraphicFramePr>
            <p:cNvPr id="23" name="Object 8">
              <a:extLst>
                <a:ext uri="{FF2B5EF4-FFF2-40B4-BE49-F238E27FC236}">
                  <a16:creationId xmlns:a16="http://schemas.microsoft.com/office/drawing/2014/main" id="{4A131019-E5A1-4AAA-BBB8-850B06E12315}"/>
                </a:ext>
              </a:extLst>
            </p:cNvPr>
            <p:cNvGraphicFramePr>
              <a:graphicFrameLocks noChangeAspect="1"/>
            </p:cNvGraphicFramePr>
            <p:nvPr>
              <p:extLst>
                <p:ext uri="{D42A27DB-BD31-4B8C-83A1-F6EECF244321}">
                  <p14:modId xmlns:p14="http://schemas.microsoft.com/office/powerpoint/2010/main" val="2997669554"/>
                </p:ext>
              </p:extLst>
            </p:nvPr>
          </p:nvGraphicFramePr>
          <p:xfrm>
            <a:off x="4269481" y="4603068"/>
            <a:ext cx="4813163" cy="1328022"/>
          </p:xfrm>
          <a:graphic>
            <a:graphicData uri="http://schemas.openxmlformats.org/presentationml/2006/ole">
              <mc:AlternateContent xmlns:mc="http://schemas.openxmlformats.org/markup-compatibility/2006">
                <mc:Choice xmlns:v="urn:schemas-microsoft-com:vml" Requires="v">
                  <p:oleObj name="Equation" r:id="rId13" imgW="3340080" imgH="927000" progId="Equation.DSMT4">
                    <p:embed/>
                  </p:oleObj>
                </mc:Choice>
                <mc:Fallback>
                  <p:oleObj name="Equation" r:id="rId13" imgW="3340080" imgH="927000" progId="Equation.DSMT4">
                    <p:embed/>
                    <p:pic>
                      <p:nvPicPr>
                        <p:cNvPr id="4103" name="Object 8"/>
                        <p:cNvPicPr>
                          <a:picLocks noChangeAspect="1" noChangeArrowheads="1"/>
                        </p:cNvPicPr>
                        <p:nvPr/>
                      </p:nvPicPr>
                      <p:blipFill>
                        <a:blip r:embed="rId14"/>
                        <a:srcRect/>
                        <a:stretch>
                          <a:fillRect/>
                        </a:stretch>
                      </p:blipFill>
                      <p:spPr bwMode="auto">
                        <a:xfrm>
                          <a:off x="4269481" y="4603068"/>
                          <a:ext cx="4813163" cy="1328022"/>
                        </a:xfrm>
                        <a:prstGeom prst="rect">
                          <a:avLst/>
                        </a:prstGeom>
                        <a:noFill/>
                        <a:ln>
                          <a:noFill/>
                        </a:ln>
                      </p:spPr>
                    </p:pic>
                  </p:oleObj>
                </mc:Fallback>
              </mc:AlternateContent>
            </a:graphicData>
          </a:graphic>
        </p:graphicFrame>
        <p:sp>
          <p:nvSpPr>
            <p:cNvPr id="24" name="AutoShape 18">
              <a:extLst>
                <a:ext uri="{FF2B5EF4-FFF2-40B4-BE49-F238E27FC236}">
                  <a16:creationId xmlns:a16="http://schemas.microsoft.com/office/drawing/2014/main" id="{769E48D5-38BA-4552-A56B-D9343F95FDEF}"/>
                </a:ext>
              </a:extLst>
            </p:cNvPr>
            <p:cNvSpPr>
              <a:spLocks/>
            </p:cNvSpPr>
            <p:nvPr/>
          </p:nvSpPr>
          <p:spPr bwMode="auto">
            <a:xfrm>
              <a:off x="3996054" y="3493986"/>
              <a:ext cx="234804" cy="2230437"/>
            </a:xfrm>
            <a:prstGeom prst="leftBrace">
              <a:avLst>
                <a:gd name="adj1" fmla="val 708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2" name="Group 11">
            <a:extLst>
              <a:ext uri="{FF2B5EF4-FFF2-40B4-BE49-F238E27FC236}">
                <a16:creationId xmlns:a16="http://schemas.microsoft.com/office/drawing/2014/main" id="{57CCA036-71B2-4206-A054-FE94A66C1EAE}"/>
              </a:ext>
            </a:extLst>
          </p:cNvPr>
          <p:cNvGrpSpPr/>
          <p:nvPr/>
        </p:nvGrpSpPr>
        <p:grpSpPr>
          <a:xfrm>
            <a:off x="3892853" y="1897168"/>
            <a:ext cx="3642908" cy="1219820"/>
            <a:chOff x="3892853" y="1897168"/>
            <a:chExt cx="3642908" cy="1219820"/>
          </a:xfrm>
        </p:grpSpPr>
        <p:graphicFrame>
          <p:nvGraphicFramePr>
            <p:cNvPr id="7" name="Object 6">
              <a:extLst>
                <a:ext uri="{FF2B5EF4-FFF2-40B4-BE49-F238E27FC236}">
                  <a16:creationId xmlns:a16="http://schemas.microsoft.com/office/drawing/2014/main" id="{0E26C623-5428-43D6-862A-F66975D834DD}"/>
                </a:ext>
              </a:extLst>
            </p:cNvPr>
            <p:cNvGraphicFramePr>
              <a:graphicFrameLocks noChangeAspect="1"/>
            </p:cNvGraphicFramePr>
            <p:nvPr>
              <p:extLst>
                <p:ext uri="{D42A27DB-BD31-4B8C-83A1-F6EECF244321}">
                  <p14:modId xmlns:p14="http://schemas.microsoft.com/office/powerpoint/2010/main" val="3905369016"/>
                </p:ext>
              </p:extLst>
            </p:nvPr>
          </p:nvGraphicFramePr>
          <p:xfrm>
            <a:off x="4116623" y="1897168"/>
            <a:ext cx="1830972" cy="1180509"/>
          </p:xfrm>
          <a:graphic>
            <a:graphicData uri="http://schemas.openxmlformats.org/presentationml/2006/ole">
              <mc:AlternateContent xmlns:mc="http://schemas.openxmlformats.org/markup-compatibility/2006">
                <mc:Choice xmlns:v="urn:schemas-microsoft-com:vml" Requires="v">
                  <p:oleObj name="Equation" r:id="rId15" imgW="1269720" imgH="749160" progId="Equation.DSMT4">
                    <p:embed/>
                  </p:oleObj>
                </mc:Choice>
                <mc:Fallback>
                  <p:oleObj name="Equation" r:id="rId15" imgW="1269720" imgH="749160" progId="Equation.DSMT4">
                    <p:embed/>
                    <p:pic>
                      <p:nvPicPr>
                        <p:cNvPr id="0" name=""/>
                        <p:cNvPicPr/>
                        <p:nvPr/>
                      </p:nvPicPr>
                      <p:blipFill>
                        <a:blip r:embed="rId16"/>
                        <a:stretch>
                          <a:fillRect/>
                        </a:stretch>
                      </p:blipFill>
                      <p:spPr>
                        <a:xfrm>
                          <a:off x="4116623" y="1897168"/>
                          <a:ext cx="1830972" cy="1180509"/>
                        </a:xfrm>
                        <a:prstGeom prst="rect">
                          <a:avLst/>
                        </a:prstGeom>
                        <a:noFill/>
                      </p:spPr>
                    </p:pic>
                  </p:oleObj>
                </mc:Fallback>
              </mc:AlternateContent>
            </a:graphicData>
          </a:graphic>
        </p:graphicFrame>
        <p:graphicFrame>
          <p:nvGraphicFramePr>
            <p:cNvPr id="19" name="Object 8">
              <a:extLst>
                <a:ext uri="{FF2B5EF4-FFF2-40B4-BE49-F238E27FC236}">
                  <a16:creationId xmlns:a16="http://schemas.microsoft.com/office/drawing/2014/main" id="{3503EE57-1F9D-45BC-BE92-CF41F86E6CEB}"/>
                </a:ext>
              </a:extLst>
            </p:cNvPr>
            <p:cNvGraphicFramePr>
              <a:graphicFrameLocks noChangeAspect="1"/>
            </p:cNvGraphicFramePr>
            <p:nvPr>
              <p:extLst>
                <p:ext uri="{D42A27DB-BD31-4B8C-83A1-F6EECF244321}">
                  <p14:modId xmlns:p14="http://schemas.microsoft.com/office/powerpoint/2010/main" val="4089808155"/>
                </p:ext>
              </p:extLst>
            </p:nvPr>
          </p:nvGraphicFramePr>
          <p:xfrm>
            <a:off x="6137661" y="2100030"/>
            <a:ext cx="1074870" cy="364946"/>
          </p:xfrm>
          <a:graphic>
            <a:graphicData uri="http://schemas.openxmlformats.org/presentationml/2006/ole">
              <mc:AlternateContent xmlns:mc="http://schemas.openxmlformats.org/markup-compatibility/2006">
                <mc:Choice xmlns:v="urn:schemas-microsoft-com:vml" Requires="v">
                  <p:oleObj name="Equation" r:id="rId17" imgW="812520" imgH="253800" progId="Equation.DSMT4">
                    <p:embed/>
                  </p:oleObj>
                </mc:Choice>
                <mc:Fallback>
                  <p:oleObj name="Equation" r:id="rId17" imgW="812520" imgH="253800" progId="Equation.DSMT4">
                    <p:embed/>
                    <p:pic>
                      <p:nvPicPr>
                        <p:cNvPr id="3077" name="Object 8"/>
                        <p:cNvPicPr>
                          <a:picLocks noChangeAspect="1" noChangeArrowheads="1"/>
                        </p:cNvPicPr>
                        <p:nvPr/>
                      </p:nvPicPr>
                      <p:blipFill>
                        <a:blip r:embed="rId18"/>
                        <a:srcRect/>
                        <a:stretch>
                          <a:fillRect/>
                        </a:stretch>
                      </p:blipFill>
                      <p:spPr bwMode="auto">
                        <a:xfrm>
                          <a:off x="6137661" y="2100030"/>
                          <a:ext cx="1074870" cy="364946"/>
                        </a:xfrm>
                        <a:prstGeom prst="rect">
                          <a:avLst/>
                        </a:prstGeom>
                        <a:noFill/>
                        <a:ln>
                          <a:noFill/>
                        </a:ln>
                      </p:spPr>
                    </p:pic>
                  </p:oleObj>
                </mc:Fallback>
              </mc:AlternateContent>
            </a:graphicData>
          </a:graphic>
        </p:graphicFrame>
        <p:sp>
          <p:nvSpPr>
            <p:cNvPr id="20" name="Text Box 10">
              <a:extLst>
                <a:ext uri="{FF2B5EF4-FFF2-40B4-BE49-F238E27FC236}">
                  <a16:creationId xmlns:a16="http://schemas.microsoft.com/office/drawing/2014/main" id="{82AAD344-FF13-4E4F-BC65-32D23AEC8B33}"/>
                </a:ext>
              </a:extLst>
            </p:cNvPr>
            <p:cNvSpPr txBox="1">
              <a:spLocks noChangeArrowheads="1"/>
            </p:cNvSpPr>
            <p:nvPr/>
          </p:nvSpPr>
          <p:spPr bwMode="auto">
            <a:xfrm>
              <a:off x="6034493" y="2464976"/>
              <a:ext cx="15012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t>为温度系数</a:t>
              </a:r>
            </a:p>
          </p:txBody>
        </p:sp>
        <p:sp>
          <p:nvSpPr>
            <p:cNvPr id="25" name="AutoShape 18">
              <a:extLst>
                <a:ext uri="{FF2B5EF4-FFF2-40B4-BE49-F238E27FC236}">
                  <a16:creationId xmlns:a16="http://schemas.microsoft.com/office/drawing/2014/main" id="{95791237-826F-4563-B8C4-2F4E022A4835}"/>
                </a:ext>
              </a:extLst>
            </p:cNvPr>
            <p:cNvSpPr>
              <a:spLocks/>
            </p:cNvSpPr>
            <p:nvPr/>
          </p:nvSpPr>
          <p:spPr bwMode="auto">
            <a:xfrm>
              <a:off x="3892853" y="1978750"/>
              <a:ext cx="225123" cy="1138238"/>
            </a:xfrm>
            <a:prstGeom prst="leftBrace">
              <a:avLst>
                <a:gd name="adj1" fmla="val 70833"/>
                <a:gd name="adj2" fmla="val 5083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9" name="Object 8">
            <a:extLst>
              <a:ext uri="{FF2B5EF4-FFF2-40B4-BE49-F238E27FC236}">
                <a16:creationId xmlns:a16="http://schemas.microsoft.com/office/drawing/2014/main" id="{9084E5DB-C7CE-4352-9EF2-D55A78F9B235}"/>
              </a:ext>
            </a:extLst>
          </p:cNvPr>
          <p:cNvGraphicFramePr>
            <a:graphicFrameLocks noChangeAspect="1"/>
          </p:cNvGraphicFramePr>
          <p:nvPr>
            <p:extLst>
              <p:ext uri="{D42A27DB-BD31-4B8C-83A1-F6EECF244321}">
                <p14:modId xmlns:p14="http://schemas.microsoft.com/office/powerpoint/2010/main" val="4035885696"/>
              </p:ext>
            </p:extLst>
          </p:nvPr>
        </p:nvGraphicFramePr>
        <p:xfrm>
          <a:off x="4047447" y="5899153"/>
          <a:ext cx="4071980" cy="635329"/>
        </p:xfrm>
        <a:graphic>
          <a:graphicData uri="http://schemas.openxmlformats.org/presentationml/2006/ole">
            <mc:AlternateContent xmlns:mc="http://schemas.openxmlformats.org/markup-compatibility/2006">
              <mc:Choice xmlns:v="urn:schemas-microsoft-com:vml" Requires="v">
                <p:oleObj name="Equation" r:id="rId19" imgW="3822480" imgH="596880" progId="Equation.DSMT4">
                  <p:embed/>
                </p:oleObj>
              </mc:Choice>
              <mc:Fallback>
                <p:oleObj name="Equation" r:id="rId19" imgW="3822480" imgH="596880" progId="Equation.DSMT4">
                  <p:embed/>
                  <p:pic>
                    <p:nvPicPr>
                      <p:cNvPr id="0" name=""/>
                      <p:cNvPicPr/>
                      <p:nvPr/>
                    </p:nvPicPr>
                    <p:blipFill>
                      <a:blip r:embed="rId20"/>
                      <a:stretch>
                        <a:fillRect/>
                      </a:stretch>
                    </p:blipFill>
                    <p:spPr>
                      <a:xfrm>
                        <a:off x="4047447" y="5899153"/>
                        <a:ext cx="4071980" cy="635329"/>
                      </a:xfrm>
                      <a:prstGeom prst="rect">
                        <a:avLst/>
                      </a:prstGeom>
                    </p:spPr>
                  </p:pic>
                </p:oleObj>
              </mc:Fallback>
            </mc:AlternateContent>
          </a:graphicData>
        </a:graphic>
      </p:graphicFrame>
    </p:spTree>
    <p:extLst>
      <p:ext uri="{BB962C8B-B14F-4D97-AF65-F5344CB8AC3E}">
        <p14:creationId xmlns:p14="http://schemas.microsoft.com/office/powerpoint/2010/main" val="13153200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5.2.4</a:t>
            </a:r>
          </a:p>
        </p:txBody>
      </p:sp>
      <p:sp>
        <p:nvSpPr>
          <p:cNvPr id="46" name="矩形 45"/>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霍尔元件的补偿电路</a:t>
            </a:r>
          </a:p>
        </p:txBody>
      </p:sp>
      <p:sp>
        <p:nvSpPr>
          <p:cNvPr id="5" name="矩形 4"/>
          <p:cNvSpPr/>
          <p:nvPr/>
        </p:nvSpPr>
        <p:spPr>
          <a:xfrm>
            <a:off x="315884" y="1200823"/>
            <a:ext cx="7039451" cy="461663"/>
          </a:xfrm>
          <a:prstGeom prst="rect">
            <a:avLst/>
          </a:prstGeom>
        </p:spPr>
        <p:txBody>
          <a:bodyPr wrap="square" lIns="91438" tIns="45719" rIns="91438" bIns="45719">
            <a:spAutoFit/>
          </a:bodyPr>
          <a:lstStyle/>
          <a:p>
            <a:pPr>
              <a:spcBef>
                <a:spcPts val="670"/>
              </a:spcBef>
            </a:pP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sym typeface="+mn-ea"/>
              </a:rPr>
              <a:t>温度补偿：</a:t>
            </a:r>
            <a:r>
              <a:rPr kumimoji="0" lang="zh-CN" altLang="en-US" sz="2400" b="1">
                <a:solidFill>
                  <a:srgbClr val="3333CC"/>
                </a:solidFill>
                <a:latin typeface="宋体" panose="02010600030101010101" pitchFamily="2" charset="-122"/>
                <a:ea typeface="宋体" panose="02010600030101010101" pitchFamily="2" charset="-122"/>
              </a:rPr>
              <a:t>分流电阻法</a:t>
            </a:r>
            <a:endPar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sym typeface="+mn-ea"/>
            </a:endParaRPr>
          </a:p>
        </p:txBody>
      </p:sp>
      <p:sp>
        <p:nvSpPr>
          <p:cNvPr id="2" name="Slide Number Placeholder 1">
            <a:extLst>
              <a:ext uri="{FF2B5EF4-FFF2-40B4-BE49-F238E27FC236}">
                <a16:creationId xmlns:a16="http://schemas.microsoft.com/office/drawing/2014/main" id="{78334426-E4B7-42F2-8B07-29DC56B91AD1}"/>
              </a:ext>
            </a:extLst>
          </p:cNvPr>
          <p:cNvSpPr>
            <a:spLocks noGrp="1"/>
          </p:cNvSpPr>
          <p:nvPr>
            <p:ph type="sldNum" sz="quarter" idx="12"/>
          </p:nvPr>
        </p:nvSpPr>
        <p:spPr/>
        <p:txBody>
          <a:bodyPr/>
          <a:lstStyle/>
          <a:p>
            <a:fld id="{B53602B4-F12B-41CD-B648-531F86B2CC91}" type="slidenum">
              <a:rPr lang="zh-CN" altLang="en-US" smtClean="0"/>
              <a:t>48</a:t>
            </a:fld>
            <a:endParaRPr lang="zh-CN" altLang="en-US"/>
          </a:p>
        </p:txBody>
      </p:sp>
      <p:graphicFrame>
        <p:nvGraphicFramePr>
          <p:cNvPr id="13" name="Object 132">
            <a:extLst>
              <a:ext uri="{FF2B5EF4-FFF2-40B4-BE49-F238E27FC236}">
                <a16:creationId xmlns:a16="http://schemas.microsoft.com/office/drawing/2014/main" id="{FE0308B5-1649-4E53-A28C-6E37913449A7}"/>
              </a:ext>
            </a:extLst>
          </p:cNvPr>
          <p:cNvGraphicFramePr>
            <a:graphicFrameLocks noChangeAspect="1"/>
          </p:cNvGraphicFramePr>
          <p:nvPr/>
        </p:nvGraphicFramePr>
        <p:xfrm>
          <a:off x="185083" y="1804880"/>
          <a:ext cx="3492113" cy="2629007"/>
        </p:xfrm>
        <a:graphic>
          <a:graphicData uri="http://schemas.openxmlformats.org/presentationml/2006/ole">
            <mc:AlternateContent xmlns:mc="http://schemas.openxmlformats.org/markup-compatibility/2006">
              <mc:Choice xmlns:v="urn:schemas-microsoft-com:vml" Requires="v">
                <p:oleObj name="位图图像" r:id="rId3" imgW="3971429" imgH="2991268" progId="Paint.Picture">
                  <p:embed/>
                </p:oleObj>
              </mc:Choice>
              <mc:Fallback>
                <p:oleObj name="位图图像" r:id="rId3" imgW="3971429" imgH="2991268" progId="Paint.Picture">
                  <p:embed/>
                  <p:pic>
                    <p:nvPicPr>
                      <p:cNvPr id="13" name="Object 132">
                        <a:extLst>
                          <a:ext uri="{FF2B5EF4-FFF2-40B4-BE49-F238E27FC236}">
                            <a16:creationId xmlns:a16="http://schemas.microsoft.com/office/drawing/2014/main" id="{FE0308B5-1649-4E53-A28C-6E37913449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083" y="1804880"/>
                        <a:ext cx="3492113" cy="2629007"/>
                      </a:xfrm>
                      <a:prstGeom prst="rect">
                        <a:avLst/>
                      </a:prstGeom>
                      <a:noFill/>
                      <a:ln>
                        <a:noFill/>
                      </a:ln>
                      <a:effectLst/>
                    </p:spPr>
                  </p:pic>
                </p:oleObj>
              </mc:Fallback>
            </mc:AlternateContent>
          </a:graphicData>
        </a:graphic>
      </p:graphicFrame>
      <p:graphicFrame>
        <p:nvGraphicFramePr>
          <p:cNvPr id="16" name="Object 12">
            <a:extLst>
              <a:ext uri="{FF2B5EF4-FFF2-40B4-BE49-F238E27FC236}">
                <a16:creationId xmlns:a16="http://schemas.microsoft.com/office/drawing/2014/main" id="{0FF30C0F-3498-4D27-8C62-A68045D39902}"/>
              </a:ext>
            </a:extLst>
          </p:cNvPr>
          <p:cNvGraphicFramePr>
            <a:graphicFrameLocks noChangeAspect="1"/>
          </p:cNvGraphicFramePr>
          <p:nvPr/>
        </p:nvGraphicFramePr>
        <p:xfrm>
          <a:off x="5089494" y="1226236"/>
          <a:ext cx="2202424" cy="578644"/>
        </p:xfrm>
        <a:graphic>
          <a:graphicData uri="http://schemas.openxmlformats.org/presentationml/2006/ole">
            <mc:AlternateContent xmlns:mc="http://schemas.openxmlformats.org/markup-compatibility/2006">
              <mc:Choice xmlns:v="urn:schemas-microsoft-com:vml" Requires="v">
                <p:oleObj name="Equation" r:id="rId5" imgW="1917360" imgH="507960" progId="Equation.DSMT4">
                  <p:embed/>
                </p:oleObj>
              </mc:Choice>
              <mc:Fallback>
                <p:oleObj name="Equation" r:id="rId5" imgW="1917360" imgH="507960" progId="Equation.DSMT4">
                  <p:embed/>
                  <p:pic>
                    <p:nvPicPr>
                      <p:cNvPr id="16" name="Object 12">
                        <a:extLst>
                          <a:ext uri="{FF2B5EF4-FFF2-40B4-BE49-F238E27FC236}">
                            <a16:creationId xmlns:a16="http://schemas.microsoft.com/office/drawing/2014/main" id="{0FF30C0F-3498-4D27-8C62-A68045D39902}"/>
                          </a:ext>
                        </a:extLst>
                      </p:cNvPr>
                      <p:cNvPicPr>
                        <a:picLocks noChangeAspect="1" noChangeArrowheads="1"/>
                      </p:cNvPicPr>
                      <p:nvPr/>
                    </p:nvPicPr>
                    <p:blipFill>
                      <a:blip r:embed="rId6"/>
                      <a:srcRect/>
                      <a:stretch>
                        <a:fillRect/>
                      </a:stretch>
                    </p:blipFill>
                    <p:spPr bwMode="auto">
                      <a:xfrm>
                        <a:off x="5089494" y="1226236"/>
                        <a:ext cx="2202424" cy="578644"/>
                      </a:xfrm>
                      <a:prstGeom prst="rect">
                        <a:avLst/>
                      </a:prstGeom>
                      <a:solidFill>
                        <a:srgbClr val="FFFF00"/>
                      </a:solidFill>
                    </p:spPr>
                  </p:pic>
                </p:oleObj>
              </mc:Fallback>
            </mc:AlternateContent>
          </a:graphicData>
        </a:graphic>
      </p:graphicFrame>
      <p:pic>
        <p:nvPicPr>
          <p:cNvPr id="3" name="Picture 2">
            <a:extLst>
              <a:ext uri="{FF2B5EF4-FFF2-40B4-BE49-F238E27FC236}">
                <a16:creationId xmlns:a16="http://schemas.microsoft.com/office/drawing/2014/main" id="{C926ED52-680B-40AA-BC6A-047AD5B08C0F}"/>
              </a:ext>
            </a:extLst>
          </p:cNvPr>
          <p:cNvPicPr>
            <a:picLocks noChangeAspect="1"/>
          </p:cNvPicPr>
          <p:nvPr/>
        </p:nvPicPr>
        <p:blipFill>
          <a:blip r:embed="rId7"/>
          <a:stretch>
            <a:fillRect/>
          </a:stretch>
        </p:blipFill>
        <p:spPr>
          <a:xfrm>
            <a:off x="622301" y="4170197"/>
            <a:ext cx="2359193" cy="1331570"/>
          </a:xfrm>
          <a:prstGeom prst="rect">
            <a:avLst/>
          </a:prstGeom>
        </p:spPr>
      </p:pic>
      <p:pic>
        <p:nvPicPr>
          <p:cNvPr id="6" name="Picture 5">
            <a:extLst>
              <a:ext uri="{FF2B5EF4-FFF2-40B4-BE49-F238E27FC236}">
                <a16:creationId xmlns:a16="http://schemas.microsoft.com/office/drawing/2014/main" id="{E970C66D-079F-4155-BCFF-8A9434C5DA35}"/>
              </a:ext>
            </a:extLst>
          </p:cNvPr>
          <p:cNvPicPr>
            <a:picLocks noChangeAspect="1"/>
          </p:cNvPicPr>
          <p:nvPr/>
        </p:nvPicPr>
        <p:blipFill>
          <a:blip r:embed="rId8"/>
          <a:stretch>
            <a:fillRect/>
          </a:stretch>
        </p:blipFill>
        <p:spPr>
          <a:xfrm>
            <a:off x="584201" y="5501767"/>
            <a:ext cx="2288761" cy="1060162"/>
          </a:xfrm>
          <a:prstGeom prst="rect">
            <a:avLst/>
          </a:prstGeom>
        </p:spPr>
      </p:pic>
      <p:graphicFrame>
        <p:nvGraphicFramePr>
          <p:cNvPr id="9" name="Object 8">
            <a:extLst>
              <a:ext uri="{FF2B5EF4-FFF2-40B4-BE49-F238E27FC236}">
                <a16:creationId xmlns:a16="http://schemas.microsoft.com/office/drawing/2014/main" id="{9084E5DB-C7CE-4352-9EF2-D55A78F9B235}"/>
              </a:ext>
            </a:extLst>
          </p:cNvPr>
          <p:cNvGraphicFramePr>
            <a:graphicFrameLocks noChangeAspect="1"/>
          </p:cNvGraphicFramePr>
          <p:nvPr>
            <p:extLst>
              <p:ext uri="{D42A27DB-BD31-4B8C-83A1-F6EECF244321}">
                <p14:modId xmlns:p14="http://schemas.microsoft.com/office/powerpoint/2010/main" val="4191671792"/>
              </p:ext>
            </p:extLst>
          </p:nvPr>
        </p:nvGraphicFramePr>
        <p:xfrm>
          <a:off x="4545011" y="2035861"/>
          <a:ext cx="4082716" cy="637004"/>
        </p:xfrm>
        <a:graphic>
          <a:graphicData uri="http://schemas.openxmlformats.org/presentationml/2006/ole">
            <mc:AlternateContent xmlns:mc="http://schemas.openxmlformats.org/markup-compatibility/2006">
              <mc:Choice xmlns:v="urn:schemas-microsoft-com:vml" Requires="v">
                <p:oleObj name="Equation" r:id="rId9" imgW="3822480" imgH="596880" progId="Equation.DSMT4">
                  <p:embed/>
                </p:oleObj>
              </mc:Choice>
              <mc:Fallback>
                <p:oleObj name="Equation" r:id="rId9" imgW="3822480" imgH="596880" progId="Equation.DSMT4">
                  <p:embed/>
                  <p:pic>
                    <p:nvPicPr>
                      <p:cNvPr id="9" name="Object 8">
                        <a:extLst>
                          <a:ext uri="{FF2B5EF4-FFF2-40B4-BE49-F238E27FC236}">
                            <a16:creationId xmlns:a16="http://schemas.microsoft.com/office/drawing/2014/main" id="{9084E5DB-C7CE-4352-9EF2-D55A78F9B235}"/>
                          </a:ext>
                        </a:extLst>
                      </p:cNvPr>
                      <p:cNvPicPr/>
                      <p:nvPr/>
                    </p:nvPicPr>
                    <p:blipFill>
                      <a:blip r:embed="rId10"/>
                      <a:stretch>
                        <a:fillRect/>
                      </a:stretch>
                    </p:blipFill>
                    <p:spPr>
                      <a:xfrm>
                        <a:off x="4545011" y="2035861"/>
                        <a:ext cx="4082716" cy="637004"/>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067DB477-35DA-433A-9CB9-66E0C964B7BB}"/>
              </a:ext>
            </a:extLst>
          </p:cNvPr>
          <p:cNvGraphicFramePr>
            <a:graphicFrameLocks noChangeAspect="1"/>
          </p:cNvGraphicFramePr>
          <p:nvPr>
            <p:extLst>
              <p:ext uri="{D42A27DB-BD31-4B8C-83A1-F6EECF244321}">
                <p14:modId xmlns:p14="http://schemas.microsoft.com/office/powerpoint/2010/main" val="1807998128"/>
              </p:ext>
            </p:extLst>
          </p:nvPr>
        </p:nvGraphicFramePr>
        <p:xfrm>
          <a:off x="4021818" y="2904737"/>
          <a:ext cx="4799351" cy="320848"/>
        </p:xfrm>
        <a:graphic>
          <a:graphicData uri="http://schemas.openxmlformats.org/presentationml/2006/ole">
            <mc:AlternateContent xmlns:mc="http://schemas.openxmlformats.org/markup-compatibility/2006">
              <mc:Choice xmlns:v="urn:schemas-microsoft-com:vml" Requires="v">
                <p:oleObj name="Equation" r:id="rId11" imgW="4559040" imgH="304560" progId="Equation.DSMT4">
                  <p:embed/>
                </p:oleObj>
              </mc:Choice>
              <mc:Fallback>
                <p:oleObj name="Equation" r:id="rId11" imgW="4559040" imgH="304560" progId="Equation.DSMT4">
                  <p:embed/>
                  <p:pic>
                    <p:nvPicPr>
                      <p:cNvPr id="0" name=""/>
                      <p:cNvPicPr/>
                      <p:nvPr/>
                    </p:nvPicPr>
                    <p:blipFill>
                      <a:blip r:embed="rId12"/>
                      <a:stretch>
                        <a:fillRect/>
                      </a:stretch>
                    </p:blipFill>
                    <p:spPr>
                      <a:xfrm>
                        <a:off x="4021818" y="2904737"/>
                        <a:ext cx="4799351" cy="320848"/>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233620AE-793A-4C10-8578-76DB492768A6}"/>
              </a:ext>
            </a:extLst>
          </p:cNvPr>
          <p:cNvGraphicFramePr>
            <a:graphicFrameLocks noChangeAspect="1"/>
          </p:cNvGraphicFramePr>
          <p:nvPr>
            <p:extLst>
              <p:ext uri="{D42A27DB-BD31-4B8C-83A1-F6EECF244321}">
                <p14:modId xmlns:p14="http://schemas.microsoft.com/office/powerpoint/2010/main" val="531643816"/>
              </p:ext>
            </p:extLst>
          </p:nvPr>
        </p:nvGraphicFramePr>
        <p:xfrm>
          <a:off x="4021818" y="3350433"/>
          <a:ext cx="4957544" cy="768817"/>
        </p:xfrm>
        <a:graphic>
          <a:graphicData uri="http://schemas.openxmlformats.org/presentationml/2006/ole">
            <mc:AlternateContent xmlns:mc="http://schemas.openxmlformats.org/markup-compatibility/2006">
              <mc:Choice xmlns:v="urn:schemas-microsoft-com:vml" Requires="v">
                <p:oleObj name="Equation" r:id="rId13" imgW="4749480" imgH="736560" progId="Equation.DSMT4">
                  <p:embed/>
                </p:oleObj>
              </mc:Choice>
              <mc:Fallback>
                <p:oleObj name="Equation" r:id="rId13" imgW="4749480" imgH="736560" progId="Equation.DSMT4">
                  <p:embed/>
                  <p:pic>
                    <p:nvPicPr>
                      <p:cNvPr id="0" name=""/>
                      <p:cNvPicPr/>
                      <p:nvPr/>
                    </p:nvPicPr>
                    <p:blipFill>
                      <a:blip r:embed="rId14"/>
                      <a:stretch>
                        <a:fillRect/>
                      </a:stretch>
                    </p:blipFill>
                    <p:spPr>
                      <a:xfrm>
                        <a:off x="4021818" y="3350433"/>
                        <a:ext cx="4957544" cy="768817"/>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1B26CBBD-23C1-4487-BC5A-C4375A6D1DFB}"/>
              </a:ext>
            </a:extLst>
          </p:cNvPr>
          <p:cNvGraphicFramePr>
            <a:graphicFrameLocks noChangeAspect="1"/>
          </p:cNvGraphicFramePr>
          <p:nvPr>
            <p:extLst>
              <p:ext uri="{D42A27DB-BD31-4B8C-83A1-F6EECF244321}">
                <p14:modId xmlns:p14="http://schemas.microsoft.com/office/powerpoint/2010/main" val="2858310058"/>
              </p:ext>
            </p:extLst>
          </p:nvPr>
        </p:nvGraphicFramePr>
        <p:xfrm>
          <a:off x="5557837" y="4245630"/>
          <a:ext cx="3069890" cy="774146"/>
        </p:xfrm>
        <a:graphic>
          <a:graphicData uri="http://schemas.openxmlformats.org/presentationml/2006/ole">
            <mc:AlternateContent xmlns:mc="http://schemas.openxmlformats.org/markup-compatibility/2006">
              <mc:Choice xmlns:v="urn:schemas-microsoft-com:vml" Requires="v">
                <p:oleObj name="Equation" r:id="rId15" imgW="2920680" imgH="736560" progId="Equation.DSMT4">
                  <p:embed/>
                </p:oleObj>
              </mc:Choice>
              <mc:Fallback>
                <p:oleObj name="Equation" r:id="rId15" imgW="2920680" imgH="736560" progId="Equation.DSMT4">
                  <p:embed/>
                  <p:pic>
                    <p:nvPicPr>
                      <p:cNvPr id="0" name=""/>
                      <p:cNvPicPr/>
                      <p:nvPr/>
                    </p:nvPicPr>
                    <p:blipFill>
                      <a:blip r:embed="rId16"/>
                      <a:stretch>
                        <a:fillRect/>
                      </a:stretch>
                    </p:blipFill>
                    <p:spPr>
                      <a:xfrm>
                        <a:off x="5557837" y="4245630"/>
                        <a:ext cx="3069890" cy="774146"/>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622DE5F7-4EA2-4B9B-86A4-E7A9CE05FE00}"/>
              </a:ext>
            </a:extLst>
          </p:cNvPr>
          <p:cNvGraphicFramePr>
            <a:graphicFrameLocks noChangeAspect="1"/>
          </p:cNvGraphicFramePr>
          <p:nvPr>
            <p:extLst>
              <p:ext uri="{D42A27DB-BD31-4B8C-83A1-F6EECF244321}">
                <p14:modId xmlns:p14="http://schemas.microsoft.com/office/powerpoint/2010/main" val="1672436777"/>
              </p:ext>
            </p:extLst>
          </p:nvPr>
        </p:nvGraphicFramePr>
        <p:xfrm>
          <a:off x="4470537" y="5173376"/>
          <a:ext cx="3225800" cy="330200"/>
        </p:xfrm>
        <a:graphic>
          <a:graphicData uri="http://schemas.openxmlformats.org/presentationml/2006/ole">
            <mc:AlternateContent xmlns:mc="http://schemas.openxmlformats.org/markup-compatibility/2006">
              <mc:Choice xmlns:v="urn:schemas-microsoft-com:vml" Requires="v">
                <p:oleObj name="Equation" r:id="rId17" imgW="3225600" imgH="330120" progId="Equation.DSMT4">
                  <p:embed/>
                </p:oleObj>
              </mc:Choice>
              <mc:Fallback>
                <p:oleObj name="Equation" r:id="rId17" imgW="3225600" imgH="330120" progId="Equation.DSMT4">
                  <p:embed/>
                  <p:pic>
                    <p:nvPicPr>
                      <p:cNvPr id="0" name=""/>
                      <p:cNvPicPr/>
                      <p:nvPr/>
                    </p:nvPicPr>
                    <p:blipFill>
                      <a:blip r:embed="rId18"/>
                      <a:stretch>
                        <a:fillRect/>
                      </a:stretch>
                    </p:blipFill>
                    <p:spPr>
                      <a:xfrm>
                        <a:off x="4470537" y="5173376"/>
                        <a:ext cx="3225800" cy="3302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47A0611B-1EE6-44A1-A511-5736A696F62E}"/>
              </a:ext>
            </a:extLst>
          </p:cNvPr>
          <p:cNvGraphicFramePr>
            <a:graphicFrameLocks noChangeAspect="1"/>
          </p:cNvGraphicFramePr>
          <p:nvPr>
            <p:extLst>
              <p:ext uri="{D42A27DB-BD31-4B8C-83A1-F6EECF244321}">
                <p14:modId xmlns:p14="http://schemas.microsoft.com/office/powerpoint/2010/main" val="2836986698"/>
              </p:ext>
            </p:extLst>
          </p:nvPr>
        </p:nvGraphicFramePr>
        <p:xfrm>
          <a:off x="4240212" y="5657177"/>
          <a:ext cx="3429000" cy="571500"/>
        </p:xfrm>
        <a:graphic>
          <a:graphicData uri="http://schemas.openxmlformats.org/presentationml/2006/ole">
            <mc:AlternateContent xmlns:mc="http://schemas.openxmlformats.org/markup-compatibility/2006">
              <mc:Choice xmlns:v="urn:schemas-microsoft-com:vml" Requires="v">
                <p:oleObj name="Equation" r:id="rId19" imgW="3429000" imgH="571320" progId="Equation.DSMT4">
                  <p:embed/>
                </p:oleObj>
              </mc:Choice>
              <mc:Fallback>
                <p:oleObj name="Equation" r:id="rId19" imgW="3429000" imgH="571320" progId="Equation.DSMT4">
                  <p:embed/>
                  <p:pic>
                    <p:nvPicPr>
                      <p:cNvPr id="0" name=""/>
                      <p:cNvPicPr/>
                      <p:nvPr/>
                    </p:nvPicPr>
                    <p:blipFill>
                      <a:blip r:embed="rId20"/>
                      <a:stretch>
                        <a:fillRect/>
                      </a:stretch>
                    </p:blipFill>
                    <p:spPr>
                      <a:xfrm>
                        <a:off x="4240212" y="5657177"/>
                        <a:ext cx="3429000" cy="571500"/>
                      </a:xfrm>
                      <a:prstGeom prst="rect">
                        <a:avLst/>
                      </a:prstGeom>
                    </p:spPr>
                  </p:pic>
                </p:oleObj>
              </mc:Fallback>
            </mc:AlternateContent>
          </a:graphicData>
        </a:graphic>
      </p:graphicFrame>
      <p:graphicFrame>
        <p:nvGraphicFramePr>
          <p:cNvPr id="31" name="Object 8">
            <a:extLst>
              <a:ext uri="{FF2B5EF4-FFF2-40B4-BE49-F238E27FC236}">
                <a16:creationId xmlns:a16="http://schemas.microsoft.com/office/drawing/2014/main" id="{6D064485-585E-4EB5-87B7-CC13037D74AF}"/>
              </a:ext>
            </a:extLst>
          </p:cNvPr>
          <p:cNvGraphicFramePr>
            <a:graphicFrameLocks noChangeAspect="1"/>
          </p:cNvGraphicFramePr>
          <p:nvPr>
            <p:extLst>
              <p:ext uri="{D42A27DB-BD31-4B8C-83A1-F6EECF244321}">
                <p14:modId xmlns:p14="http://schemas.microsoft.com/office/powerpoint/2010/main" val="1836879914"/>
              </p:ext>
            </p:extLst>
          </p:nvPr>
        </p:nvGraphicFramePr>
        <p:xfrm>
          <a:off x="4640130" y="6344657"/>
          <a:ext cx="1074870" cy="364946"/>
        </p:xfrm>
        <a:graphic>
          <a:graphicData uri="http://schemas.openxmlformats.org/presentationml/2006/ole">
            <mc:AlternateContent xmlns:mc="http://schemas.openxmlformats.org/markup-compatibility/2006">
              <mc:Choice xmlns:v="urn:schemas-microsoft-com:vml" Requires="v">
                <p:oleObj name="Equation" r:id="rId21" imgW="812520" imgH="253800" progId="Equation.DSMT4">
                  <p:embed/>
                </p:oleObj>
              </mc:Choice>
              <mc:Fallback>
                <p:oleObj name="Equation" r:id="rId21" imgW="812520" imgH="253800" progId="Equation.DSMT4">
                  <p:embed/>
                  <p:pic>
                    <p:nvPicPr>
                      <p:cNvPr id="19" name="Object 8">
                        <a:extLst>
                          <a:ext uri="{FF2B5EF4-FFF2-40B4-BE49-F238E27FC236}">
                            <a16:creationId xmlns:a16="http://schemas.microsoft.com/office/drawing/2014/main" id="{3503EE57-1F9D-45BC-BE92-CF41F86E6CEB}"/>
                          </a:ext>
                        </a:extLst>
                      </p:cNvPr>
                      <p:cNvPicPr>
                        <a:picLocks noChangeAspect="1" noChangeArrowheads="1"/>
                      </p:cNvPicPr>
                      <p:nvPr/>
                    </p:nvPicPr>
                    <p:blipFill>
                      <a:blip r:embed="rId22"/>
                      <a:srcRect/>
                      <a:stretch>
                        <a:fillRect/>
                      </a:stretch>
                    </p:blipFill>
                    <p:spPr bwMode="auto">
                      <a:xfrm>
                        <a:off x="4640130" y="6344657"/>
                        <a:ext cx="1074870" cy="364946"/>
                      </a:xfrm>
                      <a:prstGeom prst="rect">
                        <a:avLst/>
                      </a:prstGeom>
                      <a:noFill/>
                      <a:ln>
                        <a:noFill/>
                      </a:ln>
                    </p:spPr>
                  </p:pic>
                </p:oleObj>
              </mc:Fallback>
            </mc:AlternateContent>
          </a:graphicData>
        </a:graphic>
      </p:graphicFrame>
      <p:sp>
        <p:nvSpPr>
          <p:cNvPr id="32" name="Text Box 10">
            <a:extLst>
              <a:ext uri="{FF2B5EF4-FFF2-40B4-BE49-F238E27FC236}">
                <a16:creationId xmlns:a16="http://schemas.microsoft.com/office/drawing/2014/main" id="{AB3EDF0B-B95C-4379-A380-871A64733B91}"/>
              </a:ext>
            </a:extLst>
          </p:cNvPr>
          <p:cNvSpPr txBox="1">
            <a:spLocks noChangeArrowheads="1"/>
          </p:cNvSpPr>
          <p:nvPr/>
        </p:nvSpPr>
        <p:spPr bwMode="auto">
          <a:xfrm>
            <a:off x="5715000" y="6319021"/>
            <a:ext cx="15012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800" b="1"/>
              <a:t>为温度系数</a:t>
            </a:r>
          </a:p>
        </p:txBody>
      </p:sp>
    </p:spTree>
    <p:extLst>
      <p:ext uri="{BB962C8B-B14F-4D97-AF65-F5344CB8AC3E}">
        <p14:creationId xmlns:p14="http://schemas.microsoft.com/office/powerpoint/2010/main" val="12076924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52DF9-19BD-4DEC-8D8D-789ADC05B80D}"/>
              </a:ext>
            </a:extLst>
          </p:cNvPr>
          <p:cNvSpPr>
            <a:spLocks noGrp="1"/>
          </p:cNvSpPr>
          <p:nvPr>
            <p:ph type="sldNum" sz="quarter" idx="12"/>
          </p:nvPr>
        </p:nvSpPr>
        <p:spPr/>
        <p:txBody>
          <a:bodyPr/>
          <a:lstStyle/>
          <a:p>
            <a:fld id="{B53602B4-F12B-41CD-B648-531F86B2CC91}" type="slidenum">
              <a:rPr lang="zh-CN" altLang="en-US" smtClean="0"/>
              <a:t>49</a:t>
            </a:fld>
            <a:endParaRPr lang="zh-CN" altLang="en-US"/>
          </a:p>
        </p:txBody>
      </p:sp>
      <p:sp>
        <p:nvSpPr>
          <p:cNvPr id="5" name="矩形 4">
            <a:extLst>
              <a:ext uri="{FF2B5EF4-FFF2-40B4-BE49-F238E27FC236}">
                <a16:creationId xmlns:a16="http://schemas.microsoft.com/office/drawing/2014/main" id="{987DAAB4-2E54-446C-931D-F07A5E4C6CDC}"/>
              </a:ext>
            </a:extLst>
          </p:cNvPr>
          <p:cNvSpPr/>
          <p:nvPr/>
        </p:nvSpPr>
        <p:spPr>
          <a:xfrm>
            <a:off x="315884" y="1200823"/>
            <a:ext cx="7039451" cy="461663"/>
          </a:xfrm>
          <a:prstGeom prst="rect">
            <a:avLst/>
          </a:prstGeom>
        </p:spPr>
        <p:txBody>
          <a:bodyPr wrap="square" lIns="91438" tIns="45719" rIns="91438" bIns="45719">
            <a:spAutoFit/>
          </a:bodyPr>
          <a:lstStyle/>
          <a:p>
            <a:pPr>
              <a:spcBef>
                <a:spcPts val="670"/>
              </a:spcBef>
            </a:pP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rPr>
              <a:t>电桥补偿法</a:t>
            </a:r>
            <a:endPar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6" name="矩形 40">
            <a:extLst>
              <a:ext uri="{FF2B5EF4-FFF2-40B4-BE49-F238E27FC236}">
                <a16:creationId xmlns:a16="http://schemas.microsoft.com/office/drawing/2014/main" id="{1782E659-04E0-4FA9-B2DE-9C0A968D12DF}"/>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 name="圆角矩形 43">
            <a:extLst>
              <a:ext uri="{FF2B5EF4-FFF2-40B4-BE49-F238E27FC236}">
                <a16:creationId xmlns:a16="http://schemas.microsoft.com/office/drawing/2014/main" id="{79AA1E25-EA18-47A7-AA78-3CADCFBC6482}"/>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5.2.4</a:t>
            </a:r>
          </a:p>
        </p:txBody>
      </p:sp>
      <p:sp>
        <p:nvSpPr>
          <p:cNvPr id="8" name="矩形 45">
            <a:extLst>
              <a:ext uri="{FF2B5EF4-FFF2-40B4-BE49-F238E27FC236}">
                <a16:creationId xmlns:a16="http://schemas.microsoft.com/office/drawing/2014/main" id="{D350EFEE-B736-4CB7-94C1-778ECC522C04}"/>
              </a:ext>
            </a:extLst>
          </p:cNvPr>
          <p:cNvSpPr/>
          <p:nvPr/>
        </p:nvSpPr>
        <p:spPr>
          <a:xfrm>
            <a:off x="1960200" y="360001"/>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霍尔元件的补偿电路</a:t>
            </a:r>
          </a:p>
        </p:txBody>
      </p:sp>
      <p:sp>
        <p:nvSpPr>
          <p:cNvPr id="9" name="Text Box 123">
            <a:extLst>
              <a:ext uri="{FF2B5EF4-FFF2-40B4-BE49-F238E27FC236}">
                <a16:creationId xmlns:a16="http://schemas.microsoft.com/office/drawing/2014/main" id="{55A8B898-275C-4BB9-A283-A86FC417C3FB}"/>
              </a:ext>
            </a:extLst>
          </p:cNvPr>
          <p:cNvSpPr txBox="1">
            <a:spLocks noChangeArrowheads="1"/>
          </p:cNvSpPr>
          <p:nvPr/>
        </p:nvSpPr>
        <p:spPr bwMode="auto">
          <a:xfrm>
            <a:off x="185083" y="5194997"/>
            <a:ext cx="3053417"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5-25 </a:t>
            </a:r>
            <a:r>
              <a:rPr kumimoji="0" lang="zh-CN" altLang="en-US" b="1" dirty="0">
                <a:solidFill>
                  <a:srgbClr val="3333CC"/>
                </a:solidFill>
                <a:latin typeface="宋体" panose="02010600030101010101" pitchFamily="2" charset="-122"/>
                <a:ea typeface="宋体" panose="02010600030101010101" pitchFamily="2" charset="-122"/>
              </a:rPr>
              <a:t>电桥补偿法的温度补偿电路</a:t>
            </a:r>
          </a:p>
        </p:txBody>
      </p:sp>
      <p:pic>
        <p:nvPicPr>
          <p:cNvPr id="10" name="Picture 9">
            <a:extLst>
              <a:ext uri="{FF2B5EF4-FFF2-40B4-BE49-F238E27FC236}">
                <a16:creationId xmlns:a16="http://schemas.microsoft.com/office/drawing/2014/main" id="{E7CFD0BA-8AAC-4574-B8FF-EA3B4C5E98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037" y="2260860"/>
            <a:ext cx="3680613" cy="2551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85A3A9EC-8597-4DA9-889A-7C7B95EEF8E5}"/>
              </a:ext>
            </a:extLst>
          </p:cNvPr>
          <p:cNvSpPr txBox="1"/>
          <p:nvPr/>
        </p:nvSpPr>
        <p:spPr>
          <a:xfrm>
            <a:off x="4400550" y="1592354"/>
            <a:ext cx="4273550" cy="4706097"/>
          </a:xfrm>
          <a:prstGeom prst="rect">
            <a:avLst/>
          </a:prstGeom>
          <a:noFill/>
        </p:spPr>
        <p:txBody>
          <a:bodyPr wrap="square" rtlCol="0">
            <a:spAutoFit/>
          </a:bodyPr>
          <a:lstStyle/>
          <a:p>
            <a:pPr>
              <a:lnSpc>
                <a:spcPct val="120000"/>
              </a:lnSpc>
              <a:spcAft>
                <a:spcPts val="600"/>
              </a:spcAft>
            </a:pPr>
            <a:r>
              <a:rPr lang="zh-CN" sz="2000" kern="100">
                <a:effectLst/>
                <a:latin typeface="Times New Roman" panose="02020603050405020304" pitchFamily="18" charset="0"/>
                <a:ea typeface="宋体" panose="02010600030101010101" pitchFamily="2" charset="-122"/>
              </a:rPr>
              <a:t>由于霍尔元件在制造工艺方面的原因，当通入额定直流控制电流</a:t>
            </a:r>
            <a:r>
              <a:rPr lang="en-US" sz="2000" i="1" kern="100">
                <a:effectLst/>
                <a:latin typeface="Times New Roman" panose="02020603050405020304" pitchFamily="18" charset="0"/>
                <a:ea typeface="宋体" panose="02010600030101010101" pitchFamily="2" charset="-122"/>
              </a:rPr>
              <a:t>I</a:t>
            </a:r>
            <a:r>
              <a:rPr lang="en-US" sz="2000" kern="100" baseline="-25000">
                <a:effectLst/>
                <a:latin typeface="Times New Roman" panose="02020603050405020304" pitchFamily="18" charset="0"/>
                <a:ea typeface="宋体" panose="02010600030101010101" pitchFamily="2" charset="-122"/>
              </a:rPr>
              <a:t>C</a:t>
            </a:r>
            <a:r>
              <a:rPr lang="zh-CN" sz="2000" kern="100">
                <a:effectLst/>
                <a:latin typeface="Times New Roman" panose="02020603050405020304" pitchFamily="18" charset="0"/>
                <a:ea typeface="宋体" panose="02010600030101010101" pitchFamily="2" charset="-122"/>
              </a:rPr>
              <a:t>而外磁场</a:t>
            </a:r>
            <a:r>
              <a:rPr lang="en-US" sz="2000" i="1" kern="100">
                <a:effectLst/>
                <a:latin typeface="Times New Roman" panose="02020603050405020304" pitchFamily="18" charset="0"/>
                <a:ea typeface="宋体" panose="02010600030101010101" pitchFamily="2" charset="-122"/>
              </a:rPr>
              <a:t>B</a:t>
            </a:r>
            <a:r>
              <a:rPr lang="en-US" sz="2000" kern="100">
                <a:effectLst/>
                <a:latin typeface="Times New Roman" panose="02020603050405020304" pitchFamily="18" charset="0"/>
                <a:ea typeface="宋体" panose="02010600030101010101" pitchFamily="2" charset="-122"/>
              </a:rPr>
              <a:t>=0</a:t>
            </a:r>
            <a:r>
              <a:rPr lang="zh-CN" sz="2000" kern="100">
                <a:effectLst/>
                <a:latin typeface="Times New Roman" panose="02020603050405020304" pitchFamily="18" charset="0"/>
                <a:ea typeface="宋体" panose="02010600030101010101" pitchFamily="2" charset="-122"/>
              </a:rPr>
              <a:t>时，霍尔电势输出并不为零，而存在一个不等位电势</a:t>
            </a:r>
            <a:r>
              <a:rPr lang="en-US" sz="2000" i="1" kern="100">
                <a:effectLst/>
                <a:latin typeface="Times New Roman" panose="02020603050405020304" pitchFamily="18" charset="0"/>
                <a:ea typeface="宋体" panose="02010600030101010101" pitchFamily="2" charset="-122"/>
              </a:rPr>
              <a:t>U</a:t>
            </a:r>
            <a:r>
              <a:rPr lang="en-US" sz="2000" kern="100" baseline="-25000">
                <a:effectLst/>
                <a:latin typeface="Times New Roman" panose="02020603050405020304" pitchFamily="18" charset="0"/>
                <a:ea typeface="宋体" panose="02010600030101010101" pitchFamily="2" charset="-122"/>
              </a:rPr>
              <a:t>M</a:t>
            </a:r>
            <a:r>
              <a:rPr lang="zh-CN" sz="2000" kern="100">
                <a:effectLst/>
                <a:latin typeface="Times New Roman" panose="02020603050405020304" pitchFamily="18" charset="0"/>
                <a:ea typeface="宋体" panose="02010600030101010101" pitchFamily="2" charset="-122"/>
              </a:rPr>
              <a:t>，从而对测量结果造成误差。</a:t>
            </a:r>
            <a:endParaRPr lang="en-US" altLang="zh-CN" sz="2000" kern="100">
              <a:effectLst/>
              <a:latin typeface="Times New Roman" panose="02020603050405020304" pitchFamily="18" charset="0"/>
              <a:ea typeface="宋体" panose="02010600030101010101" pitchFamily="2" charset="-122"/>
            </a:endParaRPr>
          </a:p>
          <a:p>
            <a:pPr>
              <a:lnSpc>
                <a:spcPct val="120000"/>
              </a:lnSpc>
              <a:spcAft>
                <a:spcPts val="600"/>
              </a:spcAft>
            </a:pPr>
            <a:endParaRPr lang="en-US" altLang="zh-CN" sz="2000" kern="100">
              <a:effectLst/>
              <a:latin typeface="Times New Roman" panose="02020603050405020304" pitchFamily="18" charset="0"/>
              <a:ea typeface="宋体" panose="02010600030101010101" pitchFamily="2" charset="-122"/>
            </a:endParaRPr>
          </a:p>
          <a:p>
            <a:pPr>
              <a:lnSpc>
                <a:spcPct val="120000"/>
              </a:lnSpc>
              <a:spcAft>
                <a:spcPts val="600"/>
              </a:spcAft>
            </a:pPr>
            <a:r>
              <a:rPr lang="zh-CN" sz="2000" kern="100">
                <a:effectLst/>
                <a:latin typeface="Times New Roman" panose="02020603050405020304" pitchFamily="18" charset="0"/>
                <a:ea typeface="宋体" panose="02010600030101010101" pitchFamily="2" charset="-122"/>
              </a:rPr>
              <a:t>为</a:t>
            </a:r>
            <a:r>
              <a:rPr lang="zh-CN" altLang="en-US" sz="2000" kern="100">
                <a:latin typeface="Times New Roman" panose="02020603050405020304" pitchFamily="18" charset="0"/>
                <a:ea typeface="宋体" panose="02010600030101010101" pitchFamily="2" charset="-122"/>
              </a:rPr>
              <a:t>了</a:t>
            </a:r>
            <a:r>
              <a:rPr lang="zh-CN" sz="2000" kern="100">
                <a:effectLst/>
                <a:latin typeface="Times New Roman" panose="02020603050405020304" pitchFamily="18" charset="0"/>
                <a:ea typeface="宋体" panose="02010600030101010101" pitchFamily="2" charset="-122"/>
              </a:rPr>
              <a:t>解决这一问题，可采用具有温度补偿的桥式补偿电路。该电路本身也接成桥式电路，且其中一个桥臂采用热敏电阻，可以在霍尔元件的整个工作温度范围内对</a:t>
            </a:r>
            <a:r>
              <a:rPr lang="en-US" sz="2000" i="1" kern="100">
                <a:effectLst/>
                <a:latin typeface="Times New Roman" panose="02020603050405020304" pitchFamily="18" charset="0"/>
                <a:ea typeface="宋体" panose="02010600030101010101" pitchFamily="2" charset="-122"/>
              </a:rPr>
              <a:t>U</a:t>
            </a:r>
            <a:r>
              <a:rPr lang="en-US" sz="2000" kern="100" baseline="-25000">
                <a:effectLst/>
                <a:latin typeface="Times New Roman" panose="02020603050405020304" pitchFamily="18" charset="0"/>
                <a:ea typeface="宋体" panose="02010600030101010101" pitchFamily="2" charset="-122"/>
              </a:rPr>
              <a:t>M</a:t>
            </a:r>
            <a:r>
              <a:rPr lang="zh-CN" sz="2000" kern="100">
                <a:effectLst/>
                <a:latin typeface="Times New Roman" panose="02020603050405020304" pitchFamily="18" charset="0"/>
                <a:ea typeface="宋体" panose="02010600030101010101" pitchFamily="2" charset="-122"/>
              </a:rPr>
              <a:t>进行良好的补偿。</a:t>
            </a:r>
            <a:endParaRPr lang="en-001" sz="2000" kern="100">
              <a:effectLst/>
              <a:latin typeface="Times New Roman" panose="02020603050405020304" pitchFamily="18" charset="0"/>
              <a:ea typeface="宋体" panose="02010600030101010101" pitchFamily="2" charset="-122"/>
            </a:endParaRPr>
          </a:p>
          <a:p>
            <a:pPr algn="l">
              <a:lnSpc>
                <a:spcPct val="120000"/>
              </a:lnSpc>
              <a:spcAft>
                <a:spcPts val="600"/>
              </a:spcAft>
            </a:pPr>
            <a:endParaRPr lang="en-001" sz="200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9293634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霍尔式传感器的应用举例</a:t>
            </a:r>
          </a:p>
        </p:txBody>
      </p:sp>
      <p:sp>
        <p:nvSpPr>
          <p:cNvPr id="31" name="Text Box 5"/>
          <p:cNvSpPr txBox="1">
            <a:spLocks noChangeArrowheads="1"/>
          </p:cNvSpPr>
          <p:nvPr/>
        </p:nvSpPr>
        <p:spPr bwMode="auto">
          <a:xfrm>
            <a:off x="1091720" y="2543051"/>
            <a:ext cx="7423630"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lnSpc>
                <a:spcPct val="150000"/>
              </a:lnSpc>
              <a:spcBef>
                <a:spcPct val="50000"/>
              </a:spcBef>
              <a:buFont typeface="Wingdings" pitchFamily="2" charset="2"/>
              <a:buNone/>
            </a:pPr>
            <a:r>
              <a:rPr lang="zh-CN" altLang="en-US" sz="2400" b="1" dirty="0">
                <a:solidFill>
                  <a:schemeClr val="tx1"/>
                </a:solidFill>
                <a:latin typeface="宋体" panose="02010600030101010101" pitchFamily="2" charset="-122"/>
                <a:ea typeface="宋体" panose="02010600030101010101" pitchFamily="2" charset="-122"/>
              </a:rPr>
              <a:t>结构简单、体积小、坚固、频率响应宽、动态范围大、无触</a:t>
            </a:r>
            <a:r>
              <a:rPr lang="zh-CN" altLang="en-US" sz="2400" b="1">
                <a:solidFill>
                  <a:schemeClr val="tx1"/>
                </a:solidFill>
                <a:latin typeface="宋体" panose="02010600030101010101" pitchFamily="2" charset="-122"/>
                <a:ea typeface="宋体" panose="02010600030101010101" pitchFamily="2" charset="-122"/>
              </a:rPr>
              <a:t>点、寿</a:t>
            </a:r>
            <a:r>
              <a:rPr lang="zh-CN" altLang="en-US" sz="2400" b="1" dirty="0">
                <a:solidFill>
                  <a:schemeClr val="tx1"/>
                </a:solidFill>
                <a:latin typeface="宋体" panose="02010600030101010101" pitchFamily="2" charset="-122"/>
                <a:ea typeface="宋体" panose="02010600030101010101" pitchFamily="2" charset="-122"/>
              </a:rPr>
              <a:t>命长、可靠性好、易微型化、集成电路化。</a:t>
            </a:r>
          </a:p>
        </p:txBody>
      </p:sp>
      <p:sp>
        <p:nvSpPr>
          <p:cNvPr id="5" name="矩形 4"/>
          <p:cNvSpPr/>
          <p:nvPr/>
        </p:nvSpPr>
        <p:spPr>
          <a:xfrm>
            <a:off x="1161501" y="1689619"/>
            <a:ext cx="1112805" cy="572464"/>
          </a:xfrm>
          <a:prstGeom prst="rect">
            <a:avLst/>
          </a:prstGeom>
          <a:solidFill>
            <a:srgbClr val="C00000"/>
          </a:solidFill>
        </p:spPr>
        <p:txBody>
          <a:bodyPr wrap="none">
            <a:spAutoFit/>
          </a:bodyPr>
          <a:lstStyle/>
          <a:p>
            <a:pPr lvl="0">
              <a:lnSpc>
                <a:spcPct val="130000"/>
              </a:lnSpc>
              <a:spcBef>
                <a:spcPct val="50000"/>
              </a:spcBef>
            </a:pPr>
            <a:r>
              <a:rPr lang="zh-CN" altLang="en-US" sz="2400" b="1" dirty="0">
                <a:solidFill>
                  <a:schemeClr val="bg1"/>
                </a:solidFill>
                <a:latin typeface="宋体" panose="02010600030101010101" pitchFamily="2" charset="-122"/>
                <a:ea typeface="宋体" panose="02010600030101010101" pitchFamily="2" charset="-122"/>
              </a:rPr>
              <a:t>优点：</a:t>
            </a:r>
          </a:p>
        </p:txBody>
      </p:sp>
      <p:sp>
        <p:nvSpPr>
          <p:cNvPr id="6" name="矩形 5"/>
          <p:cNvSpPr/>
          <p:nvPr/>
        </p:nvSpPr>
        <p:spPr>
          <a:xfrm>
            <a:off x="1161500" y="4357901"/>
            <a:ext cx="1112805" cy="572464"/>
          </a:xfrm>
          <a:prstGeom prst="rect">
            <a:avLst/>
          </a:prstGeom>
          <a:solidFill>
            <a:srgbClr val="92D050"/>
          </a:solidFill>
        </p:spPr>
        <p:txBody>
          <a:bodyPr wrap="none">
            <a:spAutoFit/>
          </a:bodyPr>
          <a:lstStyle/>
          <a:p>
            <a:pPr lvl="0">
              <a:lnSpc>
                <a:spcPct val="130000"/>
              </a:lnSpc>
              <a:spcBef>
                <a:spcPct val="50000"/>
              </a:spcBef>
            </a:pPr>
            <a:r>
              <a:rPr lang="zh-CN" altLang="en-US" sz="2400" b="1" dirty="0">
                <a:latin typeface="宋体" panose="02010600030101010101" pitchFamily="2" charset="-122"/>
                <a:ea typeface="宋体" panose="02010600030101010101" pitchFamily="2" charset="-122"/>
              </a:rPr>
              <a:t>缺点：</a:t>
            </a:r>
          </a:p>
        </p:txBody>
      </p:sp>
      <p:sp>
        <p:nvSpPr>
          <p:cNvPr id="7" name="矩形 6"/>
          <p:cNvSpPr/>
          <p:nvPr/>
        </p:nvSpPr>
        <p:spPr>
          <a:xfrm>
            <a:off x="1220768" y="5051552"/>
            <a:ext cx="4319358" cy="572464"/>
          </a:xfrm>
          <a:prstGeom prst="rect">
            <a:avLst/>
          </a:prstGeom>
        </p:spPr>
        <p:txBody>
          <a:bodyPr wrap="square">
            <a:spAutoFit/>
          </a:bodyPr>
          <a:lstStyle/>
          <a:p>
            <a:pPr lvl="0">
              <a:lnSpc>
                <a:spcPct val="130000"/>
              </a:lnSpc>
              <a:spcBef>
                <a:spcPct val="50000"/>
              </a:spcBef>
            </a:pPr>
            <a:r>
              <a:rPr lang="zh-CN" altLang="en-US" sz="2400" b="1" dirty="0">
                <a:solidFill>
                  <a:prstClr val="black"/>
                </a:solidFill>
                <a:latin typeface="宋体" panose="02010600030101010101" pitchFamily="2" charset="-122"/>
                <a:ea typeface="宋体" panose="02010600030101010101" pitchFamily="2" charset="-122"/>
              </a:rPr>
              <a:t>转换效率低、受温度影响大。</a:t>
            </a:r>
          </a:p>
        </p:txBody>
      </p:sp>
      <p:sp>
        <p:nvSpPr>
          <p:cNvPr id="2" name="Slide Number Placeholder 1">
            <a:extLst>
              <a:ext uri="{FF2B5EF4-FFF2-40B4-BE49-F238E27FC236}">
                <a16:creationId xmlns:a16="http://schemas.microsoft.com/office/drawing/2014/main" id="{F339CE5E-89A8-4975-9403-0C8C4E90A3CE}"/>
              </a:ext>
            </a:extLst>
          </p:cNvPr>
          <p:cNvSpPr>
            <a:spLocks noGrp="1"/>
          </p:cNvSpPr>
          <p:nvPr>
            <p:ph type="sldNum" sz="quarter" idx="12"/>
          </p:nvPr>
        </p:nvSpPr>
        <p:spPr/>
        <p:txBody>
          <a:bodyPr/>
          <a:lstStyle/>
          <a:p>
            <a:fld id="{B53602B4-F12B-41CD-B648-531F86B2CC91}" type="slidenum">
              <a:rPr lang="zh-CN" altLang="en-US" smtClean="0"/>
              <a:t>50</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霍尔式传感器的应用举例</a:t>
            </a:r>
          </a:p>
        </p:txBody>
      </p:sp>
      <p:sp>
        <p:nvSpPr>
          <p:cNvPr id="21" name="矩形 20"/>
          <p:cNvSpPr/>
          <p:nvPr/>
        </p:nvSpPr>
        <p:spPr>
          <a:xfrm>
            <a:off x="200337" y="1514280"/>
            <a:ext cx="3519725" cy="461663"/>
          </a:xfrm>
          <a:prstGeom prst="rect">
            <a:avLst/>
          </a:prstGeom>
        </p:spPr>
        <p:txBody>
          <a:bodyPr wrap="square" lIns="91438" tIns="45719" rIns="91438" bIns="45719">
            <a:spAutoFit/>
          </a:bodyPr>
          <a:lstStyle/>
          <a:p>
            <a:pPr>
              <a:spcBef>
                <a:spcPts val="670"/>
              </a:spcBef>
            </a:pP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霍尔式位移传感器</a:t>
            </a:r>
          </a:p>
        </p:txBody>
      </p:sp>
      <p:sp>
        <p:nvSpPr>
          <p:cNvPr id="3" name="Slide Number Placeholder 2">
            <a:extLst>
              <a:ext uri="{FF2B5EF4-FFF2-40B4-BE49-F238E27FC236}">
                <a16:creationId xmlns:a16="http://schemas.microsoft.com/office/drawing/2014/main" id="{9C842088-6CC8-447E-BD45-D69A34622B0B}"/>
              </a:ext>
            </a:extLst>
          </p:cNvPr>
          <p:cNvSpPr>
            <a:spLocks noGrp="1"/>
          </p:cNvSpPr>
          <p:nvPr>
            <p:ph type="sldNum" sz="quarter" idx="12"/>
          </p:nvPr>
        </p:nvSpPr>
        <p:spPr/>
        <p:txBody>
          <a:bodyPr/>
          <a:lstStyle/>
          <a:p>
            <a:fld id="{B53602B4-F12B-41CD-B648-531F86B2CC91}" type="slidenum">
              <a:rPr lang="zh-CN" altLang="en-US" smtClean="0"/>
              <a:t>51</a:t>
            </a:fld>
            <a:endParaRPr lang="zh-CN" altLang="en-US"/>
          </a:p>
        </p:txBody>
      </p:sp>
      <p:sp>
        <p:nvSpPr>
          <p:cNvPr id="26" name="Text Box 125">
            <a:extLst>
              <a:ext uri="{FF2B5EF4-FFF2-40B4-BE49-F238E27FC236}">
                <a16:creationId xmlns:a16="http://schemas.microsoft.com/office/drawing/2014/main" id="{E6327104-7390-453E-BCEE-0BC40E3E5D05}"/>
              </a:ext>
            </a:extLst>
          </p:cNvPr>
          <p:cNvSpPr txBox="1">
            <a:spLocks noChangeArrowheads="1"/>
          </p:cNvSpPr>
          <p:nvPr/>
        </p:nvSpPr>
        <p:spPr bwMode="auto">
          <a:xfrm>
            <a:off x="0" y="6172022"/>
            <a:ext cx="5583778"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5-26 </a:t>
            </a:r>
            <a:r>
              <a:rPr kumimoji="0" lang="zh-CN" altLang="en-US" b="1" dirty="0">
                <a:solidFill>
                  <a:srgbClr val="3333CC"/>
                </a:solidFill>
                <a:latin typeface="宋体" panose="02010600030101010101" pitchFamily="2" charset="-122"/>
                <a:ea typeface="宋体" panose="02010600030101010101" pitchFamily="2" charset="-122"/>
              </a:rPr>
              <a:t>霍尔式位移传感器原理示意图</a:t>
            </a:r>
          </a:p>
        </p:txBody>
      </p:sp>
      <p:sp>
        <p:nvSpPr>
          <p:cNvPr id="28" name="TextBox 27">
            <a:extLst>
              <a:ext uri="{FF2B5EF4-FFF2-40B4-BE49-F238E27FC236}">
                <a16:creationId xmlns:a16="http://schemas.microsoft.com/office/drawing/2014/main" id="{D173905A-7441-4645-A63E-E17946972A46}"/>
              </a:ext>
            </a:extLst>
          </p:cNvPr>
          <p:cNvSpPr txBox="1"/>
          <p:nvPr/>
        </p:nvSpPr>
        <p:spPr>
          <a:xfrm>
            <a:off x="3519725" y="2136220"/>
            <a:ext cx="5423938" cy="2236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spcBef>
                <a:spcPct val="50000"/>
              </a:spcBef>
              <a:buFont typeface="Wingdings" pitchFamily="2" charset="2"/>
              <a:buNone/>
              <a:defRPr sz="2400" b="1">
                <a:latin typeface="宋体" panose="02010600030101010101" pitchFamily="2" charset="-122"/>
                <a:ea typeface="宋体" panose="02010600030101010101" pitchFamily="2"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marL="342900" indent="-342900">
              <a:lnSpc>
                <a:spcPct val="110000"/>
              </a:lnSpc>
              <a:spcBef>
                <a:spcPts val="600"/>
              </a:spcBef>
              <a:buFont typeface="Arial" panose="020B0604020202020204" pitchFamily="34" charset="0"/>
              <a:buChar char="•"/>
            </a:pPr>
            <a:r>
              <a:rPr lang="en-001" sz="2000"/>
              <a:t>保持霍尔元件的控制电流恒定，使霍尔元件在一个</a:t>
            </a:r>
            <a:r>
              <a:rPr lang="en-001" sz="2000">
                <a:solidFill>
                  <a:srgbClr val="C00000"/>
                </a:solidFill>
              </a:rPr>
              <a:t>均匀的梯度磁场中</a:t>
            </a:r>
            <a:r>
              <a:rPr lang="en-001" sz="2000"/>
              <a:t>沿x方向移动</a:t>
            </a:r>
          </a:p>
          <a:p>
            <a:pPr marL="342900" indent="-342900">
              <a:lnSpc>
                <a:spcPct val="110000"/>
              </a:lnSpc>
              <a:spcBef>
                <a:spcPts val="600"/>
              </a:spcBef>
              <a:buFont typeface="Arial" panose="020B0604020202020204" pitchFamily="34" charset="0"/>
              <a:buChar char="•"/>
            </a:pPr>
            <a:r>
              <a:rPr lang="en-001" sz="2000"/>
              <a:t>霍尔电压与磁感应强度</a:t>
            </a:r>
            <a:r>
              <a:rPr lang="en-US" sz="2000"/>
              <a:t> </a:t>
            </a:r>
            <a:r>
              <a:rPr lang="en-001" sz="2000"/>
              <a:t>B</a:t>
            </a:r>
            <a:r>
              <a:rPr lang="en-US" sz="2000"/>
              <a:t> </a:t>
            </a:r>
            <a:r>
              <a:rPr lang="en-001" sz="2000"/>
              <a:t>成正比</a:t>
            </a:r>
          </a:p>
          <a:p>
            <a:pPr marL="342900" indent="-342900">
              <a:lnSpc>
                <a:spcPct val="110000"/>
              </a:lnSpc>
              <a:spcBef>
                <a:spcPts val="600"/>
              </a:spcBef>
              <a:buFont typeface="Arial" panose="020B0604020202020204" pitchFamily="34" charset="0"/>
              <a:buChar char="•"/>
            </a:pPr>
            <a:r>
              <a:rPr lang="en-001" sz="2000"/>
              <a:t>磁场在一定范围内沿x方向的变化</a:t>
            </a:r>
            <a:r>
              <a:rPr lang="en-US" sz="2000"/>
              <a:t> </a:t>
            </a:r>
            <a:r>
              <a:rPr lang="en-001" sz="2000"/>
              <a:t>dB/dx为常数，因此元件沿x方向移动时，霍尔电压的变化为</a:t>
            </a:r>
          </a:p>
        </p:txBody>
      </p:sp>
      <p:graphicFrame>
        <p:nvGraphicFramePr>
          <p:cNvPr id="29" name="Object 12">
            <a:extLst>
              <a:ext uri="{FF2B5EF4-FFF2-40B4-BE49-F238E27FC236}">
                <a16:creationId xmlns:a16="http://schemas.microsoft.com/office/drawing/2014/main" id="{83FA7868-97DA-4665-8EF1-45F9D9FC154B}"/>
              </a:ext>
            </a:extLst>
          </p:cNvPr>
          <p:cNvGraphicFramePr>
            <a:graphicFrameLocks noChangeAspect="1"/>
          </p:cNvGraphicFramePr>
          <p:nvPr>
            <p:extLst>
              <p:ext uri="{D42A27DB-BD31-4B8C-83A1-F6EECF244321}">
                <p14:modId xmlns:p14="http://schemas.microsoft.com/office/powerpoint/2010/main" val="2965003305"/>
              </p:ext>
            </p:extLst>
          </p:nvPr>
        </p:nvGraphicFramePr>
        <p:xfrm>
          <a:off x="3639590" y="1552081"/>
          <a:ext cx="1784350" cy="423862"/>
        </p:xfrm>
        <a:graphic>
          <a:graphicData uri="http://schemas.openxmlformats.org/presentationml/2006/ole">
            <mc:AlternateContent xmlns:mc="http://schemas.openxmlformats.org/markup-compatibility/2006">
              <mc:Choice xmlns:v="urn:schemas-microsoft-com:vml" Requires="v">
                <p:oleObj name="Equation" r:id="rId3" imgW="1168200" imgH="279360" progId="Equation.DSMT4">
                  <p:embed/>
                </p:oleObj>
              </mc:Choice>
              <mc:Fallback>
                <p:oleObj name="Equation" r:id="rId3" imgW="1168200" imgH="279360" progId="Equation.DSMT4">
                  <p:embed/>
                  <p:pic>
                    <p:nvPicPr>
                      <p:cNvPr id="24" name="Object 12">
                        <a:extLst>
                          <a:ext uri="{FF2B5EF4-FFF2-40B4-BE49-F238E27FC236}">
                            <a16:creationId xmlns:a16="http://schemas.microsoft.com/office/drawing/2014/main" id="{3DFD0CDC-8AB9-4805-9AE7-836331CF875E}"/>
                          </a:ext>
                        </a:extLst>
                      </p:cNvPr>
                      <p:cNvPicPr>
                        <a:picLocks noChangeAspect="1" noChangeArrowheads="1"/>
                      </p:cNvPicPr>
                      <p:nvPr/>
                    </p:nvPicPr>
                    <p:blipFill>
                      <a:blip r:embed="rId4"/>
                      <a:srcRect/>
                      <a:stretch>
                        <a:fillRect/>
                      </a:stretch>
                    </p:blipFill>
                    <p:spPr bwMode="auto">
                      <a:xfrm>
                        <a:off x="3639590" y="1552081"/>
                        <a:ext cx="1784350" cy="423862"/>
                      </a:xfrm>
                      <a:prstGeom prst="rect">
                        <a:avLst/>
                      </a:prstGeom>
                      <a:solidFill>
                        <a:srgbClr val="FFFF00"/>
                      </a:solidFill>
                    </p:spPr>
                  </p:pic>
                </p:oleObj>
              </mc:Fallback>
            </mc:AlternateContent>
          </a:graphicData>
        </a:graphic>
      </p:graphicFrame>
      <p:pic>
        <p:nvPicPr>
          <p:cNvPr id="7" name="Picture 6">
            <a:extLst>
              <a:ext uri="{FF2B5EF4-FFF2-40B4-BE49-F238E27FC236}">
                <a16:creationId xmlns:a16="http://schemas.microsoft.com/office/drawing/2014/main" id="{D675AC16-0B90-4FC0-AA3C-83F314AEF002}"/>
              </a:ext>
            </a:extLst>
          </p:cNvPr>
          <p:cNvPicPr>
            <a:picLocks noChangeAspect="1"/>
          </p:cNvPicPr>
          <p:nvPr/>
        </p:nvPicPr>
        <p:blipFill rotWithShape="1">
          <a:blip r:embed="rId5"/>
          <a:srcRect t="15952" r="54856"/>
          <a:stretch/>
        </p:blipFill>
        <p:spPr>
          <a:xfrm>
            <a:off x="200337" y="2090338"/>
            <a:ext cx="2923863" cy="2234632"/>
          </a:xfrm>
          <a:prstGeom prst="rect">
            <a:avLst/>
          </a:prstGeom>
        </p:spPr>
      </p:pic>
      <p:pic>
        <p:nvPicPr>
          <p:cNvPr id="31" name="Picture 30">
            <a:extLst>
              <a:ext uri="{FF2B5EF4-FFF2-40B4-BE49-F238E27FC236}">
                <a16:creationId xmlns:a16="http://schemas.microsoft.com/office/drawing/2014/main" id="{BB356EBB-BD4C-4A5B-A6C1-674015DAD8D1}"/>
              </a:ext>
            </a:extLst>
          </p:cNvPr>
          <p:cNvPicPr>
            <a:picLocks noChangeAspect="1"/>
          </p:cNvPicPr>
          <p:nvPr/>
        </p:nvPicPr>
        <p:blipFill rotWithShape="1">
          <a:blip r:embed="rId5"/>
          <a:srcRect l="53003"/>
          <a:stretch/>
        </p:blipFill>
        <p:spPr>
          <a:xfrm>
            <a:off x="885749" y="4266590"/>
            <a:ext cx="1887641" cy="1791037"/>
          </a:xfrm>
          <a:prstGeom prst="rect">
            <a:avLst/>
          </a:prstGeom>
        </p:spPr>
      </p:pic>
      <p:pic>
        <p:nvPicPr>
          <p:cNvPr id="8" name="Picture 7">
            <a:extLst>
              <a:ext uri="{FF2B5EF4-FFF2-40B4-BE49-F238E27FC236}">
                <a16:creationId xmlns:a16="http://schemas.microsoft.com/office/drawing/2014/main" id="{85A2CA2E-A361-4A19-B142-8870F227EEA1}"/>
              </a:ext>
            </a:extLst>
          </p:cNvPr>
          <p:cNvPicPr>
            <a:picLocks noChangeAspect="1"/>
          </p:cNvPicPr>
          <p:nvPr/>
        </p:nvPicPr>
        <p:blipFill>
          <a:blip r:embed="rId6">
            <a:duotone>
              <a:prstClr val="black"/>
              <a:schemeClr val="accent2">
                <a:tint val="45000"/>
                <a:satMod val="400000"/>
              </a:schemeClr>
            </a:duotone>
          </a:blip>
          <a:stretch>
            <a:fillRect/>
          </a:stretch>
        </p:blipFill>
        <p:spPr>
          <a:xfrm>
            <a:off x="5123968" y="4107391"/>
            <a:ext cx="2493288" cy="758827"/>
          </a:xfrm>
          <a:prstGeom prst="rect">
            <a:avLst/>
          </a:prstGeom>
        </p:spPr>
      </p:pic>
      <p:pic>
        <p:nvPicPr>
          <p:cNvPr id="9" name="Picture 8">
            <a:extLst>
              <a:ext uri="{FF2B5EF4-FFF2-40B4-BE49-F238E27FC236}">
                <a16:creationId xmlns:a16="http://schemas.microsoft.com/office/drawing/2014/main" id="{8D06508B-5036-49A7-B643-3B9D0226A52B}"/>
              </a:ext>
            </a:extLst>
          </p:cNvPr>
          <p:cNvPicPr>
            <a:picLocks noChangeAspect="1"/>
          </p:cNvPicPr>
          <p:nvPr/>
        </p:nvPicPr>
        <p:blipFill>
          <a:blip r:embed="rId7">
            <a:duotone>
              <a:prstClr val="black"/>
              <a:schemeClr val="accent4">
                <a:tint val="45000"/>
                <a:satMod val="400000"/>
              </a:schemeClr>
            </a:duotone>
          </a:blip>
          <a:stretch>
            <a:fillRect/>
          </a:stretch>
        </p:blipFill>
        <p:spPr>
          <a:xfrm>
            <a:off x="5123968" y="5049063"/>
            <a:ext cx="1517654" cy="758827"/>
          </a:xfrm>
          <a:prstGeom prst="rect">
            <a:avLst/>
          </a:prstGeom>
        </p:spPr>
      </p:pic>
      <p:sp>
        <p:nvSpPr>
          <p:cNvPr id="34" name="矩形 20">
            <a:extLst>
              <a:ext uri="{FF2B5EF4-FFF2-40B4-BE49-F238E27FC236}">
                <a16:creationId xmlns:a16="http://schemas.microsoft.com/office/drawing/2014/main" id="{E1579BDA-4041-42BE-9FED-015A412CD887}"/>
              </a:ext>
            </a:extLst>
          </p:cNvPr>
          <p:cNvSpPr/>
          <p:nvPr/>
        </p:nvSpPr>
        <p:spPr>
          <a:xfrm>
            <a:off x="3978790" y="5071417"/>
            <a:ext cx="1105949" cy="400108"/>
          </a:xfrm>
          <a:prstGeom prst="rect">
            <a:avLst/>
          </a:prstGeom>
        </p:spPr>
        <p:txBody>
          <a:bodyPr wrap="square" lIns="91438" tIns="45719" rIns="91438" bIns="45719">
            <a:spAutoFit/>
          </a:bodyPr>
          <a:lstStyle/>
          <a:p>
            <a:pPr>
              <a:spcBef>
                <a:spcPts val="670"/>
              </a:spcBef>
            </a:pPr>
            <a:r>
              <a:rPr lang="zh-CN" altLang="en-US" sz="2000" b="1">
                <a:latin typeface="Arial" panose="020B0604020202020204" pitchFamily="34" charset="0"/>
                <a:ea typeface="宋体" panose="02010600030101010101" pitchFamily="2" charset="-122"/>
                <a:cs typeface="Arial" panose="020B0604020202020204" pitchFamily="34" charset="0"/>
              </a:rPr>
              <a:t>积分：</a:t>
            </a:r>
            <a:endParaRPr lang="zh-CN" altLang="en-US" sz="2000" b="1" dirty="0">
              <a:latin typeface="Arial" panose="020B0604020202020204" pitchFamily="34"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0429033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霍尔式传感器的应用举例</a:t>
            </a:r>
          </a:p>
        </p:txBody>
      </p:sp>
      <p:sp>
        <p:nvSpPr>
          <p:cNvPr id="21" name="矩形 20"/>
          <p:cNvSpPr/>
          <p:nvPr/>
        </p:nvSpPr>
        <p:spPr>
          <a:xfrm>
            <a:off x="200337" y="1514280"/>
            <a:ext cx="3519725" cy="461663"/>
          </a:xfrm>
          <a:prstGeom prst="rect">
            <a:avLst/>
          </a:prstGeom>
        </p:spPr>
        <p:txBody>
          <a:bodyPr wrap="square" lIns="91438" tIns="45719" rIns="91438" bIns="45719">
            <a:spAutoFit/>
          </a:bodyPr>
          <a:lstStyle/>
          <a:p>
            <a:pPr>
              <a:spcBef>
                <a:spcPts val="670"/>
              </a:spcBef>
            </a:pP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霍尔式位移传感器</a:t>
            </a:r>
          </a:p>
        </p:txBody>
      </p:sp>
      <p:sp>
        <p:nvSpPr>
          <p:cNvPr id="3" name="Slide Number Placeholder 2">
            <a:extLst>
              <a:ext uri="{FF2B5EF4-FFF2-40B4-BE49-F238E27FC236}">
                <a16:creationId xmlns:a16="http://schemas.microsoft.com/office/drawing/2014/main" id="{9C842088-6CC8-447E-BD45-D69A34622B0B}"/>
              </a:ext>
            </a:extLst>
          </p:cNvPr>
          <p:cNvSpPr>
            <a:spLocks noGrp="1"/>
          </p:cNvSpPr>
          <p:nvPr>
            <p:ph type="sldNum" sz="quarter" idx="12"/>
          </p:nvPr>
        </p:nvSpPr>
        <p:spPr/>
        <p:txBody>
          <a:bodyPr/>
          <a:lstStyle/>
          <a:p>
            <a:fld id="{B53602B4-F12B-41CD-B648-531F86B2CC91}" type="slidenum">
              <a:rPr lang="zh-CN" altLang="en-US" smtClean="0"/>
              <a:t>52</a:t>
            </a:fld>
            <a:endParaRPr lang="zh-CN" altLang="en-US"/>
          </a:p>
        </p:txBody>
      </p:sp>
      <p:sp>
        <p:nvSpPr>
          <p:cNvPr id="26" name="Text Box 125">
            <a:extLst>
              <a:ext uri="{FF2B5EF4-FFF2-40B4-BE49-F238E27FC236}">
                <a16:creationId xmlns:a16="http://schemas.microsoft.com/office/drawing/2014/main" id="{E6327104-7390-453E-BCEE-0BC40E3E5D05}"/>
              </a:ext>
            </a:extLst>
          </p:cNvPr>
          <p:cNvSpPr txBox="1">
            <a:spLocks noChangeArrowheads="1"/>
          </p:cNvSpPr>
          <p:nvPr/>
        </p:nvSpPr>
        <p:spPr bwMode="auto">
          <a:xfrm>
            <a:off x="0" y="6172022"/>
            <a:ext cx="5583778"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5-26 </a:t>
            </a:r>
            <a:r>
              <a:rPr kumimoji="0" lang="zh-CN" altLang="en-US" b="1" dirty="0">
                <a:solidFill>
                  <a:srgbClr val="3333CC"/>
                </a:solidFill>
                <a:latin typeface="宋体" panose="02010600030101010101" pitchFamily="2" charset="-122"/>
                <a:ea typeface="宋体" panose="02010600030101010101" pitchFamily="2" charset="-122"/>
              </a:rPr>
              <a:t>霍尔式位移传感器原理示意图</a:t>
            </a:r>
          </a:p>
        </p:txBody>
      </p:sp>
      <p:graphicFrame>
        <p:nvGraphicFramePr>
          <p:cNvPr id="29" name="Object 12">
            <a:extLst>
              <a:ext uri="{FF2B5EF4-FFF2-40B4-BE49-F238E27FC236}">
                <a16:creationId xmlns:a16="http://schemas.microsoft.com/office/drawing/2014/main" id="{83FA7868-97DA-4665-8EF1-45F9D9FC154B}"/>
              </a:ext>
            </a:extLst>
          </p:cNvPr>
          <p:cNvGraphicFramePr>
            <a:graphicFrameLocks noChangeAspect="1"/>
          </p:cNvGraphicFramePr>
          <p:nvPr/>
        </p:nvGraphicFramePr>
        <p:xfrm>
          <a:off x="3639590" y="1552081"/>
          <a:ext cx="1784350" cy="423862"/>
        </p:xfrm>
        <a:graphic>
          <a:graphicData uri="http://schemas.openxmlformats.org/presentationml/2006/ole">
            <mc:AlternateContent xmlns:mc="http://schemas.openxmlformats.org/markup-compatibility/2006">
              <mc:Choice xmlns:v="urn:schemas-microsoft-com:vml" Requires="v">
                <p:oleObj name="Equation" r:id="rId3" imgW="1168200" imgH="279360" progId="Equation.DSMT4">
                  <p:embed/>
                </p:oleObj>
              </mc:Choice>
              <mc:Fallback>
                <p:oleObj name="Equation" r:id="rId3" imgW="1168200" imgH="279360" progId="Equation.DSMT4">
                  <p:embed/>
                  <p:pic>
                    <p:nvPicPr>
                      <p:cNvPr id="29" name="Object 12">
                        <a:extLst>
                          <a:ext uri="{FF2B5EF4-FFF2-40B4-BE49-F238E27FC236}">
                            <a16:creationId xmlns:a16="http://schemas.microsoft.com/office/drawing/2014/main" id="{83FA7868-97DA-4665-8EF1-45F9D9FC154B}"/>
                          </a:ext>
                        </a:extLst>
                      </p:cNvPr>
                      <p:cNvPicPr>
                        <a:picLocks noChangeAspect="1" noChangeArrowheads="1"/>
                      </p:cNvPicPr>
                      <p:nvPr/>
                    </p:nvPicPr>
                    <p:blipFill>
                      <a:blip r:embed="rId4"/>
                      <a:srcRect/>
                      <a:stretch>
                        <a:fillRect/>
                      </a:stretch>
                    </p:blipFill>
                    <p:spPr bwMode="auto">
                      <a:xfrm>
                        <a:off x="3639590" y="1552081"/>
                        <a:ext cx="1784350" cy="423862"/>
                      </a:xfrm>
                      <a:prstGeom prst="rect">
                        <a:avLst/>
                      </a:prstGeom>
                      <a:solidFill>
                        <a:srgbClr val="FFFF00"/>
                      </a:solidFill>
                    </p:spPr>
                  </p:pic>
                </p:oleObj>
              </mc:Fallback>
            </mc:AlternateContent>
          </a:graphicData>
        </a:graphic>
      </p:graphicFrame>
      <p:pic>
        <p:nvPicPr>
          <p:cNvPr id="7" name="Picture 6">
            <a:extLst>
              <a:ext uri="{FF2B5EF4-FFF2-40B4-BE49-F238E27FC236}">
                <a16:creationId xmlns:a16="http://schemas.microsoft.com/office/drawing/2014/main" id="{D675AC16-0B90-4FC0-AA3C-83F314AEF002}"/>
              </a:ext>
            </a:extLst>
          </p:cNvPr>
          <p:cNvPicPr>
            <a:picLocks noChangeAspect="1"/>
          </p:cNvPicPr>
          <p:nvPr/>
        </p:nvPicPr>
        <p:blipFill rotWithShape="1">
          <a:blip r:embed="rId5"/>
          <a:srcRect t="15952" r="54856"/>
          <a:stretch/>
        </p:blipFill>
        <p:spPr>
          <a:xfrm>
            <a:off x="200337" y="2090338"/>
            <a:ext cx="2923863" cy="2234632"/>
          </a:xfrm>
          <a:prstGeom prst="rect">
            <a:avLst/>
          </a:prstGeom>
        </p:spPr>
      </p:pic>
      <p:pic>
        <p:nvPicPr>
          <p:cNvPr id="31" name="Picture 30">
            <a:extLst>
              <a:ext uri="{FF2B5EF4-FFF2-40B4-BE49-F238E27FC236}">
                <a16:creationId xmlns:a16="http://schemas.microsoft.com/office/drawing/2014/main" id="{BB356EBB-BD4C-4A5B-A6C1-674015DAD8D1}"/>
              </a:ext>
            </a:extLst>
          </p:cNvPr>
          <p:cNvPicPr>
            <a:picLocks noChangeAspect="1"/>
          </p:cNvPicPr>
          <p:nvPr/>
        </p:nvPicPr>
        <p:blipFill rotWithShape="1">
          <a:blip r:embed="rId5"/>
          <a:srcRect l="53003"/>
          <a:stretch/>
        </p:blipFill>
        <p:spPr>
          <a:xfrm>
            <a:off x="885749" y="4266590"/>
            <a:ext cx="1887641" cy="1791037"/>
          </a:xfrm>
          <a:prstGeom prst="rect">
            <a:avLst/>
          </a:prstGeom>
        </p:spPr>
      </p:pic>
      <p:sp>
        <p:nvSpPr>
          <p:cNvPr id="16" name="TextBox 15">
            <a:extLst>
              <a:ext uri="{FF2B5EF4-FFF2-40B4-BE49-F238E27FC236}">
                <a16:creationId xmlns:a16="http://schemas.microsoft.com/office/drawing/2014/main" id="{E0858DEF-A5C1-4171-81CD-D71F1B3F10A8}"/>
              </a:ext>
            </a:extLst>
          </p:cNvPr>
          <p:cNvSpPr txBox="1"/>
          <p:nvPr/>
        </p:nvSpPr>
        <p:spPr>
          <a:xfrm>
            <a:off x="3521276" y="3402202"/>
            <a:ext cx="5422387" cy="2313134"/>
          </a:xfrm>
          <a:prstGeom prst="rect">
            <a:avLst/>
          </a:prstGeom>
          <a:noFill/>
        </p:spPr>
        <p:txBody>
          <a:bodyPr wrap="square">
            <a:spAutoFit/>
          </a:bodyPr>
          <a:lstStyle/>
          <a:p>
            <a:pPr marL="342900" indent="-342900">
              <a:lnSpc>
                <a:spcPct val="110000"/>
              </a:lnSpc>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霍尔电压与位移成正比，电压的极性表明了元件位移的方向</a:t>
            </a:r>
            <a:r>
              <a:rPr lang="zh-CN" altLang="en-US" sz="2000" b="1">
                <a:latin typeface="宋体" panose="02010600030101010101" pitchFamily="2" charset="-122"/>
                <a:ea typeface="宋体" panose="02010600030101010101" pitchFamily="2" charset="-122"/>
              </a:rPr>
              <a:t>；</a:t>
            </a:r>
            <a:endParaRPr lang="en-001" sz="2000" b="1">
              <a:latin typeface="宋体" panose="02010600030101010101" pitchFamily="2" charset="-122"/>
              <a:ea typeface="宋体" panose="02010600030101010101" pitchFamily="2" charset="-122"/>
            </a:endParaRPr>
          </a:p>
          <a:p>
            <a:pPr marL="342900" indent="-342900">
              <a:lnSpc>
                <a:spcPct val="110000"/>
              </a:lnSpc>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磁场梯度越大，灵敏度越高；</a:t>
            </a:r>
            <a:endParaRPr lang="en-US" sz="2000" b="1">
              <a:latin typeface="宋体" panose="02010600030101010101" pitchFamily="2" charset="-122"/>
              <a:ea typeface="宋体" panose="02010600030101010101" pitchFamily="2" charset="-122"/>
            </a:endParaRPr>
          </a:p>
          <a:p>
            <a:pPr marL="342900" indent="-342900">
              <a:lnSpc>
                <a:spcPct val="110000"/>
              </a:lnSpc>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磁场梯度越均匀，输出线性度就越好</a:t>
            </a:r>
          </a:p>
          <a:p>
            <a:pPr marL="342900" indent="-342900">
              <a:lnSpc>
                <a:spcPct val="110000"/>
              </a:lnSpc>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为了得到均匀的磁场梯度，将磁极片设计成特殊形状</a:t>
            </a:r>
          </a:p>
        </p:txBody>
      </p:sp>
      <p:pic>
        <p:nvPicPr>
          <p:cNvPr id="17" name="Picture 16">
            <a:extLst>
              <a:ext uri="{FF2B5EF4-FFF2-40B4-BE49-F238E27FC236}">
                <a16:creationId xmlns:a16="http://schemas.microsoft.com/office/drawing/2014/main" id="{3A5E26AB-CD63-425E-A0C4-28418AE735E3}"/>
              </a:ext>
            </a:extLst>
          </p:cNvPr>
          <p:cNvPicPr>
            <a:picLocks noChangeAspect="1"/>
          </p:cNvPicPr>
          <p:nvPr/>
        </p:nvPicPr>
        <p:blipFill>
          <a:blip r:embed="rId6">
            <a:duotone>
              <a:prstClr val="black"/>
              <a:schemeClr val="accent2">
                <a:tint val="45000"/>
                <a:satMod val="400000"/>
              </a:schemeClr>
            </a:duotone>
          </a:blip>
          <a:stretch>
            <a:fillRect/>
          </a:stretch>
        </p:blipFill>
        <p:spPr>
          <a:xfrm>
            <a:off x="3639590" y="2381773"/>
            <a:ext cx="2493288" cy="758827"/>
          </a:xfrm>
          <a:prstGeom prst="rect">
            <a:avLst/>
          </a:prstGeom>
        </p:spPr>
      </p:pic>
      <p:pic>
        <p:nvPicPr>
          <p:cNvPr id="18" name="Picture 17">
            <a:extLst>
              <a:ext uri="{FF2B5EF4-FFF2-40B4-BE49-F238E27FC236}">
                <a16:creationId xmlns:a16="http://schemas.microsoft.com/office/drawing/2014/main" id="{F6628C93-5C09-403E-A93A-40398DC3EBA5}"/>
              </a:ext>
            </a:extLst>
          </p:cNvPr>
          <p:cNvPicPr>
            <a:picLocks noChangeAspect="1"/>
          </p:cNvPicPr>
          <p:nvPr/>
        </p:nvPicPr>
        <p:blipFill>
          <a:blip r:embed="rId7">
            <a:duotone>
              <a:prstClr val="black"/>
              <a:schemeClr val="accent4">
                <a:tint val="45000"/>
                <a:satMod val="400000"/>
              </a:schemeClr>
            </a:duotone>
          </a:blip>
          <a:stretch>
            <a:fillRect/>
          </a:stretch>
        </p:blipFill>
        <p:spPr>
          <a:xfrm>
            <a:off x="6850876" y="2381772"/>
            <a:ext cx="1517654" cy="758827"/>
          </a:xfrm>
          <a:prstGeom prst="rect">
            <a:avLst/>
          </a:prstGeom>
        </p:spPr>
      </p:pic>
    </p:spTree>
    <p:extLst>
      <p:ext uri="{BB962C8B-B14F-4D97-AF65-F5344CB8AC3E}">
        <p14:creationId xmlns:p14="http://schemas.microsoft.com/office/powerpoint/2010/main" val="689987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霍尔式传感器的应用举例</a:t>
            </a:r>
          </a:p>
        </p:txBody>
      </p:sp>
      <p:sp>
        <p:nvSpPr>
          <p:cNvPr id="21" name="矩形 20"/>
          <p:cNvSpPr/>
          <p:nvPr/>
        </p:nvSpPr>
        <p:spPr>
          <a:xfrm>
            <a:off x="200337" y="1514280"/>
            <a:ext cx="3519725" cy="461663"/>
          </a:xfrm>
          <a:prstGeom prst="rect">
            <a:avLst/>
          </a:prstGeom>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霍</a:t>
            </a:r>
            <a:r>
              <a:rPr lang="zh-CN" altLang="en-US" sz="2400" b="1">
                <a:latin typeface="Arial" panose="020B0604020202020204" pitchFamily="34" charset="0"/>
                <a:ea typeface="宋体" panose="02010600030101010101" pitchFamily="2" charset="-122"/>
                <a:cs typeface="Arial" panose="020B0604020202020204" pitchFamily="34" charset="0"/>
              </a:rPr>
              <a:t>尔式压力传</a:t>
            </a:r>
            <a:r>
              <a:rPr lang="zh-CN" altLang="en-US" sz="2400" b="1" dirty="0">
                <a:latin typeface="Arial" panose="020B0604020202020204" pitchFamily="34" charset="0"/>
                <a:ea typeface="宋体" panose="02010600030101010101" pitchFamily="2" charset="-122"/>
                <a:cs typeface="Arial" panose="020B0604020202020204" pitchFamily="34" charset="0"/>
              </a:rPr>
              <a:t>感器</a:t>
            </a:r>
          </a:p>
        </p:txBody>
      </p:sp>
      <p:sp>
        <p:nvSpPr>
          <p:cNvPr id="3" name="Slide Number Placeholder 2">
            <a:extLst>
              <a:ext uri="{FF2B5EF4-FFF2-40B4-BE49-F238E27FC236}">
                <a16:creationId xmlns:a16="http://schemas.microsoft.com/office/drawing/2014/main" id="{9C842088-6CC8-447E-BD45-D69A34622B0B}"/>
              </a:ext>
            </a:extLst>
          </p:cNvPr>
          <p:cNvSpPr>
            <a:spLocks noGrp="1"/>
          </p:cNvSpPr>
          <p:nvPr>
            <p:ph type="sldNum" sz="quarter" idx="12"/>
          </p:nvPr>
        </p:nvSpPr>
        <p:spPr/>
        <p:txBody>
          <a:bodyPr/>
          <a:lstStyle/>
          <a:p>
            <a:fld id="{B53602B4-F12B-41CD-B648-531F86B2CC91}" type="slidenum">
              <a:rPr lang="zh-CN" altLang="en-US" smtClean="0"/>
              <a:t>53</a:t>
            </a:fld>
            <a:endParaRPr lang="zh-CN" altLang="en-US"/>
          </a:p>
        </p:txBody>
      </p:sp>
      <p:sp>
        <p:nvSpPr>
          <p:cNvPr id="9" name="Text Box 127">
            <a:extLst>
              <a:ext uri="{FF2B5EF4-FFF2-40B4-BE49-F238E27FC236}">
                <a16:creationId xmlns:a16="http://schemas.microsoft.com/office/drawing/2014/main" id="{F9911431-7E6C-417B-9A4C-646F669D6890}"/>
              </a:ext>
            </a:extLst>
          </p:cNvPr>
          <p:cNvSpPr txBox="1">
            <a:spLocks noChangeArrowheads="1"/>
          </p:cNvSpPr>
          <p:nvPr/>
        </p:nvSpPr>
        <p:spPr bwMode="auto">
          <a:xfrm>
            <a:off x="200337" y="5204387"/>
            <a:ext cx="4141230"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5-27 </a:t>
            </a:r>
            <a:r>
              <a:rPr kumimoji="0" lang="zh-CN" altLang="en-US" b="1" dirty="0">
                <a:solidFill>
                  <a:srgbClr val="3333CC"/>
                </a:solidFill>
                <a:latin typeface="宋体" panose="02010600030101010101" pitchFamily="2" charset="-122"/>
                <a:ea typeface="宋体" panose="02010600030101010101" pitchFamily="2" charset="-122"/>
              </a:rPr>
              <a:t>霍尔式压力传感器的磁钢外形及结构原理图</a:t>
            </a:r>
            <a:endParaRPr lang="zh-CN" altLang="en-US" b="1" dirty="0">
              <a:solidFill>
                <a:srgbClr val="3333CC"/>
              </a:solidFill>
              <a:latin typeface="宋体" panose="02010600030101010101" pitchFamily="2" charset="-122"/>
              <a:ea typeface="宋体" panose="02010600030101010101" pitchFamily="2" charset="-122"/>
            </a:endParaRPr>
          </a:p>
        </p:txBody>
      </p:sp>
      <p:graphicFrame>
        <p:nvGraphicFramePr>
          <p:cNvPr id="10" name="Object 128">
            <a:extLst>
              <a:ext uri="{FF2B5EF4-FFF2-40B4-BE49-F238E27FC236}">
                <a16:creationId xmlns:a16="http://schemas.microsoft.com/office/drawing/2014/main" id="{9579340A-DFD1-4A5C-BEB1-C1C11AFC8A53}"/>
              </a:ext>
            </a:extLst>
          </p:cNvPr>
          <p:cNvGraphicFramePr>
            <a:graphicFrameLocks noChangeAspect="1"/>
          </p:cNvGraphicFramePr>
          <p:nvPr>
            <p:extLst>
              <p:ext uri="{D42A27DB-BD31-4B8C-83A1-F6EECF244321}">
                <p14:modId xmlns:p14="http://schemas.microsoft.com/office/powerpoint/2010/main" val="1210796005"/>
              </p:ext>
            </p:extLst>
          </p:nvPr>
        </p:nvGraphicFramePr>
        <p:xfrm>
          <a:off x="295372" y="2514674"/>
          <a:ext cx="3982714" cy="2472030"/>
        </p:xfrm>
        <a:graphic>
          <a:graphicData uri="http://schemas.openxmlformats.org/presentationml/2006/ole">
            <mc:AlternateContent xmlns:mc="http://schemas.openxmlformats.org/markup-compatibility/2006">
              <mc:Choice xmlns:v="urn:schemas-microsoft-com:vml" Requires="v">
                <p:oleObj name="Image" r:id="rId3" imgW="3059939" imgH="1621471" progId="Photoshop.Image.7">
                  <p:embed/>
                </p:oleObj>
              </mc:Choice>
              <mc:Fallback>
                <p:oleObj name="Image" r:id="rId3" imgW="3059939" imgH="1621471" progId="Photoshop.Image.7">
                  <p:embed/>
                  <p:pic>
                    <p:nvPicPr>
                      <p:cNvPr id="2176" name="Object 1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372" y="2514674"/>
                        <a:ext cx="3982714" cy="2472030"/>
                      </a:xfrm>
                      <a:prstGeom prst="rect">
                        <a:avLst/>
                      </a:prstGeom>
                      <a:noFill/>
                      <a:ln>
                        <a:noFill/>
                      </a:ln>
                      <a:effectLst/>
                    </p:spPr>
                  </p:pic>
                </p:oleObj>
              </mc:Fallback>
            </mc:AlternateContent>
          </a:graphicData>
        </a:graphic>
      </p:graphicFrame>
      <p:sp>
        <p:nvSpPr>
          <p:cNvPr id="12" name="TextBox 11">
            <a:extLst>
              <a:ext uri="{FF2B5EF4-FFF2-40B4-BE49-F238E27FC236}">
                <a16:creationId xmlns:a16="http://schemas.microsoft.com/office/drawing/2014/main" id="{2599CDCE-EA19-44BE-B66D-2ECC74F4A852}"/>
              </a:ext>
            </a:extLst>
          </p:cNvPr>
          <p:cNvSpPr txBox="1"/>
          <p:nvPr/>
        </p:nvSpPr>
        <p:spPr>
          <a:xfrm>
            <a:off x="4572000" y="1688868"/>
            <a:ext cx="4437348" cy="3821239"/>
          </a:xfrm>
          <a:prstGeom prst="rect">
            <a:avLst/>
          </a:prstGeom>
          <a:noFill/>
        </p:spPr>
        <p:txBody>
          <a:bodyPr wrap="square">
            <a:spAutoFit/>
          </a:bodyPr>
          <a:lstStyle/>
          <a:p>
            <a:pPr marL="342900" indent="-342900">
              <a:lnSpc>
                <a:spcPct val="110000"/>
              </a:lnSpc>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任何非电量只要能转换成位移量的变化，均可利用霍尔式位移传感器的原理变换成霍尔电压。</a:t>
            </a:r>
          </a:p>
          <a:p>
            <a:pPr marL="342900" indent="-342900">
              <a:lnSpc>
                <a:spcPct val="110000"/>
              </a:lnSpc>
              <a:spcBef>
                <a:spcPts val="600"/>
              </a:spcBef>
              <a:buFont typeface="Arial" panose="020B0604020202020204" pitchFamily="34" charset="0"/>
              <a:buChar char="•"/>
            </a:pPr>
            <a:endParaRPr lang="en-001" sz="2000" b="1">
              <a:latin typeface="宋体" panose="02010600030101010101" pitchFamily="2" charset="-122"/>
              <a:ea typeface="宋体" panose="02010600030101010101" pitchFamily="2" charset="-122"/>
            </a:endParaRPr>
          </a:p>
          <a:p>
            <a:pPr>
              <a:lnSpc>
                <a:spcPct val="110000"/>
              </a:lnSpc>
              <a:spcBef>
                <a:spcPts val="600"/>
              </a:spcBef>
            </a:pPr>
            <a:r>
              <a:rPr lang="en-001" sz="2000" b="1">
                <a:latin typeface="宋体" panose="02010600030101010101" pitchFamily="2" charset="-122"/>
                <a:ea typeface="宋体" panose="02010600030101010101" pitchFamily="2" charset="-122"/>
              </a:rPr>
              <a:t>霍尔式压力传感器：</a:t>
            </a:r>
          </a:p>
          <a:p>
            <a:pPr marL="342900" indent="-342900">
              <a:lnSpc>
                <a:spcPct val="110000"/>
              </a:lnSpc>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弹性元件将被测压力变换成位移</a:t>
            </a:r>
          </a:p>
          <a:p>
            <a:pPr marL="342900" indent="-342900">
              <a:lnSpc>
                <a:spcPct val="110000"/>
              </a:lnSpc>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霍尔元件固定在弹性元件的自由端</a:t>
            </a:r>
          </a:p>
          <a:p>
            <a:pPr marL="342900" indent="-342900">
              <a:lnSpc>
                <a:spcPct val="110000"/>
              </a:lnSpc>
              <a:spcBef>
                <a:spcPts val="600"/>
              </a:spcBef>
              <a:buFont typeface="Arial" panose="020B0604020202020204" pitchFamily="34" charset="0"/>
              <a:buChar char="•"/>
            </a:pPr>
            <a:r>
              <a:rPr lang="en-001" sz="2000" b="1">
                <a:latin typeface="宋体" panose="02010600030101010101" pitchFamily="2" charset="-122"/>
                <a:ea typeface="宋体" panose="02010600030101010101" pitchFamily="2" charset="-122"/>
              </a:rPr>
              <a:t>弹性元件产生位移，带动霍尔元件在线性变化的磁场中移动，从而输出霍尔电压。</a:t>
            </a:r>
          </a:p>
        </p:txBody>
      </p:sp>
    </p:spTree>
    <p:extLst>
      <p:ext uri="{BB962C8B-B14F-4D97-AF65-F5344CB8AC3E}">
        <p14:creationId xmlns:p14="http://schemas.microsoft.com/office/powerpoint/2010/main" val="402400509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霍尔式传感器的应用举例</a:t>
            </a:r>
          </a:p>
        </p:txBody>
      </p:sp>
      <p:sp>
        <p:nvSpPr>
          <p:cNvPr id="3" name="Slide Number Placeholder 2">
            <a:extLst>
              <a:ext uri="{FF2B5EF4-FFF2-40B4-BE49-F238E27FC236}">
                <a16:creationId xmlns:a16="http://schemas.microsoft.com/office/drawing/2014/main" id="{9C842088-6CC8-447E-BD45-D69A34622B0B}"/>
              </a:ext>
            </a:extLst>
          </p:cNvPr>
          <p:cNvSpPr>
            <a:spLocks noGrp="1"/>
          </p:cNvSpPr>
          <p:nvPr>
            <p:ph type="sldNum" sz="quarter" idx="12"/>
          </p:nvPr>
        </p:nvSpPr>
        <p:spPr/>
        <p:txBody>
          <a:bodyPr/>
          <a:lstStyle/>
          <a:p>
            <a:fld id="{B53602B4-F12B-41CD-B648-531F86B2CC91}" type="slidenum">
              <a:rPr lang="zh-CN" altLang="en-US" smtClean="0"/>
              <a:t>54</a:t>
            </a:fld>
            <a:endParaRPr lang="zh-CN" altLang="en-US"/>
          </a:p>
        </p:txBody>
      </p:sp>
      <p:pic>
        <p:nvPicPr>
          <p:cNvPr id="51204" name="Picture 4">
            <a:extLst>
              <a:ext uri="{FF2B5EF4-FFF2-40B4-BE49-F238E27FC236}">
                <a16:creationId xmlns:a16="http://schemas.microsoft.com/office/drawing/2014/main" id="{602EADA6-D7ED-4945-89F4-8E22847B9F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1529" y="2598797"/>
            <a:ext cx="3429849" cy="241776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59F8373-1B09-47DF-9431-4EDC47FF3A91}"/>
              </a:ext>
            </a:extLst>
          </p:cNvPr>
          <p:cNvSpPr txBox="1"/>
          <p:nvPr/>
        </p:nvSpPr>
        <p:spPr>
          <a:xfrm>
            <a:off x="288131" y="1407021"/>
            <a:ext cx="4864894" cy="4801314"/>
          </a:xfrm>
          <a:prstGeom prst="rect">
            <a:avLst/>
          </a:prstGeom>
          <a:noFill/>
        </p:spPr>
        <p:txBody>
          <a:bodyPr wrap="square">
            <a:spAutoFit/>
          </a:bodyPr>
          <a:lstStyle/>
          <a:p>
            <a:r>
              <a:rPr lang="zh-CN" altLang="en-US" sz="2800" b="1">
                <a:solidFill>
                  <a:srgbClr val="C00000"/>
                </a:solidFill>
                <a:latin typeface="宋体" panose="02010600030101010101" pitchFamily="2" charset="-122"/>
                <a:ea typeface="宋体" panose="02010600030101010101" pitchFamily="2" charset="-122"/>
              </a:rPr>
              <a:t>差动霍尔电路 </a:t>
            </a:r>
            <a:r>
              <a:rPr lang="en-US" altLang="zh-CN" sz="2800" b="1">
                <a:solidFill>
                  <a:srgbClr val="C00000"/>
                </a:solidFill>
                <a:latin typeface="宋体" panose="02010600030101010101" pitchFamily="2" charset="-122"/>
                <a:ea typeface="宋体" panose="02010600030101010101" pitchFamily="2" charset="-122"/>
              </a:rPr>
              <a:t>(</a:t>
            </a:r>
            <a:r>
              <a:rPr lang="zh-CN" altLang="en-US" sz="2800" b="1">
                <a:solidFill>
                  <a:srgbClr val="C00000"/>
                </a:solidFill>
                <a:latin typeface="宋体" panose="02010600030101010101" pitchFamily="2" charset="-122"/>
                <a:ea typeface="宋体" panose="02010600030101010101" pitchFamily="2" charset="-122"/>
              </a:rPr>
              <a:t>双霍尔电路</a:t>
            </a:r>
            <a:r>
              <a:rPr lang="en-US" altLang="zh-CN" sz="2800" b="1">
                <a:solidFill>
                  <a:srgbClr val="C00000"/>
                </a:solidFill>
                <a:latin typeface="宋体" panose="02010600030101010101" pitchFamily="2" charset="-122"/>
                <a:ea typeface="宋体" panose="02010600030101010101" pitchFamily="2" charset="-122"/>
              </a:rPr>
              <a:t>)</a:t>
            </a:r>
            <a:br>
              <a:rPr lang="en-US" altLang="zh-CN">
                <a:latin typeface="宋体" panose="02010600030101010101" pitchFamily="2" charset="-122"/>
                <a:ea typeface="宋体" panose="02010600030101010101" pitchFamily="2" charset="-122"/>
              </a:rPr>
            </a:br>
            <a:endParaRPr lang="en-US" altLang="zh-CN">
              <a:latin typeface="宋体" panose="02010600030101010101" pitchFamily="2" charset="-122"/>
              <a:ea typeface="宋体" panose="02010600030101010101" pitchFamily="2" charset="-122"/>
            </a:endParaRPr>
          </a:p>
          <a:p>
            <a:pPr marL="285750" indent="-285750">
              <a:lnSpc>
                <a:spcPct val="150000"/>
              </a:lnSpc>
              <a:spcBef>
                <a:spcPts val="600"/>
              </a:spcBef>
              <a:spcAft>
                <a:spcPts val="600"/>
              </a:spcAft>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霍尔电压发生器由一对霍尔元件组成</a:t>
            </a:r>
            <a:endParaRPr lang="en-US" altLang="zh-CN" sz="2000" b="1">
              <a:latin typeface="宋体" panose="02010600030101010101" pitchFamily="2" charset="-122"/>
              <a:ea typeface="宋体" panose="02010600030101010101" pitchFamily="2" charset="-122"/>
            </a:endParaRPr>
          </a:p>
          <a:p>
            <a:pPr marL="285750" indent="-285750">
              <a:lnSpc>
                <a:spcPct val="150000"/>
              </a:lnSpc>
              <a:spcBef>
                <a:spcPts val="600"/>
              </a:spcBef>
              <a:spcAft>
                <a:spcPts val="600"/>
              </a:spcAft>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在电路背面放置一块永久磁体，当用铁磁材料制成的齿轮从电路附近转过时，一对霍尔片上产生的霍尔电压相位相反，经差分放大后，使器件灵敏度大为提高。</a:t>
            </a:r>
            <a:endParaRPr lang="en-US" altLang="zh-CN" sz="2000" b="1">
              <a:latin typeface="宋体" panose="02010600030101010101" pitchFamily="2" charset="-122"/>
              <a:ea typeface="宋体" panose="02010600030101010101" pitchFamily="2" charset="-122"/>
            </a:endParaRPr>
          </a:p>
          <a:p>
            <a:pPr marL="285750" indent="-285750">
              <a:lnSpc>
                <a:spcPct val="150000"/>
              </a:lnSpc>
              <a:spcBef>
                <a:spcPts val="600"/>
              </a:spcBef>
              <a:spcAft>
                <a:spcPts val="600"/>
              </a:spcAft>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用这种电路制成的汽车齿轮传感器具有极优的性能。</a:t>
            </a:r>
          </a:p>
          <a:p>
            <a:pPr marL="285750" indent="-285750">
              <a:buFont typeface="Arial" panose="020B0604020202020204" pitchFamily="34" charset="0"/>
              <a:buChar char="•"/>
            </a:pPr>
            <a:endParaRPr lang="zh-CN" altLang="en-US" sz="200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8280774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霍尔式传感器的应用举例</a:t>
            </a:r>
          </a:p>
        </p:txBody>
      </p:sp>
      <p:sp>
        <p:nvSpPr>
          <p:cNvPr id="24" name="Rectangle 9"/>
          <p:cNvSpPr>
            <a:spLocks noRot="1" noChangeArrowheads="1"/>
          </p:cNvSpPr>
          <p:nvPr/>
        </p:nvSpPr>
        <p:spPr bwMode="auto">
          <a:xfrm>
            <a:off x="412989" y="1402004"/>
            <a:ext cx="2317443" cy="52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400" b="1" dirty="0">
                <a:solidFill>
                  <a:srgbClr val="7030A0"/>
                </a:solidFill>
                <a:latin typeface="宋体" panose="02010600030101010101" pitchFamily="2" charset="-122"/>
                <a:ea typeface="宋体" panose="02010600030101010101" pitchFamily="2" charset="-122"/>
              </a:rPr>
              <a:t>霍尔开关器件</a:t>
            </a:r>
          </a:p>
        </p:txBody>
      </p:sp>
      <p:pic>
        <p:nvPicPr>
          <p:cNvPr id="27" name="Picture 20"/>
          <p:cNvPicPr>
            <a:picLocks noChangeAspect="1" noChangeArrowheads="1"/>
          </p:cNvPicPr>
          <p:nvPr/>
        </p:nvPicPr>
        <p:blipFill rotWithShape="1">
          <a:blip r:embed="rId3">
            <a:extLst>
              <a:ext uri="{28A0092B-C50C-407E-A947-70E740481C1C}">
                <a14:useLocalDpi xmlns:a14="http://schemas.microsoft.com/office/drawing/2010/main" val="0"/>
              </a:ext>
            </a:extLst>
          </a:blip>
          <a:srcRect r="1534"/>
          <a:stretch/>
        </p:blipFill>
        <p:spPr bwMode="auto">
          <a:xfrm>
            <a:off x="5491529" y="1304541"/>
            <a:ext cx="3153249" cy="2477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Text Box 21"/>
          <p:cNvSpPr txBox="1">
            <a:spLocks noChangeArrowheads="1"/>
          </p:cNvSpPr>
          <p:nvPr/>
        </p:nvSpPr>
        <p:spPr bwMode="auto">
          <a:xfrm>
            <a:off x="349228" y="4062737"/>
            <a:ext cx="839154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marL="342900" indent="-342900" eaLnBrk="1" hangingPunct="1">
              <a:spcBef>
                <a:spcPct val="50000"/>
              </a:spcBef>
              <a:buFont typeface="Arial" panose="020B0604020202020204" pitchFamily="34" charset="0"/>
              <a:buChar char="•"/>
            </a:pPr>
            <a:r>
              <a:rPr lang="zh-CN" altLang="en-US" sz="2000" b="1">
                <a:solidFill>
                  <a:schemeClr val="tx1"/>
                </a:solidFill>
              </a:rPr>
              <a:t>稳</a:t>
            </a:r>
            <a:r>
              <a:rPr lang="zh-CN" altLang="en-US" sz="2000" b="1" dirty="0">
                <a:solidFill>
                  <a:schemeClr val="tx1"/>
                </a:solidFill>
              </a:rPr>
              <a:t>压器、霍尔片、差分放大器，施密特触发器和输出级组</a:t>
            </a:r>
            <a:r>
              <a:rPr lang="zh-CN" altLang="en-US" sz="2000" b="1">
                <a:solidFill>
                  <a:schemeClr val="tx1"/>
                </a:solidFill>
              </a:rPr>
              <a:t>成。</a:t>
            </a:r>
            <a:endParaRPr lang="en-US" altLang="zh-CN" sz="2000" b="1">
              <a:solidFill>
                <a:schemeClr val="tx1"/>
              </a:solidFill>
            </a:endParaRPr>
          </a:p>
          <a:p>
            <a:pPr marL="342900" indent="-342900" eaLnBrk="1" hangingPunct="1">
              <a:spcBef>
                <a:spcPct val="50000"/>
              </a:spcBef>
              <a:buFont typeface="Arial" panose="020B0604020202020204" pitchFamily="34" charset="0"/>
              <a:buChar char="•"/>
            </a:pPr>
            <a:r>
              <a:rPr lang="zh-CN" altLang="en-US" sz="2000" b="1">
                <a:solidFill>
                  <a:schemeClr val="tx1"/>
                </a:solidFill>
              </a:rPr>
              <a:t>在</a:t>
            </a:r>
            <a:r>
              <a:rPr lang="zh-CN" altLang="en-US" sz="2000" b="1" dirty="0">
                <a:solidFill>
                  <a:schemeClr val="tx1"/>
                </a:solidFill>
              </a:rPr>
              <a:t>外磁场的作用</a:t>
            </a:r>
            <a:r>
              <a:rPr lang="zh-CN" altLang="en-US" sz="2000" b="1">
                <a:solidFill>
                  <a:schemeClr val="tx1"/>
                </a:solidFill>
              </a:rPr>
              <a:t>下，</a:t>
            </a:r>
            <a:endParaRPr lang="en-US" altLang="zh-CN" sz="2000" b="1">
              <a:solidFill>
                <a:schemeClr val="tx1"/>
              </a:solidFill>
            </a:endParaRPr>
          </a:p>
          <a:p>
            <a:pPr marL="1085850" lvl="1" indent="-342900" eaLnBrk="1" hangingPunct="1">
              <a:spcBef>
                <a:spcPct val="50000"/>
              </a:spcBef>
              <a:buFont typeface="Courier New" panose="02070309020205020404" pitchFamily="49" charset="0"/>
              <a:buChar char="o"/>
            </a:pPr>
            <a:r>
              <a:rPr lang="zh-CN" altLang="en-US" sz="2000" b="1">
                <a:solidFill>
                  <a:schemeClr val="tx1"/>
                </a:solidFill>
              </a:rPr>
              <a:t>当</a:t>
            </a:r>
            <a:r>
              <a:rPr lang="zh-CN" altLang="en-US" sz="2000" b="1" dirty="0">
                <a:solidFill>
                  <a:schemeClr val="tx1"/>
                </a:solidFill>
              </a:rPr>
              <a:t>磁感应强度超过导通阈值时，输出管导通，输出低</a:t>
            </a:r>
            <a:r>
              <a:rPr lang="zh-CN" altLang="en-US" sz="2000" b="1">
                <a:solidFill>
                  <a:schemeClr val="tx1"/>
                </a:solidFill>
              </a:rPr>
              <a:t>电平</a:t>
            </a:r>
            <a:r>
              <a:rPr lang="en-US" altLang="zh-CN" sz="2000" b="1">
                <a:solidFill>
                  <a:schemeClr val="tx1"/>
                </a:solidFill>
              </a:rPr>
              <a:t>;</a:t>
            </a:r>
          </a:p>
          <a:p>
            <a:pPr marL="1085850" lvl="1" indent="-342900" eaLnBrk="1" hangingPunct="1">
              <a:spcBef>
                <a:spcPct val="50000"/>
              </a:spcBef>
              <a:buFont typeface="Courier New" panose="02070309020205020404" pitchFamily="49" charset="0"/>
              <a:buChar char="o"/>
            </a:pPr>
            <a:r>
              <a:rPr lang="zh-CN" altLang="en-US" sz="2000" b="1">
                <a:solidFill>
                  <a:schemeClr val="tx1"/>
                </a:solidFill>
              </a:rPr>
              <a:t>之</a:t>
            </a:r>
            <a:r>
              <a:rPr lang="zh-CN" altLang="en-US" sz="2000" b="1" dirty="0">
                <a:solidFill>
                  <a:schemeClr val="tx1"/>
                </a:solidFill>
              </a:rPr>
              <a:t>后，</a:t>
            </a:r>
            <a:r>
              <a:rPr lang="en-US" altLang="zh-CN" sz="2000" b="1" i="1" dirty="0">
                <a:solidFill>
                  <a:schemeClr val="tx1"/>
                </a:solidFill>
                <a:latin typeface="Times New Roman" pitchFamily="18" charset="0"/>
                <a:cs typeface="Times New Roman" pitchFamily="18" charset="0"/>
              </a:rPr>
              <a:t>B</a:t>
            </a:r>
            <a:r>
              <a:rPr lang="zh-CN" altLang="en-US" sz="2000" b="1" dirty="0">
                <a:solidFill>
                  <a:schemeClr val="tx1"/>
                </a:solidFill>
              </a:rPr>
              <a:t>再增加，仍保持导</a:t>
            </a:r>
            <a:r>
              <a:rPr lang="zh-CN" altLang="en-US" sz="2000" b="1">
                <a:solidFill>
                  <a:schemeClr val="tx1"/>
                </a:solidFill>
              </a:rPr>
              <a:t>通态</a:t>
            </a:r>
            <a:r>
              <a:rPr lang="en-US" altLang="zh-CN" sz="2000" b="1">
                <a:solidFill>
                  <a:schemeClr val="tx1"/>
                </a:solidFill>
              </a:rPr>
              <a:t>;</a:t>
            </a:r>
          </a:p>
          <a:p>
            <a:pPr marL="1085850" lvl="1" indent="-342900" eaLnBrk="1" hangingPunct="1">
              <a:spcBef>
                <a:spcPct val="50000"/>
              </a:spcBef>
              <a:buFont typeface="Courier New" panose="02070309020205020404" pitchFamily="49" charset="0"/>
              <a:buChar char="o"/>
            </a:pPr>
            <a:r>
              <a:rPr lang="zh-CN" altLang="en-US" sz="2000" b="1">
                <a:solidFill>
                  <a:schemeClr val="tx1"/>
                </a:solidFill>
              </a:rPr>
              <a:t>若</a:t>
            </a:r>
            <a:r>
              <a:rPr lang="zh-CN" altLang="en-US" sz="2000" b="1" dirty="0">
                <a:solidFill>
                  <a:schemeClr val="tx1"/>
                </a:solidFill>
              </a:rPr>
              <a:t>外加磁场的</a:t>
            </a:r>
            <a:r>
              <a:rPr lang="en-US" altLang="zh-CN" sz="2000" i="1" dirty="0">
                <a:solidFill>
                  <a:schemeClr val="tx1"/>
                </a:solidFill>
                <a:latin typeface="Times New Roman" pitchFamily="18" charset="0"/>
                <a:cs typeface="Times New Roman" pitchFamily="18" charset="0"/>
              </a:rPr>
              <a:t>B</a:t>
            </a:r>
            <a:r>
              <a:rPr lang="zh-CN" altLang="en-US" sz="2000" b="1" dirty="0">
                <a:solidFill>
                  <a:schemeClr val="tx1"/>
                </a:solidFill>
              </a:rPr>
              <a:t>值降低到关闭阈值时，输出管截止，输出高电平。 </a:t>
            </a:r>
          </a:p>
        </p:txBody>
      </p:sp>
      <p:sp>
        <p:nvSpPr>
          <p:cNvPr id="31" name="Text Box 22"/>
          <p:cNvSpPr txBox="1">
            <a:spLocks noChangeArrowheads="1"/>
          </p:cNvSpPr>
          <p:nvPr/>
        </p:nvSpPr>
        <p:spPr bwMode="auto">
          <a:xfrm>
            <a:off x="618936" y="2095903"/>
            <a:ext cx="395306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2"/>
                </a:solidFill>
                <a:latin typeface="Arial" charset="0"/>
                <a:ea typeface="宋体" charset="-122"/>
              </a:defRPr>
            </a:lvl1pPr>
            <a:lvl2pPr marL="742950" indent="-285750" eaLnBrk="0" hangingPunct="0">
              <a:defRPr sz="3200">
                <a:solidFill>
                  <a:schemeClr val="tx2"/>
                </a:solidFill>
                <a:latin typeface="Arial" charset="0"/>
                <a:ea typeface="宋体" charset="-122"/>
              </a:defRPr>
            </a:lvl2pPr>
            <a:lvl3pPr marL="1143000" indent="-228600" eaLnBrk="0" hangingPunct="0">
              <a:defRPr sz="3200">
                <a:solidFill>
                  <a:schemeClr val="tx2"/>
                </a:solidFill>
                <a:latin typeface="Arial" charset="0"/>
                <a:ea typeface="宋体" charset="-122"/>
              </a:defRPr>
            </a:lvl3pPr>
            <a:lvl4pPr marL="1600200" indent="-228600" eaLnBrk="0" hangingPunct="0">
              <a:defRPr sz="3200">
                <a:solidFill>
                  <a:schemeClr val="tx2"/>
                </a:solidFill>
                <a:latin typeface="Arial" charset="0"/>
                <a:ea typeface="宋体" charset="-122"/>
              </a:defRPr>
            </a:lvl4pPr>
            <a:lvl5pPr marL="2057400" indent="-228600" eaLnBrk="0" hangingPunct="0">
              <a:defRPr sz="3200">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a:solidFill>
                  <a:schemeClr val="tx2"/>
                </a:solidFill>
                <a:latin typeface="Arial" charset="0"/>
                <a:ea typeface="宋体" charset="-122"/>
              </a:defRPr>
            </a:lvl9pPr>
          </a:lstStyle>
          <a:p>
            <a:pPr eaLnBrk="1" hangingPunct="1">
              <a:spcBef>
                <a:spcPct val="50000"/>
              </a:spcBef>
              <a:buFont typeface="Wingdings" pitchFamily="2" charset="2"/>
              <a:buNone/>
            </a:pPr>
            <a:r>
              <a:rPr lang="zh-CN" altLang="en-US" sz="2400" b="1" dirty="0">
                <a:solidFill>
                  <a:schemeClr val="tx1"/>
                </a:solidFill>
              </a:rPr>
              <a:t>特点：</a:t>
            </a:r>
          </a:p>
          <a:p>
            <a:pPr eaLnBrk="1" hangingPunct="1">
              <a:spcBef>
                <a:spcPct val="50000"/>
              </a:spcBef>
              <a:buFont typeface="Wingdings" pitchFamily="2" charset="2"/>
              <a:buNone/>
            </a:pPr>
            <a:r>
              <a:rPr lang="zh-CN" altLang="en-US" sz="2400" b="1" dirty="0">
                <a:solidFill>
                  <a:schemeClr val="tx1"/>
                </a:solidFill>
              </a:rPr>
              <a:t>无触点磨损、无火花干扰、</a:t>
            </a:r>
          </a:p>
          <a:p>
            <a:pPr eaLnBrk="1" hangingPunct="1">
              <a:spcBef>
                <a:spcPct val="50000"/>
              </a:spcBef>
              <a:buFont typeface="Wingdings" pitchFamily="2" charset="2"/>
              <a:buNone/>
            </a:pPr>
            <a:r>
              <a:rPr lang="zh-CN" altLang="en-US" sz="2400" b="1" dirty="0">
                <a:solidFill>
                  <a:schemeClr val="tx1"/>
                </a:solidFill>
              </a:rPr>
              <a:t>无转换抖动、工作频率高。</a:t>
            </a:r>
            <a:endParaRPr lang="en-US" altLang="zh-CN" sz="2400" b="1" dirty="0">
              <a:solidFill>
                <a:schemeClr val="tx1"/>
              </a:solidFill>
            </a:endParaRPr>
          </a:p>
        </p:txBody>
      </p:sp>
      <p:sp>
        <p:nvSpPr>
          <p:cNvPr id="2" name="Slide Number Placeholder 1">
            <a:extLst>
              <a:ext uri="{FF2B5EF4-FFF2-40B4-BE49-F238E27FC236}">
                <a16:creationId xmlns:a16="http://schemas.microsoft.com/office/drawing/2014/main" id="{3739A2AB-F3E5-46A8-983F-1DCC38FFADD6}"/>
              </a:ext>
            </a:extLst>
          </p:cNvPr>
          <p:cNvSpPr>
            <a:spLocks noGrp="1"/>
          </p:cNvSpPr>
          <p:nvPr>
            <p:ph type="sldNum" sz="quarter" idx="12"/>
          </p:nvPr>
        </p:nvSpPr>
        <p:spPr/>
        <p:txBody>
          <a:bodyPr/>
          <a:lstStyle/>
          <a:p>
            <a:fld id="{B53602B4-F12B-41CD-B648-531F86B2CC91}" type="slidenum">
              <a:rPr lang="zh-CN" altLang="en-US" smtClean="0"/>
              <a:t>55</a:t>
            </a:fld>
            <a:endParaRPr lang="zh-CN" altLang="en-US"/>
          </a:p>
        </p:txBody>
      </p:sp>
    </p:spTree>
    <p:extLst>
      <p:ext uri="{BB962C8B-B14F-4D97-AF65-F5344CB8AC3E}">
        <p14:creationId xmlns:p14="http://schemas.microsoft.com/office/powerpoint/2010/main" val="16531065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5.2.5</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霍尔式传感器的应用举例</a:t>
            </a:r>
          </a:p>
        </p:txBody>
      </p:sp>
      <p:sp>
        <p:nvSpPr>
          <p:cNvPr id="19" name="Rectangle 8"/>
          <p:cNvSpPr>
            <a:spLocks noRot="1" noChangeArrowheads="1"/>
          </p:cNvSpPr>
          <p:nvPr/>
        </p:nvSpPr>
        <p:spPr bwMode="auto">
          <a:xfrm>
            <a:off x="319854" y="1378072"/>
            <a:ext cx="2333379"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2400" b="1" dirty="0">
                <a:solidFill>
                  <a:srgbClr val="00B050"/>
                </a:solidFill>
                <a:latin typeface="宋体" panose="02010600030101010101" pitchFamily="2" charset="-122"/>
                <a:ea typeface="宋体" panose="02010600030101010101" pitchFamily="2" charset="-122"/>
              </a:rPr>
              <a:t>霍尔功率计</a:t>
            </a:r>
          </a:p>
        </p:txBody>
      </p:sp>
      <p:sp>
        <p:nvSpPr>
          <p:cNvPr id="2" name="Slide Number Placeholder 1">
            <a:extLst>
              <a:ext uri="{FF2B5EF4-FFF2-40B4-BE49-F238E27FC236}">
                <a16:creationId xmlns:a16="http://schemas.microsoft.com/office/drawing/2014/main" id="{B880647A-F26B-4192-A30F-0B19BCF76E57}"/>
              </a:ext>
            </a:extLst>
          </p:cNvPr>
          <p:cNvSpPr>
            <a:spLocks noGrp="1"/>
          </p:cNvSpPr>
          <p:nvPr>
            <p:ph type="sldNum" sz="quarter" idx="12"/>
          </p:nvPr>
        </p:nvSpPr>
        <p:spPr/>
        <p:txBody>
          <a:bodyPr/>
          <a:lstStyle/>
          <a:p>
            <a:fld id="{B53602B4-F12B-41CD-B648-531F86B2CC91}" type="slidenum">
              <a:rPr lang="zh-CN" altLang="en-US" smtClean="0"/>
              <a:t>56</a:t>
            </a:fld>
            <a:endParaRPr lang="zh-CN" altLang="en-US"/>
          </a:p>
        </p:txBody>
      </p:sp>
      <p:graphicFrame>
        <p:nvGraphicFramePr>
          <p:cNvPr id="9" name="Object 12">
            <a:extLst>
              <a:ext uri="{FF2B5EF4-FFF2-40B4-BE49-F238E27FC236}">
                <a16:creationId xmlns:a16="http://schemas.microsoft.com/office/drawing/2014/main" id="{176B8C12-4700-4EF0-B7AF-10307F67CFEF}"/>
              </a:ext>
            </a:extLst>
          </p:cNvPr>
          <p:cNvGraphicFramePr>
            <a:graphicFrameLocks noChangeAspect="1"/>
          </p:cNvGraphicFramePr>
          <p:nvPr>
            <p:extLst>
              <p:ext uri="{D42A27DB-BD31-4B8C-83A1-F6EECF244321}">
                <p14:modId xmlns:p14="http://schemas.microsoft.com/office/powerpoint/2010/main" val="2153676426"/>
              </p:ext>
            </p:extLst>
          </p:nvPr>
        </p:nvGraphicFramePr>
        <p:xfrm>
          <a:off x="412185" y="2063872"/>
          <a:ext cx="1784350" cy="423862"/>
        </p:xfrm>
        <a:graphic>
          <a:graphicData uri="http://schemas.openxmlformats.org/presentationml/2006/ole">
            <mc:AlternateContent xmlns:mc="http://schemas.openxmlformats.org/markup-compatibility/2006">
              <mc:Choice xmlns:v="urn:schemas-microsoft-com:vml" Requires="v">
                <p:oleObj name="Equation" r:id="rId3" imgW="1168200" imgH="279360" progId="Equation.DSMT4">
                  <p:embed/>
                </p:oleObj>
              </mc:Choice>
              <mc:Fallback>
                <p:oleObj name="Equation" r:id="rId3" imgW="1168200" imgH="279360" progId="Equation.DSMT4">
                  <p:embed/>
                  <p:pic>
                    <p:nvPicPr>
                      <p:cNvPr id="29" name="Object 12">
                        <a:extLst>
                          <a:ext uri="{FF2B5EF4-FFF2-40B4-BE49-F238E27FC236}">
                            <a16:creationId xmlns:a16="http://schemas.microsoft.com/office/drawing/2014/main" id="{83FA7868-97DA-4665-8EF1-45F9D9FC154B}"/>
                          </a:ext>
                        </a:extLst>
                      </p:cNvPr>
                      <p:cNvPicPr>
                        <a:picLocks noChangeAspect="1" noChangeArrowheads="1"/>
                      </p:cNvPicPr>
                      <p:nvPr/>
                    </p:nvPicPr>
                    <p:blipFill>
                      <a:blip r:embed="rId4"/>
                      <a:srcRect/>
                      <a:stretch>
                        <a:fillRect/>
                      </a:stretch>
                    </p:blipFill>
                    <p:spPr bwMode="auto">
                      <a:xfrm>
                        <a:off x="412185" y="2063872"/>
                        <a:ext cx="1784350" cy="423862"/>
                      </a:xfrm>
                      <a:prstGeom prst="rect">
                        <a:avLst/>
                      </a:prstGeom>
                      <a:solidFill>
                        <a:srgbClr val="FFFF00"/>
                      </a:solidFill>
                    </p:spPr>
                  </p:pic>
                </p:oleObj>
              </mc:Fallback>
            </mc:AlternateContent>
          </a:graphicData>
        </a:graphic>
      </p:graphicFrame>
      <p:pic>
        <p:nvPicPr>
          <p:cNvPr id="4" name="Picture 3">
            <a:extLst>
              <a:ext uri="{FF2B5EF4-FFF2-40B4-BE49-F238E27FC236}">
                <a16:creationId xmlns:a16="http://schemas.microsoft.com/office/drawing/2014/main" id="{EE618CFD-9354-442C-85E0-0D67C4FAB28C}"/>
              </a:ext>
            </a:extLst>
          </p:cNvPr>
          <p:cNvPicPr>
            <a:picLocks noChangeAspect="1"/>
          </p:cNvPicPr>
          <p:nvPr/>
        </p:nvPicPr>
        <p:blipFill>
          <a:blip r:embed="rId5"/>
          <a:stretch>
            <a:fillRect/>
          </a:stretch>
        </p:blipFill>
        <p:spPr>
          <a:xfrm>
            <a:off x="255084" y="3032405"/>
            <a:ext cx="3140665" cy="1957596"/>
          </a:xfrm>
          <a:prstGeom prst="rect">
            <a:avLst/>
          </a:prstGeom>
        </p:spPr>
      </p:pic>
      <p:sp>
        <p:nvSpPr>
          <p:cNvPr id="5" name="TextBox 4">
            <a:extLst>
              <a:ext uri="{FF2B5EF4-FFF2-40B4-BE49-F238E27FC236}">
                <a16:creationId xmlns:a16="http://schemas.microsoft.com/office/drawing/2014/main" id="{C036819B-D46C-484D-8E42-B78A21850428}"/>
              </a:ext>
            </a:extLst>
          </p:cNvPr>
          <p:cNvSpPr txBox="1"/>
          <p:nvPr/>
        </p:nvSpPr>
        <p:spPr>
          <a:xfrm>
            <a:off x="3711646" y="1720972"/>
            <a:ext cx="5060978" cy="3523682"/>
          </a:xfrm>
          <a:prstGeom prst="rect">
            <a:avLst/>
          </a:prstGeom>
          <a:noFill/>
        </p:spPr>
        <p:txBody>
          <a:bodyPr wrap="square" rtlCol="0">
            <a:noAutofit/>
          </a:bodyPr>
          <a:lstStyle/>
          <a:p>
            <a:pPr marL="285750" indent="-285750" algn="l">
              <a:lnSpc>
                <a:spcPct val="120000"/>
              </a:lnSpc>
              <a:spcBef>
                <a:spcPts val="600"/>
              </a:spcBef>
              <a:spcAft>
                <a:spcPts val="600"/>
              </a:spcAft>
              <a:buFont typeface="Arial" panose="020B0604020202020204" pitchFamily="34" charset="0"/>
              <a:buChar char="•"/>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负载功率等于负载电压和负载电流之乘积</a:t>
            </a:r>
            <a:endParaRPr lang="en-US" alt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l">
              <a:lnSpc>
                <a:spcPct val="120000"/>
              </a:lnSpc>
              <a:spcBef>
                <a:spcPts val="600"/>
              </a:spcBef>
              <a:spcAft>
                <a:spcPts val="600"/>
              </a:spcAft>
              <a:buFont typeface="Arial" panose="020B0604020202020204" pitchFamily="34" charset="0"/>
              <a:buChar char="•"/>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使用霍尔元件时</a:t>
            </a:r>
            <a:r>
              <a:rPr lang="en-US" altLang="zh-CN" sz="2000" kern="100">
                <a:effectLst/>
                <a:latin typeface="Times New Roman" panose="02020603050405020304" pitchFamily="18" charset="0"/>
                <a:ea typeface="宋体" panose="02010600030101010101" pitchFamily="2" charset="-122"/>
                <a:cs typeface="Times New Roman" panose="02020603050405020304" pitchFamily="18" charset="0"/>
              </a:rPr>
              <a:t>:</a:t>
            </a:r>
          </a:p>
          <a:p>
            <a:pPr marL="800100" lvl="1" indent="-342900">
              <a:lnSpc>
                <a:spcPct val="120000"/>
              </a:lnSpc>
              <a:spcBef>
                <a:spcPts val="600"/>
              </a:spcBef>
              <a:spcAft>
                <a:spcPts val="600"/>
              </a:spcAft>
              <a:buFont typeface="Courier New" panose="02070309020205020404" pitchFamily="49" charset="0"/>
              <a:buChar char="o"/>
            </a:pPr>
            <a:r>
              <a:rPr lang="zh-CN" sz="2000" b="1" kern="10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使负载电压与磁感应强度成比例</a:t>
            </a:r>
            <a:endParaRPr lang="en-US" altLang="zh-CN" sz="2000" b="1" kern="10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800100" lvl="1" indent="-342900">
              <a:lnSpc>
                <a:spcPct val="120000"/>
              </a:lnSpc>
              <a:spcBef>
                <a:spcPts val="600"/>
              </a:spcBef>
              <a:spcAft>
                <a:spcPts val="600"/>
              </a:spcAft>
              <a:buFont typeface="Courier New" panose="02070309020205020404" pitchFamily="49" charset="0"/>
              <a:buChar char="o"/>
            </a:pPr>
            <a:r>
              <a:rPr lang="zh-CN" altLang="en-US" sz="2000" b="1" kern="10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使</a:t>
            </a:r>
            <a:r>
              <a:rPr lang="zh-CN" sz="2000" b="1" kern="10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负载电流与控制电流成比例</a:t>
            </a:r>
            <a:endParaRPr lang="en-US" altLang="zh-CN" sz="2000" b="1" kern="100">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l">
              <a:lnSpc>
                <a:spcPct val="120000"/>
              </a:lnSpc>
              <a:spcBef>
                <a:spcPts val="600"/>
              </a:spcBef>
              <a:spcAft>
                <a:spcPts val="600"/>
              </a:spcAft>
              <a:buFont typeface="Arial" panose="020B0604020202020204" pitchFamily="34" charset="0"/>
              <a:buChar char="•"/>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负载功率就正比于霍尔元件的霍尔电势。</a:t>
            </a:r>
            <a:endParaRPr lang="en-US" alt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l">
              <a:lnSpc>
                <a:spcPct val="120000"/>
              </a:lnSpc>
              <a:spcBef>
                <a:spcPts val="600"/>
              </a:spcBef>
              <a:spcAft>
                <a:spcPts val="600"/>
              </a:spcAft>
              <a:buFont typeface="Arial" panose="020B0604020202020204" pitchFamily="34" charset="0"/>
              <a:buChar char="•"/>
            </a:pPr>
            <a:r>
              <a:rPr lang="zh-CN" sz="2000" kern="100">
                <a:effectLst/>
                <a:latin typeface="Times New Roman" panose="02020603050405020304" pitchFamily="18" charset="0"/>
                <a:ea typeface="宋体" panose="02010600030101010101" pitchFamily="2" charset="-122"/>
                <a:cs typeface="Times New Roman" panose="02020603050405020304" pitchFamily="18" charset="0"/>
              </a:rPr>
              <a:t>霍尔元件输出的霍尔电势为输入控制电流与驱动磁感应强度的乘积的函数关系</a:t>
            </a:r>
            <a:endParaRPr lang="en-001" sz="200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28935366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5</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3" name="矩形 22"/>
          <p:cNvSpPr/>
          <p:nvPr/>
        </p:nvSpPr>
        <p:spPr>
          <a:xfrm>
            <a:off x="1511071" y="1520612"/>
            <a:ext cx="2733122" cy="461663"/>
          </a:xfrm>
          <a:prstGeom prst="rect">
            <a:avLst/>
          </a:prstGeom>
          <a:solidFill>
            <a:srgbClr val="FFC000"/>
          </a:solidFill>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磁电感应式传感器</a:t>
            </a:r>
          </a:p>
        </p:txBody>
      </p:sp>
      <p:sp>
        <p:nvSpPr>
          <p:cNvPr id="24" name="矩形 23"/>
          <p:cNvSpPr/>
          <p:nvPr/>
        </p:nvSpPr>
        <p:spPr>
          <a:xfrm>
            <a:off x="1494147" y="2272553"/>
            <a:ext cx="4072069" cy="13798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工作原理和结构</a:t>
            </a:r>
            <a:r>
              <a:rPr lang="zh-CN" altLang="en-US" sz="2400" b="1">
                <a:latin typeface="Arial" panose="020B0604020202020204" pitchFamily="34" charset="0"/>
                <a:ea typeface="宋体" panose="02010600030101010101" pitchFamily="2" charset="-122"/>
                <a:cs typeface="Arial" panose="020B0604020202020204" pitchFamily="34" charset="0"/>
              </a:rPr>
              <a:t>类型</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342900" indent="-342900">
              <a:spcBef>
                <a:spcPts val="670"/>
              </a:spcBef>
              <a:buFont typeface="Arial" panose="020B0604020202020204" pitchFamily="34" charset="0"/>
              <a:buChar char="•"/>
            </a:pPr>
            <a:r>
              <a:rPr lang="zh-CN" altLang="en-US" sz="2400" b="1">
                <a:latin typeface="Arial" panose="020B0604020202020204" pitchFamily="34" charset="0"/>
                <a:ea typeface="宋体" panose="02010600030101010101" pitchFamily="2" charset="-122"/>
                <a:cs typeface="Arial" panose="020B0604020202020204" pitchFamily="34" charset="0"/>
              </a:rPr>
              <a:t>动态特性</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342900" indent="-342900">
              <a:spcBef>
                <a:spcPts val="670"/>
              </a:spcBef>
              <a:buFont typeface="Arial" panose="020B0604020202020204" pitchFamily="34" charset="0"/>
              <a:buChar char="•"/>
            </a:pPr>
            <a:r>
              <a:rPr lang="zh-CN" altLang="en-US" sz="2400" b="1">
                <a:latin typeface="Arial" panose="020B0604020202020204" pitchFamily="34" charset="0"/>
                <a:ea typeface="宋体" panose="02010600030101010101" pitchFamily="2" charset="-122"/>
                <a:cs typeface="Arial" panose="020B0604020202020204" pitchFamily="34" charset="0"/>
              </a:rPr>
              <a:t>误差分析</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p:txBody>
      </p:sp>
      <p:sp>
        <p:nvSpPr>
          <p:cNvPr id="25" name="矩形 24"/>
          <p:cNvSpPr/>
          <p:nvPr/>
        </p:nvSpPr>
        <p:spPr>
          <a:xfrm>
            <a:off x="1536675" y="4071062"/>
            <a:ext cx="2707517" cy="461663"/>
          </a:xfrm>
          <a:prstGeom prst="rect">
            <a:avLst/>
          </a:prstGeom>
          <a:solidFill>
            <a:srgbClr val="00B050"/>
          </a:solidFill>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霍尔式传感器</a:t>
            </a:r>
          </a:p>
        </p:txBody>
      </p:sp>
      <p:sp>
        <p:nvSpPr>
          <p:cNvPr id="26" name="矩形 25"/>
          <p:cNvSpPr/>
          <p:nvPr/>
        </p:nvSpPr>
        <p:spPr>
          <a:xfrm>
            <a:off x="1495595" y="4625422"/>
            <a:ext cx="4169773" cy="13798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a:latin typeface="Arial" panose="020B0604020202020204" pitchFamily="34" charset="0"/>
                <a:ea typeface="宋体" panose="02010600030101010101" pitchFamily="2" charset="-122"/>
                <a:cs typeface="Arial" panose="020B0604020202020204" pitchFamily="34" charset="0"/>
              </a:rPr>
              <a:t>霍尔效应</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a:p>
            <a:pPr marL="342900" indent="-342900">
              <a:spcBef>
                <a:spcPts val="670"/>
              </a:spcBef>
              <a:buFont typeface="Arial" panose="020B0604020202020204" pitchFamily="34" charset="0"/>
              <a:buChar char="•"/>
            </a:pPr>
            <a:r>
              <a:rPr lang="zh-CN" altLang="en-US" sz="2400" b="1">
                <a:latin typeface="Arial" panose="020B0604020202020204" pitchFamily="34" charset="0"/>
                <a:ea typeface="宋体" panose="02010600030101010101" pitchFamily="2" charset="-122"/>
                <a:cs typeface="Arial" panose="020B0604020202020204" pitchFamily="34" charset="0"/>
              </a:rPr>
              <a:t>测</a:t>
            </a:r>
            <a:r>
              <a:rPr lang="zh-CN" altLang="en-US" sz="2400" b="1" dirty="0">
                <a:latin typeface="Arial" panose="020B0604020202020204" pitchFamily="34" charset="0"/>
                <a:ea typeface="宋体" panose="02010600030101010101" pitchFamily="2" charset="-122"/>
                <a:cs typeface="Arial" panose="020B0604020202020204" pitchFamily="34" charset="0"/>
              </a:rPr>
              <a:t>量电路</a:t>
            </a:r>
          </a:p>
          <a:p>
            <a:pPr marL="342900" indent="-342900">
              <a:spcBef>
                <a:spcPts val="670"/>
              </a:spcBef>
              <a:buFont typeface="Arial" panose="020B0604020202020204" pitchFamily="34" charset="0"/>
              <a:buChar char="•"/>
            </a:pPr>
            <a:r>
              <a:rPr lang="zh-CN" altLang="en-US" sz="2400" b="1">
                <a:latin typeface="Arial" panose="020B0604020202020204" pitchFamily="34" charset="0"/>
                <a:ea typeface="宋体" panose="02010600030101010101" pitchFamily="2" charset="-122"/>
                <a:cs typeface="Arial" panose="020B0604020202020204" pitchFamily="34" charset="0"/>
              </a:rPr>
              <a:t>补</a:t>
            </a:r>
            <a:r>
              <a:rPr lang="zh-CN" altLang="en-US" sz="2400" b="1" dirty="0">
                <a:latin typeface="Arial" panose="020B0604020202020204" pitchFamily="34" charset="0"/>
                <a:ea typeface="宋体" panose="02010600030101010101" pitchFamily="2" charset="-122"/>
                <a:cs typeface="Arial" panose="020B0604020202020204" pitchFamily="34" charset="0"/>
              </a:rPr>
              <a:t>偿</a:t>
            </a:r>
            <a:r>
              <a:rPr lang="zh-CN" altLang="en-US" sz="2400" b="1">
                <a:latin typeface="Arial" panose="020B0604020202020204" pitchFamily="34" charset="0"/>
                <a:ea typeface="宋体" panose="02010600030101010101" pitchFamily="2" charset="-122"/>
                <a:cs typeface="Arial" panose="020B0604020202020204" pitchFamily="34" charset="0"/>
              </a:rPr>
              <a:t>电路</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FF8980B2-D03F-42E5-8F0F-4690666CFE2C}"/>
              </a:ext>
            </a:extLst>
          </p:cNvPr>
          <p:cNvSpPr>
            <a:spLocks noGrp="1"/>
          </p:cNvSpPr>
          <p:nvPr>
            <p:ph type="sldNum" sz="quarter" idx="12"/>
          </p:nvPr>
        </p:nvSpPr>
        <p:spPr/>
        <p:txBody>
          <a:bodyPr/>
          <a:lstStyle/>
          <a:p>
            <a:fld id="{B53602B4-F12B-41CD-B648-531F86B2CC91}" type="slidenum">
              <a:rPr lang="zh-CN" altLang="en-US" smtClean="0"/>
              <a:t>57</a:t>
            </a:fld>
            <a:endParaRPr lang="zh-CN" altLang="en-US"/>
          </a:p>
        </p:txBody>
      </p:sp>
    </p:spTree>
    <p:extLst>
      <p:ext uri="{BB962C8B-B14F-4D97-AF65-F5344CB8AC3E}">
        <p14:creationId xmlns:p14="http://schemas.microsoft.com/office/powerpoint/2010/main" val="27465260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矩形 4">
            <a:extLst>
              <a:ext uri="{FF2B5EF4-FFF2-40B4-BE49-F238E27FC236}">
                <a16:creationId xmlns:a16="http://schemas.microsoft.com/office/drawing/2014/main" id="{B8DA265D-27B5-4968-9202-5A20E7DB901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5</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15" name="矩形 45">
            <a:extLst>
              <a:ext uri="{FF2B5EF4-FFF2-40B4-BE49-F238E27FC236}">
                <a16:creationId xmlns:a16="http://schemas.microsoft.com/office/drawing/2014/main" id="{78F4C9EF-5026-43A8-AF0F-D3AFB8966AC9}"/>
              </a:ext>
            </a:extLst>
          </p:cNvPr>
          <p:cNvSpPr/>
          <p:nvPr/>
        </p:nvSpPr>
        <p:spPr>
          <a:xfrm>
            <a:off x="1960200" y="360001"/>
            <a:ext cx="1059897"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作业</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sp>
        <p:nvSpPr>
          <p:cNvPr id="16" name="矩形 23">
            <a:extLst>
              <a:ext uri="{FF2B5EF4-FFF2-40B4-BE49-F238E27FC236}">
                <a16:creationId xmlns:a16="http://schemas.microsoft.com/office/drawing/2014/main" id="{765FEDAC-69EF-4667-87EC-DEC1A6AB337E}"/>
              </a:ext>
            </a:extLst>
          </p:cNvPr>
          <p:cNvSpPr/>
          <p:nvPr/>
        </p:nvSpPr>
        <p:spPr>
          <a:xfrm>
            <a:off x="743868" y="1567521"/>
            <a:ext cx="7992522" cy="2998319"/>
          </a:xfrm>
          <a:prstGeom prst="rect">
            <a:avLst/>
          </a:prstGeom>
        </p:spPr>
        <p:txBody>
          <a:bodyPr wrap="square" lIns="68579" tIns="34289" rIns="68579" bIns="34289">
            <a:spAutoFit/>
          </a:bodyPr>
          <a:lstStyle/>
          <a:p>
            <a:pPr>
              <a:lnSpc>
                <a:spcPct val="150000"/>
              </a:lnSpc>
              <a:spcBef>
                <a:spcPts val="600"/>
              </a:spcBef>
            </a:pPr>
            <a:r>
              <a:rPr lang="en-US" altLang="zh-CN" sz="2400" b="1">
                <a:latin typeface="Arial" panose="020B0604020202020204" pitchFamily="34" charset="0"/>
                <a:ea typeface="宋体" panose="02010600030101010101" pitchFamily="2" charset="-122"/>
                <a:cs typeface="Arial" panose="020B0604020202020204" pitchFamily="34" charset="0"/>
              </a:rPr>
              <a:t>1)  </a:t>
            </a:r>
            <a:r>
              <a:rPr lang="zh-CN" altLang="en-US" sz="2400" b="1">
                <a:latin typeface="Arial" panose="020B0604020202020204" pitchFamily="34" charset="0"/>
                <a:ea typeface="宋体" panose="02010600030101010101" pitchFamily="2" charset="-122"/>
                <a:cs typeface="Arial" panose="020B0604020202020204" pitchFamily="34" charset="0"/>
              </a:rPr>
              <a:t>第</a:t>
            </a:r>
            <a:r>
              <a:rPr lang="en-US" altLang="zh-CN" sz="2400" b="1">
                <a:latin typeface="Arial" panose="020B0604020202020204" pitchFamily="34" charset="0"/>
                <a:ea typeface="宋体" panose="02010600030101010101" pitchFamily="2" charset="-122"/>
                <a:cs typeface="Arial" panose="020B0604020202020204" pitchFamily="34" charset="0"/>
              </a:rPr>
              <a:t>5.1.2</a:t>
            </a:r>
            <a:r>
              <a:rPr lang="zh-CN" altLang="en-US" sz="2400" b="1">
                <a:latin typeface="Arial" panose="020B0604020202020204" pitchFamily="34" charset="0"/>
                <a:ea typeface="宋体" panose="02010600030101010101" pitchFamily="2" charset="-122"/>
                <a:cs typeface="Arial" panose="020B0604020202020204" pitchFamily="34" charset="0"/>
              </a:rPr>
              <a:t>节 </a:t>
            </a:r>
            <a:r>
              <a:rPr lang="en-US" altLang="zh-CN" sz="2400" b="1">
                <a:latin typeface="Arial" panose="020B0604020202020204" pitchFamily="34" charset="0"/>
                <a:ea typeface="宋体" panose="02010600030101010101" pitchFamily="2" charset="-122"/>
                <a:cs typeface="Arial" panose="020B0604020202020204" pitchFamily="34" charset="0"/>
              </a:rPr>
              <a:t>“</a:t>
            </a:r>
            <a:r>
              <a:rPr lang="zh-CN" altLang="en-US" sz="2400" b="1">
                <a:latin typeface="Arial" panose="020B0604020202020204" pitchFamily="34" charset="0"/>
                <a:ea typeface="宋体" panose="02010600030101010101" pitchFamily="2" charset="-122"/>
                <a:cs typeface="Arial" panose="020B0604020202020204" pitchFamily="34" charset="0"/>
              </a:rPr>
              <a:t>三传递函数</a:t>
            </a:r>
            <a:r>
              <a:rPr lang="en-US" altLang="zh-CN" sz="2400" b="1">
                <a:latin typeface="Arial" panose="020B0604020202020204" pitchFamily="34" charset="0"/>
                <a:ea typeface="宋体" panose="02010600030101010101" pitchFamily="2" charset="-122"/>
                <a:cs typeface="Arial" panose="020B0604020202020204" pitchFamily="34" charset="0"/>
              </a:rPr>
              <a:t>”</a:t>
            </a:r>
          </a:p>
          <a:p>
            <a:pPr marL="432000">
              <a:lnSpc>
                <a:spcPct val="150000"/>
              </a:lnSpc>
              <a:spcBef>
                <a:spcPts val="600"/>
              </a:spcBef>
            </a:pPr>
            <a:r>
              <a:rPr lang="zh-CN" altLang="en-US" sz="2400" b="1">
                <a:latin typeface="Arial" panose="020B0604020202020204" pitchFamily="34" charset="0"/>
                <a:ea typeface="宋体" panose="02010600030101010101" pitchFamily="2" charset="-122"/>
                <a:cs typeface="Arial" panose="020B0604020202020204" pitchFamily="34" charset="0"/>
              </a:rPr>
              <a:t>推导磁电感应式传感器的传递函数，分析其幅频特性。</a:t>
            </a:r>
          </a:p>
          <a:p>
            <a:pPr>
              <a:lnSpc>
                <a:spcPct val="150000"/>
              </a:lnSpc>
              <a:spcBef>
                <a:spcPts val="600"/>
              </a:spcBef>
            </a:pPr>
            <a:r>
              <a:rPr lang="en-US" altLang="zh-CN" sz="2400" b="1">
                <a:latin typeface="Arial" panose="020B0604020202020204" pitchFamily="34" charset="0"/>
                <a:ea typeface="宋体" panose="02010600030101010101" pitchFamily="2" charset="-122"/>
                <a:cs typeface="Arial" panose="020B0604020202020204" pitchFamily="34" charset="0"/>
              </a:rPr>
              <a:t>2)  </a:t>
            </a:r>
            <a:r>
              <a:rPr lang="zh-CN" altLang="en-US" sz="2400" b="1">
                <a:latin typeface="Arial" panose="020B0604020202020204" pitchFamily="34" charset="0"/>
                <a:ea typeface="宋体" panose="02010600030101010101" pitchFamily="2" charset="-122"/>
                <a:cs typeface="Arial" panose="020B0604020202020204" pitchFamily="34" charset="0"/>
              </a:rPr>
              <a:t>第</a:t>
            </a:r>
            <a:r>
              <a:rPr lang="en-US" altLang="zh-CN" sz="2400" b="1">
                <a:latin typeface="Arial" panose="020B0604020202020204" pitchFamily="34" charset="0"/>
                <a:ea typeface="宋体" panose="02010600030101010101" pitchFamily="2" charset="-122"/>
                <a:cs typeface="Arial" panose="020B0604020202020204" pitchFamily="34" charset="0"/>
              </a:rPr>
              <a:t>5.1.3</a:t>
            </a:r>
            <a:r>
              <a:rPr lang="zh-CN" altLang="en-US" sz="2400" b="1">
                <a:latin typeface="Arial" panose="020B0604020202020204" pitchFamily="34" charset="0"/>
                <a:ea typeface="宋体" panose="02010600030101010101" pitchFamily="2" charset="-122"/>
                <a:cs typeface="Arial" panose="020B0604020202020204" pitchFamily="34" charset="0"/>
              </a:rPr>
              <a:t>节 图</a:t>
            </a:r>
            <a:r>
              <a:rPr lang="en-US" altLang="zh-CN" sz="2400" b="1">
                <a:latin typeface="Arial" panose="020B0604020202020204" pitchFamily="34" charset="0"/>
                <a:ea typeface="宋体" panose="02010600030101010101" pitchFamily="2" charset="-122"/>
                <a:cs typeface="Arial" panose="020B0604020202020204" pitchFamily="34" charset="0"/>
              </a:rPr>
              <a:t>5-11</a:t>
            </a:r>
          </a:p>
          <a:p>
            <a:pPr marL="432000">
              <a:lnSpc>
                <a:spcPct val="150000"/>
              </a:lnSpc>
              <a:spcBef>
                <a:spcPts val="600"/>
              </a:spcBef>
            </a:pPr>
            <a:r>
              <a:rPr lang="zh-CN" altLang="en-US" sz="2400" b="1">
                <a:latin typeface="Arial" panose="020B0604020202020204" pitchFamily="34" charset="0"/>
                <a:ea typeface="宋体" panose="02010600030101010101" pitchFamily="2" charset="-122"/>
                <a:cs typeface="Arial" panose="020B0604020202020204" pitchFamily="34" charset="0"/>
              </a:rPr>
              <a:t>推导分析磁电感应式传感器有源积分电路的幅值误差和相角误差。</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9E5CC583-28DA-48CA-BC82-2454E1A00DF1}"/>
              </a:ext>
            </a:extLst>
          </p:cNvPr>
          <p:cNvSpPr>
            <a:spLocks noGrp="1"/>
          </p:cNvSpPr>
          <p:nvPr>
            <p:ph type="sldNum" sz="quarter" idx="12"/>
          </p:nvPr>
        </p:nvSpPr>
        <p:spPr/>
        <p:txBody>
          <a:bodyPr/>
          <a:lstStyle/>
          <a:p>
            <a:fld id="{B53602B4-F12B-41CD-B648-531F86B2CC91}" type="slidenum">
              <a:rPr lang="zh-CN" altLang="en-US" smtClean="0"/>
              <a:t>58</a:t>
            </a:fld>
            <a:endParaRPr lang="zh-CN" altLang="en-US"/>
          </a:p>
        </p:txBody>
      </p:sp>
    </p:spTree>
    <p:extLst>
      <p:ext uri="{BB962C8B-B14F-4D97-AF65-F5344CB8AC3E}">
        <p14:creationId xmlns:p14="http://schemas.microsoft.com/office/powerpoint/2010/main" val="29562361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矩形 4">
            <a:extLst>
              <a:ext uri="{FF2B5EF4-FFF2-40B4-BE49-F238E27FC236}">
                <a16:creationId xmlns:a16="http://schemas.microsoft.com/office/drawing/2014/main" id="{B8DA265D-27B5-4968-9202-5A20E7DB9014}"/>
              </a:ext>
            </a:extLst>
          </p:cNvPr>
          <p:cNvSpPr/>
          <p:nvPr/>
        </p:nvSpPr>
        <p:spPr>
          <a:xfrm>
            <a:off x="1571711" y="354313"/>
            <a:ext cx="7572289" cy="620462"/>
          </a:xfrm>
          <a:prstGeom prst="rect">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400" b="1">
              <a:latin typeface="Arial" panose="020B0604020202020204" pitchFamily="34" charset="0"/>
              <a:ea typeface="宋体" panose="02010600030101010101" pitchFamily="2" charset="-122"/>
              <a:cs typeface="Arial" panose="020B0604020202020204" pitchFamily="34" charset="0"/>
            </a:endParaRPr>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a:latin typeface="Arial" panose="020B0604020202020204" pitchFamily="34" charset="0"/>
                <a:ea typeface="宋体" panose="02010600030101010101" pitchFamily="2" charset="-122"/>
                <a:cs typeface="Arial" panose="020B0604020202020204" pitchFamily="34" charset="0"/>
              </a:rPr>
              <a:t>5</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15" name="矩形 45">
            <a:extLst>
              <a:ext uri="{FF2B5EF4-FFF2-40B4-BE49-F238E27FC236}">
                <a16:creationId xmlns:a16="http://schemas.microsoft.com/office/drawing/2014/main" id="{78F4C9EF-5026-43A8-AF0F-D3AFB8966AC9}"/>
              </a:ext>
            </a:extLst>
          </p:cNvPr>
          <p:cNvSpPr/>
          <p:nvPr/>
        </p:nvSpPr>
        <p:spPr>
          <a:xfrm>
            <a:off x="1960200" y="360001"/>
            <a:ext cx="1059897"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作业</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sp>
        <p:nvSpPr>
          <p:cNvPr id="16" name="矩形 23">
            <a:extLst>
              <a:ext uri="{FF2B5EF4-FFF2-40B4-BE49-F238E27FC236}">
                <a16:creationId xmlns:a16="http://schemas.microsoft.com/office/drawing/2014/main" id="{765FEDAC-69EF-4667-87EC-DEC1A6AB337E}"/>
              </a:ext>
            </a:extLst>
          </p:cNvPr>
          <p:cNvSpPr/>
          <p:nvPr/>
        </p:nvSpPr>
        <p:spPr>
          <a:xfrm>
            <a:off x="743868" y="1567521"/>
            <a:ext cx="7992522" cy="4285851"/>
          </a:xfrm>
          <a:prstGeom prst="rect">
            <a:avLst/>
          </a:prstGeom>
        </p:spPr>
        <p:txBody>
          <a:bodyPr wrap="square" lIns="68579" tIns="34289" rIns="68579" bIns="34289">
            <a:spAutoFit/>
          </a:bodyPr>
          <a:lstStyle/>
          <a:p>
            <a:pPr>
              <a:lnSpc>
                <a:spcPct val="150000"/>
              </a:lnSpc>
              <a:spcBef>
                <a:spcPts val="600"/>
              </a:spcBef>
            </a:pPr>
            <a:r>
              <a:rPr lang="en-US" altLang="zh-CN" sz="2400" b="1">
                <a:latin typeface="Arial" panose="020B0604020202020204" pitchFamily="34" charset="0"/>
                <a:ea typeface="宋体" panose="02010600030101010101" pitchFamily="2" charset="-122"/>
                <a:cs typeface="Arial" panose="020B0604020202020204" pitchFamily="34" charset="0"/>
              </a:rPr>
              <a:t>1)  </a:t>
            </a:r>
            <a:r>
              <a:rPr lang="zh-CN" altLang="en-US" sz="2400" b="1">
                <a:latin typeface="Arial" panose="020B0604020202020204" pitchFamily="34" charset="0"/>
                <a:ea typeface="宋体" panose="02010600030101010101" pitchFamily="2" charset="-122"/>
                <a:cs typeface="Arial" panose="020B0604020202020204" pitchFamily="34" charset="0"/>
              </a:rPr>
              <a:t>第</a:t>
            </a:r>
            <a:r>
              <a:rPr lang="en-US" altLang="zh-CN" sz="2400" b="1">
                <a:latin typeface="Arial" panose="020B0604020202020204" pitchFamily="34" charset="0"/>
                <a:ea typeface="宋体" panose="02010600030101010101" pitchFamily="2" charset="-122"/>
                <a:cs typeface="Arial" panose="020B0604020202020204" pitchFamily="34" charset="0"/>
              </a:rPr>
              <a:t>5.1.2</a:t>
            </a:r>
            <a:r>
              <a:rPr lang="zh-CN" altLang="en-US" sz="2400" b="1">
                <a:latin typeface="Arial" panose="020B0604020202020204" pitchFamily="34" charset="0"/>
                <a:ea typeface="宋体" panose="02010600030101010101" pitchFamily="2" charset="-122"/>
                <a:cs typeface="Arial" panose="020B0604020202020204" pitchFamily="34" charset="0"/>
              </a:rPr>
              <a:t>节 </a:t>
            </a:r>
            <a:r>
              <a:rPr lang="en-US" altLang="zh-CN" sz="2400" b="1">
                <a:latin typeface="Arial" panose="020B0604020202020204" pitchFamily="34" charset="0"/>
                <a:ea typeface="宋体" panose="02010600030101010101" pitchFamily="2" charset="-122"/>
                <a:cs typeface="Arial" panose="020B0604020202020204" pitchFamily="34" charset="0"/>
              </a:rPr>
              <a:t>“</a:t>
            </a:r>
            <a:r>
              <a:rPr lang="zh-CN" altLang="en-US" sz="2400" b="1">
                <a:latin typeface="Arial" panose="020B0604020202020204" pitchFamily="34" charset="0"/>
                <a:ea typeface="宋体" panose="02010600030101010101" pitchFamily="2" charset="-122"/>
                <a:cs typeface="Arial" panose="020B0604020202020204" pitchFamily="34" charset="0"/>
              </a:rPr>
              <a:t>三传递函数</a:t>
            </a:r>
            <a:r>
              <a:rPr lang="en-US" altLang="zh-CN" sz="2400" b="1">
                <a:latin typeface="Arial" panose="020B0604020202020204" pitchFamily="34" charset="0"/>
                <a:ea typeface="宋体" panose="02010600030101010101" pitchFamily="2" charset="-122"/>
                <a:cs typeface="Arial" panose="020B0604020202020204" pitchFamily="34" charset="0"/>
              </a:rPr>
              <a:t>”</a:t>
            </a:r>
          </a:p>
          <a:p>
            <a:pPr marL="432000">
              <a:lnSpc>
                <a:spcPct val="150000"/>
              </a:lnSpc>
              <a:spcBef>
                <a:spcPts val="600"/>
              </a:spcBef>
            </a:pPr>
            <a:r>
              <a:rPr lang="zh-CN" altLang="en-US" sz="2400" b="1">
                <a:latin typeface="Arial" panose="020B0604020202020204" pitchFamily="34" charset="0"/>
                <a:ea typeface="宋体" panose="02010600030101010101" pitchFamily="2" charset="-122"/>
                <a:cs typeface="Arial" panose="020B0604020202020204" pitchFamily="34" charset="0"/>
              </a:rPr>
              <a:t>推导磁电感应式传感器的传递函数，分析其幅频特性。</a:t>
            </a:r>
          </a:p>
          <a:p>
            <a:pPr>
              <a:lnSpc>
                <a:spcPct val="150000"/>
              </a:lnSpc>
              <a:spcBef>
                <a:spcPts val="600"/>
              </a:spcBef>
            </a:pPr>
            <a:r>
              <a:rPr lang="en-US" altLang="zh-CN" sz="2400" b="1">
                <a:latin typeface="Arial" panose="020B0604020202020204" pitchFamily="34" charset="0"/>
                <a:ea typeface="宋体" panose="02010600030101010101" pitchFamily="2" charset="-122"/>
                <a:cs typeface="Arial" panose="020B0604020202020204" pitchFamily="34" charset="0"/>
              </a:rPr>
              <a:t>2)  </a:t>
            </a:r>
            <a:r>
              <a:rPr lang="zh-CN" altLang="en-US" sz="2400" b="1">
                <a:latin typeface="Arial" panose="020B0604020202020204" pitchFamily="34" charset="0"/>
                <a:ea typeface="宋体" panose="02010600030101010101" pitchFamily="2" charset="-122"/>
                <a:cs typeface="Arial" panose="020B0604020202020204" pitchFamily="34" charset="0"/>
              </a:rPr>
              <a:t>第</a:t>
            </a:r>
            <a:r>
              <a:rPr lang="en-US" altLang="zh-CN" sz="2400" b="1">
                <a:latin typeface="Arial" panose="020B0604020202020204" pitchFamily="34" charset="0"/>
                <a:ea typeface="宋体" panose="02010600030101010101" pitchFamily="2" charset="-122"/>
                <a:cs typeface="Arial" panose="020B0604020202020204" pitchFamily="34" charset="0"/>
              </a:rPr>
              <a:t>5.1.3</a:t>
            </a:r>
            <a:r>
              <a:rPr lang="zh-CN" altLang="en-US" sz="2400" b="1">
                <a:latin typeface="Arial" panose="020B0604020202020204" pitchFamily="34" charset="0"/>
                <a:ea typeface="宋体" panose="02010600030101010101" pitchFamily="2" charset="-122"/>
                <a:cs typeface="Arial" panose="020B0604020202020204" pitchFamily="34" charset="0"/>
              </a:rPr>
              <a:t>节 图</a:t>
            </a:r>
            <a:r>
              <a:rPr lang="en-US" altLang="zh-CN" sz="2400" b="1">
                <a:latin typeface="Arial" panose="020B0604020202020204" pitchFamily="34" charset="0"/>
                <a:ea typeface="宋体" panose="02010600030101010101" pitchFamily="2" charset="-122"/>
                <a:cs typeface="Arial" panose="020B0604020202020204" pitchFamily="34" charset="0"/>
              </a:rPr>
              <a:t>5-11</a:t>
            </a:r>
          </a:p>
          <a:p>
            <a:pPr marL="432000">
              <a:lnSpc>
                <a:spcPct val="150000"/>
              </a:lnSpc>
              <a:spcBef>
                <a:spcPts val="600"/>
              </a:spcBef>
            </a:pPr>
            <a:r>
              <a:rPr lang="zh-CN" altLang="en-US" sz="2400" b="1">
                <a:latin typeface="Arial" panose="020B0604020202020204" pitchFamily="34" charset="0"/>
                <a:ea typeface="宋体" panose="02010600030101010101" pitchFamily="2" charset="-122"/>
                <a:cs typeface="Arial" panose="020B0604020202020204" pitchFamily="34" charset="0"/>
              </a:rPr>
              <a:t>推导分析磁电感应式传感器有源积分电路的幅值误差和相角误差。</a:t>
            </a:r>
          </a:p>
          <a:p>
            <a:pPr marL="457200" indent="-457200">
              <a:lnSpc>
                <a:spcPct val="150000"/>
              </a:lnSpc>
              <a:spcBef>
                <a:spcPts val="600"/>
              </a:spcBef>
              <a:buAutoNum type="arabicParenR" startAt="3"/>
            </a:pPr>
            <a:r>
              <a:rPr lang="zh-CN" altLang="en-US" sz="2400" b="1">
                <a:latin typeface="Arial" panose="020B0604020202020204" pitchFamily="34" charset="0"/>
                <a:ea typeface="宋体" panose="02010600030101010101" pitchFamily="2" charset="-122"/>
                <a:cs typeface="Arial" panose="020B0604020202020204" pitchFamily="34" charset="0"/>
              </a:rPr>
              <a:t>第</a:t>
            </a:r>
            <a:r>
              <a:rPr lang="en-US" altLang="zh-CN" sz="2400" b="1">
                <a:latin typeface="Arial" panose="020B0604020202020204" pitchFamily="34" charset="0"/>
                <a:ea typeface="宋体" panose="02010600030101010101" pitchFamily="2" charset="-122"/>
                <a:cs typeface="Arial" panose="020B0604020202020204" pitchFamily="34" charset="0"/>
              </a:rPr>
              <a:t>5.2.4</a:t>
            </a:r>
            <a:r>
              <a:rPr lang="zh-CN" altLang="en-US" sz="2400" b="1">
                <a:latin typeface="Arial" panose="020B0604020202020204" pitchFamily="34" charset="0"/>
                <a:ea typeface="宋体" panose="02010600030101010101" pitchFamily="2" charset="-122"/>
                <a:cs typeface="Arial" panose="020B0604020202020204" pitchFamily="34" charset="0"/>
              </a:rPr>
              <a:t>节 图</a:t>
            </a:r>
            <a:r>
              <a:rPr lang="en-US" altLang="zh-CN" sz="2400" b="1">
                <a:latin typeface="Arial" panose="020B0604020202020204" pitchFamily="34" charset="0"/>
                <a:ea typeface="宋体" panose="02010600030101010101" pitchFamily="2" charset="-122"/>
                <a:cs typeface="Arial" panose="020B0604020202020204" pitchFamily="34" charset="0"/>
              </a:rPr>
              <a:t>5-24</a:t>
            </a:r>
          </a:p>
          <a:p>
            <a:pPr marL="432000">
              <a:lnSpc>
                <a:spcPct val="150000"/>
              </a:lnSpc>
              <a:spcBef>
                <a:spcPts val="600"/>
              </a:spcBef>
            </a:pPr>
            <a:r>
              <a:rPr lang="zh-CN" altLang="en-US" sz="2400" b="1">
                <a:latin typeface="Arial" panose="020B0604020202020204" pitchFamily="34" charset="0"/>
                <a:ea typeface="宋体" panose="02010600030101010101" pitchFamily="2" charset="-122"/>
                <a:cs typeface="Arial" panose="020B0604020202020204" pitchFamily="34" charset="0"/>
              </a:rPr>
              <a:t>推导分析霍尔传感器的分流电阻法温度补偿。</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9E5CC583-28DA-48CA-BC82-2454E1A00DF1}"/>
              </a:ext>
            </a:extLst>
          </p:cNvPr>
          <p:cNvSpPr>
            <a:spLocks noGrp="1"/>
          </p:cNvSpPr>
          <p:nvPr>
            <p:ph type="sldNum" sz="quarter" idx="12"/>
          </p:nvPr>
        </p:nvSpPr>
        <p:spPr/>
        <p:txBody>
          <a:bodyPr/>
          <a:lstStyle/>
          <a:p>
            <a:fld id="{B53602B4-F12B-41CD-B648-531F86B2CC91}" type="slidenum">
              <a:rPr lang="zh-CN" altLang="en-US" smtClean="0"/>
              <a:t>59</a:t>
            </a:fld>
            <a:endParaRPr lang="zh-CN" altLang="en-US"/>
          </a:p>
        </p:txBody>
      </p:sp>
    </p:spTree>
    <p:extLst>
      <p:ext uri="{BB962C8B-B14F-4D97-AF65-F5344CB8AC3E}">
        <p14:creationId xmlns:p14="http://schemas.microsoft.com/office/powerpoint/2010/main" val="192171655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smtClean="0">
            <a:latin typeface="宋体" panose="02010600030101010101" pitchFamily="2" charset="-122"/>
            <a:ea typeface="宋体" panose="02010600030101010101" pitchFamily="2"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2896</TotalTime>
  <Words>3187</Words>
  <Application>Microsoft Office PowerPoint</Application>
  <PresentationFormat>全屏显示(4:3)</PresentationFormat>
  <Paragraphs>563</Paragraphs>
  <Slides>59</Slides>
  <Notes>56</Notes>
  <HiddenSlides>2</HiddenSlides>
  <MMClips>1</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6</vt:i4>
      </vt:variant>
      <vt:variant>
        <vt:lpstr>幻灯片标题</vt:lpstr>
      </vt:variant>
      <vt:variant>
        <vt:i4>59</vt:i4>
      </vt:variant>
    </vt:vector>
  </HeadingPairs>
  <TitlesOfParts>
    <vt:vector size="76" baseType="lpstr">
      <vt:lpstr>等线</vt:lpstr>
      <vt:lpstr>等线 Light</vt:lpstr>
      <vt:lpstr>华文中宋</vt:lpstr>
      <vt:lpstr>宋体</vt:lpstr>
      <vt:lpstr>微软雅黑</vt:lpstr>
      <vt:lpstr>新宋体</vt:lpstr>
      <vt:lpstr>Arial</vt:lpstr>
      <vt:lpstr>Courier New</vt:lpstr>
      <vt:lpstr>Times New Roman</vt:lpstr>
      <vt:lpstr>Wingdings</vt:lpstr>
      <vt:lpstr>Office 主题​​</vt:lpstr>
      <vt:lpstr>Flash 影片</vt:lpstr>
      <vt:lpstr>Equation</vt:lpstr>
      <vt:lpstr>公式</vt:lpstr>
      <vt:lpstr>Equation.3</vt:lpstr>
      <vt:lpstr>位图图像</vt:lpstr>
      <vt:lpstr>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GE FANG</cp:lastModifiedBy>
  <cp:revision>178</cp:revision>
  <dcterms:created xsi:type="dcterms:W3CDTF">2020-09-26T11:04:00Z</dcterms:created>
  <dcterms:modified xsi:type="dcterms:W3CDTF">2026-04-16T00:29:47Z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