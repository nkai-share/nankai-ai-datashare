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3"/>
  </p:notesMasterIdLst>
  <p:sldIdLst>
    <p:sldId id="259" r:id="rId2"/>
    <p:sldId id="262" r:id="rId3"/>
    <p:sldId id="339" r:id="rId4"/>
    <p:sldId id="281" r:id="rId5"/>
    <p:sldId id="341" r:id="rId6"/>
    <p:sldId id="282" r:id="rId7"/>
    <p:sldId id="342" r:id="rId8"/>
    <p:sldId id="344" r:id="rId9"/>
    <p:sldId id="343" r:id="rId10"/>
    <p:sldId id="345" r:id="rId11"/>
    <p:sldId id="293" r:id="rId12"/>
    <p:sldId id="381" r:id="rId13"/>
    <p:sldId id="382" r:id="rId14"/>
    <p:sldId id="383" r:id="rId15"/>
    <p:sldId id="295" r:id="rId16"/>
    <p:sldId id="294" r:id="rId17"/>
    <p:sldId id="296" r:id="rId18"/>
    <p:sldId id="318" r:id="rId19"/>
    <p:sldId id="319" r:id="rId20"/>
    <p:sldId id="320" r:id="rId21"/>
    <p:sldId id="321" r:id="rId22"/>
    <p:sldId id="322" r:id="rId23"/>
    <p:sldId id="323" r:id="rId24"/>
    <p:sldId id="324" r:id="rId25"/>
    <p:sldId id="325" r:id="rId26"/>
    <p:sldId id="326" r:id="rId27"/>
    <p:sldId id="327" r:id="rId28"/>
    <p:sldId id="329" r:id="rId29"/>
    <p:sldId id="330" r:id="rId30"/>
    <p:sldId id="331" r:id="rId31"/>
    <p:sldId id="332" r:id="rId32"/>
    <p:sldId id="333" r:id="rId33"/>
    <p:sldId id="334" r:id="rId34"/>
    <p:sldId id="335" r:id="rId35"/>
    <p:sldId id="336" r:id="rId36"/>
    <p:sldId id="317" r:id="rId37"/>
    <p:sldId id="303" r:id="rId38"/>
    <p:sldId id="304" r:id="rId39"/>
    <p:sldId id="305" r:id="rId40"/>
    <p:sldId id="352" r:id="rId41"/>
    <p:sldId id="306" r:id="rId42"/>
    <p:sldId id="386" r:id="rId43"/>
    <p:sldId id="387" r:id="rId44"/>
    <p:sldId id="307" r:id="rId45"/>
    <p:sldId id="308" r:id="rId46"/>
    <p:sldId id="388" r:id="rId47"/>
    <p:sldId id="385" r:id="rId48"/>
    <p:sldId id="309" r:id="rId49"/>
    <p:sldId id="310" r:id="rId50"/>
    <p:sldId id="311" r:id="rId51"/>
    <p:sldId id="340"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9" autoAdjust="0"/>
    <p:restoredTop sz="86861" autoAdjust="0"/>
  </p:normalViewPr>
  <p:slideViewPr>
    <p:cSldViewPr snapToGrid="0">
      <p:cViewPr varScale="1">
        <p:scale>
          <a:sx n="96" d="100"/>
          <a:sy n="96" d="100"/>
        </p:scale>
        <p:origin x="2010" y="78"/>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2026/5/7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388154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a:t>
            </a:fld>
            <a:endParaRPr lang="zh-CN" altLang="en-US"/>
          </a:p>
        </p:txBody>
      </p:sp>
    </p:spTree>
    <p:extLst>
      <p:ext uri="{BB962C8B-B14F-4D97-AF65-F5344CB8AC3E}">
        <p14:creationId xmlns:p14="http://schemas.microsoft.com/office/powerpoint/2010/main" val="1010486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extLst>
      <p:ext uri="{BB962C8B-B14F-4D97-AF65-F5344CB8AC3E}">
        <p14:creationId xmlns:p14="http://schemas.microsoft.com/office/powerpoint/2010/main" val="3873731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extLst>
      <p:ext uri="{BB962C8B-B14F-4D97-AF65-F5344CB8AC3E}">
        <p14:creationId xmlns:p14="http://schemas.microsoft.com/office/powerpoint/2010/main" val="941351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extLst>
      <p:ext uri="{BB962C8B-B14F-4D97-AF65-F5344CB8AC3E}">
        <p14:creationId xmlns:p14="http://schemas.microsoft.com/office/powerpoint/2010/main" val="1628942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259198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3494192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1630230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1826939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1572367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3126715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1274624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1250956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1170880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extLst>
      <p:ext uri="{BB962C8B-B14F-4D97-AF65-F5344CB8AC3E}">
        <p14:creationId xmlns:p14="http://schemas.microsoft.com/office/powerpoint/2010/main" val="612793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extLst>
      <p:ext uri="{BB962C8B-B14F-4D97-AF65-F5344CB8AC3E}">
        <p14:creationId xmlns:p14="http://schemas.microsoft.com/office/powerpoint/2010/main" val="237076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1157596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4074625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345681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3162082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1603497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681915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29720364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20564057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1160559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3362461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3167601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5466086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1117006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1956786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1510274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25929976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3619173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2126718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28045165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4636096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31369546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1959021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2259142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3279242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28432118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20218686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2395546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12196259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34882598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17406956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1265814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16241705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A78282F-CB52-4D74-9330-5FD817EA5E86}" type="datetime1">
              <a:rPr lang="zh-CN" altLang="en-US" smtClean="0"/>
              <a:t>2026/5/7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AE62465-5985-47F9-B6AC-4110373E750F}" type="datetime1">
              <a:rPr lang="zh-CN" altLang="en-US" smtClean="0"/>
              <a:t>2026/5/7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15D0E2-96AC-4538-A9B4-78CC6F952D87}" type="datetime1">
              <a:rPr lang="zh-CN" altLang="en-US" smtClean="0"/>
              <a:t>2026/5/7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0E8CA3F-1867-45DE-BB8E-35B419AF6CDA}" type="datetime1">
              <a:rPr lang="zh-CN" altLang="en-US" smtClean="0"/>
              <a:t>2026/5/7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70957D4-7256-4601-8310-B2E406A9398D}" type="datetime1">
              <a:rPr lang="zh-CN" altLang="en-US" smtClean="0"/>
              <a:t>2026/5/7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86676FB-0D47-43BB-B8F9-FC2D43E0CF35}" type="datetime1">
              <a:rPr lang="zh-CN" altLang="en-US" smtClean="0"/>
              <a:t>2026/5/7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8ABCC7-440A-4412-9B96-BCEB745C8E72}" type="datetime1">
              <a:rPr lang="zh-CN" altLang="en-US" smtClean="0"/>
              <a:t>2026/5/7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B25B876-F6FD-4DF1-81EA-C5FBB3C56A1E}" type="datetime1">
              <a:rPr lang="zh-CN" altLang="en-US" smtClean="0"/>
              <a:t>2026/5/7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7BB3AC0-DFF5-4B41-9487-D9A8C4A38442}" type="datetime1">
              <a:rPr lang="zh-CN" altLang="en-US" smtClean="0"/>
              <a:t>2026/5/7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C33106D-CF5C-493C-A90C-05411DFD1AE4}" type="datetime1">
              <a:rPr lang="zh-CN" altLang="en-US" smtClean="0"/>
              <a:t>2026/5/7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3CB409-1921-4CB3-8FC3-33B65177765E}" type="datetime1">
              <a:rPr lang="zh-CN" altLang="en-US" smtClean="0"/>
              <a:t>2026/5/7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391375-65DB-4B4B-A6F7-B194F0185D1B}" type="datetime1">
              <a:rPr lang="zh-CN" altLang="en-US" smtClean="0"/>
              <a:t>2026/5/7</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515349" y="6356351"/>
            <a:ext cx="50216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37.xml"/><Relationship Id="rId5" Type="http://schemas.openxmlformats.org/officeDocument/2006/relationships/slide" Target="slide50.xml"/><Relationship Id="rId4" Type="http://schemas.openxmlformats.org/officeDocument/2006/relationships/slide" Target="slide15.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16.xml"/><Relationship Id="rId7" Type="http://schemas.openxmlformats.org/officeDocument/2006/relationships/slide" Target="slide3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29.xml"/><Relationship Id="rId5" Type="http://schemas.openxmlformats.org/officeDocument/2006/relationships/slide" Target="slide28.xml"/><Relationship Id="rId4" Type="http://schemas.openxmlformats.org/officeDocument/2006/relationships/slide" Target="slide2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oleObject" Target="../embeddings/oleObject7.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8.bin"/><Relationship Id="rId10" Type="http://schemas.openxmlformats.org/officeDocument/2006/relationships/image" Target="../media/image17.emf"/><Relationship Id="rId4" Type="http://schemas.openxmlformats.org/officeDocument/2006/relationships/image" Target="../media/image15.wmf"/><Relationship Id="rId9"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slide" Target="slide25.xml"/><Relationship Id="rId4" Type="http://schemas.openxmlformats.org/officeDocument/2006/relationships/slide" Target="slide2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23.em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12.png"/><Relationship Id="rId4" Type="http://schemas.openxmlformats.org/officeDocument/2006/relationships/image" Target="../media/image2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18.bin"/><Relationship Id="rId4" Type="http://schemas.openxmlformats.org/officeDocument/2006/relationships/image" Target="../media/image27.emf"/></Relationships>
</file>

<file path=ppt/slides/_rels/slide31.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9.bin"/><Relationship Id="rId7" Type="http://schemas.openxmlformats.org/officeDocument/2006/relationships/oleObject" Target="../embeddings/oleObject17.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oleObject" Target="../embeddings/oleObject20.bin"/><Relationship Id="rId4" Type="http://schemas.openxmlformats.org/officeDocument/2006/relationships/image" Target="../media/image29.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oleObject" Target="../embeddings/oleObject22.bin"/><Relationship Id="rId4" Type="http://schemas.openxmlformats.org/officeDocument/2006/relationships/image" Target="../media/image31.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slide" Target="slide48.xml"/><Relationship Id="rId4" Type="http://schemas.openxmlformats.org/officeDocument/2006/relationships/slide" Target="slide45.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26.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8.bin"/></Relationships>
</file>

<file path=ppt/slides/_rels/slide41.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oleObject" Target="../embeddings/oleObject30.bin"/><Relationship Id="rId4" Type="http://schemas.openxmlformats.org/officeDocument/2006/relationships/image" Target="../media/image40.emf"/><Relationship Id="rId9" Type="http://schemas.openxmlformats.org/officeDocument/2006/relationships/image" Target="../media/image43.emf"/></Relationships>
</file>

<file path=ppt/slides/_rels/slide4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image" Target="../media/image45.wmf"/></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50">
            <a:extLst>
              <a:ext uri="{FF2B5EF4-FFF2-40B4-BE49-F238E27FC236}">
                <a16:creationId xmlns:a16="http://schemas.microsoft.com/office/drawing/2014/main" id="{BD576750-4786-4C57-BC07-483A5D3603B4}"/>
              </a:ext>
            </a:extLst>
          </p:cNvPr>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39">
            <a:extLst>
              <a:ext uri="{FF2B5EF4-FFF2-40B4-BE49-F238E27FC236}">
                <a16:creationId xmlns:a16="http://schemas.microsoft.com/office/drawing/2014/main" id="{6BFAF0F1-7375-4F8D-9BE7-3F4C54A42039}"/>
              </a:ext>
            </a:extLst>
          </p:cNvPr>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a:latin typeface="Arial" panose="020B0604020202020204" pitchFamily="34" charset="0"/>
                <a:cs typeface="Arial" panose="020B0604020202020204" pitchFamily="34" charset="0"/>
              </a:rPr>
              <a:t>8</a:t>
            </a:r>
            <a:endParaRPr lang="zh-CN" altLang="en-US" sz="6000" b="1" dirty="0">
              <a:latin typeface="Arial" panose="020B0604020202020204" pitchFamily="34" charset="0"/>
              <a:cs typeface="Arial" panose="020B0604020202020204" pitchFamily="34" charset="0"/>
            </a:endParaRPr>
          </a:p>
        </p:txBody>
      </p:sp>
      <p:sp>
        <p:nvSpPr>
          <p:cNvPr id="23" name="文本框 41">
            <a:extLst>
              <a:ext uri="{FF2B5EF4-FFF2-40B4-BE49-F238E27FC236}">
                <a16:creationId xmlns:a16="http://schemas.microsoft.com/office/drawing/2014/main" id="{A4CE169A-B638-4C1F-B314-081C478D3BA1}"/>
              </a:ext>
            </a:extLst>
          </p:cNvPr>
          <p:cNvSpPr txBox="1"/>
          <p:nvPr/>
        </p:nvSpPr>
        <p:spPr>
          <a:xfrm>
            <a:off x="2622698" y="2377134"/>
            <a:ext cx="4120035" cy="769439"/>
          </a:xfrm>
          <a:prstGeom prst="rect">
            <a:avLst/>
          </a:prstGeom>
          <a:noFill/>
        </p:spPr>
        <p:txBody>
          <a:bodyPr wrap="none" lIns="91438" tIns="45719" rIns="91438" bIns="45719" rtlCol="0">
            <a:spAutoFit/>
          </a:bodyPr>
          <a:lstStyle/>
          <a:p>
            <a:r>
              <a:rPr lang="zh-CN" altLang="en-US" sz="4400" b="1" spc="600">
                <a:solidFill>
                  <a:schemeClr val="bg1"/>
                </a:solidFill>
                <a:latin typeface="宋体" panose="02010600030101010101" pitchFamily="2" charset="-122"/>
                <a:ea typeface="宋体" panose="02010600030101010101" pitchFamily="2" charset="-122"/>
                <a:sym typeface="+mn-ea"/>
              </a:rPr>
              <a:t>热电式传感器</a:t>
            </a:r>
            <a:endParaRPr lang="zh-CN" altLang="en-US" sz="4400" b="1" spc="600" dirty="0">
              <a:solidFill>
                <a:schemeClr val="bg1"/>
              </a:solidFill>
              <a:latin typeface="宋体" panose="02010600030101010101" pitchFamily="2" charset="-122"/>
              <a:ea typeface="宋体" panose="02010600030101010101" pitchFamily="2" charset="-122"/>
              <a:sym typeface="+mn-ea"/>
            </a:endParaRPr>
          </a:p>
        </p:txBody>
      </p:sp>
      <p:grpSp>
        <p:nvGrpSpPr>
          <p:cNvPr id="24" name="组 2">
            <a:extLst>
              <a:ext uri="{FF2B5EF4-FFF2-40B4-BE49-F238E27FC236}">
                <a16:creationId xmlns:a16="http://schemas.microsoft.com/office/drawing/2014/main" id="{2AC40E81-A160-449C-A4C7-126CAA9059A1}"/>
              </a:ext>
            </a:extLst>
          </p:cNvPr>
          <p:cNvGrpSpPr/>
          <p:nvPr/>
        </p:nvGrpSpPr>
        <p:grpSpPr>
          <a:xfrm>
            <a:off x="-15717" y="2142184"/>
            <a:ext cx="181928" cy="1285240"/>
            <a:chOff x="-21102" y="2858492"/>
            <a:chExt cx="242777" cy="1285286"/>
          </a:xfrm>
        </p:grpSpPr>
        <p:sp>
          <p:nvSpPr>
            <p:cNvPr id="25" name="圆角矩形 45">
              <a:extLst>
                <a:ext uri="{FF2B5EF4-FFF2-40B4-BE49-F238E27FC236}">
                  <a16:creationId xmlns:a16="http://schemas.microsoft.com/office/drawing/2014/main" id="{CADC198B-FE01-4618-9187-6C242B68CA3F}"/>
                </a:ext>
              </a:extLst>
            </p:cNvPr>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46">
              <a:extLst>
                <a:ext uri="{FF2B5EF4-FFF2-40B4-BE49-F238E27FC236}">
                  <a16:creationId xmlns:a16="http://schemas.microsoft.com/office/drawing/2014/main" id="{8BFA2BEA-177E-45DA-9CB7-D2200CB7E10E}"/>
                </a:ext>
              </a:extLst>
            </p:cNvPr>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47">
              <a:extLst>
                <a:ext uri="{FF2B5EF4-FFF2-40B4-BE49-F238E27FC236}">
                  <a16:creationId xmlns:a16="http://schemas.microsoft.com/office/drawing/2014/main" id="{8876A396-1771-47CF-BA93-5E03EC106D01}"/>
                </a:ext>
              </a:extLst>
            </p:cNvPr>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48">
              <a:extLst>
                <a:ext uri="{FF2B5EF4-FFF2-40B4-BE49-F238E27FC236}">
                  <a16:creationId xmlns:a16="http://schemas.microsoft.com/office/drawing/2014/main" id="{3CB37BE6-B73E-4E63-A2F2-61980F9281B4}"/>
                </a:ext>
              </a:extLst>
            </p:cNvPr>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44">
              <a:extLst>
                <a:ext uri="{FF2B5EF4-FFF2-40B4-BE49-F238E27FC236}">
                  <a16:creationId xmlns:a16="http://schemas.microsoft.com/office/drawing/2014/main" id="{5CBB6A65-B47D-4E01-87B2-42562759C20B}"/>
                </a:ext>
              </a:extLst>
            </p:cNvPr>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TextBox 40">
            <a:extLst>
              <a:ext uri="{FF2B5EF4-FFF2-40B4-BE49-F238E27FC236}">
                <a16:creationId xmlns:a16="http://schemas.microsoft.com/office/drawing/2014/main" id="{D68D052F-EB5E-4FCB-8D95-C9158C02BEFF}"/>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71711" y="1856472"/>
            <a:ext cx="6485351" cy="2175594"/>
          </a:xfrm>
          <a:prstGeom prst="rect">
            <a:avLst/>
          </a:prstGeom>
        </p:spPr>
        <p:txBody>
          <a:bodyPr wrap="square" lIns="91438" tIns="45719" rIns="91438" bIns="45719">
            <a:spAutoFit/>
          </a:bodyPr>
          <a:lstStyle/>
          <a:p>
            <a:pPr indent="627063">
              <a:lnSpc>
                <a:spcPct val="200000"/>
              </a:lnSpc>
              <a:spcBef>
                <a:spcPts val="670"/>
              </a:spcBef>
            </a:pPr>
            <a:r>
              <a:rPr lang="zh-CN" altLang="en-US" sz="2400" b="1" dirty="0">
                <a:latin typeface="宋体" pitchFamily="2" charset="-122"/>
                <a:ea typeface="宋体" pitchFamily="2" charset="-122"/>
              </a:rPr>
              <a:t>热电式传感器是将温度变化转换为电量变化的装置，它利用敏感元件的电参数随温度变化而变化的特性来达到测量目的。</a:t>
            </a:r>
            <a:endParaRPr lang="en-US" altLang="zh-CN" sz="2400" b="1" dirty="0">
              <a:latin typeface="宋体" pitchFamily="2" charset="-122"/>
              <a:ea typeface="宋体" pitchFamily="2" charset="-122"/>
            </a:endParaRPr>
          </a:p>
        </p:txBody>
      </p:sp>
      <p:sp>
        <p:nvSpPr>
          <p:cNvPr id="5" name="矩形 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8</a:t>
            </a:r>
            <a:endParaRPr lang="zh-CN" alt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60200" y="329520"/>
            <a:ext cx="2810377" cy="615549"/>
          </a:xfrm>
          <a:prstGeom prst="rect">
            <a:avLst/>
          </a:prstGeom>
        </p:spPr>
        <p:txBody>
          <a:bodyPr wrap="none" lIns="91436" tIns="45718" rIns="91436" bIns="45718">
            <a:spAutoFit/>
          </a:bodyPr>
          <a:lstStyle/>
          <a:p>
            <a:pPr marL="9525" indent="-9525"/>
            <a:r>
              <a:rPr lang="zh-CN" altLang="en-US" sz="3400" b="1" dirty="0">
                <a:solidFill>
                  <a:schemeClr val="bg1"/>
                </a:solidFill>
                <a:latin typeface="宋体" panose="02010600030101010101" pitchFamily="2" charset="-122"/>
                <a:ea typeface="宋体" panose="02010600030101010101" pitchFamily="2" charset="-122"/>
              </a:rPr>
              <a:t>热电式传感器</a:t>
            </a:r>
          </a:p>
        </p:txBody>
      </p:sp>
      <p:sp>
        <p:nvSpPr>
          <p:cNvPr id="2" name="Slide Number Placeholder 1">
            <a:extLst>
              <a:ext uri="{FF2B5EF4-FFF2-40B4-BE49-F238E27FC236}">
                <a16:creationId xmlns:a16="http://schemas.microsoft.com/office/drawing/2014/main" id="{7C452AE5-F0C7-4605-8735-7035CD3355CB}"/>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798341" y="1"/>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670842" y="1452124"/>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8.1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670843" y="2345031"/>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8.2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876934" y="1343802"/>
            <a:ext cx="1574462"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2" action="ppaction://hlinksldjump"/>
              </a:rPr>
              <a:t>热电阻</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88" name="文本框 87">
            <a:hlinkClick r:id="rId3" action="ppaction://hlinksldjump"/>
          </p:cNvPr>
          <p:cNvSpPr txBox="1"/>
          <p:nvPr/>
        </p:nvSpPr>
        <p:spPr>
          <a:xfrm>
            <a:off x="3876934" y="2215196"/>
            <a:ext cx="1574462"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4" action="ppaction://hlinksldjump"/>
              </a:rPr>
              <a:t>热电偶</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670843" y="4130850"/>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p:cNvSpPr txBox="1"/>
          <p:nvPr/>
        </p:nvSpPr>
        <p:spPr>
          <a:xfrm>
            <a:off x="3876934" y="3957984"/>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32" name="文本框 31"/>
          <p:cNvSpPr txBox="1"/>
          <p:nvPr/>
        </p:nvSpPr>
        <p:spPr>
          <a:xfrm>
            <a:off x="3876934" y="3086590"/>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热敏电阻</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33" name="圆角矩形 32"/>
          <p:cNvSpPr/>
          <p:nvPr/>
        </p:nvSpPr>
        <p:spPr>
          <a:xfrm rot="10800000" flipV="1">
            <a:off x="2670843" y="3237940"/>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8.3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0" name="文本框 19">
            <a:extLst>
              <a:ext uri="{FF2B5EF4-FFF2-40B4-BE49-F238E27FC236}">
                <a16:creationId xmlns:a16="http://schemas.microsoft.com/office/drawing/2014/main" id="{BBAF8150-4F96-4F89-96E9-07E2EFBA258A}"/>
              </a:ext>
            </a:extLst>
          </p:cNvPr>
          <p:cNvSpPr txBox="1"/>
          <p:nvPr/>
        </p:nvSpPr>
        <p:spPr>
          <a:xfrm>
            <a:off x="96423" y="1442951"/>
            <a:ext cx="754047" cy="3863281"/>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a16="http://schemas.microsoft.com/office/drawing/2014/main" id="{83456CD2-7DCB-4083-B4BF-16A159AF793D}"/>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extLst>
      <p:ext uri="{BB962C8B-B14F-4D97-AF65-F5344CB8AC3E}">
        <p14:creationId xmlns:p14="http://schemas.microsoft.com/office/powerpoint/2010/main" val="23175037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8.1</a:t>
            </a:r>
          </a:p>
        </p:txBody>
      </p:sp>
      <p:sp>
        <p:nvSpPr>
          <p:cNvPr id="46" name="矩形 45"/>
          <p:cNvSpPr/>
          <p:nvPr/>
        </p:nvSpPr>
        <p:spPr>
          <a:xfrm>
            <a:off x="1960200" y="329520"/>
            <a:ext cx="1497518"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热电阻</a:t>
            </a:r>
          </a:p>
        </p:txBody>
      </p:sp>
      <p:sp>
        <p:nvSpPr>
          <p:cNvPr id="25" name="文本框 3"/>
          <p:cNvSpPr txBox="1"/>
          <p:nvPr/>
        </p:nvSpPr>
        <p:spPr>
          <a:xfrm>
            <a:off x="1571711" y="1539831"/>
            <a:ext cx="6648562" cy="830997"/>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Resistance Temperature Detector (RTD)</a:t>
            </a:r>
          </a:p>
        </p:txBody>
      </p:sp>
      <p:sp>
        <p:nvSpPr>
          <p:cNvPr id="26" name="Rectangle 3"/>
          <p:cNvSpPr txBox="1">
            <a:spLocks noRot="1" noChangeArrowheads="1"/>
          </p:cNvSpPr>
          <p:nvPr/>
        </p:nvSpPr>
        <p:spPr>
          <a:xfrm>
            <a:off x="2844400" y="2926581"/>
            <a:ext cx="3814931" cy="2252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30000"/>
              </a:lnSpc>
              <a:spcBef>
                <a:spcPct val="0"/>
              </a:spcBef>
              <a:buFontTx/>
              <a:buNone/>
            </a:pPr>
            <a:r>
              <a:rPr lang="zh-CN" altLang="en-US" sz="2400" b="1" dirty="0">
                <a:solidFill>
                  <a:schemeClr val="tx2"/>
                </a:solidFill>
                <a:latin typeface="宋体" panose="02010600030101010101" pitchFamily="2" charset="-122"/>
                <a:ea typeface="宋体" panose="02010600030101010101" pitchFamily="2" charset="-122"/>
                <a:hlinkClick r:id="rId3" action="ppaction://hlinksldjump"/>
              </a:rPr>
              <a:t>热电阻的材料及工作原理</a:t>
            </a:r>
            <a:endParaRPr lang="zh-CN" altLang="en-US" sz="2400" b="1" dirty="0">
              <a:solidFill>
                <a:schemeClr val="tx2"/>
              </a:solidFill>
              <a:latin typeface="宋体" panose="02010600030101010101" pitchFamily="2" charset="-122"/>
              <a:ea typeface="宋体" panose="02010600030101010101" pitchFamily="2" charset="-122"/>
            </a:endParaRPr>
          </a:p>
          <a:p>
            <a:pPr>
              <a:lnSpc>
                <a:spcPct val="230000"/>
              </a:lnSpc>
              <a:spcBef>
                <a:spcPct val="0"/>
              </a:spcBef>
              <a:buFontTx/>
              <a:buNone/>
            </a:pPr>
            <a:r>
              <a:rPr lang="zh-CN" altLang="en-US" sz="2400" b="1" dirty="0">
                <a:solidFill>
                  <a:schemeClr val="hlink"/>
                </a:solidFill>
                <a:latin typeface="宋体" panose="02010600030101010101" pitchFamily="2" charset="-122"/>
                <a:ea typeface="宋体" panose="02010600030101010101" pitchFamily="2" charset="-122"/>
                <a:hlinkClick r:id="rId4" action="ppaction://hlinksldjump"/>
              </a:rPr>
              <a:t>测量电路</a:t>
            </a:r>
            <a:endParaRPr lang="en-US" altLang="zh-CN" sz="2400" dirty="0">
              <a:latin typeface="宋体" panose="02010600030101010101" pitchFamily="2" charset="-122"/>
              <a:ea typeface="宋体" panose="02010600030101010101" pitchFamily="2" charset="-122"/>
            </a:endParaRPr>
          </a:p>
        </p:txBody>
      </p:sp>
      <p:sp>
        <p:nvSpPr>
          <p:cNvPr id="19" name="圆角矩形 72">
            <a:extLst>
              <a:ext uri="{FF2B5EF4-FFF2-40B4-BE49-F238E27FC236}">
                <a16:creationId xmlns:a16="http://schemas.microsoft.com/office/drawing/2014/main" id="{343D7C8A-72E9-4E11-82F9-04D1F37F1B07}"/>
              </a:ext>
            </a:extLst>
          </p:cNvPr>
          <p:cNvSpPr/>
          <p:nvPr/>
        </p:nvSpPr>
        <p:spPr>
          <a:xfrm rot="10800000" flipV="1">
            <a:off x="1761763" y="3215068"/>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8.1.1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0" name="圆角矩形 73">
            <a:extLst>
              <a:ext uri="{FF2B5EF4-FFF2-40B4-BE49-F238E27FC236}">
                <a16:creationId xmlns:a16="http://schemas.microsoft.com/office/drawing/2014/main" id="{7997A031-0667-4F3B-9AA0-BAB02B443096}"/>
              </a:ext>
            </a:extLst>
          </p:cNvPr>
          <p:cNvSpPr/>
          <p:nvPr/>
        </p:nvSpPr>
        <p:spPr>
          <a:xfrm rot="10800000" flipV="1">
            <a:off x="1761759" y="4046117"/>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8.1.2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C6D0B6D4-60B5-4BD6-A2DA-5FD33B7E5DBF}"/>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sp>
        <p:nvSpPr>
          <p:cNvPr id="26" name="Rectangle 6"/>
          <p:cNvSpPr>
            <a:spLocks noRot="1" noChangeArrowheads="1"/>
          </p:cNvSpPr>
          <p:nvPr/>
        </p:nvSpPr>
        <p:spPr bwMode="auto">
          <a:xfrm>
            <a:off x="1483745" y="1676400"/>
            <a:ext cx="6890684"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spcBef>
                <a:spcPct val="20000"/>
              </a:spcBef>
              <a:buClr>
                <a:schemeClr val="folHlink"/>
              </a:buClr>
              <a:buFont typeface="Wingdings" pitchFamily="2" charset="2"/>
              <a:buNone/>
            </a:pPr>
            <a:r>
              <a:rPr lang="zh-CN" altLang="en-US" sz="2400" b="1" dirty="0">
                <a:solidFill>
                  <a:srgbClr val="C00000"/>
                </a:solidFill>
                <a:ea typeface="宋体" pitchFamily="2" charset="-122"/>
              </a:rPr>
              <a:t>热电阻测温的基础：</a:t>
            </a:r>
          </a:p>
          <a:p>
            <a:pPr marL="342900" indent="-342900" eaLnBrk="1" hangingPunct="1">
              <a:lnSpc>
                <a:spcPct val="150000"/>
              </a:lnSpc>
              <a:spcBef>
                <a:spcPct val="20000"/>
              </a:spcBef>
              <a:buClr>
                <a:schemeClr val="folHlink"/>
              </a:buClr>
              <a:buFont typeface="Wingdings" pitchFamily="2" charset="2"/>
              <a:buNone/>
            </a:pPr>
            <a:r>
              <a:rPr lang="zh-CN" altLang="en-US" sz="2400" b="1" dirty="0">
                <a:ea typeface="宋体" pitchFamily="2" charset="-122"/>
              </a:rPr>
              <a:t>电阻率随温度升高而增大，具有</a:t>
            </a:r>
            <a:r>
              <a:rPr lang="zh-CN" altLang="en-US" sz="2400" b="1" dirty="0">
                <a:solidFill>
                  <a:srgbClr val="FF0000"/>
                </a:solidFill>
                <a:ea typeface="宋体" pitchFamily="2" charset="-122"/>
              </a:rPr>
              <a:t>正</a:t>
            </a:r>
            <a:r>
              <a:rPr lang="zh-CN" altLang="en-US" sz="2400" b="1" dirty="0">
                <a:ea typeface="宋体" pitchFamily="2" charset="-122"/>
              </a:rPr>
              <a:t>的温度系数</a:t>
            </a:r>
          </a:p>
          <a:p>
            <a:pPr marL="990600" indent="-990600" eaLnBrk="1" hangingPunct="1">
              <a:lnSpc>
                <a:spcPct val="150000"/>
              </a:lnSpc>
              <a:spcBef>
                <a:spcPct val="20000"/>
              </a:spcBef>
              <a:buClr>
                <a:schemeClr val="folHlink"/>
              </a:buClr>
              <a:buFont typeface="Wingdings" pitchFamily="2" charset="2"/>
              <a:buNone/>
            </a:pPr>
            <a:r>
              <a:rPr lang="zh-CN" altLang="en-US" sz="2400" b="1" dirty="0">
                <a:ea typeface="宋体" pitchFamily="2" charset="-122"/>
              </a:rPr>
              <a:t>材料：电阻温度系数大，电阻率大，热容量小，化学、物理性质稳定。</a:t>
            </a:r>
          </a:p>
          <a:p>
            <a:pPr marL="342900" indent="-342900" eaLnBrk="1" hangingPunct="1">
              <a:lnSpc>
                <a:spcPct val="150000"/>
              </a:lnSpc>
              <a:spcBef>
                <a:spcPct val="20000"/>
              </a:spcBef>
              <a:buClr>
                <a:schemeClr val="folHlink"/>
              </a:buClr>
              <a:buFont typeface="Wingdings" pitchFamily="2" charset="2"/>
              <a:buNone/>
            </a:pPr>
            <a:r>
              <a:rPr lang="zh-CN" altLang="en-US" sz="2400" b="1" dirty="0">
                <a:ea typeface="宋体" pitchFamily="2" charset="-122"/>
              </a:rPr>
              <a:t>特点</a:t>
            </a:r>
            <a:r>
              <a:rPr lang="en-US" altLang="zh-CN" sz="2400" b="1" dirty="0">
                <a:ea typeface="宋体" pitchFamily="2" charset="-122"/>
              </a:rPr>
              <a:t>: </a:t>
            </a:r>
            <a:r>
              <a:rPr lang="zh-CN" altLang="en-US" sz="2400" b="1" dirty="0">
                <a:ea typeface="宋体" pitchFamily="2" charset="-122"/>
              </a:rPr>
              <a:t>精度高，适宜于测低温</a:t>
            </a:r>
          </a:p>
        </p:txBody>
      </p:sp>
      <p:sp>
        <p:nvSpPr>
          <p:cNvPr id="27" name="Rectangle 30"/>
          <p:cNvSpPr>
            <a:spLocks noChangeArrowheads="1"/>
          </p:cNvSpPr>
          <p:nvPr/>
        </p:nvSpPr>
        <p:spPr bwMode="auto">
          <a:xfrm>
            <a:off x="2423317" y="4838700"/>
            <a:ext cx="2262158" cy="57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en-US" altLang="zh-CN" sz="2400" b="1" dirty="0">
                <a:latin typeface="宋体" pitchFamily="2" charset="-122"/>
                <a:ea typeface="宋体" pitchFamily="2" charset="-122"/>
              </a:rPr>
              <a:t>-260℃∼1000℃</a:t>
            </a:r>
          </a:p>
        </p:txBody>
      </p:sp>
      <p:sp>
        <p:nvSpPr>
          <p:cNvPr id="2" name="矩形 1"/>
          <p:cNvSpPr/>
          <p:nvPr/>
        </p:nvSpPr>
        <p:spPr>
          <a:xfrm>
            <a:off x="1571711" y="5457284"/>
            <a:ext cx="7308259" cy="576248"/>
          </a:xfrm>
          <a:prstGeom prst="rect">
            <a:avLst/>
          </a:prstGeom>
        </p:spPr>
        <p:txBody>
          <a:bodyPr wrap="square">
            <a:spAutoFit/>
          </a:bodyPr>
          <a:lstStyle/>
          <a:p>
            <a:pPr lvl="0">
              <a:lnSpc>
                <a:spcPct val="150000"/>
              </a:lnSpc>
            </a:pPr>
            <a:r>
              <a:rPr lang="zh-CN" altLang="en-US" sz="2400" b="1" dirty="0">
                <a:solidFill>
                  <a:prstClr val="black"/>
                </a:solidFill>
                <a:latin typeface="宋体" pitchFamily="2" charset="-122"/>
                <a:ea typeface="宋体" pitchFamily="2" charset="-122"/>
              </a:rPr>
              <a:t>响应时间：</a:t>
            </a:r>
            <a:r>
              <a:rPr lang="en-US" altLang="zh-CN" sz="2400" b="1" dirty="0">
                <a:solidFill>
                  <a:prstClr val="black"/>
                </a:solidFill>
                <a:latin typeface="宋体" pitchFamily="2" charset="-122"/>
                <a:ea typeface="宋体" pitchFamily="2" charset="-122"/>
              </a:rPr>
              <a:t>5</a:t>
            </a:r>
            <a:r>
              <a:rPr lang="zh-CN" altLang="en-US" sz="2400" b="1" dirty="0">
                <a:solidFill>
                  <a:prstClr val="black"/>
                </a:solidFill>
                <a:latin typeface="宋体" pitchFamily="2" charset="-122"/>
                <a:ea typeface="宋体" pitchFamily="2" charset="-122"/>
              </a:rPr>
              <a:t>∼</a:t>
            </a:r>
            <a:r>
              <a:rPr lang="en-US" altLang="zh-CN" sz="2400" b="1" dirty="0">
                <a:solidFill>
                  <a:prstClr val="black"/>
                </a:solidFill>
                <a:latin typeface="宋体" pitchFamily="2" charset="-122"/>
                <a:ea typeface="宋体" pitchFamily="2" charset="-122"/>
              </a:rPr>
              <a:t>90</a:t>
            </a:r>
            <a:r>
              <a:rPr lang="zh-CN" altLang="en-US" sz="2400" b="1" dirty="0">
                <a:solidFill>
                  <a:prstClr val="black"/>
                </a:solidFill>
                <a:latin typeface="宋体" pitchFamily="2" charset="-122"/>
                <a:ea typeface="宋体" pitchFamily="2" charset="-122"/>
              </a:rPr>
              <a:t>秒（带保护管）；</a:t>
            </a:r>
            <a:r>
              <a:rPr lang="en-US" altLang="zh-CN" sz="2400" b="1" dirty="0">
                <a:solidFill>
                  <a:prstClr val="black"/>
                </a:solidFill>
                <a:latin typeface="Times New Roman" pitchFamily="18" charset="0"/>
                <a:ea typeface="宋体" pitchFamily="2" charset="-122"/>
                <a:cs typeface="Times New Roman" pitchFamily="18" charset="0"/>
              </a:rPr>
              <a:t>&lt;</a:t>
            </a:r>
            <a:r>
              <a:rPr lang="en-US" altLang="zh-CN" sz="2400" b="1" dirty="0">
                <a:solidFill>
                  <a:prstClr val="black"/>
                </a:solidFill>
                <a:latin typeface="宋体" pitchFamily="2" charset="-122"/>
                <a:ea typeface="宋体" pitchFamily="2" charset="-122"/>
              </a:rPr>
              <a:t>1</a:t>
            </a:r>
            <a:r>
              <a:rPr lang="zh-CN" altLang="en-US" sz="2400" b="1" dirty="0">
                <a:solidFill>
                  <a:prstClr val="black"/>
                </a:solidFill>
                <a:latin typeface="宋体" pitchFamily="2" charset="-122"/>
                <a:ea typeface="宋体" pitchFamily="2" charset="-122"/>
              </a:rPr>
              <a:t>秒（暴露时）</a:t>
            </a:r>
          </a:p>
        </p:txBody>
      </p:sp>
      <p:sp>
        <p:nvSpPr>
          <p:cNvPr id="3" name="Slide Number Placeholder 2">
            <a:extLst>
              <a:ext uri="{FF2B5EF4-FFF2-40B4-BE49-F238E27FC236}">
                <a16:creationId xmlns:a16="http://schemas.microsoft.com/office/drawing/2014/main" id="{5A1DEA88-6E1A-4EE7-9D9C-D6758D4FEBB3}"/>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Tree>
    <p:extLst>
      <p:ext uri="{BB962C8B-B14F-4D97-AF65-F5344CB8AC3E}">
        <p14:creationId xmlns:p14="http://schemas.microsoft.com/office/powerpoint/2010/main" val="13764619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sp>
        <p:nvSpPr>
          <p:cNvPr id="29" name="Rectangle 5"/>
          <p:cNvSpPr>
            <a:spLocks noRot="1" noChangeArrowheads="1"/>
          </p:cNvSpPr>
          <p:nvPr/>
        </p:nvSpPr>
        <p:spPr bwMode="auto">
          <a:xfrm>
            <a:off x="1571711" y="1762980"/>
            <a:ext cx="6023639" cy="254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ts val="3500"/>
              </a:lnSpc>
              <a:spcBef>
                <a:spcPct val="20000"/>
              </a:spcBef>
              <a:buClr>
                <a:schemeClr val="folHlink"/>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精度高、物理化学性质稳定、性能可靠。</a:t>
            </a:r>
          </a:p>
          <a:p>
            <a:pPr marL="342900" indent="-342900" eaLnBrk="1" hangingPunct="1">
              <a:lnSpc>
                <a:spcPts val="3500"/>
              </a:lnSpc>
              <a:spcBef>
                <a:spcPct val="20000"/>
              </a:spcBef>
              <a:buClr>
                <a:schemeClr val="folHlink"/>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长时间稳定的复现性可达</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a:t>
            </a:r>
            <a:r>
              <a:rPr lang="en-US" altLang="zh-CN" sz="2400" b="1" baseline="300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elvin</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marL="342900" indent="-342900">
              <a:lnSpc>
                <a:spcPts val="3500"/>
              </a:lnSpc>
              <a:spcBef>
                <a:spcPct val="20000"/>
              </a:spcBef>
              <a:buClr>
                <a:schemeClr val="folHlink"/>
              </a:buCl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850℃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范围内，铂电阻的阻值：</a:t>
            </a:r>
          </a:p>
          <a:p>
            <a:pPr marL="342900" indent="-342900" eaLnBrk="1" hangingPunct="1">
              <a:lnSpc>
                <a:spcPts val="3500"/>
              </a:lnSpc>
              <a:spcBef>
                <a:spcPct val="20000"/>
              </a:spcBef>
              <a:buClr>
                <a:schemeClr val="folHlink"/>
              </a:buClr>
              <a:buFont typeface="Wingdings" pitchFamily="2" charset="2"/>
              <a:buNone/>
            </a:pP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500"/>
              </a:lnSpc>
              <a:spcBef>
                <a:spcPct val="20000"/>
              </a:spcBef>
              <a:buClr>
                <a:schemeClr val="folHlink"/>
              </a:buCl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范围内，</a:t>
            </a:r>
          </a:p>
        </p:txBody>
      </p:sp>
      <p:graphicFrame>
        <p:nvGraphicFramePr>
          <p:cNvPr id="30" name="Object 7"/>
          <p:cNvGraphicFramePr>
            <a:graphicFrameLocks noChangeAspect="1"/>
          </p:cNvGraphicFramePr>
          <p:nvPr>
            <p:extLst>
              <p:ext uri="{D42A27DB-BD31-4B8C-83A1-F6EECF244321}">
                <p14:modId xmlns:p14="http://schemas.microsoft.com/office/powerpoint/2010/main" val="1110262478"/>
              </p:ext>
            </p:extLst>
          </p:nvPr>
        </p:nvGraphicFramePr>
        <p:xfrm>
          <a:off x="3071436" y="3258771"/>
          <a:ext cx="3024188" cy="544513"/>
        </p:xfrm>
        <a:graphic>
          <a:graphicData uri="http://schemas.openxmlformats.org/presentationml/2006/ole">
            <mc:AlternateContent xmlns:mc="http://schemas.openxmlformats.org/markup-compatibility/2006">
              <mc:Choice xmlns:v="urn:schemas-microsoft-com:vml" Requires="v">
                <p:oleObj name="公式" r:id="rId3" imgW="1320227" imgH="241195" progId="Equation.3">
                  <p:embed/>
                </p:oleObj>
              </mc:Choice>
              <mc:Fallback>
                <p:oleObj name="公式" r:id="rId3" imgW="1320227"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436" y="3258771"/>
                        <a:ext cx="302418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9"/>
          <p:cNvGraphicFramePr>
            <a:graphicFrameLocks noChangeAspect="1"/>
          </p:cNvGraphicFramePr>
          <p:nvPr>
            <p:extLst>
              <p:ext uri="{D42A27DB-BD31-4B8C-83A1-F6EECF244321}">
                <p14:modId xmlns:p14="http://schemas.microsoft.com/office/powerpoint/2010/main" val="989719843"/>
              </p:ext>
            </p:extLst>
          </p:nvPr>
        </p:nvGraphicFramePr>
        <p:xfrm>
          <a:off x="2283704" y="4305300"/>
          <a:ext cx="5464175" cy="565150"/>
        </p:xfrm>
        <a:graphic>
          <a:graphicData uri="http://schemas.openxmlformats.org/presentationml/2006/ole">
            <mc:AlternateContent xmlns:mc="http://schemas.openxmlformats.org/markup-compatibility/2006">
              <mc:Choice xmlns:v="urn:schemas-microsoft-com:vml" Requires="v">
                <p:oleObj name="公式" r:id="rId5" imgW="2476440" imgH="253800" progId="Equation.3">
                  <p:embed/>
                </p:oleObj>
              </mc:Choice>
              <mc:Fallback>
                <p:oleObj name="公式" r:id="rId5" imgW="2476440" imgH="253800" progId="Equation.3">
                  <p:embed/>
                  <p:pic>
                    <p:nvPicPr>
                      <p:cNvPr id="0" name=""/>
                      <p:cNvPicPr>
                        <a:picLocks noChangeAspect="1" noChangeArrowheads="1"/>
                      </p:cNvPicPr>
                      <p:nvPr/>
                    </p:nvPicPr>
                    <p:blipFill>
                      <a:blip r:embed="rId6"/>
                      <a:srcRect/>
                      <a:stretch>
                        <a:fillRect/>
                      </a:stretch>
                    </p:blipFill>
                    <p:spPr bwMode="auto">
                      <a:xfrm>
                        <a:off x="2283704" y="4305300"/>
                        <a:ext cx="54641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Text Box 11"/>
          <p:cNvSpPr txBox="1">
            <a:spLocks noChangeArrowheads="1"/>
          </p:cNvSpPr>
          <p:nvPr/>
        </p:nvSpPr>
        <p:spPr bwMode="auto">
          <a:xfrm>
            <a:off x="1571711" y="5118528"/>
            <a:ext cx="68881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Times New Roman" pitchFamily="18" charset="0"/>
                <a:cs typeface="Times New Roman" pitchFamily="18" charset="0"/>
              </a:rPr>
              <a:t>其中，温度系数</a:t>
            </a:r>
            <a:r>
              <a:rPr lang="en-US" altLang="zh-CN" sz="2400" i="1" dirty="0">
                <a:latin typeface="Times New Roman" pitchFamily="18" charset="0"/>
                <a:cs typeface="Times New Roman" pitchFamily="18" charset="0"/>
              </a:rPr>
              <a:t>A</a:t>
            </a:r>
            <a:r>
              <a:rPr lang="en-US" altLang="zh-CN" sz="2400" b="1" dirty="0">
                <a:latin typeface="Times New Roman" pitchFamily="18" charset="0"/>
                <a:cs typeface="Times New Roman" pitchFamily="18" charset="0"/>
              </a:rPr>
              <a:t>=3.940×10</a:t>
            </a:r>
            <a:r>
              <a:rPr lang="en-US" altLang="zh-CN" sz="2400" b="1" baseline="30000" dirty="0">
                <a:latin typeface="Times New Roman" pitchFamily="18" charset="0"/>
                <a:cs typeface="Times New Roman" pitchFamily="18" charset="0"/>
              </a:rPr>
              <a:t>-3</a:t>
            </a:r>
            <a:r>
              <a:rPr lang="en-US" altLang="zh-CN" sz="2400" b="1" dirty="0">
                <a:latin typeface="Times New Roman" pitchFamily="18" charset="0"/>
                <a:cs typeface="Times New Roman" pitchFamily="18" charset="0"/>
              </a:rPr>
              <a:t>/ ℃</a:t>
            </a:r>
            <a:r>
              <a:rPr lang="zh-CN" altLang="en-US" sz="2400" b="1" dirty="0">
                <a:latin typeface="Times New Roman" pitchFamily="18" charset="0"/>
                <a:cs typeface="Times New Roman" pitchFamily="18" charset="0"/>
              </a:rPr>
              <a:t>，</a:t>
            </a:r>
            <a:r>
              <a:rPr lang="en-US" altLang="zh-CN" sz="2400" i="1" dirty="0">
                <a:latin typeface="Times New Roman" pitchFamily="18" charset="0"/>
                <a:cs typeface="Times New Roman" pitchFamily="18" charset="0"/>
              </a:rPr>
              <a:t>B</a:t>
            </a:r>
            <a:r>
              <a:rPr lang="zh-CN" altLang="en-US" sz="2400" b="1" dirty="0">
                <a:latin typeface="Times New Roman" pitchFamily="18" charset="0"/>
                <a:cs typeface="Times New Roman" pitchFamily="18" charset="0"/>
              </a:rPr>
              <a:t>、</a:t>
            </a:r>
            <a:r>
              <a:rPr lang="en-US" altLang="zh-CN" sz="2400" i="1" dirty="0">
                <a:latin typeface="Times New Roman" pitchFamily="18" charset="0"/>
                <a:cs typeface="Times New Roman" pitchFamily="18" charset="0"/>
              </a:rPr>
              <a:t>C</a:t>
            </a:r>
            <a:r>
              <a:rPr lang="zh-CN" altLang="en-US" sz="2400" b="1" dirty="0">
                <a:latin typeface="Times New Roman" pitchFamily="18" charset="0"/>
                <a:cs typeface="Times New Roman" pitchFamily="18" charset="0"/>
              </a:rPr>
              <a:t>值很小。</a:t>
            </a:r>
          </a:p>
          <a:p>
            <a:pPr eaLnBrk="1" hangingPunct="1">
              <a:spcBef>
                <a:spcPct val="50000"/>
              </a:spcBef>
            </a:pPr>
            <a:r>
              <a:rPr lang="zh-CN" altLang="en-US" sz="2400" b="1" dirty="0">
                <a:latin typeface="Times New Roman" pitchFamily="18" charset="0"/>
                <a:cs typeface="Times New Roman" pitchFamily="18" charset="0"/>
              </a:rPr>
              <a:t>工业用标准铂电阻</a:t>
            </a:r>
            <a:r>
              <a:rPr lang="en-US" altLang="zh-CN" sz="2400" i="1" dirty="0">
                <a:latin typeface="Times New Roman" pitchFamily="18" charset="0"/>
                <a:cs typeface="Times New Roman" pitchFamily="18" charset="0"/>
              </a:rPr>
              <a:t>R</a:t>
            </a:r>
            <a:r>
              <a:rPr lang="en-US" altLang="zh-CN" sz="2400" b="1" baseline="-25000" dirty="0">
                <a:latin typeface="Times New Roman" pitchFamily="18" charset="0"/>
                <a:cs typeface="Times New Roman" pitchFamily="18" charset="0"/>
              </a:rPr>
              <a:t>0</a:t>
            </a:r>
            <a:r>
              <a:rPr lang="en-US" altLang="zh-CN" sz="2400" b="1" dirty="0">
                <a:latin typeface="Times New Roman" pitchFamily="18" charset="0"/>
                <a:cs typeface="Times New Roman" pitchFamily="18" charset="0"/>
              </a:rPr>
              <a:t>=50</a:t>
            </a:r>
            <a:r>
              <a:rPr lang="el-GR" altLang="zh-CN" sz="2400" b="1" dirty="0">
                <a:latin typeface="Times New Roman" pitchFamily="18" charset="0"/>
                <a:cs typeface="Times New Roman" pitchFamily="18" charset="0"/>
              </a:rPr>
              <a:t>Ω</a:t>
            </a:r>
            <a:r>
              <a:rPr lang="zh-CN" altLang="el-GR" sz="2400" b="1" dirty="0">
                <a:latin typeface="Times New Roman" pitchFamily="18" charset="0"/>
                <a:cs typeface="Times New Roman" pitchFamily="18" charset="0"/>
              </a:rPr>
              <a:t>或</a:t>
            </a:r>
            <a:r>
              <a:rPr lang="en-US" altLang="zh-CN" sz="2400" i="1" dirty="0">
                <a:latin typeface="Times New Roman" pitchFamily="18" charset="0"/>
                <a:cs typeface="Times New Roman" pitchFamily="18" charset="0"/>
              </a:rPr>
              <a:t>R</a:t>
            </a:r>
            <a:r>
              <a:rPr lang="en-US" altLang="zh-CN" sz="2400" b="1" baseline="-25000" dirty="0">
                <a:latin typeface="Times New Roman" pitchFamily="18" charset="0"/>
                <a:cs typeface="Times New Roman" pitchFamily="18" charset="0"/>
              </a:rPr>
              <a:t>0</a:t>
            </a:r>
            <a:r>
              <a:rPr lang="en-US" altLang="zh-CN" sz="2400" b="1" dirty="0">
                <a:latin typeface="Times New Roman" pitchFamily="18" charset="0"/>
                <a:cs typeface="Times New Roman" pitchFamily="18" charset="0"/>
              </a:rPr>
              <a:t>=100 </a:t>
            </a:r>
            <a:r>
              <a:rPr lang="el-GR" altLang="zh-CN" sz="2400" b="1" dirty="0">
                <a:latin typeface="Times New Roman" pitchFamily="18" charset="0"/>
                <a:cs typeface="Times New Roman" pitchFamily="18" charset="0"/>
              </a:rPr>
              <a:t>Ω</a:t>
            </a:r>
            <a:r>
              <a:rPr lang="zh-CN" altLang="el-GR" sz="2400" b="1" dirty="0">
                <a:latin typeface="Times New Roman" pitchFamily="18" charset="0"/>
                <a:cs typeface="Times New Roman" pitchFamily="18" charset="0"/>
              </a:rPr>
              <a:t>。</a:t>
            </a:r>
            <a:endParaRPr lang="zh-CN" altLang="en-US" sz="2400" b="1" dirty="0">
              <a:latin typeface="Times New Roman" pitchFamily="18" charset="0"/>
              <a:cs typeface="Times New Roman" pitchFamily="18" charset="0"/>
            </a:endParaRPr>
          </a:p>
        </p:txBody>
      </p:sp>
      <p:sp>
        <p:nvSpPr>
          <p:cNvPr id="3" name="矩形 2"/>
          <p:cNvSpPr/>
          <p:nvPr/>
        </p:nvSpPr>
        <p:spPr>
          <a:xfrm>
            <a:off x="1571711" y="1231255"/>
            <a:ext cx="1107996" cy="461665"/>
          </a:xfrm>
          <a:prstGeom prst="rect">
            <a:avLst/>
          </a:prstGeom>
        </p:spPr>
        <p:style>
          <a:lnRef idx="1">
            <a:schemeClr val="accent3"/>
          </a:lnRef>
          <a:fillRef idx="3">
            <a:schemeClr val="accent3"/>
          </a:fillRef>
          <a:effectRef idx="2">
            <a:schemeClr val="accent3"/>
          </a:effectRef>
          <a:fontRef idx="minor">
            <a:schemeClr val="lt1"/>
          </a:fontRef>
        </p:style>
        <p:txBody>
          <a:bodyPr wrap="none">
            <a:spAutoFit/>
          </a:bodyPr>
          <a:lstStyle/>
          <a:p>
            <a:r>
              <a:rPr lang="zh-CN" altLang="en-US" sz="2400" b="1" dirty="0"/>
              <a:t>铂电阻</a:t>
            </a:r>
          </a:p>
        </p:txBody>
      </p:sp>
      <p:sp>
        <p:nvSpPr>
          <p:cNvPr id="2" name="Slide Number Placeholder 1">
            <a:extLst>
              <a:ext uri="{FF2B5EF4-FFF2-40B4-BE49-F238E27FC236}">
                <a16:creationId xmlns:a16="http://schemas.microsoft.com/office/drawing/2014/main" id="{4439F73E-61AF-4CBB-AAE7-705702462801}"/>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sp>
        <p:nvSpPr>
          <p:cNvPr id="19" name="Text Box 5"/>
          <p:cNvSpPr txBox="1">
            <a:spLocks noChangeArrowheads="1"/>
          </p:cNvSpPr>
          <p:nvPr/>
        </p:nvSpPr>
        <p:spPr bwMode="auto">
          <a:xfrm>
            <a:off x="1571711" y="2557165"/>
            <a:ext cx="41036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宋体" pitchFamily="2" charset="-122"/>
              </a:rPr>
              <a:t>百度电阻比</a:t>
            </a:r>
            <a:r>
              <a:rPr lang="en-US" altLang="zh-CN" sz="2400" b="1" i="1" dirty="0">
                <a:latin typeface="Times New Roman" pitchFamily="18" charset="0"/>
              </a:rPr>
              <a:t>W</a:t>
            </a:r>
            <a:r>
              <a:rPr lang="en-US" altLang="zh-CN" sz="2400" b="1" dirty="0">
                <a:latin typeface="Times New Roman" pitchFamily="18" charset="0"/>
              </a:rPr>
              <a:t>(100)</a:t>
            </a:r>
            <a:r>
              <a:rPr lang="zh-CN" altLang="en-US" sz="2400" b="1" dirty="0">
                <a:latin typeface="宋体" pitchFamily="2" charset="-122"/>
              </a:rPr>
              <a:t>：</a:t>
            </a:r>
          </a:p>
        </p:txBody>
      </p:sp>
      <p:graphicFrame>
        <p:nvGraphicFramePr>
          <p:cNvPr id="20" name="Object 6"/>
          <p:cNvGraphicFramePr>
            <a:graphicFrameLocks noChangeAspect="1"/>
          </p:cNvGraphicFramePr>
          <p:nvPr>
            <p:extLst>
              <p:ext uri="{D42A27DB-BD31-4B8C-83A1-F6EECF244321}">
                <p14:modId xmlns:p14="http://schemas.microsoft.com/office/powerpoint/2010/main" val="2457458156"/>
              </p:ext>
            </p:extLst>
          </p:nvPr>
        </p:nvGraphicFramePr>
        <p:xfrm>
          <a:off x="3909730" y="3135015"/>
          <a:ext cx="2117725" cy="1036889"/>
        </p:xfrm>
        <a:graphic>
          <a:graphicData uri="http://schemas.openxmlformats.org/presentationml/2006/ole">
            <mc:AlternateContent xmlns:mc="http://schemas.openxmlformats.org/markup-compatibility/2006">
              <mc:Choice xmlns:v="urn:schemas-microsoft-com:vml" Requires="v">
                <p:oleObj name="公式" r:id="rId3" imgW="914400" imgH="444500" progId="Equation.3">
                  <p:embed/>
                </p:oleObj>
              </mc:Choice>
              <mc:Fallback>
                <p:oleObj name="公式" r:id="rId3" imgW="9144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9730" y="3135015"/>
                        <a:ext cx="2117725" cy="1036889"/>
                      </a:xfrm>
                      <a:prstGeom prst="rect">
                        <a:avLst/>
                      </a:prstGeom>
                      <a:noFill/>
                      <a:ln>
                        <a:noFill/>
                      </a:ln>
                    </p:spPr>
                  </p:pic>
                </p:oleObj>
              </mc:Fallback>
            </mc:AlternateContent>
          </a:graphicData>
        </a:graphic>
      </p:graphicFrame>
      <p:sp>
        <p:nvSpPr>
          <p:cNvPr id="21" name="Text Box 8"/>
          <p:cNvSpPr txBox="1">
            <a:spLocks noChangeArrowheads="1"/>
          </p:cNvSpPr>
          <p:nvPr/>
        </p:nvSpPr>
        <p:spPr bwMode="auto">
          <a:xfrm>
            <a:off x="1571711" y="4322762"/>
            <a:ext cx="642461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lnSpc>
                <a:spcPct val="150000"/>
              </a:lnSpc>
            </a:pPr>
            <a:r>
              <a:rPr lang="zh-CN" altLang="en-US" sz="2400" b="1" dirty="0">
                <a:latin typeface="宋体" pitchFamily="2" charset="-122"/>
              </a:rPr>
              <a:t>百度电阻比表征材料的纯度，铂纯度</a:t>
            </a:r>
            <a:r>
              <a:rPr lang="en-US" altLang="zh-CN" sz="2400" b="1" dirty="0">
                <a:latin typeface="Times New Roman" pitchFamily="18" charset="0"/>
              </a:rPr>
              <a:t>99.9995%</a:t>
            </a:r>
            <a:r>
              <a:rPr lang="zh-CN" altLang="en-US" sz="2400" b="1" dirty="0">
                <a:latin typeface="Times New Roman" pitchFamily="18" charset="0"/>
              </a:rPr>
              <a:t>，</a:t>
            </a:r>
            <a:r>
              <a:rPr lang="en-US" altLang="zh-CN" sz="2400" b="1" i="1" dirty="0">
                <a:latin typeface="Times New Roman" pitchFamily="18" charset="0"/>
              </a:rPr>
              <a:t>W</a:t>
            </a:r>
            <a:r>
              <a:rPr lang="en-US" altLang="zh-CN" sz="2400" b="1" dirty="0">
                <a:latin typeface="Times New Roman" pitchFamily="18" charset="0"/>
              </a:rPr>
              <a:t>(100)=1.393</a:t>
            </a:r>
            <a:r>
              <a:rPr lang="zh-CN" altLang="en-US" sz="2400" b="1" dirty="0">
                <a:latin typeface="Times New Roman" pitchFamily="18" charset="0"/>
              </a:rPr>
              <a:t>，工业用纯度可达</a:t>
            </a:r>
            <a:r>
              <a:rPr lang="en-US" altLang="zh-CN" sz="2400" b="1" i="1" dirty="0">
                <a:latin typeface="Times New Roman" pitchFamily="18" charset="0"/>
              </a:rPr>
              <a:t>W</a:t>
            </a:r>
            <a:r>
              <a:rPr lang="en-US" altLang="zh-CN" sz="2400" b="1" dirty="0">
                <a:latin typeface="Times New Roman" pitchFamily="18" charset="0"/>
              </a:rPr>
              <a:t>(100)=1.387</a:t>
            </a:r>
            <a:r>
              <a:rPr lang="zh-CN" altLang="en-US" sz="2400" b="1" dirty="0">
                <a:latin typeface="Times New Roman" pitchFamily="18" charset="0"/>
              </a:rPr>
              <a:t>～</a:t>
            </a:r>
            <a:r>
              <a:rPr lang="en-US" altLang="zh-CN" sz="2400" b="1" dirty="0">
                <a:latin typeface="Times New Roman" pitchFamily="18" charset="0"/>
              </a:rPr>
              <a:t>1.390</a:t>
            </a:r>
            <a:r>
              <a:rPr lang="zh-CN" altLang="en-US" sz="2400" b="1" dirty="0">
                <a:latin typeface="宋体" pitchFamily="2" charset="-122"/>
              </a:rPr>
              <a:t>。</a:t>
            </a:r>
          </a:p>
        </p:txBody>
      </p:sp>
      <p:sp>
        <p:nvSpPr>
          <p:cNvPr id="24" name="Text Box 22"/>
          <p:cNvSpPr txBox="1">
            <a:spLocks noChangeArrowheads="1"/>
          </p:cNvSpPr>
          <p:nvPr/>
        </p:nvSpPr>
        <p:spPr bwMode="auto">
          <a:xfrm>
            <a:off x="1571711" y="1301752"/>
            <a:ext cx="64719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lnSpc>
                <a:spcPct val="150000"/>
              </a:lnSpc>
              <a:spcBef>
                <a:spcPct val="50000"/>
              </a:spcBef>
            </a:pPr>
            <a:r>
              <a:rPr lang="en-US" altLang="zh-CN" sz="2400" b="1" dirty="0">
                <a:latin typeface="宋体" pitchFamily="2" charset="-122"/>
              </a:rPr>
              <a:t>    </a:t>
            </a:r>
            <a:r>
              <a:rPr lang="en-US" altLang="zh-CN" sz="2400" b="1" i="1" dirty="0" err="1">
                <a:latin typeface="Times New Roman" pitchFamily="18" charset="0"/>
              </a:rPr>
              <a:t>R</a:t>
            </a:r>
            <a:r>
              <a:rPr lang="en-US" altLang="zh-CN" sz="2400" b="1" i="1" baseline="-25000" dirty="0" err="1">
                <a:latin typeface="Times New Roman" pitchFamily="18" charset="0"/>
              </a:rPr>
              <a:t>t</a:t>
            </a:r>
            <a:r>
              <a:rPr lang="zh-CN" altLang="en-US" sz="2400" b="1" dirty="0">
                <a:latin typeface="宋体" pitchFamily="2" charset="-122"/>
              </a:rPr>
              <a:t>与温度</a:t>
            </a:r>
            <a:r>
              <a:rPr lang="en-US" altLang="zh-CN" sz="2400" b="1" i="1" dirty="0">
                <a:latin typeface="Times New Roman" pitchFamily="18" charset="0"/>
              </a:rPr>
              <a:t>t</a:t>
            </a:r>
            <a:r>
              <a:rPr lang="zh-CN" altLang="en-US" sz="2400" b="1" dirty="0">
                <a:latin typeface="宋体" pitchFamily="2" charset="-122"/>
              </a:rPr>
              <a:t>的关系表格，称为铂</a:t>
            </a:r>
            <a:r>
              <a:rPr lang="en-US" altLang="zh-CN" sz="2400" b="1" dirty="0">
                <a:latin typeface="宋体" pitchFamily="2" charset="-122"/>
              </a:rPr>
              <a:t>(</a:t>
            </a:r>
            <a:r>
              <a:rPr lang="en-US" altLang="zh-CN" sz="2400" b="1" dirty="0">
                <a:solidFill>
                  <a:srgbClr val="FF0000"/>
                </a:solidFill>
                <a:latin typeface="Times New Roman" pitchFamily="18" charset="0"/>
              </a:rPr>
              <a:t>P</a:t>
            </a:r>
            <a:r>
              <a:rPr lang="en-US" altLang="zh-CN" sz="2400" b="1" dirty="0">
                <a:latin typeface="Times New Roman" pitchFamily="18" charset="0"/>
              </a:rPr>
              <a:t>la</a:t>
            </a:r>
            <a:r>
              <a:rPr lang="en-US" altLang="zh-CN" sz="2400" b="1" dirty="0">
                <a:solidFill>
                  <a:srgbClr val="FF0000"/>
                </a:solidFill>
                <a:latin typeface="Times New Roman" pitchFamily="18" charset="0"/>
              </a:rPr>
              <a:t>t</a:t>
            </a:r>
            <a:r>
              <a:rPr lang="en-US" altLang="zh-CN" sz="2400" b="1" dirty="0">
                <a:latin typeface="Times New Roman" pitchFamily="18" charset="0"/>
              </a:rPr>
              <a:t>inum</a:t>
            </a:r>
            <a:r>
              <a:rPr lang="en-US" altLang="zh-CN" sz="2400" b="1" dirty="0">
                <a:latin typeface="宋体" pitchFamily="2" charset="-122"/>
              </a:rPr>
              <a:t>)</a:t>
            </a:r>
            <a:r>
              <a:rPr lang="zh-CN" altLang="en-US" sz="2400" b="1" dirty="0">
                <a:latin typeface="宋体" pitchFamily="2" charset="-122"/>
              </a:rPr>
              <a:t>电阻分度表，分度号分别为</a:t>
            </a:r>
            <a:r>
              <a:rPr lang="en-US" altLang="zh-CN" sz="2400" b="1" dirty="0">
                <a:latin typeface="Times New Roman" pitchFamily="18" charset="0"/>
              </a:rPr>
              <a:t>Pt100</a:t>
            </a:r>
            <a:r>
              <a:rPr lang="zh-CN" altLang="en-US" sz="2400" b="1" dirty="0">
                <a:latin typeface="Times New Roman" pitchFamily="18" charset="0"/>
              </a:rPr>
              <a:t>和</a:t>
            </a:r>
            <a:r>
              <a:rPr lang="en-US" altLang="zh-CN" sz="2400" b="1" dirty="0">
                <a:latin typeface="Times New Roman" pitchFamily="18" charset="0"/>
              </a:rPr>
              <a:t>Pt50</a:t>
            </a:r>
            <a:r>
              <a:rPr lang="zh-CN" altLang="en-US" sz="2400" b="1" dirty="0">
                <a:latin typeface="宋体" pitchFamily="2" charset="-122"/>
              </a:rPr>
              <a:t>。</a:t>
            </a:r>
          </a:p>
        </p:txBody>
      </p:sp>
      <p:sp>
        <p:nvSpPr>
          <p:cNvPr id="2" name="Slide Number Placeholder 1">
            <a:extLst>
              <a:ext uri="{FF2B5EF4-FFF2-40B4-BE49-F238E27FC236}">
                <a16:creationId xmlns:a16="http://schemas.microsoft.com/office/drawing/2014/main" id="{2B44A597-FB42-4211-9096-3C820815A87E}"/>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Tree>
    <p:extLst>
      <p:ext uri="{BB962C8B-B14F-4D97-AF65-F5344CB8AC3E}">
        <p14:creationId xmlns:p14="http://schemas.microsoft.com/office/powerpoint/2010/main" val="22567744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sp>
        <p:nvSpPr>
          <p:cNvPr id="19" name="矩形 18"/>
          <p:cNvSpPr/>
          <p:nvPr/>
        </p:nvSpPr>
        <p:spPr>
          <a:xfrm>
            <a:off x="1571711" y="1231255"/>
            <a:ext cx="1112805" cy="461665"/>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400" b="1" dirty="0"/>
              <a:t>铜电阻</a:t>
            </a:r>
          </a:p>
        </p:txBody>
      </p:sp>
      <p:sp>
        <p:nvSpPr>
          <p:cNvPr id="20" name="Rectangle 5"/>
          <p:cNvSpPr>
            <a:spLocks noChangeArrowheads="1"/>
          </p:cNvSpPr>
          <p:nvPr/>
        </p:nvSpPr>
        <p:spPr bwMode="auto">
          <a:xfrm>
            <a:off x="1571711" y="1931439"/>
            <a:ext cx="63593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在测温范围比较小</a:t>
            </a:r>
            <a:r>
              <a:rPr lang="en-US" altLang="zh-CN" sz="2400" b="1" dirty="0">
                <a:latin typeface="Times New Roman" pitchFamily="18" charset="0"/>
                <a:ea typeface="宋体" pitchFamily="2" charset="-122"/>
              </a:rPr>
              <a:t>(-50</a:t>
            </a:r>
            <a:r>
              <a:rPr lang="zh-CN" altLang="en-US" sz="2400" b="1" dirty="0">
                <a:latin typeface="Times New Roman" pitchFamily="18" charset="0"/>
                <a:ea typeface="宋体" pitchFamily="2" charset="-122"/>
              </a:rPr>
              <a:t>～</a:t>
            </a:r>
            <a:r>
              <a:rPr lang="en-US" altLang="zh-CN" sz="2400" b="1" dirty="0">
                <a:latin typeface="Times New Roman" pitchFamily="18" charset="0"/>
                <a:ea typeface="宋体" pitchFamily="2" charset="-122"/>
              </a:rPr>
              <a:t>+150℃)</a:t>
            </a:r>
            <a:r>
              <a:rPr lang="zh-CN" altLang="en-US" sz="2400" b="1" dirty="0">
                <a:latin typeface="宋体" pitchFamily="2" charset="-122"/>
                <a:ea typeface="宋体" pitchFamily="2" charset="-122"/>
              </a:rPr>
              <a:t>的情况下，可采用</a:t>
            </a:r>
            <a:r>
              <a:rPr lang="zh-CN" altLang="en-US" sz="2400" b="1" dirty="0">
                <a:solidFill>
                  <a:srgbClr val="C00000"/>
                </a:solidFill>
                <a:latin typeface="宋体" pitchFamily="2" charset="-122"/>
                <a:ea typeface="宋体" pitchFamily="2" charset="-122"/>
              </a:rPr>
              <a:t>铜</a:t>
            </a:r>
            <a:r>
              <a:rPr lang="zh-CN" altLang="en-US" sz="2400" b="1" dirty="0">
                <a:latin typeface="宋体" pitchFamily="2" charset="-122"/>
                <a:ea typeface="宋体" pitchFamily="2" charset="-122"/>
              </a:rPr>
              <a:t>制成的测温电阻，此范围内的温度系数较大，稳定性较好。电阻率较铂电阻小。</a:t>
            </a:r>
          </a:p>
        </p:txBody>
      </p:sp>
      <p:graphicFrame>
        <p:nvGraphicFramePr>
          <p:cNvPr id="21" name="Object 6"/>
          <p:cNvGraphicFramePr>
            <a:graphicFrameLocks noChangeAspect="1"/>
          </p:cNvGraphicFramePr>
          <p:nvPr>
            <p:extLst>
              <p:ext uri="{D42A27DB-BD31-4B8C-83A1-F6EECF244321}">
                <p14:modId xmlns:p14="http://schemas.microsoft.com/office/powerpoint/2010/main" val="3294925670"/>
              </p:ext>
            </p:extLst>
          </p:nvPr>
        </p:nvGraphicFramePr>
        <p:xfrm>
          <a:off x="2125663" y="3976688"/>
          <a:ext cx="5280025" cy="595312"/>
        </p:xfrm>
        <a:graphic>
          <a:graphicData uri="http://schemas.openxmlformats.org/presentationml/2006/ole">
            <mc:AlternateContent xmlns:mc="http://schemas.openxmlformats.org/markup-compatibility/2006">
              <mc:Choice xmlns:v="urn:schemas-microsoft-com:vml" Requires="v">
                <p:oleObj name="公式" r:id="rId3" imgW="2108160" imgH="241200" progId="Equation.3">
                  <p:embed/>
                </p:oleObj>
              </mc:Choice>
              <mc:Fallback>
                <p:oleObj name="公式" r:id="rId3" imgW="2108160" imgH="241200" progId="Equation.3">
                  <p:embed/>
                  <p:pic>
                    <p:nvPicPr>
                      <p:cNvPr id="0" name=""/>
                      <p:cNvPicPr>
                        <a:picLocks noChangeAspect="1" noChangeArrowheads="1"/>
                      </p:cNvPicPr>
                      <p:nvPr/>
                    </p:nvPicPr>
                    <p:blipFill>
                      <a:blip r:embed="rId4"/>
                      <a:srcRect/>
                      <a:stretch>
                        <a:fillRect/>
                      </a:stretch>
                    </p:blipFill>
                    <p:spPr bwMode="auto">
                      <a:xfrm>
                        <a:off x="2125663" y="3976688"/>
                        <a:ext cx="5280025" cy="595312"/>
                      </a:xfrm>
                      <a:prstGeom prst="rect">
                        <a:avLst/>
                      </a:prstGeom>
                      <a:noFill/>
                      <a:ln>
                        <a:noFill/>
                      </a:ln>
                    </p:spPr>
                  </p:pic>
                </p:oleObj>
              </mc:Fallback>
            </mc:AlternateContent>
          </a:graphicData>
        </a:graphic>
      </p:graphicFrame>
      <p:sp>
        <p:nvSpPr>
          <p:cNvPr id="24" name="Rectangle 8"/>
          <p:cNvSpPr>
            <a:spLocks noChangeArrowheads="1"/>
          </p:cNvSpPr>
          <p:nvPr/>
        </p:nvSpPr>
        <p:spPr bwMode="auto">
          <a:xfrm>
            <a:off x="1746251" y="4713516"/>
            <a:ext cx="6184786" cy="13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Tx/>
              <a:buFontTx/>
              <a:buNone/>
              <a:defRPr/>
            </a:pPr>
            <a:r>
              <a:rPr lang="zh-CN" altLang="en-US" sz="2400" b="1" dirty="0">
                <a:latin typeface="Times New Roman" panose="02020603050405020304" pitchFamily="18" charset="0"/>
                <a:cs typeface="Times New Roman" panose="02020603050405020304" pitchFamily="18" charset="0"/>
              </a:rPr>
              <a:t>工业用标准铜电阻</a:t>
            </a:r>
            <a:r>
              <a:rPr lang="en-US" altLang="zh-CN" sz="2400" b="1" i="1" dirty="0">
                <a:latin typeface="Times New Roman" panose="02020603050405020304" pitchFamily="18" charset="0"/>
                <a:cs typeface="Times New Roman" panose="02020603050405020304" pitchFamily="18" charset="0"/>
              </a:rPr>
              <a:t>R</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=50</a:t>
            </a:r>
            <a:r>
              <a:rPr lang="el-GR" altLang="zh-CN" sz="2400" b="1" dirty="0">
                <a:latin typeface="Times New Roman" panose="02020603050405020304" pitchFamily="18" charset="0"/>
                <a:cs typeface="Times New Roman" panose="02020603050405020304" pitchFamily="18" charset="0"/>
              </a:rPr>
              <a:t>Ω</a:t>
            </a:r>
            <a:r>
              <a:rPr lang="zh-CN" altLang="el-GR" sz="2400" b="1" dirty="0">
                <a:latin typeface="Times New Roman" panose="02020603050405020304" pitchFamily="18" charset="0"/>
                <a:cs typeface="Times New Roman" panose="02020603050405020304" pitchFamily="18" charset="0"/>
              </a:rPr>
              <a:t>或</a:t>
            </a:r>
            <a:r>
              <a:rPr lang="en-US" altLang="zh-CN" sz="2400" b="1" i="1" dirty="0">
                <a:latin typeface="Times New Roman" panose="02020603050405020304" pitchFamily="18" charset="0"/>
                <a:cs typeface="Times New Roman" panose="02020603050405020304" pitchFamily="18" charset="0"/>
              </a:rPr>
              <a:t>R</a:t>
            </a:r>
            <a:r>
              <a:rPr lang="en-US" altLang="zh-CN" sz="2400" b="1" baseline="-25000" dirty="0">
                <a:latin typeface="Times New Roman" panose="02020603050405020304" pitchFamily="18" charset="0"/>
                <a:cs typeface="Times New Roman" panose="02020603050405020304" pitchFamily="18" charset="0"/>
              </a:rPr>
              <a:t>0</a:t>
            </a:r>
            <a:r>
              <a:rPr lang="en-US" altLang="zh-CN" sz="2400" b="1" dirty="0">
                <a:latin typeface="Times New Roman" panose="02020603050405020304" pitchFamily="18" charset="0"/>
                <a:cs typeface="Times New Roman" panose="02020603050405020304" pitchFamily="18" charset="0"/>
              </a:rPr>
              <a:t>=100 </a:t>
            </a:r>
            <a:r>
              <a:rPr lang="el-GR" altLang="zh-CN" sz="2400" b="1" dirty="0">
                <a:latin typeface="Times New Roman" panose="02020603050405020304" pitchFamily="18" charset="0"/>
                <a:cs typeface="Times New Roman" panose="02020603050405020304" pitchFamily="18" charset="0"/>
              </a:rPr>
              <a:t>Ω</a:t>
            </a:r>
            <a:r>
              <a:rPr lang="zh-CN" altLang="el-GR"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eaLnBrk="1" hangingPunct="1">
              <a:lnSpc>
                <a:spcPct val="150000"/>
              </a:lnSpc>
              <a:spcBef>
                <a:spcPct val="50000"/>
              </a:spcBef>
              <a:buClrTx/>
              <a:buFontTx/>
              <a:buNone/>
              <a:defRPr/>
            </a:pPr>
            <a:r>
              <a:rPr lang="en-US" altLang="zh-CN" sz="2400" b="1" i="1" dirty="0">
                <a:latin typeface="Times New Roman" panose="02020603050405020304" pitchFamily="18" charset="0"/>
                <a:cs typeface="Times New Roman" panose="02020603050405020304" pitchFamily="18" charset="0"/>
              </a:rPr>
              <a:t>W</a:t>
            </a:r>
            <a:r>
              <a:rPr lang="en-US" altLang="zh-CN" sz="2400" b="1" dirty="0">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100)=</a:t>
            </a:r>
            <a:r>
              <a:rPr lang="en-US" altLang="zh-CN" sz="2400" b="1" dirty="0">
                <a:latin typeface="Times New Roman" panose="02020603050405020304" pitchFamily="18" charset="0"/>
                <a:cs typeface="Times New Roman" panose="02020603050405020304" pitchFamily="18" charset="0"/>
              </a:rPr>
              <a:t>1.428</a:t>
            </a:r>
            <a:r>
              <a:rPr lang="zh-CN" altLang="en-US" sz="2400" b="1" dirty="0">
                <a:latin typeface="Times New Roman" panose="02020603050405020304" pitchFamily="18" charset="0"/>
                <a:cs typeface="Times New Roman" panose="02020603050405020304" pitchFamily="18" charset="0"/>
              </a:rPr>
              <a:t>，分度号分别为</a:t>
            </a:r>
            <a:r>
              <a:rPr lang="en-US" altLang="zh-CN" sz="2400" b="1" dirty="0">
                <a:latin typeface="Times New Roman" panose="02020603050405020304" pitchFamily="18" charset="0"/>
                <a:cs typeface="Times New Roman" panose="02020603050405020304" pitchFamily="18" charset="0"/>
              </a:rPr>
              <a:t>Cu50</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Cu100</a:t>
            </a:r>
            <a:r>
              <a:rPr lang="zh-CN" altLang="en-US" sz="2400" b="1" dirty="0">
                <a:latin typeface="Times New Roman" panose="02020603050405020304" pitchFamily="18" charset="0"/>
                <a:cs typeface="Times New Roman" panose="02020603050405020304" pitchFamily="18" charset="0"/>
              </a:rPr>
              <a:t>。</a:t>
            </a:r>
          </a:p>
        </p:txBody>
      </p:sp>
      <p:sp>
        <p:nvSpPr>
          <p:cNvPr id="2" name="Slide Number Placeholder 1">
            <a:extLst>
              <a:ext uri="{FF2B5EF4-FFF2-40B4-BE49-F238E27FC236}">
                <a16:creationId xmlns:a16="http://schemas.microsoft.com/office/drawing/2014/main" id="{E5861BDF-8FF0-4535-935E-89E00399D476}"/>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Tree>
    <p:extLst>
      <p:ext uri="{BB962C8B-B14F-4D97-AF65-F5344CB8AC3E}">
        <p14:creationId xmlns:p14="http://schemas.microsoft.com/office/powerpoint/2010/main" val="30694943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sp>
        <p:nvSpPr>
          <p:cNvPr id="2" name="矩形 1"/>
          <p:cNvSpPr/>
          <p:nvPr/>
        </p:nvSpPr>
        <p:spPr>
          <a:xfrm>
            <a:off x="423948" y="1552059"/>
            <a:ext cx="1731564"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zh-CN" altLang="en-US" sz="2400" b="1" dirty="0">
                <a:solidFill>
                  <a:schemeClr val="bg1"/>
                </a:solidFill>
                <a:latin typeface="宋体" pitchFamily="2" charset="-122"/>
                <a:ea typeface="宋体" pitchFamily="2" charset="-122"/>
              </a:rPr>
              <a:t>铁、镍电阻</a:t>
            </a:r>
            <a:endParaRPr lang="zh-CN" altLang="en-US" sz="2400" dirty="0">
              <a:solidFill>
                <a:schemeClr val="bg1"/>
              </a:solidFill>
              <a:latin typeface="宋体" pitchFamily="2" charset="-122"/>
              <a:ea typeface="宋体" pitchFamily="2" charset="-122"/>
            </a:endParaRPr>
          </a:p>
        </p:txBody>
      </p:sp>
      <p:sp>
        <p:nvSpPr>
          <p:cNvPr id="20" name="Rectangle 3"/>
          <p:cNvSpPr txBox="1">
            <a:spLocks noRot="1" noChangeArrowheads="1"/>
          </p:cNvSpPr>
          <p:nvPr/>
        </p:nvSpPr>
        <p:spPr>
          <a:xfrm>
            <a:off x="400050" y="2282825"/>
            <a:ext cx="4581525" cy="274161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Font typeface="Wingdings" pitchFamily="2" charset="2"/>
              <a:buNone/>
            </a:pPr>
            <a:r>
              <a:rPr lang="zh-CN" altLang="en-US" sz="2400" b="1" dirty="0">
                <a:latin typeface="宋体" panose="02010600030101010101" pitchFamily="2" charset="-122"/>
                <a:ea typeface="宋体" panose="02010600030101010101" pitchFamily="2" charset="-122"/>
              </a:rPr>
              <a:t>两种金属的电阻温度系数较高、电阻率较大、体积小、灵敏度</a:t>
            </a:r>
            <a:r>
              <a:rPr lang="zh-CN" altLang="en-US" sz="2400" b="1">
                <a:latin typeface="宋体" panose="02010600030101010101" pitchFamily="2" charset="-122"/>
                <a:ea typeface="宋体" panose="02010600030101010101" pitchFamily="2" charset="-122"/>
              </a:rPr>
              <a:t>高。</a:t>
            </a:r>
            <a:endParaRPr lang="en-US" altLang="zh-CN" sz="2400" b="1">
              <a:latin typeface="宋体" panose="02010600030101010101" pitchFamily="2" charset="-122"/>
              <a:ea typeface="宋体" panose="02010600030101010101" pitchFamily="2" charset="-122"/>
            </a:endParaRPr>
          </a:p>
          <a:p>
            <a:pPr marL="0" indent="0">
              <a:lnSpc>
                <a:spcPct val="150000"/>
              </a:lnSpc>
              <a:spcBef>
                <a:spcPts val="0"/>
              </a:spcBef>
              <a:buFont typeface="Wingdings" pitchFamily="2" charset="2"/>
              <a:buNone/>
            </a:pPr>
            <a:endParaRPr lang="zh-CN" altLang="en-US" sz="2400" b="1" dirty="0">
              <a:latin typeface="宋体" panose="02010600030101010101" pitchFamily="2" charset="-122"/>
              <a:ea typeface="宋体" panose="02010600030101010101" pitchFamily="2" charset="-122"/>
            </a:endParaRPr>
          </a:p>
          <a:p>
            <a:pPr marL="0" indent="0">
              <a:lnSpc>
                <a:spcPct val="150000"/>
              </a:lnSpc>
              <a:spcBef>
                <a:spcPts val="0"/>
              </a:spcBef>
              <a:buFont typeface="Wingdings" pitchFamily="2" charset="2"/>
              <a:buNone/>
            </a:pPr>
            <a:r>
              <a:rPr lang="zh-CN" altLang="en-US" sz="2400" b="1" u="sng" dirty="0">
                <a:solidFill>
                  <a:srgbClr val="7030A0"/>
                </a:solidFill>
                <a:latin typeface="宋体" panose="02010600030101010101" pitchFamily="2" charset="-122"/>
                <a:ea typeface="宋体" panose="02010600030101010101" pitchFamily="2" charset="-122"/>
              </a:rPr>
              <a:t>缺点</a:t>
            </a:r>
            <a:r>
              <a:rPr lang="zh-CN" altLang="en-US" sz="2400" b="1" dirty="0">
                <a:latin typeface="宋体" panose="02010600030101010101" pitchFamily="2" charset="-122"/>
                <a:ea typeface="宋体" panose="02010600030101010101" pitchFamily="2" charset="-122"/>
              </a:rPr>
              <a:t>：容易氧化、化学稳定性差、不易提纯、复制性差、线性关系差。</a:t>
            </a:r>
          </a:p>
        </p:txBody>
      </p:sp>
      <p:sp>
        <p:nvSpPr>
          <p:cNvPr id="3" name="Slide Number Placeholder 2">
            <a:extLst>
              <a:ext uri="{FF2B5EF4-FFF2-40B4-BE49-F238E27FC236}">
                <a16:creationId xmlns:a16="http://schemas.microsoft.com/office/drawing/2014/main" id="{68DE2883-42D7-479C-A69F-5E2E61BD1D0B}"/>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
        <p:nvSpPr>
          <p:cNvPr id="22" name="Text Box 9">
            <a:extLst>
              <a:ext uri="{FF2B5EF4-FFF2-40B4-BE49-F238E27FC236}">
                <a16:creationId xmlns:a16="http://schemas.microsoft.com/office/drawing/2014/main" id="{E042409D-EC98-4237-9DD6-F73E1A85594D}"/>
              </a:ext>
            </a:extLst>
          </p:cNvPr>
          <p:cNvSpPr txBox="1">
            <a:spLocks noChangeArrowheads="1"/>
          </p:cNvSpPr>
          <p:nvPr/>
        </p:nvSpPr>
        <p:spPr bwMode="auto">
          <a:xfrm>
            <a:off x="3945452" y="5100347"/>
            <a:ext cx="50720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8-1 </a:t>
            </a:r>
            <a:r>
              <a:rPr lang="zh-CN" altLang="en-US" sz="2400" b="1" dirty="0">
                <a:solidFill>
                  <a:srgbClr val="000099"/>
                </a:solidFill>
              </a:rPr>
              <a:t>几种金属丝的电阻相对变化率与温度变化间关系</a:t>
            </a:r>
          </a:p>
        </p:txBody>
      </p:sp>
      <p:pic>
        <p:nvPicPr>
          <p:cNvPr id="25" name="Picture 2">
            <a:extLst>
              <a:ext uri="{FF2B5EF4-FFF2-40B4-BE49-F238E27FC236}">
                <a16:creationId xmlns:a16="http://schemas.microsoft.com/office/drawing/2014/main" id="{05C5A656-9106-4EA1-9317-E598108EA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0615" y="1757653"/>
            <a:ext cx="3996121" cy="3234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33483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热电阻的材料及工作原理</a:t>
            </a:r>
          </a:p>
        </p:txBody>
      </p:sp>
      <p:pic>
        <p:nvPicPr>
          <p:cNvPr id="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555" y="3586397"/>
            <a:ext cx="4041775" cy="1288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681773" y="2865163"/>
            <a:ext cx="4166672" cy="2829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84CB24B-853C-4106-8206-37444FEF4841}"/>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
        <p:nvSpPr>
          <p:cNvPr id="8" name="Rectangle 3">
            <a:extLst>
              <a:ext uri="{FF2B5EF4-FFF2-40B4-BE49-F238E27FC236}">
                <a16:creationId xmlns:a16="http://schemas.microsoft.com/office/drawing/2014/main" id="{6730DE0D-24E1-457A-BABC-1A4608757CC8}"/>
              </a:ext>
            </a:extLst>
          </p:cNvPr>
          <p:cNvSpPr txBox="1">
            <a:spLocks noRot="1" noChangeArrowheads="1"/>
          </p:cNvSpPr>
          <p:nvPr/>
        </p:nvSpPr>
        <p:spPr>
          <a:xfrm>
            <a:off x="1060524" y="1290414"/>
            <a:ext cx="7022952" cy="11610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ct val="0"/>
              </a:spcBef>
              <a:buNone/>
            </a:pPr>
            <a:r>
              <a:rPr lang="zh-CN" altLang="en-US" sz="2000" b="1">
                <a:latin typeface="宋体" panose="02010600030101010101" pitchFamily="2" charset="-122"/>
                <a:ea typeface="宋体" panose="02010600030101010101" pitchFamily="2" charset="-122"/>
              </a:rPr>
              <a:t>如果热电阻安装的地方与仪表相距甚远，当环境温度变化时其</a:t>
            </a:r>
            <a:r>
              <a:rPr lang="zh-CN" altLang="en-US" sz="2000" b="1">
                <a:solidFill>
                  <a:srgbClr val="C00000"/>
                </a:solidFill>
                <a:latin typeface="宋体" panose="02010600030101010101" pitchFamily="2" charset="-122"/>
                <a:ea typeface="宋体" panose="02010600030101010101" pitchFamily="2" charset="-122"/>
              </a:rPr>
              <a:t>连接导线电阻</a:t>
            </a:r>
            <a:r>
              <a:rPr lang="zh-CN" altLang="en-US" sz="2000" b="1">
                <a:latin typeface="宋体" panose="02010600030101010101" pitchFamily="2" charset="-122"/>
                <a:ea typeface="宋体" panose="02010600030101010101" pitchFamily="2" charset="-122"/>
              </a:rPr>
              <a:t>也要变化，会造成测量误差。</a:t>
            </a:r>
            <a:endParaRPr lang="zh-CN" altLang="en-US" sz="20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09937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8" name="Rectangle 3"/>
          <p:cNvSpPr txBox="1">
            <a:spLocks noRot="1" noChangeArrowheads="1"/>
          </p:cNvSpPr>
          <p:nvPr/>
        </p:nvSpPr>
        <p:spPr>
          <a:xfrm>
            <a:off x="252657" y="1364669"/>
            <a:ext cx="5767648" cy="6919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ct val="0"/>
              </a:spcBef>
              <a:buNone/>
            </a:pPr>
            <a:r>
              <a:rPr lang="zh-CN" altLang="en-US" sz="2000" b="1" dirty="0">
                <a:latin typeface="宋体" panose="02010600030101010101" pitchFamily="2" charset="-122"/>
                <a:ea typeface="宋体" panose="02010600030101010101" pitchFamily="2" charset="-122"/>
              </a:rPr>
              <a:t>热电阻温度计最常用的测量电路是</a:t>
            </a:r>
            <a:r>
              <a:rPr lang="zh-CN" altLang="en-US" sz="2000" b="1" dirty="0">
                <a:solidFill>
                  <a:srgbClr val="FF0000"/>
                </a:solidFill>
                <a:latin typeface="宋体" panose="02010600030101010101" pitchFamily="2" charset="-122"/>
                <a:ea typeface="宋体" panose="02010600030101010101" pitchFamily="2" charset="-122"/>
              </a:rPr>
              <a:t>电桥</a:t>
            </a:r>
            <a:r>
              <a:rPr lang="zh-CN" altLang="en-US" sz="2000" b="1" dirty="0">
                <a:latin typeface="宋体" panose="02010600030101010101" pitchFamily="2" charset="-122"/>
              </a:rPr>
              <a:t>。</a:t>
            </a:r>
            <a:endParaRPr lang="zh-CN" altLang="en-US" sz="2000" b="1" dirty="0">
              <a:solidFill>
                <a:srgbClr val="FF0000"/>
              </a:solidFill>
              <a:latin typeface="宋体" panose="02010600030101010101" pitchFamily="2" charset="-122"/>
              <a:ea typeface="宋体" panose="02010600030101010101" pitchFamily="2" charset="-122"/>
            </a:endParaRPr>
          </a:p>
        </p:txBody>
      </p:sp>
      <p:sp>
        <p:nvSpPr>
          <p:cNvPr id="30" name="Text Box 5"/>
          <p:cNvSpPr txBox="1">
            <a:spLocks noChangeArrowheads="1"/>
          </p:cNvSpPr>
          <p:nvPr/>
        </p:nvSpPr>
        <p:spPr bwMode="auto">
          <a:xfrm>
            <a:off x="252658" y="2007378"/>
            <a:ext cx="8667506"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lnSpc>
                <a:spcPct val="150000"/>
              </a:lnSpc>
              <a:spcBef>
                <a:spcPct val="50000"/>
              </a:spcBef>
            </a:pPr>
            <a:r>
              <a:rPr lang="zh-CN" altLang="en-US" sz="2000" b="1" dirty="0">
                <a:latin typeface="宋体" panose="02010600030101010101" pitchFamily="2" charset="-122"/>
              </a:rPr>
              <a:t>测温电桥采用三线制或者四线制：主要是为了补偿传感器</a:t>
            </a:r>
            <a:r>
              <a:rPr lang="zh-CN" altLang="en-US" sz="2000" b="1" dirty="0">
                <a:solidFill>
                  <a:srgbClr val="C00000"/>
                </a:solidFill>
                <a:latin typeface="宋体" panose="02010600030101010101" pitchFamily="2" charset="-122"/>
              </a:rPr>
              <a:t>引线电阻</a:t>
            </a:r>
            <a:r>
              <a:rPr lang="zh-CN" altLang="en-US" sz="2000" b="1" dirty="0">
                <a:latin typeface="宋体" panose="02010600030101010101" pitchFamily="2" charset="-122"/>
              </a:rPr>
              <a:t>的影响。</a:t>
            </a:r>
          </a:p>
        </p:txBody>
      </p:sp>
      <p:sp>
        <p:nvSpPr>
          <p:cNvPr id="2" name="Slide Number Placeholder 1">
            <a:extLst>
              <a:ext uri="{FF2B5EF4-FFF2-40B4-BE49-F238E27FC236}">
                <a16:creationId xmlns:a16="http://schemas.microsoft.com/office/drawing/2014/main" id="{28DB1BE0-A0F1-442B-B54E-F72769D8D57E}"/>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
        <p:nvSpPr>
          <p:cNvPr id="21" name="Text Box 9">
            <a:extLst>
              <a:ext uri="{FF2B5EF4-FFF2-40B4-BE49-F238E27FC236}">
                <a16:creationId xmlns:a16="http://schemas.microsoft.com/office/drawing/2014/main" id="{2EF74B5F-CDAF-49F9-B96E-5EAB1A9F849E}"/>
              </a:ext>
            </a:extLst>
          </p:cNvPr>
          <p:cNvSpPr txBox="1">
            <a:spLocks noChangeArrowheads="1"/>
          </p:cNvSpPr>
          <p:nvPr/>
        </p:nvSpPr>
        <p:spPr bwMode="auto">
          <a:xfrm>
            <a:off x="1767678" y="4666033"/>
            <a:ext cx="54720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  </a:t>
            </a:r>
            <a:r>
              <a:rPr lang="zh-CN" altLang="en-US" sz="2400" b="1" dirty="0">
                <a:solidFill>
                  <a:srgbClr val="000099"/>
                </a:solidFill>
              </a:rPr>
              <a:t>热电阻测温电桥的三线连接法</a:t>
            </a:r>
          </a:p>
        </p:txBody>
      </p:sp>
      <p:pic>
        <p:nvPicPr>
          <p:cNvPr id="22" name="Picture 100">
            <a:extLst>
              <a:ext uri="{FF2B5EF4-FFF2-40B4-BE49-F238E27FC236}">
                <a16:creationId xmlns:a16="http://schemas.microsoft.com/office/drawing/2014/main" id="{EC52A0A7-ED23-4C47-9AA6-AA4627EE01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5259" y="2611708"/>
            <a:ext cx="3295650" cy="20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01">
            <a:extLst>
              <a:ext uri="{FF2B5EF4-FFF2-40B4-BE49-F238E27FC236}">
                <a16:creationId xmlns:a16="http://schemas.microsoft.com/office/drawing/2014/main" id="{203BF822-6D62-41AC-AF84-99F9C8AB33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13" y="2611708"/>
            <a:ext cx="3533775" cy="20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1">
            <a:extLst>
              <a:ext uri="{FF2B5EF4-FFF2-40B4-BE49-F238E27FC236}">
                <a16:creationId xmlns:a16="http://schemas.microsoft.com/office/drawing/2014/main" id="{27F01E06-B61F-4629-8E95-70E7DCE4C256}"/>
              </a:ext>
            </a:extLst>
          </p:cNvPr>
          <p:cNvSpPr/>
          <p:nvPr/>
        </p:nvSpPr>
        <p:spPr>
          <a:xfrm>
            <a:off x="319068" y="5015442"/>
            <a:ext cx="8467824" cy="670953"/>
          </a:xfrm>
          <a:prstGeom prst="rect">
            <a:avLst/>
          </a:prstGeom>
        </p:spPr>
        <p:txBody>
          <a:bodyPr wrap="square">
            <a:spAutoFit/>
          </a:bodyPr>
          <a:lstStyle/>
          <a:p>
            <a:pPr>
              <a:lnSpc>
                <a:spcPct val="180000"/>
              </a:lnSpc>
            </a:pPr>
            <a:r>
              <a:rPr lang="en-US" altLang="zh-CN" sz="2400" b="1" dirty="0">
                <a:latin typeface="Times New Roman" pitchFamily="18" charset="0"/>
              </a:rPr>
              <a:t>G</a:t>
            </a:r>
            <a:r>
              <a:rPr lang="zh-CN" altLang="en-US" sz="2400" b="1" dirty="0">
                <a:latin typeface="Times New Roman" pitchFamily="18" charset="0"/>
              </a:rPr>
              <a:t>为指示仪表，</a:t>
            </a:r>
            <a:r>
              <a:rPr lang="en-US" altLang="zh-CN" sz="2400" b="1" i="1" dirty="0">
                <a:latin typeface="Times New Roman" pitchFamily="18" charset="0"/>
              </a:rPr>
              <a:t>R</a:t>
            </a:r>
            <a:r>
              <a:rPr lang="en-US" altLang="zh-CN" sz="2400" b="1" baseline="-25000" dirty="0">
                <a:latin typeface="Times New Roman" pitchFamily="18" charset="0"/>
              </a:rPr>
              <a:t>1</a:t>
            </a:r>
            <a:r>
              <a:rPr lang="zh-CN" altLang="en-US" sz="2400" b="1" dirty="0">
                <a:latin typeface="Times New Roman" pitchFamily="18" charset="0"/>
              </a:rPr>
              <a:t>、</a:t>
            </a:r>
            <a:r>
              <a:rPr lang="en-US" altLang="zh-CN" sz="2400" b="1" i="1" dirty="0">
                <a:latin typeface="Times New Roman" pitchFamily="18" charset="0"/>
              </a:rPr>
              <a:t>R</a:t>
            </a:r>
            <a:r>
              <a:rPr lang="en-US" altLang="zh-CN" sz="2400" b="1" baseline="-25000" dirty="0">
                <a:latin typeface="Times New Roman" pitchFamily="18" charset="0"/>
              </a:rPr>
              <a:t>2</a:t>
            </a:r>
            <a:r>
              <a:rPr lang="zh-CN" altLang="en-US" sz="2400" b="1" dirty="0">
                <a:latin typeface="Times New Roman" pitchFamily="18" charset="0"/>
              </a:rPr>
              <a:t>、</a:t>
            </a:r>
            <a:r>
              <a:rPr lang="en-US" altLang="zh-CN" sz="2400" b="1" i="1" dirty="0">
                <a:latin typeface="Times New Roman" pitchFamily="18" charset="0"/>
              </a:rPr>
              <a:t>R</a:t>
            </a:r>
            <a:r>
              <a:rPr lang="en-US" altLang="zh-CN" sz="2400" b="1" baseline="-25000" dirty="0">
                <a:latin typeface="Times New Roman" pitchFamily="18" charset="0"/>
              </a:rPr>
              <a:t>3</a:t>
            </a:r>
            <a:r>
              <a:rPr lang="zh-CN" altLang="en-US" sz="2400" b="1" dirty="0">
                <a:latin typeface="Times New Roman" pitchFamily="18" charset="0"/>
              </a:rPr>
              <a:t>为固定电阻，     </a:t>
            </a:r>
            <a:r>
              <a:rPr lang="en-US" altLang="zh-CN" sz="2400" b="1" i="1" dirty="0">
                <a:latin typeface="Times New Roman" pitchFamily="18" charset="0"/>
              </a:rPr>
              <a:t>R</a:t>
            </a:r>
            <a:r>
              <a:rPr lang="en-US" altLang="zh-CN" sz="2400" b="1" i="1" baseline="-25000" dirty="0">
                <a:latin typeface="Times New Roman" pitchFamily="18" charset="0"/>
              </a:rPr>
              <a:t>a</a:t>
            </a:r>
            <a:r>
              <a:rPr lang="zh-CN" altLang="en-US" sz="2400" b="1" dirty="0"/>
              <a:t>为零位调节电阻</a:t>
            </a:r>
            <a:endParaRPr lang="zh-CN" altLang="en-US" sz="2400" dirty="0"/>
          </a:p>
        </p:txBody>
      </p:sp>
      <p:pic>
        <p:nvPicPr>
          <p:cNvPr id="4" name="Picture 3">
            <a:extLst>
              <a:ext uri="{FF2B5EF4-FFF2-40B4-BE49-F238E27FC236}">
                <a16:creationId xmlns:a16="http://schemas.microsoft.com/office/drawing/2014/main" id="{9E42F667-B43B-428A-A8D0-078413405AC3}"/>
              </a:ext>
            </a:extLst>
          </p:cNvPr>
          <p:cNvPicPr>
            <a:picLocks noChangeAspect="1"/>
          </p:cNvPicPr>
          <p:nvPr/>
        </p:nvPicPr>
        <p:blipFill>
          <a:blip r:embed="rId5"/>
          <a:stretch>
            <a:fillRect/>
          </a:stretch>
        </p:blipFill>
        <p:spPr>
          <a:xfrm rot="21333915">
            <a:off x="2098933" y="3716615"/>
            <a:ext cx="529221" cy="54716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28DB1BE0-A0F1-442B-B54E-F72769D8D57E}"/>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
        <p:nvSpPr>
          <p:cNvPr id="12" name="Text Box 9">
            <a:extLst>
              <a:ext uri="{FF2B5EF4-FFF2-40B4-BE49-F238E27FC236}">
                <a16:creationId xmlns:a16="http://schemas.microsoft.com/office/drawing/2014/main" id="{7D38A115-5650-4361-A535-7C77FF3A243D}"/>
              </a:ext>
            </a:extLst>
          </p:cNvPr>
          <p:cNvSpPr txBox="1">
            <a:spLocks noChangeArrowheads="1"/>
          </p:cNvSpPr>
          <p:nvPr/>
        </p:nvSpPr>
        <p:spPr bwMode="auto">
          <a:xfrm>
            <a:off x="1998300" y="5483325"/>
            <a:ext cx="54720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  </a:t>
            </a:r>
            <a:r>
              <a:rPr lang="zh-CN" altLang="en-US" sz="2400" b="1" dirty="0">
                <a:solidFill>
                  <a:srgbClr val="000099"/>
                </a:solidFill>
              </a:rPr>
              <a:t>热电阻测温电桥的三线连接法</a:t>
            </a:r>
          </a:p>
        </p:txBody>
      </p:sp>
      <p:pic>
        <p:nvPicPr>
          <p:cNvPr id="13" name="Picture 100">
            <a:extLst>
              <a:ext uri="{FF2B5EF4-FFF2-40B4-BE49-F238E27FC236}">
                <a16:creationId xmlns:a16="http://schemas.microsoft.com/office/drawing/2014/main" id="{41A83B39-C972-4D45-B5AE-71D380944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881" y="3429000"/>
            <a:ext cx="3295650" cy="20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01">
            <a:extLst>
              <a:ext uri="{FF2B5EF4-FFF2-40B4-BE49-F238E27FC236}">
                <a16:creationId xmlns:a16="http://schemas.microsoft.com/office/drawing/2014/main" id="{0EB86AD4-0EFE-4BC3-8FC6-704B7B7508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035" y="3429000"/>
            <a:ext cx="3533775" cy="20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
            <a:extLst>
              <a:ext uri="{FF2B5EF4-FFF2-40B4-BE49-F238E27FC236}">
                <a16:creationId xmlns:a16="http://schemas.microsoft.com/office/drawing/2014/main" id="{95B5CF6A-98B9-4E1D-B275-A241B0A45409}"/>
              </a:ext>
            </a:extLst>
          </p:cNvPr>
          <p:cNvSpPr/>
          <p:nvPr/>
        </p:nvSpPr>
        <p:spPr>
          <a:xfrm>
            <a:off x="549690" y="5832734"/>
            <a:ext cx="8467824" cy="670953"/>
          </a:xfrm>
          <a:prstGeom prst="rect">
            <a:avLst/>
          </a:prstGeom>
        </p:spPr>
        <p:txBody>
          <a:bodyPr wrap="square">
            <a:spAutoFit/>
          </a:bodyPr>
          <a:lstStyle/>
          <a:p>
            <a:pPr>
              <a:lnSpc>
                <a:spcPct val="180000"/>
              </a:lnSpc>
            </a:pPr>
            <a:r>
              <a:rPr lang="en-US" altLang="zh-CN" sz="2400" b="1" dirty="0">
                <a:latin typeface="Times New Roman" pitchFamily="18" charset="0"/>
              </a:rPr>
              <a:t>G</a:t>
            </a:r>
            <a:r>
              <a:rPr lang="zh-CN" altLang="en-US" sz="2400" b="1" dirty="0">
                <a:latin typeface="Times New Roman" pitchFamily="18" charset="0"/>
              </a:rPr>
              <a:t>为指示仪表，</a:t>
            </a:r>
            <a:r>
              <a:rPr lang="en-US" altLang="zh-CN" sz="2400" b="1" i="1" dirty="0">
                <a:latin typeface="Times New Roman" pitchFamily="18" charset="0"/>
              </a:rPr>
              <a:t>R</a:t>
            </a:r>
            <a:r>
              <a:rPr lang="en-US" altLang="zh-CN" sz="2400" b="1" baseline="-25000" dirty="0">
                <a:latin typeface="Times New Roman" pitchFamily="18" charset="0"/>
              </a:rPr>
              <a:t>1</a:t>
            </a:r>
            <a:r>
              <a:rPr lang="zh-CN" altLang="en-US" sz="2400" b="1" dirty="0">
                <a:latin typeface="Times New Roman" pitchFamily="18" charset="0"/>
              </a:rPr>
              <a:t>、</a:t>
            </a:r>
            <a:r>
              <a:rPr lang="en-US" altLang="zh-CN" sz="2400" b="1" i="1" dirty="0">
                <a:latin typeface="Times New Roman" pitchFamily="18" charset="0"/>
              </a:rPr>
              <a:t>R</a:t>
            </a:r>
            <a:r>
              <a:rPr lang="en-US" altLang="zh-CN" sz="2400" b="1" baseline="-25000" dirty="0">
                <a:latin typeface="Times New Roman" pitchFamily="18" charset="0"/>
              </a:rPr>
              <a:t>2</a:t>
            </a:r>
            <a:r>
              <a:rPr lang="zh-CN" altLang="en-US" sz="2400" b="1" dirty="0">
                <a:latin typeface="Times New Roman" pitchFamily="18" charset="0"/>
              </a:rPr>
              <a:t>、</a:t>
            </a:r>
            <a:r>
              <a:rPr lang="en-US" altLang="zh-CN" sz="2400" b="1" i="1" dirty="0">
                <a:latin typeface="Times New Roman" pitchFamily="18" charset="0"/>
              </a:rPr>
              <a:t>R</a:t>
            </a:r>
            <a:r>
              <a:rPr lang="en-US" altLang="zh-CN" sz="2400" b="1" baseline="-25000" dirty="0">
                <a:latin typeface="Times New Roman" pitchFamily="18" charset="0"/>
              </a:rPr>
              <a:t>3</a:t>
            </a:r>
            <a:r>
              <a:rPr lang="zh-CN" altLang="en-US" sz="2400" b="1" dirty="0">
                <a:latin typeface="Times New Roman" pitchFamily="18" charset="0"/>
              </a:rPr>
              <a:t>为固定电阻，     </a:t>
            </a:r>
            <a:r>
              <a:rPr lang="en-US" altLang="zh-CN" sz="2400" b="1" i="1" dirty="0">
                <a:latin typeface="Times New Roman" pitchFamily="18" charset="0"/>
              </a:rPr>
              <a:t>R</a:t>
            </a:r>
            <a:r>
              <a:rPr lang="en-US" altLang="zh-CN" sz="2400" b="1" i="1" baseline="-25000" dirty="0">
                <a:latin typeface="Times New Roman" pitchFamily="18" charset="0"/>
              </a:rPr>
              <a:t>a</a:t>
            </a:r>
            <a:r>
              <a:rPr lang="zh-CN" altLang="en-US" sz="2400" b="1" dirty="0"/>
              <a:t>为零位调节电阻</a:t>
            </a:r>
            <a:endParaRPr lang="zh-CN" altLang="en-US" sz="2400" dirty="0"/>
          </a:p>
        </p:txBody>
      </p:sp>
      <p:sp>
        <p:nvSpPr>
          <p:cNvPr id="17" name="TextBox 16">
            <a:extLst>
              <a:ext uri="{FF2B5EF4-FFF2-40B4-BE49-F238E27FC236}">
                <a16:creationId xmlns:a16="http://schemas.microsoft.com/office/drawing/2014/main" id="{0B9B8A2A-183B-4EE2-9CF6-3FFC3D41A4E7}"/>
              </a:ext>
            </a:extLst>
          </p:cNvPr>
          <p:cNvSpPr txBox="1"/>
          <p:nvPr/>
        </p:nvSpPr>
        <p:spPr>
          <a:xfrm>
            <a:off x="194319" y="1191718"/>
            <a:ext cx="8823195" cy="2246769"/>
          </a:xfrm>
          <a:prstGeom prst="rect">
            <a:avLst/>
          </a:prstGeom>
          <a:noFill/>
        </p:spPr>
        <p:txBody>
          <a:bodyPr wrap="square">
            <a:spAutoFit/>
          </a:bodyPr>
          <a:lstStyle/>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rPr>
              <a:t>热电阻通过</a:t>
            </a:r>
            <a:r>
              <a:rPr lang="en-US" altLang="zh-CN" sz="2000">
                <a:latin typeface="宋体" panose="02010600030101010101" pitchFamily="2" charset="-122"/>
                <a:ea typeface="宋体" panose="02010600030101010101" pitchFamily="2" charset="-122"/>
              </a:rPr>
              <a:t>r2</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r3</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Rg </a:t>
            </a:r>
            <a:r>
              <a:rPr lang="zh-CN" altLang="en-US" sz="2000">
                <a:latin typeface="宋体" panose="02010600030101010101" pitchFamily="2" charset="-122"/>
                <a:ea typeface="宋体" panose="02010600030101010101" pitchFamily="2" charset="-122"/>
              </a:rPr>
              <a:t>三根导线和电桥连接，</a:t>
            </a:r>
            <a:r>
              <a:rPr lang="en-US" altLang="zh-CN" sz="2000">
                <a:latin typeface="宋体" panose="02010600030101010101" pitchFamily="2" charset="-122"/>
                <a:ea typeface="宋体" panose="02010600030101010101" pitchFamily="2" charset="-122"/>
              </a:rPr>
              <a:t>r2</a:t>
            </a:r>
            <a:r>
              <a:rPr lang="zh-CN" altLang="en-US" sz="2000">
                <a:latin typeface="宋体" panose="02010600030101010101" pitchFamily="2" charset="-122"/>
                <a:ea typeface="宋体" panose="02010600030101010101" pitchFamily="2" charset="-122"/>
              </a:rPr>
              <a:t>和</a:t>
            </a:r>
            <a:r>
              <a:rPr lang="en-US" altLang="zh-CN" sz="2000">
                <a:latin typeface="宋体" panose="02010600030101010101" pitchFamily="2" charset="-122"/>
                <a:ea typeface="宋体" panose="02010600030101010101" pitchFamily="2" charset="-122"/>
              </a:rPr>
              <a:t>r3</a:t>
            </a:r>
            <a:r>
              <a:rPr lang="zh-CN" altLang="en-US" sz="2000">
                <a:latin typeface="宋体" panose="02010600030101010101" pitchFamily="2" charset="-122"/>
                <a:ea typeface="宋体" panose="02010600030101010101" pitchFamily="2" charset="-122"/>
              </a:rPr>
              <a:t>分别接在相邻的两臂</a:t>
            </a:r>
            <a:endParaRPr lang="en-US" altLang="zh-CN" sz="200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rPr>
              <a:t>当温度变化时，只要它们的长度和电阻温度系数相同，它们的电阻变化就不会影响电桥的状态，即不会产生温度误差。</a:t>
            </a:r>
            <a:endParaRPr lang="en-US" altLang="zh-CN" sz="200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000">
                <a:latin typeface="宋体" panose="02010600030101010101" pitchFamily="2" charset="-122"/>
                <a:ea typeface="宋体" panose="02010600030101010101" pitchFamily="2" charset="-122"/>
              </a:rPr>
              <a:t>Rg </a:t>
            </a:r>
            <a:r>
              <a:rPr lang="zh-CN" altLang="en-US" sz="2000">
                <a:latin typeface="宋体" panose="02010600030101010101" pitchFamily="2" charset="-122"/>
                <a:ea typeface="宋体" panose="02010600030101010101" pitchFamily="2" charset="-122"/>
              </a:rPr>
              <a:t>接在指示仪表和电源的回路中，其电阻变化不会影响电桥的平衡状态。</a:t>
            </a: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rPr>
              <a:t>电桥零位调整时，使</a:t>
            </a:r>
            <a:r>
              <a:rPr lang="en-US" altLang="zh-CN" sz="2000">
                <a:latin typeface="宋体" panose="02010600030101010101" pitchFamily="2" charset="-122"/>
                <a:ea typeface="宋体" panose="02010600030101010101" pitchFamily="2" charset="-122"/>
              </a:rPr>
              <a:t>R4=Ra+Rt0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Rt0</a:t>
            </a:r>
            <a:r>
              <a:rPr lang="zh-CN" altLang="en-US" sz="2000">
                <a:latin typeface="宋体" panose="02010600030101010101" pitchFamily="2" charset="-122"/>
                <a:ea typeface="宋体" panose="02010600030101010101" pitchFamily="2" charset="-122"/>
              </a:rPr>
              <a:t>为电阻在参考温度时的电阻值）</a:t>
            </a:r>
            <a:endParaRPr lang="en-US" altLang="zh-CN" sz="200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000">
                <a:latin typeface="宋体" panose="02010600030101010101" pitchFamily="2" charset="-122"/>
                <a:ea typeface="宋体" panose="02010600030101010101" pitchFamily="2" charset="-122"/>
              </a:rPr>
              <a:t>三线连接法的缺点之一是可调电阻的</a:t>
            </a:r>
            <a:r>
              <a:rPr lang="zh-CN" altLang="en-US" sz="2000">
                <a:solidFill>
                  <a:srgbClr val="C00000"/>
                </a:solidFill>
                <a:latin typeface="宋体" panose="02010600030101010101" pitchFamily="2" charset="-122"/>
                <a:ea typeface="宋体" panose="02010600030101010101" pitchFamily="2" charset="-122"/>
              </a:rPr>
              <a:t>接触电阻</a:t>
            </a:r>
            <a:r>
              <a:rPr lang="zh-CN" altLang="en-US" sz="2000">
                <a:latin typeface="宋体" panose="02010600030101010101" pitchFamily="2" charset="-122"/>
                <a:ea typeface="宋体" panose="02010600030101010101" pitchFamily="2" charset="-122"/>
              </a:rPr>
              <a:t>和电桥臂的电阻相连，可能导致电桥的</a:t>
            </a:r>
            <a:r>
              <a:rPr lang="zh-CN" altLang="en-US" sz="2000">
                <a:solidFill>
                  <a:srgbClr val="C00000"/>
                </a:solidFill>
                <a:latin typeface="宋体" panose="02010600030101010101" pitchFamily="2" charset="-122"/>
                <a:ea typeface="宋体" panose="02010600030101010101" pitchFamily="2" charset="-122"/>
              </a:rPr>
              <a:t>零点不稳</a:t>
            </a:r>
            <a:r>
              <a:rPr lang="zh-CN" altLang="en-US" sz="2000">
                <a:latin typeface="宋体" panose="02010600030101010101" pitchFamily="2" charset="-122"/>
                <a:ea typeface="宋体" panose="02010600030101010101" pitchFamily="2" charset="-122"/>
              </a:rPr>
              <a:t>。</a:t>
            </a:r>
            <a:endParaRPr lang="en-001" sz="2000">
              <a:latin typeface="宋体" panose="02010600030101010101" pitchFamily="2" charset="-122"/>
              <a:ea typeface="宋体" panose="02010600030101010101" pitchFamily="2" charset="-122"/>
            </a:endParaRPr>
          </a:p>
        </p:txBody>
      </p:sp>
      <p:pic>
        <p:nvPicPr>
          <p:cNvPr id="19" name="Picture 18">
            <a:extLst>
              <a:ext uri="{FF2B5EF4-FFF2-40B4-BE49-F238E27FC236}">
                <a16:creationId xmlns:a16="http://schemas.microsoft.com/office/drawing/2014/main" id="{D75B3C9D-1D24-41A0-90A8-B2CB6C5F14B3}"/>
              </a:ext>
            </a:extLst>
          </p:cNvPr>
          <p:cNvPicPr>
            <a:picLocks noChangeAspect="1"/>
          </p:cNvPicPr>
          <p:nvPr/>
        </p:nvPicPr>
        <p:blipFill>
          <a:blip r:embed="rId5"/>
          <a:stretch>
            <a:fillRect/>
          </a:stretch>
        </p:blipFill>
        <p:spPr>
          <a:xfrm rot="21333915">
            <a:off x="2329555" y="4533907"/>
            <a:ext cx="529221" cy="547161"/>
          </a:xfrm>
          <a:prstGeom prst="rect">
            <a:avLst/>
          </a:prstGeom>
        </p:spPr>
      </p:pic>
    </p:spTree>
    <p:extLst>
      <p:ext uri="{BB962C8B-B14F-4D97-AF65-F5344CB8AC3E}">
        <p14:creationId xmlns:p14="http://schemas.microsoft.com/office/powerpoint/2010/main" val="21005609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92">
            <a:extLst>
              <a:ext uri="{FF2B5EF4-FFF2-40B4-BE49-F238E27FC236}">
                <a16:creationId xmlns:a16="http://schemas.microsoft.com/office/drawing/2014/main" id="{4B4AB5A3-8882-4526-826A-A7F1674E4C56}"/>
              </a:ext>
            </a:extLst>
          </p:cNvPr>
          <p:cNvGraphicFramePr>
            <a:graphicFrameLocks noChangeAspect="1"/>
          </p:cNvGraphicFramePr>
          <p:nvPr>
            <p:extLst>
              <p:ext uri="{D42A27DB-BD31-4B8C-83A1-F6EECF244321}">
                <p14:modId xmlns:p14="http://schemas.microsoft.com/office/powerpoint/2010/main" val="2545318300"/>
              </p:ext>
            </p:extLst>
          </p:nvPr>
        </p:nvGraphicFramePr>
        <p:xfrm>
          <a:off x="185083" y="3429000"/>
          <a:ext cx="6310600" cy="2969035"/>
        </p:xfrm>
        <a:graphic>
          <a:graphicData uri="http://schemas.openxmlformats.org/presentationml/2006/ole">
            <mc:AlternateContent xmlns:mc="http://schemas.openxmlformats.org/markup-compatibility/2006">
              <mc:Choice xmlns:v="urn:schemas-microsoft-com:vml" Requires="v">
                <p:oleObj name="Flash 影片" r:id="rId3" imgW="8991720" imgH="4610160" progId="Flash.Movie">
                  <p:embed/>
                </p:oleObj>
              </mc:Choice>
              <mc:Fallback>
                <p:oleObj name="Flash 影片" r:id="rId3" imgW="8991720" imgH="4610160" progId="Flash.Movie">
                  <p:embed/>
                  <p:pic>
                    <p:nvPicPr>
                      <p:cNvPr id="214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3" y="3429000"/>
                        <a:ext cx="6310600" cy="2969035"/>
                      </a:xfrm>
                      <a:prstGeom prst="rect">
                        <a:avLst/>
                      </a:prstGeom>
                      <a:noFill/>
                      <a:ln>
                        <a:noFill/>
                      </a:ln>
                      <a:effec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28DB1BE0-A0F1-442B-B54E-F72769D8D57E}"/>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
        <p:nvSpPr>
          <p:cNvPr id="12" name="Text Box 9">
            <a:extLst>
              <a:ext uri="{FF2B5EF4-FFF2-40B4-BE49-F238E27FC236}">
                <a16:creationId xmlns:a16="http://schemas.microsoft.com/office/drawing/2014/main" id="{40AA432B-B54D-4868-B526-72CB483E511C}"/>
              </a:ext>
            </a:extLst>
          </p:cNvPr>
          <p:cNvSpPr txBox="1">
            <a:spLocks noChangeArrowheads="1"/>
          </p:cNvSpPr>
          <p:nvPr/>
        </p:nvSpPr>
        <p:spPr bwMode="auto">
          <a:xfrm>
            <a:off x="1095678" y="6259811"/>
            <a:ext cx="54000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8-3  </a:t>
            </a:r>
            <a:r>
              <a:rPr lang="zh-CN" altLang="en-US" sz="2400" b="1" dirty="0">
                <a:solidFill>
                  <a:srgbClr val="000099"/>
                </a:solidFill>
              </a:rPr>
              <a:t>热电阻测温电桥的四线连接法</a:t>
            </a:r>
          </a:p>
        </p:txBody>
      </p:sp>
      <p:pic>
        <p:nvPicPr>
          <p:cNvPr id="14" name="Picture 100">
            <a:extLst>
              <a:ext uri="{FF2B5EF4-FFF2-40B4-BE49-F238E27FC236}">
                <a16:creationId xmlns:a16="http://schemas.microsoft.com/office/drawing/2014/main" id="{E985D58E-82DA-4D50-930B-803A5665F4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3267" y="2540001"/>
            <a:ext cx="3295650" cy="206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3">
            <a:extLst>
              <a:ext uri="{FF2B5EF4-FFF2-40B4-BE49-F238E27FC236}">
                <a16:creationId xmlns:a16="http://schemas.microsoft.com/office/drawing/2014/main" id="{8DADB0F4-DC3D-4B12-806C-07A24F6CE514}"/>
              </a:ext>
            </a:extLst>
          </p:cNvPr>
          <p:cNvSpPr txBox="1">
            <a:spLocks noRot="1" noChangeArrowheads="1"/>
          </p:cNvSpPr>
          <p:nvPr/>
        </p:nvSpPr>
        <p:spPr>
          <a:xfrm>
            <a:off x="267171" y="1116366"/>
            <a:ext cx="8441400" cy="17360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ct val="0"/>
              </a:spcBef>
              <a:buNone/>
            </a:pPr>
            <a:r>
              <a:rPr lang="zh-CN" altLang="en-US" sz="2000" b="1">
                <a:solidFill>
                  <a:srgbClr val="C00000"/>
                </a:solidFill>
                <a:latin typeface="宋体" panose="02010600030101010101" pitchFamily="2" charset="-122"/>
                <a:ea typeface="宋体" panose="02010600030101010101" pitchFamily="2" charset="-122"/>
              </a:rPr>
              <a:t>四线连接法</a:t>
            </a:r>
            <a:r>
              <a:rPr lang="zh-CN" altLang="en-US" sz="2000" b="1">
                <a:latin typeface="宋体" panose="02010600030101010101" pitchFamily="2" charset="-122"/>
                <a:ea typeface="宋体" panose="02010600030101010101" pitchFamily="2" charset="-122"/>
              </a:rPr>
              <a:t>：</a:t>
            </a:r>
          </a:p>
          <a:p>
            <a:pPr marL="0" indent="0">
              <a:lnSpc>
                <a:spcPct val="180000"/>
              </a:lnSpc>
              <a:spcBef>
                <a:spcPct val="0"/>
              </a:spcBef>
              <a:buNone/>
            </a:pPr>
            <a:r>
              <a:rPr lang="zh-CN" altLang="en-US" sz="2000" b="1">
                <a:latin typeface="宋体" panose="02010600030101010101" pitchFamily="2" charset="-122"/>
                <a:ea typeface="宋体" panose="02010600030101010101" pitchFamily="2" charset="-122"/>
              </a:rPr>
              <a:t>调零的</a:t>
            </a:r>
            <a:r>
              <a:rPr lang="en-US" altLang="zh-CN" sz="2000" b="1">
                <a:latin typeface="宋体" panose="02010600030101010101" pitchFamily="2" charset="-122"/>
                <a:ea typeface="宋体" panose="02010600030101010101" pitchFamily="2" charset="-122"/>
              </a:rPr>
              <a:t>Rp</a:t>
            </a:r>
            <a:r>
              <a:rPr lang="zh-CN" altLang="en-US" sz="2000" b="1">
                <a:latin typeface="宋体" panose="02010600030101010101" pitchFamily="2" charset="-122"/>
                <a:ea typeface="宋体" panose="02010600030101010101" pitchFamily="2" charset="-122"/>
              </a:rPr>
              <a:t>电位器的接触电阻和指示仪表串联，接触电阻的不稳定不会破坏电桥的平衡和正常工作状态。</a:t>
            </a:r>
            <a:endParaRPr lang="zh-CN" altLang="en-US" sz="2000" b="1"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6455053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28DB1BE0-A0F1-442B-B54E-F72769D8D57E}"/>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
        <p:nvSpPr>
          <p:cNvPr id="15" name="Rectangle 3">
            <a:extLst>
              <a:ext uri="{FF2B5EF4-FFF2-40B4-BE49-F238E27FC236}">
                <a16:creationId xmlns:a16="http://schemas.microsoft.com/office/drawing/2014/main" id="{8DADB0F4-DC3D-4B12-806C-07A24F6CE514}"/>
              </a:ext>
            </a:extLst>
          </p:cNvPr>
          <p:cNvSpPr txBox="1">
            <a:spLocks noRot="1" noChangeArrowheads="1"/>
          </p:cNvSpPr>
          <p:nvPr/>
        </p:nvSpPr>
        <p:spPr>
          <a:xfrm>
            <a:off x="1450085" y="1929489"/>
            <a:ext cx="6540029" cy="17360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ct val="0"/>
              </a:spcBef>
              <a:buNone/>
            </a:pPr>
            <a:r>
              <a:rPr lang="zh-CN" altLang="en-US" sz="2000" b="1">
                <a:latin typeface="宋体" panose="02010600030101010101" pitchFamily="2" charset="-122"/>
                <a:ea typeface="宋体" panose="02010600030101010101" pitchFamily="2" charset="-122"/>
              </a:rPr>
              <a:t>在设计电桥时，为了避免热电阻中流过电流的</a:t>
            </a:r>
            <a:r>
              <a:rPr lang="zh-CN" altLang="en-US" sz="2000" b="1">
                <a:solidFill>
                  <a:srgbClr val="C00000"/>
                </a:solidFill>
                <a:latin typeface="宋体" panose="02010600030101010101" pitchFamily="2" charset="-122"/>
                <a:ea typeface="宋体" panose="02010600030101010101" pitchFamily="2" charset="-122"/>
              </a:rPr>
              <a:t>加热效应</a:t>
            </a:r>
            <a:r>
              <a:rPr lang="zh-CN" altLang="en-US" sz="2000" b="1">
                <a:latin typeface="宋体" panose="02010600030101010101" pitchFamily="2" charset="-122"/>
                <a:ea typeface="宋体" panose="02010600030101010101" pitchFamily="2" charset="-122"/>
              </a:rPr>
              <a:t>，要保证流过热电阻的电流尽量小，一般希望小于 </a:t>
            </a:r>
            <a:r>
              <a:rPr lang="en-US" altLang="zh-CN" sz="2000" b="1">
                <a:latin typeface="宋体" panose="02010600030101010101" pitchFamily="2" charset="-122"/>
                <a:ea typeface="宋体" panose="02010600030101010101" pitchFamily="2" charset="-122"/>
              </a:rPr>
              <a:t>10 mA </a:t>
            </a:r>
            <a:r>
              <a:rPr lang="zh-CN" altLang="en-US" sz="2000" b="1">
                <a:latin typeface="宋体" panose="02010600030101010101" pitchFamily="2" charset="-122"/>
                <a:ea typeface="宋体" panose="02010600030101010101" pitchFamily="2" charset="-122"/>
              </a:rPr>
              <a:t>。尤其当测量环境中有不稳定气流时，工作电流的热效应有可能产生很大的误差。</a:t>
            </a:r>
            <a:endParaRPr lang="zh-CN" altLang="en-US" sz="20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724679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8.2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497518"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a:t>
            </a:r>
          </a:p>
        </p:txBody>
      </p:sp>
      <p:sp>
        <p:nvSpPr>
          <p:cNvPr id="5" name="矩形 4"/>
          <p:cNvSpPr/>
          <p:nvPr/>
        </p:nvSpPr>
        <p:spPr>
          <a:xfrm>
            <a:off x="2939918" y="2001496"/>
            <a:ext cx="4403938" cy="4419156"/>
          </a:xfrm>
          <a:prstGeom prst="rect">
            <a:avLst/>
          </a:prstGeom>
        </p:spPr>
        <p:txBody>
          <a:bodyPr wrap="square" lIns="91438" tIns="45719" rIns="91438" bIns="45719">
            <a:spAutoFit/>
          </a:bodyPr>
          <a:lstStyle/>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热电效应</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热电偶基本规律</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热电偶材料及常用热电偶</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6" action="ppaction://hlinksldjump"/>
              </a:rPr>
              <a:t>热电偶测温电路</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7" action="ppaction://hlinksldjump"/>
              </a:rPr>
              <a:t>热电偶参考端温度</a:t>
            </a:r>
            <a:endParaRPr lang="en-US" altLang="zh-CN"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8" action="ppaction://hlinksldjump"/>
              </a:rPr>
              <a:t>热电偶的应用</a:t>
            </a:r>
            <a:endParaRPr lang="en-US" altLang="zh-CN"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9" name="文本框 3"/>
          <p:cNvSpPr txBox="1"/>
          <p:nvPr/>
        </p:nvSpPr>
        <p:spPr>
          <a:xfrm>
            <a:off x="1571711" y="1539831"/>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Thermocouple</a:t>
            </a:r>
          </a:p>
        </p:txBody>
      </p:sp>
      <p:sp>
        <p:nvSpPr>
          <p:cNvPr id="19" name="圆角矩形 72">
            <a:extLst>
              <a:ext uri="{FF2B5EF4-FFF2-40B4-BE49-F238E27FC236}">
                <a16:creationId xmlns:a16="http://schemas.microsoft.com/office/drawing/2014/main" id="{343D7C8A-72E9-4E11-82F9-04D1F37F1B07}"/>
              </a:ext>
            </a:extLst>
          </p:cNvPr>
          <p:cNvSpPr/>
          <p:nvPr/>
        </p:nvSpPr>
        <p:spPr>
          <a:xfrm rot="10800000" flipV="1">
            <a:off x="1728712" y="2170443"/>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0" name="圆角矩形 73">
            <a:extLst>
              <a:ext uri="{FF2B5EF4-FFF2-40B4-BE49-F238E27FC236}">
                <a16:creationId xmlns:a16="http://schemas.microsoft.com/office/drawing/2014/main" id="{7997A031-0667-4F3B-9AA0-BAB02B443096}"/>
              </a:ext>
            </a:extLst>
          </p:cNvPr>
          <p:cNvSpPr/>
          <p:nvPr/>
        </p:nvSpPr>
        <p:spPr>
          <a:xfrm rot="10800000" flipV="1">
            <a:off x="1728708" y="2880305"/>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2">
            <a:extLst>
              <a:ext uri="{FF2B5EF4-FFF2-40B4-BE49-F238E27FC236}">
                <a16:creationId xmlns:a16="http://schemas.microsoft.com/office/drawing/2014/main" id="{343D7C8A-72E9-4E11-82F9-04D1F37F1B07}"/>
              </a:ext>
            </a:extLst>
          </p:cNvPr>
          <p:cNvSpPr/>
          <p:nvPr/>
        </p:nvSpPr>
        <p:spPr>
          <a:xfrm rot="10800000" flipV="1">
            <a:off x="1728707" y="3589931"/>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2" name="圆角矩形 73">
            <a:extLst>
              <a:ext uri="{FF2B5EF4-FFF2-40B4-BE49-F238E27FC236}">
                <a16:creationId xmlns:a16="http://schemas.microsoft.com/office/drawing/2014/main" id="{7997A031-0667-4F3B-9AA0-BAB02B443096}"/>
              </a:ext>
            </a:extLst>
          </p:cNvPr>
          <p:cNvSpPr/>
          <p:nvPr/>
        </p:nvSpPr>
        <p:spPr>
          <a:xfrm rot="10800000" flipV="1">
            <a:off x="1728703" y="4344820"/>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2">
            <a:extLst>
              <a:ext uri="{FF2B5EF4-FFF2-40B4-BE49-F238E27FC236}">
                <a16:creationId xmlns:a16="http://schemas.microsoft.com/office/drawing/2014/main" id="{343D7C8A-72E9-4E11-82F9-04D1F37F1B07}"/>
              </a:ext>
            </a:extLst>
          </p:cNvPr>
          <p:cNvSpPr/>
          <p:nvPr/>
        </p:nvSpPr>
        <p:spPr>
          <a:xfrm rot="10800000" flipV="1">
            <a:off x="1723002" y="5069616"/>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4" name="圆角矩形 73">
            <a:extLst>
              <a:ext uri="{FF2B5EF4-FFF2-40B4-BE49-F238E27FC236}">
                <a16:creationId xmlns:a16="http://schemas.microsoft.com/office/drawing/2014/main" id="{7997A031-0667-4F3B-9AA0-BAB02B443096}"/>
              </a:ext>
            </a:extLst>
          </p:cNvPr>
          <p:cNvSpPr/>
          <p:nvPr/>
        </p:nvSpPr>
        <p:spPr>
          <a:xfrm rot="10800000" flipV="1">
            <a:off x="1728711" y="5777009"/>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8.2.6</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780AAD05-EDCF-4C30-9021-01D92D46EC63}"/>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0">
            <a:extLst>
              <a:ext uri="{FF2B5EF4-FFF2-40B4-BE49-F238E27FC236}">
                <a16:creationId xmlns:a16="http://schemas.microsoft.com/office/drawing/2014/main" id="{5496FFE9-214E-44B1-991B-91F2E524A9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962" y="2972883"/>
            <a:ext cx="3561949" cy="1691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Group 4">
            <a:extLst>
              <a:ext uri="{FF2B5EF4-FFF2-40B4-BE49-F238E27FC236}">
                <a16:creationId xmlns:a16="http://schemas.microsoft.com/office/drawing/2014/main" id="{892B6DE8-6352-48DD-8DC9-38CC9785D800}"/>
              </a:ext>
            </a:extLst>
          </p:cNvPr>
          <p:cNvGrpSpPr/>
          <p:nvPr/>
        </p:nvGrpSpPr>
        <p:grpSpPr>
          <a:xfrm>
            <a:off x="4242112" y="3096708"/>
            <a:ext cx="4692338" cy="2913298"/>
            <a:chOff x="4242112" y="3096708"/>
            <a:chExt cx="4692338" cy="2913298"/>
          </a:xfrm>
        </p:grpSpPr>
        <p:sp>
          <p:nvSpPr>
            <p:cNvPr id="2" name="圆角矩形 1"/>
            <p:cNvSpPr/>
            <p:nvPr/>
          </p:nvSpPr>
          <p:spPr>
            <a:xfrm>
              <a:off x="7635351" y="5650518"/>
              <a:ext cx="994299" cy="355107"/>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ctangle 29"/>
            <p:cNvSpPr>
              <a:spLocks noChangeArrowheads="1"/>
            </p:cNvSpPr>
            <p:nvPr/>
          </p:nvSpPr>
          <p:spPr bwMode="auto">
            <a:xfrm>
              <a:off x="4242112" y="3096708"/>
              <a:ext cx="4692338" cy="2913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42900" indent="-342900">
                <a:lnSpc>
                  <a:spcPct val="150000"/>
                </a:lnSpc>
                <a:defRPr/>
              </a:pPr>
              <a:r>
                <a:rPr lang="zh-CN" altLang="en-US" sz="2000" b="1" dirty="0">
                  <a:latin typeface="宋体" panose="02010600030101010101" pitchFamily="2" charset="-122"/>
                </a:rPr>
                <a:t>相应的热电动势称为温差电（动）势或塞贝克电势，通称</a:t>
              </a:r>
              <a:r>
                <a:rPr lang="zh-CN" altLang="en-US" sz="2000" b="1" dirty="0">
                  <a:solidFill>
                    <a:srgbClr val="FF0000"/>
                  </a:solidFill>
                  <a:latin typeface="宋体" panose="02010600030101010101" pitchFamily="2" charset="-122"/>
                </a:rPr>
                <a:t>热电动</a:t>
              </a:r>
              <a:r>
                <a:rPr lang="zh-CN" altLang="en-US" sz="2000" b="1">
                  <a:solidFill>
                    <a:srgbClr val="FF0000"/>
                  </a:solidFill>
                  <a:latin typeface="宋体" panose="02010600030101010101" pitchFamily="2" charset="-122"/>
                </a:rPr>
                <a:t>势</a:t>
              </a:r>
              <a:r>
                <a:rPr lang="zh-CN" altLang="en-US" sz="2000" b="1">
                  <a:latin typeface="宋体" panose="02010600030101010101" pitchFamily="2" charset="-122"/>
                </a:rPr>
                <a:t>。</a:t>
              </a:r>
              <a:endParaRPr lang="en-US" altLang="zh-CN" sz="2000" b="1">
                <a:latin typeface="宋体" panose="02010600030101010101" pitchFamily="2" charset="-122"/>
              </a:endParaRPr>
            </a:p>
            <a:p>
              <a:pPr marL="342900" indent="-342900">
                <a:lnSpc>
                  <a:spcPct val="150000"/>
                </a:lnSpc>
                <a:defRPr/>
              </a:pPr>
              <a:r>
                <a:rPr lang="zh-CN" altLang="en-US" sz="2000" b="1">
                  <a:latin typeface="宋体" panose="02010600030101010101" pitchFamily="2" charset="-122"/>
                </a:rPr>
                <a:t>回</a:t>
              </a:r>
              <a:r>
                <a:rPr lang="zh-CN" altLang="en-US" sz="2000" b="1" dirty="0">
                  <a:latin typeface="宋体" panose="02010600030101010101" pitchFamily="2" charset="-122"/>
                </a:rPr>
                <a:t>路中产生的电流称为</a:t>
              </a:r>
              <a:r>
                <a:rPr lang="zh-CN" altLang="en-US" sz="2000" b="1" dirty="0">
                  <a:solidFill>
                    <a:srgbClr val="7030A0"/>
                  </a:solidFill>
                  <a:latin typeface="宋体" panose="02010600030101010101" pitchFamily="2" charset="-122"/>
                </a:rPr>
                <a:t>热电流</a:t>
              </a:r>
              <a:r>
                <a:rPr lang="zh-CN" altLang="en-US" sz="2000" b="1" dirty="0">
                  <a:latin typeface="宋体" panose="02010600030101010101" pitchFamily="2" charset="-122"/>
                </a:rPr>
                <a:t>，导体</a:t>
              </a:r>
              <a:r>
                <a:rPr lang="en-US" altLang="zh-CN" sz="2000" b="1" dirty="0">
                  <a:latin typeface="宋体" panose="02010600030101010101" pitchFamily="2" charset="-122"/>
                </a:rPr>
                <a:t>A</a:t>
              </a:r>
              <a:r>
                <a:rPr lang="zh-CN" altLang="en-US" sz="2000" b="1" dirty="0">
                  <a:latin typeface="宋体" panose="02010600030101010101" pitchFamily="2" charset="-122"/>
                </a:rPr>
                <a:t>、</a:t>
              </a:r>
              <a:r>
                <a:rPr lang="en-US" altLang="zh-CN" sz="2000" b="1" dirty="0">
                  <a:latin typeface="宋体" panose="02010600030101010101" pitchFamily="2" charset="-122"/>
                </a:rPr>
                <a:t>B</a:t>
              </a:r>
              <a:r>
                <a:rPr lang="zh-CN" altLang="en-US" sz="2000" b="1" dirty="0">
                  <a:latin typeface="宋体" panose="02010600030101010101" pitchFamily="2" charset="-122"/>
                </a:rPr>
                <a:t>称为</a:t>
              </a:r>
              <a:r>
                <a:rPr lang="zh-CN" altLang="en-US" sz="2000" b="1" dirty="0">
                  <a:solidFill>
                    <a:srgbClr val="002060"/>
                  </a:solidFill>
                  <a:latin typeface="宋体" panose="02010600030101010101" pitchFamily="2" charset="-122"/>
                </a:rPr>
                <a:t>热电</a:t>
              </a:r>
              <a:r>
                <a:rPr lang="zh-CN" altLang="en-US" sz="2000" b="1">
                  <a:solidFill>
                    <a:srgbClr val="002060"/>
                  </a:solidFill>
                  <a:latin typeface="宋体" panose="02010600030101010101" pitchFamily="2" charset="-122"/>
                </a:rPr>
                <a:t>极</a:t>
              </a:r>
              <a:r>
                <a:rPr lang="zh-CN" altLang="en-US" sz="2000" b="1">
                  <a:latin typeface="宋体" panose="02010600030101010101" pitchFamily="2" charset="-122"/>
                </a:rPr>
                <a:t>。</a:t>
              </a:r>
              <a:endParaRPr lang="en-US" altLang="zh-CN" sz="2000" b="1">
                <a:latin typeface="宋体" panose="02010600030101010101" pitchFamily="2" charset="-122"/>
              </a:endParaRPr>
            </a:p>
            <a:p>
              <a:pPr marL="342900" indent="-342900">
                <a:lnSpc>
                  <a:spcPct val="150000"/>
                </a:lnSpc>
                <a:defRPr/>
              </a:pPr>
              <a:r>
                <a:rPr lang="zh-CN" altLang="en-US" sz="2000" b="1">
                  <a:latin typeface="宋体" panose="02010600030101010101" pitchFamily="2" charset="-122"/>
                </a:rPr>
                <a:t>由</a:t>
              </a:r>
              <a:r>
                <a:rPr lang="zh-CN" altLang="en-US" sz="2000" b="1" dirty="0">
                  <a:latin typeface="宋体" panose="02010600030101010101" pitchFamily="2" charset="-122"/>
                </a:rPr>
                <a:t>这两种导体的组合，并将温度差转换成热电动势的传感器称为热电偶。</a:t>
              </a:r>
            </a:p>
          </p:txBody>
        </p:sp>
      </p:grpSp>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8.2.1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27" name="Rectangle 3"/>
          <p:cNvSpPr txBox="1">
            <a:spLocks noRot="1" noChangeArrowheads="1"/>
          </p:cNvSpPr>
          <p:nvPr/>
        </p:nvSpPr>
        <p:spPr>
          <a:xfrm>
            <a:off x="80883" y="1135106"/>
            <a:ext cx="8936631" cy="6204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None/>
            </a:pPr>
            <a:r>
              <a:rPr lang="zh-CN" altLang="en-US" sz="2200" b="1" dirty="0">
                <a:latin typeface="宋体" panose="02010600030101010101" pitchFamily="2" charset="-122"/>
                <a:ea typeface="宋体" panose="02010600030101010101" pitchFamily="2" charset="-122"/>
              </a:rPr>
              <a:t>热电效应</a:t>
            </a:r>
            <a:r>
              <a:rPr lang="en-US" altLang="zh-CN" sz="2200" b="1" dirty="0">
                <a:solidFill>
                  <a:srgbClr val="0070C0"/>
                </a:solidFill>
                <a:latin typeface="宋体" panose="02010600030101010101" pitchFamily="2" charset="-122"/>
                <a:ea typeface="宋体" panose="02010600030101010101" pitchFamily="2" charset="-122"/>
              </a:rPr>
              <a:t>(</a:t>
            </a:r>
            <a:r>
              <a:rPr lang="en-US" altLang="zh-TW" sz="2200" b="1">
                <a:solidFill>
                  <a:srgbClr val="0070C0"/>
                </a:solidFill>
                <a:latin typeface="宋体" panose="02010600030101010101" pitchFamily="2" charset="-122"/>
                <a:ea typeface="宋体" panose="02010600030101010101" pitchFamily="2" charset="-122"/>
              </a:rPr>
              <a:t>Thermoelectric Effects</a:t>
            </a:r>
            <a:r>
              <a:rPr lang="en-US" altLang="zh-CN" sz="2200" b="1">
                <a:solidFill>
                  <a:srgbClr val="0070C0"/>
                </a:solidFill>
                <a:latin typeface="宋体" panose="02010600030101010101" pitchFamily="2" charset="-122"/>
                <a:ea typeface="宋体" panose="02010600030101010101" pitchFamily="2" charset="-122"/>
              </a:rPr>
              <a:t>)</a:t>
            </a:r>
            <a:r>
              <a:rPr lang="zh-CN" altLang="en-US" sz="2200" b="1">
                <a:latin typeface="宋体" panose="02010600030101010101" pitchFamily="2" charset="-122"/>
                <a:ea typeface="宋体" panose="02010600030101010101" pitchFamily="2" charset="-122"/>
              </a:rPr>
              <a:t>或</a:t>
            </a:r>
            <a:r>
              <a:rPr lang="zh-CN" altLang="en-US" sz="2200" b="1" dirty="0">
                <a:latin typeface="宋体" panose="02010600030101010101" pitchFamily="2" charset="-122"/>
                <a:ea typeface="宋体" panose="02010600030101010101" pitchFamily="2" charset="-122"/>
              </a:rPr>
              <a:t>塞贝克效应</a:t>
            </a:r>
            <a:r>
              <a:rPr lang="en-US" altLang="zh-CN" sz="2200" b="1" dirty="0">
                <a:solidFill>
                  <a:srgbClr val="0070C0"/>
                </a:solidFill>
                <a:latin typeface="宋体" panose="02010600030101010101" pitchFamily="2" charset="-122"/>
                <a:ea typeface="宋体" panose="02010600030101010101" pitchFamily="2" charset="-122"/>
              </a:rPr>
              <a:t>(</a:t>
            </a:r>
            <a:r>
              <a:rPr lang="en-US" altLang="zh-TW" sz="2200" b="1" err="1">
                <a:solidFill>
                  <a:srgbClr val="0070C0"/>
                </a:solidFill>
                <a:latin typeface="宋体" panose="02010600030101010101" pitchFamily="2" charset="-122"/>
                <a:ea typeface="宋体" panose="02010600030101010101" pitchFamily="2" charset="-122"/>
              </a:rPr>
              <a:t>Seebeck</a:t>
            </a:r>
            <a:r>
              <a:rPr lang="en-US" altLang="zh-TW" sz="2200" b="1">
                <a:solidFill>
                  <a:srgbClr val="0070C0"/>
                </a:solidFill>
                <a:latin typeface="宋体" panose="02010600030101010101" pitchFamily="2" charset="-122"/>
                <a:ea typeface="宋体" panose="02010600030101010101" pitchFamily="2" charset="-122"/>
              </a:rPr>
              <a:t> Effects</a:t>
            </a:r>
            <a:r>
              <a:rPr lang="en-US" altLang="zh-CN" sz="2200" b="1">
                <a:solidFill>
                  <a:srgbClr val="0070C0"/>
                </a:solidFill>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p>
        </p:txBody>
      </p:sp>
      <p:sp>
        <p:nvSpPr>
          <p:cNvPr id="3" name="Slide Number Placeholder 2">
            <a:extLst>
              <a:ext uri="{FF2B5EF4-FFF2-40B4-BE49-F238E27FC236}">
                <a16:creationId xmlns:a16="http://schemas.microsoft.com/office/drawing/2014/main" id="{5263EFE0-0010-4C15-9B23-F216F01648CD}"/>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
        <p:nvSpPr>
          <p:cNvPr id="10" name="Text Box 9">
            <a:extLst>
              <a:ext uri="{FF2B5EF4-FFF2-40B4-BE49-F238E27FC236}">
                <a16:creationId xmlns:a16="http://schemas.microsoft.com/office/drawing/2014/main" id="{E822A674-2B34-4995-BC6B-7A0C70BDD623}"/>
              </a:ext>
            </a:extLst>
          </p:cNvPr>
          <p:cNvSpPr txBox="1">
            <a:spLocks noChangeArrowheads="1"/>
          </p:cNvSpPr>
          <p:nvPr/>
        </p:nvSpPr>
        <p:spPr bwMode="auto">
          <a:xfrm>
            <a:off x="525035" y="4953635"/>
            <a:ext cx="38520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8-4  </a:t>
            </a:r>
            <a:r>
              <a:rPr lang="zh-CN" altLang="en-US" sz="2400" b="1" dirty="0">
                <a:solidFill>
                  <a:srgbClr val="000099"/>
                </a:solidFill>
              </a:rPr>
              <a:t>热电效应示意图</a:t>
            </a:r>
            <a:endParaRPr lang="zh-CN" altLang="en-US" sz="2400" dirty="0">
              <a:solidFill>
                <a:srgbClr val="000099"/>
              </a:solidFill>
            </a:endParaRPr>
          </a:p>
        </p:txBody>
      </p:sp>
      <p:sp>
        <p:nvSpPr>
          <p:cNvPr id="12" name="Text Box 97">
            <a:extLst>
              <a:ext uri="{FF2B5EF4-FFF2-40B4-BE49-F238E27FC236}">
                <a16:creationId xmlns:a16="http://schemas.microsoft.com/office/drawing/2014/main" id="{CD600B26-FE3C-4C03-BCE9-39B88EB921A4}"/>
              </a:ext>
            </a:extLst>
          </p:cNvPr>
          <p:cNvSpPr txBox="1">
            <a:spLocks noChangeArrowheads="1"/>
          </p:cNvSpPr>
          <p:nvPr/>
        </p:nvSpPr>
        <p:spPr bwMode="auto">
          <a:xfrm>
            <a:off x="1136537" y="5512817"/>
            <a:ext cx="2447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A</a:t>
            </a:r>
            <a:r>
              <a:rPr lang="zh-CN" altLang="en-US" sz="2400" b="1" dirty="0"/>
              <a:t>、</a:t>
            </a:r>
            <a:r>
              <a:rPr lang="en-US" altLang="zh-CN" sz="2400" b="1" dirty="0"/>
              <a:t>B</a:t>
            </a:r>
            <a:r>
              <a:rPr lang="zh-CN" altLang="en-US" sz="2400" b="1" dirty="0">
                <a:solidFill>
                  <a:srgbClr val="0070C0"/>
                </a:solidFill>
              </a:rPr>
              <a:t>材料</a:t>
            </a:r>
            <a:r>
              <a:rPr lang="zh-CN" altLang="en-US" sz="2400" b="1" dirty="0"/>
              <a:t>不同</a:t>
            </a:r>
          </a:p>
          <a:p>
            <a:pPr>
              <a:spcBef>
                <a:spcPct val="50000"/>
              </a:spcBef>
            </a:pPr>
            <a:r>
              <a:rPr lang="en-US" altLang="zh-CN" sz="2400" b="1" dirty="0"/>
              <a:t>1</a:t>
            </a:r>
            <a:r>
              <a:rPr lang="zh-CN" altLang="en-US" sz="2400" b="1" dirty="0"/>
              <a:t>、</a:t>
            </a:r>
            <a:r>
              <a:rPr lang="en-US" altLang="zh-CN" sz="2400" b="1" dirty="0"/>
              <a:t>2</a:t>
            </a:r>
            <a:r>
              <a:rPr lang="zh-CN" altLang="en-US" sz="2400" b="1" dirty="0"/>
              <a:t>点</a:t>
            </a:r>
            <a:r>
              <a:rPr lang="zh-CN" altLang="en-US" sz="2400" b="1" dirty="0">
                <a:solidFill>
                  <a:srgbClr val="FF0000"/>
                </a:solidFill>
              </a:rPr>
              <a:t>温度</a:t>
            </a:r>
            <a:r>
              <a:rPr lang="zh-CN" altLang="en-US" sz="2400" b="1" dirty="0"/>
              <a:t>不同</a:t>
            </a:r>
          </a:p>
        </p:txBody>
      </p:sp>
      <p:sp>
        <p:nvSpPr>
          <p:cNvPr id="14" name="TextBox 13">
            <a:extLst>
              <a:ext uri="{FF2B5EF4-FFF2-40B4-BE49-F238E27FC236}">
                <a16:creationId xmlns:a16="http://schemas.microsoft.com/office/drawing/2014/main" id="{33B0F6D6-F45F-44E2-A1C5-B3787B02C285}"/>
              </a:ext>
            </a:extLst>
          </p:cNvPr>
          <p:cNvSpPr txBox="1"/>
          <p:nvPr/>
        </p:nvSpPr>
        <p:spPr>
          <a:xfrm>
            <a:off x="264372" y="1711122"/>
            <a:ext cx="8081343" cy="1151277"/>
          </a:xfrm>
          <a:prstGeom prst="rect">
            <a:avLst/>
          </a:prstGeom>
          <a:noFill/>
        </p:spPr>
        <p:txBody>
          <a:bodyPr wrap="square">
            <a:spAutoFit/>
          </a:bodyPr>
          <a:lstStyle/>
          <a:p>
            <a:pPr marL="342900" indent="-342900">
              <a:lnSpc>
                <a:spcPct val="120000"/>
              </a:lnSpc>
              <a:buFont typeface="Arial" panose="020B0604020202020204" pitchFamily="34" charset="0"/>
              <a:buChar char="•"/>
            </a:pPr>
            <a:r>
              <a:rPr lang="en-001" sz="2000" b="1">
                <a:latin typeface="宋体" panose="02010600030101010101" pitchFamily="2" charset="-122"/>
                <a:ea typeface="宋体" panose="02010600030101010101" pitchFamily="2" charset="-122"/>
              </a:rPr>
              <a:t>两种不同材料的导体（或半导体） A 、B 串接成一个闭合回路，</a:t>
            </a:r>
            <a:endParaRPr lang="en-US" sz="2000" b="1">
              <a:latin typeface="宋体" panose="02010600030101010101" pitchFamily="2" charset="-122"/>
              <a:ea typeface="宋体" panose="02010600030101010101" pitchFamily="2" charset="-122"/>
            </a:endParaRPr>
          </a:p>
          <a:p>
            <a:pPr marL="342900" indent="-342900">
              <a:lnSpc>
                <a:spcPct val="120000"/>
              </a:lnSpc>
              <a:buFont typeface="Arial" panose="020B0604020202020204" pitchFamily="34" charset="0"/>
              <a:buChar char="•"/>
            </a:pPr>
            <a:r>
              <a:rPr lang="en-001" sz="2000" b="1">
                <a:latin typeface="宋体" panose="02010600030101010101" pitchFamily="2" charset="-122"/>
                <a:ea typeface="宋体" panose="02010600030101010101" pitchFamily="2" charset="-122"/>
              </a:rPr>
              <a:t>并使结点 1 和结点 2 处于不同的温度T 、T0, </a:t>
            </a:r>
            <a:endParaRPr lang="en-US" sz="2000" b="1">
              <a:latin typeface="宋体" panose="02010600030101010101" pitchFamily="2" charset="-122"/>
              <a:ea typeface="宋体" panose="02010600030101010101" pitchFamily="2" charset="-122"/>
            </a:endParaRPr>
          </a:p>
          <a:p>
            <a:pPr marL="342900" indent="-342900">
              <a:lnSpc>
                <a:spcPct val="120000"/>
              </a:lnSpc>
              <a:buFont typeface="Arial" panose="020B0604020202020204" pitchFamily="34" charset="0"/>
              <a:buChar char="•"/>
            </a:pPr>
            <a:r>
              <a:rPr lang="en-001" sz="2000" b="1">
                <a:latin typeface="宋体" panose="02010600030101010101" pitchFamily="2" charset="-122"/>
                <a:ea typeface="宋体" panose="02010600030101010101" pitchFamily="2" charset="-122"/>
              </a:rPr>
              <a:t>回路中就会存在热电动势，因而就有电流产生</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29" name="Rectangle 3"/>
          <p:cNvSpPr txBox="1">
            <a:spLocks noRot="1" noChangeArrowheads="1"/>
          </p:cNvSpPr>
          <p:nvPr/>
        </p:nvSpPr>
        <p:spPr>
          <a:xfrm>
            <a:off x="553554" y="1417466"/>
            <a:ext cx="3313591" cy="6448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两种导体的接触电动势</a:t>
            </a:r>
            <a:r>
              <a:rPr lang="en-US" altLang="zh-CN" sz="2400"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(Peltier EMF)</a:t>
            </a:r>
            <a:endParaRPr lang="en-US" altLang="zh-CN"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0" name="Object 28"/>
          <p:cNvGraphicFramePr>
            <a:graphicFrameLocks noChangeAspect="1"/>
          </p:cNvGraphicFramePr>
          <p:nvPr>
            <p:extLst>
              <p:ext uri="{D42A27DB-BD31-4B8C-83A1-F6EECF244321}">
                <p14:modId xmlns:p14="http://schemas.microsoft.com/office/powerpoint/2010/main" val="3991638476"/>
              </p:ext>
            </p:extLst>
          </p:nvPr>
        </p:nvGraphicFramePr>
        <p:xfrm>
          <a:off x="744721" y="2721547"/>
          <a:ext cx="2869350" cy="1037097"/>
        </p:xfrm>
        <a:graphic>
          <a:graphicData uri="http://schemas.openxmlformats.org/presentationml/2006/ole">
            <mc:AlternateContent xmlns:mc="http://schemas.openxmlformats.org/markup-compatibility/2006">
              <mc:Choice xmlns:v="urn:schemas-microsoft-com:vml" Requires="v">
                <p:oleObj name="公式" r:id="rId3" imgW="1320480" imgH="444240" progId="Equation.3">
                  <p:embed/>
                </p:oleObj>
              </mc:Choice>
              <mc:Fallback>
                <p:oleObj name="公式" r:id="rId3" imgW="1320480" imgH="444240" progId="Equation.3">
                  <p:embed/>
                  <p:pic>
                    <p:nvPicPr>
                      <p:cNvPr id="0" name=""/>
                      <p:cNvPicPr>
                        <a:picLocks noChangeAspect="1" noChangeArrowheads="1"/>
                      </p:cNvPicPr>
                      <p:nvPr/>
                    </p:nvPicPr>
                    <p:blipFill>
                      <a:blip r:embed="rId4"/>
                      <a:srcRect/>
                      <a:stretch>
                        <a:fillRect/>
                      </a:stretch>
                    </p:blipFill>
                    <p:spPr bwMode="auto">
                      <a:xfrm>
                        <a:off x="744721" y="2721547"/>
                        <a:ext cx="2869350" cy="1037097"/>
                      </a:xfrm>
                      <a:prstGeom prst="rect">
                        <a:avLst/>
                      </a:prstGeom>
                      <a:solidFill>
                        <a:srgbClr val="92D050"/>
                      </a:solidFill>
                      <a:ln>
                        <a:noFill/>
                      </a:ln>
                      <a:effectLst/>
                    </p:spPr>
                  </p:pic>
                </p:oleObj>
              </mc:Fallback>
            </mc:AlternateContent>
          </a:graphicData>
        </a:graphic>
      </p:graphicFrame>
      <p:sp>
        <p:nvSpPr>
          <p:cNvPr id="2" name="矩形 1"/>
          <p:cNvSpPr/>
          <p:nvPr/>
        </p:nvSpPr>
        <p:spPr>
          <a:xfrm>
            <a:off x="620229" y="3947548"/>
            <a:ext cx="6230677" cy="2585323"/>
          </a:xfrm>
          <a:prstGeom prst="rect">
            <a:avLst/>
          </a:prstGeom>
        </p:spPr>
        <p:txBody>
          <a:bodyPr wrap="square">
            <a:spAutoFit/>
          </a:bodyPr>
          <a:lstStyle/>
          <a:p>
            <a:pPr>
              <a:lnSpc>
                <a:spcPct val="15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式</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中 </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spcAft>
                <a:spcPts val="1200"/>
              </a:spcAft>
              <a:buFont typeface="Wingdings" pitchFamily="2" charset="2"/>
              <a:buNone/>
            </a:pP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      k</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波尔兹曼常数，为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1.38×10</a:t>
            </a:r>
            <a:r>
              <a:rPr lang="en-US" altLang="zh-CN" sz="2400" b="1" baseline="30000" dirty="0">
                <a:latin typeface="Times New Roman" panose="02020603050405020304" pitchFamily="18" charset="0"/>
                <a:ea typeface="宋体" panose="02010600030101010101" pitchFamily="2" charset="-122"/>
                <a:cs typeface="Times New Roman" panose="02020603050405020304" pitchFamily="18" charset="0"/>
              </a:rPr>
              <a:t>-16</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erg/K</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a:spcAft>
                <a:spcPts val="1200"/>
              </a:spcAft>
              <a:buFont typeface="Wingdings" pitchFamily="2" charset="2"/>
              <a:buNone/>
            </a:pP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接触处的绝对温度；</a:t>
            </a:r>
          </a:p>
          <a:p>
            <a:pPr>
              <a:spcAft>
                <a:spcPts val="1200"/>
              </a:spcAft>
              <a:buFont typeface="Wingdings" pitchFamily="2" charset="2"/>
              <a:buNone/>
            </a:pP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e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电子电荷数；</a:t>
            </a:r>
          </a:p>
          <a:p>
            <a:pPr>
              <a:spcAft>
                <a:spcPts val="1200"/>
              </a:spcAft>
              <a:buFont typeface="Wingdings" pitchFamily="2" charset="2"/>
              <a:buNone/>
            </a:pP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N</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金属</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的自由电子密度。</a:t>
            </a:r>
          </a:p>
        </p:txBody>
      </p:sp>
      <p:sp>
        <p:nvSpPr>
          <p:cNvPr id="3" name="Slide Number Placeholder 2">
            <a:extLst>
              <a:ext uri="{FF2B5EF4-FFF2-40B4-BE49-F238E27FC236}">
                <a16:creationId xmlns:a16="http://schemas.microsoft.com/office/drawing/2014/main" id="{BEBF89A0-7C0A-44B8-9800-B2CA4E784E7E}"/>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
        <p:nvSpPr>
          <p:cNvPr id="10" name="Rectangle 2">
            <a:extLst>
              <a:ext uri="{FF2B5EF4-FFF2-40B4-BE49-F238E27FC236}">
                <a16:creationId xmlns:a16="http://schemas.microsoft.com/office/drawing/2014/main" id="{1CF898BF-B70A-4940-B165-484820902B12}"/>
              </a:ext>
            </a:extLst>
          </p:cNvPr>
          <p:cNvSpPr>
            <a:spLocks noChangeArrowheads="1"/>
          </p:cNvSpPr>
          <p:nvPr/>
        </p:nvSpPr>
        <p:spPr bwMode="auto">
          <a:xfrm>
            <a:off x="5575753" y="32657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4400">
              <a:solidFill>
                <a:schemeClr val="tx2"/>
              </a:solidFill>
            </a:endParaRPr>
          </a:p>
        </p:txBody>
      </p:sp>
      <p:sp>
        <p:nvSpPr>
          <p:cNvPr id="11" name="Text Box 9">
            <a:extLst>
              <a:ext uri="{FF2B5EF4-FFF2-40B4-BE49-F238E27FC236}">
                <a16:creationId xmlns:a16="http://schemas.microsoft.com/office/drawing/2014/main" id="{ECB68F0C-CDC1-46E5-A1AF-D102F4240304}"/>
              </a:ext>
            </a:extLst>
          </p:cNvPr>
          <p:cNvSpPr txBox="1">
            <a:spLocks noChangeArrowheads="1"/>
          </p:cNvSpPr>
          <p:nvPr/>
        </p:nvSpPr>
        <p:spPr bwMode="auto">
          <a:xfrm>
            <a:off x="5907805" y="3861080"/>
            <a:ext cx="27964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8-5  </a:t>
            </a:r>
            <a:r>
              <a:rPr lang="zh-CN" altLang="en-US" sz="2400" b="1" dirty="0">
                <a:solidFill>
                  <a:srgbClr val="000099"/>
                </a:solidFill>
              </a:rPr>
              <a:t>接触电动势</a:t>
            </a:r>
            <a:endParaRPr lang="zh-CN" altLang="en-US" sz="2400" dirty="0">
              <a:solidFill>
                <a:srgbClr val="000099"/>
              </a:solidFill>
            </a:endParaRPr>
          </a:p>
        </p:txBody>
      </p:sp>
      <p:pic>
        <p:nvPicPr>
          <p:cNvPr id="12" name="Picture 2">
            <a:extLst>
              <a:ext uri="{FF2B5EF4-FFF2-40B4-BE49-F238E27FC236}">
                <a16:creationId xmlns:a16="http://schemas.microsoft.com/office/drawing/2014/main" id="{CF7F984E-AE85-4256-9043-E0EC1BD67F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7485" y="1473568"/>
            <a:ext cx="382467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33" name="Rectangle 3"/>
          <p:cNvSpPr txBox="1">
            <a:spLocks noRot="1" noChangeArrowheads="1"/>
          </p:cNvSpPr>
          <p:nvPr/>
        </p:nvSpPr>
        <p:spPr>
          <a:xfrm>
            <a:off x="1620880" y="1403791"/>
            <a:ext cx="5902239" cy="10541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同理，可以计算出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两种金属构成回路在温度</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端的接触电动势为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4" name="Object 32"/>
          <p:cNvGraphicFramePr>
            <a:graphicFrameLocks noChangeAspect="1"/>
          </p:cNvGraphicFramePr>
          <p:nvPr>
            <p:extLst>
              <p:ext uri="{D42A27DB-BD31-4B8C-83A1-F6EECF244321}">
                <p14:modId xmlns:p14="http://schemas.microsoft.com/office/powerpoint/2010/main" val="3490213612"/>
              </p:ext>
            </p:extLst>
          </p:nvPr>
        </p:nvGraphicFramePr>
        <p:xfrm>
          <a:off x="2680165" y="2347513"/>
          <a:ext cx="2687453" cy="928343"/>
        </p:xfrm>
        <a:graphic>
          <a:graphicData uri="http://schemas.openxmlformats.org/presentationml/2006/ole">
            <mc:AlternateContent xmlns:mc="http://schemas.openxmlformats.org/markup-compatibility/2006">
              <mc:Choice xmlns:v="urn:schemas-microsoft-com:vml" Requires="v">
                <p:oleObj name="公式" r:id="rId3" imgW="1384200" imgH="444240" progId="Equation.3">
                  <p:embed/>
                </p:oleObj>
              </mc:Choice>
              <mc:Fallback>
                <p:oleObj name="公式" r:id="rId3" imgW="1384200" imgH="444240" progId="Equation.3">
                  <p:embed/>
                  <p:pic>
                    <p:nvPicPr>
                      <p:cNvPr id="0" name=""/>
                      <p:cNvPicPr>
                        <a:picLocks noChangeAspect="1" noChangeArrowheads="1"/>
                      </p:cNvPicPr>
                      <p:nvPr/>
                    </p:nvPicPr>
                    <p:blipFill>
                      <a:blip r:embed="rId4"/>
                      <a:srcRect/>
                      <a:stretch>
                        <a:fillRect/>
                      </a:stretch>
                    </p:blipFill>
                    <p:spPr bwMode="auto">
                      <a:xfrm>
                        <a:off x="2680165" y="2347513"/>
                        <a:ext cx="2687453" cy="928343"/>
                      </a:xfrm>
                      <a:prstGeom prst="rect">
                        <a:avLst/>
                      </a:prstGeom>
                      <a:noFill/>
                      <a:ln>
                        <a:noFill/>
                      </a:ln>
                      <a:effectLst/>
                    </p:spPr>
                  </p:pic>
                </p:oleObj>
              </mc:Fallback>
            </mc:AlternateContent>
          </a:graphicData>
        </a:graphic>
      </p:graphicFrame>
      <p:graphicFrame>
        <p:nvGraphicFramePr>
          <p:cNvPr id="35" name="Object 35"/>
          <p:cNvGraphicFramePr>
            <a:graphicFrameLocks noChangeAspect="1"/>
          </p:cNvGraphicFramePr>
          <p:nvPr>
            <p:extLst>
              <p:ext uri="{D42A27DB-BD31-4B8C-83A1-F6EECF244321}">
                <p14:modId xmlns:p14="http://schemas.microsoft.com/office/powerpoint/2010/main" val="2245674193"/>
              </p:ext>
            </p:extLst>
          </p:nvPr>
        </p:nvGraphicFramePr>
        <p:xfrm>
          <a:off x="2644242" y="4448583"/>
          <a:ext cx="4023278" cy="906517"/>
        </p:xfrm>
        <a:graphic>
          <a:graphicData uri="http://schemas.openxmlformats.org/presentationml/2006/ole">
            <mc:AlternateContent xmlns:mc="http://schemas.openxmlformats.org/markup-compatibility/2006">
              <mc:Choice xmlns:v="urn:schemas-microsoft-com:vml" Requires="v">
                <p:oleObj name="公式" r:id="rId5" imgW="2108160" imgH="444240" progId="Equation.3">
                  <p:embed/>
                </p:oleObj>
              </mc:Choice>
              <mc:Fallback>
                <p:oleObj name="公式" r:id="rId5" imgW="2108160" imgH="444240" progId="Equation.3">
                  <p:embed/>
                  <p:pic>
                    <p:nvPicPr>
                      <p:cNvPr id="0" name=""/>
                      <p:cNvPicPr>
                        <a:picLocks noChangeAspect="1" noChangeArrowheads="1"/>
                      </p:cNvPicPr>
                      <p:nvPr/>
                    </p:nvPicPr>
                    <p:blipFill>
                      <a:blip r:embed="rId6"/>
                      <a:srcRect/>
                      <a:stretch>
                        <a:fillRect/>
                      </a:stretch>
                    </p:blipFill>
                    <p:spPr bwMode="auto">
                      <a:xfrm>
                        <a:off x="2644242" y="4448583"/>
                        <a:ext cx="4023278" cy="906517"/>
                      </a:xfrm>
                      <a:prstGeom prst="rect">
                        <a:avLst/>
                      </a:prstGeom>
                      <a:solidFill>
                        <a:srgbClr val="FFC000"/>
                      </a:solid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9" name="矩形 8"/>
              <p:cNvSpPr/>
              <p:nvPr/>
            </p:nvSpPr>
            <p:spPr>
              <a:xfrm>
                <a:off x="1620881" y="3242124"/>
                <a:ext cx="6070000" cy="1130246"/>
              </a:xfrm>
              <a:prstGeom prst="rect">
                <a:avLst/>
              </a:prstGeom>
            </p:spPr>
            <p:txBody>
              <a:bodyPr wrap="square">
                <a:spAutoFit/>
              </a:bodyPr>
              <a:lstStyle/>
              <a:p>
                <a:pPr>
                  <a:lnSpc>
                    <a:spcPct val="15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但</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e>
                    </m:d>
                  </m:oMath>
                </a14:m>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与 </a:t>
                </a: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r>
                          <a:rPr lang="en-US" altLang="zh-CN" sz="2400" i="1">
                            <a:latin typeface="Cambria Math" panose="02040503050406030204" pitchFamily="18" charset="0"/>
                          </a:rPr>
                          <m:t>𝑇</m:t>
                        </m:r>
                      </m:e>
                    </m:d>
                  </m:oMath>
                </a14:m>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方向相反，所以回路的总接触电动势为</a:t>
                </a:r>
                <a:endPar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1620881" y="3242124"/>
                <a:ext cx="6070000" cy="1130246"/>
              </a:xfrm>
              <a:prstGeom prst="rect">
                <a:avLst/>
              </a:prstGeom>
              <a:blipFill>
                <a:blip r:embed="rId8"/>
                <a:stretch>
                  <a:fillRect l="-1606" b="-10270"/>
                </a:stretch>
              </a:blipFill>
            </p:spPr>
            <p:txBody>
              <a:bodyPr/>
              <a:lstStyle/>
              <a:p>
                <a:r>
                  <a:rPr lang="en-001">
                    <a:noFill/>
                  </a:rPr>
                  <a:t> </a:t>
                </a:r>
              </a:p>
            </p:txBody>
          </p:sp>
        </mc:Fallback>
      </mc:AlternateContent>
      <p:sp>
        <p:nvSpPr>
          <p:cNvPr id="12" name="矩形 11"/>
          <p:cNvSpPr/>
          <p:nvPr/>
        </p:nvSpPr>
        <p:spPr>
          <a:xfrm>
            <a:off x="1620880" y="5431313"/>
            <a:ext cx="6648561" cy="1200329"/>
          </a:xfrm>
          <a:prstGeom prst="rect">
            <a:avLst/>
          </a:prstGeom>
        </p:spPr>
        <p:txBody>
          <a:bodyPr wrap="square">
            <a:spAutoFit/>
          </a:bodyPr>
          <a:lstStyle/>
          <a:p>
            <a:pPr lvl="0">
              <a:lnSpc>
                <a:spcPct val="15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由上式可见，当两结点的温度相同，即</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，回路中总电动势将为零。</a:t>
            </a:r>
          </a:p>
        </p:txBody>
      </p:sp>
      <p:sp>
        <p:nvSpPr>
          <p:cNvPr id="2" name="Slide Number Placeholder 1">
            <a:extLst>
              <a:ext uri="{FF2B5EF4-FFF2-40B4-BE49-F238E27FC236}">
                <a16:creationId xmlns:a16="http://schemas.microsoft.com/office/drawing/2014/main" id="{B59D1042-FECC-4ADF-A6D5-07D5C001B6CF}"/>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graphicFrame>
        <p:nvGraphicFramePr>
          <p:cNvPr id="3" name="Object 2">
            <a:extLst>
              <a:ext uri="{FF2B5EF4-FFF2-40B4-BE49-F238E27FC236}">
                <a16:creationId xmlns:a16="http://schemas.microsoft.com/office/drawing/2014/main" id="{3A0B0B9A-0521-45B9-833D-3DCF18081E9B}"/>
              </a:ext>
            </a:extLst>
          </p:cNvPr>
          <p:cNvGraphicFramePr>
            <a:graphicFrameLocks noChangeAspect="1"/>
          </p:cNvGraphicFramePr>
          <p:nvPr>
            <p:extLst>
              <p:ext uri="{D42A27DB-BD31-4B8C-83A1-F6EECF244321}">
                <p14:modId xmlns:p14="http://schemas.microsoft.com/office/powerpoint/2010/main" val="3286567527"/>
              </p:ext>
            </p:extLst>
          </p:nvPr>
        </p:nvGraphicFramePr>
        <p:xfrm>
          <a:off x="6147314" y="226358"/>
          <a:ext cx="2870200" cy="1036637"/>
        </p:xfrm>
        <a:graphic>
          <a:graphicData uri="http://schemas.openxmlformats.org/presentationml/2006/ole">
            <mc:AlternateContent xmlns:mc="http://schemas.openxmlformats.org/markup-compatibility/2006">
              <mc:Choice xmlns:v="urn:schemas-microsoft-com:vml" Requires="v">
                <p:oleObj name="Equation" r:id="rId9" imgW="2869774" imgH="1036477" progId="Equation.DSMT4">
                  <p:embed/>
                </p:oleObj>
              </mc:Choice>
              <mc:Fallback>
                <p:oleObj name="Equation" r:id="rId9" imgW="2869774" imgH="1036477" progId="Equation.DSMT4">
                  <p:embed/>
                  <p:pic>
                    <p:nvPicPr>
                      <p:cNvPr id="0" name=""/>
                      <p:cNvPicPr/>
                      <p:nvPr/>
                    </p:nvPicPr>
                    <p:blipFill>
                      <a:blip r:embed="rId10"/>
                      <a:stretch>
                        <a:fillRect/>
                      </a:stretch>
                    </p:blipFill>
                    <p:spPr>
                      <a:xfrm>
                        <a:off x="6147314" y="226358"/>
                        <a:ext cx="2870200" cy="1036637"/>
                      </a:xfrm>
                      <a:prstGeom prst="rect">
                        <a:avLst/>
                      </a:prstGeom>
                    </p:spPr>
                  </p:pic>
                </p:oleObj>
              </mc:Fallback>
            </mc:AlternateContent>
          </a:graphicData>
        </a:graphic>
      </p:graphicFrame>
    </p:spTree>
    <p:extLst>
      <p:ext uri="{BB962C8B-B14F-4D97-AF65-F5344CB8AC3E}">
        <p14:creationId xmlns:p14="http://schemas.microsoft.com/office/powerpoint/2010/main" val="31512152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31" name="Rectangle 3"/>
          <p:cNvSpPr txBox="1">
            <a:spLocks noRot="1" noChangeArrowheads="1"/>
          </p:cNvSpPr>
          <p:nvPr/>
        </p:nvSpPr>
        <p:spPr>
          <a:xfrm>
            <a:off x="207042" y="1440667"/>
            <a:ext cx="3506316" cy="552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单一导体的温差电动势</a:t>
            </a:r>
          </a:p>
        </p:txBody>
      </p:sp>
      <p:graphicFrame>
        <p:nvGraphicFramePr>
          <p:cNvPr id="34" name="Object 25"/>
          <p:cNvGraphicFramePr>
            <a:graphicFrameLocks noChangeAspect="1"/>
          </p:cNvGraphicFramePr>
          <p:nvPr>
            <p:extLst>
              <p:ext uri="{D42A27DB-BD31-4B8C-83A1-F6EECF244321}">
                <p14:modId xmlns:p14="http://schemas.microsoft.com/office/powerpoint/2010/main" val="3282746084"/>
              </p:ext>
            </p:extLst>
          </p:nvPr>
        </p:nvGraphicFramePr>
        <p:xfrm>
          <a:off x="747713" y="3279775"/>
          <a:ext cx="2105025" cy="625475"/>
        </p:xfrm>
        <a:graphic>
          <a:graphicData uri="http://schemas.openxmlformats.org/presentationml/2006/ole">
            <mc:AlternateContent xmlns:mc="http://schemas.openxmlformats.org/markup-compatibility/2006">
              <mc:Choice xmlns:v="urn:schemas-microsoft-com:vml" Requires="v">
                <p:oleObj name="Equation" r:id="rId3" imgW="1117440" imgH="291960" progId="Equation.DSMT4">
                  <p:embed/>
                </p:oleObj>
              </mc:Choice>
              <mc:Fallback>
                <p:oleObj name="Equation" r:id="rId3" imgW="1117440" imgH="291960" progId="Equation.DSMT4">
                  <p:embed/>
                  <p:pic>
                    <p:nvPicPr>
                      <p:cNvPr id="0" name=""/>
                      <p:cNvPicPr>
                        <a:picLocks noChangeAspect="1" noChangeArrowheads="1"/>
                      </p:cNvPicPr>
                      <p:nvPr/>
                    </p:nvPicPr>
                    <p:blipFill>
                      <a:blip r:embed="rId4"/>
                      <a:srcRect/>
                      <a:stretch>
                        <a:fillRect/>
                      </a:stretch>
                    </p:blipFill>
                    <p:spPr bwMode="auto">
                      <a:xfrm>
                        <a:off x="747713" y="3279775"/>
                        <a:ext cx="2105025" cy="625475"/>
                      </a:xfrm>
                      <a:prstGeom prst="rect">
                        <a:avLst/>
                      </a:prstGeom>
                      <a:noFill/>
                      <a:ln>
                        <a:noFill/>
                      </a:ln>
                    </p:spPr>
                  </p:pic>
                </p:oleObj>
              </mc:Fallback>
            </mc:AlternateContent>
          </a:graphicData>
        </a:graphic>
      </p:graphicFrame>
      <p:graphicFrame>
        <p:nvGraphicFramePr>
          <p:cNvPr id="36" name="Object 29"/>
          <p:cNvGraphicFramePr>
            <a:graphicFrameLocks noChangeAspect="1"/>
          </p:cNvGraphicFramePr>
          <p:nvPr>
            <p:extLst>
              <p:ext uri="{D42A27DB-BD31-4B8C-83A1-F6EECF244321}">
                <p14:modId xmlns:p14="http://schemas.microsoft.com/office/powerpoint/2010/main" val="417161904"/>
              </p:ext>
            </p:extLst>
          </p:nvPr>
        </p:nvGraphicFramePr>
        <p:xfrm>
          <a:off x="831850" y="5819775"/>
          <a:ext cx="2738438" cy="593725"/>
        </p:xfrm>
        <a:graphic>
          <a:graphicData uri="http://schemas.openxmlformats.org/presentationml/2006/ole">
            <mc:AlternateContent xmlns:mc="http://schemas.openxmlformats.org/markup-compatibility/2006">
              <mc:Choice xmlns:v="urn:schemas-microsoft-com:vml" Requires="v">
                <p:oleObj name="Equation" r:id="rId5" imgW="1562040" imgH="291960" progId="Equation.DSMT4">
                  <p:embed/>
                </p:oleObj>
              </mc:Choice>
              <mc:Fallback>
                <p:oleObj name="Equation" r:id="rId5" imgW="1562040" imgH="291960" progId="Equation.DSMT4">
                  <p:embed/>
                  <p:pic>
                    <p:nvPicPr>
                      <p:cNvPr id="0" name=""/>
                      <p:cNvPicPr>
                        <a:picLocks noChangeAspect="1" noChangeArrowheads="1"/>
                      </p:cNvPicPr>
                      <p:nvPr/>
                    </p:nvPicPr>
                    <p:blipFill>
                      <a:blip r:embed="rId6"/>
                      <a:srcRect/>
                      <a:stretch>
                        <a:fillRect/>
                      </a:stretch>
                    </p:blipFill>
                    <p:spPr bwMode="auto">
                      <a:xfrm>
                        <a:off x="831850" y="5819775"/>
                        <a:ext cx="2738438" cy="593725"/>
                      </a:xfrm>
                      <a:prstGeom prst="rect">
                        <a:avLst/>
                      </a:prstGeom>
                      <a:solidFill>
                        <a:srgbClr val="FFFF00"/>
                      </a:solidFill>
                      <a:ln>
                        <a:noFill/>
                      </a:ln>
                    </p:spPr>
                  </p:pic>
                </p:oleObj>
              </mc:Fallback>
            </mc:AlternateContent>
          </a:graphicData>
        </a:graphic>
      </p:graphicFrame>
      <p:sp>
        <p:nvSpPr>
          <p:cNvPr id="7" name="矩形 6"/>
          <p:cNvSpPr/>
          <p:nvPr/>
        </p:nvSpPr>
        <p:spPr>
          <a:xfrm>
            <a:off x="345467" y="4467126"/>
            <a:ext cx="5684171" cy="1130246"/>
          </a:xfrm>
          <a:prstGeom prst="rect">
            <a:avLst/>
          </a:prstGeom>
        </p:spPr>
        <p:txBody>
          <a:bodyPr wrap="square">
            <a:spAutoFit/>
          </a:bodyPr>
          <a:lstStyle/>
          <a:p>
            <a:pPr>
              <a:lnSpc>
                <a:spcPct val="15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对于两种金属</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组成的热电偶回路，汤姆逊电动势等于它的代数和，即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234588" y="3927031"/>
            <a:ext cx="6028047" cy="535531"/>
          </a:xfrm>
          <a:prstGeom prst="rect">
            <a:avLst/>
          </a:prstGeom>
        </p:spPr>
        <p:txBody>
          <a:bodyPr wrap="square">
            <a:spAutoFit/>
          </a:bodyPr>
          <a:lstStyle/>
          <a:p>
            <a:pPr marL="381000" lvl="0" indent="-381000">
              <a:lnSpc>
                <a:spcPct val="12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式中</a:t>
            </a:r>
            <a:r>
              <a:rPr lang="zh-CN" altLang="en-US"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b="1" i="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导体的汤姆逊系数。</a:t>
            </a:r>
          </a:p>
        </p:txBody>
      </p:sp>
      <p:sp>
        <p:nvSpPr>
          <p:cNvPr id="9" name="矩形 8"/>
          <p:cNvSpPr/>
          <p:nvPr/>
        </p:nvSpPr>
        <p:spPr>
          <a:xfrm>
            <a:off x="234588" y="2027472"/>
            <a:ext cx="5052980" cy="1130246"/>
          </a:xfrm>
          <a:prstGeom prst="rect">
            <a:avLst/>
          </a:prstGeom>
        </p:spPr>
        <p:txBody>
          <a:bodyPr wrap="square">
            <a:spAutoFit/>
          </a:bodyPr>
          <a:lstStyle/>
          <a:p>
            <a:pPr>
              <a:lnSpc>
                <a:spcPct val="150000"/>
              </a:lnSpc>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当导体两端的温度分别为</a:t>
            </a:r>
            <a:r>
              <a:rPr lang="en-US" altLang="zh-CN"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时，温差电动势可由下式表示</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Slide Number Placeholder 1">
            <a:extLst>
              <a:ext uri="{FF2B5EF4-FFF2-40B4-BE49-F238E27FC236}">
                <a16:creationId xmlns:a16="http://schemas.microsoft.com/office/drawing/2014/main" id="{5304DDE3-6E69-44D1-A36B-E230E480C176}"/>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
        <p:nvSpPr>
          <p:cNvPr id="13" name="Text Box 9">
            <a:extLst>
              <a:ext uri="{FF2B5EF4-FFF2-40B4-BE49-F238E27FC236}">
                <a16:creationId xmlns:a16="http://schemas.microsoft.com/office/drawing/2014/main" id="{AAF7D98C-B41B-4498-A5C4-C7B967E75F34}"/>
              </a:ext>
            </a:extLst>
          </p:cNvPr>
          <p:cNvSpPr txBox="1">
            <a:spLocks noChangeArrowheads="1"/>
          </p:cNvSpPr>
          <p:nvPr/>
        </p:nvSpPr>
        <p:spPr bwMode="auto">
          <a:xfrm>
            <a:off x="6029638" y="3820529"/>
            <a:ext cx="28797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8-6  </a:t>
            </a:r>
            <a:r>
              <a:rPr lang="zh-CN" altLang="en-US" sz="2400" b="1" dirty="0">
                <a:solidFill>
                  <a:srgbClr val="000099"/>
                </a:solidFill>
              </a:rPr>
              <a:t>温差电动势</a:t>
            </a:r>
          </a:p>
        </p:txBody>
      </p:sp>
      <p:pic>
        <p:nvPicPr>
          <p:cNvPr id="14" name="Picture 106">
            <a:extLst>
              <a:ext uri="{FF2B5EF4-FFF2-40B4-BE49-F238E27FC236}">
                <a16:creationId xmlns:a16="http://schemas.microsoft.com/office/drawing/2014/main" id="{7BDD6195-BC21-43B0-8C4E-2D6E26A8B25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50596" y="2263205"/>
            <a:ext cx="3212384" cy="127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10356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29" name="Rectangle 1027"/>
          <p:cNvSpPr txBox="1">
            <a:spLocks noRot="1" noChangeArrowheads="1"/>
          </p:cNvSpPr>
          <p:nvPr/>
        </p:nvSpPr>
        <p:spPr>
          <a:xfrm>
            <a:off x="1334322" y="1335140"/>
            <a:ext cx="6677620" cy="1181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综上所述，对于匀质导体</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组成的热电偶，其总电势为接触电动势与温差电动势</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之和</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1168571" y="2577596"/>
                <a:ext cx="6806857" cy="975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𝑇</m:t>
                              </m:r>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e>
                          </m:d>
                          <m:r>
                            <a:rPr lang="en-US" altLang="zh-CN" sz="2400" i="1">
                              <a:latin typeface="Cambria Math" panose="02040503050406030204" pitchFamily="18" charset="0"/>
                            </a:rPr>
                            <m:t>=</m:t>
                          </m:r>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r>
                            <a:rPr lang="en-US" altLang="zh-CN" sz="2400" i="1">
                              <a:latin typeface="Cambria Math" panose="02040503050406030204" pitchFamily="18" charset="0"/>
                            </a:rPr>
                            <m:t>𝑇</m:t>
                          </m:r>
                        </m:e>
                      </m:d>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e>
                      </m:d>
                      <m:r>
                        <a:rPr lang="en-US" altLang="zh-CN" sz="2400" i="1">
                          <a:latin typeface="Cambria Math" panose="02040503050406030204" pitchFamily="18" charset="0"/>
                        </a:rPr>
                        <m:t>−</m:t>
                      </m:r>
                      <m:nary>
                        <m:naryPr>
                          <m:limLoc m:val="subSup"/>
                          <m:ctrlPr>
                            <a:rPr lang="zh-CN" altLang="zh-CN" sz="2400" i="1">
                              <a:latin typeface="Cambria Math" panose="02040503050406030204" pitchFamily="18" charset="0"/>
                            </a:rPr>
                          </m:ctrlPr>
                        </m:naryPr>
                        <m: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sub>
                        <m:sup>
                          <m:r>
                            <a:rPr lang="en-US" altLang="zh-CN" sz="2400" i="1">
                              <a:latin typeface="Cambria Math" panose="02040503050406030204" pitchFamily="18" charset="0"/>
                            </a:rPr>
                            <m:t>𝑇</m:t>
                          </m:r>
                        </m:sup>
                        <m:e>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𝐴</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𝐵</m:t>
                                  </m:r>
                                </m:sub>
                              </m:sSub>
                            </m:e>
                          </m:d>
                          <m:r>
                            <a:rPr lang="en-US" altLang="zh-CN" sz="2400" i="1">
                              <a:latin typeface="Cambria Math" panose="02040503050406030204" pitchFamily="18" charset="0"/>
                            </a:rPr>
                            <m:t>𝑑𝑇</m:t>
                          </m:r>
                        </m:e>
                      </m:nary>
                    </m:oMath>
                  </m:oMathPara>
                </a14:m>
                <a:endParaRPr lang="zh-CN" altLang="zh-CN" sz="2400" dirty="0"/>
              </a:p>
            </p:txBody>
          </p:sp>
        </mc:Choice>
        <mc:Fallback xmlns="">
          <p:sp>
            <p:nvSpPr>
              <p:cNvPr id="7" name="矩形 6"/>
              <p:cNvSpPr>
                <a:spLocks noRot="1" noChangeAspect="1" noMove="1" noResize="1" noEditPoints="1" noAdjustHandles="1" noChangeArrowheads="1" noChangeShapeType="1" noTextEdit="1"/>
              </p:cNvSpPr>
              <p:nvPr/>
            </p:nvSpPr>
            <p:spPr>
              <a:xfrm>
                <a:off x="1168571" y="2577596"/>
                <a:ext cx="6806857" cy="975332"/>
              </a:xfrm>
              <a:prstGeom prst="rect">
                <a:avLst/>
              </a:prstGeom>
              <a:blipFill>
                <a:blip r:embed="rId3"/>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DEE36B2B-67D7-4300-9F59-B03BEB83E3F1}"/>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
        <p:nvSpPr>
          <p:cNvPr id="10" name="Text Box 9">
            <a:extLst>
              <a:ext uri="{FF2B5EF4-FFF2-40B4-BE49-F238E27FC236}">
                <a16:creationId xmlns:a16="http://schemas.microsoft.com/office/drawing/2014/main" id="{310E950A-A28E-481F-9197-B16B64805B10}"/>
              </a:ext>
            </a:extLst>
          </p:cNvPr>
          <p:cNvSpPr txBox="1">
            <a:spLocks noChangeArrowheads="1"/>
          </p:cNvSpPr>
          <p:nvPr/>
        </p:nvSpPr>
        <p:spPr bwMode="auto">
          <a:xfrm>
            <a:off x="4673132" y="4691863"/>
            <a:ext cx="31928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8-7  </a:t>
            </a:r>
            <a:r>
              <a:rPr lang="zh-CN" altLang="en-US" sz="2400" b="1" dirty="0">
                <a:solidFill>
                  <a:srgbClr val="000099"/>
                </a:solidFill>
              </a:rPr>
              <a:t>热电偶回路的总热电动势</a:t>
            </a:r>
          </a:p>
        </p:txBody>
      </p:sp>
      <p:pic>
        <p:nvPicPr>
          <p:cNvPr id="11" name="Picture 101">
            <a:extLst>
              <a:ext uri="{FF2B5EF4-FFF2-40B4-BE49-F238E27FC236}">
                <a16:creationId xmlns:a16="http://schemas.microsoft.com/office/drawing/2014/main" id="{21EFEAA8-1EB8-4DBA-838A-F8319B21C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596" y="3745801"/>
            <a:ext cx="3448403" cy="2773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91652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热电效应</a:t>
            </a:r>
          </a:p>
        </p:txBody>
      </p:sp>
      <p:sp>
        <p:nvSpPr>
          <p:cNvPr id="27" name="Rectangle 1027"/>
          <p:cNvSpPr txBox="1">
            <a:spLocks noRot="1" noChangeArrowheads="1"/>
          </p:cNvSpPr>
          <p:nvPr/>
        </p:nvSpPr>
        <p:spPr>
          <a:xfrm>
            <a:off x="185083" y="2568050"/>
            <a:ext cx="8893090" cy="3788301"/>
          </a:xfrm>
          <a:prstGeom prst="rect">
            <a:avLst/>
          </a:prstGeom>
          <a:effectLst>
            <a:glow rad="139700">
              <a:schemeClr val="accent6">
                <a:satMod val="175000"/>
                <a:alpha val="40000"/>
              </a:schemeClr>
            </a:glo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①如果热电偶两电极材料相同，则虽两端温度不同</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T≠T</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，但总输出电动势仍为零。因此必须用</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两种不同的材料</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才能构成热电偶。</a:t>
            </a:r>
          </a:p>
          <a:p>
            <a:pPr marL="0" indent="0">
              <a:lnSpc>
                <a:spcPct val="150000"/>
              </a:lnSpc>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②如果热电偶两结点温度相同，则回路中的总电动势必等于零。 </a:t>
            </a:r>
          </a:p>
          <a:p>
            <a:pPr marL="0" indent="622300">
              <a:lnSpc>
                <a:spcPct val="15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由上述分析知，采用均质材料的前提下，热电动势的大小只与材料和结点温度有关，</a:t>
            </a:r>
            <a:r>
              <a:rPr lang="zh-CN" altLang="en-US" sz="2400" b="1"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与热电偶的尺寸、</a:t>
            </a:r>
            <a:r>
              <a:rPr lang="zh-CN" altLang="en-US" sz="24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rPr>
              <a:t>形状、及</a:t>
            </a:r>
            <a:r>
              <a:rPr lang="zh-CN" altLang="en-US" sz="2400" b="1"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沿电极温度分布无关</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 name="矩形 6"/>
          <p:cNvSpPr/>
          <p:nvPr/>
        </p:nvSpPr>
        <p:spPr>
          <a:xfrm>
            <a:off x="204277" y="1871364"/>
            <a:ext cx="1112805" cy="461665"/>
          </a:xfrm>
          <a:prstGeom prst="rect">
            <a:avLst/>
          </a:prstGeom>
          <a:ln w="19050">
            <a:noFill/>
          </a:ln>
        </p:spPr>
        <p:txBody>
          <a:bodyPr wrap="none">
            <a:spAutoFit/>
          </a:bodyPr>
          <a:lstStyle/>
          <a:p>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结论：</a:t>
            </a:r>
            <a:endPar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Slide Number Placeholder 1">
            <a:extLst>
              <a:ext uri="{FF2B5EF4-FFF2-40B4-BE49-F238E27FC236}">
                <a16:creationId xmlns:a16="http://schemas.microsoft.com/office/drawing/2014/main" id="{C5E2F9EE-A881-46F5-B575-03F751A4A310}"/>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mc:AlternateContent xmlns:mc="http://schemas.openxmlformats.org/markup-compatibility/2006" xmlns:a14="http://schemas.microsoft.com/office/drawing/2010/main">
        <mc:Choice Requires="a14">
          <p:sp>
            <p:nvSpPr>
              <p:cNvPr id="8" name="矩形 6">
                <a:extLst>
                  <a:ext uri="{FF2B5EF4-FFF2-40B4-BE49-F238E27FC236}">
                    <a16:creationId xmlns:a16="http://schemas.microsoft.com/office/drawing/2014/main" id="{79CBB371-717F-46FC-B078-56B30C48D085}"/>
                  </a:ext>
                </a:extLst>
              </p:cNvPr>
              <p:cNvSpPr/>
              <p:nvPr/>
            </p:nvSpPr>
            <p:spPr>
              <a:xfrm>
                <a:off x="2088100" y="1317511"/>
                <a:ext cx="6806857" cy="975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400" i="1">
                              <a:latin typeface="Cambria Math" panose="02040503050406030204" pitchFamily="18" charset="0"/>
                            </a:rPr>
                          </m:ctrlPr>
                        </m:sSub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𝑇</m:t>
                              </m:r>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e>
                          </m:d>
                          <m:r>
                            <a:rPr lang="en-US" altLang="zh-CN" sz="2400" i="1">
                              <a:latin typeface="Cambria Math" panose="02040503050406030204" pitchFamily="18" charset="0"/>
                            </a:rPr>
                            <m:t>=</m:t>
                          </m:r>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r>
                            <a:rPr lang="en-US" altLang="zh-CN" sz="2400" i="1">
                              <a:latin typeface="Cambria Math" panose="02040503050406030204" pitchFamily="18" charset="0"/>
                            </a:rPr>
                            <m:t>𝑇</m:t>
                          </m:r>
                        </m:e>
                      </m:d>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𝐸</m:t>
                          </m:r>
                        </m:e>
                        <m:sub>
                          <m:r>
                            <a:rPr lang="en-US" altLang="zh-CN" sz="2400" i="1">
                              <a:latin typeface="Cambria Math" panose="02040503050406030204" pitchFamily="18" charset="0"/>
                            </a:rPr>
                            <m:t>𝐴𝐵</m:t>
                          </m:r>
                        </m:sub>
                        <m:sup>
                          <m:r>
                            <a:rPr lang="en-US" altLang="zh-CN" sz="2400" i="1">
                              <a:latin typeface="Cambria Math" panose="02040503050406030204" pitchFamily="18" charset="0"/>
                            </a:rPr>
                            <m:t>𝜋</m:t>
                          </m:r>
                        </m:sup>
                      </m:sSubSup>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e>
                      </m:d>
                      <m:r>
                        <a:rPr lang="en-US" altLang="zh-CN" sz="2400" i="1">
                          <a:latin typeface="Cambria Math" panose="02040503050406030204" pitchFamily="18" charset="0"/>
                        </a:rPr>
                        <m:t>−</m:t>
                      </m:r>
                      <m:nary>
                        <m:naryPr>
                          <m:limLoc m:val="subSup"/>
                          <m:ctrlPr>
                            <a:rPr lang="zh-CN" altLang="zh-CN" sz="2400" i="1">
                              <a:latin typeface="Cambria Math" panose="02040503050406030204" pitchFamily="18" charset="0"/>
                            </a:rPr>
                          </m:ctrlPr>
                        </m:naryPr>
                        <m: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sub>
                        <m:sup>
                          <m:r>
                            <a:rPr lang="en-US" altLang="zh-CN" sz="2400" i="1">
                              <a:latin typeface="Cambria Math" panose="02040503050406030204" pitchFamily="18" charset="0"/>
                            </a:rPr>
                            <m:t>𝑇</m:t>
                          </m:r>
                        </m:sup>
                        <m:e>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𝐴</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𝐵</m:t>
                                  </m:r>
                                </m:sub>
                              </m:sSub>
                            </m:e>
                          </m:d>
                          <m:r>
                            <a:rPr lang="en-US" altLang="zh-CN" sz="2400" i="1">
                              <a:latin typeface="Cambria Math" panose="02040503050406030204" pitchFamily="18" charset="0"/>
                            </a:rPr>
                            <m:t>𝑑𝑇</m:t>
                          </m:r>
                        </m:e>
                      </m:nary>
                    </m:oMath>
                  </m:oMathPara>
                </a14:m>
                <a:endParaRPr lang="zh-CN" altLang="zh-CN" sz="2400" dirty="0"/>
              </a:p>
            </p:txBody>
          </p:sp>
        </mc:Choice>
        <mc:Fallback xmlns="">
          <p:sp>
            <p:nvSpPr>
              <p:cNvPr id="8" name="矩形 6">
                <a:extLst>
                  <a:ext uri="{FF2B5EF4-FFF2-40B4-BE49-F238E27FC236}">
                    <a16:creationId xmlns:a16="http://schemas.microsoft.com/office/drawing/2014/main" id="{79CBB371-717F-46FC-B078-56B30C48D085}"/>
                  </a:ext>
                </a:extLst>
              </p:cNvPr>
              <p:cNvSpPr>
                <a:spLocks noRot="1" noChangeAspect="1" noMove="1" noResize="1" noEditPoints="1" noAdjustHandles="1" noChangeArrowheads="1" noChangeShapeType="1" noTextEdit="1"/>
              </p:cNvSpPr>
              <p:nvPr/>
            </p:nvSpPr>
            <p:spPr>
              <a:xfrm>
                <a:off x="2088100" y="1317511"/>
                <a:ext cx="6806857" cy="975332"/>
              </a:xfrm>
              <a:prstGeom prst="rect">
                <a:avLst/>
              </a:prstGeom>
              <a:blipFill>
                <a:blip r:embed="rId3"/>
                <a:stretch>
                  <a:fillRect/>
                </a:stretch>
              </a:blipFill>
            </p:spPr>
            <p:txBody>
              <a:bodyPr/>
              <a:lstStyle/>
              <a:p>
                <a:r>
                  <a:rPr lang="en-001">
                    <a:noFill/>
                  </a:rPr>
                  <a:t> </a:t>
                </a:r>
              </a:p>
            </p:txBody>
          </p:sp>
        </mc:Fallback>
      </mc:AlternateContent>
    </p:spTree>
    <p:extLst>
      <p:ext uri="{BB962C8B-B14F-4D97-AF65-F5344CB8AC3E}">
        <p14:creationId xmlns:p14="http://schemas.microsoft.com/office/powerpoint/2010/main" val="34114372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5" name="矩形 4"/>
          <p:cNvSpPr/>
          <p:nvPr/>
        </p:nvSpPr>
        <p:spPr>
          <a:xfrm>
            <a:off x="1571711" y="2159636"/>
            <a:ext cx="4956089" cy="2487859"/>
          </a:xfrm>
          <a:prstGeom prst="rect">
            <a:avLst/>
          </a:prstGeom>
        </p:spPr>
        <p:txBody>
          <a:bodyPr wrap="square" lIns="91438" tIns="45719" rIns="91438" bIns="45719">
            <a:spAutoFit/>
          </a:bodyPr>
          <a:lstStyle/>
          <a:p>
            <a:pPr marL="457200" indent="-457200">
              <a:lnSpc>
                <a:spcPct val="20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中间导体定律</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a:p>
            <a:pPr marL="457200" indent="-457200">
              <a:lnSpc>
                <a:spcPct val="20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标准电极定律</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a:p>
            <a:pPr marL="457200" indent="-457200">
              <a:lnSpc>
                <a:spcPct val="20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连接导体定律和中间温度定律</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19D2A72F-8082-4C41-B000-FA5080BA8F11}"/>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Tree>
    <p:extLst>
      <p:ext uri="{BB962C8B-B14F-4D97-AF65-F5344CB8AC3E}">
        <p14:creationId xmlns:p14="http://schemas.microsoft.com/office/powerpoint/2010/main" val="4556217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5" name="矩形 4"/>
          <p:cNvSpPr/>
          <p:nvPr/>
        </p:nvSpPr>
        <p:spPr>
          <a:xfrm>
            <a:off x="477646" y="1459075"/>
            <a:ext cx="2041501" cy="461663"/>
          </a:xfrm>
          <a:prstGeom prst="rect">
            <a:avLst/>
          </a:prstGeom>
          <a:solidFill>
            <a:schemeClr val="accent2">
              <a:lumMod val="40000"/>
              <a:lumOff val="60000"/>
            </a:schemeClr>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中间导体定律</a:t>
            </a:r>
          </a:p>
        </p:txBody>
      </p:sp>
      <p:sp>
        <p:nvSpPr>
          <p:cNvPr id="27" name="Rectangle 3"/>
          <p:cNvSpPr txBox="1">
            <a:spLocks noRot="1" noChangeArrowheads="1"/>
          </p:cNvSpPr>
          <p:nvPr/>
        </p:nvSpPr>
        <p:spPr>
          <a:xfrm>
            <a:off x="328936" y="2303713"/>
            <a:ext cx="5269804" cy="25469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在热电偶回路中，只要中间导体两端的温度相同，那么接入</a:t>
            </a:r>
            <a:r>
              <a:rPr lang="zh-CN" altLang="en-US" sz="2400" b="1" dirty="0">
                <a:solidFill>
                  <a:srgbClr val="C00000"/>
                </a:solidFill>
                <a:latin typeface="宋体" panose="02010600030101010101" pitchFamily="2" charset="-122"/>
                <a:ea typeface="宋体" panose="02010600030101010101" pitchFamily="2" charset="-122"/>
              </a:rPr>
              <a:t>中间导体</a:t>
            </a:r>
            <a:r>
              <a:rPr lang="zh-CN" altLang="en-US" sz="2400" b="1" dirty="0">
                <a:latin typeface="宋体" panose="02010600030101010101" pitchFamily="2" charset="-122"/>
                <a:ea typeface="宋体" panose="02010600030101010101" pitchFamily="2" charset="-122"/>
              </a:rPr>
              <a:t>后，对总热电动势无影响。</a:t>
            </a:r>
          </a:p>
          <a:p>
            <a:pPr>
              <a:lnSpc>
                <a:spcPct val="150000"/>
              </a:lnSpc>
              <a:buFont typeface="Wingdings" pitchFamily="2" charset="2"/>
              <a:buNone/>
            </a:pPr>
            <a:endParaRPr lang="en-US" altLang="zh-CN" sz="2400" b="1" dirty="0">
              <a:latin typeface="宋体" panose="02010600030101010101" pitchFamily="2" charset="-122"/>
              <a:ea typeface="宋体" panose="02010600030101010101" pitchFamily="2" charset="-122"/>
            </a:endParaRPr>
          </a:p>
        </p:txBody>
      </p:sp>
      <p:sp>
        <p:nvSpPr>
          <p:cNvPr id="9" name="矩形 8"/>
          <p:cNvSpPr/>
          <p:nvPr/>
        </p:nvSpPr>
        <p:spPr>
          <a:xfrm>
            <a:off x="942598" y="4240817"/>
            <a:ext cx="2984500" cy="461665"/>
          </a:xfrm>
          <a:prstGeom prst="rect">
            <a:avLst/>
          </a:prstGeom>
        </p:spPr>
        <p:style>
          <a:lnRef idx="0">
            <a:schemeClr val="accent1"/>
          </a:lnRef>
          <a:fillRef idx="3">
            <a:schemeClr val="accent1"/>
          </a:fillRef>
          <a:effectRef idx="3">
            <a:schemeClr val="accent1"/>
          </a:effectRef>
          <a:fontRef idx="minor">
            <a:schemeClr val="lt1"/>
          </a:fontRef>
        </p:style>
        <p:txBody>
          <a:bodyPr wrap="square" anchor="ctr" anchorCtr="0">
            <a:spAutoFit/>
          </a:bodyPr>
          <a:lstStyle/>
          <a:p>
            <a:r>
              <a:rPr lang="en-US" altLang="zh-CN" sz="2400" b="1" i="1" dirty="0">
                <a:solidFill>
                  <a:schemeClr val="bg1"/>
                </a:solidFill>
                <a:latin typeface="Times New Roman" pitchFamily="18" charset="0"/>
              </a:rPr>
              <a:t>E</a:t>
            </a:r>
            <a:r>
              <a:rPr lang="en-US" altLang="zh-CN" sz="2400" b="1" i="1" baseline="-25000" dirty="0">
                <a:solidFill>
                  <a:schemeClr val="bg1"/>
                </a:solidFill>
                <a:latin typeface="Times New Roman" pitchFamily="18" charset="0"/>
              </a:rPr>
              <a:t>ABC</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T,T</a:t>
            </a:r>
            <a:r>
              <a:rPr lang="en-US" altLang="zh-CN" sz="2400" b="1" baseline="-25000" dirty="0">
                <a:solidFill>
                  <a:schemeClr val="bg1"/>
                </a:solidFill>
                <a:latin typeface="Times New Roman" pitchFamily="18" charset="0"/>
              </a:rPr>
              <a:t>0</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=E</a:t>
            </a:r>
            <a:r>
              <a:rPr lang="en-US" altLang="zh-CN" sz="2400" b="1" i="1" baseline="-25000" dirty="0">
                <a:solidFill>
                  <a:schemeClr val="bg1"/>
                </a:solidFill>
                <a:latin typeface="Times New Roman" pitchFamily="18" charset="0"/>
              </a:rPr>
              <a:t>AB</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T,T</a:t>
            </a:r>
            <a:r>
              <a:rPr lang="en-US" altLang="zh-CN" sz="2400" b="1" baseline="-25000" dirty="0">
                <a:solidFill>
                  <a:schemeClr val="bg1"/>
                </a:solidFill>
                <a:latin typeface="Times New Roman" pitchFamily="18" charset="0"/>
              </a:rPr>
              <a:t>0</a:t>
            </a:r>
            <a:r>
              <a:rPr lang="en-US" altLang="zh-CN" sz="2400" b="1" dirty="0">
                <a:solidFill>
                  <a:schemeClr val="bg1"/>
                </a:solidFill>
                <a:latin typeface="Times New Roman" pitchFamily="18" charset="0"/>
              </a:rPr>
              <a:t>)</a:t>
            </a:r>
            <a:r>
              <a:rPr lang="en-US" altLang="zh-CN" sz="2400" b="1" dirty="0">
                <a:solidFill>
                  <a:schemeClr val="bg1"/>
                </a:solidFill>
              </a:rPr>
              <a:t> </a:t>
            </a:r>
            <a:endParaRPr lang="zh-CN" altLang="en-US" dirty="0">
              <a:solidFill>
                <a:schemeClr val="bg1"/>
              </a:solidFill>
            </a:endParaRPr>
          </a:p>
        </p:txBody>
      </p:sp>
      <p:sp>
        <p:nvSpPr>
          <p:cNvPr id="2" name="Slide Number Placeholder 1">
            <a:extLst>
              <a:ext uri="{FF2B5EF4-FFF2-40B4-BE49-F238E27FC236}">
                <a16:creationId xmlns:a16="http://schemas.microsoft.com/office/drawing/2014/main" id="{D3259D98-9CE4-4ADD-88FF-DD92C1FCFAF5}"/>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
        <p:nvSpPr>
          <p:cNvPr id="12" name="Text Box 9">
            <a:extLst>
              <a:ext uri="{FF2B5EF4-FFF2-40B4-BE49-F238E27FC236}">
                <a16:creationId xmlns:a16="http://schemas.microsoft.com/office/drawing/2014/main" id="{5CB8BC26-307F-4A24-82AA-E4C9B53FFA0C}"/>
              </a:ext>
            </a:extLst>
          </p:cNvPr>
          <p:cNvSpPr txBox="1">
            <a:spLocks noChangeArrowheads="1"/>
          </p:cNvSpPr>
          <p:nvPr/>
        </p:nvSpPr>
        <p:spPr bwMode="auto">
          <a:xfrm>
            <a:off x="5445740" y="4204858"/>
            <a:ext cx="34727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8-8  </a:t>
            </a:r>
            <a:r>
              <a:rPr lang="zh-CN" altLang="en-US" sz="2400" b="1" dirty="0">
                <a:solidFill>
                  <a:srgbClr val="000099"/>
                </a:solidFill>
              </a:rPr>
              <a:t>具有中间导体的热电偶回路</a:t>
            </a:r>
          </a:p>
        </p:txBody>
      </p:sp>
      <p:graphicFrame>
        <p:nvGraphicFramePr>
          <p:cNvPr id="13" name="Object 95">
            <a:extLst>
              <a:ext uri="{FF2B5EF4-FFF2-40B4-BE49-F238E27FC236}">
                <a16:creationId xmlns:a16="http://schemas.microsoft.com/office/drawing/2014/main" id="{6F1F3823-A692-4EBC-AC3E-63D5DA134CA4}"/>
              </a:ext>
            </a:extLst>
          </p:cNvPr>
          <p:cNvGraphicFramePr>
            <a:graphicFrameLocks noChangeAspect="1"/>
          </p:cNvGraphicFramePr>
          <p:nvPr>
            <p:extLst>
              <p:ext uri="{D42A27DB-BD31-4B8C-83A1-F6EECF244321}">
                <p14:modId xmlns:p14="http://schemas.microsoft.com/office/powerpoint/2010/main" val="1979701752"/>
              </p:ext>
            </p:extLst>
          </p:nvPr>
        </p:nvGraphicFramePr>
        <p:xfrm>
          <a:off x="5739982" y="2303713"/>
          <a:ext cx="3404018" cy="1901145"/>
        </p:xfrm>
        <a:graphic>
          <a:graphicData uri="http://schemas.openxmlformats.org/presentationml/2006/ole">
            <mc:AlternateContent xmlns:mc="http://schemas.openxmlformats.org/markup-compatibility/2006">
              <mc:Choice xmlns:v="urn:schemas-microsoft-com:vml" Requires="v">
                <p:oleObj name="Flash 影片" r:id="rId3" imgW="5134680" imgH="2867760" progId="Flash.Movie">
                  <p:embed/>
                </p:oleObj>
              </mc:Choice>
              <mc:Fallback>
                <p:oleObj name="Flash 影片" r:id="rId3" imgW="5134680" imgH="2867760" progId="Flash.Movie">
                  <p:embed/>
                  <p:pic>
                    <p:nvPicPr>
                      <p:cNvPr id="2143" name="Object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9982" y="2303713"/>
                        <a:ext cx="3404018" cy="1901145"/>
                      </a:xfrm>
                      <a:prstGeom prst="rect">
                        <a:avLst/>
                      </a:prstGeom>
                      <a:noFill/>
                      <a:ln>
                        <a:noFill/>
                      </a:ln>
                      <a:effectLst/>
                    </p:spPr>
                  </p:pic>
                </p:oleObj>
              </mc:Fallback>
            </mc:AlternateContent>
          </a:graphicData>
        </a:graphic>
      </p:graphicFrame>
      <p:pic>
        <p:nvPicPr>
          <p:cNvPr id="14" name="Picture 100">
            <a:extLst>
              <a:ext uri="{FF2B5EF4-FFF2-40B4-BE49-F238E27FC236}">
                <a16:creationId xmlns:a16="http://schemas.microsoft.com/office/drawing/2014/main" id="{4A4D8366-174E-4573-B250-862AB0805A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3925" y="1148514"/>
            <a:ext cx="3071622" cy="145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a:extLst>
              <a:ext uri="{FF2B5EF4-FFF2-40B4-BE49-F238E27FC236}">
                <a16:creationId xmlns:a16="http://schemas.microsoft.com/office/drawing/2014/main" id="{69469A44-8AD5-A9ED-0C85-1F21F8ECE66D}"/>
              </a:ext>
            </a:extLst>
          </p:cNvPr>
          <p:cNvGraphicFramePr>
            <a:graphicFrameLocks noChangeAspect="1"/>
          </p:cNvGraphicFramePr>
          <p:nvPr>
            <p:extLst>
              <p:ext uri="{D42A27DB-BD31-4B8C-83A1-F6EECF244321}">
                <p14:modId xmlns:p14="http://schemas.microsoft.com/office/powerpoint/2010/main" val="3325340794"/>
              </p:ext>
            </p:extLst>
          </p:nvPr>
        </p:nvGraphicFramePr>
        <p:xfrm>
          <a:off x="470178" y="5079709"/>
          <a:ext cx="6711950" cy="1368425"/>
        </p:xfrm>
        <a:graphic>
          <a:graphicData uri="http://schemas.openxmlformats.org/presentationml/2006/ole">
            <mc:AlternateContent xmlns:mc="http://schemas.openxmlformats.org/markup-compatibility/2006">
              <mc:Choice xmlns:v="urn:schemas-microsoft-com:vml" Requires="v">
                <p:oleObj name="Equation" r:id="rId6" imgW="6711981" imgH="1368769" progId="Equation.DSMT4">
                  <p:embed/>
                </p:oleObj>
              </mc:Choice>
              <mc:Fallback>
                <p:oleObj name="Equation" r:id="rId6" imgW="6711981" imgH="1368769" progId="Equation.DSMT4">
                  <p:embed/>
                  <p:pic>
                    <p:nvPicPr>
                      <p:cNvPr id="0" name=""/>
                      <p:cNvPicPr/>
                      <p:nvPr/>
                    </p:nvPicPr>
                    <p:blipFill>
                      <a:blip r:embed="rId7"/>
                      <a:stretch>
                        <a:fillRect/>
                      </a:stretch>
                    </p:blipFill>
                    <p:spPr>
                      <a:xfrm>
                        <a:off x="470178" y="5079709"/>
                        <a:ext cx="6711950" cy="1368425"/>
                      </a:xfrm>
                      <a:prstGeom prst="rect">
                        <a:avLst/>
                      </a:prstGeom>
                    </p:spPr>
                  </p:pic>
                </p:oleObj>
              </mc:Fallback>
            </mc:AlternateContent>
          </a:graphicData>
        </a:graphic>
      </p:graphicFrame>
    </p:spTree>
    <p:extLst>
      <p:ext uri="{BB962C8B-B14F-4D97-AF65-F5344CB8AC3E}">
        <p14:creationId xmlns:p14="http://schemas.microsoft.com/office/powerpoint/2010/main" val="35551568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5" name="矩形 4"/>
          <p:cNvSpPr/>
          <p:nvPr/>
        </p:nvSpPr>
        <p:spPr>
          <a:xfrm>
            <a:off x="95336" y="1394268"/>
            <a:ext cx="2156910" cy="461663"/>
          </a:xfrm>
          <a:prstGeom prst="rect">
            <a:avLst/>
          </a:prstGeom>
          <a:solidFill>
            <a:srgbClr val="FFFF00"/>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标准电极定律</a:t>
            </a:r>
          </a:p>
        </p:txBody>
      </p:sp>
      <p:sp>
        <p:nvSpPr>
          <p:cNvPr id="27" name="Rectangle 3"/>
          <p:cNvSpPr txBox="1">
            <a:spLocks noRot="1" noChangeArrowheads="1"/>
          </p:cNvSpPr>
          <p:nvPr/>
        </p:nvSpPr>
        <p:spPr>
          <a:xfrm>
            <a:off x="95336" y="2006600"/>
            <a:ext cx="5019589" cy="284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itchFamily="2" charset="2"/>
              <a:buNone/>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如果将导体</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热电极，一般为</a:t>
            </a:r>
            <a:r>
              <a:rPr lang="zh-CN" altLang="en-US" sz="20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纯铂丝</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作为标准电极</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也称参考电极</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，并已知标准电极与任意导体配对时的热电动势，则在相同结点温度</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T, T</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下，任意两导体</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组成的热电偶，其热电动势可由下式求得：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Text Box 19"/>
          <p:cNvSpPr txBox="1">
            <a:spLocks noChangeArrowheads="1"/>
          </p:cNvSpPr>
          <p:nvPr/>
        </p:nvSpPr>
        <p:spPr bwMode="auto">
          <a:xfrm>
            <a:off x="872932" y="5463732"/>
            <a:ext cx="37842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solidFill>
                  <a:srgbClr val="FF0000"/>
                </a:solidFill>
                <a:latin typeface="宋体" panose="02010600030101010101" pitchFamily="2" charset="-122"/>
              </a:rPr>
              <a:t>简化热电偶的选配工作。</a:t>
            </a:r>
          </a:p>
        </p:txBody>
      </p:sp>
      <p:sp>
        <p:nvSpPr>
          <p:cNvPr id="7" name="矩形 6"/>
          <p:cNvSpPr/>
          <p:nvPr/>
        </p:nvSpPr>
        <p:spPr>
          <a:xfrm>
            <a:off x="663471" y="4455209"/>
            <a:ext cx="4203151"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nchor="ctr" anchorCtr="0">
            <a:spAutoFit/>
          </a:bodyPr>
          <a:lstStyle/>
          <a:p>
            <a:pPr lvl="0">
              <a:lnSpc>
                <a:spcPct val="150000"/>
              </a:lnSpc>
            </a:pPr>
            <a:r>
              <a:rPr lang="en-US" altLang="zh-CN" sz="2400" b="1" i="1" dirty="0">
                <a:solidFill>
                  <a:schemeClr val="bg1"/>
                </a:solidFill>
                <a:latin typeface="Times New Roman" pitchFamily="18" charset="0"/>
              </a:rPr>
              <a:t>E</a:t>
            </a:r>
            <a:r>
              <a:rPr lang="en-US" altLang="zh-CN" sz="2400" b="1" i="1" baseline="-25000" dirty="0">
                <a:solidFill>
                  <a:schemeClr val="bg1"/>
                </a:solidFill>
                <a:latin typeface="Times New Roman" pitchFamily="18" charset="0"/>
              </a:rPr>
              <a:t>AB</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T,T</a:t>
            </a:r>
            <a:r>
              <a:rPr lang="en-US" altLang="zh-CN" sz="2400" b="1" baseline="-25000" dirty="0">
                <a:solidFill>
                  <a:schemeClr val="bg1"/>
                </a:solidFill>
                <a:latin typeface="Times New Roman" pitchFamily="18" charset="0"/>
              </a:rPr>
              <a:t>0</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=E</a:t>
            </a:r>
            <a:r>
              <a:rPr lang="en-US" altLang="zh-CN" sz="2400" b="1" i="1" baseline="-25000" dirty="0">
                <a:solidFill>
                  <a:schemeClr val="bg1"/>
                </a:solidFill>
                <a:latin typeface="Times New Roman" pitchFamily="18" charset="0"/>
              </a:rPr>
              <a:t>AC</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T,T</a:t>
            </a:r>
            <a:r>
              <a:rPr lang="en-US" altLang="zh-CN" sz="2400" b="1" baseline="-25000" dirty="0">
                <a:solidFill>
                  <a:schemeClr val="bg1"/>
                </a:solidFill>
                <a:latin typeface="Times New Roman" pitchFamily="18" charset="0"/>
              </a:rPr>
              <a:t>0</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-E</a:t>
            </a:r>
            <a:r>
              <a:rPr lang="en-US" altLang="zh-CN" sz="2400" b="1" i="1" baseline="-25000" dirty="0">
                <a:solidFill>
                  <a:schemeClr val="bg1"/>
                </a:solidFill>
                <a:latin typeface="Times New Roman" pitchFamily="18" charset="0"/>
              </a:rPr>
              <a:t>BC</a:t>
            </a:r>
            <a:r>
              <a:rPr lang="en-US" altLang="zh-CN" sz="2400" b="1" dirty="0">
                <a:solidFill>
                  <a:schemeClr val="bg1"/>
                </a:solidFill>
                <a:latin typeface="Times New Roman" pitchFamily="18" charset="0"/>
              </a:rPr>
              <a:t>(</a:t>
            </a:r>
            <a:r>
              <a:rPr lang="en-US" altLang="zh-CN" sz="2400" b="1" i="1" dirty="0">
                <a:solidFill>
                  <a:schemeClr val="bg1"/>
                </a:solidFill>
                <a:latin typeface="Times New Roman" pitchFamily="18" charset="0"/>
              </a:rPr>
              <a:t>T,T</a:t>
            </a:r>
            <a:r>
              <a:rPr lang="en-US" altLang="zh-CN" sz="2400" b="1" baseline="-25000" dirty="0">
                <a:solidFill>
                  <a:schemeClr val="bg1"/>
                </a:solidFill>
                <a:latin typeface="Times New Roman" pitchFamily="18" charset="0"/>
              </a:rPr>
              <a:t>0</a:t>
            </a:r>
            <a:r>
              <a:rPr lang="en-US" altLang="zh-CN" sz="2400" b="1" dirty="0">
                <a:solidFill>
                  <a:schemeClr val="bg1"/>
                </a:solidFill>
                <a:latin typeface="Times New Roman" pitchFamily="18" charset="0"/>
              </a:rPr>
              <a:t>)</a:t>
            </a:r>
            <a:r>
              <a:rPr lang="en-US" altLang="zh-CN" sz="2400" b="1" dirty="0">
                <a:solidFill>
                  <a:schemeClr val="bg1"/>
                </a:solidFill>
              </a:rPr>
              <a:t> </a:t>
            </a:r>
          </a:p>
        </p:txBody>
      </p:sp>
      <p:sp>
        <p:nvSpPr>
          <p:cNvPr id="2" name="Slide Number Placeholder 1">
            <a:extLst>
              <a:ext uri="{FF2B5EF4-FFF2-40B4-BE49-F238E27FC236}">
                <a16:creationId xmlns:a16="http://schemas.microsoft.com/office/drawing/2014/main" id="{A99BB09A-AD1C-41D3-8482-0D2E837AE3A3}"/>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
        <p:nvSpPr>
          <p:cNvPr id="11" name="Text Box 9">
            <a:extLst>
              <a:ext uri="{FF2B5EF4-FFF2-40B4-BE49-F238E27FC236}">
                <a16:creationId xmlns:a16="http://schemas.microsoft.com/office/drawing/2014/main" id="{90801182-916D-44BD-AB38-E8B60EF86C90}"/>
              </a:ext>
            </a:extLst>
          </p:cNvPr>
          <p:cNvSpPr txBox="1">
            <a:spLocks noChangeArrowheads="1"/>
          </p:cNvSpPr>
          <p:nvPr/>
        </p:nvSpPr>
        <p:spPr bwMode="auto">
          <a:xfrm>
            <a:off x="5785185" y="4229268"/>
            <a:ext cx="26245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b="1" dirty="0">
                <a:solidFill>
                  <a:srgbClr val="000099"/>
                </a:solidFill>
              </a:rPr>
              <a:t>图</a:t>
            </a:r>
            <a:r>
              <a:rPr lang="en-US" altLang="zh-CN" sz="2400" b="1" dirty="0">
                <a:solidFill>
                  <a:srgbClr val="000099"/>
                </a:solidFill>
              </a:rPr>
              <a:t>8-9  </a:t>
            </a:r>
            <a:r>
              <a:rPr lang="zh-CN" altLang="en-US" sz="2400" b="1" dirty="0">
                <a:solidFill>
                  <a:srgbClr val="000099"/>
                </a:solidFill>
              </a:rPr>
              <a:t>三种导体分别组成的热电偶</a:t>
            </a:r>
          </a:p>
        </p:txBody>
      </p:sp>
      <p:graphicFrame>
        <p:nvGraphicFramePr>
          <p:cNvPr id="12" name="Object 96">
            <a:extLst>
              <a:ext uri="{FF2B5EF4-FFF2-40B4-BE49-F238E27FC236}">
                <a16:creationId xmlns:a16="http://schemas.microsoft.com/office/drawing/2014/main" id="{04F63072-BDBC-42FA-A454-690D3861B2DE}"/>
              </a:ext>
            </a:extLst>
          </p:cNvPr>
          <p:cNvGraphicFramePr>
            <a:graphicFrameLocks noChangeAspect="1"/>
          </p:cNvGraphicFramePr>
          <p:nvPr>
            <p:extLst>
              <p:ext uri="{D42A27DB-BD31-4B8C-83A1-F6EECF244321}">
                <p14:modId xmlns:p14="http://schemas.microsoft.com/office/powerpoint/2010/main" val="649748064"/>
              </p:ext>
            </p:extLst>
          </p:nvPr>
        </p:nvGraphicFramePr>
        <p:xfrm>
          <a:off x="5158312" y="2006600"/>
          <a:ext cx="3878251" cy="1922165"/>
        </p:xfrm>
        <a:graphic>
          <a:graphicData uri="http://schemas.openxmlformats.org/presentationml/2006/ole">
            <mc:AlternateContent xmlns:mc="http://schemas.openxmlformats.org/markup-compatibility/2006">
              <mc:Choice xmlns:v="urn:schemas-microsoft-com:vml" Requires="v">
                <p:oleObj name="Flash 影片" r:id="rId3" imgW="3871080" imgH="2093040" progId="Flash.Movie">
                  <p:embed/>
                </p:oleObj>
              </mc:Choice>
              <mc:Fallback>
                <p:oleObj name="Flash 影片" r:id="rId3" imgW="3871080" imgH="2093040" progId="Flash.Movie">
                  <p:embed/>
                  <p:pic>
                    <p:nvPicPr>
                      <p:cNvPr id="2144" name="Object 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8312" y="2006600"/>
                        <a:ext cx="3878251" cy="192216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574554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5" name="矩形 4"/>
          <p:cNvSpPr/>
          <p:nvPr/>
        </p:nvSpPr>
        <p:spPr>
          <a:xfrm>
            <a:off x="185083" y="1627993"/>
            <a:ext cx="2250989" cy="461663"/>
          </a:xfrm>
          <a:prstGeom prst="rect">
            <a:avLst/>
          </a:prstGeom>
          <a:solidFill>
            <a:srgbClr val="FFC000"/>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 连接导体定律</a:t>
            </a:r>
          </a:p>
        </p:txBody>
      </p:sp>
      <p:sp>
        <p:nvSpPr>
          <p:cNvPr id="27" name="Rectangle 3"/>
          <p:cNvSpPr txBox="1">
            <a:spLocks noRot="1" noChangeArrowheads="1"/>
          </p:cNvSpPr>
          <p:nvPr/>
        </p:nvSpPr>
        <p:spPr>
          <a:xfrm>
            <a:off x="185083" y="2452005"/>
            <a:ext cx="5387042" cy="25368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在热电偶回路中，如果</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热电极</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分别与</a:t>
            </a: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连接导线</a:t>
            </a:r>
            <a:r>
              <a:rPr lang="en-US" altLang="zh-CN" sz="24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4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相连接，结点温度分别为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，那么回路的热电动势将等于热电偶的热电动势</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T,T</a:t>
            </a:r>
            <a:r>
              <a:rPr lang="en-US" altLang="zh-CN" sz="2400" b="1"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与连接导线</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在温度</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时热电动势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的代数和，即</a:t>
            </a:r>
          </a:p>
        </p:txBody>
      </p:sp>
      <p:sp>
        <p:nvSpPr>
          <p:cNvPr id="7" name="矩形 6"/>
          <p:cNvSpPr/>
          <p:nvPr/>
        </p:nvSpPr>
        <p:spPr>
          <a:xfrm>
            <a:off x="445725" y="5003088"/>
            <a:ext cx="5786800" cy="572464"/>
          </a:xfrm>
          <a:prstGeom prst="rect">
            <a:avLst/>
          </a:prstGeom>
        </p:spPr>
        <p:txBody>
          <a:bodyPr wrap="square">
            <a:spAutoFit/>
          </a:bodyPr>
          <a:lstStyle/>
          <a:p>
            <a:pPr lvl="0">
              <a:lnSpc>
                <a:spcPct val="130000"/>
              </a:lnSpc>
            </a:pPr>
            <a:r>
              <a:rPr lang="en-US" altLang="zh-CN" sz="2400" b="1" i="1" dirty="0">
                <a:solidFill>
                  <a:prstClr val="black"/>
                </a:solidFill>
                <a:latin typeface="Times New Roman" pitchFamily="18" charset="0"/>
              </a:rPr>
              <a:t>E</a:t>
            </a:r>
            <a:r>
              <a:rPr lang="en-US" altLang="zh-CN" sz="2400" b="1" i="1" baseline="-25000" dirty="0">
                <a:solidFill>
                  <a:prstClr val="black"/>
                </a:solidFill>
                <a:latin typeface="Times New Roman" pitchFamily="18" charset="0"/>
              </a:rPr>
              <a:t>ABB</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i="1" baseline="-25000" dirty="0">
                <a:solidFill>
                  <a:prstClr val="black"/>
                </a:solidFill>
                <a:latin typeface="Times New Roman" pitchFamily="18" charset="0"/>
              </a:rPr>
              <a:t>A</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T</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T</a:t>
            </a:r>
            <a:r>
              <a:rPr lang="en-US" altLang="zh-CN" sz="2400" b="1" i="1" baseline="-25000" dirty="0">
                <a:solidFill>
                  <a:prstClr val="black"/>
                </a:solidFill>
                <a:latin typeface="Times New Roman" pitchFamily="18" charset="0"/>
              </a:rPr>
              <a:t>n</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T</a:t>
            </a:r>
            <a:r>
              <a:rPr lang="en-US" altLang="zh-CN" sz="2400" b="1" baseline="-25000" dirty="0">
                <a:solidFill>
                  <a:prstClr val="black"/>
                </a:solidFill>
                <a:latin typeface="Times New Roman" pitchFamily="18" charset="0"/>
              </a:rPr>
              <a:t>0</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=E</a:t>
            </a:r>
            <a:r>
              <a:rPr lang="en-US" altLang="zh-CN" sz="2400" b="1" i="1" baseline="-25000" dirty="0">
                <a:solidFill>
                  <a:prstClr val="black"/>
                </a:solidFill>
                <a:latin typeface="Times New Roman" pitchFamily="18" charset="0"/>
              </a:rPr>
              <a:t>AB</a:t>
            </a:r>
            <a:r>
              <a:rPr lang="en-US" altLang="zh-CN" sz="2400" b="1" dirty="0">
                <a:solidFill>
                  <a:prstClr val="black"/>
                </a:solidFill>
                <a:latin typeface="Times New Roman" pitchFamily="18" charset="0"/>
              </a:rPr>
              <a:t>(</a:t>
            </a:r>
            <a:r>
              <a:rPr lang="en-US" altLang="zh-CN" sz="2400" b="1" i="1" dirty="0" err="1">
                <a:solidFill>
                  <a:prstClr val="black"/>
                </a:solidFill>
                <a:latin typeface="Times New Roman" pitchFamily="18" charset="0"/>
              </a:rPr>
              <a:t>T</a:t>
            </a:r>
            <a:r>
              <a:rPr lang="en-US" altLang="zh-CN" sz="2400" b="1" dirty="0" err="1">
                <a:solidFill>
                  <a:prstClr val="black"/>
                </a:solidFill>
                <a:latin typeface="Times New Roman" pitchFamily="18" charset="0"/>
              </a:rPr>
              <a:t>,</a:t>
            </a:r>
            <a:r>
              <a:rPr lang="en-US" altLang="zh-CN" sz="2400" b="1" i="1" dirty="0" err="1">
                <a:solidFill>
                  <a:prstClr val="black"/>
                </a:solidFill>
                <a:latin typeface="Times New Roman" pitchFamily="18" charset="0"/>
              </a:rPr>
              <a:t>T</a:t>
            </a:r>
            <a:r>
              <a:rPr lang="en-US" altLang="zh-CN" sz="2400" b="1" i="1" baseline="-25000" dirty="0" err="1">
                <a:solidFill>
                  <a:prstClr val="black"/>
                </a:solidFill>
                <a:latin typeface="Times New Roman" pitchFamily="18" charset="0"/>
              </a:rPr>
              <a:t>n</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+E</a:t>
            </a:r>
            <a:r>
              <a:rPr lang="en-US" altLang="zh-CN" sz="2400" b="1" i="1" baseline="-25000" dirty="0">
                <a:solidFill>
                  <a:prstClr val="black"/>
                </a:solidFill>
                <a:latin typeface="Times New Roman" pitchFamily="18" charset="0"/>
              </a:rPr>
              <a:t>A</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i="1" baseline="-25000" dirty="0">
                <a:solidFill>
                  <a:prstClr val="black"/>
                </a:solidFill>
                <a:latin typeface="Times New Roman" pitchFamily="18" charset="0"/>
              </a:rPr>
              <a:t>B</a:t>
            </a:r>
            <a:r>
              <a:rPr lang="en-US" altLang="zh-CN" sz="2400" baseline="-25000" dirty="0">
                <a:latin typeface="Times New Roman" pitchFamily="18" charset="0"/>
                <a:ea typeface="宋体" panose="02010600030101010101" pitchFamily="2" charset="-122"/>
                <a:cs typeface="Times New Roman" pitchFamily="18" charset="0"/>
              </a:rPr>
              <a:t>'</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T</a:t>
            </a:r>
            <a:r>
              <a:rPr lang="en-US" altLang="zh-CN" sz="2400" b="1" i="1" baseline="-25000" dirty="0">
                <a:solidFill>
                  <a:prstClr val="black"/>
                </a:solidFill>
                <a:latin typeface="Times New Roman" pitchFamily="18" charset="0"/>
              </a:rPr>
              <a:t>n</a:t>
            </a:r>
            <a:r>
              <a:rPr lang="en-US" altLang="zh-CN" sz="2400" b="1" dirty="0">
                <a:solidFill>
                  <a:prstClr val="black"/>
                </a:solidFill>
                <a:latin typeface="Times New Roman" pitchFamily="18" charset="0"/>
              </a:rPr>
              <a:t>,</a:t>
            </a:r>
            <a:r>
              <a:rPr lang="en-US" altLang="zh-CN" sz="2400" b="1" i="1" dirty="0">
                <a:solidFill>
                  <a:prstClr val="black"/>
                </a:solidFill>
                <a:latin typeface="Times New Roman" pitchFamily="18" charset="0"/>
              </a:rPr>
              <a:t>T</a:t>
            </a:r>
            <a:r>
              <a:rPr lang="en-US" altLang="zh-CN" sz="2400" b="1" baseline="-25000" dirty="0">
                <a:solidFill>
                  <a:prstClr val="black"/>
                </a:solidFill>
                <a:latin typeface="Times New Roman" pitchFamily="18" charset="0"/>
              </a:rPr>
              <a:t>0</a:t>
            </a:r>
            <a:r>
              <a:rPr lang="en-US" altLang="zh-CN" sz="2400" b="1" dirty="0">
                <a:solidFill>
                  <a:prstClr val="black"/>
                </a:solidFill>
                <a:latin typeface="Times New Roman" pitchFamily="18" charset="0"/>
              </a:rPr>
              <a:t>)</a:t>
            </a:r>
          </a:p>
        </p:txBody>
      </p:sp>
      <p:sp>
        <p:nvSpPr>
          <p:cNvPr id="2" name="Slide Number Placeholder 1">
            <a:extLst>
              <a:ext uri="{FF2B5EF4-FFF2-40B4-BE49-F238E27FC236}">
                <a16:creationId xmlns:a16="http://schemas.microsoft.com/office/drawing/2014/main" id="{212C72E8-39CB-4603-9FEC-D1564B4AD9B0}"/>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
        <p:nvSpPr>
          <p:cNvPr id="10" name="Text Box 9">
            <a:extLst>
              <a:ext uri="{FF2B5EF4-FFF2-40B4-BE49-F238E27FC236}">
                <a16:creationId xmlns:a16="http://schemas.microsoft.com/office/drawing/2014/main" id="{F92DD59B-1C9B-4D5B-8C07-F8785905ECBA}"/>
              </a:ext>
            </a:extLst>
          </p:cNvPr>
          <p:cNvSpPr txBox="1">
            <a:spLocks noChangeArrowheads="1"/>
          </p:cNvSpPr>
          <p:nvPr/>
        </p:nvSpPr>
        <p:spPr bwMode="auto">
          <a:xfrm>
            <a:off x="5667663" y="4157833"/>
            <a:ext cx="32233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8-10  </a:t>
            </a:r>
            <a:r>
              <a:rPr lang="zh-CN" altLang="en-US" sz="2400" b="1" dirty="0">
                <a:solidFill>
                  <a:srgbClr val="000099"/>
                </a:solidFill>
              </a:rPr>
              <a:t>用连接导线的热电偶回路</a:t>
            </a:r>
          </a:p>
        </p:txBody>
      </p:sp>
      <p:graphicFrame>
        <p:nvGraphicFramePr>
          <p:cNvPr id="11" name="Object 97">
            <a:extLst>
              <a:ext uri="{FF2B5EF4-FFF2-40B4-BE49-F238E27FC236}">
                <a16:creationId xmlns:a16="http://schemas.microsoft.com/office/drawing/2014/main" id="{BFFD579D-3F36-4E32-8C70-13F617CC64D8}"/>
              </a:ext>
            </a:extLst>
          </p:cNvPr>
          <p:cNvGraphicFramePr>
            <a:graphicFrameLocks noChangeAspect="1"/>
          </p:cNvGraphicFramePr>
          <p:nvPr>
            <p:extLst>
              <p:ext uri="{D42A27DB-BD31-4B8C-83A1-F6EECF244321}">
                <p14:modId xmlns:p14="http://schemas.microsoft.com/office/powerpoint/2010/main" val="2069382249"/>
              </p:ext>
            </p:extLst>
          </p:nvPr>
        </p:nvGraphicFramePr>
        <p:xfrm>
          <a:off x="5601636" y="2463592"/>
          <a:ext cx="3415878" cy="1694241"/>
        </p:xfrm>
        <a:graphic>
          <a:graphicData uri="http://schemas.openxmlformats.org/presentationml/2006/ole">
            <mc:AlternateContent xmlns:mc="http://schemas.openxmlformats.org/markup-compatibility/2006">
              <mc:Choice xmlns:v="urn:schemas-microsoft-com:vml" Requires="v">
                <p:oleObj name="Flash 影片" r:id="rId3" imgW="5132160" imgH="2428200" progId="Flash.Movie">
                  <p:embed/>
                </p:oleObj>
              </mc:Choice>
              <mc:Fallback>
                <p:oleObj name="Flash 影片" r:id="rId3" imgW="5132160" imgH="2428200" progId="Flash.Movie">
                  <p:embed/>
                  <p:pic>
                    <p:nvPicPr>
                      <p:cNvPr id="2145" name="Object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1636" y="2463592"/>
                        <a:ext cx="3415878" cy="169424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905853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5" name="矩形 4"/>
          <p:cNvSpPr/>
          <p:nvPr/>
        </p:nvSpPr>
        <p:spPr>
          <a:xfrm>
            <a:off x="267495" y="1434851"/>
            <a:ext cx="2139155" cy="461663"/>
          </a:xfrm>
          <a:prstGeom prst="rect">
            <a:avLst/>
          </a:prstGeom>
          <a:solidFill>
            <a:schemeClr val="accent6">
              <a:lumMod val="40000"/>
              <a:lumOff val="60000"/>
            </a:schemeClr>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中间温度定律</a:t>
            </a:r>
          </a:p>
        </p:txBody>
      </p:sp>
      <p:sp>
        <p:nvSpPr>
          <p:cNvPr id="27" name="Rectangle 5"/>
          <p:cNvSpPr>
            <a:spLocks noRot="1" noChangeArrowheads="1"/>
          </p:cNvSpPr>
          <p:nvPr/>
        </p:nvSpPr>
        <p:spPr bwMode="auto">
          <a:xfrm>
            <a:off x="218590" y="2026636"/>
            <a:ext cx="5143985" cy="2018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2300" eaLnBrk="1" hangingPunct="1">
              <a:lnSpc>
                <a:spcPct val="160000"/>
              </a:lnSpc>
              <a:spcBef>
                <a:spcPct val="20000"/>
              </a:spcBef>
              <a:buClr>
                <a:schemeClr val="folHlink"/>
              </a:buClr>
              <a:buFont typeface="Wingdings" pitchFamily="2" charset="2"/>
              <a:buNone/>
            </a:pPr>
            <a:r>
              <a:rPr lang="zh-CN" altLang="en-US" sz="2400" b="1" dirty="0">
                <a:ea typeface="宋体" pitchFamily="2" charset="-122"/>
              </a:rPr>
              <a:t>热电偶在结点温度为</a:t>
            </a:r>
            <a:r>
              <a:rPr lang="en-US" altLang="zh-CN" sz="2400" i="1" dirty="0">
                <a:latin typeface="Times New Roman" pitchFamily="18" charset="0"/>
                <a:ea typeface="宋体" pitchFamily="2" charset="-122"/>
              </a:rPr>
              <a:t>T</a:t>
            </a:r>
            <a:r>
              <a:rPr lang="zh-CN" altLang="en-US" sz="2400" i="1" dirty="0">
                <a:latin typeface="Times New Roman" pitchFamily="18" charset="0"/>
                <a:ea typeface="宋体" pitchFamily="2" charset="-122"/>
              </a:rPr>
              <a:t>、</a:t>
            </a:r>
            <a:r>
              <a:rPr lang="en-US" altLang="zh-CN" sz="2400" i="1" dirty="0">
                <a:latin typeface="Times New Roman" pitchFamily="18" charset="0"/>
                <a:ea typeface="宋体" pitchFamily="2" charset="-122"/>
              </a:rPr>
              <a:t>T</a:t>
            </a:r>
            <a:r>
              <a:rPr lang="en-US" altLang="zh-CN" sz="2400" baseline="-25000" dirty="0">
                <a:latin typeface="Times New Roman" pitchFamily="18" charset="0"/>
                <a:ea typeface="宋体" pitchFamily="2" charset="-122"/>
              </a:rPr>
              <a:t>0</a:t>
            </a:r>
            <a:r>
              <a:rPr lang="zh-CN" altLang="en-US" sz="2400" b="1" dirty="0">
                <a:latin typeface="Times New Roman" pitchFamily="18" charset="0"/>
                <a:ea typeface="宋体" pitchFamily="2" charset="-122"/>
              </a:rPr>
              <a:t>时的热电动势值</a:t>
            </a:r>
            <a:r>
              <a:rPr lang="en-US" altLang="zh-CN" sz="2400" i="1" dirty="0">
                <a:latin typeface="Times New Roman" pitchFamily="18" charset="0"/>
                <a:ea typeface="宋体" pitchFamily="2" charset="-122"/>
              </a:rPr>
              <a:t>E</a:t>
            </a:r>
            <a:r>
              <a:rPr lang="en-US" altLang="zh-CN" sz="2400" i="1" baseline="-25000" dirty="0">
                <a:latin typeface="Times New Roman" pitchFamily="18" charset="0"/>
                <a:ea typeface="宋体" pitchFamily="2" charset="-122"/>
              </a:rPr>
              <a:t>AB</a:t>
            </a:r>
            <a:r>
              <a:rPr lang="en-US" altLang="zh-CN" sz="2400" dirty="0">
                <a:latin typeface="Times New Roman" pitchFamily="18" charset="0"/>
                <a:ea typeface="宋体" pitchFamily="2" charset="-122"/>
              </a:rPr>
              <a:t>(</a:t>
            </a:r>
            <a:r>
              <a:rPr lang="en-US" altLang="zh-CN" sz="2400" i="1" dirty="0">
                <a:latin typeface="Times New Roman" pitchFamily="18" charset="0"/>
                <a:ea typeface="宋体" pitchFamily="2" charset="-122"/>
              </a:rPr>
              <a:t>T,T</a:t>
            </a:r>
            <a:r>
              <a:rPr lang="en-US" altLang="zh-CN" sz="2400" baseline="-25000" dirty="0">
                <a:latin typeface="Times New Roman" pitchFamily="18" charset="0"/>
                <a:ea typeface="宋体" pitchFamily="2" charset="-122"/>
              </a:rPr>
              <a:t>0</a:t>
            </a:r>
            <a:r>
              <a:rPr lang="en-US" altLang="zh-CN" sz="2400" i="1" baseline="-25000" dirty="0">
                <a:latin typeface="Times New Roman" pitchFamily="18" charset="0"/>
                <a:ea typeface="宋体" pitchFamily="2" charset="-122"/>
              </a:rPr>
              <a:t> </a:t>
            </a:r>
            <a:r>
              <a:rPr lang="en-US" altLang="zh-CN" sz="2400" dirty="0">
                <a:latin typeface="Times New Roman" pitchFamily="18" charset="0"/>
                <a:ea typeface="宋体" pitchFamily="2" charset="-122"/>
              </a:rPr>
              <a:t>)</a:t>
            </a:r>
            <a:r>
              <a:rPr lang="zh-CN" altLang="en-US" sz="2400" b="1" dirty="0">
                <a:latin typeface="Times New Roman" pitchFamily="18" charset="0"/>
                <a:ea typeface="宋体" pitchFamily="2" charset="-122"/>
              </a:rPr>
              <a:t>，等于热电偶在</a:t>
            </a:r>
            <a:r>
              <a:rPr lang="en-US" altLang="zh-CN" sz="2400" dirty="0">
                <a:latin typeface="Times New Roman" pitchFamily="18" charset="0"/>
                <a:ea typeface="宋体" pitchFamily="2" charset="-122"/>
              </a:rPr>
              <a:t>(</a:t>
            </a:r>
            <a:r>
              <a:rPr lang="en-US" altLang="zh-CN" sz="2400" i="1" dirty="0" err="1">
                <a:latin typeface="Times New Roman" pitchFamily="18" charset="0"/>
                <a:ea typeface="宋体" pitchFamily="2" charset="-122"/>
              </a:rPr>
              <a:t>T,T</a:t>
            </a:r>
            <a:r>
              <a:rPr lang="en-US" altLang="zh-CN" sz="2400" i="1" baseline="-25000" dirty="0" err="1">
                <a:latin typeface="Times New Roman" pitchFamily="18" charset="0"/>
                <a:ea typeface="宋体" pitchFamily="2" charset="-122"/>
              </a:rPr>
              <a:t>n</a:t>
            </a:r>
            <a:r>
              <a:rPr lang="en-US" altLang="zh-CN" sz="2400" baseline="-25000" dirty="0">
                <a:latin typeface="Times New Roman" pitchFamily="18" charset="0"/>
                <a:ea typeface="宋体" pitchFamily="2" charset="-122"/>
              </a:rPr>
              <a:t> </a:t>
            </a:r>
            <a:r>
              <a:rPr lang="en-US" altLang="zh-CN" sz="2400" dirty="0">
                <a:latin typeface="Times New Roman" pitchFamily="18" charset="0"/>
                <a:ea typeface="宋体" pitchFamily="2" charset="-122"/>
              </a:rPr>
              <a:t>)</a:t>
            </a:r>
            <a:r>
              <a:rPr lang="en-US" altLang="zh-CN" sz="2400" i="1" dirty="0">
                <a:latin typeface="Times New Roman" pitchFamily="18" charset="0"/>
                <a:ea typeface="宋体" pitchFamily="2" charset="-122"/>
              </a:rPr>
              <a:t> </a:t>
            </a:r>
            <a:r>
              <a:rPr lang="zh-CN" altLang="en-US" sz="2400" i="1" dirty="0">
                <a:latin typeface="Times New Roman" pitchFamily="18" charset="0"/>
                <a:ea typeface="宋体" pitchFamily="2" charset="-122"/>
              </a:rPr>
              <a:t>、 </a:t>
            </a:r>
            <a:r>
              <a:rPr lang="en-US" altLang="zh-CN" sz="2400" dirty="0">
                <a:latin typeface="Times New Roman" pitchFamily="18" charset="0"/>
                <a:ea typeface="宋体" pitchFamily="2" charset="-122"/>
              </a:rPr>
              <a:t>(</a:t>
            </a:r>
            <a:r>
              <a:rPr lang="en-US" altLang="zh-CN" sz="2400" i="1" dirty="0">
                <a:latin typeface="Times New Roman" pitchFamily="18" charset="0"/>
                <a:ea typeface="宋体" pitchFamily="2" charset="-122"/>
              </a:rPr>
              <a:t>T</a:t>
            </a:r>
            <a:r>
              <a:rPr lang="en-US" altLang="zh-CN" sz="2400" i="1" baseline="-25000" dirty="0">
                <a:latin typeface="Times New Roman" pitchFamily="18" charset="0"/>
                <a:ea typeface="宋体" pitchFamily="2" charset="-122"/>
              </a:rPr>
              <a:t>n</a:t>
            </a:r>
            <a:r>
              <a:rPr lang="en-US" altLang="zh-CN" sz="2400" i="1" dirty="0">
                <a:latin typeface="Times New Roman" pitchFamily="18" charset="0"/>
                <a:ea typeface="宋体" pitchFamily="2" charset="-122"/>
              </a:rPr>
              <a:t>,T</a:t>
            </a:r>
            <a:r>
              <a:rPr lang="en-US" altLang="zh-CN" sz="2400" baseline="-25000" dirty="0">
                <a:latin typeface="Times New Roman" pitchFamily="18" charset="0"/>
                <a:ea typeface="宋体" pitchFamily="2" charset="-122"/>
              </a:rPr>
              <a:t>0 </a:t>
            </a:r>
            <a:r>
              <a:rPr lang="en-US" altLang="zh-CN" sz="2400" dirty="0">
                <a:latin typeface="Times New Roman" pitchFamily="18" charset="0"/>
                <a:ea typeface="宋体" pitchFamily="2" charset="-122"/>
              </a:rPr>
              <a:t>)</a:t>
            </a:r>
            <a:r>
              <a:rPr lang="en-US" altLang="zh-CN" sz="2400" b="1" dirty="0">
                <a:latin typeface="Times New Roman" pitchFamily="18" charset="0"/>
                <a:ea typeface="宋体" pitchFamily="2" charset="-122"/>
              </a:rPr>
              <a:t> </a:t>
            </a:r>
            <a:r>
              <a:rPr lang="zh-CN" altLang="en-US" sz="2400" b="1" dirty="0">
                <a:latin typeface="Times New Roman" pitchFamily="18" charset="0"/>
                <a:ea typeface="宋体" pitchFamily="2" charset="-122"/>
              </a:rPr>
              <a:t>时相应的热电动势</a:t>
            </a:r>
            <a:r>
              <a:rPr lang="en-US" altLang="zh-CN" sz="2400" i="1" dirty="0">
                <a:latin typeface="Times New Roman" pitchFamily="18" charset="0"/>
                <a:ea typeface="宋体" pitchFamily="2" charset="-122"/>
              </a:rPr>
              <a:t>E</a:t>
            </a:r>
            <a:r>
              <a:rPr lang="en-US" altLang="zh-CN" sz="2400" i="1" baseline="-25000" dirty="0">
                <a:latin typeface="Times New Roman" pitchFamily="18" charset="0"/>
                <a:ea typeface="宋体" pitchFamily="2" charset="-122"/>
              </a:rPr>
              <a:t>AB</a:t>
            </a:r>
            <a:r>
              <a:rPr lang="en-US" altLang="zh-CN" sz="2400" dirty="0">
                <a:latin typeface="Times New Roman" pitchFamily="18" charset="0"/>
                <a:ea typeface="宋体" pitchFamily="2" charset="-122"/>
              </a:rPr>
              <a:t>(</a:t>
            </a:r>
            <a:r>
              <a:rPr lang="en-US" altLang="zh-CN" sz="2400" i="1" dirty="0" err="1">
                <a:latin typeface="Times New Roman" pitchFamily="18" charset="0"/>
                <a:ea typeface="宋体" pitchFamily="2" charset="-122"/>
              </a:rPr>
              <a:t>T,T</a:t>
            </a:r>
            <a:r>
              <a:rPr lang="en-US" altLang="zh-CN" sz="2400" i="1" baseline="-25000" dirty="0" err="1">
                <a:latin typeface="Times New Roman" pitchFamily="18" charset="0"/>
                <a:ea typeface="宋体" pitchFamily="2" charset="-122"/>
              </a:rPr>
              <a:t>n</a:t>
            </a:r>
            <a:r>
              <a:rPr lang="en-US" altLang="zh-CN" sz="2400" i="1" baseline="-25000" dirty="0">
                <a:latin typeface="Times New Roman" pitchFamily="18" charset="0"/>
                <a:ea typeface="宋体" pitchFamily="2" charset="-122"/>
              </a:rPr>
              <a:t> </a:t>
            </a:r>
            <a:r>
              <a:rPr lang="en-US" altLang="zh-CN" sz="2400" dirty="0">
                <a:latin typeface="Times New Roman" pitchFamily="18" charset="0"/>
                <a:ea typeface="宋体" pitchFamily="2" charset="-122"/>
              </a:rPr>
              <a:t>)</a:t>
            </a:r>
            <a:r>
              <a:rPr lang="zh-CN" altLang="en-US" sz="2400" b="1" dirty="0">
                <a:latin typeface="Times New Roman" pitchFamily="18" charset="0"/>
                <a:ea typeface="宋体" pitchFamily="2" charset="-122"/>
              </a:rPr>
              <a:t>与</a:t>
            </a:r>
            <a:r>
              <a:rPr lang="en-US" altLang="zh-CN" sz="2400" i="1" dirty="0">
                <a:latin typeface="Times New Roman" pitchFamily="18" charset="0"/>
                <a:ea typeface="宋体" pitchFamily="2" charset="-122"/>
              </a:rPr>
              <a:t>E</a:t>
            </a:r>
            <a:r>
              <a:rPr lang="en-US" altLang="zh-CN" sz="2400" i="1" baseline="-25000" dirty="0">
                <a:latin typeface="Times New Roman" pitchFamily="18" charset="0"/>
                <a:ea typeface="宋体" pitchFamily="2" charset="-122"/>
              </a:rPr>
              <a:t>AB</a:t>
            </a:r>
            <a:r>
              <a:rPr lang="en-US" altLang="zh-CN" sz="2400" dirty="0">
                <a:latin typeface="Times New Roman" pitchFamily="18" charset="0"/>
                <a:ea typeface="宋体" pitchFamily="2" charset="-122"/>
              </a:rPr>
              <a:t>(</a:t>
            </a:r>
            <a:r>
              <a:rPr lang="en-US" altLang="zh-CN" sz="2400" i="1" dirty="0">
                <a:latin typeface="Times New Roman" pitchFamily="18" charset="0"/>
                <a:ea typeface="宋体" pitchFamily="2" charset="-122"/>
              </a:rPr>
              <a:t>T</a:t>
            </a:r>
            <a:r>
              <a:rPr lang="en-US" altLang="zh-CN" sz="2400" i="1" baseline="-25000" dirty="0">
                <a:latin typeface="Times New Roman" pitchFamily="18" charset="0"/>
                <a:ea typeface="宋体" pitchFamily="2" charset="-122"/>
              </a:rPr>
              <a:t>n</a:t>
            </a:r>
            <a:r>
              <a:rPr lang="en-US" altLang="zh-CN" sz="2400" i="1" dirty="0">
                <a:latin typeface="Times New Roman" pitchFamily="18" charset="0"/>
                <a:ea typeface="宋体" pitchFamily="2" charset="-122"/>
              </a:rPr>
              <a:t>,T</a:t>
            </a:r>
            <a:r>
              <a:rPr lang="en-US" altLang="zh-CN" sz="2400" baseline="-25000" dirty="0">
                <a:latin typeface="Times New Roman" pitchFamily="18" charset="0"/>
                <a:ea typeface="宋体" pitchFamily="2" charset="-122"/>
              </a:rPr>
              <a:t>0</a:t>
            </a:r>
            <a:r>
              <a:rPr lang="en-US" altLang="zh-CN" sz="2400" b="1" baseline="-25000" dirty="0">
                <a:latin typeface="Times New Roman" pitchFamily="18" charset="0"/>
                <a:ea typeface="宋体" pitchFamily="2" charset="-122"/>
              </a:rPr>
              <a:t> </a:t>
            </a:r>
            <a:r>
              <a:rPr lang="en-US" altLang="zh-CN" sz="2400" dirty="0">
                <a:latin typeface="Times New Roman" pitchFamily="18" charset="0"/>
                <a:ea typeface="宋体" pitchFamily="2" charset="-122"/>
              </a:rPr>
              <a:t>)</a:t>
            </a:r>
            <a:r>
              <a:rPr lang="en-US" altLang="zh-CN" sz="2400" b="1" dirty="0">
                <a:ea typeface="宋体" pitchFamily="2" charset="-122"/>
              </a:rPr>
              <a:t> </a:t>
            </a:r>
            <a:r>
              <a:rPr lang="zh-CN" altLang="en-US" sz="2400" b="1" dirty="0">
                <a:ea typeface="宋体" pitchFamily="2" charset="-122"/>
              </a:rPr>
              <a:t>的代</a:t>
            </a:r>
            <a:r>
              <a:rPr lang="zh-CN" altLang="en-US" sz="2400" b="1">
                <a:ea typeface="宋体" pitchFamily="2" charset="-122"/>
              </a:rPr>
              <a:t>数和：</a:t>
            </a:r>
            <a:endParaRPr lang="zh-CN" altLang="en-US" sz="2400" b="1" i="1" dirty="0">
              <a:latin typeface="Times New Roman" pitchFamily="18" charset="0"/>
              <a:ea typeface="宋体" pitchFamily="2" charset="-122"/>
            </a:endParaRPr>
          </a:p>
        </p:txBody>
      </p:sp>
      <p:sp>
        <p:nvSpPr>
          <p:cNvPr id="28" name="Text Box 25"/>
          <p:cNvSpPr txBox="1">
            <a:spLocks noChangeArrowheads="1"/>
          </p:cNvSpPr>
          <p:nvPr/>
        </p:nvSpPr>
        <p:spPr bwMode="auto">
          <a:xfrm>
            <a:off x="267495" y="5400363"/>
            <a:ext cx="543279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solidFill>
                  <a:srgbClr val="FF0000"/>
                </a:solidFill>
              </a:rPr>
              <a:t>为热电偶制定分度表提供了理论依据。</a:t>
            </a:r>
          </a:p>
        </p:txBody>
      </p:sp>
      <p:sp>
        <p:nvSpPr>
          <p:cNvPr id="29" name="Rectangle 26"/>
          <p:cNvSpPr>
            <a:spLocks noRot="1" noChangeArrowheads="1"/>
          </p:cNvSpPr>
          <p:nvPr/>
        </p:nvSpPr>
        <p:spPr bwMode="auto">
          <a:xfrm>
            <a:off x="324645" y="4456724"/>
            <a:ext cx="4951779" cy="665162"/>
          </a:xfrm>
          <a:prstGeom prst="rect">
            <a:avLst/>
          </a:prstGeom>
          <a:ln/>
        </p:spPr>
        <p:style>
          <a:lnRef idx="0">
            <a:schemeClr val="accent1"/>
          </a:lnRef>
          <a:fillRef idx="3">
            <a:schemeClr val="accent1"/>
          </a:fillRef>
          <a:effectRef idx="3">
            <a:schemeClr val="accent1"/>
          </a:effectRef>
          <a:fontRef idx="minor">
            <a:schemeClr val="lt1"/>
          </a:fontRef>
        </p:style>
        <p:txBody>
          <a:bodyPr/>
          <a:lstStyle/>
          <a:p>
            <a:pPr marL="342900" indent="-342900" eaLnBrk="1" hangingPunct="1">
              <a:lnSpc>
                <a:spcPct val="130000"/>
              </a:lnSpc>
              <a:spcBef>
                <a:spcPct val="20000"/>
              </a:spcBef>
              <a:buClr>
                <a:schemeClr val="folHlink"/>
              </a:buClr>
              <a:buFont typeface="Wingdings" pitchFamily="2" charset="2"/>
              <a:buNone/>
            </a:pPr>
            <a:r>
              <a:rPr lang="en-US" altLang="zh-CN" sz="2400" b="1" i="1" dirty="0">
                <a:latin typeface="Times New Roman" pitchFamily="18" charset="0"/>
                <a:ea typeface="宋体" pitchFamily="2" charset="-122"/>
              </a:rPr>
              <a:t>E</a:t>
            </a:r>
            <a:r>
              <a:rPr lang="en-US" altLang="zh-CN" sz="2400" b="1" i="1" baseline="-25000" dirty="0">
                <a:latin typeface="Times New Roman" pitchFamily="18" charset="0"/>
                <a:ea typeface="宋体" pitchFamily="2" charset="-122"/>
              </a:rPr>
              <a:t>AB</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T</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T</a:t>
            </a:r>
            <a:r>
              <a:rPr lang="en-US" altLang="zh-CN" sz="2400" b="1" i="1" baseline="-25000" dirty="0">
                <a:latin typeface="Times New Roman" pitchFamily="18" charset="0"/>
                <a:ea typeface="宋体" pitchFamily="2" charset="-122"/>
              </a:rPr>
              <a:t>n</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T</a:t>
            </a:r>
            <a:r>
              <a:rPr lang="en-US" altLang="zh-CN" sz="2400" b="1" baseline="-25000" dirty="0">
                <a:latin typeface="Times New Roman" pitchFamily="18" charset="0"/>
                <a:ea typeface="宋体" pitchFamily="2" charset="-122"/>
              </a:rPr>
              <a:t>0</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=E</a:t>
            </a:r>
            <a:r>
              <a:rPr lang="en-US" altLang="zh-CN" sz="2400" b="1" i="1" baseline="-25000" dirty="0">
                <a:latin typeface="Times New Roman" pitchFamily="18" charset="0"/>
                <a:ea typeface="宋体" pitchFamily="2" charset="-122"/>
              </a:rPr>
              <a:t>AB</a:t>
            </a:r>
            <a:r>
              <a:rPr lang="en-US" altLang="zh-CN" sz="2400" b="1" dirty="0">
                <a:latin typeface="Times New Roman" pitchFamily="18" charset="0"/>
                <a:ea typeface="宋体" pitchFamily="2" charset="-122"/>
              </a:rPr>
              <a:t>(</a:t>
            </a:r>
            <a:r>
              <a:rPr lang="en-US" altLang="zh-CN" sz="2400" b="1" i="1" dirty="0" err="1">
                <a:latin typeface="Times New Roman" pitchFamily="18" charset="0"/>
                <a:ea typeface="宋体" pitchFamily="2" charset="-122"/>
              </a:rPr>
              <a:t>T</a:t>
            </a:r>
            <a:r>
              <a:rPr lang="en-US" altLang="zh-CN" sz="2400" b="1" dirty="0" err="1">
                <a:latin typeface="Times New Roman" pitchFamily="18" charset="0"/>
                <a:ea typeface="宋体" pitchFamily="2" charset="-122"/>
              </a:rPr>
              <a:t>,</a:t>
            </a:r>
            <a:r>
              <a:rPr lang="en-US" altLang="zh-CN" sz="2400" b="1" i="1" dirty="0" err="1">
                <a:latin typeface="Times New Roman" pitchFamily="18" charset="0"/>
                <a:ea typeface="宋体" pitchFamily="2" charset="-122"/>
              </a:rPr>
              <a:t>T</a:t>
            </a:r>
            <a:r>
              <a:rPr lang="en-US" altLang="zh-CN" sz="2400" b="1" i="1" baseline="-25000" dirty="0" err="1">
                <a:latin typeface="Times New Roman" pitchFamily="18" charset="0"/>
                <a:ea typeface="宋体" pitchFamily="2" charset="-122"/>
              </a:rPr>
              <a:t>n</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+E</a:t>
            </a:r>
            <a:r>
              <a:rPr lang="en-US" altLang="zh-CN" sz="2400" b="1" i="1" baseline="-25000" dirty="0">
                <a:latin typeface="Times New Roman" pitchFamily="18" charset="0"/>
                <a:ea typeface="宋体" pitchFamily="2" charset="-122"/>
              </a:rPr>
              <a:t>AB</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T</a:t>
            </a:r>
            <a:r>
              <a:rPr lang="en-US" altLang="zh-CN" sz="2400" b="1" i="1" baseline="-25000" dirty="0">
                <a:latin typeface="Times New Roman" pitchFamily="18" charset="0"/>
                <a:ea typeface="宋体" pitchFamily="2" charset="-122"/>
              </a:rPr>
              <a:t>n</a:t>
            </a:r>
            <a:r>
              <a:rPr lang="en-US" altLang="zh-CN" sz="2400" b="1" dirty="0">
                <a:latin typeface="Times New Roman" pitchFamily="18" charset="0"/>
                <a:ea typeface="宋体" pitchFamily="2" charset="-122"/>
              </a:rPr>
              <a:t>,</a:t>
            </a:r>
            <a:r>
              <a:rPr lang="en-US" altLang="zh-CN" sz="2400" b="1" i="1" dirty="0">
                <a:latin typeface="Times New Roman" pitchFamily="18" charset="0"/>
                <a:ea typeface="宋体" pitchFamily="2" charset="-122"/>
              </a:rPr>
              <a:t>T</a:t>
            </a:r>
            <a:r>
              <a:rPr lang="en-US" altLang="zh-CN" sz="2400" b="1" baseline="-25000" dirty="0">
                <a:latin typeface="Times New Roman" pitchFamily="18" charset="0"/>
                <a:ea typeface="宋体" pitchFamily="2" charset="-122"/>
              </a:rPr>
              <a:t>0</a:t>
            </a:r>
            <a:r>
              <a:rPr lang="en-US" altLang="zh-CN" sz="2400" b="1" dirty="0">
                <a:latin typeface="Times New Roman" pitchFamily="18" charset="0"/>
                <a:ea typeface="宋体" pitchFamily="2" charset="-122"/>
              </a:rPr>
              <a:t>)</a:t>
            </a:r>
            <a:endParaRPr lang="en-US" altLang="zh-CN" sz="2400" b="1" i="1" dirty="0">
              <a:latin typeface="Times New Roman" pitchFamily="18" charset="0"/>
              <a:ea typeface="宋体" pitchFamily="2" charset="-122"/>
            </a:endParaRPr>
          </a:p>
        </p:txBody>
      </p:sp>
      <p:sp>
        <p:nvSpPr>
          <p:cNvPr id="2" name="Slide Number Placeholder 1">
            <a:extLst>
              <a:ext uri="{FF2B5EF4-FFF2-40B4-BE49-F238E27FC236}">
                <a16:creationId xmlns:a16="http://schemas.microsoft.com/office/drawing/2014/main" id="{F01F3119-53B5-45E5-99ED-31296303DE8C}"/>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
        <p:nvSpPr>
          <p:cNvPr id="10" name="Text Box 9">
            <a:extLst>
              <a:ext uri="{FF2B5EF4-FFF2-40B4-BE49-F238E27FC236}">
                <a16:creationId xmlns:a16="http://schemas.microsoft.com/office/drawing/2014/main" id="{241F9097-DF29-43D0-BC99-CA4421056444}"/>
              </a:ext>
            </a:extLst>
          </p:cNvPr>
          <p:cNvSpPr txBox="1">
            <a:spLocks noChangeArrowheads="1"/>
          </p:cNvSpPr>
          <p:nvPr/>
        </p:nvSpPr>
        <p:spPr bwMode="auto">
          <a:xfrm>
            <a:off x="5559454" y="4290889"/>
            <a:ext cx="32233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8-10  </a:t>
            </a:r>
            <a:r>
              <a:rPr lang="zh-CN" altLang="en-US" sz="2400" b="1" dirty="0">
                <a:solidFill>
                  <a:srgbClr val="000099"/>
                </a:solidFill>
              </a:rPr>
              <a:t>用连接导线的热电偶回路</a:t>
            </a:r>
          </a:p>
        </p:txBody>
      </p:sp>
      <p:graphicFrame>
        <p:nvGraphicFramePr>
          <p:cNvPr id="11" name="Object 97">
            <a:extLst>
              <a:ext uri="{FF2B5EF4-FFF2-40B4-BE49-F238E27FC236}">
                <a16:creationId xmlns:a16="http://schemas.microsoft.com/office/drawing/2014/main" id="{DF746839-0CF7-4F8C-806D-8ABA75FAA418}"/>
              </a:ext>
            </a:extLst>
          </p:cNvPr>
          <p:cNvGraphicFramePr>
            <a:graphicFrameLocks noChangeAspect="1"/>
          </p:cNvGraphicFramePr>
          <p:nvPr>
            <p:extLst>
              <p:ext uri="{D42A27DB-BD31-4B8C-83A1-F6EECF244321}">
                <p14:modId xmlns:p14="http://schemas.microsoft.com/office/powerpoint/2010/main" val="1993632533"/>
              </p:ext>
            </p:extLst>
          </p:nvPr>
        </p:nvGraphicFramePr>
        <p:xfrm>
          <a:off x="5357083" y="2342296"/>
          <a:ext cx="3660431" cy="1815537"/>
        </p:xfrm>
        <a:graphic>
          <a:graphicData uri="http://schemas.openxmlformats.org/presentationml/2006/ole">
            <mc:AlternateContent xmlns:mc="http://schemas.openxmlformats.org/markup-compatibility/2006">
              <mc:Choice xmlns:v="urn:schemas-microsoft-com:vml" Requires="v">
                <p:oleObj name="Flash 影片" r:id="rId3" imgW="5132160" imgH="2428200" progId="Flash.Movie">
                  <p:embed/>
                </p:oleObj>
              </mc:Choice>
              <mc:Fallback>
                <p:oleObj name="Flash 影片" r:id="rId3" imgW="5132160" imgH="2428200" progId="Flash.Movie">
                  <p:embed/>
                  <p:pic>
                    <p:nvPicPr>
                      <p:cNvPr id="11" name="Object 97">
                        <a:extLst>
                          <a:ext uri="{FF2B5EF4-FFF2-40B4-BE49-F238E27FC236}">
                            <a16:creationId xmlns:a16="http://schemas.microsoft.com/office/drawing/2014/main" id="{BFFD579D-3F36-4E32-8C70-13F617CC6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083" y="2342296"/>
                        <a:ext cx="3660431" cy="18155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352664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8.2.2</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热电偶基本规律</a:t>
            </a:r>
          </a:p>
        </p:txBody>
      </p:sp>
      <p:sp>
        <p:nvSpPr>
          <p:cNvPr id="27" name="Rectangle 3"/>
          <p:cNvSpPr txBox="1">
            <a:spLocks noRot="1" noChangeArrowheads="1"/>
          </p:cNvSpPr>
          <p:nvPr/>
        </p:nvSpPr>
        <p:spPr>
          <a:xfrm>
            <a:off x="1571711" y="1668463"/>
            <a:ext cx="6467389" cy="38401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举例</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Wingdings" pitchFamily="2" charset="2"/>
              </a:rPr>
              <a:t>:</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Wingdings" pitchFamily="2" charset="2"/>
            </a:endParaRPr>
          </a:p>
          <a:p>
            <a:pPr marL="0" indent="622300">
              <a:lnSpc>
                <a:spcPct val="15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已知</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组成的热电偶在（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）时热电动势为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1mV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，且</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组成的热电偶在（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1000℃, 0℃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）时热电动势为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10mV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，则它们在（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1000℃, 100℃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）时的热电动势为：</a:t>
            </a:r>
          </a:p>
          <a:p>
            <a:pPr indent="2197100">
              <a:lnSpc>
                <a:spcPct val="150000"/>
              </a:lnSpc>
              <a:buFont typeface="Wingdings" pitchFamily="2" charset="2"/>
              <a:buNone/>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10-1=9  mV</a:t>
            </a:r>
          </a:p>
        </p:txBody>
      </p:sp>
      <p:sp>
        <p:nvSpPr>
          <p:cNvPr id="2" name="Slide Number Placeholder 1">
            <a:extLst>
              <a:ext uri="{FF2B5EF4-FFF2-40B4-BE49-F238E27FC236}">
                <a16:creationId xmlns:a16="http://schemas.microsoft.com/office/drawing/2014/main" id="{64D9317F-1DD0-4E7E-A51E-1EE123CB0C06}"/>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Tree>
    <p:extLst>
      <p:ext uri="{BB962C8B-B14F-4D97-AF65-F5344CB8AC3E}">
        <p14:creationId xmlns:p14="http://schemas.microsoft.com/office/powerpoint/2010/main" val="30038139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8.2.3 </a:t>
            </a: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热电偶材料及常用热电偶</a:t>
            </a:r>
          </a:p>
        </p:txBody>
      </p:sp>
      <p:sp>
        <p:nvSpPr>
          <p:cNvPr id="27" name="Rectangle 3"/>
          <p:cNvSpPr txBox="1">
            <a:spLocks noRot="1" noChangeArrowheads="1"/>
          </p:cNvSpPr>
          <p:nvPr/>
        </p:nvSpPr>
        <p:spPr>
          <a:xfrm>
            <a:off x="1064525" y="1473200"/>
            <a:ext cx="7155748" cy="4721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93700">
              <a:lnSpc>
                <a:spcPct val="110000"/>
              </a:lnSpc>
              <a:spcBef>
                <a:spcPts val="0"/>
              </a:spcBef>
              <a:buFont typeface="Wingdings" pitchFamily="2" charset="2"/>
              <a:buNone/>
            </a:pPr>
            <a:r>
              <a:rPr lang="zh-CN" altLang="en-US" sz="2400" b="1" dirty="0">
                <a:latin typeface="宋体" panose="02010600030101010101" pitchFamily="2" charset="-122"/>
                <a:ea typeface="宋体" panose="02010600030101010101" pitchFamily="2" charset="-122"/>
              </a:rPr>
              <a:t>对热电偶的电极材料主要要求是：</a:t>
            </a:r>
          </a:p>
          <a:p>
            <a:pPr>
              <a:lnSpc>
                <a:spcPct val="130000"/>
              </a:lnSpc>
              <a:spcBef>
                <a:spcPts val="0"/>
              </a:spcBef>
            </a:pPr>
            <a:r>
              <a:rPr lang="zh-CN" altLang="en-US" sz="2400" b="1" dirty="0">
                <a:latin typeface="宋体" panose="02010600030101010101" pitchFamily="2" charset="-122"/>
                <a:ea typeface="宋体" panose="02010600030101010101" pitchFamily="2" charset="-122"/>
              </a:rPr>
              <a:t>①配制成的热电偶应具有</a:t>
            </a:r>
            <a:r>
              <a:rPr lang="zh-CN" altLang="en-US" sz="2400" b="1" dirty="0">
                <a:solidFill>
                  <a:srgbClr val="FF0000"/>
                </a:solidFill>
                <a:latin typeface="宋体" panose="02010600030101010101" pitchFamily="2" charset="-122"/>
                <a:ea typeface="宋体" panose="02010600030101010101" pitchFamily="2" charset="-122"/>
              </a:rPr>
              <a:t>较大的热电动势</a:t>
            </a:r>
            <a:r>
              <a:rPr lang="zh-CN" altLang="en-US" sz="2400" b="1" dirty="0">
                <a:latin typeface="宋体" panose="02010600030101010101" pitchFamily="2" charset="-122"/>
                <a:ea typeface="宋体" panose="02010600030101010101" pitchFamily="2" charset="-122"/>
              </a:rPr>
              <a:t>，并希望热电动势与温度之间呈线性关系或近似线性关系。</a:t>
            </a:r>
          </a:p>
          <a:p>
            <a:pPr>
              <a:lnSpc>
                <a:spcPct val="130000"/>
              </a:lnSpc>
              <a:spcBef>
                <a:spcPts val="0"/>
              </a:spcBef>
            </a:pPr>
            <a:r>
              <a:rPr lang="zh-CN" altLang="en-US" sz="2400" b="1" dirty="0">
                <a:latin typeface="宋体" panose="02010600030101010101" pitchFamily="2" charset="-122"/>
                <a:ea typeface="宋体" panose="02010600030101010101" pitchFamily="2" charset="-122"/>
              </a:rPr>
              <a:t>②能在较宽的温度范围内使用，并且在长期工作后物理化学性能与热电性能都比较稳定。</a:t>
            </a:r>
          </a:p>
          <a:p>
            <a:pPr>
              <a:lnSpc>
                <a:spcPct val="130000"/>
              </a:lnSpc>
              <a:spcBef>
                <a:spcPts val="0"/>
              </a:spcBef>
            </a:pPr>
            <a:r>
              <a:rPr lang="zh-CN" altLang="en-US" sz="2400" b="1" dirty="0">
                <a:latin typeface="宋体" panose="02010600030101010101" pitchFamily="2" charset="-122"/>
                <a:ea typeface="宋体" panose="02010600030101010101" pitchFamily="2" charset="-122"/>
              </a:rPr>
              <a:t>③</a:t>
            </a:r>
            <a:r>
              <a:rPr lang="zh-CN" altLang="en-US" sz="2400" b="1" dirty="0">
                <a:solidFill>
                  <a:srgbClr val="0070C0"/>
                </a:solidFill>
                <a:latin typeface="宋体" panose="02010600030101010101" pitchFamily="2" charset="-122"/>
                <a:ea typeface="宋体" panose="02010600030101010101" pitchFamily="2" charset="-122"/>
              </a:rPr>
              <a:t>电导率要求高，电阻温度系数要小</a:t>
            </a:r>
            <a:r>
              <a:rPr lang="zh-CN" altLang="en-US" sz="2400" b="1" dirty="0">
                <a:latin typeface="宋体" panose="02010600030101010101" pitchFamily="2" charset="-122"/>
                <a:ea typeface="宋体" panose="02010600030101010101" pitchFamily="2" charset="-122"/>
              </a:rPr>
              <a:t>。</a:t>
            </a:r>
          </a:p>
          <a:p>
            <a:pPr>
              <a:lnSpc>
                <a:spcPct val="130000"/>
              </a:lnSpc>
              <a:spcBef>
                <a:spcPts val="0"/>
              </a:spcBef>
            </a:pPr>
            <a:r>
              <a:rPr lang="zh-CN" altLang="en-US" sz="2400" b="1" dirty="0">
                <a:latin typeface="宋体" panose="02010600030101010101" pitchFamily="2" charset="-122"/>
                <a:ea typeface="宋体" panose="02010600030101010101" pitchFamily="2" charset="-122"/>
              </a:rPr>
              <a:t>④易于复制，工艺简单，价格便宜。</a:t>
            </a:r>
          </a:p>
          <a:p>
            <a:pPr marL="0" indent="622300">
              <a:lnSpc>
                <a:spcPct val="130000"/>
              </a:lnSpc>
              <a:spcBef>
                <a:spcPts val="0"/>
              </a:spcBef>
              <a:buFont typeface="Wingdings" pitchFamily="2" charset="2"/>
              <a:buNone/>
            </a:pPr>
            <a:r>
              <a:rPr lang="zh-CN" altLang="en-US" sz="2400" b="1" dirty="0">
                <a:latin typeface="宋体" panose="02010600030101010101" pitchFamily="2" charset="-122"/>
                <a:ea typeface="宋体" panose="02010600030101010101" pitchFamily="2" charset="-122"/>
              </a:rPr>
              <a:t>工业上，标准化热电偶有：铂铑</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铂热电偶、镍铬</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镍铝热电偶、镍铬</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考铜热电偶及铜</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康铜热电偶等。    </a:t>
            </a:r>
          </a:p>
        </p:txBody>
      </p:sp>
      <p:sp>
        <p:nvSpPr>
          <p:cNvPr id="2" name="Slide Number Placeholder 1">
            <a:extLst>
              <a:ext uri="{FF2B5EF4-FFF2-40B4-BE49-F238E27FC236}">
                <a16:creationId xmlns:a16="http://schemas.microsoft.com/office/drawing/2014/main" id="{972D8949-77EB-472E-8545-9828623DEFF5}"/>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Tree>
    <p:extLst>
      <p:ext uri="{BB962C8B-B14F-4D97-AF65-F5344CB8AC3E}">
        <p14:creationId xmlns:p14="http://schemas.microsoft.com/office/powerpoint/2010/main" val="4239867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 </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27" name="Rectangle 3"/>
          <p:cNvSpPr txBox="1">
            <a:spLocks noRot="1" noChangeArrowheads="1"/>
          </p:cNvSpPr>
          <p:nvPr/>
        </p:nvSpPr>
        <p:spPr>
          <a:xfrm>
            <a:off x="301733" y="2801093"/>
            <a:ext cx="8480317" cy="16813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latin typeface="宋体" panose="02010600030101010101" pitchFamily="2" charset="-122"/>
                <a:ea typeface="宋体" panose="02010600030101010101" pitchFamily="2" charset="-122"/>
              </a:rPr>
              <a:t>流过仪表的电流不仅与热电动势大小有关，而且与测温回路的总电阻有关，因此要求回路总电阻必须为恒定值，即</a:t>
            </a:r>
          </a:p>
        </p:txBody>
      </p:sp>
      <p:sp>
        <p:nvSpPr>
          <p:cNvPr id="7" name="矩形 6"/>
          <p:cNvSpPr/>
          <p:nvPr/>
        </p:nvSpPr>
        <p:spPr>
          <a:xfrm>
            <a:off x="1642167" y="4306091"/>
            <a:ext cx="2339102" cy="461665"/>
          </a:xfrm>
          <a:prstGeom prst="rect">
            <a:avLst/>
          </a:prstGeom>
        </p:spPr>
        <p:txBody>
          <a:bodyPr wrap="none">
            <a:spAutoFit/>
          </a:bodyPr>
          <a:lstStyle/>
          <a:p>
            <a:r>
              <a:rPr lang="en-US" altLang="zh-CN" sz="2400" b="1" i="1"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i="1"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dirty="0" err="1">
                <a:solidFill>
                  <a:srgbClr val="0070C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常数 </a:t>
            </a:r>
            <a:endParaRPr lang="zh-CN" altLang="en-US"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4387959" y="3941846"/>
            <a:ext cx="3384442" cy="1379545"/>
          </a:xfrm>
          <a:prstGeom prst="rect">
            <a:avLst/>
          </a:prstGeom>
        </p:spPr>
        <p:txBody>
          <a:bodyPr wrap="square">
            <a:spAutoFit/>
          </a:bodyPr>
          <a:lstStyle/>
          <a:p>
            <a:pPr lvl="0">
              <a:lnSpc>
                <a:spcPct val="120000"/>
              </a:lnSpc>
            </a:pPr>
            <a:r>
              <a:rPr lang="en-US" altLang="zh-CN" sz="2400" b="1" i="1">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热电偶电阻</a:t>
            </a:r>
            <a:r>
              <a:rPr lang="zh-CN" altLang="en-US" sz="2400" b="1">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lvl="0">
              <a:lnSpc>
                <a:spcPct val="120000"/>
              </a:lnSpc>
            </a:pPr>
            <a:r>
              <a:rPr lang="en-US" altLang="zh-CN" sz="2400" b="1" i="1">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a:solidFill>
                  <a:prstClr val="black"/>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baseline="-2500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连接导线电阻；</a:t>
            </a:r>
          </a:p>
          <a:p>
            <a:pPr lvl="0">
              <a:lnSpc>
                <a:spcPct val="120000"/>
              </a:lnSpc>
            </a:pPr>
            <a:r>
              <a:rPr lang="en-US" altLang="zh-CN" sz="2400" b="1" i="1">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a:solidFill>
                  <a:prstClr val="black"/>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baseline="-2500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指示仪表的</a:t>
            </a:r>
            <a:r>
              <a:rPr lang="zh-CN" altLang="en-US" sz="2400" b="1">
                <a:solidFill>
                  <a:prstClr val="black"/>
                </a:solidFill>
                <a:latin typeface="Times New Roman" panose="02020603050405020304" pitchFamily="18" charset="0"/>
                <a:ea typeface="宋体" panose="02010600030101010101" pitchFamily="2" charset="-122"/>
                <a:cs typeface="Times New Roman" panose="02020603050405020304" pitchFamily="18" charset="0"/>
              </a:rPr>
              <a:t>内阻   </a:t>
            </a:r>
            <a:endPar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Slide Number Placeholder 1">
            <a:extLst>
              <a:ext uri="{FF2B5EF4-FFF2-40B4-BE49-F238E27FC236}">
                <a16:creationId xmlns:a16="http://schemas.microsoft.com/office/drawing/2014/main" id="{8C8FFB50-B78B-4226-B154-AA0B4A8A3CA2}"/>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
        <p:nvSpPr>
          <p:cNvPr id="10" name="Text Box 9">
            <a:extLst>
              <a:ext uri="{FF2B5EF4-FFF2-40B4-BE49-F238E27FC236}">
                <a16:creationId xmlns:a16="http://schemas.microsoft.com/office/drawing/2014/main" id="{F7B68A66-B183-4BDB-B729-02D7AB0DCDAD}"/>
              </a:ext>
            </a:extLst>
          </p:cNvPr>
          <p:cNvSpPr txBox="1">
            <a:spLocks noChangeArrowheads="1"/>
          </p:cNvSpPr>
          <p:nvPr/>
        </p:nvSpPr>
        <p:spPr bwMode="auto">
          <a:xfrm>
            <a:off x="5681638" y="1459739"/>
            <a:ext cx="26466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8-11  </a:t>
            </a:r>
            <a:r>
              <a:rPr lang="zh-CN" altLang="en-US" sz="2400" b="1" dirty="0">
                <a:solidFill>
                  <a:srgbClr val="000099"/>
                </a:solidFill>
              </a:rPr>
              <a:t>热电偶与线圈式仪表的连接</a:t>
            </a:r>
          </a:p>
        </p:txBody>
      </p:sp>
      <p:graphicFrame>
        <p:nvGraphicFramePr>
          <p:cNvPr id="11" name="Object 98">
            <a:extLst>
              <a:ext uri="{FF2B5EF4-FFF2-40B4-BE49-F238E27FC236}">
                <a16:creationId xmlns:a16="http://schemas.microsoft.com/office/drawing/2014/main" id="{B57B3656-00C9-4507-A58F-E234D9BF7030}"/>
              </a:ext>
            </a:extLst>
          </p:cNvPr>
          <p:cNvGraphicFramePr>
            <a:graphicFrameLocks noChangeAspect="1"/>
          </p:cNvGraphicFramePr>
          <p:nvPr>
            <p:extLst>
              <p:ext uri="{D42A27DB-BD31-4B8C-83A1-F6EECF244321}">
                <p14:modId xmlns:p14="http://schemas.microsoft.com/office/powerpoint/2010/main" val="1854249532"/>
              </p:ext>
            </p:extLst>
          </p:nvPr>
        </p:nvGraphicFramePr>
        <p:xfrm>
          <a:off x="537087" y="1230423"/>
          <a:ext cx="4549262" cy="1480183"/>
        </p:xfrm>
        <a:graphic>
          <a:graphicData uri="http://schemas.openxmlformats.org/presentationml/2006/ole">
            <mc:AlternateContent xmlns:mc="http://schemas.openxmlformats.org/markup-compatibility/2006">
              <mc:Choice xmlns:v="urn:schemas-microsoft-com:vml" Requires="v">
                <p:oleObj name="Flash 影片" r:id="rId3" imgW="6021000" imgH="1958400" progId="Flash.Movie">
                  <p:embed/>
                </p:oleObj>
              </mc:Choice>
              <mc:Fallback>
                <p:oleObj name="Flash 影片" r:id="rId3" imgW="6021000" imgH="1958400" progId="Flash.Movie">
                  <p:embed/>
                  <p:pic>
                    <p:nvPicPr>
                      <p:cNvPr id="2146" name="Object 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087" y="1230423"/>
                        <a:ext cx="4549262" cy="1480183"/>
                      </a:xfrm>
                      <a:prstGeom prst="rect">
                        <a:avLst/>
                      </a:prstGeom>
                      <a:noFill/>
                      <a:ln>
                        <a:noFill/>
                      </a:ln>
                      <a:effectLst/>
                    </p:spPr>
                  </p:pic>
                </p:oleObj>
              </mc:Fallback>
            </mc:AlternateContent>
          </a:graphicData>
        </a:graphic>
      </p:graphicFrame>
      <p:sp>
        <p:nvSpPr>
          <p:cNvPr id="12" name="矩形 7">
            <a:extLst>
              <a:ext uri="{FF2B5EF4-FFF2-40B4-BE49-F238E27FC236}">
                <a16:creationId xmlns:a16="http://schemas.microsoft.com/office/drawing/2014/main" id="{0BA6E6C8-7392-4F8F-B106-472F450E54B9}"/>
              </a:ext>
            </a:extLst>
          </p:cNvPr>
          <p:cNvSpPr/>
          <p:nvPr/>
        </p:nvSpPr>
        <p:spPr>
          <a:xfrm>
            <a:off x="515614" y="5623158"/>
            <a:ext cx="6137167" cy="936347"/>
          </a:xfrm>
          <a:prstGeom prst="rect">
            <a:avLst/>
          </a:prstGeom>
        </p:spPr>
        <p:txBody>
          <a:bodyPr wrap="square">
            <a:spAutoFit/>
          </a:bodyPr>
          <a:lstStyle/>
          <a:p>
            <a:pPr lvl="0">
              <a:lnSpc>
                <a:spcPct val="120000"/>
              </a:lnSpc>
            </a:pPr>
            <a:r>
              <a:rPr lang="zh-CN" altLang="en-US" sz="2400" b="1">
                <a:solidFill>
                  <a:prstClr val="black"/>
                </a:solidFill>
                <a:latin typeface="Times New Roman" panose="02020603050405020304" pitchFamily="18" charset="0"/>
                <a:ea typeface="宋体" panose="02010600030101010101" pitchFamily="2" charset="-122"/>
                <a:cs typeface="Times New Roman" panose="02020603050405020304" pitchFamily="18" charset="0"/>
              </a:rPr>
              <a:t>这</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种线路常用于测温精度要求不高的场合，因其结构简单，价格便宜。</a:t>
            </a:r>
          </a:p>
        </p:txBody>
      </p:sp>
    </p:spTree>
    <p:extLst>
      <p:ext uri="{BB962C8B-B14F-4D97-AF65-F5344CB8AC3E}">
        <p14:creationId xmlns:p14="http://schemas.microsoft.com/office/powerpoint/2010/main" val="5128859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29" name="Rectangle 3"/>
          <p:cNvSpPr txBox="1">
            <a:spLocks noRot="1" noChangeArrowheads="1"/>
          </p:cNvSpPr>
          <p:nvPr/>
        </p:nvSpPr>
        <p:spPr>
          <a:xfrm>
            <a:off x="126486" y="1158875"/>
            <a:ext cx="5196542" cy="33845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defRPr/>
            </a:pP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串联</a:t>
            </a:r>
          </a:p>
          <a:p>
            <a:pPr>
              <a:lnSpc>
                <a:spcPts val="3600"/>
              </a:lnSpc>
              <a:spcBef>
                <a:spcPts val="0"/>
              </a:spcBef>
              <a:buFont typeface="Wingdings" pitchFamily="2" charset="2"/>
              <a:buNone/>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FOR</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测量精度和灵敏度</a:t>
            </a: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0"/>
              </a:spcBef>
              <a:buFont typeface="Wingdings" pitchFamily="2" charset="2"/>
              <a:buNone/>
              <a:defRPr/>
            </a:pPr>
            <a:r>
              <a:rPr lang="en-US" altLang="zh-CN" sz="2400" b="1">
                <a:solidFill>
                  <a:srgbClr val="00B050"/>
                </a:solidFill>
                <a:latin typeface="Times New Roman" panose="02020603050405020304" pitchFamily="18" charset="0"/>
                <a:ea typeface="宋体" panose="02010600030101010101" pitchFamily="2" charset="-122"/>
                <a:cs typeface="Times New Roman" panose="02020603050405020304" pitchFamily="18" charset="0"/>
              </a:rPr>
              <a:t>    THEN</a:t>
            </a: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串接</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支型号相同的热电偶。这时线路的总电势为</a:t>
            </a:r>
          </a:p>
          <a:p>
            <a:pPr>
              <a:lnSpc>
                <a:spcPts val="3600"/>
              </a:lnSpc>
              <a:spcBef>
                <a:spcPts val="0"/>
              </a:spcBef>
              <a:buFont typeface="Wingdings" pitchFamily="2" charset="2"/>
              <a:buNone/>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G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 + E</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n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nE</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p>
          <a:p>
            <a:pPr indent="38100">
              <a:lnSpc>
                <a:spcPts val="3600"/>
              </a:lnSpc>
              <a:spcBef>
                <a:spcPts val="0"/>
              </a:spcBef>
              <a:buFont typeface="Wingdings" pitchFamily="2" charset="2"/>
              <a:buNone/>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总电动势比单支热电偶的热电动势增大</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倍。</a:t>
            </a:r>
          </a:p>
          <a:p>
            <a:pPr indent="38100">
              <a:lnSpc>
                <a:spcPts val="3600"/>
              </a:lnSpc>
              <a:spcBef>
                <a:spcPts val="0"/>
              </a:spcBef>
              <a:buFont typeface="Wingdings" pitchFamily="2" charset="2"/>
              <a:buNone/>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若每支热电偶的绝对误差为</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ΔE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i="1" baseline="-25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ΔE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i="1" baseline="-25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ΔE</a:t>
            </a:r>
            <a:r>
              <a:rPr lang="en-US" altLang="zh-CN" sz="2400" b="1"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，则整个串联线路的绝对误差为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30" name="Object 6"/>
          <p:cNvGraphicFramePr>
            <a:graphicFrameLocks noChangeAspect="1"/>
          </p:cNvGraphicFramePr>
          <p:nvPr>
            <p:extLst>
              <p:ext uri="{D42A27DB-BD31-4B8C-83A1-F6EECF244321}">
                <p14:modId xmlns:p14="http://schemas.microsoft.com/office/powerpoint/2010/main" val="2649563971"/>
              </p:ext>
            </p:extLst>
          </p:nvPr>
        </p:nvGraphicFramePr>
        <p:xfrm>
          <a:off x="591157" y="5746751"/>
          <a:ext cx="4267200" cy="609600"/>
        </p:xfrm>
        <a:graphic>
          <a:graphicData uri="http://schemas.openxmlformats.org/presentationml/2006/ole">
            <mc:AlternateContent xmlns:mc="http://schemas.openxmlformats.org/markup-compatibility/2006">
              <mc:Choice xmlns:v="urn:schemas-microsoft-com:vml" Requires="v">
                <p:oleObj name="Flash 影片" r:id="rId3" imgW="4981668" imgH="743066" progId="Flash.Movie">
                  <p:embed/>
                </p:oleObj>
              </mc:Choice>
              <mc:Fallback>
                <p:oleObj name="Flash 影片" r:id="rId3" imgW="4981668" imgH="743066" progId="Flash.Movi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157" y="5746751"/>
                        <a:ext cx="4267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FAF99455-031A-4E83-BB6D-B39B8B14D3A8}"/>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
        <p:nvSpPr>
          <p:cNvPr id="9" name="Text Box 9">
            <a:extLst>
              <a:ext uri="{FF2B5EF4-FFF2-40B4-BE49-F238E27FC236}">
                <a16:creationId xmlns:a16="http://schemas.microsoft.com/office/drawing/2014/main" id="{D5FC0098-00EF-4666-A370-05DE75BA933E}"/>
              </a:ext>
            </a:extLst>
          </p:cNvPr>
          <p:cNvSpPr txBox="1">
            <a:spLocks noChangeArrowheads="1"/>
          </p:cNvSpPr>
          <p:nvPr/>
        </p:nvSpPr>
        <p:spPr bwMode="auto">
          <a:xfrm>
            <a:off x="5651765" y="4233665"/>
            <a:ext cx="330715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b="1" dirty="0">
                <a:solidFill>
                  <a:srgbClr val="000099"/>
                </a:solidFill>
                <a:latin typeface="宋体" pitchFamily="2" charset="-122"/>
                <a:ea typeface="宋体" pitchFamily="2" charset="-122"/>
                <a:cs typeface="Times New Roman" pitchFamily="18" charset="0"/>
              </a:rPr>
              <a:t>图</a:t>
            </a:r>
            <a:r>
              <a:rPr lang="en-US" altLang="zh-CN" sz="2400" b="1">
                <a:solidFill>
                  <a:srgbClr val="000099"/>
                </a:solidFill>
                <a:latin typeface="宋体" pitchFamily="2" charset="-122"/>
                <a:ea typeface="宋体" pitchFamily="2" charset="-122"/>
                <a:cs typeface="Times New Roman" pitchFamily="18" charset="0"/>
              </a:rPr>
              <a:t>8-12  </a:t>
            </a:r>
          </a:p>
          <a:p>
            <a:pPr algn="ctr">
              <a:spcBef>
                <a:spcPct val="50000"/>
              </a:spcBef>
            </a:pPr>
            <a:r>
              <a:rPr lang="en-US" altLang="zh-CN" sz="2400" b="1" i="1">
                <a:solidFill>
                  <a:srgbClr val="000099"/>
                </a:solidFill>
                <a:latin typeface="Times New Roman" pitchFamily="18" charset="0"/>
                <a:cs typeface="Times New Roman" pitchFamily="18" charset="0"/>
              </a:rPr>
              <a:t>n</a:t>
            </a:r>
            <a:r>
              <a:rPr lang="zh-CN" altLang="en-US" sz="2400" b="1" dirty="0">
                <a:solidFill>
                  <a:srgbClr val="000099"/>
                </a:solidFill>
                <a:latin typeface="Times New Roman" pitchFamily="18" charset="0"/>
                <a:cs typeface="Times New Roman" pitchFamily="18" charset="0"/>
              </a:rPr>
              <a:t>个型号相同的热电偶依次串接的测温线路</a:t>
            </a:r>
          </a:p>
        </p:txBody>
      </p:sp>
      <p:graphicFrame>
        <p:nvGraphicFramePr>
          <p:cNvPr id="10" name="Object 99">
            <a:extLst>
              <a:ext uri="{FF2B5EF4-FFF2-40B4-BE49-F238E27FC236}">
                <a16:creationId xmlns:a16="http://schemas.microsoft.com/office/drawing/2014/main" id="{71854478-521F-4A04-93FA-4748DE752076}"/>
              </a:ext>
            </a:extLst>
          </p:cNvPr>
          <p:cNvGraphicFramePr>
            <a:graphicFrameLocks noChangeAspect="1"/>
          </p:cNvGraphicFramePr>
          <p:nvPr>
            <p:extLst>
              <p:ext uri="{D42A27DB-BD31-4B8C-83A1-F6EECF244321}">
                <p14:modId xmlns:p14="http://schemas.microsoft.com/office/powerpoint/2010/main" val="702539397"/>
              </p:ext>
            </p:extLst>
          </p:nvPr>
        </p:nvGraphicFramePr>
        <p:xfrm>
          <a:off x="5323028" y="1581108"/>
          <a:ext cx="3635889" cy="2393151"/>
        </p:xfrm>
        <a:graphic>
          <a:graphicData uri="http://schemas.openxmlformats.org/presentationml/2006/ole">
            <mc:AlternateContent xmlns:mc="http://schemas.openxmlformats.org/markup-compatibility/2006">
              <mc:Choice xmlns:v="urn:schemas-microsoft-com:vml" Requires="v">
                <p:oleObj name="Flash 影片" r:id="rId5" imgW="4978440" imgH="3276720" progId="Flash.Movie">
                  <p:embed/>
                </p:oleObj>
              </mc:Choice>
              <mc:Fallback>
                <p:oleObj name="Flash 影片" r:id="rId5" imgW="4978440" imgH="3276720" progId="Flash.Movie">
                  <p:embed/>
                  <p:pic>
                    <p:nvPicPr>
                      <p:cNvPr id="2147"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3028" y="1581108"/>
                        <a:ext cx="3635889" cy="239315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584887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92BE9AA-3F08-43A5-9A86-DAD278427ACA}"/>
              </a:ext>
            </a:extLst>
          </p:cNvPr>
          <p:cNvSpPr/>
          <p:nvPr/>
        </p:nvSpPr>
        <p:spPr>
          <a:xfrm>
            <a:off x="5362575" y="4062230"/>
            <a:ext cx="676275" cy="173281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30" name="Rectangle 3"/>
          <p:cNvSpPr txBox="1">
            <a:spLocks noRot="1" noChangeArrowheads="1"/>
          </p:cNvSpPr>
          <p:nvPr/>
        </p:nvSpPr>
        <p:spPr>
          <a:xfrm>
            <a:off x="1571711" y="2381306"/>
            <a:ext cx="5238978" cy="210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如果</a:t>
            </a: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2</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n</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E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a:t>
            </a:r>
          </a:p>
          <a:p>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故串联电路的相对误差为：</a:t>
            </a:r>
          </a:p>
        </p:txBody>
      </p:sp>
      <p:graphicFrame>
        <p:nvGraphicFramePr>
          <p:cNvPr id="31" name="Object 9"/>
          <p:cNvGraphicFramePr>
            <a:graphicFrameLocks noChangeAspect="1"/>
          </p:cNvGraphicFramePr>
          <p:nvPr>
            <p:extLst>
              <p:ext uri="{D42A27DB-BD31-4B8C-83A1-F6EECF244321}">
                <p14:modId xmlns:p14="http://schemas.microsoft.com/office/powerpoint/2010/main" val="819357867"/>
              </p:ext>
            </p:extLst>
          </p:nvPr>
        </p:nvGraphicFramePr>
        <p:xfrm>
          <a:off x="3043604" y="2877955"/>
          <a:ext cx="2447925" cy="815975"/>
        </p:xfrm>
        <a:graphic>
          <a:graphicData uri="http://schemas.openxmlformats.org/presentationml/2006/ole">
            <mc:AlternateContent xmlns:mc="http://schemas.openxmlformats.org/markup-compatibility/2006">
              <mc:Choice xmlns:v="urn:schemas-microsoft-com:vml" Requires="v">
                <p:oleObj name="Flash Movie" r:id="rId3" imgW="3552822" imgH="714414" progId="Flash.Movie">
                  <p:embed/>
                </p:oleObj>
              </mc:Choice>
              <mc:Fallback>
                <p:oleObj name="Flash Movie" r:id="rId3" imgW="3552822" imgH="714414" progId="Flash.Movi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3604" y="2877955"/>
                        <a:ext cx="2447925"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10"/>
          <p:cNvGraphicFramePr>
            <a:graphicFrameLocks noChangeAspect="1"/>
          </p:cNvGraphicFramePr>
          <p:nvPr>
            <p:extLst>
              <p:ext uri="{D42A27DB-BD31-4B8C-83A1-F6EECF244321}">
                <p14:modId xmlns:p14="http://schemas.microsoft.com/office/powerpoint/2010/main" val="2775180947"/>
              </p:ext>
            </p:extLst>
          </p:nvPr>
        </p:nvGraphicFramePr>
        <p:xfrm>
          <a:off x="2466975" y="4247045"/>
          <a:ext cx="4343400" cy="1281112"/>
        </p:xfrm>
        <a:graphic>
          <a:graphicData uri="http://schemas.openxmlformats.org/presentationml/2006/ole">
            <mc:AlternateContent xmlns:mc="http://schemas.openxmlformats.org/markup-compatibility/2006">
              <mc:Choice xmlns:v="urn:schemas-microsoft-com:vml" Requires="v">
                <p:oleObj name="Flash 影片" r:id="rId5" imgW="5124418" imgH="1857259" progId="Flash.Movie">
                  <p:embed/>
                </p:oleObj>
              </mc:Choice>
              <mc:Fallback>
                <p:oleObj name="Flash 影片" r:id="rId5" imgW="5124418" imgH="1857259" progId="Flash.Movi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6975" y="4247045"/>
                        <a:ext cx="4343400" cy="1281112"/>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6AD2D371-2E0C-480C-8ECC-3E511A455969}"/>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graphicFrame>
        <p:nvGraphicFramePr>
          <p:cNvPr id="10" name="Object 6">
            <a:extLst>
              <a:ext uri="{FF2B5EF4-FFF2-40B4-BE49-F238E27FC236}">
                <a16:creationId xmlns:a16="http://schemas.microsoft.com/office/drawing/2014/main" id="{AB9B8E2D-299A-41A3-8E32-74786AC25092}"/>
              </a:ext>
            </a:extLst>
          </p:cNvPr>
          <p:cNvGraphicFramePr>
            <a:graphicFrameLocks noChangeAspect="1"/>
          </p:cNvGraphicFramePr>
          <p:nvPr>
            <p:extLst>
              <p:ext uri="{D42A27DB-BD31-4B8C-83A1-F6EECF244321}">
                <p14:modId xmlns:p14="http://schemas.microsoft.com/office/powerpoint/2010/main" val="3796483502"/>
              </p:ext>
            </p:extLst>
          </p:nvPr>
        </p:nvGraphicFramePr>
        <p:xfrm>
          <a:off x="2199084" y="1476669"/>
          <a:ext cx="4267200" cy="749488"/>
        </p:xfrm>
        <a:graphic>
          <a:graphicData uri="http://schemas.openxmlformats.org/presentationml/2006/ole">
            <mc:AlternateContent xmlns:mc="http://schemas.openxmlformats.org/markup-compatibility/2006">
              <mc:Choice xmlns:v="urn:schemas-microsoft-com:vml" Requires="v">
                <p:oleObj name="Flash 影片" r:id="rId7" imgW="4981668" imgH="743066" progId="Flash.Movie">
                  <p:embed/>
                </p:oleObj>
              </mc:Choice>
              <mc:Fallback>
                <p:oleObj name="Flash 影片" r:id="rId7" imgW="4981668" imgH="743066" progId="Flash.Movie">
                  <p:embed/>
                  <p:pic>
                    <p:nvPicPr>
                      <p:cNvPr id="3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9084" y="1476669"/>
                        <a:ext cx="4267200" cy="7494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873863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29" name="Rectangle 3"/>
          <p:cNvSpPr txBox="1">
            <a:spLocks noRot="1" noChangeArrowheads="1"/>
          </p:cNvSpPr>
          <p:nvPr/>
        </p:nvSpPr>
        <p:spPr>
          <a:xfrm>
            <a:off x="185083" y="1290636"/>
            <a:ext cx="4484888" cy="2333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C00000"/>
                </a:solidFill>
                <a:latin typeface="宋体" panose="02010600030101010101" pitchFamily="2" charset="-122"/>
                <a:ea typeface="宋体" panose="02010600030101010101" pitchFamily="2" charset="-122"/>
              </a:rPr>
              <a:t>并联</a:t>
            </a:r>
          </a:p>
          <a:p>
            <a:pPr>
              <a:lnSpc>
                <a:spcPct val="140000"/>
              </a:lnSpc>
              <a:buFont typeface="Wingdings" pitchFamily="2" charset="2"/>
              <a:buNone/>
            </a:pPr>
            <a:r>
              <a:rPr lang="zh-CN" altLang="en-US" sz="2400" b="1" dirty="0">
                <a:latin typeface="宋体" panose="02010600030101010101" pitchFamily="2" charset="-122"/>
                <a:ea typeface="宋体" panose="02010600030101010101" pitchFamily="2" charset="-122"/>
              </a:rPr>
              <a:t>    用若干个热电偶并联，测出各点温度的算术平均值。如果</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宋体" panose="02010600030101010101" pitchFamily="2" charset="-122"/>
                <a:ea typeface="宋体" panose="02010600030101010101" pitchFamily="2" charset="-122"/>
              </a:rPr>
              <a:t>支热电偶的电阻值相等，则并联电路总热电动势为</a:t>
            </a:r>
          </a:p>
        </p:txBody>
      </p:sp>
      <p:graphicFrame>
        <p:nvGraphicFramePr>
          <p:cNvPr id="30" name="Object 32"/>
          <p:cNvGraphicFramePr>
            <a:graphicFrameLocks noChangeAspect="1"/>
          </p:cNvGraphicFramePr>
          <p:nvPr>
            <p:extLst>
              <p:ext uri="{D42A27DB-BD31-4B8C-83A1-F6EECF244321}">
                <p14:modId xmlns:p14="http://schemas.microsoft.com/office/powerpoint/2010/main" val="2078312459"/>
              </p:ext>
            </p:extLst>
          </p:nvPr>
        </p:nvGraphicFramePr>
        <p:xfrm>
          <a:off x="884945" y="3747903"/>
          <a:ext cx="3427229" cy="1257300"/>
        </p:xfrm>
        <a:graphic>
          <a:graphicData uri="http://schemas.openxmlformats.org/presentationml/2006/ole">
            <mc:AlternateContent xmlns:mc="http://schemas.openxmlformats.org/markup-compatibility/2006">
              <mc:Choice xmlns:v="urn:schemas-microsoft-com:vml" Requires="v">
                <p:oleObj name="Flash Movie" r:id="rId3" imgW="2666910" imgH="743066" progId="Flash.Movie">
                  <p:embed/>
                </p:oleObj>
              </mc:Choice>
              <mc:Fallback>
                <p:oleObj name="Flash Movie" r:id="rId3" imgW="2666910" imgH="743066" progId="Flash.Movi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945" y="3747903"/>
                        <a:ext cx="3427229" cy="1257300"/>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11A12FBE-5E27-49C3-B51A-97D588D1F756}"/>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
        <p:nvSpPr>
          <p:cNvPr id="9" name="Text Box 9">
            <a:extLst>
              <a:ext uri="{FF2B5EF4-FFF2-40B4-BE49-F238E27FC236}">
                <a16:creationId xmlns:a16="http://schemas.microsoft.com/office/drawing/2014/main" id="{64D5FB44-CEF0-4587-B8FF-32A1BB988C59}"/>
              </a:ext>
            </a:extLst>
          </p:cNvPr>
          <p:cNvSpPr txBox="1">
            <a:spLocks noChangeArrowheads="1"/>
          </p:cNvSpPr>
          <p:nvPr/>
        </p:nvSpPr>
        <p:spPr bwMode="auto">
          <a:xfrm>
            <a:off x="5282382" y="4174206"/>
            <a:ext cx="34272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8-13  </a:t>
            </a:r>
            <a:r>
              <a:rPr lang="zh-CN" altLang="en-US" sz="2400" b="1" dirty="0">
                <a:solidFill>
                  <a:srgbClr val="000099"/>
                </a:solidFill>
              </a:rPr>
              <a:t>若干个热电偶并联的测温线路</a:t>
            </a:r>
          </a:p>
        </p:txBody>
      </p:sp>
      <p:graphicFrame>
        <p:nvGraphicFramePr>
          <p:cNvPr id="10" name="Object 100">
            <a:extLst>
              <a:ext uri="{FF2B5EF4-FFF2-40B4-BE49-F238E27FC236}">
                <a16:creationId xmlns:a16="http://schemas.microsoft.com/office/drawing/2014/main" id="{70D7BDBB-2521-4F8C-ABA3-87ADBD76F990}"/>
              </a:ext>
            </a:extLst>
          </p:cNvPr>
          <p:cNvGraphicFramePr>
            <a:graphicFrameLocks noChangeAspect="1"/>
          </p:cNvGraphicFramePr>
          <p:nvPr>
            <p:extLst>
              <p:ext uri="{D42A27DB-BD31-4B8C-83A1-F6EECF244321}">
                <p14:modId xmlns:p14="http://schemas.microsoft.com/office/powerpoint/2010/main" val="1307748262"/>
              </p:ext>
            </p:extLst>
          </p:nvPr>
        </p:nvGraphicFramePr>
        <p:xfrm>
          <a:off x="5208197" y="1284737"/>
          <a:ext cx="3575600" cy="2777331"/>
        </p:xfrm>
        <a:graphic>
          <a:graphicData uri="http://schemas.openxmlformats.org/presentationml/2006/ole">
            <mc:AlternateContent xmlns:mc="http://schemas.openxmlformats.org/markup-compatibility/2006">
              <mc:Choice xmlns:v="urn:schemas-microsoft-com:vml" Requires="v">
                <p:oleObj name="Flash 影片" r:id="rId5" imgW="5803920" imgH="4508640" progId="Flash.Movie">
                  <p:embed/>
                </p:oleObj>
              </mc:Choice>
              <mc:Fallback>
                <p:oleObj name="Flash 影片" r:id="rId5" imgW="5803920" imgH="4508640" progId="Flash.Movie">
                  <p:embed/>
                  <p:pic>
                    <p:nvPicPr>
                      <p:cNvPr id="2148" name="Object 1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8197" y="1284737"/>
                        <a:ext cx="3575600" cy="2777331"/>
                      </a:xfrm>
                      <a:prstGeom prst="rect">
                        <a:avLst/>
                      </a:prstGeom>
                      <a:noFill/>
                      <a:ln>
                        <a:noFill/>
                      </a:ln>
                      <a:effectLst/>
                    </p:spPr>
                  </p:pic>
                </p:oleObj>
              </mc:Fallback>
            </mc:AlternateContent>
          </a:graphicData>
        </a:graphic>
      </p:graphicFrame>
      <p:sp>
        <p:nvSpPr>
          <p:cNvPr id="12" name="TextBox 11">
            <a:extLst>
              <a:ext uri="{FF2B5EF4-FFF2-40B4-BE49-F238E27FC236}">
                <a16:creationId xmlns:a16="http://schemas.microsoft.com/office/drawing/2014/main" id="{DAAA3DF4-B384-42A1-9CE7-79CC1480B21B}"/>
              </a:ext>
            </a:extLst>
          </p:cNvPr>
          <p:cNvSpPr txBox="1"/>
          <p:nvPr/>
        </p:nvSpPr>
        <p:spPr>
          <a:xfrm>
            <a:off x="553298" y="5060687"/>
            <a:ext cx="8037403" cy="1569660"/>
          </a:xfrm>
          <a:prstGeom prst="rect">
            <a:avLst/>
          </a:prstGeom>
          <a:noFill/>
        </p:spPr>
        <p:txBody>
          <a:bodyPr wrap="square">
            <a:spAutoFit/>
          </a:bodyPr>
          <a:lstStyle/>
          <a:p>
            <a:r>
              <a:rPr lang="zh-CN" altLang="en-US" sz="2400" b="1">
                <a:latin typeface="宋体" panose="02010600030101010101" pitchFamily="2" charset="-122"/>
                <a:ea typeface="宋体" panose="02010600030101010101" pitchFamily="2" charset="-122"/>
              </a:rPr>
              <a:t>与串联线路相比，</a:t>
            </a:r>
            <a:endParaRPr lang="en-US" altLang="zh-CN" sz="2400" b="1">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并联线路的</a:t>
            </a:r>
            <a:r>
              <a:rPr lang="zh-CN" altLang="en-US" sz="2400" b="1">
                <a:solidFill>
                  <a:srgbClr val="C00000"/>
                </a:solidFill>
                <a:latin typeface="宋体" panose="02010600030101010101" pitchFamily="2" charset="-122"/>
                <a:ea typeface="宋体" panose="02010600030101010101" pitchFamily="2" charset="-122"/>
              </a:rPr>
              <a:t>热电动势小</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当部分热电偶发生断路时不会中断整个并联线路的工作。</a:t>
            </a:r>
            <a:endParaRPr lang="en-US" altLang="zh-CN" sz="2400" b="1">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缺点：某一热电偶断路时不能很快被发现。</a:t>
            </a:r>
            <a:endParaRPr lang="en-001" sz="2400" b="1">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998785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27" name="Rectangle 3"/>
          <p:cNvSpPr txBox="1">
            <a:spLocks noRot="1" noChangeArrowheads="1"/>
          </p:cNvSpPr>
          <p:nvPr/>
        </p:nvSpPr>
        <p:spPr>
          <a:xfrm>
            <a:off x="283029" y="1553349"/>
            <a:ext cx="4288971" cy="25324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a:solidFill>
                  <a:srgbClr val="C00000"/>
                </a:solidFill>
                <a:latin typeface="宋体" panose="02010600030101010101" pitchFamily="2" charset="-122"/>
                <a:ea typeface="宋体" panose="02010600030101010101" pitchFamily="2" charset="-122"/>
              </a:rPr>
              <a:t>测</a:t>
            </a:r>
            <a:r>
              <a:rPr lang="zh-CN" altLang="en-US" sz="2400" b="1" dirty="0">
                <a:solidFill>
                  <a:srgbClr val="C00000"/>
                </a:solidFill>
                <a:latin typeface="宋体" panose="02010600030101010101" pitchFamily="2" charset="-122"/>
                <a:ea typeface="宋体" panose="02010600030101010101" pitchFamily="2" charset="-122"/>
              </a:rPr>
              <a:t>两点温</a:t>
            </a:r>
            <a:r>
              <a:rPr lang="zh-CN" altLang="en-US" sz="2400" b="1">
                <a:solidFill>
                  <a:srgbClr val="C00000"/>
                </a:solidFill>
                <a:latin typeface="宋体" panose="02010600030101010101" pitchFamily="2" charset="-122"/>
                <a:ea typeface="宋体" panose="02010600030101010101" pitchFamily="2" charset="-122"/>
              </a:rPr>
              <a:t>度差：</a:t>
            </a:r>
            <a:endParaRPr lang="en-US" altLang="zh-CN" sz="2400" b="1">
              <a:solidFill>
                <a:srgbClr val="C00000"/>
              </a:solidFill>
              <a:latin typeface="宋体" panose="02010600030101010101" pitchFamily="2" charset="-122"/>
              <a:ea typeface="宋体" panose="02010600030101010101" pitchFamily="2" charset="-122"/>
            </a:endParaRPr>
          </a:p>
          <a:p>
            <a:pPr marL="0" indent="0">
              <a:lnSpc>
                <a:spcPct val="150000"/>
              </a:lnSpc>
              <a:buNone/>
            </a:pPr>
            <a:r>
              <a:rPr lang="zh-CN" altLang="en-US" sz="2400" b="1">
                <a:latin typeface="宋体" panose="02010600030101010101" pitchFamily="2" charset="-122"/>
                <a:ea typeface="宋体" panose="02010600030101010101" pitchFamily="2" charset="-122"/>
              </a:rPr>
              <a:t>两</a:t>
            </a:r>
            <a:r>
              <a:rPr lang="zh-CN" altLang="en-US" sz="2400" b="1" dirty="0">
                <a:latin typeface="宋体" panose="02010600030101010101" pitchFamily="2" charset="-122"/>
                <a:ea typeface="宋体" panose="02010600030101010101" pitchFamily="2" charset="-122"/>
              </a:rPr>
              <a:t>支</a:t>
            </a:r>
            <a:r>
              <a:rPr lang="zh-CN" altLang="en-US" sz="2400" b="1" dirty="0">
                <a:solidFill>
                  <a:srgbClr val="C00000"/>
                </a:solidFill>
                <a:latin typeface="宋体" panose="02010600030101010101" pitchFamily="2" charset="-122"/>
                <a:ea typeface="宋体" panose="02010600030101010101" pitchFamily="2" charset="-122"/>
              </a:rPr>
              <a:t>型号相同的热电偶</a:t>
            </a:r>
            <a:r>
              <a:rPr lang="zh-CN" altLang="en-US" sz="2400" b="1" dirty="0">
                <a:latin typeface="宋体" panose="02010600030101010101" pitchFamily="2" charset="-122"/>
                <a:ea typeface="宋体" panose="02010600030101010101" pitchFamily="2" charset="-122"/>
              </a:rPr>
              <a:t>配用相同的补偿导线，并</a:t>
            </a:r>
            <a:r>
              <a:rPr lang="zh-CN" altLang="en-US" sz="2400" b="1" dirty="0">
                <a:solidFill>
                  <a:srgbClr val="C00000"/>
                </a:solidFill>
                <a:latin typeface="宋体" panose="02010600030101010101" pitchFamily="2" charset="-122"/>
                <a:ea typeface="宋体" panose="02010600030101010101" pitchFamily="2" charset="-122"/>
              </a:rPr>
              <a:t>反串连接</a:t>
            </a:r>
            <a:r>
              <a:rPr lang="zh-CN" altLang="en-US" sz="2400" b="1" dirty="0">
                <a:latin typeface="宋体" panose="02010600030101010101" pitchFamily="2" charset="-122"/>
                <a:ea typeface="宋体" panose="02010600030101010101" pitchFamily="2" charset="-122"/>
              </a:rPr>
              <a:t>，使两热电动势相减，从而测出</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宋体" panose="02010600030101010101" pitchFamily="2" charset="-122"/>
                <a:ea typeface="宋体" panose="02010600030101010101" pitchFamily="2" charset="-122"/>
              </a:rPr>
              <a:t>的温度差。</a:t>
            </a:r>
          </a:p>
        </p:txBody>
      </p:sp>
      <p:sp>
        <p:nvSpPr>
          <p:cNvPr id="2" name="Slide Number Placeholder 1">
            <a:extLst>
              <a:ext uri="{FF2B5EF4-FFF2-40B4-BE49-F238E27FC236}">
                <a16:creationId xmlns:a16="http://schemas.microsoft.com/office/drawing/2014/main" id="{3D6EB032-88FE-4B2F-A1CD-C4DC63219A9D}"/>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
        <p:nvSpPr>
          <p:cNvPr id="8" name="Text Box 9">
            <a:extLst>
              <a:ext uri="{FF2B5EF4-FFF2-40B4-BE49-F238E27FC236}">
                <a16:creationId xmlns:a16="http://schemas.microsoft.com/office/drawing/2014/main" id="{561BFABD-1077-41C7-BFD8-7000D462C36C}"/>
              </a:ext>
            </a:extLst>
          </p:cNvPr>
          <p:cNvSpPr txBox="1">
            <a:spLocks noChangeArrowheads="1"/>
          </p:cNvSpPr>
          <p:nvPr/>
        </p:nvSpPr>
        <p:spPr bwMode="auto">
          <a:xfrm>
            <a:off x="4649089" y="4534859"/>
            <a:ext cx="42118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8-14  </a:t>
            </a:r>
            <a:r>
              <a:rPr lang="zh-CN" altLang="en-US" sz="2400" b="1" dirty="0">
                <a:solidFill>
                  <a:srgbClr val="000099"/>
                </a:solidFill>
              </a:rPr>
              <a:t>用热电偶测两点温差的线路</a:t>
            </a:r>
          </a:p>
        </p:txBody>
      </p:sp>
      <p:graphicFrame>
        <p:nvGraphicFramePr>
          <p:cNvPr id="9" name="Object 101">
            <a:extLst>
              <a:ext uri="{FF2B5EF4-FFF2-40B4-BE49-F238E27FC236}">
                <a16:creationId xmlns:a16="http://schemas.microsoft.com/office/drawing/2014/main" id="{6FB5D27B-1F1A-42A1-9DDD-480FA8FAC17D}"/>
              </a:ext>
            </a:extLst>
          </p:cNvPr>
          <p:cNvGraphicFramePr>
            <a:graphicFrameLocks noChangeAspect="1"/>
          </p:cNvGraphicFramePr>
          <p:nvPr>
            <p:extLst>
              <p:ext uri="{D42A27DB-BD31-4B8C-83A1-F6EECF244321}">
                <p14:modId xmlns:p14="http://schemas.microsoft.com/office/powerpoint/2010/main" val="467357818"/>
              </p:ext>
            </p:extLst>
          </p:nvPr>
        </p:nvGraphicFramePr>
        <p:xfrm>
          <a:off x="4822571" y="1553349"/>
          <a:ext cx="3948637" cy="2841524"/>
        </p:xfrm>
        <a:graphic>
          <a:graphicData uri="http://schemas.openxmlformats.org/presentationml/2006/ole">
            <mc:AlternateContent xmlns:mc="http://schemas.openxmlformats.org/markup-compatibility/2006">
              <mc:Choice xmlns:v="urn:schemas-microsoft-com:vml" Requires="v">
                <p:oleObj name="Flash 影片" r:id="rId3" imgW="5132160" imgH="3355200" progId="Flash.Movie">
                  <p:embed/>
                </p:oleObj>
              </mc:Choice>
              <mc:Fallback>
                <p:oleObj name="Flash 影片" r:id="rId3" imgW="5132160" imgH="3355200" progId="Flash.Movie">
                  <p:embed/>
                  <p:pic>
                    <p:nvPicPr>
                      <p:cNvPr id="2149" name="Object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2571" y="1553349"/>
                        <a:ext cx="3948637" cy="284152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75337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8.2.4</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热电偶测温电路</a:t>
            </a:r>
          </a:p>
        </p:txBody>
      </p:sp>
      <p:sp>
        <p:nvSpPr>
          <p:cNvPr id="27" name="Rectangle 3"/>
          <p:cNvSpPr txBox="1">
            <a:spLocks noRot="1" noChangeArrowheads="1"/>
          </p:cNvSpPr>
          <p:nvPr/>
        </p:nvSpPr>
        <p:spPr>
          <a:xfrm>
            <a:off x="185083" y="1194739"/>
            <a:ext cx="8832431" cy="6275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Font typeface="Wingdings" pitchFamily="2" charset="2"/>
              <a:buNone/>
            </a:pPr>
            <a:r>
              <a:rPr lang="zh-CN" altLang="en-US" sz="2400" b="1" dirty="0">
                <a:latin typeface="宋体" panose="02010600030101010101" pitchFamily="2" charset="-122"/>
                <a:ea typeface="宋体" panose="02010600030101010101" pitchFamily="2" charset="-122"/>
              </a:rPr>
              <a:t>如果要求高精度测温，并自动记录，常采用自动电位差计线路。</a:t>
            </a:r>
          </a:p>
        </p:txBody>
      </p:sp>
      <p:sp>
        <p:nvSpPr>
          <p:cNvPr id="2" name="Slide Number Placeholder 1">
            <a:extLst>
              <a:ext uri="{FF2B5EF4-FFF2-40B4-BE49-F238E27FC236}">
                <a16:creationId xmlns:a16="http://schemas.microsoft.com/office/drawing/2014/main" id="{3749DC89-61B0-4951-A23A-C61CC91D8CEE}"/>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
        <p:nvSpPr>
          <p:cNvPr id="8" name="Text Box 9">
            <a:extLst>
              <a:ext uri="{FF2B5EF4-FFF2-40B4-BE49-F238E27FC236}">
                <a16:creationId xmlns:a16="http://schemas.microsoft.com/office/drawing/2014/main" id="{63ABF210-7803-4F71-8889-BB9CD228EBD5}"/>
              </a:ext>
            </a:extLst>
          </p:cNvPr>
          <p:cNvSpPr txBox="1">
            <a:spLocks noChangeArrowheads="1"/>
          </p:cNvSpPr>
          <p:nvPr/>
        </p:nvSpPr>
        <p:spPr bwMode="auto">
          <a:xfrm>
            <a:off x="3038636" y="6125518"/>
            <a:ext cx="57277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8-15  XWT</a:t>
            </a:r>
            <a:r>
              <a:rPr lang="zh-CN" altLang="en-US" sz="2400" b="1" dirty="0">
                <a:solidFill>
                  <a:srgbClr val="000099"/>
                </a:solidFill>
              </a:rPr>
              <a:t>系列自动电位差计测温线路</a:t>
            </a:r>
          </a:p>
        </p:txBody>
      </p:sp>
      <p:graphicFrame>
        <p:nvGraphicFramePr>
          <p:cNvPr id="9" name="Object 102">
            <a:extLst>
              <a:ext uri="{FF2B5EF4-FFF2-40B4-BE49-F238E27FC236}">
                <a16:creationId xmlns:a16="http://schemas.microsoft.com/office/drawing/2014/main" id="{BE4D5A84-21AA-45D3-9E97-656B0983AEDD}"/>
              </a:ext>
            </a:extLst>
          </p:cNvPr>
          <p:cNvGraphicFramePr>
            <a:graphicFrameLocks noChangeAspect="1"/>
          </p:cNvGraphicFramePr>
          <p:nvPr>
            <p:extLst>
              <p:ext uri="{D42A27DB-BD31-4B8C-83A1-F6EECF244321}">
                <p14:modId xmlns:p14="http://schemas.microsoft.com/office/powerpoint/2010/main" val="359651293"/>
              </p:ext>
            </p:extLst>
          </p:nvPr>
        </p:nvGraphicFramePr>
        <p:xfrm>
          <a:off x="1960200" y="3795462"/>
          <a:ext cx="6806231" cy="2402200"/>
        </p:xfrm>
        <a:graphic>
          <a:graphicData uri="http://schemas.openxmlformats.org/presentationml/2006/ole">
            <mc:AlternateContent xmlns:mc="http://schemas.openxmlformats.org/markup-compatibility/2006">
              <mc:Choice xmlns:v="urn:schemas-microsoft-com:vml" Requires="v">
                <p:oleObj name="Flash 影片" r:id="rId3" imgW="10217160" imgH="2976840" progId="Flash.Movie">
                  <p:embed/>
                </p:oleObj>
              </mc:Choice>
              <mc:Fallback>
                <p:oleObj name="Flash 影片" r:id="rId3" imgW="10217160" imgH="2976840" progId="Flash.Movie">
                  <p:embed/>
                  <p:pic>
                    <p:nvPicPr>
                      <p:cNvPr id="2150" name="Object 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0200" y="3795462"/>
                        <a:ext cx="6806231" cy="2402200"/>
                      </a:xfrm>
                      <a:prstGeom prst="rect">
                        <a:avLst/>
                      </a:prstGeom>
                      <a:noFill/>
                      <a:ln>
                        <a:noFill/>
                      </a:ln>
                      <a:effectLst/>
                    </p:spPr>
                  </p:pic>
                </p:oleObj>
              </mc:Fallback>
            </mc:AlternateContent>
          </a:graphicData>
        </a:graphic>
      </p:graphicFrame>
      <p:sp>
        <p:nvSpPr>
          <p:cNvPr id="11" name="TextBox 10">
            <a:extLst>
              <a:ext uri="{FF2B5EF4-FFF2-40B4-BE49-F238E27FC236}">
                <a16:creationId xmlns:a16="http://schemas.microsoft.com/office/drawing/2014/main" id="{D8DB2A8F-A636-461C-A0FC-89C90224CE16}"/>
              </a:ext>
            </a:extLst>
          </p:cNvPr>
          <p:cNvSpPr txBox="1"/>
          <p:nvPr/>
        </p:nvSpPr>
        <p:spPr>
          <a:xfrm>
            <a:off x="182059" y="5017523"/>
            <a:ext cx="3592260" cy="1569660"/>
          </a:xfrm>
          <a:prstGeom prst="rect">
            <a:avLst/>
          </a:prstGeom>
          <a:noFill/>
        </p:spPr>
        <p:txBody>
          <a:bodyPr wrap="square">
            <a:spAutoFit/>
          </a:bodyPr>
          <a:lstStyle/>
          <a:p>
            <a:pPr marL="180000" indent="-180000">
              <a:buFont typeface="Arial" panose="020B0604020202020204" pitchFamily="34" charset="0"/>
              <a:buChar char="•"/>
            </a:pPr>
            <a:r>
              <a:rPr lang="en-001" sz="1600">
                <a:latin typeface="宋体" panose="02010600030101010101" pitchFamily="2" charset="-122"/>
                <a:ea typeface="宋体" panose="02010600030101010101" pitchFamily="2" charset="-122"/>
              </a:rPr>
              <a:t>Rp 为调零电位器，在测量前调节它使仪表指针置于标度尺起点；</a:t>
            </a:r>
          </a:p>
          <a:p>
            <a:pPr marL="180000" indent="-180000">
              <a:buFont typeface="Arial" panose="020B0604020202020204" pitchFamily="34" charset="0"/>
              <a:buChar char="•"/>
            </a:pPr>
            <a:r>
              <a:rPr lang="en-001" sz="1600">
                <a:latin typeface="宋体" panose="02010600030101010101" pitchFamily="2" charset="-122"/>
                <a:ea typeface="宋体" panose="02010600030101010101" pitchFamily="2" charset="-122"/>
              </a:rPr>
              <a:t>Rm 为精密测量电位器，用以调节电桥输出的补偿电压； </a:t>
            </a:r>
          </a:p>
          <a:p>
            <a:pPr marL="180000" indent="-180000">
              <a:buFont typeface="Arial" panose="020B0604020202020204" pitchFamily="34" charset="0"/>
              <a:buChar char="•"/>
            </a:pPr>
            <a:r>
              <a:rPr lang="en-001" sz="1600">
                <a:latin typeface="宋体" panose="02010600030101010101" pitchFamily="2" charset="-122"/>
                <a:ea typeface="宋体" panose="02010600030101010101" pitchFamily="2" charset="-122"/>
              </a:rPr>
              <a:t>Ur 为稳定的参考电压源；</a:t>
            </a:r>
          </a:p>
          <a:p>
            <a:pPr marL="180000" indent="-180000">
              <a:buFont typeface="Arial" panose="020B0604020202020204" pitchFamily="34" charset="0"/>
              <a:buChar char="•"/>
            </a:pPr>
            <a:r>
              <a:rPr lang="en-001" sz="1600">
                <a:latin typeface="宋体" panose="02010600030101010101" pitchFamily="2" charset="-122"/>
                <a:ea typeface="宋体" panose="02010600030101010101" pitchFamily="2" charset="-122"/>
              </a:rPr>
              <a:t>Rc 为 限流电阻。</a:t>
            </a:r>
          </a:p>
        </p:txBody>
      </p:sp>
      <p:sp>
        <p:nvSpPr>
          <p:cNvPr id="13" name="TextBox 12">
            <a:extLst>
              <a:ext uri="{FF2B5EF4-FFF2-40B4-BE49-F238E27FC236}">
                <a16:creationId xmlns:a16="http://schemas.microsoft.com/office/drawing/2014/main" id="{A6FF8982-2B4F-4A2D-8B92-73F6AF1F614A}"/>
              </a:ext>
            </a:extLst>
          </p:cNvPr>
          <p:cNvSpPr txBox="1"/>
          <p:nvPr/>
        </p:nvSpPr>
        <p:spPr>
          <a:xfrm>
            <a:off x="286459" y="1816972"/>
            <a:ext cx="8479972" cy="2092881"/>
          </a:xfrm>
          <a:prstGeom prst="rect">
            <a:avLst/>
          </a:prstGeom>
          <a:noFill/>
        </p:spPr>
        <p:txBody>
          <a:bodyPr wrap="square">
            <a:spAutoFit/>
          </a:bodyPr>
          <a:lstStyle/>
          <a:p>
            <a:pPr marL="342900" indent="-342900">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桥路输入端滤波器是为滤除50 Hz 的工频干扰。</a:t>
            </a:r>
          </a:p>
          <a:p>
            <a:pPr marL="342900" indent="-342900">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热电偶输出的热电动势经滤波后加入桥路，与桥路的输出分压电阻R 两端的直流电压Us相比较，其差值电压经滤波、放大，驱动可逆电机M 。通过传动系统带动滑线电阻Rm 的滑动触头，自动调整电压Us, 直到Us=Ex为止，桥路处于平衡状态。</a:t>
            </a:r>
          </a:p>
          <a:p>
            <a:pPr marL="342900" indent="-342900">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根据滑动触头的平衡位置，在标度尺上读出相应的被测温度。</a:t>
            </a:r>
          </a:p>
        </p:txBody>
      </p:sp>
    </p:spTree>
    <p:extLst>
      <p:ext uri="{BB962C8B-B14F-4D97-AF65-F5344CB8AC3E}">
        <p14:creationId xmlns:p14="http://schemas.microsoft.com/office/powerpoint/2010/main" val="22722494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8.2.5</a:t>
            </a:r>
          </a:p>
        </p:txBody>
      </p:sp>
      <p:sp>
        <p:nvSpPr>
          <p:cNvPr id="46" name="矩形 45"/>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热电偶参考端温度</a:t>
            </a:r>
          </a:p>
        </p:txBody>
      </p:sp>
      <p:sp>
        <p:nvSpPr>
          <p:cNvPr id="27" name="Rectangle 3"/>
          <p:cNvSpPr txBox="1">
            <a:spLocks noRot="1" noChangeArrowheads="1"/>
          </p:cNvSpPr>
          <p:nvPr/>
        </p:nvSpPr>
        <p:spPr>
          <a:xfrm>
            <a:off x="1571711" y="1476109"/>
            <a:ext cx="5353164" cy="46463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a:pPr>
            <a:r>
              <a:rPr lang="en-US" altLang="zh-CN" sz="2000" b="1" dirty="0">
                <a:solidFill>
                  <a:schemeClr val="tx2"/>
                </a:solidFill>
                <a:latin typeface="宋体" panose="02010600030101010101" pitchFamily="2" charset="-122"/>
                <a:ea typeface="宋体" panose="02010600030101010101" pitchFamily="2" charset="-122"/>
              </a:rPr>
              <a:t>0℃</a:t>
            </a:r>
            <a:r>
              <a:rPr lang="zh-CN" altLang="en-US" sz="2000" b="1" dirty="0">
                <a:solidFill>
                  <a:schemeClr val="tx2"/>
                </a:solidFill>
                <a:latin typeface="宋体" panose="02010600030101010101" pitchFamily="2" charset="-122"/>
                <a:ea typeface="宋体" panose="02010600030101010101" pitchFamily="2" charset="-122"/>
              </a:rPr>
              <a:t>恒温法</a:t>
            </a:r>
          </a:p>
          <a:p>
            <a:pPr>
              <a:lnSpc>
                <a:spcPct val="150000"/>
              </a:lnSpc>
              <a:buFont typeface="Wingdings" panose="05000000000000000000" pitchFamily="2" charset="2"/>
              <a:buChar char="§"/>
            </a:pPr>
            <a:r>
              <a:rPr lang="zh-CN" altLang="en-US" sz="2000" b="1">
                <a:solidFill>
                  <a:schemeClr val="tx2"/>
                </a:solidFill>
                <a:latin typeface="宋体" panose="02010600030101010101" pitchFamily="2" charset="-122"/>
                <a:ea typeface="宋体" panose="02010600030101010101" pitchFamily="2" charset="-122"/>
              </a:rPr>
              <a:t>热</a:t>
            </a:r>
            <a:r>
              <a:rPr lang="zh-CN" altLang="en-US" sz="2000" b="1" dirty="0">
                <a:solidFill>
                  <a:schemeClr val="tx2"/>
                </a:solidFill>
                <a:latin typeface="宋体" panose="02010600030101010101" pitchFamily="2" charset="-122"/>
                <a:ea typeface="宋体" panose="02010600030101010101" pitchFamily="2" charset="-122"/>
              </a:rPr>
              <a:t>电偶参考端温度为</a:t>
            </a:r>
            <a:r>
              <a:rPr lang="en-US" altLang="zh-CN" sz="2000" b="1" i="1"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1" i="1" baseline="-25000"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b="1" dirty="0">
                <a:solidFill>
                  <a:schemeClr val="tx2"/>
                </a:solidFill>
                <a:latin typeface="宋体" panose="02010600030101010101" pitchFamily="2" charset="-122"/>
                <a:ea typeface="宋体" panose="02010600030101010101" pitchFamily="2" charset="-122"/>
              </a:rPr>
              <a:t>时的补正</a:t>
            </a:r>
            <a:r>
              <a:rPr lang="zh-CN" altLang="en-US" sz="2000" b="1">
                <a:solidFill>
                  <a:schemeClr val="tx2"/>
                </a:solidFill>
                <a:latin typeface="宋体" panose="02010600030101010101" pitchFamily="2" charset="-122"/>
                <a:ea typeface="宋体" panose="02010600030101010101" pitchFamily="2" charset="-122"/>
              </a:rPr>
              <a:t>方法</a:t>
            </a:r>
            <a:endParaRPr lang="en-US" altLang="zh-CN" sz="2000" b="1">
              <a:solidFill>
                <a:schemeClr val="tx2"/>
              </a:solidFill>
              <a:latin typeface="宋体" panose="02010600030101010101" pitchFamily="2" charset="-122"/>
              <a:ea typeface="宋体" panose="02010600030101010101" pitchFamily="2" charset="-122"/>
            </a:endParaRPr>
          </a:p>
          <a:p>
            <a:pPr marL="457200" lvl="1" indent="0">
              <a:lnSpc>
                <a:spcPct val="150000"/>
              </a:lnSpc>
              <a:spcBef>
                <a:spcPts val="670"/>
              </a:spcBef>
              <a:buNone/>
            </a:pPr>
            <a:r>
              <a:rPr lang="en-US" altLang="zh-CN" sz="2000" b="1">
                <a:latin typeface="Arial" panose="020B0604020202020204" pitchFamily="34" charset="0"/>
                <a:ea typeface="宋体" panose="02010600030101010101" pitchFamily="2" charset="-122"/>
                <a:cs typeface="Arial" panose="020B0604020202020204" pitchFamily="34" charset="0"/>
                <a:sym typeface="+mn-ea"/>
              </a:rPr>
              <a:t>1    </a:t>
            </a:r>
            <a:r>
              <a:rPr lang="zh-CN" altLang="en-US" sz="2000" b="1">
                <a:latin typeface="Arial" panose="020B0604020202020204" pitchFamily="34" charset="0"/>
                <a:ea typeface="宋体" panose="02010600030101010101" pitchFamily="2" charset="-122"/>
                <a:cs typeface="Arial" panose="020B0604020202020204" pitchFamily="34" charset="0"/>
                <a:sym typeface="+mn-ea"/>
              </a:rPr>
              <a:t>热电动势补正法</a:t>
            </a:r>
          </a:p>
          <a:p>
            <a:pPr marL="457200" lvl="1" indent="0">
              <a:lnSpc>
                <a:spcPct val="150000"/>
              </a:lnSpc>
              <a:spcBef>
                <a:spcPts val="670"/>
              </a:spcBef>
              <a:buNone/>
            </a:pPr>
            <a:r>
              <a:rPr lang="en-US" altLang="zh-CN" sz="2000" b="1">
                <a:latin typeface="Arial" panose="020B0604020202020204" pitchFamily="34" charset="0"/>
                <a:ea typeface="宋体" panose="02010600030101010101" pitchFamily="2" charset="-122"/>
                <a:cs typeface="Arial" panose="020B0604020202020204" pitchFamily="34" charset="0"/>
                <a:sym typeface="+mn-ea"/>
              </a:rPr>
              <a:t>2    </a:t>
            </a:r>
            <a:r>
              <a:rPr lang="zh-CN" altLang="en-US" sz="2000" b="1">
                <a:latin typeface="Arial" panose="020B0604020202020204" pitchFamily="34" charset="0"/>
                <a:ea typeface="宋体" panose="02010600030101010101" pitchFamily="2" charset="-122"/>
                <a:cs typeface="Arial" panose="020B0604020202020204" pitchFamily="34" charset="0"/>
                <a:sym typeface="+mn-ea"/>
              </a:rPr>
              <a:t>温度补正法</a:t>
            </a:r>
          </a:p>
          <a:p>
            <a:pPr marL="457200" lvl="1" indent="0">
              <a:lnSpc>
                <a:spcPct val="150000"/>
              </a:lnSpc>
              <a:spcBef>
                <a:spcPts val="670"/>
              </a:spcBef>
              <a:buNone/>
            </a:pPr>
            <a:r>
              <a:rPr lang="en-US" altLang="zh-CN" sz="2000" b="1">
                <a:latin typeface="Arial" panose="020B0604020202020204" pitchFamily="34" charset="0"/>
                <a:ea typeface="宋体" panose="02010600030101010101" pitchFamily="2" charset="-122"/>
                <a:cs typeface="Arial" panose="020B0604020202020204" pitchFamily="34" charset="0"/>
                <a:sym typeface="+mn-ea"/>
              </a:rPr>
              <a:t>3    </a:t>
            </a:r>
            <a:r>
              <a:rPr lang="zh-CN" altLang="en-US" sz="2000" b="1">
                <a:latin typeface="Arial" panose="020B0604020202020204" pitchFamily="34" charset="0"/>
                <a:ea typeface="宋体" panose="02010600030101010101" pitchFamily="2" charset="-122"/>
                <a:cs typeface="Arial" panose="020B0604020202020204" pitchFamily="34" charset="0"/>
                <a:sym typeface="+mn-ea"/>
              </a:rPr>
              <a:t>调整仪表起始点法</a:t>
            </a:r>
          </a:p>
          <a:p>
            <a:pPr marL="457200" lvl="1" indent="0">
              <a:lnSpc>
                <a:spcPct val="150000"/>
              </a:lnSpc>
              <a:spcBef>
                <a:spcPts val="670"/>
              </a:spcBef>
              <a:buNone/>
            </a:pPr>
            <a:r>
              <a:rPr lang="en-US" altLang="zh-CN" sz="2000" b="1">
                <a:latin typeface="Arial" panose="020B0604020202020204" pitchFamily="34" charset="0"/>
                <a:ea typeface="宋体" panose="02010600030101010101" pitchFamily="2" charset="-122"/>
                <a:cs typeface="Arial" panose="020B0604020202020204" pitchFamily="34" charset="0"/>
                <a:sym typeface="+mn-ea"/>
              </a:rPr>
              <a:t>4    </a:t>
            </a:r>
            <a:r>
              <a:rPr lang="zh-CN" altLang="en-US" sz="2000" b="1">
                <a:latin typeface="Arial" panose="020B0604020202020204" pitchFamily="34" charset="0"/>
                <a:ea typeface="宋体" panose="02010600030101010101" pitchFamily="2" charset="-122"/>
                <a:cs typeface="Arial" panose="020B0604020202020204" pitchFamily="34" charset="0"/>
                <a:sym typeface="+mn-ea"/>
              </a:rPr>
              <a:t>热电偶补偿法</a:t>
            </a:r>
          </a:p>
          <a:p>
            <a:pPr marL="457200" lvl="1" indent="0">
              <a:lnSpc>
                <a:spcPct val="150000"/>
              </a:lnSpc>
              <a:spcBef>
                <a:spcPts val="670"/>
              </a:spcBef>
              <a:buNone/>
            </a:pPr>
            <a:r>
              <a:rPr lang="en-US" altLang="zh-CN" sz="2000" b="1">
                <a:latin typeface="Arial" panose="020B0604020202020204" pitchFamily="34" charset="0"/>
                <a:ea typeface="宋体" panose="02010600030101010101" pitchFamily="2" charset="-122"/>
                <a:cs typeface="Arial" panose="020B0604020202020204" pitchFamily="34" charset="0"/>
                <a:sym typeface="+mn-ea"/>
              </a:rPr>
              <a:t>5   </a:t>
            </a:r>
            <a:r>
              <a:rPr lang="zh-CN" altLang="en-US" sz="2000" b="1">
                <a:latin typeface="Arial" panose="020B0604020202020204" pitchFamily="34" charset="0"/>
                <a:ea typeface="宋体" panose="02010600030101010101" pitchFamily="2" charset="-122"/>
                <a:cs typeface="Arial" panose="020B0604020202020204" pitchFamily="34" charset="0"/>
                <a:sym typeface="+mn-ea"/>
              </a:rPr>
              <a:t>电桥补偿法</a:t>
            </a:r>
            <a:endParaRPr lang="zh-CN" altLang="en-US" sz="2000" b="1" dirty="0">
              <a:solidFill>
                <a:schemeClr val="tx2"/>
              </a:solidFill>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
            </a:pPr>
            <a:r>
              <a:rPr lang="zh-CN" altLang="en-US" sz="2000" b="1" dirty="0">
                <a:solidFill>
                  <a:schemeClr val="tx2"/>
                </a:solidFill>
                <a:latin typeface="宋体" panose="02010600030101010101" pitchFamily="2" charset="-122"/>
                <a:ea typeface="宋体" panose="02010600030101010101" pitchFamily="2" charset="-122"/>
              </a:rPr>
              <a:t>冷端延长线法</a:t>
            </a:r>
          </a:p>
        </p:txBody>
      </p:sp>
      <p:sp>
        <p:nvSpPr>
          <p:cNvPr id="2" name="Slide Number Placeholder 1">
            <a:extLst>
              <a:ext uri="{FF2B5EF4-FFF2-40B4-BE49-F238E27FC236}">
                <a16:creationId xmlns:a16="http://schemas.microsoft.com/office/drawing/2014/main" id="{14BFD95A-54BA-4440-A63D-E26E0AD9B218}"/>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Tree>
    <p:extLst>
      <p:ext uri="{BB962C8B-B14F-4D97-AF65-F5344CB8AC3E}">
        <p14:creationId xmlns:p14="http://schemas.microsoft.com/office/powerpoint/2010/main" val="11223255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8.2.6</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热电偶的应用</a:t>
            </a:r>
          </a:p>
        </p:txBody>
      </p:sp>
      <p:sp>
        <p:nvSpPr>
          <p:cNvPr id="3" name="矩形 2"/>
          <p:cNvSpPr/>
          <p:nvPr/>
        </p:nvSpPr>
        <p:spPr>
          <a:xfrm>
            <a:off x="1330529" y="1271608"/>
            <a:ext cx="7052179" cy="4524313"/>
          </a:xfrm>
          <a:prstGeom prst="rect">
            <a:avLst/>
          </a:prstGeom>
        </p:spPr>
        <p:txBody>
          <a:bodyPr wrap="square" lIns="91438" tIns="45719" rIns="91438" bIns="45719">
            <a:spAutoFit/>
          </a:bodyPr>
          <a:lstStyle/>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①结构简单：其主体实际上是由两种不同性质的导体或半导体互相绝缘并将一端焊接在一起而成的；</a:t>
            </a:r>
          </a:p>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②具有较高的准确度 ；</a:t>
            </a:r>
          </a:p>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③测量范围宽，常用的热电偶，低温可测到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mn-ea"/>
              </a:rPr>
              <a:t>-50℃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高温</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可以达到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mn-ea"/>
              </a:rPr>
              <a:t>1600℃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左右，配用特殊材料的热电极，最低可测到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mn-ea"/>
              </a:rPr>
              <a:t>-180℃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，最高可达到</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mn-ea"/>
              </a:rPr>
              <a:t>+2800℃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的温度；</a:t>
            </a:r>
          </a:p>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④具有良好的敏感度；</a:t>
            </a:r>
          </a:p>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sym typeface="+mn-ea"/>
              </a:rPr>
              <a:t>⑤使用方便等。</a:t>
            </a:r>
          </a:p>
        </p:txBody>
      </p:sp>
      <p:sp>
        <p:nvSpPr>
          <p:cNvPr id="28" name="Text Box 2"/>
          <p:cNvSpPr txBox="1">
            <a:spLocks noChangeArrowheads="1"/>
          </p:cNvSpPr>
          <p:nvPr/>
        </p:nvSpPr>
        <p:spPr bwMode="auto">
          <a:xfrm>
            <a:off x="1373737" y="5795921"/>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solidFill>
                  <a:srgbClr val="FF0000"/>
                </a:solidFill>
              </a:rPr>
              <a:t>远距离测量，受引线长度影响小。</a:t>
            </a:r>
          </a:p>
        </p:txBody>
      </p:sp>
      <p:sp>
        <p:nvSpPr>
          <p:cNvPr id="2" name="Slide Number Placeholder 1">
            <a:extLst>
              <a:ext uri="{FF2B5EF4-FFF2-40B4-BE49-F238E27FC236}">
                <a16:creationId xmlns:a16="http://schemas.microsoft.com/office/drawing/2014/main" id="{754827F9-F908-4864-8FF9-83363E2E8A59}"/>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spTree>
    <p:extLst>
      <p:ext uri="{BB962C8B-B14F-4D97-AF65-F5344CB8AC3E}">
        <p14:creationId xmlns:p14="http://schemas.microsoft.com/office/powerpoint/2010/main" val="41353333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8.3</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 敏 电 阻</a:t>
            </a:r>
          </a:p>
        </p:txBody>
      </p:sp>
      <p:sp>
        <p:nvSpPr>
          <p:cNvPr id="28" name="Rectangle 3"/>
          <p:cNvSpPr txBox="1">
            <a:spLocks noRot="1" noChangeArrowheads="1"/>
          </p:cNvSpPr>
          <p:nvPr/>
        </p:nvSpPr>
        <p:spPr>
          <a:xfrm>
            <a:off x="1074372" y="1504182"/>
            <a:ext cx="6959600" cy="432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b="1" dirty="0">
                <a:latin typeface="宋体" panose="02010600030101010101" pitchFamily="2" charset="-122"/>
                <a:ea typeface="宋体" panose="02010600030101010101" pitchFamily="2" charset="-122"/>
              </a:rPr>
              <a:t>热敏电阻是用一种半导体材料制成的敏感元件，其特点是电阻随温度变化而显著变化，能直接将温度的变化转换为能量的变化。（</a:t>
            </a:r>
            <a:r>
              <a:rPr lang="en-US" altLang="zh-CN" sz="2400" b="1" dirty="0">
                <a:solidFill>
                  <a:srgbClr val="0070C0"/>
                </a:solidFill>
                <a:latin typeface="宋体" panose="02010600030101010101" pitchFamily="2" charset="-122"/>
                <a:ea typeface="宋体" panose="02010600030101010101" pitchFamily="2" charset="-122"/>
              </a:rPr>
              <a:t>-60℃</a:t>
            </a:r>
            <a:r>
              <a:rPr lang="zh-CN" altLang="en-US" sz="2400" b="1" dirty="0">
                <a:solidFill>
                  <a:srgbClr val="0070C0"/>
                </a:solidFill>
                <a:latin typeface="宋体" panose="02010600030101010101" pitchFamily="2" charset="-122"/>
                <a:ea typeface="宋体" panose="02010600030101010101" pitchFamily="2" charset="-122"/>
              </a:rPr>
              <a:t>～</a:t>
            </a:r>
            <a:r>
              <a:rPr lang="en-US" altLang="zh-CN" sz="2400" b="1" dirty="0">
                <a:solidFill>
                  <a:srgbClr val="0070C0"/>
                </a:solidFill>
                <a:latin typeface="宋体" panose="02010600030101010101" pitchFamily="2" charset="-122"/>
                <a:ea typeface="宋体" panose="02010600030101010101" pitchFamily="2" charset="-122"/>
              </a:rPr>
              <a:t>300℃</a:t>
            </a:r>
            <a:r>
              <a:rPr lang="zh-CN" altLang="en-US" sz="2400" b="1" dirty="0">
                <a:latin typeface="宋体" panose="02010600030101010101" pitchFamily="2" charset="-122"/>
                <a:ea typeface="宋体" panose="02010600030101010101" pitchFamily="2" charset="-122"/>
              </a:rPr>
              <a:t>）</a:t>
            </a:r>
          </a:p>
          <a:p>
            <a:pPr>
              <a:lnSpc>
                <a:spcPct val="150000"/>
              </a:lnSpc>
            </a:pPr>
            <a:r>
              <a:rPr lang="zh-CN" altLang="en-US" sz="2400" b="1" dirty="0">
                <a:latin typeface="宋体" panose="02010600030101010101" pitchFamily="2" charset="-122"/>
                <a:ea typeface="宋体" panose="02010600030101010101" pitchFamily="2" charset="-122"/>
              </a:rPr>
              <a:t>温度系数很大，比温差电偶和线绕电阻测温元件的灵敏度高几十倍，适用于测量</a:t>
            </a:r>
            <a:r>
              <a:rPr lang="zh-CN" altLang="en-US" sz="2400" b="1" dirty="0">
                <a:solidFill>
                  <a:srgbClr val="FF0000"/>
                </a:solidFill>
                <a:latin typeface="宋体" panose="02010600030101010101" pitchFamily="2" charset="-122"/>
                <a:ea typeface="宋体" panose="02010600030101010101" pitchFamily="2" charset="-122"/>
              </a:rPr>
              <a:t>微小的温度变化</a:t>
            </a:r>
            <a:r>
              <a:rPr lang="zh-CN" altLang="en-US" sz="2400" b="1" dirty="0">
                <a:latin typeface="宋体" panose="02010600030101010101" pitchFamily="2" charset="-122"/>
                <a:ea typeface="宋体" panose="02010600030101010101" pitchFamily="2" charset="-122"/>
              </a:rPr>
              <a:t>。体积小、热容量小、响应速度快，阻值高，测量结果受引线的影响小，可用于</a:t>
            </a:r>
            <a:r>
              <a:rPr lang="zh-CN" altLang="en-US" sz="2400" b="1" dirty="0">
                <a:solidFill>
                  <a:srgbClr val="FF0000"/>
                </a:solidFill>
                <a:latin typeface="宋体" panose="02010600030101010101" pitchFamily="2" charset="-122"/>
                <a:ea typeface="宋体" panose="02010600030101010101" pitchFamily="2" charset="-122"/>
              </a:rPr>
              <a:t>远距离测量</a:t>
            </a:r>
            <a:r>
              <a:rPr lang="zh-CN" altLang="en-US" sz="2400" b="1" dirty="0">
                <a:latin typeface="宋体" panose="02010600030101010101" pitchFamily="2" charset="-122"/>
                <a:ea typeface="宋体" panose="02010600030101010101" pitchFamily="2" charset="-122"/>
              </a:rPr>
              <a:t>。</a:t>
            </a:r>
          </a:p>
        </p:txBody>
      </p:sp>
      <p:sp>
        <p:nvSpPr>
          <p:cNvPr id="2" name="Slide Number Placeholder 1">
            <a:extLst>
              <a:ext uri="{FF2B5EF4-FFF2-40B4-BE49-F238E27FC236}">
                <a16:creationId xmlns:a16="http://schemas.microsoft.com/office/drawing/2014/main" id="{ABDE4357-CC54-4AB2-9A18-B0A02D53226E}"/>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8.3</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a:t>
            </a:r>
          </a:p>
        </p:txBody>
      </p:sp>
      <p:sp>
        <p:nvSpPr>
          <p:cNvPr id="5" name="矩形 4"/>
          <p:cNvSpPr/>
          <p:nvPr/>
        </p:nvSpPr>
        <p:spPr>
          <a:xfrm>
            <a:off x="2796004" y="3005612"/>
            <a:ext cx="3461589" cy="2487859"/>
          </a:xfrm>
          <a:prstGeom prst="rect">
            <a:avLst/>
          </a:prstGeom>
        </p:spPr>
        <p:txBody>
          <a:bodyPr wrap="square" lIns="91438" tIns="45719" rIns="91438" bIns="45719">
            <a:spAutoFit/>
          </a:bodyPr>
          <a:lstStyle/>
          <a:p>
            <a:pPr>
              <a:lnSpc>
                <a:spcPct val="20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热敏电阻的主要特性</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热敏电阻的特性线性化</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热敏电阻的应用举例 </a:t>
            </a:r>
            <a:endParaRPr lang="zh-CN" altLang="en-US" sz="2400" b="1"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26" name="文本框 3"/>
          <p:cNvSpPr txBox="1"/>
          <p:nvPr/>
        </p:nvSpPr>
        <p:spPr>
          <a:xfrm>
            <a:off x="1571711" y="1539831"/>
            <a:ext cx="6648562" cy="1200329"/>
          </a:xfrm>
          <a:prstGeom prst="rect">
            <a:avLst/>
          </a:prstGeom>
          <a:noFill/>
        </p:spPr>
        <p:txBody>
          <a:bodyPr wrap="square" rtlCol="0">
            <a:spAutoFit/>
          </a:bodyPr>
          <a:lstStyle/>
          <a:p>
            <a:pPr marL="1524000" indent="-1524000">
              <a:lnSpc>
                <a:spcPct val="150000"/>
              </a:lnSpc>
            </a:pPr>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Thermally Sensitive Resistor (Thermistor)</a:t>
            </a:r>
          </a:p>
        </p:txBody>
      </p:sp>
      <p:sp>
        <p:nvSpPr>
          <p:cNvPr id="19" name="圆角矩形 72">
            <a:extLst>
              <a:ext uri="{FF2B5EF4-FFF2-40B4-BE49-F238E27FC236}">
                <a16:creationId xmlns:a16="http://schemas.microsoft.com/office/drawing/2014/main" id="{343D7C8A-72E9-4E11-82F9-04D1F37F1B07}"/>
              </a:ext>
            </a:extLst>
          </p:cNvPr>
          <p:cNvSpPr/>
          <p:nvPr/>
        </p:nvSpPr>
        <p:spPr>
          <a:xfrm rot="10800000" flipV="1">
            <a:off x="1670869" y="3218899"/>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8.3.1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0" name="圆角矩形 73">
            <a:extLst>
              <a:ext uri="{FF2B5EF4-FFF2-40B4-BE49-F238E27FC236}">
                <a16:creationId xmlns:a16="http://schemas.microsoft.com/office/drawing/2014/main" id="{7997A031-0667-4F3B-9AA0-BAB02B443096}"/>
              </a:ext>
            </a:extLst>
          </p:cNvPr>
          <p:cNvSpPr/>
          <p:nvPr/>
        </p:nvSpPr>
        <p:spPr>
          <a:xfrm rot="10800000" flipV="1">
            <a:off x="1670865" y="4049948"/>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8.3.2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2">
            <a:extLst>
              <a:ext uri="{FF2B5EF4-FFF2-40B4-BE49-F238E27FC236}">
                <a16:creationId xmlns:a16="http://schemas.microsoft.com/office/drawing/2014/main" id="{343D7C8A-72E9-4E11-82F9-04D1F37F1B07}"/>
              </a:ext>
            </a:extLst>
          </p:cNvPr>
          <p:cNvSpPr/>
          <p:nvPr/>
        </p:nvSpPr>
        <p:spPr>
          <a:xfrm rot="10800000" flipV="1">
            <a:off x="1670864" y="4858727"/>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8.3.3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C84790BD-D473-4696-B826-686DB61B9614}"/>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5" name="Rectangle 3"/>
          <p:cNvSpPr txBox="1">
            <a:spLocks noRot="1" noChangeArrowheads="1"/>
          </p:cNvSpPr>
          <p:nvPr/>
        </p:nvSpPr>
        <p:spPr>
          <a:xfrm>
            <a:off x="185083" y="1462734"/>
            <a:ext cx="5030144" cy="4090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电阻</a:t>
            </a:r>
            <a:r>
              <a:rPr lang="en-US" altLang="zh-CN"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温度特性</a:t>
            </a:r>
          </a:p>
          <a:p>
            <a:pPr>
              <a:lnSpc>
                <a:spcPct val="12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电阻与温度之间的关系可用下面公式来表示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p>
          <a:p>
            <a:pPr algn="ctr">
              <a:lnSpc>
                <a:spcPct val="200000"/>
              </a:lnSpc>
              <a:spcBef>
                <a:spcPct val="10000"/>
              </a:spcBef>
              <a:spcAft>
                <a:spcPct val="10000"/>
              </a:spcAft>
              <a:buFont typeface="Wingdings" pitchFamily="2" charset="2"/>
              <a:buNone/>
            </a:pPr>
            <a:r>
              <a:rPr lang="en-US" altLang="zh-CN" b="1" i="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i="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b="1" i="1" baseline="30000">
                <a:solidFill>
                  <a:srgbClr val="7030A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b="1" i="1" baseline="300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/T</a:t>
            </a:r>
          </a:p>
          <a:p>
            <a:pPr marL="719138" indent="-719138">
              <a:lnSpc>
                <a:spcPct val="120000"/>
              </a:lnSpc>
              <a:buFont typeface="Wingdings" pitchFamily="2" charset="2"/>
              <a:buNone/>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与热敏电阻尺寸形状以及半导体物理性能有关的常数；</a:t>
            </a:r>
          </a:p>
          <a:p>
            <a:pPr>
              <a:lnSpc>
                <a:spcPct val="12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与半导体物理性能有关的常数；</a:t>
            </a:r>
          </a:p>
          <a:p>
            <a:pPr>
              <a:lnSpc>
                <a:spcPct val="12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热敏电阻的绝对温度。</a:t>
            </a:r>
          </a:p>
        </p:txBody>
      </p:sp>
      <p:sp>
        <p:nvSpPr>
          <p:cNvPr id="2" name="Slide Number Placeholder 1">
            <a:extLst>
              <a:ext uri="{FF2B5EF4-FFF2-40B4-BE49-F238E27FC236}">
                <a16:creationId xmlns:a16="http://schemas.microsoft.com/office/drawing/2014/main" id="{0F427A34-EFDC-4024-BB32-27E3FA7A6F7F}"/>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
        <p:nvSpPr>
          <p:cNvPr id="8" name="Text Box 9">
            <a:extLst>
              <a:ext uri="{FF2B5EF4-FFF2-40B4-BE49-F238E27FC236}">
                <a16:creationId xmlns:a16="http://schemas.microsoft.com/office/drawing/2014/main" id="{CC2AAFD9-1AA0-45D5-A72E-D9E213781BEC}"/>
              </a:ext>
            </a:extLst>
          </p:cNvPr>
          <p:cNvSpPr txBox="1">
            <a:spLocks noChangeArrowheads="1"/>
          </p:cNvSpPr>
          <p:nvPr/>
        </p:nvSpPr>
        <p:spPr bwMode="auto">
          <a:xfrm>
            <a:off x="5610908" y="5342861"/>
            <a:ext cx="30238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8-20  </a:t>
            </a:r>
            <a:r>
              <a:rPr lang="zh-CN" altLang="en-US" sz="2400" b="1" dirty="0">
                <a:solidFill>
                  <a:srgbClr val="000099"/>
                </a:solidFill>
              </a:rPr>
              <a:t>热敏电阻的电阻</a:t>
            </a:r>
            <a:r>
              <a:rPr lang="en-US" altLang="zh-CN" sz="2400" b="1" dirty="0">
                <a:solidFill>
                  <a:srgbClr val="000099"/>
                </a:solidFill>
              </a:rPr>
              <a:t>-</a:t>
            </a:r>
            <a:r>
              <a:rPr lang="zh-CN" altLang="en-US" sz="2400" b="1" dirty="0">
                <a:solidFill>
                  <a:srgbClr val="000099"/>
                </a:solidFill>
              </a:rPr>
              <a:t>温度特性曲线</a:t>
            </a:r>
          </a:p>
        </p:txBody>
      </p:sp>
      <p:pic>
        <p:nvPicPr>
          <p:cNvPr id="9" name="图片 3">
            <a:extLst>
              <a:ext uri="{FF2B5EF4-FFF2-40B4-BE49-F238E27FC236}">
                <a16:creationId xmlns:a16="http://schemas.microsoft.com/office/drawing/2014/main" id="{36747471-9870-428F-A484-94C454111363}"/>
              </a:ext>
            </a:extLst>
          </p:cNvPr>
          <p:cNvPicPr>
            <a:picLocks noChangeAspect="1"/>
          </p:cNvPicPr>
          <p:nvPr/>
        </p:nvPicPr>
        <p:blipFill>
          <a:blip r:embed="rId3"/>
          <a:stretch>
            <a:fillRect/>
          </a:stretch>
        </p:blipFill>
        <p:spPr>
          <a:xfrm>
            <a:off x="5386910" y="1637470"/>
            <a:ext cx="3471816" cy="34793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7" name="Text Box 4"/>
          <p:cNvSpPr txBox="1">
            <a:spLocks noChangeArrowheads="1"/>
          </p:cNvSpPr>
          <p:nvPr/>
        </p:nvSpPr>
        <p:spPr bwMode="auto">
          <a:xfrm>
            <a:off x="2970557" y="1256098"/>
            <a:ext cx="5305307"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lnSpc>
                <a:spcPct val="150000"/>
              </a:lnSpc>
              <a:spcBef>
                <a:spcPct val="50000"/>
              </a:spcBef>
            </a:pPr>
            <a:r>
              <a:rPr lang="zh-CN" altLang="en-US" sz="2400" b="1" dirty="0">
                <a:latin typeface="宋体" pitchFamily="2" charset="-122"/>
              </a:rPr>
              <a:t>已知两个电阻值</a:t>
            </a:r>
            <a:r>
              <a:rPr lang="en-US" altLang="zh-CN" sz="2400" b="1" i="1" dirty="0">
                <a:latin typeface="Times New Roman" pitchFamily="18" charset="0"/>
              </a:rPr>
              <a:t>R</a:t>
            </a:r>
            <a:r>
              <a:rPr lang="en-US" altLang="zh-CN" sz="2400" b="1" baseline="-25000" dirty="0">
                <a:latin typeface="Times New Roman" pitchFamily="18" charset="0"/>
              </a:rPr>
              <a:t>1</a:t>
            </a:r>
            <a:r>
              <a:rPr lang="zh-CN" altLang="en-US" sz="2400" b="1" dirty="0">
                <a:latin typeface="Times New Roman" pitchFamily="18" charset="0"/>
              </a:rPr>
              <a:t>和</a:t>
            </a:r>
            <a:r>
              <a:rPr lang="en-US" altLang="zh-CN" sz="2400" b="1" i="1" dirty="0">
                <a:latin typeface="Times New Roman" pitchFamily="18" charset="0"/>
              </a:rPr>
              <a:t>R</a:t>
            </a:r>
            <a:r>
              <a:rPr lang="en-US" altLang="zh-CN" sz="2400" b="1" baseline="-25000" dirty="0">
                <a:latin typeface="Times New Roman" pitchFamily="18" charset="0"/>
              </a:rPr>
              <a:t>2</a:t>
            </a:r>
            <a:r>
              <a:rPr lang="zh-CN" altLang="en-US" sz="2400" b="1" dirty="0">
                <a:latin typeface="Times New Roman" pitchFamily="18" charset="0"/>
              </a:rPr>
              <a:t>，以及相应的温度值</a:t>
            </a:r>
            <a:r>
              <a:rPr lang="en-US" altLang="zh-CN" sz="2400" b="1" i="1" dirty="0">
                <a:latin typeface="Times New Roman" pitchFamily="18" charset="0"/>
              </a:rPr>
              <a:t>T</a:t>
            </a:r>
            <a:r>
              <a:rPr lang="en-US" altLang="zh-CN" sz="2400" b="1" baseline="-25000" dirty="0">
                <a:latin typeface="Times New Roman" pitchFamily="18" charset="0"/>
              </a:rPr>
              <a:t>1</a:t>
            </a:r>
            <a:r>
              <a:rPr lang="zh-CN" altLang="en-US" sz="2400" b="1" dirty="0">
                <a:latin typeface="Times New Roman" pitchFamily="18" charset="0"/>
              </a:rPr>
              <a:t>和</a:t>
            </a:r>
            <a:r>
              <a:rPr lang="en-US" altLang="zh-CN" sz="2400" b="1" i="1" dirty="0">
                <a:latin typeface="Times New Roman" pitchFamily="18" charset="0"/>
              </a:rPr>
              <a:t>T</a:t>
            </a:r>
            <a:r>
              <a:rPr lang="en-US" altLang="zh-CN" sz="2400" b="1" baseline="-25000" dirty="0">
                <a:latin typeface="Times New Roman" pitchFamily="18" charset="0"/>
              </a:rPr>
              <a:t>2</a:t>
            </a:r>
            <a:r>
              <a:rPr lang="zh-CN" altLang="en-US" sz="2400" b="1" dirty="0">
                <a:latin typeface="宋体" pitchFamily="2" charset="-122"/>
              </a:rPr>
              <a:t>，可求得：</a:t>
            </a:r>
          </a:p>
        </p:txBody>
      </p:sp>
      <p:graphicFrame>
        <p:nvGraphicFramePr>
          <p:cNvPr id="28" name="Object 5"/>
          <p:cNvGraphicFramePr>
            <a:graphicFrameLocks noChangeAspect="1"/>
          </p:cNvGraphicFramePr>
          <p:nvPr>
            <p:extLst>
              <p:ext uri="{D42A27DB-BD31-4B8C-83A1-F6EECF244321}">
                <p14:modId xmlns:p14="http://schemas.microsoft.com/office/powerpoint/2010/main" val="1026432444"/>
              </p:ext>
            </p:extLst>
          </p:nvPr>
        </p:nvGraphicFramePr>
        <p:xfrm>
          <a:off x="3890054" y="2476955"/>
          <a:ext cx="2535238" cy="1035443"/>
        </p:xfrm>
        <a:graphic>
          <a:graphicData uri="http://schemas.openxmlformats.org/presentationml/2006/ole">
            <mc:AlternateContent xmlns:mc="http://schemas.openxmlformats.org/markup-compatibility/2006">
              <mc:Choice xmlns:v="urn:schemas-microsoft-com:vml" Requires="v">
                <p:oleObj r:id="rId3" imgW="1091726" imgH="444307" progId="Equation.3">
                  <p:embed/>
                </p:oleObj>
              </mc:Choice>
              <mc:Fallback>
                <p:oleObj r:id="rId3" imgW="1091726" imgH="44430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0054" y="2476955"/>
                        <a:ext cx="2535238" cy="1035443"/>
                      </a:xfrm>
                      <a:prstGeom prst="rect">
                        <a:avLst/>
                      </a:prstGeom>
                      <a:noFill/>
                      <a:ln>
                        <a:noFill/>
                      </a:ln>
                    </p:spPr>
                  </p:pic>
                </p:oleObj>
              </mc:Fallback>
            </mc:AlternateContent>
          </a:graphicData>
        </a:graphic>
      </p:graphicFrame>
      <p:graphicFrame>
        <p:nvGraphicFramePr>
          <p:cNvPr id="29" name="Object 7"/>
          <p:cNvGraphicFramePr>
            <a:graphicFrameLocks noChangeAspect="1"/>
          </p:cNvGraphicFramePr>
          <p:nvPr>
            <p:extLst>
              <p:ext uri="{D42A27DB-BD31-4B8C-83A1-F6EECF244321}">
                <p14:modId xmlns:p14="http://schemas.microsoft.com/office/powerpoint/2010/main" val="4236476010"/>
              </p:ext>
            </p:extLst>
          </p:nvPr>
        </p:nvGraphicFramePr>
        <p:xfrm>
          <a:off x="3867027" y="3589056"/>
          <a:ext cx="2404214" cy="572114"/>
        </p:xfrm>
        <a:graphic>
          <a:graphicData uri="http://schemas.openxmlformats.org/presentationml/2006/ole">
            <mc:AlternateContent xmlns:mc="http://schemas.openxmlformats.org/markup-compatibility/2006">
              <mc:Choice xmlns:v="urn:schemas-microsoft-com:vml" Requires="v">
                <p:oleObj r:id="rId5" imgW="965200" imgH="228600" progId="Equation.3">
                  <p:embed/>
                </p:oleObj>
              </mc:Choice>
              <mc:Fallback>
                <p:oleObj r:id="rId5" imgW="965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7027" y="3589056"/>
                        <a:ext cx="2404214" cy="572114"/>
                      </a:xfrm>
                      <a:prstGeom prst="rect">
                        <a:avLst/>
                      </a:prstGeom>
                      <a:noFill/>
                      <a:ln>
                        <a:noFill/>
                      </a:ln>
                    </p:spPr>
                  </p:pic>
                </p:oleObj>
              </mc:Fallback>
            </mc:AlternateContent>
          </a:graphicData>
        </a:graphic>
      </p:graphicFrame>
      <p:graphicFrame>
        <p:nvGraphicFramePr>
          <p:cNvPr id="30" name="Object 9"/>
          <p:cNvGraphicFramePr>
            <a:graphicFrameLocks noChangeAspect="1"/>
          </p:cNvGraphicFramePr>
          <p:nvPr>
            <p:extLst>
              <p:ext uri="{D42A27DB-BD31-4B8C-83A1-F6EECF244321}">
                <p14:modId xmlns:p14="http://schemas.microsoft.com/office/powerpoint/2010/main" val="3603632438"/>
              </p:ext>
            </p:extLst>
          </p:nvPr>
        </p:nvGraphicFramePr>
        <p:xfrm>
          <a:off x="3845308" y="4216511"/>
          <a:ext cx="3095625" cy="619347"/>
        </p:xfrm>
        <a:graphic>
          <a:graphicData uri="http://schemas.openxmlformats.org/presentationml/2006/ole">
            <mc:AlternateContent xmlns:mc="http://schemas.openxmlformats.org/markup-compatibility/2006">
              <mc:Choice xmlns:v="urn:schemas-microsoft-com:vml" Requires="v">
                <p:oleObj r:id="rId7" imgW="1085869" imgH="171373" progId="Equation.3">
                  <p:embed/>
                </p:oleObj>
              </mc:Choice>
              <mc:Fallback>
                <p:oleObj r:id="rId7" imgW="1085869" imgH="17137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5308" y="4216511"/>
                        <a:ext cx="3095625" cy="619347"/>
                      </a:xfrm>
                      <a:prstGeom prst="rect">
                        <a:avLst/>
                      </a:prstGeom>
                      <a:noFill/>
                      <a:ln>
                        <a:noFill/>
                      </a:ln>
                    </p:spPr>
                  </p:pic>
                </p:oleObj>
              </mc:Fallback>
            </mc:AlternateContent>
          </a:graphicData>
        </a:graphic>
      </p:graphicFrame>
      <p:sp>
        <p:nvSpPr>
          <p:cNvPr id="31" name="Text Box 11"/>
          <p:cNvSpPr txBox="1">
            <a:spLocks noChangeArrowheads="1"/>
          </p:cNvSpPr>
          <p:nvPr/>
        </p:nvSpPr>
        <p:spPr bwMode="auto">
          <a:xfrm>
            <a:off x="3146807" y="5651220"/>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宋体" pitchFamily="2" charset="-122"/>
              </a:rPr>
              <a:t>电阻温度系数：</a:t>
            </a:r>
          </a:p>
        </p:txBody>
      </p:sp>
      <p:graphicFrame>
        <p:nvGraphicFramePr>
          <p:cNvPr id="32" name="Object 26"/>
          <p:cNvGraphicFramePr>
            <a:graphicFrameLocks noGrp="1" noChangeAspect="1"/>
          </p:cNvGraphicFramePr>
          <p:nvPr>
            <p:ph/>
            <p:extLst>
              <p:ext uri="{D42A27DB-BD31-4B8C-83A1-F6EECF244321}">
                <p14:modId xmlns:p14="http://schemas.microsoft.com/office/powerpoint/2010/main" val="1505816837"/>
              </p:ext>
            </p:extLst>
          </p:nvPr>
        </p:nvGraphicFramePr>
        <p:xfrm>
          <a:off x="5566088" y="5501261"/>
          <a:ext cx="2319367" cy="757118"/>
        </p:xfrm>
        <a:graphic>
          <a:graphicData uri="http://schemas.openxmlformats.org/presentationml/2006/ole">
            <mc:AlternateContent xmlns:mc="http://schemas.openxmlformats.org/markup-compatibility/2006">
              <mc:Choice xmlns:v="urn:schemas-microsoft-com:vml" Requires="v">
                <p:oleObj name="Equation" r:id="rId9" imgW="1205977" imgH="393529" progId="Equation.DSMT4">
                  <p:embed/>
                </p:oleObj>
              </mc:Choice>
              <mc:Fallback>
                <p:oleObj name="Equation" r:id="rId9" imgW="1205977" imgH="39352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6088" y="5501261"/>
                        <a:ext cx="2319367" cy="757118"/>
                      </a:xfrm>
                      <a:prstGeom prst="rect">
                        <a:avLst/>
                      </a:prstGeom>
                      <a:noFill/>
                      <a:ln>
                        <a:noFill/>
                      </a:ln>
                      <a:effectLst/>
                    </p:spPr>
                  </p:pic>
                </p:oleObj>
              </mc:Fallback>
            </mc:AlternateContent>
          </a:graphicData>
        </a:graphic>
      </p:graphicFrame>
      <p:sp>
        <p:nvSpPr>
          <p:cNvPr id="33" name="Text Box 11"/>
          <p:cNvSpPr txBox="1">
            <a:spLocks noChangeArrowheads="1"/>
          </p:cNvSpPr>
          <p:nvPr/>
        </p:nvSpPr>
        <p:spPr bwMode="auto">
          <a:xfrm>
            <a:off x="3146807" y="4952720"/>
            <a:ext cx="159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宋体" pitchFamily="2" charset="-122"/>
              </a:rPr>
              <a:t>标称电阻</a:t>
            </a:r>
          </a:p>
        </p:txBody>
      </p:sp>
      <p:cxnSp>
        <p:nvCxnSpPr>
          <p:cNvPr id="34" name="直接箭头连接符 33"/>
          <p:cNvCxnSpPr/>
          <p:nvPr/>
        </p:nvCxnSpPr>
        <p:spPr>
          <a:xfrm>
            <a:off x="4780345" y="5194020"/>
            <a:ext cx="792163" cy="0"/>
          </a:xfrm>
          <a:prstGeom prst="straightConnector1">
            <a:avLst/>
          </a:prstGeom>
          <a:ln>
            <a:solidFill>
              <a:srgbClr val="FF33CC"/>
            </a:solidFill>
            <a:tailEnd type="arrow"/>
          </a:ln>
        </p:spPr>
        <p:style>
          <a:lnRef idx="3">
            <a:schemeClr val="accent4"/>
          </a:lnRef>
          <a:fillRef idx="0">
            <a:schemeClr val="accent4"/>
          </a:fillRef>
          <a:effectRef idx="2">
            <a:schemeClr val="accent4"/>
          </a:effectRef>
          <a:fontRef idx="minor">
            <a:schemeClr val="tx1"/>
          </a:fontRef>
        </p:style>
      </p:cxnSp>
      <p:sp>
        <p:nvSpPr>
          <p:cNvPr id="35" name="Text Box 11"/>
          <p:cNvSpPr txBox="1">
            <a:spLocks noChangeArrowheads="1"/>
          </p:cNvSpPr>
          <p:nvPr/>
        </p:nvSpPr>
        <p:spPr bwMode="auto">
          <a:xfrm>
            <a:off x="5788408" y="4906682"/>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en-US" altLang="zh-CN" sz="2400" b="1" dirty="0">
                <a:latin typeface="宋体" pitchFamily="2" charset="-122"/>
              </a:rPr>
              <a:t>25℃</a:t>
            </a:r>
            <a:endParaRPr lang="zh-CN" altLang="en-US" sz="2400" b="1" dirty="0">
              <a:latin typeface="宋体" pitchFamily="2" charset="-122"/>
            </a:endParaRPr>
          </a:p>
        </p:txBody>
      </p:sp>
      <p:sp>
        <p:nvSpPr>
          <p:cNvPr id="2" name="Slide Number Placeholder 1">
            <a:extLst>
              <a:ext uri="{FF2B5EF4-FFF2-40B4-BE49-F238E27FC236}">
                <a16:creationId xmlns:a16="http://schemas.microsoft.com/office/drawing/2014/main" id="{AB5F2B9C-267C-401C-AA26-B7448BC59825}"/>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
        <p:nvSpPr>
          <p:cNvPr id="16" name="TextBox 15">
            <a:extLst>
              <a:ext uri="{FF2B5EF4-FFF2-40B4-BE49-F238E27FC236}">
                <a16:creationId xmlns:a16="http://schemas.microsoft.com/office/drawing/2014/main" id="{29B8F37F-E5D1-4CE2-99A6-2C9625F415E8}"/>
              </a:ext>
            </a:extLst>
          </p:cNvPr>
          <p:cNvSpPr txBox="1"/>
          <p:nvPr/>
        </p:nvSpPr>
        <p:spPr>
          <a:xfrm>
            <a:off x="185083" y="2476955"/>
            <a:ext cx="2535238" cy="927177"/>
          </a:xfrm>
          <a:prstGeom prst="rect">
            <a:avLst/>
          </a:prstGeom>
          <a:noFill/>
        </p:spPr>
        <p:txBody>
          <a:bodyPr wrap="square">
            <a:spAutoFit/>
          </a:bodyPr>
          <a:lstStyle/>
          <a:p>
            <a:pPr algn="ctr">
              <a:lnSpc>
                <a:spcPct val="200000"/>
              </a:lnSpc>
              <a:spcBef>
                <a:spcPct val="10000"/>
              </a:spcBef>
              <a:spcAft>
                <a:spcPct val="10000"/>
              </a:spcAft>
              <a:buFont typeface="Wingdings" pitchFamily="2" charset="2"/>
              <a:buNone/>
            </a:pPr>
            <a:r>
              <a:rPr lang="en-US" altLang="zh-CN" sz="32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R = A</a:t>
            </a:r>
            <a:r>
              <a:rPr lang="en-US" altLang="zh-CN" sz="3200" i="1">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32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3200" b="1" i="1" baseline="30000">
                <a:solidFill>
                  <a:srgbClr val="7030A0"/>
                </a:solidFill>
                <a:latin typeface="Times New Roman" panose="02020603050405020304" pitchFamily="18" charset="0"/>
                <a:ea typeface="宋体" panose="02010600030101010101" pitchFamily="2" charset="-122"/>
                <a:cs typeface="Times New Roman" panose="02020603050405020304" pitchFamily="18" charset="0"/>
              </a:rPr>
              <a:t>B/T</a:t>
            </a:r>
            <a:endParaRPr lang="en-US" altLang="zh-CN" sz="3200" b="1" i="1" baseline="300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00953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6" name="Rectangle 3"/>
          <p:cNvSpPr txBox="1">
            <a:spLocks noRot="1" noChangeArrowheads="1"/>
          </p:cNvSpPr>
          <p:nvPr/>
        </p:nvSpPr>
        <p:spPr>
          <a:xfrm>
            <a:off x="303214" y="1828800"/>
            <a:ext cx="2451100" cy="48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C00000"/>
                </a:solidFill>
                <a:latin typeface="宋体" panose="02010600030101010101" pitchFamily="2" charset="-122"/>
                <a:ea typeface="宋体" panose="02010600030101010101" pitchFamily="2" charset="-122"/>
              </a:rPr>
              <a:t>伏安特性</a:t>
            </a:r>
          </a:p>
        </p:txBody>
      </p:sp>
      <p:graphicFrame>
        <p:nvGraphicFramePr>
          <p:cNvPr id="29" name="Object 5"/>
          <p:cNvGraphicFramePr>
            <a:graphicFrameLocks noChangeAspect="1"/>
          </p:cNvGraphicFramePr>
          <p:nvPr>
            <p:extLst>
              <p:ext uri="{D42A27DB-BD31-4B8C-83A1-F6EECF244321}">
                <p14:modId xmlns:p14="http://schemas.microsoft.com/office/powerpoint/2010/main" val="3531410320"/>
              </p:ext>
            </p:extLst>
          </p:nvPr>
        </p:nvGraphicFramePr>
        <p:xfrm>
          <a:off x="336919" y="2645143"/>
          <a:ext cx="1054100" cy="588508"/>
        </p:xfrm>
        <a:graphic>
          <a:graphicData uri="http://schemas.openxmlformats.org/presentationml/2006/ole">
            <mc:AlternateContent xmlns:mc="http://schemas.openxmlformats.org/markup-compatibility/2006">
              <mc:Choice xmlns:v="urn:schemas-microsoft-com:vml" Requires="v">
                <p:oleObj r:id="rId3" imgW="352422" imgH="171373" progId="Equation.3">
                  <p:embed/>
                </p:oleObj>
              </mc:Choice>
              <mc:Fallback>
                <p:oleObj r:id="rId3" imgW="352422" imgH="17137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919" y="2645143"/>
                        <a:ext cx="1054100" cy="588508"/>
                      </a:xfrm>
                      <a:prstGeom prst="rect">
                        <a:avLst/>
                      </a:prstGeom>
                      <a:noFill/>
                      <a:ln>
                        <a:noFill/>
                      </a:ln>
                    </p:spPr>
                  </p:pic>
                </p:oleObj>
              </mc:Fallback>
            </mc:AlternateContent>
          </a:graphicData>
        </a:graphic>
      </p:graphicFrame>
      <p:graphicFrame>
        <p:nvGraphicFramePr>
          <p:cNvPr id="30" name="Object 7"/>
          <p:cNvGraphicFramePr>
            <a:graphicFrameLocks noChangeAspect="1"/>
          </p:cNvGraphicFramePr>
          <p:nvPr>
            <p:extLst>
              <p:ext uri="{D42A27DB-BD31-4B8C-83A1-F6EECF244321}">
                <p14:modId xmlns:p14="http://schemas.microsoft.com/office/powerpoint/2010/main" val="2072038468"/>
              </p:ext>
            </p:extLst>
          </p:nvPr>
        </p:nvGraphicFramePr>
        <p:xfrm>
          <a:off x="336919" y="3383330"/>
          <a:ext cx="2203450" cy="696399"/>
        </p:xfrm>
        <a:graphic>
          <a:graphicData uri="http://schemas.openxmlformats.org/presentationml/2006/ole">
            <mc:AlternateContent xmlns:mc="http://schemas.openxmlformats.org/markup-compatibility/2006">
              <mc:Choice xmlns:v="urn:schemas-microsoft-com:vml" Requires="v">
                <p:oleObj r:id="rId5" imgW="666795" imgH="171373" progId="Equation.3">
                  <p:embed/>
                </p:oleObj>
              </mc:Choice>
              <mc:Fallback>
                <p:oleObj r:id="rId5" imgW="666795" imgH="17137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919" y="3383330"/>
                        <a:ext cx="2203450" cy="696399"/>
                      </a:xfrm>
                      <a:prstGeom prst="rect">
                        <a:avLst/>
                      </a:prstGeom>
                      <a:noFill/>
                      <a:ln>
                        <a:noFill/>
                      </a:ln>
                    </p:spPr>
                  </p:pic>
                </p:oleObj>
              </mc:Fallback>
            </mc:AlternateContent>
          </a:graphicData>
        </a:graphic>
      </p:graphicFrame>
      <p:graphicFrame>
        <p:nvGraphicFramePr>
          <p:cNvPr id="31" name="Object 9"/>
          <p:cNvGraphicFramePr>
            <a:graphicFrameLocks noChangeAspect="1"/>
          </p:cNvGraphicFramePr>
          <p:nvPr>
            <p:extLst>
              <p:ext uri="{D42A27DB-BD31-4B8C-83A1-F6EECF244321}">
                <p14:modId xmlns:p14="http://schemas.microsoft.com/office/powerpoint/2010/main" val="734429965"/>
              </p:ext>
            </p:extLst>
          </p:nvPr>
        </p:nvGraphicFramePr>
        <p:xfrm>
          <a:off x="336919" y="4274537"/>
          <a:ext cx="1277898" cy="696398"/>
        </p:xfrm>
        <a:graphic>
          <a:graphicData uri="http://schemas.openxmlformats.org/presentationml/2006/ole">
            <mc:AlternateContent xmlns:mc="http://schemas.openxmlformats.org/markup-compatibility/2006">
              <mc:Choice xmlns:v="urn:schemas-microsoft-com:vml" Requires="v">
                <p:oleObj r:id="rId7" imgW="361866" imgH="171373" progId="Equation.3">
                  <p:embed/>
                </p:oleObj>
              </mc:Choice>
              <mc:Fallback>
                <p:oleObj r:id="rId7" imgW="361866" imgH="17137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919" y="4274537"/>
                        <a:ext cx="1277898" cy="696398"/>
                      </a:xfrm>
                      <a:prstGeom prst="rect">
                        <a:avLst/>
                      </a:prstGeom>
                      <a:noFill/>
                      <a:ln>
                        <a:noFill/>
                      </a:ln>
                    </p:spPr>
                  </p:pic>
                </p:oleObj>
              </mc:Fallback>
            </mc:AlternateContent>
          </a:graphicData>
        </a:graphic>
      </p:graphicFrame>
      <p:grpSp>
        <p:nvGrpSpPr>
          <p:cNvPr id="4" name="Group 3">
            <a:extLst>
              <a:ext uri="{FF2B5EF4-FFF2-40B4-BE49-F238E27FC236}">
                <a16:creationId xmlns:a16="http://schemas.microsoft.com/office/drawing/2014/main" id="{5EA768B1-7DC2-440C-A86A-19FFA9E0D84C}"/>
              </a:ext>
            </a:extLst>
          </p:cNvPr>
          <p:cNvGrpSpPr/>
          <p:nvPr/>
        </p:nvGrpSpPr>
        <p:grpSpPr>
          <a:xfrm>
            <a:off x="2239491" y="2899143"/>
            <a:ext cx="942806" cy="1763713"/>
            <a:chOff x="2256117" y="2899143"/>
            <a:chExt cx="1330382" cy="1763713"/>
          </a:xfrm>
        </p:grpSpPr>
        <p:sp>
          <p:nvSpPr>
            <p:cNvPr id="32" name="Line 11"/>
            <p:cNvSpPr>
              <a:spLocks noChangeShapeType="1"/>
            </p:cNvSpPr>
            <p:nvPr/>
          </p:nvSpPr>
          <p:spPr bwMode="auto">
            <a:xfrm>
              <a:off x="2256117" y="2899143"/>
              <a:ext cx="13303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2"/>
            <p:cNvSpPr>
              <a:spLocks noChangeShapeType="1"/>
            </p:cNvSpPr>
            <p:nvPr/>
          </p:nvSpPr>
          <p:spPr bwMode="auto">
            <a:xfrm>
              <a:off x="2675278" y="3737343"/>
              <a:ext cx="91122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3"/>
            <p:cNvSpPr>
              <a:spLocks noChangeShapeType="1"/>
            </p:cNvSpPr>
            <p:nvPr/>
          </p:nvSpPr>
          <p:spPr bwMode="auto">
            <a:xfrm>
              <a:off x="2256117" y="4662856"/>
              <a:ext cx="13303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pSp>
      <p:sp>
        <p:nvSpPr>
          <p:cNvPr id="35" name="Text Box 14"/>
          <p:cNvSpPr txBox="1">
            <a:spLocks noChangeArrowheads="1"/>
          </p:cNvSpPr>
          <p:nvPr/>
        </p:nvSpPr>
        <p:spPr bwMode="auto">
          <a:xfrm>
            <a:off x="3244647" y="2621330"/>
            <a:ext cx="127515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宋体" panose="02010600030101010101" pitchFamily="2" charset="-122"/>
              </a:rPr>
              <a:t>线性区</a:t>
            </a:r>
          </a:p>
        </p:txBody>
      </p:sp>
      <p:sp>
        <p:nvSpPr>
          <p:cNvPr id="36" name="Text Box 15"/>
          <p:cNvSpPr txBox="1">
            <a:spLocks noChangeArrowheads="1"/>
          </p:cNvSpPr>
          <p:nvPr/>
        </p:nvSpPr>
        <p:spPr bwMode="auto">
          <a:xfrm>
            <a:off x="3244647" y="350455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dirty="0">
                <a:latin typeface="宋体" panose="02010600030101010101" pitchFamily="2" charset="-122"/>
              </a:rPr>
              <a:t>非线性正阻区</a:t>
            </a:r>
          </a:p>
        </p:txBody>
      </p:sp>
      <p:sp>
        <p:nvSpPr>
          <p:cNvPr id="37" name="Text Box 16"/>
          <p:cNvSpPr txBox="1">
            <a:spLocks noChangeArrowheads="1"/>
          </p:cNvSpPr>
          <p:nvPr/>
        </p:nvSpPr>
        <p:spPr bwMode="auto">
          <a:xfrm>
            <a:off x="3244647" y="4373930"/>
            <a:ext cx="119895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eaLnBrk="1" hangingPunct="1">
              <a:spcBef>
                <a:spcPct val="50000"/>
              </a:spcBef>
            </a:pPr>
            <a:r>
              <a:rPr lang="zh-CN" altLang="en-US" sz="2400" b="1">
                <a:latin typeface="宋体" panose="02010600030101010101" pitchFamily="2" charset="-122"/>
              </a:rPr>
              <a:t>负阻区</a:t>
            </a:r>
          </a:p>
        </p:txBody>
      </p:sp>
      <p:sp>
        <p:nvSpPr>
          <p:cNvPr id="2" name="Slide Number Placeholder 1">
            <a:extLst>
              <a:ext uri="{FF2B5EF4-FFF2-40B4-BE49-F238E27FC236}">
                <a16:creationId xmlns:a16="http://schemas.microsoft.com/office/drawing/2014/main" id="{2D55999D-8A5B-41E4-9F0D-B9D1E3C9E01E}"/>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pic>
        <p:nvPicPr>
          <p:cNvPr id="22" name="Picture 21">
            <a:extLst>
              <a:ext uri="{FF2B5EF4-FFF2-40B4-BE49-F238E27FC236}">
                <a16:creationId xmlns:a16="http://schemas.microsoft.com/office/drawing/2014/main" id="{D9FA37B2-2CEB-4F41-BD10-5460301F2A1C}"/>
              </a:ext>
            </a:extLst>
          </p:cNvPr>
          <p:cNvPicPr>
            <a:picLocks noChangeAspect="1"/>
          </p:cNvPicPr>
          <p:nvPr/>
        </p:nvPicPr>
        <p:blipFill rotWithShape="1">
          <a:blip r:embed="rId9"/>
          <a:srcRect r="9098"/>
          <a:stretch/>
        </p:blipFill>
        <p:spPr>
          <a:xfrm>
            <a:off x="5412524" y="1805772"/>
            <a:ext cx="3486533" cy="3605295"/>
          </a:xfrm>
          <a:prstGeom prst="rect">
            <a:avLst/>
          </a:prstGeom>
        </p:spPr>
      </p:pic>
      <p:sp>
        <p:nvSpPr>
          <p:cNvPr id="23" name="Text Box 9">
            <a:extLst>
              <a:ext uri="{FF2B5EF4-FFF2-40B4-BE49-F238E27FC236}">
                <a16:creationId xmlns:a16="http://schemas.microsoft.com/office/drawing/2014/main" id="{A7312EE0-0396-4CDB-A50A-75DEBEE910AB}"/>
              </a:ext>
            </a:extLst>
          </p:cNvPr>
          <p:cNvSpPr txBox="1">
            <a:spLocks noChangeArrowheads="1"/>
          </p:cNvSpPr>
          <p:nvPr/>
        </p:nvSpPr>
        <p:spPr bwMode="auto">
          <a:xfrm>
            <a:off x="5742611" y="5468210"/>
            <a:ext cx="30238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8-21  </a:t>
            </a:r>
            <a:r>
              <a:rPr lang="zh-CN" altLang="en-US" sz="2400" b="1" dirty="0">
                <a:solidFill>
                  <a:srgbClr val="000099"/>
                </a:solidFill>
              </a:rPr>
              <a:t>负温度系数热敏电阻伏安特性</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E54584-EFAD-4F15-9F3B-143B00F06E8C}"/>
              </a:ext>
            </a:extLst>
          </p:cNvPr>
          <p:cNvPicPr>
            <a:picLocks noChangeAspect="1"/>
          </p:cNvPicPr>
          <p:nvPr/>
        </p:nvPicPr>
        <p:blipFill rotWithShape="1">
          <a:blip r:embed="rId3"/>
          <a:srcRect r="9098"/>
          <a:stretch/>
        </p:blipFill>
        <p:spPr>
          <a:xfrm>
            <a:off x="5412524" y="1805772"/>
            <a:ext cx="3486533" cy="3605295"/>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6" name="Rectangle 3"/>
          <p:cNvSpPr txBox="1">
            <a:spLocks noRot="1" noChangeArrowheads="1"/>
          </p:cNvSpPr>
          <p:nvPr/>
        </p:nvSpPr>
        <p:spPr>
          <a:xfrm>
            <a:off x="185083" y="1338184"/>
            <a:ext cx="2451100" cy="48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C00000"/>
                </a:solidFill>
                <a:latin typeface="宋体" panose="02010600030101010101" pitchFamily="2" charset="-122"/>
                <a:ea typeface="宋体" panose="02010600030101010101" pitchFamily="2" charset="-122"/>
              </a:rPr>
              <a:t>伏安特性</a:t>
            </a:r>
          </a:p>
        </p:txBody>
      </p:sp>
      <p:sp>
        <p:nvSpPr>
          <p:cNvPr id="2" name="Slide Number Placeholder 1">
            <a:extLst>
              <a:ext uri="{FF2B5EF4-FFF2-40B4-BE49-F238E27FC236}">
                <a16:creationId xmlns:a16="http://schemas.microsoft.com/office/drawing/2014/main" id="{2D55999D-8A5B-41E4-9F0D-B9D1E3C9E01E}"/>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
        <p:nvSpPr>
          <p:cNvPr id="17" name="Text Box 9">
            <a:extLst>
              <a:ext uri="{FF2B5EF4-FFF2-40B4-BE49-F238E27FC236}">
                <a16:creationId xmlns:a16="http://schemas.microsoft.com/office/drawing/2014/main" id="{31D89195-B319-41E7-8659-CA632B1445AC}"/>
              </a:ext>
            </a:extLst>
          </p:cNvPr>
          <p:cNvSpPr txBox="1">
            <a:spLocks noChangeArrowheads="1"/>
          </p:cNvSpPr>
          <p:nvPr/>
        </p:nvSpPr>
        <p:spPr bwMode="auto">
          <a:xfrm>
            <a:off x="5742611" y="5468210"/>
            <a:ext cx="30238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8-21  </a:t>
            </a:r>
            <a:r>
              <a:rPr lang="zh-CN" altLang="en-US" sz="2400" b="1" dirty="0">
                <a:solidFill>
                  <a:srgbClr val="000099"/>
                </a:solidFill>
              </a:rPr>
              <a:t>负温度系数热敏电阻伏安特性</a:t>
            </a:r>
          </a:p>
        </p:txBody>
      </p:sp>
      <p:sp>
        <p:nvSpPr>
          <p:cNvPr id="20" name="TextBox 19">
            <a:extLst>
              <a:ext uri="{FF2B5EF4-FFF2-40B4-BE49-F238E27FC236}">
                <a16:creationId xmlns:a16="http://schemas.microsoft.com/office/drawing/2014/main" id="{359023C8-3CB9-47EE-84AE-44E8F2AE3AA3}"/>
              </a:ext>
            </a:extLst>
          </p:cNvPr>
          <p:cNvSpPr txBox="1"/>
          <p:nvPr/>
        </p:nvSpPr>
        <p:spPr>
          <a:xfrm>
            <a:off x="244943" y="2004582"/>
            <a:ext cx="5339428" cy="4078039"/>
          </a:xfrm>
          <a:prstGeom prst="rect">
            <a:avLst/>
          </a:prstGeom>
          <a:noFill/>
        </p:spPr>
        <p:txBody>
          <a:bodyPr wrap="square">
            <a:spAutoFit/>
          </a:bodyPr>
          <a:lstStyle/>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当电流很小（&lt;Ia）时，不足以引起自身加热，阻值保持恒定，电压降与电流符合欧姆定律，所以图中</a:t>
            </a:r>
            <a:r>
              <a:rPr lang="en-US">
                <a:latin typeface="宋体" panose="02010600030101010101" pitchFamily="2" charset="-122"/>
                <a:ea typeface="宋体" panose="02010600030101010101" pitchFamily="2" charset="-122"/>
              </a:rPr>
              <a:t>O</a:t>
            </a:r>
            <a:r>
              <a:rPr lang="en-001">
                <a:latin typeface="宋体" panose="02010600030101010101" pitchFamily="2" charset="-122"/>
                <a:ea typeface="宋体" panose="02010600030101010101" pitchFamily="2" charset="-122"/>
              </a:rPr>
              <a:t>a 段为线性区。</a:t>
            </a:r>
          </a:p>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当电流</a:t>
            </a:r>
            <a:r>
              <a:rPr lang="en-US">
                <a:latin typeface="宋体" panose="02010600030101010101" pitchFamily="2" charset="-122"/>
                <a:ea typeface="宋体" panose="02010600030101010101" pitchFamily="2" charset="-122"/>
              </a:rPr>
              <a:t> </a:t>
            </a:r>
            <a:r>
              <a:rPr lang="en-001">
                <a:latin typeface="宋体" panose="02010600030101010101" pitchFamily="2" charset="-122"/>
                <a:ea typeface="宋体" panose="02010600030101010101" pitchFamily="2" charset="-122"/>
              </a:rPr>
              <a:t>I&gt; Ia 时，随着电流增加，功耗增大，产生自热，阻值随电流增加而减小，电压降增加速度逐渐减慢，因而出现非线性的正阻区ab 。</a:t>
            </a:r>
          </a:p>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电流增大到Im 时，电压降达到最大值Um 。</a:t>
            </a:r>
          </a:p>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电流继续增大时，自热更为强烈，由于热敏电阻的电阻温度系数大，阻值随电流增加而减小的速度大</a:t>
            </a:r>
            <a:r>
              <a:rPr lang="zh-CN" altLang="en-US">
                <a:latin typeface="宋体" panose="02010600030101010101" pitchFamily="2" charset="-122"/>
                <a:ea typeface="宋体" panose="02010600030101010101" pitchFamily="2" charset="-122"/>
              </a:rPr>
              <a:t>于</a:t>
            </a:r>
            <a:r>
              <a:rPr lang="en-001">
                <a:latin typeface="宋体" panose="02010600030101010101" pitchFamily="2" charset="-122"/>
                <a:ea typeface="宋体" panose="02010600030101010101" pitchFamily="2" charset="-122"/>
              </a:rPr>
              <a:t>电压降增加的速度，就出现负阻区bc段。</a:t>
            </a:r>
          </a:p>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当电流超过允许值时，热敏电阻将被烧坏。</a:t>
            </a:r>
          </a:p>
          <a:p>
            <a:pPr marL="285750" indent="-285750">
              <a:spcBef>
                <a:spcPts val="600"/>
              </a:spcBef>
              <a:buFont typeface="Courier New" panose="02070309020205020404" pitchFamily="49" charset="0"/>
              <a:buChar char="o"/>
            </a:pPr>
            <a:r>
              <a:rPr lang="en-001">
                <a:latin typeface="宋体" panose="02010600030101010101" pitchFamily="2" charset="-122"/>
                <a:ea typeface="宋体" panose="02010600030101010101" pitchFamily="2" charset="-122"/>
              </a:rPr>
              <a:t>上述特性</a:t>
            </a:r>
            <a:r>
              <a:rPr lang="zh-CN" altLang="en-US">
                <a:latin typeface="宋体" panose="02010600030101010101" pitchFamily="2" charset="-122"/>
                <a:ea typeface="宋体" panose="02010600030101010101" pitchFamily="2" charset="-122"/>
              </a:rPr>
              <a:t>，</a:t>
            </a:r>
            <a:r>
              <a:rPr lang="en-001">
                <a:latin typeface="宋体" panose="02010600030101010101" pitchFamily="2" charset="-122"/>
                <a:ea typeface="宋体" panose="02010600030101010101" pitchFamily="2" charset="-122"/>
              </a:rPr>
              <a:t>即使对同一个热敏电阻，也会因散热状况的不同而变化。</a:t>
            </a:r>
          </a:p>
        </p:txBody>
      </p:sp>
    </p:spTree>
    <p:extLst>
      <p:ext uri="{BB962C8B-B14F-4D97-AF65-F5344CB8AC3E}">
        <p14:creationId xmlns:p14="http://schemas.microsoft.com/office/powerpoint/2010/main" val="3016013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E54584-EFAD-4F15-9F3B-143B00F06E8C}"/>
              </a:ext>
            </a:extLst>
          </p:cNvPr>
          <p:cNvPicPr>
            <a:picLocks noChangeAspect="1"/>
          </p:cNvPicPr>
          <p:nvPr/>
        </p:nvPicPr>
        <p:blipFill rotWithShape="1">
          <a:blip r:embed="rId3"/>
          <a:srcRect r="9098"/>
          <a:stretch/>
        </p:blipFill>
        <p:spPr>
          <a:xfrm>
            <a:off x="5412524" y="1805772"/>
            <a:ext cx="3486533" cy="3605295"/>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6" name="Rectangle 3"/>
          <p:cNvSpPr txBox="1">
            <a:spLocks noRot="1" noChangeArrowheads="1"/>
          </p:cNvSpPr>
          <p:nvPr/>
        </p:nvSpPr>
        <p:spPr>
          <a:xfrm>
            <a:off x="185083" y="1564472"/>
            <a:ext cx="2451100" cy="48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C00000"/>
                </a:solidFill>
                <a:latin typeface="宋体" panose="02010600030101010101" pitchFamily="2" charset="-122"/>
                <a:ea typeface="宋体" panose="02010600030101010101" pitchFamily="2" charset="-122"/>
              </a:rPr>
              <a:t>伏安特性</a:t>
            </a:r>
          </a:p>
        </p:txBody>
      </p:sp>
      <p:sp>
        <p:nvSpPr>
          <p:cNvPr id="2" name="Slide Number Placeholder 1">
            <a:extLst>
              <a:ext uri="{FF2B5EF4-FFF2-40B4-BE49-F238E27FC236}">
                <a16:creationId xmlns:a16="http://schemas.microsoft.com/office/drawing/2014/main" id="{2D55999D-8A5B-41E4-9F0D-B9D1E3C9E01E}"/>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
        <p:nvSpPr>
          <p:cNvPr id="17" name="Text Box 9">
            <a:extLst>
              <a:ext uri="{FF2B5EF4-FFF2-40B4-BE49-F238E27FC236}">
                <a16:creationId xmlns:a16="http://schemas.microsoft.com/office/drawing/2014/main" id="{31D89195-B319-41E7-8659-CA632B1445AC}"/>
              </a:ext>
            </a:extLst>
          </p:cNvPr>
          <p:cNvSpPr txBox="1">
            <a:spLocks noChangeArrowheads="1"/>
          </p:cNvSpPr>
          <p:nvPr/>
        </p:nvSpPr>
        <p:spPr bwMode="auto">
          <a:xfrm>
            <a:off x="5742611" y="5468210"/>
            <a:ext cx="30238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8-21  </a:t>
            </a:r>
            <a:r>
              <a:rPr lang="zh-CN" altLang="en-US" sz="2400" b="1" dirty="0">
                <a:solidFill>
                  <a:srgbClr val="000099"/>
                </a:solidFill>
              </a:rPr>
              <a:t>负温度系数热敏电阻伏安特性</a:t>
            </a:r>
          </a:p>
        </p:txBody>
      </p:sp>
      <p:sp>
        <p:nvSpPr>
          <p:cNvPr id="20" name="TextBox 19">
            <a:extLst>
              <a:ext uri="{FF2B5EF4-FFF2-40B4-BE49-F238E27FC236}">
                <a16:creationId xmlns:a16="http://schemas.microsoft.com/office/drawing/2014/main" id="{359023C8-3CB9-47EE-84AE-44E8F2AE3AA3}"/>
              </a:ext>
            </a:extLst>
          </p:cNvPr>
          <p:cNvSpPr txBox="1"/>
          <p:nvPr/>
        </p:nvSpPr>
        <p:spPr>
          <a:xfrm>
            <a:off x="244943" y="2177258"/>
            <a:ext cx="5012857" cy="3323987"/>
          </a:xfrm>
          <a:prstGeom prst="rect">
            <a:avLst/>
          </a:prstGeom>
          <a:noFill/>
        </p:spPr>
        <p:txBody>
          <a:bodyPr wrap="square">
            <a:spAutoFit/>
          </a:bodyPr>
          <a:lstStyle/>
          <a:p>
            <a:pPr marL="285750" indent="-285750">
              <a:spcBef>
                <a:spcPts val="1200"/>
              </a:spcBef>
              <a:buFont typeface="Courier New" panose="02070309020205020404" pitchFamily="49" charset="0"/>
              <a:buChar char="o"/>
            </a:pPr>
            <a:endParaRPr lang="en-001">
              <a:latin typeface="宋体" panose="02010600030101010101" pitchFamily="2" charset="-122"/>
              <a:ea typeface="宋体" panose="02010600030101010101" pitchFamily="2" charset="-122"/>
            </a:endParaRPr>
          </a:p>
          <a:p>
            <a:pPr marL="285750" indent="-285750">
              <a:spcBef>
                <a:spcPts val="1200"/>
              </a:spcBef>
              <a:buFont typeface="Courier New" panose="02070309020205020404" pitchFamily="49" charset="0"/>
              <a:buChar char="o"/>
            </a:pPr>
            <a:r>
              <a:rPr lang="en-001">
                <a:latin typeface="宋体" panose="02010600030101010101" pitchFamily="2" charset="-122"/>
                <a:ea typeface="宋体" panose="02010600030101010101" pitchFamily="2" charset="-122"/>
              </a:rPr>
              <a:t>研究伏安特性，有助于正确选择热敏电阻的工作状态。</a:t>
            </a:r>
          </a:p>
          <a:p>
            <a:pPr marL="285750" indent="-285750">
              <a:spcBef>
                <a:spcPts val="1200"/>
              </a:spcBef>
              <a:buFont typeface="Courier New" panose="02070309020205020404" pitchFamily="49" charset="0"/>
              <a:buChar char="o"/>
            </a:pPr>
            <a:r>
              <a:rPr lang="en-001">
                <a:latin typeface="宋体" panose="02010600030101010101" pitchFamily="2" charset="-122"/>
                <a:ea typeface="宋体" panose="02010600030101010101" pitchFamily="2" charset="-122"/>
              </a:rPr>
              <a:t>对于测温、控温和温度补偿，应工作于伏安特性的线性区，即工作电流要小，这样就可以忽略自热的影响，使电阻值仅取决于被测温度。</a:t>
            </a:r>
          </a:p>
          <a:p>
            <a:pPr marL="285750" indent="-285750">
              <a:spcBef>
                <a:spcPts val="1200"/>
              </a:spcBef>
              <a:buFont typeface="Courier New" panose="02070309020205020404" pitchFamily="49" charset="0"/>
              <a:buChar char="o"/>
            </a:pPr>
            <a:r>
              <a:rPr lang="en-001">
                <a:latin typeface="宋体" panose="02010600030101010101" pitchFamily="2" charset="-122"/>
                <a:ea typeface="宋体" panose="02010600030101010101" pitchFamily="2" charset="-122"/>
              </a:rPr>
              <a:t>对于利用热敏电阻的耗散原理工作的场合，例如测量流量、风速、真空等，则应工作于伏安特性的负阻区。</a:t>
            </a:r>
          </a:p>
        </p:txBody>
      </p:sp>
    </p:spTree>
    <p:extLst>
      <p:ext uri="{BB962C8B-B14F-4D97-AF65-F5344CB8AC3E}">
        <p14:creationId xmlns:p14="http://schemas.microsoft.com/office/powerpoint/2010/main" val="3502145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8.3.1</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热敏电阻的主要特性</a:t>
            </a:r>
          </a:p>
        </p:txBody>
      </p:sp>
      <p:sp>
        <p:nvSpPr>
          <p:cNvPr id="26" name="Rectangle 3"/>
          <p:cNvSpPr txBox="1">
            <a:spLocks noRot="1" noChangeArrowheads="1"/>
          </p:cNvSpPr>
          <p:nvPr/>
        </p:nvSpPr>
        <p:spPr>
          <a:xfrm>
            <a:off x="185083" y="1342096"/>
            <a:ext cx="2663014" cy="53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C00000"/>
                </a:solidFill>
                <a:latin typeface="宋体" panose="02010600030101010101" pitchFamily="2" charset="-122"/>
                <a:ea typeface="宋体" panose="02010600030101010101" pitchFamily="2" charset="-122"/>
              </a:rPr>
              <a:t>电流</a:t>
            </a:r>
            <a:r>
              <a:rPr lang="en-US" altLang="zh-CN" sz="2400" b="1" dirty="0">
                <a:solidFill>
                  <a:srgbClr val="C00000"/>
                </a:solidFill>
                <a:latin typeface="宋体" panose="02010600030101010101" pitchFamily="2" charset="-122"/>
                <a:ea typeface="宋体" panose="02010600030101010101" pitchFamily="2" charset="-122"/>
              </a:rPr>
              <a:t>—</a:t>
            </a:r>
            <a:r>
              <a:rPr lang="zh-CN" altLang="en-US" sz="2400" b="1" dirty="0">
                <a:solidFill>
                  <a:srgbClr val="C00000"/>
                </a:solidFill>
                <a:latin typeface="宋体" panose="02010600030101010101" pitchFamily="2" charset="-122"/>
                <a:ea typeface="宋体" panose="02010600030101010101" pitchFamily="2" charset="-122"/>
              </a:rPr>
              <a:t>时间特性</a:t>
            </a:r>
          </a:p>
        </p:txBody>
      </p:sp>
      <p:sp>
        <p:nvSpPr>
          <p:cNvPr id="28" name="Text Box 3"/>
          <p:cNvSpPr txBox="1">
            <a:spLocks noChangeArrowheads="1"/>
          </p:cNvSpPr>
          <p:nvPr/>
        </p:nvSpPr>
        <p:spPr bwMode="auto">
          <a:xfrm>
            <a:off x="369956" y="1694679"/>
            <a:ext cx="8647558" cy="174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marL="342900" indent="-342900" eaLnBrk="1" hangingPunct="1">
              <a:lnSpc>
                <a:spcPct val="120000"/>
              </a:lnSpc>
              <a:spcBef>
                <a:spcPts val="600"/>
              </a:spcBef>
              <a:buFont typeface="Arial" panose="020B0604020202020204" pitchFamily="34" charset="0"/>
              <a:buChar char="•"/>
            </a:pPr>
            <a:r>
              <a:rPr lang="zh-CN" altLang="en-US" sz="2200" b="1" dirty="0">
                <a:latin typeface="宋体" panose="02010600030101010101" pitchFamily="2" charset="-122"/>
              </a:rPr>
              <a:t>不同外加电压情况下，电流达到稳定最大之所需的时间，反映了热敏电阻的动态特性。一般</a:t>
            </a:r>
            <a:r>
              <a:rPr lang="en-US" altLang="zh-CN" sz="2200" b="1" dirty="0">
                <a:solidFill>
                  <a:srgbClr val="00B050"/>
                </a:solidFill>
                <a:latin typeface="宋体" panose="02010600030101010101" pitchFamily="2" charset="-122"/>
              </a:rPr>
              <a:t>0.5</a:t>
            </a:r>
            <a:r>
              <a:rPr lang="zh-CN" altLang="en-US" sz="2200" b="1" dirty="0">
                <a:solidFill>
                  <a:srgbClr val="00B050"/>
                </a:solidFill>
                <a:latin typeface="宋体" panose="02010600030101010101" pitchFamily="2" charset="-122"/>
              </a:rPr>
              <a:t>～</a:t>
            </a:r>
            <a:r>
              <a:rPr lang="en-US" altLang="zh-CN" sz="2200" b="1">
                <a:solidFill>
                  <a:srgbClr val="00B050"/>
                </a:solidFill>
                <a:latin typeface="宋体" panose="02010600030101010101" pitchFamily="2" charset="-122"/>
              </a:rPr>
              <a:t>1s</a:t>
            </a:r>
            <a:r>
              <a:rPr lang="zh-CN" altLang="en-US" sz="2200" b="1">
                <a:latin typeface="宋体" panose="02010600030101010101" pitchFamily="2" charset="-122"/>
              </a:rPr>
              <a:t>。</a:t>
            </a:r>
            <a:endParaRPr lang="en-US" altLang="zh-CN" sz="2200" b="1">
              <a:latin typeface="宋体" panose="02010600030101010101" pitchFamily="2" charset="-122"/>
            </a:endParaRPr>
          </a:p>
          <a:p>
            <a:pPr marL="342900" indent="-342900" eaLnBrk="1" hangingPunct="1">
              <a:lnSpc>
                <a:spcPct val="120000"/>
              </a:lnSpc>
              <a:spcBef>
                <a:spcPts val="600"/>
              </a:spcBef>
              <a:buFont typeface="Arial" panose="020B0604020202020204" pitchFamily="34" charset="0"/>
              <a:buChar char="•"/>
            </a:pPr>
            <a:r>
              <a:rPr lang="zh-CN" altLang="en-US" sz="2200" b="1">
                <a:solidFill>
                  <a:srgbClr val="C00000"/>
                </a:solidFill>
                <a:latin typeface="宋体" panose="02010600030101010101" pitchFamily="2" charset="-122"/>
              </a:rPr>
              <a:t>都有一段延迟时间</a:t>
            </a:r>
            <a:r>
              <a:rPr lang="zh-CN" altLang="en-US" sz="2200" b="1">
                <a:latin typeface="宋体" panose="02010600030101010101" pitchFamily="2" charset="-122"/>
              </a:rPr>
              <a:t>，这是在自热过程中为达到新的</a:t>
            </a:r>
            <a:r>
              <a:rPr lang="zh-CN" altLang="en-US" sz="2200" b="1">
                <a:solidFill>
                  <a:srgbClr val="C00000"/>
                </a:solidFill>
                <a:latin typeface="宋体" panose="02010600030101010101" pitchFamily="2" charset="-122"/>
              </a:rPr>
              <a:t>热平衡状态</a:t>
            </a:r>
            <a:r>
              <a:rPr lang="zh-CN" altLang="en-US" sz="2200" b="1">
                <a:latin typeface="宋体" panose="02010600030101010101" pitchFamily="2" charset="-122"/>
              </a:rPr>
              <a:t>所必需的，延迟时间反映了热敏电阻的动特性</a:t>
            </a:r>
            <a:endParaRPr lang="zh-CN" altLang="en-US" sz="2200" b="1" dirty="0">
              <a:latin typeface="宋体" panose="02010600030101010101" pitchFamily="2" charset="-122"/>
            </a:endParaRPr>
          </a:p>
        </p:txBody>
      </p:sp>
      <p:sp>
        <p:nvSpPr>
          <p:cNvPr id="2" name="Slide Number Placeholder 1">
            <a:extLst>
              <a:ext uri="{FF2B5EF4-FFF2-40B4-BE49-F238E27FC236}">
                <a16:creationId xmlns:a16="http://schemas.microsoft.com/office/drawing/2014/main" id="{19681D9B-17D5-4D2B-ADA1-8AC4E87C2F1E}"/>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
        <p:nvSpPr>
          <p:cNvPr id="9" name="Rectangle 2">
            <a:extLst>
              <a:ext uri="{FF2B5EF4-FFF2-40B4-BE49-F238E27FC236}">
                <a16:creationId xmlns:a16="http://schemas.microsoft.com/office/drawing/2014/main" id="{37949DF8-3CFB-45AB-9848-C6771F027E59}"/>
              </a:ext>
            </a:extLst>
          </p:cNvPr>
          <p:cNvSpPr>
            <a:spLocks noChangeArrowheads="1"/>
          </p:cNvSpPr>
          <p:nvPr/>
        </p:nvSpPr>
        <p:spPr bwMode="auto">
          <a:xfrm>
            <a:off x="-2227023" y="620468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4400">
              <a:solidFill>
                <a:schemeClr val="tx2"/>
              </a:solidFill>
            </a:endParaRPr>
          </a:p>
        </p:txBody>
      </p:sp>
      <p:sp>
        <p:nvSpPr>
          <p:cNvPr id="10" name="Text Box 9">
            <a:extLst>
              <a:ext uri="{FF2B5EF4-FFF2-40B4-BE49-F238E27FC236}">
                <a16:creationId xmlns:a16="http://schemas.microsoft.com/office/drawing/2014/main" id="{6D9A8541-A496-46C8-9F09-2438C7C86577}"/>
              </a:ext>
            </a:extLst>
          </p:cNvPr>
          <p:cNvSpPr txBox="1">
            <a:spLocks noChangeArrowheads="1"/>
          </p:cNvSpPr>
          <p:nvPr/>
        </p:nvSpPr>
        <p:spPr bwMode="auto">
          <a:xfrm>
            <a:off x="5491530" y="4664889"/>
            <a:ext cx="27803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en-US" sz="2400" b="1" dirty="0">
                <a:solidFill>
                  <a:srgbClr val="000099"/>
                </a:solidFill>
              </a:rPr>
              <a:t>图</a:t>
            </a:r>
            <a:r>
              <a:rPr lang="en-US" altLang="zh-CN" sz="2400" b="1" dirty="0">
                <a:solidFill>
                  <a:srgbClr val="000099"/>
                </a:solidFill>
              </a:rPr>
              <a:t>8-22  </a:t>
            </a:r>
            <a:r>
              <a:rPr lang="zh-CN" altLang="en-US" sz="2400" b="1" dirty="0">
                <a:solidFill>
                  <a:srgbClr val="000099"/>
                </a:solidFill>
              </a:rPr>
              <a:t>电流</a:t>
            </a:r>
            <a:r>
              <a:rPr lang="en-US" altLang="zh-CN" sz="2400" b="1" dirty="0">
                <a:solidFill>
                  <a:srgbClr val="000099"/>
                </a:solidFill>
              </a:rPr>
              <a:t>-</a:t>
            </a:r>
            <a:r>
              <a:rPr lang="zh-CN" altLang="en-US" sz="2400" b="1" dirty="0">
                <a:solidFill>
                  <a:srgbClr val="000099"/>
                </a:solidFill>
              </a:rPr>
              <a:t>时间特性曲线</a:t>
            </a:r>
          </a:p>
        </p:txBody>
      </p:sp>
      <p:pic>
        <p:nvPicPr>
          <p:cNvPr id="11" name="Picture 118">
            <a:extLst>
              <a:ext uri="{FF2B5EF4-FFF2-40B4-BE49-F238E27FC236}">
                <a16:creationId xmlns:a16="http://schemas.microsoft.com/office/drawing/2014/main" id="{570B3169-60ED-487B-A9D1-DBA9EA1AA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257" y="3657560"/>
            <a:ext cx="4890843" cy="299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8.3.2</a:t>
            </a:r>
          </a:p>
        </p:txBody>
      </p:sp>
      <p:sp>
        <p:nvSpPr>
          <p:cNvPr id="46" name="矩形 45"/>
          <p:cNvSpPr/>
          <p:nvPr/>
        </p:nvSpPr>
        <p:spPr>
          <a:xfrm>
            <a:off x="1960200" y="360001"/>
            <a:ext cx="4780468"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热敏电阻的特性线性化 </a:t>
            </a:r>
          </a:p>
        </p:txBody>
      </p:sp>
      <p:sp>
        <p:nvSpPr>
          <p:cNvPr id="3" name="Slide Number Placeholder 2">
            <a:extLst>
              <a:ext uri="{FF2B5EF4-FFF2-40B4-BE49-F238E27FC236}">
                <a16:creationId xmlns:a16="http://schemas.microsoft.com/office/drawing/2014/main" id="{4B32AC8B-6783-494E-BD98-133B6C1FCA48}"/>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
        <p:nvSpPr>
          <p:cNvPr id="13" name="TextBox 12">
            <a:extLst>
              <a:ext uri="{FF2B5EF4-FFF2-40B4-BE49-F238E27FC236}">
                <a16:creationId xmlns:a16="http://schemas.microsoft.com/office/drawing/2014/main" id="{27F28E39-6A72-4ABA-8289-CDBE76951190}"/>
              </a:ext>
            </a:extLst>
          </p:cNvPr>
          <p:cNvSpPr txBox="1"/>
          <p:nvPr/>
        </p:nvSpPr>
        <p:spPr>
          <a:xfrm>
            <a:off x="304092" y="2284109"/>
            <a:ext cx="2535238" cy="927177"/>
          </a:xfrm>
          <a:prstGeom prst="rect">
            <a:avLst/>
          </a:prstGeom>
          <a:noFill/>
        </p:spPr>
        <p:txBody>
          <a:bodyPr wrap="square">
            <a:spAutoFit/>
          </a:bodyPr>
          <a:lstStyle/>
          <a:p>
            <a:pPr algn="ctr">
              <a:lnSpc>
                <a:spcPct val="200000"/>
              </a:lnSpc>
              <a:spcBef>
                <a:spcPct val="10000"/>
              </a:spcBef>
              <a:spcAft>
                <a:spcPct val="10000"/>
              </a:spcAft>
              <a:buFont typeface="Wingdings" pitchFamily="2" charset="2"/>
              <a:buNone/>
            </a:pPr>
            <a:r>
              <a:rPr lang="en-US" altLang="zh-CN" sz="32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R = A</a:t>
            </a:r>
            <a:r>
              <a:rPr lang="en-US" altLang="zh-CN" sz="3200" i="1">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32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3200" b="1" i="1" baseline="30000">
                <a:solidFill>
                  <a:srgbClr val="7030A0"/>
                </a:solidFill>
                <a:latin typeface="Times New Roman" panose="02020603050405020304" pitchFamily="18" charset="0"/>
                <a:ea typeface="宋体" panose="02010600030101010101" pitchFamily="2" charset="-122"/>
                <a:cs typeface="Times New Roman" panose="02020603050405020304" pitchFamily="18" charset="0"/>
              </a:rPr>
              <a:t>B/T</a:t>
            </a:r>
            <a:endParaRPr lang="en-US" altLang="zh-CN" sz="3200" b="1" i="1" baseline="300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TextBox 14">
            <a:extLst>
              <a:ext uri="{FF2B5EF4-FFF2-40B4-BE49-F238E27FC236}">
                <a16:creationId xmlns:a16="http://schemas.microsoft.com/office/drawing/2014/main" id="{C909C410-D56A-4EC9-9AAA-542D0D44751A}"/>
              </a:ext>
            </a:extLst>
          </p:cNvPr>
          <p:cNvSpPr txBox="1"/>
          <p:nvPr/>
        </p:nvSpPr>
        <p:spPr>
          <a:xfrm>
            <a:off x="2701356" y="1560182"/>
            <a:ext cx="5813993" cy="4173065"/>
          </a:xfrm>
          <a:prstGeom prst="rect">
            <a:avLst/>
          </a:prstGeom>
          <a:noFill/>
        </p:spPr>
        <p:txBody>
          <a:bodyPr wrap="square">
            <a:spAutoFit/>
          </a:bodyPr>
          <a:lstStyle/>
          <a:p>
            <a:pPr marL="342900" indent="-342900">
              <a:lnSpc>
                <a:spcPct val="130000"/>
              </a:lnSpc>
              <a:spcBef>
                <a:spcPts val="1200"/>
              </a:spcBef>
              <a:buFont typeface="Arial" panose="020B0604020202020204" pitchFamily="34" charset="0"/>
              <a:buChar char="•"/>
            </a:pPr>
            <a:r>
              <a:rPr lang="zh-CN" altLang="en-US" sz="2400">
                <a:latin typeface="宋体" panose="02010600030101010101" pitchFamily="2" charset="-122"/>
                <a:ea typeface="宋体" panose="02010600030101010101" pitchFamily="2" charset="-122"/>
              </a:rPr>
              <a:t>热敏电阻的电阻－温度特性呈指数关系，而测量和控制总是希望输出与输入成线性关系。</a:t>
            </a:r>
          </a:p>
          <a:p>
            <a:pPr marL="342900" indent="-342900">
              <a:lnSpc>
                <a:spcPct val="130000"/>
              </a:lnSpc>
              <a:spcBef>
                <a:spcPts val="1200"/>
              </a:spcBef>
              <a:buFont typeface="Arial" panose="020B0604020202020204" pitchFamily="34" charset="0"/>
              <a:buChar char="•"/>
            </a:pPr>
            <a:r>
              <a:rPr lang="zh-CN" altLang="en-US" sz="2400">
                <a:latin typeface="宋体" panose="02010600030101010101" pitchFamily="2" charset="-122"/>
                <a:ea typeface="宋体" panose="02010600030101010101" pitchFamily="2" charset="-122"/>
              </a:rPr>
              <a:t>热敏电阻输出特性线性化的方法很多，最简单的方法是用温度系数很小的电阻与热敏电阻串联或并联，可以使等效电阻与温度的关系在一定的温度范围内是线性的。</a:t>
            </a:r>
            <a:endParaRPr lang="en-001" sz="240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09">
            <a:extLst>
              <a:ext uri="{FF2B5EF4-FFF2-40B4-BE49-F238E27FC236}">
                <a16:creationId xmlns:a16="http://schemas.microsoft.com/office/drawing/2014/main" id="{84C92B9A-C715-478D-967B-9C72F5A84DFC}"/>
              </a:ext>
            </a:extLst>
          </p:cNvPr>
          <p:cNvGraphicFramePr>
            <a:graphicFrameLocks noChangeAspect="1"/>
          </p:cNvGraphicFramePr>
          <p:nvPr>
            <p:extLst>
              <p:ext uri="{D42A27DB-BD31-4B8C-83A1-F6EECF244321}">
                <p14:modId xmlns:p14="http://schemas.microsoft.com/office/powerpoint/2010/main" val="1326260890"/>
              </p:ext>
            </p:extLst>
          </p:nvPr>
        </p:nvGraphicFramePr>
        <p:xfrm>
          <a:off x="1228356" y="3744157"/>
          <a:ext cx="6998091" cy="2515654"/>
        </p:xfrm>
        <a:graphic>
          <a:graphicData uri="http://schemas.openxmlformats.org/presentationml/2006/ole">
            <mc:AlternateContent xmlns:mc="http://schemas.openxmlformats.org/markup-compatibility/2006">
              <mc:Choice xmlns:v="urn:schemas-microsoft-com:vml" Requires="v">
                <p:oleObj name="Flash 影片" r:id="rId3" imgW="8940960" imgH="2601000" progId="Flash.Movie">
                  <p:embed/>
                </p:oleObj>
              </mc:Choice>
              <mc:Fallback>
                <p:oleObj name="Flash 影片" r:id="rId3" imgW="8940960" imgH="2601000" progId="Flash.Movie">
                  <p:embed/>
                  <p:pic>
                    <p:nvPicPr>
                      <p:cNvPr id="12" name="Object 109">
                        <a:extLst>
                          <a:ext uri="{FF2B5EF4-FFF2-40B4-BE49-F238E27FC236}">
                            <a16:creationId xmlns:a16="http://schemas.microsoft.com/office/drawing/2014/main" id="{84C92B9A-C715-478D-967B-9C72F5A84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356" y="3744157"/>
                        <a:ext cx="6998091" cy="2515654"/>
                      </a:xfrm>
                      <a:prstGeom prst="rect">
                        <a:avLst/>
                      </a:prstGeom>
                      <a:noFill/>
                      <a:ln>
                        <a:noFill/>
                      </a:ln>
                      <a:effec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8.3.2</a:t>
            </a:r>
          </a:p>
        </p:txBody>
      </p:sp>
      <p:sp>
        <p:nvSpPr>
          <p:cNvPr id="46" name="矩形 45"/>
          <p:cNvSpPr/>
          <p:nvPr/>
        </p:nvSpPr>
        <p:spPr>
          <a:xfrm>
            <a:off x="1960200" y="360001"/>
            <a:ext cx="4780468"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热敏电阻的特性线性化 </a:t>
            </a:r>
          </a:p>
        </p:txBody>
      </p:sp>
      <p:sp>
        <p:nvSpPr>
          <p:cNvPr id="3" name="Slide Number Placeholder 2">
            <a:extLst>
              <a:ext uri="{FF2B5EF4-FFF2-40B4-BE49-F238E27FC236}">
                <a16:creationId xmlns:a16="http://schemas.microsoft.com/office/drawing/2014/main" id="{4B32AC8B-6783-494E-BD98-133B6C1FCA48}"/>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
        <p:nvSpPr>
          <p:cNvPr id="11" name="Text Box 9">
            <a:extLst>
              <a:ext uri="{FF2B5EF4-FFF2-40B4-BE49-F238E27FC236}">
                <a16:creationId xmlns:a16="http://schemas.microsoft.com/office/drawing/2014/main" id="{78F3A215-227B-4AA4-9E1B-772C09A9D22F}"/>
              </a:ext>
            </a:extLst>
          </p:cNvPr>
          <p:cNvSpPr txBox="1">
            <a:spLocks noChangeArrowheads="1"/>
          </p:cNvSpPr>
          <p:nvPr/>
        </p:nvSpPr>
        <p:spPr bwMode="auto">
          <a:xfrm>
            <a:off x="3063004" y="6259811"/>
            <a:ext cx="33287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8-23  </a:t>
            </a:r>
            <a:r>
              <a:rPr lang="zh-CN" altLang="en-US" sz="2400" b="1" dirty="0">
                <a:solidFill>
                  <a:srgbClr val="000099"/>
                </a:solidFill>
              </a:rPr>
              <a:t>串联补偿电阻</a:t>
            </a:r>
          </a:p>
        </p:txBody>
      </p:sp>
      <p:sp>
        <p:nvSpPr>
          <p:cNvPr id="8" name="TextBox 7">
            <a:extLst>
              <a:ext uri="{FF2B5EF4-FFF2-40B4-BE49-F238E27FC236}">
                <a16:creationId xmlns:a16="http://schemas.microsoft.com/office/drawing/2014/main" id="{F76C050B-346D-48EE-8A61-70CC282EC629}"/>
              </a:ext>
            </a:extLst>
          </p:cNvPr>
          <p:cNvSpPr txBox="1"/>
          <p:nvPr/>
        </p:nvSpPr>
        <p:spPr>
          <a:xfrm>
            <a:off x="126486" y="1190067"/>
            <a:ext cx="8891028" cy="2651688"/>
          </a:xfrm>
          <a:prstGeom prst="rect">
            <a:avLst/>
          </a:prstGeom>
          <a:noFill/>
        </p:spPr>
        <p:txBody>
          <a:bodyPr wrap="square">
            <a:spAutoFit/>
          </a:bodyPr>
          <a:lstStyle/>
          <a:p>
            <a:pPr marL="342900" indent="-342900">
              <a:lnSpc>
                <a:spcPct val="110000"/>
              </a:lnSpc>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串联后的等效电阻 </a:t>
            </a:r>
            <a:r>
              <a:rPr lang="en-US" altLang="zh-CN" sz="2000">
                <a:latin typeface="宋体" panose="02010600030101010101" pitchFamily="2" charset="-122"/>
                <a:ea typeface="宋体" panose="02010600030101010101" pitchFamily="2" charset="-122"/>
              </a:rPr>
              <a:t>Rs= Rt + r1 </a:t>
            </a:r>
          </a:p>
          <a:p>
            <a:pPr marL="342900" indent="-342900">
              <a:lnSpc>
                <a:spcPct val="110000"/>
              </a:lnSpc>
              <a:spcBef>
                <a:spcPts val="600"/>
              </a:spcBef>
              <a:buFont typeface="Arial" panose="020B0604020202020204" pitchFamily="34" charset="0"/>
              <a:buChar char="•"/>
            </a:pPr>
            <a:r>
              <a:rPr lang="en-US" altLang="zh-CN" sz="2000">
                <a:latin typeface="宋体" panose="02010600030101010101" pitchFamily="2" charset="-122"/>
                <a:ea typeface="宋体" panose="02010600030101010101" pitchFamily="2" charset="-122"/>
              </a:rPr>
              <a:t>Rt </a:t>
            </a:r>
            <a:r>
              <a:rPr lang="zh-CN" altLang="en-US" sz="2000">
                <a:latin typeface="宋体" panose="02010600030101010101" pitchFamily="2" charset="-122"/>
                <a:ea typeface="宋体" panose="02010600030101010101" pitchFamily="2" charset="-122"/>
              </a:rPr>
              <a:t>本身是随温度上升而下降的           </a:t>
            </a:r>
            <a:endParaRPr lang="en-US" altLang="zh-CN" sz="2000">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若所选择的补偿电阻是金属或合金材料电阻，并具有小的正电阻温度系数，只要 </a:t>
            </a:r>
            <a:r>
              <a:rPr lang="en-US" altLang="zh-CN" sz="2000">
                <a:latin typeface="宋体" panose="02010600030101010101" pitchFamily="2" charset="-122"/>
                <a:ea typeface="宋体" panose="02010600030101010101" pitchFamily="2" charset="-122"/>
              </a:rPr>
              <a:t>r1 </a:t>
            </a:r>
            <a:r>
              <a:rPr lang="zh-CN" altLang="en-US" sz="2000">
                <a:latin typeface="宋体" panose="02010600030101010101" pitchFamily="2" charset="-122"/>
                <a:ea typeface="宋体" panose="02010600030101010101" pitchFamily="2" charset="-122"/>
              </a:rPr>
              <a:t>选择合适， </a:t>
            </a:r>
            <a:r>
              <a:rPr lang="en-US" altLang="zh-CN" sz="2000">
                <a:latin typeface="宋体" panose="02010600030101010101" pitchFamily="2" charset="-122"/>
                <a:ea typeface="宋体" panose="02010600030101010101" pitchFamily="2" charset="-122"/>
              </a:rPr>
              <a:t>Rs - T </a:t>
            </a:r>
            <a:r>
              <a:rPr lang="zh-CN" altLang="en-US" sz="2000">
                <a:latin typeface="宋体" panose="02010600030101010101" pitchFamily="2" charset="-122"/>
                <a:ea typeface="宋体" panose="02010600030101010101" pitchFamily="2" charset="-122"/>
              </a:rPr>
              <a:t>的特性在某一温度范围内近似为双曲线关系，即在这个温度区间内，温度与电阻的倒数成线性关系，因而电流</a:t>
            </a:r>
            <a:r>
              <a:rPr lang="en-US" altLang="zh-CN" sz="2000">
                <a:latin typeface="宋体" panose="02010600030101010101" pitchFamily="2" charset="-122"/>
                <a:ea typeface="宋体" panose="02010600030101010101" pitchFamily="2" charset="-122"/>
              </a:rPr>
              <a:t>I </a:t>
            </a:r>
            <a:r>
              <a:rPr lang="zh-CN" altLang="en-US" sz="2000">
                <a:latin typeface="宋体" panose="02010600030101010101" pitchFamily="2" charset="-122"/>
                <a:ea typeface="宋体" panose="02010600030101010101" pitchFamily="2" charset="-122"/>
              </a:rPr>
              <a:t>与温度</a:t>
            </a:r>
            <a:r>
              <a:rPr lang="en-US" altLang="zh-CN" sz="2000">
                <a:latin typeface="宋体" panose="02010600030101010101" pitchFamily="2" charset="-122"/>
                <a:ea typeface="宋体" panose="02010600030101010101" pitchFamily="2" charset="-122"/>
              </a:rPr>
              <a:t>T </a:t>
            </a:r>
            <a:r>
              <a:rPr lang="zh-CN" altLang="en-US" sz="2000">
                <a:latin typeface="宋体" panose="02010600030101010101" pitchFamily="2" charset="-122"/>
                <a:ea typeface="宋体" panose="02010600030101010101" pitchFamily="2" charset="-122"/>
              </a:rPr>
              <a:t>成线性关系。</a:t>
            </a:r>
            <a:endParaRPr lang="en-US" altLang="zh-CN" sz="2000">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但此时灵敏度有所下降。</a:t>
            </a:r>
            <a:endParaRPr lang="en-001" sz="200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7A9541F0-9977-4295-9285-6A91E844CAB7}"/>
              </a:ext>
            </a:extLst>
          </p:cNvPr>
          <p:cNvPicPr>
            <a:picLocks noChangeAspect="1"/>
          </p:cNvPicPr>
          <p:nvPr/>
        </p:nvPicPr>
        <p:blipFill>
          <a:blip r:embed="rId5"/>
          <a:stretch>
            <a:fillRect/>
          </a:stretch>
        </p:blipFill>
        <p:spPr>
          <a:xfrm>
            <a:off x="4012940" y="1585423"/>
            <a:ext cx="1386571" cy="417547"/>
          </a:xfrm>
          <a:prstGeom prst="rect">
            <a:avLst/>
          </a:prstGeom>
        </p:spPr>
      </p:pic>
      <p:sp>
        <p:nvSpPr>
          <p:cNvPr id="10" name="TextBox 9">
            <a:extLst>
              <a:ext uri="{FF2B5EF4-FFF2-40B4-BE49-F238E27FC236}">
                <a16:creationId xmlns:a16="http://schemas.microsoft.com/office/drawing/2014/main" id="{3F0156D3-A286-4DEB-B1DD-A5B73CC753D5}"/>
              </a:ext>
            </a:extLst>
          </p:cNvPr>
          <p:cNvSpPr txBox="1"/>
          <p:nvPr/>
        </p:nvSpPr>
        <p:spPr>
          <a:xfrm>
            <a:off x="5399511" y="1324097"/>
            <a:ext cx="2114536" cy="718466"/>
          </a:xfrm>
          <a:prstGeom prst="rect">
            <a:avLst/>
          </a:prstGeom>
          <a:noFill/>
        </p:spPr>
        <p:txBody>
          <a:bodyPr wrap="square">
            <a:spAutoFit/>
          </a:bodyPr>
          <a:lstStyle/>
          <a:p>
            <a:pPr algn="ctr">
              <a:lnSpc>
                <a:spcPct val="200000"/>
              </a:lnSpc>
              <a:spcBef>
                <a:spcPct val="10000"/>
              </a:spcBef>
              <a:spcAft>
                <a:spcPct val="10000"/>
              </a:spcAft>
              <a:buFont typeface="Wingdings" pitchFamily="2" charset="2"/>
              <a:buNone/>
            </a:pPr>
            <a:r>
              <a:rPr lang="en-US" altLang="zh-CN" sz="24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R = A</a:t>
            </a:r>
            <a:r>
              <a:rPr lang="en-US" altLang="zh-CN" sz="2400" i="1">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2400" b="1" i="1">
                <a:solidFill>
                  <a:srgbClr val="7030A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b="1" i="1" baseline="30000">
                <a:solidFill>
                  <a:srgbClr val="7030A0"/>
                </a:solidFill>
                <a:latin typeface="Times New Roman" panose="02020603050405020304" pitchFamily="18" charset="0"/>
                <a:ea typeface="宋体" panose="02010600030101010101" pitchFamily="2" charset="-122"/>
                <a:cs typeface="Times New Roman" panose="02020603050405020304" pitchFamily="18" charset="0"/>
              </a:rPr>
              <a:t>B/T</a:t>
            </a:r>
            <a:endParaRPr lang="en-US" altLang="zh-CN" sz="2400" b="1" i="1" baseline="300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437901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8.3.2</a:t>
            </a:r>
          </a:p>
        </p:txBody>
      </p:sp>
      <p:sp>
        <p:nvSpPr>
          <p:cNvPr id="46" name="矩形 45"/>
          <p:cNvSpPr/>
          <p:nvPr/>
        </p:nvSpPr>
        <p:spPr>
          <a:xfrm>
            <a:off x="1960200" y="360001"/>
            <a:ext cx="4780468"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热敏电阻的特性线性化 </a:t>
            </a:r>
          </a:p>
        </p:txBody>
      </p:sp>
      <p:sp>
        <p:nvSpPr>
          <p:cNvPr id="3" name="Slide Number Placeholder 2">
            <a:extLst>
              <a:ext uri="{FF2B5EF4-FFF2-40B4-BE49-F238E27FC236}">
                <a16:creationId xmlns:a16="http://schemas.microsoft.com/office/drawing/2014/main" id="{4B32AC8B-6783-494E-BD98-133B6C1FCA48}"/>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sp>
        <p:nvSpPr>
          <p:cNvPr id="8" name="Rectangle 2">
            <a:extLst>
              <a:ext uri="{FF2B5EF4-FFF2-40B4-BE49-F238E27FC236}">
                <a16:creationId xmlns:a16="http://schemas.microsoft.com/office/drawing/2014/main" id="{1267ED27-E3CD-4765-A57A-684A79136939}"/>
              </a:ext>
            </a:extLst>
          </p:cNvPr>
          <p:cNvSpPr>
            <a:spLocks noChangeArrowheads="1"/>
          </p:cNvSpPr>
          <p:nvPr/>
        </p:nvSpPr>
        <p:spPr bwMode="auto">
          <a:xfrm>
            <a:off x="4811350" y="4052837"/>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4400">
              <a:solidFill>
                <a:schemeClr val="tx2"/>
              </a:solidFill>
            </a:endParaRPr>
          </a:p>
        </p:txBody>
      </p:sp>
      <p:sp>
        <p:nvSpPr>
          <p:cNvPr id="9" name="Text Box 9">
            <a:extLst>
              <a:ext uri="{FF2B5EF4-FFF2-40B4-BE49-F238E27FC236}">
                <a16:creationId xmlns:a16="http://schemas.microsoft.com/office/drawing/2014/main" id="{C86A15A0-3E66-484A-ADC6-C55B5602532A}"/>
              </a:ext>
            </a:extLst>
          </p:cNvPr>
          <p:cNvSpPr txBox="1">
            <a:spLocks noChangeArrowheads="1"/>
          </p:cNvSpPr>
          <p:nvPr/>
        </p:nvSpPr>
        <p:spPr bwMode="auto">
          <a:xfrm>
            <a:off x="502984" y="5208704"/>
            <a:ext cx="33123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8-24  </a:t>
            </a:r>
            <a:r>
              <a:rPr lang="zh-CN" altLang="en-US" sz="2400" b="1" dirty="0">
                <a:solidFill>
                  <a:srgbClr val="000099"/>
                </a:solidFill>
              </a:rPr>
              <a:t>并联补偿电阻</a:t>
            </a:r>
          </a:p>
        </p:txBody>
      </p:sp>
      <p:pic>
        <p:nvPicPr>
          <p:cNvPr id="10" name="Picture 120">
            <a:extLst>
              <a:ext uri="{FF2B5EF4-FFF2-40B4-BE49-F238E27FC236}">
                <a16:creationId xmlns:a16="http://schemas.microsoft.com/office/drawing/2014/main" id="{3EA54C04-7EF9-404B-890F-74B4C1F26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611" y="2318658"/>
            <a:ext cx="3852477" cy="254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9">
            <a:extLst>
              <a:ext uri="{FF2B5EF4-FFF2-40B4-BE49-F238E27FC236}">
                <a16:creationId xmlns:a16="http://schemas.microsoft.com/office/drawing/2014/main" id="{9180409B-A154-4815-873C-59C871495605}"/>
              </a:ext>
            </a:extLst>
          </p:cNvPr>
          <p:cNvSpPr txBox="1">
            <a:spLocks noChangeArrowheads="1"/>
          </p:cNvSpPr>
          <p:nvPr/>
        </p:nvSpPr>
        <p:spPr bwMode="auto">
          <a:xfrm>
            <a:off x="4336994" y="5439536"/>
            <a:ext cx="4680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8-25  </a:t>
            </a:r>
            <a:r>
              <a:rPr lang="zh-CN" altLang="en-US" sz="2400" b="1" dirty="0">
                <a:solidFill>
                  <a:srgbClr val="000099"/>
                </a:solidFill>
              </a:rPr>
              <a:t>其它线性化电路的方法</a:t>
            </a:r>
          </a:p>
        </p:txBody>
      </p:sp>
      <p:pic>
        <p:nvPicPr>
          <p:cNvPr id="14" name="Picture 118">
            <a:extLst>
              <a:ext uri="{FF2B5EF4-FFF2-40B4-BE49-F238E27FC236}">
                <a16:creationId xmlns:a16="http://schemas.microsoft.com/office/drawing/2014/main" id="{E5A462B7-0059-4D09-A938-88BDB0552E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6994" y="1459694"/>
            <a:ext cx="4087676" cy="3938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7146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8.3.3</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热敏电阻的应用举例</a:t>
            </a:r>
          </a:p>
        </p:txBody>
      </p:sp>
      <p:sp>
        <p:nvSpPr>
          <p:cNvPr id="27" name="Rectangle 3"/>
          <p:cNvSpPr txBox="1">
            <a:spLocks noRot="1" noChangeArrowheads="1"/>
          </p:cNvSpPr>
          <p:nvPr/>
        </p:nvSpPr>
        <p:spPr>
          <a:xfrm>
            <a:off x="744721" y="1529568"/>
            <a:ext cx="7528422" cy="4254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zh-CN" altLang="en-US" sz="2400" b="1" dirty="0">
                <a:latin typeface="宋体" panose="02010600030101010101" pitchFamily="2" charset="-122"/>
                <a:ea typeface="宋体" panose="02010600030101010101" pitchFamily="2" charset="-122"/>
              </a:rPr>
              <a:t>利用热敏电阻对温度变化的高度敏感性能，可以制成测量点温、反应迅速的</a:t>
            </a:r>
            <a:r>
              <a:rPr lang="zh-CN" altLang="en-US" sz="2400" b="1" dirty="0">
                <a:solidFill>
                  <a:srgbClr val="FF0000"/>
                </a:solidFill>
                <a:latin typeface="宋体" panose="02010600030101010101" pitchFamily="2" charset="-122"/>
                <a:ea typeface="宋体" panose="02010600030101010101" pitchFamily="2" charset="-122"/>
              </a:rPr>
              <a:t>点温</a:t>
            </a:r>
            <a:r>
              <a:rPr lang="zh-CN" altLang="en-US" sz="2400" b="1">
                <a:solidFill>
                  <a:srgbClr val="FF0000"/>
                </a:solidFill>
                <a:latin typeface="宋体" panose="02010600030101010101" pitchFamily="2" charset="-122"/>
                <a:ea typeface="宋体" panose="02010600030101010101" pitchFamily="2" charset="-122"/>
              </a:rPr>
              <a:t>计</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a:lnSpc>
                <a:spcPct val="160000"/>
              </a:lnSpc>
            </a:pPr>
            <a:r>
              <a:rPr lang="zh-CN" altLang="en-US" sz="2400" b="1">
                <a:latin typeface="宋体" panose="02010600030101010101" pitchFamily="2" charset="-122"/>
                <a:ea typeface="宋体" panose="02010600030101010101" pitchFamily="2" charset="-122"/>
              </a:rPr>
              <a:t>点</a:t>
            </a:r>
            <a:r>
              <a:rPr lang="zh-CN" altLang="en-US" sz="2400" b="1" dirty="0">
                <a:latin typeface="宋体" panose="02010600030101010101" pitchFamily="2" charset="-122"/>
                <a:ea typeface="宋体" panose="02010600030101010101" pitchFamily="2" charset="-122"/>
              </a:rPr>
              <a:t>温计不仅可以用来测量一般的气体、液体或固体的温度，而且还适宜于测量微小物体或物体局部的温</a:t>
            </a:r>
            <a:r>
              <a:rPr lang="zh-CN" altLang="en-US" sz="2400" b="1">
                <a:latin typeface="宋体" panose="02010600030101010101" pitchFamily="2" charset="-122"/>
                <a:ea typeface="宋体" panose="02010600030101010101" pitchFamily="2" charset="-122"/>
              </a:rPr>
              <a:t>度。</a:t>
            </a:r>
            <a:endParaRPr lang="en-US" altLang="zh-CN" sz="2400" b="1">
              <a:latin typeface="宋体" panose="02010600030101010101" pitchFamily="2" charset="-122"/>
              <a:ea typeface="宋体" panose="02010600030101010101" pitchFamily="2" charset="-122"/>
            </a:endParaRPr>
          </a:p>
          <a:p>
            <a:pPr>
              <a:lnSpc>
                <a:spcPct val="160000"/>
              </a:lnSpc>
            </a:pPr>
            <a:r>
              <a:rPr lang="zh-CN" altLang="en-US" sz="2400" b="1">
                <a:latin typeface="宋体" panose="02010600030101010101" pitchFamily="2" charset="-122"/>
                <a:ea typeface="宋体" panose="02010600030101010101" pitchFamily="2" charset="-122"/>
              </a:rPr>
              <a:t>例</a:t>
            </a:r>
            <a:r>
              <a:rPr lang="zh-CN" altLang="en-US" sz="2400" b="1" dirty="0">
                <a:latin typeface="宋体" panose="02010600030101010101" pitchFamily="2" charset="-122"/>
                <a:ea typeface="宋体" panose="02010600030101010101" pitchFamily="2" charset="-122"/>
              </a:rPr>
              <a:t>如，可以用来测量运行中电机轴承的温度、晶体管外管的温升、植物叶片温度以及人体内血液的温度等。</a:t>
            </a:r>
          </a:p>
        </p:txBody>
      </p:sp>
      <p:sp>
        <p:nvSpPr>
          <p:cNvPr id="2" name="Slide Number Placeholder 1">
            <a:extLst>
              <a:ext uri="{FF2B5EF4-FFF2-40B4-BE49-F238E27FC236}">
                <a16:creationId xmlns:a16="http://schemas.microsoft.com/office/drawing/2014/main" id="{E3D3C122-7CC7-40C6-8572-2AD0116CF840}"/>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8.3.3</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热敏电阻的应用举例</a:t>
            </a:r>
          </a:p>
        </p:txBody>
      </p:sp>
      <p:sp>
        <p:nvSpPr>
          <p:cNvPr id="2" name="Slide Number Placeholder 1">
            <a:extLst>
              <a:ext uri="{FF2B5EF4-FFF2-40B4-BE49-F238E27FC236}">
                <a16:creationId xmlns:a16="http://schemas.microsoft.com/office/drawing/2014/main" id="{D8BB621B-9798-4851-BE74-DE0398C0EA9D}"/>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
        <p:nvSpPr>
          <p:cNvPr id="10" name="Rectangle 2">
            <a:extLst>
              <a:ext uri="{FF2B5EF4-FFF2-40B4-BE49-F238E27FC236}">
                <a16:creationId xmlns:a16="http://schemas.microsoft.com/office/drawing/2014/main" id="{665837CD-D9A0-4B63-A41E-C1F45E297C6F}"/>
              </a:ext>
            </a:extLst>
          </p:cNvPr>
          <p:cNvSpPr>
            <a:spLocks noChangeArrowheads="1"/>
          </p:cNvSpPr>
          <p:nvPr/>
        </p:nvSpPr>
        <p:spPr bwMode="auto">
          <a:xfrm>
            <a:off x="4479925" y="376539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4400">
              <a:solidFill>
                <a:schemeClr val="tx2"/>
              </a:solidFill>
            </a:endParaRPr>
          </a:p>
        </p:txBody>
      </p:sp>
      <p:sp>
        <p:nvSpPr>
          <p:cNvPr id="11" name="Text Box 9">
            <a:extLst>
              <a:ext uri="{FF2B5EF4-FFF2-40B4-BE49-F238E27FC236}">
                <a16:creationId xmlns:a16="http://schemas.microsoft.com/office/drawing/2014/main" id="{F53C5C78-2E78-4A8D-BC29-F82A6B43F890}"/>
              </a:ext>
            </a:extLst>
          </p:cNvPr>
          <p:cNvSpPr txBox="1">
            <a:spLocks noChangeArrowheads="1"/>
          </p:cNvSpPr>
          <p:nvPr/>
        </p:nvSpPr>
        <p:spPr bwMode="auto">
          <a:xfrm>
            <a:off x="2247677" y="6259811"/>
            <a:ext cx="51125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99"/>
                </a:solidFill>
              </a:rPr>
              <a:t>图</a:t>
            </a:r>
            <a:r>
              <a:rPr lang="en-US" altLang="zh-CN" sz="2400" b="1" dirty="0">
                <a:solidFill>
                  <a:srgbClr val="000099"/>
                </a:solidFill>
              </a:rPr>
              <a:t>8-27  </a:t>
            </a:r>
            <a:r>
              <a:rPr lang="zh-CN" altLang="en-US" sz="2400" b="1" dirty="0">
                <a:solidFill>
                  <a:srgbClr val="000099"/>
                </a:solidFill>
              </a:rPr>
              <a:t>热敏电阻自动控温仪电路图</a:t>
            </a:r>
          </a:p>
        </p:txBody>
      </p:sp>
      <p:pic>
        <p:nvPicPr>
          <p:cNvPr id="12" name="Picture 119">
            <a:extLst>
              <a:ext uri="{FF2B5EF4-FFF2-40B4-BE49-F238E27FC236}">
                <a16:creationId xmlns:a16="http://schemas.microsoft.com/office/drawing/2014/main" id="{9F019571-D11B-4B8C-B8DF-0E9881332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3535354"/>
            <a:ext cx="8267700" cy="2620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
            <a:extLst>
              <a:ext uri="{FF2B5EF4-FFF2-40B4-BE49-F238E27FC236}">
                <a16:creationId xmlns:a16="http://schemas.microsoft.com/office/drawing/2014/main" id="{992C2580-FF7F-4AFC-8FE9-19ED674FCBE6}"/>
              </a:ext>
            </a:extLst>
          </p:cNvPr>
          <p:cNvSpPr txBox="1">
            <a:spLocks noChangeArrowheads="1"/>
          </p:cNvSpPr>
          <p:nvPr/>
        </p:nvSpPr>
        <p:spPr bwMode="auto">
          <a:xfrm>
            <a:off x="185083" y="1157236"/>
            <a:ext cx="8752088" cy="227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342900" indent="-342900" eaLnBrk="1" hangingPunct="1">
              <a:spcBef>
                <a:spcPts val="600"/>
              </a:spcBef>
              <a:buFont typeface="Arial" panose="020B0604020202020204" pitchFamily="34" charset="0"/>
              <a:buChar char="•"/>
            </a:pPr>
            <a:r>
              <a:rPr lang="en-US" altLang="zh-CN" sz="2200" i="1" dirty="0" err="1"/>
              <a:t>R</a:t>
            </a:r>
            <a:r>
              <a:rPr lang="en-US" altLang="zh-CN" sz="2200" i="1" baseline="-25000" dirty="0" err="1"/>
              <a:t>t</a:t>
            </a:r>
            <a:r>
              <a:rPr lang="zh-CN" altLang="en-US" sz="2200" b="1" dirty="0"/>
              <a:t>具有</a:t>
            </a:r>
            <a:r>
              <a:rPr lang="zh-CN" altLang="en-US" sz="2200" b="1" dirty="0">
                <a:solidFill>
                  <a:srgbClr val="FF0000"/>
                </a:solidFill>
              </a:rPr>
              <a:t>正</a:t>
            </a:r>
            <a:r>
              <a:rPr lang="zh-CN" altLang="en-US" sz="2200" b="1" dirty="0"/>
              <a:t>温度系数，将它作为偏置电阻接在</a:t>
            </a:r>
            <a:r>
              <a:rPr lang="en-US" altLang="zh-CN" sz="2200" b="1"/>
              <a:t>T1</a:t>
            </a:r>
            <a:r>
              <a:rPr lang="zh-CN" altLang="en-US" sz="2200" b="1" dirty="0"/>
              <a:t>、</a:t>
            </a:r>
            <a:r>
              <a:rPr lang="en-US" altLang="zh-CN" sz="2200" b="1" dirty="0"/>
              <a:t>T2</a:t>
            </a:r>
            <a:r>
              <a:rPr lang="zh-CN" altLang="en-US" sz="2200" b="1" dirty="0"/>
              <a:t>组成的差分放大器电路内；</a:t>
            </a:r>
            <a:endParaRPr lang="en-US" altLang="zh-CN" sz="2200" b="1" dirty="0"/>
          </a:p>
          <a:p>
            <a:pPr marL="342900" indent="-342900" eaLnBrk="1" hangingPunct="1">
              <a:spcBef>
                <a:spcPts val="600"/>
              </a:spcBef>
              <a:buFont typeface="Arial" panose="020B0604020202020204" pitchFamily="34" charset="0"/>
              <a:buChar char="•"/>
            </a:pPr>
            <a:r>
              <a:rPr lang="zh-CN" altLang="en-US" sz="2200" b="1" dirty="0"/>
              <a:t>当</a:t>
            </a:r>
            <a:r>
              <a:rPr lang="zh-CN" altLang="en-US" sz="2200" b="1" dirty="0">
                <a:solidFill>
                  <a:srgbClr val="00B0F0"/>
                </a:solidFill>
              </a:rPr>
              <a:t>温度变化时</a:t>
            </a:r>
            <a:r>
              <a:rPr lang="zh-CN" altLang="en-US" sz="2200" b="1" dirty="0"/>
              <a:t>，热敏电阻的</a:t>
            </a:r>
            <a:r>
              <a:rPr lang="zh-CN" altLang="en-US" sz="2200" b="1" dirty="0">
                <a:solidFill>
                  <a:srgbClr val="00B0F0"/>
                </a:solidFill>
              </a:rPr>
              <a:t>阻值发生变化</a:t>
            </a:r>
            <a:r>
              <a:rPr lang="zh-CN" altLang="en-US" sz="2200" b="1" dirty="0"/>
              <a:t>，引起</a:t>
            </a:r>
            <a:r>
              <a:rPr lang="en-US" altLang="zh-CN" sz="2200" b="1" dirty="0"/>
              <a:t>T1</a:t>
            </a:r>
            <a:r>
              <a:rPr lang="zh-CN" altLang="en-US" sz="2200" b="1" dirty="0"/>
              <a:t>的集电极电流变化，经二极管</a:t>
            </a:r>
            <a:r>
              <a:rPr lang="en-US" altLang="zh-CN" sz="2200" b="1" dirty="0"/>
              <a:t>D2 </a:t>
            </a:r>
            <a:r>
              <a:rPr lang="zh-CN" altLang="en-US" sz="2200" b="1" dirty="0"/>
              <a:t>引起电容器</a:t>
            </a:r>
            <a:r>
              <a:rPr lang="en-US" altLang="zh-CN" sz="2200" b="1" dirty="0"/>
              <a:t>C </a:t>
            </a:r>
            <a:r>
              <a:rPr lang="zh-CN" altLang="en-US" sz="2200" b="1" dirty="0"/>
              <a:t>充电电流的变化，改变了充电速度，从而使单结晶体管的输出脉冲产生相移，改变晶闸管</a:t>
            </a:r>
            <a:r>
              <a:rPr lang="en-US" altLang="zh-CN" sz="2200" b="1" dirty="0"/>
              <a:t>Ds</a:t>
            </a:r>
            <a:r>
              <a:rPr lang="zh-CN" altLang="en-US" sz="2200" b="1" dirty="0"/>
              <a:t>的导通角；</a:t>
            </a:r>
            <a:endParaRPr lang="en-US" altLang="zh-CN" sz="2200" b="1" dirty="0"/>
          </a:p>
          <a:p>
            <a:pPr marL="342900" indent="-342900" eaLnBrk="1" hangingPunct="1">
              <a:spcBef>
                <a:spcPts val="600"/>
              </a:spcBef>
              <a:buFont typeface="Arial" panose="020B0604020202020204" pitchFamily="34" charset="0"/>
              <a:buChar char="•"/>
            </a:pPr>
            <a:r>
              <a:rPr lang="zh-CN" altLang="en-US" sz="2200" b="1" dirty="0"/>
              <a:t>由此</a:t>
            </a:r>
            <a:r>
              <a:rPr lang="zh-CN" altLang="en-US" sz="2200" b="1" dirty="0">
                <a:solidFill>
                  <a:srgbClr val="00B0F0"/>
                </a:solidFill>
              </a:rPr>
              <a:t>调节电热丝中的加热电流</a:t>
            </a:r>
            <a:r>
              <a:rPr lang="zh-CN" altLang="en-US" sz="2200" b="1" dirty="0"/>
              <a:t>，达到自动控制温度的目的。</a:t>
            </a:r>
          </a:p>
        </p:txBody>
      </p:sp>
    </p:spTree>
    <p:extLst>
      <p:ext uri="{BB962C8B-B14F-4D97-AF65-F5344CB8AC3E}">
        <p14:creationId xmlns:p14="http://schemas.microsoft.com/office/powerpoint/2010/main" val="9895104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8</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619949" y="1441190"/>
            <a:ext cx="1307820" cy="523218"/>
          </a:xfrm>
          <a:prstGeom prst="rect">
            <a:avLst/>
          </a:prstGeom>
          <a:solidFill>
            <a:srgbClr val="FFC000"/>
          </a:solidFill>
        </p:spPr>
        <p:txBody>
          <a:bodyPr wrap="square" lIns="91438" tIns="45719" rIns="91438" bIns="45719">
            <a:spAutoFit/>
          </a:bodyPr>
          <a:lstStyle/>
          <a:p>
            <a:pPr>
              <a:spcBef>
                <a:spcPts val="670"/>
              </a:spcBef>
            </a:pPr>
            <a:r>
              <a:rPr lang="zh-CN" altLang="en-US" sz="2800" b="1" dirty="0">
                <a:latin typeface="Arial" panose="020B0604020202020204" pitchFamily="34" charset="0"/>
                <a:ea typeface="宋体" panose="02010600030101010101" pitchFamily="2" charset="-122"/>
                <a:cs typeface="Arial" panose="020B0604020202020204" pitchFamily="34" charset="0"/>
              </a:rPr>
              <a:t>热电阻</a:t>
            </a:r>
          </a:p>
        </p:txBody>
      </p:sp>
      <p:sp>
        <p:nvSpPr>
          <p:cNvPr id="24" name="矩形 23"/>
          <p:cNvSpPr/>
          <p:nvPr/>
        </p:nvSpPr>
        <p:spPr>
          <a:xfrm>
            <a:off x="1587548" y="1962300"/>
            <a:ext cx="4397379" cy="9207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热电阻的材料及工作原理</a:t>
            </a: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测量电路</a:t>
            </a:r>
          </a:p>
        </p:txBody>
      </p:sp>
      <p:sp>
        <p:nvSpPr>
          <p:cNvPr id="25" name="矩形 24"/>
          <p:cNvSpPr/>
          <p:nvPr/>
        </p:nvSpPr>
        <p:spPr>
          <a:xfrm>
            <a:off x="1630077" y="2878380"/>
            <a:ext cx="1297692" cy="523218"/>
          </a:xfrm>
          <a:prstGeom prst="rect">
            <a:avLst/>
          </a:prstGeom>
          <a:solidFill>
            <a:srgbClr val="92D050"/>
          </a:solidFill>
        </p:spPr>
        <p:txBody>
          <a:bodyPr wrap="square" lIns="91438" tIns="45719" rIns="91438" bIns="45719">
            <a:spAutoFit/>
          </a:bodyPr>
          <a:lstStyle/>
          <a:p>
            <a:pPr>
              <a:spcBef>
                <a:spcPts val="670"/>
              </a:spcBef>
            </a:pPr>
            <a:r>
              <a:rPr lang="zh-CN" altLang="en-US" sz="2800" b="1" dirty="0">
                <a:latin typeface="Arial" panose="020B0604020202020204" pitchFamily="34" charset="0"/>
                <a:ea typeface="宋体" panose="02010600030101010101" pitchFamily="2" charset="-122"/>
                <a:cs typeface="Arial" panose="020B0604020202020204" pitchFamily="34" charset="0"/>
              </a:rPr>
              <a:t>热电偶</a:t>
            </a:r>
          </a:p>
        </p:txBody>
      </p:sp>
      <p:sp>
        <p:nvSpPr>
          <p:cNvPr id="26" name="矩形 25"/>
          <p:cNvSpPr/>
          <p:nvPr/>
        </p:nvSpPr>
        <p:spPr>
          <a:xfrm>
            <a:off x="1597676" y="3399490"/>
            <a:ext cx="4397379" cy="13798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热电效应</a:t>
            </a: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热电偶基本定律</a:t>
            </a: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热电偶测温线路</a:t>
            </a:r>
          </a:p>
        </p:txBody>
      </p:sp>
      <p:sp>
        <p:nvSpPr>
          <p:cNvPr id="33" name="矩形 32"/>
          <p:cNvSpPr/>
          <p:nvPr/>
        </p:nvSpPr>
        <p:spPr>
          <a:xfrm>
            <a:off x="1630077" y="4779353"/>
            <a:ext cx="1663966" cy="523218"/>
          </a:xfrm>
          <a:prstGeom prst="rect">
            <a:avLst/>
          </a:prstGeom>
          <a:solidFill>
            <a:schemeClr val="accent2">
              <a:lumMod val="60000"/>
              <a:lumOff val="40000"/>
            </a:schemeClr>
          </a:solidFill>
        </p:spPr>
        <p:txBody>
          <a:bodyPr wrap="square" lIns="91438" tIns="45719" rIns="91438" bIns="45719">
            <a:spAutoFit/>
          </a:bodyPr>
          <a:lstStyle/>
          <a:p>
            <a:pPr>
              <a:spcBef>
                <a:spcPts val="670"/>
              </a:spcBef>
            </a:pPr>
            <a:r>
              <a:rPr lang="zh-CN" altLang="en-US" sz="2800" b="1" dirty="0">
                <a:latin typeface="Arial" panose="020B0604020202020204" pitchFamily="34" charset="0"/>
                <a:ea typeface="宋体" panose="02010600030101010101" pitchFamily="2" charset="-122"/>
                <a:cs typeface="Arial" panose="020B0604020202020204" pitchFamily="34" charset="0"/>
              </a:rPr>
              <a:t>热敏电阻</a:t>
            </a:r>
          </a:p>
        </p:txBody>
      </p:sp>
      <p:sp>
        <p:nvSpPr>
          <p:cNvPr id="34" name="矩形 33"/>
          <p:cNvSpPr/>
          <p:nvPr/>
        </p:nvSpPr>
        <p:spPr>
          <a:xfrm>
            <a:off x="1630077" y="5341060"/>
            <a:ext cx="4397379" cy="4616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热敏电阻的特性线性化</a:t>
            </a:r>
          </a:p>
        </p:txBody>
      </p:sp>
      <p:sp>
        <p:nvSpPr>
          <p:cNvPr id="2" name="Slide Number Placeholder 1">
            <a:extLst>
              <a:ext uri="{FF2B5EF4-FFF2-40B4-BE49-F238E27FC236}">
                <a16:creationId xmlns:a16="http://schemas.microsoft.com/office/drawing/2014/main" id="{8FE53D8D-6CD9-4C59-9A0B-18630FAFCD2F}"/>
              </a:ext>
            </a:extLst>
          </p:cNvPr>
          <p:cNvSpPr>
            <a:spLocks noGrp="1"/>
          </p:cNvSpPr>
          <p:nvPr>
            <p:ph type="sldNum" sz="quarter" idx="12"/>
          </p:nvPr>
        </p:nvSpPr>
        <p:spPr/>
        <p:txBody>
          <a:bodyPr/>
          <a:lstStyle/>
          <a:p>
            <a:fld id="{B53602B4-F12B-41CD-B648-531F86B2CC91}" type="slidenum">
              <a:rPr lang="zh-CN" altLang="en-US" smtClean="0"/>
              <a:t>50</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8</a:t>
            </a:r>
          </a:p>
        </p:txBody>
      </p:sp>
      <p:sp>
        <p:nvSpPr>
          <p:cNvPr id="2" name="Slide Number Placeholder 1">
            <a:extLst>
              <a:ext uri="{FF2B5EF4-FFF2-40B4-BE49-F238E27FC236}">
                <a16:creationId xmlns:a16="http://schemas.microsoft.com/office/drawing/2014/main" id="{97BA9FFF-EC10-4AA8-B112-CA0C631E990A}"/>
              </a:ext>
            </a:extLst>
          </p:cNvPr>
          <p:cNvSpPr>
            <a:spLocks noGrp="1"/>
          </p:cNvSpPr>
          <p:nvPr>
            <p:ph type="sldNum" sz="quarter" idx="12"/>
          </p:nvPr>
        </p:nvSpPr>
        <p:spPr/>
        <p:txBody>
          <a:bodyPr/>
          <a:lstStyle/>
          <a:p>
            <a:fld id="{B53602B4-F12B-41CD-B648-531F86B2CC91}" type="slidenum">
              <a:rPr lang="zh-CN" altLang="en-US" smtClean="0"/>
              <a:t>51</a:t>
            </a:fld>
            <a:endParaRPr lang="zh-CN" altLang="en-US"/>
          </a:p>
        </p:txBody>
      </p:sp>
      <p:sp>
        <p:nvSpPr>
          <p:cNvPr id="6" name="矩形 45">
            <a:extLst>
              <a:ext uri="{FF2B5EF4-FFF2-40B4-BE49-F238E27FC236}">
                <a16:creationId xmlns:a16="http://schemas.microsoft.com/office/drawing/2014/main" id="{F80A83BA-950F-4F91-882E-C92052C0D1B4}"/>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8" name="矩形 23">
            <a:extLst>
              <a:ext uri="{FF2B5EF4-FFF2-40B4-BE49-F238E27FC236}">
                <a16:creationId xmlns:a16="http://schemas.microsoft.com/office/drawing/2014/main" id="{DBC6FCFD-7270-468B-BDDC-8D76334B89EA}"/>
              </a:ext>
            </a:extLst>
          </p:cNvPr>
          <p:cNvSpPr/>
          <p:nvPr/>
        </p:nvSpPr>
        <p:spPr>
          <a:xfrm>
            <a:off x="1551129" y="1823299"/>
            <a:ext cx="7039451" cy="2409119"/>
          </a:xfrm>
          <a:prstGeom prst="rect">
            <a:avLst/>
          </a:prstGeom>
        </p:spPr>
        <p:txBody>
          <a:bodyPr wrap="square" lIns="68579" tIns="34289" rIns="68579" bIns="34289">
            <a:spAutoFit/>
          </a:bodyPr>
          <a:lstStyle/>
          <a:p>
            <a:pPr>
              <a:lnSpc>
                <a:spcPct val="150000"/>
              </a:lnSpc>
              <a:spcBef>
                <a:spcPts val="503"/>
              </a:spcBef>
            </a:pPr>
            <a:r>
              <a:rPr lang="zh-CN" altLang="en-US" sz="2400" b="1" dirty="0">
                <a:latin typeface="Arial" panose="020B0604020202020204" pitchFamily="34" charset="0"/>
                <a:ea typeface="宋体" panose="02010600030101010101" pitchFamily="2" charset="-122"/>
                <a:cs typeface="Arial" panose="020B0604020202020204" pitchFamily="34" charset="0"/>
              </a:rPr>
              <a:t>习题</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8.6 </a:t>
            </a: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8.7  </a:t>
            </a:r>
          </a:p>
          <a:p>
            <a:pPr marL="457200" indent="-457200">
              <a:lnSpc>
                <a:spcPct val="150000"/>
              </a:lnSpc>
              <a:spcBef>
                <a:spcPts val="503"/>
              </a:spcBef>
              <a:buFont typeface="+mj-lt"/>
              <a:buAutoNum type="arabicParenR"/>
            </a:pPr>
            <a:r>
              <a:rPr lang="en-US" altLang="zh-CN" sz="2400" b="1" dirty="0">
                <a:latin typeface="Arial" panose="020B0604020202020204" pitchFamily="34" charset="0"/>
                <a:ea typeface="宋体" panose="02010600030101010101" pitchFamily="2" charset="-122"/>
                <a:cs typeface="Arial" panose="020B0604020202020204" pitchFamily="34" charset="0"/>
              </a:rPr>
              <a:t>8.8</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297827161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5648</TotalTime>
  <Words>3329</Words>
  <Application>Microsoft Office PowerPoint</Application>
  <PresentationFormat>全屏显示(4:3)</PresentationFormat>
  <Paragraphs>460</Paragraphs>
  <Slides>51</Slides>
  <Notes>50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51</vt:i4>
      </vt:variant>
    </vt:vector>
  </HeadingPairs>
  <TitlesOfParts>
    <vt:vector size="66" baseType="lpstr">
      <vt:lpstr>等线</vt:lpstr>
      <vt:lpstr>等线 Light</vt:lpstr>
      <vt:lpstr>宋体</vt:lpstr>
      <vt:lpstr>微软雅黑</vt:lpstr>
      <vt:lpstr>Arial</vt:lpstr>
      <vt:lpstr>Cambria Math</vt:lpstr>
      <vt:lpstr>Courier New</vt:lpstr>
      <vt:lpstr>Times New Roman</vt:lpstr>
      <vt:lpstr>Wingdings</vt:lpstr>
      <vt:lpstr>Office 主题​​</vt:lpstr>
      <vt:lpstr>公式</vt:lpstr>
      <vt:lpstr>Flash 影片</vt:lpstr>
      <vt:lpstr>Equation</vt:lpstr>
      <vt:lpstr>Flash Movie</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176</cp:revision>
  <dcterms:created xsi:type="dcterms:W3CDTF">2020-09-26T11:04:00Z</dcterms:created>
  <dcterms:modified xsi:type="dcterms:W3CDTF">2026-05-07T00:23:45Z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