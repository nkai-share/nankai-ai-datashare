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63" r:id="rId6"/>
    <p:sldId id="264" r:id="rId7"/>
    <p:sldId id="259" r:id="rId8"/>
    <p:sldId id="260" r:id="rId9"/>
    <p:sldId id="279" r:id="rId10"/>
    <p:sldId id="265" r:id="rId11"/>
    <p:sldId id="261" r:id="rId12"/>
    <p:sldId id="280" r:id="rId13"/>
    <p:sldId id="284" r:id="rId14"/>
    <p:sldId id="285" r:id="rId15"/>
    <p:sldId id="269" r:id="rId16"/>
    <p:sldId id="270" r:id="rId17"/>
    <p:sldId id="274" r:id="rId18"/>
    <p:sldId id="268" r:id="rId19"/>
    <p:sldId id="281" r:id="rId20"/>
    <p:sldId id="273" r:id="rId21"/>
    <p:sldId id="271" r:id="rId22"/>
    <p:sldId id="275" r:id="rId23"/>
    <p:sldId id="272" r:id="rId24"/>
    <p:sldId id="278" r:id="rId25"/>
    <p:sldId id="282" r:id="rId26"/>
    <p:sldId id="283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66"/>
    <a:srgbClr val="33CC33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6"/>
    <p:restoredTop sz="90929"/>
  </p:normalViewPr>
  <p:slideViewPr>
    <p:cSldViewPr showGuides="1">
      <p:cViewPr varScale="1">
        <p:scale>
          <a:sx n="61" d="100"/>
          <a:sy n="61" d="100"/>
        </p:scale>
        <p:origin x="2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12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16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6.wmf"/><Relationship Id="rId1" Type="http://schemas.openxmlformats.org/officeDocument/2006/relationships/image" Target="../media/image19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23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png"/><Relationship Id="rId1" Type="http://schemas.openxmlformats.org/officeDocument/2006/relationships/image" Target="../media/image3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D7AF8D-D630-416E-8A8B-67E2F52CF28E}" type="slidenum">
              <a:rPr kumimoji="1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A3BFB-519D-40E1-9C36-3A2EE6D622CA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hyperlink" Target="&#23553;&#39029;1.ppt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slide" Target="slide22.xml"/><Relationship Id="rId7" Type="http://schemas.openxmlformats.org/officeDocument/2006/relationships/oleObject" Target="../embeddings/oleObject3.bin"/><Relationship Id="rId6" Type="http://schemas.openxmlformats.org/officeDocument/2006/relationships/slide" Target="slide17.xml"/><Relationship Id="rId5" Type="http://schemas.openxmlformats.org/officeDocument/2006/relationships/oleObject" Target="../embeddings/oleObject2.bin"/><Relationship Id="rId4" Type="http://schemas.openxmlformats.org/officeDocument/2006/relationships/slide" Target="slide10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oleObject" Target="../embeddings/oleObject9.bin"/><Relationship Id="rId7" Type="http://schemas.openxmlformats.org/officeDocument/2006/relationships/image" Target="../media/image6.w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7.bin"/><Relationship Id="rId3" Type="http://schemas.openxmlformats.org/officeDocument/2006/relationships/oleObject" Target="../embeddings/oleObject6.bin"/><Relationship Id="rId2" Type="http://schemas.openxmlformats.org/officeDocument/2006/relationships/image" Target="../media/image4.png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oleObject" Target="../embeddings/oleObject16.bin"/><Relationship Id="rId7" Type="http://schemas.openxmlformats.org/officeDocument/2006/relationships/oleObject" Target="../embeddings/oleObject15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Relationship Id="rId3" Type="http://schemas.openxmlformats.org/officeDocument/2006/relationships/oleObject" Target="../embeddings/oleObject12.bin"/><Relationship Id="rId2" Type="http://schemas.openxmlformats.org/officeDocument/2006/relationships/image" Target="../media/image4.png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oleObject" Target="../embeddings/oleObject18.bin"/><Relationship Id="rId1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7.xml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.png"/><Relationship Id="rId3" Type="http://schemas.openxmlformats.org/officeDocument/2006/relationships/oleObject" Target="../embeddings/oleObject20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oleObject" Target="../embeddings/oleObject23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1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16.png"/><Relationship Id="rId1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19.png"/><Relationship Id="rId1" Type="http://schemas.openxmlformats.org/officeDocument/2006/relationships/oleObject" Target="../embeddings/oleObject37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oleObject" Target="../embeddings/oleObject41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23.png"/><Relationship Id="rId1" Type="http://schemas.openxmlformats.org/officeDocument/2006/relationships/oleObject" Target="../embeddings/oleObject42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oleObject" Target="../embeddings/oleObject44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oleObject" Target="../embeddings/oleObject47.bin"/><Relationship Id="rId2" Type="http://schemas.openxmlformats.org/officeDocument/2006/relationships/image" Target="../media/image26.png"/><Relationship Id="rId1" Type="http://schemas.openxmlformats.org/officeDocument/2006/relationships/oleObject" Target="../embeddings/oleObject46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oleObject" Target="../embeddings/oleObject49.bin"/><Relationship Id="rId2" Type="http://schemas.openxmlformats.org/officeDocument/2006/relationships/image" Target="../media/image28.png"/><Relationship Id="rId1" Type="http://schemas.openxmlformats.org/officeDocument/2006/relationships/oleObject" Target="../embeddings/oleObject48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3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31.png"/><Relationship Id="rId3" Type="http://schemas.openxmlformats.org/officeDocument/2006/relationships/oleObject" Target="../embeddings/oleObject51.bin"/><Relationship Id="rId2" Type="http://schemas.openxmlformats.org/officeDocument/2006/relationships/image" Target="../media/image30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5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Text Box 4"/>
          <p:cNvSpPr txBox="1"/>
          <p:nvPr/>
        </p:nvSpPr>
        <p:spPr>
          <a:xfrm>
            <a:off x="381000" y="2362200"/>
            <a:ext cx="20351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触发器特点：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3" name="Text Box 5"/>
          <p:cNvSpPr txBox="1"/>
          <p:nvPr/>
        </p:nvSpPr>
        <p:spPr>
          <a:xfrm>
            <a:off x="381000" y="41148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触发器分类：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457200" y="5586413"/>
            <a:ext cx="1828800" cy="528637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本章重点：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057" name="Text Box 9"/>
          <p:cNvSpPr txBox="1"/>
          <p:nvPr/>
        </p:nvSpPr>
        <p:spPr>
          <a:xfrm>
            <a:off x="2286000" y="5638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触发器外部逻辑功能、触发方式。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8" name="Text Box 10"/>
          <p:cNvSpPr txBox="1"/>
          <p:nvPr/>
        </p:nvSpPr>
        <p:spPr>
          <a:xfrm>
            <a:off x="1600200" y="1828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能够存储一位二进制信息的基本单元。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59" name="Text Box 11"/>
          <p:cNvSpPr txBox="1"/>
          <p:nvPr/>
        </p:nvSpPr>
        <p:spPr>
          <a:xfrm>
            <a:off x="457200" y="2819400"/>
            <a:ext cx="8467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</a:rPr>
              <a:t>有两个能够保持的稳定状态，分别用来表示逻辑</a:t>
            </a:r>
            <a:r>
              <a:rPr lang="en-US" altLang="zh-CN" dirty="0">
                <a:latin typeface="宋体" panose="02010600030101010101" pitchFamily="2" charset="-122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和逻辑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60" name="Text Box 12"/>
          <p:cNvSpPr txBox="1"/>
          <p:nvPr/>
        </p:nvSpPr>
        <p:spPr>
          <a:xfrm>
            <a:off x="495300" y="3200400"/>
            <a:ext cx="86487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2. </a:t>
            </a:r>
            <a:r>
              <a:rPr lang="zh-CN" altLang="en-US" dirty="0">
                <a:latin typeface="宋体" panose="02010600030101010101" pitchFamily="2" charset="-122"/>
              </a:rPr>
              <a:t>在适当输入信号作用下，可从一种状态翻转到另一种状态；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   在输入信号取消后，能将获得的新状态保存下来。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1" name="Text Box 13"/>
          <p:cNvSpPr txBox="1"/>
          <p:nvPr/>
        </p:nvSpPr>
        <p:spPr>
          <a:xfrm>
            <a:off x="457200" y="4572000"/>
            <a:ext cx="84867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按</a:t>
            </a:r>
            <a:r>
              <a:rPr lang="zh-CN" altLang="en-US" dirty="0">
                <a:solidFill>
                  <a:srgbClr val="CC3300"/>
                </a:solidFill>
                <a:latin typeface="宋体" panose="02010600030101010101" pitchFamily="2" charset="-122"/>
              </a:rPr>
              <a:t>触发方式</a:t>
            </a:r>
            <a:r>
              <a:rPr lang="zh-CN" altLang="en-US" dirty="0">
                <a:latin typeface="宋体" panose="02010600030101010101" pitchFamily="2" charset="-122"/>
              </a:rPr>
              <a:t>分：电位触发方式、主从触发方式及边沿触发方式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63" name="Text Box 15"/>
          <p:cNvSpPr txBox="1"/>
          <p:nvPr/>
        </p:nvSpPr>
        <p:spPr>
          <a:xfrm>
            <a:off x="457200" y="5029200"/>
            <a:ext cx="8147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按</a:t>
            </a:r>
            <a:r>
              <a:rPr lang="zh-CN" altLang="en-US" dirty="0">
                <a:solidFill>
                  <a:srgbClr val="CC3300"/>
                </a:solidFill>
                <a:latin typeface="宋体" panose="02010600030101010101" pitchFamily="2" charset="-122"/>
              </a:rPr>
              <a:t>逻辑功能</a:t>
            </a:r>
            <a:r>
              <a:rPr lang="zh-CN" altLang="en-US" dirty="0">
                <a:latin typeface="宋体" panose="02010600030101010101" pitchFamily="2" charset="-122"/>
              </a:rPr>
              <a:t>分：</a:t>
            </a:r>
            <a:r>
              <a:rPr lang="en-US" altLang="zh-CN" dirty="0">
                <a:latin typeface="宋体" panose="02010600030101010101" pitchFamily="2" charset="-122"/>
              </a:rPr>
              <a:t>R-S</a:t>
            </a:r>
            <a:r>
              <a:rPr lang="zh-CN" altLang="en-US" dirty="0">
                <a:latin typeface="宋体" panose="02010600030101010101" pitchFamily="2" charset="-122"/>
              </a:rPr>
              <a:t>触发器、</a:t>
            </a:r>
            <a:r>
              <a:rPr lang="en-US" altLang="zh-CN" dirty="0">
                <a:latin typeface="宋体" panose="02010600030101010101" pitchFamily="2" charset="-122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触发器、</a:t>
            </a:r>
            <a:r>
              <a:rPr lang="en-US" altLang="zh-CN" dirty="0">
                <a:latin typeface="宋体" panose="02010600030101010101" pitchFamily="2" charset="-122"/>
              </a:rPr>
              <a:t>J-K</a:t>
            </a:r>
            <a:r>
              <a:rPr lang="zh-CN" altLang="en-US" dirty="0">
                <a:latin typeface="宋体" panose="02010600030101010101" pitchFamily="2" charset="-122"/>
              </a:rPr>
              <a:t>触发器和</a:t>
            </a:r>
            <a:r>
              <a:rPr lang="en-US" altLang="zh-CN" dirty="0">
                <a:latin typeface="宋体" panose="02010600030101010101" pitchFamily="2" charset="-122"/>
              </a:rPr>
              <a:t>T</a:t>
            </a:r>
            <a:r>
              <a:rPr lang="zh-CN" altLang="en-US" dirty="0">
                <a:latin typeface="宋体" panose="02010600030101010101" pitchFamily="2" charset="-122"/>
              </a:rPr>
              <a:t>触发器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64" name="Text Box 16"/>
          <p:cNvSpPr txBox="1"/>
          <p:nvPr/>
        </p:nvSpPr>
        <p:spPr>
          <a:xfrm>
            <a:off x="381000" y="12954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组合电路：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5" name="Text Box 17"/>
          <p:cNvSpPr txBox="1"/>
          <p:nvPr/>
        </p:nvSpPr>
        <p:spPr>
          <a:xfrm>
            <a:off x="1828800" y="1295400"/>
            <a:ext cx="197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不含记忆元件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6" name="Text Box 18"/>
          <p:cNvSpPr txBox="1"/>
          <p:nvPr/>
        </p:nvSpPr>
        <p:spPr>
          <a:xfrm>
            <a:off x="3657600" y="1295400"/>
            <a:ext cx="137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、无反馈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7" name="Text Box 19"/>
          <p:cNvSpPr txBox="1"/>
          <p:nvPr/>
        </p:nvSpPr>
        <p:spPr>
          <a:xfrm>
            <a:off x="4953000" y="1295400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、输出与原来状态无关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7" name="Rectangle 21"/>
          <p:cNvSpPr/>
          <p:nvPr/>
        </p:nvSpPr>
        <p:spPr>
          <a:xfrm>
            <a:off x="2743200" y="228600"/>
            <a:ext cx="4038600" cy="685800"/>
          </a:xfrm>
          <a:prstGeom prst="rect">
            <a:avLst/>
          </a:prstGeom>
          <a:solidFill>
            <a:srgbClr val="FFFF00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 anchorCtr="0">
            <a:flatTx/>
          </a:bodyPr>
          <a:p>
            <a:pPr algn="ctr" eaLnBrk="1" hangingPunct="1"/>
            <a:r>
              <a:rPr lang="zh-CN" altLang="en-US" sz="36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第四章 触发器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71" name="Text Box 23"/>
          <p:cNvSpPr txBox="1"/>
          <p:nvPr/>
        </p:nvSpPr>
        <p:spPr>
          <a:xfrm>
            <a:off x="323850" y="1844675"/>
            <a:ext cx="1368425" cy="37465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触发器：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pic>
        <p:nvPicPr>
          <p:cNvPr id="3089" name="Picture 24" descr="MEETI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5486400"/>
            <a:ext cx="2286000" cy="137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animBg="1"/>
      <p:bldP spid="2053" grpId="0"/>
      <p:bldP spid="2054" grpId="0" animBg="1"/>
      <p:bldP spid="2057" grpId="0"/>
      <p:bldP spid="2058" grpId="0"/>
      <p:bldP spid="2059" grpId="0"/>
      <p:bldP spid="2060" grpId="0"/>
      <p:bldP spid="2061" grpId="0"/>
      <p:bldP spid="2063" grpId="0"/>
      <p:bldP spid="2064" grpId="0"/>
      <p:bldP spid="2065" grpId="0"/>
      <p:bldP spid="2066" grpId="0"/>
      <p:bldP spid="2067" grpId="0"/>
      <p:bldP spid="207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3"/>
          <p:cNvSpPr txBox="1"/>
          <p:nvPr/>
        </p:nvSpPr>
        <p:spPr>
          <a:xfrm>
            <a:off x="2667000" y="328613"/>
            <a:ext cx="4124325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dirty="0">
                <a:latin typeface="隶书" panose="02010509060101010101" pitchFamily="49" charset="-122"/>
                <a:ea typeface="隶书" panose="02010509060101010101" pitchFamily="49" charset="-122"/>
              </a:rPr>
              <a:t>第四章  触发器</a:t>
            </a:r>
            <a:endParaRPr lang="zh-CN" altLang="en-US" sz="44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99" name="Text Box 2"/>
          <p:cNvSpPr txBox="1"/>
          <p:nvPr/>
        </p:nvSpPr>
        <p:spPr>
          <a:xfrm>
            <a:off x="1066800" y="1600200"/>
            <a:ext cx="2911475" cy="60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Aft>
                <a:spcPts val="12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第一节  </a:t>
            </a:r>
            <a:r>
              <a:rPr lang="en-US" altLang="zh-CN" dirty="0">
                <a:latin typeface="宋体" panose="02010600030101010101" pitchFamily="2" charset="-122"/>
              </a:rPr>
              <a:t>R-S</a:t>
            </a:r>
            <a:r>
              <a:rPr lang="zh-CN" altLang="en-US" dirty="0">
                <a:latin typeface="宋体" panose="02010600030101010101" pitchFamily="2" charset="-122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Text Box 4"/>
          <p:cNvSpPr txBox="1"/>
          <p:nvPr/>
        </p:nvSpPr>
        <p:spPr>
          <a:xfrm>
            <a:off x="1066800" y="2209800"/>
            <a:ext cx="2959100" cy="533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第二节  主从触发器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/>
          <p:cNvSpPr txBox="1"/>
          <p:nvPr/>
        </p:nvSpPr>
        <p:spPr>
          <a:xfrm>
            <a:off x="1066800" y="2743200"/>
            <a:ext cx="3111500" cy="6096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第三节 边沿型触发器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1066800" y="3429000"/>
            <a:ext cx="4327525" cy="6096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Aft>
                <a:spcPts val="1200"/>
              </a:spcAft>
            </a:pPr>
            <a:r>
              <a:rPr lang="zh-CN" altLang="en-US" dirty="0">
                <a:latin typeface="Times New Roman" panose="02020603050405020304" pitchFamily="18" charset="0"/>
              </a:rPr>
              <a:t>第四节  触发器逻辑功能的转换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03" name="Object 8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533400" y="1676400"/>
          <a:ext cx="44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882650" imgH="704850" progId="MS_ClipArt_Gallery.2">
                  <p:embed/>
                </p:oleObj>
              </mc:Choice>
              <mc:Fallback>
                <p:oleObj name="" r:id="rId2" imgW="882650" imgH="704850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1676400"/>
                        <a:ext cx="441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9">
            <a:hlinkClick r:id="rId4" action="ppaction://hlinksldjump"/>
          </p:cNvPr>
          <p:cNvGraphicFramePr>
            <a:graphicFrameLocks noChangeAspect="1"/>
          </p:cNvGraphicFramePr>
          <p:nvPr/>
        </p:nvGraphicFramePr>
        <p:xfrm>
          <a:off x="533400" y="2286000"/>
          <a:ext cx="44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882650" imgH="704850" progId="MS_ClipArt_Gallery.2">
                  <p:embed/>
                </p:oleObj>
              </mc:Choice>
              <mc:Fallback>
                <p:oleObj name="" r:id="rId5" imgW="882650" imgH="70485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2286000"/>
                        <a:ext cx="441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10">
            <a:hlinkClick r:id="rId6" action="ppaction://hlinksldjump"/>
          </p:cNvPr>
          <p:cNvGraphicFramePr>
            <a:graphicFrameLocks noChangeAspect="1"/>
          </p:cNvGraphicFramePr>
          <p:nvPr/>
        </p:nvGraphicFramePr>
        <p:xfrm>
          <a:off x="533400" y="2895600"/>
          <a:ext cx="44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882650" imgH="704850" progId="MS_ClipArt_Gallery.2">
                  <p:embed/>
                </p:oleObj>
              </mc:Choice>
              <mc:Fallback>
                <p:oleObj name="" r:id="rId7" imgW="882650" imgH="70485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2895600"/>
                        <a:ext cx="441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1">
            <a:hlinkClick r:id="rId8" action="ppaction://hlinksldjump"/>
          </p:cNvPr>
          <p:cNvGraphicFramePr>
            <a:graphicFrameLocks noChangeAspect="1"/>
          </p:cNvGraphicFramePr>
          <p:nvPr/>
        </p:nvGraphicFramePr>
        <p:xfrm>
          <a:off x="533400" y="3505200"/>
          <a:ext cx="44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882650" imgH="704850" progId="MS_ClipArt_Gallery.2">
                  <p:embed/>
                </p:oleObj>
              </mc:Choice>
              <mc:Fallback>
                <p:oleObj name="" r:id="rId9" imgW="882650" imgH="704850" progId="MS_ClipArt_Gallery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3505200"/>
                        <a:ext cx="441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2514600" y="71438"/>
            <a:ext cx="4089400" cy="7937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Aft>
                <a:spcPts val="1200"/>
              </a:spcAft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第一节  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R-S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触发器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791200" y="4038600"/>
          <a:ext cx="2667000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781175" imgH="1552575" progId="Paint.Picture">
                  <p:embed/>
                </p:oleObj>
              </mc:Choice>
              <mc:Fallback>
                <p:oleObj name="" r:id="rId1" imgW="1781175" imgH="155257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91200" y="4038600"/>
                        <a:ext cx="2667000" cy="239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1752600" y="4114800"/>
          <a:ext cx="2667000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781175" imgH="1552575" progId="Paint.Picture">
                  <p:embed/>
                </p:oleObj>
              </mc:Choice>
              <mc:Fallback>
                <p:oleObj name="" r:id="rId3" imgW="1781175" imgH="1552575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4114800"/>
                        <a:ext cx="2667000" cy="239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5" name="Group 39"/>
          <p:cNvGrpSpPr/>
          <p:nvPr/>
        </p:nvGrpSpPr>
        <p:grpSpPr>
          <a:xfrm>
            <a:off x="6316663" y="6019800"/>
            <a:ext cx="2378075" cy="406400"/>
            <a:chOff x="3888" y="3792"/>
            <a:chExt cx="1498" cy="256"/>
          </a:xfrm>
        </p:grpSpPr>
        <p:sp>
          <p:nvSpPr>
            <p:cNvPr id="5163" name="Text Box 11"/>
            <p:cNvSpPr txBox="1"/>
            <p:nvPr/>
          </p:nvSpPr>
          <p:spPr>
            <a:xfrm>
              <a:off x="3888" y="3792"/>
              <a:ext cx="202" cy="256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64" name="Text Box 12"/>
            <p:cNvSpPr txBox="1"/>
            <p:nvPr/>
          </p:nvSpPr>
          <p:spPr>
            <a:xfrm>
              <a:off x="5184" y="3792"/>
              <a:ext cx="202" cy="256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09" name="Text Box 13"/>
          <p:cNvSpPr txBox="1"/>
          <p:nvPr/>
        </p:nvSpPr>
        <p:spPr>
          <a:xfrm>
            <a:off x="8061325" y="40386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110" name="Text Box 14"/>
          <p:cNvSpPr txBox="1"/>
          <p:nvPr/>
        </p:nvSpPr>
        <p:spPr>
          <a:xfrm>
            <a:off x="6461125" y="40386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4136" name="Group 40"/>
          <p:cNvGrpSpPr/>
          <p:nvPr/>
        </p:nvGrpSpPr>
        <p:grpSpPr>
          <a:xfrm>
            <a:off x="2278063" y="6096000"/>
            <a:ext cx="2378075" cy="406400"/>
            <a:chOff x="1344" y="3840"/>
            <a:chExt cx="1498" cy="256"/>
          </a:xfrm>
        </p:grpSpPr>
        <p:sp>
          <p:nvSpPr>
            <p:cNvPr id="5161" name="Text Box 15"/>
            <p:cNvSpPr txBox="1"/>
            <p:nvPr/>
          </p:nvSpPr>
          <p:spPr>
            <a:xfrm>
              <a:off x="1344" y="3840"/>
              <a:ext cx="202" cy="256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62" name="Text Box 16"/>
            <p:cNvSpPr txBox="1"/>
            <p:nvPr/>
          </p:nvSpPr>
          <p:spPr>
            <a:xfrm>
              <a:off x="2640" y="3840"/>
              <a:ext cx="202" cy="256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3" name="Text Box 17"/>
          <p:cNvSpPr txBox="1"/>
          <p:nvPr/>
        </p:nvSpPr>
        <p:spPr>
          <a:xfrm>
            <a:off x="4030663" y="41148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4" name="Text Box 18"/>
          <p:cNvSpPr txBox="1"/>
          <p:nvPr/>
        </p:nvSpPr>
        <p:spPr>
          <a:xfrm>
            <a:off x="2422525" y="41148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131" name="Text Box 19"/>
          <p:cNvSpPr txBox="1"/>
          <p:nvPr/>
        </p:nvSpPr>
        <p:spPr>
          <a:xfrm>
            <a:off x="228600" y="762000"/>
            <a:ext cx="3238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一、电路图与逻辑符号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16" name="Object 20"/>
          <p:cNvGraphicFramePr>
            <a:graphicFrameLocks noChangeAspect="1"/>
          </p:cNvGraphicFramePr>
          <p:nvPr/>
        </p:nvGraphicFramePr>
        <p:xfrm>
          <a:off x="6400800" y="838200"/>
          <a:ext cx="220980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4" imgW="1476375" imgH="1466850" progId="Paint.Picture">
                  <p:embed/>
                </p:oleObj>
              </mc:Choice>
              <mc:Fallback>
                <p:oleObj name="" r:id="rId4" imgW="1476375" imgH="1466850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0800" y="838200"/>
                        <a:ext cx="2209800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8" name="Text Box 22"/>
          <p:cNvSpPr txBox="1"/>
          <p:nvPr/>
        </p:nvSpPr>
        <p:spPr>
          <a:xfrm>
            <a:off x="228600" y="1752600"/>
            <a:ext cx="6350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）由两个“与非”门构成的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触发器电路图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138" name="Group 42"/>
          <p:cNvGrpSpPr/>
          <p:nvPr/>
        </p:nvGrpSpPr>
        <p:grpSpPr>
          <a:xfrm>
            <a:off x="2209800" y="3276600"/>
            <a:ext cx="4243388" cy="533400"/>
            <a:chOff x="1392" y="2064"/>
            <a:chExt cx="2673" cy="336"/>
          </a:xfrm>
        </p:grpSpPr>
        <p:graphicFrame>
          <p:nvGraphicFramePr>
            <p:cNvPr id="5158" name="Object 27"/>
            <p:cNvGraphicFramePr>
              <a:graphicFrameLocks noChangeAspect="1"/>
            </p:cNvGraphicFramePr>
            <p:nvPr/>
          </p:nvGraphicFramePr>
          <p:xfrm>
            <a:off x="3456" y="2064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6" imgW="190500" imgH="241300" progId="Equation.3">
                    <p:embed/>
                  </p:oleObj>
                </mc:Choice>
                <mc:Fallback>
                  <p:oleObj name="" r:id="rId6" imgW="190500" imgH="2413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56" y="2064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Text Box 28"/>
            <p:cNvSpPr txBox="1"/>
            <p:nvPr/>
          </p:nvSpPr>
          <p:spPr>
            <a:xfrm>
              <a:off x="1392" y="2064"/>
              <a:ext cx="21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  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Q=0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60" name="Text Box 29"/>
            <p:cNvSpPr txBox="1"/>
            <p:nvPr/>
          </p:nvSpPr>
          <p:spPr>
            <a:xfrm>
              <a:off x="3744" y="2112"/>
              <a:ext cx="3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27" name="Text Box 31"/>
          <p:cNvSpPr txBox="1"/>
          <p:nvPr/>
        </p:nvSpPr>
        <p:spPr>
          <a:xfrm>
            <a:off x="228600" y="2743200"/>
            <a:ext cx="234315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两个稳定状态：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137" name="Group 41"/>
          <p:cNvGrpSpPr/>
          <p:nvPr/>
        </p:nvGrpSpPr>
        <p:grpSpPr>
          <a:xfrm>
            <a:off x="2514600" y="2743200"/>
            <a:ext cx="3938588" cy="533400"/>
            <a:chOff x="1584" y="1728"/>
            <a:chExt cx="2481" cy="336"/>
          </a:xfrm>
        </p:grpSpPr>
        <p:graphicFrame>
          <p:nvGraphicFramePr>
            <p:cNvPr id="5155" name="Object 24"/>
            <p:cNvGraphicFramePr>
              <a:graphicFrameLocks noChangeAspect="1"/>
            </p:cNvGraphicFramePr>
            <p:nvPr/>
          </p:nvGraphicFramePr>
          <p:xfrm>
            <a:off x="3456" y="1728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8" imgW="190500" imgH="241300" progId="Equation.3">
                    <p:embed/>
                  </p:oleObj>
                </mc:Choice>
                <mc:Fallback>
                  <p:oleObj name="" r:id="rId8" imgW="190500" imgH="2413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56" y="1728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6" name="Text Box 25"/>
            <p:cNvSpPr txBox="1"/>
            <p:nvPr/>
          </p:nvSpPr>
          <p:spPr>
            <a:xfrm>
              <a:off x="1584" y="1728"/>
              <a:ext cx="19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Q=1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57" name="Text Box 26"/>
            <p:cNvSpPr txBox="1"/>
            <p:nvPr/>
          </p:nvSpPr>
          <p:spPr>
            <a:xfrm>
              <a:off x="3744" y="1776"/>
              <a:ext cx="3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137" name="Text Box 32"/>
          <p:cNvSpPr txBox="1"/>
          <p:nvPr/>
        </p:nvSpPr>
        <p:spPr>
          <a:xfrm>
            <a:off x="5638800" y="27432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4129" name="Text Box 33"/>
          <p:cNvSpPr txBox="1"/>
          <p:nvPr/>
        </p:nvSpPr>
        <p:spPr>
          <a:xfrm>
            <a:off x="762000" y="2209800"/>
            <a:ext cx="19859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baseline="-25000" dirty="0">
                <a:latin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输入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143" name="Group 47"/>
          <p:cNvGrpSpPr/>
          <p:nvPr/>
        </p:nvGrpSpPr>
        <p:grpSpPr>
          <a:xfrm>
            <a:off x="6477000" y="4648200"/>
            <a:ext cx="1371600" cy="990600"/>
            <a:chOff x="4080" y="2928"/>
            <a:chExt cx="864" cy="624"/>
          </a:xfrm>
        </p:grpSpPr>
        <p:sp>
          <p:nvSpPr>
            <p:cNvPr id="5151" name="Line 43"/>
            <p:cNvSpPr/>
            <p:nvPr/>
          </p:nvSpPr>
          <p:spPr>
            <a:xfrm flipH="1">
              <a:off x="4656" y="2928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2" name="Line 44"/>
            <p:cNvSpPr/>
            <p:nvPr/>
          </p:nvSpPr>
          <p:spPr>
            <a:xfrm flipH="1">
              <a:off x="4272" y="2928"/>
              <a:ext cx="384" cy="624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3" name="Line 45"/>
            <p:cNvSpPr/>
            <p:nvPr/>
          </p:nvSpPr>
          <p:spPr>
            <a:xfrm flipH="1">
              <a:off x="4080" y="3552"/>
              <a:ext cx="192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4" name="Line 46"/>
            <p:cNvSpPr/>
            <p:nvPr/>
          </p:nvSpPr>
          <p:spPr>
            <a:xfrm>
              <a:off x="4080" y="3408"/>
              <a:ext cx="48" cy="144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49" name="Group 53"/>
          <p:cNvGrpSpPr/>
          <p:nvPr/>
        </p:nvGrpSpPr>
        <p:grpSpPr>
          <a:xfrm>
            <a:off x="6324600" y="4648200"/>
            <a:ext cx="1371600" cy="990600"/>
            <a:chOff x="3984" y="2928"/>
            <a:chExt cx="864" cy="624"/>
          </a:xfrm>
        </p:grpSpPr>
        <p:sp>
          <p:nvSpPr>
            <p:cNvPr id="5147" name="Line 48"/>
            <p:cNvSpPr/>
            <p:nvPr/>
          </p:nvSpPr>
          <p:spPr>
            <a:xfrm>
              <a:off x="3984" y="2928"/>
              <a:ext cx="288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8" name="Line 50"/>
            <p:cNvSpPr/>
            <p:nvPr/>
          </p:nvSpPr>
          <p:spPr>
            <a:xfrm>
              <a:off x="4320" y="2928"/>
              <a:ext cx="288" cy="624"/>
            </a:xfrm>
            <a:prstGeom prst="line">
              <a:avLst/>
            </a:prstGeom>
            <a:ln w="41275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9" name="Line 51"/>
            <p:cNvSpPr/>
            <p:nvPr/>
          </p:nvSpPr>
          <p:spPr>
            <a:xfrm>
              <a:off x="4656" y="3552"/>
              <a:ext cx="192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0" name="Line 52"/>
            <p:cNvSpPr/>
            <p:nvPr/>
          </p:nvSpPr>
          <p:spPr>
            <a:xfrm>
              <a:off x="4848" y="3408"/>
              <a:ext cx="0" cy="144"/>
            </a:xfrm>
            <a:prstGeom prst="line">
              <a:avLst/>
            </a:prstGeom>
            <a:ln w="4127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50" name="AutoShape 54"/>
          <p:cNvSpPr/>
          <p:nvPr/>
        </p:nvSpPr>
        <p:spPr>
          <a:xfrm>
            <a:off x="3422650" y="5508625"/>
            <a:ext cx="1752600" cy="892175"/>
          </a:xfrm>
          <a:prstGeom prst="wedgeRoundRectCallout">
            <a:avLst>
              <a:gd name="adj1" fmla="val 67329"/>
              <a:gd name="adj2" fmla="val -28116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输出不变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52" name="Text Box 56"/>
          <p:cNvSpPr txBox="1"/>
          <p:nvPr/>
        </p:nvSpPr>
        <p:spPr>
          <a:xfrm>
            <a:off x="196850" y="1295400"/>
            <a:ext cx="2165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154" name="Group 58"/>
          <p:cNvGrpSpPr/>
          <p:nvPr/>
        </p:nvGrpSpPr>
        <p:grpSpPr>
          <a:xfrm>
            <a:off x="2819400" y="2133600"/>
            <a:ext cx="2397125" cy="568325"/>
            <a:chOff x="1776" y="1344"/>
            <a:chExt cx="1510" cy="358"/>
          </a:xfrm>
        </p:grpSpPr>
        <p:graphicFrame>
          <p:nvGraphicFramePr>
            <p:cNvPr id="5144" name="Object 30"/>
            <p:cNvGraphicFramePr>
              <a:graphicFrameLocks noChangeAspect="1"/>
            </p:cNvGraphicFramePr>
            <p:nvPr/>
          </p:nvGraphicFramePr>
          <p:xfrm>
            <a:off x="2256" y="1366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190500" imgH="241300" progId="Equation.3">
                    <p:embed/>
                  </p:oleObj>
                </mc:Choice>
                <mc:Fallback>
                  <p:oleObj name="" r:id="rId9" imgW="190500" imgH="2413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56" y="1366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5" name="Text Box 35"/>
            <p:cNvSpPr txBox="1"/>
            <p:nvPr/>
          </p:nvSpPr>
          <p:spPr>
            <a:xfrm>
              <a:off x="1776" y="1366"/>
              <a:ext cx="6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；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46" name="Text Box 57"/>
            <p:cNvSpPr txBox="1"/>
            <p:nvPr/>
          </p:nvSpPr>
          <p:spPr>
            <a:xfrm>
              <a:off x="2592" y="1344"/>
              <a:ext cx="6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：输出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9" grpId="0" animBg="1"/>
      <p:bldP spid="4110" grpId="0" animBg="1"/>
      <p:bldP spid="4113" grpId="0" animBg="1"/>
      <p:bldP spid="4114" grpId="0" animBg="1"/>
      <p:bldP spid="4118" grpId="0"/>
      <p:bldP spid="4127" grpId="0" animBg="1"/>
      <p:bldP spid="4129" grpId="0"/>
      <p:bldP spid="4150" grpId="0" animBg="1"/>
      <p:bldP spid="41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95" name="Group 79"/>
          <p:cNvGrpSpPr/>
          <p:nvPr/>
        </p:nvGrpSpPr>
        <p:grpSpPr>
          <a:xfrm>
            <a:off x="3276600" y="838200"/>
            <a:ext cx="2825750" cy="2390775"/>
            <a:chOff x="2064" y="528"/>
            <a:chExt cx="1780" cy="1506"/>
          </a:xfrm>
        </p:grpSpPr>
        <p:graphicFrame>
          <p:nvGraphicFramePr>
            <p:cNvPr id="6192" name="Object 2"/>
            <p:cNvGraphicFramePr>
              <a:graphicFrameLocks noChangeAspect="1"/>
            </p:cNvGraphicFramePr>
            <p:nvPr/>
          </p:nvGraphicFramePr>
          <p:xfrm>
            <a:off x="2064" y="528"/>
            <a:ext cx="1680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" imgW="1781175" imgH="1552575" progId="Paint.Picture">
                    <p:embed/>
                  </p:oleObj>
                </mc:Choice>
                <mc:Fallback>
                  <p:oleObj name="" r:id="rId1" imgW="1781175" imgH="1552575" progId="Paint.Picture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64" y="528"/>
                          <a:ext cx="1680" cy="150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3" name="Text Box 3"/>
            <p:cNvSpPr txBox="1"/>
            <p:nvPr/>
          </p:nvSpPr>
          <p:spPr>
            <a:xfrm>
              <a:off x="2304" y="1776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194" name="Text Box 4"/>
            <p:cNvSpPr txBox="1"/>
            <p:nvPr/>
          </p:nvSpPr>
          <p:spPr>
            <a:xfrm>
              <a:off x="3648" y="1776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21" name="Text Box 5"/>
          <p:cNvSpPr txBox="1"/>
          <p:nvPr/>
        </p:nvSpPr>
        <p:spPr>
          <a:xfrm>
            <a:off x="5546725" y="8382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2" name="Text Box 6"/>
          <p:cNvSpPr txBox="1"/>
          <p:nvPr/>
        </p:nvSpPr>
        <p:spPr>
          <a:xfrm>
            <a:off x="3946525" y="8382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9294" name="Group 78"/>
          <p:cNvGrpSpPr/>
          <p:nvPr/>
        </p:nvGrpSpPr>
        <p:grpSpPr>
          <a:xfrm>
            <a:off x="228600" y="914400"/>
            <a:ext cx="2749550" cy="2390775"/>
            <a:chOff x="144" y="576"/>
            <a:chExt cx="1732" cy="1506"/>
          </a:xfrm>
        </p:grpSpPr>
        <p:graphicFrame>
          <p:nvGraphicFramePr>
            <p:cNvPr id="6189" name="Object 7"/>
            <p:cNvGraphicFramePr>
              <a:graphicFrameLocks noChangeAspect="1"/>
            </p:cNvGraphicFramePr>
            <p:nvPr/>
          </p:nvGraphicFramePr>
          <p:xfrm>
            <a:off x="144" y="576"/>
            <a:ext cx="1680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1781175" imgH="1552575" progId="Paint.Picture">
                    <p:embed/>
                  </p:oleObj>
                </mc:Choice>
                <mc:Fallback>
                  <p:oleObj name="" r:id="rId3" imgW="1781175" imgH="1552575" progId="Paint.Picture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576"/>
                          <a:ext cx="1680" cy="150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0" name="Text Box 8"/>
            <p:cNvSpPr txBox="1"/>
            <p:nvPr/>
          </p:nvSpPr>
          <p:spPr>
            <a:xfrm>
              <a:off x="384" y="1824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191" name="Text Box 9"/>
            <p:cNvSpPr txBox="1"/>
            <p:nvPr/>
          </p:nvSpPr>
          <p:spPr>
            <a:xfrm>
              <a:off x="1680" y="1824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26" name="Text Box 10"/>
          <p:cNvSpPr txBox="1"/>
          <p:nvPr/>
        </p:nvSpPr>
        <p:spPr>
          <a:xfrm>
            <a:off x="2498725" y="9144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7" name="Text Box 11"/>
          <p:cNvSpPr txBox="1"/>
          <p:nvPr/>
        </p:nvSpPr>
        <p:spPr>
          <a:xfrm>
            <a:off x="898525" y="9144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9296" name="Group 80"/>
          <p:cNvGrpSpPr/>
          <p:nvPr/>
        </p:nvGrpSpPr>
        <p:grpSpPr>
          <a:xfrm>
            <a:off x="6249988" y="762000"/>
            <a:ext cx="2749550" cy="2390775"/>
            <a:chOff x="3937" y="480"/>
            <a:chExt cx="1732" cy="1506"/>
          </a:xfrm>
        </p:grpSpPr>
        <p:graphicFrame>
          <p:nvGraphicFramePr>
            <p:cNvPr id="6186" name="Object 12"/>
            <p:cNvGraphicFramePr>
              <a:graphicFrameLocks noChangeAspect="1"/>
            </p:cNvGraphicFramePr>
            <p:nvPr/>
          </p:nvGraphicFramePr>
          <p:xfrm>
            <a:off x="3937" y="480"/>
            <a:ext cx="1680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4" imgW="1781175" imgH="1552575" progId="Paint.Picture">
                    <p:embed/>
                  </p:oleObj>
                </mc:Choice>
                <mc:Fallback>
                  <p:oleObj name="" r:id="rId4" imgW="1781175" imgH="1552575" progId="Paint.Picture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37" y="480"/>
                          <a:ext cx="1680" cy="150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7" name="Text Box 13"/>
            <p:cNvSpPr txBox="1"/>
            <p:nvPr/>
          </p:nvSpPr>
          <p:spPr>
            <a:xfrm>
              <a:off x="4177" y="1728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188" name="Text Box 14"/>
            <p:cNvSpPr txBox="1"/>
            <p:nvPr/>
          </p:nvSpPr>
          <p:spPr>
            <a:xfrm>
              <a:off x="5473" y="1728"/>
              <a:ext cx="196" cy="250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31" name="Text Box 15"/>
          <p:cNvSpPr txBox="1"/>
          <p:nvPr/>
        </p:nvSpPr>
        <p:spPr>
          <a:xfrm>
            <a:off x="8518525" y="7620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32" name="Text Box 16"/>
          <p:cNvSpPr txBox="1"/>
          <p:nvPr/>
        </p:nvSpPr>
        <p:spPr>
          <a:xfrm>
            <a:off x="6918325" y="762000"/>
            <a:ext cx="320675" cy="406400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55" name="Text Box 18"/>
          <p:cNvSpPr txBox="1"/>
          <p:nvPr/>
        </p:nvSpPr>
        <p:spPr>
          <a:xfrm>
            <a:off x="304800" y="228600"/>
            <a:ext cx="1717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二、真值表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297" name="Group 81"/>
          <p:cNvGrpSpPr/>
          <p:nvPr/>
        </p:nvGrpSpPr>
        <p:grpSpPr>
          <a:xfrm>
            <a:off x="228600" y="3581400"/>
            <a:ext cx="3663950" cy="533400"/>
            <a:chOff x="144" y="2256"/>
            <a:chExt cx="2308" cy="336"/>
          </a:xfrm>
        </p:grpSpPr>
        <p:sp>
          <p:nvSpPr>
            <p:cNvPr id="6182" name="Text Box 48"/>
            <p:cNvSpPr txBox="1"/>
            <p:nvPr/>
          </p:nvSpPr>
          <p:spPr>
            <a:xfrm>
              <a:off x="144" y="2304"/>
              <a:ext cx="13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83" name="Group 65"/>
            <p:cNvGrpSpPr/>
            <p:nvPr/>
          </p:nvGrpSpPr>
          <p:grpSpPr>
            <a:xfrm>
              <a:off x="1392" y="2256"/>
              <a:ext cx="1060" cy="336"/>
              <a:chOff x="1872" y="2256"/>
              <a:chExt cx="1060" cy="336"/>
            </a:xfrm>
          </p:grpSpPr>
          <p:graphicFrame>
            <p:nvGraphicFramePr>
              <p:cNvPr id="6184" name="Object 47"/>
              <p:cNvGraphicFramePr>
                <a:graphicFrameLocks noChangeAspect="1"/>
              </p:cNvGraphicFramePr>
              <p:nvPr/>
            </p:nvGraphicFramePr>
            <p:xfrm>
              <a:off x="1872" y="2256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1" name="" r:id="rId5" imgW="190500" imgH="241300" progId="Equation.3">
                      <p:embed/>
                    </p:oleObj>
                  </mc:Choice>
                  <mc:Fallback>
                    <p:oleObj name="" r:id="rId5" imgW="190500" imgH="241300" progId="Equation.3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872" y="2256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85" name="Text Box 49"/>
              <p:cNvSpPr txBox="1"/>
              <p:nvPr/>
            </p:nvSpPr>
            <p:spPr>
              <a:xfrm>
                <a:off x="2064" y="2304"/>
                <a:ext cx="8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=1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Q=0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298" name="Group 82"/>
          <p:cNvGrpSpPr/>
          <p:nvPr/>
        </p:nvGrpSpPr>
        <p:grpSpPr>
          <a:xfrm>
            <a:off x="-77787" y="4038600"/>
            <a:ext cx="3970337" cy="533400"/>
            <a:chOff x="-49" y="2544"/>
            <a:chExt cx="2501" cy="336"/>
          </a:xfrm>
        </p:grpSpPr>
        <p:sp>
          <p:nvSpPr>
            <p:cNvPr id="6178" name="Text Box 53"/>
            <p:cNvSpPr txBox="1"/>
            <p:nvPr/>
          </p:nvSpPr>
          <p:spPr>
            <a:xfrm>
              <a:off x="-49" y="2592"/>
              <a:ext cx="1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  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79" name="Group 68"/>
            <p:cNvGrpSpPr/>
            <p:nvPr/>
          </p:nvGrpSpPr>
          <p:grpSpPr>
            <a:xfrm>
              <a:off x="1392" y="2544"/>
              <a:ext cx="1060" cy="336"/>
              <a:chOff x="1679" y="2544"/>
              <a:chExt cx="1060" cy="336"/>
            </a:xfrm>
          </p:grpSpPr>
          <p:graphicFrame>
            <p:nvGraphicFramePr>
              <p:cNvPr id="6180" name="Object 52"/>
              <p:cNvGraphicFramePr>
                <a:graphicFrameLocks noChangeAspect="1"/>
              </p:cNvGraphicFramePr>
              <p:nvPr/>
            </p:nvGraphicFramePr>
            <p:xfrm>
              <a:off x="1679" y="2544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" r:id="rId7" imgW="190500" imgH="241300" progId="Equation.3">
                      <p:embed/>
                    </p:oleObj>
                  </mc:Choice>
                  <mc:Fallback>
                    <p:oleObj name="" r:id="rId7" imgW="190500" imgH="241300" progId="Equation.3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679" y="2544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81" name="Text Box 54"/>
              <p:cNvSpPr txBox="1"/>
              <p:nvPr/>
            </p:nvSpPr>
            <p:spPr>
              <a:xfrm>
                <a:off x="1871" y="2592"/>
                <a:ext cx="8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=0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Q=1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299" name="Group 83"/>
          <p:cNvGrpSpPr/>
          <p:nvPr/>
        </p:nvGrpSpPr>
        <p:grpSpPr>
          <a:xfrm>
            <a:off x="0" y="5029200"/>
            <a:ext cx="4443413" cy="533400"/>
            <a:chOff x="0" y="2832"/>
            <a:chExt cx="2799" cy="336"/>
          </a:xfrm>
        </p:grpSpPr>
        <p:sp>
          <p:nvSpPr>
            <p:cNvPr id="6174" name="Text Box 58"/>
            <p:cNvSpPr txBox="1"/>
            <p:nvPr/>
          </p:nvSpPr>
          <p:spPr>
            <a:xfrm>
              <a:off x="0" y="2880"/>
              <a:ext cx="1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 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75" name="Group 67"/>
            <p:cNvGrpSpPr/>
            <p:nvPr/>
          </p:nvGrpSpPr>
          <p:grpSpPr>
            <a:xfrm>
              <a:off x="1392" y="2832"/>
              <a:ext cx="1407" cy="336"/>
              <a:chOff x="1728" y="2832"/>
              <a:chExt cx="1407" cy="336"/>
            </a:xfrm>
          </p:grpSpPr>
          <p:graphicFrame>
            <p:nvGraphicFramePr>
              <p:cNvPr id="6176" name="Object 57"/>
              <p:cNvGraphicFramePr>
                <a:graphicFrameLocks noChangeAspect="1"/>
              </p:cNvGraphicFramePr>
              <p:nvPr/>
            </p:nvGraphicFramePr>
            <p:xfrm>
              <a:off x="1728" y="2832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" name="" r:id="rId8" imgW="190500" imgH="241300" progId="Equation.3">
                      <p:embed/>
                    </p:oleObj>
                  </mc:Choice>
                  <mc:Fallback>
                    <p:oleObj name="" r:id="rId8" imgW="190500" imgH="241300" progId="Equation.3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728" y="2832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77" name="Text Box 59"/>
              <p:cNvSpPr txBox="1"/>
              <p:nvPr/>
            </p:nvSpPr>
            <p:spPr>
              <a:xfrm>
                <a:off x="1920" y="2880"/>
                <a:ext cx="121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Q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（不变）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300" name="Group 84"/>
          <p:cNvGrpSpPr/>
          <p:nvPr/>
        </p:nvGrpSpPr>
        <p:grpSpPr>
          <a:xfrm>
            <a:off x="304800" y="4572000"/>
            <a:ext cx="4335463" cy="533400"/>
            <a:chOff x="192" y="3168"/>
            <a:chExt cx="2731" cy="336"/>
          </a:xfrm>
        </p:grpSpPr>
        <p:sp>
          <p:nvSpPr>
            <p:cNvPr id="6170" name="Text Box 62"/>
            <p:cNvSpPr txBox="1"/>
            <p:nvPr/>
          </p:nvSpPr>
          <p:spPr>
            <a:xfrm>
              <a:off x="192" y="3168"/>
              <a:ext cx="1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71" name="Group 66"/>
            <p:cNvGrpSpPr/>
            <p:nvPr/>
          </p:nvGrpSpPr>
          <p:grpSpPr>
            <a:xfrm>
              <a:off x="1392" y="3168"/>
              <a:ext cx="1531" cy="336"/>
              <a:chOff x="1728" y="3120"/>
              <a:chExt cx="1531" cy="336"/>
            </a:xfrm>
          </p:grpSpPr>
          <p:graphicFrame>
            <p:nvGraphicFramePr>
              <p:cNvPr id="6172" name="Object 61"/>
              <p:cNvGraphicFramePr>
                <a:graphicFrameLocks noChangeAspect="1"/>
              </p:cNvGraphicFramePr>
              <p:nvPr/>
            </p:nvGraphicFramePr>
            <p:xfrm>
              <a:off x="1728" y="3120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2" name="" r:id="rId9" imgW="190500" imgH="241300" progId="Equation.3">
                      <p:embed/>
                    </p:oleObj>
                  </mc:Choice>
                  <mc:Fallback>
                    <p:oleObj name="" r:id="rId9" imgW="190500" imgH="241300" progId="Equation.3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728" y="3120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73" name="Text Box 63"/>
              <p:cNvSpPr txBox="1"/>
              <p:nvPr/>
            </p:nvSpPr>
            <p:spPr>
              <a:xfrm>
                <a:off x="1920" y="3168"/>
                <a:ext cx="133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=Q=1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，不稳定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301" name="Group 85"/>
          <p:cNvGrpSpPr/>
          <p:nvPr/>
        </p:nvGrpSpPr>
        <p:grpSpPr>
          <a:xfrm>
            <a:off x="4540250" y="3505200"/>
            <a:ext cx="4070350" cy="2133600"/>
            <a:chOff x="2860" y="2208"/>
            <a:chExt cx="2564" cy="1344"/>
          </a:xfrm>
        </p:grpSpPr>
        <p:sp>
          <p:nvSpPr>
            <p:cNvPr id="6163" name="Text Box 64"/>
            <p:cNvSpPr txBox="1"/>
            <p:nvPr/>
          </p:nvSpPr>
          <p:spPr>
            <a:xfrm>
              <a:off x="3072" y="2208"/>
              <a:ext cx="6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真值表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64" name="Group 69"/>
            <p:cNvGrpSpPr/>
            <p:nvPr/>
          </p:nvGrpSpPr>
          <p:grpSpPr>
            <a:xfrm>
              <a:off x="2860" y="2251"/>
              <a:ext cx="2564" cy="1301"/>
              <a:chOff x="720" y="1296"/>
              <a:chExt cx="2564" cy="1301"/>
            </a:xfrm>
          </p:grpSpPr>
          <p:sp>
            <p:nvSpPr>
              <p:cNvPr id="6165" name="Text Box 70"/>
              <p:cNvSpPr txBox="1"/>
              <p:nvPr/>
            </p:nvSpPr>
            <p:spPr>
              <a:xfrm>
                <a:off x="864" y="1296"/>
                <a:ext cx="2420" cy="13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95000"/>
                  </a:lnSpc>
                </a:pPr>
                <a:r>
                  <a:rPr lang="en-US" altLang="zh-CN" dirty="0">
                    <a:latin typeface="宋体" panose="02010600030101010101" pitchFamily="2" charset="-122"/>
                  </a:rPr>
                  <a:t>      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eaLnBrk="1" hangingPunct="1">
                  <a:lnSpc>
                    <a:spcPct val="95000"/>
                  </a:lnSpc>
                </a:pPr>
                <a:r>
                  <a:rPr lang="en-US" altLang="zh-CN" dirty="0">
                    <a:latin typeface="宋体" panose="02010600030101010101" pitchFamily="2" charset="-122"/>
                  </a:rPr>
                  <a:t>R</a:t>
                </a:r>
                <a:r>
                  <a:rPr lang="en-US" altLang="zh-CN" baseline="-25000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r>
                  <a:rPr lang="en-US" altLang="zh-CN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baseline="-25000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Q	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1	0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0	1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0	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不定（</a:t>
                </a:r>
                <a:r>
                  <a:rPr lang="en-US" altLang="zh-CN" dirty="0">
                    <a:latin typeface="宋体" panose="02010600030101010101" pitchFamily="2" charset="-122"/>
                  </a:rPr>
                  <a:t>Ф</a:t>
                </a:r>
                <a:r>
                  <a:rPr lang="zh-CN" altLang="en-US" dirty="0">
                    <a:latin typeface="宋体" panose="02010600030101010101" pitchFamily="2" charset="-122"/>
                  </a:rPr>
                  <a:t>）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1	 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不变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6166" name="Object 71"/>
              <p:cNvGraphicFramePr>
                <a:graphicFrameLocks noChangeAspect="1"/>
              </p:cNvGraphicFramePr>
              <p:nvPr/>
            </p:nvGraphicFramePr>
            <p:xfrm>
              <a:off x="2496" y="1536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3" name="" r:id="rId10" imgW="190500" imgH="241300" progId="Equation.3">
                      <p:embed/>
                    </p:oleObj>
                  </mc:Choice>
                  <mc:Fallback>
                    <p:oleObj name="" r:id="rId10" imgW="190500" imgH="241300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496" y="1536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7" name="Line 72"/>
              <p:cNvSpPr/>
              <p:nvPr/>
            </p:nvSpPr>
            <p:spPr>
              <a:xfrm>
                <a:off x="720" y="1824"/>
                <a:ext cx="22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8" name="Line 73"/>
              <p:cNvSpPr/>
              <p:nvPr/>
            </p:nvSpPr>
            <p:spPr>
              <a:xfrm>
                <a:off x="720" y="1536"/>
                <a:ext cx="22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9" name="Line 74"/>
              <p:cNvSpPr/>
              <p:nvPr/>
            </p:nvSpPr>
            <p:spPr>
              <a:xfrm>
                <a:off x="720" y="2592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9302" name="Line 86"/>
          <p:cNvSpPr/>
          <p:nvPr/>
        </p:nvSpPr>
        <p:spPr>
          <a:xfrm>
            <a:off x="1295400" y="1676400"/>
            <a:ext cx="381000" cy="6858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303" name="AutoShape 87"/>
          <p:cNvSpPr/>
          <p:nvPr/>
        </p:nvSpPr>
        <p:spPr>
          <a:xfrm>
            <a:off x="5819775" y="3455988"/>
            <a:ext cx="2997200" cy="892175"/>
          </a:xfrm>
          <a:prstGeom prst="wedgeRoundRectCallout">
            <a:avLst>
              <a:gd name="adj1" fmla="val -9218"/>
              <a:gd name="adj2" fmla="val -82208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RD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SD</a:t>
            </a:r>
            <a:r>
              <a:rPr lang="zh-CN" altLang="en-US" dirty="0">
                <a:latin typeface="Times New Roman" panose="02020603050405020304" pitchFamily="18" charset="0"/>
              </a:rPr>
              <a:t>同时变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时，输出不稳定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  <p:bldP spid="9222" grpId="0" animBg="1"/>
      <p:bldP spid="9226" grpId="0" animBg="1"/>
      <p:bldP spid="9227" grpId="0" animBg="1"/>
      <p:bldP spid="9231" grpId="0" animBg="1"/>
      <p:bldP spid="9232" grpId="0" animBg="1"/>
      <p:bldP spid="930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70" name="Group 54"/>
          <p:cNvGrpSpPr/>
          <p:nvPr/>
        </p:nvGrpSpPr>
        <p:grpSpPr>
          <a:xfrm>
            <a:off x="533400" y="3505200"/>
            <a:ext cx="8532813" cy="1905000"/>
            <a:chOff x="768" y="2208"/>
            <a:chExt cx="5375" cy="1200"/>
          </a:xfrm>
        </p:grpSpPr>
        <p:sp>
          <p:nvSpPr>
            <p:cNvPr id="7180" name="Text Box 11"/>
            <p:cNvSpPr txBox="1"/>
            <p:nvPr/>
          </p:nvSpPr>
          <p:spPr>
            <a:xfrm>
              <a:off x="768" y="2208"/>
              <a:ext cx="5375" cy="1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aseline="-25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D</a:t>
              </a:r>
              <a:r>
                <a:rPr lang="zh-CN" altLang="en-US" dirty="0">
                  <a:latin typeface="Times New Roman" panose="02020603050405020304" pitchFamily="18" charset="0"/>
                </a:rPr>
                <a:t>：置零或复位端（低电平置零，逻辑符号上用小圆圈表示）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D</a:t>
              </a:r>
              <a:r>
                <a:rPr lang="zh-CN" altLang="en-US" dirty="0">
                  <a:latin typeface="Times New Roman" panose="02020603050405020304" pitchFamily="18" charset="0"/>
                </a:rPr>
                <a:t>：置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或置位端（低电平置１）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zh-CN" altLang="en-US" dirty="0">
                  <a:latin typeface="Times New Roman" panose="02020603050405020304" pitchFamily="18" charset="0"/>
                </a:rPr>
                <a:t>：触发器原端或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端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81" name="Object 15"/>
            <p:cNvGraphicFramePr>
              <a:graphicFrameLocks noChangeAspect="1"/>
            </p:cNvGraphicFramePr>
            <p:nvPr/>
          </p:nvGraphicFramePr>
          <p:xfrm>
            <a:off x="768" y="3072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" imgW="190500" imgH="241300" progId="Equation.3">
                    <p:embed/>
                  </p:oleObj>
                </mc:Choice>
                <mc:Fallback>
                  <p:oleObj name="" r:id="rId1" imgW="190500" imgH="2413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68" y="3072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2" name="Text Box 17"/>
            <p:cNvSpPr txBox="1"/>
            <p:nvPr/>
          </p:nvSpPr>
          <p:spPr>
            <a:xfrm>
              <a:off x="970" y="3072"/>
              <a:ext cx="17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：触发器非端或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端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171" name="Object 20"/>
          <p:cNvGraphicFramePr>
            <a:graphicFrameLocks noChangeAspect="1"/>
          </p:cNvGraphicFramePr>
          <p:nvPr/>
        </p:nvGraphicFramePr>
        <p:xfrm>
          <a:off x="5867400" y="1066800"/>
          <a:ext cx="220980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476375" imgH="1466850" progId="Paint.Picture">
                  <p:embed/>
                </p:oleObj>
              </mc:Choice>
              <mc:Fallback>
                <p:oleObj name="" r:id="rId3" imgW="1476375" imgH="1466850" progId="Paint.Picture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7400" y="1066800"/>
                        <a:ext cx="2209800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2" name="Group 46"/>
          <p:cNvGrpSpPr/>
          <p:nvPr/>
        </p:nvGrpSpPr>
        <p:grpSpPr>
          <a:xfrm>
            <a:off x="1066800" y="838200"/>
            <a:ext cx="4070350" cy="2133600"/>
            <a:chOff x="2860" y="2208"/>
            <a:chExt cx="2564" cy="1344"/>
          </a:xfrm>
        </p:grpSpPr>
        <p:sp>
          <p:nvSpPr>
            <p:cNvPr id="7173" name="Text Box 47"/>
            <p:cNvSpPr txBox="1"/>
            <p:nvPr/>
          </p:nvSpPr>
          <p:spPr>
            <a:xfrm>
              <a:off x="3072" y="2208"/>
              <a:ext cx="6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真值表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174" name="Group 48"/>
            <p:cNvGrpSpPr/>
            <p:nvPr/>
          </p:nvGrpSpPr>
          <p:grpSpPr>
            <a:xfrm>
              <a:off x="2860" y="2251"/>
              <a:ext cx="2564" cy="1301"/>
              <a:chOff x="720" y="1296"/>
              <a:chExt cx="2564" cy="1301"/>
            </a:xfrm>
          </p:grpSpPr>
          <p:sp>
            <p:nvSpPr>
              <p:cNvPr id="7175" name="Text Box 49"/>
              <p:cNvSpPr txBox="1"/>
              <p:nvPr/>
            </p:nvSpPr>
            <p:spPr>
              <a:xfrm>
                <a:off x="864" y="1296"/>
                <a:ext cx="2420" cy="13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95000"/>
                  </a:lnSpc>
                </a:pPr>
                <a:r>
                  <a:rPr lang="en-US" altLang="zh-CN" dirty="0">
                    <a:latin typeface="宋体" panose="02010600030101010101" pitchFamily="2" charset="-122"/>
                  </a:rPr>
                  <a:t>      </a:t>
                </a:r>
                <a:endParaRPr lang="en-US" altLang="zh-CN" dirty="0">
                  <a:latin typeface="宋体" panose="02010600030101010101" pitchFamily="2" charset="-122"/>
                </a:endParaRPr>
              </a:p>
              <a:p>
                <a:pPr eaLnBrk="1" hangingPunct="1">
                  <a:lnSpc>
                    <a:spcPct val="95000"/>
                  </a:lnSpc>
                </a:pPr>
                <a:r>
                  <a:rPr lang="en-US" altLang="zh-CN" dirty="0">
                    <a:latin typeface="宋体" panose="02010600030101010101" pitchFamily="2" charset="-122"/>
                  </a:rPr>
                  <a:t>R</a:t>
                </a:r>
                <a:r>
                  <a:rPr lang="en-US" altLang="zh-CN" baseline="-25000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r>
                  <a:rPr lang="en-US" altLang="zh-CN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baseline="-25000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Q	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1	0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0	1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0	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不定（</a:t>
                </a:r>
                <a:r>
                  <a:rPr lang="en-US" altLang="zh-CN" dirty="0">
                    <a:latin typeface="宋体" panose="02010600030101010101" pitchFamily="2" charset="-122"/>
                  </a:rPr>
                  <a:t>Ф</a:t>
                </a:r>
                <a:r>
                  <a:rPr lang="zh-CN" altLang="en-US" dirty="0">
                    <a:latin typeface="宋体" panose="02010600030101010101" pitchFamily="2" charset="-122"/>
                  </a:rPr>
                  <a:t>）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1	 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不变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7176" name="Object 50"/>
              <p:cNvGraphicFramePr>
                <a:graphicFrameLocks noChangeAspect="1"/>
              </p:cNvGraphicFramePr>
              <p:nvPr/>
            </p:nvGraphicFramePr>
            <p:xfrm>
              <a:off x="2496" y="1536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4" name="" r:id="rId5" imgW="190500" imgH="241300" progId="Equation.3">
                      <p:embed/>
                    </p:oleObj>
                  </mc:Choice>
                  <mc:Fallback>
                    <p:oleObj name="" r:id="rId5" imgW="190500" imgH="241300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496" y="1536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77" name="Line 51"/>
              <p:cNvSpPr/>
              <p:nvPr/>
            </p:nvSpPr>
            <p:spPr>
              <a:xfrm>
                <a:off x="720" y="1824"/>
                <a:ext cx="22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8" name="Line 52"/>
              <p:cNvSpPr/>
              <p:nvPr/>
            </p:nvSpPr>
            <p:spPr>
              <a:xfrm>
                <a:off x="720" y="1536"/>
                <a:ext cx="22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9" name="Line 53"/>
              <p:cNvSpPr/>
              <p:nvPr/>
            </p:nvSpPr>
            <p:spPr>
              <a:xfrm>
                <a:off x="720" y="2592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4"/>
          <p:cNvSpPr txBox="1"/>
          <p:nvPr/>
        </p:nvSpPr>
        <p:spPr>
          <a:xfrm>
            <a:off x="228600" y="304800"/>
            <a:ext cx="4457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三、状态转换真值表及特征方程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139" name="Group 19"/>
          <p:cNvGrpSpPr/>
          <p:nvPr/>
        </p:nvGrpSpPr>
        <p:grpSpPr>
          <a:xfrm>
            <a:off x="304800" y="2895600"/>
            <a:ext cx="4816475" cy="3670300"/>
            <a:chOff x="192" y="1824"/>
            <a:chExt cx="3034" cy="2312"/>
          </a:xfrm>
        </p:grpSpPr>
        <p:sp>
          <p:nvSpPr>
            <p:cNvPr id="8203" name="Line 6"/>
            <p:cNvSpPr/>
            <p:nvPr/>
          </p:nvSpPr>
          <p:spPr>
            <a:xfrm>
              <a:off x="192" y="1872"/>
              <a:ext cx="22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4" name="Line 7"/>
            <p:cNvSpPr/>
            <p:nvPr/>
          </p:nvSpPr>
          <p:spPr>
            <a:xfrm>
              <a:off x="192" y="2208"/>
              <a:ext cx="22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5" name="Text Box 2"/>
            <p:cNvSpPr txBox="1"/>
            <p:nvPr/>
          </p:nvSpPr>
          <p:spPr>
            <a:xfrm>
              <a:off x="336" y="1824"/>
              <a:ext cx="2890" cy="23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30000"/>
                </a:lnSpc>
              </a:pPr>
              <a:r>
                <a:rPr lang="zh-CN" altLang="en-US" dirty="0">
                  <a:latin typeface="宋体" panose="02010600030101010101" pitchFamily="2" charset="-122"/>
                </a:rPr>
                <a:t>表</a:t>
              </a:r>
              <a:r>
                <a:rPr lang="en-US" altLang="zh-CN" dirty="0">
                  <a:latin typeface="宋体" panose="02010600030101010101" pitchFamily="2" charset="-122"/>
                </a:rPr>
                <a:t>4-2</a:t>
              </a: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状态转换真值表</a:t>
              </a:r>
              <a:r>
                <a:rPr lang="zh-CN" altLang="en-US" dirty="0">
                  <a:latin typeface="宋体" panose="02010600030101010101" pitchFamily="2" charset="-122"/>
                </a:rPr>
                <a:t>                     </a:t>
              </a:r>
              <a:endParaRPr lang="zh-CN" altLang="en-US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宋体" panose="02010600030101010101" pitchFamily="2" charset="-122"/>
                </a:rPr>
                <a:t>D</a:t>
              </a:r>
              <a:r>
                <a:rPr lang="en-US" altLang="zh-CN" dirty="0">
                  <a:latin typeface="宋体" panose="02010600030101010101" pitchFamily="2" charset="-122"/>
                </a:rPr>
                <a:t>	S</a:t>
              </a:r>
              <a:r>
                <a:rPr lang="en-US" altLang="zh-CN" baseline="-25000" dirty="0">
                  <a:latin typeface="宋体" panose="02010600030101010101" pitchFamily="2" charset="-122"/>
                </a:rPr>
                <a:t>D</a:t>
              </a:r>
              <a:r>
                <a:rPr lang="en-US" altLang="zh-CN" dirty="0">
                  <a:latin typeface="宋体" panose="02010600030101010101" pitchFamily="2" charset="-122"/>
                </a:rPr>
                <a:t>	Q</a:t>
              </a:r>
              <a:r>
                <a:rPr lang="en-US" altLang="zh-CN" baseline="-25000" dirty="0">
                  <a:latin typeface="宋体" panose="02010600030101010101" pitchFamily="2" charset="-122"/>
                </a:rPr>
                <a:t>n</a:t>
              </a:r>
              <a:r>
                <a:rPr lang="en-US" altLang="zh-CN" dirty="0">
                  <a:latin typeface="宋体" panose="02010600030101010101" pitchFamily="2" charset="-122"/>
                </a:rPr>
                <a:t>	Q</a:t>
              </a:r>
              <a:r>
                <a:rPr lang="en-US" altLang="zh-CN" baseline="-25000" dirty="0">
                  <a:latin typeface="宋体" panose="02010600030101010101" pitchFamily="2" charset="-122"/>
                </a:rPr>
                <a:t>n+1</a:t>
              </a:r>
              <a:r>
                <a:rPr lang="en-US" altLang="zh-CN" dirty="0">
                  <a:latin typeface="宋体" panose="02010600030101010101" pitchFamily="2" charset="-122"/>
                </a:rPr>
                <a:t>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0	0	0	Ф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0	0	1	Ф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0	1	0	0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0	1	1	0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1	0	0	1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1	0	1	1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1	1	0	0	</a:t>
              </a:r>
              <a:endParaRPr lang="en-US" altLang="zh-CN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9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1	1	1	1	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8206" name="Line 8"/>
            <p:cNvSpPr/>
            <p:nvPr/>
          </p:nvSpPr>
          <p:spPr>
            <a:xfrm>
              <a:off x="240" y="4128"/>
              <a:ext cx="22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5181600" y="4572000"/>
          <a:ext cx="2895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219200" imgH="508000" progId="Equation.3">
                  <p:embed/>
                </p:oleObj>
              </mc:Choice>
              <mc:Fallback>
                <p:oleObj name="" r:id="rId1" imgW="1219200" imgH="508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81600" y="4572000"/>
                        <a:ext cx="28956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AutoShape 11"/>
          <p:cNvSpPr/>
          <p:nvPr/>
        </p:nvSpPr>
        <p:spPr>
          <a:xfrm>
            <a:off x="6629400" y="5791200"/>
            <a:ext cx="2209800" cy="838200"/>
          </a:xfrm>
          <a:prstGeom prst="wedgeRectCallout">
            <a:avLst>
              <a:gd name="adj1" fmla="val -42745"/>
              <a:gd name="adj2" fmla="val -77653"/>
            </a:avLst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约束条件，不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能同时为零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32" name="Object 12"/>
          <p:cNvGraphicFramePr>
            <a:graphicFrameLocks noChangeAspect="1"/>
          </p:cNvGraphicFramePr>
          <p:nvPr/>
        </p:nvGraphicFramePr>
        <p:xfrm>
          <a:off x="5105400" y="1447800"/>
          <a:ext cx="34290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790700" imgH="990600" progId="Paint.Picture">
                  <p:embed/>
                </p:oleObj>
              </mc:Choice>
              <mc:Fallback>
                <p:oleObj name="" r:id="rId3" imgW="1790700" imgH="990600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05400" y="1447800"/>
                        <a:ext cx="3429000" cy="198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 Box 13"/>
          <p:cNvSpPr txBox="1"/>
          <p:nvPr/>
        </p:nvSpPr>
        <p:spPr>
          <a:xfrm>
            <a:off x="5791200" y="9906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卡诺图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4" name="Text Box 14"/>
          <p:cNvSpPr txBox="1"/>
          <p:nvPr/>
        </p:nvSpPr>
        <p:spPr>
          <a:xfrm>
            <a:off x="5867400" y="3962400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5" name="Text Box 15"/>
          <p:cNvSpPr txBox="1"/>
          <p:nvPr/>
        </p:nvSpPr>
        <p:spPr>
          <a:xfrm>
            <a:off x="381000" y="1905000"/>
            <a:ext cx="279241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宋体" panose="02010600030101010101" pitchFamily="2" charset="-122"/>
              </a:rPr>
              <a:t>n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：原状态或现态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宋体" panose="02010600030101010101" pitchFamily="2" charset="-122"/>
              </a:rPr>
              <a:t>n+1</a:t>
            </a:r>
            <a:r>
              <a:rPr lang="zh-CN" altLang="en-US" dirty="0">
                <a:latin typeface="宋体" panose="02010600030101010101" pitchFamily="2" charset="-122"/>
              </a:rPr>
              <a:t>：新状态或次态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5136" name="Text Box 16"/>
          <p:cNvSpPr txBox="1"/>
          <p:nvPr/>
        </p:nvSpPr>
        <p:spPr>
          <a:xfrm>
            <a:off x="304800" y="990600"/>
            <a:ext cx="4648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状态转换真值表：输入信号与原态、次态之间的关系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animBg="1"/>
      <p:bldP spid="5133" grpId="0"/>
      <p:bldP spid="5134" grpId="0"/>
      <p:bldP spid="5135" grpId="0"/>
      <p:bldP spid="51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3"/>
          <p:cNvSpPr txBox="1"/>
          <p:nvPr/>
        </p:nvSpPr>
        <p:spPr>
          <a:xfrm>
            <a:off x="228600" y="304800"/>
            <a:ext cx="282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四、钟控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4419600" y="1447800"/>
          <a:ext cx="44958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886075" imgH="1914525" progId="Paint.Picture">
                  <p:embed/>
                </p:oleObj>
              </mc:Choice>
              <mc:Fallback>
                <p:oleObj name="" r:id="rId1" imgW="2886075" imgH="1914525" progId="Paint.Picture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9600" y="1447800"/>
                        <a:ext cx="4495800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Text Box 8"/>
          <p:cNvSpPr txBox="1"/>
          <p:nvPr/>
        </p:nvSpPr>
        <p:spPr>
          <a:xfrm>
            <a:off x="0" y="1371600"/>
            <a:ext cx="3403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）电路图与逻辑符号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4" name="Text Box 10"/>
          <p:cNvSpPr txBox="1"/>
          <p:nvPr/>
        </p:nvSpPr>
        <p:spPr>
          <a:xfrm>
            <a:off x="685800" y="1828800"/>
            <a:ext cx="244951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CP=0</a:t>
            </a:r>
            <a:r>
              <a:rPr lang="zh-CN" altLang="en-US" dirty="0">
                <a:latin typeface="Times New Roman" panose="02020603050405020304" pitchFamily="18" charset="0"/>
              </a:rPr>
              <a:t>：状态不变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68" name="Text Box 24"/>
          <p:cNvSpPr txBox="1"/>
          <p:nvPr/>
        </p:nvSpPr>
        <p:spPr>
          <a:xfrm>
            <a:off x="533400" y="762000"/>
            <a:ext cx="814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增加一个控制端，在其控制下，触发器的状态随输入变化</a:t>
            </a:r>
            <a:r>
              <a:rPr lang="zh-CN" altLang="en-US" b="0" dirty="0">
                <a:latin typeface="Times New Roman" panose="02020603050405020304" pitchFamily="18" charset="0"/>
              </a:rPr>
              <a:t>。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6171" name="Text Box 27"/>
          <p:cNvSpPr txBox="1"/>
          <p:nvPr/>
        </p:nvSpPr>
        <p:spPr>
          <a:xfrm>
            <a:off x="1114425" y="2743200"/>
            <a:ext cx="29241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S=0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R=0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</a:rPr>
              <a:t>=Q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73" name="Text Box 29"/>
          <p:cNvSpPr txBox="1"/>
          <p:nvPr/>
        </p:nvSpPr>
        <p:spPr>
          <a:xfrm>
            <a:off x="930275" y="3200400"/>
            <a:ext cx="287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S=1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R=0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74" name="Text Box 30"/>
          <p:cNvSpPr txBox="1"/>
          <p:nvPr/>
        </p:nvSpPr>
        <p:spPr>
          <a:xfrm>
            <a:off x="914400" y="3733800"/>
            <a:ext cx="287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S=0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R=1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</a:rPr>
              <a:t>=0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75" name="Text Box 31"/>
          <p:cNvSpPr txBox="1"/>
          <p:nvPr/>
        </p:nvSpPr>
        <p:spPr>
          <a:xfrm>
            <a:off x="914400" y="4191000"/>
            <a:ext cx="3111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S=1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R=1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latin typeface="宋体" panose="02010600030101010101" pitchFamily="2" charset="-122"/>
              </a:rPr>
              <a:t>Ф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6177" name="AutoShape 33"/>
          <p:cNvSpPr/>
          <p:nvPr/>
        </p:nvSpPr>
        <p:spPr>
          <a:xfrm>
            <a:off x="1042988" y="2643188"/>
            <a:ext cx="3910012" cy="879475"/>
          </a:xfrm>
          <a:prstGeom prst="wedgeRectCallout">
            <a:avLst>
              <a:gd name="adj1" fmla="val -6597"/>
              <a:gd name="adj2" fmla="val -41602"/>
            </a:avLst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控制输入端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通过“非”门作用于  基本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78" name="Text Box 34"/>
          <p:cNvSpPr txBox="1"/>
          <p:nvPr/>
        </p:nvSpPr>
        <p:spPr>
          <a:xfrm>
            <a:off x="685800" y="2209800"/>
            <a:ext cx="1217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CP=1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79" name="Text Box 35"/>
          <p:cNvSpPr txBox="1"/>
          <p:nvPr/>
        </p:nvSpPr>
        <p:spPr>
          <a:xfrm>
            <a:off x="990600" y="2286000"/>
            <a:ext cx="2254250" cy="879475"/>
          </a:xfrm>
          <a:prstGeom prst="rect">
            <a:avLst/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输入端均为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/>
      <p:bldP spid="6154" grpId="0"/>
      <p:bldP spid="6168" grpId="0"/>
      <p:bldP spid="6171" grpId="0"/>
      <p:bldP spid="6173" grpId="0"/>
      <p:bldP spid="6174" grpId="0"/>
      <p:bldP spid="6175" grpId="0"/>
      <p:bldP spid="6177" grpId="0" animBg="1"/>
      <p:bldP spid="6178" grpId="0"/>
      <p:bldP spid="61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381000" y="457200"/>
            <a:ext cx="1857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）真值表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914400" y="4495800"/>
          <a:ext cx="2971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079500" imgH="508000" progId="Equation.3">
                  <p:embed/>
                </p:oleObj>
              </mc:Choice>
              <mc:Fallback>
                <p:oleObj name="" r:id="rId1" imgW="1079500" imgH="5080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4495800"/>
                        <a:ext cx="2971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utoShape 10"/>
          <p:cNvSpPr/>
          <p:nvPr/>
        </p:nvSpPr>
        <p:spPr>
          <a:xfrm>
            <a:off x="1981200" y="5715000"/>
            <a:ext cx="2362200" cy="838200"/>
          </a:xfrm>
          <a:prstGeom prst="wedgeRectCallout">
            <a:avLst>
              <a:gd name="adj1" fmla="val -49597"/>
              <a:gd name="adj2" fmla="val -81060"/>
            </a:avLst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约束条件，不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能同时为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11" name="Text Box 11"/>
          <p:cNvSpPr txBox="1"/>
          <p:nvPr/>
        </p:nvSpPr>
        <p:spPr>
          <a:xfrm>
            <a:off x="533400" y="3733800"/>
            <a:ext cx="2171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46" name="Text Box 17"/>
          <p:cNvSpPr txBox="1"/>
          <p:nvPr/>
        </p:nvSpPr>
        <p:spPr>
          <a:xfrm>
            <a:off x="533400" y="1066800"/>
            <a:ext cx="1217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247" name="Group 24"/>
          <p:cNvGrpSpPr/>
          <p:nvPr/>
        </p:nvGrpSpPr>
        <p:grpSpPr>
          <a:xfrm>
            <a:off x="1371600" y="1371600"/>
            <a:ext cx="3124200" cy="1828800"/>
            <a:chOff x="960" y="672"/>
            <a:chExt cx="1968" cy="1152"/>
          </a:xfrm>
        </p:grpSpPr>
        <p:sp>
          <p:nvSpPr>
            <p:cNvPr id="10255" name="Text Box 18"/>
            <p:cNvSpPr txBox="1"/>
            <p:nvPr/>
          </p:nvSpPr>
          <p:spPr>
            <a:xfrm>
              <a:off x="1086" y="672"/>
              <a:ext cx="18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R=0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=Q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256" name="Text Box 19"/>
            <p:cNvSpPr txBox="1"/>
            <p:nvPr/>
          </p:nvSpPr>
          <p:spPr>
            <a:xfrm>
              <a:off x="960" y="960"/>
              <a:ext cx="18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S=1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R=0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=1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257" name="Text Box 20"/>
            <p:cNvSpPr txBox="1"/>
            <p:nvPr/>
          </p:nvSpPr>
          <p:spPr>
            <a:xfrm>
              <a:off x="960" y="1248"/>
              <a:ext cx="18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S=0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R=1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=0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258" name="Text Box 21"/>
            <p:cNvSpPr txBox="1"/>
            <p:nvPr/>
          </p:nvSpPr>
          <p:spPr>
            <a:xfrm>
              <a:off x="960" y="1536"/>
              <a:ext cx="1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S=1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R=1</a:t>
              </a:r>
              <a:r>
                <a:rPr lang="zh-CN" altLang="en-US" dirty="0">
                  <a:latin typeface="Times New Roman" panose="02020603050405020304" pitchFamily="18" charset="0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= </a:t>
              </a:r>
              <a:r>
                <a:rPr lang="en-US" altLang="zh-CN" dirty="0">
                  <a:latin typeface="宋体" panose="02010600030101010101" pitchFamily="2" charset="-122"/>
                </a:rPr>
                <a:t>Ф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5625" name="Group 25"/>
          <p:cNvGrpSpPr/>
          <p:nvPr/>
        </p:nvGrpSpPr>
        <p:grpSpPr>
          <a:xfrm>
            <a:off x="5181600" y="762000"/>
            <a:ext cx="3962400" cy="2517775"/>
            <a:chOff x="480" y="2090"/>
            <a:chExt cx="2496" cy="1586"/>
          </a:xfrm>
        </p:grpSpPr>
        <p:grpSp>
          <p:nvGrpSpPr>
            <p:cNvPr id="10249" name="Group 3"/>
            <p:cNvGrpSpPr/>
            <p:nvPr/>
          </p:nvGrpSpPr>
          <p:grpSpPr>
            <a:xfrm>
              <a:off x="576" y="2352"/>
              <a:ext cx="2400" cy="1324"/>
              <a:chOff x="0" y="2400"/>
              <a:chExt cx="2400" cy="1324"/>
            </a:xfrm>
          </p:grpSpPr>
          <p:sp>
            <p:nvSpPr>
              <p:cNvPr id="10251" name="Text Box 4"/>
              <p:cNvSpPr txBox="1"/>
              <p:nvPr/>
            </p:nvSpPr>
            <p:spPr>
              <a:xfrm>
                <a:off x="144" y="2400"/>
                <a:ext cx="2256" cy="1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lnSpc>
                    <a:spcPct val="125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R	S	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n+1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5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0	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0	1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1	0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1	1	</a:t>
                </a:r>
                <a:r>
                  <a:rPr lang="en-US" altLang="zh-CN" dirty="0">
                    <a:latin typeface="宋体" panose="02010600030101010101" pitchFamily="2" charset="-122"/>
                  </a:rPr>
                  <a:t>Ф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52" name="Line 5"/>
              <p:cNvSpPr/>
              <p:nvPr/>
            </p:nvSpPr>
            <p:spPr>
              <a:xfrm>
                <a:off x="0" y="2448"/>
                <a:ext cx="18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3" name="Line 6"/>
              <p:cNvSpPr/>
              <p:nvPr/>
            </p:nvSpPr>
            <p:spPr>
              <a:xfrm>
                <a:off x="0" y="2736"/>
                <a:ext cx="18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4" name="Line 7"/>
              <p:cNvSpPr/>
              <p:nvPr/>
            </p:nvSpPr>
            <p:spPr>
              <a:xfrm>
                <a:off x="0" y="3696"/>
                <a:ext cx="16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250" name="Text Box 23"/>
            <p:cNvSpPr txBox="1"/>
            <p:nvPr/>
          </p:nvSpPr>
          <p:spPr>
            <a:xfrm>
              <a:off x="480" y="2090"/>
              <a:ext cx="19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钟控</a:t>
              </a:r>
              <a:r>
                <a:rPr lang="en-US" altLang="zh-CN" dirty="0">
                  <a:latin typeface="Times New Roman" panose="02020603050405020304" pitchFamily="18" charset="0"/>
                </a:rPr>
                <a:t>R-S</a:t>
              </a:r>
              <a:r>
                <a:rPr lang="zh-CN" altLang="en-US" dirty="0">
                  <a:latin typeface="Times New Roman" panose="02020603050405020304" pitchFamily="18" charset="0"/>
                </a:rPr>
                <a:t>触发器真值表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0" grpId="0" animBg="1"/>
      <p:bldP spid="256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Text Box 3"/>
          <p:cNvSpPr txBox="1"/>
          <p:nvPr/>
        </p:nvSpPr>
        <p:spPr>
          <a:xfrm>
            <a:off x="762000" y="5029200"/>
            <a:ext cx="4611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假设</a:t>
            </a:r>
            <a:r>
              <a:rPr lang="en-US" altLang="zh-CN" dirty="0">
                <a:latin typeface="Times New Roman" panose="02020603050405020304" pitchFamily="18" charset="0"/>
              </a:rPr>
              <a:t>CP=1</a:t>
            </a:r>
            <a:r>
              <a:rPr lang="zh-CN" altLang="en-US" dirty="0">
                <a:latin typeface="Times New Roman" panose="02020603050405020304" pitchFamily="18" charset="0"/>
              </a:rPr>
              <a:t>时，控制输入不改变。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371600" y="1447800"/>
          <a:ext cx="6172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524125" imgH="1885950" progId="Paint.Picture">
                  <p:embed/>
                </p:oleObj>
              </mc:Choice>
              <mc:Fallback>
                <p:oleObj name="" r:id="rId1" imgW="2524125" imgH="1885950" progId="Paint.Picture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0" y="1447800"/>
                        <a:ext cx="6172200" cy="30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/>
          <p:nvPr/>
        </p:nvSpPr>
        <p:spPr>
          <a:xfrm>
            <a:off x="762000" y="5486400"/>
            <a:ext cx="72612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对脉冲宽度的要求严格：例如，构成移位寄存器时，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脉宽大于三个、小于四个“与非”门的平均延迟时间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Text Box 6"/>
          <p:cNvSpPr txBox="1"/>
          <p:nvPr/>
        </p:nvSpPr>
        <p:spPr>
          <a:xfrm>
            <a:off x="762000" y="609600"/>
            <a:ext cx="5743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）时钟控制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触发器逻辑功能波形图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685800" y="6400800"/>
            <a:ext cx="3667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没有考虑门的延迟时间）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2" name="Line 8"/>
          <p:cNvSpPr/>
          <p:nvPr/>
        </p:nvSpPr>
        <p:spPr>
          <a:xfrm>
            <a:off x="2362200" y="1219200"/>
            <a:ext cx="0" cy="34290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3" name="Line 9"/>
          <p:cNvSpPr/>
          <p:nvPr/>
        </p:nvSpPr>
        <p:spPr>
          <a:xfrm>
            <a:off x="3505200" y="1295400"/>
            <a:ext cx="0" cy="33528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4" name="Line 10"/>
          <p:cNvSpPr/>
          <p:nvPr/>
        </p:nvSpPr>
        <p:spPr>
          <a:xfrm>
            <a:off x="4648200" y="1295400"/>
            <a:ext cx="0" cy="33528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5" name="Line 11"/>
          <p:cNvSpPr/>
          <p:nvPr/>
        </p:nvSpPr>
        <p:spPr>
          <a:xfrm>
            <a:off x="5791200" y="1295400"/>
            <a:ext cx="0" cy="32766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69" grpId="0"/>
      <p:bldP spid="112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3"/>
          <p:cNvSpPr txBox="1"/>
          <p:nvPr/>
        </p:nvSpPr>
        <p:spPr>
          <a:xfrm>
            <a:off x="2286000" y="147638"/>
            <a:ext cx="4324350" cy="717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Aft>
                <a:spcPts val="600"/>
              </a:spcAft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第二节  主从触发器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5638800" y="2438400"/>
          <a:ext cx="32766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638300" imgH="1562100" progId="Paint.Picture">
                  <p:embed/>
                </p:oleObj>
              </mc:Choice>
              <mc:Fallback>
                <p:oleObj name="" r:id="rId1" imgW="1638300" imgH="1562100" progId="Paint.Picture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2438400"/>
                        <a:ext cx="32766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Text Box 14"/>
          <p:cNvSpPr txBox="1"/>
          <p:nvPr/>
        </p:nvSpPr>
        <p:spPr>
          <a:xfrm>
            <a:off x="228600" y="37338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（一）逻辑符号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293" name="Text Box 18"/>
          <p:cNvSpPr txBox="1"/>
          <p:nvPr/>
        </p:nvSpPr>
        <p:spPr>
          <a:xfrm>
            <a:off x="457200" y="8382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一、主从触发器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7" name="Text Box 19"/>
          <p:cNvSpPr txBox="1"/>
          <p:nvPr/>
        </p:nvSpPr>
        <p:spPr>
          <a:xfrm>
            <a:off x="381000" y="3200400"/>
            <a:ext cx="32512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二、主从Ｊ－Ｋ触发器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8" name="Text Box 20"/>
          <p:cNvSpPr txBox="1"/>
          <p:nvPr/>
        </p:nvSpPr>
        <p:spPr>
          <a:xfrm>
            <a:off x="914400" y="43434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Ｊ、Ｋ：输入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9" name="Text Box 21"/>
          <p:cNvSpPr txBox="1"/>
          <p:nvPr/>
        </p:nvSpPr>
        <p:spPr>
          <a:xfrm>
            <a:off x="852488" y="5334000"/>
            <a:ext cx="63103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Ｒ</a:t>
            </a:r>
            <a:r>
              <a:rPr lang="zh-CN" altLang="en-US" baseline="-25000" dirty="0">
                <a:latin typeface="Times New Roman" panose="02020603050405020304" pitchFamily="18" charset="0"/>
              </a:rPr>
              <a:t>Ｄ</a:t>
            </a:r>
            <a:r>
              <a:rPr lang="zh-CN" altLang="en-US" dirty="0">
                <a:latin typeface="Times New Roman" panose="02020603050405020304" pitchFamily="18" charset="0"/>
              </a:rPr>
              <a:t>、Ｓ</a:t>
            </a:r>
            <a:r>
              <a:rPr lang="zh-CN" altLang="en-US" baseline="-25000" dirty="0">
                <a:latin typeface="Times New Roman" panose="02020603050405020304" pitchFamily="18" charset="0"/>
              </a:rPr>
              <a:t>Ｄ：</a:t>
            </a:r>
            <a:r>
              <a:rPr lang="zh-CN" altLang="en-US" dirty="0">
                <a:latin typeface="Times New Roman" panose="02020603050405020304" pitchFamily="18" charset="0"/>
              </a:rPr>
              <a:t>异步置０、置１（不受ＣＰ限制）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193" name="Group 25"/>
          <p:cNvGrpSpPr/>
          <p:nvPr/>
        </p:nvGrpSpPr>
        <p:grpSpPr>
          <a:xfrm>
            <a:off x="914400" y="5867400"/>
            <a:ext cx="2006600" cy="533400"/>
            <a:chOff x="576" y="3600"/>
            <a:chExt cx="1264" cy="336"/>
          </a:xfrm>
        </p:grpSpPr>
        <p:graphicFrame>
          <p:nvGraphicFramePr>
            <p:cNvPr id="12301" name="Object 22"/>
            <p:cNvGraphicFramePr>
              <a:graphicFrameLocks noChangeAspect="1"/>
            </p:cNvGraphicFramePr>
            <p:nvPr/>
          </p:nvGraphicFramePr>
          <p:xfrm>
            <a:off x="912" y="3600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3" imgW="190500" imgH="241300" progId="Equation.3">
                    <p:embed/>
                  </p:oleObj>
                </mc:Choice>
                <mc:Fallback>
                  <p:oleObj name="" r:id="rId3" imgW="190500" imgH="2413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2" y="3600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23"/>
            <p:cNvSpPr txBox="1"/>
            <p:nvPr/>
          </p:nvSpPr>
          <p:spPr>
            <a:xfrm>
              <a:off x="576" y="360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Ｑ、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Text Box 24"/>
            <p:cNvSpPr txBox="1"/>
            <p:nvPr/>
          </p:nvSpPr>
          <p:spPr>
            <a:xfrm>
              <a:off x="1142" y="3613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：输出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194" name="Text Box 26"/>
          <p:cNvSpPr txBox="1"/>
          <p:nvPr/>
        </p:nvSpPr>
        <p:spPr>
          <a:xfrm>
            <a:off x="457200" y="1447800"/>
            <a:ext cx="836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钟控Ｒ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Ｓ触发器在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＝１时，Ｒ、Ｓ变化引起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</a:rPr>
              <a:t>输出多次改变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95" name="Text Box 27"/>
          <p:cNvSpPr txBox="1"/>
          <p:nvPr/>
        </p:nvSpPr>
        <p:spPr>
          <a:xfrm>
            <a:off x="914400" y="48768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ＣＰ：时钟控制输入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97" name="Text Box 29"/>
          <p:cNvSpPr txBox="1"/>
          <p:nvPr/>
        </p:nvSpPr>
        <p:spPr>
          <a:xfrm>
            <a:off x="457200" y="2057400"/>
            <a:ext cx="81692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主从触发器有：Ｒ－Ｓ触发器、记数型触发器、Ｔ触发器及Ｊ－Ｋ触发器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2" grpId="0"/>
      <p:bldP spid="7187" grpId="0"/>
      <p:bldP spid="7188" grpId="0"/>
      <p:bldP spid="7189" grpId="0"/>
      <p:bldP spid="7194" grpId="0"/>
      <p:bldP spid="7195" grpId="0"/>
      <p:bldP spid="71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0" y="685800"/>
          <a:ext cx="4267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505075" imgH="2981325" progId="Paint.Picture">
                  <p:embed/>
                </p:oleObj>
              </mc:Choice>
              <mc:Fallback>
                <p:oleObj name="" r:id="rId1" imgW="2505075" imgH="2981325" progId="Paint.Picture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685800"/>
                        <a:ext cx="4267200" cy="411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AutoShape 3"/>
          <p:cNvSpPr/>
          <p:nvPr/>
        </p:nvSpPr>
        <p:spPr>
          <a:xfrm>
            <a:off x="4191000" y="3733800"/>
            <a:ext cx="1371600" cy="457200"/>
          </a:xfrm>
          <a:prstGeom prst="wedgeRectCallout">
            <a:avLst>
              <a:gd name="adj1" fmla="val -50579"/>
              <a:gd name="adj2" fmla="val -94097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主触发器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8" name="AutoShape 4"/>
          <p:cNvSpPr/>
          <p:nvPr/>
        </p:nvSpPr>
        <p:spPr>
          <a:xfrm>
            <a:off x="4114800" y="2286000"/>
            <a:ext cx="1371600" cy="533400"/>
          </a:xfrm>
          <a:prstGeom prst="wedgeRectCallout">
            <a:avLst>
              <a:gd name="adj1" fmla="val -46991"/>
              <a:gd name="adj2" fmla="val -107736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从触发器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6629" name="Group 5"/>
          <p:cNvGrpSpPr/>
          <p:nvPr/>
        </p:nvGrpSpPr>
        <p:grpSpPr>
          <a:xfrm>
            <a:off x="6216650" y="3352800"/>
            <a:ext cx="2927350" cy="2867025"/>
            <a:chOff x="480" y="1292"/>
            <a:chExt cx="1844" cy="1806"/>
          </a:xfrm>
        </p:grpSpPr>
        <p:sp>
          <p:nvSpPr>
            <p:cNvPr id="13328" name="Text Box 6"/>
            <p:cNvSpPr txBox="1"/>
            <p:nvPr/>
          </p:nvSpPr>
          <p:spPr>
            <a:xfrm>
              <a:off x="480" y="1292"/>
              <a:ext cx="1844" cy="18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2" eaLnBrk="1" hangingPunct="1">
                <a:lnSpc>
                  <a:spcPct val="120000"/>
                </a:lnSpc>
              </a:pP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真值表</a:t>
              </a:r>
              <a:r>
                <a:rPr lang="zh-CN" altLang="en-US" b="0" dirty="0">
                  <a:latin typeface="宋体" panose="02010600030101010101" pitchFamily="2" charset="-122"/>
                </a:rPr>
                <a:t>   </a:t>
              </a:r>
              <a:endParaRPr lang="zh-CN" altLang="en-US" b="0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b="0" dirty="0">
                  <a:latin typeface="Times New Roman" panose="02020603050405020304" pitchFamily="18" charset="0"/>
                </a:rPr>
                <a:t>   </a:t>
              </a:r>
              <a:r>
                <a:rPr lang="en-US" altLang="zh-CN" b="0" dirty="0">
                  <a:latin typeface="Times New Roman" panose="02020603050405020304" pitchFamily="18" charset="0"/>
                </a:rPr>
                <a:t>K	J	Q</a:t>
              </a:r>
              <a:r>
                <a:rPr lang="en-US" altLang="zh-CN" b="0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b="0" dirty="0">
                  <a:latin typeface="Times New Roman" panose="02020603050405020304" pitchFamily="18" charset="0"/>
                </a:rPr>
                <a:t>	</a:t>
              </a:r>
              <a:endParaRPr lang="en-US" altLang="zh-CN" b="0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b="0" dirty="0">
                  <a:latin typeface="Times New Roman" panose="02020603050405020304" pitchFamily="18" charset="0"/>
                </a:rPr>
                <a:t>   0	0	Q</a:t>
              </a:r>
              <a:r>
                <a:rPr lang="en-US" altLang="zh-CN" b="0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0" dirty="0">
                  <a:latin typeface="Times New Roman" panose="02020603050405020304" pitchFamily="18" charset="0"/>
                </a:rPr>
                <a:t>	</a:t>
              </a:r>
              <a:endParaRPr lang="en-US" altLang="zh-CN" b="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b="0" dirty="0">
                  <a:latin typeface="Times New Roman" panose="02020603050405020304" pitchFamily="18" charset="0"/>
                </a:rPr>
                <a:t>   1	0	0	</a:t>
              </a:r>
              <a:endParaRPr lang="en-US" altLang="zh-CN" b="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b="0" dirty="0">
                  <a:latin typeface="Times New Roman" panose="02020603050405020304" pitchFamily="18" charset="0"/>
                </a:rPr>
                <a:t>   0	1	1	</a:t>
              </a:r>
              <a:endParaRPr lang="en-US" altLang="zh-CN" b="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b="0" dirty="0">
                  <a:latin typeface="Times New Roman" panose="02020603050405020304" pitchFamily="18" charset="0"/>
                </a:rPr>
                <a:t>   1	1		</a:t>
              </a:r>
              <a:endParaRPr lang="en-US" altLang="zh-CN" b="0" dirty="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b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29" name="Object 7"/>
            <p:cNvGraphicFramePr>
              <a:graphicFrameLocks noChangeAspect="1"/>
            </p:cNvGraphicFramePr>
            <p:nvPr/>
          </p:nvGraphicFramePr>
          <p:xfrm>
            <a:off x="1534" y="2544"/>
            <a:ext cx="35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3" imgW="266065" imgH="241300" progId="Equation.DSMT4">
                    <p:embed/>
                  </p:oleObj>
                </mc:Choice>
                <mc:Fallback>
                  <p:oleObj name="" r:id="rId3" imgW="266065" imgH="2413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34" y="2544"/>
                          <a:ext cx="353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Line 8"/>
            <p:cNvSpPr/>
            <p:nvPr/>
          </p:nvSpPr>
          <p:spPr>
            <a:xfrm>
              <a:off x="576" y="158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1" name="Line 9"/>
            <p:cNvSpPr/>
            <p:nvPr/>
          </p:nvSpPr>
          <p:spPr>
            <a:xfrm>
              <a:off x="528" y="187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2" name="Line 10"/>
            <p:cNvSpPr/>
            <p:nvPr/>
          </p:nvSpPr>
          <p:spPr>
            <a:xfrm>
              <a:off x="528" y="283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318" name="Text Box 11"/>
          <p:cNvSpPr txBox="1"/>
          <p:nvPr/>
        </p:nvSpPr>
        <p:spPr>
          <a:xfrm>
            <a:off x="304800" y="0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（二）逻辑功能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6" name="Text Box 12"/>
          <p:cNvSpPr txBox="1"/>
          <p:nvPr/>
        </p:nvSpPr>
        <p:spPr>
          <a:xfrm>
            <a:off x="625475" y="5153025"/>
            <a:ext cx="498157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由两个钟控Ｒ－Ｓ触发器构成，无空翻现象，有一次变化问题。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7" name="Text Box 13"/>
          <p:cNvSpPr txBox="1"/>
          <p:nvPr/>
        </p:nvSpPr>
        <p:spPr>
          <a:xfrm>
            <a:off x="7121525" y="5776913"/>
            <a:ext cx="20224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Ｋ与Ｒ对应，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Ｊ与Ｓ对应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8" name="Text Box 14"/>
          <p:cNvSpPr txBox="1"/>
          <p:nvPr/>
        </p:nvSpPr>
        <p:spPr>
          <a:xfrm>
            <a:off x="609600" y="6370638"/>
            <a:ext cx="64341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CP=0</a:t>
            </a:r>
            <a:r>
              <a:rPr lang="zh-CN" altLang="en-US" dirty="0">
                <a:latin typeface="Times New Roman" panose="02020603050405020304" pitchFamily="18" charset="0"/>
              </a:rPr>
              <a:t>：从触发器接受主触发器状态并翻转稳定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9" name="Text Box 15"/>
          <p:cNvSpPr txBox="1"/>
          <p:nvPr/>
        </p:nvSpPr>
        <p:spPr>
          <a:xfrm>
            <a:off x="609600" y="6040438"/>
            <a:ext cx="56245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CP=1:</a:t>
            </a:r>
            <a:r>
              <a:rPr lang="zh-CN" altLang="zh-CN" dirty="0">
                <a:latin typeface="Times New Roman" panose="02020603050405020304" pitchFamily="18" charset="0"/>
              </a:rPr>
              <a:t>主触发器接受激励信号并翻转稳定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42" name="Rectangle 18"/>
          <p:cNvSpPr/>
          <p:nvPr/>
        </p:nvSpPr>
        <p:spPr>
          <a:xfrm>
            <a:off x="304800" y="685800"/>
            <a:ext cx="3733800" cy="2133600"/>
          </a:xfrm>
          <a:prstGeom prst="rect">
            <a:avLst/>
          </a:prstGeom>
          <a:noFill/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43" name="Rectangle 19"/>
          <p:cNvSpPr/>
          <p:nvPr/>
        </p:nvSpPr>
        <p:spPr>
          <a:xfrm>
            <a:off x="228600" y="2895600"/>
            <a:ext cx="3886200" cy="1981200"/>
          </a:xfrm>
          <a:prstGeom prst="rect">
            <a:avLst/>
          </a:prstGeom>
          <a:noFill/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25" name="Object 20"/>
          <p:cNvGraphicFramePr>
            <a:graphicFrameLocks noChangeAspect="1"/>
          </p:cNvGraphicFramePr>
          <p:nvPr/>
        </p:nvGraphicFramePr>
        <p:xfrm>
          <a:off x="6278563" y="584200"/>
          <a:ext cx="194945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3057525" imgH="3667125" progId="Paint.Picture">
                  <p:embed/>
                </p:oleObj>
              </mc:Choice>
              <mc:Fallback>
                <p:oleObj name="" r:id="rId5" imgW="3057525" imgH="3667125" progId="Paint.Picture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8563" y="584200"/>
                        <a:ext cx="1949450" cy="233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5" name="AutoShape 21"/>
          <p:cNvSpPr/>
          <p:nvPr/>
        </p:nvSpPr>
        <p:spPr>
          <a:xfrm>
            <a:off x="4495800" y="914400"/>
            <a:ext cx="1371600" cy="533400"/>
          </a:xfrm>
          <a:prstGeom prst="wedgeRectCallout">
            <a:avLst>
              <a:gd name="adj1" fmla="val 62384"/>
              <a:gd name="adj2" fmla="val -121130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主从</a:t>
            </a:r>
            <a:r>
              <a:rPr lang="en-US" altLang="zh-CN" dirty="0">
                <a:latin typeface="Times New Roman" panose="02020603050405020304" pitchFamily="18" charset="0"/>
              </a:rPr>
              <a:t>RS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327" name="Rectangle 22"/>
          <p:cNvSpPr/>
          <p:nvPr/>
        </p:nvSpPr>
        <p:spPr>
          <a:xfrm>
            <a:off x="8305800" y="5548313"/>
            <a:ext cx="152400" cy="274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p>
            <a:pPr algn="ctr" eaLnBrk="1" hangingPunct="1"/>
            <a:endParaRPr lang="en-US" altLang="zh-CN" sz="18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28" grpId="0" animBg="1"/>
      <p:bldP spid="26636" grpId="0"/>
      <p:bldP spid="26637" grpId="0"/>
      <p:bldP spid="26638" grpId="0"/>
      <p:bldP spid="26639" grpId="0"/>
      <p:bldP spid="266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70" name="Group 2"/>
          <p:cNvGrpSpPr/>
          <p:nvPr/>
        </p:nvGrpSpPr>
        <p:grpSpPr>
          <a:xfrm>
            <a:off x="914400" y="1219200"/>
            <a:ext cx="2927350" cy="2867025"/>
            <a:chOff x="480" y="1292"/>
            <a:chExt cx="1844" cy="1806"/>
          </a:xfrm>
        </p:grpSpPr>
        <p:sp>
          <p:nvSpPr>
            <p:cNvPr id="14386" name="Text Box 3"/>
            <p:cNvSpPr txBox="1"/>
            <p:nvPr/>
          </p:nvSpPr>
          <p:spPr>
            <a:xfrm>
              <a:off x="480" y="1292"/>
              <a:ext cx="1844" cy="18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2" eaLnBrk="1" hangingPunct="1">
                <a:lnSpc>
                  <a:spcPct val="120000"/>
                </a:lnSpc>
              </a:pP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真值表</a:t>
              </a:r>
              <a:r>
                <a:rPr lang="zh-CN" altLang="en-US" dirty="0">
                  <a:latin typeface="宋体" panose="02010600030101010101" pitchFamily="2" charset="-122"/>
                </a:rPr>
                <a:t>   </a:t>
              </a:r>
              <a:endParaRPr lang="zh-CN" altLang="en-US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</a:t>
              </a:r>
              <a:r>
                <a:rPr lang="en-US" altLang="zh-CN" dirty="0">
                  <a:latin typeface="Times New Roman" panose="02020603050405020304" pitchFamily="18" charset="0"/>
                </a:rPr>
                <a:t>K	J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 0	0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1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0	1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1	1	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87" name="Object 4"/>
            <p:cNvGraphicFramePr>
              <a:graphicFrameLocks noChangeAspect="1"/>
            </p:cNvGraphicFramePr>
            <p:nvPr/>
          </p:nvGraphicFramePr>
          <p:xfrm>
            <a:off x="1584" y="2544"/>
            <a:ext cx="25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" imgW="190500" imgH="241300" progId="Equation.3">
                    <p:embed/>
                  </p:oleObj>
                </mc:Choice>
                <mc:Fallback>
                  <p:oleObj name="" r:id="rId1" imgW="190500" imgH="2413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4" y="2544"/>
                          <a:ext cx="25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8" name="Line 5"/>
            <p:cNvSpPr/>
            <p:nvPr/>
          </p:nvSpPr>
          <p:spPr>
            <a:xfrm>
              <a:off x="576" y="158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89" name="Line 6"/>
            <p:cNvSpPr/>
            <p:nvPr/>
          </p:nvSpPr>
          <p:spPr>
            <a:xfrm>
              <a:off x="528" y="187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90" name="Line 7"/>
            <p:cNvSpPr/>
            <p:nvPr/>
          </p:nvSpPr>
          <p:spPr>
            <a:xfrm>
              <a:off x="528" y="283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39" name="Text Box 8"/>
          <p:cNvSpPr txBox="1"/>
          <p:nvPr/>
        </p:nvSpPr>
        <p:spPr>
          <a:xfrm>
            <a:off x="288925" y="249238"/>
            <a:ext cx="4162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（三）状态转换图与特征方程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152400" y="762000"/>
            <a:ext cx="262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（１）状态转换图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2778" name="Group 10"/>
          <p:cNvGrpSpPr/>
          <p:nvPr/>
        </p:nvGrpSpPr>
        <p:grpSpPr>
          <a:xfrm>
            <a:off x="3886200" y="0"/>
            <a:ext cx="4908550" cy="3343275"/>
            <a:chOff x="2448" y="0"/>
            <a:chExt cx="3092" cy="2106"/>
          </a:xfrm>
        </p:grpSpPr>
        <p:grpSp>
          <p:nvGrpSpPr>
            <p:cNvPr id="14380" name="Group 11"/>
            <p:cNvGrpSpPr/>
            <p:nvPr/>
          </p:nvGrpSpPr>
          <p:grpSpPr>
            <a:xfrm>
              <a:off x="3072" y="0"/>
              <a:ext cx="2468" cy="2106"/>
              <a:chOff x="3072" y="0"/>
              <a:chExt cx="2468" cy="2106"/>
            </a:xfrm>
          </p:grpSpPr>
          <p:sp>
            <p:nvSpPr>
              <p:cNvPr id="14382" name="Text Box 12"/>
              <p:cNvSpPr txBox="1"/>
              <p:nvPr/>
            </p:nvSpPr>
            <p:spPr>
              <a:xfrm>
                <a:off x="3120" y="0"/>
                <a:ext cx="2420" cy="21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125000"/>
                  </a:lnSpc>
                </a:pPr>
                <a:r>
                  <a:rPr lang="zh-CN" altLang="en-US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状态转换真值表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5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n+1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J	K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0	0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1	0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0	0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0	0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1	1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1	1	0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1	1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	0	1	1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83" name="Line 13"/>
              <p:cNvSpPr/>
              <p:nvPr/>
            </p:nvSpPr>
            <p:spPr>
              <a:xfrm>
                <a:off x="3072" y="336"/>
                <a:ext cx="2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84" name="Line 14"/>
              <p:cNvSpPr/>
              <p:nvPr/>
            </p:nvSpPr>
            <p:spPr>
              <a:xfrm>
                <a:off x="3072" y="624"/>
                <a:ext cx="2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85" name="Line 15"/>
              <p:cNvSpPr/>
              <p:nvPr/>
            </p:nvSpPr>
            <p:spPr>
              <a:xfrm>
                <a:off x="3120" y="2064"/>
                <a:ext cx="2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4381" name="AutoShape 16"/>
            <p:cNvSpPr/>
            <p:nvPr/>
          </p:nvSpPr>
          <p:spPr>
            <a:xfrm>
              <a:off x="2448" y="1488"/>
              <a:ext cx="288" cy="14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85" name="Group 17"/>
          <p:cNvGrpSpPr/>
          <p:nvPr/>
        </p:nvGrpSpPr>
        <p:grpSpPr>
          <a:xfrm>
            <a:off x="2606675" y="4495800"/>
            <a:ext cx="838200" cy="762000"/>
            <a:chOff x="432" y="2832"/>
            <a:chExt cx="528" cy="480"/>
          </a:xfrm>
        </p:grpSpPr>
        <p:sp>
          <p:nvSpPr>
            <p:cNvPr id="14378" name="Text Box 18"/>
            <p:cNvSpPr txBox="1"/>
            <p:nvPr/>
          </p:nvSpPr>
          <p:spPr>
            <a:xfrm>
              <a:off x="614" y="295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79" name="Oval 19"/>
            <p:cNvSpPr/>
            <p:nvPr/>
          </p:nvSpPr>
          <p:spPr>
            <a:xfrm>
              <a:off x="432" y="2832"/>
              <a:ext cx="528" cy="48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88" name="Group 20"/>
          <p:cNvGrpSpPr/>
          <p:nvPr/>
        </p:nvGrpSpPr>
        <p:grpSpPr>
          <a:xfrm>
            <a:off x="4511675" y="4572000"/>
            <a:ext cx="838200" cy="762000"/>
            <a:chOff x="2016" y="2832"/>
            <a:chExt cx="528" cy="480"/>
          </a:xfrm>
        </p:grpSpPr>
        <p:sp>
          <p:nvSpPr>
            <p:cNvPr id="14376" name="Text Box 21"/>
            <p:cNvSpPr txBox="1"/>
            <p:nvPr/>
          </p:nvSpPr>
          <p:spPr>
            <a:xfrm>
              <a:off x="2198" y="290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7" name="Oval 22"/>
            <p:cNvSpPr/>
            <p:nvPr/>
          </p:nvSpPr>
          <p:spPr>
            <a:xfrm>
              <a:off x="2016" y="2832"/>
              <a:ext cx="528" cy="48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91" name="AutoShape 23"/>
          <p:cNvSpPr/>
          <p:nvPr/>
        </p:nvSpPr>
        <p:spPr>
          <a:xfrm>
            <a:off x="2184400" y="5715000"/>
            <a:ext cx="1108075" cy="498475"/>
          </a:xfrm>
          <a:prstGeom prst="wedgeRoundRectCallout">
            <a:avLst>
              <a:gd name="adj1" fmla="val -153"/>
              <a:gd name="adj2" fmla="val -73884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状态 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792" name="AutoShape 24"/>
          <p:cNvSpPr/>
          <p:nvPr/>
        </p:nvSpPr>
        <p:spPr>
          <a:xfrm>
            <a:off x="5176838" y="5656263"/>
            <a:ext cx="1108075" cy="498475"/>
          </a:xfrm>
          <a:prstGeom prst="wedgeRoundRectCallout">
            <a:avLst>
              <a:gd name="adj1" fmla="val -39472"/>
              <a:gd name="adj2" fmla="val -73565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状态 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793" name="Arc 25"/>
          <p:cNvSpPr/>
          <p:nvPr/>
        </p:nvSpPr>
        <p:spPr>
          <a:xfrm flipH="1">
            <a:off x="2309813" y="4498975"/>
            <a:ext cx="461962" cy="758825"/>
          </a:xfrm>
          <a:custGeom>
            <a:avLst/>
            <a:gdLst/>
            <a:ahLst/>
            <a:cxnLst>
              <a:cxn ang="0">
                <a:pos x="7719" y="56648"/>
              </a:cxn>
              <a:cxn ang="0">
                <a:pos x="0" y="695888"/>
              </a:cxn>
              <a:cxn ang="0">
                <a:pos x="164233" y="379413"/>
              </a:cxn>
            </a:cxnLst>
            <a:pathLst>
              <a:path w="33515" h="43200" fill="none">
                <a:moveTo>
                  <a:pt x="560" y="3225"/>
                </a:moveTo>
                <a:cubicBezTo>
                  <a:pt x="3972" y="1116"/>
                  <a:pt x="7904" y="0"/>
                  <a:pt x="11915" y="0"/>
                </a:cubicBezTo>
                <a:cubicBezTo>
                  <a:pt x="23844" y="0"/>
                  <a:pt x="33515" y="9670"/>
                  <a:pt x="33515" y="21600"/>
                </a:cubicBezTo>
                <a:cubicBezTo>
                  <a:pt x="33515" y="33529"/>
                  <a:pt x="23844" y="43200"/>
                  <a:pt x="11915" y="43200"/>
                </a:cubicBezTo>
                <a:cubicBezTo>
                  <a:pt x="7677" y="43199"/>
                  <a:pt x="3534" y="41953"/>
                  <a:pt x="0" y="39616"/>
                </a:cubicBezTo>
              </a:path>
              <a:path w="33515" h="43200" stroke="0">
                <a:moveTo>
                  <a:pt x="560" y="3225"/>
                </a:moveTo>
                <a:cubicBezTo>
                  <a:pt x="3972" y="1116"/>
                  <a:pt x="7904" y="0"/>
                  <a:pt x="11915" y="0"/>
                </a:cubicBezTo>
                <a:cubicBezTo>
                  <a:pt x="23844" y="0"/>
                  <a:pt x="33515" y="9670"/>
                  <a:pt x="33515" y="21600"/>
                </a:cubicBezTo>
                <a:cubicBezTo>
                  <a:pt x="33515" y="33529"/>
                  <a:pt x="23844" y="43200"/>
                  <a:pt x="11915" y="43200"/>
                </a:cubicBezTo>
                <a:cubicBezTo>
                  <a:pt x="7677" y="43199"/>
                  <a:pt x="3534" y="41953"/>
                  <a:pt x="0" y="39616"/>
                </a:cubicBezTo>
                <a:lnTo>
                  <a:pt x="11915" y="21600"/>
                </a:lnTo>
                <a:lnTo>
                  <a:pt x="560" y="3225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2794" name="Group 26"/>
          <p:cNvGrpSpPr/>
          <p:nvPr/>
        </p:nvGrpSpPr>
        <p:grpSpPr>
          <a:xfrm>
            <a:off x="1535113" y="4495800"/>
            <a:ext cx="827087" cy="762000"/>
            <a:chOff x="967" y="2832"/>
            <a:chExt cx="521" cy="480"/>
          </a:xfrm>
        </p:grpSpPr>
        <p:sp>
          <p:nvSpPr>
            <p:cNvPr id="14374" name="Text Box 27"/>
            <p:cNvSpPr txBox="1"/>
            <p:nvPr/>
          </p:nvSpPr>
          <p:spPr>
            <a:xfrm>
              <a:off x="1018" y="2832"/>
              <a:ext cx="4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J=0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75" name="Text Box 28"/>
            <p:cNvSpPr txBox="1"/>
            <p:nvPr/>
          </p:nvSpPr>
          <p:spPr>
            <a:xfrm>
              <a:off x="967" y="3024"/>
              <a:ext cx="5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K=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97" name="Arc 29"/>
          <p:cNvSpPr/>
          <p:nvPr/>
        </p:nvSpPr>
        <p:spPr>
          <a:xfrm>
            <a:off x="5192713" y="4572000"/>
            <a:ext cx="461962" cy="758825"/>
          </a:xfrm>
          <a:custGeom>
            <a:avLst/>
            <a:gdLst/>
            <a:ahLst/>
            <a:cxnLst>
              <a:cxn ang="0">
                <a:pos x="7719" y="56648"/>
              </a:cxn>
              <a:cxn ang="0">
                <a:pos x="0" y="695888"/>
              </a:cxn>
              <a:cxn ang="0">
                <a:pos x="164233" y="379413"/>
              </a:cxn>
            </a:cxnLst>
            <a:pathLst>
              <a:path w="33515" h="43200" fill="none">
                <a:moveTo>
                  <a:pt x="560" y="3225"/>
                </a:moveTo>
                <a:cubicBezTo>
                  <a:pt x="3972" y="1116"/>
                  <a:pt x="7904" y="0"/>
                  <a:pt x="11915" y="0"/>
                </a:cubicBezTo>
                <a:cubicBezTo>
                  <a:pt x="23844" y="0"/>
                  <a:pt x="33515" y="9670"/>
                  <a:pt x="33515" y="21600"/>
                </a:cubicBezTo>
                <a:cubicBezTo>
                  <a:pt x="33515" y="33529"/>
                  <a:pt x="23844" y="43200"/>
                  <a:pt x="11915" y="43200"/>
                </a:cubicBezTo>
                <a:cubicBezTo>
                  <a:pt x="7677" y="43199"/>
                  <a:pt x="3534" y="41953"/>
                  <a:pt x="0" y="39616"/>
                </a:cubicBezTo>
              </a:path>
              <a:path w="33515" h="43200" stroke="0">
                <a:moveTo>
                  <a:pt x="560" y="3225"/>
                </a:moveTo>
                <a:cubicBezTo>
                  <a:pt x="3972" y="1116"/>
                  <a:pt x="7904" y="0"/>
                  <a:pt x="11915" y="0"/>
                </a:cubicBezTo>
                <a:cubicBezTo>
                  <a:pt x="23844" y="0"/>
                  <a:pt x="33515" y="9670"/>
                  <a:pt x="33515" y="21600"/>
                </a:cubicBezTo>
                <a:cubicBezTo>
                  <a:pt x="33515" y="33529"/>
                  <a:pt x="23844" y="43200"/>
                  <a:pt x="11915" y="43200"/>
                </a:cubicBezTo>
                <a:cubicBezTo>
                  <a:pt x="7677" y="43199"/>
                  <a:pt x="3534" y="41953"/>
                  <a:pt x="0" y="39616"/>
                </a:cubicBezTo>
                <a:lnTo>
                  <a:pt x="11915" y="21600"/>
                </a:lnTo>
                <a:lnTo>
                  <a:pt x="560" y="3225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2798" name="Group 30"/>
          <p:cNvGrpSpPr/>
          <p:nvPr/>
        </p:nvGrpSpPr>
        <p:grpSpPr>
          <a:xfrm>
            <a:off x="5654675" y="4572000"/>
            <a:ext cx="746125" cy="762000"/>
            <a:chOff x="3562" y="2880"/>
            <a:chExt cx="470" cy="480"/>
          </a:xfrm>
        </p:grpSpPr>
        <p:sp>
          <p:nvSpPr>
            <p:cNvPr id="14372" name="Text Box 31"/>
            <p:cNvSpPr txBox="1"/>
            <p:nvPr/>
          </p:nvSpPr>
          <p:spPr>
            <a:xfrm>
              <a:off x="3562" y="3072"/>
              <a:ext cx="4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K=0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73" name="Text Box 32"/>
            <p:cNvSpPr txBox="1"/>
            <p:nvPr/>
          </p:nvSpPr>
          <p:spPr>
            <a:xfrm>
              <a:off x="3562" y="2880"/>
              <a:ext cx="4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J=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801" name="Arc 33"/>
          <p:cNvSpPr/>
          <p:nvPr/>
        </p:nvSpPr>
        <p:spPr>
          <a:xfrm>
            <a:off x="2987675" y="4129088"/>
            <a:ext cx="2057400" cy="520700"/>
          </a:xfrm>
          <a:custGeom>
            <a:avLst/>
            <a:gdLst/>
            <a:ahLst/>
            <a:cxnLst>
              <a:cxn ang="0">
                <a:pos x="435864" y="0"/>
              </a:cxn>
              <a:cxn ang="0">
                <a:pos x="2057400" y="520700"/>
              </a:cxn>
              <a:cxn ang="0">
                <a:pos x="0" y="520700"/>
              </a:cxn>
            </a:cxnLst>
            <a:pathLst>
              <a:path w="21600" h="21110" fill="none">
                <a:moveTo>
                  <a:pt x="4575" y="0"/>
                </a:moveTo>
                <a:cubicBezTo>
                  <a:pt x="14511" y="2153"/>
                  <a:pt x="21600" y="10944"/>
                  <a:pt x="21600" y="21110"/>
                </a:cubicBezTo>
              </a:path>
              <a:path w="21600" h="21110" stroke="0">
                <a:moveTo>
                  <a:pt x="4575" y="0"/>
                </a:moveTo>
                <a:cubicBezTo>
                  <a:pt x="14511" y="2153"/>
                  <a:pt x="21600" y="10944"/>
                  <a:pt x="21600" y="21110"/>
                </a:cubicBezTo>
                <a:lnTo>
                  <a:pt x="0" y="21110"/>
                </a:lnTo>
                <a:lnTo>
                  <a:pt x="4575" y="0"/>
                </a:lnTo>
                <a:close/>
              </a:path>
            </a:pathLst>
          </a:cu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2802" name="Arc 34"/>
          <p:cNvSpPr/>
          <p:nvPr/>
        </p:nvSpPr>
        <p:spPr>
          <a:xfrm>
            <a:off x="3140075" y="4114800"/>
            <a:ext cx="1679575" cy="460375"/>
          </a:xfrm>
          <a:custGeom>
            <a:avLst/>
            <a:gdLst/>
            <a:ahLst/>
            <a:cxnLst>
              <a:cxn ang="0">
                <a:pos x="0" y="389102"/>
              </a:cxn>
              <a:cxn ang="0">
                <a:pos x="1679575" y="460375"/>
              </a:cxn>
              <a:cxn ang="0">
                <a:pos x="834703" y="460375"/>
              </a:cxn>
            </a:cxnLst>
            <a:pathLst>
              <a:path w="42940" h="21600" fill="none">
                <a:moveTo>
                  <a:pt x="0" y="18256"/>
                </a:moveTo>
                <a:cubicBezTo>
                  <a:pt x="1647" y="7746"/>
                  <a:pt x="10701" y="0"/>
                  <a:pt x="21340" y="0"/>
                </a:cubicBezTo>
                <a:cubicBezTo>
                  <a:pt x="33269" y="0"/>
                  <a:pt x="42940" y="9670"/>
                  <a:pt x="42940" y="21600"/>
                </a:cubicBezTo>
              </a:path>
              <a:path w="42940" h="21600" stroke="0">
                <a:moveTo>
                  <a:pt x="0" y="18256"/>
                </a:moveTo>
                <a:cubicBezTo>
                  <a:pt x="1647" y="7746"/>
                  <a:pt x="10701" y="0"/>
                  <a:pt x="21340" y="0"/>
                </a:cubicBezTo>
                <a:cubicBezTo>
                  <a:pt x="33269" y="0"/>
                  <a:pt x="42940" y="9670"/>
                  <a:pt x="42940" y="21600"/>
                </a:cubicBezTo>
                <a:lnTo>
                  <a:pt x="21340" y="21600"/>
                </a:lnTo>
                <a:lnTo>
                  <a:pt x="0" y="18256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2803" name="Group 35"/>
          <p:cNvGrpSpPr/>
          <p:nvPr/>
        </p:nvGrpSpPr>
        <p:grpSpPr>
          <a:xfrm>
            <a:off x="3368675" y="3692525"/>
            <a:ext cx="1431925" cy="457200"/>
            <a:chOff x="2122" y="2326"/>
            <a:chExt cx="902" cy="288"/>
          </a:xfrm>
        </p:grpSpPr>
        <p:sp>
          <p:nvSpPr>
            <p:cNvPr id="14370" name="Text Box 36"/>
            <p:cNvSpPr txBox="1"/>
            <p:nvPr/>
          </p:nvSpPr>
          <p:spPr>
            <a:xfrm>
              <a:off x="2122" y="2341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宋体" panose="02010600030101010101" pitchFamily="2" charset="-122"/>
                </a:rPr>
                <a:t>J=1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  <p:sp>
          <p:nvSpPr>
            <p:cNvPr id="14371" name="Text Box 37"/>
            <p:cNvSpPr txBox="1"/>
            <p:nvPr/>
          </p:nvSpPr>
          <p:spPr>
            <a:xfrm>
              <a:off x="2506" y="2326"/>
              <a:ext cx="5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K= 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32806" name="Arc 38"/>
          <p:cNvSpPr/>
          <p:nvPr/>
        </p:nvSpPr>
        <p:spPr>
          <a:xfrm flipH="1" flipV="1">
            <a:off x="3140075" y="5257800"/>
            <a:ext cx="1679575" cy="460375"/>
          </a:xfrm>
          <a:custGeom>
            <a:avLst/>
            <a:gdLst/>
            <a:ahLst/>
            <a:cxnLst>
              <a:cxn ang="0">
                <a:pos x="0" y="389102"/>
              </a:cxn>
              <a:cxn ang="0">
                <a:pos x="1679575" y="460375"/>
              </a:cxn>
              <a:cxn ang="0">
                <a:pos x="834703" y="460375"/>
              </a:cxn>
            </a:cxnLst>
            <a:pathLst>
              <a:path w="42940" h="21600" fill="none">
                <a:moveTo>
                  <a:pt x="0" y="18256"/>
                </a:moveTo>
                <a:cubicBezTo>
                  <a:pt x="1647" y="7746"/>
                  <a:pt x="10701" y="0"/>
                  <a:pt x="21340" y="0"/>
                </a:cubicBezTo>
                <a:cubicBezTo>
                  <a:pt x="33269" y="0"/>
                  <a:pt x="42940" y="9670"/>
                  <a:pt x="42940" y="21600"/>
                </a:cubicBezTo>
              </a:path>
              <a:path w="42940" h="21600" stroke="0">
                <a:moveTo>
                  <a:pt x="0" y="18256"/>
                </a:moveTo>
                <a:cubicBezTo>
                  <a:pt x="1647" y="7746"/>
                  <a:pt x="10701" y="0"/>
                  <a:pt x="21340" y="0"/>
                </a:cubicBezTo>
                <a:cubicBezTo>
                  <a:pt x="33269" y="0"/>
                  <a:pt x="42940" y="9670"/>
                  <a:pt x="42940" y="21600"/>
                </a:cubicBezTo>
                <a:lnTo>
                  <a:pt x="21340" y="21600"/>
                </a:lnTo>
                <a:lnTo>
                  <a:pt x="0" y="18256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2807" name="Group 39"/>
          <p:cNvGrpSpPr/>
          <p:nvPr/>
        </p:nvGrpSpPr>
        <p:grpSpPr>
          <a:xfrm>
            <a:off x="3368675" y="5659438"/>
            <a:ext cx="1517650" cy="457200"/>
            <a:chOff x="2122" y="3565"/>
            <a:chExt cx="956" cy="288"/>
          </a:xfrm>
        </p:grpSpPr>
        <p:sp>
          <p:nvSpPr>
            <p:cNvPr id="14368" name="Text Box 40"/>
            <p:cNvSpPr txBox="1"/>
            <p:nvPr/>
          </p:nvSpPr>
          <p:spPr>
            <a:xfrm>
              <a:off x="2667" y="3600"/>
              <a:ext cx="4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K=1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  <p:sp>
          <p:nvSpPr>
            <p:cNvPr id="14369" name="Text Box 41"/>
            <p:cNvSpPr txBox="1"/>
            <p:nvPr/>
          </p:nvSpPr>
          <p:spPr>
            <a:xfrm>
              <a:off x="2122" y="3565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dirty="0">
                  <a:latin typeface="宋体" panose="02010600030101010101" pitchFamily="2" charset="-122"/>
                </a:rPr>
                <a:t>J= </a:t>
              </a:r>
              <a:r>
                <a:rPr lang="en-US" altLang="zh-CN" dirty="0">
                  <a:latin typeface="宋体" panose="02010600030101010101" pitchFamily="2" charset="-122"/>
                  <a:sym typeface="Symbol" panose="05050102010706020507" pitchFamily="18" charset="2"/>
                </a:rPr>
                <a:t></a:t>
              </a:r>
              <a:endParaRPr lang="en-US" altLang="zh-CN" dirty="0"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2810" name="Text Box 42"/>
          <p:cNvSpPr txBox="1"/>
          <p:nvPr/>
        </p:nvSpPr>
        <p:spPr>
          <a:xfrm>
            <a:off x="2819400" y="6143625"/>
            <a:ext cx="22320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状态转换图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2811" name="Group 43"/>
          <p:cNvGrpSpPr/>
          <p:nvPr/>
        </p:nvGrpSpPr>
        <p:grpSpPr>
          <a:xfrm>
            <a:off x="4876800" y="1066800"/>
            <a:ext cx="3429000" cy="609600"/>
            <a:chOff x="3072" y="672"/>
            <a:chExt cx="2160" cy="384"/>
          </a:xfrm>
        </p:grpSpPr>
        <p:sp>
          <p:nvSpPr>
            <p:cNvPr id="14366" name="Line 44"/>
            <p:cNvSpPr/>
            <p:nvPr/>
          </p:nvSpPr>
          <p:spPr>
            <a:xfrm>
              <a:off x="3072" y="672"/>
              <a:ext cx="2160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7" name="Line 45"/>
            <p:cNvSpPr/>
            <p:nvPr/>
          </p:nvSpPr>
          <p:spPr>
            <a:xfrm>
              <a:off x="3120" y="1056"/>
              <a:ext cx="206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2814" name="Group 46"/>
          <p:cNvGrpSpPr/>
          <p:nvPr/>
        </p:nvGrpSpPr>
        <p:grpSpPr>
          <a:xfrm>
            <a:off x="4876800" y="2209800"/>
            <a:ext cx="3276600" cy="609600"/>
            <a:chOff x="3072" y="1392"/>
            <a:chExt cx="2064" cy="384"/>
          </a:xfrm>
        </p:grpSpPr>
        <p:sp>
          <p:nvSpPr>
            <p:cNvPr id="14364" name="Line 47"/>
            <p:cNvSpPr/>
            <p:nvPr/>
          </p:nvSpPr>
          <p:spPr>
            <a:xfrm>
              <a:off x="3072" y="1392"/>
              <a:ext cx="2064" cy="0"/>
            </a:xfrm>
            <a:prstGeom prst="line">
              <a:avLst/>
            </a:prstGeom>
            <a:ln w="5715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5" name="Line 48"/>
            <p:cNvSpPr/>
            <p:nvPr/>
          </p:nvSpPr>
          <p:spPr>
            <a:xfrm>
              <a:off x="3120" y="1776"/>
              <a:ext cx="1968" cy="0"/>
            </a:xfrm>
            <a:prstGeom prst="line">
              <a:avLst/>
            </a:prstGeom>
            <a:ln w="5715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2817" name="Group 49"/>
          <p:cNvGrpSpPr/>
          <p:nvPr/>
        </p:nvGrpSpPr>
        <p:grpSpPr>
          <a:xfrm>
            <a:off x="4953000" y="1981200"/>
            <a:ext cx="3276600" cy="1143000"/>
            <a:chOff x="3120" y="1248"/>
            <a:chExt cx="2064" cy="720"/>
          </a:xfrm>
        </p:grpSpPr>
        <p:sp>
          <p:nvSpPr>
            <p:cNvPr id="14362" name="Line 50"/>
            <p:cNvSpPr/>
            <p:nvPr/>
          </p:nvSpPr>
          <p:spPr>
            <a:xfrm>
              <a:off x="3120" y="1248"/>
              <a:ext cx="2064" cy="0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3" name="Line 51"/>
            <p:cNvSpPr/>
            <p:nvPr/>
          </p:nvSpPr>
          <p:spPr>
            <a:xfrm flipV="1">
              <a:off x="3168" y="1968"/>
              <a:ext cx="1968" cy="0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2820" name="Group 52"/>
          <p:cNvGrpSpPr/>
          <p:nvPr/>
        </p:nvGrpSpPr>
        <p:grpSpPr>
          <a:xfrm>
            <a:off x="4953000" y="1371600"/>
            <a:ext cx="3352800" cy="1143000"/>
            <a:chOff x="3120" y="864"/>
            <a:chExt cx="2112" cy="720"/>
          </a:xfrm>
        </p:grpSpPr>
        <p:sp>
          <p:nvSpPr>
            <p:cNvPr id="14360" name="Line 53"/>
            <p:cNvSpPr/>
            <p:nvPr/>
          </p:nvSpPr>
          <p:spPr>
            <a:xfrm>
              <a:off x="3120" y="864"/>
              <a:ext cx="2112" cy="0"/>
            </a:xfrm>
            <a:prstGeom prst="line">
              <a:avLst/>
            </a:prstGeom>
            <a:ln w="57150" cap="flat" cmpd="sng">
              <a:solidFill>
                <a:srgbClr val="3399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1" name="Line 54"/>
            <p:cNvSpPr/>
            <p:nvPr/>
          </p:nvSpPr>
          <p:spPr>
            <a:xfrm>
              <a:off x="3120" y="1584"/>
              <a:ext cx="2064" cy="0"/>
            </a:xfrm>
            <a:prstGeom prst="line">
              <a:avLst/>
            </a:prstGeom>
            <a:ln w="57150" cap="flat" cmpd="sng">
              <a:solidFill>
                <a:srgbClr val="3399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/>
      <p:bldP spid="32791" grpId="0" animBg="1"/>
      <p:bldP spid="32792" grpId="0" animBg="1"/>
      <p:bldP spid="328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4267200" y="533400"/>
          <a:ext cx="43434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2247900" imgH="1514475" progId="Paint.Picture">
                  <p:embed/>
                </p:oleObj>
              </mc:Choice>
              <mc:Fallback>
                <p:oleObj name="" r:id="rId1" imgW="2247900" imgH="1514475" progId="Paint.Picture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7200" y="533400"/>
                        <a:ext cx="4343400" cy="365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5638800" y="5181600"/>
          <a:ext cx="2743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219200" imgH="508000" progId="Equation.3">
                  <p:embed/>
                </p:oleObj>
              </mc:Choice>
              <mc:Fallback>
                <p:oleObj name="" r:id="rId3" imgW="1219200" imgH="5080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5181600"/>
                        <a:ext cx="2743200" cy="10668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/>
          <p:nvPr/>
        </p:nvSpPr>
        <p:spPr>
          <a:xfrm>
            <a:off x="381000" y="6858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（２）特征方程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3797" name="Group 5"/>
          <p:cNvGrpSpPr/>
          <p:nvPr/>
        </p:nvGrpSpPr>
        <p:grpSpPr>
          <a:xfrm>
            <a:off x="685800" y="1524000"/>
            <a:ext cx="3917950" cy="3343275"/>
            <a:chOff x="3072" y="0"/>
            <a:chExt cx="2468" cy="2106"/>
          </a:xfrm>
        </p:grpSpPr>
        <p:sp>
          <p:nvSpPr>
            <p:cNvPr id="15376" name="Text Box 6"/>
            <p:cNvSpPr txBox="1"/>
            <p:nvPr/>
          </p:nvSpPr>
          <p:spPr>
            <a:xfrm>
              <a:off x="3120" y="0"/>
              <a:ext cx="2420" cy="2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5000"/>
                </a:lnSpc>
              </a:pP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状态转换真值表</a:t>
              </a:r>
              <a:r>
                <a:rPr lang="zh-CN" altLang="en-US" dirty="0">
                  <a:latin typeface="Times New Roman" panose="02020603050405020304" pitchFamily="18" charset="0"/>
                </a:rPr>
                <a:t>	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J	K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0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	1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0	0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	0	0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1	1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	1	1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1	1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	0	1	1	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77" name="Line 7"/>
            <p:cNvSpPr/>
            <p:nvPr/>
          </p:nvSpPr>
          <p:spPr>
            <a:xfrm>
              <a:off x="3072" y="336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8" name="Line 8"/>
            <p:cNvSpPr/>
            <p:nvPr/>
          </p:nvSpPr>
          <p:spPr>
            <a:xfrm>
              <a:off x="3072" y="624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9" name="Line 9"/>
            <p:cNvSpPr/>
            <p:nvPr/>
          </p:nvSpPr>
          <p:spPr>
            <a:xfrm>
              <a:off x="3120" y="2064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3802" name="Group 10"/>
          <p:cNvGrpSpPr/>
          <p:nvPr/>
        </p:nvGrpSpPr>
        <p:grpSpPr>
          <a:xfrm>
            <a:off x="1600200" y="2743200"/>
            <a:ext cx="381000" cy="1828800"/>
            <a:chOff x="1008" y="1728"/>
            <a:chExt cx="240" cy="1152"/>
          </a:xfrm>
        </p:grpSpPr>
        <p:sp>
          <p:nvSpPr>
            <p:cNvPr id="15374" name="Oval 11"/>
            <p:cNvSpPr/>
            <p:nvPr/>
          </p:nvSpPr>
          <p:spPr>
            <a:xfrm>
              <a:off x="1056" y="2304"/>
              <a:ext cx="192" cy="576"/>
            </a:xfrm>
            <a:prstGeom prst="ellipse">
              <a:avLst/>
            </a:prstGeom>
            <a:noFill/>
            <a:ln w="5715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75" name="Oval 12"/>
            <p:cNvSpPr/>
            <p:nvPr/>
          </p:nvSpPr>
          <p:spPr>
            <a:xfrm>
              <a:off x="1008" y="1728"/>
              <a:ext cx="240" cy="240"/>
            </a:xfrm>
            <a:prstGeom prst="ellipse">
              <a:avLst/>
            </a:prstGeom>
            <a:noFill/>
            <a:ln w="5715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05" name="AutoShape 13"/>
          <p:cNvSpPr/>
          <p:nvPr/>
        </p:nvSpPr>
        <p:spPr>
          <a:xfrm>
            <a:off x="1774825" y="5170488"/>
            <a:ext cx="2317750" cy="1016000"/>
          </a:xfrm>
          <a:prstGeom prst="wedgeRoundRectCallout">
            <a:avLst>
              <a:gd name="adj1" fmla="val -45505"/>
              <a:gd name="adj2" fmla="val -77880"/>
              <a:gd name="adj3" fmla="val 16667"/>
            </a:avLst>
          </a:prstGeom>
          <a:solidFill>
            <a:srgbClr val="FFCC66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卡诺图中对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应格中填入</a:t>
            </a:r>
            <a:r>
              <a:rPr lang="en-US" altLang="zh-CN" sz="2800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06" name="AutoShape 14"/>
          <p:cNvSpPr/>
          <p:nvPr/>
        </p:nvSpPr>
        <p:spPr>
          <a:xfrm>
            <a:off x="7191375" y="6237288"/>
            <a:ext cx="1952625" cy="620712"/>
          </a:xfrm>
          <a:prstGeom prst="wedgeRoundRectCallout">
            <a:avLst>
              <a:gd name="adj1" fmla="val -52764"/>
              <a:gd name="adj2" fmla="val -72250"/>
              <a:gd name="adj3" fmla="val 16667"/>
            </a:avLst>
          </a:prstGeom>
          <a:solidFill>
            <a:srgbClr val="FFCC66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约束条件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3807" name="Group 15"/>
          <p:cNvGrpSpPr/>
          <p:nvPr/>
        </p:nvGrpSpPr>
        <p:grpSpPr>
          <a:xfrm>
            <a:off x="5715000" y="1828800"/>
            <a:ext cx="2514600" cy="2482850"/>
            <a:chOff x="3600" y="1200"/>
            <a:chExt cx="1584" cy="1564"/>
          </a:xfrm>
        </p:grpSpPr>
        <p:graphicFrame>
          <p:nvGraphicFramePr>
            <p:cNvPr id="15371" name="Object 16"/>
            <p:cNvGraphicFramePr>
              <a:graphicFrameLocks noChangeAspect="1"/>
            </p:cNvGraphicFramePr>
            <p:nvPr/>
          </p:nvGraphicFramePr>
          <p:xfrm>
            <a:off x="3600" y="2448"/>
            <a:ext cx="158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1168400" imgH="241300" progId="Equation.3">
                    <p:embed/>
                  </p:oleObj>
                </mc:Choice>
                <mc:Fallback>
                  <p:oleObj name="" r:id="rId5" imgW="1168400" imgH="2413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00" y="2448"/>
                          <a:ext cx="1584" cy="316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CC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Line 17"/>
            <p:cNvSpPr/>
            <p:nvPr/>
          </p:nvSpPr>
          <p:spPr>
            <a:xfrm>
              <a:off x="4368" y="1200"/>
              <a:ext cx="0" cy="120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3" name="Line 18"/>
            <p:cNvSpPr/>
            <p:nvPr/>
          </p:nvSpPr>
          <p:spPr>
            <a:xfrm>
              <a:off x="4704" y="1776"/>
              <a:ext cx="240" cy="624"/>
            </a:xfrm>
            <a:prstGeom prst="line">
              <a:avLst/>
            </a:prstGeom>
            <a:ln w="57150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811" name="Text Box 19"/>
          <p:cNvSpPr txBox="1"/>
          <p:nvPr/>
        </p:nvSpPr>
        <p:spPr>
          <a:xfrm>
            <a:off x="4267200" y="4572000"/>
            <a:ext cx="4181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加入约束条件后的状态方程：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animBg="1"/>
      <p:bldP spid="33806" grpId="0" animBg="1"/>
      <p:bldP spid="338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746125" y="498475"/>
            <a:ext cx="49736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（四）</a:t>
            </a:r>
            <a:r>
              <a:rPr lang="en-US" altLang="zh-CN" dirty="0">
                <a:latin typeface="Times New Roman" panose="02020603050405020304" pitchFamily="18" charset="0"/>
              </a:rPr>
              <a:t>J-K</a:t>
            </a:r>
            <a:r>
              <a:rPr lang="zh-CN" altLang="en-US" dirty="0">
                <a:latin typeface="Times New Roman" panose="02020603050405020304" pitchFamily="18" charset="0"/>
              </a:rPr>
              <a:t>触发器对激励信号的要求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5368" name="Group 8"/>
          <p:cNvGrpSpPr/>
          <p:nvPr/>
        </p:nvGrpSpPr>
        <p:grpSpPr>
          <a:xfrm>
            <a:off x="304800" y="1295400"/>
            <a:ext cx="8458200" cy="4648200"/>
            <a:chOff x="192" y="816"/>
            <a:chExt cx="5328" cy="2928"/>
          </a:xfrm>
        </p:grpSpPr>
        <p:sp>
          <p:nvSpPr>
            <p:cNvPr id="16397" name="Text Box 4"/>
            <p:cNvSpPr txBox="1"/>
            <p:nvPr/>
          </p:nvSpPr>
          <p:spPr>
            <a:xfrm>
              <a:off x="336" y="816"/>
              <a:ext cx="197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J-K</a:t>
              </a:r>
              <a:r>
                <a:rPr lang="zh-CN" altLang="en-US" dirty="0">
                  <a:latin typeface="Times New Roman" panose="02020603050405020304" pitchFamily="18" charset="0"/>
                </a:rPr>
                <a:t>触发器的工作波形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98" name="Object 5"/>
            <p:cNvGraphicFramePr>
              <a:graphicFrameLocks noChangeAspect="1"/>
            </p:cNvGraphicFramePr>
            <p:nvPr/>
          </p:nvGraphicFramePr>
          <p:xfrm>
            <a:off x="192" y="1344"/>
            <a:ext cx="5328" cy="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4105275" imgH="2247900" progId="Paint.Picture">
                    <p:embed/>
                  </p:oleObj>
                </mc:Choice>
                <mc:Fallback>
                  <p:oleObj name="" r:id="rId1" imgW="4105275" imgH="2247900" progId="Paint.Picture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" y="1344"/>
                          <a:ext cx="5328" cy="2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7" name="Text Box 7"/>
          <p:cNvSpPr txBox="1"/>
          <p:nvPr/>
        </p:nvSpPr>
        <p:spPr>
          <a:xfrm>
            <a:off x="898525" y="5908675"/>
            <a:ext cx="7175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CP=1,</a:t>
            </a:r>
            <a:r>
              <a:rPr lang="zh-CN" altLang="zh-CN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变化，触发器的状态与真值表不对应。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9" name="Line 9"/>
          <p:cNvSpPr/>
          <p:nvPr/>
        </p:nvSpPr>
        <p:spPr>
          <a:xfrm>
            <a:off x="1447800" y="1981200"/>
            <a:ext cx="0" cy="35052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0" name="Line 10"/>
          <p:cNvSpPr/>
          <p:nvPr/>
        </p:nvSpPr>
        <p:spPr>
          <a:xfrm>
            <a:off x="2286000" y="1905000"/>
            <a:ext cx="0" cy="35814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1" name="Line 11"/>
          <p:cNvSpPr/>
          <p:nvPr/>
        </p:nvSpPr>
        <p:spPr>
          <a:xfrm>
            <a:off x="3200400" y="1981200"/>
            <a:ext cx="0" cy="35052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2" name="Line 12"/>
          <p:cNvSpPr/>
          <p:nvPr/>
        </p:nvSpPr>
        <p:spPr>
          <a:xfrm>
            <a:off x="4038600" y="1905000"/>
            <a:ext cx="0" cy="35814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3" name="Line 13"/>
          <p:cNvSpPr/>
          <p:nvPr/>
        </p:nvSpPr>
        <p:spPr>
          <a:xfrm>
            <a:off x="4953000" y="1905000"/>
            <a:ext cx="0" cy="35814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5374" name="Line 14"/>
          <p:cNvSpPr/>
          <p:nvPr/>
        </p:nvSpPr>
        <p:spPr>
          <a:xfrm>
            <a:off x="5867400" y="1905000"/>
            <a:ext cx="0" cy="35814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5" name="Line 15"/>
          <p:cNvSpPr/>
          <p:nvPr/>
        </p:nvSpPr>
        <p:spPr>
          <a:xfrm>
            <a:off x="6705600" y="1828800"/>
            <a:ext cx="0" cy="36576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6" name="Line 16"/>
          <p:cNvSpPr/>
          <p:nvPr/>
        </p:nvSpPr>
        <p:spPr>
          <a:xfrm>
            <a:off x="7620000" y="1828800"/>
            <a:ext cx="0" cy="365760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3"/>
          <p:cNvSpPr txBox="1"/>
          <p:nvPr/>
        </p:nvSpPr>
        <p:spPr>
          <a:xfrm>
            <a:off x="381000" y="381000"/>
            <a:ext cx="4357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（五）</a:t>
            </a:r>
            <a:r>
              <a:rPr lang="en-US" altLang="zh-CN" dirty="0">
                <a:latin typeface="Times New Roman" panose="02020603050405020304" pitchFamily="18" charset="0"/>
              </a:rPr>
              <a:t>J-K</a:t>
            </a:r>
            <a:r>
              <a:rPr lang="zh-CN" altLang="en-US" dirty="0">
                <a:latin typeface="Times New Roman" panose="02020603050405020304" pitchFamily="18" charset="0"/>
              </a:rPr>
              <a:t>触发器构成Ｔ触发器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5257800" y="1447800"/>
          <a:ext cx="26670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133475" imgH="1533525" progId="Paint.Picture">
                  <p:embed/>
                </p:oleObj>
              </mc:Choice>
              <mc:Fallback>
                <p:oleObj name="" r:id="rId1" imgW="1133475" imgH="1533525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7800" y="1447800"/>
                        <a:ext cx="2667000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Text Box 21"/>
          <p:cNvSpPr txBox="1"/>
          <p:nvPr/>
        </p:nvSpPr>
        <p:spPr>
          <a:xfrm>
            <a:off x="609600" y="914400"/>
            <a:ext cx="723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Ｊ－Ｋ触发器的Ｊ、Ｋ端连接在一起形成Ｔ触发器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6406" name="Group 22"/>
          <p:cNvGrpSpPr/>
          <p:nvPr/>
        </p:nvGrpSpPr>
        <p:grpSpPr>
          <a:xfrm>
            <a:off x="990600" y="3657600"/>
            <a:ext cx="2927350" cy="2867025"/>
            <a:chOff x="480" y="1292"/>
            <a:chExt cx="1844" cy="1806"/>
          </a:xfrm>
        </p:grpSpPr>
        <p:sp>
          <p:nvSpPr>
            <p:cNvPr id="17424" name="Text Box 23"/>
            <p:cNvSpPr txBox="1"/>
            <p:nvPr/>
          </p:nvSpPr>
          <p:spPr>
            <a:xfrm>
              <a:off x="480" y="1292"/>
              <a:ext cx="1844" cy="18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2" eaLnBrk="1" hangingPunct="1">
                <a:lnSpc>
                  <a:spcPct val="120000"/>
                </a:lnSpc>
              </a:pP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真值表</a:t>
              </a:r>
              <a:r>
                <a:rPr lang="zh-CN" altLang="en-US" dirty="0">
                  <a:latin typeface="宋体" panose="02010600030101010101" pitchFamily="2" charset="-122"/>
                </a:rPr>
                <a:t>   </a:t>
              </a:r>
              <a:endParaRPr lang="zh-CN" altLang="en-US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</a:t>
              </a:r>
              <a:r>
                <a:rPr lang="en-US" altLang="zh-CN" dirty="0">
                  <a:latin typeface="Times New Roman" panose="02020603050405020304" pitchFamily="18" charset="0"/>
                </a:rPr>
                <a:t>K	J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 0	0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1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0	1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  1	1	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25" name="Object 24"/>
            <p:cNvGraphicFramePr>
              <a:graphicFrameLocks noChangeAspect="1"/>
            </p:cNvGraphicFramePr>
            <p:nvPr/>
          </p:nvGraphicFramePr>
          <p:xfrm>
            <a:off x="1584" y="2544"/>
            <a:ext cx="25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190500" imgH="241300" progId="Equation.3">
                    <p:embed/>
                  </p:oleObj>
                </mc:Choice>
                <mc:Fallback>
                  <p:oleObj name="" r:id="rId3" imgW="190500" imgH="2413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84" y="2544"/>
                          <a:ext cx="25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Line 25"/>
            <p:cNvSpPr/>
            <p:nvPr/>
          </p:nvSpPr>
          <p:spPr>
            <a:xfrm>
              <a:off x="576" y="158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7" name="Line 26"/>
            <p:cNvSpPr/>
            <p:nvPr/>
          </p:nvSpPr>
          <p:spPr>
            <a:xfrm>
              <a:off x="528" y="187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8" name="Line 27"/>
            <p:cNvSpPr/>
            <p:nvPr/>
          </p:nvSpPr>
          <p:spPr>
            <a:xfrm>
              <a:off x="528" y="283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413" name="Group 29"/>
          <p:cNvGrpSpPr/>
          <p:nvPr/>
        </p:nvGrpSpPr>
        <p:grpSpPr>
          <a:xfrm>
            <a:off x="4495800" y="4267200"/>
            <a:ext cx="3613150" cy="1846263"/>
            <a:chOff x="2832" y="2544"/>
            <a:chExt cx="2276" cy="1163"/>
          </a:xfrm>
        </p:grpSpPr>
        <p:grpSp>
          <p:nvGrpSpPr>
            <p:cNvPr id="17417" name="Group 19"/>
            <p:cNvGrpSpPr/>
            <p:nvPr/>
          </p:nvGrpSpPr>
          <p:grpSpPr>
            <a:xfrm>
              <a:off x="3840" y="2544"/>
              <a:ext cx="1268" cy="1163"/>
              <a:chOff x="1526" y="2869"/>
              <a:chExt cx="1268" cy="1163"/>
            </a:xfrm>
          </p:grpSpPr>
          <p:sp>
            <p:nvSpPr>
              <p:cNvPr id="17419" name="Text Box 5"/>
              <p:cNvSpPr txBox="1"/>
              <p:nvPr/>
            </p:nvSpPr>
            <p:spPr>
              <a:xfrm>
                <a:off x="1526" y="2869"/>
                <a:ext cx="1268" cy="11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120000"/>
                  </a:lnSpc>
                </a:pPr>
                <a:r>
                  <a:rPr lang="en-US" altLang="zh-CN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真值表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T	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n+1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	Q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1		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20" name="Line 7"/>
              <p:cNvSpPr/>
              <p:nvPr/>
            </p:nvSpPr>
            <p:spPr>
              <a:xfrm>
                <a:off x="1536" y="3168"/>
                <a:ext cx="10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1" name="Line 8"/>
              <p:cNvSpPr/>
              <p:nvPr/>
            </p:nvSpPr>
            <p:spPr>
              <a:xfrm>
                <a:off x="1536" y="3456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2" name="Line 11"/>
              <p:cNvSpPr/>
              <p:nvPr/>
            </p:nvSpPr>
            <p:spPr>
              <a:xfrm>
                <a:off x="1536" y="4032"/>
                <a:ext cx="10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aphicFrame>
            <p:nvGraphicFramePr>
              <p:cNvPr id="17423" name="Object 18"/>
              <p:cNvGraphicFramePr>
                <a:graphicFrameLocks noChangeAspect="1"/>
              </p:cNvGraphicFramePr>
              <p:nvPr/>
            </p:nvGraphicFramePr>
            <p:xfrm>
              <a:off x="2112" y="3696"/>
              <a:ext cx="33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5" imgW="266700" imgH="241300" progId="Equation.3">
                      <p:embed/>
                    </p:oleObj>
                  </mc:Choice>
                  <mc:Fallback>
                    <p:oleObj name="" r:id="rId5" imgW="266700" imgH="241300" progId="Equation.3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112" y="3696"/>
                            <a:ext cx="336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418" name="AutoShape 28"/>
            <p:cNvSpPr/>
            <p:nvPr/>
          </p:nvSpPr>
          <p:spPr>
            <a:xfrm>
              <a:off x="2832" y="316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414" name="Text Box 30"/>
          <p:cNvSpPr txBox="1"/>
          <p:nvPr/>
        </p:nvSpPr>
        <p:spPr>
          <a:xfrm>
            <a:off x="609600" y="16002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（１）逻辑符号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415" name="Text Box 31"/>
          <p:cNvSpPr txBox="1"/>
          <p:nvPr/>
        </p:nvSpPr>
        <p:spPr>
          <a:xfrm>
            <a:off x="685800" y="2438400"/>
            <a:ext cx="2000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（２）真值表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5" grpId="0"/>
      <p:bldP spid="16414" grpId="0"/>
      <p:bldP spid="164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600200" y="5105400"/>
          <a:ext cx="32004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727200" imgH="241300" progId="Equation.3">
                  <p:embed/>
                </p:oleObj>
              </mc:Choice>
              <mc:Fallback>
                <p:oleObj name="" r:id="rId1" imgW="1727200" imgH="241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5105400"/>
                        <a:ext cx="320040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4343400" y="1828800"/>
          <a:ext cx="4419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952750" imgH="1171575" progId="Paint.Picture">
                  <p:embed/>
                </p:oleObj>
              </mc:Choice>
              <mc:Fallback>
                <p:oleObj name="" r:id="rId3" imgW="2952750" imgH="1171575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3400" y="1828800"/>
                        <a:ext cx="4419600" cy="167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4"/>
          <p:cNvGrpSpPr/>
          <p:nvPr/>
        </p:nvGrpSpPr>
        <p:grpSpPr>
          <a:xfrm>
            <a:off x="685800" y="1295400"/>
            <a:ext cx="3140075" cy="2501900"/>
            <a:chOff x="3456" y="2437"/>
            <a:chExt cx="1978" cy="1576"/>
          </a:xfrm>
        </p:grpSpPr>
        <p:sp>
          <p:nvSpPr>
            <p:cNvPr id="18439" name="Text Box 5"/>
            <p:cNvSpPr txBox="1"/>
            <p:nvPr/>
          </p:nvSpPr>
          <p:spPr>
            <a:xfrm>
              <a:off x="3590" y="2437"/>
              <a:ext cx="1844" cy="15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宋体" panose="02010600030101010101" pitchFamily="2" charset="-122"/>
                </a:rPr>
                <a:t>  </a:t>
              </a:r>
              <a:r>
                <a:rPr lang="en-US" altLang="zh-CN" dirty="0"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激励表</a:t>
              </a:r>
              <a:r>
                <a:rPr lang="zh-CN" altLang="en-US" dirty="0">
                  <a:latin typeface="Times New Roman" panose="02020603050405020304" pitchFamily="18" charset="0"/>
                </a:rPr>
                <a:t>	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T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0	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440" name="Line 6"/>
            <p:cNvSpPr/>
            <p:nvPr/>
          </p:nvSpPr>
          <p:spPr>
            <a:xfrm>
              <a:off x="3504" y="2736"/>
              <a:ext cx="16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1" name="Line 7"/>
            <p:cNvSpPr/>
            <p:nvPr/>
          </p:nvSpPr>
          <p:spPr>
            <a:xfrm>
              <a:off x="3504" y="3024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2" name="Line 8"/>
            <p:cNvSpPr/>
            <p:nvPr/>
          </p:nvSpPr>
          <p:spPr>
            <a:xfrm>
              <a:off x="3456" y="3984"/>
              <a:ext cx="17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8437" name="Text Box 9"/>
          <p:cNvSpPr txBox="1"/>
          <p:nvPr/>
        </p:nvSpPr>
        <p:spPr>
          <a:xfrm>
            <a:off x="533400" y="381000"/>
            <a:ext cx="262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（３）状态转换图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90" name="Text Box 10"/>
          <p:cNvSpPr txBox="1"/>
          <p:nvPr/>
        </p:nvSpPr>
        <p:spPr>
          <a:xfrm>
            <a:off x="609600" y="41910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（４）特征方程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2514600" y="0"/>
            <a:ext cx="45561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第三节 边沿型触发器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4648200" y="2895600"/>
          <a:ext cx="44958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762125" imgH="1304925" progId="Paint.Picture">
                  <p:embed/>
                </p:oleObj>
              </mc:Choice>
              <mc:Fallback>
                <p:oleObj name="" r:id="rId1" imgW="1762125" imgH="1304925" progId="Paint.Picture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2895600"/>
                        <a:ext cx="4495800" cy="396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/>
          <p:nvPr/>
        </p:nvSpPr>
        <p:spPr>
          <a:xfrm>
            <a:off x="381000" y="762000"/>
            <a:ext cx="2019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一、工作原理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3" name="Text Box 7"/>
          <p:cNvSpPr txBox="1"/>
          <p:nvPr/>
        </p:nvSpPr>
        <p:spPr>
          <a:xfrm>
            <a:off x="304800" y="1235075"/>
            <a:ext cx="86899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主从触发器：</a:t>
            </a:r>
            <a:r>
              <a:rPr lang="en-US" altLang="zh-CN" dirty="0">
                <a:latin typeface="Times New Roman" panose="02020603050405020304" pitchFamily="18" charset="0"/>
              </a:rPr>
              <a:t>CP=1,</a:t>
            </a:r>
            <a:r>
              <a:rPr lang="zh-CN" altLang="zh-CN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变化，触发器的状态与真值表不对应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　　　　　　对激励信号要求严格。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4" name="Text Box 8"/>
          <p:cNvSpPr txBox="1"/>
          <p:nvPr/>
        </p:nvSpPr>
        <p:spPr>
          <a:xfrm>
            <a:off x="304800" y="3352800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二、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维持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阻塞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5" name="Text Box 9"/>
          <p:cNvSpPr txBox="1"/>
          <p:nvPr/>
        </p:nvSpPr>
        <p:spPr>
          <a:xfrm>
            <a:off x="304800" y="38862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（一）逻辑符号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4" name="Text Box 11"/>
          <p:cNvSpPr txBox="1"/>
          <p:nvPr/>
        </p:nvSpPr>
        <p:spPr>
          <a:xfrm>
            <a:off x="441325" y="24590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19465" name="Text Box 12"/>
          <p:cNvSpPr txBox="1"/>
          <p:nvPr/>
        </p:nvSpPr>
        <p:spPr>
          <a:xfrm>
            <a:off x="593725" y="2306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14349" name="Text Box 13"/>
          <p:cNvSpPr txBox="1"/>
          <p:nvPr/>
        </p:nvSpPr>
        <p:spPr>
          <a:xfrm>
            <a:off x="914400" y="4419600"/>
            <a:ext cx="13287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：输入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50" name="Text Box 14"/>
          <p:cNvSpPr txBox="1"/>
          <p:nvPr/>
        </p:nvSpPr>
        <p:spPr>
          <a:xfrm>
            <a:off x="852488" y="5334000"/>
            <a:ext cx="38655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Ｒ</a:t>
            </a:r>
            <a:r>
              <a:rPr lang="zh-CN" altLang="en-US" baseline="-25000" dirty="0">
                <a:latin typeface="Times New Roman" panose="02020603050405020304" pitchFamily="18" charset="0"/>
              </a:rPr>
              <a:t>Ｄ</a:t>
            </a:r>
            <a:r>
              <a:rPr lang="zh-CN" altLang="en-US" dirty="0">
                <a:latin typeface="Times New Roman" panose="02020603050405020304" pitchFamily="18" charset="0"/>
              </a:rPr>
              <a:t>、Ｓ</a:t>
            </a:r>
            <a:r>
              <a:rPr lang="zh-CN" altLang="en-US" baseline="-25000" dirty="0">
                <a:latin typeface="Times New Roman" panose="02020603050405020304" pitchFamily="18" charset="0"/>
              </a:rPr>
              <a:t>Ｄ：</a:t>
            </a:r>
            <a:r>
              <a:rPr lang="zh-CN" altLang="en-US" dirty="0">
                <a:latin typeface="Times New Roman" panose="02020603050405020304" pitchFamily="18" charset="0"/>
              </a:rPr>
              <a:t>异步置０、置１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4351" name="Group 15"/>
          <p:cNvGrpSpPr/>
          <p:nvPr/>
        </p:nvGrpSpPr>
        <p:grpSpPr>
          <a:xfrm>
            <a:off x="914400" y="5867400"/>
            <a:ext cx="2006600" cy="533400"/>
            <a:chOff x="576" y="3600"/>
            <a:chExt cx="1264" cy="336"/>
          </a:xfrm>
        </p:grpSpPr>
        <p:graphicFrame>
          <p:nvGraphicFramePr>
            <p:cNvPr id="19471" name="Object 16"/>
            <p:cNvGraphicFramePr>
              <a:graphicFrameLocks noChangeAspect="1"/>
            </p:cNvGraphicFramePr>
            <p:nvPr/>
          </p:nvGraphicFramePr>
          <p:xfrm>
            <a:off x="912" y="3600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190500" imgH="241300" progId="Equation.3">
                    <p:embed/>
                  </p:oleObj>
                </mc:Choice>
                <mc:Fallback>
                  <p:oleObj name="" r:id="rId3" imgW="190500" imgH="2413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2" y="3600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2" name="Text Box 17"/>
            <p:cNvSpPr txBox="1"/>
            <p:nvPr/>
          </p:nvSpPr>
          <p:spPr>
            <a:xfrm>
              <a:off x="576" y="360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Ｑ、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3" name="Text Box 18"/>
            <p:cNvSpPr txBox="1"/>
            <p:nvPr/>
          </p:nvSpPr>
          <p:spPr>
            <a:xfrm>
              <a:off x="1142" y="3613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：输出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355" name="Text Box 19"/>
          <p:cNvSpPr txBox="1"/>
          <p:nvPr/>
        </p:nvSpPr>
        <p:spPr>
          <a:xfrm>
            <a:off x="914400" y="4876800"/>
            <a:ext cx="4181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ＣＰ：时钟控制，上升沿触发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56" name="Text Box 20"/>
          <p:cNvSpPr txBox="1"/>
          <p:nvPr/>
        </p:nvSpPr>
        <p:spPr>
          <a:xfrm>
            <a:off x="381000" y="2012950"/>
            <a:ext cx="84740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边沿触发器：上升沿触发或下降沿触发，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激励端的信号在触发时间的前后几个延迟时间内保持不变，便可以稳定地根据激励输入翻转。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  <p:bldP spid="14343" grpId="0"/>
      <p:bldP spid="14344" grpId="0"/>
      <p:bldP spid="14345" grpId="0"/>
      <p:bldP spid="14349" grpId="0"/>
      <p:bldP spid="14350" grpId="0"/>
      <p:bldP spid="14355" grpId="0"/>
      <p:bldP spid="143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1447800" y="762000"/>
          <a:ext cx="60198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276475" imgH="2228850" progId="Paint.Picture">
                  <p:embed/>
                </p:oleObj>
              </mc:Choice>
              <mc:Fallback>
                <p:oleObj name="" r:id="rId1" imgW="2276475" imgH="2228850" progId="Paint.Picture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762000"/>
                        <a:ext cx="6019800" cy="464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3"/>
          <p:cNvSpPr txBox="1"/>
          <p:nvPr/>
        </p:nvSpPr>
        <p:spPr>
          <a:xfrm>
            <a:off x="0" y="2286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（二）逻辑功能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9700" name="Text Box 4"/>
          <p:cNvSpPr txBox="1"/>
          <p:nvPr/>
        </p:nvSpPr>
        <p:spPr>
          <a:xfrm>
            <a:off x="1447800" y="3476625"/>
            <a:ext cx="59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０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05" name="Group 9"/>
          <p:cNvGrpSpPr/>
          <p:nvPr/>
        </p:nvGrpSpPr>
        <p:grpSpPr>
          <a:xfrm>
            <a:off x="1905000" y="3476625"/>
            <a:ext cx="806450" cy="579438"/>
            <a:chOff x="1296" y="2526"/>
            <a:chExt cx="508" cy="365"/>
          </a:xfrm>
        </p:grpSpPr>
        <p:sp>
          <p:nvSpPr>
            <p:cNvPr id="20522" name="Text Box 6"/>
            <p:cNvSpPr txBox="1"/>
            <p:nvPr/>
          </p:nvSpPr>
          <p:spPr>
            <a:xfrm>
              <a:off x="1430" y="2526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33CC33"/>
                  </a:solidFill>
                  <a:latin typeface="Times New Roman" panose="02020603050405020304" pitchFamily="18" charset="0"/>
                </a:rPr>
                <a:t>１</a:t>
              </a:r>
              <a:endPara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23" name="Line 8"/>
            <p:cNvSpPr/>
            <p:nvPr/>
          </p:nvSpPr>
          <p:spPr>
            <a:xfrm>
              <a:off x="1296" y="273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9706" name="Text Box 10"/>
          <p:cNvSpPr txBox="1"/>
          <p:nvPr/>
        </p:nvSpPr>
        <p:spPr>
          <a:xfrm>
            <a:off x="1676400" y="4391025"/>
            <a:ext cx="59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１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28" name="Group 32"/>
          <p:cNvGrpSpPr/>
          <p:nvPr/>
        </p:nvGrpSpPr>
        <p:grpSpPr>
          <a:xfrm>
            <a:off x="4495800" y="1828800"/>
            <a:ext cx="787400" cy="1722438"/>
            <a:chOff x="2832" y="1470"/>
            <a:chExt cx="496" cy="1085"/>
          </a:xfrm>
        </p:grpSpPr>
        <p:sp>
          <p:nvSpPr>
            <p:cNvPr id="20520" name="Text Box 11"/>
            <p:cNvSpPr txBox="1"/>
            <p:nvPr/>
          </p:nvSpPr>
          <p:spPr>
            <a:xfrm>
              <a:off x="2832" y="2190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１</a:t>
              </a:r>
              <a:endPara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21" name="Text Box 12"/>
            <p:cNvSpPr txBox="1"/>
            <p:nvPr/>
          </p:nvSpPr>
          <p:spPr>
            <a:xfrm>
              <a:off x="2954" y="1470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１</a:t>
              </a:r>
              <a:endPara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709" name="Text Box 13"/>
          <p:cNvSpPr txBox="1"/>
          <p:nvPr/>
        </p:nvSpPr>
        <p:spPr>
          <a:xfrm>
            <a:off x="4495800" y="433546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０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0" name="Text Box 14"/>
          <p:cNvSpPr txBox="1"/>
          <p:nvPr/>
        </p:nvSpPr>
        <p:spPr>
          <a:xfrm>
            <a:off x="4495800" y="83026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１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1" name="Text Box 15"/>
          <p:cNvSpPr txBox="1"/>
          <p:nvPr/>
        </p:nvSpPr>
        <p:spPr>
          <a:xfrm>
            <a:off x="7162800" y="1952625"/>
            <a:ext cx="59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０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9717" name="Group 21"/>
          <p:cNvGrpSpPr/>
          <p:nvPr/>
        </p:nvGrpSpPr>
        <p:grpSpPr>
          <a:xfrm>
            <a:off x="5080000" y="1800225"/>
            <a:ext cx="787400" cy="579438"/>
            <a:chOff x="3120" y="1470"/>
            <a:chExt cx="496" cy="365"/>
          </a:xfrm>
        </p:grpSpPr>
        <p:sp>
          <p:nvSpPr>
            <p:cNvPr id="20518" name="Text Box 17"/>
            <p:cNvSpPr txBox="1"/>
            <p:nvPr/>
          </p:nvSpPr>
          <p:spPr>
            <a:xfrm>
              <a:off x="3242" y="1470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33CC33"/>
                  </a:solidFill>
                  <a:latin typeface="Times New Roman" panose="02020603050405020304" pitchFamily="18" charset="0"/>
                </a:rPr>
                <a:t>０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519" name="Line 20"/>
            <p:cNvSpPr/>
            <p:nvPr/>
          </p:nvSpPr>
          <p:spPr>
            <a:xfrm>
              <a:off x="3120" y="168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9723" name="Group 27"/>
          <p:cNvGrpSpPr/>
          <p:nvPr/>
        </p:nvGrpSpPr>
        <p:grpSpPr>
          <a:xfrm>
            <a:off x="4908550" y="1981200"/>
            <a:ext cx="3549650" cy="1570038"/>
            <a:chOff x="3024" y="1566"/>
            <a:chExt cx="2236" cy="989"/>
          </a:xfrm>
        </p:grpSpPr>
        <p:grpSp>
          <p:nvGrpSpPr>
            <p:cNvPr id="20512" name="Group 22"/>
            <p:cNvGrpSpPr/>
            <p:nvPr/>
          </p:nvGrpSpPr>
          <p:grpSpPr>
            <a:xfrm>
              <a:off x="4800" y="1566"/>
              <a:ext cx="460" cy="365"/>
              <a:chOff x="4800" y="1566"/>
              <a:chExt cx="460" cy="365"/>
            </a:xfrm>
          </p:grpSpPr>
          <p:sp>
            <p:nvSpPr>
              <p:cNvPr id="20516" name="Line 18"/>
              <p:cNvSpPr/>
              <p:nvPr/>
            </p:nvSpPr>
            <p:spPr>
              <a:xfrm>
                <a:off x="4800" y="177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17" name="Text Box 19"/>
              <p:cNvSpPr txBox="1"/>
              <p:nvPr/>
            </p:nvSpPr>
            <p:spPr>
              <a:xfrm>
                <a:off x="4886" y="1566"/>
                <a:ext cx="37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3200" dirty="0">
                    <a:solidFill>
                      <a:srgbClr val="33CC33"/>
                    </a:solidFill>
                    <a:latin typeface="Times New Roman" panose="02020603050405020304" pitchFamily="18" charset="0"/>
                  </a:rPr>
                  <a:t>１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13" name="Group 26"/>
            <p:cNvGrpSpPr/>
            <p:nvPr/>
          </p:nvGrpSpPr>
          <p:grpSpPr>
            <a:xfrm>
              <a:off x="3024" y="2190"/>
              <a:ext cx="470" cy="365"/>
              <a:chOff x="3024" y="2190"/>
              <a:chExt cx="470" cy="365"/>
            </a:xfrm>
          </p:grpSpPr>
          <p:sp>
            <p:nvSpPr>
              <p:cNvPr id="20514" name="Line 24"/>
              <p:cNvSpPr/>
              <p:nvPr/>
            </p:nvSpPr>
            <p:spPr>
              <a:xfrm>
                <a:off x="3024" y="240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15" name="Text Box 25"/>
              <p:cNvSpPr txBox="1"/>
              <p:nvPr/>
            </p:nvSpPr>
            <p:spPr>
              <a:xfrm>
                <a:off x="3120" y="2190"/>
                <a:ext cx="37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3200" dirty="0">
                    <a:solidFill>
                      <a:srgbClr val="33CC33"/>
                    </a:solidFill>
                    <a:latin typeface="Times New Roman" panose="02020603050405020304" pitchFamily="18" charset="0"/>
                  </a:rPr>
                  <a:t>１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24" name="Text Box 28"/>
          <p:cNvSpPr txBox="1"/>
          <p:nvPr/>
        </p:nvSpPr>
        <p:spPr>
          <a:xfrm>
            <a:off x="7086600" y="311626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１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9727" name="Group 31"/>
          <p:cNvGrpSpPr/>
          <p:nvPr/>
        </p:nvGrpSpPr>
        <p:grpSpPr>
          <a:xfrm>
            <a:off x="7543800" y="3095625"/>
            <a:ext cx="746125" cy="579438"/>
            <a:chOff x="4752" y="2286"/>
            <a:chExt cx="470" cy="365"/>
          </a:xfrm>
        </p:grpSpPr>
        <p:sp>
          <p:nvSpPr>
            <p:cNvPr id="20510" name="Line 29"/>
            <p:cNvSpPr/>
            <p:nvPr/>
          </p:nvSpPr>
          <p:spPr>
            <a:xfrm>
              <a:off x="4752" y="249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1" name="Text Box 30"/>
            <p:cNvSpPr txBox="1"/>
            <p:nvPr/>
          </p:nvSpPr>
          <p:spPr>
            <a:xfrm>
              <a:off x="4848" y="2286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33CC33"/>
                  </a:solidFill>
                  <a:latin typeface="Times New Roman" panose="02020603050405020304" pitchFamily="18" charset="0"/>
                </a:rPr>
                <a:t>０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736" name="Group 40"/>
          <p:cNvGrpSpPr/>
          <p:nvPr/>
        </p:nvGrpSpPr>
        <p:grpSpPr>
          <a:xfrm>
            <a:off x="4876800" y="809625"/>
            <a:ext cx="822325" cy="4084638"/>
            <a:chOff x="3072" y="846"/>
            <a:chExt cx="518" cy="2573"/>
          </a:xfrm>
        </p:grpSpPr>
        <p:grpSp>
          <p:nvGrpSpPr>
            <p:cNvPr id="20504" name="Group 35"/>
            <p:cNvGrpSpPr/>
            <p:nvPr/>
          </p:nvGrpSpPr>
          <p:grpSpPr>
            <a:xfrm>
              <a:off x="3120" y="3054"/>
              <a:ext cx="470" cy="365"/>
              <a:chOff x="3120" y="3054"/>
              <a:chExt cx="470" cy="365"/>
            </a:xfrm>
          </p:grpSpPr>
          <p:sp>
            <p:nvSpPr>
              <p:cNvPr id="20508" name="Line 33"/>
              <p:cNvSpPr/>
              <p:nvPr/>
            </p:nvSpPr>
            <p:spPr>
              <a:xfrm>
                <a:off x="3120" y="326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09" name="Text Box 34"/>
              <p:cNvSpPr txBox="1"/>
              <p:nvPr/>
            </p:nvSpPr>
            <p:spPr>
              <a:xfrm>
                <a:off x="3216" y="3054"/>
                <a:ext cx="37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3200" dirty="0">
                    <a:solidFill>
                      <a:srgbClr val="33CC33"/>
                    </a:solidFill>
                    <a:latin typeface="Times New Roman" panose="02020603050405020304" pitchFamily="18" charset="0"/>
                  </a:rPr>
                  <a:t>０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05" name="Group 39"/>
            <p:cNvGrpSpPr/>
            <p:nvPr/>
          </p:nvGrpSpPr>
          <p:grpSpPr>
            <a:xfrm>
              <a:off x="3072" y="846"/>
              <a:ext cx="470" cy="365"/>
              <a:chOff x="3072" y="846"/>
              <a:chExt cx="470" cy="365"/>
            </a:xfrm>
          </p:grpSpPr>
          <p:sp>
            <p:nvSpPr>
              <p:cNvPr id="20506" name="Line 37"/>
              <p:cNvSpPr/>
              <p:nvPr/>
            </p:nvSpPr>
            <p:spPr>
              <a:xfrm>
                <a:off x="3072" y="105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07" name="Text Box 38"/>
              <p:cNvSpPr txBox="1"/>
              <p:nvPr/>
            </p:nvSpPr>
            <p:spPr>
              <a:xfrm>
                <a:off x="3168" y="846"/>
                <a:ext cx="37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3200" dirty="0">
                    <a:solidFill>
                      <a:srgbClr val="33CC33"/>
                    </a:solidFill>
                    <a:latin typeface="Times New Roman" panose="02020603050405020304" pitchFamily="18" charset="0"/>
                  </a:rPr>
                  <a:t>１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37" name="Text Box 41"/>
          <p:cNvSpPr txBox="1"/>
          <p:nvPr/>
        </p:nvSpPr>
        <p:spPr>
          <a:xfrm>
            <a:off x="685800" y="5257800"/>
            <a:ext cx="5407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Ｄ＝１，Ｑ＝０，ＣＰ上升沿：Ｑ＝１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738" name="Text Box 42"/>
          <p:cNvSpPr txBox="1"/>
          <p:nvPr/>
        </p:nvSpPr>
        <p:spPr>
          <a:xfrm>
            <a:off x="714375" y="5638800"/>
            <a:ext cx="2333625" cy="858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7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Ｄ＝１，Ｑ＝１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Ｄ＝０，Ｑ＝０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Ｄ＝０，Ｑ＝１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9744" name="Group 48"/>
          <p:cNvGrpSpPr/>
          <p:nvPr/>
        </p:nvGrpSpPr>
        <p:grpSpPr>
          <a:xfrm>
            <a:off x="2819400" y="5735638"/>
            <a:ext cx="1704975" cy="588962"/>
            <a:chOff x="1776" y="3613"/>
            <a:chExt cx="1074" cy="371"/>
          </a:xfrm>
        </p:grpSpPr>
        <p:sp>
          <p:nvSpPr>
            <p:cNvPr id="20499" name="Line 43"/>
            <p:cNvSpPr/>
            <p:nvPr/>
          </p:nvSpPr>
          <p:spPr>
            <a:xfrm>
              <a:off x="1824" y="3648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0" name="Line 44"/>
            <p:cNvSpPr/>
            <p:nvPr/>
          </p:nvSpPr>
          <p:spPr>
            <a:xfrm>
              <a:off x="1776" y="398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Line 45"/>
            <p:cNvSpPr/>
            <p:nvPr/>
          </p:nvSpPr>
          <p:spPr>
            <a:xfrm>
              <a:off x="1872" y="364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2" name="Line 46"/>
            <p:cNvSpPr/>
            <p:nvPr/>
          </p:nvSpPr>
          <p:spPr>
            <a:xfrm>
              <a:off x="1872" y="37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3" name="Text Box 47"/>
            <p:cNvSpPr txBox="1"/>
            <p:nvPr/>
          </p:nvSpPr>
          <p:spPr>
            <a:xfrm>
              <a:off x="1958" y="3613"/>
              <a:ext cx="8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自己分析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  <p:bldP spid="29706" grpId="0"/>
      <p:bldP spid="29709" grpId="0"/>
      <p:bldP spid="29710" grpId="0"/>
      <p:bldP spid="29711" grpId="0"/>
      <p:bldP spid="29724" grpId="0"/>
      <p:bldP spid="29737" grpId="0"/>
      <p:bldP spid="297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1066800" y="5867400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Q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n+1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=D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981200" y="2895600"/>
          <a:ext cx="5410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924175" imgH="1438275" progId="Paint.Picture">
                  <p:embed/>
                </p:oleObj>
              </mc:Choice>
              <mc:Fallback>
                <p:oleObj name="" r:id="rId1" imgW="2924175" imgH="1438275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2895600"/>
                        <a:ext cx="5410200" cy="30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Line 8"/>
          <p:cNvSpPr/>
          <p:nvPr/>
        </p:nvSpPr>
        <p:spPr>
          <a:xfrm>
            <a:off x="533400" y="4267200"/>
            <a:ext cx="0" cy="0"/>
          </a:xfrm>
          <a:prstGeom prst="line">
            <a:avLst/>
          </a:prstGeom>
          <a:ln w="9525">
            <a:noFill/>
          </a:ln>
        </p:spPr>
      </p:sp>
      <p:sp>
        <p:nvSpPr>
          <p:cNvPr id="21509" name="Line 9"/>
          <p:cNvSpPr/>
          <p:nvPr/>
        </p:nvSpPr>
        <p:spPr>
          <a:xfrm>
            <a:off x="2362200" y="4267200"/>
            <a:ext cx="0" cy="0"/>
          </a:xfrm>
          <a:prstGeom prst="line">
            <a:avLst/>
          </a:prstGeom>
          <a:ln w="9525">
            <a:noFill/>
          </a:ln>
        </p:spPr>
      </p:sp>
      <p:grpSp>
        <p:nvGrpSpPr>
          <p:cNvPr id="19468" name="Group 12"/>
          <p:cNvGrpSpPr/>
          <p:nvPr/>
        </p:nvGrpSpPr>
        <p:grpSpPr>
          <a:xfrm>
            <a:off x="1524000" y="838200"/>
            <a:ext cx="2089150" cy="1771650"/>
            <a:chOff x="336" y="2121"/>
            <a:chExt cx="1316" cy="1116"/>
          </a:xfrm>
        </p:grpSpPr>
        <p:sp>
          <p:nvSpPr>
            <p:cNvPr id="21518" name="Text Box 5"/>
            <p:cNvSpPr txBox="1"/>
            <p:nvPr/>
          </p:nvSpPr>
          <p:spPr>
            <a:xfrm>
              <a:off x="384" y="2121"/>
              <a:ext cx="1268" cy="1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真值表</a:t>
              </a:r>
              <a:endParaRPr lang="zh-CN" altLang="en-US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D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</a:t>
              </a:r>
              <a:endParaRPr lang="en-US" altLang="zh-CN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19" name="Line 7"/>
            <p:cNvSpPr/>
            <p:nvPr/>
          </p:nvSpPr>
          <p:spPr>
            <a:xfrm>
              <a:off x="336" y="2448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0" name="Line 10"/>
            <p:cNvSpPr/>
            <p:nvPr/>
          </p:nvSpPr>
          <p:spPr>
            <a:xfrm>
              <a:off x="336" y="273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Line 11"/>
            <p:cNvSpPr/>
            <p:nvPr/>
          </p:nvSpPr>
          <p:spPr>
            <a:xfrm>
              <a:off x="336" y="321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473" name="Group 17"/>
          <p:cNvGrpSpPr/>
          <p:nvPr/>
        </p:nvGrpSpPr>
        <p:grpSpPr>
          <a:xfrm>
            <a:off x="4800600" y="228600"/>
            <a:ext cx="3003550" cy="2501900"/>
            <a:chOff x="2208" y="1920"/>
            <a:chExt cx="1892" cy="1576"/>
          </a:xfrm>
        </p:grpSpPr>
        <p:sp>
          <p:nvSpPr>
            <p:cNvPr id="21514" name="Text Box 6"/>
            <p:cNvSpPr txBox="1"/>
            <p:nvPr/>
          </p:nvSpPr>
          <p:spPr>
            <a:xfrm>
              <a:off x="2256" y="1920"/>
              <a:ext cx="1844" cy="15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激励表</a:t>
              </a:r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	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latin typeface="Times New Roman" panose="02020603050405020304" pitchFamily="18" charset="0"/>
                </a:rPr>
                <a:t>	D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1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0	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1	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Line 14"/>
            <p:cNvSpPr/>
            <p:nvPr/>
          </p:nvSpPr>
          <p:spPr>
            <a:xfrm>
              <a:off x="2256" y="2256"/>
              <a:ext cx="14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6" name="Line 15"/>
            <p:cNvSpPr/>
            <p:nvPr/>
          </p:nvSpPr>
          <p:spPr>
            <a:xfrm>
              <a:off x="2256" y="2544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7" name="Line 16"/>
            <p:cNvSpPr/>
            <p:nvPr/>
          </p:nvSpPr>
          <p:spPr>
            <a:xfrm>
              <a:off x="2208" y="3456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2" name="Text Box 18"/>
          <p:cNvSpPr txBox="1"/>
          <p:nvPr/>
        </p:nvSpPr>
        <p:spPr>
          <a:xfrm>
            <a:off x="288925" y="173038"/>
            <a:ext cx="262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（三）状态转换图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75" name="Text Box 19"/>
          <p:cNvSpPr txBox="1"/>
          <p:nvPr/>
        </p:nvSpPr>
        <p:spPr>
          <a:xfrm>
            <a:off x="457200" y="4800600"/>
            <a:ext cx="2314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（四）状态方程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609600" y="4038600"/>
          <a:ext cx="80010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2238375" imgH="1933575" progId="Paint.Picture">
                  <p:embed/>
                </p:oleObj>
              </mc:Choice>
              <mc:Fallback>
                <p:oleObj name="" r:id="rId1" imgW="2238375" imgH="1933575" progId="Paint.Picture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4038600"/>
                        <a:ext cx="8001000" cy="259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914400" y="1447800"/>
          <a:ext cx="7162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4143375" imgH="1866900" progId="Paint.Picture">
                  <p:embed/>
                </p:oleObj>
              </mc:Choice>
              <mc:Fallback>
                <p:oleObj name="" r:id="rId3" imgW="4143375" imgH="1866900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162800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7"/>
          <p:cNvSpPr txBox="1"/>
          <p:nvPr/>
        </p:nvSpPr>
        <p:spPr>
          <a:xfrm>
            <a:off x="228600" y="228600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（五）触发器的应用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6" name="Text Box 8"/>
          <p:cNvSpPr txBox="1"/>
          <p:nvPr/>
        </p:nvSpPr>
        <p:spPr>
          <a:xfrm>
            <a:off x="517525" y="858838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（１）移位寄存器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7420" name="Group 12"/>
          <p:cNvGrpSpPr/>
          <p:nvPr/>
        </p:nvGrpSpPr>
        <p:grpSpPr>
          <a:xfrm>
            <a:off x="2803525" y="1946275"/>
            <a:ext cx="1009650" cy="4606925"/>
            <a:chOff x="1766" y="1226"/>
            <a:chExt cx="636" cy="2902"/>
          </a:xfrm>
        </p:grpSpPr>
        <p:sp>
          <p:nvSpPr>
            <p:cNvPr id="22555" name="Line 9"/>
            <p:cNvSpPr/>
            <p:nvPr/>
          </p:nvSpPr>
          <p:spPr>
            <a:xfrm>
              <a:off x="1968" y="2352"/>
              <a:ext cx="0" cy="1776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56" name="Text Box 11"/>
            <p:cNvSpPr txBox="1"/>
            <p:nvPr/>
          </p:nvSpPr>
          <p:spPr>
            <a:xfrm>
              <a:off x="1766" y="1226"/>
              <a:ext cx="636" cy="324"/>
            </a:xfrm>
            <a:prstGeom prst="rect">
              <a:avLst/>
            </a:prstGeom>
            <a:solidFill>
              <a:srgbClr val="FFFF66"/>
            </a:solidFill>
            <a:ln w="5715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数码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26" name="Group 18"/>
          <p:cNvGrpSpPr/>
          <p:nvPr/>
        </p:nvGrpSpPr>
        <p:grpSpPr>
          <a:xfrm>
            <a:off x="2895600" y="1946275"/>
            <a:ext cx="2593975" cy="4606925"/>
            <a:chOff x="1824" y="1226"/>
            <a:chExt cx="1634" cy="2902"/>
          </a:xfrm>
        </p:grpSpPr>
        <p:sp>
          <p:nvSpPr>
            <p:cNvPr id="22552" name="Line 13"/>
            <p:cNvSpPr/>
            <p:nvPr/>
          </p:nvSpPr>
          <p:spPr>
            <a:xfrm flipH="1">
              <a:off x="2592" y="2352"/>
              <a:ext cx="0" cy="1776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53" name="Text Box 14"/>
            <p:cNvSpPr txBox="1"/>
            <p:nvPr/>
          </p:nvSpPr>
          <p:spPr>
            <a:xfrm>
              <a:off x="2822" y="1242"/>
              <a:ext cx="636" cy="324"/>
            </a:xfrm>
            <a:prstGeom prst="rect">
              <a:avLst/>
            </a:prstGeom>
            <a:solidFill>
              <a:srgbClr val="FFFF66"/>
            </a:solidFill>
            <a:ln w="5715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数码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2554" name="Text Box 17"/>
            <p:cNvSpPr txBox="1"/>
            <p:nvPr/>
          </p:nvSpPr>
          <p:spPr>
            <a:xfrm>
              <a:off x="1824" y="1226"/>
              <a:ext cx="636" cy="324"/>
            </a:xfrm>
            <a:prstGeom prst="rect">
              <a:avLst/>
            </a:prstGeom>
            <a:solidFill>
              <a:srgbClr val="FFFF66"/>
            </a:solidFill>
            <a:ln w="5715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数码</a:t>
              </a:r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32" name="Group 24"/>
          <p:cNvGrpSpPr/>
          <p:nvPr/>
        </p:nvGrpSpPr>
        <p:grpSpPr>
          <a:xfrm>
            <a:off x="2955925" y="1870075"/>
            <a:ext cx="4108450" cy="4835525"/>
            <a:chOff x="1862" y="1178"/>
            <a:chExt cx="2588" cy="3046"/>
          </a:xfrm>
        </p:grpSpPr>
        <p:sp>
          <p:nvSpPr>
            <p:cNvPr id="22546" name="Text Box 15"/>
            <p:cNvSpPr txBox="1"/>
            <p:nvPr/>
          </p:nvSpPr>
          <p:spPr>
            <a:xfrm>
              <a:off x="3814" y="1242"/>
              <a:ext cx="636" cy="324"/>
            </a:xfrm>
            <a:prstGeom prst="rect">
              <a:avLst/>
            </a:prstGeom>
            <a:solidFill>
              <a:srgbClr val="FFFF66"/>
            </a:solidFill>
            <a:ln w="5715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数码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547" name="Group 23"/>
            <p:cNvGrpSpPr/>
            <p:nvPr/>
          </p:nvGrpSpPr>
          <p:grpSpPr>
            <a:xfrm>
              <a:off x="1862" y="1178"/>
              <a:ext cx="1596" cy="3046"/>
              <a:chOff x="1862" y="1178"/>
              <a:chExt cx="1596" cy="3046"/>
            </a:xfrm>
          </p:grpSpPr>
          <p:grpSp>
            <p:nvGrpSpPr>
              <p:cNvPr id="22548" name="Group 22"/>
              <p:cNvGrpSpPr/>
              <p:nvPr/>
            </p:nvGrpSpPr>
            <p:grpSpPr>
              <a:xfrm>
                <a:off x="1862" y="1226"/>
                <a:ext cx="1402" cy="2998"/>
                <a:chOff x="1862" y="1226"/>
                <a:chExt cx="1402" cy="2998"/>
              </a:xfrm>
            </p:grpSpPr>
            <p:sp>
              <p:nvSpPr>
                <p:cNvPr id="22550" name="Line 19"/>
                <p:cNvSpPr/>
                <p:nvPr/>
              </p:nvSpPr>
              <p:spPr>
                <a:xfrm>
                  <a:off x="3264" y="2256"/>
                  <a:ext cx="0" cy="1968"/>
                </a:xfrm>
                <a:prstGeom prst="line">
                  <a:avLst/>
                </a:prstGeom>
                <a:ln w="57150" cap="flat" cmpd="sng">
                  <a:solidFill>
                    <a:srgbClr val="CC33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2551" name="Text Box 20"/>
                <p:cNvSpPr txBox="1"/>
                <p:nvPr/>
              </p:nvSpPr>
              <p:spPr>
                <a:xfrm>
                  <a:off x="1862" y="1226"/>
                  <a:ext cx="636" cy="324"/>
                </a:xfrm>
                <a:prstGeom prst="rect">
                  <a:avLst/>
                </a:prstGeom>
                <a:solidFill>
                  <a:srgbClr val="FFFF66"/>
                </a:solidFill>
                <a:ln w="57150" cap="flat" cmpd="sng">
                  <a:solidFill>
                    <a:srgbClr val="CC33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dirty="0">
                      <a:latin typeface="Times New Roman" panose="02020603050405020304" pitchFamily="18" charset="0"/>
                    </a:rPr>
                    <a:t>数码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49" name="Text Box 21"/>
              <p:cNvSpPr txBox="1"/>
              <p:nvPr/>
            </p:nvSpPr>
            <p:spPr>
              <a:xfrm>
                <a:off x="2822" y="1178"/>
                <a:ext cx="636" cy="324"/>
              </a:xfrm>
              <a:prstGeom prst="rect">
                <a:avLst/>
              </a:prstGeom>
              <a:solidFill>
                <a:srgbClr val="FFFF66"/>
              </a:solidFill>
              <a:ln w="57150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数码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7440" name="Group 32"/>
          <p:cNvGrpSpPr/>
          <p:nvPr/>
        </p:nvGrpSpPr>
        <p:grpSpPr>
          <a:xfrm>
            <a:off x="2879725" y="1870075"/>
            <a:ext cx="5632450" cy="4987925"/>
            <a:chOff x="1814" y="1178"/>
            <a:chExt cx="3548" cy="3142"/>
          </a:xfrm>
        </p:grpSpPr>
        <p:sp>
          <p:nvSpPr>
            <p:cNvPr id="22538" name="Text Box 16"/>
            <p:cNvSpPr txBox="1"/>
            <p:nvPr/>
          </p:nvSpPr>
          <p:spPr>
            <a:xfrm>
              <a:off x="4726" y="1248"/>
              <a:ext cx="636" cy="324"/>
            </a:xfrm>
            <a:prstGeom prst="rect">
              <a:avLst/>
            </a:prstGeom>
            <a:solidFill>
              <a:srgbClr val="FFFF66"/>
            </a:solidFill>
            <a:ln w="5715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数码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539" name="Group 31"/>
            <p:cNvGrpSpPr/>
            <p:nvPr/>
          </p:nvGrpSpPr>
          <p:grpSpPr>
            <a:xfrm>
              <a:off x="1814" y="1178"/>
              <a:ext cx="2796" cy="3142"/>
              <a:chOff x="1814" y="1178"/>
              <a:chExt cx="2796" cy="3142"/>
            </a:xfrm>
          </p:grpSpPr>
          <p:grpSp>
            <p:nvGrpSpPr>
              <p:cNvPr id="22540" name="Group 29"/>
              <p:cNvGrpSpPr/>
              <p:nvPr/>
            </p:nvGrpSpPr>
            <p:grpSpPr>
              <a:xfrm>
                <a:off x="1814" y="1178"/>
                <a:ext cx="2074" cy="3142"/>
                <a:chOff x="1814" y="1178"/>
                <a:chExt cx="2074" cy="3142"/>
              </a:xfrm>
            </p:grpSpPr>
            <p:grpSp>
              <p:nvGrpSpPr>
                <p:cNvPr id="22542" name="Group 27"/>
                <p:cNvGrpSpPr/>
                <p:nvPr/>
              </p:nvGrpSpPr>
              <p:grpSpPr>
                <a:xfrm>
                  <a:off x="1814" y="1226"/>
                  <a:ext cx="2074" cy="3094"/>
                  <a:chOff x="1814" y="1226"/>
                  <a:chExt cx="2074" cy="3094"/>
                </a:xfrm>
              </p:grpSpPr>
              <p:sp>
                <p:nvSpPr>
                  <p:cNvPr id="22544" name="Line 25"/>
                  <p:cNvSpPr/>
                  <p:nvPr/>
                </p:nvSpPr>
                <p:spPr>
                  <a:xfrm>
                    <a:off x="3888" y="2352"/>
                    <a:ext cx="0" cy="1968"/>
                  </a:xfrm>
                  <a:prstGeom prst="line">
                    <a:avLst/>
                  </a:prstGeom>
                  <a:ln w="57150" cap="flat" cmpd="sng">
                    <a:solidFill>
                      <a:srgbClr val="CC33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2545" name="Text Box 26"/>
                  <p:cNvSpPr txBox="1"/>
                  <p:nvPr/>
                </p:nvSpPr>
                <p:spPr>
                  <a:xfrm>
                    <a:off x="1814" y="1226"/>
                    <a:ext cx="636" cy="324"/>
                  </a:xfrm>
                  <a:prstGeom prst="rect">
                    <a:avLst/>
                  </a:prstGeom>
                  <a:solidFill>
                    <a:srgbClr val="FFFF66"/>
                  </a:solidFill>
                  <a:ln w="57150" cap="flat" cmpd="sng">
                    <a:solidFill>
                      <a:srgbClr val="CC33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>
                    <a:spAutoFit/>
                  </a:bodyPr>
                  <a:p>
                    <a:pPr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数码</a:t>
                    </a:r>
                    <a:r>
                      <a:rPr lang="en-US" altLang="zh-CN" dirty="0">
                        <a:latin typeface="Times New Roman" panose="02020603050405020304" pitchFamily="18" charset="0"/>
                      </a:rPr>
                      <a:t>4</a:t>
                    </a:r>
                    <a:endParaRPr lang="en-US" altLang="zh-CN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543" name="Text Box 28"/>
                <p:cNvSpPr txBox="1"/>
                <p:nvPr/>
              </p:nvSpPr>
              <p:spPr>
                <a:xfrm>
                  <a:off x="2822" y="1178"/>
                  <a:ext cx="636" cy="324"/>
                </a:xfrm>
                <a:prstGeom prst="rect">
                  <a:avLst/>
                </a:prstGeom>
                <a:solidFill>
                  <a:srgbClr val="FFFF66"/>
                </a:solidFill>
                <a:ln w="57150" cap="flat" cmpd="sng">
                  <a:solidFill>
                    <a:srgbClr val="CC33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dirty="0">
                      <a:latin typeface="Times New Roman" panose="02020603050405020304" pitchFamily="18" charset="0"/>
                    </a:rPr>
                    <a:t>数码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41" name="Text Box 30"/>
              <p:cNvSpPr txBox="1"/>
              <p:nvPr/>
            </p:nvSpPr>
            <p:spPr>
              <a:xfrm>
                <a:off x="3974" y="1226"/>
                <a:ext cx="636" cy="324"/>
              </a:xfrm>
              <a:prstGeom prst="rect">
                <a:avLst/>
              </a:prstGeom>
              <a:solidFill>
                <a:srgbClr val="FFFF66"/>
              </a:solidFill>
              <a:ln w="57150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数码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533400" y="3505200"/>
          <a:ext cx="80772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4943475" imgH="1657350" progId="Paint.Picture">
                  <p:embed/>
                </p:oleObj>
              </mc:Choice>
              <mc:Fallback>
                <p:oleObj name="" r:id="rId1" imgW="4943475" imgH="1657350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3505200"/>
                        <a:ext cx="807720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304800" y="1219200"/>
          <a:ext cx="8534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4695825" imgH="1419225" progId="Paint.Picture">
                  <p:embed/>
                </p:oleObj>
              </mc:Choice>
              <mc:Fallback>
                <p:oleObj name="" r:id="rId3" imgW="4695825" imgH="1419225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1219200"/>
                        <a:ext cx="853440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6"/>
          <p:cNvSpPr txBox="1"/>
          <p:nvPr/>
        </p:nvSpPr>
        <p:spPr>
          <a:xfrm>
            <a:off x="381000" y="304800"/>
            <a:ext cx="17113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（２）计数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1515" name="Group 11"/>
          <p:cNvGrpSpPr/>
          <p:nvPr/>
        </p:nvGrpSpPr>
        <p:grpSpPr>
          <a:xfrm>
            <a:off x="5486400" y="1676400"/>
            <a:ext cx="1143000" cy="1219200"/>
            <a:chOff x="3456" y="1056"/>
            <a:chExt cx="720" cy="768"/>
          </a:xfrm>
        </p:grpSpPr>
        <p:sp>
          <p:nvSpPr>
            <p:cNvPr id="23563" name="Line 7"/>
            <p:cNvSpPr/>
            <p:nvPr/>
          </p:nvSpPr>
          <p:spPr>
            <a:xfrm>
              <a:off x="3456" y="1056"/>
              <a:ext cx="720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4" name="Line 8"/>
            <p:cNvSpPr/>
            <p:nvPr/>
          </p:nvSpPr>
          <p:spPr>
            <a:xfrm>
              <a:off x="3456" y="1056"/>
              <a:ext cx="0" cy="768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5" name="Line 9"/>
            <p:cNvSpPr/>
            <p:nvPr/>
          </p:nvSpPr>
          <p:spPr>
            <a:xfrm>
              <a:off x="3456" y="1824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6" name="Line 10"/>
            <p:cNvSpPr/>
            <p:nvPr/>
          </p:nvSpPr>
          <p:spPr>
            <a:xfrm>
              <a:off x="3744" y="1728"/>
              <a:ext cx="0" cy="96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6" name="AutoShape 12"/>
          <p:cNvSpPr/>
          <p:nvPr/>
        </p:nvSpPr>
        <p:spPr>
          <a:xfrm>
            <a:off x="6110288" y="304800"/>
            <a:ext cx="2881312" cy="892175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与状态非连接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上升沿翻转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7" name="AutoShape 13"/>
          <p:cNvSpPr/>
          <p:nvPr/>
        </p:nvSpPr>
        <p:spPr>
          <a:xfrm>
            <a:off x="4600575" y="544513"/>
            <a:ext cx="3028950" cy="892175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CP2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D1</a:t>
            </a:r>
            <a:r>
              <a:rPr lang="zh-CN" altLang="en-US" dirty="0">
                <a:latin typeface="Times New Roman" panose="02020603050405020304" pitchFamily="18" charset="0"/>
              </a:rPr>
              <a:t>相连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Q2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</a:rPr>
              <a:t>Q1</a:t>
            </a:r>
            <a:r>
              <a:rPr lang="zh-CN" altLang="en-US" dirty="0">
                <a:latin typeface="Times New Roman" panose="02020603050405020304" pitchFamily="18" charset="0"/>
              </a:rPr>
              <a:t>下降沿翻转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1520" name="Group 16"/>
          <p:cNvGrpSpPr/>
          <p:nvPr/>
        </p:nvGrpSpPr>
        <p:grpSpPr>
          <a:xfrm>
            <a:off x="4572000" y="2667000"/>
            <a:ext cx="914400" cy="228600"/>
            <a:chOff x="2880" y="1680"/>
            <a:chExt cx="576" cy="144"/>
          </a:xfrm>
        </p:grpSpPr>
        <p:sp>
          <p:nvSpPr>
            <p:cNvPr id="23561" name="Line 14"/>
            <p:cNvSpPr/>
            <p:nvPr/>
          </p:nvSpPr>
          <p:spPr>
            <a:xfrm>
              <a:off x="2880" y="1680"/>
              <a:ext cx="0" cy="144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2" name="Line 15"/>
            <p:cNvSpPr/>
            <p:nvPr/>
          </p:nvSpPr>
          <p:spPr>
            <a:xfrm>
              <a:off x="2880" y="1824"/>
              <a:ext cx="576" cy="0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6" grpId="0" animBg="1"/>
      <p:bldP spid="215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3"/>
          <p:cNvSpPr txBox="1"/>
          <p:nvPr/>
        </p:nvSpPr>
        <p:spPr>
          <a:xfrm>
            <a:off x="1295400" y="203200"/>
            <a:ext cx="6626225" cy="7937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Aft>
                <a:spcPts val="1200"/>
              </a:spcAft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第四节  触发器逻辑功能的转换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4267200" y="1600200"/>
          <a:ext cx="2438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29665" imgH="241300" progId="Equation.3">
                  <p:embed/>
                </p:oleObj>
              </mc:Choice>
              <mc:Fallback>
                <p:oleObj name="" r:id="rId1" imgW="1129665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7200" y="1600200"/>
                        <a:ext cx="24384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181600" y="3048000"/>
          <a:ext cx="32004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2486025" imgH="1838325" progId="Paint.Picture">
                  <p:embed/>
                </p:oleObj>
              </mc:Choice>
              <mc:Fallback>
                <p:oleObj name="" r:id="rId3" imgW="2486025" imgH="183832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00" y="3048000"/>
                        <a:ext cx="3200400" cy="270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3581400" y="2133600"/>
          <a:ext cx="464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2311400" imgH="241300" progId="Equation.3">
                  <p:embed/>
                </p:oleObj>
              </mc:Choice>
              <mc:Fallback>
                <p:oleObj name="" r:id="rId5" imgW="2311400" imgH="2413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1400" y="2133600"/>
                        <a:ext cx="46482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/>
          <p:nvPr/>
        </p:nvSpPr>
        <p:spPr>
          <a:xfrm>
            <a:off x="517525" y="1011238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一、Ｊ－Ｋ型改Ｄ型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41" name="Text Box 9"/>
          <p:cNvSpPr txBox="1"/>
          <p:nvPr/>
        </p:nvSpPr>
        <p:spPr>
          <a:xfrm>
            <a:off x="685800" y="1600200"/>
            <a:ext cx="3571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Ｊ－Ｋ触发器特征方程：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42" name="Text Box 10"/>
          <p:cNvSpPr txBox="1"/>
          <p:nvPr/>
        </p:nvSpPr>
        <p:spPr>
          <a:xfrm>
            <a:off x="746125" y="22098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Ｄ触发器特征方程：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8448" name="Group 16"/>
          <p:cNvGrpSpPr/>
          <p:nvPr/>
        </p:nvGrpSpPr>
        <p:grpSpPr>
          <a:xfrm>
            <a:off x="1371600" y="3352800"/>
            <a:ext cx="2476500" cy="457200"/>
            <a:chOff x="864" y="2112"/>
            <a:chExt cx="1560" cy="288"/>
          </a:xfrm>
        </p:grpSpPr>
        <p:graphicFrame>
          <p:nvGraphicFramePr>
            <p:cNvPr id="24590" name="Object 11"/>
            <p:cNvGraphicFramePr>
              <a:graphicFrameLocks noChangeAspect="1"/>
            </p:cNvGraphicFramePr>
            <p:nvPr/>
          </p:nvGraphicFramePr>
          <p:xfrm>
            <a:off x="1728" y="2112"/>
            <a:ext cx="23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165100" imgH="203200" progId="Equation.3">
                    <p:embed/>
                  </p:oleObj>
                </mc:Choice>
                <mc:Fallback>
                  <p:oleObj name="" r:id="rId7" imgW="165100" imgH="2032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28" y="2112"/>
                          <a:ext cx="23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591" name="Group 15"/>
            <p:cNvGrpSpPr/>
            <p:nvPr/>
          </p:nvGrpSpPr>
          <p:grpSpPr>
            <a:xfrm>
              <a:off x="864" y="2112"/>
              <a:ext cx="1560" cy="288"/>
              <a:chOff x="864" y="2352"/>
              <a:chExt cx="1560" cy="288"/>
            </a:xfrm>
          </p:grpSpPr>
          <p:sp>
            <p:nvSpPr>
              <p:cNvPr id="24592" name="Text Box 12"/>
              <p:cNvSpPr txBox="1"/>
              <p:nvPr/>
            </p:nvSpPr>
            <p:spPr>
              <a:xfrm>
                <a:off x="864" y="2352"/>
                <a:ext cx="69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Ｊ＝Ｄ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3" name="Text Box 13"/>
              <p:cNvSpPr txBox="1"/>
              <p:nvPr/>
            </p:nvSpPr>
            <p:spPr>
              <a:xfrm>
                <a:off x="1920" y="2352"/>
                <a:ext cx="5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＝Ｄ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446" name="Text Box 14"/>
          <p:cNvSpPr txBox="1"/>
          <p:nvPr/>
        </p:nvSpPr>
        <p:spPr>
          <a:xfrm>
            <a:off x="898525" y="2763838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比较得：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49" name="Text Box 17"/>
          <p:cNvSpPr txBox="1"/>
          <p:nvPr/>
        </p:nvSpPr>
        <p:spPr>
          <a:xfrm>
            <a:off x="441325" y="4059238"/>
            <a:ext cx="29432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二、Ｄ型改Ｊ－Ｋ型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　　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50" name="Text Box 18"/>
          <p:cNvSpPr txBox="1"/>
          <p:nvPr/>
        </p:nvSpPr>
        <p:spPr>
          <a:xfrm>
            <a:off x="457200" y="4648200"/>
            <a:ext cx="2333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三、Ｄ型改Ｔ型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51" name="Text Box 19"/>
          <p:cNvSpPr txBox="1"/>
          <p:nvPr/>
        </p:nvSpPr>
        <p:spPr>
          <a:xfrm>
            <a:off x="593725" y="5202238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自己完成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  <p:bldP spid="18441" grpId="0"/>
      <p:bldP spid="18442" grpId="0"/>
      <p:bldP spid="18446" grpId="0"/>
      <p:bldP spid="18449" grpId="0"/>
      <p:bldP spid="18450" grpId="0"/>
      <p:bldP spid="184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381000" y="914400"/>
            <a:ext cx="3552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）时钟控制</a:t>
            </a:r>
            <a:r>
              <a:rPr lang="en-US" altLang="zh-CN" dirty="0">
                <a:latin typeface="宋体" panose="02010600030101010101" pitchFamily="2" charset="-122"/>
              </a:rPr>
              <a:t>R-S</a:t>
            </a:r>
            <a:r>
              <a:rPr lang="zh-CN" altLang="en-US" dirty="0">
                <a:latin typeface="宋体" panose="02010600030101010101" pitchFamily="2" charset="-122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533400" y="1371600"/>
            <a:ext cx="8439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电平触发方式，当</a:t>
            </a:r>
            <a:r>
              <a:rPr lang="en-US" altLang="zh-CN" dirty="0">
                <a:latin typeface="宋体" panose="02010600030101010101" pitchFamily="2" charset="-122"/>
              </a:rPr>
              <a:t>CP=1</a:t>
            </a:r>
            <a:r>
              <a:rPr lang="zh-CN" altLang="en-US" dirty="0">
                <a:latin typeface="宋体" panose="02010600030101010101" pitchFamily="2" charset="-122"/>
              </a:rPr>
              <a:t>时，其状态随输入端</a:t>
            </a:r>
            <a:r>
              <a:rPr lang="en-US" altLang="zh-CN" dirty="0">
                <a:latin typeface="宋体" panose="02010600030101010101" pitchFamily="2" charset="-122"/>
              </a:rPr>
              <a:t>R</a:t>
            </a:r>
            <a:r>
              <a:rPr lang="zh-CN" altLang="en-US" dirty="0">
                <a:latin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</a:rPr>
              <a:t>S</a:t>
            </a:r>
            <a:r>
              <a:rPr lang="zh-CN" altLang="en-US" dirty="0">
                <a:latin typeface="宋体" panose="02010600030101010101" pitchFamily="2" charset="-122"/>
              </a:rPr>
              <a:t>的变化而改变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4580" name="Text Box 4"/>
          <p:cNvSpPr txBox="1"/>
          <p:nvPr/>
        </p:nvSpPr>
        <p:spPr>
          <a:xfrm>
            <a:off x="228600" y="2971800"/>
            <a:ext cx="2936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）主从</a:t>
            </a:r>
            <a:r>
              <a:rPr lang="en-US" altLang="zh-CN" dirty="0">
                <a:latin typeface="宋体" panose="02010600030101010101" pitchFamily="2" charset="-122"/>
              </a:rPr>
              <a:t>J-K</a:t>
            </a:r>
            <a:r>
              <a:rPr lang="zh-CN" altLang="en-US" dirty="0">
                <a:latin typeface="宋体" panose="02010600030101010101" pitchFamily="2" charset="-122"/>
              </a:rPr>
              <a:t>触发器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4581" name="Text Box 5"/>
          <p:cNvSpPr txBox="1"/>
          <p:nvPr/>
        </p:nvSpPr>
        <p:spPr>
          <a:xfrm>
            <a:off x="304800" y="4572000"/>
            <a:ext cx="4940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</a:rPr>
              <a:t>）边沿触发器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维持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阻塞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3352800" y="1905000"/>
          <a:ext cx="2971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79500" imgH="508000" progId="Equation.3">
                  <p:embed/>
                </p:oleObj>
              </mc:Choice>
              <mc:Fallback>
                <p:oleObj name="" r:id="rId1" imgW="10795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1905000"/>
                        <a:ext cx="2971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9" name="Group 13"/>
          <p:cNvGrpSpPr/>
          <p:nvPr/>
        </p:nvGrpSpPr>
        <p:grpSpPr>
          <a:xfrm>
            <a:off x="3352800" y="3048000"/>
            <a:ext cx="2743200" cy="1524000"/>
            <a:chOff x="2112" y="1920"/>
            <a:chExt cx="1728" cy="960"/>
          </a:xfrm>
        </p:grpSpPr>
        <p:graphicFrame>
          <p:nvGraphicFramePr>
            <p:cNvPr id="25612" name="Object 7"/>
            <p:cNvGraphicFramePr>
              <a:graphicFrameLocks noChangeAspect="1"/>
            </p:cNvGraphicFramePr>
            <p:nvPr/>
          </p:nvGraphicFramePr>
          <p:xfrm>
            <a:off x="2112" y="2208"/>
            <a:ext cx="1728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1219200" imgH="508000" progId="Equation.3">
                    <p:embed/>
                  </p:oleObj>
                </mc:Choice>
                <mc:Fallback>
                  <p:oleObj name="" r:id="rId3" imgW="1219200" imgH="5080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12" y="2208"/>
                          <a:ext cx="1728" cy="672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bg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3" name="Object 8"/>
            <p:cNvGraphicFramePr>
              <a:graphicFrameLocks noChangeAspect="1"/>
            </p:cNvGraphicFramePr>
            <p:nvPr/>
          </p:nvGraphicFramePr>
          <p:xfrm>
            <a:off x="2160" y="1920"/>
            <a:ext cx="158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5" imgW="1168400" imgH="241300" progId="Equation.3">
                    <p:embed/>
                  </p:oleObj>
                </mc:Choice>
                <mc:Fallback>
                  <p:oleObj name="" r:id="rId5" imgW="1168400" imgH="2413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0" y="1920"/>
                          <a:ext cx="1584" cy="316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bg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5" name="Text Box 9"/>
          <p:cNvSpPr txBox="1"/>
          <p:nvPr/>
        </p:nvSpPr>
        <p:spPr>
          <a:xfrm>
            <a:off x="457200" y="6096000"/>
            <a:ext cx="71294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触发方式不同，逻辑功能与主从</a:t>
            </a:r>
            <a:r>
              <a:rPr lang="en-US" altLang="zh-CN" dirty="0">
                <a:latin typeface="Times New Roman" panose="02020603050405020304" pitchFamily="18" charset="0"/>
              </a:rPr>
              <a:t>J-K</a:t>
            </a:r>
            <a:r>
              <a:rPr lang="zh-CN" altLang="en-US" dirty="0">
                <a:latin typeface="Times New Roman" panose="02020603050405020304" pitchFamily="18" charset="0"/>
              </a:rPr>
              <a:t>触发器的相同。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6" name="Rectangle 10"/>
          <p:cNvSpPr/>
          <p:nvPr/>
        </p:nvSpPr>
        <p:spPr>
          <a:xfrm>
            <a:off x="3429000" y="5029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n+1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=D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5610" name="Text Box 11"/>
          <p:cNvSpPr txBox="1"/>
          <p:nvPr/>
        </p:nvSpPr>
        <p:spPr>
          <a:xfrm>
            <a:off x="3657600" y="139700"/>
            <a:ext cx="1622425" cy="698500"/>
          </a:xfrm>
          <a:prstGeom prst="rect">
            <a:avLst/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  <a:ea typeface="隶书" panose="02010509060101010101" pitchFamily="49" charset="-122"/>
              </a:rPr>
              <a:t>小　结</a:t>
            </a:r>
            <a:endParaRPr lang="zh-CN" altLang="en-US" sz="3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588" name="Text Box 12"/>
          <p:cNvSpPr txBox="1"/>
          <p:nvPr/>
        </p:nvSpPr>
        <p:spPr>
          <a:xfrm>
            <a:off x="381000" y="5562600"/>
            <a:ext cx="31257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（４）边沿</a:t>
            </a:r>
            <a:r>
              <a:rPr lang="en-US" altLang="zh-CN" dirty="0">
                <a:latin typeface="Times New Roman" panose="02020603050405020304" pitchFamily="18" charset="0"/>
              </a:rPr>
              <a:t>J-K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/>
      <p:bldP spid="24580" grpId="0"/>
      <p:bldP spid="24581" grpId="0"/>
      <p:bldP spid="24585" grpId="0"/>
      <p:bldP spid="24586" grpId="0"/>
      <p:bldP spid="2458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1026"/>
          <p:cNvSpPr txBox="1"/>
          <p:nvPr/>
        </p:nvSpPr>
        <p:spPr>
          <a:xfrm>
            <a:off x="762000" y="404813"/>
            <a:ext cx="2543175" cy="698500"/>
          </a:xfrm>
          <a:prstGeom prst="rect">
            <a:avLst/>
          </a:prstGeom>
          <a:solidFill>
            <a:srgbClr val="FFFF66"/>
          </a:solidFill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  <a:ea typeface="隶书" panose="02010509060101010101" pitchFamily="49" charset="-122"/>
              </a:rPr>
              <a:t>要求掌握：</a:t>
            </a:r>
            <a:endParaRPr lang="zh-CN" altLang="en-US" sz="3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0723" name="Text Box 1027"/>
          <p:cNvSpPr txBox="1"/>
          <p:nvPr/>
        </p:nvSpPr>
        <p:spPr>
          <a:xfrm>
            <a:off x="1143000" y="1371600"/>
            <a:ext cx="2787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）触发器的概念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4" name="Text Box 1028"/>
          <p:cNvSpPr txBox="1"/>
          <p:nvPr/>
        </p:nvSpPr>
        <p:spPr>
          <a:xfrm>
            <a:off x="1143000" y="1981200"/>
            <a:ext cx="3705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）电平触发、边沿触发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5" name="Text Box 1029"/>
          <p:cNvSpPr txBox="1"/>
          <p:nvPr/>
        </p:nvSpPr>
        <p:spPr>
          <a:xfrm>
            <a:off x="1143000" y="2667000"/>
            <a:ext cx="5826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）钟控</a:t>
            </a:r>
            <a:r>
              <a:rPr lang="en-US" altLang="zh-CN" dirty="0">
                <a:latin typeface="Times New Roman" panose="02020603050405020304" pitchFamily="18" charset="0"/>
              </a:rPr>
              <a:t>R-S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J-K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触发器的逻辑功能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6" name="Text Box 1030"/>
          <p:cNvSpPr txBox="1"/>
          <p:nvPr/>
        </p:nvSpPr>
        <p:spPr>
          <a:xfrm>
            <a:off x="1143000" y="3276600"/>
            <a:ext cx="40132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）触发器功能之间的转换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4" grpId="0"/>
      <p:bldP spid="30725" grpId="0"/>
      <p:bldP spid="307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50" name="Group 2"/>
          <p:cNvGrpSpPr/>
          <p:nvPr/>
        </p:nvGrpSpPr>
        <p:grpSpPr>
          <a:xfrm>
            <a:off x="2590800" y="457200"/>
            <a:ext cx="2819400" cy="685800"/>
            <a:chOff x="1632" y="288"/>
            <a:chExt cx="1776" cy="432"/>
          </a:xfrm>
        </p:grpSpPr>
        <p:sp>
          <p:nvSpPr>
            <p:cNvPr id="27659" name="Oval 3"/>
            <p:cNvSpPr/>
            <p:nvPr/>
          </p:nvSpPr>
          <p:spPr>
            <a:xfrm>
              <a:off x="1632" y="336"/>
              <a:ext cx="1776" cy="38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660" name="Text Box 4"/>
            <p:cNvSpPr txBox="1"/>
            <p:nvPr/>
          </p:nvSpPr>
          <p:spPr>
            <a:xfrm>
              <a:off x="1968" y="288"/>
              <a:ext cx="984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3600" dirty="0">
                  <a:solidFill>
                    <a:srgbClr val="A5002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作  业</a:t>
              </a:r>
              <a:endPara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7651" name="Rectangle 5"/>
          <p:cNvSpPr/>
          <p:nvPr/>
        </p:nvSpPr>
        <p:spPr>
          <a:xfrm>
            <a:off x="533400" y="1676400"/>
            <a:ext cx="8305800" cy="11430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2" name="Text Box 6"/>
          <p:cNvSpPr txBox="1"/>
          <p:nvPr/>
        </p:nvSpPr>
        <p:spPr>
          <a:xfrm>
            <a:off x="620713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3" name="Text Box 7"/>
          <p:cNvSpPr txBox="1"/>
          <p:nvPr/>
        </p:nvSpPr>
        <p:spPr>
          <a:xfrm>
            <a:off x="1468438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4-3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4" name="Text Box 8"/>
          <p:cNvSpPr txBox="1"/>
          <p:nvPr/>
        </p:nvSpPr>
        <p:spPr>
          <a:xfrm>
            <a:off x="2232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4-4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5" name="Text Box 9"/>
          <p:cNvSpPr txBox="1"/>
          <p:nvPr/>
        </p:nvSpPr>
        <p:spPr>
          <a:xfrm>
            <a:off x="2994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4-6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6" name="Text Box 10"/>
          <p:cNvSpPr txBox="1"/>
          <p:nvPr/>
        </p:nvSpPr>
        <p:spPr>
          <a:xfrm>
            <a:off x="3756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4-7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7" name="Text Box 11"/>
          <p:cNvSpPr txBox="1"/>
          <p:nvPr/>
        </p:nvSpPr>
        <p:spPr>
          <a:xfrm>
            <a:off x="4518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4-9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8" name="Text Box 12"/>
          <p:cNvSpPr txBox="1"/>
          <p:nvPr/>
        </p:nvSpPr>
        <p:spPr>
          <a:xfrm>
            <a:off x="5334000" y="2057400"/>
            <a:ext cx="35560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4-10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4-11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4-12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4-14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2824</Words>
  <Application>WPS 演示</Application>
  <PresentationFormat>全屏显示(4:3)</PresentationFormat>
  <Paragraphs>568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56</vt:i4>
      </vt:variant>
      <vt:variant>
        <vt:lpstr>幻灯片标题</vt:lpstr>
      </vt:variant>
      <vt:variant>
        <vt:i4>25</vt:i4>
      </vt:variant>
    </vt:vector>
  </HeadingPairs>
  <TitlesOfParts>
    <vt:vector size="91" baseType="lpstr">
      <vt:lpstr>Arial</vt:lpstr>
      <vt:lpstr>宋体</vt:lpstr>
      <vt:lpstr>Wingdings</vt:lpstr>
      <vt:lpstr>Times New Roman</vt:lpstr>
      <vt:lpstr>隶书</vt:lpstr>
      <vt:lpstr>黑体</vt:lpstr>
      <vt:lpstr>Symbol</vt:lpstr>
      <vt:lpstr>微软雅黑</vt:lpstr>
      <vt:lpstr>Arial Unicode MS</vt:lpstr>
      <vt:lpstr>默认设计模板</vt:lpstr>
      <vt:lpstr>MS_ClipArt_Gallery.2</vt:lpstr>
      <vt:lpstr>Equation.3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Paint.Picture</vt:lpstr>
      <vt:lpstr>Equation.3</vt:lpstr>
      <vt:lpstr>Equation.3</vt:lpstr>
      <vt:lpstr>Paint.Picture</vt:lpstr>
      <vt:lpstr>Paint.Picture</vt:lpstr>
      <vt:lpstr>Equation.3</vt:lpstr>
      <vt:lpstr>Paint.Picture</vt:lpstr>
      <vt:lpstr>Paint.Picture</vt:lpstr>
      <vt:lpstr>Equation.3</vt:lpstr>
      <vt:lpstr>Paint.Picture</vt:lpstr>
      <vt:lpstr>MS_ClipArt_Gallery.2</vt:lpstr>
      <vt:lpstr>Equation.DSMT4</vt:lpstr>
      <vt:lpstr>Paint.Picture</vt:lpstr>
      <vt:lpstr>Equation.3</vt:lpstr>
      <vt:lpstr>Paint.Picture</vt:lpstr>
      <vt:lpstr>Equation.3</vt:lpstr>
      <vt:lpstr>Equation.3</vt:lpstr>
      <vt:lpstr>Paint.Picture</vt:lpstr>
      <vt:lpstr>Paint.Picture</vt:lpstr>
      <vt:lpstr>Equation.3</vt:lpstr>
      <vt:lpstr>Equation.3</vt:lpstr>
      <vt:lpstr>MS_ClipArt_Gallery.2</vt:lpstr>
      <vt:lpstr>Equation.3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student17</dc:creator>
  <cp:lastModifiedBy>WPS_1640354101</cp:lastModifiedBy>
  <cp:revision>33</cp:revision>
  <dcterms:created xsi:type="dcterms:W3CDTF">1999-07-28T01:24:38Z</dcterms:created>
  <dcterms:modified xsi:type="dcterms:W3CDTF">2024-04-12T03:00:11Z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C240DA944E154E59B1ED6128C168EAC8_13</vt:lpwstr>
  </property>
  <property fmtid="{D5CDD505-2E9C-101B-9397-08002B2CF9AE}" pid="3" name="KSOProductBuildVer">
    <vt:lpwstr>2052-12.1.0.16388</vt:lpwstr>
  </property>
</Properties>
</file>