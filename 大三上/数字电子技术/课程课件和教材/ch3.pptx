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85"/>
  </p:handoutMasterIdLst>
  <p:sldIdLst>
    <p:sldId id="273" r:id="rId3"/>
    <p:sldId id="260" r:id="rId4"/>
    <p:sldId id="268" r:id="rId6"/>
    <p:sldId id="274" r:id="rId7"/>
    <p:sldId id="317" r:id="rId8"/>
    <p:sldId id="325" r:id="rId9"/>
    <p:sldId id="275" r:id="rId10"/>
    <p:sldId id="328" r:id="rId11"/>
    <p:sldId id="330" r:id="rId12"/>
    <p:sldId id="318" r:id="rId13"/>
    <p:sldId id="277" r:id="rId14"/>
    <p:sldId id="313" r:id="rId15"/>
    <p:sldId id="278" r:id="rId16"/>
    <p:sldId id="279" r:id="rId17"/>
    <p:sldId id="321" r:id="rId18"/>
    <p:sldId id="280" r:id="rId19"/>
    <p:sldId id="282" r:id="rId20"/>
    <p:sldId id="337" r:id="rId21"/>
    <p:sldId id="302" r:id="rId22"/>
    <p:sldId id="281" r:id="rId23"/>
    <p:sldId id="283" r:id="rId24"/>
    <p:sldId id="339" r:id="rId25"/>
    <p:sldId id="338" r:id="rId26"/>
    <p:sldId id="284" r:id="rId27"/>
    <p:sldId id="285" r:id="rId28"/>
    <p:sldId id="286" r:id="rId29"/>
    <p:sldId id="287" r:id="rId30"/>
    <p:sldId id="319" r:id="rId31"/>
    <p:sldId id="288" r:id="rId32"/>
    <p:sldId id="289" r:id="rId33"/>
    <p:sldId id="314" r:id="rId34"/>
    <p:sldId id="290" r:id="rId35"/>
    <p:sldId id="291" r:id="rId36"/>
    <p:sldId id="340" r:id="rId37"/>
    <p:sldId id="341" r:id="rId38"/>
    <p:sldId id="342" r:id="rId39"/>
    <p:sldId id="343" r:id="rId40"/>
    <p:sldId id="292" r:id="rId41"/>
    <p:sldId id="345" r:id="rId42"/>
    <p:sldId id="346" r:id="rId43"/>
    <p:sldId id="344" r:id="rId44"/>
    <p:sldId id="293" r:id="rId45"/>
    <p:sldId id="315" r:id="rId46"/>
    <p:sldId id="294" r:id="rId47"/>
    <p:sldId id="295" r:id="rId48"/>
    <p:sldId id="323" r:id="rId49"/>
    <p:sldId id="296" r:id="rId50"/>
    <p:sldId id="347" r:id="rId51"/>
    <p:sldId id="316" r:id="rId52"/>
    <p:sldId id="322" r:id="rId53"/>
    <p:sldId id="297" r:id="rId54"/>
    <p:sldId id="298" r:id="rId55"/>
    <p:sldId id="348" r:id="rId56"/>
    <p:sldId id="349" r:id="rId57"/>
    <p:sldId id="350" r:id="rId58"/>
    <p:sldId id="351" r:id="rId59"/>
    <p:sldId id="352" r:id="rId60"/>
    <p:sldId id="353" r:id="rId61"/>
    <p:sldId id="354" r:id="rId62"/>
    <p:sldId id="355" r:id="rId63"/>
    <p:sldId id="356" r:id="rId64"/>
    <p:sldId id="334" r:id="rId65"/>
    <p:sldId id="336" r:id="rId66"/>
    <p:sldId id="335" r:id="rId67"/>
    <p:sldId id="299" r:id="rId68"/>
    <p:sldId id="300" r:id="rId69"/>
    <p:sldId id="301" r:id="rId70"/>
    <p:sldId id="320" r:id="rId71"/>
    <p:sldId id="303" r:id="rId72"/>
    <p:sldId id="306" r:id="rId73"/>
    <p:sldId id="304" r:id="rId74"/>
    <p:sldId id="305" r:id="rId75"/>
    <p:sldId id="308" r:id="rId76"/>
    <p:sldId id="309" r:id="rId77"/>
    <p:sldId id="310" r:id="rId78"/>
    <p:sldId id="311" r:id="rId79"/>
    <p:sldId id="312" r:id="rId80"/>
    <p:sldId id="307" r:id="rId81"/>
    <p:sldId id="333" r:id="rId82"/>
    <p:sldId id="331" r:id="rId83"/>
    <p:sldId id="332" r:id="rId8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  <a:srgbClr val="66FFFF"/>
    <a:srgbClr val="FFFFFF"/>
    <a:srgbClr val="FF0000"/>
    <a:srgbClr val="FFFF66"/>
    <a:srgbClr val="CCECFF"/>
    <a:srgbClr val="00CC00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2786"/>
    <p:restoredTop sz="90929"/>
  </p:normalViewPr>
  <p:slideViewPr>
    <p:cSldViewPr showGuides="1">
      <p:cViewPr varScale="1">
        <p:scale>
          <a:sx n="100" d="100"/>
          <a:sy n="100" d="100"/>
        </p:scale>
        <p:origin x="150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8" Type="http://schemas.openxmlformats.org/officeDocument/2006/relationships/tableStyles" Target="tableStyles.xml"/><Relationship Id="rId87" Type="http://schemas.openxmlformats.org/officeDocument/2006/relationships/viewProps" Target="viewProps.xml"/><Relationship Id="rId86" Type="http://schemas.openxmlformats.org/officeDocument/2006/relationships/presProps" Target="presProps.xml"/><Relationship Id="rId85" Type="http://schemas.openxmlformats.org/officeDocument/2006/relationships/handoutMaster" Target="handoutMasters/handoutMaster1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wmf"/><Relationship Id="rId1" Type="http://schemas.openxmlformats.org/officeDocument/2006/relationships/image" Target="../media/image9.png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wmf"/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8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9.wmf"/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png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drawings/_rels/vmlDrawing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38.wmf"/><Relationship Id="rId4" Type="http://schemas.openxmlformats.org/officeDocument/2006/relationships/image" Target="../media/image37.wmf"/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png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png"/></Relationships>
</file>

<file path=ppt/drawings/_rels/vmlDrawing22.vml.rels><?xml version="1.0" encoding="UTF-8" standalone="yes"?>
<Relationships xmlns="http://schemas.openxmlformats.org/package/2006/relationships"><Relationship Id="rId4" Type="http://schemas.openxmlformats.org/officeDocument/2006/relationships/image" Target="../media/image43.wmf"/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44.png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drawings/_rels/vmlDrawing25.vml.rels><?xml version="1.0" encoding="UTF-8" standalone="yes"?>
<Relationships xmlns="http://schemas.openxmlformats.org/package/2006/relationships"><Relationship Id="rId7" Type="http://schemas.openxmlformats.org/officeDocument/2006/relationships/image" Target="../media/image53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png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png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png"/></Relationships>
</file>

<file path=ppt/drawings/_rels/vmlDrawing31.vml.rels><?xml version="1.0" encoding="UTF-8" standalone="yes"?>
<Relationships xmlns="http://schemas.openxmlformats.org/package/2006/relationships"><Relationship Id="rId7" Type="http://schemas.openxmlformats.org/officeDocument/2006/relationships/image" Target="../media/image66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36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png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png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png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image" Target="../media/image74.png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png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png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png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drawings/_rels/vmlDrawing43.vml.rels><?xml version="1.0" encoding="UTF-8" standalone="yes"?>
<Relationships xmlns="http://schemas.openxmlformats.org/package/2006/relationships"><Relationship Id="rId4" Type="http://schemas.openxmlformats.org/officeDocument/2006/relationships/image" Target="../media/image83.wmf"/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w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48.vml.rels><?xml version="1.0" encoding="UTF-8" standalone="yes"?>
<Relationships xmlns="http://schemas.openxmlformats.org/package/2006/relationships"><Relationship Id="rId6" Type="http://schemas.openxmlformats.org/officeDocument/2006/relationships/image" Target="../media/image74.png"/><Relationship Id="rId5" Type="http://schemas.openxmlformats.org/officeDocument/2006/relationships/image" Target="../media/image94.wmf"/><Relationship Id="rId4" Type="http://schemas.openxmlformats.org/officeDocument/2006/relationships/image" Target="../media/image93.wmf"/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7" Type="http://schemas.openxmlformats.org/officeDocument/2006/relationships/image" Target="../media/image94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Relationship Id="rId3" Type="http://schemas.openxmlformats.org/officeDocument/2006/relationships/image" Target="../media/image96.wmf"/><Relationship Id="rId2" Type="http://schemas.openxmlformats.org/officeDocument/2006/relationships/image" Target="../media/image90.wmf"/><Relationship Id="rId1" Type="http://schemas.openxmlformats.org/officeDocument/2006/relationships/image" Target="../media/image95.png"/></Relationships>
</file>

<file path=ppt/drawings/_rels/vmlDrawing5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wmf"/><Relationship Id="rId8" Type="http://schemas.openxmlformats.org/officeDocument/2006/relationships/image" Target="../media/image105.wmf"/><Relationship Id="rId7" Type="http://schemas.openxmlformats.org/officeDocument/2006/relationships/image" Target="../media/image104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6" Type="http://schemas.openxmlformats.org/officeDocument/2006/relationships/image" Target="../media/image113.wmf"/><Relationship Id="rId15" Type="http://schemas.openxmlformats.org/officeDocument/2006/relationships/image" Target="../media/image112.wmf"/><Relationship Id="rId14" Type="http://schemas.openxmlformats.org/officeDocument/2006/relationships/image" Target="../media/image111.wmf"/><Relationship Id="rId13" Type="http://schemas.openxmlformats.org/officeDocument/2006/relationships/image" Target="../media/image110.wmf"/><Relationship Id="rId12" Type="http://schemas.openxmlformats.org/officeDocument/2006/relationships/image" Target="../media/image109.wmf"/><Relationship Id="rId11" Type="http://schemas.openxmlformats.org/officeDocument/2006/relationships/image" Target="../media/image108.wmf"/><Relationship Id="rId10" Type="http://schemas.openxmlformats.org/officeDocument/2006/relationships/image" Target="../media/image107.wmf"/><Relationship Id="rId1" Type="http://schemas.openxmlformats.org/officeDocument/2006/relationships/image" Target="../media/image98.w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4.png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5.png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png"/></Relationships>
</file>

<file path=ppt/drawings/_rels/vmlDrawing5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image" Target="../media/image117.w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9.png"/></Relationships>
</file>

<file path=ppt/drawings/_rels/vmlDrawing5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image" Target="../media/image120.png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0.png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2.png"/></Relationships>
</file>

<file path=ppt/drawings/_rels/vmlDrawing5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image" Target="../media/image123.png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</a:rPr>
            </a:fld>
            <a:endParaRPr lang="en-US" altLang="zh-CN" sz="1200" b="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14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891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400" b="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1" Type="http://schemas.openxmlformats.org/officeDocument/2006/relationships/hyperlink" Target="&#23553;&#39029;1.ppt" TargetMode="Externa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.bin"/><Relationship Id="rId8" Type="http://schemas.openxmlformats.org/officeDocument/2006/relationships/slide" Target="slide45.xml"/><Relationship Id="rId7" Type="http://schemas.openxmlformats.org/officeDocument/2006/relationships/oleObject" Target="../embeddings/oleObject3.bin"/><Relationship Id="rId6" Type="http://schemas.openxmlformats.org/officeDocument/2006/relationships/oleObject" Target="../embeddings/oleObject2.bin"/><Relationship Id="rId5" Type="http://schemas.openxmlformats.org/officeDocument/2006/relationships/slide" Target="slide70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2" Type="http://schemas.openxmlformats.org/officeDocument/2006/relationships/slide" Target="slide67.xml"/><Relationship Id="rId18" Type="http://schemas.openxmlformats.org/officeDocument/2006/relationships/notesSlide" Target="../notesSlides/notesSlide1.xml"/><Relationship Id="rId17" Type="http://schemas.openxmlformats.org/officeDocument/2006/relationships/vmlDrawing" Target="../drawings/vmlDrawing1.vml"/><Relationship Id="rId16" Type="http://schemas.openxmlformats.org/officeDocument/2006/relationships/slideLayout" Target="../slideLayouts/slideLayout7.xml"/><Relationship Id="rId15" Type="http://schemas.openxmlformats.org/officeDocument/2006/relationships/oleObject" Target="../embeddings/oleObject7.bin"/><Relationship Id="rId14" Type="http://schemas.openxmlformats.org/officeDocument/2006/relationships/slide" Target="slide3.xml"/><Relationship Id="rId13" Type="http://schemas.openxmlformats.org/officeDocument/2006/relationships/oleObject" Target="../embeddings/oleObject6.bin"/><Relationship Id="rId12" Type="http://schemas.openxmlformats.org/officeDocument/2006/relationships/slide" Target="slide17.xml"/><Relationship Id="rId11" Type="http://schemas.openxmlformats.org/officeDocument/2006/relationships/oleObject" Target="../embeddings/oleObject5.bin"/><Relationship Id="rId10" Type="http://schemas.openxmlformats.org/officeDocument/2006/relationships/slide" Target="slide25.xml"/><Relationship Id="rId1" Type="http://schemas.openxmlformats.org/officeDocument/2006/relationships/slide" Target="slide7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5.png"/><Relationship Id="rId1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oleObject" Target="../embeddings/oleObject12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3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4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9.png"/><Relationship Id="rId1" Type="http://schemas.openxmlformats.org/officeDocument/2006/relationships/oleObject" Target="../embeddings/oleObject1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8.bin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oleObject" Target="../embeddings/oleObject21.bin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png"/><Relationship Id="rId3" Type="http://schemas.openxmlformats.org/officeDocument/2006/relationships/oleObject" Target="../embeddings/oleObject23.bin"/><Relationship Id="rId2" Type="http://schemas.openxmlformats.org/officeDocument/2006/relationships/image" Target="../media/image15.png"/><Relationship Id="rId1" Type="http://schemas.openxmlformats.org/officeDocument/2006/relationships/oleObject" Target="../embeddings/oleObject2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16.png"/><Relationship Id="rId3" Type="http://schemas.openxmlformats.org/officeDocument/2006/relationships/oleObject" Target="../embeddings/oleObject25.bin"/><Relationship Id="rId2" Type="http://schemas.openxmlformats.org/officeDocument/2006/relationships/image" Target="../media/image15.png"/><Relationship Id="rId1" Type="http://schemas.openxmlformats.org/officeDocument/2006/relationships/oleObject" Target="../embeddings/oleObject24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18.png"/><Relationship Id="rId1" Type="http://schemas.openxmlformats.org/officeDocument/2006/relationships/oleObject" Target="../embeddings/oleObject27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oleObject" Target="../embeddings/oleObject29.bin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4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20.wmf"/><Relationship Id="rId1" Type="http://schemas.openxmlformats.org/officeDocument/2006/relationships/oleObject" Target="../embeddings/oleObject30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oleObject" Target="../embeddings/oleObject32.bin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5.png"/><Relationship Id="rId3" Type="http://schemas.openxmlformats.org/officeDocument/2006/relationships/oleObject" Target="../embeddings/oleObject34.bin"/><Relationship Id="rId2" Type="http://schemas.openxmlformats.org/officeDocument/2006/relationships/image" Target="../media/image24.png"/><Relationship Id="rId1" Type="http://schemas.openxmlformats.org/officeDocument/2006/relationships/oleObject" Target="../embeddings/oleObject33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28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27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26.wmf"/><Relationship Id="rId11" Type="http://schemas.openxmlformats.org/officeDocument/2006/relationships/vmlDrawing" Target="../drawings/vmlDrawing17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35.bin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1" Type="http://schemas.openxmlformats.org/officeDocument/2006/relationships/oleObject" Target="../embeddings/oleObject39.bin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3.png"/><Relationship Id="rId3" Type="http://schemas.openxmlformats.org/officeDocument/2006/relationships/oleObject" Target="../embeddings/oleObject41.bin"/><Relationship Id="rId2" Type="http://schemas.openxmlformats.org/officeDocument/2006/relationships/image" Target="../media/image32.png"/><Relationship Id="rId1" Type="http://schemas.openxmlformats.org/officeDocument/2006/relationships/oleObject" Target="../embeddings/oleObject40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.bin"/><Relationship Id="rId8" Type="http://schemas.openxmlformats.org/officeDocument/2006/relationships/image" Target="../media/image37.wmf"/><Relationship Id="rId7" Type="http://schemas.openxmlformats.org/officeDocument/2006/relationships/oleObject" Target="../embeddings/oleObject45.bin"/><Relationship Id="rId6" Type="http://schemas.openxmlformats.org/officeDocument/2006/relationships/image" Target="../media/image36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35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34.png"/><Relationship Id="rId12" Type="http://schemas.openxmlformats.org/officeDocument/2006/relationships/vmlDrawing" Target="../drawings/vmlDrawing20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8.wmf"/><Relationship Id="rId1" Type="http://schemas.openxmlformats.org/officeDocument/2006/relationships/oleObject" Target="../embeddings/oleObject42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1" Type="http://schemas.openxmlformats.org/officeDocument/2006/relationships/oleObject" Target="../embeddings/oleObject47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3.wmf"/><Relationship Id="rId7" Type="http://schemas.openxmlformats.org/officeDocument/2006/relationships/oleObject" Target="../embeddings/oleObject51.bin"/><Relationship Id="rId6" Type="http://schemas.openxmlformats.org/officeDocument/2006/relationships/image" Target="../media/image42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41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40.wmf"/><Relationship Id="rId10" Type="http://schemas.openxmlformats.org/officeDocument/2006/relationships/vmlDrawing" Target="../drawings/vmlDrawing22.vml"/><Relationship Id="rId1" Type="http://schemas.openxmlformats.org/officeDocument/2006/relationships/oleObject" Target="../embeddings/oleObject48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40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44.png"/><Relationship Id="rId1" Type="http://schemas.openxmlformats.org/officeDocument/2006/relationships/oleObject" Target="../embeddings/oleObject52.bin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6.png"/><Relationship Id="rId3" Type="http://schemas.openxmlformats.org/officeDocument/2006/relationships/oleObject" Target="../embeddings/oleObject56.bin"/><Relationship Id="rId2" Type="http://schemas.openxmlformats.org/officeDocument/2006/relationships/image" Target="../media/image45.png"/><Relationship Id="rId1" Type="http://schemas.openxmlformats.org/officeDocument/2006/relationships/oleObject" Target="../embeddings/oleObject55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1.bin"/><Relationship Id="rId8" Type="http://schemas.openxmlformats.org/officeDocument/2006/relationships/image" Target="../media/image50.wmf"/><Relationship Id="rId7" Type="http://schemas.openxmlformats.org/officeDocument/2006/relationships/oleObject" Target="../embeddings/oleObject60.bin"/><Relationship Id="rId6" Type="http://schemas.openxmlformats.org/officeDocument/2006/relationships/image" Target="../media/image49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48.wmf"/><Relationship Id="rId3" Type="http://schemas.openxmlformats.org/officeDocument/2006/relationships/oleObject" Target="../embeddings/oleObject58.bin"/><Relationship Id="rId20" Type="http://schemas.openxmlformats.org/officeDocument/2006/relationships/notesSlide" Target="../notesSlides/notesSlide2.xml"/><Relationship Id="rId2" Type="http://schemas.openxmlformats.org/officeDocument/2006/relationships/image" Target="../media/image47.png"/><Relationship Id="rId19" Type="http://schemas.openxmlformats.org/officeDocument/2006/relationships/vmlDrawing" Target="../drawings/vmlDrawing25.vml"/><Relationship Id="rId18" Type="http://schemas.openxmlformats.org/officeDocument/2006/relationships/slideLayout" Target="../slideLayouts/slideLayout7.xml"/><Relationship Id="rId17" Type="http://schemas.openxmlformats.org/officeDocument/2006/relationships/oleObject" Target="../embeddings/oleObject66.bin"/><Relationship Id="rId16" Type="http://schemas.openxmlformats.org/officeDocument/2006/relationships/oleObject" Target="../embeddings/oleObject65.bin"/><Relationship Id="rId15" Type="http://schemas.openxmlformats.org/officeDocument/2006/relationships/oleObject" Target="../embeddings/oleObject64.bin"/><Relationship Id="rId14" Type="http://schemas.openxmlformats.org/officeDocument/2006/relationships/image" Target="../media/image53.wmf"/><Relationship Id="rId13" Type="http://schemas.openxmlformats.org/officeDocument/2006/relationships/oleObject" Target="../embeddings/oleObject63.bin"/><Relationship Id="rId12" Type="http://schemas.openxmlformats.org/officeDocument/2006/relationships/image" Target="../media/image52.wmf"/><Relationship Id="rId11" Type="http://schemas.openxmlformats.org/officeDocument/2006/relationships/oleObject" Target="../embeddings/oleObject62.bin"/><Relationship Id="rId10" Type="http://schemas.openxmlformats.org/officeDocument/2006/relationships/image" Target="../media/image51.wmf"/><Relationship Id="rId1" Type="http://schemas.openxmlformats.org/officeDocument/2006/relationships/oleObject" Target="../embeddings/oleObject57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4.wmf"/><Relationship Id="rId1" Type="http://schemas.openxmlformats.org/officeDocument/2006/relationships/oleObject" Target="../embeddings/oleObject67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7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6.wmf"/><Relationship Id="rId2" Type="http://schemas.openxmlformats.org/officeDocument/2006/relationships/oleObject" Target="../embeddings/oleObject68.bin"/><Relationship Id="rId1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1" Type="http://schemas.openxmlformats.org/officeDocument/2006/relationships/oleObject" Target="../embeddings/oleObject69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8.wmf"/><Relationship Id="rId1" Type="http://schemas.openxmlformats.org/officeDocument/2006/relationships/oleObject" Target="../embeddings/oleObject70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9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1" Type="http://schemas.openxmlformats.org/officeDocument/2006/relationships/oleObject" Target="../embeddings/oleObject71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7.bin"/><Relationship Id="rId8" Type="http://schemas.openxmlformats.org/officeDocument/2006/relationships/image" Target="../media/image63.wmf"/><Relationship Id="rId7" Type="http://schemas.openxmlformats.org/officeDocument/2006/relationships/oleObject" Target="../embeddings/oleObject76.bin"/><Relationship Id="rId6" Type="http://schemas.openxmlformats.org/officeDocument/2006/relationships/oleObject" Target="../embeddings/oleObject75.bin"/><Relationship Id="rId5" Type="http://schemas.openxmlformats.org/officeDocument/2006/relationships/oleObject" Target="../embeddings/oleObject74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73.bin"/><Relationship Id="rId24" Type="http://schemas.openxmlformats.org/officeDocument/2006/relationships/vmlDrawing" Target="../drawings/vmlDrawing31.vml"/><Relationship Id="rId23" Type="http://schemas.openxmlformats.org/officeDocument/2006/relationships/slideLayout" Target="../slideLayouts/slideLayout7.xml"/><Relationship Id="rId22" Type="http://schemas.openxmlformats.org/officeDocument/2006/relationships/oleObject" Target="../embeddings/oleObject86.bin"/><Relationship Id="rId21" Type="http://schemas.openxmlformats.org/officeDocument/2006/relationships/oleObject" Target="../embeddings/oleObject85.bin"/><Relationship Id="rId20" Type="http://schemas.openxmlformats.org/officeDocument/2006/relationships/image" Target="../media/image66.wmf"/><Relationship Id="rId2" Type="http://schemas.openxmlformats.org/officeDocument/2006/relationships/image" Target="../media/image61.wmf"/><Relationship Id="rId19" Type="http://schemas.openxmlformats.org/officeDocument/2006/relationships/oleObject" Target="../embeddings/oleObject84.bin"/><Relationship Id="rId18" Type="http://schemas.openxmlformats.org/officeDocument/2006/relationships/oleObject" Target="../embeddings/oleObject83.bin"/><Relationship Id="rId17" Type="http://schemas.openxmlformats.org/officeDocument/2006/relationships/oleObject" Target="../embeddings/oleObject82.bin"/><Relationship Id="rId16" Type="http://schemas.openxmlformats.org/officeDocument/2006/relationships/image" Target="../media/image65.wmf"/><Relationship Id="rId15" Type="http://schemas.openxmlformats.org/officeDocument/2006/relationships/oleObject" Target="../embeddings/oleObject81.bin"/><Relationship Id="rId14" Type="http://schemas.openxmlformats.org/officeDocument/2006/relationships/oleObject" Target="../embeddings/oleObject80.bin"/><Relationship Id="rId13" Type="http://schemas.openxmlformats.org/officeDocument/2006/relationships/oleObject" Target="../embeddings/oleObject79.bin"/><Relationship Id="rId12" Type="http://schemas.openxmlformats.org/officeDocument/2006/relationships/image" Target="../media/image64.wmf"/><Relationship Id="rId11" Type="http://schemas.openxmlformats.org/officeDocument/2006/relationships/oleObject" Target="../embeddings/oleObject78.bin"/><Relationship Id="rId10" Type="http://schemas.openxmlformats.org/officeDocument/2006/relationships/image" Target="../media/image36.wmf"/><Relationship Id="rId1" Type="http://schemas.openxmlformats.org/officeDocument/2006/relationships/oleObject" Target="../embeddings/oleObject72.bin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1" Type="http://schemas.openxmlformats.org/officeDocument/2006/relationships/oleObject" Target="../embeddings/oleObject87.bin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9.png"/><Relationship Id="rId3" Type="http://schemas.openxmlformats.org/officeDocument/2006/relationships/oleObject" Target="../embeddings/oleObject89.bin"/><Relationship Id="rId2" Type="http://schemas.openxmlformats.org/officeDocument/2006/relationships/image" Target="../media/image68.png"/><Relationship Id="rId1" Type="http://schemas.openxmlformats.org/officeDocument/2006/relationships/oleObject" Target="../embeddings/oleObject88.bin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1" Type="http://schemas.openxmlformats.org/officeDocument/2006/relationships/oleObject" Target="../embeddings/oleObject90.bin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1" Type="http://schemas.openxmlformats.org/officeDocument/2006/relationships/oleObject" Target="../embeddings/oleObject91.bin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3.wmf"/><Relationship Id="rId3" Type="http://schemas.openxmlformats.org/officeDocument/2006/relationships/oleObject" Target="../embeddings/oleObject93.bin"/><Relationship Id="rId2" Type="http://schemas.openxmlformats.org/officeDocument/2006/relationships/image" Target="../media/image72.wmf"/><Relationship Id="rId1" Type="http://schemas.openxmlformats.org/officeDocument/2006/relationships/oleObject" Target="../embeddings/oleObject92.bin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1.png"/><Relationship Id="rId3" Type="http://schemas.openxmlformats.org/officeDocument/2006/relationships/oleObject" Target="../embeddings/oleObject95.bin"/><Relationship Id="rId2" Type="http://schemas.openxmlformats.org/officeDocument/2006/relationships/image" Target="../media/image74.png"/><Relationship Id="rId1" Type="http://schemas.openxmlformats.org/officeDocument/2006/relationships/oleObject" Target="../embeddings/oleObject94.bin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1" Type="http://schemas.openxmlformats.org/officeDocument/2006/relationships/oleObject" Target="../embeddings/oleObject96.bin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1" Type="http://schemas.openxmlformats.org/officeDocument/2006/relationships/oleObject" Target="../embeddings/oleObject97.bin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1" Type="http://schemas.openxmlformats.org/officeDocument/2006/relationships/oleObject" Target="../embeddings/oleObject98.bin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8.wmf"/><Relationship Id="rId1" Type="http://schemas.openxmlformats.org/officeDocument/2006/relationships/oleObject" Target="../embeddings/oleObject99.bin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9.wmf"/><Relationship Id="rId1" Type="http://schemas.openxmlformats.org/officeDocument/2006/relationships/oleObject" Target="../embeddings/oleObject100.bin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3.wmf"/><Relationship Id="rId7" Type="http://schemas.openxmlformats.org/officeDocument/2006/relationships/oleObject" Target="../embeddings/oleObject104.bin"/><Relationship Id="rId6" Type="http://schemas.openxmlformats.org/officeDocument/2006/relationships/image" Target="../media/image82.w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81.wmf"/><Relationship Id="rId3" Type="http://schemas.openxmlformats.org/officeDocument/2006/relationships/oleObject" Target="../embeddings/oleObject102.bin"/><Relationship Id="rId2" Type="http://schemas.openxmlformats.org/officeDocument/2006/relationships/image" Target="../media/image80.wmf"/><Relationship Id="rId10" Type="http://schemas.openxmlformats.org/officeDocument/2006/relationships/vmlDrawing" Target="../drawings/vmlDrawing43.vml"/><Relationship Id="rId1" Type="http://schemas.openxmlformats.org/officeDocument/2006/relationships/oleObject" Target="../embeddings/oleObject101.bin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4.wmf"/><Relationship Id="rId1" Type="http://schemas.openxmlformats.org/officeDocument/2006/relationships/oleObject" Target="../embeddings/oleObject105.bin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5.wmf"/><Relationship Id="rId1" Type="http://schemas.openxmlformats.org/officeDocument/2006/relationships/oleObject" Target="../embeddings/oleObject106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7.wmf"/><Relationship Id="rId3" Type="http://schemas.openxmlformats.org/officeDocument/2006/relationships/oleObject" Target="../embeddings/oleObject108.bin"/><Relationship Id="rId2" Type="http://schemas.openxmlformats.org/officeDocument/2006/relationships/image" Target="../media/image86.wmf"/><Relationship Id="rId1" Type="http://schemas.openxmlformats.org/officeDocument/2006/relationships/oleObject" Target="../embeddings/oleObject107.bin"/></Relationships>
</file>

<file path=ppt/slides/_rels/slide6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9.wmf"/><Relationship Id="rId3" Type="http://schemas.openxmlformats.org/officeDocument/2006/relationships/oleObject" Target="../embeddings/oleObject110.bin"/><Relationship Id="rId2" Type="http://schemas.openxmlformats.org/officeDocument/2006/relationships/image" Target="../media/image88.wmf"/><Relationship Id="rId1" Type="http://schemas.openxmlformats.org/officeDocument/2006/relationships/oleObject" Target="../embeddings/oleObject109.bin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5.bin"/><Relationship Id="rId8" Type="http://schemas.openxmlformats.org/officeDocument/2006/relationships/image" Target="../media/image93.wmf"/><Relationship Id="rId7" Type="http://schemas.openxmlformats.org/officeDocument/2006/relationships/oleObject" Target="../embeddings/oleObject114.bin"/><Relationship Id="rId6" Type="http://schemas.openxmlformats.org/officeDocument/2006/relationships/image" Target="../media/image92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91.wmf"/><Relationship Id="rId3" Type="http://schemas.openxmlformats.org/officeDocument/2006/relationships/oleObject" Target="../embeddings/oleObject112.bin"/><Relationship Id="rId21" Type="http://schemas.openxmlformats.org/officeDocument/2006/relationships/vmlDrawing" Target="../drawings/vmlDrawing48.v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90.wmf"/><Relationship Id="rId19" Type="http://schemas.openxmlformats.org/officeDocument/2006/relationships/image" Target="../media/image74.png"/><Relationship Id="rId18" Type="http://schemas.openxmlformats.org/officeDocument/2006/relationships/oleObject" Target="../embeddings/oleObject123.bin"/><Relationship Id="rId17" Type="http://schemas.openxmlformats.org/officeDocument/2006/relationships/oleObject" Target="../embeddings/oleObject122.bin"/><Relationship Id="rId16" Type="http://schemas.openxmlformats.org/officeDocument/2006/relationships/oleObject" Target="../embeddings/oleObject121.bin"/><Relationship Id="rId15" Type="http://schemas.openxmlformats.org/officeDocument/2006/relationships/oleObject" Target="../embeddings/oleObject120.bin"/><Relationship Id="rId14" Type="http://schemas.openxmlformats.org/officeDocument/2006/relationships/oleObject" Target="../embeddings/oleObject119.bin"/><Relationship Id="rId13" Type="http://schemas.openxmlformats.org/officeDocument/2006/relationships/oleObject" Target="../embeddings/oleObject118.bin"/><Relationship Id="rId12" Type="http://schemas.openxmlformats.org/officeDocument/2006/relationships/oleObject" Target="../embeddings/oleObject117.bin"/><Relationship Id="rId11" Type="http://schemas.openxmlformats.org/officeDocument/2006/relationships/oleObject" Target="../embeddings/oleObject116.bin"/><Relationship Id="rId10" Type="http://schemas.openxmlformats.org/officeDocument/2006/relationships/image" Target="../media/image94.wmf"/><Relationship Id="rId1" Type="http://schemas.openxmlformats.org/officeDocument/2006/relationships/oleObject" Target="../embeddings/oleObject111.bin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wmf"/><Relationship Id="rId8" Type="http://schemas.openxmlformats.org/officeDocument/2006/relationships/oleObject" Target="../embeddings/oleObject128.bin"/><Relationship Id="rId7" Type="http://schemas.openxmlformats.org/officeDocument/2006/relationships/oleObject" Target="../embeddings/oleObject127.bin"/><Relationship Id="rId6" Type="http://schemas.openxmlformats.org/officeDocument/2006/relationships/image" Target="../media/image96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90.wmf"/><Relationship Id="rId3" Type="http://schemas.openxmlformats.org/officeDocument/2006/relationships/oleObject" Target="../embeddings/oleObject125.bin"/><Relationship Id="rId23" Type="http://schemas.openxmlformats.org/officeDocument/2006/relationships/vmlDrawing" Target="../drawings/vmlDrawing49.vml"/><Relationship Id="rId22" Type="http://schemas.openxmlformats.org/officeDocument/2006/relationships/slideLayout" Target="../slideLayouts/slideLayout7.xml"/><Relationship Id="rId21" Type="http://schemas.openxmlformats.org/officeDocument/2006/relationships/oleObject" Target="../embeddings/oleObject136.bin"/><Relationship Id="rId20" Type="http://schemas.openxmlformats.org/officeDocument/2006/relationships/oleObject" Target="../embeddings/oleObject135.bin"/><Relationship Id="rId2" Type="http://schemas.openxmlformats.org/officeDocument/2006/relationships/image" Target="../media/image95.png"/><Relationship Id="rId19" Type="http://schemas.openxmlformats.org/officeDocument/2006/relationships/image" Target="../media/image97.wmf"/><Relationship Id="rId18" Type="http://schemas.openxmlformats.org/officeDocument/2006/relationships/oleObject" Target="../embeddings/oleObject134.bin"/><Relationship Id="rId17" Type="http://schemas.openxmlformats.org/officeDocument/2006/relationships/oleObject" Target="../embeddings/oleObject133.bin"/><Relationship Id="rId16" Type="http://schemas.openxmlformats.org/officeDocument/2006/relationships/oleObject" Target="../embeddings/oleObject132.bin"/><Relationship Id="rId15" Type="http://schemas.openxmlformats.org/officeDocument/2006/relationships/image" Target="../media/image94.wmf"/><Relationship Id="rId14" Type="http://schemas.openxmlformats.org/officeDocument/2006/relationships/oleObject" Target="../embeddings/oleObject131.bin"/><Relationship Id="rId13" Type="http://schemas.openxmlformats.org/officeDocument/2006/relationships/image" Target="../media/image93.wmf"/><Relationship Id="rId12" Type="http://schemas.openxmlformats.org/officeDocument/2006/relationships/oleObject" Target="../embeddings/oleObject130.bin"/><Relationship Id="rId11" Type="http://schemas.openxmlformats.org/officeDocument/2006/relationships/image" Target="../media/image92.wmf"/><Relationship Id="rId10" Type="http://schemas.openxmlformats.org/officeDocument/2006/relationships/oleObject" Target="../embeddings/oleObject129.bin"/><Relationship Id="rId1" Type="http://schemas.openxmlformats.org/officeDocument/2006/relationships/oleObject" Target="../embeddings/oleObject124.bin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1.bin"/><Relationship Id="rId8" Type="http://schemas.openxmlformats.org/officeDocument/2006/relationships/image" Target="../media/image101.wmf"/><Relationship Id="rId7" Type="http://schemas.openxmlformats.org/officeDocument/2006/relationships/oleObject" Target="../embeddings/oleObject140.bin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99.wmf"/><Relationship Id="rId37" Type="http://schemas.openxmlformats.org/officeDocument/2006/relationships/vmlDrawing" Target="../drawings/vmlDrawing50.vml"/><Relationship Id="rId36" Type="http://schemas.openxmlformats.org/officeDocument/2006/relationships/slideLayout" Target="../slideLayouts/slideLayout7.xml"/><Relationship Id="rId35" Type="http://schemas.openxmlformats.org/officeDocument/2006/relationships/image" Target="../media/image113.wmf"/><Relationship Id="rId34" Type="http://schemas.openxmlformats.org/officeDocument/2006/relationships/oleObject" Target="../embeddings/oleObject155.bin"/><Relationship Id="rId33" Type="http://schemas.openxmlformats.org/officeDocument/2006/relationships/image" Target="../media/image112.wmf"/><Relationship Id="rId32" Type="http://schemas.openxmlformats.org/officeDocument/2006/relationships/oleObject" Target="../embeddings/oleObject154.bin"/><Relationship Id="rId31" Type="http://schemas.openxmlformats.org/officeDocument/2006/relationships/image" Target="../media/image111.wmf"/><Relationship Id="rId30" Type="http://schemas.openxmlformats.org/officeDocument/2006/relationships/oleObject" Target="../embeddings/oleObject153.bin"/><Relationship Id="rId3" Type="http://schemas.openxmlformats.org/officeDocument/2006/relationships/oleObject" Target="../embeddings/oleObject138.bin"/><Relationship Id="rId29" Type="http://schemas.openxmlformats.org/officeDocument/2006/relationships/image" Target="../media/image110.wmf"/><Relationship Id="rId28" Type="http://schemas.openxmlformats.org/officeDocument/2006/relationships/oleObject" Target="../embeddings/oleObject152.bin"/><Relationship Id="rId27" Type="http://schemas.openxmlformats.org/officeDocument/2006/relationships/image" Target="../media/image109.wmf"/><Relationship Id="rId26" Type="http://schemas.openxmlformats.org/officeDocument/2006/relationships/oleObject" Target="../embeddings/oleObject151.bin"/><Relationship Id="rId25" Type="http://schemas.openxmlformats.org/officeDocument/2006/relationships/image" Target="../media/image108.wmf"/><Relationship Id="rId24" Type="http://schemas.openxmlformats.org/officeDocument/2006/relationships/oleObject" Target="../embeddings/oleObject150.bin"/><Relationship Id="rId23" Type="http://schemas.openxmlformats.org/officeDocument/2006/relationships/oleObject" Target="../embeddings/oleObject149.bin"/><Relationship Id="rId22" Type="http://schemas.openxmlformats.org/officeDocument/2006/relationships/oleObject" Target="../embeddings/oleObject148.bin"/><Relationship Id="rId21" Type="http://schemas.openxmlformats.org/officeDocument/2006/relationships/image" Target="../media/image107.wmf"/><Relationship Id="rId20" Type="http://schemas.openxmlformats.org/officeDocument/2006/relationships/oleObject" Target="../embeddings/oleObject147.bin"/><Relationship Id="rId2" Type="http://schemas.openxmlformats.org/officeDocument/2006/relationships/image" Target="../media/image98.wmf"/><Relationship Id="rId19" Type="http://schemas.openxmlformats.org/officeDocument/2006/relationships/oleObject" Target="../embeddings/oleObject146.bin"/><Relationship Id="rId18" Type="http://schemas.openxmlformats.org/officeDocument/2006/relationships/image" Target="../media/image106.wmf"/><Relationship Id="rId17" Type="http://schemas.openxmlformats.org/officeDocument/2006/relationships/oleObject" Target="../embeddings/oleObject145.bin"/><Relationship Id="rId16" Type="http://schemas.openxmlformats.org/officeDocument/2006/relationships/image" Target="../media/image105.wmf"/><Relationship Id="rId15" Type="http://schemas.openxmlformats.org/officeDocument/2006/relationships/oleObject" Target="../embeddings/oleObject144.bin"/><Relationship Id="rId14" Type="http://schemas.openxmlformats.org/officeDocument/2006/relationships/image" Target="../media/image104.wmf"/><Relationship Id="rId13" Type="http://schemas.openxmlformats.org/officeDocument/2006/relationships/oleObject" Target="../embeddings/oleObject143.bin"/><Relationship Id="rId12" Type="http://schemas.openxmlformats.org/officeDocument/2006/relationships/image" Target="../media/image103.wmf"/><Relationship Id="rId11" Type="http://schemas.openxmlformats.org/officeDocument/2006/relationships/oleObject" Target="../embeddings/oleObject142.bin"/><Relationship Id="rId10" Type="http://schemas.openxmlformats.org/officeDocument/2006/relationships/image" Target="../media/image102.wmf"/><Relationship Id="rId1" Type="http://schemas.openxmlformats.org/officeDocument/2006/relationships/oleObject" Target="../embeddings/oleObject137.bin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4.png"/><Relationship Id="rId1" Type="http://schemas.openxmlformats.org/officeDocument/2006/relationships/oleObject" Target="../embeddings/oleObject156.bin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1" Type="http://schemas.openxmlformats.org/officeDocument/2006/relationships/oleObject" Target="../embeddings/oleObject157.bin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6.png"/><Relationship Id="rId1" Type="http://schemas.openxmlformats.org/officeDocument/2006/relationships/oleObject" Target="../embeddings/oleObject158.bin"/></Relationships>
</file>

<file path=ppt/slides/_rels/slide6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6.bin"/><Relationship Id="rId8" Type="http://schemas.openxmlformats.org/officeDocument/2006/relationships/oleObject" Target="../embeddings/oleObject165.bin"/><Relationship Id="rId7" Type="http://schemas.openxmlformats.org/officeDocument/2006/relationships/oleObject" Target="../embeddings/oleObject164.bin"/><Relationship Id="rId6" Type="http://schemas.openxmlformats.org/officeDocument/2006/relationships/oleObject" Target="../embeddings/oleObject163.bin"/><Relationship Id="rId5" Type="http://schemas.openxmlformats.org/officeDocument/2006/relationships/oleObject" Target="../embeddings/oleObject162.bin"/><Relationship Id="rId4" Type="http://schemas.openxmlformats.org/officeDocument/2006/relationships/oleObject" Target="../embeddings/oleObject161.bin"/><Relationship Id="rId3" Type="http://schemas.openxmlformats.org/officeDocument/2006/relationships/oleObject" Target="../embeddings/oleObject160.bin"/><Relationship Id="rId2" Type="http://schemas.openxmlformats.org/officeDocument/2006/relationships/image" Target="../media/image117.wmf"/><Relationship Id="rId12" Type="http://schemas.openxmlformats.org/officeDocument/2006/relationships/vmlDrawing" Target="../drawings/vmlDrawing54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18.png"/><Relationship Id="rId1" Type="http://schemas.openxmlformats.org/officeDocument/2006/relationships/oleObject" Target="../embeddings/oleObject159.bin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81.xml"/><Relationship Id="rId1" Type="http://schemas.openxmlformats.org/officeDocument/2006/relationships/slide" Target="slide80.xml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9.png"/><Relationship Id="rId1" Type="http://schemas.openxmlformats.org/officeDocument/2006/relationships/oleObject" Target="../embeddings/oleObject167.bin"/></Relationships>
</file>

<file path=ppt/slides/_rels/slide7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1.png"/><Relationship Id="rId3" Type="http://schemas.openxmlformats.org/officeDocument/2006/relationships/oleObject" Target="../embeddings/oleObject169.bin"/><Relationship Id="rId2" Type="http://schemas.openxmlformats.org/officeDocument/2006/relationships/image" Target="../media/image120.png"/><Relationship Id="rId1" Type="http://schemas.openxmlformats.org/officeDocument/2006/relationships/oleObject" Target="../embeddings/oleObject168.bin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1" Type="http://schemas.openxmlformats.org/officeDocument/2006/relationships/oleObject" Target="../embeddings/oleObject170.bin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1" Type="http://schemas.openxmlformats.org/officeDocument/2006/relationships/oleObject" Target="../embeddings/oleObject171.bin"/></Relationships>
</file>

<file path=ppt/slides/_rels/slide7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4.png"/><Relationship Id="rId3" Type="http://schemas.openxmlformats.org/officeDocument/2006/relationships/oleObject" Target="../embeddings/oleObject173.bin"/><Relationship Id="rId2" Type="http://schemas.openxmlformats.org/officeDocument/2006/relationships/image" Target="../media/image123.png"/><Relationship Id="rId1" Type="http://schemas.openxmlformats.org/officeDocument/2006/relationships/oleObject" Target="../embeddings/oleObject172.bin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0.vml"/><Relationship Id="rId4" Type="http://schemas.openxmlformats.org/officeDocument/2006/relationships/slideLayout" Target="../slideLayouts/slideLayout7.xml"/><Relationship Id="rId3" Type="http://schemas.openxmlformats.org/officeDocument/2006/relationships/slide" Target="slide71.xml"/><Relationship Id="rId2" Type="http://schemas.openxmlformats.org/officeDocument/2006/relationships/image" Target="../media/image18.png"/><Relationship Id="rId1" Type="http://schemas.openxmlformats.org/officeDocument/2006/relationships/oleObject" Target="../embeddings/oleObject174.bin"/></Relationships>
</file>

<file path=ppt/slides/_rels/slide8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1.vml"/><Relationship Id="rId4" Type="http://schemas.openxmlformats.org/officeDocument/2006/relationships/slideLayout" Target="../slideLayouts/slideLayout7.xml"/><Relationship Id="rId3" Type="http://schemas.openxmlformats.org/officeDocument/2006/relationships/slide" Target="slide71.xml"/><Relationship Id="rId2" Type="http://schemas.openxmlformats.org/officeDocument/2006/relationships/image" Target="../media/image25.png"/><Relationship Id="rId1" Type="http://schemas.openxmlformats.org/officeDocument/2006/relationships/oleObject" Target="../embeddings/oleObject17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1" name="Text Box 3"/>
          <p:cNvSpPr txBox="1"/>
          <p:nvPr/>
        </p:nvSpPr>
        <p:spPr>
          <a:xfrm>
            <a:off x="381000" y="1839913"/>
            <a:ext cx="644525" cy="1190625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CC3300"/>
                </a:solidFill>
                <a:ea typeface="隶书" panose="02010509060101010101" pitchFamily="49" charset="-122"/>
              </a:rPr>
              <a:t>复</a:t>
            </a:r>
            <a:endParaRPr lang="zh-CN" altLang="en-US" sz="3600" b="1" dirty="0">
              <a:solidFill>
                <a:srgbClr val="CC3300"/>
              </a:solidFill>
              <a:ea typeface="隶书" panose="020105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CC3300"/>
                </a:solidFill>
                <a:ea typeface="隶书" panose="02010509060101010101" pitchFamily="49" charset="-122"/>
              </a:rPr>
              <a:t>习</a:t>
            </a:r>
            <a:endParaRPr lang="zh-CN" altLang="en-US" sz="3600" b="1" dirty="0"/>
          </a:p>
        </p:txBody>
      </p:sp>
      <p:sp>
        <p:nvSpPr>
          <p:cNvPr id="22532" name="Text Box 4"/>
          <p:cNvSpPr txBox="1"/>
          <p:nvPr/>
        </p:nvSpPr>
        <p:spPr>
          <a:xfrm>
            <a:off x="1219200" y="1905000"/>
            <a:ext cx="13906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逻辑运算</a:t>
            </a:r>
            <a:endParaRPr lang="zh-CN" altLang="en-US" sz="2400" b="1" dirty="0"/>
          </a:p>
        </p:txBody>
      </p:sp>
      <p:sp>
        <p:nvSpPr>
          <p:cNvPr id="22534" name="Text Box 6"/>
          <p:cNvSpPr txBox="1"/>
          <p:nvPr/>
        </p:nvSpPr>
        <p:spPr>
          <a:xfrm>
            <a:off x="1295400" y="2438400"/>
            <a:ext cx="1089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逻辑门</a:t>
            </a:r>
            <a:endParaRPr lang="zh-CN" altLang="en-US" sz="2400" b="1" dirty="0"/>
          </a:p>
        </p:txBody>
      </p:sp>
      <p:sp>
        <p:nvSpPr>
          <p:cNvPr id="22538" name="Text Box 10"/>
          <p:cNvSpPr txBox="1"/>
          <p:nvPr/>
        </p:nvSpPr>
        <p:spPr>
          <a:xfrm>
            <a:off x="1019175" y="4114800"/>
            <a:ext cx="39338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(2) </a:t>
            </a:r>
            <a:r>
              <a:rPr lang="zh-CN" altLang="en-US" sz="2400" b="1" dirty="0"/>
              <a:t>学习常用中规模集成模块</a:t>
            </a:r>
            <a:endParaRPr lang="zh-CN" altLang="en-US" sz="2400" b="1" dirty="0"/>
          </a:p>
        </p:txBody>
      </p:sp>
      <p:sp>
        <p:nvSpPr>
          <p:cNvPr id="22539" name="Text Box 11"/>
          <p:cNvSpPr txBox="1"/>
          <p:nvPr/>
        </p:nvSpPr>
        <p:spPr>
          <a:xfrm>
            <a:off x="1025525" y="4724400"/>
            <a:ext cx="45370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(3) </a:t>
            </a:r>
            <a:r>
              <a:rPr lang="zh-CN" altLang="en-US" sz="2400" b="1" dirty="0"/>
              <a:t>了解电路中的竞争和冒险现象</a:t>
            </a:r>
            <a:endParaRPr lang="zh-CN" altLang="en-US" sz="2400" b="1" dirty="0"/>
          </a:p>
        </p:txBody>
      </p:sp>
      <p:sp>
        <p:nvSpPr>
          <p:cNvPr id="22540" name="Text Box 12"/>
          <p:cNvSpPr txBox="1"/>
          <p:nvPr/>
        </p:nvSpPr>
        <p:spPr>
          <a:xfrm>
            <a:off x="381000" y="3276600"/>
            <a:ext cx="615950" cy="2289175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CC3300"/>
                </a:solidFill>
                <a:ea typeface="隶书" panose="02010509060101010101" pitchFamily="49" charset="-122"/>
              </a:rPr>
              <a:t>本</a:t>
            </a:r>
            <a:endParaRPr lang="zh-CN" altLang="en-US" sz="3600" b="1" dirty="0">
              <a:solidFill>
                <a:srgbClr val="CC3300"/>
              </a:solidFill>
              <a:ea typeface="隶书" panose="020105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CC3300"/>
                </a:solidFill>
                <a:ea typeface="隶书" panose="02010509060101010101" pitchFamily="49" charset="-122"/>
              </a:rPr>
              <a:t>章</a:t>
            </a:r>
            <a:endParaRPr lang="zh-CN" altLang="en-US" sz="3600" b="1" dirty="0">
              <a:solidFill>
                <a:srgbClr val="CC3300"/>
              </a:solidFill>
              <a:ea typeface="隶书" panose="020105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CC3300"/>
                </a:solidFill>
                <a:ea typeface="隶书" panose="02010509060101010101" pitchFamily="49" charset="-122"/>
              </a:rPr>
              <a:t>重</a:t>
            </a:r>
            <a:endParaRPr lang="zh-CN" altLang="en-US" sz="3600" b="1" dirty="0">
              <a:solidFill>
                <a:srgbClr val="CC3300"/>
              </a:solidFill>
              <a:ea typeface="隶书" panose="020105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CC3300"/>
                </a:solidFill>
                <a:ea typeface="隶书" panose="02010509060101010101" pitchFamily="49" charset="-122"/>
              </a:rPr>
              <a:t>点</a:t>
            </a:r>
            <a:endParaRPr lang="zh-CN" altLang="en-US" sz="3600" b="1" dirty="0">
              <a:ea typeface="隶书" panose="02010509060101010101" pitchFamily="49" charset="-122"/>
            </a:endParaRPr>
          </a:p>
        </p:txBody>
      </p:sp>
      <p:sp>
        <p:nvSpPr>
          <p:cNvPr id="22535" name="Text Box 7"/>
          <p:cNvSpPr txBox="1"/>
          <p:nvPr/>
        </p:nvSpPr>
        <p:spPr>
          <a:xfrm>
            <a:off x="990600" y="3505200"/>
            <a:ext cx="74834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(1)</a:t>
            </a:r>
            <a:r>
              <a:rPr lang="zh-CN" altLang="en-US" sz="2400" b="1" dirty="0">
                <a:latin typeface="宋体" panose="02010600030101010101" pitchFamily="2" charset="-122"/>
              </a:rPr>
              <a:t>掌握分析和设计电路的基本方法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sp>
        <p:nvSpPr>
          <p:cNvPr id="4105" name="Line 21"/>
          <p:cNvSpPr/>
          <p:nvPr/>
        </p:nvSpPr>
        <p:spPr>
          <a:xfrm>
            <a:off x="464185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06" name="Line 25"/>
          <p:cNvSpPr/>
          <p:nvPr/>
        </p:nvSpPr>
        <p:spPr>
          <a:xfrm>
            <a:off x="4641850" y="4267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07" name="Rectangle 30"/>
          <p:cNvSpPr/>
          <p:nvPr/>
        </p:nvSpPr>
        <p:spPr>
          <a:xfrm>
            <a:off x="1447800" y="304800"/>
            <a:ext cx="6172200" cy="762000"/>
          </a:xfrm>
          <a:prstGeom prst="rect">
            <a:avLst/>
          </a:prstGeom>
          <a:solidFill>
            <a:srgbClr val="CCFFFF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CCFFFF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4400" b="1" dirty="0">
                <a:solidFill>
                  <a:srgbClr val="CC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第三章 组合逻辑电路</a:t>
            </a:r>
            <a:endParaRPr lang="zh-CN" altLang="en-US" sz="44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" name="Group 36"/>
          <p:cNvGrpSpPr/>
          <p:nvPr/>
        </p:nvGrpSpPr>
        <p:grpSpPr>
          <a:xfrm>
            <a:off x="5006975" y="3813175"/>
            <a:ext cx="1546225" cy="2282825"/>
            <a:chOff x="2880" y="2400"/>
            <a:chExt cx="974" cy="1438"/>
          </a:xfrm>
        </p:grpSpPr>
        <p:grpSp>
          <p:nvGrpSpPr>
            <p:cNvPr id="4116" name="Group 27"/>
            <p:cNvGrpSpPr/>
            <p:nvPr/>
          </p:nvGrpSpPr>
          <p:grpSpPr>
            <a:xfrm>
              <a:off x="3024" y="2400"/>
              <a:ext cx="830" cy="1438"/>
              <a:chOff x="2880" y="2304"/>
              <a:chExt cx="830" cy="1438"/>
            </a:xfrm>
          </p:grpSpPr>
          <p:sp>
            <p:nvSpPr>
              <p:cNvPr id="4118" name="Text Box 13"/>
              <p:cNvSpPr txBox="1"/>
              <p:nvPr/>
            </p:nvSpPr>
            <p:spPr>
              <a:xfrm>
                <a:off x="3024" y="2304"/>
                <a:ext cx="686" cy="14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加法器</a:t>
                </a:r>
                <a:endParaRPr lang="zh-CN" altLang="en-US" sz="24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比较器</a:t>
                </a:r>
                <a:endParaRPr lang="zh-CN" altLang="en-US" sz="24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译码器</a:t>
                </a:r>
                <a:endParaRPr lang="zh-CN" altLang="en-US" sz="24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编码器</a:t>
                </a:r>
                <a:endParaRPr lang="zh-CN" altLang="en-US" sz="24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选择器</a:t>
                </a:r>
                <a:endParaRPr lang="zh-CN" altLang="en-US" sz="24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分配器</a:t>
                </a:r>
                <a:endParaRPr lang="zh-CN" altLang="en-US" sz="2400" b="1" dirty="0"/>
              </a:p>
            </p:txBody>
          </p:sp>
          <p:sp>
            <p:nvSpPr>
              <p:cNvPr id="4119" name="Line 22"/>
              <p:cNvSpPr/>
              <p:nvPr/>
            </p:nvSpPr>
            <p:spPr>
              <a:xfrm>
                <a:off x="2880" y="2448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20" name="Line 23"/>
              <p:cNvSpPr/>
              <p:nvPr/>
            </p:nvSpPr>
            <p:spPr>
              <a:xfrm>
                <a:off x="2880" y="3600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21" name="Line 24"/>
              <p:cNvSpPr/>
              <p:nvPr/>
            </p:nvSpPr>
            <p:spPr>
              <a:xfrm>
                <a:off x="2880" y="2448"/>
                <a:ext cx="0" cy="115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117" name="Line 35"/>
            <p:cNvSpPr/>
            <p:nvPr/>
          </p:nvSpPr>
          <p:spPr>
            <a:xfrm>
              <a:off x="2880" y="2688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44"/>
          <p:cNvGrpSpPr/>
          <p:nvPr/>
        </p:nvGrpSpPr>
        <p:grpSpPr>
          <a:xfrm>
            <a:off x="2971800" y="1371600"/>
            <a:ext cx="1905000" cy="838200"/>
            <a:chOff x="1680" y="960"/>
            <a:chExt cx="1200" cy="528"/>
          </a:xfrm>
        </p:grpSpPr>
        <p:sp>
          <p:nvSpPr>
            <p:cNvPr id="4114" name="Text Box 5"/>
            <p:cNvSpPr txBox="1"/>
            <p:nvPr/>
          </p:nvSpPr>
          <p:spPr>
            <a:xfrm>
              <a:off x="1680" y="960"/>
              <a:ext cx="1152" cy="518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与、或、非、</a:t>
              </a:r>
              <a:endParaRPr lang="zh-CN" altLang="en-US" sz="24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异或、同或</a:t>
              </a:r>
              <a:endParaRPr lang="zh-CN" altLang="en-US" sz="2400" b="1" dirty="0"/>
            </a:p>
          </p:txBody>
        </p:sp>
        <p:sp>
          <p:nvSpPr>
            <p:cNvPr id="4115" name="AutoShape 37"/>
            <p:cNvSpPr/>
            <p:nvPr/>
          </p:nvSpPr>
          <p:spPr>
            <a:xfrm>
              <a:off x="1728" y="960"/>
              <a:ext cx="1152" cy="528"/>
            </a:xfrm>
            <a:prstGeom prst="wedgeRectCallout">
              <a:avLst>
                <a:gd name="adj1" fmla="val -68579"/>
                <a:gd name="adj2" fmla="val 3541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5" name="Group 45"/>
          <p:cNvGrpSpPr/>
          <p:nvPr/>
        </p:nvGrpSpPr>
        <p:grpSpPr>
          <a:xfrm>
            <a:off x="2895600" y="2209800"/>
            <a:ext cx="4191000" cy="838200"/>
            <a:chOff x="2496" y="1392"/>
            <a:chExt cx="2640" cy="528"/>
          </a:xfrm>
        </p:grpSpPr>
        <p:sp>
          <p:nvSpPr>
            <p:cNvPr id="4112" name="Text Box 40"/>
            <p:cNvSpPr txBox="1"/>
            <p:nvPr/>
          </p:nvSpPr>
          <p:spPr>
            <a:xfrm>
              <a:off x="2496" y="1402"/>
              <a:ext cx="2639" cy="518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非门、与门、或门、与非门、</a:t>
              </a:r>
              <a:endParaRPr lang="zh-CN" altLang="en-US" sz="2400" b="1" dirty="0">
                <a:latin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或非门、异或门、同或门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4113" name="AutoShape 41"/>
            <p:cNvSpPr/>
            <p:nvPr/>
          </p:nvSpPr>
          <p:spPr>
            <a:xfrm>
              <a:off x="2496" y="1392"/>
              <a:ext cx="2640" cy="528"/>
            </a:xfrm>
            <a:prstGeom prst="wedgeRectCallout">
              <a:avLst>
                <a:gd name="adj1" fmla="val -59773"/>
                <a:gd name="adj2" fmla="val -8523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b="1" dirty="0">
                <a:latin typeface="宋体" panose="02010600030101010101" pitchFamily="2" charset="-122"/>
              </a:endParaRPr>
            </a:p>
          </p:txBody>
        </p:sp>
      </p:grpSp>
      <p:pic>
        <p:nvPicPr>
          <p:cNvPr id="4111" name="Picture 110" descr="E:\电子教案\MEETING.WMF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5181600"/>
            <a:ext cx="1981200" cy="14112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nimBg="1"/>
      <p:bldP spid="22532" grpId="0"/>
      <p:bldP spid="22534" grpId="0"/>
      <p:bldP spid="22538" grpId="0"/>
      <p:bldP spid="22539" grpId="0"/>
      <p:bldP spid="22540" grpId="0" animBg="1"/>
      <p:bldP spid="2253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4"/>
          <p:cNvSpPr/>
          <p:nvPr/>
        </p:nvSpPr>
        <p:spPr>
          <a:xfrm>
            <a:off x="2133600" y="533400"/>
            <a:ext cx="4800600" cy="685800"/>
          </a:xfrm>
          <a:prstGeom prst="rect">
            <a:avLst/>
          </a:prstGeom>
          <a:solidFill>
            <a:srgbClr val="CCECFF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CCECFF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4000" dirty="0">
                <a:solidFill>
                  <a:srgbClr val="CC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第三章 组合逻辑电路</a:t>
            </a:r>
            <a:endParaRPr lang="zh-CN" altLang="en-US" sz="40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123" name="Text Box 7"/>
          <p:cNvSpPr txBox="1"/>
          <p:nvPr/>
        </p:nvSpPr>
        <p:spPr>
          <a:xfrm>
            <a:off x="1096963" y="1981200"/>
            <a:ext cx="42513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第一节 组合电路的分析和设计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124" name="Text Box 8"/>
          <p:cNvSpPr txBox="1"/>
          <p:nvPr/>
        </p:nvSpPr>
        <p:spPr>
          <a:xfrm>
            <a:off x="1050925" y="2590800"/>
            <a:ext cx="5137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第二节 算术逻辑运算及数值比较组件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125" name="Text Box 9"/>
          <p:cNvSpPr txBox="1"/>
          <p:nvPr/>
        </p:nvSpPr>
        <p:spPr>
          <a:xfrm>
            <a:off x="1035050" y="3124200"/>
            <a:ext cx="3308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第三节 译码器和编码器</a:t>
            </a:r>
            <a:endParaRPr lang="zh-CN" altLang="en-US" sz="2400" b="1" dirty="0"/>
          </a:p>
        </p:txBody>
      </p:sp>
      <p:sp>
        <p:nvSpPr>
          <p:cNvPr id="5126" name="Text Box 10"/>
          <p:cNvSpPr txBox="1"/>
          <p:nvPr/>
        </p:nvSpPr>
        <p:spPr>
          <a:xfrm>
            <a:off x="1031875" y="3733800"/>
            <a:ext cx="45339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第四节 数据选择器和数据分配器</a:t>
            </a:r>
            <a:endParaRPr lang="zh-CN" altLang="en-US" sz="2400" b="1" dirty="0"/>
          </a:p>
        </p:txBody>
      </p:sp>
      <p:sp>
        <p:nvSpPr>
          <p:cNvPr id="5127" name="Text Box 11"/>
          <p:cNvSpPr txBox="1"/>
          <p:nvPr/>
        </p:nvSpPr>
        <p:spPr>
          <a:xfrm>
            <a:off x="981075" y="4343400"/>
            <a:ext cx="30321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第五节 奇偶检验电路</a:t>
            </a:r>
            <a:endParaRPr lang="zh-CN" altLang="en-US" sz="2400" b="1" dirty="0"/>
          </a:p>
        </p:txBody>
      </p:sp>
      <p:sp>
        <p:nvSpPr>
          <p:cNvPr id="5128" name="Text Box 12"/>
          <p:cNvSpPr txBox="1"/>
          <p:nvPr/>
        </p:nvSpPr>
        <p:spPr>
          <a:xfrm>
            <a:off x="974725" y="4876800"/>
            <a:ext cx="3340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第六节 模块化设计概述</a:t>
            </a:r>
            <a:endParaRPr lang="zh-CN" altLang="en-US" sz="2400" b="1" dirty="0"/>
          </a:p>
        </p:txBody>
      </p:sp>
      <p:sp>
        <p:nvSpPr>
          <p:cNvPr id="5129" name="Text Box 13">
            <a:hlinkClick r:id="rId1" action="ppaction://hlinksldjump"/>
          </p:cNvPr>
          <p:cNvSpPr txBox="1"/>
          <p:nvPr/>
        </p:nvSpPr>
        <p:spPr>
          <a:xfrm>
            <a:off x="974725" y="5410200"/>
            <a:ext cx="4527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第七节 组合电路中的竞争与冒险</a:t>
            </a:r>
            <a:endParaRPr lang="zh-CN" altLang="en-US" sz="2400" b="1" dirty="0"/>
          </a:p>
        </p:txBody>
      </p:sp>
      <p:graphicFrame>
        <p:nvGraphicFramePr>
          <p:cNvPr id="5130" name="Object 18">
            <a:hlinkClick r:id="rId2" action="ppaction://hlinksldjump"/>
          </p:cNvPr>
          <p:cNvGraphicFramePr>
            <a:graphicFrameLocks noChangeAspect="1"/>
          </p:cNvGraphicFramePr>
          <p:nvPr/>
        </p:nvGraphicFramePr>
        <p:xfrm>
          <a:off x="457200" y="4267200"/>
          <a:ext cx="4572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882650" imgH="704850" progId="MS_ClipArt_Gallery.2">
                  <p:embed/>
                </p:oleObj>
              </mc:Choice>
              <mc:Fallback>
                <p:oleObj name="" r:id="rId3" imgW="882650" imgH="704850" progId="MS_ClipArt_Gallery.2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4267200"/>
                        <a:ext cx="457200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" name="Object 19">
            <a:hlinkClick r:id="rId5" action="ppaction://hlinksldjump"/>
          </p:cNvPr>
          <p:cNvGraphicFramePr>
            <a:graphicFrameLocks noChangeAspect="1"/>
          </p:cNvGraphicFramePr>
          <p:nvPr/>
        </p:nvGraphicFramePr>
        <p:xfrm>
          <a:off x="457200" y="4876800"/>
          <a:ext cx="5334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6" imgW="882650" imgH="704850" progId="MS_ClipArt_Gallery.2">
                  <p:embed/>
                </p:oleObj>
              </mc:Choice>
              <mc:Fallback>
                <p:oleObj name="" r:id="rId6" imgW="882650" imgH="704850" progId="MS_ClipArt_Gallery.2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4876800"/>
                        <a:ext cx="533400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2" name="Object 20">
            <a:hlinkClick r:id="rId1" action="ppaction://hlinksldjump"/>
          </p:cNvPr>
          <p:cNvGraphicFramePr>
            <a:graphicFrameLocks noChangeAspect="1"/>
          </p:cNvGraphicFramePr>
          <p:nvPr/>
        </p:nvGraphicFramePr>
        <p:xfrm>
          <a:off x="457200" y="5410200"/>
          <a:ext cx="5334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7" imgW="882650" imgH="704850" progId="MS_ClipArt_Gallery.2">
                  <p:embed/>
                </p:oleObj>
              </mc:Choice>
              <mc:Fallback>
                <p:oleObj name="" r:id="rId7" imgW="882650" imgH="704850" progId="MS_ClipArt_Gallery.2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5410200"/>
                        <a:ext cx="533400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3" name="Object 21">
            <a:hlinkClick r:id="rId8" action="ppaction://hlinksldjump"/>
          </p:cNvPr>
          <p:cNvGraphicFramePr>
            <a:graphicFrameLocks noChangeAspect="1"/>
          </p:cNvGraphicFramePr>
          <p:nvPr/>
        </p:nvGraphicFramePr>
        <p:xfrm>
          <a:off x="457200" y="3657600"/>
          <a:ext cx="4572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9" imgW="882650" imgH="704850" progId="MS_ClipArt_Gallery.2">
                  <p:embed/>
                </p:oleObj>
              </mc:Choice>
              <mc:Fallback>
                <p:oleObj name="" r:id="rId9" imgW="882650" imgH="704850" progId="MS_ClipArt_Gallery.2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3657600"/>
                        <a:ext cx="457200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4" name="Object 22">
            <a:hlinkClick r:id="rId10" action="ppaction://hlinksldjump"/>
          </p:cNvPr>
          <p:cNvGraphicFramePr>
            <a:graphicFrameLocks noChangeAspect="1"/>
          </p:cNvGraphicFramePr>
          <p:nvPr/>
        </p:nvGraphicFramePr>
        <p:xfrm>
          <a:off x="457200" y="3124200"/>
          <a:ext cx="4572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1" imgW="882650" imgH="704850" progId="MS_ClipArt_Gallery.2">
                  <p:embed/>
                </p:oleObj>
              </mc:Choice>
              <mc:Fallback>
                <p:oleObj name="" r:id="rId11" imgW="882650" imgH="704850" progId="MS_ClipArt_Gallery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3124200"/>
                        <a:ext cx="457200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5" name="Object 23">
            <a:hlinkClick r:id="rId12" action="ppaction://hlinksldjump"/>
          </p:cNvPr>
          <p:cNvGraphicFramePr>
            <a:graphicFrameLocks noChangeAspect="1"/>
          </p:cNvGraphicFramePr>
          <p:nvPr/>
        </p:nvGraphicFramePr>
        <p:xfrm>
          <a:off x="457200" y="2590800"/>
          <a:ext cx="5334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3" imgW="882650" imgH="704850" progId="MS_ClipArt_Gallery.2">
                  <p:embed/>
                </p:oleObj>
              </mc:Choice>
              <mc:Fallback>
                <p:oleObj name="" r:id="rId13" imgW="882650" imgH="70485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2590800"/>
                        <a:ext cx="533400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6" name="Object 24">
            <a:hlinkClick r:id="rId14" action="ppaction://hlinksldjump"/>
          </p:cNvPr>
          <p:cNvGraphicFramePr>
            <a:graphicFrameLocks noChangeAspect="1"/>
          </p:cNvGraphicFramePr>
          <p:nvPr/>
        </p:nvGraphicFramePr>
        <p:xfrm>
          <a:off x="457200" y="1981200"/>
          <a:ext cx="5334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5" imgW="882650" imgH="704850" progId="MS_ClipArt_Gallery.2">
                  <p:embed/>
                </p:oleObj>
              </mc:Choice>
              <mc:Fallback>
                <p:oleObj name="" r:id="rId15" imgW="882650" imgH="704850" progId="MS_ClipArt_Gallery.2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1981200"/>
                        <a:ext cx="533400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b="1" dirty="0">
                <a:latin typeface="隶书" panose="02010509060101010101" pitchFamily="49" charset="-122"/>
                <a:ea typeface="隶书" panose="02010509060101010101" pitchFamily="49" charset="-122"/>
              </a:rPr>
              <a:t>第一节 组合电路的分析和设计</a:t>
            </a:r>
            <a:endParaRPr lang="zh-CN" altLang="en-US" sz="40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76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2800" b="1" dirty="0"/>
              <a:t>一、组合电路</a:t>
            </a:r>
            <a:endParaRPr lang="zh-CN" altLang="en-US" sz="2800" dirty="0"/>
          </a:p>
        </p:txBody>
      </p:sp>
      <p:sp>
        <p:nvSpPr>
          <p:cNvPr id="14341" name="Text Box 5"/>
          <p:cNvSpPr txBox="1"/>
          <p:nvPr/>
        </p:nvSpPr>
        <p:spPr>
          <a:xfrm>
            <a:off x="609600" y="2681288"/>
            <a:ext cx="34131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二、组合电路的分析</a:t>
            </a:r>
            <a:endParaRPr lang="zh-CN" altLang="en-US" sz="2800" dirty="0"/>
          </a:p>
        </p:txBody>
      </p:sp>
      <p:sp>
        <p:nvSpPr>
          <p:cNvPr id="14342" name="Text Box 6"/>
          <p:cNvSpPr txBox="1"/>
          <p:nvPr/>
        </p:nvSpPr>
        <p:spPr>
          <a:xfrm>
            <a:off x="609600" y="3376613"/>
            <a:ext cx="34131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三、组合电路的设计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  <p:bldP spid="14341" grpId="0"/>
      <p:bldP spid="143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ext Box 2"/>
          <p:cNvSpPr txBox="1"/>
          <p:nvPr/>
        </p:nvSpPr>
        <p:spPr>
          <a:xfrm>
            <a:off x="381000" y="381000"/>
            <a:ext cx="203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一、组合电路</a:t>
            </a:r>
            <a:endParaRPr lang="zh-CN" altLang="en-US" sz="2400" dirty="0"/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4953000" y="304800"/>
          <a:ext cx="37338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2914650" imgH="2247900" progId="Paint.Picture">
                  <p:embed/>
                </p:oleObj>
              </mc:Choice>
              <mc:Fallback>
                <p:oleObj name="" r:id="rId1" imgW="2914650" imgH="2247900" progId="Paint.Picture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53000" y="304800"/>
                        <a:ext cx="3733800" cy="304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Text Box 6"/>
          <p:cNvSpPr txBox="1"/>
          <p:nvPr/>
        </p:nvSpPr>
        <p:spPr>
          <a:xfrm>
            <a:off x="533400" y="1274763"/>
            <a:ext cx="1089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输入：</a:t>
            </a:r>
            <a:endParaRPr lang="zh-CN" altLang="en-US" sz="2400" b="1" dirty="0"/>
          </a:p>
        </p:txBody>
      </p:sp>
      <p:sp>
        <p:nvSpPr>
          <p:cNvPr id="24583" name="Text Box 7"/>
          <p:cNvSpPr txBox="1"/>
          <p:nvPr/>
        </p:nvSpPr>
        <p:spPr>
          <a:xfrm>
            <a:off x="381000" y="3048000"/>
            <a:ext cx="77866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逻辑关系：</a:t>
            </a:r>
            <a:r>
              <a:rPr lang="en-US" altLang="zh-CN" sz="2400" b="1" dirty="0"/>
              <a:t>F</a:t>
            </a:r>
            <a:r>
              <a:rPr lang="en-US" altLang="zh-CN" sz="2400" b="1" baseline="-25000" dirty="0"/>
              <a:t>i </a:t>
            </a:r>
            <a:r>
              <a:rPr lang="en-US" altLang="zh-CN" sz="2400" b="1" dirty="0"/>
              <a:t>= f</a:t>
            </a:r>
            <a:r>
              <a:rPr lang="en-US" altLang="zh-CN" sz="2400" b="1" baseline="-25000" dirty="0"/>
              <a:t>i</a:t>
            </a:r>
            <a:r>
              <a:rPr lang="en-US" altLang="zh-CN" sz="2400" b="1" dirty="0"/>
              <a:t> (X</a:t>
            </a:r>
            <a:r>
              <a:rPr lang="en-US" altLang="zh-CN" sz="2400" b="1" baseline="-25000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X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…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/>
              <a:t>X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宋体" panose="02010600030101010101" pitchFamily="2" charset="-122"/>
              </a:rPr>
              <a:t>)  i = (1</a:t>
            </a:r>
            <a:r>
              <a:rPr lang="zh-CN" altLang="en-US" sz="2400" b="1" dirty="0"/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…</a:t>
            </a:r>
            <a:r>
              <a:rPr lang="zh-CN" altLang="en-US" sz="2400" b="1" dirty="0"/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m)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24584" name="Text Box 8"/>
          <p:cNvSpPr txBox="1"/>
          <p:nvPr/>
        </p:nvSpPr>
        <p:spPr>
          <a:xfrm>
            <a:off x="304800" y="3833813"/>
            <a:ext cx="12446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特点：</a:t>
            </a:r>
            <a:endParaRPr lang="zh-CN" altLang="en-US" sz="2800" b="1" dirty="0"/>
          </a:p>
        </p:txBody>
      </p:sp>
      <p:sp>
        <p:nvSpPr>
          <p:cNvPr id="24585" name="Text Box 9"/>
          <p:cNvSpPr txBox="1"/>
          <p:nvPr/>
        </p:nvSpPr>
        <p:spPr>
          <a:xfrm>
            <a:off x="990600" y="4419600"/>
            <a:ext cx="26670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电路由</a:t>
            </a:r>
            <a:r>
              <a:rPr lang="zh-CN" altLang="en-US" sz="2400" b="1" dirty="0">
                <a:solidFill>
                  <a:srgbClr val="CC3300"/>
                </a:solidFill>
              </a:rPr>
              <a:t>逻辑门</a:t>
            </a:r>
            <a:r>
              <a:rPr lang="zh-CN" altLang="en-US" sz="2400" b="1" dirty="0"/>
              <a:t>构成</a:t>
            </a:r>
            <a:endParaRPr lang="zh-CN" altLang="en-US" sz="2400" dirty="0"/>
          </a:p>
        </p:txBody>
      </p:sp>
      <p:sp>
        <p:nvSpPr>
          <p:cNvPr id="24587" name="Text Box 11"/>
          <p:cNvSpPr txBox="1"/>
          <p:nvPr/>
        </p:nvSpPr>
        <p:spPr>
          <a:xfrm>
            <a:off x="1066800" y="4953000"/>
            <a:ext cx="203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3300"/>
                </a:solidFill>
              </a:rPr>
              <a:t>不含记忆元件</a:t>
            </a:r>
            <a:endParaRPr lang="zh-CN" altLang="en-US" sz="2400" b="1" dirty="0"/>
          </a:p>
        </p:txBody>
      </p:sp>
      <p:sp>
        <p:nvSpPr>
          <p:cNvPr id="24588" name="Text Box 12"/>
          <p:cNvSpPr txBox="1"/>
          <p:nvPr/>
        </p:nvSpPr>
        <p:spPr>
          <a:xfrm>
            <a:off x="1025525" y="5486400"/>
            <a:ext cx="35718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输出</a:t>
            </a:r>
            <a:r>
              <a:rPr lang="zh-CN" altLang="en-US" sz="2400" b="1" dirty="0">
                <a:solidFill>
                  <a:srgbClr val="CC3300"/>
                </a:solidFill>
              </a:rPr>
              <a:t>无反馈</a:t>
            </a:r>
            <a:r>
              <a:rPr lang="zh-CN" altLang="en-US" sz="2400" b="1" dirty="0"/>
              <a:t>到输入的回路</a:t>
            </a:r>
            <a:endParaRPr lang="zh-CN" altLang="en-US" sz="2400" dirty="0"/>
          </a:p>
        </p:txBody>
      </p:sp>
      <p:sp>
        <p:nvSpPr>
          <p:cNvPr id="24589" name="Text Box 13"/>
          <p:cNvSpPr txBox="1"/>
          <p:nvPr/>
        </p:nvSpPr>
        <p:spPr>
          <a:xfrm>
            <a:off x="1066800" y="6019800"/>
            <a:ext cx="35718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输出与电路</a:t>
            </a:r>
            <a:r>
              <a:rPr lang="zh-CN" altLang="en-US" sz="2400" b="1" dirty="0">
                <a:solidFill>
                  <a:srgbClr val="CC3300"/>
                </a:solidFill>
              </a:rPr>
              <a:t>原来状态无关</a:t>
            </a:r>
            <a:endParaRPr lang="zh-CN" altLang="en-US" sz="2400" dirty="0"/>
          </a:p>
        </p:txBody>
      </p:sp>
      <p:sp>
        <p:nvSpPr>
          <p:cNvPr id="24596" name="Text Box 20"/>
          <p:cNvSpPr txBox="1"/>
          <p:nvPr/>
        </p:nvSpPr>
        <p:spPr>
          <a:xfrm>
            <a:off x="533400" y="2057400"/>
            <a:ext cx="1089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输出：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24603" name="Text Box 27"/>
          <p:cNvSpPr txBox="1"/>
          <p:nvPr/>
        </p:nvSpPr>
        <p:spPr>
          <a:xfrm>
            <a:off x="1362075" y="1295400"/>
            <a:ext cx="23717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X</a:t>
            </a:r>
            <a:r>
              <a:rPr lang="en-US" altLang="zh-CN" sz="2400" b="1" baseline="-25000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X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…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/>
              <a:t>X</a:t>
            </a:r>
            <a:r>
              <a:rPr lang="en-US" altLang="zh-CN" sz="2400" b="1" baseline="-25000" dirty="0"/>
              <a:t>n</a:t>
            </a:r>
            <a:endParaRPr lang="en-US" altLang="zh-CN" sz="2400" b="1" baseline="-25000" dirty="0"/>
          </a:p>
        </p:txBody>
      </p:sp>
      <p:grpSp>
        <p:nvGrpSpPr>
          <p:cNvPr id="2" name="Group 29"/>
          <p:cNvGrpSpPr/>
          <p:nvPr/>
        </p:nvGrpSpPr>
        <p:grpSpPr>
          <a:xfrm>
            <a:off x="1524000" y="1143000"/>
            <a:ext cx="3733800" cy="990600"/>
            <a:chOff x="960" y="720"/>
            <a:chExt cx="2352" cy="624"/>
          </a:xfrm>
        </p:grpSpPr>
        <p:sp>
          <p:nvSpPr>
            <p:cNvPr id="8210" name="AutoShape 16"/>
            <p:cNvSpPr/>
            <p:nvPr/>
          </p:nvSpPr>
          <p:spPr>
            <a:xfrm>
              <a:off x="3168" y="720"/>
              <a:ext cx="144" cy="624"/>
            </a:xfrm>
            <a:prstGeom prst="leftBrace">
              <a:avLst>
                <a:gd name="adj1" fmla="val 81731"/>
                <a:gd name="adj2" fmla="val 50000"/>
              </a:avLst>
            </a:prstGeom>
            <a:noFill/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8211" name="Line 28"/>
            <p:cNvSpPr/>
            <p:nvPr/>
          </p:nvSpPr>
          <p:spPr>
            <a:xfrm>
              <a:off x="960" y="1008"/>
              <a:ext cx="2160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4606" name="Text Box 30"/>
          <p:cNvSpPr txBox="1"/>
          <p:nvPr/>
        </p:nvSpPr>
        <p:spPr>
          <a:xfrm>
            <a:off x="1447800" y="2057400"/>
            <a:ext cx="2324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F</a:t>
            </a:r>
            <a:r>
              <a:rPr lang="en-US" altLang="zh-CN" sz="2400" b="1" baseline="-25000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F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…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/>
              <a:t>F</a:t>
            </a:r>
            <a:r>
              <a:rPr lang="en-US" altLang="zh-CN" sz="2400" b="1" baseline="-25000" dirty="0"/>
              <a:t>m</a:t>
            </a:r>
            <a:endParaRPr lang="en-US" altLang="zh-CN" sz="2400" b="1" baseline="-25000" dirty="0"/>
          </a:p>
        </p:txBody>
      </p:sp>
      <p:grpSp>
        <p:nvGrpSpPr>
          <p:cNvPr id="3" name="Group 32"/>
          <p:cNvGrpSpPr/>
          <p:nvPr/>
        </p:nvGrpSpPr>
        <p:grpSpPr>
          <a:xfrm>
            <a:off x="1524000" y="1143000"/>
            <a:ext cx="7239000" cy="1219200"/>
            <a:chOff x="960" y="720"/>
            <a:chExt cx="4560" cy="768"/>
          </a:xfrm>
        </p:grpSpPr>
        <p:sp>
          <p:nvSpPr>
            <p:cNvPr id="8208" name="AutoShape 21"/>
            <p:cNvSpPr/>
            <p:nvPr/>
          </p:nvSpPr>
          <p:spPr>
            <a:xfrm>
              <a:off x="5376" y="720"/>
              <a:ext cx="144" cy="624"/>
            </a:xfrm>
            <a:prstGeom prst="rightBrace">
              <a:avLst>
                <a:gd name="adj1" fmla="val 36111"/>
                <a:gd name="adj2" fmla="val 50000"/>
              </a:avLst>
            </a:prstGeom>
            <a:noFill/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8209" name="Line 31"/>
            <p:cNvSpPr/>
            <p:nvPr/>
          </p:nvSpPr>
          <p:spPr>
            <a:xfrm flipV="1">
              <a:off x="960" y="1056"/>
              <a:ext cx="4416" cy="432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/>
      <p:bldP spid="24583" grpId="0"/>
      <p:bldP spid="24584" grpId="0"/>
      <p:bldP spid="24585" grpId="0" animBg="1"/>
      <p:bldP spid="24587" grpId="0"/>
      <p:bldP spid="24588" grpId="0"/>
      <p:bldP spid="24589" grpId="0"/>
      <p:bldP spid="24596" grpId="0"/>
      <p:bldP spid="24603" grpId="0"/>
      <p:bldP spid="2460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/>
          <p:nvPr/>
        </p:nvSpPr>
        <p:spPr>
          <a:xfrm>
            <a:off x="304800" y="228600"/>
            <a:ext cx="53340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tx2"/>
                </a:solidFill>
                <a:ea typeface="隶书" panose="02010509060101010101" pitchFamily="49" charset="-122"/>
              </a:rPr>
              <a:t>二、组合电路的分析</a:t>
            </a:r>
            <a:endParaRPr lang="zh-CN" altLang="en-US" sz="3600" b="1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  <p:sp>
        <p:nvSpPr>
          <p:cNvPr id="68611" name="Text Box 3"/>
          <p:cNvSpPr txBox="1"/>
          <p:nvPr/>
        </p:nvSpPr>
        <p:spPr>
          <a:xfrm>
            <a:off x="2209800" y="1219200"/>
            <a:ext cx="5334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ea typeface="隶书" panose="02010509060101010101" pitchFamily="49" charset="-122"/>
              </a:rPr>
              <a:t>分析已知逻辑电路功能</a:t>
            </a:r>
            <a:endParaRPr lang="zh-CN" altLang="en-US" b="1" dirty="0">
              <a:ea typeface="隶书" panose="02010509060101010101" pitchFamily="49" charset="-122"/>
            </a:endParaRPr>
          </a:p>
        </p:txBody>
      </p:sp>
      <p:sp>
        <p:nvSpPr>
          <p:cNvPr id="68614" name="Text Box 6"/>
          <p:cNvSpPr txBox="1"/>
          <p:nvPr/>
        </p:nvSpPr>
        <p:spPr>
          <a:xfrm>
            <a:off x="457200" y="1828800"/>
            <a:ext cx="1050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步骤</a:t>
            </a:r>
            <a:r>
              <a:rPr lang="zh-CN" altLang="en-US" sz="2000" b="1" dirty="0">
                <a:solidFill>
                  <a:srgbClr val="FF0000"/>
                </a:solidFill>
              </a:rPr>
              <a:t>：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68612" name="Text Box 4"/>
          <p:cNvSpPr txBox="1"/>
          <p:nvPr/>
        </p:nvSpPr>
        <p:spPr>
          <a:xfrm>
            <a:off x="468313" y="3048000"/>
            <a:ext cx="1454150" cy="860425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输出函数</a:t>
            </a:r>
            <a:endParaRPr lang="zh-CN" altLang="en-US" sz="24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表达式</a:t>
            </a:r>
            <a:endParaRPr lang="zh-CN" altLang="en-US" sz="2000" b="1" dirty="0"/>
          </a:p>
        </p:txBody>
      </p:sp>
      <p:sp>
        <p:nvSpPr>
          <p:cNvPr id="68615" name="Text Box 7"/>
          <p:cNvSpPr txBox="1"/>
          <p:nvPr/>
        </p:nvSpPr>
        <p:spPr>
          <a:xfrm>
            <a:off x="3211513" y="4167188"/>
            <a:ext cx="1454150" cy="495300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简化函数</a:t>
            </a:r>
            <a:endParaRPr lang="zh-CN" altLang="en-US" sz="2400" b="1" dirty="0"/>
          </a:p>
        </p:txBody>
      </p:sp>
      <p:sp>
        <p:nvSpPr>
          <p:cNvPr id="68616" name="Text Box 8"/>
          <p:cNvSpPr txBox="1"/>
          <p:nvPr/>
        </p:nvSpPr>
        <p:spPr>
          <a:xfrm>
            <a:off x="3425825" y="2419350"/>
            <a:ext cx="1146175" cy="495300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真值表</a:t>
            </a:r>
            <a:endParaRPr lang="zh-CN" altLang="en-US" sz="2400" b="1" dirty="0"/>
          </a:p>
        </p:txBody>
      </p:sp>
      <p:grpSp>
        <p:nvGrpSpPr>
          <p:cNvPr id="2" name="Group 25"/>
          <p:cNvGrpSpPr/>
          <p:nvPr/>
        </p:nvGrpSpPr>
        <p:grpSpPr>
          <a:xfrm>
            <a:off x="0" y="4572000"/>
            <a:ext cx="2647950" cy="579438"/>
            <a:chOff x="192" y="2818"/>
            <a:chExt cx="1361" cy="316"/>
          </a:xfrm>
        </p:grpSpPr>
        <p:sp>
          <p:nvSpPr>
            <p:cNvPr id="9236" name="Text Box 23"/>
            <p:cNvSpPr txBox="1"/>
            <p:nvPr/>
          </p:nvSpPr>
          <p:spPr>
            <a:xfrm>
              <a:off x="195" y="2818"/>
              <a:ext cx="1358" cy="316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b="1" dirty="0">
                  <a:latin typeface="隶书" panose="02010509060101010101" pitchFamily="49" charset="-122"/>
                  <a:ea typeface="隶书" panose="02010509060101010101" pitchFamily="49" charset="-122"/>
                </a:rPr>
                <a:t>已知组合电路</a:t>
              </a:r>
              <a:endParaRPr lang="zh-CN" altLang="en-US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9237" name="AutoShape 24"/>
            <p:cNvSpPr/>
            <p:nvPr/>
          </p:nvSpPr>
          <p:spPr>
            <a:xfrm>
              <a:off x="192" y="2832"/>
              <a:ext cx="1344" cy="288"/>
            </a:xfrm>
            <a:prstGeom prst="wedgeRectCallout">
              <a:avLst>
                <a:gd name="adj1" fmla="val -35713"/>
                <a:gd name="adj2" fmla="val -85069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" name="Group 30"/>
          <p:cNvGrpSpPr/>
          <p:nvPr/>
        </p:nvGrpSpPr>
        <p:grpSpPr>
          <a:xfrm>
            <a:off x="1981200" y="2667000"/>
            <a:ext cx="1371600" cy="1752600"/>
            <a:chOff x="1248" y="1680"/>
            <a:chExt cx="864" cy="1104"/>
          </a:xfrm>
        </p:grpSpPr>
        <p:sp>
          <p:nvSpPr>
            <p:cNvPr id="9232" name="Line 26"/>
            <p:cNvSpPr/>
            <p:nvPr/>
          </p:nvSpPr>
          <p:spPr>
            <a:xfrm>
              <a:off x="1248" y="2208"/>
              <a:ext cx="4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3" name="Line 27"/>
            <p:cNvSpPr/>
            <p:nvPr/>
          </p:nvSpPr>
          <p:spPr>
            <a:xfrm>
              <a:off x="1680" y="1680"/>
              <a:ext cx="0" cy="11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4" name="Line 28"/>
            <p:cNvSpPr/>
            <p:nvPr/>
          </p:nvSpPr>
          <p:spPr>
            <a:xfrm>
              <a:off x="1680" y="1680"/>
              <a:ext cx="4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35" name="Line 29"/>
            <p:cNvSpPr/>
            <p:nvPr/>
          </p:nvSpPr>
          <p:spPr>
            <a:xfrm>
              <a:off x="1680" y="2784"/>
              <a:ext cx="3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" name="Group 38"/>
          <p:cNvGrpSpPr/>
          <p:nvPr/>
        </p:nvGrpSpPr>
        <p:grpSpPr>
          <a:xfrm>
            <a:off x="4691063" y="2590800"/>
            <a:ext cx="1633537" cy="1828800"/>
            <a:chOff x="2955" y="1584"/>
            <a:chExt cx="1029" cy="1152"/>
          </a:xfrm>
        </p:grpSpPr>
        <p:sp>
          <p:nvSpPr>
            <p:cNvPr id="9228" name="Line 17"/>
            <p:cNvSpPr/>
            <p:nvPr/>
          </p:nvSpPr>
          <p:spPr>
            <a:xfrm>
              <a:off x="3298" y="2208"/>
              <a:ext cx="68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29" name="Line 31"/>
            <p:cNvSpPr/>
            <p:nvPr/>
          </p:nvSpPr>
          <p:spPr>
            <a:xfrm>
              <a:off x="3298" y="1584"/>
              <a:ext cx="0" cy="115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0" name="Line 32"/>
            <p:cNvSpPr/>
            <p:nvPr/>
          </p:nvSpPr>
          <p:spPr>
            <a:xfrm>
              <a:off x="2955" y="2736"/>
              <a:ext cx="34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1" name="Line 33"/>
            <p:cNvSpPr/>
            <p:nvPr/>
          </p:nvSpPr>
          <p:spPr>
            <a:xfrm>
              <a:off x="2955" y="1584"/>
              <a:ext cx="34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8645" name="Text Box 37"/>
          <p:cNvSpPr txBox="1"/>
          <p:nvPr/>
        </p:nvSpPr>
        <p:spPr>
          <a:xfrm>
            <a:off x="6470650" y="3124200"/>
            <a:ext cx="1454150" cy="8604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描述电路</a:t>
            </a:r>
            <a:endParaRPr lang="zh-CN" altLang="en-US" sz="24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功能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8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8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8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8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/>
      <p:bldP spid="68614" grpId="0"/>
      <p:bldP spid="68612" grpId="0" animBg="1"/>
      <p:bldP spid="68615" grpId="0" animBg="1"/>
      <p:bldP spid="68616" grpId="0" animBg="1"/>
      <p:bldP spid="686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242" name="Group 2"/>
          <p:cNvGrpSpPr/>
          <p:nvPr/>
        </p:nvGrpSpPr>
        <p:grpSpPr>
          <a:xfrm>
            <a:off x="228600" y="304800"/>
            <a:ext cx="8915400" cy="3200400"/>
            <a:chOff x="144" y="336"/>
            <a:chExt cx="5616" cy="1872"/>
          </a:xfrm>
        </p:grpSpPr>
        <p:graphicFrame>
          <p:nvGraphicFramePr>
            <p:cNvPr id="10265" name="Object 3"/>
            <p:cNvGraphicFramePr>
              <a:graphicFrameLocks noChangeAspect="1"/>
            </p:cNvGraphicFramePr>
            <p:nvPr/>
          </p:nvGraphicFramePr>
          <p:xfrm>
            <a:off x="3312" y="336"/>
            <a:ext cx="2448" cy="18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1" imgW="3362325" imgH="2247900" progId="Paint.Picture">
                    <p:embed/>
                  </p:oleObj>
                </mc:Choice>
                <mc:Fallback>
                  <p:oleObj name="" r:id="rId1" imgW="3362325" imgH="2247900" progId="Paint.Picture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12" y="336"/>
                          <a:ext cx="2448" cy="18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6" name="Text Box 4"/>
            <p:cNvSpPr txBox="1"/>
            <p:nvPr/>
          </p:nvSpPr>
          <p:spPr>
            <a:xfrm>
              <a:off x="144" y="528"/>
              <a:ext cx="3531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r>
                <a:rPr lang="zh-CN" altLang="en-US" sz="2400" b="1" dirty="0"/>
                <a:t>试分析图</a:t>
              </a:r>
              <a:r>
                <a:rPr lang="en-US" altLang="zh-CN" sz="2400" b="1" dirty="0"/>
                <a:t>3-3</a:t>
              </a:r>
              <a:r>
                <a:rPr lang="zh-CN" altLang="en-US" sz="2400" b="1" dirty="0"/>
                <a:t>所示逻辑电路的功能</a:t>
              </a:r>
              <a:r>
                <a:rPr lang="zh-CN" altLang="en-US" sz="2000" b="1" dirty="0"/>
                <a:t>。</a:t>
              </a:r>
              <a:endParaRPr lang="zh-CN" altLang="en-US" sz="2000" b="1" dirty="0"/>
            </a:p>
          </p:txBody>
        </p:sp>
      </p:grpSp>
      <p:sp>
        <p:nvSpPr>
          <p:cNvPr id="78853" name="Text Box 5"/>
          <p:cNvSpPr txBox="1"/>
          <p:nvPr/>
        </p:nvSpPr>
        <p:spPr>
          <a:xfrm>
            <a:off x="457200" y="5410200"/>
            <a:ext cx="5334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因此该电路为</a:t>
            </a:r>
            <a:r>
              <a:rPr lang="zh-CN" altLang="en-US" sz="2400" b="1" dirty="0">
                <a:solidFill>
                  <a:srgbClr val="FF3300"/>
                </a:solidFill>
              </a:rPr>
              <a:t>少数服从多数</a:t>
            </a:r>
            <a:r>
              <a:rPr lang="zh-CN" altLang="en-US" sz="2400" b="1" dirty="0"/>
              <a:t>电路，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称表决电路。</a:t>
            </a:r>
            <a:endParaRPr lang="zh-CN" altLang="en-US" sz="2400" b="1" dirty="0"/>
          </a:p>
        </p:txBody>
      </p:sp>
      <p:sp>
        <p:nvSpPr>
          <p:cNvPr id="78854" name="Text Box 6"/>
          <p:cNvSpPr txBox="1"/>
          <p:nvPr/>
        </p:nvSpPr>
        <p:spPr>
          <a:xfrm>
            <a:off x="304800" y="1600200"/>
            <a:ext cx="24669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）逻辑表达式</a:t>
            </a:r>
            <a:endParaRPr lang="zh-CN" altLang="en-US" sz="2400" b="1" dirty="0"/>
          </a:p>
        </p:txBody>
      </p:sp>
      <p:sp>
        <p:nvSpPr>
          <p:cNvPr id="78855" name="Text Box 7"/>
          <p:cNvSpPr txBox="1"/>
          <p:nvPr/>
        </p:nvSpPr>
        <p:spPr>
          <a:xfrm>
            <a:off x="457200" y="3124200"/>
            <a:ext cx="18700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）真值表</a:t>
            </a:r>
            <a:endParaRPr lang="zh-CN" altLang="en-US" sz="2000" b="1" dirty="0"/>
          </a:p>
        </p:txBody>
      </p:sp>
      <p:grpSp>
        <p:nvGrpSpPr>
          <p:cNvPr id="3" name="Group 8"/>
          <p:cNvGrpSpPr/>
          <p:nvPr/>
        </p:nvGrpSpPr>
        <p:grpSpPr>
          <a:xfrm>
            <a:off x="6324600" y="3657600"/>
            <a:ext cx="2133600" cy="3143250"/>
            <a:chOff x="3696" y="1966"/>
            <a:chExt cx="1344" cy="1980"/>
          </a:xfrm>
        </p:grpSpPr>
        <p:grpSp>
          <p:nvGrpSpPr>
            <p:cNvPr id="10258" name="Group 9"/>
            <p:cNvGrpSpPr/>
            <p:nvPr/>
          </p:nvGrpSpPr>
          <p:grpSpPr>
            <a:xfrm>
              <a:off x="3696" y="2160"/>
              <a:ext cx="1344" cy="1786"/>
              <a:chOff x="3696" y="2400"/>
              <a:chExt cx="1344" cy="1786"/>
            </a:xfrm>
          </p:grpSpPr>
          <p:sp>
            <p:nvSpPr>
              <p:cNvPr id="10260" name="Text Box 10"/>
              <p:cNvSpPr txBox="1"/>
              <p:nvPr/>
            </p:nvSpPr>
            <p:spPr>
              <a:xfrm>
                <a:off x="3792" y="2400"/>
                <a:ext cx="1152" cy="17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A   B   C        F</a:t>
                </a:r>
                <a:endParaRPr lang="en-US" altLang="zh-CN" sz="20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0    0    0        0</a:t>
                </a:r>
                <a:endParaRPr lang="en-US" altLang="zh-CN" sz="20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0    0    1        0</a:t>
                </a:r>
                <a:endParaRPr lang="en-US" altLang="zh-CN" sz="20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0    1    0        0</a:t>
                </a:r>
                <a:endParaRPr lang="en-US" altLang="zh-CN" sz="20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0    1    1        1</a:t>
                </a:r>
                <a:endParaRPr lang="en-US" altLang="zh-CN" sz="20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1    0    0        0</a:t>
                </a:r>
                <a:endParaRPr lang="en-US" altLang="zh-CN" sz="20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1    0    1        1</a:t>
                </a:r>
                <a:endParaRPr lang="en-US" altLang="zh-CN" sz="20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1    1    0        1</a:t>
                </a:r>
                <a:endParaRPr lang="en-US" altLang="zh-CN" sz="20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1    1    1        1</a:t>
                </a:r>
                <a:endParaRPr lang="en-US" altLang="zh-CN" sz="2000" b="1" dirty="0"/>
              </a:p>
            </p:txBody>
          </p:sp>
          <p:sp>
            <p:nvSpPr>
              <p:cNvPr id="10261" name="Line 11"/>
              <p:cNvSpPr/>
              <p:nvPr/>
            </p:nvSpPr>
            <p:spPr>
              <a:xfrm>
                <a:off x="3696" y="2400"/>
                <a:ext cx="13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62" name="Line 12"/>
              <p:cNvSpPr/>
              <p:nvPr/>
            </p:nvSpPr>
            <p:spPr>
              <a:xfrm>
                <a:off x="3696" y="2592"/>
                <a:ext cx="13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63" name="Line 13"/>
              <p:cNvSpPr/>
              <p:nvPr/>
            </p:nvSpPr>
            <p:spPr>
              <a:xfrm>
                <a:off x="4560" y="2400"/>
                <a:ext cx="0" cy="17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64" name="Line 14"/>
              <p:cNvSpPr/>
              <p:nvPr/>
            </p:nvSpPr>
            <p:spPr>
              <a:xfrm>
                <a:off x="3744" y="4128"/>
                <a:ext cx="124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259" name="Text Box 15"/>
            <p:cNvSpPr txBox="1"/>
            <p:nvPr/>
          </p:nvSpPr>
          <p:spPr>
            <a:xfrm>
              <a:off x="3782" y="1966"/>
              <a:ext cx="5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000" b="1" dirty="0"/>
                <a:t>真值表</a:t>
              </a:r>
              <a:endParaRPr lang="zh-CN" altLang="en-US" sz="2400" b="1" dirty="0"/>
            </a:p>
          </p:txBody>
        </p:sp>
      </p:grpSp>
      <p:graphicFrame>
        <p:nvGraphicFramePr>
          <p:cNvPr id="78864" name="Object 16"/>
          <p:cNvGraphicFramePr>
            <a:graphicFrameLocks noChangeAspect="1"/>
          </p:cNvGraphicFramePr>
          <p:nvPr/>
        </p:nvGraphicFramePr>
        <p:xfrm>
          <a:off x="1295400" y="2362200"/>
          <a:ext cx="4419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2171700" imgH="241300" progId="Equation.3">
                  <p:embed/>
                </p:oleObj>
              </mc:Choice>
              <mc:Fallback>
                <p:oleObj name="" r:id="rId3" imgW="2171700" imgH="2413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5400" y="2362200"/>
                        <a:ext cx="44196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Rectangle 17"/>
          <p:cNvSpPr/>
          <p:nvPr/>
        </p:nvSpPr>
        <p:spPr>
          <a:xfrm>
            <a:off x="2133600" y="1447800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5" name="Group 18"/>
          <p:cNvGrpSpPr/>
          <p:nvPr/>
        </p:nvGrpSpPr>
        <p:grpSpPr>
          <a:xfrm>
            <a:off x="6172200" y="5181600"/>
            <a:ext cx="2286000" cy="1600200"/>
            <a:chOff x="3888" y="3264"/>
            <a:chExt cx="1440" cy="1008"/>
          </a:xfrm>
        </p:grpSpPr>
        <p:sp>
          <p:nvSpPr>
            <p:cNvPr id="10256" name="Rectangle 19"/>
            <p:cNvSpPr/>
            <p:nvPr/>
          </p:nvSpPr>
          <p:spPr>
            <a:xfrm>
              <a:off x="3888" y="3264"/>
              <a:ext cx="1392" cy="240"/>
            </a:xfrm>
            <a:prstGeom prst="rect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10257" name="Rectangle 20"/>
            <p:cNvSpPr/>
            <p:nvPr/>
          </p:nvSpPr>
          <p:spPr>
            <a:xfrm>
              <a:off x="3888" y="3648"/>
              <a:ext cx="1440" cy="624"/>
            </a:xfrm>
            <a:prstGeom prst="rect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6" name="Group 21"/>
          <p:cNvGrpSpPr/>
          <p:nvPr/>
        </p:nvGrpSpPr>
        <p:grpSpPr>
          <a:xfrm>
            <a:off x="6172200" y="4343400"/>
            <a:ext cx="2286000" cy="1447800"/>
            <a:chOff x="3888" y="2736"/>
            <a:chExt cx="1440" cy="912"/>
          </a:xfrm>
        </p:grpSpPr>
        <p:sp>
          <p:nvSpPr>
            <p:cNvPr id="10254" name="Rectangle 22"/>
            <p:cNvSpPr/>
            <p:nvPr/>
          </p:nvSpPr>
          <p:spPr>
            <a:xfrm>
              <a:off x="3888" y="2736"/>
              <a:ext cx="1392" cy="528"/>
            </a:xfrm>
            <a:prstGeom prst="rect">
              <a:avLst/>
            </a:prstGeom>
            <a:noFill/>
            <a:ln w="57150" cap="flat" cmpd="sng">
              <a:solidFill>
                <a:srgbClr val="00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10255" name="Rectangle 23"/>
            <p:cNvSpPr/>
            <p:nvPr/>
          </p:nvSpPr>
          <p:spPr>
            <a:xfrm>
              <a:off x="3888" y="3504"/>
              <a:ext cx="1440" cy="144"/>
            </a:xfrm>
            <a:prstGeom prst="rect">
              <a:avLst/>
            </a:prstGeom>
            <a:noFill/>
            <a:ln w="57150" cap="flat" cmpd="sng">
              <a:solidFill>
                <a:srgbClr val="00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78872" name="Text Box 24"/>
          <p:cNvSpPr txBox="1"/>
          <p:nvPr/>
        </p:nvSpPr>
        <p:spPr>
          <a:xfrm>
            <a:off x="457200" y="3733800"/>
            <a:ext cx="18637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）判断：</a:t>
            </a:r>
            <a:endParaRPr lang="zh-CN" altLang="en-US" sz="2400" b="1" dirty="0"/>
          </a:p>
        </p:txBody>
      </p:sp>
      <p:sp>
        <p:nvSpPr>
          <p:cNvPr id="78873" name="Text Box 25"/>
          <p:cNvSpPr txBox="1"/>
          <p:nvPr/>
        </p:nvSpPr>
        <p:spPr>
          <a:xfrm>
            <a:off x="506413" y="4343400"/>
            <a:ext cx="43703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多数输入变量为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，输出</a:t>
            </a:r>
            <a:r>
              <a:rPr lang="en-US" altLang="zh-CN" sz="2400" b="1" dirty="0"/>
              <a:t>F</a:t>
            </a:r>
            <a:r>
              <a:rPr lang="zh-CN" altLang="en-US" sz="2400" b="1" dirty="0"/>
              <a:t>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；</a:t>
            </a:r>
            <a:endParaRPr lang="zh-CN" altLang="en-US" sz="2400" b="1" dirty="0"/>
          </a:p>
        </p:txBody>
      </p:sp>
      <p:sp>
        <p:nvSpPr>
          <p:cNvPr id="78874" name="Text Box 26"/>
          <p:cNvSpPr txBox="1"/>
          <p:nvPr/>
        </p:nvSpPr>
        <p:spPr>
          <a:xfrm>
            <a:off x="433388" y="4876800"/>
            <a:ext cx="41386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多数输入变量为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，输出 </a:t>
            </a:r>
            <a:r>
              <a:rPr lang="en-US" altLang="zh-CN" sz="2400" b="1" dirty="0"/>
              <a:t>F</a:t>
            </a:r>
            <a:r>
              <a:rPr lang="zh-CN" altLang="en-US" sz="2400" b="1" dirty="0"/>
              <a:t>为</a:t>
            </a:r>
            <a:r>
              <a:rPr lang="en-US" altLang="zh-CN" sz="2400" b="1" dirty="0"/>
              <a:t>0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3" grpId="0"/>
      <p:bldP spid="78854" grpId="0"/>
      <p:bldP spid="78855" grpId="0"/>
      <p:bldP spid="78872" grpId="0"/>
      <p:bldP spid="78873" grpId="0"/>
      <p:bldP spid="788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ext Box 5"/>
          <p:cNvSpPr txBox="1"/>
          <p:nvPr/>
        </p:nvSpPr>
        <p:spPr>
          <a:xfrm>
            <a:off x="365125" y="193675"/>
            <a:ext cx="5661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400" b="1" dirty="0"/>
              <a:t>试分析图</a:t>
            </a:r>
            <a:r>
              <a:rPr lang="en-US" altLang="zh-CN" sz="2400" b="1" dirty="0"/>
              <a:t>3-4</a:t>
            </a:r>
            <a:r>
              <a:rPr lang="zh-CN" altLang="en-US" sz="2400" b="1" dirty="0"/>
              <a:t>所示逻辑电路的功能。</a:t>
            </a:r>
            <a:endParaRPr lang="zh-CN" altLang="en-US" sz="2400" dirty="0"/>
          </a:p>
        </p:txBody>
      </p:sp>
      <p:sp>
        <p:nvSpPr>
          <p:cNvPr id="25606" name="Text Box 6"/>
          <p:cNvSpPr txBox="1"/>
          <p:nvPr/>
        </p:nvSpPr>
        <p:spPr>
          <a:xfrm>
            <a:off x="-228600" y="3733800"/>
            <a:ext cx="434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14400" lvl="2" indent="0" eaLnBrk="1" hangingPunct="1">
              <a:spcBef>
                <a:spcPct val="0"/>
              </a:spcBef>
              <a:buNone/>
            </a:pPr>
            <a:r>
              <a:rPr lang="en-US" altLang="zh-CN" b="1" dirty="0"/>
              <a:t>① </a:t>
            </a:r>
            <a:r>
              <a:rPr lang="zh-CN" altLang="en-US" b="1" dirty="0"/>
              <a:t>表达式</a:t>
            </a:r>
            <a:endParaRPr lang="zh-CN" altLang="en-US" dirty="0"/>
          </a:p>
        </p:txBody>
      </p:sp>
      <p:graphicFrame>
        <p:nvGraphicFramePr>
          <p:cNvPr id="25612" name="Object 12"/>
          <p:cNvGraphicFramePr>
            <a:graphicFrameLocks noChangeAspect="1"/>
          </p:cNvGraphicFramePr>
          <p:nvPr/>
        </p:nvGraphicFramePr>
        <p:xfrm>
          <a:off x="3657600" y="3733800"/>
          <a:ext cx="27432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951865" imgH="939165" progId="Equation.3">
                  <p:embed/>
                </p:oleObj>
              </mc:Choice>
              <mc:Fallback>
                <p:oleObj name="" r:id="rId1" imgW="951865" imgH="939165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57600" y="3733800"/>
                        <a:ext cx="2743200" cy="213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Text Box 13"/>
          <p:cNvSpPr txBox="1"/>
          <p:nvPr/>
        </p:nvSpPr>
        <p:spPr>
          <a:xfrm>
            <a:off x="6384925" y="533400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latin typeface="宋体" panose="02010600030101010101" pitchFamily="2" charset="-122"/>
            </a:endParaRPr>
          </a:p>
        </p:txBody>
      </p:sp>
      <p:graphicFrame>
        <p:nvGraphicFramePr>
          <p:cNvPr id="11270" name="Object 15"/>
          <p:cNvGraphicFramePr>
            <a:graphicFrameLocks noChangeAspect="1"/>
          </p:cNvGraphicFramePr>
          <p:nvPr/>
        </p:nvGraphicFramePr>
        <p:xfrm>
          <a:off x="990600" y="685800"/>
          <a:ext cx="72390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2905125" imgH="2047875" progId="Paint.Picture">
                  <p:embed/>
                </p:oleObj>
              </mc:Choice>
              <mc:Fallback>
                <p:oleObj name="" r:id="rId3" imgW="2905125" imgH="2047875" progId="Paint.Picture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0600" y="685800"/>
                        <a:ext cx="7239000" cy="312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17">
            <a:hlinkClick r:id="" action="ppaction://noaction"/>
          </p:cNvPr>
          <p:cNvSpPr txBox="1"/>
          <p:nvPr/>
        </p:nvSpPr>
        <p:spPr>
          <a:xfrm>
            <a:off x="717550" y="5943600"/>
            <a:ext cx="14922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② </a:t>
            </a:r>
            <a:r>
              <a:rPr lang="zh-CN" altLang="en-US" sz="2400" b="1" dirty="0"/>
              <a:t>真值表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4" name="Text Box 4"/>
          <p:cNvSpPr txBox="1"/>
          <p:nvPr/>
        </p:nvSpPr>
        <p:spPr>
          <a:xfrm>
            <a:off x="4032250" y="304800"/>
            <a:ext cx="20256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自然二进制码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81925" name="Text Box 5"/>
          <p:cNvSpPr txBox="1"/>
          <p:nvPr/>
        </p:nvSpPr>
        <p:spPr>
          <a:xfrm>
            <a:off x="6551613" y="304800"/>
            <a:ext cx="11017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格雷码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3886200" y="304800"/>
            <a:ext cx="4648200" cy="6288088"/>
            <a:chOff x="2448" y="192"/>
            <a:chExt cx="2928" cy="3961"/>
          </a:xfrm>
        </p:grpSpPr>
        <p:sp>
          <p:nvSpPr>
            <p:cNvPr id="12299" name="Text Box 2"/>
            <p:cNvSpPr txBox="1"/>
            <p:nvPr/>
          </p:nvSpPr>
          <p:spPr>
            <a:xfrm>
              <a:off x="2832" y="576"/>
              <a:ext cx="2136" cy="35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B3B2B1B0   G3G2G1G0</a:t>
              </a:r>
              <a:endParaRPr lang="en-US" altLang="zh-CN" sz="2400" b="1" dirty="0"/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  0  0  0  0	0   0   0   0</a:t>
              </a:r>
              <a:endParaRPr lang="en-US" altLang="zh-CN" sz="2400" b="1" dirty="0"/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  0  0  0  1        0   0   0   1</a:t>
              </a:r>
              <a:endParaRPr lang="en-US" altLang="zh-CN" sz="2400" b="1" dirty="0"/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  0  0  1  0        0   0   1   1</a:t>
              </a:r>
              <a:endParaRPr lang="en-US" altLang="zh-CN" sz="2400" b="1" dirty="0"/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  0  0  1  1        0   0   1   0</a:t>
              </a:r>
              <a:endParaRPr lang="en-US" altLang="zh-CN" sz="2400" b="1" dirty="0"/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  0  1  0  0        0   1   1   0</a:t>
              </a:r>
              <a:endParaRPr lang="en-US" altLang="zh-CN" sz="2400" b="1" dirty="0"/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  0  1  0  1        0   1   1   1</a:t>
              </a:r>
              <a:endParaRPr lang="en-US" altLang="zh-CN" sz="2400" b="1" dirty="0"/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  0  1  1  0        0   1   0   1</a:t>
              </a:r>
              <a:endParaRPr lang="en-US" altLang="zh-CN" sz="2400" b="1" dirty="0"/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  0  1  1  1        0   1   0   0</a:t>
              </a:r>
              <a:endParaRPr lang="en-US" altLang="zh-CN" sz="2400" b="1" dirty="0"/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  1  0  0  0        1   1   0   0</a:t>
              </a:r>
              <a:endParaRPr lang="en-US" altLang="zh-CN" sz="2400" b="1" dirty="0"/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  1  0  0  1        1   1   0   1</a:t>
              </a:r>
              <a:endParaRPr lang="en-US" altLang="zh-CN" sz="2400" b="1" dirty="0"/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  1  0  1  0        1   1   1   1</a:t>
              </a:r>
              <a:endParaRPr lang="en-US" altLang="zh-CN" sz="2400" b="1" dirty="0"/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  1  0  1  1        1   1   1   0</a:t>
              </a:r>
              <a:endParaRPr lang="en-US" altLang="zh-CN" sz="2400" b="1" dirty="0"/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  1  1  0  0        1   0   1   0</a:t>
              </a:r>
              <a:endParaRPr lang="en-US" altLang="zh-CN" sz="2400" b="1" dirty="0"/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  1  1  0  1        1   0   1   1</a:t>
              </a:r>
              <a:endParaRPr lang="en-US" altLang="zh-CN" sz="2400" b="1" dirty="0"/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  1  1  1  0        1   0   0   1</a:t>
              </a:r>
              <a:endParaRPr lang="en-US" altLang="zh-CN" sz="2400" b="1" dirty="0"/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  1  1  1  1        1   0   0   0</a:t>
              </a:r>
              <a:endParaRPr lang="en-US" altLang="zh-CN" sz="2400" b="1" dirty="0"/>
            </a:p>
          </p:txBody>
        </p:sp>
        <p:sp>
          <p:nvSpPr>
            <p:cNvPr id="12300" name="Line 6"/>
            <p:cNvSpPr/>
            <p:nvPr/>
          </p:nvSpPr>
          <p:spPr>
            <a:xfrm>
              <a:off x="2448" y="528"/>
              <a:ext cx="29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1" name="Line 7"/>
            <p:cNvSpPr/>
            <p:nvPr/>
          </p:nvSpPr>
          <p:spPr>
            <a:xfrm>
              <a:off x="2448" y="816"/>
              <a:ext cx="29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2" name="Line 8"/>
            <p:cNvSpPr/>
            <p:nvPr/>
          </p:nvSpPr>
          <p:spPr>
            <a:xfrm>
              <a:off x="2448" y="192"/>
              <a:ext cx="29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3" name="Line 9"/>
            <p:cNvSpPr/>
            <p:nvPr/>
          </p:nvSpPr>
          <p:spPr>
            <a:xfrm>
              <a:off x="3888" y="192"/>
              <a:ext cx="0" cy="39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4" name="Line 10"/>
            <p:cNvSpPr/>
            <p:nvPr/>
          </p:nvSpPr>
          <p:spPr>
            <a:xfrm>
              <a:off x="2448" y="4128"/>
              <a:ext cx="28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293" name="Text Box 11">
            <a:hlinkClick r:id="" action="ppaction://noaction"/>
          </p:cNvPr>
          <p:cNvSpPr txBox="1"/>
          <p:nvPr/>
        </p:nvSpPr>
        <p:spPr>
          <a:xfrm>
            <a:off x="304800" y="3276600"/>
            <a:ext cx="14922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② </a:t>
            </a:r>
            <a:r>
              <a:rPr lang="zh-CN" altLang="en-US" sz="2400" b="1" dirty="0"/>
              <a:t>真值表</a:t>
            </a:r>
            <a:endParaRPr lang="zh-CN" altLang="en-US" sz="2400" dirty="0"/>
          </a:p>
        </p:txBody>
      </p:sp>
      <p:grpSp>
        <p:nvGrpSpPr>
          <p:cNvPr id="12294" name="Group 14"/>
          <p:cNvGrpSpPr/>
          <p:nvPr/>
        </p:nvGrpSpPr>
        <p:grpSpPr>
          <a:xfrm>
            <a:off x="-609600" y="457200"/>
            <a:ext cx="4495800" cy="2438400"/>
            <a:chOff x="0" y="480"/>
            <a:chExt cx="2832" cy="1536"/>
          </a:xfrm>
        </p:grpSpPr>
        <p:sp>
          <p:nvSpPr>
            <p:cNvPr id="12297" name="Text Box 12"/>
            <p:cNvSpPr txBox="1"/>
            <p:nvPr/>
          </p:nvSpPr>
          <p:spPr>
            <a:xfrm>
              <a:off x="0" y="480"/>
              <a:ext cx="27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914400" lvl="2" indent="0" eaLnBrk="1" hangingPunct="1">
                <a:spcBef>
                  <a:spcPct val="0"/>
                </a:spcBef>
                <a:buNone/>
              </a:pPr>
              <a:r>
                <a:rPr lang="en-US" altLang="zh-CN" b="1" dirty="0"/>
                <a:t>① </a:t>
              </a:r>
              <a:r>
                <a:rPr lang="zh-CN" altLang="en-US" b="1" dirty="0"/>
                <a:t>表达式</a:t>
              </a:r>
              <a:endParaRPr lang="zh-CN" altLang="en-US" dirty="0"/>
            </a:p>
          </p:txBody>
        </p:sp>
        <p:graphicFrame>
          <p:nvGraphicFramePr>
            <p:cNvPr id="12298" name="Object 13"/>
            <p:cNvGraphicFramePr>
              <a:graphicFrameLocks noChangeAspect="1"/>
            </p:cNvGraphicFramePr>
            <p:nvPr/>
          </p:nvGraphicFramePr>
          <p:xfrm>
            <a:off x="1104" y="672"/>
            <a:ext cx="1728" cy="1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1" imgW="951865" imgH="939165" progId="Equation.3">
                    <p:embed/>
                  </p:oleObj>
                </mc:Choice>
                <mc:Fallback>
                  <p:oleObj name="" r:id="rId1" imgW="951865" imgH="939165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104" y="672"/>
                          <a:ext cx="1728" cy="1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935" name="Text Box 15"/>
          <p:cNvSpPr txBox="1"/>
          <p:nvPr/>
        </p:nvSpPr>
        <p:spPr>
          <a:xfrm>
            <a:off x="-533400" y="4800600"/>
            <a:ext cx="5029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14400" lvl="2" indent="0" eaLnBrk="1" hangingPunct="1">
              <a:spcBef>
                <a:spcPct val="0"/>
              </a:spcBef>
              <a:buNone/>
            </a:pPr>
            <a:r>
              <a:rPr lang="zh-CN" altLang="en-US" b="1" dirty="0"/>
              <a:t>自然二进制码至格雷码的转换电路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81936" name="Text Box 16"/>
          <p:cNvSpPr txBox="1"/>
          <p:nvPr/>
        </p:nvSpPr>
        <p:spPr>
          <a:xfrm>
            <a:off x="-657225" y="4038600"/>
            <a:ext cx="27146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14400" lvl="2" indent="0" algn="ctr" eaLnBrk="1" hangingPunct="1">
              <a:spcBef>
                <a:spcPct val="0"/>
              </a:spcBef>
              <a:buNone/>
            </a:pPr>
            <a:r>
              <a:rPr lang="en-US" altLang="zh-CN" b="1" dirty="0"/>
              <a:t>③ </a:t>
            </a:r>
            <a:r>
              <a:rPr lang="zh-CN" altLang="en-US" b="1" dirty="0"/>
              <a:t>分析功能</a:t>
            </a:r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/>
      <p:bldP spid="81925" grpId="0"/>
      <p:bldP spid="81935" grpId="0"/>
      <p:bldP spid="819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Text Box 2"/>
          <p:cNvSpPr txBox="1"/>
          <p:nvPr/>
        </p:nvSpPr>
        <p:spPr>
          <a:xfrm>
            <a:off x="381000" y="4876800"/>
            <a:ext cx="8763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注意：利用此式时对码位序号大于（</a:t>
            </a:r>
            <a:r>
              <a:rPr lang="en-US" altLang="zh-CN" sz="2400" b="1" dirty="0"/>
              <a:t>n-1</a:t>
            </a:r>
            <a:r>
              <a:rPr lang="zh-CN" altLang="en-US" sz="2400" b="1" dirty="0"/>
              <a:t>）的位应按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处理，如本例码位的最大序号</a:t>
            </a:r>
            <a:r>
              <a:rPr lang="en-US" altLang="zh-CN" sz="2400" b="1" dirty="0"/>
              <a:t>i = 3</a:t>
            </a:r>
            <a:r>
              <a:rPr lang="zh-CN" altLang="en-US" sz="2400" b="1" dirty="0"/>
              <a:t>，故</a:t>
            </a:r>
            <a:r>
              <a:rPr lang="en-US" altLang="zh-CN" sz="2400" b="1" dirty="0"/>
              <a:t>B</a:t>
            </a:r>
            <a:r>
              <a:rPr lang="en-US" altLang="zh-CN" sz="2400" b="1" baseline="-25000" dirty="0"/>
              <a:t>4</a:t>
            </a:r>
            <a:r>
              <a:rPr lang="zh-CN" altLang="en-US" sz="2400" b="1" dirty="0"/>
              <a:t>应为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，才能得到正确的结果。</a:t>
            </a:r>
            <a:endParaRPr lang="zh-CN" altLang="en-US" sz="2400" dirty="0"/>
          </a:p>
        </p:txBody>
      </p:sp>
      <p:sp>
        <p:nvSpPr>
          <p:cNvPr id="83971" name="Text Box 3"/>
          <p:cNvSpPr txBox="1"/>
          <p:nvPr/>
        </p:nvSpPr>
        <p:spPr>
          <a:xfrm>
            <a:off x="0" y="3429000"/>
            <a:ext cx="8077200" cy="1073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14400" lvl="2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推广到一般</a:t>
            </a:r>
            <a:r>
              <a:rPr lang="zh-CN" altLang="en-US" b="1" dirty="0"/>
              <a:t>，将</a:t>
            </a:r>
            <a:r>
              <a:rPr lang="en-US" altLang="zh-CN" b="1" dirty="0"/>
              <a:t>n</a:t>
            </a:r>
            <a:r>
              <a:rPr lang="zh-CN" altLang="en-US" b="1" dirty="0"/>
              <a:t>位自然二进制码转换成</a:t>
            </a:r>
            <a:r>
              <a:rPr lang="en-US" altLang="zh-CN" b="1" dirty="0"/>
              <a:t>n</a:t>
            </a:r>
            <a:r>
              <a:rPr lang="zh-CN" altLang="en-US" b="1" dirty="0"/>
              <a:t>位格雷码</a:t>
            </a:r>
            <a:r>
              <a:rPr lang="zh-CN" altLang="en-US" dirty="0"/>
              <a:t>： </a:t>
            </a:r>
            <a:r>
              <a:rPr lang="en-US" altLang="zh-CN" b="1" dirty="0">
                <a:solidFill>
                  <a:srgbClr val="FF3300"/>
                </a:solidFill>
              </a:rPr>
              <a:t>G</a:t>
            </a:r>
            <a:r>
              <a:rPr lang="en-US" altLang="zh-CN" b="1" baseline="-25000" dirty="0">
                <a:solidFill>
                  <a:srgbClr val="FF3300"/>
                </a:solidFill>
              </a:rPr>
              <a:t>i</a:t>
            </a:r>
            <a:r>
              <a:rPr lang="en-US" altLang="zh-CN" b="1" dirty="0">
                <a:solidFill>
                  <a:srgbClr val="FF3300"/>
                </a:solidFill>
              </a:rPr>
              <a:t> = B</a:t>
            </a:r>
            <a:r>
              <a:rPr lang="en-US" altLang="zh-CN" b="1" baseline="-25000" dirty="0">
                <a:solidFill>
                  <a:srgbClr val="FF3300"/>
                </a:solidFill>
              </a:rPr>
              <a:t>i</a:t>
            </a:r>
            <a:r>
              <a:rPr lang="en-US" altLang="zh-CN" b="1" dirty="0">
                <a:solidFill>
                  <a:srgbClr val="FF3300"/>
                </a:solidFill>
              </a:rPr>
              <a:t>⊕B</a:t>
            </a:r>
            <a:r>
              <a:rPr lang="en-US" altLang="zh-CN" b="1" baseline="-25000" dirty="0">
                <a:solidFill>
                  <a:srgbClr val="FF3300"/>
                </a:solidFill>
              </a:rPr>
              <a:t>i+1</a:t>
            </a:r>
            <a:r>
              <a:rPr lang="en-US" altLang="zh-CN" b="1" dirty="0"/>
              <a:t>    </a:t>
            </a:r>
            <a:r>
              <a:rPr lang="zh-CN" altLang="en-US" b="1" dirty="0"/>
              <a:t>（</a:t>
            </a:r>
            <a:r>
              <a:rPr lang="en-US" altLang="zh-CN" b="1" dirty="0"/>
              <a:t>i = 0</a:t>
            </a:r>
            <a:r>
              <a:rPr lang="zh-CN" altLang="en-US" b="1" dirty="0"/>
              <a:t>、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…</a:t>
            </a:r>
            <a:r>
              <a:rPr lang="zh-CN" altLang="en-US" b="1" dirty="0"/>
              <a:t>、 </a:t>
            </a:r>
            <a:r>
              <a:rPr lang="en-US" altLang="zh-CN" b="1" dirty="0"/>
              <a:t>n-1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  <p:graphicFrame>
        <p:nvGraphicFramePr>
          <p:cNvPr id="13316" name="Object 6"/>
          <p:cNvGraphicFramePr>
            <a:graphicFrameLocks noChangeAspect="1"/>
          </p:cNvGraphicFramePr>
          <p:nvPr/>
        </p:nvGraphicFramePr>
        <p:xfrm>
          <a:off x="4953000" y="838200"/>
          <a:ext cx="27432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951865" imgH="939165" progId="Equation.3">
                  <p:embed/>
                </p:oleObj>
              </mc:Choice>
              <mc:Fallback>
                <p:oleObj name="" r:id="rId1" imgW="951865" imgH="939165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53000" y="838200"/>
                        <a:ext cx="2743200" cy="213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Text Box 7"/>
          <p:cNvSpPr txBox="1"/>
          <p:nvPr/>
        </p:nvSpPr>
        <p:spPr>
          <a:xfrm>
            <a:off x="-533400" y="1676400"/>
            <a:ext cx="6553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14400" lvl="2" indent="0" eaLnBrk="1" hangingPunct="1">
              <a:spcBef>
                <a:spcPct val="0"/>
              </a:spcBef>
              <a:buNone/>
            </a:pPr>
            <a:r>
              <a:rPr lang="zh-CN" altLang="en-US" b="1" dirty="0"/>
              <a:t>自然二进制码至格雷码的转换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/>
      <p:bldP spid="839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ext Box 1026"/>
          <p:cNvSpPr txBox="1"/>
          <p:nvPr/>
        </p:nvSpPr>
        <p:spPr>
          <a:xfrm>
            <a:off x="457200" y="182563"/>
            <a:ext cx="38703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ea typeface="隶书" panose="02010509060101010101" pitchFamily="49" charset="-122"/>
              </a:rPr>
              <a:t>二、组合电路的设计</a:t>
            </a:r>
            <a:endParaRPr lang="zh-CN" altLang="en-US" b="1" dirty="0">
              <a:ea typeface="隶书" panose="02010509060101010101" pitchFamily="49" charset="-122"/>
            </a:endParaRPr>
          </a:p>
        </p:txBody>
      </p:sp>
      <p:sp>
        <p:nvSpPr>
          <p:cNvPr id="69635" name="Text Box 1027"/>
          <p:cNvSpPr txBox="1"/>
          <p:nvPr/>
        </p:nvSpPr>
        <p:spPr>
          <a:xfrm>
            <a:off x="457200" y="1600200"/>
            <a:ext cx="11017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步骤：</a:t>
            </a:r>
            <a:endParaRPr lang="zh-CN" altLang="en-US" sz="2400" b="1" dirty="0"/>
          </a:p>
        </p:txBody>
      </p:sp>
      <p:sp>
        <p:nvSpPr>
          <p:cNvPr id="69637" name="Text Box 1029"/>
          <p:cNvSpPr txBox="1"/>
          <p:nvPr/>
        </p:nvSpPr>
        <p:spPr>
          <a:xfrm>
            <a:off x="2057400" y="938213"/>
            <a:ext cx="55086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ea typeface="隶书" panose="02010509060101010101" pitchFamily="49" charset="-122"/>
              </a:rPr>
              <a:t>根据要求设计出实际逻辑电路</a:t>
            </a:r>
            <a:endParaRPr lang="zh-CN" altLang="en-US" b="1" dirty="0">
              <a:ea typeface="隶书" panose="02010509060101010101" pitchFamily="49" charset="-122"/>
            </a:endParaRPr>
          </a:p>
        </p:txBody>
      </p:sp>
      <p:grpSp>
        <p:nvGrpSpPr>
          <p:cNvPr id="2" name="Group 1033"/>
          <p:cNvGrpSpPr/>
          <p:nvPr/>
        </p:nvGrpSpPr>
        <p:grpSpPr>
          <a:xfrm>
            <a:off x="-304800" y="2362200"/>
            <a:ext cx="3360738" cy="1219200"/>
            <a:chOff x="2635" y="2400"/>
            <a:chExt cx="2117" cy="768"/>
          </a:xfrm>
        </p:grpSpPr>
        <p:sp>
          <p:nvSpPr>
            <p:cNvPr id="14360" name="Text Box 1031"/>
            <p:cNvSpPr txBox="1"/>
            <p:nvPr/>
          </p:nvSpPr>
          <p:spPr>
            <a:xfrm>
              <a:off x="2635" y="2502"/>
              <a:ext cx="2117" cy="56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914400" lvl="2" indent="0" algn="ctr" eaLnBrk="1" hangingPunct="1">
                <a:lnSpc>
                  <a:spcPct val="110000"/>
                </a:lnSpc>
                <a:spcBef>
                  <a:spcPct val="0"/>
                </a:spcBef>
                <a:buFont typeface="宋体" panose="02010600030101010101" pitchFamily="2" charset="-122"/>
                <a:buNone/>
              </a:pPr>
              <a:r>
                <a:rPr lang="zh-CN" altLang="en-US" b="1" dirty="0"/>
                <a:t>确定输入、输出</a:t>
              </a:r>
              <a:endParaRPr lang="zh-CN" altLang="en-US" b="1" dirty="0"/>
            </a:p>
            <a:p>
              <a:pPr marL="914400" lvl="2" indent="0" algn="ctr" eaLnBrk="1" hangingPunct="1">
                <a:lnSpc>
                  <a:spcPct val="110000"/>
                </a:lnSpc>
                <a:spcBef>
                  <a:spcPct val="0"/>
                </a:spcBef>
                <a:buFont typeface="宋体" panose="02010600030101010101" pitchFamily="2" charset="-122"/>
                <a:buNone/>
              </a:pPr>
              <a:r>
                <a:rPr lang="zh-CN" altLang="en-US" b="1" dirty="0"/>
                <a:t>列出真值表</a:t>
              </a:r>
              <a:endParaRPr lang="zh-CN" altLang="en-US" b="1" dirty="0"/>
            </a:p>
          </p:txBody>
        </p:sp>
        <p:sp>
          <p:nvSpPr>
            <p:cNvPr id="14361" name="Rectangle 1032"/>
            <p:cNvSpPr/>
            <p:nvPr/>
          </p:nvSpPr>
          <p:spPr>
            <a:xfrm>
              <a:off x="3216" y="2400"/>
              <a:ext cx="1536" cy="76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" name="Group 1049"/>
          <p:cNvGrpSpPr/>
          <p:nvPr/>
        </p:nvGrpSpPr>
        <p:grpSpPr>
          <a:xfrm>
            <a:off x="3124200" y="2362200"/>
            <a:ext cx="2514600" cy="1143000"/>
            <a:chOff x="1968" y="1488"/>
            <a:chExt cx="1584" cy="720"/>
          </a:xfrm>
        </p:grpSpPr>
        <p:sp>
          <p:nvSpPr>
            <p:cNvPr id="14357" name="Text Box 1034"/>
            <p:cNvSpPr txBox="1"/>
            <p:nvPr/>
          </p:nvSpPr>
          <p:spPr>
            <a:xfrm>
              <a:off x="2400" y="1584"/>
              <a:ext cx="1074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写出表达式</a:t>
              </a:r>
              <a:endParaRPr lang="zh-CN" altLang="en-US" sz="2400" b="1" dirty="0"/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并简化</a:t>
              </a:r>
              <a:endParaRPr lang="zh-CN" altLang="en-US" sz="2400" b="1" dirty="0"/>
            </a:p>
          </p:txBody>
        </p:sp>
        <p:sp>
          <p:nvSpPr>
            <p:cNvPr id="14358" name="Rectangle 1036"/>
            <p:cNvSpPr/>
            <p:nvPr/>
          </p:nvSpPr>
          <p:spPr>
            <a:xfrm>
              <a:off x="2352" y="1488"/>
              <a:ext cx="1200" cy="7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14359" name="Line 1039"/>
            <p:cNvSpPr/>
            <p:nvPr/>
          </p:nvSpPr>
          <p:spPr>
            <a:xfrm>
              <a:off x="1968" y="1824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" name="Group 1050"/>
          <p:cNvGrpSpPr/>
          <p:nvPr/>
        </p:nvGrpSpPr>
        <p:grpSpPr>
          <a:xfrm>
            <a:off x="5638800" y="2438400"/>
            <a:ext cx="3048000" cy="762000"/>
            <a:chOff x="3552" y="1536"/>
            <a:chExt cx="1920" cy="480"/>
          </a:xfrm>
        </p:grpSpPr>
        <p:sp>
          <p:nvSpPr>
            <p:cNvPr id="14354" name="Text Box 1028"/>
            <p:cNvSpPr txBox="1"/>
            <p:nvPr/>
          </p:nvSpPr>
          <p:spPr>
            <a:xfrm>
              <a:off x="3599" y="1632"/>
              <a:ext cx="1840" cy="3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914400" lvl="2" indent="0" algn="ctr" eaLnBrk="1" hangingPunct="1">
                <a:lnSpc>
                  <a:spcPct val="110000"/>
                </a:lnSpc>
                <a:spcBef>
                  <a:spcPct val="0"/>
                </a:spcBef>
                <a:buFont typeface="宋体" panose="02010600030101010101" pitchFamily="2" charset="-122"/>
                <a:buNone/>
              </a:pPr>
              <a:r>
                <a:rPr lang="zh-CN" altLang="en-US" b="1" dirty="0"/>
                <a:t>画逻辑电路图</a:t>
              </a:r>
              <a:endParaRPr lang="zh-CN" altLang="en-US" b="1" dirty="0"/>
            </a:p>
          </p:txBody>
        </p:sp>
        <p:sp>
          <p:nvSpPr>
            <p:cNvPr id="14355" name="Rectangle 1037"/>
            <p:cNvSpPr/>
            <p:nvPr/>
          </p:nvSpPr>
          <p:spPr>
            <a:xfrm>
              <a:off x="4176" y="1536"/>
              <a:ext cx="1296" cy="48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14356" name="Line 1040"/>
            <p:cNvSpPr/>
            <p:nvPr/>
          </p:nvSpPr>
          <p:spPr>
            <a:xfrm>
              <a:off x="3552" y="1776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" name="Group 1054"/>
          <p:cNvGrpSpPr/>
          <p:nvPr/>
        </p:nvGrpSpPr>
        <p:grpSpPr>
          <a:xfrm>
            <a:off x="1600200" y="3200400"/>
            <a:ext cx="6019800" cy="3200400"/>
            <a:chOff x="1008" y="2016"/>
            <a:chExt cx="3792" cy="2016"/>
          </a:xfrm>
        </p:grpSpPr>
        <p:grpSp>
          <p:nvGrpSpPr>
            <p:cNvPr id="14345" name="Group 1051"/>
            <p:cNvGrpSpPr/>
            <p:nvPr/>
          </p:nvGrpSpPr>
          <p:grpSpPr>
            <a:xfrm>
              <a:off x="2304" y="2016"/>
              <a:ext cx="2496" cy="1104"/>
              <a:chOff x="2304" y="2016"/>
              <a:chExt cx="2496" cy="1104"/>
            </a:xfrm>
          </p:grpSpPr>
          <p:sp>
            <p:nvSpPr>
              <p:cNvPr id="14349" name="Text Box 1035"/>
              <p:cNvSpPr txBox="1"/>
              <p:nvPr/>
            </p:nvSpPr>
            <p:spPr>
              <a:xfrm>
                <a:off x="2496" y="2784"/>
                <a:ext cx="88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形式变换</a:t>
                </a:r>
                <a:endParaRPr lang="zh-CN" altLang="en-US" sz="2400" b="1" dirty="0"/>
              </a:p>
            </p:txBody>
          </p:sp>
          <p:sp>
            <p:nvSpPr>
              <p:cNvPr id="14350" name="Rectangle 1038"/>
              <p:cNvSpPr/>
              <p:nvPr/>
            </p:nvSpPr>
            <p:spPr>
              <a:xfrm>
                <a:off x="2304" y="2736"/>
                <a:ext cx="1296" cy="384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en-US" sz="2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4351" name="Line 1041"/>
              <p:cNvSpPr/>
              <p:nvPr/>
            </p:nvSpPr>
            <p:spPr>
              <a:xfrm>
                <a:off x="2928" y="2256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4352" name="Line 1044"/>
              <p:cNvSpPr/>
              <p:nvPr/>
            </p:nvSpPr>
            <p:spPr>
              <a:xfrm>
                <a:off x="3600" y="2928"/>
                <a:ext cx="12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353" name="Line 1045"/>
              <p:cNvSpPr/>
              <p:nvPr/>
            </p:nvSpPr>
            <p:spPr>
              <a:xfrm flipV="1">
                <a:off x="4800" y="2016"/>
                <a:ext cx="0" cy="91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14346" name="Group 1053"/>
            <p:cNvGrpSpPr/>
            <p:nvPr/>
          </p:nvGrpSpPr>
          <p:grpSpPr>
            <a:xfrm>
              <a:off x="1008" y="3408"/>
              <a:ext cx="1344" cy="624"/>
              <a:chOff x="1008" y="3408"/>
              <a:chExt cx="1344" cy="624"/>
            </a:xfrm>
          </p:grpSpPr>
          <p:sp>
            <p:nvSpPr>
              <p:cNvPr id="14347" name="AutoShape 1046"/>
              <p:cNvSpPr/>
              <p:nvPr/>
            </p:nvSpPr>
            <p:spPr>
              <a:xfrm>
                <a:off x="1008" y="3408"/>
                <a:ext cx="1344" cy="624"/>
              </a:xfrm>
              <a:prstGeom prst="wedgeRectCallout">
                <a:avLst>
                  <a:gd name="adj1" fmla="val 48213"/>
                  <a:gd name="adj2" fmla="val -86218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4348" name="Text Box 1052"/>
              <p:cNvSpPr txBox="1"/>
              <p:nvPr/>
            </p:nvSpPr>
            <p:spPr>
              <a:xfrm>
                <a:off x="1052" y="3466"/>
                <a:ext cx="1276" cy="518"/>
              </a:xfrm>
              <a:prstGeom prst="rect">
                <a:avLst/>
              </a:prstGeom>
              <a:solidFill>
                <a:srgbClr val="FFFF66"/>
              </a:solidFill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>
                    <a:latin typeface="宋体" panose="02010600030101010101" pitchFamily="2" charset="-122"/>
                  </a:rPr>
                  <a:t>根据设计所用</a:t>
                </a:r>
                <a:endParaRPr lang="zh-CN" altLang="en-US" sz="2400" b="1" dirty="0">
                  <a:latin typeface="宋体" panose="02010600030101010101" pitchFamily="2" charset="-122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>
                    <a:latin typeface="宋体" panose="02010600030101010101" pitchFamily="2" charset="-122"/>
                  </a:rPr>
                  <a:t>芯片要求</a:t>
                </a:r>
                <a:endParaRPr lang="zh-CN" altLang="en-US" sz="2400" b="1" dirty="0">
                  <a:latin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/>
      <p:bldP spid="696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ext Box 9"/>
          <p:cNvSpPr txBox="1"/>
          <p:nvPr/>
        </p:nvSpPr>
        <p:spPr>
          <a:xfrm>
            <a:off x="457200" y="762000"/>
            <a:ext cx="29305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例３：</a:t>
            </a:r>
            <a:r>
              <a:rPr lang="zh-CN" altLang="en-US" sz="2400" b="1" dirty="0"/>
              <a:t>半加器的设计</a:t>
            </a:r>
            <a:endParaRPr lang="zh-CN" altLang="en-US" sz="2400" b="1" dirty="0"/>
          </a:p>
        </p:txBody>
      </p:sp>
      <p:sp>
        <p:nvSpPr>
          <p:cNvPr id="27658" name="Text Box 10"/>
          <p:cNvSpPr txBox="1"/>
          <p:nvPr/>
        </p:nvSpPr>
        <p:spPr>
          <a:xfrm>
            <a:off x="381000" y="1447800"/>
            <a:ext cx="2486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）半加器真值</a:t>
            </a:r>
            <a:endParaRPr lang="zh-CN" altLang="en-US" sz="2400" b="1" dirty="0"/>
          </a:p>
        </p:txBody>
      </p:sp>
      <p:sp>
        <p:nvSpPr>
          <p:cNvPr id="27659" name="Text Box 11"/>
          <p:cNvSpPr txBox="1"/>
          <p:nvPr/>
        </p:nvSpPr>
        <p:spPr>
          <a:xfrm>
            <a:off x="381000" y="2133600"/>
            <a:ext cx="2171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）输出函数</a:t>
            </a:r>
            <a:endParaRPr lang="zh-CN" altLang="en-US" sz="2400" b="1" dirty="0"/>
          </a:p>
        </p:txBody>
      </p:sp>
      <p:sp>
        <p:nvSpPr>
          <p:cNvPr id="27660" name="Text Box 12"/>
          <p:cNvSpPr txBox="1"/>
          <p:nvPr/>
        </p:nvSpPr>
        <p:spPr>
          <a:xfrm>
            <a:off x="422275" y="3276600"/>
            <a:ext cx="18637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）逻辑图</a:t>
            </a:r>
            <a:endParaRPr lang="zh-CN" altLang="en-US" sz="2400" b="1" dirty="0"/>
          </a:p>
        </p:txBody>
      </p:sp>
      <p:grpSp>
        <p:nvGrpSpPr>
          <p:cNvPr id="2" name="Group 31"/>
          <p:cNvGrpSpPr/>
          <p:nvPr/>
        </p:nvGrpSpPr>
        <p:grpSpPr>
          <a:xfrm>
            <a:off x="228600" y="4572000"/>
            <a:ext cx="3905250" cy="1981200"/>
            <a:chOff x="240" y="2688"/>
            <a:chExt cx="2460" cy="1248"/>
          </a:xfrm>
        </p:grpSpPr>
        <p:sp>
          <p:nvSpPr>
            <p:cNvPr id="15371" name="Text Box 13"/>
            <p:cNvSpPr txBox="1"/>
            <p:nvPr/>
          </p:nvSpPr>
          <p:spPr>
            <a:xfrm>
              <a:off x="288" y="2719"/>
              <a:ext cx="2143" cy="1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/>
                <a:t>           </a:t>
              </a:r>
              <a:r>
                <a:rPr lang="zh-CN" altLang="en-US" sz="2000" b="1" dirty="0"/>
                <a:t>输入                  输出</a:t>
              </a:r>
              <a:endParaRPr lang="zh-CN" altLang="en-US" sz="20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000" b="1" dirty="0"/>
                <a:t>被加数</a:t>
              </a:r>
              <a:r>
                <a:rPr lang="en-US" altLang="zh-CN" sz="2000" b="1" dirty="0"/>
                <a:t>A  </a:t>
              </a:r>
              <a:r>
                <a:rPr lang="zh-CN" altLang="en-US" sz="2000" b="1" dirty="0"/>
                <a:t>加数</a:t>
              </a:r>
              <a:r>
                <a:rPr lang="en-US" altLang="zh-CN" sz="2000" b="1" dirty="0"/>
                <a:t>B    </a:t>
              </a:r>
              <a:r>
                <a:rPr lang="zh-CN" altLang="en-US" sz="2000" b="1" dirty="0"/>
                <a:t>和</a:t>
              </a:r>
              <a:r>
                <a:rPr lang="en-US" altLang="zh-CN" sz="2000" b="1" dirty="0"/>
                <a:t>S  </a:t>
              </a:r>
              <a:r>
                <a:rPr lang="zh-CN" altLang="en-US" sz="2000" b="1" dirty="0"/>
                <a:t>进位</a:t>
              </a:r>
              <a:r>
                <a:rPr lang="en-US" altLang="zh-CN" sz="2000" b="1" dirty="0"/>
                <a:t>C</a:t>
              </a:r>
              <a:endParaRPr lang="en-US" altLang="zh-CN" sz="20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/>
                <a:t>       0             0          0         0</a:t>
              </a:r>
              <a:endParaRPr lang="en-US" altLang="zh-CN" sz="20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/>
                <a:t>       0             1          1         0</a:t>
              </a:r>
              <a:endParaRPr lang="en-US" altLang="zh-CN" sz="20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/>
                <a:t>       1             0          1         0</a:t>
              </a:r>
              <a:endParaRPr lang="en-US" altLang="zh-CN" sz="20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/>
                <a:t>       1             1          0         1</a:t>
              </a:r>
              <a:endParaRPr lang="en-US" altLang="zh-CN" sz="2000" b="1" dirty="0"/>
            </a:p>
          </p:txBody>
        </p:sp>
        <p:sp>
          <p:nvSpPr>
            <p:cNvPr id="15372" name="Line 14"/>
            <p:cNvSpPr/>
            <p:nvPr/>
          </p:nvSpPr>
          <p:spPr>
            <a:xfrm>
              <a:off x="288" y="2928"/>
              <a:ext cx="24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73" name="Line 17"/>
            <p:cNvSpPr/>
            <p:nvPr/>
          </p:nvSpPr>
          <p:spPr>
            <a:xfrm>
              <a:off x="288" y="2688"/>
              <a:ext cx="23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74" name="Line 26"/>
            <p:cNvSpPr/>
            <p:nvPr/>
          </p:nvSpPr>
          <p:spPr>
            <a:xfrm>
              <a:off x="240" y="3936"/>
              <a:ext cx="24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75" name="Line 30"/>
            <p:cNvSpPr/>
            <p:nvPr/>
          </p:nvSpPr>
          <p:spPr>
            <a:xfrm>
              <a:off x="1536" y="2688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93184" name="Object 0"/>
          <p:cNvGraphicFramePr>
            <a:graphicFrameLocks noChangeAspect="1"/>
          </p:cNvGraphicFramePr>
          <p:nvPr/>
        </p:nvGraphicFramePr>
        <p:xfrm>
          <a:off x="6553200" y="762000"/>
          <a:ext cx="182880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323975" imgH="1028700" progId="Paint.Picture">
                  <p:embed/>
                </p:oleObj>
              </mc:Choice>
              <mc:Fallback>
                <p:oleObj name="" r:id="rId1" imgW="1323975" imgH="1028700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53200" y="762000"/>
                        <a:ext cx="1828800" cy="186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5" name="Object 1"/>
          <p:cNvGraphicFramePr>
            <a:graphicFrameLocks noChangeAspect="1"/>
          </p:cNvGraphicFramePr>
          <p:nvPr/>
        </p:nvGraphicFramePr>
        <p:xfrm>
          <a:off x="2819400" y="2209800"/>
          <a:ext cx="3200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1358265" imgH="431800" progId="Equation.3">
                  <p:embed/>
                </p:oleObj>
              </mc:Choice>
              <mc:Fallback>
                <p:oleObj name="" r:id="rId3" imgW="1358265" imgH="4318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19400" y="2209800"/>
                        <a:ext cx="320040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6" name="Object 2"/>
          <p:cNvGraphicFramePr>
            <a:graphicFrameLocks noChangeAspect="1"/>
          </p:cNvGraphicFramePr>
          <p:nvPr/>
        </p:nvGraphicFramePr>
        <p:xfrm>
          <a:off x="4800600" y="3733800"/>
          <a:ext cx="35052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1419225" imgH="1257300" progId="Paint.Picture">
                  <p:embed/>
                </p:oleObj>
              </mc:Choice>
              <mc:Fallback>
                <p:oleObj name="" r:id="rId5" imgW="1419225" imgH="1257300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00600" y="3733800"/>
                        <a:ext cx="3505200" cy="2743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5" name="Text Box 37"/>
          <p:cNvSpPr txBox="1"/>
          <p:nvPr/>
        </p:nvSpPr>
        <p:spPr>
          <a:xfrm>
            <a:off x="381000" y="3886200"/>
            <a:ext cx="2165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）逻辑符号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8" grpId="0"/>
      <p:bldP spid="27659" grpId="0"/>
      <p:bldP spid="27660" grpId="0"/>
      <p:bldP spid="276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838200" y="4038600"/>
          <a:ext cx="32004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939800" imgH="558800" progId="Equation.3">
                  <p:embed/>
                </p:oleObj>
              </mc:Choice>
              <mc:Fallback>
                <p:oleObj name="" r:id="rId1" imgW="939800" imgH="5588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4038600"/>
                        <a:ext cx="3200400" cy="1371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990600" y="1752600"/>
          <a:ext cx="3429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1358265" imgH="431800" progId="Equation.3">
                  <p:embed/>
                </p:oleObj>
              </mc:Choice>
              <mc:Fallback>
                <p:oleObj name="" r:id="rId3" imgW="1358265" imgH="4318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0600" y="1752600"/>
                        <a:ext cx="34290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5"/>
          <p:cNvSpPr txBox="1"/>
          <p:nvPr/>
        </p:nvSpPr>
        <p:spPr>
          <a:xfrm>
            <a:off x="346075" y="457200"/>
            <a:ext cx="65881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将用</a:t>
            </a:r>
            <a:r>
              <a:rPr lang="zh-CN" altLang="en-US" sz="2400" b="1" dirty="0">
                <a:solidFill>
                  <a:srgbClr val="FF3300"/>
                </a:solidFill>
              </a:rPr>
              <a:t>“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异或</a:t>
            </a:r>
            <a:r>
              <a:rPr lang="zh-CN" altLang="en-US" sz="2400" b="1" dirty="0">
                <a:solidFill>
                  <a:srgbClr val="FF3300"/>
                </a:solidFill>
              </a:rPr>
              <a:t>”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门</a:t>
            </a:r>
            <a:r>
              <a:rPr lang="zh-CN" altLang="en-US" sz="2400" b="1" dirty="0">
                <a:latin typeface="宋体" panose="02010600030101010101" pitchFamily="2" charset="-122"/>
              </a:rPr>
              <a:t>实现的半加器改为用</a:t>
            </a:r>
            <a:r>
              <a:rPr lang="zh-CN" altLang="en-US" sz="2400" b="1" dirty="0">
                <a:solidFill>
                  <a:srgbClr val="FF3300"/>
                </a:solidFill>
              </a:rPr>
              <a:t>“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与非</a:t>
            </a:r>
            <a:r>
              <a:rPr lang="zh-CN" altLang="en-US" sz="2400" b="1" dirty="0">
                <a:solidFill>
                  <a:srgbClr val="FF3300"/>
                </a:solidFill>
              </a:rPr>
              <a:t>”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门</a:t>
            </a:r>
            <a:r>
              <a:rPr lang="zh-CN" altLang="en-US" sz="2400" b="1" dirty="0">
                <a:latin typeface="宋体" panose="02010600030101010101" pitchFamily="2" charset="-122"/>
              </a:rPr>
              <a:t>实现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4522" name="Text Box 10"/>
          <p:cNvSpPr txBox="1"/>
          <p:nvPr/>
        </p:nvSpPr>
        <p:spPr>
          <a:xfrm>
            <a:off x="412750" y="1066800"/>
            <a:ext cx="32448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函数表达式变换形式：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4572000" y="1905000"/>
            <a:ext cx="4114800" cy="5178425"/>
            <a:chOff x="3024" y="1248"/>
            <a:chExt cx="2208" cy="1958"/>
          </a:xfrm>
        </p:grpSpPr>
        <p:graphicFrame>
          <p:nvGraphicFramePr>
            <p:cNvPr id="16393" name="Object 2"/>
            <p:cNvGraphicFramePr>
              <a:graphicFrameLocks noChangeAspect="1"/>
            </p:cNvGraphicFramePr>
            <p:nvPr/>
          </p:nvGraphicFramePr>
          <p:xfrm>
            <a:off x="3024" y="1248"/>
            <a:ext cx="2208" cy="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5" imgW="2676525" imgH="1752600" progId="Paint.Picture">
                    <p:embed/>
                  </p:oleObj>
                </mc:Choice>
                <mc:Fallback>
                  <p:oleObj name="" r:id="rId5" imgW="2676525" imgH="1752600" progId="Paint.Picture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024" y="1248"/>
                          <a:ext cx="2208" cy="14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4" name="Text Box 14"/>
            <p:cNvSpPr txBox="1"/>
            <p:nvPr/>
          </p:nvSpPr>
          <p:spPr>
            <a:xfrm>
              <a:off x="4047" y="3033"/>
              <a:ext cx="99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64528" name="AutoShape 16"/>
          <p:cNvSpPr/>
          <p:nvPr/>
        </p:nvSpPr>
        <p:spPr>
          <a:xfrm>
            <a:off x="2133600" y="3048000"/>
            <a:ext cx="304800" cy="838200"/>
          </a:xfrm>
          <a:prstGeom prst="downArrow">
            <a:avLst>
              <a:gd name="adj1" fmla="val 50000"/>
              <a:gd name="adj2" fmla="val 68750"/>
            </a:avLst>
          </a:prstGeom>
          <a:solidFill>
            <a:srgbClr val="FF0000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4529" name="Text Box 17"/>
          <p:cNvSpPr txBox="1"/>
          <p:nvPr/>
        </p:nvSpPr>
        <p:spPr>
          <a:xfrm>
            <a:off x="574675" y="5715000"/>
            <a:ext cx="56737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用</a:t>
            </a:r>
            <a:r>
              <a:rPr lang="zh-CN" altLang="en-US" sz="2400" b="1" dirty="0"/>
              <a:t>“</a:t>
            </a:r>
            <a:r>
              <a:rPr lang="zh-CN" altLang="en-US" sz="2400" b="1" dirty="0">
                <a:latin typeface="宋体" panose="02010600030101010101" pitchFamily="2" charset="-122"/>
              </a:rPr>
              <a:t>与非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门实现半加器逻辑图如图所示：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4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4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4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4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2" grpId="0"/>
      <p:bldP spid="64528" grpId="0" animBg="1"/>
      <p:bldP spid="645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5" name="Text Box 3"/>
          <p:cNvSpPr txBox="1"/>
          <p:nvPr/>
        </p:nvSpPr>
        <p:spPr>
          <a:xfrm>
            <a:off x="533400" y="914400"/>
            <a:ext cx="2590800" cy="493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 b="1" dirty="0"/>
              <a:t>     </a:t>
            </a:r>
            <a:r>
              <a:rPr lang="zh-CN" altLang="en-US" sz="2400" b="1" dirty="0"/>
              <a:t>全加器是实现</a:t>
            </a:r>
            <a:endParaRPr lang="zh-CN" altLang="en-US" sz="2400" b="1" dirty="0"/>
          </a:p>
        </p:txBody>
      </p:sp>
      <p:sp>
        <p:nvSpPr>
          <p:cNvPr id="17411" name="Text Box 5"/>
          <p:cNvSpPr txBox="1"/>
          <p:nvPr/>
        </p:nvSpPr>
        <p:spPr>
          <a:xfrm>
            <a:off x="228600" y="304800"/>
            <a:ext cx="279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：全加器的设计</a:t>
            </a:r>
            <a:endParaRPr lang="zh-CN" altLang="en-US" sz="2400" b="1" dirty="0"/>
          </a:p>
        </p:txBody>
      </p:sp>
      <p:sp>
        <p:nvSpPr>
          <p:cNvPr id="28678" name="Text Box 6"/>
          <p:cNvSpPr txBox="1"/>
          <p:nvPr/>
        </p:nvSpPr>
        <p:spPr>
          <a:xfrm>
            <a:off x="3048000" y="6172200"/>
            <a:ext cx="32639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学生自己完成逻辑电路</a:t>
            </a:r>
            <a:endParaRPr lang="zh-CN" altLang="en-US" sz="2400" b="1" dirty="0"/>
          </a:p>
        </p:txBody>
      </p:sp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5334000" y="3429000"/>
          <a:ext cx="23622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600200" imgH="981075" progId="Paint.Picture">
                  <p:embed/>
                </p:oleObj>
              </mc:Choice>
              <mc:Fallback>
                <p:oleObj name="" r:id="rId1" imgW="1600200" imgH="981075" progId="Paint.Picture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34000" y="3429000"/>
                        <a:ext cx="2362200" cy="213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0" name="Text Box 8"/>
          <p:cNvSpPr txBox="1"/>
          <p:nvPr/>
        </p:nvSpPr>
        <p:spPr>
          <a:xfrm>
            <a:off x="5181600" y="2590800"/>
            <a:ext cx="23336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全加器逻辑符号</a:t>
            </a:r>
            <a:endParaRPr lang="zh-CN" altLang="en-US" sz="2400" b="1" dirty="0"/>
          </a:p>
        </p:txBody>
      </p:sp>
      <p:sp>
        <p:nvSpPr>
          <p:cNvPr id="28682" name="Text Box 10"/>
          <p:cNvSpPr txBox="1"/>
          <p:nvPr/>
        </p:nvSpPr>
        <p:spPr>
          <a:xfrm>
            <a:off x="1295400" y="2362200"/>
            <a:ext cx="20256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全加器真值表</a:t>
            </a:r>
            <a:endParaRPr lang="zh-CN" altLang="en-US" sz="2400" b="1" dirty="0"/>
          </a:p>
        </p:txBody>
      </p:sp>
      <p:grpSp>
        <p:nvGrpSpPr>
          <p:cNvPr id="2" name="Group 20"/>
          <p:cNvGrpSpPr/>
          <p:nvPr/>
        </p:nvGrpSpPr>
        <p:grpSpPr>
          <a:xfrm>
            <a:off x="609600" y="2971800"/>
            <a:ext cx="3308350" cy="3170238"/>
            <a:chOff x="384" y="1680"/>
            <a:chExt cx="2084" cy="1997"/>
          </a:xfrm>
        </p:grpSpPr>
        <p:grpSp>
          <p:nvGrpSpPr>
            <p:cNvPr id="17433" name="Group 18"/>
            <p:cNvGrpSpPr/>
            <p:nvPr/>
          </p:nvGrpSpPr>
          <p:grpSpPr>
            <a:xfrm>
              <a:off x="384" y="1680"/>
              <a:ext cx="2084" cy="1997"/>
              <a:chOff x="384" y="1680"/>
              <a:chExt cx="2084" cy="1997"/>
            </a:xfrm>
          </p:grpSpPr>
          <p:sp>
            <p:nvSpPr>
              <p:cNvPr id="17435" name="Rectangle 9"/>
              <p:cNvSpPr/>
              <p:nvPr/>
            </p:nvSpPr>
            <p:spPr>
              <a:xfrm>
                <a:off x="384" y="1680"/>
                <a:ext cx="2084" cy="19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           </a:t>
                </a:r>
                <a:r>
                  <a:rPr lang="zh-CN" altLang="en-US" sz="2000" b="1" dirty="0"/>
                  <a:t>输入                输出</a:t>
                </a:r>
                <a:endParaRPr lang="zh-CN" altLang="en-US" sz="20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000" b="1" dirty="0"/>
                  <a:t>      </a:t>
                </a:r>
                <a:r>
                  <a:rPr lang="en-US" altLang="zh-CN" sz="2000" b="1" dirty="0"/>
                  <a:t>A</a:t>
                </a:r>
                <a:r>
                  <a:rPr lang="en-US" altLang="zh-CN" sz="2000" b="1" baseline="-25000" dirty="0"/>
                  <a:t>i</a:t>
                </a:r>
                <a:r>
                  <a:rPr lang="en-US" altLang="zh-CN" sz="2000" b="1" dirty="0"/>
                  <a:t>     B</a:t>
                </a:r>
                <a:r>
                  <a:rPr lang="en-US" altLang="zh-CN" sz="2000" b="1" baseline="-25000" dirty="0"/>
                  <a:t>i      </a:t>
                </a:r>
                <a:r>
                  <a:rPr lang="en-US" altLang="zh-CN" sz="2000" b="1" dirty="0"/>
                  <a:t>C</a:t>
                </a:r>
                <a:r>
                  <a:rPr lang="en-US" altLang="zh-CN" sz="2000" b="1" baseline="-25000" dirty="0"/>
                  <a:t>i </a:t>
                </a:r>
                <a:r>
                  <a:rPr lang="en-US" altLang="zh-CN" sz="2000" b="1" dirty="0"/>
                  <a:t>       S</a:t>
                </a:r>
                <a:r>
                  <a:rPr lang="en-US" altLang="zh-CN" sz="2000" b="1" baseline="-25000" dirty="0"/>
                  <a:t>i</a:t>
                </a:r>
                <a:r>
                  <a:rPr lang="en-US" altLang="zh-CN" sz="2000" b="1" dirty="0"/>
                  <a:t>      C</a:t>
                </a:r>
                <a:r>
                  <a:rPr lang="en-US" altLang="zh-CN" sz="2000" b="1" baseline="-25000" dirty="0"/>
                  <a:t>i+1</a:t>
                </a:r>
                <a:endParaRPr lang="en-US" altLang="zh-CN" sz="20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       0      0      0        0        0</a:t>
                </a:r>
                <a:endParaRPr lang="en-US" altLang="zh-CN" sz="20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       0      0      1        1        0</a:t>
                </a:r>
                <a:endParaRPr lang="en-US" altLang="zh-CN" sz="20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       0      1      0        1        0</a:t>
                </a:r>
                <a:endParaRPr lang="en-US" altLang="zh-CN" sz="20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       0      1      1        0        1</a:t>
                </a:r>
                <a:endParaRPr lang="en-US" altLang="zh-CN" sz="20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       1      0      0        1        0</a:t>
                </a:r>
                <a:endParaRPr lang="en-US" altLang="zh-CN" sz="20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       1      0      1        0        1</a:t>
                </a:r>
                <a:endParaRPr lang="en-US" altLang="zh-CN" sz="20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       1      1      0        0        1</a:t>
                </a:r>
                <a:endParaRPr lang="en-US" altLang="zh-CN" sz="20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       1      1      1        1        1</a:t>
                </a:r>
                <a:endParaRPr lang="en-US" altLang="zh-CN" sz="2000" b="1" dirty="0"/>
              </a:p>
            </p:txBody>
          </p:sp>
          <p:sp>
            <p:nvSpPr>
              <p:cNvPr id="17436" name="Line 13"/>
              <p:cNvSpPr/>
              <p:nvPr/>
            </p:nvSpPr>
            <p:spPr>
              <a:xfrm>
                <a:off x="1584" y="1680"/>
                <a:ext cx="0" cy="19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37" name="Line 14"/>
              <p:cNvSpPr/>
              <p:nvPr/>
            </p:nvSpPr>
            <p:spPr>
              <a:xfrm>
                <a:off x="624" y="3648"/>
                <a:ext cx="16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38" name="Line 16"/>
              <p:cNvSpPr/>
              <p:nvPr/>
            </p:nvSpPr>
            <p:spPr>
              <a:xfrm>
                <a:off x="624" y="1680"/>
                <a:ext cx="17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7434" name="Line 19"/>
            <p:cNvSpPr/>
            <p:nvPr/>
          </p:nvSpPr>
          <p:spPr>
            <a:xfrm>
              <a:off x="624" y="1872"/>
              <a:ext cx="1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8693" name="Text Box 21"/>
          <p:cNvSpPr txBox="1"/>
          <p:nvPr/>
        </p:nvSpPr>
        <p:spPr>
          <a:xfrm>
            <a:off x="2971800" y="533400"/>
            <a:ext cx="203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一位二进制数</a:t>
            </a:r>
            <a:endParaRPr lang="zh-CN" altLang="en-US" sz="2400" b="1" dirty="0"/>
          </a:p>
        </p:txBody>
      </p:sp>
      <p:sp>
        <p:nvSpPr>
          <p:cNvPr id="28694" name="Text Box 22"/>
          <p:cNvSpPr txBox="1"/>
          <p:nvPr/>
        </p:nvSpPr>
        <p:spPr>
          <a:xfrm>
            <a:off x="3048000" y="1066800"/>
            <a:ext cx="203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一位二进制数</a:t>
            </a:r>
            <a:endParaRPr lang="zh-CN" altLang="en-US" sz="2400" b="1" dirty="0"/>
          </a:p>
        </p:txBody>
      </p:sp>
      <p:sp>
        <p:nvSpPr>
          <p:cNvPr id="28695" name="Text Box 23"/>
          <p:cNvSpPr txBox="1"/>
          <p:nvPr/>
        </p:nvSpPr>
        <p:spPr>
          <a:xfrm>
            <a:off x="3048000" y="1600200"/>
            <a:ext cx="20002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3300"/>
                </a:solidFill>
              </a:rPr>
              <a:t>低位来的进位</a:t>
            </a:r>
            <a:endParaRPr lang="zh-CN" altLang="en-US" sz="2400" b="1" dirty="0"/>
          </a:p>
        </p:txBody>
      </p:sp>
      <p:grpSp>
        <p:nvGrpSpPr>
          <p:cNvPr id="4" name="Group 29"/>
          <p:cNvGrpSpPr/>
          <p:nvPr/>
        </p:nvGrpSpPr>
        <p:grpSpPr>
          <a:xfrm>
            <a:off x="4876800" y="685800"/>
            <a:ext cx="1181100" cy="1143000"/>
            <a:chOff x="3072" y="432"/>
            <a:chExt cx="744" cy="720"/>
          </a:xfrm>
        </p:grpSpPr>
        <p:sp>
          <p:nvSpPr>
            <p:cNvPr id="17428" name="Text Box 24"/>
            <p:cNvSpPr txBox="1"/>
            <p:nvPr/>
          </p:nvSpPr>
          <p:spPr>
            <a:xfrm>
              <a:off x="3312" y="624"/>
              <a:ext cx="5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相加</a:t>
              </a:r>
              <a:endParaRPr lang="zh-CN" altLang="en-US" sz="2400" b="1" dirty="0"/>
            </a:p>
          </p:txBody>
        </p:sp>
        <p:sp>
          <p:nvSpPr>
            <p:cNvPr id="17429" name="Line 25"/>
            <p:cNvSpPr/>
            <p:nvPr/>
          </p:nvSpPr>
          <p:spPr>
            <a:xfrm>
              <a:off x="3072" y="432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30" name="Line 26"/>
            <p:cNvSpPr/>
            <p:nvPr/>
          </p:nvSpPr>
          <p:spPr>
            <a:xfrm>
              <a:off x="3120" y="1152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31" name="Line 27"/>
            <p:cNvSpPr/>
            <p:nvPr/>
          </p:nvSpPr>
          <p:spPr>
            <a:xfrm>
              <a:off x="3216" y="432"/>
              <a:ext cx="0" cy="7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32" name="Line 28"/>
            <p:cNvSpPr/>
            <p:nvPr/>
          </p:nvSpPr>
          <p:spPr>
            <a:xfrm>
              <a:off x="3216" y="768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37"/>
          <p:cNvGrpSpPr/>
          <p:nvPr/>
        </p:nvGrpSpPr>
        <p:grpSpPr>
          <a:xfrm>
            <a:off x="6019800" y="914400"/>
            <a:ext cx="1857375" cy="822325"/>
            <a:chOff x="4176" y="480"/>
            <a:chExt cx="1170" cy="518"/>
          </a:xfrm>
        </p:grpSpPr>
        <p:grpSp>
          <p:nvGrpSpPr>
            <p:cNvPr id="17422" name="Group 32"/>
            <p:cNvGrpSpPr/>
            <p:nvPr/>
          </p:nvGrpSpPr>
          <p:grpSpPr>
            <a:xfrm>
              <a:off x="4176" y="480"/>
              <a:ext cx="1170" cy="518"/>
              <a:chOff x="3792" y="589"/>
              <a:chExt cx="1170" cy="518"/>
            </a:xfrm>
          </p:grpSpPr>
          <p:sp>
            <p:nvSpPr>
              <p:cNvPr id="17426" name="Line 30"/>
              <p:cNvSpPr/>
              <p:nvPr/>
            </p:nvSpPr>
            <p:spPr>
              <a:xfrm>
                <a:off x="3792" y="768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7427" name="Text Box 31"/>
              <p:cNvSpPr txBox="1"/>
              <p:nvPr/>
            </p:nvSpPr>
            <p:spPr>
              <a:xfrm>
                <a:off x="4070" y="589"/>
                <a:ext cx="892" cy="5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和</a:t>
                </a:r>
                <a:endParaRPr lang="zh-CN" altLang="en-US" sz="2400" b="1" dirty="0"/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高位进位</a:t>
                </a:r>
                <a:endParaRPr lang="zh-CN" altLang="en-US" sz="2400" b="1" dirty="0"/>
              </a:p>
            </p:txBody>
          </p:sp>
        </p:grpSp>
        <p:sp>
          <p:nvSpPr>
            <p:cNvPr id="17423" name="Line 34"/>
            <p:cNvSpPr/>
            <p:nvPr/>
          </p:nvSpPr>
          <p:spPr>
            <a:xfrm>
              <a:off x="4416" y="576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4" name="Line 35"/>
            <p:cNvSpPr/>
            <p:nvPr/>
          </p:nvSpPr>
          <p:spPr>
            <a:xfrm>
              <a:off x="4416" y="864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5" name="Line 36"/>
            <p:cNvSpPr/>
            <p:nvPr/>
          </p:nvSpPr>
          <p:spPr>
            <a:xfrm>
              <a:off x="4416" y="576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/>
      <p:bldP spid="28678" grpId="0"/>
      <p:bldP spid="28680" grpId="0"/>
      <p:bldP spid="28682" grpId="0"/>
      <p:bldP spid="28693" grpId="0"/>
      <p:bldP spid="28694" grpId="0"/>
      <p:bldP spid="2869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ext Box 2"/>
          <p:cNvSpPr txBox="1"/>
          <p:nvPr/>
        </p:nvSpPr>
        <p:spPr>
          <a:xfrm>
            <a:off x="304800" y="304800"/>
            <a:ext cx="5454650" cy="5127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400" b="1" dirty="0"/>
              <a:t>试将</a:t>
            </a:r>
            <a:r>
              <a:rPr lang="en-US" altLang="zh-CN" sz="2400" b="1" dirty="0"/>
              <a:t>8421BCD</a:t>
            </a:r>
            <a:r>
              <a:rPr lang="zh-CN" altLang="en-US" sz="2400" b="1" dirty="0"/>
              <a:t>码转换成余</a:t>
            </a:r>
            <a:r>
              <a:rPr lang="en-US" altLang="zh-CN" sz="2400" b="1" dirty="0"/>
              <a:t>3BCD</a:t>
            </a:r>
            <a:r>
              <a:rPr lang="zh-CN" altLang="en-US" sz="2400" b="1" dirty="0"/>
              <a:t>码</a:t>
            </a:r>
            <a:endParaRPr lang="zh-CN" altLang="en-US" sz="2400" b="1" dirty="0"/>
          </a:p>
        </p:txBody>
      </p:sp>
      <p:grpSp>
        <p:nvGrpSpPr>
          <p:cNvPr id="2" name="Group 16"/>
          <p:cNvGrpSpPr/>
          <p:nvPr/>
        </p:nvGrpSpPr>
        <p:grpSpPr>
          <a:xfrm>
            <a:off x="0" y="1905000"/>
            <a:ext cx="4953000" cy="4419600"/>
            <a:chOff x="432" y="1104"/>
            <a:chExt cx="2016" cy="1782"/>
          </a:xfrm>
        </p:grpSpPr>
        <p:graphicFrame>
          <p:nvGraphicFramePr>
            <p:cNvPr id="18446" name="Object 7"/>
            <p:cNvGraphicFramePr>
              <a:graphicFrameLocks noChangeAspect="1"/>
            </p:cNvGraphicFramePr>
            <p:nvPr/>
          </p:nvGraphicFramePr>
          <p:xfrm>
            <a:off x="432" y="1104"/>
            <a:ext cx="2016" cy="8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" imgW="3048000" imgH="1419225" progId="Paint.Picture">
                    <p:embed/>
                  </p:oleObj>
                </mc:Choice>
                <mc:Fallback>
                  <p:oleObj name="" r:id="rId1" imgW="3048000" imgH="1419225" progId="Paint.Picture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32" y="1104"/>
                          <a:ext cx="2016" cy="8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7" name="Object 8"/>
            <p:cNvGraphicFramePr>
              <a:graphicFrameLocks noChangeAspect="1"/>
            </p:cNvGraphicFramePr>
            <p:nvPr/>
          </p:nvGraphicFramePr>
          <p:xfrm>
            <a:off x="480" y="1968"/>
            <a:ext cx="1914" cy="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3" imgW="3038475" imgH="1457325" progId="Paint.Picture">
                    <p:embed/>
                  </p:oleObj>
                </mc:Choice>
                <mc:Fallback>
                  <p:oleObj name="" r:id="rId3" imgW="3038475" imgH="1457325" progId="Paint.Picture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0" y="1968"/>
                          <a:ext cx="1914" cy="9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7"/>
          <p:cNvGrpSpPr/>
          <p:nvPr/>
        </p:nvGrpSpPr>
        <p:grpSpPr>
          <a:xfrm>
            <a:off x="4953000" y="838200"/>
            <a:ext cx="3435350" cy="5578475"/>
            <a:chOff x="3120" y="528"/>
            <a:chExt cx="2164" cy="3514"/>
          </a:xfrm>
        </p:grpSpPr>
        <p:sp>
          <p:nvSpPr>
            <p:cNvPr id="18439" name="Text Box 9"/>
            <p:cNvSpPr txBox="1"/>
            <p:nvPr/>
          </p:nvSpPr>
          <p:spPr>
            <a:xfrm>
              <a:off x="3168" y="528"/>
              <a:ext cx="2116" cy="35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              8421</a:t>
              </a:r>
              <a:r>
                <a:rPr lang="zh-CN" altLang="en-US" sz="1800" b="1" dirty="0"/>
                <a:t>码        余</a:t>
              </a:r>
              <a:r>
                <a:rPr lang="en-US" altLang="zh-CN" sz="1800" b="1" dirty="0"/>
                <a:t>3</a:t>
              </a:r>
              <a:r>
                <a:rPr lang="zh-CN" altLang="en-US" sz="1800" b="1" dirty="0"/>
                <a:t>码</a:t>
              </a:r>
              <a:endParaRPr lang="zh-CN" altLang="en-US" sz="1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800" b="1" dirty="0"/>
                <a:t>       </a:t>
              </a:r>
              <a:r>
                <a:rPr lang="en-US" altLang="zh-CN" sz="1800" b="1" dirty="0"/>
                <a:t>B3 B2 B1 B0  E3 E2 E 1 E0</a:t>
              </a:r>
              <a:endParaRPr lang="en-US" altLang="zh-CN" sz="1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0        0    0   0   0     0    0   1   1</a:t>
              </a:r>
              <a:endParaRPr lang="en-US" altLang="zh-CN" sz="1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1        0    0   0   1     0    1   0   0</a:t>
              </a:r>
              <a:endParaRPr lang="en-US" altLang="zh-CN" sz="1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2        0    0   1   0     0    1   0   1</a:t>
              </a:r>
              <a:endParaRPr lang="en-US" altLang="zh-CN" sz="1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3        0    0   1   1     0    1   1   0</a:t>
              </a:r>
              <a:endParaRPr lang="en-US" altLang="zh-CN" sz="1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4        0    1   0   0     0    1   1   1</a:t>
              </a:r>
              <a:endParaRPr lang="en-US" altLang="zh-CN" sz="1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5        0    1   0   1     1    0   0   0</a:t>
              </a:r>
              <a:endParaRPr lang="en-US" altLang="zh-CN" sz="1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6        0    1   1   0     1    0   0   1</a:t>
              </a:r>
              <a:endParaRPr lang="en-US" altLang="zh-CN" sz="1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7        0    1   1   1     1    0   1   0</a:t>
              </a:r>
              <a:endParaRPr lang="en-US" altLang="zh-CN" sz="1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8        1    0   0   0     1    0   1   1</a:t>
              </a:r>
              <a:endParaRPr lang="en-US" altLang="zh-CN" sz="1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9        1    0   0   1     1    1   0   0</a:t>
              </a:r>
              <a:endParaRPr lang="en-US" altLang="zh-CN" sz="1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10      1    0   1   0      </a:t>
              </a:r>
              <a:r>
                <a:rPr lang="en-US" altLang="zh-CN" sz="2400" b="1" dirty="0"/>
                <a:t>ΦΦΦΦ</a:t>
              </a:r>
              <a:r>
                <a:rPr lang="en-US" altLang="zh-CN" sz="1800" b="1" dirty="0"/>
                <a:t> </a:t>
              </a:r>
              <a:endParaRPr lang="en-US" altLang="zh-CN" sz="1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11      1    0   1   1      </a:t>
              </a:r>
              <a:r>
                <a:rPr lang="en-US" altLang="zh-CN" sz="2400" b="1" dirty="0"/>
                <a:t>ΦΦΦΦ</a:t>
              </a:r>
              <a:endParaRPr lang="en-US" altLang="zh-CN" sz="1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12      1    1   0   0      </a:t>
              </a:r>
              <a:r>
                <a:rPr lang="en-US" altLang="zh-CN" sz="2400" b="1" dirty="0"/>
                <a:t>ΦΦΦΦ</a:t>
              </a:r>
              <a:endParaRPr lang="en-US" altLang="zh-CN" sz="1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13      1    1   0   1      </a:t>
              </a:r>
              <a:r>
                <a:rPr lang="en-US" altLang="zh-CN" sz="2400" b="1" dirty="0"/>
                <a:t>ΦΦΦΦ</a:t>
              </a:r>
              <a:endParaRPr lang="en-US" altLang="zh-CN" sz="1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14      1    1   1   0      </a:t>
              </a:r>
              <a:r>
                <a:rPr lang="en-US" altLang="zh-CN" sz="2400" b="1" dirty="0"/>
                <a:t>ΦΦΦΦ</a:t>
              </a:r>
              <a:endParaRPr lang="en-US" altLang="zh-CN" sz="1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15      1    1   1   1      </a:t>
              </a:r>
              <a:r>
                <a:rPr lang="en-US" altLang="zh-CN" sz="2400" b="1" dirty="0"/>
                <a:t>ΦΦΦΦ</a:t>
              </a:r>
              <a:endParaRPr lang="en-US" altLang="zh-CN" sz="2400" b="1" dirty="0"/>
            </a:p>
          </p:txBody>
        </p:sp>
        <p:sp>
          <p:nvSpPr>
            <p:cNvPr id="18440" name="Line 10"/>
            <p:cNvSpPr/>
            <p:nvPr/>
          </p:nvSpPr>
          <p:spPr>
            <a:xfrm>
              <a:off x="3120" y="720"/>
              <a:ext cx="21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1" name="Line 11"/>
            <p:cNvSpPr/>
            <p:nvPr/>
          </p:nvSpPr>
          <p:spPr>
            <a:xfrm>
              <a:off x="3120" y="864"/>
              <a:ext cx="21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2" name="Line 12"/>
            <p:cNvSpPr/>
            <p:nvPr/>
          </p:nvSpPr>
          <p:spPr>
            <a:xfrm>
              <a:off x="3408" y="720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3" name="Line 13"/>
            <p:cNvSpPr/>
            <p:nvPr/>
          </p:nvSpPr>
          <p:spPr>
            <a:xfrm>
              <a:off x="3408" y="720"/>
              <a:ext cx="0" cy="33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4" name="Line 14"/>
            <p:cNvSpPr/>
            <p:nvPr/>
          </p:nvSpPr>
          <p:spPr>
            <a:xfrm>
              <a:off x="4272" y="720"/>
              <a:ext cx="0" cy="33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5" name="Line 15"/>
            <p:cNvSpPr/>
            <p:nvPr/>
          </p:nvSpPr>
          <p:spPr>
            <a:xfrm>
              <a:off x="3168" y="3984"/>
              <a:ext cx="20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716" name="Text Box 20"/>
          <p:cNvSpPr txBox="1"/>
          <p:nvPr/>
        </p:nvSpPr>
        <p:spPr>
          <a:xfrm>
            <a:off x="381000" y="1676400"/>
            <a:ext cx="18637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）卡诺图</a:t>
            </a:r>
            <a:endParaRPr lang="zh-CN" altLang="en-US" sz="2400" b="1" dirty="0"/>
          </a:p>
        </p:txBody>
      </p:sp>
      <p:sp>
        <p:nvSpPr>
          <p:cNvPr id="29718" name="Text Box 22"/>
          <p:cNvSpPr txBox="1"/>
          <p:nvPr/>
        </p:nvSpPr>
        <p:spPr>
          <a:xfrm>
            <a:off x="381000" y="838200"/>
            <a:ext cx="1920875" cy="51276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）真值表 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6" grpId="0"/>
      <p:bldP spid="297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458" name="Group 1026"/>
          <p:cNvGrpSpPr/>
          <p:nvPr/>
        </p:nvGrpSpPr>
        <p:grpSpPr>
          <a:xfrm>
            <a:off x="1981200" y="533400"/>
            <a:ext cx="5334000" cy="4038600"/>
            <a:chOff x="432" y="1104"/>
            <a:chExt cx="2016" cy="1782"/>
          </a:xfrm>
        </p:grpSpPr>
        <p:graphicFrame>
          <p:nvGraphicFramePr>
            <p:cNvPr id="19462" name="Object 1027"/>
            <p:cNvGraphicFramePr>
              <a:graphicFrameLocks noChangeAspect="1"/>
            </p:cNvGraphicFramePr>
            <p:nvPr/>
          </p:nvGraphicFramePr>
          <p:xfrm>
            <a:off x="432" y="1104"/>
            <a:ext cx="2016" cy="8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1" imgW="3048000" imgH="1419225" progId="Paint.Picture">
                    <p:embed/>
                  </p:oleObj>
                </mc:Choice>
                <mc:Fallback>
                  <p:oleObj name="" r:id="rId1" imgW="3048000" imgH="1419225" progId="Paint.Picture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32" y="1104"/>
                          <a:ext cx="2016" cy="8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3" name="Object 1028"/>
            <p:cNvGraphicFramePr>
              <a:graphicFrameLocks noChangeAspect="1"/>
            </p:cNvGraphicFramePr>
            <p:nvPr/>
          </p:nvGraphicFramePr>
          <p:xfrm>
            <a:off x="480" y="1968"/>
            <a:ext cx="1914" cy="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3" imgW="3038475" imgH="1457325" progId="Paint.Picture">
                    <p:embed/>
                  </p:oleObj>
                </mc:Choice>
                <mc:Fallback>
                  <p:oleObj name="" r:id="rId3" imgW="3038475" imgH="1457325" progId="Paint.Picture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0" y="1968"/>
                          <a:ext cx="1914" cy="9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4757" name="Object 1029"/>
          <p:cNvGraphicFramePr>
            <a:graphicFrameLocks noChangeAspect="1"/>
          </p:cNvGraphicFramePr>
          <p:nvPr/>
        </p:nvGraphicFramePr>
        <p:xfrm>
          <a:off x="838200" y="4570413"/>
          <a:ext cx="38862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5" imgW="1752600" imgH="990600" progId="Equation.3">
                  <p:embed/>
                </p:oleObj>
              </mc:Choice>
              <mc:Fallback>
                <p:oleObj name="" r:id="rId5" imgW="1752600" imgH="9906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8200" y="4570413"/>
                        <a:ext cx="3886200" cy="228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1030"/>
          <p:cNvSpPr txBox="1"/>
          <p:nvPr/>
        </p:nvSpPr>
        <p:spPr>
          <a:xfrm>
            <a:off x="381000" y="304800"/>
            <a:ext cx="1860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</a:rPr>
              <a:t>）卡诺图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19461" name="Text Box 1031"/>
          <p:cNvSpPr txBox="1"/>
          <p:nvPr/>
        </p:nvSpPr>
        <p:spPr>
          <a:xfrm>
            <a:off x="273050" y="3657600"/>
            <a:ext cx="1860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）表达式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4208" name="Object 0"/>
          <p:cNvGraphicFramePr>
            <a:graphicFrameLocks noChangeAspect="1"/>
          </p:cNvGraphicFramePr>
          <p:nvPr/>
        </p:nvGraphicFramePr>
        <p:xfrm>
          <a:off x="1905000" y="2971800"/>
          <a:ext cx="6477000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3629025" imgH="2514600" progId="Paint.Picture">
                  <p:embed/>
                </p:oleObj>
              </mc:Choice>
              <mc:Fallback>
                <p:oleObj name="" r:id="rId1" imgW="3629025" imgH="2514600" progId="Paint.Picture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5000" y="2971800"/>
                        <a:ext cx="6477000" cy="388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1"/>
          <p:cNvGraphicFramePr>
            <a:graphicFrameLocks noChangeAspect="1"/>
          </p:cNvGraphicFramePr>
          <p:nvPr/>
        </p:nvGraphicFramePr>
        <p:xfrm>
          <a:off x="1524000" y="685800"/>
          <a:ext cx="45720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1752600" imgH="990600" progId="Equation.3">
                  <p:embed/>
                </p:oleObj>
              </mc:Choice>
              <mc:Fallback>
                <p:oleObj name="" r:id="rId3" imgW="1752600" imgH="9906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685800"/>
                        <a:ext cx="4572000" cy="236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Rectangle 8"/>
          <p:cNvSpPr/>
          <p:nvPr/>
        </p:nvSpPr>
        <p:spPr>
          <a:xfrm>
            <a:off x="219075" y="3048000"/>
            <a:ext cx="18637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）电路图</a:t>
            </a:r>
            <a:endParaRPr lang="zh-CN" altLang="en-US" sz="2400" b="1" dirty="0"/>
          </a:p>
        </p:txBody>
      </p:sp>
      <p:sp>
        <p:nvSpPr>
          <p:cNvPr id="20485" name="Text Box 9"/>
          <p:cNvSpPr txBox="1"/>
          <p:nvPr/>
        </p:nvSpPr>
        <p:spPr>
          <a:xfrm>
            <a:off x="295275" y="304800"/>
            <a:ext cx="18637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）表达式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30730" name="Oval 10"/>
          <p:cNvSpPr/>
          <p:nvPr/>
        </p:nvSpPr>
        <p:spPr>
          <a:xfrm>
            <a:off x="1828800" y="5334000"/>
            <a:ext cx="609600" cy="1295400"/>
          </a:xfrm>
          <a:prstGeom prst="ellipse">
            <a:avLst/>
          </a:prstGeom>
          <a:noFill/>
          <a:ln w="412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0" y="4953000"/>
            <a:ext cx="1676400" cy="457200"/>
            <a:chOff x="0" y="3120"/>
            <a:chExt cx="1056" cy="288"/>
          </a:xfrm>
        </p:grpSpPr>
        <p:sp>
          <p:nvSpPr>
            <p:cNvPr id="20492" name="Text Box 11"/>
            <p:cNvSpPr txBox="1"/>
            <p:nvPr/>
          </p:nvSpPr>
          <p:spPr>
            <a:xfrm>
              <a:off x="76" y="3120"/>
              <a:ext cx="980" cy="288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8</a:t>
              </a:r>
              <a:r>
                <a:rPr lang="en-US" altLang="zh-CN" sz="2400" dirty="0">
                  <a:latin typeface="宋体" panose="02010600030101010101" pitchFamily="2" charset="-122"/>
                </a:rPr>
                <a:t>421BCD</a:t>
              </a:r>
              <a:r>
                <a:rPr lang="zh-CN" altLang="en-US" sz="2400" dirty="0">
                  <a:latin typeface="宋体" panose="02010600030101010101" pitchFamily="2" charset="-122"/>
                </a:rPr>
                <a:t>码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20493" name="AutoShape 12"/>
            <p:cNvSpPr/>
            <p:nvPr/>
          </p:nvSpPr>
          <p:spPr>
            <a:xfrm>
              <a:off x="0" y="3120"/>
              <a:ext cx="1056" cy="288"/>
            </a:xfrm>
            <a:prstGeom prst="wedgeRectCallout">
              <a:avLst>
                <a:gd name="adj1" fmla="val 45833"/>
                <a:gd name="adj2" fmla="val 7534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30733" name="Oval 13"/>
          <p:cNvSpPr/>
          <p:nvPr/>
        </p:nvSpPr>
        <p:spPr>
          <a:xfrm>
            <a:off x="2743200" y="2895600"/>
            <a:ext cx="5715000" cy="533400"/>
          </a:xfrm>
          <a:prstGeom prst="ellipse">
            <a:avLst/>
          </a:prstGeom>
          <a:noFill/>
          <a:ln w="412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3" name="Group 17"/>
          <p:cNvGrpSpPr/>
          <p:nvPr/>
        </p:nvGrpSpPr>
        <p:grpSpPr>
          <a:xfrm>
            <a:off x="6019800" y="1981200"/>
            <a:ext cx="1006475" cy="533400"/>
            <a:chOff x="3792" y="1248"/>
            <a:chExt cx="634" cy="336"/>
          </a:xfrm>
        </p:grpSpPr>
        <p:sp>
          <p:nvSpPr>
            <p:cNvPr id="20490" name="Text Box 14"/>
            <p:cNvSpPr txBox="1"/>
            <p:nvPr/>
          </p:nvSpPr>
          <p:spPr>
            <a:xfrm>
              <a:off x="3830" y="1296"/>
              <a:ext cx="596" cy="288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余</a:t>
              </a:r>
              <a:r>
                <a:rPr lang="en-US" altLang="zh-CN" sz="2400" dirty="0">
                  <a:latin typeface="宋体" panose="02010600030101010101" pitchFamily="2" charset="-122"/>
                </a:rPr>
                <a:t>3</a:t>
              </a:r>
              <a:r>
                <a:rPr lang="zh-CN" altLang="en-US" sz="2400" dirty="0">
                  <a:latin typeface="宋体" panose="02010600030101010101" pitchFamily="2" charset="-122"/>
                </a:rPr>
                <a:t>码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20491" name="AutoShape 15"/>
            <p:cNvSpPr/>
            <p:nvPr/>
          </p:nvSpPr>
          <p:spPr>
            <a:xfrm>
              <a:off x="3792" y="1248"/>
              <a:ext cx="624" cy="336"/>
            </a:xfrm>
            <a:prstGeom prst="wedgeRectCallout">
              <a:avLst>
                <a:gd name="adj1" fmla="val -43750"/>
                <a:gd name="adj2" fmla="val 7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8" grpId="0"/>
      <p:bldP spid="30730" grpId="0" animBg="1"/>
      <p:bldP spid="307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ext Box 4"/>
          <p:cNvSpPr txBox="1"/>
          <p:nvPr/>
        </p:nvSpPr>
        <p:spPr>
          <a:xfrm>
            <a:off x="838200" y="203200"/>
            <a:ext cx="77787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latin typeface="隶书" panose="02010509060101010101" pitchFamily="49" charset="-122"/>
                <a:ea typeface="隶书" panose="02010509060101010101" pitchFamily="49" charset="-122"/>
              </a:rPr>
              <a:t>第二节 算术逻辑运算及数值比较组件</a:t>
            </a:r>
            <a:endParaRPr lang="zh-CN" altLang="en-US" sz="3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2773" name="Text Box 5"/>
          <p:cNvSpPr txBox="1"/>
          <p:nvPr/>
        </p:nvSpPr>
        <p:spPr>
          <a:xfrm>
            <a:off x="533400" y="990600"/>
            <a:ext cx="17176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一、加法器</a:t>
            </a:r>
            <a:endParaRPr lang="zh-CN" altLang="en-US" sz="2400" b="1" dirty="0"/>
          </a:p>
        </p:txBody>
      </p:sp>
      <p:sp>
        <p:nvSpPr>
          <p:cNvPr id="32776" name="Text Box 8"/>
          <p:cNvSpPr txBox="1"/>
          <p:nvPr/>
        </p:nvSpPr>
        <p:spPr>
          <a:xfrm>
            <a:off x="228600" y="1600200"/>
            <a:ext cx="38735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（一）加法器的功能与分类</a:t>
            </a:r>
            <a:endParaRPr lang="zh-CN" altLang="en-US" sz="2400" b="1" dirty="0"/>
          </a:p>
        </p:txBody>
      </p:sp>
      <p:sp>
        <p:nvSpPr>
          <p:cNvPr id="32777" name="Text Box 9"/>
          <p:cNvSpPr txBox="1"/>
          <p:nvPr/>
        </p:nvSpPr>
        <p:spPr>
          <a:xfrm>
            <a:off x="471488" y="2209800"/>
            <a:ext cx="40878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功能：</a:t>
            </a:r>
            <a:r>
              <a:rPr lang="zh-CN" altLang="en-US" sz="2400" b="1" dirty="0"/>
              <a:t>实现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位二进制数相加</a:t>
            </a:r>
            <a:endParaRPr lang="zh-CN" altLang="en-US" sz="2400" b="1" dirty="0"/>
          </a:p>
        </p:txBody>
      </p:sp>
      <p:sp>
        <p:nvSpPr>
          <p:cNvPr id="32778" name="Text Box 10"/>
          <p:cNvSpPr txBox="1"/>
          <p:nvPr/>
        </p:nvSpPr>
        <p:spPr>
          <a:xfrm>
            <a:off x="457200" y="2743200"/>
            <a:ext cx="72485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按实现方法分类</a:t>
            </a:r>
            <a:r>
              <a:rPr lang="zh-CN" altLang="en-US" sz="2400" b="1" dirty="0"/>
              <a:t>：串行进位加法器、超前进位加法器</a:t>
            </a:r>
            <a:endParaRPr lang="zh-CN" altLang="en-US" sz="2400" b="1" dirty="0"/>
          </a:p>
        </p:txBody>
      </p:sp>
      <p:sp>
        <p:nvSpPr>
          <p:cNvPr id="32779" name="Text Box 11"/>
          <p:cNvSpPr txBox="1"/>
          <p:nvPr/>
        </p:nvSpPr>
        <p:spPr>
          <a:xfrm>
            <a:off x="304800" y="3429000"/>
            <a:ext cx="31019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）串行进位加法器</a:t>
            </a:r>
            <a:endParaRPr lang="zh-CN" altLang="en-US" sz="2400" b="1" dirty="0"/>
          </a:p>
        </p:txBody>
      </p:sp>
      <p:grpSp>
        <p:nvGrpSpPr>
          <p:cNvPr id="2" name="Group 63"/>
          <p:cNvGrpSpPr/>
          <p:nvPr/>
        </p:nvGrpSpPr>
        <p:grpSpPr>
          <a:xfrm>
            <a:off x="381000" y="3200400"/>
            <a:ext cx="9067800" cy="3219450"/>
            <a:chOff x="240" y="2016"/>
            <a:chExt cx="5712" cy="2028"/>
          </a:xfrm>
        </p:grpSpPr>
        <p:graphicFrame>
          <p:nvGraphicFramePr>
            <p:cNvPr id="21540" name="Object 2"/>
            <p:cNvGraphicFramePr>
              <a:graphicFrameLocks noChangeAspect="1"/>
            </p:cNvGraphicFramePr>
            <p:nvPr/>
          </p:nvGraphicFramePr>
          <p:xfrm>
            <a:off x="2496" y="2016"/>
            <a:ext cx="3456" cy="20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1" imgW="4048125" imgH="1962150" progId="Paint.Picture">
                    <p:embed/>
                  </p:oleObj>
                </mc:Choice>
                <mc:Fallback>
                  <p:oleObj name="" r:id="rId1" imgW="4048125" imgH="1962150" progId="Paint.Picture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496" y="2016"/>
                          <a:ext cx="3456" cy="20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1" name="Text Box 12"/>
            <p:cNvSpPr txBox="1"/>
            <p:nvPr/>
          </p:nvSpPr>
          <p:spPr>
            <a:xfrm>
              <a:off x="240" y="3456"/>
              <a:ext cx="2592" cy="5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15000"/>
                </a:lnSpc>
                <a:spcBef>
                  <a:spcPct val="0"/>
                </a:spcBef>
                <a:buNone/>
              </a:pPr>
              <a:r>
                <a:rPr lang="zh-CN" altLang="en-US" sz="2400" b="1" dirty="0"/>
                <a:t>如图：用全加器实现</a:t>
              </a:r>
              <a:r>
                <a:rPr lang="en-US" altLang="zh-CN" sz="2400" b="1" dirty="0"/>
                <a:t>4</a:t>
              </a:r>
              <a:r>
                <a:rPr lang="zh-CN" altLang="en-US" sz="2400" b="1" dirty="0"/>
                <a:t>位二进制数相加。</a:t>
              </a:r>
              <a:endParaRPr lang="zh-CN" altLang="en-US" sz="2400" b="1" dirty="0"/>
            </a:p>
          </p:txBody>
        </p:sp>
      </p:grpSp>
      <p:grpSp>
        <p:nvGrpSpPr>
          <p:cNvPr id="3" name="Group 17"/>
          <p:cNvGrpSpPr/>
          <p:nvPr/>
        </p:nvGrpSpPr>
        <p:grpSpPr>
          <a:xfrm>
            <a:off x="762000" y="4038600"/>
            <a:ext cx="3009900" cy="1163638"/>
            <a:chOff x="480" y="2544"/>
            <a:chExt cx="1896" cy="733"/>
          </a:xfrm>
        </p:grpSpPr>
        <p:sp>
          <p:nvSpPr>
            <p:cNvPr id="21537" name="Text Box 13"/>
            <p:cNvSpPr txBox="1"/>
            <p:nvPr/>
          </p:nvSpPr>
          <p:spPr>
            <a:xfrm>
              <a:off x="480" y="2544"/>
              <a:ext cx="18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低位全加器进位输出</a:t>
              </a:r>
              <a:endParaRPr lang="zh-CN" altLang="en-US" sz="2400" b="1" dirty="0"/>
            </a:p>
          </p:txBody>
        </p:sp>
        <p:sp>
          <p:nvSpPr>
            <p:cNvPr id="21538" name="Line 15"/>
            <p:cNvSpPr/>
            <p:nvPr/>
          </p:nvSpPr>
          <p:spPr>
            <a:xfrm>
              <a:off x="1392" y="283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9" name="Text Box 16"/>
            <p:cNvSpPr txBox="1"/>
            <p:nvPr/>
          </p:nvSpPr>
          <p:spPr>
            <a:xfrm>
              <a:off x="518" y="2989"/>
              <a:ext cx="18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高位全加器进位输入</a:t>
              </a:r>
              <a:endParaRPr lang="zh-CN" altLang="en-US" sz="2400" b="1" dirty="0"/>
            </a:p>
          </p:txBody>
        </p:sp>
      </p:grpSp>
      <p:sp>
        <p:nvSpPr>
          <p:cNvPr id="32786" name="Text Box 18"/>
          <p:cNvSpPr txBox="1"/>
          <p:nvPr/>
        </p:nvSpPr>
        <p:spPr>
          <a:xfrm>
            <a:off x="2362200" y="5943600"/>
            <a:ext cx="18748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注意：</a:t>
            </a:r>
            <a:r>
              <a:rPr lang="en-US" altLang="zh-CN" sz="2400" b="1" dirty="0"/>
              <a:t>CI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=0</a:t>
            </a:r>
            <a:endParaRPr lang="en-US" altLang="zh-CN" sz="2400" dirty="0"/>
          </a:p>
        </p:txBody>
      </p:sp>
      <p:grpSp>
        <p:nvGrpSpPr>
          <p:cNvPr id="4" name="Group 33"/>
          <p:cNvGrpSpPr/>
          <p:nvPr/>
        </p:nvGrpSpPr>
        <p:grpSpPr>
          <a:xfrm>
            <a:off x="4343400" y="3733800"/>
            <a:ext cx="457200" cy="228600"/>
            <a:chOff x="2544" y="2400"/>
            <a:chExt cx="288" cy="144"/>
          </a:xfrm>
        </p:grpSpPr>
        <p:sp>
          <p:nvSpPr>
            <p:cNvPr id="21535" name="Line 21"/>
            <p:cNvSpPr/>
            <p:nvPr/>
          </p:nvSpPr>
          <p:spPr>
            <a:xfrm>
              <a:off x="2544" y="2400"/>
              <a:ext cx="288" cy="0"/>
            </a:xfrm>
            <a:prstGeom prst="line">
              <a:avLst/>
            </a:prstGeom>
            <a:ln w="317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6" name="Line 22"/>
            <p:cNvSpPr/>
            <p:nvPr/>
          </p:nvSpPr>
          <p:spPr>
            <a:xfrm>
              <a:off x="2832" y="2400"/>
              <a:ext cx="0" cy="144"/>
            </a:xfrm>
            <a:prstGeom prst="line">
              <a:avLst/>
            </a:prstGeom>
            <a:ln w="317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1516" name="Line 39"/>
          <p:cNvSpPr/>
          <p:nvPr/>
        </p:nvSpPr>
        <p:spPr>
          <a:xfrm>
            <a:off x="5257800" y="4267200"/>
            <a:ext cx="0" cy="0"/>
          </a:xfrm>
          <a:prstGeom prst="line">
            <a:avLst/>
          </a:prstGeom>
          <a:ln w="9525">
            <a:noFill/>
          </a:ln>
        </p:spPr>
      </p:sp>
      <p:grpSp>
        <p:nvGrpSpPr>
          <p:cNvPr id="5" name="Group 61"/>
          <p:cNvGrpSpPr/>
          <p:nvPr/>
        </p:nvGrpSpPr>
        <p:grpSpPr>
          <a:xfrm>
            <a:off x="5105400" y="3733800"/>
            <a:ext cx="838200" cy="1295400"/>
            <a:chOff x="3024" y="1872"/>
            <a:chExt cx="528" cy="816"/>
          </a:xfrm>
        </p:grpSpPr>
        <p:sp>
          <p:nvSpPr>
            <p:cNvPr id="21530" name="Line 36"/>
            <p:cNvSpPr/>
            <p:nvPr/>
          </p:nvSpPr>
          <p:spPr>
            <a:xfrm>
              <a:off x="3024" y="2544"/>
              <a:ext cx="0" cy="144"/>
            </a:xfrm>
            <a:prstGeom prst="line">
              <a:avLst/>
            </a:prstGeom>
            <a:ln w="317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1" name="Line 40"/>
            <p:cNvSpPr/>
            <p:nvPr/>
          </p:nvSpPr>
          <p:spPr>
            <a:xfrm flipV="1">
              <a:off x="3312" y="1872"/>
              <a:ext cx="0" cy="816"/>
            </a:xfrm>
            <a:prstGeom prst="line">
              <a:avLst/>
            </a:prstGeom>
            <a:ln w="317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2" name="Line 41"/>
            <p:cNvSpPr/>
            <p:nvPr/>
          </p:nvSpPr>
          <p:spPr>
            <a:xfrm>
              <a:off x="3312" y="1872"/>
              <a:ext cx="240" cy="0"/>
            </a:xfrm>
            <a:prstGeom prst="line">
              <a:avLst/>
            </a:prstGeom>
            <a:ln w="317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3" name="Line 42"/>
            <p:cNvSpPr/>
            <p:nvPr/>
          </p:nvSpPr>
          <p:spPr>
            <a:xfrm>
              <a:off x="3552" y="1872"/>
              <a:ext cx="0" cy="192"/>
            </a:xfrm>
            <a:prstGeom prst="line">
              <a:avLst/>
            </a:prstGeom>
            <a:ln w="317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4" name="Line 56"/>
            <p:cNvSpPr/>
            <p:nvPr/>
          </p:nvSpPr>
          <p:spPr>
            <a:xfrm flipH="1">
              <a:off x="3024" y="2688"/>
              <a:ext cx="288" cy="0"/>
            </a:xfrm>
            <a:prstGeom prst="line">
              <a:avLst/>
            </a:prstGeom>
            <a:ln w="317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" name="Group 60"/>
          <p:cNvGrpSpPr/>
          <p:nvPr/>
        </p:nvGrpSpPr>
        <p:grpSpPr>
          <a:xfrm>
            <a:off x="6324600" y="3810000"/>
            <a:ext cx="838200" cy="1295400"/>
            <a:chOff x="3792" y="1920"/>
            <a:chExt cx="528" cy="816"/>
          </a:xfrm>
        </p:grpSpPr>
        <p:sp>
          <p:nvSpPr>
            <p:cNvPr id="21525" name="Line 44"/>
            <p:cNvSpPr/>
            <p:nvPr/>
          </p:nvSpPr>
          <p:spPr>
            <a:xfrm>
              <a:off x="3792" y="2592"/>
              <a:ext cx="0" cy="96"/>
            </a:xfrm>
            <a:prstGeom prst="line">
              <a:avLst/>
            </a:prstGeom>
            <a:ln w="317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6" name="Line 46"/>
            <p:cNvSpPr/>
            <p:nvPr/>
          </p:nvSpPr>
          <p:spPr>
            <a:xfrm>
              <a:off x="4032" y="1920"/>
              <a:ext cx="0" cy="816"/>
            </a:xfrm>
            <a:prstGeom prst="line">
              <a:avLst/>
            </a:prstGeom>
            <a:ln w="317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7" name="Line 47"/>
            <p:cNvSpPr/>
            <p:nvPr/>
          </p:nvSpPr>
          <p:spPr>
            <a:xfrm>
              <a:off x="4032" y="1920"/>
              <a:ext cx="288" cy="0"/>
            </a:xfrm>
            <a:prstGeom prst="line">
              <a:avLst/>
            </a:prstGeom>
            <a:ln w="317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8" name="Line 48"/>
            <p:cNvSpPr/>
            <p:nvPr/>
          </p:nvSpPr>
          <p:spPr>
            <a:xfrm>
              <a:off x="4320" y="1920"/>
              <a:ext cx="0" cy="144"/>
            </a:xfrm>
            <a:prstGeom prst="line">
              <a:avLst/>
            </a:prstGeom>
            <a:ln w="317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9" name="Line 57"/>
            <p:cNvSpPr/>
            <p:nvPr/>
          </p:nvSpPr>
          <p:spPr>
            <a:xfrm flipH="1">
              <a:off x="3792" y="2688"/>
              <a:ext cx="240" cy="0"/>
            </a:xfrm>
            <a:prstGeom prst="line">
              <a:avLst/>
            </a:prstGeom>
            <a:ln w="317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" name="Group 62"/>
          <p:cNvGrpSpPr/>
          <p:nvPr/>
        </p:nvGrpSpPr>
        <p:grpSpPr>
          <a:xfrm>
            <a:off x="7467600" y="3810000"/>
            <a:ext cx="838200" cy="1295400"/>
            <a:chOff x="4512" y="1920"/>
            <a:chExt cx="528" cy="816"/>
          </a:xfrm>
        </p:grpSpPr>
        <p:sp>
          <p:nvSpPr>
            <p:cNvPr id="21520" name="Line 51"/>
            <p:cNvSpPr/>
            <p:nvPr/>
          </p:nvSpPr>
          <p:spPr>
            <a:xfrm>
              <a:off x="4512" y="2544"/>
              <a:ext cx="0" cy="144"/>
            </a:xfrm>
            <a:prstGeom prst="line">
              <a:avLst/>
            </a:prstGeom>
            <a:ln w="317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1" name="Line 53"/>
            <p:cNvSpPr/>
            <p:nvPr/>
          </p:nvSpPr>
          <p:spPr>
            <a:xfrm flipV="1">
              <a:off x="4752" y="1920"/>
              <a:ext cx="0" cy="816"/>
            </a:xfrm>
            <a:prstGeom prst="line">
              <a:avLst/>
            </a:prstGeom>
            <a:ln w="317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2" name="Line 54"/>
            <p:cNvSpPr/>
            <p:nvPr/>
          </p:nvSpPr>
          <p:spPr>
            <a:xfrm>
              <a:off x="4752" y="1920"/>
              <a:ext cx="288" cy="0"/>
            </a:xfrm>
            <a:prstGeom prst="line">
              <a:avLst/>
            </a:prstGeom>
            <a:ln w="317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3" name="Line 55"/>
            <p:cNvSpPr/>
            <p:nvPr/>
          </p:nvSpPr>
          <p:spPr>
            <a:xfrm>
              <a:off x="5040" y="1920"/>
              <a:ext cx="0" cy="144"/>
            </a:xfrm>
            <a:prstGeom prst="line">
              <a:avLst/>
            </a:prstGeom>
            <a:ln w="317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4" name="Line 58"/>
            <p:cNvSpPr/>
            <p:nvPr/>
          </p:nvSpPr>
          <p:spPr>
            <a:xfrm flipH="1">
              <a:off x="4512" y="2736"/>
              <a:ext cx="240" cy="0"/>
            </a:xfrm>
            <a:prstGeom prst="line">
              <a:avLst/>
            </a:prstGeom>
            <a:ln w="317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/>
      <p:bldP spid="32776" grpId="0"/>
      <p:bldP spid="32777" grpId="0"/>
      <p:bldP spid="32778" grpId="0"/>
      <p:bldP spid="32779" grpId="0"/>
      <p:bldP spid="3278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ext Box 4"/>
          <p:cNvSpPr txBox="1"/>
          <p:nvPr/>
        </p:nvSpPr>
        <p:spPr>
          <a:xfrm>
            <a:off x="642938" y="642938"/>
            <a:ext cx="7924800" cy="2419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4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  </a:t>
            </a:r>
            <a:r>
              <a:rPr lang="zh-CN" altLang="en-US" sz="2400" b="1" dirty="0">
                <a:latin typeface="宋体" panose="02010600030101010101" pitchFamily="2" charset="-122"/>
              </a:rPr>
              <a:t>超前进位是一种产生快速进位的集成电路。根据全加器进位信号 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45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                                               令</a:t>
            </a:r>
            <a:r>
              <a:rPr lang="en-US" altLang="zh-CN" sz="2400" b="1" i="1" dirty="0">
                <a:latin typeface="宋体" panose="02010600030101010101" pitchFamily="2" charset="-122"/>
              </a:rPr>
              <a:t>G</a:t>
            </a:r>
            <a:r>
              <a:rPr lang="en-US" altLang="zh-CN" sz="2400" b="1" i="1" baseline="-25000" dirty="0">
                <a:latin typeface="宋体" panose="02010600030101010101" pitchFamily="2" charset="-122"/>
              </a:rPr>
              <a:t>i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en-US" altLang="zh-CN" sz="2400" b="1" i="1" dirty="0">
                <a:latin typeface="宋体" panose="02010600030101010101" pitchFamily="2" charset="-122"/>
              </a:rPr>
              <a:t>A</a:t>
            </a:r>
            <a:r>
              <a:rPr lang="en-US" altLang="zh-CN" sz="2400" b="1" i="1" baseline="-25000" dirty="0">
                <a:latin typeface="宋体" panose="02010600030101010101" pitchFamily="2" charset="-122"/>
              </a:rPr>
              <a:t>i</a:t>
            </a:r>
            <a:r>
              <a:rPr lang="en-US" altLang="zh-CN" sz="2400" b="1" i="1" dirty="0">
                <a:latin typeface="宋体" panose="02010600030101010101" pitchFamily="2" charset="-122"/>
              </a:rPr>
              <a:t>B</a:t>
            </a:r>
            <a:r>
              <a:rPr lang="en-US" altLang="zh-CN" sz="2400" b="1" i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， </a:t>
            </a:r>
            <a:r>
              <a:rPr lang="en-US" altLang="zh-CN" sz="2400" b="1" i="1" dirty="0">
                <a:latin typeface="宋体" panose="02010600030101010101" pitchFamily="2" charset="-122"/>
              </a:rPr>
              <a:t>Pi=Ai + Bi</a:t>
            </a:r>
            <a:r>
              <a:rPr lang="zh-CN" altLang="en-US" sz="2400" b="1" i="1" dirty="0">
                <a:latin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宋体" panose="02010600030101010101" pitchFamily="2" charset="-122"/>
              </a:rPr>
              <a:t>则可以得出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22531" name="Text Box 1028"/>
          <p:cNvSpPr txBox="1"/>
          <p:nvPr/>
        </p:nvSpPr>
        <p:spPr>
          <a:xfrm>
            <a:off x="428625" y="285750"/>
            <a:ext cx="30956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）超前进位加法器</a:t>
            </a:r>
            <a:endParaRPr lang="zh-CN" altLang="en-US" sz="2400" b="1" dirty="0"/>
          </a:p>
        </p:txBody>
      </p:sp>
      <p:sp>
        <p:nvSpPr>
          <p:cNvPr id="22532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22533" name="Object 4"/>
          <p:cNvGraphicFramePr>
            <a:graphicFrameLocks noChangeAspect="1"/>
          </p:cNvGraphicFramePr>
          <p:nvPr/>
        </p:nvGraphicFramePr>
        <p:xfrm>
          <a:off x="617538" y="3213100"/>
          <a:ext cx="7975600" cy="259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3619500" imgH="1181100" progId="Equation.DSMT4">
                  <p:embed/>
                </p:oleObj>
              </mc:Choice>
              <mc:Fallback>
                <p:oleObj name="" r:id="rId1" imgW="3619500" imgH="11811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7538" y="3213100"/>
                        <a:ext cx="7975600" cy="2598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5959475" y="1931988"/>
          <a:ext cx="2608263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1168400" imgH="228600" progId="Equation.DSMT4">
                  <p:embed/>
                </p:oleObj>
              </mc:Choice>
              <mc:Fallback>
                <p:oleObj name="" r:id="rId3" imgW="1168400" imgH="2286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59475" y="1931988"/>
                        <a:ext cx="2608263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536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263" y="1895475"/>
            <a:ext cx="5216525" cy="482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5232" name="Object 1024"/>
          <p:cNvGraphicFramePr>
            <a:graphicFrameLocks noChangeAspect="1"/>
          </p:cNvGraphicFramePr>
          <p:nvPr/>
        </p:nvGraphicFramePr>
        <p:xfrm>
          <a:off x="228600" y="1752600"/>
          <a:ext cx="8382000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6991350" imgH="2819400" progId="Paint.Picture">
                  <p:embed/>
                </p:oleObj>
              </mc:Choice>
              <mc:Fallback>
                <p:oleObj name="" r:id="rId1" imgW="6991350" imgH="2819400" progId="Paint.Picture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" y="1752600"/>
                        <a:ext cx="8382000" cy="480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" name="Text Box 1029"/>
          <p:cNvSpPr txBox="1"/>
          <p:nvPr/>
        </p:nvSpPr>
        <p:spPr>
          <a:xfrm>
            <a:off x="685800" y="1219200"/>
            <a:ext cx="73945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进位位直接由加数、被加数和最低位进位位</a:t>
            </a:r>
            <a:r>
              <a:rPr lang="en-US" altLang="zh-CN" sz="2400" b="1" dirty="0"/>
              <a:t>CI</a:t>
            </a:r>
            <a:r>
              <a:rPr lang="en-US" altLang="zh-CN" sz="2400" b="1" baseline="-25000" dirty="0"/>
              <a:t>0</a:t>
            </a:r>
            <a:r>
              <a:rPr lang="zh-CN" altLang="en-US" sz="2400" b="1" dirty="0"/>
              <a:t>形成。</a:t>
            </a:r>
            <a:endParaRPr lang="zh-CN" altLang="en-US" sz="2400" b="1" dirty="0"/>
          </a:p>
        </p:txBody>
      </p:sp>
      <p:sp>
        <p:nvSpPr>
          <p:cNvPr id="53254" name="Rectangle 1030"/>
          <p:cNvSpPr/>
          <p:nvPr/>
        </p:nvSpPr>
        <p:spPr>
          <a:xfrm>
            <a:off x="990600" y="1752600"/>
            <a:ext cx="1905000" cy="2057400"/>
          </a:xfrm>
          <a:prstGeom prst="rect">
            <a:avLst/>
          </a:prstGeom>
          <a:noFill/>
          <a:ln w="571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3" grpId="0"/>
      <p:bldP spid="5325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6256" name="Object 0"/>
          <p:cNvGraphicFramePr>
            <a:graphicFrameLocks noChangeAspect="1"/>
          </p:cNvGraphicFramePr>
          <p:nvPr/>
        </p:nvGraphicFramePr>
        <p:xfrm>
          <a:off x="4648200" y="0"/>
          <a:ext cx="4038600" cy="343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2114550" imgH="2247900" progId="Paint.Picture">
                  <p:embed/>
                </p:oleObj>
              </mc:Choice>
              <mc:Fallback>
                <p:oleObj name="" r:id="rId1" imgW="2114550" imgH="2247900" progId="Paint.Picture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48200" y="0"/>
                        <a:ext cx="4038600" cy="3436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Text Box 3"/>
          <p:cNvSpPr txBox="1"/>
          <p:nvPr/>
        </p:nvSpPr>
        <p:spPr>
          <a:xfrm>
            <a:off x="304800" y="2438400"/>
            <a:ext cx="29432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（二）加法器的应用</a:t>
            </a:r>
            <a:endParaRPr lang="zh-CN" altLang="en-US" sz="2400" b="1" dirty="0"/>
          </a:p>
        </p:txBody>
      </p:sp>
      <p:sp>
        <p:nvSpPr>
          <p:cNvPr id="31748" name="Text Box 4"/>
          <p:cNvSpPr txBox="1"/>
          <p:nvPr/>
        </p:nvSpPr>
        <p:spPr>
          <a:xfrm>
            <a:off x="457200" y="3200400"/>
            <a:ext cx="4953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6</a:t>
            </a:r>
            <a:r>
              <a:rPr lang="zh-CN" altLang="en-US" sz="2400" b="1" dirty="0"/>
              <a:t>：试用四位加法器实现</a:t>
            </a:r>
            <a:r>
              <a:rPr lang="en-US" altLang="zh-CN" sz="2400" b="1" dirty="0"/>
              <a:t>8421BCD</a:t>
            </a:r>
            <a:r>
              <a:rPr lang="zh-CN" altLang="en-US" sz="2400" b="1" dirty="0"/>
              <a:t>码至余</a:t>
            </a:r>
            <a:r>
              <a:rPr lang="en-US" altLang="zh-CN" sz="2400" b="1" dirty="0"/>
              <a:t>3BCD</a:t>
            </a:r>
            <a:r>
              <a:rPr lang="zh-CN" altLang="en-US" sz="2400" b="1" dirty="0"/>
              <a:t>码的转换。</a:t>
            </a:r>
            <a:endParaRPr lang="zh-CN" altLang="en-US" sz="2400" b="1" dirty="0"/>
          </a:p>
        </p:txBody>
      </p:sp>
      <p:sp>
        <p:nvSpPr>
          <p:cNvPr id="24581" name="Text Box 5"/>
          <p:cNvSpPr txBox="1"/>
          <p:nvPr/>
        </p:nvSpPr>
        <p:spPr>
          <a:xfrm>
            <a:off x="685800" y="990600"/>
            <a:ext cx="26416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加法器的逻辑符号</a:t>
            </a:r>
            <a:endParaRPr lang="zh-CN" altLang="en-US" sz="2400" b="1" dirty="0"/>
          </a:p>
        </p:txBody>
      </p:sp>
      <p:sp>
        <p:nvSpPr>
          <p:cNvPr id="31750" name="Text Box 6"/>
          <p:cNvSpPr txBox="1"/>
          <p:nvPr/>
        </p:nvSpPr>
        <p:spPr>
          <a:xfrm>
            <a:off x="685800" y="3276600"/>
            <a:ext cx="65516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N</a:t>
            </a:r>
            <a:r>
              <a:rPr lang="zh-CN" altLang="en-US" sz="2400" b="1" dirty="0"/>
              <a:t>位加法运算、代码转换、减法器、十进制加法</a:t>
            </a:r>
            <a:endParaRPr lang="zh-CN" altLang="en-US" sz="2400" b="1" dirty="0"/>
          </a:p>
        </p:txBody>
      </p:sp>
      <p:graphicFrame>
        <p:nvGraphicFramePr>
          <p:cNvPr id="96257" name="Object 1"/>
          <p:cNvGraphicFramePr>
            <a:graphicFrameLocks noChangeAspect="1"/>
          </p:cNvGraphicFramePr>
          <p:nvPr/>
        </p:nvGraphicFramePr>
        <p:xfrm>
          <a:off x="4953000" y="3733800"/>
          <a:ext cx="41910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3" imgW="2686050" imgH="1895475" progId="Paint.Picture">
                  <p:embed/>
                </p:oleObj>
              </mc:Choice>
              <mc:Fallback>
                <p:oleObj name="" r:id="rId3" imgW="2686050" imgH="1895475" progId="Paint.Picture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3000" y="3733800"/>
                        <a:ext cx="4191000" cy="3124200"/>
                      </a:xfrm>
                      <a:prstGeom prst="rect">
                        <a:avLst/>
                      </a:prstGeom>
                      <a:noFill/>
                      <a:ln w="57150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4" name="Text Box 10"/>
          <p:cNvSpPr txBox="1"/>
          <p:nvPr/>
        </p:nvSpPr>
        <p:spPr>
          <a:xfrm>
            <a:off x="454025" y="4191000"/>
            <a:ext cx="44735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解：余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码比</a:t>
            </a:r>
            <a:r>
              <a:rPr lang="en-US" altLang="zh-CN" sz="2400" b="1" dirty="0">
                <a:latin typeface="宋体" panose="02010600030101010101" pitchFamily="2" charset="-122"/>
              </a:rPr>
              <a:t>8421</a:t>
            </a:r>
            <a:r>
              <a:rPr lang="zh-CN" altLang="en-US" sz="2400" b="1" dirty="0">
                <a:latin typeface="宋体" panose="02010600030101010101" pitchFamily="2" charset="-122"/>
              </a:rPr>
              <a:t>码多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，因此：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1755" name="Text Box 11"/>
          <p:cNvSpPr txBox="1"/>
          <p:nvPr/>
        </p:nvSpPr>
        <p:spPr>
          <a:xfrm>
            <a:off x="609600" y="4800600"/>
            <a:ext cx="2082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3</a:t>
            </a:r>
            <a:r>
              <a:rPr lang="en-US" altLang="zh-CN" sz="2400" b="1" dirty="0">
                <a:latin typeface="宋体" panose="02010600030101010101" pitchFamily="2" charset="-122"/>
              </a:rPr>
              <a:t>-A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：</a:t>
            </a:r>
            <a:r>
              <a:rPr lang="en-US" altLang="zh-CN" sz="2400" b="1" dirty="0">
                <a:latin typeface="宋体" panose="02010600030101010101" pitchFamily="2" charset="-122"/>
              </a:rPr>
              <a:t>8421</a:t>
            </a:r>
            <a:r>
              <a:rPr lang="zh-CN" altLang="en-US" sz="2400" b="1" dirty="0">
                <a:latin typeface="宋体" panose="02010600030101010101" pitchFamily="2" charset="-122"/>
              </a:rPr>
              <a:t>码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23"/>
          <p:cNvGrpSpPr/>
          <p:nvPr/>
        </p:nvGrpSpPr>
        <p:grpSpPr>
          <a:xfrm>
            <a:off x="4365625" y="457200"/>
            <a:ext cx="1120775" cy="609600"/>
            <a:chOff x="2750" y="288"/>
            <a:chExt cx="706" cy="384"/>
          </a:xfrm>
        </p:grpSpPr>
        <p:sp>
          <p:nvSpPr>
            <p:cNvPr id="24604" name="AutoShape 12"/>
            <p:cNvSpPr/>
            <p:nvPr/>
          </p:nvSpPr>
          <p:spPr>
            <a:xfrm>
              <a:off x="3360" y="288"/>
              <a:ext cx="96" cy="384"/>
            </a:xfrm>
            <a:prstGeom prst="leftBrace">
              <a:avLst>
                <a:gd name="adj1" fmla="val 33333"/>
                <a:gd name="adj2" fmla="val 50000"/>
              </a:avLst>
            </a:prstGeom>
            <a:solidFill>
              <a:srgbClr val="FFFF66"/>
            </a:solidFill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4605" name="Text Box 15"/>
            <p:cNvSpPr txBox="1"/>
            <p:nvPr/>
          </p:nvSpPr>
          <p:spPr>
            <a:xfrm>
              <a:off x="2750" y="324"/>
              <a:ext cx="528" cy="312"/>
            </a:xfrm>
            <a:prstGeom prst="rect">
              <a:avLst/>
            </a:prstGeom>
            <a:solidFill>
              <a:srgbClr val="FFFF66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加数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" name="Group 24"/>
          <p:cNvGrpSpPr/>
          <p:nvPr/>
        </p:nvGrpSpPr>
        <p:grpSpPr>
          <a:xfrm>
            <a:off x="4059238" y="1143000"/>
            <a:ext cx="1427162" cy="609600"/>
            <a:chOff x="2557" y="720"/>
            <a:chExt cx="899" cy="384"/>
          </a:xfrm>
        </p:grpSpPr>
        <p:sp>
          <p:nvSpPr>
            <p:cNvPr id="24602" name="AutoShape 13"/>
            <p:cNvSpPr/>
            <p:nvPr/>
          </p:nvSpPr>
          <p:spPr>
            <a:xfrm>
              <a:off x="3312" y="720"/>
              <a:ext cx="144" cy="384"/>
            </a:xfrm>
            <a:prstGeom prst="leftBrace">
              <a:avLst>
                <a:gd name="adj1" fmla="val 22222"/>
                <a:gd name="adj2" fmla="val 50000"/>
              </a:avLst>
            </a:prstGeom>
            <a:solidFill>
              <a:srgbClr val="FFFF66"/>
            </a:solidFill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4603" name="Text Box 16"/>
            <p:cNvSpPr txBox="1"/>
            <p:nvPr/>
          </p:nvSpPr>
          <p:spPr>
            <a:xfrm>
              <a:off x="2557" y="756"/>
              <a:ext cx="722" cy="312"/>
            </a:xfrm>
            <a:prstGeom prst="rect">
              <a:avLst/>
            </a:prstGeom>
            <a:solidFill>
              <a:srgbClr val="FFFF66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被加数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" name="Group 27"/>
          <p:cNvGrpSpPr/>
          <p:nvPr/>
        </p:nvGrpSpPr>
        <p:grpSpPr>
          <a:xfrm>
            <a:off x="7620000" y="1219200"/>
            <a:ext cx="814388" cy="685800"/>
            <a:chOff x="4800" y="768"/>
            <a:chExt cx="513" cy="432"/>
          </a:xfrm>
        </p:grpSpPr>
        <p:sp>
          <p:nvSpPr>
            <p:cNvPr id="24600" name="AutoShape 14"/>
            <p:cNvSpPr/>
            <p:nvPr/>
          </p:nvSpPr>
          <p:spPr>
            <a:xfrm>
              <a:off x="4800" y="768"/>
              <a:ext cx="96" cy="432"/>
            </a:xfrm>
            <a:prstGeom prst="rightBrace">
              <a:avLst>
                <a:gd name="adj1" fmla="val 37500"/>
                <a:gd name="adj2" fmla="val 55556"/>
              </a:avLst>
            </a:prstGeom>
            <a:solidFill>
              <a:srgbClr val="FFFF66"/>
            </a:solidFill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4601" name="Text Box 17"/>
            <p:cNvSpPr txBox="1"/>
            <p:nvPr/>
          </p:nvSpPr>
          <p:spPr>
            <a:xfrm>
              <a:off x="4979" y="852"/>
              <a:ext cx="334" cy="312"/>
            </a:xfrm>
            <a:prstGeom prst="rect">
              <a:avLst/>
            </a:prstGeom>
            <a:solidFill>
              <a:srgbClr val="FFFF66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和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5" name="Group 25"/>
          <p:cNvGrpSpPr/>
          <p:nvPr/>
        </p:nvGrpSpPr>
        <p:grpSpPr>
          <a:xfrm>
            <a:off x="3835400" y="1662113"/>
            <a:ext cx="2108200" cy="495300"/>
            <a:chOff x="2416" y="1044"/>
            <a:chExt cx="1328" cy="312"/>
          </a:xfrm>
        </p:grpSpPr>
        <p:sp>
          <p:nvSpPr>
            <p:cNvPr id="24598" name="Text Box 19"/>
            <p:cNvSpPr txBox="1"/>
            <p:nvPr/>
          </p:nvSpPr>
          <p:spPr>
            <a:xfrm>
              <a:off x="2416" y="1044"/>
              <a:ext cx="908" cy="312"/>
            </a:xfrm>
            <a:prstGeom prst="rect">
              <a:avLst/>
            </a:prstGeom>
            <a:solidFill>
              <a:srgbClr val="FFFF66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低位进位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4599" name="Line 21"/>
            <p:cNvSpPr/>
            <p:nvPr/>
          </p:nvSpPr>
          <p:spPr>
            <a:xfrm>
              <a:off x="3600" y="1200"/>
              <a:ext cx="14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26"/>
          <p:cNvGrpSpPr/>
          <p:nvPr/>
        </p:nvGrpSpPr>
        <p:grpSpPr>
          <a:xfrm>
            <a:off x="7239000" y="514350"/>
            <a:ext cx="1238250" cy="495300"/>
            <a:chOff x="4560" y="324"/>
            <a:chExt cx="780" cy="312"/>
          </a:xfrm>
        </p:grpSpPr>
        <p:sp>
          <p:nvSpPr>
            <p:cNvPr id="24596" name="Text Box 18"/>
            <p:cNvSpPr txBox="1"/>
            <p:nvPr/>
          </p:nvSpPr>
          <p:spPr>
            <a:xfrm>
              <a:off x="4816" y="324"/>
              <a:ext cx="524" cy="312"/>
            </a:xfrm>
            <a:prstGeom prst="rect">
              <a:avLst/>
            </a:prstGeom>
            <a:solidFill>
              <a:srgbClr val="FFFF66"/>
            </a:soli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进位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4597" name="Line 22"/>
            <p:cNvSpPr/>
            <p:nvPr/>
          </p:nvSpPr>
          <p:spPr>
            <a:xfrm>
              <a:off x="4560" y="480"/>
              <a:ext cx="192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781" name="Line 37"/>
          <p:cNvSpPr/>
          <p:nvPr/>
        </p:nvSpPr>
        <p:spPr>
          <a:xfrm>
            <a:off x="2895600" y="5105400"/>
            <a:ext cx="3505200" cy="938213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31782" name="Line 38"/>
          <p:cNvSpPr/>
          <p:nvPr/>
        </p:nvSpPr>
        <p:spPr>
          <a:xfrm>
            <a:off x="3048000" y="5562600"/>
            <a:ext cx="4191000" cy="53340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83" name="Line 39"/>
          <p:cNvSpPr/>
          <p:nvPr/>
        </p:nvSpPr>
        <p:spPr>
          <a:xfrm>
            <a:off x="1752600" y="5943600"/>
            <a:ext cx="5791200" cy="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84" name="Text Box 40"/>
          <p:cNvSpPr txBox="1"/>
          <p:nvPr/>
        </p:nvSpPr>
        <p:spPr>
          <a:xfrm>
            <a:off x="654050" y="5181600"/>
            <a:ext cx="2546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3</a:t>
            </a:r>
            <a:r>
              <a:rPr lang="en-US" altLang="zh-CN" sz="2400" b="1" dirty="0">
                <a:latin typeface="宋体" panose="02010600030101010101" pitchFamily="2" charset="-122"/>
              </a:rPr>
              <a:t>-B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：</a:t>
            </a:r>
            <a:r>
              <a:rPr lang="en-US" altLang="zh-CN" sz="2400" b="1" dirty="0">
                <a:latin typeface="宋体" panose="02010600030101010101" pitchFamily="2" charset="-122"/>
              </a:rPr>
              <a:t>0011</a:t>
            </a: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）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1785" name="Text Box 41"/>
          <p:cNvSpPr txBox="1"/>
          <p:nvPr/>
        </p:nvSpPr>
        <p:spPr>
          <a:xfrm>
            <a:off x="609600" y="5638800"/>
            <a:ext cx="10556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CI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：</a:t>
            </a:r>
            <a:r>
              <a:rPr lang="en-US" altLang="zh-CN" sz="2400" b="1" dirty="0">
                <a:latin typeface="宋体" panose="02010600030101010101" pitchFamily="2" charset="-122"/>
              </a:rPr>
              <a:t>0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/>
      <p:bldP spid="31748" grpId="0"/>
      <p:bldP spid="31750" grpId="0"/>
      <p:bldP spid="31754" grpId="0"/>
      <p:bldP spid="31755" grpId="0"/>
      <p:bldP spid="31784" grpId="0"/>
      <p:bldP spid="3178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ext Box 5"/>
          <p:cNvSpPr txBox="1"/>
          <p:nvPr/>
        </p:nvSpPr>
        <p:spPr>
          <a:xfrm>
            <a:off x="212725" y="249238"/>
            <a:ext cx="23336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二、数值比较器</a:t>
            </a:r>
            <a:endParaRPr lang="zh-CN" altLang="en-US" sz="2400" b="1" dirty="0"/>
          </a:p>
        </p:txBody>
      </p:sp>
      <p:sp>
        <p:nvSpPr>
          <p:cNvPr id="16411" name="Rectangle 27"/>
          <p:cNvSpPr>
            <a:spLocks noChangeArrowheads="1"/>
          </p:cNvSpPr>
          <p:nvPr/>
        </p:nvSpPr>
        <p:spPr bwMode="auto">
          <a:xfrm>
            <a:off x="285750" y="1112838"/>
            <a:ext cx="8572500" cy="2678113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位数比较器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2762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两个进行比较的二进制数都是一位数，这就是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位比较器。用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表示输入信号，输出信号是比较的结果，显然有三种情况：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</a:t>
            </a:r>
            <a:r>
              <a:rPr kumimoji="1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，分别用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(A&lt;B)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表示，并约定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</a:t>
            </a:r>
            <a:r>
              <a:rPr kumimoji="1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</a:t>
            </a:r>
            <a:r>
              <a:rPr kumimoji="1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2762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根据以上约定，可列出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位比较器的真值表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2143125" y="4000500"/>
          <a:ext cx="5072063" cy="2571750"/>
        </p:xfrm>
        <a:graphic>
          <a:graphicData uri="http://schemas.openxmlformats.org/drawingml/2006/table">
            <a:tbl>
              <a:tblPr/>
              <a:tblGrid>
                <a:gridCol w="2014755"/>
                <a:gridCol w="3057308"/>
              </a:tblGrid>
              <a:tr h="4746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i="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输</a:t>
                      </a:r>
                      <a:r>
                        <a:rPr lang="en-US" sz="2000" b="1" i="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sz="2000" b="1" i="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入</a:t>
                      </a:r>
                      <a:endParaRPr lang="zh-CN" sz="2000" b="1" i="0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i="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输</a:t>
                      </a:r>
                      <a:r>
                        <a:rPr lang="en-US" sz="2000" b="1" i="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    </a:t>
                      </a:r>
                      <a:r>
                        <a:rPr lang="zh-CN" sz="2000" b="1" i="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出</a:t>
                      </a:r>
                      <a:endParaRPr lang="zh-CN" sz="2000" b="1" i="0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818">
                <a:tc>
                  <a:txBody>
                    <a:bodyPr/>
                    <a:lstStyle/>
                    <a:p>
                      <a:pPr indent="165735" algn="just">
                        <a:spcAft>
                          <a:spcPts val="0"/>
                        </a:spcAft>
                      </a:pPr>
                      <a:r>
                        <a:rPr lang="en-US" sz="2000" b="1" i="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sz="2000" b="1" i="0" kern="100" baseline="-25000">
                          <a:latin typeface="Times New Roman" panose="02020603050405020304"/>
                          <a:ea typeface="宋体" panose="02010600030101010101" pitchFamily="2" charset="-122"/>
                        </a:rPr>
                        <a:t>i            </a:t>
                      </a:r>
                      <a:r>
                        <a:rPr lang="en-US" sz="2000" b="1" i="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sz="2000" b="1" i="0" kern="100" baseline="-25000">
                          <a:latin typeface="Times New Roman" panose="02020603050405020304"/>
                          <a:ea typeface="宋体" panose="02010600030101010101" pitchFamily="2" charset="-122"/>
                        </a:rPr>
                        <a:t>i</a:t>
                      </a:r>
                      <a:endParaRPr lang="zh-CN" sz="2000" b="1" i="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55880" algn="just">
                        <a:spcAft>
                          <a:spcPts val="0"/>
                        </a:spcAft>
                      </a:pPr>
                      <a:r>
                        <a:rPr lang="en-US" sz="2000" b="1" i="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Y(A&gt;B)</a:t>
                      </a:r>
                      <a:r>
                        <a:rPr lang="en-US" sz="20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sz="2000" b="1" i="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Y(A&lt;B)   Y(A=B)</a:t>
                      </a:r>
                      <a:endParaRPr lang="zh-CN" sz="2000" b="1" i="0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1275">
                <a:tc>
                  <a:txBody>
                    <a:bodyPr/>
                    <a:lstStyle/>
                    <a:p>
                      <a:pPr indent="168275" algn="just">
                        <a:spcAft>
                          <a:spcPts val="0"/>
                        </a:spcAft>
                      </a:pPr>
                      <a:r>
                        <a:rPr lang="en-US" sz="2000" b="1" i="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0         0</a:t>
                      </a:r>
                      <a:endParaRPr lang="zh-CN" sz="2000" b="1" i="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indent="168275" algn="just">
                        <a:spcAft>
                          <a:spcPts val="0"/>
                        </a:spcAft>
                      </a:pPr>
                      <a:r>
                        <a:rPr lang="en-US" sz="2000" b="1" i="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0         1</a:t>
                      </a:r>
                      <a:endParaRPr lang="zh-CN" sz="2000" b="1" i="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indent="168275" algn="just">
                        <a:spcAft>
                          <a:spcPts val="0"/>
                        </a:spcAft>
                      </a:pPr>
                      <a:r>
                        <a:rPr lang="en-US" sz="2000" b="1" i="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1         0</a:t>
                      </a:r>
                      <a:endParaRPr lang="zh-CN" sz="2000" b="1" i="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indent="168275" algn="just">
                        <a:spcAft>
                          <a:spcPts val="0"/>
                        </a:spcAft>
                      </a:pPr>
                      <a:r>
                        <a:rPr lang="en-US" sz="2000" b="1" i="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1         1</a:t>
                      </a:r>
                      <a:endParaRPr lang="zh-CN" sz="2000" b="1" i="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68275" algn="just">
                        <a:spcAft>
                          <a:spcPts val="0"/>
                        </a:spcAft>
                      </a:pPr>
                      <a:r>
                        <a:rPr lang="en-US" sz="2000" b="1" i="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0                0             1</a:t>
                      </a:r>
                      <a:endParaRPr lang="zh-CN" sz="2000" b="1" i="0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indent="168275" algn="just">
                        <a:spcAft>
                          <a:spcPts val="0"/>
                        </a:spcAft>
                      </a:pPr>
                      <a:r>
                        <a:rPr lang="en-US" sz="2000" b="1" i="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0                1             0</a:t>
                      </a:r>
                      <a:endParaRPr lang="zh-CN" sz="2000" b="1" i="0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indent="168275" algn="just">
                        <a:spcAft>
                          <a:spcPts val="0"/>
                        </a:spcAft>
                      </a:pPr>
                      <a:r>
                        <a:rPr lang="en-US" sz="2000" b="1" i="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1                0             0</a:t>
                      </a:r>
                      <a:endParaRPr lang="zh-CN" sz="2000" b="1" i="0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indent="168275" algn="just">
                        <a:spcAft>
                          <a:spcPts val="0"/>
                        </a:spcAft>
                      </a:pPr>
                      <a:r>
                        <a:rPr lang="en-US" sz="2000" b="1" i="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0                0             1</a:t>
                      </a:r>
                      <a:endParaRPr lang="zh-CN" sz="2000" b="1" i="0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6626" name="Object 5"/>
          <p:cNvGraphicFramePr>
            <a:graphicFrameLocks noChangeAspect="1"/>
          </p:cNvGraphicFramePr>
          <p:nvPr/>
        </p:nvGraphicFramePr>
        <p:xfrm>
          <a:off x="928688" y="1000125"/>
          <a:ext cx="24765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989965" imgH="254000" progId="Equation.DSMT4">
                  <p:embed/>
                </p:oleObj>
              </mc:Choice>
              <mc:Fallback>
                <p:oleObj name="" r:id="rId1" imgW="989965" imgH="2540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28688" y="1000125"/>
                        <a:ext cx="2476500" cy="642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4"/>
          <p:cNvGraphicFramePr>
            <a:graphicFrameLocks noChangeAspect="1"/>
          </p:cNvGraphicFramePr>
          <p:nvPr/>
        </p:nvGraphicFramePr>
        <p:xfrm>
          <a:off x="785813" y="1643063"/>
          <a:ext cx="264636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3" imgW="951865" imgH="254000" progId="Equation.DSMT4">
                  <p:embed/>
                </p:oleObj>
              </mc:Choice>
              <mc:Fallback>
                <p:oleObj name="" r:id="rId3" imgW="951865" imgH="2540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5813" y="1643063"/>
                        <a:ext cx="2646362" cy="714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3"/>
          <p:cNvGraphicFramePr>
            <a:graphicFrameLocks noChangeAspect="1"/>
          </p:cNvGraphicFramePr>
          <p:nvPr/>
        </p:nvGraphicFramePr>
        <p:xfrm>
          <a:off x="642938" y="2357438"/>
          <a:ext cx="4738687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5" imgW="1892300" imgH="254000" progId="Equation.DSMT4">
                  <p:embed/>
                </p:oleObj>
              </mc:Choice>
              <mc:Fallback>
                <p:oleObj name="" r:id="rId5" imgW="1892300" imgH="2540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2938" y="2357438"/>
                        <a:ext cx="4738687" cy="642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2"/>
          <p:cNvGraphicFramePr>
            <a:graphicFrameLocks noChangeAspect="1"/>
          </p:cNvGraphicFramePr>
          <p:nvPr/>
        </p:nvGraphicFramePr>
        <p:xfrm>
          <a:off x="0" y="2143125"/>
          <a:ext cx="11430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7" imgW="114300" imgH="215900" progId="Equation.DSMT4">
                  <p:embed/>
                </p:oleObj>
              </mc:Choice>
              <mc:Fallback>
                <p:oleObj name="" r:id="rId7" imgW="114300" imgH="2159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0" y="2143125"/>
                        <a:ext cx="114300" cy="21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630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1625" y="3984625"/>
            <a:ext cx="5276850" cy="287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31" name="Rectangle 6"/>
          <p:cNvSpPr/>
          <p:nvPr/>
        </p:nvSpPr>
        <p:spPr>
          <a:xfrm>
            <a:off x="285750" y="285750"/>
            <a:ext cx="5722938" cy="83026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76225">
              <a:spcBef>
                <a:spcPct val="0"/>
              </a:spcBef>
              <a:buNone/>
            </a:pPr>
            <a:r>
              <a:rPr lang="zh-CN" altLang="zh-CN" sz="2400" b="1" dirty="0">
                <a:cs typeface="Times New Roman" panose="02020603050405020304" pitchFamily="18" charset="0"/>
              </a:rPr>
              <a:t>由真值表可得到输出信号的逻辑表达式</a:t>
            </a:r>
            <a:endParaRPr lang="zh-CN" altLang="zh-CN" sz="2400" b="1" dirty="0">
              <a:latin typeface="宋体" panose="02010600030101010101" pitchFamily="2" charset="-122"/>
            </a:endParaRPr>
          </a:p>
          <a:p>
            <a:pPr marL="0" lvl="0" indent="276225">
              <a:spcBef>
                <a:spcPct val="0"/>
              </a:spcBef>
              <a:buNone/>
            </a:pPr>
            <a:endParaRPr lang="zh-CN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26632" name="Rectangle 7"/>
          <p:cNvSpPr/>
          <p:nvPr/>
        </p:nvSpPr>
        <p:spPr>
          <a:xfrm>
            <a:off x="0" y="714375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26633" name="Rectangle 9"/>
          <p:cNvSpPr/>
          <p:nvPr/>
        </p:nvSpPr>
        <p:spPr>
          <a:xfrm>
            <a:off x="0" y="21431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26634" name="Rectangle 10"/>
          <p:cNvSpPr/>
          <p:nvPr/>
        </p:nvSpPr>
        <p:spPr>
          <a:xfrm>
            <a:off x="500063" y="3214688"/>
            <a:ext cx="3867150" cy="83026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76225">
              <a:spcBef>
                <a:spcPct val="0"/>
              </a:spcBef>
              <a:buNone/>
            </a:pPr>
            <a:r>
              <a:rPr lang="zh-CN" altLang="zh-CN" sz="2400" b="1" dirty="0">
                <a:cs typeface="Times New Roman" panose="02020603050405020304" pitchFamily="18" charset="0"/>
              </a:rPr>
              <a:t>根据表达式可画出</a:t>
            </a:r>
            <a:r>
              <a:rPr lang="zh-CN" altLang="en-US" sz="2400" b="1" dirty="0">
                <a:cs typeface="Times New Roman" panose="02020603050405020304" pitchFamily="18" charset="0"/>
              </a:rPr>
              <a:t>逻辑图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276225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6" name="Text Box 4"/>
          <p:cNvSpPr txBox="1"/>
          <p:nvPr/>
        </p:nvSpPr>
        <p:spPr>
          <a:xfrm>
            <a:off x="533400" y="4343400"/>
            <a:ext cx="7294563" cy="493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 b="1" dirty="0"/>
              <a:t> </a:t>
            </a:r>
            <a:r>
              <a:rPr lang="zh-CN" altLang="en-US" sz="2400" b="1" dirty="0"/>
              <a:t>输入 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0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&gt; B (b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b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b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b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：输出（</a:t>
            </a:r>
            <a:r>
              <a:rPr lang="en-US" altLang="zh-CN" sz="2400" b="1" dirty="0"/>
              <a:t>A &gt; B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= 1</a:t>
            </a:r>
            <a:endParaRPr lang="en-US" altLang="zh-CN" sz="2400" b="1" dirty="0"/>
          </a:p>
        </p:txBody>
      </p:sp>
      <p:sp>
        <p:nvSpPr>
          <p:cNvPr id="27651" name="Text Box 5"/>
          <p:cNvSpPr txBox="1"/>
          <p:nvPr/>
        </p:nvSpPr>
        <p:spPr>
          <a:xfrm>
            <a:off x="212725" y="249238"/>
            <a:ext cx="2351088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多位数值比较器</a:t>
            </a:r>
            <a:endParaRPr lang="zh-CN" altLang="en-US" sz="2400" b="1" dirty="0"/>
          </a:p>
        </p:txBody>
      </p:sp>
      <p:sp>
        <p:nvSpPr>
          <p:cNvPr id="33798" name="Text Box 6"/>
          <p:cNvSpPr txBox="1"/>
          <p:nvPr/>
        </p:nvSpPr>
        <p:spPr>
          <a:xfrm>
            <a:off x="457200" y="685800"/>
            <a:ext cx="84486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（一）功能：能对两个相同位数的二进制数进行比较的器件。</a:t>
            </a:r>
            <a:endParaRPr lang="zh-CN" altLang="en-US" sz="2400" b="1" dirty="0"/>
          </a:p>
        </p:txBody>
      </p:sp>
      <p:graphicFrame>
        <p:nvGraphicFramePr>
          <p:cNvPr id="97280" name="Object 1024"/>
          <p:cNvGraphicFramePr>
            <a:graphicFrameLocks noChangeAspect="1"/>
          </p:cNvGraphicFramePr>
          <p:nvPr/>
        </p:nvGraphicFramePr>
        <p:xfrm>
          <a:off x="6172200" y="1295400"/>
          <a:ext cx="26670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1857375" imgH="1981200" progId="Paint.Picture">
                  <p:embed/>
                </p:oleObj>
              </mc:Choice>
              <mc:Fallback>
                <p:oleObj name="" r:id="rId1" imgW="1857375" imgH="1981200" progId="Paint.Picture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72200" y="1295400"/>
                        <a:ext cx="2667000" cy="243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Text Box 7"/>
          <p:cNvSpPr txBox="1"/>
          <p:nvPr/>
        </p:nvSpPr>
        <p:spPr>
          <a:xfrm>
            <a:off x="457200" y="1239838"/>
            <a:ext cx="24606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）逻辑符号：</a:t>
            </a:r>
            <a:endParaRPr lang="zh-CN" altLang="en-US" sz="2400" b="1" dirty="0"/>
          </a:p>
        </p:txBody>
      </p:sp>
      <p:sp>
        <p:nvSpPr>
          <p:cNvPr id="33801" name="Text Box 9"/>
          <p:cNvSpPr txBox="1"/>
          <p:nvPr/>
        </p:nvSpPr>
        <p:spPr>
          <a:xfrm>
            <a:off x="609600" y="1555750"/>
            <a:ext cx="4995863" cy="5127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en-US" altLang="zh-CN" sz="2400" b="1" dirty="0"/>
              <a:t>  A</a:t>
            </a:r>
            <a:r>
              <a:rPr lang="zh-CN" altLang="en-US" sz="2400" b="1" dirty="0"/>
              <a:t>：四位二进制数输入（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为高位）</a:t>
            </a:r>
            <a:endParaRPr lang="zh-CN" altLang="en-US" sz="2400" b="1" dirty="0"/>
          </a:p>
        </p:txBody>
      </p:sp>
      <p:sp>
        <p:nvSpPr>
          <p:cNvPr id="33802" name="Text Box 10"/>
          <p:cNvSpPr txBox="1"/>
          <p:nvPr/>
        </p:nvSpPr>
        <p:spPr>
          <a:xfrm>
            <a:off x="685800" y="3352800"/>
            <a:ext cx="47402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A&gt;B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A&lt;B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A=B</a:t>
            </a:r>
            <a:r>
              <a:rPr lang="zh-CN" altLang="en-US" sz="2400" b="1" dirty="0"/>
              <a:t>：输出，高有效</a:t>
            </a:r>
            <a:endParaRPr lang="zh-CN" altLang="en-US" sz="2400" b="1" dirty="0"/>
          </a:p>
        </p:txBody>
      </p:sp>
      <p:sp>
        <p:nvSpPr>
          <p:cNvPr id="33803" name="Text Box 11"/>
          <p:cNvSpPr txBox="1"/>
          <p:nvPr/>
        </p:nvSpPr>
        <p:spPr>
          <a:xfrm>
            <a:off x="746125" y="2514600"/>
            <a:ext cx="4892675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a &gt; b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a &lt; b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a = b</a:t>
            </a:r>
            <a:r>
              <a:rPr lang="zh-CN" altLang="en-US" sz="2400" b="1" dirty="0"/>
              <a:t>：控制输入端，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高有效</a:t>
            </a:r>
            <a:endParaRPr lang="zh-CN" altLang="en-US" sz="2400" b="1" dirty="0"/>
          </a:p>
        </p:txBody>
      </p:sp>
      <p:sp>
        <p:nvSpPr>
          <p:cNvPr id="33807" name="Text Box 15"/>
          <p:cNvSpPr txBox="1"/>
          <p:nvPr/>
        </p:nvSpPr>
        <p:spPr>
          <a:xfrm>
            <a:off x="631825" y="3819525"/>
            <a:ext cx="2447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）逻辑功能：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3808" name="Text Box 16"/>
          <p:cNvSpPr txBox="1"/>
          <p:nvPr/>
        </p:nvSpPr>
        <p:spPr>
          <a:xfrm>
            <a:off x="723900" y="5943600"/>
            <a:ext cx="3848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（自己完成比较器功能表）</a:t>
            </a:r>
            <a:endParaRPr lang="zh-CN" altLang="en-US" sz="2400" b="1" dirty="0"/>
          </a:p>
        </p:txBody>
      </p:sp>
      <p:grpSp>
        <p:nvGrpSpPr>
          <p:cNvPr id="2" name="Group 28"/>
          <p:cNvGrpSpPr/>
          <p:nvPr/>
        </p:nvGrpSpPr>
        <p:grpSpPr>
          <a:xfrm>
            <a:off x="5410200" y="1676400"/>
            <a:ext cx="1143000" cy="533400"/>
            <a:chOff x="3408" y="1056"/>
            <a:chExt cx="720" cy="336"/>
          </a:xfrm>
        </p:grpSpPr>
        <p:sp>
          <p:nvSpPr>
            <p:cNvPr id="27673" name="AutoShape 17"/>
            <p:cNvSpPr/>
            <p:nvPr/>
          </p:nvSpPr>
          <p:spPr>
            <a:xfrm>
              <a:off x="4080" y="1056"/>
              <a:ext cx="48" cy="336"/>
            </a:xfrm>
            <a:prstGeom prst="leftBrace">
              <a:avLst>
                <a:gd name="adj1" fmla="val 58333"/>
                <a:gd name="adj2" fmla="val 50000"/>
              </a:avLst>
            </a:prstGeom>
            <a:noFill/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7674" name="Line 22"/>
            <p:cNvSpPr/>
            <p:nvPr/>
          </p:nvSpPr>
          <p:spPr>
            <a:xfrm>
              <a:off x="3408" y="1152"/>
              <a:ext cx="624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" name="Group 30"/>
          <p:cNvGrpSpPr/>
          <p:nvPr/>
        </p:nvGrpSpPr>
        <p:grpSpPr>
          <a:xfrm>
            <a:off x="5410200" y="2209800"/>
            <a:ext cx="1143000" cy="1295400"/>
            <a:chOff x="3408" y="1392"/>
            <a:chExt cx="720" cy="816"/>
          </a:xfrm>
        </p:grpSpPr>
        <p:sp>
          <p:nvSpPr>
            <p:cNvPr id="27671" name="AutoShape 19"/>
            <p:cNvSpPr/>
            <p:nvPr/>
          </p:nvSpPr>
          <p:spPr>
            <a:xfrm>
              <a:off x="4080" y="1824"/>
              <a:ext cx="48" cy="384"/>
            </a:xfrm>
            <a:prstGeom prst="leftBrace">
              <a:avLst>
                <a:gd name="adj1" fmla="val 66666"/>
                <a:gd name="adj2" fmla="val 50000"/>
              </a:avLst>
            </a:prstGeom>
            <a:noFill/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7672" name="Line 23"/>
            <p:cNvSpPr/>
            <p:nvPr/>
          </p:nvSpPr>
          <p:spPr>
            <a:xfrm>
              <a:off x="3408" y="1392"/>
              <a:ext cx="576" cy="576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3819" name="Text Box 27"/>
          <p:cNvSpPr txBox="1"/>
          <p:nvPr/>
        </p:nvSpPr>
        <p:spPr>
          <a:xfrm>
            <a:off x="736600" y="2057400"/>
            <a:ext cx="4826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B</a:t>
            </a:r>
            <a:r>
              <a:rPr lang="zh-CN" altLang="en-US" sz="2400" b="1" dirty="0"/>
              <a:t>：四位二进制数输入（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为高位）</a:t>
            </a:r>
            <a:endParaRPr lang="zh-CN" altLang="en-US" sz="2400" b="1" dirty="0"/>
          </a:p>
        </p:txBody>
      </p:sp>
      <p:grpSp>
        <p:nvGrpSpPr>
          <p:cNvPr id="4" name="Group 35"/>
          <p:cNvGrpSpPr/>
          <p:nvPr/>
        </p:nvGrpSpPr>
        <p:grpSpPr>
          <a:xfrm>
            <a:off x="5410200" y="2362200"/>
            <a:ext cx="1143000" cy="685800"/>
            <a:chOff x="3408" y="1488"/>
            <a:chExt cx="720" cy="432"/>
          </a:xfrm>
        </p:grpSpPr>
        <p:sp>
          <p:nvSpPr>
            <p:cNvPr id="27669" name="AutoShape 18"/>
            <p:cNvSpPr/>
            <p:nvPr/>
          </p:nvSpPr>
          <p:spPr>
            <a:xfrm>
              <a:off x="4080" y="1488"/>
              <a:ext cx="48" cy="288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7670" name="Line 33"/>
            <p:cNvSpPr/>
            <p:nvPr/>
          </p:nvSpPr>
          <p:spPr>
            <a:xfrm flipV="1">
              <a:off x="3408" y="1632"/>
              <a:ext cx="576" cy="288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" name="Group 36"/>
          <p:cNvGrpSpPr/>
          <p:nvPr/>
        </p:nvGrpSpPr>
        <p:grpSpPr>
          <a:xfrm>
            <a:off x="5486400" y="2209800"/>
            <a:ext cx="3352800" cy="1371600"/>
            <a:chOff x="3456" y="1392"/>
            <a:chExt cx="2112" cy="864"/>
          </a:xfrm>
        </p:grpSpPr>
        <p:sp>
          <p:nvSpPr>
            <p:cNvPr id="27667" name="AutoShape 20"/>
            <p:cNvSpPr/>
            <p:nvPr/>
          </p:nvSpPr>
          <p:spPr>
            <a:xfrm>
              <a:off x="5520" y="1392"/>
              <a:ext cx="48" cy="576"/>
            </a:xfrm>
            <a:prstGeom prst="rightBrace">
              <a:avLst>
                <a:gd name="adj1" fmla="val 100000"/>
                <a:gd name="adj2" fmla="val 47917"/>
              </a:avLst>
            </a:prstGeom>
            <a:noFill/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27668" name="Line 34"/>
            <p:cNvSpPr/>
            <p:nvPr/>
          </p:nvSpPr>
          <p:spPr>
            <a:xfrm flipV="1">
              <a:off x="3456" y="1680"/>
              <a:ext cx="2016" cy="576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3829" name="Text Box 37"/>
          <p:cNvSpPr txBox="1"/>
          <p:nvPr/>
        </p:nvSpPr>
        <p:spPr>
          <a:xfrm>
            <a:off x="1252538" y="4800600"/>
            <a:ext cx="6596062" cy="493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 b="1" dirty="0"/>
              <a:t>A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0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&lt; B (b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b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b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b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：         （</a:t>
            </a:r>
            <a:r>
              <a:rPr lang="en-US" altLang="zh-CN" sz="2400" b="1" dirty="0"/>
              <a:t>A &lt; B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= 1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33830" name="Text Box 38"/>
          <p:cNvSpPr txBox="1"/>
          <p:nvPr/>
        </p:nvSpPr>
        <p:spPr>
          <a:xfrm>
            <a:off x="1228725" y="5334000"/>
            <a:ext cx="7143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A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0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= B (b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b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b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b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：           由控制输入决定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/>
      <p:bldP spid="33798" grpId="0"/>
      <p:bldP spid="33799" grpId="0"/>
      <p:bldP spid="33801" grpId="0"/>
      <p:bldP spid="33802" grpId="0"/>
      <p:bldP spid="33803" grpId="0"/>
      <p:bldP spid="33807" grpId="0"/>
      <p:bldP spid="33808" grpId="0"/>
      <p:bldP spid="33819" grpId="0"/>
      <p:bldP spid="33829" grpId="0"/>
      <p:bldP spid="3383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8304" name="Object 1024"/>
          <p:cNvGraphicFramePr>
            <a:graphicFrameLocks noChangeAspect="1"/>
          </p:cNvGraphicFramePr>
          <p:nvPr/>
        </p:nvGraphicFramePr>
        <p:xfrm>
          <a:off x="4572000" y="381000"/>
          <a:ext cx="44958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" imgW="4000500" imgH="2381250" progId="Paint.Picture">
                  <p:embed/>
                </p:oleObj>
              </mc:Choice>
              <mc:Fallback>
                <p:oleObj name="" r:id="rId1" imgW="4000500" imgH="2381250" progId="Paint.Picture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0" y="381000"/>
                        <a:ext cx="4495800" cy="289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5" name="Text Box 3"/>
          <p:cNvSpPr txBox="1"/>
          <p:nvPr/>
        </p:nvSpPr>
        <p:spPr>
          <a:xfrm>
            <a:off x="0" y="533400"/>
            <a:ext cx="29241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（二）比较器的应用</a:t>
            </a:r>
            <a:endParaRPr lang="zh-CN" altLang="en-US" sz="2400" b="1" dirty="0"/>
          </a:p>
        </p:txBody>
      </p:sp>
      <p:sp>
        <p:nvSpPr>
          <p:cNvPr id="34820" name="Text Box 4"/>
          <p:cNvSpPr txBox="1"/>
          <p:nvPr/>
        </p:nvSpPr>
        <p:spPr>
          <a:xfrm>
            <a:off x="304800" y="1143000"/>
            <a:ext cx="39370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：八位二进制数比较       </a:t>
            </a:r>
            <a:endParaRPr lang="zh-CN" altLang="en-US" sz="2400" b="1" dirty="0"/>
          </a:p>
        </p:txBody>
      </p:sp>
      <p:sp>
        <p:nvSpPr>
          <p:cNvPr id="34821" name="Text Box 5"/>
          <p:cNvSpPr txBox="1"/>
          <p:nvPr/>
        </p:nvSpPr>
        <p:spPr>
          <a:xfrm>
            <a:off x="304800" y="3200400"/>
            <a:ext cx="4267200" cy="1296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：用比较器构成</a:t>
            </a:r>
            <a:r>
              <a:rPr lang="en-US" altLang="zh-CN" sz="2400" b="1" dirty="0"/>
              <a:t>8421BCD</a:t>
            </a:r>
            <a:r>
              <a:rPr lang="zh-CN" altLang="en-US" sz="2400" b="1" dirty="0"/>
              <a:t>码表示的一位十进制数四舍五入电路。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98305" name="Object 1025"/>
          <p:cNvGraphicFramePr>
            <a:graphicFrameLocks noChangeAspect="1"/>
          </p:cNvGraphicFramePr>
          <p:nvPr/>
        </p:nvGraphicFramePr>
        <p:xfrm>
          <a:off x="4495800" y="3429000"/>
          <a:ext cx="46482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3" imgW="2562225" imgH="2247900" progId="Paint.Picture">
                  <p:embed/>
                </p:oleObj>
              </mc:Choice>
              <mc:Fallback>
                <p:oleObj name="" r:id="rId3" imgW="2562225" imgH="2247900" progId="Paint.Picture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95800" y="3429000"/>
                        <a:ext cx="4648200" cy="342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Text Box 7"/>
          <p:cNvSpPr txBox="1"/>
          <p:nvPr/>
        </p:nvSpPr>
        <p:spPr>
          <a:xfrm>
            <a:off x="0" y="4724400"/>
            <a:ext cx="3505200" cy="538163"/>
          </a:xfrm>
          <a:prstGeom prst="rect">
            <a:avLst/>
          </a:prstGeom>
          <a:noFill/>
          <a:ln w="254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解</a:t>
            </a:r>
            <a:r>
              <a:rPr lang="en-US" altLang="zh-CN" sz="2400" b="1" dirty="0"/>
              <a:t>: A</a:t>
            </a:r>
            <a:r>
              <a:rPr lang="en-US" altLang="zh-CN" sz="2400" b="1" baseline="-25000" dirty="0"/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～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0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8421BCD</a:t>
            </a:r>
            <a:r>
              <a:rPr lang="zh-CN" altLang="en-US" sz="2400" b="1" dirty="0"/>
              <a:t>码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4824" name="Text Box 8"/>
          <p:cNvSpPr txBox="1"/>
          <p:nvPr/>
        </p:nvSpPr>
        <p:spPr>
          <a:xfrm>
            <a:off x="381000" y="1676400"/>
            <a:ext cx="449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解：</a:t>
            </a:r>
            <a:r>
              <a:rPr lang="zh-CN" altLang="en-US" sz="2400" b="1" dirty="0">
                <a:solidFill>
                  <a:srgbClr val="CC3300"/>
                </a:solidFill>
              </a:rPr>
              <a:t>位扩展</a:t>
            </a:r>
            <a:r>
              <a:rPr lang="zh-CN" altLang="en-US" sz="2400" b="1" dirty="0"/>
              <a:t>，用两片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位比较器</a:t>
            </a:r>
            <a:endParaRPr lang="zh-CN" altLang="en-US" sz="2400" b="1" dirty="0"/>
          </a:p>
        </p:txBody>
      </p:sp>
      <p:sp>
        <p:nvSpPr>
          <p:cNvPr id="34825" name="Text Box 9"/>
          <p:cNvSpPr txBox="1"/>
          <p:nvPr/>
        </p:nvSpPr>
        <p:spPr>
          <a:xfrm>
            <a:off x="381000" y="2286000"/>
            <a:ext cx="47656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低位的输出与高位的控制输入连接</a:t>
            </a:r>
            <a:endParaRPr lang="zh-CN" altLang="en-US" sz="2400" dirty="0"/>
          </a:p>
        </p:txBody>
      </p:sp>
      <p:grpSp>
        <p:nvGrpSpPr>
          <p:cNvPr id="2" name="Group 13"/>
          <p:cNvGrpSpPr/>
          <p:nvPr/>
        </p:nvGrpSpPr>
        <p:grpSpPr>
          <a:xfrm>
            <a:off x="6553200" y="1219200"/>
            <a:ext cx="914400" cy="152400"/>
            <a:chOff x="4128" y="768"/>
            <a:chExt cx="576" cy="96"/>
          </a:xfrm>
        </p:grpSpPr>
        <p:sp>
          <p:nvSpPr>
            <p:cNvPr id="28693" name="Line 10"/>
            <p:cNvSpPr/>
            <p:nvPr/>
          </p:nvSpPr>
          <p:spPr>
            <a:xfrm>
              <a:off x="4128" y="768"/>
              <a:ext cx="288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94" name="Line 11"/>
            <p:cNvSpPr/>
            <p:nvPr/>
          </p:nvSpPr>
          <p:spPr>
            <a:xfrm>
              <a:off x="4416" y="768"/>
              <a:ext cx="0" cy="96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95" name="Line 12"/>
            <p:cNvSpPr/>
            <p:nvPr/>
          </p:nvSpPr>
          <p:spPr>
            <a:xfrm>
              <a:off x="4416" y="864"/>
              <a:ext cx="288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4830" name="Line 14"/>
          <p:cNvSpPr/>
          <p:nvPr/>
        </p:nvSpPr>
        <p:spPr>
          <a:xfrm>
            <a:off x="6553200" y="1524000"/>
            <a:ext cx="914400" cy="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" name="Group 18"/>
          <p:cNvGrpSpPr/>
          <p:nvPr/>
        </p:nvGrpSpPr>
        <p:grpSpPr>
          <a:xfrm>
            <a:off x="6629400" y="1676400"/>
            <a:ext cx="914400" cy="228600"/>
            <a:chOff x="4128" y="1056"/>
            <a:chExt cx="576" cy="144"/>
          </a:xfrm>
        </p:grpSpPr>
        <p:sp>
          <p:nvSpPr>
            <p:cNvPr id="28690" name="Line 15"/>
            <p:cNvSpPr/>
            <p:nvPr/>
          </p:nvSpPr>
          <p:spPr>
            <a:xfrm>
              <a:off x="4128" y="1200"/>
              <a:ext cx="240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91" name="Line 16"/>
            <p:cNvSpPr/>
            <p:nvPr/>
          </p:nvSpPr>
          <p:spPr>
            <a:xfrm flipV="1">
              <a:off x="4368" y="1056"/>
              <a:ext cx="0" cy="14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92" name="Line 17"/>
            <p:cNvSpPr/>
            <p:nvPr/>
          </p:nvSpPr>
          <p:spPr>
            <a:xfrm>
              <a:off x="4368" y="1056"/>
              <a:ext cx="336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4835" name="Line 19"/>
          <p:cNvSpPr/>
          <p:nvPr/>
        </p:nvSpPr>
        <p:spPr>
          <a:xfrm flipV="1">
            <a:off x="3657600" y="4191000"/>
            <a:ext cx="1143000" cy="76200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4836" name="Line 20"/>
          <p:cNvSpPr/>
          <p:nvPr/>
        </p:nvSpPr>
        <p:spPr>
          <a:xfrm>
            <a:off x="4343400" y="5410200"/>
            <a:ext cx="1066800" cy="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4837" name="Line 21"/>
          <p:cNvSpPr/>
          <p:nvPr/>
        </p:nvSpPr>
        <p:spPr>
          <a:xfrm flipV="1">
            <a:off x="3886200" y="4572000"/>
            <a:ext cx="4495800" cy="137160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4838" name="Text Box 22"/>
          <p:cNvSpPr txBox="1"/>
          <p:nvPr/>
        </p:nvSpPr>
        <p:spPr>
          <a:xfrm>
            <a:off x="455613" y="5257800"/>
            <a:ext cx="39639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B</a:t>
            </a:r>
            <a:r>
              <a:rPr lang="en-US" altLang="zh-CN" sz="2400" b="1" baseline="-25000" dirty="0"/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～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：</a:t>
            </a:r>
            <a:r>
              <a:rPr lang="en-US" altLang="zh-CN" sz="2400" b="1" dirty="0">
                <a:latin typeface="宋体" panose="02010600030101010101" pitchFamily="2" charset="-122"/>
              </a:rPr>
              <a:t>0</a:t>
            </a:r>
            <a:r>
              <a:rPr lang="en-US" altLang="zh-CN" sz="2400" b="1" dirty="0"/>
              <a:t>100</a:t>
            </a:r>
            <a:r>
              <a:rPr lang="zh-CN" altLang="en-US" sz="2400" b="1" dirty="0"/>
              <a:t>（十进制数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</a:t>
            </a:r>
            <a:endParaRPr lang="zh-CN" altLang="en-US" sz="2400" b="1" dirty="0"/>
          </a:p>
        </p:txBody>
      </p:sp>
      <p:sp>
        <p:nvSpPr>
          <p:cNvPr id="34839" name="Text Box 23"/>
          <p:cNvSpPr txBox="1"/>
          <p:nvPr/>
        </p:nvSpPr>
        <p:spPr>
          <a:xfrm>
            <a:off x="457200" y="5791200"/>
            <a:ext cx="3257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A </a:t>
            </a:r>
            <a:r>
              <a:rPr lang="zh-CN" altLang="en-US" sz="2400" b="1" dirty="0">
                <a:latin typeface="宋体" panose="02010600030101010101" pitchFamily="2" charset="-122"/>
              </a:rPr>
              <a:t>＞ 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输出端用于判别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4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4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4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4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4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4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48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48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4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4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48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48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/>
      <p:bldP spid="34821" grpId="0"/>
      <p:bldP spid="34823" grpId="0" animBg="1"/>
      <p:bldP spid="34824" grpId="0"/>
      <p:bldP spid="34825" grpId="0"/>
      <p:bldP spid="34838" grpId="0"/>
      <p:bldP spid="3483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Text Box 2"/>
          <p:cNvSpPr txBox="1"/>
          <p:nvPr/>
        </p:nvSpPr>
        <p:spPr>
          <a:xfrm>
            <a:off x="1905000" y="381000"/>
            <a:ext cx="501650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latin typeface="隶书" panose="02010509060101010101" pitchFamily="49" charset="-122"/>
                <a:ea typeface="隶书" panose="02010509060101010101" pitchFamily="49" charset="-122"/>
              </a:rPr>
              <a:t>第三节 译码器和编码器</a:t>
            </a:r>
            <a:endParaRPr lang="zh-CN" altLang="en-US" sz="3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5845" name="Text Box 5"/>
          <p:cNvSpPr txBox="1"/>
          <p:nvPr/>
        </p:nvSpPr>
        <p:spPr>
          <a:xfrm>
            <a:off x="5264150" y="3886200"/>
            <a:ext cx="38608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（特定含义：规则、顺序）</a:t>
            </a:r>
            <a:endParaRPr lang="zh-CN" altLang="en-US" sz="2400" b="1" dirty="0"/>
          </a:p>
        </p:txBody>
      </p:sp>
      <p:sp>
        <p:nvSpPr>
          <p:cNvPr id="35843" name="Text Box 3"/>
          <p:cNvSpPr txBox="1"/>
          <p:nvPr/>
        </p:nvSpPr>
        <p:spPr>
          <a:xfrm>
            <a:off x="685800" y="2922588"/>
            <a:ext cx="22320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二进制代码</a:t>
            </a:r>
            <a:endParaRPr lang="zh-CN" altLang="en-US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5844" name="Text Box 4"/>
          <p:cNvSpPr txBox="1"/>
          <p:nvPr/>
        </p:nvSpPr>
        <p:spPr>
          <a:xfrm>
            <a:off x="5257800" y="2846388"/>
            <a:ext cx="18224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某种代码</a:t>
            </a:r>
            <a:endParaRPr lang="zh-CN" altLang="en-US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5846" name="Line 6"/>
          <p:cNvSpPr/>
          <p:nvPr/>
        </p:nvSpPr>
        <p:spPr>
          <a:xfrm>
            <a:off x="3048000" y="3103563"/>
            <a:ext cx="1905000" cy="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848" name="Text Box 8"/>
          <p:cNvSpPr txBox="1"/>
          <p:nvPr/>
        </p:nvSpPr>
        <p:spPr>
          <a:xfrm>
            <a:off x="3238500" y="2362200"/>
            <a:ext cx="133350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latin typeface="隶书" panose="02010509060101010101" pitchFamily="49" charset="-122"/>
                <a:ea typeface="隶书" panose="02010509060101010101" pitchFamily="49" charset="-122"/>
              </a:rPr>
              <a:t>译 码</a:t>
            </a:r>
            <a:endParaRPr lang="zh-CN" altLang="en-US" sz="3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5847" name="Line 7"/>
          <p:cNvSpPr/>
          <p:nvPr/>
        </p:nvSpPr>
        <p:spPr>
          <a:xfrm flipH="1">
            <a:off x="3048000" y="3408363"/>
            <a:ext cx="1905000" cy="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849" name="Text Box 9"/>
          <p:cNvSpPr txBox="1"/>
          <p:nvPr/>
        </p:nvSpPr>
        <p:spPr>
          <a:xfrm>
            <a:off x="3352800" y="3482975"/>
            <a:ext cx="133350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latin typeface="隶书" panose="02010509060101010101" pitchFamily="49" charset="-122"/>
                <a:ea typeface="隶书" panose="02010509060101010101" pitchFamily="49" charset="-122"/>
              </a:rPr>
              <a:t>编 码</a:t>
            </a:r>
            <a:endParaRPr lang="zh-CN" altLang="en-US" sz="3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5851" name="Text Box 11"/>
          <p:cNvSpPr txBox="1"/>
          <p:nvPr/>
        </p:nvSpPr>
        <p:spPr>
          <a:xfrm>
            <a:off x="3276600" y="1295400"/>
            <a:ext cx="141287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CC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译码器</a:t>
            </a:r>
            <a:endParaRPr lang="zh-CN" altLang="en-US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5855" name="Line 15"/>
          <p:cNvSpPr/>
          <p:nvPr/>
        </p:nvSpPr>
        <p:spPr>
          <a:xfrm>
            <a:off x="3962400" y="2009775"/>
            <a:ext cx="0" cy="581025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850" name="Text Box 10"/>
          <p:cNvSpPr txBox="1"/>
          <p:nvPr/>
        </p:nvSpPr>
        <p:spPr>
          <a:xfrm>
            <a:off x="3352800" y="4754563"/>
            <a:ext cx="141287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CC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编码器</a:t>
            </a:r>
            <a:endParaRPr lang="zh-CN" altLang="en-US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5857" name="Line 17"/>
          <p:cNvSpPr/>
          <p:nvPr/>
        </p:nvSpPr>
        <p:spPr>
          <a:xfrm flipV="1">
            <a:off x="3957638" y="4267200"/>
            <a:ext cx="4762" cy="5334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  <p:bldP spid="35843" grpId="0"/>
      <p:bldP spid="35844" grpId="0"/>
      <p:bldP spid="35848" grpId="0"/>
      <p:bldP spid="35849" grpId="0"/>
      <p:bldP spid="35851" grpId="0"/>
      <p:bldP spid="3585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Text Box 2"/>
          <p:cNvSpPr txBox="1"/>
          <p:nvPr/>
        </p:nvSpPr>
        <p:spPr>
          <a:xfrm>
            <a:off x="228600" y="228600"/>
            <a:ext cx="17049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一、译码器</a:t>
            </a:r>
            <a:endParaRPr lang="zh-CN" altLang="en-US" sz="2400" b="1" dirty="0"/>
          </a:p>
        </p:txBody>
      </p:sp>
      <p:sp>
        <p:nvSpPr>
          <p:cNvPr id="36867" name="Text Box 3"/>
          <p:cNvSpPr txBox="1"/>
          <p:nvPr/>
        </p:nvSpPr>
        <p:spPr>
          <a:xfrm>
            <a:off x="381000" y="685800"/>
            <a:ext cx="29114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（一）二进制译码器</a:t>
            </a:r>
            <a:endParaRPr lang="zh-CN" altLang="en-US" sz="2400" b="1" dirty="0"/>
          </a:p>
        </p:txBody>
      </p:sp>
      <p:sp>
        <p:nvSpPr>
          <p:cNvPr id="36877" name="Text Box 13"/>
          <p:cNvSpPr txBox="1"/>
          <p:nvPr/>
        </p:nvSpPr>
        <p:spPr>
          <a:xfrm>
            <a:off x="447675" y="3276600"/>
            <a:ext cx="4810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二进制译码器输入输出满足：</a:t>
            </a:r>
            <a:r>
              <a:rPr lang="en-US" altLang="zh-CN" sz="2400" b="1" dirty="0">
                <a:solidFill>
                  <a:srgbClr val="FF3300"/>
                </a:solidFill>
              </a:rPr>
              <a:t>m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=2</a:t>
            </a:r>
            <a:r>
              <a:rPr lang="en-US" altLang="zh-CN" sz="2400" b="1" baseline="30000" dirty="0">
                <a:solidFill>
                  <a:srgbClr val="FF3300"/>
                </a:solidFill>
                <a:latin typeface="宋体" panose="02010600030101010101" pitchFamily="2" charset="-122"/>
              </a:rPr>
              <a:t>n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4876800" y="228600"/>
            <a:ext cx="3276600" cy="2740025"/>
            <a:chOff x="3072" y="144"/>
            <a:chExt cx="2064" cy="1726"/>
          </a:xfrm>
        </p:grpSpPr>
        <p:sp>
          <p:nvSpPr>
            <p:cNvPr id="30745" name="Text Box 4"/>
            <p:cNvSpPr txBox="1"/>
            <p:nvPr/>
          </p:nvSpPr>
          <p:spPr>
            <a:xfrm>
              <a:off x="3072" y="432"/>
              <a:ext cx="2036" cy="14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 </a:t>
              </a:r>
              <a:r>
                <a:rPr lang="zh-CN" altLang="en-US" sz="2400" b="1" dirty="0"/>
                <a:t>译码输入      译码输出</a:t>
              </a:r>
              <a:endParaRPr lang="zh-CN" altLang="en-US" sz="24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    </a:t>
              </a:r>
              <a:r>
                <a:rPr lang="en-US" altLang="zh-CN" sz="2400" b="1" dirty="0"/>
                <a:t>a1  a0       y0 y1 y2 y3</a:t>
              </a:r>
              <a:endParaRPr lang="en-US" altLang="zh-CN" sz="24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     0    0        </a:t>
              </a:r>
              <a:r>
                <a:rPr lang="en-US" altLang="zh-CN" sz="2400" b="1" dirty="0">
                  <a:solidFill>
                    <a:srgbClr val="FF3300"/>
                  </a:solidFill>
                </a:rPr>
                <a:t>1</a:t>
              </a:r>
              <a:r>
                <a:rPr lang="en-US" altLang="zh-CN" sz="2400" b="1" dirty="0"/>
                <a:t>   0   0   0</a:t>
              </a:r>
              <a:endParaRPr lang="en-US" altLang="zh-CN" sz="24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     0    1        0   </a:t>
              </a:r>
              <a:r>
                <a:rPr lang="en-US" altLang="zh-CN" sz="2400" b="1" dirty="0">
                  <a:solidFill>
                    <a:srgbClr val="FF3300"/>
                  </a:solidFill>
                </a:rPr>
                <a:t>1 </a:t>
              </a:r>
              <a:r>
                <a:rPr lang="en-US" altLang="zh-CN" sz="2400" b="1" dirty="0"/>
                <a:t>  0   0</a:t>
              </a:r>
              <a:endParaRPr lang="en-US" altLang="zh-CN" sz="24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     1    0        0   0   </a:t>
              </a:r>
              <a:r>
                <a:rPr lang="en-US" altLang="zh-CN" sz="2400" b="1" dirty="0">
                  <a:solidFill>
                    <a:srgbClr val="FF3300"/>
                  </a:solidFill>
                </a:rPr>
                <a:t>1</a:t>
              </a:r>
              <a:r>
                <a:rPr lang="en-US" altLang="zh-CN" sz="2400" b="1" dirty="0"/>
                <a:t>   0</a:t>
              </a:r>
              <a:endParaRPr lang="en-US" altLang="zh-CN" sz="24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     1    1        0   0   0   </a:t>
              </a:r>
              <a:r>
                <a:rPr lang="en-US" altLang="zh-CN" sz="2400" b="1" dirty="0">
                  <a:solidFill>
                    <a:srgbClr val="FF3300"/>
                  </a:solidFill>
                </a:rPr>
                <a:t>1</a:t>
              </a:r>
              <a:endParaRPr lang="en-US" altLang="zh-CN" sz="2400" b="1" dirty="0"/>
            </a:p>
          </p:txBody>
        </p:sp>
        <p:sp>
          <p:nvSpPr>
            <p:cNvPr id="30746" name="Line 5"/>
            <p:cNvSpPr/>
            <p:nvPr/>
          </p:nvSpPr>
          <p:spPr>
            <a:xfrm>
              <a:off x="3120" y="864"/>
              <a:ext cx="19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7" name="Line 6"/>
            <p:cNvSpPr/>
            <p:nvPr/>
          </p:nvSpPr>
          <p:spPr>
            <a:xfrm>
              <a:off x="3984" y="480"/>
              <a:ext cx="0" cy="13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8" name="Line 8"/>
            <p:cNvSpPr/>
            <p:nvPr/>
          </p:nvSpPr>
          <p:spPr>
            <a:xfrm>
              <a:off x="3168" y="432"/>
              <a:ext cx="19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9" name="Line 12"/>
            <p:cNvSpPr/>
            <p:nvPr/>
          </p:nvSpPr>
          <p:spPr>
            <a:xfrm>
              <a:off x="3168" y="1824"/>
              <a:ext cx="19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0" name="Text Box 14"/>
            <p:cNvSpPr txBox="1"/>
            <p:nvPr/>
          </p:nvSpPr>
          <p:spPr>
            <a:xfrm>
              <a:off x="3360" y="144"/>
              <a:ext cx="15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2</a:t>
              </a:r>
              <a:r>
                <a:rPr lang="zh-CN" altLang="en-US" sz="2400" b="1" dirty="0"/>
                <a:t>位二进制译码器</a:t>
              </a:r>
              <a:endParaRPr lang="zh-CN" altLang="en-US" sz="2400" b="1" dirty="0"/>
            </a:p>
          </p:txBody>
        </p:sp>
      </p:grpSp>
      <p:sp>
        <p:nvSpPr>
          <p:cNvPr id="36879" name="Text Box 15"/>
          <p:cNvSpPr txBox="1"/>
          <p:nvPr/>
        </p:nvSpPr>
        <p:spPr>
          <a:xfrm>
            <a:off x="838200" y="3841750"/>
            <a:ext cx="2466975" cy="1187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如：</a:t>
            </a:r>
            <a:r>
              <a:rPr lang="en-US" altLang="zh-CN" sz="2400" b="1" dirty="0"/>
              <a:t>2—4</a:t>
            </a:r>
            <a:r>
              <a:rPr lang="zh-CN" altLang="en-US" sz="2400" b="1" dirty="0"/>
              <a:t>译码器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</a:t>
            </a:r>
            <a:r>
              <a:rPr lang="en-US" altLang="zh-CN" sz="2400" b="1" dirty="0"/>
              <a:t>3—8</a:t>
            </a:r>
            <a:r>
              <a:rPr lang="zh-CN" altLang="en-US" sz="2400" b="1" dirty="0"/>
              <a:t>译码器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</a:t>
            </a:r>
            <a:r>
              <a:rPr lang="en-US" altLang="zh-CN" sz="2400" b="1" dirty="0"/>
              <a:t>4—16</a:t>
            </a:r>
            <a:r>
              <a:rPr lang="zh-CN" altLang="en-US" sz="2400" b="1" dirty="0"/>
              <a:t>译码器</a:t>
            </a:r>
            <a:endParaRPr lang="zh-CN" altLang="en-US" sz="2400" b="1" dirty="0"/>
          </a:p>
        </p:txBody>
      </p:sp>
      <p:grpSp>
        <p:nvGrpSpPr>
          <p:cNvPr id="3" name="Group 17"/>
          <p:cNvGrpSpPr/>
          <p:nvPr/>
        </p:nvGrpSpPr>
        <p:grpSpPr>
          <a:xfrm>
            <a:off x="4953000" y="3429000"/>
            <a:ext cx="3276600" cy="2740025"/>
            <a:chOff x="3072" y="144"/>
            <a:chExt cx="2064" cy="1726"/>
          </a:xfrm>
        </p:grpSpPr>
        <p:sp>
          <p:nvSpPr>
            <p:cNvPr id="30739" name="Text Box 18"/>
            <p:cNvSpPr txBox="1"/>
            <p:nvPr/>
          </p:nvSpPr>
          <p:spPr>
            <a:xfrm>
              <a:off x="3072" y="432"/>
              <a:ext cx="2036" cy="14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 </a:t>
              </a:r>
              <a:r>
                <a:rPr lang="zh-CN" altLang="en-US" sz="2400" b="1" dirty="0"/>
                <a:t>译码输入      译码输出</a:t>
              </a:r>
              <a:endParaRPr lang="zh-CN" altLang="en-US" sz="24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    </a:t>
              </a:r>
              <a:r>
                <a:rPr lang="en-US" altLang="zh-CN" sz="2400" b="1" dirty="0"/>
                <a:t>a1  a0       y0 y1 y2 y3</a:t>
              </a:r>
              <a:endParaRPr lang="en-US" altLang="zh-CN" sz="24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     0    0        </a:t>
              </a:r>
              <a:r>
                <a:rPr lang="en-US" altLang="zh-CN" sz="2400" b="1" dirty="0">
                  <a:solidFill>
                    <a:srgbClr val="FF3300"/>
                  </a:solidFill>
                </a:rPr>
                <a:t>0</a:t>
              </a:r>
              <a:r>
                <a:rPr lang="en-US" altLang="zh-CN" sz="2400" b="1" dirty="0"/>
                <a:t>   1   1   1</a:t>
              </a:r>
              <a:endParaRPr lang="en-US" altLang="zh-CN" sz="24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     0    1        1  </a:t>
              </a:r>
              <a:r>
                <a:rPr lang="en-US" altLang="zh-CN" sz="2400" b="1" dirty="0">
                  <a:solidFill>
                    <a:srgbClr val="FF3300"/>
                  </a:solidFill>
                </a:rPr>
                <a:t> 0 </a:t>
              </a:r>
              <a:r>
                <a:rPr lang="en-US" altLang="zh-CN" sz="2400" b="1" dirty="0"/>
                <a:t>  1   1</a:t>
              </a:r>
              <a:endParaRPr lang="en-US" altLang="zh-CN" sz="24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     1    0        1   1  </a:t>
              </a:r>
              <a:r>
                <a:rPr lang="en-US" altLang="zh-CN" sz="2400" b="1" dirty="0">
                  <a:solidFill>
                    <a:srgbClr val="FF3300"/>
                  </a:solidFill>
                </a:rPr>
                <a:t> 0 </a:t>
              </a:r>
              <a:r>
                <a:rPr lang="en-US" altLang="zh-CN" sz="2400" b="1" dirty="0"/>
                <a:t>  1</a:t>
              </a:r>
              <a:endParaRPr lang="en-US" altLang="zh-CN" sz="24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     1    1        1   1   1   </a:t>
              </a:r>
              <a:r>
                <a:rPr lang="en-US" altLang="zh-CN" sz="2400" b="1" dirty="0">
                  <a:solidFill>
                    <a:srgbClr val="FF3300"/>
                  </a:solidFill>
                </a:rPr>
                <a:t>0</a:t>
              </a:r>
              <a:endParaRPr lang="en-US" altLang="zh-CN" sz="2400" b="1" dirty="0">
                <a:solidFill>
                  <a:srgbClr val="FF3300"/>
                </a:solidFill>
              </a:endParaRPr>
            </a:p>
          </p:txBody>
        </p:sp>
        <p:sp>
          <p:nvSpPr>
            <p:cNvPr id="30740" name="Line 19"/>
            <p:cNvSpPr/>
            <p:nvPr/>
          </p:nvSpPr>
          <p:spPr>
            <a:xfrm>
              <a:off x="3120" y="864"/>
              <a:ext cx="19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1" name="Line 20"/>
            <p:cNvSpPr/>
            <p:nvPr/>
          </p:nvSpPr>
          <p:spPr>
            <a:xfrm>
              <a:off x="3984" y="480"/>
              <a:ext cx="0" cy="13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2" name="Line 21"/>
            <p:cNvSpPr/>
            <p:nvPr/>
          </p:nvSpPr>
          <p:spPr>
            <a:xfrm>
              <a:off x="3168" y="432"/>
              <a:ext cx="19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3" name="Line 22"/>
            <p:cNvSpPr/>
            <p:nvPr/>
          </p:nvSpPr>
          <p:spPr>
            <a:xfrm>
              <a:off x="3168" y="1824"/>
              <a:ext cx="19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4" name="Text Box 23"/>
            <p:cNvSpPr txBox="1"/>
            <p:nvPr/>
          </p:nvSpPr>
          <p:spPr>
            <a:xfrm>
              <a:off x="3360" y="144"/>
              <a:ext cx="15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2</a:t>
              </a:r>
              <a:r>
                <a:rPr lang="zh-CN" altLang="en-US" sz="2400" b="1" dirty="0"/>
                <a:t>位二进制译码器</a:t>
              </a:r>
              <a:endParaRPr lang="zh-CN" altLang="en-US" sz="2400" b="1" dirty="0"/>
            </a:p>
          </p:txBody>
        </p:sp>
      </p:grpSp>
      <p:sp>
        <p:nvSpPr>
          <p:cNvPr id="36888" name="Text Box 24"/>
          <p:cNvSpPr txBox="1"/>
          <p:nvPr/>
        </p:nvSpPr>
        <p:spPr>
          <a:xfrm>
            <a:off x="304800" y="5181600"/>
            <a:ext cx="2905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（二）十进制译码器</a:t>
            </a:r>
            <a:endParaRPr lang="zh-CN" altLang="en-US" sz="2400" b="1" dirty="0"/>
          </a:p>
        </p:txBody>
      </p:sp>
      <p:sp>
        <p:nvSpPr>
          <p:cNvPr id="36889" name="Text Box 25"/>
          <p:cNvSpPr txBox="1"/>
          <p:nvPr/>
        </p:nvSpPr>
        <p:spPr>
          <a:xfrm>
            <a:off x="533400" y="5807075"/>
            <a:ext cx="3524250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又称：二</a:t>
            </a:r>
            <a:r>
              <a:rPr lang="en-US" altLang="zh-CN" sz="2400" b="1" dirty="0"/>
              <a:t>—</a:t>
            </a:r>
            <a:r>
              <a:rPr lang="zh-CN" altLang="en-US" sz="2400" b="1" dirty="0"/>
              <a:t>十进制译码器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或：</a:t>
            </a:r>
            <a:r>
              <a:rPr lang="en-US" altLang="zh-CN" sz="2400" b="1" dirty="0"/>
              <a:t>4—10</a:t>
            </a:r>
            <a:r>
              <a:rPr lang="zh-CN" altLang="en-US" sz="2400" b="1" dirty="0"/>
              <a:t>译码器</a:t>
            </a:r>
            <a:endParaRPr lang="zh-CN" altLang="en-US" sz="2400" b="1" dirty="0"/>
          </a:p>
        </p:txBody>
      </p:sp>
      <p:sp>
        <p:nvSpPr>
          <p:cNvPr id="36890" name="Text Box 26"/>
          <p:cNvSpPr txBox="1"/>
          <p:nvPr/>
        </p:nvSpPr>
        <p:spPr>
          <a:xfrm>
            <a:off x="533400" y="1143000"/>
            <a:ext cx="36734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译码输入：</a:t>
            </a: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位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二进制</a:t>
            </a:r>
            <a:r>
              <a:rPr lang="zh-CN" altLang="en-US" sz="2400" b="1" dirty="0">
                <a:latin typeface="宋体" panose="02010600030101010101" pitchFamily="2" charset="-122"/>
              </a:rPr>
              <a:t>代码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6891" name="Text Box 27"/>
          <p:cNvSpPr txBox="1"/>
          <p:nvPr/>
        </p:nvSpPr>
        <p:spPr>
          <a:xfrm>
            <a:off x="533400" y="1676400"/>
            <a:ext cx="2165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译码输出</a:t>
            </a:r>
            <a:r>
              <a:rPr lang="en-US" altLang="zh-CN" sz="2400" b="1" dirty="0">
                <a:latin typeface="宋体" panose="02010600030101010101" pitchFamily="2" charset="-122"/>
              </a:rPr>
              <a:t>m</a:t>
            </a:r>
            <a:r>
              <a:rPr lang="zh-CN" altLang="en-US" sz="2400" b="1" dirty="0">
                <a:latin typeface="宋体" panose="02010600030101010101" pitchFamily="2" charset="-122"/>
              </a:rPr>
              <a:t>位：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6892" name="Text Box 28"/>
          <p:cNvSpPr txBox="1"/>
          <p:nvPr/>
        </p:nvSpPr>
        <p:spPr>
          <a:xfrm>
            <a:off x="879475" y="2057400"/>
            <a:ext cx="26257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一位为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，其余为</a:t>
            </a:r>
            <a:r>
              <a:rPr lang="en-US" altLang="zh-CN" sz="2400" b="1" dirty="0">
                <a:latin typeface="宋体" panose="02010600030101010101" pitchFamily="2" charset="-122"/>
              </a:rPr>
              <a:t>0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36893" name="Text Box 29"/>
          <p:cNvSpPr txBox="1"/>
          <p:nvPr/>
        </p:nvSpPr>
        <p:spPr>
          <a:xfrm>
            <a:off x="649288" y="2590800"/>
            <a:ext cx="29337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或一位为</a:t>
            </a:r>
            <a:r>
              <a:rPr lang="en-US" altLang="zh-CN" sz="2400" b="1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，其余为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grpSp>
        <p:nvGrpSpPr>
          <p:cNvPr id="4" name="Group 32"/>
          <p:cNvGrpSpPr/>
          <p:nvPr/>
        </p:nvGrpSpPr>
        <p:grpSpPr>
          <a:xfrm>
            <a:off x="3962400" y="1447800"/>
            <a:ext cx="1295400" cy="3810000"/>
            <a:chOff x="2496" y="912"/>
            <a:chExt cx="816" cy="2400"/>
          </a:xfrm>
        </p:grpSpPr>
        <p:sp>
          <p:nvSpPr>
            <p:cNvPr id="30737" name="Line 30"/>
            <p:cNvSpPr/>
            <p:nvPr/>
          </p:nvSpPr>
          <p:spPr>
            <a:xfrm>
              <a:off x="2496" y="912"/>
              <a:ext cx="816" cy="38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38" name="Line 31"/>
            <p:cNvSpPr/>
            <p:nvPr/>
          </p:nvSpPr>
          <p:spPr>
            <a:xfrm>
              <a:off x="2544" y="912"/>
              <a:ext cx="768" cy="240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6897" name="Line 33"/>
          <p:cNvSpPr/>
          <p:nvPr/>
        </p:nvSpPr>
        <p:spPr>
          <a:xfrm>
            <a:off x="3429000" y="2286000"/>
            <a:ext cx="3505200" cy="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6898" name="Line 34"/>
          <p:cNvSpPr/>
          <p:nvPr/>
        </p:nvSpPr>
        <p:spPr>
          <a:xfrm>
            <a:off x="3505200" y="2895600"/>
            <a:ext cx="3429000" cy="220980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6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6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6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6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6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6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6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6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6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  <p:bldP spid="36877" grpId="0"/>
      <p:bldP spid="36879" grpId="0"/>
      <p:bldP spid="36888" grpId="0"/>
      <p:bldP spid="36889" grpId="0"/>
      <p:bldP spid="36890" grpId="0"/>
      <p:bldP spid="36891" grpId="0"/>
      <p:bldP spid="36892" grpId="0"/>
      <p:bldP spid="3689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9328" name="Object 3072"/>
          <p:cNvGraphicFramePr>
            <a:graphicFrameLocks noChangeAspect="1"/>
          </p:cNvGraphicFramePr>
          <p:nvPr/>
        </p:nvGraphicFramePr>
        <p:xfrm>
          <a:off x="5410200" y="228600"/>
          <a:ext cx="373380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" imgW="1616075" imgH="1434465" progId="Paint.Picture">
                  <p:embed/>
                </p:oleObj>
              </mc:Choice>
              <mc:Fallback>
                <p:oleObj name="" r:id="rId1" imgW="1616075" imgH="1434465" progId="Paint.Picture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10200" y="228600"/>
                        <a:ext cx="3733800" cy="3810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Text Box 5"/>
          <p:cNvSpPr txBox="1"/>
          <p:nvPr/>
        </p:nvSpPr>
        <p:spPr>
          <a:xfrm>
            <a:off x="457200" y="1600200"/>
            <a:ext cx="38862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译码输入，二进制编码</a:t>
            </a:r>
            <a:r>
              <a:rPr lang="en-US" altLang="zh-CN" sz="2400" b="1" dirty="0"/>
              <a:t>0-7</a:t>
            </a:r>
            <a:r>
              <a:rPr lang="zh-CN" altLang="en-US" sz="2400" b="1" dirty="0"/>
              <a:t>依次对应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个输出</a:t>
            </a:r>
            <a:endParaRPr lang="zh-CN" altLang="en-US" sz="2400" b="1" dirty="0"/>
          </a:p>
        </p:txBody>
      </p:sp>
      <p:sp>
        <p:nvSpPr>
          <p:cNvPr id="31748" name="Text Box 8"/>
          <p:cNvSpPr txBox="1"/>
          <p:nvPr/>
        </p:nvSpPr>
        <p:spPr>
          <a:xfrm>
            <a:off x="441325" y="457200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b="1" dirty="0"/>
          </a:p>
        </p:txBody>
      </p:sp>
      <p:sp>
        <p:nvSpPr>
          <p:cNvPr id="31749" name="Text Box 9"/>
          <p:cNvSpPr txBox="1"/>
          <p:nvPr/>
        </p:nvSpPr>
        <p:spPr>
          <a:xfrm>
            <a:off x="384175" y="457200"/>
            <a:ext cx="28463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3—8</a:t>
            </a:r>
            <a:r>
              <a:rPr lang="zh-CN" altLang="en-US" sz="2400" b="1" dirty="0"/>
              <a:t>译码器</a:t>
            </a:r>
            <a:r>
              <a:rPr lang="en-US" altLang="zh-CN" sz="2400" b="1" dirty="0"/>
              <a:t>74LS138</a:t>
            </a:r>
            <a:endParaRPr lang="en-US" altLang="zh-CN" sz="2400" b="1" dirty="0"/>
          </a:p>
        </p:txBody>
      </p:sp>
      <p:sp>
        <p:nvSpPr>
          <p:cNvPr id="37895" name="Text Box 7"/>
          <p:cNvSpPr txBox="1"/>
          <p:nvPr/>
        </p:nvSpPr>
        <p:spPr>
          <a:xfrm>
            <a:off x="762000" y="5181600"/>
            <a:ext cx="4403725" cy="14636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b="1" dirty="0"/>
              <a:t>   </a:t>
            </a:r>
            <a:r>
              <a:rPr lang="zh-CN" altLang="en-US" sz="2400" b="1" dirty="0"/>
              <a:t>八个输出端，低电平有效。</a:t>
            </a:r>
            <a:endParaRPr lang="zh-CN" altLang="en-US" sz="2400" b="1" dirty="0"/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   译码状态下，相应输出端为０</a:t>
            </a:r>
            <a:endParaRPr lang="zh-CN" altLang="en-US" sz="2400" b="1" dirty="0"/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   禁止译码状态下，输出均为１</a:t>
            </a:r>
            <a:endParaRPr lang="zh-CN" altLang="en-US" sz="2400" b="1" dirty="0"/>
          </a:p>
        </p:txBody>
      </p:sp>
      <p:grpSp>
        <p:nvGrpSpPr>
          <p:cNvPr id="2" name="Group 22"/>
          <p:cNvGrpSpPr/>
          <p:nvPr/>
        </p:nvGrpSpPr>
        <p:grpSpPr>
          <a:xfrm>
            <a:off x="304800" y="4648200"/>
            <a:ext cx="1250950" cy="488950"/>
            <a:chOff x="288" y="1900"/>
            <a:chExt cx="788" cy="308"/>
          </a:xfrm>
        </p:grpSpPr>
        <p:graphicFrame>
          <p:nvGraphicFramePr>
            <p:cNvPr id="31764" name="Object 3075"/>
            <p:cNvGraphicFramePr>
              <a:graphicFrameLocks noChangeAspect="1"/>
            </p:cNvGraphicFramePr>
            <p:nvPr/>
          </p:nvGraphicFramePr>
          <p:xfrm>
            <a:off x="768" y="1900"/>
            <a:ext cx="308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3" imgW="215900" imgH="215900" progId="Equation.3">
                    <p:embed/>
                  </p:oleObj>
                </mc:Choice>
                <mc:Fallback>
                  <p:oleObj name="" r:id="rId3" imgW="215900" imgH="215900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68" y="1900"/>
                          <a:ext cx="308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5" name="Object 3076"/>
            <p:cNvGraphicFramePr>
              <a:graphicFrameLocks noChangeAspect="1"/>
            </p:cNvGraphicFramePr>
            <p:nvPr/>
          </p:nvGraphicFramePr>
          <p:xfrm>
            <a:off x="288" y="1949"/>
            <a:ext cx="288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5" imgW="215900" imgH="215900" progId="Equation.3">
                    <p:embed/>
                  </p:oleObj>
                </mc:Choice>
                <mc:Fallback>
                  <p:oleObj name="" r:id="rId5" imgW="215900" imgH="21590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8" y="1949"/>
                          <a:ext cx="288" cy="2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6" name="Text Box 21"/>
            <p:cNvSpPr txBox="1"/>
            <p:nvPr/>
          </p:nvSpPr>
          <p:spPr>
            <a:xfrm>
              <a:off x="480" y="1920"/>
              <a:ext cx="31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～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" name="Group 16"/>
          <p:cNvGrpSpPr/>
          <p:nvPr/>
        </p:nvGrpSpPr>
        <p:grpSpPr>
          <a:xfrm>
            <a:off x="0" y="2514600"/>
            <a:ext cx="1450975" cy="533400"/>
            <a:chOff x="306" y="3264"/>
            <a:chExt cx="1034" cy="336"/>
          </a:xfrm>
        </p:grpSpPr>
        <p:graphicFrame>
          <p:nvGraphicFramePr>
            <p:cNvPr id="31762" name="Object 3074"/>
            <p:cNvGraphicFramePr>
              <a:graphicFrameLocks noChangeAspect="1"/>
            </p:cNvGraphicFramePr>
            <p:nvPr/>
          </p:nvGraphicFramePr>
          <p:xfrm>
            <a:off x="624" y="3264"/>
            <a:ext cx="71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7" imgW="443865" imgH="215900" progId="Equation.3">
                    <p:embed/>
                  </p:oleObj>
                </mc:Choice>
                <mc:Fallback>
                  <p:oleObj name="" r:id="rId7" imgW="443865" imgH="2159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24" y="3264"/>
                          <a:ext cx="716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3" name="Text Box 15"/>
            <p:cNvSpPr txBox="1"/>
            <p:nvPr/>
          </p:nvSpPr>
          <p:spPr>
            <a:xfrm>
              <a:off x="306" y="3312"/>
              <a:ext cx="5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S</a:t>
              </a:r>
              <a:r>
                <a:rPr lang="en-US" altLang="zh-CN" sz="2400" b="1" baseline="-25000" dirty="0"/>
                <a:t>1</a:t>
              </a:r>
              <a:r>
                <a:rPr lang="zh-CN" altLang="en-US" sz="2400" b="1" dirty="0"/>
                <a:t>、</a:t>
              </a:r>
              <a:endParaRPr lang="zh-CN" altLang="en-US" sz="2400" b="1" dirty="0"/>
            </a:p>
          </p:txBody>
        </p:sp>
      </p:grpSp>
      <p:grpSp>
        <p:nvGrpSpPr>
          <p:cNvPr id="4" name="Group 29"/>
          <p:cNvGrpSpPr/>
          <p:nvPr/>
        </p:nvGrpSpPr>
        <p:grpSpPr>
          <a:xfrm>
            <a:off x="152400" y="3124200"/>
            <a:ext cx="4981575" cy="1490663"/>
            <a:chOff x="1118" y="1749"/>
            <a:chExt cx="3367" cy="939"/>
          </a:xfrm>
        </p:grpSpPr>
        <p:sp>
          <p:nvSpPr>
            <p:cNvPr id="31758" name="Text Box 6"/>
            <p:cNvSpPr txBox="1"/>
            <p:nvPr/>
          </p:nvSpPr>
          <p:spPr>
            <a:xfrm>
              <a:off x="1304" y="1749"/>
              <a:ext cx="2804" cy="6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2400" b="1" dirty="0"/>
                <a:t>使能输入</a:t>
              </a:r>
              <a:r>
                <a:rPr lang="en-US" altLang="zh-CN" sz="2400" b="1" dirty="0"/>
                <a:t>, 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与</a:t>
              </a:r>
              <a:r>
                <a:rPr lang="zh-CN" altLang="en-US" sz="2400" b="1" dirty="0"/>
                <a:t>逻辑。</a:t>
              </a:r>
              <a:endParaRPr lang="zh-CN" altLang="en-US" sz="2400" b="1" dirty="0"/>
            </a:p>
            <a:p>
              <a:pPr marL="0" lvl="0" indent="0" eaLnBrk="1" hangingPunct="1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EN = 1</a:t>
              </a:r>
              <a:r>
                <a:rPr lang="zh-CN" altLang="en-US" sz="2400" b="1" dirty="0"/>
                <a:t>（</a:t>
              </a:r>
              <a:endParaRPr lang="zh-CN" altLang="en-US" sz="2400" b="1" dirty="0"/>
            </a:p>
          </p:txBody>
        </p:sp>
        <p:graphicFrame>
          <p:nvGraphicFramePr>
            <p:cNvPr id="31759" name="Object 3073"/>
            <p:cNvGraphicFramePr>
              <a:graphicFrameLocks noChangeAspect="1"/>
            </p:cNvGraphicFramePr>
            <p:nvPr/>
          </p:nvGraphicFramePr>
          <p:xfrm>
            <a:off x="2064" y="2064"/>
            <a:ext cx="153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9" imgW="1168400" imgH="241300" progId="Equation.3">
                    <p:embed/>
                  </p:oleObj>
                </mc:Choice>
                <mc:Fallback>
                  <p:oleObj name="" r:id="rId9" imgW="1168400" imgH="241300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064" y="2064"/>
                          <a:ext cx="1536" cy="3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0" name="Text Box 26"/>
            <p:cNvSpPr txBox="1"/>
            <p:nvPr/>
          </p:nvSpPr>
          <p:spPr>
            <a:xfrm>
              <a:off x="1118" y="2400"/>
              <a:ext cx="311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   EN=0 </a:t>
              </a:r>
              <a:r>
                <a:rPr lang="zh-CN" altLang="en-US" sz="2400" b="1" dirty="0"/>
                <a:t>，禁止译码，输出均为１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31761" name="Text Box 28"/>
            <p:cNvSpPr txBox="1"/>
            <p:nvPr/>
          </p:nvSpPr>
          <p:spPr>
            <a:xfrm>
              <a:off x="3625" y="2064"/>
              <a:ext cx="8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) </a:t>
              </a:r>
              <a:r>
                <a:rPr lang="zh-CN" altLang="en-US" sz="2400" b="1" dirty="0"/>
                <a:t>，译码</a:t>
              </a:r>
              <a:endParaRPr lang="zh-CN" altLang="en-US" sz="2400" b="1" dirty="0"/>
            </a:p>
          </p:txBody>
        </p:sp>
      </p:grpSp>
      <p:sp>
        <p:nvSpPr>
          <p:cNvPr id="37924" name="Rectangle 36"/>
          <p:cNvSpPr/>
          <p:nvPr/>
        </p:nvSpPr>
        <p:spPr>
          <a:xfrm>
            <a:off x="5410200" y="914400"/>
            <a:ext cx="685800" cy="12192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7925" name="Text Box 37"/>
          <p:cNvSpPr txBox="1"/>
          <p:nvPr/>
        </p:nvSpPr>
        <p:spPr>
          <a:xfrm>
            <a:off x="266700" y="1066800"/>
            <a:ext cx="11445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A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 </a:t>
            </a:r>
            <a:r>
              <a:rPr lang="zh-CN" altLang="en-US" sz="2400" b="1" dirty="0">
                <a:latin typeface="宋体" panose="02010600030101010101" pitchFamily="2" charset="-122"/>
              </a:rPr>
              <a:t>～</a:t>
            </a: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37926" name="Rectangle 38"/>
          <p:cNvSpPr/>
          <p:nvPr/>
        </p:nvSpPr>
        <p:spPr>
          <a:xfrm>
            <a:off x="5334000" y="2590800"/>
            <a:ext cx="685800" cy="12954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7928" name="Rectangle 40"/>
          <p:cNvSpPr/>
          <p:nvPr/>
        </p:nvSpPr>
        <p:spPr>
          <a:xfrm>
            <a:off x="8305800" y="685800"/>
            <a:ext cx="762000" cy="2895600"/>
          </a:xfrm>
          <a:prstGeom prst="rect">
            <a:avLst/>
          </a:prstGeom>
          <a:noFill/>
          <a:ln w="571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3" grpId="0"/>
      <p:bldP spid="37895" grpId="0"/>
      <p:bldP spid="37924" grpId="0" animBg="1"/>
      <p:bldP spid="37925" grpId="0"/>
      <p:bldP spid="37926" grpId="0" animBg="1"/>
      <p:bldP spid="379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ext Box 2"/>
          <p:cNvSpPr txBox="1"/>
          <p:nvPr/>
        </p:nvSpPr>
        <p:spPr>
          <a:xfrm>
            <a:off x="304800" y="304800"/>
            <a:ext cx="29432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使能端的两个作用：</a:t>
            </a:r>
            <a:endParaRPr lang="zh-CN" altLang="en-US" sz="2400" b="1" dirty="0"/>
          </a:p>
        </p:txBody>
      </p:sp>
      <p:sp>
        <p:nvSpPr>
          <p:cNvPr id="70659" name="Text Box 3"/>
          <p:cNvSpPr txBox="1"/>
          <p:nvPr/>
        </p:nvSpPr>
        <p:spPr>
          <a:xfrm>
            <a:off x="387350" y="914400"/>
            <a:ext cx="43148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3300"/>
                </a:solidFill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</a:rPr>
              <a:t>1</a:t>
            </a:r>
            <a:r>
              <a:rPr lang="zh-CN" altLang="en-US" sz="2400" b="1" dirty="0">
                <a:solidFill>
                  <a:srgbClr val="FF3300"/>
                </a:solidFill>
              </a:rPr>
              <a:t>）消除译码器输出尖峰干扰</a:t>
            </a:r>
            <a:endParaRPr lang="zh-CN" altLang="en-US" sz="2400" b="1" dirty="0"/>
          </a:p>
        </p:txBody>
      </p:sp>
      <p:sp>
        <p:nvSpPr>
          <p:cNvPr id="70661" name="Text Box 5"/>
          <p:cNvSpPr txBox="1"/>
          <p:nvPr/>
        </p:nvSpPr>
        <p:spPr>
          <a:xfrm>
            <a:off x="639763" y="1524000"/>
            <a:ext cx="53387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EN</a:t>
            </a:r>
            <a:r>
              <a:rPr lang="zh-CN" altLang="en-US" sz="2400" b="1" dirty="0"/>
              <a:t>端的正电平的出现在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-A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稳定之后</a:t>
            </a:r>
            <a:endParaRPr lang="zh-CN" altLang="en-US" sz="2400" b="1" dirty="0"/>
          </a:p>
        </p:txBody>
      </p:sp>
      <p:sp>
        <p:nvSpPr>
          <p:cNvPr id="70662" name="Text Box 6"/>
          <p:cNvSpPr txBox="1"/>
          <p:nvPr/>
        </p:nvSpPr>
        <p:spPr>
          <a:xfrm>
            <a:off x="612775" y="2209800"/>
            <a:ext cx="56594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EN</a:t>
            </a:r>
            <a:r>
              <a:rPr lang="zh-CN" altLang="en-US" sz="2400" b="1" dirty="0"/>
              <a:t>端正电平的撤除在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-A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再次改变之前</a:t>
            </a:r>
            <a:endParaRPr lang="zh-CN" altLang="en-US" sz="2400" b="1" dirty="0"/>
          </a:p>
        </p:txBody>
      </p:sp>
      <p:sp>
        <p:nvSpPr>
          <p:cNvPr id="70663" name="Rectangle 7"/>
          <p:cNvSpPr/>
          <p:nvPr/>
        </p:nvSpPr>
        <p:spPr>
          <a:xfrm>
            <a:off x="276225" y="2895600"/>
            <a:ext cx="2851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 </a:t>
            </a:r>
            <a:r>
              <a:rPr lang="zh-CN" altLang="en-US" sz="2400" b="1" dirty="0">
                <a:solidFill>
                  <a:srgbClr val="FF3300"/>
                </a:solidFill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</a:rPr>
              <a:t>2</a:t>
            </a:r>
            <a:r>
              <a:rPr lang="zh-CN" altLang="en-US" sz="2400" b="1" dirty="0">
                <a:solidFill>
                  <a:srgbClr val="FF3300"/>
                </a:solidFill>
              </a:rPr>
              <a:t>）逻辑功能扩展</a:t>
            </a:r>
            <a:endParaRPr lang="zh-CN" altLang="en-US" sz="2400" b="1" dirty="0"/>
          </a:p>
        </p:txBody>
      </p:sp>
      <p:sp>
        <p:nvSpPr>
          <p:cNvPr id="32775" name="Text Box 8"/>
          <p:cNvSpPr txBox="1"/>
          <p:nvPr/>
        </p:nvSpPr>
        <p:spPr>
          <a:xfrm>
            <a:off x="1050925" y="3733800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latin typeface="宋体" panose="02010600030101010101" pitchFamily="2" charset="-122"/>
            </a:endParaRPr>
          </a:p>
        </p:txBody>
      </p:sp>
      <p:sp>
        <p:nvSpPr>
          <p:cNvPr id="70666" name="Text Box 10"/>
          <p:cNvSpPr txBox="1"/>
          <p:nvPr/>
        </p:nvSpPr>
        <p:spPr>
          <a:xfrm>
            <a:off x="381000" y="3733800"/>
            <a:ext cx="51816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例：用</a:t>
            </a:r>
            <a:r>
              <a:rPr lang="en-US" altLang="zh-CN" sz="2400" b="1" dirty="0"/>
              <a:t>3—8</a:t>
            </a:r>
            <a:r>
              <a:rPr lang="zh-CN" altLang="en-US" sz="2400" b="1" dirty="0"/>
              <a:t>译码器构成</a:t>
            </a:r>
            <a:r>
              <a:rPr lang="en-US" altLang="zh-CN" sz="2400" b="1" dirty="0"/>
              <a:t>4—16</a:t>
            </a:r>
            <a:r>
              <a:rPr lang="zh-CN" altLang="en-US" sz="2400" b="1" dirty="0"/>
              <a:t>译码器 </a:t>
            </a:r>
            <a:endParaRPr lang="zh-CN" altLang="en-US" sz="2400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4419600" y="2209800"/>
            <a:ext cx="3886200" cy="914400"/>
            <a:chOff x="2784" y="1392"/>
            <a:chExt cx="2448" cy="576"/>
          </a:xfrm>
        </p:grpSpPr>
        <p:sp>
          <p:nvSpPr>
            <p:cNvPr id="32778" name="Text Box 11"/>
            <p:cNvSpPr txBox="1"/>
            <p:nvPr/>
          </p:nvSpPr>
          <p:spPr>
            <a:xfrm>
              <a:off x="2832" y="1440"/>
              <a:ext cx="2352" cy="518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避免</a:t>
              </a:r>
              <a:r>
                <a:rPr lang="en-US" altLang="zh-CN" sz="2400" b="1" dirty="0"/>
                <a:t>A</a:t>
              </a:r>
              <a:r>
                <a:rPr lang="en-US" altLang="zh-CN" sz="2400" b="1" baseline="-25000" dirty="0"/>
                <a:t>0</a:t>
              </a:r>
              <a:r>
                <a:rPr lang="en-US" altLang="zh-CN" sz="2400" b="1" dirty="0"/>
                <a:t>-A</a:t>
              </a:r>
              <a:r>
                <a:rPr lang="en-US" altLang="zh-CN" sz="2400" b="1" baseline="-25000" dirty="0"/>
                <a:t>2</a:t>
              </a:r>
              <a:r>
                <a:rPr lang="zh-CN" altLang="en-US" sz="2400" b="1" dirty="0"/>
                <a:t>在变化过程中引起输出端产生瞬时负脉冲</a:t>
              </a:r>
              <a:endParaRPr lang="zh-CN" altLang="en-US" sz="2400" b="1" dirty="0"/>
            </a:p>
          </p:txBody>
        </p:sp>
        <p:sp>
          <p:nvSpPr>
            <p:cNvPr id="32779" name="AutoShape 12"/>
            <p:cNvSpPr/>
            <p:nvPr/>
          </p:nvSpPr>
          <p:spPr>
            <a:xfrm>
              <a:off x="2784" y="1392"/>
              <a:ext cx="2448" cy="576"/>
            </a:xfrm>
            <a:prstGeom prst="wedgeRectCallout">
              <a:avLst>
                <a:gd name="adj1" fmla="val -40769"/>
                <a:gd name="adj2" fmla="val -68926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/>
      <p:bldP spid="70661" grpId="0"/>
      <p:bldP spid="70662" grpId="0"/>
      <p:bldP spid="70663" grpId="0"/>
      <p:bldP spid="7066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Text Box 4"/>
          <p:cNvSpPr txBox="1"/>
          <p:nvPr/>
        </p:nvSpPr>
        <p:spPr>
          <a:xfrm>
            <a:off x="228600" y="762000"/>
            <a:ext cx="28194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例：用</a:t>
            </a:r>
            <a:r>
              <a:rPr lang="en-US" altLang="zh-CN" sz="2400" b="1" dirty="0"/>
              <a:t>3—8</a:t>
            </a:r>
            <a:r>
              <a:rPr lang="zh-CN" altLang="en-US" sz="2400" b="1" dirty="0"/>
              <a:t>译码器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构成</a:t>
            </a:r>
            <a:r>
              <a:rPr lang="en-US" altLang="zh-CN" sz="2400" b="1" dirty="0"/>
              <a:t>4—16</a:t>
            </a:r>
            <a:r>
              <a:rPr lang="zh-CN" altLang="en-US" sz="2400" b="1" dirty="0"/>
              <a:t>译码器</a:t>
            </a:r>
            <a:endParaRPr lang="zh-CN" altLang="en-US" sz="2400" b="1" dirty="0"/>
          </a:p>
        </p:txBody>
      </p:sp>
      <p:sp>
        <p:nvSpPr>
          <p:cNvPr id="38923" name="Text Box 11"/>
          <p:cNvSpPr txBox="1"/>
          <p:nvPr/>
        </p:nvSpPr>
        <p:spPr>
          <a:xfrm>
            <a:off x="304800" y="1828800"/>
            <a:ext cx="23844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X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宋体" panose="02010600030101010101" pitchFamily="2" charset="-122"/>
              </a:rPr>
              <a:t>-X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：译码输入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8924" name="Text Box 12"/>
          <p:cNvSpPr txBox="1"/>
          <p:nvPr/>
        </p:nvSpPr>
        <p:spPr>
          <a:xfrm>
            <a:off x="-152400" y="2514600"/>
            <a:ext cx="2806700" cy="11874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E</a:t>
            </a:r>
            <a:r>
              <a:rPr lang="zh-CN" altLang="en-US" sz="2400" b="1" dirty="0">
                <a:latin typeface="宋体" panose="02010600030101010101" pitchFamily="2" charset="-122"/>
              </a:rPr>
              <a:t>：译码控制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E=0</a:t>
            </a:r>
            <a:r>
              <a:rPr lang="zh-CN" altLang="en-US" sz="2400" b="1" dirty="0">
                <a:latin typeface="宋体" panose="02010600030101010101" pitchFamily="2" charset="-122"/>
              </a:rPr>
              <a:t>，译码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</a:t>
            </a:r>
            <a:r>
              <a:rPr lang="en-US" altLang="zh-CN" sz="2400" b="1" dirty="0">
                <a:latin typeface="宋体" panose="02010600030101010101" pitchFamily="2" charset="-122"/>
              </a:rPr>
              <a:t>E=1</a:t>
            </a:r>
            <a:r>
              <a:rPr lang="zh-CN" altLang="en-US" sz="2400" b="1" dirty="0">
                <a:latin typeface="宋体" panose="02010600030101010101" pitchFamily="2" charset="-122"/>
              </a:rPr>
              <a:t>，禁止译码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100352" name="Object 0"/>
          <p:cNvGraphicFramePr>
            <a:graphicFrameLocks noChangeAspect="1"/>
          </p:cNvGraphicFramePr>
          <p:nvPr/>
        </p:nvGraphicFramePr>
        <p:xfrm>
          <a:off x="2819400" y="609600"/>
          <a:ext cx="58674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" imgW="3743325" imgH="2209800" progId="Paint.Picture">
                  <p:embed/>
                </p:oleObj>
              </mc:Choice>
              <mc:Fallback>
                <p:oleObj name="" r:id="rId1" imgW="3743325" imgH="2209800" progId="Paint.Picture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19400" y="609600"/>
                        <a:ext cx="5867400" cy="350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6" name="Text Box 14"/>
          <p:cNvSpPr txBox="1"/>
          <p:nvPr/>
        </p:nvSpPr>
        <p:spPr>
          <a:xfrm>
            <a:off x="0" y="40386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X3-X0</a:t>
            </a:r>
            <a:r>
              <a:rPr lang="zh-CN" altLang="en-US" sz="2400" b="1" dirty="0">
                <a:latin typeface="宋体" panose="02010600030101010101" pitchFamily="2" charset="-122"/>
              </a:rPr>
              <a:t>：</a:t>
            </a:r>
            <a:r>
              <a:rPr lang="en-US" altLang="zh-CN" sz="2400" b="1" dirty="0">
                <a:latin typeface="宋体" panose="02010600030101010101" pitchFamily="2" charset="-122"/>
              </a:rPr>
              <a:t>0000-0111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8927" name="Text Box 15"/>
          <p:cNvSpPr txBox="1"/>
          <p:nvPr/>
        </p:nvSpPr>
        <p:spPr>
          <a:xfrm>
            <a:off x="1235075" y="4648200"/>
            <a:ext cx="17176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第一片工作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8943" name="Text Box 31"/>
          <p:cNvSpPr txBox="1"/>
          <p:nvPr/>
        </p:nvSpPr>
        <p:spPr>
          <a:xfrm>
            <a:off x="98425" y="5181600"/>
            <a:ext cx="2619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X3-X0</a:t>
            </a:r>
            <a:r>
              <a:rPr lang="zh-CN" altLang="en-US" sz="2400" b="1" dirty="0">
                <a:latin typeface="宋体" panose="02010600030101010101" pitchFamily="2" charset="-122"/>
              </a:rPr>
              <a:t>：</a:t>
            </a:r>
            <a:r>
              <a:rPr lang="en-US" altLang="zh-CN" sz="2400" b="1" dirty="0">
                <a:latin typeface="宋体" panose="02010600030101010101" pitchFamily="2" charset="-122"/>
              </a:rPr>
              <a:t>1000-1111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38944" name="Text Box 32"/>
          <p:cNvSpPr txBox="1"/>
          <p:nvPr/>
        </p:nvSpPr>
        <p:spPr>
          <a:xfrm>
            <a:off x="1295400" y="5867400"/>
            <a:ext cx="1724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第二片工作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43"/>
          <p:cNvGrpSpPr/>
          <p:nvPr/>
        </p:nvGrpSpPr>
        <p:grpSpPr>
          <a:xfrm>
            <a:off x="3124200" y="4054475"/>
            <a:ext cx="5594350" cy="822325"/>
            <a:chOff x="1968" y="2554"/>
            <a:chExt cx="3524" cy="518"/>
          </a:xfrm>
        </p:grpSpPr>
        <p:grpSp>
          <p:nvGrpSpPr>
            <p:cNvPr id="33812" name="Group 35"/>
            <p:cNvGrpSpPr/>
            <p:nvPr/>
          </p:nvGrpSpPr>
          <p:grpSpPr>
            <a:xfrm>
              <a:off x="1968" y="2554"/>
              <a:ext cx="1584" cy="518"/>
              <a:chOff x="1968" y="2496"/>
              <a:chExt cx="1584" cy="518"/>
            </a:xfrm>
          </p:grpSpPr>
          <p:sp>
            <p:nvSpPr>
              <p:cNvPr id="33817" name="Text Box 16"/>
              <p:cNvSpPr txBox="1"/>
              <p:nvPr/>
            </p:nvSpPr>
            <p:spPr>
              <a:xfrm>
                <a:off x="1968" y="2496"/>
                <a:ext cx="980" cy="5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000-111</a:t>
                </a:r>
                <a:endParaRPr lang="en-US" altLang="zh-CN" sz="2400" b="1" dirty="0">
                  <a:solidFill>
                    <a:srgbClr val="FF3300"/>
                  </a:solidFill>
                  <a:latin typeface="宋体" panose="02010600030101010101" pitchFamily="2" charset="-122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 </a:t>
                </a:r>
                <a:r>
                  <a:rPr lang="zh-CN" altLang="en-US" sz="2400" b="1" dirty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译码输入</a:t>
                </a:r>
                <a:endParaRPr lang="zh-CN" altLang="en-US" sz="2400" b="1" dirty="0">
                  <a:solidFill>
                    <a:srgbClr val="FF3300"/>
                  </a:solidFill>
                  <a:latin typeface="宋体" panose="02010600030101010101" pitchFamily="2" charset="-122"/>
                </a:endParaRPr>
              </a:p>
            </p:txBody>
          </p:sp>
          <p:grpSp>
            <p:nvGrpSpPr>
              <p:cNvPr id="33818" name="Group 34"/>
              <p:cNvGrpSpPr/>
              <p:nvPr/>
            </p:nvGrpSpPr>
            <p:grpSpPr>
              <a:xfrm>
                <a:off x="2956" y="2592"/>
                <a:ext cx="596" cy="288"/>
                <a:chOff x="2956" y="2592"/>
                <a:chExt cx="596" cy="288"/>
              </a:xfrm>
            </p:grpSpPr>
            <p:sp>
              <p:nvSpPr>
                <p:cNvPr id="33819" name="Text Box 17"/>
                <p:cNvSpPr txBox="1"/>
                <p:nvPr/>
              </p:nvSpPr>
              <p:spPr>
                <a:xfrm>
                  <a:off x="2956" y="2592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rgbClr val="FF3300"/>
                      </a:solidFill>
                      <a:latin typeface="宋体" panose="02010600030101010101" pitchFamily="2" charset="-122"/>
                    </a:rPr>
                    <a:t>0</a:t>
                  </a:r>
                  <a:endParaRPr lang="en-US" altLang="zh-CN" sz="2400" b="1" dirty="0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33820" name="Text Box 18"/>
                <p:cNvSpPr txBox="1"/>
                <p:nvPr/>
              </p:nvSpPr>
              <p:spPr>
                <a:xfrm>
                  <a:off x="3148" y="2592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rgbClr val="FF3300"/>
                      </a:solidFill>
                      <a:latin typeface="宋体" panose="02010600030101010101" pitchFamily="2" charset="-122"/>
                    </a:rPr>
                    <a:t>0</a:t>
                  </a:r>
                  <a:endParaRPr lang="en-US" altLang="zh-CN" sz="2400" b="1" dirty="0">
                    <a:solidFill>
                      <a:srgbClr val="FF3300"/>
                    </a:solidFill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33821" name="Text Box 19"/>
                <p:cNvSpPr txBox="1"/>
                <p:nvPr/>
              </p:nvSpPr>
              <p:spPr>
                <a:xfrm>
                  <a:off x="3340" y="2592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rgbClr val="FF3300"/>
                      </a:solidFill>
                      <a:latin typeface="宋体" panose="02010600030101010101" pitchFamily="2" charset="-122"/>
                    </a:rPr>
                    <a:t>1</a:t>
                  </a:r>
                  <a:endParaRPr lang="en-US" altLang="zh-CN" sz="2400" b="1" dirty="0">
                    <a:latin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3813" name="Group 25"/>
            <p:cNvGrpSpPr/>
            <p:nvPr/>
          </p:nvGrpSpPr>
          <p:grpSpPr>
            <a:xfrm>
              <a:off x="4896" y="2602"/>
              <a:ext cx="596" cy="288"/>
              <a:chOff x="4752" y="2688"/>
              <a:chExt cx="596" cy="288"/>
            </a:xfrm>
          </p:grpSpPr>
          <p:sp>
            <p:nvSpPr>
              <p:cNvPr id="33814" name="Text Box 22"/>
              <p:cNvSpPr txBox="1"/>
              <p:nvPr/>
            </p:nvSpPr>
            <p:spPr>
              <a:xfrm>
                <a:off x="4752" y="2688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3815" name="Text Box 23"/>
              <p:cNvSpPr txBox="1"/>
              <p:nvPr/>
            </p:nvSpPr>
            <p:spPr>
              <a:xfrm>
                <a:off x="4944" y="2688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3816" name="Text Box 24"/>
              <p:cNvSpPr txBox="1"/>
              <p:nvPr/>
            </p:nvSpPr>
            <p:spPr>
              <a:xfrm>
                <a:off x="5136" y="2688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6" name="Group 37"/>
          <p:cNvGrpSpPr/>
          <p:nvPr/>
        </p:nvGrpSpPr>
        <p:grpSpPr>
          <a:xfrm>
            <a:off x="3124200" y="5181600"/>
            <a:ext cx="5670550" cy="822325"/>
            <a:chOff x="1968" y="2957"/>
            <a:chExt cx="3572" cy="518"/>
          </a:xfrm>
        </p:grpSpPr>
        <p:grpSp>
          <p:nvGrpSpPr>
            <p:cNvPr id="33804" name="Group 33"/>
            <p:cNvGrpSpPr/>
            <p:nvPr/>
          </p:nvGrpSpPr>
          <p:grpSpPr>
            <a:xfrm>
              <a:off x="1968" y="2957"/>
              <a:ext cx="1566" cy="518"/>
              <a:chOff x="3158" y="2957"/>
              <a:chExt cx="1566" cy="518"/>
            </a:xfrm>
          </p:grpSpPr>
          <p:sp>
            <p:nvSpPr>
              <p:cNvPr id="33808" name="Text Box 20"/>
              <p:cNvSpPr txBox="1"/>
              <p:nvPr/>
            </p:nvSpPr>
            <p:spPr>
              <a:xfrm>
                <a:off x="3158" y="2957"/>
                <a:ext cx="980" cy="5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000-111</a:t>
                </a:r>
                <a:endParaRPr lang="en-US" altLang="zh-CN" sz="2400" b="1" dirty="0">
                  <a:solidFill>
                    <a:srgbClr val="FF3300"/>
                  </a:solidFill>
                  <a:latin typeface="宋体" panose="02010600030101010101" pitchFamily="2" charset="-122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 </a:t>
                </a:r>
                <a:r>
                  <a:rPr lang="zh-CN" altLang="en-US" sz="2400" b="1" dirty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译码输入</a:t>
                </a:r>
                <a:endParaRPr lang="zh-CN" altLang="en-US" sz="2400" b="1" dirty="0">
                  <a:solidFill>
                    <a:srgbClr val="FF33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33809" name="Text Box 21"/>
              <p:cNvSpPr txBox="1"/>
              <p:nvPr/>
            </p:nvSpPr>
            <p:spPr>
              <a:xfrm>
                <a:off x="4128" y="3072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3810" name="Text Box 26"/>
              <p:cNvSpPr txBox="1"/>
              <p:nvPr/>
            </p:nvSpPr>
            <p:spPr>
              <a:xfrm>
                <a:off x="4320" y="3072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3811" name="Text Box 27"/>
              <p:cNvSpPr txBox="1"/>
              <p:nvPr/>
            </p:nvSpPr>
            <p:spPr>
              <a:xfrm>
                <a:off x="4512" y="3072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33805" name="Text Box 28"/>
            <p:cNvSpPr txBox="1"/>
            <p:nvPr/>
          </p:nvSpPr>
          <p:spPr>
            <a:xfrm>
              <a:off x="4924" y="307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3300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33806" name="Text Box 29"/>
            <p:cNvSpPr txBox="1"/>
            <p:nvPr/>
          </p:nvSpPr>
          <p:spPr>
            <a:xfrm>
              <a:off x="5126" y="307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3300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3807" name="Text Box 30"/>
            <p:cNvSpPr txBox="1"/>
            <p:nvPr/>
          </p:nvSpPr>
          <p:spPr>
            <a:xfrm>
              <a:off x="5328" y="307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330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3" grpId="0"/>
      <p:bldP spid="38924" grpId="0"/>
      <p:bldP spid="38926" grpId="0"/>
      <p:bldP spid="38927" grpId="0"/>
      <p:bldP spid="38943" grpId="0"/>
      <p:bldP spid="3894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9" name="Text Box 3"/>
          <p:cNvSpPr txBox="1"/>
          <p:nvPr/>
        </p:nvSpPr>
        <p:spPr>
          <a:xfrm>
            <a:off x="533400" y="838200"/>
            <a:ext cx="69278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400" b="1" dirty="0">
                <a:latin typeface="宋体" panose="02010600030101010101" pitchFamily="2" charset="-122"/>
              </a:rPr>
              <a:t>试用 </a:t>
            </a:r>
            <a:r>
              <a:rPr lang="en-US" altLang="zh-CN" sz="2400" b="1" dirty="0">
                <a:latin typeface="宋体" panose="02010600030101010101" pitchFamily="2" charset="-122"/>
              </a:rPr>
              <a:t>CT74LS138</a:t>
            </a:r>
            <a:r>
              <a:rPr lang="zh-CN" altLang="en-US" sz="2400" b="1" dirty="0">
                <a:latin typeface="宋体" panose="02010600030101010101" pitchFamily="2" charset="-122"/>
              </a:rPr>
              <a:t>和与非门构成一位全加器。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9940" name="Text Box 4"/>
          <p:cNvSpPr txBox="1"/>
          <p:nvPr/>
        </p:nvSpPr>
        <p:spPr>
          <a:xfrm>
            <a:off x="609600" y="1447800"/>
            <a:ext cx="43084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解</a:t>
            </a:r>
            <a:r>
              <a:rPr lang="en-US" altLang="zh-CN" sz="2400" b="1" dirty="0">
                <a:latin typeface="宋体" panose="02010600030101010101" pitchFamily="2" charset="-122"/>
              </a:rPr>
              <a:t>:</a:t>
            </a:r>
            <a:r>
              <a:rPr lang="zh-CN" altLang="en-US" sz="2400" b="1" dirty="0">
                <a:latin typeface="宋体" panose="02010600030101010101" pitchFamily="2" charset="-122"/>
              </a:rPr>
              <a:t>全加器的最小项表达式应为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4820" name="Text Box 7"/>
          <p:cNvSpPr txBox="1"/>
          <p:nvPr/>
        </p:nvSpPr>
        <p:spPr>
          <a:xfrm>
            <a:off x="304800" y="228600"/>
            <a:ext cx="29305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（三）译码器的应用</a:t>
            </a:r>
            <a:endParaRPr lang="zh-CN" altLang="en-US" sz="2400" b="1" dirty="0"/>
          </a:p>
        </p:txBody>
      </p:sp>
      <p:grpSp>
        <p:nvGrpSpPr>
          <p:cNvPr id="2" name="Group 11"/>
          <p:cNvGrpSpPr/>
          <p:nvPr/>
        </p:nvGrpSpPr>
        <p:grpSpPr>
          <a:xfrm>
            <a:off x="381000" y="4724400"/>
            <a:ext cx="8534400" cy="1295400"/>
            <a:chOff x="192" y="3024"/>
            <a:chExt cx="4800" cy="720"/>
          </a:xfrm>
        </p:grpSpPr>
        <p:graphicFrame>
          <p:nvGraphicFramePr>
            <p:cNvPr id="34828" name="Object 9"/>
            <p:cNvGraphicFramePr>
              <a:graphicFrameLocks noChangeAspect="1"/>
            </p:cNvGraphicFramePr>
            <p:nvPr/>
          </p:nvGraphicFramePr>
          <p:xfrm>
            <a:off x="192" y="3024"/>
            <a:ext cx="39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1" imgW="3683000" imgH="266700" progId="Equation.3">
                    <p:embed/>
                  </p:oleObj>
                </mc:Choice>
                <mc:Fallback>
                  <p:oleObj name="" r:id="rId1" imgW="3683000" imgH="266700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92" y="3024"/>
                          <a:ext cx="3984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9" name="Object 10"/>
            <p:cNvGraphicFramePr>
              <a:graphicFrameLocks noChangeAspect="1"/>
            </p:cNvGraphicFramePr>
            <p:nvPr/>
          </p:nvGraphicFramePr>
          <p:xfrm>
            <a:off x="192" y="3456"/>
            <a:ext cx="480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" name="" r:id="rId3" imgW="3810000" imgH="266700" progId="Equation.3">
                    <p:embed/>
                  </p:oleObj>
                </mc:Choice>
                <mc:Fallback>
                  <p:oleObj name="" r:id="rId3" imgW="3810000" imgH="266700" progId="Equation.3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2" y="3456"/>
                          <a:ext cx="4800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5"/>
          <p:cNvGrpSpPr/>
          <p:nvPr/>
        </p:nvGrpSpPr>
        <p:grpSpPr>
          <a:xfrm>
            <a:off x="1143000" y="2251075"/>
            <a:ext cx="3200400" cy="1000125"/>
            <a:chOff x="720" y="1418"/>
            <a:chExt cx="2016" cy="630"/>
          </a:xfrm>
        </p:grpSpPr>
        <p:sp>
          <p:nvSpPr>
            <p:cNvPr id="34824" name="Text Box 5"/>
            <p:cNvSpPr txBox="1"/>
            <p:nvPr/>
          </p:nvSpPr>
          <p:spPr>
            <a:xfrm>
              <a:off x="758" y="1418"/>
              <a:ext cx="4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S</a:t>
              </a:r>
              <a:r>
                <a:rPr lang="en-US" altLang="zh-CN" sz="2400" b="1" baseline="-25000" dirty="0"/>
                <a:t>i</a:t>
              </a:r>
              <a:r>
                <a:rPr lang="en-US" altLang="zh-CN" sz="2400" b="1" dirty="0"/>
                <a:t> =</a:t>
              </a:r>
              <a:endParaRPr lang="en-US" altLang="zh-CN" sz="2400" b="1" dirty="0"/>
            </a:p>
          </p:txBody>
        </p:sp>
        <p:graphicFrame>
          <p:nvGraphicFramePr>
            <p:cNvPr id="34825" name="Object 12"/>
            <p:cNvGraphicFramePr>
              <a:graphicFrameLocks noChangeAspect="1"/>
            </p:cNvGraphicFramePr>
            <p:nvPr/>
          </p:nvGraphicFramePr>
          <p:xfrm>
            <a:off x="1104" y="1440"/>
            <a:ext cx="14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" r:id="rId5" imgW="1015365" imgH="254000" progId="Equation.3">
                    <p:embed/>
                  </p:oleObj>
                </mc:Choice>
                <mc:Fallback>
                  <p:oleObj name="" r:id="rId5" imgW="1015365" imgH="254000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04" y="1440"/>
                          <a:ext cx="1440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26" name="Text Box 13"/>
            <p:cNvSpPr txBox="1"/>
            <p:nvPr/>
          </p:nvSpPr>
          <p:spPr>
            <a:xfrm>
              <a:off x="720" y="1728"/>
              <a:ext cx="6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C</a:t>
              </a:r>
              <a:r>
                <a:rPr lang="en-US" altLang="zh-CN" sz="2400" b="1" baseline="-25000" dirty="0"/>
                <a:t>i+1</a:t>
              </a:r>
              <a:r>
                <a:rPr lang="en-US" altLang="zh-CN" sz="2400" b="1" dirty="0"/>
                <a:t> = </a:t>
              </a:r>
              <a:endParaRPr lang="en-US" altLang="zh-CN" sz="2400" b="1" dirty="0"/>
            </a:p>
          </p:txBody>
        </p:sp>
        <p:graphicFrame>
          <p:nvGraphicFramePr>
            <p:cNvPr id="34827" name="Object 14"/>
            <p:cNvGraphicFramePr>
              <a:graphicFrameLocks noChangeAspect="1"/>
            </p:cNvGraphicFramePr>
            <p:nvPr/>
          </p:nvGraphicFramePr>
          <p:xfrm>
            <a:off x="1248" y="1728"/>
            <a:ext cx="148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7" imgW="1002665" imgH="254000" progId="Equation.3">
                    <p:embed/>
                  </p:oleObj>
                </mc:Choice>
                <mc:Fallback>
                  <p:oleObj name="" r:id="rId7" imgW="1002665" imgH="254000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48" y="1728"/>
                          <a:ext cx="1488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52" name="AutoShape 16"/>
          <p:cNvSpPr/>
          <p:nvPr/>
        </p:nvSpPr>
        <p:spPr>
          <a:xfrm>
            <a:off x="2743200" y="3505200"/>
            <a:ext cx="304800" cy="990600"/>
          </a:xfrm>
          <a:prstGeom prst="downArrow">
            <a:avLst>
              <a:gd name="adj1" fmla="val 50000"/>
              <a:gd name="adj2" fmla="val 81250"/>
            </a:avLst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/>
      <p:bldP spid="39940" grpId="0"/>
      <p:bldP spid="3995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1376" name="Object 0"/>
          <p:cNvGraphicFramePr>
            <a:graphicFrameLocks noChangeAspect="1"/>
          </p:cNvGraphicFramePr>
          <p:nvPr/>
        </p:nvGraphicFramePr>
        <p:xfrm>
          <a:off x="990600" y="2133600"/>
          <a:ext cx="7315200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" imgW="3895725" imgH="1990725" progId="Paint.Picture">
                  <p:embed/>
                </p:oleObj>
              </mc:Choice>
              <mc:Fallback>
                <p:oleObj name="" r:id="rId1" imgW="3895725" imgH="1990725" progId="Paint.Picture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0600" y="2133600"/>
                        <a:ext cx="7315200" cy="426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43" name="Group 3"/>
          <p:cNvGrpSpPr/>
          <p:nvPr/>
        </p:nvGrpSpPr>
        <p:grpSpPr>
          <a:xfrm>
            <a:off x="838200" y="457200"/>
            <a:ext cx="7620000" cy="1143000"/>
            <a:chOff x="192" y="3024"/>
            <a:chExt cx="4800" cy="720"/>
          </a:xfrm>
        </p:grpSpPr>
        <p:graphicFrame>
          <p:nvGraphicFramePr>
            <p:cNvPr id="35844" name="Object 1"/>
            <p:cNvGraphicFramePr>
              <a:graphicFrameLocks noChangeAspect="1"/>
            </p:cNvGraphicFramePr>
            <p:nvPr/>
          </p:nvGraphicFramePr>
          <p:xfrm>
            <a:off x="192" y="3024"/>
            <a:ext cx="39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" r:id="rId3" imgW="3683000" imgH="266700" progId="Equation.3">
                    <p:embed/>
                  </p:oleObj>
                </mc:Choice>
                <mc:Fallback>
                  <p:oleObj name="" r:id="rId3" imgW="3683000" imgH="266700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2" y="3024"/>
                          <a:ext cx="3984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45" name="Object 2"/>
            <p:cNvGraphicFramePr>
              <a:graphicFrameLocks noChangeAspect="1"/>
            </p:cNvGraphicFramePr>
            <p:nvPr/>
          </p:nvGraphicFramePr>
          <p:xfrm>
            <a:off x="192" y="3456"/>
            <a:ext cx="480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5" imgW="3810000" imgH="266700" progId="Equation.3">
                    <p:embed/>
                  </p:oleObj>
                </mc:Choice>
                <mc:Fallback>
                  <p:oleObj name="" r:id="rId5" imgW="3810000" imgH="2667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2" y="3456"/>
                          <a:ext cx="4800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Text Box 5"/>
          <p:cNvSpPr txBox="1"/>
          <p:nvPr/>
        </p:nvSpPr>
        <p:spPr>
          <a:xfrm>
            <a:off x="288925" y="325438"/>
            <a:ext cx="32448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（三）数字显示译码器</a:t>
            </a:r>
            <a:endParaRPr lang="zh-CN" altLang="en-US" sz="2400" b="1" dirty="0"/>
          </a:p>
        </p:txBody>
      </p:sp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5715000" y="457200"/>
          <a:ext cx="17526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" imgW="847725" imgH="1219200" progId="Paint.Picture">
                  <p:embed/>
                </p:oleObj>
              </mc:Choice>
              <mc:Fallback>
                <p:oleObj name="" r:id="rId1" imgW="847725" imgH="1219200" progId="Paint.Picture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15000" y="457200"/>
                        <a:ext cx="1752600" cy="205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Text Box 7"/>
          <p:cNvSpPr txBox="1"/>
          <p:nvPr/>
        </p:nvSpPr>
        <p:spPr>
          <a:xfrm>
            <a:off x="381000" y="990600"/>
            <a:ext cx="24733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）七段数码管</a:t>
            </a:r>
            <a:endParaRPr lang="zh-CN" altLang="en-US" sz="2400" b="1" dirty="0"/>
          </a:p>
        </p:txBody>
      </p:sp>
      <p:sp>
        <p:nvSpPr>
          <p:cNvPr id="40968" name="Text Box 8"/>
          <p:cNvSpPr txBox="1"/>
          <p:nvPr/>
        </p:nvSpPr>
        <p:spPr>
          <a:xfrm>
            <a:off x="304800" y="3505200"/>
            <a:ext cx="30956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）七段显示译码器</a:t>
            </a:r>
            <a:endParaRPr lang="zh-CN" altLang="en-US" sz="2400" b="1" dirty="0"/>
          </a:p>
        </p:txBody>
      </p:sp>
      <p:grpSp>
        <p:nvGrpSpPr>
          <p:cNvPr id="2" name="Group 19"/>
          <p:cNvGrpSpPr/>
          <p:nvPr/>
        </p:nvGrpSpPr>
        <p:grpSpPr>
          <a:xfrm>
            <a:off x="757238" y="2128838"/>
            <a:ext cx="1117600" cy="1076325"/>
            <a:chOff x="477" y="1341"/>
            <a:chExt cx="704" cy="678"/>
          </a:xfrm>
        </p:grpSpPr>
        <p:sp>
          <p:nvSpPr>
            <p:cNvPr id="36879" name="Text Box 10"/>
            <p:cNvSpPr txBox="1"/>
            <p:nvPr/>
          </p:nvSpPr>
          <p:spPr>
            <a:xfrm>
              <a:off x="477" y="1341"/>
              <a:ext cx="704" cy="294"/>
            </a:xfrm>
            <a:prstGeom prst="rect">
              <a:avLst/>
            </a:prstGeom>
            <a:solidFill>
              <a:srgbClr val="FFFF66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共阴极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36880" name="Rectangle 12"/>
            <p:cNvSpPr/>
            <p:nvPr/>
          </p:nvSpPr>
          <p:spPr>
            <a:xfrm>
              <a:off x="477" y="1725"/>
              <a:ext cx="704" cy="294"/>
            </a:xfrm>
            <a:prstGeom prst="rect">
              <a:avLst/>
            </a:prstGeom>
            <a:solidFill>
              <a:srgbClr val="FFFF66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共阳极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40974" name="Text Box 14"/>
          <p:cNvSpPr txBox="1"/>
          <p:nvPr/>
        </p:nvSpPr>
        <p:spPr>
          <a:xfrm>
            <a:off x="1674813" y="2133600"/>
            <a:ext cx="17113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：高电平亮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0975" name="Text Box 15"/>
          <p:cNvSpPr txBox="1"/>
          <p:nvPr/>
        </p:nvSpPr>
        <p:spPr>
          <a:xfrm>
            <a:off x="1674813" y="2743200"/>
            <a:ext cx="17113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：低电平亮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0976" name="Text Box 16"/>
          <p:cNvSpPr txBox="1"/>
          <p:nvPr/>
        </p:nvSpPr>
        <p:spPr>
          <a:xfrm>
            <a:off x="665163" y="1600200"/>
            <a:ext cx="41878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每一段由一个发光二极管组成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0977" name="Text Box 17"/>
          <p:cNvSpPr txBox="1"/>
          <p:nvPr/>
        </p:nvSpPr>
        <p:spPr>
          <a:xfrm>
            <a:off x="377825" y="4191000"/>
            <a:ext cx="3248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输入：二</a:t>
            </a:r>
            <a:r>
              <a:rPr lang="en-US" altLang="zh-CN" sz="2400" b="1" dirty="0"/>
              <a:t>—</a:t>
            </a:r>
            <a:r>
              <a:rPr lang="zh-CN" altLang="en-US" sz="2400" b="1" dirty="0">
                <a:latin typeface="宋体" panose="02010600030101010101" pitchFamily="2" charset="-122"/>
              </a:rPr>
              <a:t>十进制代码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0978" name="Text Box 18"/>
          <p:cNvSpPr txBox="1"/>
          <p:nvPr/>
        </p:nvSpPr>
        <p:spPr>
          <a:xfrm>
            <a:off x="381000" y="4870450"/>
            <a:ext cx="3352800" cy="1200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输出：译码结果，可驱动相应的七段数码管显示正确的数字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40981" name="Object 21"/>
          <p:cNvGraphicFramePr>
            <a:graphicFrameLocks noChangeAspect="1"/>
          </p:cNvGraphicFramePr>
          <p:nvPr/>
        </p:nvGraphicFramePr>
        <p:xfrm>
          <a:off x="3962400" y="2971800"/>
          <a:ext cx="4381500" cy="356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3" imgW="1790700" imgH="1457325" progId="Paint.Picture">
                  <p:embed/>
                </p:oleObj>
              </mc:Choice>
              <mc:Fallback>
                <p:oleObj name="" r:id="rId3" imgW="1790700" imgH="1457325" progId="Paint.Picture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62400" y="2971800"/>
                        <a:ext cx="4381500" cy="3565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3" name="Line 23"/>
          <p:cNvSpPr/>
          <p:nvPr/>
        </p:nvSpPr>
        <p:spPr>
          <a:xfrm>
            <a:off x="3581400" y="4419600"/>
            <a:ext cx="457200" cy="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984" name="Line 24"/>
          <p:cNvSpPr/>
          <p:nvPr/>
        </p:nvSpPr>
        <p:spPr>
          <a:xfrm flipV="1">
            <a:off x="3733800" y="4724400"/>
            <a:ext cx="3810000" cy="76200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09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09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7" grpId="0"/>
      <p:bldP spid="40968" grpId="0"/>
      <p:bldP spid="40974" grpId="0"/>
      <p:bldP spid="40975" grpId="0"/>
      <p:bldP spid="40976" grpId="0"/>
      <p:bldP spid="40977" grpId="0"/>
      <p:bldP spid="4097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5334000" y="0"/>
          <a:ext cx="350520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1" imgW="1836420" imgH="1568450" progId="Paint.Picture">
                  <p:embed/>
                </p:oleObj>
              </mc:Choice>
              <mc:Fallback>
                <p:oleObj name="" r:id="rId1" imgW="1836420" imgH="1568450" progId="Paint.Picture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34000" y="0"/>
                        <a:ext cx="3505200" cy="297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" name="Text Box 4"/>
          <p:cNvSpPr txBox="1"/>
          <p:nvPr/>
        </p:nvSpPr>
        <p:spPr>
          <a:xfrm>
            <a:off x="304800" y="381000"/>
            <a:ext cx="27574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3300"/>
                </a:solidFill>
              </a:rPr>
              <a:t>七段译码器</a:t>
            </a:r>
            <a:r>
              <a:rPr lang="en-US" altLang="zh-CN" sz="2400" b="1" dirty="0">
                <a:solidFill>
                  <a:srgbClr val="CC3300"/>
                </a:solidFill>
              </a:rPr>
              <a:t>CT7447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41989" name="Text Box 5"/>
          <p:cNvSpPr txBox="1"/>
          <p:nvPr/>
        </p:nvSpPr>
        <p:spPr>
          <a:xfrm>
            <a:off x="457200" y="990600"/>
            <a:ext cx="44529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D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BCD</a:t>
            </a:r>
            <a:r>
              <a:rPr lang="zh-CN" altLang="en-US" sz="2400" b="1" dirty="0"/>
              <a:t>码输入信号</a:t>
            </a:r>
            <a:endParaRPr lang="zh-CN" altLang="en-US" sz="2400" b="1" dirty="0"/>
          </a:p>
        </p:txBody>
      </p:sp>
      <p:sp>
        <p:nvSpPr>
          <p:cNvPr id="41990" name="Text Box 6"/>
          <p:cNvSpPr txBox="1"/>
          <p:nvPr/>
        </p:nvSpPr>
        <p:spPr>
          <a:xfrm>
            <a:off x="412750" y="1676400"/>
            <a:ext cx="41592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～</a:t>
            </a:r>
            <a:r>
              <a:rPr lang="en-US" altLang="zh-CN" sz="2400" b="1" dirty="0"/>
              <a:t>g</a:t>
            </a:r>
            <a:r>
              <a:rPr lang="zh-CN" altLang="en-US" sz="2400" b="1" dirty="0"/>
              <a:t>：译码输出，低电平有效</a:t>
            </a:r>
            <a:endParaRPr lang="zh-CN" altLang="en-US" sz="2400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381000" y="3200400"/>
            <a:ext cx="9055100" cy="822325"/>
            <a:chOff x="192" y="1690"/>
            <a:chExt cx="5704" cy="518"/>
          </a:xfrm>
        </p:grpSpPr>
        <p:sp>
          <p:nvSpPr>
            <p:cNvPr id="37930" name="Text Box 8"/>
            <p:cNvSpPr txBox="1"/>
            <p:nvPr/>
          </p:nvSpPr>
          <p:spPr>
            <a:xfrm>
              <a:off x="192" y="1690"/>
              <a:ext cx="5704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（１）熄灭信号输入。低电平时，输出</a:t>
              </a:r>
              <a:r>
                <a:rPr lang="en-US" altLang="zh-CN" sz="2400" b="1" dirty="0"/>
                <a:t>a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～</a:t>
              </a:r>
              <a:r>
                <a:rPr lang="en-US" altLang="zh-CN" sz="2400" b="1" dirty="0"/>
                <a:t>g</a:t>
              </a:r>
              <a:r>
                <a:rPr lang="zh-CN" altLang="en-US" sz="2400" b="1" dirty="0"/>
                <a:t>均为高电平（全灭）；</a:t>
              </a:r>
              <a:endParaRPr lang="zh-CN" altLang="en-US" sz="24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（２）灭零输出信号。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37931" name="Object 9"/>
            <p:cNvGraphicFramePr>
              <a:graphicFrameLocks noChangeAspect="1"/>
            </p:cNvGraphicFramePr>
            <p:nvPr/>
          </p:nvGraphicFramePr>
          <p:xfrm>
            <a:off x="2160" y="1920"/>
            <a:ext cx="38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" name="" r:id="rId3" imgW="304800" imgH="203200" progId="Equation.3">
                    <p:embed/>
                  </p:oleObj>
                </mc:Choice>
                <mc:Fallback>
                  <p:oleObj name="" r:id="rId3" imgW="304800" imgH="203200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60" y="1920"/>
                          <a:ext cx="383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32" name="Text Box 10"/>
            <p:cNvSpPr txBox="1"/>
            <p:nvPr/>
          </p:nvSpPr>
          <p:spPr>
            <a:xfrm>
              <a:off x="2542" y="1920"/>
              <a:ext cx="6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=0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时，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37933" name="Object 11"/>
            <p:cNvGraphicFramePr>
              <a:graphicFrameLocks noChangeAspect="1"/>
            </p:cNvGraphicFramePr>
            <p:nvPr/>
          </p:nvGraphicFramePr>
          <p:xfrm>
            <a:off x="3072" y="1928"/>
            <a:ext cx="463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5" imgW="355600" imgH="215900" progId="Equation.3">
                    <p:embed/>
                  </p:oleObj>
                </mc:Choice>
                <mc:Fallback>
                  <p:oleObj name="" r:id="rId5" imgW="355600" imgH="2159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072" y="1928"/>
                          <a:ext cx="463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34" name="Text Box 12"/>
            <p:cNvSpPr txBox="1"/>
            <p:nvPr/>
          </p:nvSpPr>
          <p:spPr>
            <a:xfrm>
              <a:off x="3504" y="1920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=0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" name="Group 36"/>
          <p:cNvGrpSpPr/>
          <p:nvPr/>
        </p:nvGrpSpPr>
        <p:grpSpPr>
          <a:xfrm>
            <a:off x="609600" y="4191000"/>
            <a:ext cx="8534400" cy="914400"/>
            <a:chOff x="384" y="2640"/>
            <a:chExt cx="5376" cy="576"/>
          </a:xfrm>
        </p:grpSpPr>
        <p:graphicFrame>
          <p:nvGraphicFramePr>
            <p:cNvPr id="37921" name="Object 14"/>
            <p:cNvGraphicFramePr>
              <a:graphicFrameLocks noChangeAspect="1"/>
            </p:cNvGraphicFramePr>
            <p:nvPr/>
          </p:nvGraphicFramePr>
          <p:xfrm>
            <a:off x="384" y="2640"/>
            <a:ext cx="295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" r:id="rId7" imgW="241300" imgH="203200" progId="Equation.3">
                    <p:embed/>
                  </p:oleObj>
                </mc:Choice>
                <mc:Fallback>
                  <p:oleObj name="" r:id="rId7" imgW="241300" imgH="203200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84" y="2640"/>
                          <a:ext cx="295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7922" name="Group 33"/>
            <p:cNvGrpSpPr/>
            <p:nvPr/>
          </p:nvGrpSpPr>
          <p:grpSpPr>
            <a:xfrm>
              <a:off x="768" y="2640"/>
              <a:ext cx="4992" cy="576"/>
              <a:chOff x="768" y="2880"/>
              <a:chExt cx="4992" cy="576"/>
            </a:xfrm>
          </p:grpSpPr>
          <p:grpSp>
            <p:nvGrpSpPr>
              <p:cNvPr id="37923" name="Group 23"/>
              <p:cNvGrpSpPr/>
              <p:nvPr/>
            </p:nvGrpSpPr>
            <p:grpSpPr>
              <a:xfrm>
                <a:off x="768" y="2880"/>
                <a:ext cx="4992" cy="336"/>
                <a:chOff x="768" y="2496"/>
                <a:chExt cx="4992" cy="336"/>
              </a:xfrm>
            </p:grpSpPr>
            <p:sp>
              <p:nvSpPr>
                <p:cNvPr id="37925" name="Text Box 16"/>
                <p:cNvSpPr txBox="1"/>
                <p:nvPr/>
              </p:nvSpPr>
              <p:spPr>
                <a:xfrm>
                  <a:off x="768" y="2515"/>
                  <a:ext cx="499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2400" b="1" dirty="0"/>
                    <a:t>：试灯信号输入。当</a:t>
                  </a:r>
                  <a:endParaRPr lang="zh-CN" altLang="en-US" sz="2400" b="1" dirty="0">
                    <a:latin typeface="宋体" panose="02010600030101010101" pitchFamily="2" charset="-122"/>
                  </a:endParaRPr>
                </a:p>
              </p:txBody>
            </p:sp>
            <p:graphicFrame>
              <p:nvGraphicFramePr>
                <p:cNvPr id="37926" name="Object 17"/>
                <p:cNvGraphicFramePr>
                  <a:graphicFrameLocks noChangeAspect="1"/>
                </p:cNvGraphicFramePr>
                <p:nvPr/>
              </p:nvGraphicFramePr>
              <p:xfrm>
                <a:off x="3360" y="2496"/>
                <a:ext cx="384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30" name="" r:id="rId9" imgW="203200" imgH="203200" progId="Equation.3">
                        <p:embed/>
                      </p:oleObj>
                    </mc:Choice>
                    <mc:Fallback>
                      <p:oleObj name="" r:id="rId9" imgW="203200" imgH="203200" progId="Equation.3">
                        <p:embed/>
                        <p:pic>
                          <p:nvPicPr>
                            <p:cNvPr id="0" name="图片 3129"/>
                            <p:cNvPicPr/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360" y="2496"/>
                              <a:ext cx="384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7927" name="Text Box 18"/>
                <p:cNvSpPr txBox="1"/>
                <p:nvPr/>
              </p:nvSpPr>
              <p:spPr>
                <a:xfrm>
                  <a:off x="3696" y="2496"/>
                  <a:ext cx="152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/>
                    <a:t>= 1</a:t>
                  </a:r>
                  <a:r>
                    <a:rPr lang="zh-CN" altLang="en-US" sz="2400" b="1" dirty="0"/>
                    <a:t>（无效）时，</a:t>
                  </a:r>
                  <a:endParaRPr lang="zh-CN" altLang="en-US" sz="2400" b="1" dirty="0">
                    <a:latin typeface="宋体" panose="02010600030101010101" pitchFamily="2" charset="-122"/>
                  </a:endParaRPr>
                </a:p>
              </p:txBody>
            </p:sp>
            <p:graphicFrame>
              <p:nvGraphicFramePr>
                <p:cNvPr id="37928" name="Object 19"/>
                <p:cNvGraphicFramePr>
                  <a:graphicFrameLocks noChangeAspect="1"/>
                </p:cNvGraphicFramePr>
                <p:nvPr/>
              </p:nvGraphicFramePr>
              <p:xfrm>
                <a:off x="2640" y="2496"/>
                <a:ext cx="384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32" name="" r:id="rId11" imgW="241300" imgH="203200" progId="Equation.3">
                        <p:embed/>
                      </p:oleObj>
                    </mc:Choice>
                    <mc:Fallback>
                      <p:oleObj name="" r:id="rId11" imgW="241300" imgH="203200" progId="Equation.3">
                        <p:embed/>
                        <p:pic>
                          <p:nvPicPr>
                            <p:cNvPr id="0" name="图片 3131"/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640" y="2496"/>
                              <a:ext cx="384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7929" name="Text Box 21"/>
                <p:cNvSpPr txBox="1"/>
                <p:nvPr/>
              </p:nvSpPr>
              <p:spPr>
                <a:xfrm>
                  <a:off x="2880" y="2544"/>
                  <a:ext cx="51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/>
                    <a:t>=0</a:t>
                  </a:r>
                  <a:r>
                    <a:rPr lang="zh-CN" altLang="en-US" sz="2400" b="1" dirty="0"/>
                    <a:t>且</a:t>
                  </a:r>
                  <a:endParaRPr lang="zh-CN" altLang="en-US" sz="2400" b="1" dirty="0"/>
                </a:p>
              </p:txBody>
            </p:sp>
          </p:grpSp>
          <p:sp>
            <p:nvSpPr>
              <p:cNvPr id="37924" name="Text Box 22"/>
              <p:cNvSpPr txBox="1"/>
              <p:nvPr/>
            </p:nvSpPr>
            <p:spPr>
              <a:xfrm>
                <a:off x="1008" y="3168"/>
                <a:ext cx="330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不论</a:t>
                </a:r>
                <a:r>
                  <a:rPr lang="en-US" altLang="zh-CN" sz="2400" b="1" dirty="0"/>
                  <a:t>D</a:t>
                </a:r>
                <a:r>
                  <a:rPr lang="zh-CN" altLang="en-US" sz="2400" b="1" dirty="0">
                    <a:latin typeface="宋体" panose="02010600030101010101" pitchFamily="2" charset="-122"/>
                  </a:rPr>
                  <a:t>～</a:t>
                </a:r>
                <a:r>
                  <a:rPr lang="en-US" altLang="zh-CN" sz="2400" b="1" dirty="0"/>
                  <a:t>A</a:t>
                </a:r>
                <a:r>
                  <a:rPr lang="zh-CN" altLang="en-US" sz="2400" b="1" dirty="0"/>
                  <a:t>状态如何，</a:t>
                </a:r>
                <a:r>
                  <a:rPr lang="en-US" altLang="zh-CN" sz="2400" b="1" dirty="0"/>
                  <a:t>a</a:t>
                </a:r>
                <a:r>
                  <a:rPr lang="zh-CN" altLang="en-US" sz="2400" b="1" dirty="0">
                    <a:latin typeface="宋体" panose="02010600030101010101" pitchFamily="2" charset="-122"/>
                  </a:rPr>
                  <a:t>～</a:t>
                </a:r>
                <a:r>
                  <a:rPr lang="en-US" altLang="zh-CN" sz="2400" b="1" dirty="0"/>
                  <a:t>g</a:t>
                </a:r>
                <a:r>
                  <a:rPr lang="zh-CN" altLang="en-US" sz="2400" b="1" dirty="0"/>
                  <a:t>七段全亮。</a:t>
                </a:r>
                <a:endParaRPr lang="zh-CN" altLang="en-US" sz="2400" b="1" dirty="0"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6" name="Group 34"/>
          <p:cNvGrpSpPr/>
          <p:nvPr/>
        </p:nvGrpSpPr>
        <p:grpSpPr>
          <a:xfrm>
            <a:off x="457200" y="2514600"/>
            <a:ext cx="5164138" cy="533400"/>
            <a:chOff x="288" y="1296"/>
            <a:chExt cx="3253" cy="336"/>
          </a:xfrm>
        </p:grpSpPr>
        <p:graphicFrame>
          <p:nvGraphicFramePr>
            <p:cNvPr id="37919" name="Object 7"/>
            <p:cNvGraphicFramePr>
              <a:graphicFrameLocks noChangeAspect="1"/>
            </p:cNvGraphicFramePr>
            <p:nvPr/>
          </p:nvGraphicFramePr>
          <p:xfrm>
            <a:off x="288" y="1296"/>
            <a:ext cx="72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13" imgW="609600" imgH="215900" progId="Equation.3">
                    <p:embed/>
                  </p:oleObj>
                </mc:Choice>
                <mc:Fallback>
                  <p:oleObj name="" r:id="rId13" imgW="609600" imgH="2159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88" y="1296"/>
                          <a:ext cx="720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20" name="Text Box 24"/>
            <p:cNvSpPr txBox="1"/>
            <p:nvPr/>
          </p:nvSpPr>
          <p:spPr>
            <a:xfrm>
              <a:off x="1056" y="1344"/>
              <a:ext cx="248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熄灭信号输入</a:t>
              </a:r>
              <a:r>
                <a:rPr lang="en-US" altLang="zh-CN" sz="2400" b="1" dirty="0"/>
                <a:t>/</a:t>
              </a:r>
              <a:r>
                <a:rPr lang="zh-CN" altLang="en-US" sz="2400" b="1" dirty="0"/>
                <a:t>灭零输出信号</a:t>
              </a:r>
              <a:endParaRPr lang="zh-CN" altLang="en-US" sz="2400" b="1" dirty="0"/>
            </a:p>
          </p:txBody>
        </p:sp>
      </p:grpSp>
      <p:grpSp>
        <p:nvGrpSpPr>
          <p:cNvPr id="7" name="Group 37"/>
          <p:cNvGrpSpPr/>
          <p:nvPr/>
        </p:nvGrpSpPr>
        <p:grpSpPr>
          <a:xfrm>
            <a:off x="533400" y="5334000"/>
            <a:ext cx="8153400" cy="1158875"/>
            <a:chOff x="336" y="3360"/>
            <a:chExt cx="5136" cy="730"/>
          </a:xfrm>
        </p:grpSpPr>
        <p:sp>
          <p:nvSpPr>
            <p:cNvPr id="37910" name="Text Box 3"/>
            <p:cNvSpPr txBox="1"/>
            <p:nvPr/>
          </p:nvSpPr>
          <p:spPr>
            <a:xfrm>
              <a:off x="432" y="3802"/>
              <a:ext cx="50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/>
            </a:p>
          </p:txBody>
        </p:sp>
        <p:grpSp>
          <p:nvGrpSpPr>
            <p:cNvPr id="37911" name="Group 35"/>
            <p:cNvGrpSpPr/>
            <p:nvPr/>
          </p:nvGrpSpPr>
          <p:grpSpPr>
            <a:xfrm>
              <a:off x="336" y="3360"/>
              <a:ext cx="5132" cy="672"/>
              <a:chOff x="336" y="3360"/>
              <a:chExt cx="5132" cy="672"/>
            </a:xfrm>
          </p:grpSpPr>
          <p:graphicFrame>
            <p:nvGraphicFramePr>
              <p:cNvPr id="37912" name="Object 28"/>
              <p:cNvGraphicFramePr>
                <a:graphicFrameLocks noChangeAspect="1"/>
              </p:cNvGraphicFramePr>
              <p:nvPr/>
            </p:nvGraphicFramePr>
            <p:xfrm>
              <a:off x="2064" y="3744"/>
              <a:ext cx="295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1" name="" r:id="rId15" imgW="241300" imgH="203200" progId="Equation.3">
                      <p:embed/>
                    </p:oleObj>
                  </mc:Choice>
                  <mc:Fallback>
                    <p:oleObj name="" r:id="rId15" imgW="241300" imgH="203200" progId="Equation.3">
                      <p:embed/>
                      <p:pic>
                        <p:nvPicPr>
                          <p:cNvPr id="0" name="图片 3100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064" y="3744"/>
                            <a:ext cx="295" cy="2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7913" name="Group 32"/>
              <p:cNvGrpSpPr/>
              <p:nvPr/>
            </p:nvGrpSpPr>
            <p:grpSpPr>
              <a:xfrm>
                <a:off x="336" y="3360"/>
                <a:ext cx="5132" cy="672"/>
                <a:chOff x="336" y="2976"/>
                <a:chExt cx="5132" cy="672"/>
              </a:xfrm>
            </p:grpSpPr>
            <p:graphicFrame>
              <p:nvGraphicFramePr>
                <p:cNvPr id="37914" name="Object 15"/>
                <p:cNvGraphicFramePr>
                  <a:graphicFrameLocks noChangeAspect="1"/>
                </p:cNvGraphicFramePr>
                <p:nvPr/>
              </p:nvGraphicFramePr>
              <p:xfrm>
                <a:off x="336" y="2976"/>
                <a:ext cx="432" cy="30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98" name="" r:id="rId16" imgW="304800" imgH="203200" progId="Equation.3">
                        <p:embed/>
                      </p:oleObj>
                    </mc:Choice>
                    <mc:Fallback>
                      <p:oleObj name="" r:id="rId16" imgW="304800" imgH="203200" progId="Equation.3">
                        <p:embed/>
                        <p:pic>
                          <p:nvPicPr>
                            <p:cNvPr id="0" name="图片 3097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36" y="2976"/>
                              <a:ext cx="432" cy="30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7915" name="Text Box 26"/>
                <p:cNvSpPr txBox="1"/>
                <p:nvPr/>
              </p:nvSpPr>
              <p:spPr>
                <a:xfrm>
                  <a:off x="918" y="3024"/>
                  <a:ext cx="455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2400" b="1" dirty="0"/>
                    <a:t>：灭零输入信号（不显示０，其它数码正常显示）。</a:t>
                  </a:r>
                  <a:endParaRPr lang="zh-CN" altLang="en-US" sz="2400" b="1" dirty="0"/>
                </a:p>
              </p:txBody>
            </p:sp>
            <p:graphicFrame>
              <p:nvGraphicFramePr>
                <p:cNvPr id="37916" name="Object 29"/>
                <p:cNvGraphicFramePr>
                  <a:graphicFrameLocks noChangeAspect="1"/>
                </p:cNvGraphicFramePr>
                <p:nvPr/>
              </p:nvGraphicFramePr>
              <p:xfrm>
                <a:off x="1152" y="3312"/>
                <a:ext cx="576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99" name="" r:id="rId17" imgW="304800" imgH="203200" progId="Equation.3">
                        <p:embed/>
                      </p:oleObj>
                    </mc:Choice>
                    <mc:Fallback>
                      <p:oleObj name="" r:id="rId17" imgW="304800" imgH="203200" progId="Equation.3">
                        <p:embed/>
                        <p:pic>
                          <p:nvPicPr>
                            <p:cNvPr id="0" name="图片 3098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" y="3312"/>
                              <a:ext cx="576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7917" name="Text Box 30"/>
                <p:cNvSpPr txBox="1"/>
                <p:nvPr/>
              </p:nvSpPr>
              <p:spPr>
                <a:xfrm>
                  <a:off x="1585" y="3360"/>
                  <a:ext cx="49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宋体" panose="02010600030101010101" pitchFamily="2" charset="-122"/>
                    </a:rPr>
                    <a:t>=0</a:t>
                  </a:r>
                  <a:r>
                    <a:rPr lang="zh-CN" altLang="en-US" sz="2400" b="1" dirty="0">
                      <a:latin typeface="宋体" panose="02010600030101010101" pitchFamily="2" charset="-122"/>
                    </a:rPr>
                    <a:t>（</a:t>
                  </a:r>
                  <a:endParaRPr lang="zh-CN" altLang="en-US" sz="2400" b="1" dirty="0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37918" name="Text Box 31"/>
                <p:cNvSpPr txBox="1"/>
                <p:nvPr/>
              </p:nvSpPr>
              <p:spPr>
                <a:xfrm>
                  <a:off x="2351" y="3360"/>
                  <a:ext cx="2253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/>
                    <a:t>=</a:t>
                  </a:r>
                  <a:r>
                    <a:rPr lang="zh-CN" altLang="en-US" sz="2400" b="1" dirty="0"/>
                    <a:t>１）时，不显示数码</a:t>
                  </a:r>
                  <a:r>
                    <a:rPr lang="en-US" altLang="zh-CN" sz="2400" b="1" dirty="0"/>
                    <a:t>0</a:t>
                  </a:r>
                  <a:r>
                    <a:rPr lang="zh-CN" altLang="en-US" sz="2400" b="1" dirty="0"/>
                    <a:t>。</a:t>
                  </a:r>
                  <a:endParaRPr lang="zh-CN" altLang="en-US" sz="2400" b="1" dirty="0"/>
                </a:p>
              </p:txBody>
            </p:sp>
          </p:grpSp>
        </p:grpSp>
      </p:grpSp>
      <p:grpSp>
        <p:nvGrpSpPr>
          <p:cNvPr id="10" name="Group 43"/>
          <p:cNvGrpSpPr/>
          <p:nvPr/>
        </p:nvGrpSpPr>
        <p:grpSpPr>
          <a:xfrm>
            <a:off x="5715000" y="457200"/>
            <a:ext cx="762000" cy="609600"/>
            <a:chOff x="3792" y="288"/>
            <a:chExt cx="480" cy="384"/>
          </a:xfrm>
        </p:grpSpPr>
        <p:sp>
          <p:nvSpPr>
            <p:cNvPr id="37906" name="Line 39"/>
            <p:cNvSpPr/>
            <p:nvPr/>
          </p:nvSpPr>
          <p:spPr>
            <a:xfrm>
              <a:off x="3888" y="288"/>
              <a:ext cx="38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7" name="Line 40"/>
            <p:cNvSpPr/>
            <p:nvPr/>
          </p:nvSpPr>
          <p:spPr>
            <a:xfrm>
              <a:off x="3792" y="432"/>
              <a:ext cx="480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8" name="Line 41"/>
            <p:cNvSpPr/>
            <p:nvPr/>
          </p:nvSpPr>
          <p:spPr>
            <a:xfrm>
              <a:off x="3840" y="576"/>
              <a:ext cx="432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9" name="Line 42"/>
            <p:cNvSpPr/>
            <p:nvPr/>
          </p:nvSpPr>
          <p:spPr>
            <a:xfrm>
              <a:off x="3840" y="672"/>
              <a:ext cx="432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2028" name="Rectangle 44"/>
          <p:cNvSpPr/>
          <p:nvPr/>
        </p:nvSpPr>
        <p:spPr>
          <a:xfrm>
            <a:off x="8382000" y="304800"/>
            <a:ext cx="609600" cy="19812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2029" name="Line 45"/>
          <p:cNvSpPr/>
          <p:nvPr/>
        </p:nvSpPr>
        <p:spPr>
          <a:xfrm>
            <a:off x="5867400" y="1676400"/>
            <a:ext cx="3810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30" name="Line 46"/>
          <p:cNvSpPr/>
          <p:nvPr/>
        </p:nvSpPr>
        <p:spPr>
          <a:xfrm>
            <a:off x="5791200" y="1905000"/>
            <a:ext cx="4572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1" name="Group 50"/>
          <p:cNvGrpSpPr/>
          <p:nvPr/>
        </p:nvGrpSpPr>
        <p:grpSpPr>
          <a:xfrm>
            <a:off x="5867400" y="2133600"/>
            <a:ext cx="457200" cy="228600"/>
            <a:chOff x="3696" y="1344"/>
            <a:chExt cx="288" cy="144"/>
          </a:xfrm>
        </p:grpSpPr>
        <p:sp>
          <p:nvSpPr>
            <p:cNvPr id="37903" name="Line 47"/>
            <p:cNvSpPr/>
            <p:nvPr/>
          </p:nvSpPr>
          <p:spPr>
            <a:xfrm>
              <a:off x="3696" y="1488"/>
              <a:ext cx="288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4" name="Line 48"/>
            <p:cNvSpPr/>
            <p:nvPr/>
          </p:nvSpPr>
          <p:spPr>
            <a:xfrm flipV="1">
              <a:off x="3840" y="1344"/>
              <a:ext cx="0" cy="9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5" name="Line 49"/>
            <p:cNvSpPr/>
            <p:nvPr/>
          </p:nvSpPr>
          <p:spPr>
            <a:xfrm>
              <a:off x="3840" y="1344"/>
              <a:ext cx="96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/>
      <p:bldP spid="41990" grpId="0"/>
      <p:bldP spid="420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Text Box 4"/>
          <p:cNvSpPr txBox="1"/>
          <p:nvPr/>
        </p:nvSpPr>
        <p:spPr>
          <a:xfrm>
            <a:off x="457200" y="838200"/>
            <a:ext cx="8305800" cy="5873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3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/>
              <a:t>（一）</a:t>
            </a:r>
            <a:r>
              <a:rPr lang="zh-CN" altLang="en-US" sz="2400" b="1" dirty="0">
                <a:latin typeface="宋体" panose="02010600030101010101" pitchFamily="2" charset="-122"/>
              </a:rPr>
              <a:t>二进制编码器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35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 用</a:t>
            </a:r>
            <a:r>
              <a:rPr lang="en-US" altLang="zh-CN" sz="2400" b="1" i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位二进制代码对</a:t>
            </a:r>
            <a:r>
              <a:rPr lang="en-US" altLang="zh-CN" sz="2400" b="1" i="1" dirty="0">
                <a:latin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宋体" panose="02010600030101010101" pitchFamily="2" charset="-122"/>
              </a:rPr>
              <a:t>=2</a:t>
            </a:r>
            <a:r>
              <a:rPr lang="en-US" altLang="zh-CN" sz="2400" b="1" i="1" baseline="30000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个一般信号进行编码的电路，叫做二进制编码器。例如</a:t>
            </a:r>
            <a:r>
              <a:rPr lang="en-US" altLang="zh-CN" sz="2400" b="1" i="1" dirty="0">
                <a:latin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宋体" panose="02010600030101010101" pitchFamily="2" charset="-122"/>
              </a:rPr>
              <a:t>=3</a:t>
            </a:r>
            <a:r>
              <a:rPr lang="zh-CN" altLang="en-US" sz="2400" b="1" dirty="0">
                <a:latin typeface="宋体" panose="02010600030101010101" pitchFamily="2" charset="-122"/>
              </a:rPr>
              <a:t>，可以对</a:t>
            </a:r>
            <a:r>
              <a:rPr lang="en-US" altLang="zh-CN" sz="2400" b="1" dirty="0">
                <a:latin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</a:rPr>
              <a:t>个一般信号进行编码。这种编码器有一个特点：任何时刻只允许输入一个有效信号，不允许同时出现两个或两个以上的有效信号，因而其输入是一组有约束</a:t>
            </a:r>
            <a:r>
              <a:rPr lang="en-US" altLang="zh-CN" sz="2400" b="1" dirty="0">
                <a:latin typeface="宋体" panose="02010600030101010101" pitchFamily="2" charset="-122"/>
              </a:rPr>
              <a:t>(</a:t>
            </a:r>
            <a:r>
              <a:rPr lang="zh-CN" altLang="en-US" sz="2400" b="1" dirty="0">
                <a:latin typeface="宋体" panose="02010600030101010101" pitchFamily="2" charset="-122"/>
              </a:rPr>
              <a:t>互相排斥</a:t>
            </a:r>
            <a:r>
              <a:rPr lang="en-US" altLang="zh-CN" sz="2400" b="1" dirty="0">
                <a:latin typeface="宋体" panose="02010600030101010101" pitchFamily="2" charset="-122"/>
              </a:rPr>
              <a:t>)</a:t>
            </a:r>
            <a:r>
              <a:rPr lang="zh-CN" altLang="en-US" sz="2400" b="1" dirty="0">
                <a:latin typeface="宋体" panose="02010600030101010101" pitchFamily="2" charset="-122"/>
              </a:rPr>
              <a:t>的变量。 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35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 现以三位二进制编码器为例，分析编码器的工作原理。图</a:t>
            </a:r>
            <a:r>
              <a:rPr lang="en-US" altLang="zh-CN" sz="2400" b="1" dirty="0">
                <a:latin typeface="宋体" panose="02010600030101010101" pitchFamily="2" charset="-122"/>
              </a:rPr>
              <a:t>4-9</a:t>
            </a:r>
            <a:r>
              <a:rPr lang="zh-CN" altLang="en-US" sz="2400" b="1" dirty="0">
                <a:latin typeface="宋体" panose="02010600030101010101" pitchFamily="2" charset="-122"/>
              </a:rPr>
              <a:t>是三位二进制编码器的框图，它的输入是</a:t>
            </a:r>
            <a:r>
              <a:rPr lang="en-US" altLang="zh-CN" sz="2400" b="1" i="1" dirty="0">
                <a:latin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宋体" panose="02010600030101010101" pitchFamily="2" charset="-122"/>
              </a:rPr>
              <a:t>~</a:t>
            </a:r>
            <a:r>
              <a:rPr lang="en-US" altLang="zh-CN" sz="2400" b="1" i="1" dirty="0">
                <a:latin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7</a:t>
            </a:r>
            <a:r>
              <a:rPr lang="en-US" altLang="zh-CN" sz="2400" b="1" dirty="0">
                <a:latin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</a:rPr>
              <a:t>个高电平信号，输出是三位二进制代码</a:t>
            </a:r>
            <a:r>
              <a:rPr lang="en-US" altLang="zh-CN" sz="2400" b="1" i="1" dirty="0">
                <a:latin typeface="宋体" panose="02010600030101010101" pitchFamily="2" charset="-122"/>
              </a:rPr>
              <a:t>F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i="1" dirty="0">
                <a:latin typeface="宋体" panose="02010600030101010101" pitchFamily="2" charset="-122"/>
              </a:rPr>
              <a:t>F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i="1" dirty="0">
                <a:latin typeface="宋体" panose="02010600030101010101" pitchFamily="2" charset="-122"/>
              </a:rPr>
              <a:t>F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。为此，又把它叫做</a:t>
            </a:r>
            <a:r>
              <a:rPr lang="en-US" altLang="zh-CN" sz="2400" b="1" dirty="0">
                <a:latin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</a:rPr>
              <a:t>线</a:t>
            </a:r>
            <a:r>
              <a:rPr lang="en-US" altLang="zh-CN" sz="2400" b="1" dirty="0">
                <a:latin typeface="宋体" panose="02010600030101010101" pitchFamily="2" charset="-122"/>
              </a:rPr>
              <a:t>—3</a:t>
            </a:r>
            <a:r>
              <a:rPr lang="zh-CN" altLang="en-US" sz="2400" b="1" dirty="0">
                <a:latin typeface="宋体" panose="02010600030101010101" pitchFamily="2" charset="-122"/>
              </a:rPr>
              <a:t>线编码器。输出与输入 的对应关系如表</a:t>
            </a:r>
            <a:r>
              <a:rPr lang="en-US" altLang="zh-CN" sz="2400" b="1" dirty="0">
                <a:latin typeface="宋体" panose="02010600030101010101" pitchFamily="2" charset="-122"/>
              </a:rPr>
              <a:t>4-6</a:t>
            </a:r>
            <a:r>
              <a:rPr lang="zh-CN" altLang="en-US" sz="2400" b="1" dirty="0">
                <a:latin typeface="宋体" panose="02010600030101010101" pitchFamily="2" charset="-122"/>
              </a:rPr>
              <a:t>所示。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9939" name="矩形 2"/>
          <p:cNvSpPr/>
          <p:nvPr/>
        </p:nvSpPr>
        <p:spPr>
          <a:xfrm>
            <a:off x="500063" y="285750"/>
            <a:ext cx="1731962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二、编码器</a:t>
            </a: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Text Box 4"/>
          <p:cNvSpPr txBox="1"/>
          <p:nvPr/>
        </p:nvSpPr>
        <p:spPr>
          <a:xfrm>
            <a:off x="2398713" y="5562600"/>
            <a:ext cx="52927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图  三位二进制</a:t>
            </a:r>
            <a:r>
              <a:rPr lang="en-US" altLang="zh-CN" sz="2400" b="1" dirty="0">
                <a:latin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</a:rPr>
              <a:t>线</a:t>
            </a:r>
            <a:r>
              <a:rPr lang="en-US" altLang="zh-CN" sz="2400" b="1" dirty="0">
                <a:latin typeface="宋体" panose="02010600030101010101" pitchFamily="2" charset="-122"/>
              </a:rPr>
              <a:t>—3</a:t>
            </a:r>
            <a:r>
              <a:rPr lang="zh-CN" altLang="en-US" sz="2400" b="1" dirty="0">
                <a:latin typeface="宋体" panose="02010600030101010101" pitchFamily="2" charset="-122"/>
              </a:rPr>
              <a:t>线编码器框图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40963" name="Object 2"/>
          <p:cNvGraphicFramePr>
            <a:graphicFrameLocks noChangeAspect="1"/>
          </p:cNvGraphicFramePr>
          <p:nvPr/>
        </p:nvGraphicFramePr>
        <p:xfrm>
          <a:off x="2667000" y="1219200"/>
          <a:ext cx="4876800" cy="423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1508760" imgH="1310640" progId="Visio.Drawing.4">
                  <p:embed/>
                </p:oleObj>
              </mc:Choice>
              <mc:Fallback>
                <p:oleObj name="" r:id="rId1" imgW="1508760" imgH="1310640" progId="Visio.Drawing.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67000" y="1219200"/>
                        <a:ext cx="4876800" cy="4237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Text Box 4"/>
          <p:cNvSpPr txBox="1"/>
          <p:nvPr/>
        </p:nvSpPr>
        <p:spPr>
          <a:xfrm>
            <a:off x="2714625" y="1066800"/>
            <a:ext cx="40513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三位二进制编码器的真值表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25663" name="Group 63"/>
          <p:cNvGraphicFramePr>
            <a:graphicFrameLocks noGrp="1"/>
          </p:cNvGraphicFramePr>
          <p:nvPr/>
        </p:nvGraphicFramePr>
        <p:xfrm>
          <a:off x="685800" y="1828800"/>
          <a:ext cx="6934200" cy="4673600"/>
        </p:xfrm>
        <a:graphic>
          <a:graphicData uri="http://schemas.openxmlformats.org/drawingml/2006/table">
            <a:tbl>
              <a:tblPr/>
              <a:tblGrid>
                <a:gridCol w="3467100"/>
                <a:gridCol w="3467100"/>
              </a:tblGrid>
              <a:tr h="719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 入 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6232" marB="462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   出 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6232" marB="462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77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2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2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  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  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   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   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  </a:t>
                      </a:r>
                      <a:endParaRPr kumimoji="1" lang="en-US" altLang="zh-CN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6232" marB="462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          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      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6232" marB="462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66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1      0    0     0      0      0     0     0    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0      1    0     0      0      0     0     0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0      0    1     0      0      0     0     0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0      0    0     1      0      0     0     0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0      0    0     0      1      0     0     0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0      0    0     0      0      1    0     0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0      0    0     0      0      0     1     0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0      0    0     0      0      0     0      1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6232" marB="462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0                 0                  0</a:t>
                      </a:r>
                      <a:endParaRPr kumimoji="1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0                 0                  1</a:t>
                      </a:r>
                      <a:endParaRPr kumimoji="1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0                 1                  0</a:t>
                      </a:r>
                      <a:endParaRPr kumimoji="1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0                 1                  1</a:t>
                      </a:r>
                      <a:endParaRPr kumimoji="1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1                  0                 0</a:t>
                      </a:r>
                      <a:endParaRPr kumimoji="1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1                  0                 1</a:t>
                      </a:r>
                      <a:endParaRPr kumimoji="1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1                  1                 0</a:t>
                      </a:r>
                      <a:endParaRPr kumimoji="1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1                  1                 1</a:t>
                      </a:r>
                      <a:endParaRPr kumimoji="1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6232" marB="462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Text Box 4"/>
          <p:cNvSpPr txBox="1"/>
          <p:nvPr/>
        </p:nvSpPr>
        <p:spPr>
          <a:xfrm>
            <a:off x="1066800" y="762000"/>
            <a:ext cx="61118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由表可得出编码器的输出函数为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pic>
        <p:nvPicPr>
          <p:cNvPr id="43011" name="Picture 5" descr="C:\WINDOWS\Desktop\未标题-1 拷贝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600200"/>
            <a:ext cx="8559800" cy="1166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2" name="Text Box 6"/>
          <p:cNvSpPr txBox="1"/>
          <p:nvPr/>
        </p:nvSpPr>
        <p:spPr>
          <a:xfrm>
            <a:off x="457200" y="3048000"/>
            <a:ext cx="8305800" cy="1114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4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  </a:t>
            </a:r>
            <a:r>
              <a:rPr lang="zh-CN" altLang="en-US" sz="2400" b="1" dirty="0">
                <a:latin typeface="宋体" panose="02010600030101010101" pitchFamily="2" charset="-122"/>
              </a:rPr>
              <a:t>因为任何时刻</a:t>
            </a:r>
            <a:r>
              <a:rPr lang="en-US" altLang="zh-CN" sz="2400" b="1" i="1" dirty="0">
                <a:latin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宋体" panose="02010600030101010101" pitchFamily="2" charset="-122"/>
              </a:rPr>
              <a:t>~</a:t>
            </a:r>
            <a:r>
              <a:rPr lang="en-US" altLang="zh-CN" sz="2400" b="1" i="1" dirty="0">
                <a:latin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7</a:t>
            </a:r>
            <a:r>
              <a:rPr lang="zh-CN" altLang="en-US" sz="2400" b="1" dirty="0">
                <a:latin typeface="宋体" panose="02010600030101010101" pitchFamily="2" charset="-122"/>
              </a:rPr>
              <a:t>当中仅有一个取值为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，利用这个约束条件将上式化简，得到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43013" name="Object 2"/>
          <p:cNvGraphicFramePr>
            <a:graphicFrameLocks noChangeAspect="1"/>
          </p:cNvGraphicFramePr>
          <p:nvPr/>
        </p:nvGraphicFramePr>
        <p:xfrm>
          <a:off x="3276600" y="4419600"/>
          <a:ext cx="3048000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2" imgW="1345565" imgH="862965" progId="Equation.3">
                  <p:embed/>
                </p:oleObj>
              </mc:Choice>
              <mc:Fallback>
                <p:oleObj name="" r:id="rId2" imgW="1345565" imgH="862965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76600" y="4419600"/>
                        <a:ext cx="3048000" cy="195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1" name="Text Box 3"/>
          <p:cNvSpPr txBox="1"/>
          <p:nvPr/>
        </p:nvSpPr>
        <p:spPr>
          <a:xfrm>
            <a:off x="457200" y="5434013"/>
            <a:ext cx="1611313" cy="519112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CC3300"/>
                </a:solidFill>
              </a:rPr>
              <a:t>优先编码</a:t>
            </a:r>
            <a:endParaRPr lang="zh-CN" altLang="en-US" sz="2400" b="1" dirty="0">
              <a:solidFill>
                <a:srgbClr val="CC3300"/>
              </a:solidFill>
            </a:endParaRPr>
          </a:p>
        </p:txBody>
      </p:sp>
      <p:sp>
        <p:nvSpPr>
          <p:cNvPr id="43013" name="Text Box 5"/>
          <p:cNvSpPr txBox="1"/>
          <p:nvPr/>
        </p:nvSpPr>
        <p:spPr>
          <a:xfrm>
            <a:off x="228600" y="914400"/>
            <a:ext cx="3676650" cy="11874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功能：输入</a:t>
            </a:r>
            <a:r>
              <a:rPr lang="en-US" altLang="zh-CN" sz="2400" b="1" dirty="0">
                <a:latin typeface="宋体" panose="02010600030101010101" pitchFamily="2" charset="-122"/>
              </a:rPr>
              <a:t>m</a:t>
            </a:r>
            <a:r>
              <a:rPr lang="zh-CN" altLang="en-US" sz="2400" b="1" dirty="0">
                <a:latin typeface="宋体" panose="02010600030101010101" pitchFamily="2" charset="-122"/>
              </a:rPr>
              <a:t>位代码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输出</a:t>
            </a: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位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二进制</a:t>
            </a:r>
            <a:r>
              <a:rPr lang="zh-CN" altLang="en-US" sz="2400" b="1" dirty="0">
                <a:latin typeface="宋体" panose="02010600030101010101" pitchFamily="2" charset="-122"/>
              </a:rPr>
              <a:t>代码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</a:t>
            </a:r>
            <a:r>
              <a:rPr lang="en-US" altLang="zh-CN" sz="2400" b="1" dirty="0">
                <a:latin typeface="宋体" panose="02010600030101010101" pitchFamily="2" charset="-122"/>
              </a:rPr>
              <a:t>m≤2</a:t>
            </a:r>
            <a:r>
              <a:rPr lang="en-US" altLang="zh-CN" sz="2400" b="1" baseline="30000" dirty="0">
                <a:latin typeface="宋体" panose="02010600030101010101" pitchFamily="2" charset="-122"/>
              </a:rPr>
              <a:t>n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43014" name="Text Box 6"/>
          <p:cNvSpPr txBox="1"/>
          <p:nvPr/>
        </p:nvSpPr>
        <p:spPr>
          <a:xfrm>
            <a:off x="457200" y="5959475"/>
            <a:ext cx="78486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优先编码器允许几个输入端</a:t>
            </a:r>
            <a:r>
              <a:rPr lang="zh-CN" altLang="en-US" sz="2400" b="1" dirty="0">
                <a:solidFill>
                  <a:srgbClr val="FF3300"/>
                </a:solidFill>
              </a:rPr>
              <a:t>同时</a:t>
            </a:r>
            <a:r>
              <a:rPr lang="zh-CN" altLang="en-US" sz="2400" b="1" dirty="0"/>
              <a:t>加上信号，电路只对其中</a:t>
            </a:r>
            <a:r>
              <a:rPr lang="zh-CN" altLang="en-US" sz="2400" b="1" dirty="0">
                <a:solidFill>
                  <a:srgbClr val="FF3300"/>
                </a:solidFill>
              </a:rPr>
              <a:t>优先级别最高的信号进行编码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sp>
        <p:nvSpPr>
          <p:cNvPr id="43015" name="Text Box 7"/>
          <p:cNvSpPr txBox="1"/>
          <p:nvPr/>
        </p:nvSpPr>
        <p:spPr>
          <a:xfrm>
            <a:off x="304800" y="3810000"/>
            <a:ext cx="8382000" cy="933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逻辑功能：任何一个输入端接低电平时，三个输出端有一组对应的二进制代码输出</a:t>
            </a:r>
            <a:endParaRPr lang="zh-CN" altLang="en-US" sz="2400" b="1" dirty="0"/>
          </a:p>
        </p:txBody>
      </p:sp>
      <p:sp>
        <p:nvSpPr>
          <p:cNvPr id="43018" name="Text Box 10"/>
          <p:cNvSpPr txBox="1"/>
          <p:nvPr/>
        </p:nvSpPr>
        <p:spPr>
          <a:xfrm>
            <a:off x="1588" y="2590800"/>
            <a:ext cx="4875212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将输入信号编成二进制代码的电路</a:t>
            </a:r>
            <a:endParaRPr lang="zh-CN" altLang="en-US" sz="2400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381000" y="457200"/>
            <a:ext cx="8458200" cy="3581400"/>
            <a:chOff x="240" y="288"/>
            <a:chExt cx="5328" cy="2256"/>
          </a:xfrm>
        </p:grpSpPr>
        <p:graphicFrame>
          <p:nvGraphicFramePr>
            <p:cNvPr id="44043" name="Object 0"/>
            <p:cNvGraphicFramePr>
              <a:graphicFrameLocks noChangeAspect="1"/>
            </p:cNvGraphicFramePr>
            <p:nvPr/>
          </p:nvGraphicFramePr>
          <p:xfrm>
            <a:off x="2880" y="288"/>
            <a:ext cx="2688" cy="2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1" imgW="3095625" imgH="2266950" progId="Paint.Picture">
                    <p:embed/>
                  </p:oleObj>
                </mc:Choice>
                <mc:Fallback>
                  <p:oleObj name="" r:id="rId1" imgW="3095625" imgH="2266950" progId="Paint.Picture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880" y="288"/>
                          <a:ext cx="2688" cy="2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4" name="Text Box 12"/>
            <p:cNvSpPr txBox="1"/>
            <p:nvPr/>
          </p:nvSpPr>
          <p:spPr>
            <a:xfrm>
              <a:off x="240" y="1920"/>
              <a:ext cx="316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如图：三位二进制编码器（ </a:t>
              </a:r>
              <a:r>
                <a:rPr lang="en-US" altLang="zh-CN" sz="2400" b="1" dirty="0"/>
                <a:t>8</a:t>
              </a:r>
              <a:r>
                <a:rPr lang="zh-CN" altLang="en-US" sz="2400" b="1" dirty="0"/>
                <a:t>线</a:t>
              </a:r>
              <a:r>
                <a:rPr lang="en-US" altLang="zh-CN" sz="2400" b="1" dirty="0"/>
                <a:t>—3</a:t>
              </a:r>
              <a:r>
                <a:rPr lang="zh-CN" altLang="en-US" sz="2400" b="1" dirty="0"/>
                <a:t>线编码器）。</a:t>
              </a:r>
              <a:endParaRPr lang="zh-CN" altLang="en-US" sz="2400" b="1" dirty="0"/>
            </a:p>
          </p:txBody>
        </p:sp>
      </p:grpSp>
      <p:grpSp>
        <p:nvGrpSpPr>
          <p:cNvPr id="3" name="Group 16"/>
          <p:cNvGrpSpPr/>
          <p:nvPr/>
        </p:nvGrpSpPr>
        <p:grpSpPr>
          <a:xfrm>
            <a:off x="381000" y="2133600"/>
            <a:ext cx="5416550" cy="3133725"/>
            <a:chOff x="240" y="1344"/>
            <a:chExt cx="3412" cy="1974"/>
          </a:xfrm>
        </p:grpSpPr>
        <p:sp>
          <p:nvSpPr>
            <p:cNvPr id="44041" name="Text Box 14"/>
            <p:cNvSpPr txBox="1"/>
            <p:nvPr/>
          </p:nvSpPr>
          <p:spPr>
            <a:xfrm>
              <a:off x="240" y="3024"/>
              <a:ext cx="3412" cy="294"/>
            </a:xfrm>
            <a:prstGeom prst="rect">
              <a:avLst/>
            </a:prstGeom>
            <a:solidFill>
              <a:srgbClr val="FFFF66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任何时刻只允许一个输入端有信号输入</a:t>
              </a:r>
              <a:endParaRPr lang="zh-CN" altLang="en-US" sz="2400" b="1" dirty="0"/>
            </a:p>
          </p:txBody>
        </p:sp>
        <p:sp>
          <p:nvSpPr>
            <p:cNvPr id="44042" name="Line 15"/>
            <p:cNvSpPr/>
            <p:nvPr/>
          </p:nvSpPr>
          <p:spPr>
            <a:xfrm flipV="1">
              <a:off x="2880" y="1344"/>
              <a:ext cx="624" cy="168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animBg="1"/>
      <p:bldP spid="43013" grpId="0"/>
      <p:bldP spid="43014" grpId="0"/>
      <p:bldP spid="43015" grpId="0"/>
      <p:bldP spid="4301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Text Box 4"/>
          <p:cNvSpPr txBox="1"/>
          <p:nvPr/>
        </p:nvSpPr>
        <p:spPr>
          <a:xfrm>
            <a:off x="609600" y="838200"/>
            <a:ext cx="8001000" cy="4838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5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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5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  优先编码器常用于优先中断系统和键盘编码。与普通编码器不同，优先编码器允许多个输入信号同时有效，但它只按其中优先级别最高的有效输入信号编码，对级别较低的输入信号不予理睬。常用的</a:t>
            </a:r>
            <a:r>
              <a:rPr lang="en-US" altLang="zh-CN" sz="2400" b="1" dirty="0">
                <a:latin typeface="宋体" panose="02010600030101010101" pitchFamily="2" charset="-122"/>
              </a:rPr>
              <a:t>MSI</a:t>
            </a:r>
            <a:r>
              <a:rPr lang="zh-CN" altLang="en-US" sz="2400" b="1" dirty="0">
                <a:latin typeface="宋体" panose="02010600030101010101" pitchFamily="2" charset="-122"/>
              </a:rPr>
              <a:t>优先编码器有</a:t>
            </a:r>
            <a:r>
              <a:rPr lang="en-US" altLang="zh-CN" sz="2400" b="1" dirty="0">
                <a:latin typeface="宋体" panose="02010600030101010101" pitchFamily="2" charset="-122"/>
              </a:rPr>
              <a:t>10</a:t>
            </a:r>
            <a:r>
              <a:rPr lang="zh-CN" altLang="en-US" sz="2400" b="1" dirty="0">
                <a:latin typeface="宋体" panose="02010600030101010101" pitchFamily="2" charset="-122"/>
              </a:rPr>
              <a:t>线</a:t>
            </a:r>
            <a:r>
              <a:rPr lang="en-US" altLang="zh-CN" sz="2400" b="1" dirty="0">
                <a:latin typeface="宋体" panose="02010600030101010101" pitchFamily="2" charset="-122"/>
              </a:rPr>
              <a:t>—4</a:t>
            </a:r>
            <a:r>
              <a:rPr lang="zh-CN" altLang="en-US" sz="2400" b="1" dirty="0">
                <a:latin typeface="宋体" panose="02010600030101010101" pitchFamily="2" charset="-122"/>
              </a:rPr>
              <a:t>线</a:t>
            </a:r>
            <a:r>
              <a:rPr lang="en-US" altLang="zh-CN" sz="2400" b="1" dirty="0">
                <a:latin typeface="宋体" panose="02010600030101010101" pitchFamily="2" charset="-122"/>
              </a:rPr>
              <a:t>(</a:t>
            </a:r>
            <a:r>
              <a:rPr lang="zh-CN" altLang="en-US" sz="2400" b="1" dirty="0">
                <a:latin typeface="宋体" panose="02010600030101010101" pitchFamily="2" charset="-122"/>
              </a:rPr>
              <a:t>如</a:t>
            </a:r>
            <a:r>
              <a:rPr lang="en-US" altLang="zh-CN" sz="2400" b="1" dirty="0">
                <a:latin typeface="宋体" panose="02010600030101010101" pitchFamily="2" charset="-122"/>
              </a:rPr>
              <a:t>74LS147)</a:t>
            </a:r>
            <a:r>
              <a:rPr lang="zh-CN" altLang="en-US" sz="2400" b="1" dirty="0">
                <a:latin typeface="宋体" panose="02010600030101010101" pitchFamily="2" charset="-122"/>
              </a:rPr>
              <a:t>、 </a:t>
            </a:r>
            <a:r>
              <a:rPr lang="en-US" altLang="zh-CN" sz="2400" b="1" dirty="0">
                <a:latin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</a:rPr>
              <a:t>线</a:t>
            </a:r>
            <a:r>
              <a:rPr lang="en-US" altLang="zh-CN" sz="2400" b="1" dirty="0">
                <a:latin typeface="宋体" panose="02010600030101010101" pitchFamily="2" charset="-122"/>
              </a:rPr>
              <a:t>—3</a:t>
            </a:r>
            <a:r>
              <a:rPr lang="zh-CN" altLang="en-US" sz="2400" b="1" dirty="0">
                <a:latin typeface="宋体" panose="02010600030101010101" pitchFamily="2" charset="-122"/>
              </a:rPr>
              <a:t>线</a:t>
            </a:r>
            <a:r>
              <a:rPr lang="en-US" altLang="zh-CN" sz="2400" b="1" dirty="0">
                <a:latin typeface="宋体" panose="02010600030101010101" pitchFamily="2" charset="-122"/>
              </a:rPr>
              <a:t>(</a:t>
            </a:r>
            <a:r>
              <a:rPr lang="zh-CN" altLang="en-US" sz="2400" b="1" dirty="0">
                <a:latin typeface="宋体" panose="02010600030101010101" pitchFamily="2" charset="-122"/>
              </a:rPr>
              <a:t>如</a:t>
            </a:r>
            <a:r>
              <a:rPr lang="en-US" altLang="zh-CN" sz="2400" b="1" dirty="0">
                <a:latin typeface="宋体" panose="02010600030101010101" pitchFamily="2" charset="-122"/>
              </a:rPr>
              <a:t>74LS148)</a:t>
            </a:r>
            <a:r>
              <a:rPr lang="zh-CN" altLang="en-US" sz="2400" b="1" dirty="0">
                <a:latin typeface="宋体" panose="02010600030101010101" pitchFamily="2" charset="-122"/>
              </a:rPr>
              <a:t>。 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5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   </a:t>
            </a:r>
            <a:r>
              <a:rPr lang="en-US" altLang="zh-CN" sz="2400" b="1" dirty="0">
                <a:latin typeface="宋体" panose="02010600030101010101" pitchFamily="2" charset="-122"/>
              </a:rPr>
              <a:t>74LS148</a:t>
            </a:r>
            <a:r>
              <a:rPr lang="zh-CN" altLang="en-US" sz="2400" b="1" dirty="0">
                <a:latin typeface="宋体" panose="02010600030101010101" pitchFamily="2" charset="-122"/>
              </a:rPr>
              <a:t>二进制优先编码器的逻辑符号如图所示。功能表如表所示。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Text Box 4"/>
          <p:cNvSpPr txBox="1"/>
          <p:nvPr/>
        </p:nvSpPr>
        <p:spPr>
          <a:xfrm>
            <a:off x="2819400" y="5715000"/>
            <a:ext cx="39020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图 </a:t>
            </a:r>
            <a:r>
              <a:rPr lang="en-US" altLang="zh-CN" sz="2400" b="1" dirty="0">
                <a:latin typeface="宋体" panose="02010600030101010101" pitchFamily="2" charset="-122"/>
              </a:rPr>
              <a:t>74LS148</a:t>
            </a:r>
            <a:r>
              <a:rPr lang="zh-CN" altLang="en-US" sz="2400" b="1" dirty="0">
                <a:latin typeface="宋体" panose="02010600030101010101" pitchFamily="2" charset="-122"/>
              </a:rPr>
              <a:t>逻辑符号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46083" name="Object 2"/>
          <p:cNvGraphicFramePr>
            <a:graphicFrameLocks noChangeAspect="1"/>
          </p:cNvGraphicFramePr>
          <p:nvPr/>
        </p:nvGraphicFramePr>
        <p:xfrm>
          <a:off x="2209800" y="1371600"/>
          <a:ext cx="5257800" cy="435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584960" imgH="1310640" progId="Visio.Drawing.4">
                  <p:embed/>
                </p:oleObj>
              </mc:Choice>
              <mc:Fallback>
                <p:oleObj name="" r:id="rId1" imgW="1584960" imgH="1310640" progId="Visio.Drawing.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09800" y="1371600"/>
                        <a:ext cx="5257800" cy="435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Text Box 4"/>
          <p:cNvSpPr txBox="1"/>
          <p:nvPr/>
        </p:nvSpPr>
        <p:spPr>
          <a:xfrm>
            <a:off x="3276600" y="685800"/>
            <a:ext cx="31305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表 </a:t>
            </a:r>
            <a:r>
              <a:rPr lang="en-US" altLang="zh-CN" sz="2400" b="1" dirty="0">
                <a:latin typeface="宋体" panose="02010600030101010101" pitchFamily="2" charset="-122"/>
              </a:rPr>
              <a:t>74LS148</a:t>
            </a:r>
            <a:r>
              <a:rPr lang="zh-CN" altLang="en-US" sz="2400" b="1" dirty="0">
                <a:latin typeface="宋体" panose="02010600030101010101" pitchFamily="2" charset="-122"/>
              </a:rPr>
              <a:t>的功能表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pic>
        <p:nvPicPr>
          <p:cNvPr id="47107" name="Picture 5" descr="C:\WINDOWS\Desktop\未标题-1 拷贝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066800"/>
            <a:ext cx="7848600" cy="5502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Text Box 4"/>
          <p:cNvSpPr txBox="1"/>
          <p:nvPr/>
        </p:nvSpPr>
        <p:spPr>
          <a:xfrm>
            <a:off x="533400" y="304800"/>
            <a:ext cx="44894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8</a:t>
            </a:r>
            <a:r>
              <a:rPr lang="zh-CN" altLang="en-US" sz="2400" b="1" dirty="0">
                <a:solidFill>
                  <a:srgbClr val="CC3300"/>
                </a:solidFill>
              </a:rPr>
              <a:t>线</a:t>
            </a:r>
            <a:r>
              <a:rPr lang="en-US" altLang="zh-CN" sz="2400" b="1" dirty="0">
                <a:solidFill>
                  <a:srgbClr val="CC3300"/>
                </a:solidFill>
              </a:rPr>
              <a:t>—3</a:t>
            </a:r>
            <a:r>
              <a:rPr lang="zh-CN" altLang="en-US" sz="2400" b="1" dirty="0">
                <a:solidFill>
                  <a:srgbClr val="CC3300"/>
                </a:solidFill>
              </a:rPr>
              <a:t>线优先编码器</a:t>
            </a:r>
            <a:r>
              <a:rPr lang="en-US" altLang="zh-CN" sz="2400" b="1" dirty="0">
                <a:solidFill>
                  <a:srgbClr val="CC3300"/>
                </a:solidFill>
              </a:rPr>
              <a:t>CT74LS148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graphicFrame>
        <p:nvGraphicFramePr>
          <p:cNvPr id="103424" name="Object 1024"/>
          <p:cNvGraphicFramePr>
            <a:graphicFrameLocks noChangeAspect="1"/>
          </p:cNvGraphicFramePr>
          <p:nvPr/>
        </p:nvGraphicFramePr>
        <p:xfrm>
          <a:off x="914400" y="1600200"/>
          <a:ext cx="7315200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4362450" imgH="2714625" progId="Paint.Picture">
                  <p:embed/>
                </p:oleObj>
              </mc:Choice>
              <mc:Fallback>
                <p:oleObj name="" r:id="rId1" imgW="4362450" imgH="2714625" progId="Paint.Picture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1600200"/>
                        <a:ext cx="7315200" cy="419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Rectangle 6"/>
          <p:cNvSpPr/>
          <p:nvPr/>
        </p:nvSpPr>
        <p:spPr>
          <a:xfrm>
            <a:off x="990600" y="5257800"/>
            <a:ext cx="6705600" cy="533400"/>
          </a:xfrm>
          <a:prstGeom prst="rect">
            <a:avLst/>
          </a:prstGeom>
          <a:noFill/>
          <a:ln w="571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8133" name="Rectangle 7"/>
          <p:cNvSpPr/>
          <p:nvPr/>
        </p:nvSpPr>
        <p:spPr>
          <a:xfrm>
            <a:off x="3581400" y="7620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4040" name="Rectangle 8"/>
          <p:cNvSpPr/>
          <p:nvPr/>
        </p:nvSpPr>
        <p:spPr>
          <a:xfrm>
            <a:off x="3505200" y="1524000"/>
            <a:ext cx="3581400" cy="457200"/>
          </a:xfrm>
          <a:prstGeom prst="rect">
            <a:avLst/>
          </a:prstGeom>
          <a:noFill/>
          <a:ln w="571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4572000" y="685800"/>
            <a:ext cx="1524000" cy="533400"/>
            <a:chOff x="2880" y="432"/>
            <a:chExt cx="960" cy="336"/>
          </a:xfrm>
        </p:grpSpPr>
        <p:sp>
          <p:nvSpPr>
            <p:cNvPr id="48151" name="Text Box 9"/>
            <p:cNvSpPr txBox="1"/>
            <p:nvPr/>
          </p:nvSpPr>
          <p:spPr>
            <a:xfrm>
              <a:off x="2908" y="480"/>
              <a:ext cx="884" cy="288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编码输出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48152" name="AutoShape 10"/>
            <p:cNvSpPr/>
            <p:nvPr/>
          </p:nvSpPr>
          <p:spPr>
            <a:xfrm>
              <a:off x="2880" y="432"/>
              <a:ext cx="960" cy="336"/>
            </a:xfrm>
            <a:prstGeom prst="wedgeRectCallout">
              <a:avLst>
                <a:gd name="adj1" fmla="val -43750"/>
                <a:gd name="adj2" fmla="val 7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" name="Group 14"/>
          <p:cNvGrpSpPr/>
          <p:nvPr/>
        </p:nvGrpSpPr>
        <p:grpSpPr>
          <a:xfrm>
            <a:off x="2971800" y="6019800"/>
            <a:ext cx="1600200" cy="609600"/>
            <a:chOff x="1872" y="3792"/>
            <a:chExt cx="1008" cy="384"/>
          </a:xfrm>
        </p:grpSpPr>
        <p:sp>
          <p:nvSpPr>
            <p:cNvPr id="48149" name="Text Box 12"/>
            <p:cNvSpPr txBox="1"/>
            <p:nvPr/>
          </p:nvSpPr>
          <p:spPr>
            <a:xfrm>
              <a:off x="1910" y="3846"/>
              <a:ext cx="884" cy="288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编码输入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48150" name="AutoShape 13"/>
            <p:cNvSpPr/>
            <p:nvPr/>
          </p:nvSpPr>
          <p:spPr>
            <a:xfrm>
              <a:off x="1872" y="3792"/>
              <a:ext cx="1008" cy="384"/>
            </a:xfrm>
            <a:prstGeom prst="wedgeRectCallout">
              <a:avLst>
                <a:gd name="adj1" fmla="val 37204"/>
                <a:gd name="adj2" fmla="val -80731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44047" name="Rectangle 15"/>
          <p:cNvSpPr/>
          <p:nvPr/>
        </p:nvSpPr>
        <p:spPr>
          <a:xfrm>
            <a:off x="7772400" y="5334000"/>
            <a:ext cx="533400" cy="381000"/>
          </a:xfrm>
          <a:prstGeom prst="rect">
            <a:avLst/>
          </a:prstGeom>
          <a:noFill/>
          <a:ln w="571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grpSp>
        <p:nvGrpSpPr>
          <p:cNvPr id="4" name="Group 18"/>
          <p:cNvGrpSpPr/>
          <p:nvPr/>
        </p:nvGrpSpPr>
        <p:grpSpPr>
          <a:xfrm>
            <a:off x="6934200" y="5943600"/>
            <a:ext cx="1600200" cy="609600"/>
            <a:chOff x="4368" y="3744"/>
            <a:chExt cx="1008" cy="384"/>
          </a:xfrm>
        </p:grpSpPr>
        <p:sp>
          <p:nvSpPr>
            <p:cNvPr id="48147" name="Text Box 16"/>
            <p:cNvSpPr txBox="1"/>
            <p:nvPr/>
          </p:nvSpPr>
          <p:spPr>
            <a:xfrm>
              <a:off x="4416" y="3792"/>
              <a:ext cx="884" cy="288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使能输入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48148" name="AutoShape 17"/>
            <p:cNvSpPr/>
            <p:nvPr/>
          </p:nvSpPr>
          <p:spPr>
            <a:xfrm>
              <a:off x="4368" y="3744"/>
              <a:ext cx="1008" cy="384"/>
            </a:xfrm>
            <a:prstGeom prst="wedgeRectCallout">
              <a:avLst>
                <a:gd name="adj1" fmla="val 20537"/>
                <a:gd name="adj2" fmla="val -83074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44051" name="Rectangle 19"/>
          <p:cNvSpPr/>
          <p:nvPr/>
        </p:nvSpPr>
        <p:spPr>
          <a:xfrm>
            <a:off x="1371600" y="1524000"/>
            <a:ext cx="533400" cy="457200"/>
          </a:xfrm>
          <a:prstGeom prst="rect">
            <a:avLst/>
          </a:prstGeom>
          <a:noFill/>
          <a:ln w="571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4052" name="Rectangle 20"/>
          <p:cNvSpPr/>
          <p:nvPr/>
        </p:nvSpPr>
        <p:spPr>
          <a:xfrm>
            <a:off x="2209800" y="1447800"/>
            <a:ext cx="762000" cy="457200"/>
          </a:xfrm>
          <a:prstGeom prst="rect">
            <a:avLst/>
          </a:prstGeom>
          <a:noFill/>
          <a:ln w="571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5" name="Group 26"/>
          <p:cNvGrpSpPr/>
          <p:nvPr/>
        </p:nvGrpSpPr>
        <p:grpSpPr>
          <a:xfrm>
            <a:off x="152400" y="762000"/>
            <a:ext cx="1600200" cy="538163"/>
            <a:chOff x="96" y="480"/>
            <a:chExt cx="1008" cy="339"/>
          </a:xfrm>
        </p:grpSpPr>
        <p:sp>
          <p:nvSpPr>
            <p:cNvPr id="48145" name="Text Box 21"/>
            <p:cNvSpPr txBox="1"/>
            <p:nvPr/>
          </p:nvSpPr>
          <p:spPr>
            <a:xfrm>
              <a:off x="166" y="525"/>
              <a:ext cx="890" cy="294"/>
            </a:xfrm>
            <a:prstGeom prst="rect">
              <a:avLst/>
            </a:prstGeom>
            <a:solidFill>
              <a:srgbClr val="FFFF66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使能输出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48146" name="AutoShape 23"/>
            <p:cNvSpPr/>
            <p:nvPr/>
          </p:nvSpPr>
          <p:spPr>
            <a:xfrm>
              <a:off x="96" y="480"/>
              <a:ext cx="1008" cy="336"/>
            </a:xfrm>
            <a:prstGeom prst="wedgeRectCallout">
              <a:avLst>
                <a:gd name="adj1" fmla="val 37204"/>
                <a:gd name="adj2" fmla="val 8363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6" name="Group 27"/>
          <p:cNvGrpSpPr/>
          <p:nvPr/>
        </p:nvGrpSpPr>
        <p:grpSpPr>
          <a:xfrm>
            <a:off x="2438400" y="762000"/>
            <a:ext cx="1447800" cy="533400"/>
            <a:chOff x="1536" y="480"/>
            <a:chExt cx="912" cy="336"/>
          </a:xfrm>
        </p:grpSpPr>
        <p:sp>
          <p:nvSpPr>
            <p:cNvPr id="48143" name="Text Box 22"/>
            <p:cNvSpPr txBox="1"/>
            <p:nvPr/>
          </p:nvSpPr>
          <p:spPr>
            <a:xfrm>
              <a:off x="1564" y="528"/>
              <a:ext cx="884" cy="288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扩展输出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48144" name="AutoShape 25"/>
            <p:cNvSpPr/>
            <p:nvPr/>
          </p:nvSpPr>
          <p:spPr>
            <a:xfrm>
              <a:off x="1536" y="480"/>
              <a:ext cx="912" cy="336"/>
            </a:xfrm>
            <a:prstGeom prst="wedgeRectCallout">
              <a:avLst>
                <a:gd name="adj1" fmla="val -43750"/>
                <a:gd name="adj2" fmla="val 7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8" grpId="0" animBg="1"/>
      <p:bldP spid="44040" grpId="0" animBg="1"/>
      <p:bldP spid="44047" grpId="0" animBg="1"/>
      <p:bldP spid="44051" grpId="0" animBg="1"/>
      <p:bldP spid="4405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071"/>
          <p:cNvGrpSpPr/>
          <p:nvPr/>
        </p:nvGrpSpPr>
        <p:grpSpPr>
          <a:xfrm>
            <a:off x="304800" y="1524000"/>
            <a:ext cx="1143000" cy="533400"/>
            <a:chOff x="192" y="960"/>
            <a:chExt cx="720" cy="336"/>
          </a:xfrm>
        </p:grpSpPr>
        <p:graphicFrame>
          <p:nvGraphicFramePr>
            <p:cNvPr id="49189" name="Object 1037"/>
            <p:cNvGraphicFramePr>
              <a:graphicFrameLocks noChangeAspect="1"/>
            </p:cNvGraphicFramePr>
            <p:nvPr/>
          </p:nvGraphicFramePr>
          <p:xfrm>
            <a:off x="624" y="960"/>
            <a:ext cx="28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1" imgW="152400" imgH="215900" progId="Equation.3">
                    <p:embed/>
                  </p:oleObj>
                </mc:Choice>
                <mc:Fallback>
                  <p:oleObj name="" r:id="rId1" imgW="152400" imgH="215900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24" y="960"/>
                          <a:ext cx="288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9190" name="Group 1063"/>
            <p:cNvGrpSpPr/>
            <p:nvPr/>
          </p:nvGrpSpPr>
          <p:grpSpPr>
            <a:xfrm>
              <a:off x="192" y="960"/>
              <a:ext cx="550" cy="336"/>
              <a:chOff x="192" y="480"/>
              <a:chExt cx="550" cy="336"/>
            </a:xfrm>
          </p:grpSpPr>
          <p:graphicFrame>
            <p:nvGraphicFramePr>
              <p:cNvPr id="49191" name="Object 1038"/>
              <p:cNvGraphicFramePr>
                <a:graphicFrameLocks noChangeAspect="1"/>
              </p:cNvGraphicFramePr>
              <p:nvPr/>
            </p:nvGraphicFramePr>
            <p:xfrm>
              <a:off x="192" y="480"/>
              <a:ext cx="28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4" name="" r:id="rId3" imgW="152400" imgH="215900" progId="Equation.3">
                      <p:embed/>
                    </p:oleObj>
                  </mc:Choice>
                  <mc:Fallback>
                    <p:oleObj name="" r:id="rId3" imgW="152400" imgH="215900" progId="Equation.3">
                      <p:embed/>
                      <p:pic>
                        <p:nvPicPr>
                          <p:cNvPr id="0" name="图片 3133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92" y="480"/>
                            <a:ext cx="288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9192" name="Text Box 1029"/>
              <p:cNvSpPr txBox="1"/>
              <p:nvPr/>
            </p:nvSpPr>
            <p:spPr>
              <a:xfrm>
                <a:off x="432" y="528"/>
                <a:ext cx="31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>
                    <a:latin typeface="宋体" panose="02010600030101010101" pitchFamily="2" charset="-122"/>
                  </a:rPr>
                  <a:t>～</a:t>
                </a:r>
                <a:endParaRPr lang="zh-CN" altLang="en-US" sz="2400" b="1" dirty="0"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4" name="Group 1072"/>
          <p:cNvGrpSpPr/>
          <p:nvPr/>
        </p:nvGrpSpPr>
        <p:grpSpPr>
          <a:xfrm>
            <a:off x="1450975" y="1524000"/>
            <a:ext cx="6473825" cy="533400"/>
            <a:chOff x="914" y="960"/>
            <a:chExt cx="4078" cy="336"/>
          </a:xfrm>
        </p:grpSpPr>
        <p:grpSp>
          <p:nvGrpSpPr>
            <p:cNvPr id="49184" name="Group 1064"/>
            <p:cNvGrpSpPr/>
            <p:nvPr/>
          </p:nvGrpSpPr>
          <p:grpSpPr>
            <a:xfrm>
              <a:off x="914" y="960"/>
              <a:ext cx="4078" cy="336"/>
              <a:chOff x="914" y="480"/>
              <a:chExt cx="4078" cy="336"/>
            </a:xfrm>
          </p:grpSpPr>
          <p:sp>
            <p:nvSpPr>
              <p:cNvPr id="49186" name="Text Box 1030"/>
              <p:cNvSpPr txBox="1"/>
              <p:nvPr/>
            </p:nvSpPr>
            <p:spPr>
              <a:xfrm>
                <a:off x="914" y="528"/>
                <a:ext cx="339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：输入，低电平有效。优先级别依次为</a:t>
                </a:r>
                <a:endParaRPr lang="zh-CN" altLang="en-US" sz="2400" b="1" dirty="0"/>
              </a:p>
            </p:txBody>
          </p:sp>
          <p:graphicFrame>
            <p:nvGraphicFramePr>
              <p:cNvPr id="49187" name="Object 1035"/>
              <p:cNvGraphicFramePr>
                <a:graphicFrameLocks noChangeAspect="1"/>
              </p:cNvGraphicFramePr>
              <p:nvPr/>
            </p:nvGraphicFramePr>
            <p:xfrm>
              <a:off x="4704" y="480"/>
              <a:ext cx="28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9" name="" r:id="rId5" imgW="152400" imgH="215900" progId="Equation.3">
                      <p:embed/>
                    </p:oleObj>
                  </mc:Choice>
                  <mc:Fallback>
                    <p:oleObj name="" r:id="rId5" imgW="152400" imgH="215900" progId="Equation.3">
                      <p:embed/>
                      <p:pic>
                        <p:nvPicPr>
                          <p:cNvPr id="0" name="图片 3138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4704" y="480"/>
                            <a:ext cx="288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88" name="Object 1036"/>
              <p:cNvGraphicFramePr>
                <a:graphicFrameLocks noChangeAspect="1"/>
              </p:cNvGraphicFramePr>
              <p:nvPr/>
            </p:nvGraphicFramePr>
            <p:xfrm>
              <a:off x="4272" y="480"/>
              <a:ext cx="28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7" name="" r:id="rId6" imgW="152400" imgH="215900" progId="Equation.3">
                      <p:embed/>
                    </p:oleObj>
                  </mc:Choice>
                  <mc:Fallback>
                    <p:oleObj name="" r:id="rId6" imgW="152400" imgH="215900" progId="Equation.3">
                      <p:embed/>
                      <p:pic>
                        <p:nvPicPr>
                          <p:cNvPr id="0" name="图片 3136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4272" y="480"/>
                            <a:ext cx="288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9185" name="Text Box 1035"/>
            <p:cNvSpPr txBox="1"/>
            <p:nvPr/>
          </p:nvSpPr>
          <p:spPr>
            <a:xfrm>
              <a:off x="4512" y="1008"/>
              <a:ext cx="31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～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6" name="Group 1073"/>
          <p:cNvGrpSpPr/>
          <p:nvPr/>
        </p:nvGrpSpPr>
        <p:grpSpPr>
          <a:xfrm>
            <a:off x="304800" y="2286000"/>
            <a:ext cx="1295400" cy="533400"/>
            <a:chOff x="192" y="1440"/>
            <a:chExt cx="816" cy="336"/>
          </a:xfrm>
        </p:grpSpPr>
        <p:grpSp>
          <p:nvGrpSpPr>
            <p:cNvPr id="49180" name="Group 1065"/>
            <p:cNvGrpSpPr/>
            <p:nvPr/>
          </p:nvGrpSpPr>
          <p:grpSpPr>
            <a:xfrm>
              <a:off x="192" y="1440"/>
              <a:ext cx="550" cy="336"/>
              <a:chOff x="192" y="960"/>
              <a:chExt cx="550" cy="336"/>
            </a:xfrm>
          </p:grpSpPr>
          <p:graphicFrame>
            <p:nvGraphicFramePr>
              <p:cNvPr id="49182" name="Object 1034"/>
              <p:cNvGraphicFramePr>
                <a:graphicFrameLocks noChangeAspect="1"/>
              </p:cNvGraphicFramePr>
              <p:nvPr/>
            </p:nvGraphicFramePr>
            <p:xfrm>
              <a:off x="192" y="960"/>
              <a:ext cx="28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5" name="" r:id="rId7" imgW="215900" imgH="215900" progId="Equation.3">
                      <p:embed/>
                    </p:oleObj>
                  </mc:Choice>
                  <mc:Fallback>
                    <p:oleObj name="" r:id="rId7" imgW="215900" imgH="215900" progId="Equation.3">
                      <p:embed/>
                      <p:pic>
                        <p:nvPicPr>
                          <p:cNvPr id="0" name="图片 3134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92" y="960"/>
                            <a:ext cx="288" cy="2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9183" name="Text Box 1037"/>
              <p:cNvSpPr txBox="1"/>
              <p:nvPr/>
            </p:nvSpPr>
            <p:spPr>
              <a:xfrm>
                <a:off x="432" y="1008"/>
                <a:ext cx="31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>
                    <a:latin typeface="宋体" panose="02010600030101010101" pitchFamily="2" charset="-122"/>
                  </a:rPr>
                  <a:t>～</a:t>
                </a:r>
                <a:endParaRPr lang="zh-CN" altLang="en-US" sz="2400" b="1" dirty="0">
                  <a:latin typeface="宋体" panose="02010600030101010101" pitchFamily="2" charset="-122"/>
                </a:endParaRPr>
              </a:p>
            </p:txBody>
          </p:sp>
        </p:grpSp>
        <p:graphicFrame>
          <p:nvGraphicFramePr>
            <p:cNvPr id="49181" name="Object 1033"/>
            <p:cNvGraphicFramePr>
              <a:graphicFrameLocks noChangeAspect="1"/>
            </p:cNvGraphicFramePr>
            <p:nvPr/>
          </p:nvGraphicFramePr>
          <p:xfrm>
            <a:off x="672" y="1440"/>
            <a:ext cx="33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8" name="" r:id="rId9" imgW="215900" imgH="215900" progId="Equation.3">
                    <p:embed/>
                  </p:oleObj>
                </mc:Choice>
                <mc:Fallback>
                  <p:oleObj name="" r:id="rId9" imgW="215900" imgH="215900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72" y="1440"/>
                          <a:ext cx="33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575" name="Text Box 1039"/>
          <p:cNvSpPr txBox="1"/>
          <p:nvPr/>
        </p:nvSpPr>
        <p:spPr>
          <a:xfrm>
            <a:off x="1597025" y="2286000"/>
            <a:ext cx="20193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：编码输出端</a:t>
            </a:r>
            <a:endParaRPr lang="zh-CN" altLang="en-US" sz="2400" b="1" dirty="0"/>
          </a:p>
        </p:txBody>
      </p:sp>
      <p:graphicFrame>
        <p:nvGraphicFramePr>
          <p:cNvPr id="104448" name="Object 1024"/>
          <p:cNvGraphicFramePr>
            <a:graphicFrameLocks noChangeAspect="1"/>
          </p:cNvGraphicFramePr>
          <p:nvPr/>
        </p:nvGraphicFramePr>
        <p:xfrm>
          <a:off x="304800" y="2971800"/>
          <a:ext cx="533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1" imgW="127000" imgH="215265" progId="Equation.3">
                  <p:embed/>
                </p:oleObj>
              </mc:Choice>
              <mc:Fallback>
                <p:oleObj name="" r:id="rId11" imgW="127000" imgH="215265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4800" y="2971800"/>
                        <a:ext cx="5334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067"/>
          <p:cNvGrpSpPr/>
          <p:nvPr/>
        </p:nvGrpSpPr>
        <p:grpSpPr>
          <a:xfrm>
            <a:off x="912813" y="2971800"/>
            <a:ext cx="5688012" cy="914400"/>
            <a:chOff x="575" y="1392"/>
            <a:chExt cx="3583" cy="576"/>
          </a:xfrm>
        </p:grpSpPr>
        <p:graphicFrame>
          <p:nvGraphicFramePr>
            <p:cNvPr id="49175" name="Object 1031"/>
            <p:cNvGraphicFramePr>
              <a:graphicFrameLocks noChangeAspect="1"/>
            </p:cNvGraphicFramePr>
            <p:nvPr/>
          </p:nvGraphicFramePr>
          <p:xfrm>
            <a:off x="2064" y="1680"/>
            <a:ext cx="33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" r:id="rId13" imgW="127000" imgH="215265" progId="Equation.3">
                    <p:embed/>
                  </p:oleObj>
                </mc:Choice>
                <mc:Fallback>
                  <p:oleObj name="" r:id="rId13" imgW="127000" imgH="215265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64" y="1680"/>
                          <a:ext cx="33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6" name="Object 1032"/>
            <p:cNvGraphicFramePr>
              <a:graphicFrameLocks noChangeAspect="1"/>
            </p:cNvGraphicFramePr>
            <p:nvPr/>
          </p:nvGraphicFramePr>
          <p:xfrm>
            <a:off x="2064" y="1392"/>
            <a:ext cx="33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3" name="" r:id="rId14" imgW="127000" imgH="215265" progId="Equation.3">
                    <p:embed/>
                  </p:oleObj>
                </mc:Choice>
                <mc:Fallback>
                  <p:oleObj name="" r:id="rId14" imgW="127000" imgH="215265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64" y="1392"/>
                          <a:ext cx="33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7" name="Text Box 1045"/>
            <p:cNvSpPr txBox="1"/>
            <p:nvPr/>
          </p:nvSpPr>
          <p:spPr>
            <a:xfrm>
              <a:off x="575" y="1392"/>
              <a:ext cx="146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：使能输入端；</a:t>
              </a:r>
              <a:endParaRPr lang="zh-CN" altLang="en-US" sz="2400" b="1" dirty="0"/>
            </a:p>
          </p:txBody>
        </p:sp>
        <p:sp>
          <p:nvSpPr>
            <p:cNvPr id="49178" name="Text Box 1046"/>
            <p:cNvSpPr txBox="1"/>
            <p:nvPr/>
          </p:nvSpPr>
          <p:spPr>
            <a:xfrm>
              <a:off x="2312" y="1392"/>
              <a:ext cx="14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＝０时，编码，</a:t>
              </a:r>
              <a:endParaRPr lang="zh-CN" altLang="en-US" sz="2400" b="1" dirty="0"/>
            </a:p>
          </p:txBody>
        </p:sp>
        <p:sp>
          <p:nvSpPr>
            <p:cNvPr id="49179" name="Text Box 1047"/>
            <p:cNvSpPr txBox="1"/>
            <p:nvPr/>
          </p:nvSpPr>
          <p:spPr>
            <a:xfrm>
              <a:off x="2312" y="1680"/>
              <a:ext cx="18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＝１时，禁止编码。</a:t>
              </a:r>
              <a:endParaRPr lang="zh-CN" altLang="en-US" sz="2400" b="1" dirty="0"/>
            </a:p>
          </p:txBody>
        </p:sp>
      </p:grpSp>
      <p:graphicFrame>
        <p:nvGraphicFramePr>
          <p:cNvPr id="104449" name="Object 1025"/>
          <p:cNvGraphicFramePr>
            <a:graphicFrameLocks noChangeAspect="1"/>
          </p:cNvGraphicFramePr>
          <p:nvPr/>
        </p:nvGraphicFramePr>
        <p:xfrm>
          <a:off x="304800" y="4114800"/>
          <a:ext cx="5016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15" imgW="203200" imgH="215900" progId="Equation.3">
                  <p:embed/>
                </p:oleObj>
              </mc:Choice>
              <mc:Fallback>
                <p:oleObj name="" r:id="rId15" imgW="203200" imgH="2159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4800" y="4114800"/>
                        <a:ext cx="50165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1068"/>
          <p:cNvGrpSpPr/>
          <p:nvPr/>
        </p:nvGrpSpPr>
        <p:grpSpPr>
          <a:xfrm>
            <a:off x="915988" y="4114800"/>
            <a:ext cx="7662862" cy="1066800"/>
            <a:chOff x="577" y="2112"/>
            <a:chExt cx="4827" cy="672"/>
          </a:xfrm>
        </p:grpSpPr>
        <p:graphicFrame>
          <p:nvGraphicFramePr>
            <p:cNvPr id="49170" name="Object 1029"/>
            <p:cNvGraphicFramePr>
              <a:graphicFrameLocks noChangeAspect="1"/>
            </p:cNvGraphicFramePr>
            <p:nvPr/>
          </p:nvGraphicFramePr>
          <p:xfrm>
            <a:off x="3168" y="2112"/>
            <a:ext cx="33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" name="" r:id="rId17" imgW="127000" imgH="215265" progId="Equation.3">
                    <p:embed/>
                  </p:oleObj>
                </mc:Choice>
                <mc:Fallback>
                  <p:oleObj name="" r:id="rId17" imgW="127000" imgH="215265" progId="Equation.3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168" y="2112"/>
                          <a:ext cx="33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1" name="Text Box 1051"/>
            <p:cNvSpPr txBox="1"/>
            <p:nvPr/>
          </p:nvSpPr>
          <p:spPr>
            <a:xfrm>
              <a:off x="577" y="2112"/>
              <a:ext cx="261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：使能输出端，编码状态下（</a:t>
              </a:r>
              <a:endParaRPr lang="zh-CN" altLang="en-US" sz="2400" b="1" dirty="0"/>
            </a:p>
          </p:txBody>
        </p:sp>
        <p:sp>
          <p:nvSpPr>
            <p:cNvPr id="49172" name="Text Box 1052"/>
            <p:cNvSpPr txBox="1"/>
            <p:nvPr/>
          </p:nvSpPr>
          <p:spPr>
            <a:xfrm>
              <a:off x="3362" y="2112"/>
              <a:ext cx="204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=0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），</a:t>
              </a:r>
              <a:r>
                <a:rPr lang="zh-CN" altLang="en-US" sz="2400" b="1" dirty="0"/>
                <a:t>若无输入信号，</a:t>
              </a:r>
              <a:endParaRPr lang="zh-CN" altLang="en-US" sz="2400" b="1" dirty="0"/>
            </a:p>
          </p:txBody>
        </p:sp>
        <p:graphicFrame>
          <p:nvGraphicFramePr>
            <p:cNvPr id="49173" name="Object 1030"/>
            <p:cNvGraphicFramePr>
              <a:graphicFrameLocks noChangeAspect="1"/>
            </p:cNvGraphicFramePr>
            <p:nvPr/>
          </p:nvGraphicFramePr>
          <p:xfrm>
            <a:off x="864" y="2448"/>
            <a:ext cx="31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18" imgW="203200" imgH="215900" progId="Equation.3">
                    <p:embed/>
                  </p:oleObj>
                </mc:Choice>
                <mc:Fallback>
                  <p:oleObj name="" r:id="rId18" imgW="203200" imgH="215900" progId="Equation.3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864" y="2448"/>
                          <a:ext cx="316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4" name="Text Box 1054"/>
            <p:cNvSpPr txBox="1"/>
            <p:nvPr/>
          </p:nvSpPr>
          <p:spPr>
            <a:xfrm>
              <a:off x="1150" y="2496"/>
              <a:ext cx="3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=0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104450" name="Object 1026"/>
          <p:cNvGraphicFramePr>
            <a:graphicFrameLocks noChangeAspect="1"/>
          </p:cNvGraphicFramePr>
          <p:nvPr/>
        </p:nvGraphicFramePr>
        <p:xfrm>
          <a:off x="304800" y="5181600"/>
          <a:ext cx="685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19" imgW="292100" imgH="215900" progId="Equation.3">
                  <p:embed/>
                </p:oleObj>
              </mc:Choice>
              <mc:Fallback>
                <p:oleObj name="" r:id="rId19" imgW="292100" imgH="2159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04800" y="5181600"/>
                        <a:ext cx="6858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069"/>
          <p:cNvGrpSpPr/>
          <p:nvPr/>
        </p:nvGrpSpPr>
        <p:grpSpPr>
          <a:xfrm>
            <a:off x="763588" y="5257800"/>
            <a:ext cx="7510462" cy="1066800"/>
            <a:chOff x="481" y="2832"/>
            <a:chExt cx="4731" cy="672"/>
          </a:xfrm>
        </p:grpSpPr>
        <p:graphicFrame>
          <p:nvGraphicFramePr>
            <p:cNvPr id="49165" name="Object 1027"/>
            <p:cNvGraphicFramePr>
              <a:graphicFrameLocks noChangeAspect="1"/>
            </p:cNvGraphicFramePr>
            <p:nvPr/>
          </p:nvGraphicFramePr>
          <p:xfrm>
            <a:off x="3072" y="2832"/>
            <a:ext cx="33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" name="" r:id="rId21" imgW="127000" imgH="215265" progId="Equation.3">
                    <p:embed/>
                  </p:oleObj>
                </mc:Choice>
                <mc:Fallback>
                  <p:oleObj name="" r:id="rId21" imgW="127000" imgH="215265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072" y="2832"/>
                          <a:ext cx="33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6" name="Text Box 1056"/>
            <p:cNvSpPr txBox="1"/>
            <p:nvPr/>
          </p:nvSpPr>
          <p:spPr>
            <a:xfrm>
              <a:off x="481" y="2832"/>
              <a:ext cx="262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：扩展输出端，编码状态下（</a:t>
              </a:r>
              <a:endParaRPr lang="zh-CN" altLang="en-US" sz="2400" b="1" dirty="0"/>
            </a:p>
          </p:txBody>
        </p:sp>
        <p:sp>
          <p:nvSpPr>
            <p:cNvPr id="49167" name="Text Box 1057"/>
            <p:cNvSpPr txBox="1"/>
            <p:nvPr/>
          </p:nvSpPr>
          <p:spPr>
            <a:xfrm>
              <a:off x="3170" y="2832"/>
              <a:ext cx="204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=0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），</a:t>
              </a:r>
              <a:r>
                <a:rPr lang="zh-CN" altLang="en-US" sz="2400" b="1" dirty="0"/>
                <a:t>若有输入信号，</a:t>
              </a:r>
              <a:endParaRPr lang="zh-CN" altLang="en-US" sz="2400" b="1" dirty="0"/>
            </a:p>
          </p:txBody>
        </p:sp>
        <p:graphicFrame>
          <p:nvGraphicFramePr>
            <p:cNvPr id="49168" name="Object 1028"/>
            <p:cNvGraphicFramePr>
              <a:graphicFrameLocks noChangeAspect="1"/>
            </p:cNvGraphicFramePr>
            <p:nvPr/>
          </p:nvGraphicFramePr>
          <p:xfrm>
            <a:off x="864" y="3168"/>
            <a:ext cx="43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22" imgW="292100" imgH="215900" progId="Equation.3">
                    <p:embed/>
                  </p:oleObj>
                </mc:Choice>
                <mc:Fallback>
                  <p:oleObj name="" r:id="rId22" imgW="292100" imgH="21590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864" y="3168"/>
                          <a:ext cx="432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9" name="Text Box 1060"/>
            <p:cNvSpPr txBox="1"/>
            <p:nvPr/>
          </p:nvSpPr>
          <p:spPr>
            <a:xfrm>
              <a:off x="1294" y="3216"/>
              <a:ext cx="3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=0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49164" name="Text Box 1070"/>
          <p:cNvSpPr txBox="1"/>
          <p:nvPr/>
        </p:nvSpPr>
        <p:spPr>
          <a:xfrm>
            <a:off x="215900" y="590550"/>
            <a:ext cx="2495550" cy="65087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latin typeface="隶书" panose="02010509060101010101" pitchFamily="49" charset="-122"/>
                <a:ea typeface="隶书" panose="02010509060101010101" pitchFamily="49" charset="-122"/>
              </a:rPr>
              <a:t>管脚定义：</a:t>
            </a:r>
            <a:endParaRPr lang="zh-CN" altLang="en-US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7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Text Box 4"/>
          <p:cNvSpPr txBox="1"/>
          <p:nvPr/>
        </p:nvSpPr>
        <p:spPr>
          <a:xfrm>
            <a:off x="1588" y="228600"/>
            <a:ext cx="29241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（二）编码器的应用</a:t>
            </a:r>
            <a:endParaRPr lang="zh-CN" altLang="en-US" sz="2400" dirty="0"/>
          </a:p>
        </p:txBody>
      </p:sp>
      <p:sp>
        <p:nvSpPr>
          <p:cNvPr id="45064" name="Text Box 8"/>
          <p:cNvSpPr txBox="1"/>
          <p:nvPr/>
        </p:nvSpPr>
        <p:spPr>
          <a:xfrm>
            <a:off x="609600" y="2514600"/>
            <a:ext cx="8534400" cy="9683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）第一片工作时</a:t>
            </a:r>
            <a:r>
              <a:rPr lang="en-US" altLang="zh-CN" sz="2400" b="1" dirty="0">
                <a:latin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宋体" panose="02010600030101010101" pitchFamily="2" charset="-122"/>
              </a:rPr>
              <a:t>编码器输出：</a:t>
            </a:r>
            <a:r>
              <a:rPr lang="en-US" altLang="zh-CN" sz="2400" b="1" dirty="0">
                <a:latin typeface="宋体" panose="02010600030101010101" pitchFamily="2" charset="-122"/>
              </a:rPr>
              <a:t>0000-0111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第二片工作时</a:t>
            </a:r>
            <a:r>
              <a:rPr lang="en-US" altLang="zh-CN" sz="2400" b="1" dirty="0">
                <a:latin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宋体" panose="02010600030101010101" pitchFamily="2" charset="-122"/>
              </a:rPr>
              <a:t>编码器输出</a:t>
            </a:r>
            <a:r>
              <a:rPr lang="en-US" altLang="zh-CN" sz="2400" b="1" dirty="0">
                <a:latin typeface="宋体" panose="02010600030101010101" pitchFamily="2" charset="-122"/>
              </a:rPr>
              <a:t>:1000-1111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105472" name="Object 1024"/>
          <p:cNvGraphicFramePr>
            <a:graphicFrameLocks noChangeAspect="1"/>
          </p:cNvGraphicFramePr>
          <p:nvPr/>
        </p:nvGraphicFramePr>
        <p:xfrm>
          <a:off x="838200" y="3505200"/>
          <a:ext cx="7315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" imgW="2619375" imgH="1607820" progId="Paint.Picture">
                  <p:embed/>
                </p:oleObj>
              </mc:Choice>
              <mc:Fallback>
                <p:oleObj name="" r:id="rId1" imgW="2619375" imgH="1607820" progId="Paint.Picture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3505200"/>
                        <a:ext cx="7315200" cy="312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6" name="Text Box 10"/>
          <p:cNvSpPr txBox="1"/>
          <p:nvPr/>
        </p:nvSpPr>
        <p:spPr>
          <a:xfrm>
            <a:off x="76200" y="1219200"/>
            <a:ext cx="819785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解：（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）编码器输入</a:t>
            </a:r>
            <a:r>
              <a:rPr lang="en-US" altLang="zh-CN" sz="2400" b="1" dirty="0">
                <a:latin typeface="宋体" panose="02010600030101010101" pitchFamily="2" charset="-122"/>
              </a:rPr>
              <a:t>16</a:t>
            </a:r>
            <a:r>
              <a:rPr lang="zh-CN" altLang="en-US" sz="2400" b="1" dirty="0">
                <a:latin typeface="宋体" panose="02010600030101010101" pitchFamily="2" charset="-122"/>
              </a:rPr>
              <a:t>线</a:t>
            </a:r>
            <a:r>
              <a:rPr lang="en-US" altLang="zh-CN" sz="2400" b="1" dirty="0">
                <a:latin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宋体" panose="02010600030101010101" pitchFamily="2" charset="-122"/>
              </a:rPr>
              <a:t>用两片</a:t>
            </a:r>
            <a:r>
              <a:rPr lang="en-US" altLang="zh-CN" sz="2400" b="1" dirty="0">
                <a:latin typeface="宋体" panose="02010600030101010101" pitchFamily="2" charset="-122"/>
              </a:rPr>
              <a:t>8-3</a:t>
            </a:r>
            <a:r>
              <a:rPr lang="zh-CN" altLang="en-US" sz="2400" b="1" dirty="0">
                <a:latin typeface="宋体" panose="02010600030101010101" pitchFamily="2" charset="-122"/>
              </a:rPr>
              <a:t>线编码器，高位为第一片，低位为第二片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18"/>
          <p:cNvGrpSpPr/>
          <p:nvPr/>
        </p:nvGrpSpPr>
        <p:grpSpPr>
          <a:xfrm>
            <a:off x="228600" y="4191000"/>
            <a:ext cx="990600" cy="609600"/>
            <a:chOff x="144" y="2640"/>
            <a:chExt cx="624" cy="384"/>
          </a:xfrm>
        </p:grpSpPr>
        <p:sp>
          <p:nvSpPr>
            <p:cNvPr id="50190" name="Text Box 11"/>
            <p:cNvSpPr txBox="1"/>
            <p:nvPr/>
          </p:nvSpPr>
          <p:spPr>
            <a:xfrm>
              <a:off x="144" y="2688"/>
              <a:ext cx="586" cy="288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高位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50191" name="AutoShape 12"/>
            <p:cNvSpPr/>
            <p:nvPr/>
          </p:nvSpPr>
          <p:spPr>
            <a:xfrm>
              <a:off x="144" y="2640"/>
              <a:ext cx="624" cy="384"/>
            </a:xfrm>
            <a:prstGeom prst="wedgeRectCallout">
              <a:avLst>
                <a:gd name="adj1" fmla="val 79329"/>
                <a:gd name="adj2" fmla="val 70051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" name="Group 19"/>
          <p:cNvGrpSpPr/>
          <p:nvPr/>
        </p:nvGrpSpPr>
        <p:grpSpPr>
          <a:xfrm>
            <a:off x="7543800" y="4191000"/>
            <a:ext cx="1066800" cy="609600"/>
            <a:chOff x="4752" y="2640"/>
            <a:chExt cx="672" cy="384"/>
          </a:xfrm>
        </p:grpSpPr>
        <p:sp>
          <p:nvSpPr>
            <p:cNvPr id="50188" name="Text Box 13"/>
            <p:cNvSpPr txBox="1"/>
            <p:nvPr/>
          </p:nvSpPr>
          <p:spPr>
            <a:xfrm>
              <a:off x="4800" y="2673"/>
              <a:ext cx="576" cy="288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低位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50189" name="AutoShape 14"/>
            <p:cNvSpPr/>
            <p:nvPr/>
          </p:nvSpPr>
          <p:spPr>
            <a:xfrm>
              <a:off x="4752" y="2640"/>
              <a:ext cx="672" cy="384"/>
            </a:xfrm>
            <a:prstGeom prst="wedgeRectCallout">
              <a:avLst>
                <a:gd name="adj1" fmla="val -43750"/>
                <a:gd name="adj2" fmla="val 7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45072" name="Text Box 16"/>
          <p:cNvSpPr txBox="1"/>
          <p:nvPr/>
        </p:nvSpPr>
        <p:spPr>
          <a:xfrm>
            <a:off x="609600" y="1984375"/>
            <a:ext cx="7381875" cy="5302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）实现优先编码：高位选通输出与低位控制端连接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45073" name="Line 17"/>
          <p:cNvSpPr/>
          <p:nvPr/>
        </p:nvSpPr>
        <p:spPr>
          <a:xfrm>
            <a:off x="4343400" y="5334000"/>
            <a:ext cx="533400" cy="0"/>
          </a:xfrm>
          <a:prstGeom prst="line">
            <a:avLst/>
          </a:prstGeom>
          <a:ln w="762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6" name="Line 20"/>
          <p:cNvSpPr/>
          <p:nvPr/>
        </p:nvSpPr>
        <p:spPr>
          <a:xfrm flipH="1">
            <a:off x="4572000" y="2286000"/>
            <a:ext cx="3352800" cy="289560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5077" name="Text Box 21"/>
          <p:cNvSpPr txBox="1"/>
          <p:nvPr/>
        </p:nvSpPr>
        <p:spPr>
          <a:xfrm>
            <a:off x="152400" y="685800"/>
            <a:ext cx="84074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400" b="1" dirty="0">
                <a:latin typeface="宋体" panose="02010600030101010101" pitchFamily="2" charset="-122"/>
              </a:rPr>
              <a:t>用</a:t>
            </a:r>
            <a:r>
              <a:rPr lang="en-US" altLang="zh-CN" sz="2400" b="1" dirty="0">
                <a:latin typeface="宋体" panose="02010600030101010101" pitchFamily="2" charset="-122"/>
              </a:rPr>
              <a:t>8-3</a:t>
            </a:r>
            <a:r>
              <a:rPr lang="zh-CN" altLang="en-US" sz="2400" b="1" dirty="0">
                <a:latin typeface="宋体" panose="02010600030101010101" pitchFamily="2" charset="-122"/>
              </a:rPr>
              <a:t>线优先编码器</a:t>
            </a:r>
            <a:r>
              <a:rPr lang="en-US" altLang="zh-CN" sz="2400" b="1" dirty="0">
                <a:latin typeface="宋体" panose="02010600030101010101" pitchFamily="2" charset="-122"/>
              </a:rPr>
              <a:t>CT74LS148</a:t>
            </a:r>
            <a:r>
              <a:rPr lang="zh-CN" altLang="en-US" sz="2400" b="1" dirty="0">
                <a:latin typeface="宋体" panose="02010600030101010101" pitchFamily="2" charset="-122"/>
              </a:rPr>
              <a:t>扩展成</a:t>
            </a:r>
            <a:r>
              <a:rPr lang="en-US" altLang="zh-CN" sz="2400" b="1" dirty="0">
                <a:latin typeface="宋体" panose="02010600030101010101" pitchFamily="2" charset="-122"/>
              </a:rPr>
              <a:t>16</a:t>
            </a:r>
            <a:r>
              <a:rPr lang="zh-CN" altLang="en-US" sz="2400" b="1" dirty="0">
                <a:latin typeface="宋体" panose="02010600030101010101" pitchFamily="2" charset="-122"/>
              </a:rPr>
              <a:t>线</a:t>
            </a:r>
            <a:r>
              <a:rPr lang="en-US" altLang="zh-CN" sz="2400" b="1" dirty="0">
                <a:latin typeface="宋体" panose="02010600030101010101" pitchFamily="2" charset="-122"/>
              </a:rPr>
              <a:t>-4</a:t>
            </a:r>
            <a:r>
              <a:rPr lang="zh-CN" altLang="en-US" sz="2400" b="1" dirty="0">
                <a:latin typeface="宋体" panose="02010600030101010101" pitchFamily="2" charset="-122"/>
              </a:rPr>
              <a:t>线编码器。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5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5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4" grpId="0"/>
      <p:bldP spid="45066" grpId="0"/>
      <p:bldP spid="45072" grpId="0"/>
      <p:bldP spid="4507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Text Box 2"/>
          <p:cNvSpPr txBox="1"/>
          <p:nvPr/>
        </p:nvSpPr>
        <p:spPr>
          <a:xfrm>
            <a:off x="1371600" y="103188"/>
            <a:ext cx="612140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第四节 数据选择器和数据分配器</a:t>
            </a:r>
            <a:endParaRPr lang="zh-CN" altLang="en-US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6084" name="Text Box 4"/>
          <p:cNvSpPr txBox="1"/>
          <p:nvPr/>
        </p:nvSpPr>
        <p:spPr>
          <a:xfrm>
            <a:off x="304800" y="1371600"/>
            <a:ext cx="8839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在多个通道中选择其中的某一路，或 个信息中选择其中的某一个信息传送或加以处理，</a:t>
            </a:r>
            <a:endParaRPr lang="zh-CN" altLang="en-US" sz="2400" b="1" dirty="0"/>
          </a:p>
        </p:txBody>
      </p:sp>
      <p:sp>
        <p:nvSpPr>
          <p:cNvPr id="46085" name="Text Box 5"/>
          <p:cNvSpPr txBox="1"/>
          <p:nvPr/>
        </p:nvSpPr>
        <p:spPr>
          <a:xfrm>
            <a:off x="381000" y="4419600"/>
            <a:ext cx="807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将传送来的或处理后的信息分配到各通道去。</a:t>
            </a:r>
            <a:endParaRPr lang="zh-CN" altLang="en-US" sz="2400" b="1" dirty="0"/>
          </a:p>
        </p:txBody>
      </p:sp>
      <p:graphicFrame>
        <p:nvGraphicFramePr>
          <p:cNvPr id="106496" name="Object 1024"/>
          <p:cNvGraphicFramePr>
            <a:graphicFrameLocks noChangeAspect="1"/>
          </p:cNvGraphicFramePr>
          <p:nvPr/>
        </p:nvGraphicFramePr>
        <p:xfrm>
          <a:off x="5638800" y="2133600"/>
          <a:ext cx="25146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1" imgW="1647825" imgH="1171575" progId="Paint.Picture">
                  <p:embed/>
                </p:oleObj>
              </mc:Choice>
              <mc:Fallback>
                <p:oleObj name="" r:id="rId1" imgW="1647825" imgH="1171575" progId="Paint.Picture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38800" y="2133600"/>
                        <a:ext cx="2514600" cy="152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497" name="Object 1025"/>
          <p:cNvGraphicFramePr>
            <a:graphicFrameLocks noChangeAspect="1"/>
          </p:cNvGraphicFramePr>
          <p:nvPr/>
        </p:nvGraphicFramePr>
        <p:xfrm>
          <a:off x="5334000" y="4876800"/>
          <a:ext cx="2895600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3" imgW="1762125" imgH="1457325" progId="Paint.Picture">
                  <p:embed/>
                </p:oleObj>
              </mc:Choice>
              <mc:Fallback>
                <p:oleObj name="" r:id="rId3" imgW="1762125" imgH="1457325" progId="Paint.Picture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4000" y="4876800"/>
                        <a:ext cx="2895600" cy="168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8" name="Text Box 8"/>
          <p:cNvSpPr txBox="1"/>
          <p:nvPr/>
        </p:nvSpPr>
        <p:spPr>
          <a:xfrm>
            <a:off x="390525" y="823913"/>
            <a:ext cx="1762125" cy="495300"/>
          </a:xfrm>
          <a:prstGeom prst="rect">
            <a:avLst/>
          </a:prstGeom>
          <a:solidFill>
            <a:srgbClr val="FFFF66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数据选择器</a:t>
            </a:r>
            <a:endParaRPr lang="zh-CN" altLang="en-US" sz="2400" b="1" dirty="0"/>
          </a:p>
        </p:txBody>
      </p:sp>
      <p:sp>
        <p:nvSpPr>
          <p:cNvPr id="46089" name="Text Box 9"/>
          <p:cNvSpPr txBox="1"/>
          <p:nvPr/>
        </p:nvSpPr>
        <p:spPr>
          <a:xfrm>
            <a:off x="366713" y="3795713"/>
            <a:ext cx="1762125" cy="495300"/>
          </a:xfrm>
          <a:prstGeom prst="rect">
            <a:avLst/>
          </a:prstGeom>
          <a:solidFill>
            <a:srgbClr val="FFFF66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数据分配器</a:t>
            </a:r>
            <a:endParaRPr lang="zh-CN" altLang="en-US" sz="2400" b="1" dirty="0"/>
          </a:p>
        </p:txBody>
      </p:sp>
      <p:sp>
        <p:nvSpPr>
          <p:cNvPr id="46090" name="Text Box 10"/>
          <p:cNvSpPr txBox="1"/>
          <p:nvPr/>
        </p:nvSpPr>
        <p:spPr>
          <a:xfrm>
            <a:off x="366713" y="2881313"/>
            <a:ext cx="1146175" cy="495300"/>
          </a:xfrm>
          <a:prstGeom prst="rect">
            <a:avLst/>
          </a:prstGeom>
          <a:solidFill>
            <a:srgbClr val="FFFF66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多输入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46091" name="Text Box 11"/>
          <p:cNvSpPr txBox="1"/>
          <p:nvPr/>
        </p:nvSpPr>
        <p:spPr>
          <a:xfrm>
            <a:off x="3160713" y="2881313"/>
            <a:ext cx="1146175" cy="495300"/>
          </a:xfrm>
          <a:prstGeom prst="rect">
            <a:avLst/>
          </a:prstGeom>
          <a:solidFill>
            <a:srgbClr val="FFFF66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一输出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46092" name="Line 12"/>
          <p:cNvSpPr/>
          <p:nvPr/>
        </p:nvSpPr>
        <p:spPr>
          <a:xfrm>
            <a:off x="1651000" y="3200400"/>
            <a:ext cx="137160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6093" name="Text Box 13"/>
          <p:cNvSpPr txBox="1"/>
          <p:nvPr/>
        </p:nvSpPr>
        <p:spPr>
          <a:xfrm>
            <a:off x="1879600" y="2682875"/>
            <a:ext cx="10033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选择</a:t>
            </a:r>
            <a:endParaRPr lang="zh-CN" altLang="en-US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6094" name="Text Box 14"/>
          <p:cNvSpPr txBox="1"/>
          <p:nvPr/>
        </p:nvSpPr>
        <p:spPr>
          <a:xfrm>
            <a:off x="519113" y="5386388"/>
            <a:ext cx="1146175" cy="495300"/>
          </a:xfrm>
          <a:prstGeom prst="rect">
            <a:avLst/>
          </a:prstGeom>
          <a:solidFill>
            <a:srgbClr val="FFFF66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一输入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46095" name="Text Box 15"/>
          <p:cNvSpPr txBox="1"/>
          <p:nvPr/>
        </p:nvSpPr>
        <p:spPr>
          <a:xfrm>
            <a:off x="3313113" y="5386388"/>
            <a:ext cx="1146175" cy="495300"/>
          </a:xfrm>
          <a:prstGeom prst="rect">
            <a:avLst/>
          </a:prstGeom>
          <a:solidFill>
            <a:srgbClr val="FFFF66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多输出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46096" name="Text Box 16"/>
          <p:cNvSpPr txBox="1"/>
          <p:nvPr/>
        </p:nvSpPr>
        <p:spPr>
          <a:xfrm>
            <a:off x="2032000" y="5187950"/>
            <a:ext cx="10033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分配</a:t>
            </a:r>
            <a:endParaRPr lang="zh-CN" altLang="en-US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6097" name="Line 17"/>
          <p:cNvSpPr/>
          <p:nvPr/>
        </p:nvSpPr>
        <p:spPr>
          <a:xfrm>
            <a:off x="1803400" y="5715000"/>
            <a:ext cx="137160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6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6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6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6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6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/>
      <p:bldP spid="46085" grpId="0"/>
      <p:bldP spid="46088" grpId="0" animBg="1"/>
      <p:bldP spid="46089" grpId="0" animBg="1"/>
      <p:bldP spid="46090" grpId="0" animBg="1"/>
      <p:bldP spid="46091" grpId="0" animBg="1"/>
      <p:bldP spid="46093" grpId="0"/>
      <p:bldP spid="46094" grpId="0" animBg="1"/>
      <p:bldP spid="46095" grpId="0" animBg="1"/>
      <p:bldP spid="4609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7520" name="Object 0"/>
          <p:cNvGraphicFramePr>
            <a:graphicFrameLocks noChangeAspect="1"/>
          </p:cNvGraphicFramePr>
          <p:nvPr/>
        </p:nvGraphicFramePr>
        <p:xfrm>
          <a:off x="1371600" y="2362200"/>
          <a:ext cx="64008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1" imgW="3438525" imgH="1676400" progId="Paint.Picture">
                  <p:embed/>
                </p:oleObj>
              </mc:Choice>
              <mc:Fallback>
                <p:oleObj name="" r:id="rId1" imgW="3438525" imgH="1676400" progId="Paint.Picture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1600" y="2362200"/>
                        <a:ext cx="6400800" cy="411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3" name="Rectangle 3"/>
          <p:cNvSpPr/>
          <p:nvPr/>
        </p:nvSpPr>
        <p:spPr>
          <a:xfrm>
            <a:off x="1143000" y="2057400"/>
            <a:ext cx="2895600" cy="32004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76804" name="Rectangle 4"/>
          <p:cNvSpPr/>
          <p:nvPr/>
        </p:nvSpPr>
        <p:spPr>
          <a:xfrm>
            <a:off x="4572000" y="2133600"/>
            <a:ext cx="3429000" cy="32766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76805" name="Text Box 5"/>
          <p:cNvSpPr txBox="1"/>
          <p:nvPr/>
        </p:nvSpPr>
        <p:spPr>
          <a:xfrm>
            <a:off x="1219200" y="1227138"/>
            <a:ext cx="2563813" cy="449262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5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发送端</a:t>
            </a:r>
            <a:r>
              <a:rPr lang="zh-CN" altLang="en-US" sz="2400" b="1" dirty="0">
                <a:latin typeface="宋体" panose="02010600030101010101" pitchFamily="2" charset="-122"/>
              </a:rPr>
              <a:t>，并</a:t>
            </a:r>
            <a:r>
              <a:rPr lang="en-US" altLang="zh-CN" sz="2400" b="1" dirty="0"/>
              <a:t>—</a:t>
            </a:r>
            <a:r>
              <a:rPr lang="zh-CN" altLang="en-US" sz="2400" b="1" dirty="0">
                <a:latin typeface="宋体" panose="02010600030101010101" pitchFamily="2" charset="-122"/>
              </a:rPr>
              <a:t>串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76806" name="Text Box 6"/>
          <p:cNvSpPr txBox="1"/>
          <p:nvPr/>
        </p:nvSpPr>
        <p:spPr>
          <a:xfrm>
            <a:off x="4979988" y="1209675"/>
            <a:ext cx="2487612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接收端</a:t>
            </a:r>
            <a:r>
              <a:rPr lang="zh-CN" altLang="en-US" sz="2400" b="1" dirty="0">
                <a:latin typeface="宋体" panose="02010600030101010101" pitchFamily="2" charset="-122"/>
              </a:rPr>
              <a:t>，串</a:t>
            </a:r>
            <a:r>
              <a:rPr lang="en-US" altLang="zh-CN" sz="2400" b="1" dirty="0"/>
              <a:t>—</a:t>
            </a:r>
            <a:r>
              <a:rPr lang="zh-CN" altLang="en-US" sz="2400" b="1" dirty="0">
                <a:latin typeface="宋体" panose="02010600030101010101" pitchFamily="2" charset="-122"/>
              </a:rPr>
              <a:t>并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animBg="1"/>
      <p:bldP spid="76804" grpId="0" animBg="1"/>
      <p:bldP spid="76805" grpId="0" animBg="1"/>
      <p:bldP spid="7680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Text Box 2"/>
          <p:cNvSpPr txBox="1"/>
          <p:nvPr/>
        </p:nvSpPr>
        <p:spPr>
          <a:xfrm>
            <a:off x="0" y="0"/>
            <a:ext cx="23336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一、数据选择器</a:t>
            </a:r>
            <a:endParaRPr lang="zh-CN" altLang="en-US" sz="2400" b="1" dirty="0"/>
          </a:p>
        </p:txBody>
      </p:sp>
      <p:sp>
        <p:nvSpPr>
          <p:cNvPr id="47107" name="Text Box 3"/>
          <p:cNvSpPr txBox="1"/>
          <p:nvPr/>
        </p:nvSpPr>
        <p:spPr>
          <a:xfrm>
            <a:off x="0" y="609600"/>
            <a:ext cx="6915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（一）分类：二选一、四选一、八选一、十六选一</a:t>
            </a:r>
            <a:endParaRPr lang="zh-CN" altLang="en-US" sz="2400" b="1" dirty="0"/>
          </a:p>
        </p:txBody>
      </p:sp>
      <p:graphicFrame>
        <p:nvGraphicFramePr>
          <p:cNvPr id="47111" name="Object 7"/>
          <p:cNvGraphicFramePr>
            <a:graphicFrameLocks noChangeAspect="1"/>
          </p:cNvGraphicFramePr>
          <p:nvPr/>
        </p:nvGraphicFramePr>
        <p:xfrm>
          <a:off x="1981200" y="1828800"/>
          <a:ext cx="6019800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1" imgW="2000250" imgH="1962150" progId="Paint.Picture">
                  <p:embed/>
                </p:oleObj>
              </mc:Choice>
              <mc:Fallback>
                <p:oleObj name="" r:id="rId1" imgW="2000250" imgH="1962150" progId="Paint.Picture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1200" y="1828800"/>
                        <a:ext cx="6019800" cy="472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2" name="Text Box 8"/>
          <p:cNvSpPr txBox="1"/>
          <p:nvPr/>
        </p:nvSpPr>
        <p:spPr>
          <a:xfrm>
            <a:off x="228600" y="1143000"/>
            <a:ext cx="45148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双四选一数据选择器</a:t>
            </a:r>
            <a:r>
              <a:rPr lang="en-US" altLang="zh-CN" sz="2400" b="1" dirty="0">
                <a:solidFill>
                  <a:srgbClr val="FF3300"/>
                </a:solidFill>
              </a:rPr>
              <a:t>CT74LS153</a:t>
            </a:r>
            <a:endParaRPr lang="en-US" altLang="zh-CN" sz="2400" b="1" dirty="0"/>
          </a:p>
        </p:txBody>
      </p:sp>
      <p:sp>
        <p:nvSpPr>
          <p:cNvPr id="47125" name="Rectangle 21"/>
          <p:cNvSpPr/>
          <p:nvPr/>
        </p:nvSpPr>
        <p:spPr>
          <a:xfrm>
            <a:off x="1676400" y="3048000"/>
            <a:ext cx="5943600" cy="1600200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7126" name="Rectangle 22"/>
          <p:cNvSpPr/>
          <p:nvPr/>
        </p:nvSpPr>
        <p:spPr>
          <a:xfrm>
            <a:off x="1676400" y="4724400"/>
            <a:ext cx="6172200" cy="1676400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3256" name="Text Box 24"/>
          <p:cNvSpPr txBox="1"/>
          <p:nvPr/>
        </p:nvSpPr>
        <p:spPr>
          <a:xfrm>
            <a:off x="6765925" y="1524000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latin typeface="宋体" panose="02010600030101010101" pitchFamily="2" charset="-122"/>
            </a:endParaRPr>
          </a:p>
        </p:txBody>
      </p:sp>
      <p:sp>
        <p:nvSpPr>
          <p:cNvPr id="47129" name="Rectangle 25"/>
          <p:cNvSpPr/>
          <p:nvPr/>
        </p:nvSpPr>
        <p:spPr>
          <a:xfrm>
            <a:off x="1905000" y="1828800"/>
            <a:ext cx="5257800" cy="1143000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41"/>
          <p:cNvGrpSpPr/>
          <p:nvPr/>
        </p:nvGrpSpPr>
        <p:grpSpPr>
          <a:xfrm>
            <a:off x="142875" y="3271838"/>
            <a:ext cx="1914525" cy="466725"/>
            <a:chOff x="90" y="2061"/>
            <a:chExt cx="1206" cy="294"/>
          </a:xfrm>
        </p:grpSpPr>
        <p:sp>
          <p:nvSpPr>
            <p:cNvPr id="53270" name="Text Box 28"/>
            <p:cNvSpPr txBox="1"/>
            <p:nvPr/>
          </p:nvSpPr>
          <p:spPr>
            <a:xfrm>
              <a:off x="90" y="2061"/>
              <a:ext cx="704" cy="294"/>
            </a:xfrm>
            <a:prstGeom prst="rect">
              <a:avLst/>
            </a:prstGeom>
            <a:solidFill>
              <a:srgbClr val="FFFF66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使能端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53271" name="Line 29"/>
            <p:cNvSpPr/>
            <p:nvPr/>
          </p:nvSpPr>
          <p:spPr>
            <a:xfrm>
              <a:off x="864" y="2208"/>
              <a:ext cx="4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" name="Group 42"/>
          <p:cNvGrpSpPr/>
          <p:nvPr/>
        </p:nvGrpSpPr>
        <p:grpSpPr>
          <a:xfrm>
            <a:off x="7696200" y="3048000"/>
            <a:ext cx="1376363" cy="1066800"/>
            <a:chOff x="4848" y="1920"/>
            <a:chExt cx="867" cy="672"/>
          </a:xfrm>
        </p:grpSpPr>
        <p:sp>
          <p:nvSpPr>
            <p:cNvPr id="53268" name="Text Box 32"/>
            <p:cNvSpPr txBox="1"/>
            <p:nvPr/>
          </p:nvSpPr>
          <p:spPr>
            <a:xfrm>
              <a:off x="5011" y="1920"/>
              <a:ext cx="704" cy="294"/>
            </a:xfrm>
            <a:prstGeom prst="rect">
              <a:avLst/>
            </a:prstGeom>
            <a:solidFill>
              <a:srgbClr val="FFFF66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输出端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53269" name="Line 34"/>
            <p:cNvSpPr/>
            <p:nvPr/>
          </p:nvSpPr>
          <p:spPr>
            <a:xfrm flipH="1">
              <a:off x="4848" y="2256"/>
              <a:ext cx="432" cy="3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" name="Group 40"/>
          <p:cNvGrpSpPr/>
          <p:nvPr/>
        </p:nvGrpSpPr>
        <p:grpSpPr>
          <a:xfrm>
            <a:off x="377825" y="3733800"/>
            <a:ext cx="1679575" cy="1212850"/>
            <a:chOff x="238" y="2352"/>
            <a:chExt cx="1058" cy="764"/>
          </a:xfrm>
        </p:grpSpPr>
        <p:sp>
          <p:nvSpPr>
            <p:cNvPr id="53265" name="Text Box 30"/>
            <p:cNvSpPr txBox="1"/>
            <p:nvPr/>
          </p:nvSpPr>
          <p:spPr>
            <a:xfrm>
              <a:off x="238" y="2592"/>
              <a:ext cx="510" cy="524"/>
            </a:xfrm>
            <a:prstGeom prst="rect">
              <a:avLst/>
            </a:prstGeom>
            <a:solidFill>
              <a:srgbClr val="FFFF66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数据</a:t>
              </a:r>
              <a:endParaRPr lang="zh-CN" altLang="en-US" sz="2400" b="1" dirty="0">
                <a:latin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输入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53266" name="AutoShape 35"/>
            <p:cNvSpPr/>
            <p:nvPr/>
          </p:nvSpPr>
          <p:spPr>
            <a:xfrm>
              <a:off x="1248" y="2352"/>
              <a:ext cx="48" cy="576"/>
            </a:xfrm>
            <a:prstGeom prst="leftBrace">
              <a:avLst>
                <a:gd name="adj1" fmla="val 100000"/>
                <a:gd name="adj2" fmla="val 42361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53267" name="Line 36"/>
            <p:cNvSpPr/>
            <p:nvPr/>
          </p:nvSpPr>
          <p:spPr>
            <a:xfrm flipV="1">
              <a:off x="768" y="2640"/>
              <a:ext cx="384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" name="Group 43"/>
          <p:cNvGrpSpPr/>
          <p:nvPr/>
        </p:nvGrpSpPr>
        <p:grpSpPr>
          <a:xfrm>
            <a:off x="223838" y="2063750"/>
            <a:ext cx="1985962" cy="831850"/>
            <a:chOff x="141" y="1300"/>
            <a:chExt cx="1251" cy="524"/>
          </a:xfrm>
        </p:grpSpPr>
        <p:sp>
          <p:nvSpPr>
            <p:cNvPr id="53262" name="Text Box 26"/>
            <p:cNvSpPr txBox="1"/>
            <p:nvPr/>
          </p:nvSpPr>
          <p:spPr>
            <a:xfrm>
              <a:off x="141" y="1300"/>
              <a:ext cx="819" cy="524"/>
            </a:xfrm>
            <a:prstGeom prst="rect">
              <a:avLst/>
            </a:prstGeom>
            <a:solidFill>
              <a:srgbClr val="FFFF66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公用控</a:t>
              </a:r>
              <a:endParaRPr lang="zh-CN" altLang="en-US" sz="2400" b="1" dirty="0">
                <a:latin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制输入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53263" name="AutoShape 37"/>
            <p:cNvSpPr/>
            <p:nvPr/>
          </p:nvSpPr>
          <p:spPr>
            <a:xfrm>
              <a:off x="1344" y="1392"/>
              <a:ext cx="48" cy="432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53264" name="Line 38"/>
            <p:cNvSpPr/>
            <p:nvPr/>
          </p:nvSpPr>
          <p:spPr>
            <a:xfrm>
              <a:off x="1008" y="1584"/>
              <a:ext cx="2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/>
      <p:bldP spid="47112" grpId="0"/>
      <p:bldP spid="47125" grpId="0" animBg="1"/>
      <p:bldP spid="47126" grpId="0" animBg="1"/>
      <p:bldP spid="4712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Text Box 4"/>
          <p:cNvSpPr txBox="1"/>
          <p:nvPr/>
        </p:nvSpPr>
        <p:spPr>
          <a:xfrm>
            <a:off x="609600" y="762000"/>
            <a:ext cx="82645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当</a:t>
            </a:r>
            <a:r>
              <a:rPr lang="en-US" altLang="zh-CN" sz="2400" b="1" i="1" dirty="0">
                <a:latin typeface="宋体" panose="02010600030101010101" pitchFamily="2" charset="-122"/>
              </a:rPr>
              <a:t>E</a:t>
            </a:r>
            <a:r>
              <a:rPr lang="en-US" altLang="zh-CN" sz="2400" b="1" dirty="0">
                <a:latin typeface="宋体" panose="02010600030101010101" pitchFamily="2" charset="-122"/>
              </a:rPr>
              <a:t>=0</a:t>
            </a:r>
            <a:r>
              <a:rPr lang="zh-CN" altLang="en-US" sz="2400" b="1" dirty="0">
                <a:latin typeface="宋体" panose="02010600030101010101" pitchFamily="2" charset="-122"/>
              </a:rPr>
              <a:t>时，</a:t>
            </a:r>
            <a:r>
              <a:rPr lang="en-US" altLang="zh-CN" sz="2400" b="1" dirty="0"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选</a:t>
            </a:r>
            <a:r>
              <a:rPr lang="en-US" altLang="zh-CN" sz="2400" b="1" dirty="0">
                <a:latin typeface="宋体" panose="02010600030101010101" pitchFamily="2" charset="-122"/>
              </a:rPr>
              <a:t>1 MUX</a:t>
            </a:r>
            <a:r>
              <a:rPr lang="zh-CN" altLang="en-US" sz="2400" b="1" dirty="0">
                <a:latin typeface="宋体" panose="02010600030101010101" pitchFamily="2" charset="-122"/>
              </a:rPr>
              <a:t>的逻辑功能还可以用以下表达式表示：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4275" name="Object 2"/>
          <p:cNvGraphicFramePr>
            <a:graphicFrameLocks noChangeAspect="1"/>
          </p:cNvGraphicFramePr>
          <p:nvPr/>
        </p:nvGraphicFramePr>
        <p:xfrm>
          <a:off x="2590800" y="1447800"/>
          <a:ext cx="4724400" cy="143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1" imgW="2514600" imgH="762000" progId="Equation.3">
                  <p:embed/>
                </p:oleObj>
              </mc:Choice>
              <mc:Fallback>
                <p:oleObj name="" r:id="rId1" imgW="2514600" imgH="7620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90800" y="1447800"/>
                        <a:ext cx="4724400" cy="1430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6" name="Text Box 6"/>
          <p:cNvSpPr txBox="1"/>
          <p:nvPr/>
        </p:nvSpPr>
        <p:spPr>
          <a:xfrm>
            <a:off x="609600" y="2743200"/>
            <a:ext cx="8153400" cy="1089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3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  </a:t>
            </a:r>
            <a:r>
              <a:rPr lang="zh-CN" altLang="en-US" sz="2400" b="1" dirty="0">
                <a:latin typeface="宋体" panose="02010600030101010101" pitchFamily="2" charset="-122"/>
              </a:rPr>
              <a:t>式中，</a:t>
            </a:r>
            <a:r>
              <a:rPr lang="en-US" altLang="zh-CN" sz="2400" b="1" i="1" dirty="0">
                <a:latin typeface="宋体" panose="02010600030101010101" pitchFamily="2" charset="-122"/>
              </a:rPr>
              <a:t>m</a:t>
            </a:r>
            <a:r>
              <a:rPr lang="en-US" altLang="zh-CN" sz="2400" b="1" i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是地址变量</a:t>
            </a:r>
            <a:r>
              <a:rPr lang="en-US" altLang="zh-CN" sz="2400" b="1" i="1" dirty="0">
                <a:latin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所对应的最小项，称地址最小项。 上式还可以用矩阵形式表示为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4277" name="Object 3"/>
          <p:cNvGraphicFramePr>
            <a:graphicFrameLocks noChangeAspect="1"/>
          </p:cNvGraphicFramePr>
          <p:nvPr/>
        </p:nvGraphicFramePr>
        <p:xfrm>
          <a:off x="609600" y="3962400"/>
          <a:ext cx="7924800" cy="259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3" imgW="3568700" imgH="1168400" progId="Equation.3">
                  <p:embed/>
                </p:oleObj>
              </mc:Choice>
              <mc:Fallback>
                <p:oleObj name="" r:id="rId3" imgW="3568700" imgH="1168400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" y="3962400"/>
                        <a:ext cx="7924800" cy="2593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5486400" y="1524000"/>
          <a:ext cx="34290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1" imgW="1438275" imgH="1238250" progId="Paint.Picture">
                  <p:embed/>
                </p:oleObj>
              </mc:Choice>
              <mc:Fallback>
                <p:oleObj name="" r:id="rId1" imgW="1438275" imgH="1238250" progId="Paint.Picture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86400" y="1524000"/>
                        <a:ext cx="3429000" cy="289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9" name="Object 7"/>
          <p:cNvGraphicFramePr>
            <a:graphicFrameLocks noChangeAspect="1"/>
          </p:cNvGraphicFramePr>
          <p:nvPr/>
        </p:nvGraphicFramePr>
        <p:xfrm>
          <a:off x="762000" y="1524000"/>
          <a:ext cx="4953000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3" imgW="2000250" imgH="1962150" progId="Paint.Picture">
                  <p:embed/>
                </p:oleObj>
              </mc:Choice>
              <mc:Fallback>
                <p:oleObj name="" r:id="rId3" imgW="2000250" imgH="1962150" progId="Paint.Picture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0" y="1524000"/>
                        <a:ext cx="4953000" cy="472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" name="Rectangle 8"/>
          <p:cNvSpPr/>
          <p:nvPr/>
        </p:nvSpPr>
        <p:spPr>
          <a:xfrm>
            <a:off x="381000" y="762000"/>
            <a:ext cx="45148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双四选一数据选择器</a:t>
            </a:r>
            <a:r>
              <a:rPr lang="en-US" altLang="zh-CN" sz="2400" b="1" dirty="0">
                <a:solidFill>
                  <a:srgbClr val="FF3300"/>
                </a:solidFill>
              </a:rPr>
              <a:t>CT74LS153</a:t>
            </a:r>
            <a:endParaRPr lang="en-US" altLang="zh-CN" sz="2400" b="1" dirty="0">
              <a:solidFill>
                <a:srgbClr val="FF3300"/>
              </a:solidFill>
            </a:endParaRPr>
          </a:p>
        </p:txBody>
      </p:sp>
      <p:sp>
        <p:nvSpPr>
          <p:cNvPr id="67593" name="Text Box 9"/>
          <p:cNvSpPr txBox="1"/>
          <p:nvPr/>
        </p:nvSpPr>
        <p:spPr>
          <a:xfrm>
            <a:off x="6816725" y="4805363"/>
            <a:ext cx="1412875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简易符号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67594" name="Rectangle 10"/>
          <p:cNvSpPr/>
          <p:nvPr/>
        </p:nvSpPr>
        <p:spPr>
          <a:xfrm>
            <a:off x="5410200" y="1371600"/>
            <a:ext cx="3657600" cy="4038600"/>
          </a:xfrm>
          <a:prstGeom prst="rect">
            <a:avLst/>
          </a:prstGeom>
          <a:noFill/>
          <a:ln w="412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3" grpId="0" animBg="1"/>
      <p:bldP spid="6759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6322" name="Object 2"/>
          <p:cNvGraphicFramePr>
            <a:graphicFrameLocks noChangeAspect="1"/>
          </p:cNvGraphicFramePr>
          <p:nvPr/>
        </p:nvGraphicFramePr>
        <p:xfrm>
          <a:off x="1828800" y="1676400"/>
          <a:ext cx="64008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1" imgW="2000250" imgH="1714500" progId="Paint.Picture">
                  <p:embed/>
                </p:oleObj>
              </mc:Choice>
              <mc:Fallback>
                <p:oleObj name="" r:id="rId1" imgW="2000250" imgH="1714500" progId="Paint.Picture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28800" y="1676400"/>
                        <a:ext cx="6400800" cy="457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3" name="Text Box 3"/>
          <p:cNvSpPr txBox="1"/>
          <p:nvPr/>
        </p:nvSpPr>
        <p:spPr>
          <a:xfrm>
            <a:off x="762000" y="609600"/>
            <a:ext cx="480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八中选一数据选择器</a:t>
            </a:r>
            <a:r>
              <a:rPr lang="en-US" altLang="zh-CN" sz="2400" b="1" dirty="0"/>
              <a:t>CT74LS151</a:t>
            </a:r>
            <a:endParaRPr lang="en-US" altLang="zh-CN" sz="2400" b="1" dirty="0"/>
          </a:p>
        </p:txBody>
      </p:sp>
      <p:grpSp>
        <p:nvGrpSpPr>
          <p:cNvPr id="2" name="Group 6"/>
          <p:cNvGrpSpPr/>
          <p:nvPr/>
        </p:nvGrpSpPr>
        <p:grpSpPr>
          <a:xfrm>
            <a:off x="0" y="2209800"/>
            <a:ext cx="1905000" cy="914400"/>
            <a:chOff x="0" y="1392"/>
            <a:chExt cx="1200" cy="576"/>
          </a:xfrm>
        </p:grpSpPr>
        <p:sp>
          <p:nvSpPr>
            <p:cNvPr id="56325" name="Text Box 4"/>
            <p:cNvSpPr txBox="1"/>
            <p:nvPr/>
          </p:nvSpPr>
          <p:spPr>
            <a:xfrm>
              <a:off x="70" y="1418"/>
              <a:ext cx="1082" cy="524"/>
            </a:xfrm>
            <a:prstGeom prst="rect">
              <a:avLst/>
            </a:prstGeom>
            <a:solidFill>
              <a:srgbClr val="FFFF66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八选一需</a:t>
              </a:r>
              <a:endParaRPr lang="zh-CN" altLang="en-US" sz="2400" dirty="0">
                <a:latin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三位地址码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56326" name="AutoShape 5"/>
            <p:cNvSpPr/>
            <p:nvPr/>
          </p:nvSpPr>
          <p:spPr>
            <a:xfrm>
              <a:off x="0" y="1392"/>
              <a:ext cx="1200" cy="576"/>
            </a:xfrm>
            <a:prstGeom prst="wedgeRoundRectCallout">
              <a:avLst>
                <a:gd name="adj1" fmla="val 64083"/>
                <a:gd name="adj2" fmla="val 1912"/>
                <a:gd name="adj3" fmla="val 1666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8130" name="Object 2"/>
          <p:cNvGraphicFramePr>
            <a:graphicFrameLocks noChangeAspect="1"/>
          </p:cNvGraphicFramePr>
          <p:nvPr/>
        </p:nvGraphicFramePr>
        <p:xfrm>
          <a:off x="1676400" y="1371600"/>
          <a:ext cx="52578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1" imgW="2752725" imgH="2324100" progId="Paint.Picture">
                  <p:embed/>
                </p:oleObj>
              </mc:Choice>
              <mc:Fallback>
                <p:oleObj name="" r:id="rId1" imgW="2752725" imgH="2324100" progId="Paint.Picture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76400" y="1371600"/>
                        <a:ext cx="5257800" cy="396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7" name="Text Box 4"/>
          <p:cNvSpPr txBox="1"/>
          <p:nvPr/>
        </p:nvSpPr>
        <p:spPr>
          <a:xfrm>
            <a:off x="228600" y="304800"/>
            <a:ext cx="3540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（二）数据选择器的应用</a:t>
            </a:r>
            <a:endParaRPr lang="zh-CN" altLang="en-US" sz="2400" b="1" dirty="0"/>
          </a:p>
        </p:txBody>
      </p:sp>
      <p:sp>
        <p:nvSpPr>
          <p:cNvPr id="48133" name="Text Box 5"/>
          <p:cNvSpPr txBox="1"/>
          <p:nvPr/>
        </p:nvSpPr>
        <p:spPr>
          <a:xfrm>
            <a:off x="0" y="838200"/>
            <a:ext cx="7858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例：试用最少数量的四选一选择器扩展成八选一选择器。</a:t>
            </a:r>
            <a:endParaRPr lang="zh-CN" altLang="en-US" sz="2400" b="1" dirty="0"/>
          </a:p>
        </p:txBody>
      </p:sp>
      <p:sp>
        <p:nvSpPr>
          <p:cNvPr id="48134" name="Text Box 6"/>
          <p:cNvSpPr txBox="1"/>
          <p:nvPr/>
        </p:nvSpPr>
        <p:spPr>
          <a:xfrm>
            <a:off x="76200" y="5715000"/>
            <a:ext cx="9220200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解：（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）用一片双四选一数据选择器，实现八个输入端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（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）用使能端形成高位地址，实现三位地址，控制八个输入。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2209800" y="2438400"/>
            <a:ext cx="1524000" cy="1219200"/>
            <a:chOff x="1392" y="1536"/>
            <a:chExt cx="960" cy="768"/>
          </a:xfrm>
        </p:grpSpPr>
        <p:sp>
          <p:nvSpPr>
            <p:cNvPr id="57351" name="Line 7"/>
            <p:cNvSpPr/>
            <p:nvPr/>
          </p:nvSpPr>
          <p:spPr>
            <a:xfrm>
              <a:off x="1728" y="2304"/>
              <a:ext cx="624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52" name="Line 8"/>
            <p:cNvSpPr/>
            <p:nvPr/>
          </p:nvSpPr>
          <p:spPr>
            <a:xfrm flipV="1">
              <a:off x="1392" y="1584"/>
              <a:ext cx="0" cy="672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53" name="Line 9"/>
            <p:cNvSpPr/>
            <p:nvPr/>
          </p:nvSpPr>
          <p:spPr>
            <a:xfrm>
              <a:off x="1392" y="1536"/>
              <a:ext cx="672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/>
      <p:bldP spid="4813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9154" name="Object 2"/>
          <p:cNvGraphicFramePr>
            <a:graphicFrameLocks noChangeAspect="1"/>
          </p:cNvGraphicFramePr>
          <p:nvPr/>
        </p:nvGraphicFramePr>
        <p:xfrm>
          <a:off x="1600200" y="1295400"/>
          <a:ext cx="6696075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1" imgW="3438525" imgH="4657725" progId="Paint.Picture">
                  <p:embed/>
                </p:oleObj>
              </mc:Choice>
              <mc:Fallback>
                <p:oleObj name="" r:id="rId1" imgW="3438525" imgH="4657725" progId="Paint.Picture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0200" y="1295400"/>
                        <a:ext cx="6696075" cy="4953000"/>
                      </a:xfrm>
                      <a:prstGeom prst="rect">
                        <a:avLst/>
                      </a:prstGeom>
                      <a:noFill/>
                      <a:ln w="57150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1" name="Text Box 3"/>
          <p:cNvSpPr txBox="1"/>
          <p:nvPr/>
        </p:nvSpPr>
        <p:spPr>
          <a:xfrm>
            <a:off x="304800" y="381000"/>
            <a:ext cx="6940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例：试用四选一数据选择器构成十六选一的选择器</a:t>
            </a:r>
            <a:endParaRPr lang="zh-CN" altLang="en-US" sz="2400" b="1" dirty="0"/>
          </a:p>
        </p:txBody>
      </p:sp>
      <p:sp>
        <p:nvSpPr>
          <p:cNvPr id="49156" name="Rectangle 4"/>
          <p:cNvSpPr/>
          <p:nvPr/>
        </p:nvSpPr>
        <p:spPr>
          <a:xfrm>
            <a:off x="6019800" y="1981200"/>
            <a:ext cx="2133600" cy="2895600"/>
          </a:xfrm>
          <a:prstGeom prst="rect">
            <a:avLst/>
          </a:prstGeom>
          <a:noFill/>
          <a:ln w="571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5562600" y="5334000"/>
            <a:ext cx="2895600" cy="898525"/>
            <a:chOff x="3504" y="3360"/>
            <a:chExt cx="1824" cy="566"/>
          </a:xfrm>
        </p:grpSpPr>
        <p:sp>
          <p:nvSpPr>
            <p:cNvPr id="58378" name="Text Box 5"/>
            <p:cNvSpPr txBox="1"/>
            <p:nvPr/>
          </p:nvSpPr>
          <p:spPr>
            <a:xfrm>
              <a:off x="3616" y="3408"/>
              <a:ext cx="1664" cy="518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第二级，控制选择</a:t>
              </a:r>
              <a:endPara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第一级中的一组</a:t>
              </a:r>
              <a:endPara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8379" name="AutoShape 6"/>
            <p:cNvSpPr/>
            <p:nvPr/>
          </p:nvSpPr>
          <p:spPr>
            <a:xfrm>
              <a:off x="3504" y="3360"/>
              <a:ext cx="1824" cy="528"/>
            </a:xfrm>
            <a:prstGeom prst="wedgeRoundRectCallout">
              <a:avLst>
                <a:gd name="adj1" fmla="val -2301"/>
                <a:gd name="adj2" fmla="val -73106"/>
                <a:gd name="adj3" fmla="val 16667"/>
              </a:avLst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49161" name="Rectangle 9"/>
          <p:cNvSpPr/>
          <p:nvPr/>
        </p:nvSpPr>
        <p:spPr>
          <a:xfrm>
            <a:off x="1447800" y="1143000"/>
            <a:ext cx="4038600" cy="4724400"/>
          </a:xfrm>
          <a:prstGeom prst="rect">
            <a:avLst/>
          </a:prstGeom>
          <a:noFill/>
          <a:ln w="57150" cap="flat" cmpd="sng">
            <a:solidFill>
              <a:srgbClr val="00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3" name="Group 11"/>
          <p:cNvGrpSpPr/>
          <p:nvPr/>
        </p:nvGrpSpPr>
        <p:grpSpPr>
          <a:xfrm>
            <a:off x="0" y="5578475"/>
            <a:ext cx="1527175" cy="822325"/>
            <a:chOff x="0" y="3514"/>
            <a:chExt cx="962" cy="518"/>
          </a:xfrm>
        </p:grpSpPr>
        <p:sp>
          <p:nvSpPr>
            <p:cNvPr id="58376" name="Text Box 7"/>
            <p:cNvSpPr txBox="1"/>
            <p:nvPr/>
          </p:nvSpPr>
          <p:spPr>
            <a:xfrm>
              <a:off x="74" y="3514"/>
              <a:ext cx="888" cy="518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0CC00"/>
                  </a:solidFill>
                  <a:latin typeface="宋体" panose="02010600030101010101" pitchFamily="2" charset="-122"/>
                </a:rPr>
                <a:t>第一级，</a:t>
              </a:r>
              <a:endParaRPr lang="zh-CN" altLang="en-US" sz="2400" b="1" dirty="0">
                <a:solidFill>
                  <a:srgbClr val="00CC00"/>
                </a:solidFill>
                <a:latin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0CC00"/>
                  </a:solidFill>
                  <a:latin typeface="宋体" panose="02010600030101010101" pitchFamily="2" charset="-122"/>
                </a:rPr>
                <a:t>分为四组</a:t>
              </a:r>
              <a:endParaRPr lang="zh-CN" altLang="en-US" sz="2400" dirty="0">
                <a:solidFill>
                  <a:srgbClr val="00CC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8377" name="AutoShape 10"/>
            <p:cNvSpPr/>
            <p:nvPr/>
          </p:nvSpPr>
          <p:spPr>
            <a:xfrm>
              <a:off x="0" y="3552"/>
              <a:ext cx="960" cy="480"/>
            </a:xfrm>
            <a:prstGeom prst="wedgeRoundRectCallout">
              <a:avLst>
                <a:gd name="adj1" fmla="val 36458"/>
                <a:gd name="adj2" fmla="val -75417"/>
                <a:gd name="adj3" fmla="val 16667"/>
              </a:avLst>
            </a:prstGeom>
            <a:noFill/>
            <a:ln w="9525" cap="flat" cmpd="sng">
              <a:solidFill>
                <a:srgbClr val="00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animBg="1"/>
      <p:bldP spid="4916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Text Box 4"/>
          <p:cNvSpPr txBox="1"/>
          <p:nvPr/>
        </p:nvSpPr>
        <p:spPr>
          <a:xfrm>
            <a:off x="971550" y="685800"/>
            <a:ext cx="7766050" cy="38592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dist" eaLnBrk="1" hangingPunct="1">
              <a:lnSpc>
                <a:spcPct val="17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数据选择器的其他应用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dist" eaLnBrk="1" hangingPunct="1">
              <a:lnSpc>
                <a:spcPct val="17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数据选择器的应用很广，典型应用有以下几个方面： 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dist" eaLnBrk="1" hangingPunct="1">
              <a:lnSpc>
                <a:spcPct val="17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① 作数据选择，以实现多路信号分时传送。 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dist" eaLnBrk="1" hangingPunct="1">
              <a:lnSpc>
                <a:spcPct val="17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② 实现组合逻辑函数。 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dist" eaLnBrk="1" hangingPunct="1">
              <a:lnSpc>
                <a:spcPct val="17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③ 在数据传输时实现并</a:t>
            </a:r>
            <a:r>
              <a:rPr lang="en-US" altLang="zh-CN" sz="2400" b="1" dirty="0">
                <a:latin typeface="Courier New" panose="02070309020205020404" pitchFamily="49" charset="0"/>
              </a:rPr>
              <a:t>—</a:t>
            </a:r>
            <a:r>
              <a:rPr lang="zh-CN" altLang="en-US" sz="2400" b="1" dirty="0">
                <a:latin typeface="宋体" panose="02010600030101010101" pitchFamily="2" charset="-122"/>
              </a:rPr>
              <a:t>串转换。 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dist" eaLnBrk="1" hangingPunct="1">
              <a:lnSpc>
                <a:spcPct val="17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④ 产生序列信号。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9395" name="Text Box 5"/>
          <p:cNvSpPr txBox="1"/>
          <p:nvPr/>
        </p:nvSpPr>
        <p:spPr>
          <a:xfrm>
            <a:off x="1143000" y="4572000"/>
            <a:ext cx="53927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对于</a:t>
            </a:r>
            <a:r>
              <a:rPr lang="en-US" altLang="zh-CN" sz="2400" b="1" i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个地址输入的</a:t>
            </a:r>
            <a:r>
              <a:rPr lang="en-US" altLang="zh-CN" sz="2400" b="1" dirty="0">
                <a:latin typeface="宋体" panose="02010600030101010101" pitchFamily="2" charset="-122"/>
              </a:rPr>
              <a:t>MUX</a:t>
            </a:r>
            <a:r>
              <a:rPr lang="zh-CN" altLang="en-US" sz="2400" b="1" dirty="0">
                <a:latin typeface="宋体" panose="02010600030101010101" pitchFamily="2" charset="-122"/>
              </a:rPr>
              <a:t>，其表达式为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9396" name="Object 2"/>
          <p:cNvGraphicFramePr>
            <a:graphicFrameLocks noChangeAspect="1"/>
          </p:cNvGraphicFramePr>
          <p:nvPr/>
        </p:nvGraphicFramePr>
        <p:xfrm>
          <a:off x="3541713" y="5105400"/>
          <a:ext cx="2138362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1" imgW="774065" imgH="457200" progId="Equation.DSMT4">
                  <p:embed/>
                </p:oleObj>
              </mc:Choice>
              <mc:Fallback>
                <p:oleObj name="" r:id="rId1" imgW="774065" imgH="457200" progId="Equation.DSMT4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41713" y="5105400"/>
                        <a:ext cx="2138362" cy="1262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Text Box 4"/>
          <p:cNvSpPr txBox="1"/>
          <p:nvPr/>
        </p:nvSpPr>
        <p:spPr>
          <a:xfrm>
            <a:off x="457200" y="914400"/>
            <a:ext cx="8305800" cy="1625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4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其中</a:t>
            </a:r>
            <a:r>
              <a:rPr lang="en-US" altLang="zh-CN" sz="2400" b="1" i="1" dirty="0">
                <a:latin typeface="宋体" panose="02010600030101010101" pitchFamily="2" charset="-122"/>
              </a:rPr>
              <a:t>m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是由地址变量</a:t>
            </a:r>
            <a:r>
              <a:rPr lang="en-US" altLang="zh-CN" sz="2400" b="1" i="1" dirty="0">
                <a:latin typeface="宋体" panose="02010600030101010101" pitchFamily="2" charset="-122"/>
              </a:rPr>
              <a:t>A</a:t>
            </a:r>
            <a:r>
              <a:rPr lang="en-US" altLang="zh-CN" sz="2400" b="1" i="1" baseline="-25000" dirty="0">
                <a:latin typeface="宋体" panose="02010600030101010101" pitchFamily="2" charset="-122"/>
              </a:rPr>
              <a:t>n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-1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Courier New" panose="02070309020205020404" pitchFamily="49" charset="0"/>
              </a:rPr>
              <a:t>…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i="1" dirty="0">
                <a:latin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i="1" dirty="0">
                <a:latin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组成的地址最小项。而任何一个具有</a:t>
            </a:r>
            <a:r>
              <a:rPr lang="en-US" altLang="zh-CN" sz="2400" b="1" dirty="0">
                <a:latin typeface="宋体" panose="02010600030101010101" pitchFamily="2" charset="-122"/>
              </a:rPr>
              <a:t>l</a:t>
            </a:r>
            <a:r>
              <a:rPr lang="zh-CN" altLang="en-US" sz="2400" b="1" dirty="0">
                <a:latin typeface="宋体" panose="02010600030101010101" pitchFamily="2" charset="-122"/>
              </a:rPr>
              <a:t>个输入变量的逻辑函数都可以用最小项之和来表示：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0419" name="Object 2"/>
          <p:cNvGraphicFramePr>
            <a:graphicFrameLocks noChangeAspect="1"/>
          </p:cNvGraphicFramePr>
          <p:nvPr/>
        </p:nvGraphicFramePr>
        <p:xfrm>
          <a:off x="3733800" y="2362200"/>
          <a:ext cx="14478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1" imgW="647700" imgH="457200" progId="Equation.DSMT4">
                  <p:embed/>
                </p:oleObj>
              </mc:Choice>
              <mc:Fallback>
                <p:oleObj name="" r:id="rId1" imgW="647700" imgH="457200" progId="Equation.DSMT4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33800" y="2362200"/>
                        <a:ext cx="1447800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0" name="Text Box 6"/>
          <p:cNvSpPr txBox="1"/>
          <p:nvPr/>
        </p:nvSpPr>
        <p:spPr>
          <a:xfrm>
            <a:off x="533400" y="3505200"/>
            <a:ext cx="8229600" cy="2830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4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这里的</a:t>
            </a:r>
            <a:r>
              <a:rPr lang="en-US" altLang="zh-CN" sz="2400" b="1" i="1" dirty="0">
                <a:latin typeface="宋体" panose="02010600030101010101" pitchFamily="2" charset="-122"/>
              </a:rPr>
              <a:t>m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是由函数的输入变量</a:t>
            </a:r>
            <a:r>
              <a:rPr lang="en-US" altLang="zh-CN" sz="2400" b="1" i="1" dirty="0">
                <a:latin typeface="宋体" panose="02010600030101010101" pitchFamily="2" charset="-122"/>
              </a:rPr>
              <a:t>A</a:t>
            </a:r>
            <a:r>
              <a:rPr lang="zh-CN" altLang="en-US" sz="2400" b="1" i="1" dirty="0">
                <a:latin typeface="宋体" panose="02010600030101010101" pitchFamily="2" charset="-122"/>
              </a:rPr>
              <a:t>、</a:t>
            </a:r>
            <a:r>
              <a:rPr lang="en-US" altLang="zh-CN" sz="2400" b="1" i="1" dirty="0">
                <a:latin typeface="宋体" panose="02010600030101010101" pitchFamily="2" charset="-122"/>
              </a:rPr>
              <a:t>B</a:t>
            </a:r>
            <a:r>
              <a:rPr lang="zh-CN" altLang="en-US" sz="2400" b="1" i="1" dirty="0">
                <a:latin typeface="宋体" panose="02010600030101010101" pitchFamily="2" charset="-122"/>
              </a:rPr>
              <a:t>、</a:t>
            </a:r>
            <a:r>
              <a:rPr lang="en-US" altLang="zh-CN" sz="2400" b="1" i="1" dirty="0">
                <a:latin typeface="宋体" panose="02010600030101010101" pitchFamily="2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Courier New" panose="02070309020205020404" pitchFamily="49" charset="0"/>
              </a:rPr>
              <a:t>…</a:t>
            </a:r>
            <a:r>
              <a:rPr lang="zh-CN" altLang="en-US" sz="2400" b="1" dirty="0">
                <a:latin typeface="宋体" panose="02010600030101010101" pitchFamily="2" charset="-122"/>
              </a:rPr>
              <a:t>组成的最小项。 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dist" eaLnBrk="1" hangingPunct="1">
              <a:lnSpc>
                <a:spcPct val="14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  比较</a:t>
            </a:r>
            <a:r>
              <a:rPr lang="en-US" altLang="zh-CN" sz="2400" b="1" i="1" dirty="0">
                <a:latin typeface="宋体" panose="02010600030101010101" pitchFamily="2" charset="-122"/>
              </a:rPr>
              <a:t>Y </a:t>
            </a:r>
            <a:r>
              <a:rPr lang="zh-CN" altLang="en-US" sz="2400" b="1" dirty="0">
                <a:latin typeface="宋体" panose="02010600030101010101" pitchFamily="2" charset="-122"/>
              </a:rPr>
              <a:t>和</a:t>
            </a:r>
            <a:r>
              <a:rPr lang="en-US" altLang="zh-CN" sz="2400" b="1" i="1" dirty="0">
                <a:latin typeface="宋体" panose="02010600030101010101" pitchFamily="2" charset="-122"/>
              </a:rPr>
              <a:t>F </a:t>
            </a:r>
            <a:r>
              <a:rPr lang="zh-CN" altLang="en-US" sz="2400" b="1" dirty="0">
                <a:latin typeface="宋体" panose="02010600030101010101" pitchFamily="2" charset="-122"/>
              </a:rPr>
              <a:t>的表达式可以看出，只要将逻辑函数的输入变量</a:t>
            </a:r>
            <a:r>
              <a:rPr lang="en-US" altLang="zh-CN" sz="2400" b="1" i="1" dirty="0">
                <a:latin typeface="宋体" panose="02010600030101010101" pitchFamily="2" charset="-122"/>
              </a:rPr>
              <a:t>A</a:t>
            </a:r>
            <a:r>
              <a:rPr lang="zh-CN" altLang="en-US" sz="2400" b="1" i="1" dirty="0">
                <a:latin typeface="宋体" panose="02010600030101010101" pitchFamily="2" charset="-122"/>
              </a:rPr>
              <a:t>、</a:t>
            </a:r>
            <a:r>
              <a:rPr lang="en-US" altLang="zh-CN" sz="2400" b="1" i="1" dirty="0">
                <a:latin typeface="宋体" panose="02010600030101010101" pitchFamily="2" charset="-122"/>
              </a:rPr>
              <a:t>B</a:t>
            </a:r>
            <a:r>
              <a:rPr lang="zh-CN" altLang="en-US" sz="2400" b="1" i="1" dirty="0">
                <a:latin typeface="宋体" panose="02010600030101010101" pitchFamily="2" charset="-122"/>
              </a:rPr>
              <a:t>、</a:t>
            </a:r>
            <a:r>
              <a:rPr lang="en-US" altLang="zh-CN" sz="2400" b="1" i="1" dirty="0">
                <a:latin typeface="宋体" panose="02010600030101010101" pitchFamily="2" charset="-122"/>
              </a:rPr>
              <a:t>C</a:t>
            </a:r>
            <a:r>
              <a:rPr lang="zh-CN" altLang="en-US" sz="2400" b="1" i="1" dirty="0">
                <a:latin typeface="宋体" panose="02010600030101010101" pitchFamily="2" charset="-122"/>
              </a:rPr>
              <a:t>、</a:t>
            </a:r>
            <a:r>
              <a:rPr lang="zh-CN" altLang="en-US" sz="2400" b="1" dirty="0"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</a:rPr>
              <a:t>…</a:t>
            </a:r>
            <a:r>
              <a:rPr lang="zh-CN" altLang="en-US" sz="2400" b="1" dirty="0">
                <a:latin typeface="宋体" panose="02010600030101010101" pitchFamily="2" charset="-122"/>
              </a:rPr>
              <a:t>加至数据选择器地址输入端，并适当选择</a:t>
            </a:r>
            <a:r>
              <a:rPr lang="en-US" altLang="zh-CN" sz="2400" b="1" i="1" dirty="0">
                <a:latin typeface="宋体" panose="02010600030101010101" pitchFamily="2" charset="-122"/>
              </a:rPr>
              <a:t>D</a:t>
            </a:r>
            <a:r>
              <a:rPr lang="en-US" altLang="zh-CN" sz="2400" b="1" i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的值，使</a:t>
            </a:r>
            <a:r>
              <a:rPr lang="en-US" altLang="zh-CN" sz="2400" b="1" i="1" dirty="0">
                <a:latin typeface="宋体" panose="02010600030101010101" pitchFamily="2" charset="-122"/>
              </a:rPr>
              <a:t>F 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en-US" altLang="zh-CN" sz="2400" b="1" i="1" dirty="0">
                <a:latin typeface="宋体" panose="02010600030101010101" pitchFamily="2" charset="-122"/>
              </a:rPr>
              <a:t>Y</a:t>
            </a:r>
            <a:r>
              <a:rPr lang="zh-CN" altLang="en-US" sz="2400" b="1" dirty="0">
                <a:latin typeface="宋体" panose="02010600030101010101" pitchFamily="2" charset="-122"/>
              </a:rPr>
              <a:t>，就可以用</a:t>
            </a:r>
            <a:r>
              <a:rPr lang="en-US" altLang="zh-CN" sz="2400" b="1" dirty="0">
                <a:latin typeface="宋体" panose="02010600030101010101" pitchFamily="2" charset="-122"/>
              </a:rPr>
              <a:t>MUX</a:t>
            </a:r>
            <a:r>
              <a:rPr lang="zh-CN" altLang="en-US" sz="2400" b="1" dirty="0">
                <a:latin typeface="宋体" panose="02010600030101010101" pitchFamily="2" charset="-122"/>
              </a:rPr>
              <a:t>实现函数</a:t>
            </a:r>
            <a:r>
              <a:rPr lang="en-US" altLang="zh-CN" sz="2400" b="1" i="1" dirty="0">
                <a:latin typeface="宋体" panose="02010600030101010101" pitchFamily="2" charset="-122"/>
              </a:rPr>
              <a:t>F</a:t>
            </a:r>
            <a:r>
              <a:rPr lang="zh-CN" altLang="en-US" sz="2400" b="1" dirty="0">
                <a:latin typeface="宋体" panose="02010600030101010101" pitchFamily="2" charset="-122"/>
              </a:rPr>
              <a:t>。因此，用</a:t>
            </a:r>
            <a:r>
              <a:rPr lang="en-US" altLang="zh-CN" sz="2400" b="1" dirty="0">
                <a:latin typeface="宋体" panose="02010600030101010101" pitchFamily="2" charset="-122"/>
              </a:rPr>
              <a:t>MUX</a:t>
            </a:r>
            <a:r>
              <a:rPr lang="zh-CN" altLang="en-US" sz="2400" b="1" dirty="0">
                <a:latin typeface="宋体" panose="02010600030101010101" pitchFamily="2" charset="-122"/>
              </a:rPr>
              <a:t>实现函数的关键在于如何确定</a:t>
            </a:r>
            <a:r>
              <a:rPr lang="en-US" altLang="zh-CN" sz="2400" b="1" i="1" dirty="0">
                <a:latin typeface="宋体" panose="02010600030101010101" pitchFamily="2" charset="-122"/>
              </a:rPr>
              <a:t>D</a:t>
            </a:r>
            <a:r>
              <a:rPr lang="en-US" altLang="zh-CN" sz="2400" b="1" i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的对应值。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Text Box 4"/>
          <p:cNvSpPr txBox="1"/>
          <p:nvPr/>
        </p:nvSpPr>
        <p:spPr>
          <a:xfrm>
            <a:off x="533400" y="990600"/>
            <a:ext cx="8153400" cy="5000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8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1) </a:t>
            </a:r>
            <a:r>
              <a:rPr lang="en-US" altLang="zh-CN" sz="2400" b="1" i="1" dirty="0">
                <a:latin typeface="宋体" panose="02010600030101010101" pitchFamily="2" charset="-122"/>
              </a:rPr>
              <a:t>l</a:t>
            </a:r>
            <a:r>
              <a:rPr lang="en-US" altLang="zh-CN" sz="2400" b="1" dirty="0">
                <a:latin typeface="宋体" panose="02010600030101010101" pitchFamily="2" charset="-122"/>
              </a:rPr>
              <a:t>≤</a:t>
            </a:r>
            <a:r>
              <a:rPr lang="en-US" altLang="zh-CN" sz="2400" b="1" i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的情况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80000"/>
              </a:lnSpc>
              <a:spcBef>
                <a:spcPct val="50000"/>
              </a:spcBef>
              <a:buNone/>
            </a:pPr>
            <a:r>
              <a:rPr lang="zh-CN" altLang="en-US" sz="2400" b="1" i="1" dirty="0">
                <a:latin typeface="宋体" panose="02010600030101010101" pitchFamily="2" charset="-122"/>
              </a:rPr>
              <a:t>      </a:t>
            </a:r>
            <a:r>
              <a:rPr lang="en-US" altLang="zh-CN" sz="2400" b="1" i="1" dirty="0">
                <a:latin typeface="宋体" panose="02010600030101010101" pitchFamily="2" charset="-122"/>
              </a:rPr>
              <a:t>l</a:t>
            </a:r>
            <a:r>
              <a:rPr lang="zh-CN" altLang="en-US" sz="2400" b="1" dirty="0">
                <a:latin typeface="宋体" panose="02010600030101010101" pitchFamily="2" charset="-122"/>
              </a:rPr>
              <a:t>为函数的输入变量数，</a:t>
            </a:r>
            <a:r>
              <a:rPr lang="en-US" altLang="zh-CN" sz="2400" b="1" i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为选用的</a:t>
            </a:r>
            <a:r>
              <a:rPr lang="en-US" altLang="zh-CN" sz="2400" b="1" dirty="0">
                <a:latin typeface="宋体" panose="02010600030101010101" pitchFamily="2" charset="-122"/>
              </a:rPr>
              <a:t>MUX</a:t>
            </a:r>
            <a:r>
              <a:rPr lang="zh-CN" altLang="en-US" sz="2400" b="1" dirty="0">
                <a:latin typeface="宋体" panose="02010600030101010101" pitchFamily="2" charset="-122"/>
              </a:rPr>
              <a:t>的地址输入端数。 当</a:t>
            </a:r>
            <a:r>
              <a:rPr lang="en-US" altLang="zh-CN" sz="2400" b="1" dirty="0">
                <a:latin typeface="宋体" panose="02010600030101010101" pitchFamily="2" charset="-122"/>
              </a:rPr>
              <a:t>l=n</a:t>
            </a:r>
            <a:r>
              <a:rPr lang="zh-CN" altLang="en-US" sz="2400" b="1" dirty="0">
                <a:latin typeface="宋体" panose="02010600030101010101" pitchFamily="2" charset="-122"/>
              </a:rPr>
              <a:t>时，只要将函数的输入变量</a:t>
            </a:r>
            <a:r>
              <a:rPr lang="en-US" altLang="zh-CN" sz="2400" b="1" i="1" dirty="0">
                <a:latin typeface="宋体" panose="02010600030101010101" pitchFamily="2" charset="-122"/>
              </a:rPr>
              <a:t>A</a:t>
            </a:r>
            <a:r>
              <a:rPr lang="zh-CN" altLang="en-US" sz="2400" b="1" i="1" dirty="0">
                <a:latin typeface="宋体" panose="02010600030101010101" pitchFamily="2" charset="-122"/>
              </a:rPr>
              <a:t>、</a:t>
            </a:r>
            <a:r>
              <a:rPr lang="en-US" altLang="zh-CN" sz="2400" b="1" i="1" dirty="0">
                <a:latin typeface="宋体" panose="02010600030101010101" pitchFamily="2" charset="-122"/>
              </a:rPr>
              <a:t>B</a:t>
            </a:r>
            <a:r>
              <a:rPr lang="zh-CN" altLang="en-US" sz="2400" b="1" i="1" dirty="0">
                <a:latin typeface="宋体" panose="02010600030101010101" pitchFamily="2" charset="-122"/>
              </a:rPr>
              <a:t>、</a:t>
            </a:r>
            <a:r>
              <a:rPr lang="en-US" altLang="zh-CN" sz="2400" b="1" i="1" dirty="0">
                <a:latin typeface="宋体" panose="02010600030101010101" pitchFamily="2" charset="-122"/>
              </a:rPr>
              <a:t>C</a:t>
            </a:r>
            <a:r>
              <a:rPr lang="zh-CN" altLang="en-US" sz="2400" b="1" i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Courier New" panose="02070309020205020404" pitchFamily="49" charset="0"/>
              </a:rPr>
              <a:t>…</a:t>
            </a:r>
            <a:r>
              <a:rPr lang="zh-CN" altLang="en-US" sz="2400" b="1" dirty="0">
                <a:latin typeface="宋体" panose="02010600030101010101" pitchFamily="2" charset="-122"/>
              </a:rPr>
              <a:t>依次接到</a:t>
            </a:r>
            <a:r>
              <a:rPr lang="en-US" altLang="zh-CN" sz="2400" b="1" dirty="0">
                <a:latin typeface="宋体" panose="02010600030101010101" pitchFamily="2" charset="-122"/>
              </a:rPr>
              <a:t>MUX</a:t>
            </a:r>
            <a:r>
              <a:rPr lang="zh-CN" altLang="en-US" sz="2400" b="1" dirty="0">
                <a:latin typeface="宋体" panose="02010600030101010101" pitchFamily="2" charset="-122"/>
              </a:rPr>
              <a:t>的地址输入端，根据函数</a:t>
            </a:r>
            <a:r>
              <a:rPr lang="en-US" altLang="zh-CN" sz="2400" b="1" dirty="0">
                <a:latin typeface="宋体" panose="02010600030101010101" pitchFamily="2" charset="-122"/>
              </a:rPr>
              <a:t>F</a:t>
            </a:r>
            <a:r>
              <a:rPr lang="zh-CN" altLang="en-US" sz="2400" b="1" dirty="0">
                <a:latin typeface="宋体" panose="02010600030101010101" pitchFamily="2" charset="-122"/>
              </a:rPr>
              <a:t>所需要的最小项，确定</a:t>
            </a:r>
            <a:r>
              <a:rPr lang="en-US" altLang="zh-CN" sz="2400" b="1" dirty="0">
                <a:latin typeface="宋体" panose="02010600030101010101" pitchFamily="2" charset="-122"/>
              </a:rPr>
              <a:t>MUX</a:t>
            </a:r>
            <a:r>
              <a:rPr lang="zh-CN" altLang="en-US" sz="2400" b="1" dirty="0">
                <a:latin typeface="宋体" panose="02010600030101010101" pitchFamily="2" charset="-122"/>
              </a:rPr>
              <a:t>中</a:t>
            </a:r>
            <a:r>
              <a:rPr lang="en-US" altLang="zh-CN" sz="2400" b="1" i="1" dirty="0">
                <a:latin typeface="宋体" panose="02010600030101010101" pitchFamily="2" charset="-122"/>
              </a:rPr>
              <a:t>D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的值</a:t>
            </a:r>
            <a:r>
              <a:rPr lang="en-US" altLang="zh-CN" sz="2400" b="1" dirty="0">
                <a:latin typeface="宋体" panose="02010600030101010101" pitchFamily="2" charset="-122"/>
              </a:rPr>
              <a:t>(0</a:t>
            </a:r>
            <a:r>
              <a:rPr lang="zh-CN" altLang="en-US" sz="2400" b="1" dirty="0">
                <a:latin typeface="宋体" panose="02010600030101010101" pitchFamily="2" charset="-122"/>
              </a:rPr>
              <a:t>或</a:t>
            </a:r>
            <a:r>
              <a:rPr lang="en-US" altLang="zh-CN" sz="2400" b="1" dirty="0">
                <a:latin typeface="宋体" panose="02010600030101010101" pitchFamily="2" charset="-122"/>
              </a:rPr>
              <a:t>1)</a:t>
            </a:r>
            <a:r>
              <a:rPr lang="zh-CN" altLang="en-US" sz="2400" b="1" dirty="0">
                <a:latin typeface="宋体" panose="02010600030101010101" pitchFamily="2" charset="-122"/>
              </a:rPr>
              <a:t>即可；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8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当</a:t>
            </a:r>
            <a:r>
              <a:rPr lang="en-US" altLang="zh-CN" sz="2400" b="1" i="1" dirty="0">
                <a:latin typeface="宋体" panose="02010600030101010101" pitchFamily="2" charset="-122"/>
              </a:rPr>
              <a:t>l</a:t>
            </a:r>
            <a:r>
              <a:rPr lang="zh-CN" altLang="en-US" sz="2400" b="1" dirty="0">
                <a:latin typeface="宋体" panose="02010600030101010101" pitchFamily="2" charset="-122"/>
              </a:rPr>
              <a:t>＜</a:t>
            </a:r>
            <a:r>
              <a:rPr lang="en-US" altLang="zh-CN" sz="2400" b="1" i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时，将</a:t>
            </a:r>
            <a:r>
              <a:rPr lang="en-US" altLang="zh-CN" sz="2400" b="1" dirty="0">
                <a:latin typeface="宋体" panose="02010600030101010101" pitchFamily="2" charset="-122"/>
              </a:rPr>
              <a:t>MUX</a:t>
            </a:r>
            <a:r>
              <a:rPr lang="zh-CN" altLang="en-US" sz="2400" b="1" dirty="0">
                <a:latin typeface="宋体" panose="02010600030101010101" pitchFamily="2" charset="-122"/>
              </a:rPr>
              <a:t>的高位地址输入端不用</a:t>
            </a:r>
            <a:r>
              <a:rPr lang="en-US" altLang="zh-CN" sz="2400" b="1" dirty="0">
                <a:latin typeface="宋体" panose="02010600030101010101" pitchFamily="2" charset="-122"/>
              </a:rPr>
              <a:t>(</a:t>
            </a:r>
            <a:r>
              <a:rPr lang="zh-CN" altLang="en-US" sz="2400" b="1" dirty="0">
                <a:latin typeface="宋体" panose="02010600030101010101" pitchFamily="2" charset="-122"/>
              </a:rPr>
              <a:t>接</a:t>
            </a:r>
            <a:r>
              <a:rPr lang="en-US" altLang="zh-CN" sz="2400" b="1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或</a:t>
            </a:r>
            <a:r>
              <a:rPr lang="en-US" altLang="zh-CN" sz="2400" b="1" dirty="0">
                <a:latin typeface="宋体" panose="02010600030101010101" pitchFamily="2" charset="-122"/>
              </a:rPr>
              <a:t>1)</a:t>
            </a:r>
            <a:r>
              <a:rPr lang="zh-CN" altLang="en-US" sz="2400" b="1" dirty="0">
                <a:latin typeface="宋体" panose="02010600030101010101" pitchFamily="2" charset="-122"/>
              </a:rPr>
              <a:t>，其余同上。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Text Box 4"/>
          <p:cNvSpPr txBox="1"/>
          <p:nvPr/>
        </p:nvSpPr>
        <p:spPr>
          <a:xfrm>
            <a:off x="990600" y="609600"/>
            <a:ext cx="6096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【</a:t>
            </a:r>
            <a:r>
              <a:rPr lang="zh-CN" altLang="en-US" sz="2400" b="1" dirty="0">
                <a:latin typeface="宋体" panose="02010600030101010101" pitchFamily="2" charset="-122"/>
              </a:rPr>
              <a:t>例 </a:t>
            </a:r>
            <a:r>
              <a:rPr lang="en-US" altLang="zh-CN" sz="2400" b="1" dirty="0">
                <a:latin typeface="宋体" panose="02010600030101010101" pitchFamily="2" charset="-122"/>
              </a:rPr>
              <a:t>4-6】 </a:t>
            </a:r>
            <a:r>
              <a:rPr lang="zh-CN" altLang="en-US" sz="2400" b="1" dirty="0">
                <a:latin typeface="宋体" panose="02010600030101010101" pitchFamily="2" charset="-122"/>
              </a:rPr>
              <a:t>试用</a:t>
            </a:r>
            <a:r>
              <a:rPr lang="en-US" altLang="zh-CN" sz="2400" b="1" dirty="0">
                <a:latin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</a:rPr>
              <a:t>选</a:t>
            </a:r>
            <a:r>
              <a:rPr lang="en-US" altLang="zh-CN" sz="2400" b="1" dirty="0">
                <a:latin typeface="宋体" panose="02010600030101010101" pitchFamily="2" charset="-122"/>
              </a:rPr>
              <a:t>1MUX</a:t>
            </a:r>
            <a:r>
              <a:rPr lang="zh-CN" altLang="en-US" sz="2400" b="1" dirty="0">
                <a:latin typeface="宋体" panose="02010600030101010101" pitchFamily="2" charset="-122"/>
              </a:rPr>
              <a:t>实现逻辑函数：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2467" name="Object 2"/>
          <p:cNvGraphicFramePr>
            <a:graphicFrameLocks noChangeAspect="1"/>
          </p:cNvGraphicFramePr>
          <p:nvPr/>
        </p:nvGraphicFramePr>
        <p:xfrm>
          <a:off x="3505200" y="1143000"/>
          <a:ext cx="25146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1" imgW="1104265" imgH="215900" progId="Equation.3">
                  <p:embed/>
                </p:oleObj>
              </mc:Choice>
              <mc:Fallback>
                <p:oleObj name="" r:id="rId1" imgW="1104265" imgH="215900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5200" y="1143000"/>
                        <a:ext cx="2514600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8" name="Text Box 6"/>
          <p:cNvSpPr txBox="1"/>
          <p:nvPr/>
        </p:nvSpPr>
        <p:spPr>
          <a:xfrm>
            <a:off x="609600" y="1752600"/>
            <a:ext cx="73152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</a:t>
            </a:r>
            <a:r>
              <a:rPr lang="zh-CN" altLang="en-US" sz="2400" b="1" dirty="0">
                <a:latin typeface="宋体" panose="02010600030101010101" pitchFamily="2" charset="-122"/>
              </a:rPr>
              <a:t>解：首先求出</a:t>
            </a:r>
            <a:r>
              <a:rPr lang="en-US" altLang="zh-CN" sz="2400" b="1" i="1" dirty="0">
                <a:latin typeface="宋体" panose="02010600030101010101" pitchFamily="2" charset="-122"/>
              </a:rPr>
              <a:t>F</a:t>
            </a:r>
            <a:r>
              <a:rPr lang="zh-CN" altLang="en-US" sz="2400" b="1" dirty="0">
                <a:latin typeface="宋体" panose="02010600030101010101" pitchFamily="2" charset="-122"/>
              </a:rPr>
              <a:t>的最小项表达式。 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将</a:t>
            </a:r>
            <a:r>
              <a:rPr lang="en-US" altLang="zh-CN" sz="2400" b="1" i="1" dirty="0">
                <a:latin typeface="宋体" panose="02010600030101010101" pitchFamily="2" charset="-122"/>
              </a:rPr>
              <a:t>F</a:t>
            </a:r>
            <a:r>
              <a:rPr lang="zh-CN" altLang="en-US" sz="2400" b="1" dirty="0">
                <a:latin typeface="宋体" panose="02010600030101010101" pitchFamily="2" charset="-122"/>
              </a:rPr>
              <a:t>填入</a:t>
            </a:r>
            <a:r>
              <a:rPr lang="en-US" altLang="zh-CN" sz="2400" b="1" dirty="0">
                <a:latin typeface="宋体" panose="02010600030101010101" pitchFamily="2" charset="-122"/>
              </a:rPr>
              <a:t>K</a:t>
            </a:r>
            <a:r>
              <a:rPr lang="zh-CN" altLang="en-US" sz="2400" b="1" dirty="0">
                <a:latin typeface="宋体" panose="02010600030101010101" pitchFamily="2" charset="-122"/>
              </a:rPr>
              <a:t>图，如图</a:t>
            </a:r>
            <a:r>
              <a:rPr lang="en-US" altLang="zh-CN" sz="2400" b="1" dirty="0">
                <a:latin typeface="宋体" panose="02010600030101010101" pitchFamily="2" charset="-122"/>
              </a:rPr>
              <a:t>4 - 21</a:t>
            </a:r>
            <a:r>
              <a:rPr lang="zh-CN" altLang="en-US" sz="2400" b="1" dirty="0">
                <a:latin typeface="宋体" panose="02010600030101010101" pitchFamily="2" charset="-122"/>
              </a:rPr>
              <a:t>所示，根据</a:t>
            </a:r>
            <a:r>
              <a:rPr lang="en-US" altLang="zh-CN" sz="2400" b="1" dirty="0">
                <a:latin typeface="宋体" panose="02010600030101010101" pitchFamily="2" charset="-122"/>
              </a:rPr>
              <a:t>K</a:t>
            </a:r>
            <a:r>
              <a:rPr lang="zh-CN" altLang="en-US" sz="2400" b="1" dirty="0">
                <a:latin typeface="宋体" panose="02010600030101010101" pitchFamily="2" charset="-122"/>
              </a:rPr>
              <a:t>图可得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2469" name="Object 3"/>
          <p:cNvGraphicFramePr>
            <a:graphicFrameLocks noChangeAspect="1"/>
          </p:cNvGraphicFramePr>
          <p:nvPr/>
        </p:nvGraphicFramePr>
        <p:xfrm>
          <a:off x="2590800" y="2833688"/>
          <a:ext cx="4419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3" imgW="1841500" imgH="254000" progId="Equation.3">
                  <p:embed/>
                </p:oleObj>
              </mc:Choice>
              <mc:Fallback>
                <p:oleObj name="" r:id="rId3" imgW="1841500" imgH="25400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90800" y="2833688"/>
                        <a:ext cx="44196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0" name="Text Box 8"/>
          <p:cNvSpPr txBox="1"/>
          <p:nvPr/>
        </p:nvSpPr>
        <p:spPr>
          <a:xfrm>
            <a:off x="1066800" y="3443288"/>
            <a:ext cx="34877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当采用</a:t>
            </a:r>
            <a:r>
              <a:rPr lang="en-US" altLang="zh-CN" sz="2400" b="1" dirty="0">
                <a:latin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</a:rPr>
              <a:t>选</a:t>
            </a:r>
            <a:r>
              <a:rPr lang="en-US" altLang="zh-CN" sz="2400" b="1" dirty="0">
                <a:latin typeface="宋体" panose="02010600030101010101" pitchFamily="2" charset="-122"/>
              </a:rPr>
              <a:t>1 MUX</a:t>
            </a:r>
            <a:r>
              <a:rPr lang="zh-CN" altLang="en-US" sz="2400" b="1" dirty="0">
                <a:latin typeface="宋体" panose="02010600030101010101" pitchFamily="2" charset="-122"/>
              </a:rPr>
              <a:t>时，有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2471" name="Object 4"/>
          <p:cNvGraphicFramePr>
            <a:graphicFrameLocks noChangeAspect="1"/>
          </p:cNvGraphicFramePr>
          <p:nvPr/>
        </p:nvGraphicFramePr>
        <p:xfrm>
          <a:off x="1676400" y="3900488"/>
          <a:ext cx="6400800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5" imgW="2984500" imgH="431800" progId="Equation.3">
                  <p:embed/>
                </p:oleObj>
              </mc:Choice>
              <mc:Fallback>
                <p:oleObj name="" r:id="rId5" imgW="2984500" imgH="431800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6400" y="3900488"/>
                        <a:ext cx="6400800" cy="925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2" name="Text Box 10"/>
          <p:cNvSpPr txBox="1"/>
          <p:nvPr/>
        </p:nvSpPr>
        <p:spPr>
          <a:xfrm>
            <a:off x="533400" y="4800600"/>
            <a:ext cx="8305800" cy="1682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45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令</a:t>
            </a:r>
            <a:r>
              <a:rPr lang="en-US" altLang="zh-CN" sz="2400" b="1" i="1" dirty="0">
                <a:latin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en-US" altLang="zh-CN" sz="2400" b="1" i="1" dirty="0">
                <a:latin typeface="宋体" panose="02010600030101010101" pitchFamily="2" charset="-122"/>
              </a:rPr>
              <a:t>A</a:t>
            </a:r>
            <a:r>
              <a:rPr lang="en-US" altLang="zh-CN" sz="2400" b="1" dirty="0">
                <a:latin typeface="宋体" panose="02010600030101010101" pitchFamily="2" charset="-122"/>
              </a:rPr>
              <a:t>,</a:t>
            </a:r>
            <a:r>
              <a:rPr lang="en-US" altLang="zh-CN" sz="2400" b="1" i="1" dirty="0">
                <a:latin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en-US" altLang="zh-CN" sz="2400" b="1" i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i="1" dirty="0">
                <a:latin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en-US" altLang="zh-CN" sz="2400" b="1" i="1" dirty="0">
                <a:latin typeface="宋体" panose="02010600030101010101" pitchFamily="2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，且令</a:t>
            </a:r>
            <a:r>
              <a:rPr lang="en-US" altLang="zh-CN" sz="2400" b="1" i="1" dirty="0">
                <a:latin typeface="宋体" panose="02010600030101010101" pitchFamily="2" charset="-122"/>
              </a:rPr>
              <a:t>D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en-US" altLang="zh-CN" sz="2400" b="1" i="1" dirty="0">
                <a:latin typeface="宋体" panose="02010600030101010101" pitchFamily="2" charset="-122"/>
              </a:rPr>
              <a:t>D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en-US" altLang="zh-CN" sz="2400" b="1" i="1" dirty="0">
                <a:latin typeface="宋体" panose="02010600030101010101" pitchFamily="2" charset="-122"/>
              </a:rPr>
              <a:t>D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3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en-US" altLang="zh-CN" sz="2400" b="1" i="1" dirty="0">
                <a:latin typeface="宋体" panose="02010600030101010101" pitchFamily="2" charset="-122"/>
              </a:rPr>
              <a:t>D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4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en-US" altLang="zh-CN" sz="2400" b="1" i="1" dirty="0">
                <a:latin typeface="宋体" panose="02010600030101010101" pitchFamily="2" charset="-122"/>
              </a:rPr>
              <a:t>D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5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en-US" altLang="zh-CN" sz="2400" b="1" i="1" dirty="0">
                <a:latin typeface="宋体" panose="02010600030101010101" pitchFamily="2" charset="-122"/>
              </a:rPr>
              <a:t>D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7</a:t>
            </a:r>
            <a:r>
              <a:rPr lang="en-US" altLang="zh-CN" sz="2400" b="1" dirty="0">
                <a:latin typeface="宋体" panose="02010600030101010101" pitchFamily="2" charset="-122"/>
              </a:rPr>
              <a:t>=1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i="1" dirty="0">
                <a:latin typeface="宋体" panose="02010600030101010101" pitchFamily="2" charset="-122"/>
              </a:rPr>
              <a:t>D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en-US" altLang="zh-CN" sz="2400" b="1" i="1" dirty="0">
                <a:latin typeface="宋体" panose="02010600030101010101" pitchFamily="2" charset="-122"/>
              </a:rPr>
              <a:t>D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6</a:t>
            </a:r>
            <a:r>
              <a:rPr lang="en-US" altLang="zh-CN" sz="2400" b="1" dirty="0">
                <a:latin typeface="宋体" panose="02010600030101010101" pitchFamily="2" charset="-122"/>
              </a:rPr>
              <a:t>=0</a:t>
            </a:r>
            <a:r>
              <a:rPr lang="zh-CN" altLang="en-US" sz="2400" b="1" dirty="0">
                <a:latin typeface="宋体" panose="02010600030101010101" pitchFamily="2" charset="-122"/>
              </a:rPr>
              <a:t>则有</a:t>
            </a:r>
            <a:r>
              <a:rPr lang="en-US" altLang="zh-CN" sz="2400" b="1" i="1" dirty="0">
                <a:latin typeface="宋体" panose="02010600030101010101" pitchFamily="2" charset="-122"/>
              </a:rPr>
              <a:t>Y</a:t>
            </a:r>
            <a:r>
              <a:rPr lang="en-US" altLang="zh-CN" sz="2400" b="1" dirty="0">
                <a:latin typeface="宋体" panose="02010600030101010101" pitchFamily="2" charset="-122"/>
              </a:rPr>
              <a:t>=(</a:t>
            </a:r>
            <a:r>
              <a:rPr lang="en-US" altLang="zh-CN" sz="2400" b="1" i="1" dirty="0">
                <a:latin typeface="宋体" panose="02010600030101010101" pitchFamily="2" charset="-122"/>
              </a:rPr>
              <a:t>ABC</a:t>
            </a:r>
            <a:r>
              <a:rPr lang="en-US" altLang="zh-CN" sz="2400" b="1" dirty="0">
                <a:latin typeface="宋体" panose="02010600030101010101" pitchFamily="2" charset="-122"/>
              </a:rPr>
              <a:t>)</a:t>
            </a:r>
            <a:r>
              <a:rPr lang="en-US" altLang="zh-CN" sz="2400" b="1" i="1" baseline="-25000" dirty="0">
                <a:latin typeface="宋体" panose="02010600030101010101" pitchFamily="2" charset="-122"/>
              </a:rPr>
              <a:t>m</a:t>
            </a:r>
            <a:r>
              <a:rPr lang="en-US" altLang="zh-CN" sz="2400" b="1" dirty="0">
                <a:latin typeface="宋体" panose="02010600030101010101" pitchFamily="2" charset="-122"/>
              </a:rPr>
              <a:t>(01111101)</a:t>
            </a:r>
            <a:r>
              <a:rPr lang="zh-CN" altLang="en-US" sz="2400" b="1" baseline="30000" dirty="0">
                <a:latin typeface="宋体" panose="02010600030101010101" pitchFamily="2" charset="-122"/>
              </a:rPr>
              <a:t>Ｔ</a:t>
            </a:r>
            <a:r>
              <a:rPr lang="en-US" altLang="zh-CN" sz="2400" b="1" dirty="0">
                <a:latin typeface="宋体" panose="02010600030101010101" pitchFamily="2" charset="-122"/>
              </a:rPr>
              <a:t>=     </a:t>
            </a:r>
            <a:r>
              <a:rPr lang="en-US" altLang="zh-CN" sz="2400" b="1" i="1" dirty="0">
                <a:latin typeface="宋体" panose="02010600030101010101" pitchFamily="2" charset="-122"/>
              </a:rPr>
              <a:t>m</a:t>
            </a:r>
            <a:r>
              <a:rPr lang="en-US" altLang="zh-CN" sz="2400" b="1" dirty="0">
                <a:latin typeface="宋体" panose="02010600030101010101" pitchFamily="2" charset="-122"/>
              </a:rPr>
              <a:t>(1, 2, 3, 4, 5, 7)</a:t>
            </a:r>
            <a:r>
              <a:rPr lang="zh-CN" altLang="en-US" sz="2400" b="1" dirty="0">
                <a:latin typeface="宋体" panose="02010600030101010101" pitchFamily="2" charset="-122"/>
              </a:rPr>
              <a:t>，故</a:t>
            </a:r>
            <a:r>
              <a:rPr lang="en-US" altLang="zh-CN" sz="2400" b="1" i="1" dirty="0">
                <a:latin typeface="宋体" panose="02010600030101010101" pitchFamily="2" charset="-122"/>
              </a:rPr>
              <a:t>F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en-US" altLang="zh-CN" sz="2400" b="1" i="1" dirty="0">
                <a:latin typeface="宋体" panose="02010600030101010101" pitchFamily="2" charset="-122"/>
              </a:rPr>
              <a:t>Y</a:t>
            </a:r>
            <a:r>
              <a:rPr lang="zh-CN" altLang="en-US" sz="2400" b="1" dirty="0">
                <a:latin typeface="宋体" panose="02010600030101010101" pitchFamily="2" charset="-122"/>
              </a:rPr>
              <a:t>。用</a:t>
            </a:r>
            <a:r>
              <a:rPr lang="en-US" altLang="zh-CN" sz="2400" b="1" dirty="0">
                <a:latin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</a:rPr>
              <a:t>选</a:t>
            </a:r>
            <a:r>
              <a:rPr lang="en-US" altLang="zh-CN" sz="2400" b="1" dirty="0">
                <a:latin typeface="宋体" panose="02010600030101010101" pitchFamily="2" charset="-122"/>
              </a:rPr>
              <a:t>1MUX</a:t>
            </a:r>
            <a:r>
              <a:rPr lang="zh-CN" altLang="en-US" sz="2400" b="1" dirty="0">
                <a:latin typeface="宋体" panose="02010600030101010101" pitchFamily="2" charset="-122"/>
              </a:rPr>
              <a:t>实现函数</a:t>
            </a:r>
            <a:r>
              <a:rPr lang="en-US" altLang="zh-CN" sz="2400" b="1" dirty="0">
                <a:latin typeface="宋体" panose="02010600030101010101" pitchFamily="2" charset="-122"/>
              </a:rPr>
              <a:t>F</a:t>
            </a:r>
            <a:r>
              <a:rPr lang="zh-CN" altLang="en-US" sz="2400" b="1" dirty="0">
                <a:latin typeface="宋体" panose="02010600030101010101" pitchFamily="2" charset="-122"/>
              </a:rPr>
              <a:t>的逻辑图如图</a:t>
            </a:r>
            <a:r>
              <a:rPr lang="en-US" altLang="zh-CN" sz="2400" b="1" dirty="0">
                <a:latin typeface="宋体" panose="02010600030101010101" pitchFamily="2" charset="-122"/>
              </a:rPr>
              <a:t>4-22</a:t>
            </a:r>
            <a:r>
              <a:rPr lang="zh-CN" altLang="en-US" sz="2400" b="1" dirty="0">
                <a:latin typeface="宋体" panose="02010600030101010101" pitchFamily="2" charset="-122"/>
              </a:rPr>
              <a:t>所示。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2473" name="Object 5"/>
          <p:cNvGraphicFramePr>
            <a:graphicFrameLocks noChangeAspect="1"/>
          </p:cNvGraphicFramePr>
          <p:nvPr/>
        </p:nvGraphicFramePr>
        <p:xfrm>
          <a:off x="4343400" y="5486400"/>
          <a:ext cx="6032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7" imgW="292100" imgH="254000" progId="Equation.3">
                  <p:embed/>
                </p:oleObj>
              </mc:Choice>
              <mc:Fallback>
                <p:oleObj name="" r:id="rId7" imgW="292100" imgH="25400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43400" y="5486400"/>
                        <a:ext cx="603250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Text Box 4"/>
          <p:cNvSpPr txBox="1"/>
          <p:nvPr/>
        </p:nvSpPr>
        <p:spPr>
          <a:xfrm>
            <a:off x="3352800" y="5410200"/>
            <a:ext cx="31734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图 </a:t>
            </a:r>
            <a:r>
              <a:rPr lang="en-US" altLang="zh-CN" sz="2400" b="1" dirty="0">
                <a:latin typeface="宋体" panose="02010600030101010101" pitchFamily="2" charset="-122"/>
              </a:rPr>
              <a:t>4 – 21 </a:t>
            </a:r>
            <a:r>
              <a:rPr lang="zh-CN" altLang="en-US" sz="2400" b="1" dirty="0">
                <a:latin typeface="宋体" panose="02010600030101010101" pitchFamily="2" charset="-122"/>
              </a:rPr>
              <a:t>例</a:t>
            </a:r>
            <a:r>
              <a:rPr lang="en-US" altLang="zh-CN" sz="2400" b="1" dirty="0">
                <a:latin typeface="宋体" panose="02010600030101010101" pitchFamily="2" charset="-122"/>
              </a:rPr>
              <a:t>4 - 6</a:t>
            </a:r>
            <a:r>
              <a:rPr lang="zh-CN" altLang="en-US" sz="2400" b="1" dirty="0">
                <a:latin typeface="宋体" panose="02010600030101010101" pitchFamily="2" charset="-122"/>
              </a:rPr>
              <a:t>之</a:t>
            </a:r>
            <a:r>
              <a:rPr lang="en-US" altLang="zh-CN" sz="2400" b="1" dirty="0">
                <a:latin typeface="宋体" panose="02010600030101010101" pitchFamily="2" charset="-122"/>
              </a:rPr>
              <a:t>K</a:t>
            </a:r>
            <a:r>
              <a:rPr lang="zh-CN" altLang="en-US" sz="2400" b="1" dirty="0">
                <a:latin typeface="宋体" panose="02010600030101010101" pitchFamily="2" charset="-122"/>
              </a:rPr>
              <a:t>图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3491" name="Object 2"/>
          <p:cNvGraphicFramePr>
            <a:graphicFrameLocks noChangeAspect="1"/>
          </p:cNvGraphicFramePr>
          <p:nvPr/>
        </p:nvGraphicFramePr>
        <p:xfrm>
          <a:off x="990600" y="1447800"/>
          <a:ext cx="6477000" cy="355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1" imgW="1402080" imgH="769620" progId="Visio.Drawing.4">
                  <p:embed/>
                </p:oleObj>
              </mc:Choice>
              <mc:Fallback>
                <p:oleObj name="" r:id="rId1" imgW="1402080" imgH="769620" progId="Visio.Drawing.4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0600" y="1447800"/>
                        <a:ext cx="6477000" cy="3551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Text Box 4"/>
          <p:cNvSpPr txBox="1"/>
          <p:nvPr/>
        </p:nvSpPr>
        <p:spPr>
          <a:xfrm>
            <a:off x="3352800" y="4267200"/>
            <a:ext cx="3359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图 </a:t>
            </a:r>
            <a:r>
              <a:rPr lang="en-US" altLang="zh-CN" sz="2400" b="1" dirty="0">
                <a:latin typeface="宋体" panose="02010600030101010101" pitchFamily="2" charset="-122"/>
              </a:rPr>
              <a:t>4-22 </a:t>
            </a:r>
            <a:r>
              <a:rPr lang="zh-CN" altLang="en-US" sz="2400" b="1" dirty="0">
                <a:latin typeface="宋体" panose="02010600030101010101" pitchFamily="2" charset="-122"/>
              </a:rPr>
              <a:t>例</a:t>
            </a:r>
            <a:r>
              <a:rPr lang="en-US" altLang="zh-CN" sz="2400" b="1" dirty="0">
                <a:latin typeface="宋体" panose="02010600030101010101" pitchFamily="2" charset="-122"/>
              </a:rPr>
              <a:t>4 - 6</a:t>
            </a:r>
            <a:r>
              <a:rPr lang="zh-CN" altLang="en-US" sz="2400" b="1" dirty="0">
                <a:latin typeface="宋体" panose="02010600030101010101" pitchFamily="2" charset="-122"/>
              </a:rPr>
              <a:t>之逻辑图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4515" name="Text Box 5"/>
          <p:cNvSpPr txBox="1"/>
          <p:nvPr/>
        </p:nvSpPr>
        <p:spPr>
          <a:xfrm>
            <a:off x="457200" y="4876800"/>
            <a:ext cx="8229600" cy="1573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3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  </a:t>
            </a:r>
            <a:r>
              <a:rPr lang="zh-CN" altLang="en-US" sz="2400" b="1" dirty="0">
                <a:latin typeface="宋体" panose="02010600030101010101" pitchFamily="2" charset="-122"/>
              </a:rPr>
              <a:t>需要注意的是，因为函数</a:t>
            </a:r>
            <a:r>
              <a:rPr lang="en-US" altLang="zh-CN" sz="2400" b="1" dirty="0">
                <a:latin typeface="宋体" panose="02010600030101010101" pitchFamily="2" charset="-122"/>
              </a:rPr>
              <a:t>F</a:t>
            </a:r>
            <a:r>
              <a:rPr lang="zh-CN" altLang="en-US" sz="2400" b="1" dirty="0">
                <a:latin typeface="宋体" panose="02010600030101010101" pitchFamily="2" charset="-122"/>
              </a:rPr>
              <a:t>中各最小项的标号是按</a:t>
            </a: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的权为</a:t>
            </a:r>
            <a:r>
              <a:rPr lang="en-US" altLang="zh-CN" sz="2400" b="1" dirty="0"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写出的，因此</a:t>
            </a: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必须依次加到</a:t>
            </a:r>
            <a:r>
              <a:rPr lang="en-US" altLang="zh-CN" sz="2400" b="1" i="1" dirty="0">
                <a:latin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i="1" dirty="0">
                <a:latin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、 </a:t>
            </a:r>
            <a:r>
              <a:rPr lang="en-US" altLang="zh-CN" sz="2400" b="1" i="1" dirty="0">
                <a:latin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端。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4516" name="Object 2"/>
          <p:cNvGraphicFramePr>
            <a:graphicFrameLocks noChangeAspect="1"/>
          </p:cNvGraphicFramePr>
          <p:nvPr/>
        </p:nvGraphicFramePr>
        <p:xfrm>
          <a:off x="1905000" y="685800"/>
          <a:ext cx="647700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1" imgW="2194560" imgH="1287780" progId="Visio.Drawing.4">
                  <p:embed/>
                </p:oleObj>
              </mc:Choice>
              <mc:Fallback>
                <p:oleObj name="" r:id="rId1" imgW="2194560" imgH="1287780" progId="Visio.Drawing.4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5000" y="685800"/>
                        <a:ext cx="6477000" cy="3810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Text Box 4"/>
          <p:cNvSpPr txBox="1"/>
          <p:nvPr/>
        </p:nvSpPr>
        <p:spPr>
          <a:xfrm>
            <a:off x="609600" y="838200"/>
            <a:ext cx="7848600" cy="4838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5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  2) </a:t>
            </a:r>
            <a:r>
              <a:rPr lang="en-US" altLang="zh-CN" sz="2400" b="1" i="1" dirty="0">
                <a:latin typeface="宋体" panose="02010600030101010101" pitchFamily="2" charset="-122"/>
              </a:rPr>
              <a:t>l</a:t>
            </a:r>
            <a:r>
              <a:rPr lang="zh-CN" altLang="en-US" sz="2400" b="1" dirty="0">
                <a:latin typeface="宋体" panose="02010600030101010101" pitchFamily="2" charset="-122"/>
              </a:rPr>
              <a:t>＞</a:t>
            </a: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的情况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5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 当逻辑函数的变量数</a:t>
            </a:r>
            <a:r>
              <a:rPr lang="en-US" altLang="zh-CN" sz="2400" b="1" dirty="0">
                <a:latin typeface="宋体" panose="02010600030101010101" pitchFamily="2" charset="-122"/>
              </a:rPr>
              <a:t>l</a:t>
            </a:r>
            <a:r>
              <a:rPr lang="zh-CN" altLang="en-US" sz="2400" b="1" dirty="0">
                <a:latin typeface="宋体" panose="02010600030101010101" pitchFamily="2" charset="-122"/>
              </a:rPr>
              <a:t>大于</a:t>
            </a:r>
            <a:r>
              <a:rPr lang="en-US" altLang="zh-CN" sz="2400" b="1" dirty="0">
                <a:latin typeface="宋体" panose="02010600030101010101" pitchFamily="2" charset="-122"/>
              </a:rPr>
              <a:t>MUX</a:t>
            </a:r>
            <a:r>
              <a:rPr lang="zh-CN" altLang="en-US" sz="2400" b="1" dirty="0">
                <a:latin typeface="宋体" panose="02010600030101010101" pitchFamily="2" charset="-122"/>
              </a:rPr>
              <a:t>的地址输入端数</a:t>
            </a:r>
            <a:r>
              <a:rPr lang="en-US" altLang="zh-CN" sz="2400" b="1" i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时，不能采用上面所述的简单方法。如果从</a:t>
            </a:r>
            <a:r>
              <a:rPr lang="en-US" altLang="zh-CN" sz="2400" b="1" i="1" dirty="0">
                <a:latin typeface="宋体" panose="02010600030101010101" pitchFamily="2" charset="-122"/>
              </a:rPr>
              <a:t>l</a:t>
            </a:r>
            <a:r>
              <a:rPr lang="zh-CN" altLang="en-US" sz="2400" b="1" dirty="0">
                <a:latin typeface="宋体" panose="02010600030101010101" pitchFamily="2" charset="-122"/>
              </a:rPr>
              <a:t>个输入变量中选择</a:t>
            </a:r>
            <a:r>
              <a:rPr lang="en-US" altLang="zh-CN" sz="2400" b="1" i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个直接作为</a:t>
            </a:r>
            <a:r>
              <a:rPr lang="en-US" altLang="zh-CN" sz="2400" b="1" dirty="0">
                <a:latin typeface="宋体" panose="02010600030101010101" pitchFamily="2" charset="-122"/>
              </a:rPr>
              <a:t>MUX</a:t>
            </a:r>
            <a:r>
              <a:rPr lang="zh-CN" altLang="en-US" sz="2400" b="1" dirty="0">
                <a:latin typeface="宋体" panose="02010600030101010101" pitchFamily="2" charset="-122"/>
              </a:rPr>
              <a:t>的地址输入，那么，多余的</a:t>
            </a:r>
            <a:r>
              <a:rPr lang="en-US" altLang="zh-CN" sz="2400" b="1" dirty="0">
                <a:latin typeface="宋体" panose="02010600030101010101" pitchFamily="2" charset="-122"/>
              </a:rPr>
              <a:t>(</a:t>
            </a:r>
            <a:r>
              <a:rPr lang="en-US" altLang="zh-CN" sz="2400" b="1" i="1" dirty="0">
                <a:latin typeface="宋体" panose="02010600030101010101" pitchFamily="2" charset="-122"/>
              </a:rPr>
              <a:t>l</a:t>
            </a:r>
            <a:r>
              <a:rPr lang="en-US" altLang="zh-CN" sz="2400" b="1" dirty="0">
                <a:latin typeface="宋体" panose="02010600030101010101" pitchFamily="2" charset="-122"/>
              </a:rPr>
              <a:t>-n)</a:t>
            </a:r>
            <a:r>
              <a:rPr lang="zh-CN" altLang="en-US" sz="2400" b="1" dirty="0">
                <a:latin typeface="宋体" panose="02010600030101010101" pitchFamily="2" charset="-122"/>
              </a:rPr>
              <a:t>个变量就要反映到</a:t>
            </a:r>
            <a:r>
              <a:rPr lang="en-US" altLang="zh-CN" sz="2400" b="1" dirty="0">
                <a:latin typeface="宋体" panose="02010600030101010101" pitchFamily="2" charset="-122"/>
              </a:rPr>
              <a:t>MUX</a:t>
            </a:r>
            <a:r>
              <a:rPr lang="zh-CN" altLang="en-US" sz="2400" b="1" dirty="0">
                <a:latin typeface="宋体" panose="02010600030101010101" pitchFamily="2" charset="-122"/>
              </a:rPr>
              <a:t>的数据输入</a:t>
            </a:r>
            <a:r>
              <a:rPr lang="en-US" altLang="zh-CN" sz="2400" b="1" i="1" dirty="0">
                <a:latin typeface="宋体" panose="02010600030101010101" pitchFamily="2" charset="-122"/>
              </a:rPr>
              <a:t>D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端，即</a:t>
            </a:r>
            <a:r>
              <a:rPr lang="en-US" altLang="zh-CN" sz="2400" b="1" i="1" dirty="0">
                <a:latin typeface="宋体" panose="02010600030101010101" pitchFamily="2" charset="-122"/>
              </a:rPr>
              <a:t>D</a:t>
            </a:r>
            <a:r>
              <a:rPr lang="en-US" altLang="zh-CN" sz="2400" b="1" i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是多余输入变量的函数，简称余函数。因此设计的关键是如何求出函数</a:t>
            </a:r>
            <a:r>
              <a:rPr lang="en-US" altLang="zh-CN" sz="2400" b="1" i="1" dirty="0">
                <a:latin typeface="宋体" panose="02010600030101010101" pitchFamily="2" charset="-122"/>
              </a:rPr>
              <a:t>D</a:t>
            </a:r>
            <a:r>
              <a:rPr lang="en-US" altLang="zh-CN" sz="2400" b="1" i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。 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ctr" eaLnBrk="1" hangingPunct="1">
              <a:lnSpc>
                <a:spcPct val="15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  确定余函数</a:t>
            </a:r>
            <a:r>
              <a:rPr lang="en-US" altLang="zh-CN" sz="2400" b="1" i="1" dirty="0">
                <a:latin typeface="宋体" panose="02010600030101010101" pitchFamily="2" charset="-122"/>
              </a:rPr>
              <a:t>D</a:t>
            </a:r>
            <a:r>
              <a:rPr lang="en-US" altLang="zh-CN" sz="2400" b="1" i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可以采用代数法或降维</a:t>
            </a:r>
            <a:r>
              <a:rPr lang="en-US" altLang="zh-CN" sz="2400" b="1" dirty="0">
                <a:latin typeface="宋体" panose="02010600030101010101" pitchFamily="2" charset="-122"/>
              </a:rPr>
              <a:t>K</a:t>
            </a:r>
            <a:r>
              <a:rPr lang="zh-CN" altLang="en-US" sz="2400" b="1" dirty="0">
                <a:latin typeface="宋体" panose="02010600030101010101" pitchFamily="2" charset="-122"/>
              </a:rPr>
              <a:t>图法。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Text Box 4"/>
          <p:cNvSpPr txBox="1"/>
          <p:nvPr/>
        </p:nvSpPr>
        <p:spPr>
          <a:xfrm>
            <a:off x="1393825" y="762000"/>
            <a:ext cx="529748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例 </a:t>
            </a: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</a:rPr>
              <a:t>试用</a:t>
            </a:r>
            <a:r>
              <a:rPr lang="en-US" altLang="zh-CN" sz="2400" b="1" dirty="0"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选</a:t>
            </a:r>
            <a:r>
              <a:rPr lang="en-US" altLang="zh-CN" sz="2400" b="1" dirty="0">
                <a:latin typeface="宋体" panose="02010600030101010101" pitchFamily="2" charset="-122"/>
              </a:rPr>
              <a:t>1MUX</a:t>
            </a:r>
            <a:r>
              <a:rPr lang="zh-CN" altLang="en-US" sz="2400" b="1" dirty="0">
                <a:latin typeface="宋体" panose="02010600030101010101" pitchFamily="2" charset="-122"/>
              </a:rPr>
              <a:t>实现三变量函数：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6563" name="Object 2"/>
          <p:cNvGraphicFramePr>
            <a:graphicFrameLocks noChangeAspect="1"/>
          </p:cNvGraphicFramePr>
          <p:nvPr/>
        </p:nvGraphicFramePr>
        <p:xfrm>
          <a:off x="2667000" y="1447800"/>
          <a:ext cx="44196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1" imgW="1981200" imgH="215900" progId="Equation.3">
                  <p:embed/>
                </p:oleObj>
              </mc:Choice>
              <mc:Fallback>
                <p:oleObj name="" r:id="rId1" imgW="1981200" imgH="2159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67000" y="1447800"/>
                        <a:ext cx="4419600" cy="481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4" name="Text Box 6"/>
          <p:cNvSpPr txBox="1"/>
          <p:nvPr/>
        </p:nvSpPr>
        <p:spPr>
          <a:xfrm>
            <a:off x="609600" y="1905000"/>
            <a:ext cx="8077200" cy="301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 </a:t>
            </a:r>
            <a:r>
              <a:rPr lang="zh-CN" altLang="en-US" sz="2400" b="1" dirty="0">
                <a:latin typeface="宋体" panose="02010600030101010101" pitchFamily="2" charset="-122"/>
              </a:rPr>
              <a:t>解： 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3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 ① 首先选择地址输入，令</a:t>
            </a:r>
            <a:r>
              <a:rPr lang="en-US" altLang="zh-CN" sz="2400" b="1" i="1" dirty="0">
                <a:latin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sz="2400" b="1" i="1" dirty="0">
                <a:latin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en-US" altLang="zh-CN" sz="2400" b="1" i="1" dirty="0">
                <a:latin typeface="宋体" panose="02010600030101010101" pitchFamily="2" charset="-122"/>
              </a:rPr>
              <a:t>AB</a:t>
            </a:r>
            <a:r>
              <a:rPr lang="zh-CN" altLang="en-US" sz="2400" b="1" dirty="0">
                <a:latin typeface="宋体" panose="02010600030101010101" pitchFamily="2" charset="-122"/>
              </a:rPr>
              <a:t>，则多余输入变量为</a:t>
            </a:r>
            <a:r>
              <a:rPr lang="en-US" altLang="zh-CN" sz="2400" b="1" i="1" dirty="0">
                <a:latin typeface="宋体" panose="02010600030101010101" pitchFamily="2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，余函数</a:t>
            </a:r>
            <a:r>
              <a:rPr lang="en-US" altLang="zh-CN" sz="2400" b="1" i="1" dirty="0">
                <a:latin typeface="宋体" panose="02010600030101010101" pitchFamily="2" charset="-122"/>
              </a:rPr>
              <a:t>D</a:t>
            </a:r>
            <a:r>
              <a:rPr lang="en-US" altLang="zh-CN" sz="2400" b="1" i="1" baseline="-25000" dirty="0">
                <a:latin typeface="宋体" panose="02010600030101010101" pitchFamily="2" charset="-122"/>
              </a:rPr>
              <a:t>i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en-US" altLang="zh-CN" sz="2400" b="1" i="1" dirty="0">
                <a:latin typeface="宋体" panose="02010600030101010101" pitchFamily="2" charset="-122"/>
              </a:rPr>
              <a:t>f(c</a:t>
            </a:r>
            <a:r>
              <a:rPr lang="en-US" altLang="zh-CN" sz="2400" b="1" dirty="0">
                <a:latin typeface="宋体" panose="02010600030101010101" pitchFamily="2" charset="-122"/>
              </a:rPr>
              <a:t>)</a:t>
            </a:r>
            <a:r>
              <a:rPr lang="zh-CN" altLang="en-US" sz="2400" b="1" dirty="0">
                <a:latin typeface="宋体" panose="02010600030101010101" pitchFamily="2" charset="-122"/>
              </a:rPr>
              <a:t>。 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3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 ② 确定余函数</a:t>
            </a:r>
            <a:r>
              <a:rPr lang="en-US" altLang="zh-CN" sz="2400" b="1" i="1" dirty="0">
                <a:latin typeface="宋体" panose="02010600030101010101" pitchFamily="2" charset="-122"/>
              </a:rPr>
              <a:t>D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。 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ctr" eaLnBrk="1" hangingPunct="1">
              <a:lnSpc>
                <a:spcPct val="13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 用代数法将</a:t>
            </a:r>
            <a:r>
              <a:rPr lang="en-US" altLang="zh-CN" sz="2400" b="1" i="1" dirty="0">
                <a:latin typeface="宋体" panose="02010600030101010101" pitchFamily="2" charset="-122"/>
              </a:rPr>
              <a:t>F</a:t>
            </a:r>
            <a:r>
              <a:rPr lang="zh-CN" altLang="en-US" sz="2400" b="1" dirty="0">
                <a:latin typeface="宋体" panose="02010600030101010101" pitchFamily="2" charset="-122"/>
              </a:rPr>
              <a:t>的表达式变换为与</a:t>
            </a:r>
            <a:r>
              <a:rPr lang="en-US" altLang="zh-CN" sz="2400" b="1" i="1" dirty="0">
                <a:latin typeface="宋体" panose="02010600030101010101" pitchFamily="2" charset="-122"/>
              </a:rPr>
              <a:t>Y</a:t>
            </a:r>
            <a:r>
              <a:rPr lang="zh-CN" altLang="en-US" sz="2400" b="1" dirty="0">
                <a:latin typeface="宋体" panose="02010600030101010101" pitchFamily="2" charset="-122"/>
              </a:rPr>
              <a:t>相应的形式：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6565" name="Object 3"/>
          <p:cNvGraphicFramePr>
            <a:graphicFrameLocks noChangeAspect="1"/>
          </p:cNvGraphicFramePr>
          <p:nvPr/>
        </p:nvGraphicFramePr>
        <p:xfrm>
          <a:off x="1371600" y="4953000"/>
          <a:ext cx="6858000" cy="16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3" imgW="3683000" imgH="876300" progId="Equation.3">
                  <p:embed/>
                </p:oleObj>
              </mc:Choice>
              <mc:Fallback>
                <p:oleObj name="" r:id="rId3" imgW="3683000" imgH="8763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1600" y="4953000"/>
                        <a:ext cx="6858000" cy="1631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Text Box 4"/>
          <p:cNvSpPr txBox="1"/>
          <p:nvPr/>
        </p:nvSpPr>
        <p:spPr>
          <a:xfrm>
            <a:off x="1143000" y="762000"/>
            <a:ext cx="2444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将</a:t>
            </a:r>
            <a:r>
              <a:rPr lang="en-US" altLang="zh-CN" sz="2400" b="1" i="1" dirty="0">
                <a:latin typeface="宋体" panose="02010600030101010101" pitchFamily="2" charset="-122"/>
              </a:rPr>
              <a:t>F</a:t>
            </a:r>
            <a:r>
              <a:rPr lang="zh-CN" altLang="en-US" sz="2400" b="1" dirty="0">
                <a:latin typeface="宋体" panose="02010600030101010101" pitchFamily="2" charset="-122"/>
              </a:rPr>
              <a:t>与</a:t>
            </a:r>
            <a:r>
              <a:rPr lang="en-US" altLang="zh-CN" sz="2400" b="1" i="1" dirty="0">
                <a:latin typeface="宋体" panose="02010600030101010101" pitchFamily="2" charset="-122"/>
              </a:rPr>
              <a:t>Y</a:t>
            </a:r>
            <a:r>
              <a:rPr lang="zh-CN" altLang="en-US" sz="2400" b="1" dirty="0">
                <a:latin typeface="宋体" panose="02010600030101010101" pitchFamily="2" charset="-122"/>
              </a:rPr>
              <a:t>对照可得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7587" name="Object 2"/>
          <p:cNvGraphicFramePr>
            <a:graphicFrameLocks noChangeAspect="1"/>
          </p:cNvGraphicFramePr>
          <p:nvPr/>
        </p:nvGraphicFramePr>
        <p:xfrm>
          <a:off x="2819400" y="1219200"/>
          <a:ext cx="38100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1" imgW="1828800" imgH="254000" progId="Equation.3">
                  <p:embed/>
                </p:oleObj>
              </mc:Choice>
              <mc:Fallback>
                <p:oleObj name="" r:id="rId1" imgW="1828800" imgH="254000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19400" y="1219200"/>
                        <a:ext cx="3810000" cy="528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8" name="Text Box 6"/>
          <p:cNvSpPr txBox="1"/>
          <p:nvPr/>
        </p:nvSpPr>
        <p:spPr>
          <a:xfrm>
            <a:off x="2819400" y="5943600"/>
            <a:ext cx="3638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图 </a:t>
            </a:r>
            <a:r>
              <a:rPr lang="en-US" altLang="zh-CN" sz="2400" b="1" dirty="0">
                <a:latin typeface="宋体" panose="02010600030101010101" pitchFamily="2" charset="-122"/>
              </a:rPr>
              <a:t>4 – 23  </a:t>
            </a:r>
            <a:r>
              <a:rPr lang="zh-CN" altLang="en-US" sz="2400" b="1" dirty="0">
                <a:latin typeface="宋体" panose="02010600030101010101" pitchFamily="2" charset="-122"/>
              </a:rPr>
              <a:t>例</a:t>
            </a:r>
            <a:r>
              <a:rPr lang="en-US" altLang="zh-CN" sz="2400" b="1" dirty="0">
                <a:latin typeface="宋体" panose="02010600030101010101" pitchFamily="2" charset="-122"/>
              </a:rPr>
              <a:t>4 - 7</a:t>
            </a:r>
            <a:r>
              <a:rPr lang="zh-CN" altLang="en-US" sz="2400" b="1" dirty="0">
                <a:latin typeface="宋体" panose="02010600030101010101" pitchFamily="2" charset="-122"/>
              </a:rPr>
              <a:t>之逻辑图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7589" name="Object 3"/>
          <p:cNvGraphicFramePr>
            <a:graphicFrameLocks noChangeAspect="1"/>
          </p:cNvGraphicFramePr>
          <p:nvPr/>
        </p:nvGraphicFramePr>
        <p:xfrm>
          <a:off x="1828800" y="1905000"/>
          <a:ext cx="6705600" cy="413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3" imgW="1775460" imgH="1097280" progId="Visio.Drawing.4">
                  <p:embed/>
                </p:oleObj>
              </mc:Choice>
              <mc:Fallback>
                <p:oleObj name="" r:id="rId3" imgW="1775460" imgH="1097280" progId="Visio.Drawing.4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8800" y="1905000"/>
                        <a:ext cx="6705600" cy="4130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Text Box 2"/>
          <p:cNvSpPr txBox="1"/>
          <p:nvPr/>
        </p:nvSpPr>
        <p:spPr>
          <a:xfrm>
            <a:off x="304800" y="381000"/>
            <a:ext cx="853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zh-CN" altLang="en-US" sz="2400" b="1" dirty="0"/>
              <a:t>试用四选一数据选择器实现一位全加器。</a:t>
            </a:r>
            <a:endParaRPr lang="zh-CN" altLang="en-US" sz="2400" b="1" dirty="0"/>
          </a:p>
        </p:txBody>
      </p:sp>
      <p:sp>
        <p:nvSpPr>
          <p:cNvPr id="88067" name="Text Box 3"/>
          <p:cNvSpPr txBox="1"/>
          <p:nvPr/>
        </p:nvSpPr>
        <p:spPr>
          <a:xfrm>
            <a:off x="4860925" y="1163638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400" dirty="0"/>
          </a:p>
        </p:txBody>
      </p:sp>
      <p:sp>
        <p:nvSpPr>
          <p:cNvPr id="88068" name="Text Box 4"/>
          <p:cNvSpPr txBox="1"/>
          <p:nvPr/>
        </p:nvSpPr>
        <p:spPr>
          <a:xfrm>
            <a:off x="457200" y="914400"/>
            <a:ext cx="7178675" cy="53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解：用代数法求余函数。</a:t>
            </a:r>
            <a:endParaRPr lang="zh-CN" altLang="en-US" sz="2400" b="1" dirty="0"/>
          </a:p>
        </p:txBody>
      </p:sp>
      <p:grpSp>
        <p:nvGrpSpPr>
          <p:cNvPr id="2" name="Group 5"/>
          <p:cNvGrpSpPr/>
          <p:nvPr/>
        </p:nvGrpSpPr>
        <p:grpSpPr>
          <a:xfrm>
            <a:off x="5618163" y="1663700"/>
            <a:ext cx="1544637" cy="469900"/>
            <a:chOff x="3504" y="1008"/>
            <a:chExt cx="973" cy="296"/>
          </a:xfrm>
        </p:grpSpPr>
        <p:graphicFrame>
          <p:nvGraphicFramePr>
            <p:cNvPr id="68641" name="Object 6"/>
            <p:cNvGraphicFramePr>
              <a:graphicFrameLocks noChangeAspect="1"/>
            </p:cNvGraphicFramePr>
            <p:nvPr/>
          </p:nvGraphicFramePr>
          <p:xfrm>
            <a:off x="3504" y="1008"/>
            <a:ext cx="27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" name="" r:id="rId1" imgW="165100" imgH="177800" progId="Equation.3">
                    <p:embed/>
                  </p:oleObj>
                </mc:Choice>
                <mc:Fallback>
                  <p:oleObj name="" r:id="rId1" imgW="165100" imgH="177800" progId="Equation.3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504" y="1008"/>
                          <a:ext cx="275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42" name="Object 7"/>
            <p:cNvGraphicFramePr>
              <a:graphicFrameLocks noChangeAspect="1"/>
            </p:cNvGraphicFramePr>
            <p:nvPr/>
          </p:nvGraphicFramePr>
          <p:xfrm>
            <a:off x="3840" y="1008"/>
            <a:ext cx="253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" name="" r:id="rId3" imgW="152400" imgH="177800" progId="Equation.3">
                    <p:embed/>
                  </p:oleObj>
                </mc:Choice>
                <mc:Fallback>
                  <p:oleObj name="" r:id="rId3" imgW="152400" imgH="177800" progId="Equation.3">
                    <p:embed/>
                    <p:pic>
                      <p:nvPicPr>
                        <p:cNvPr id="0" name="图片 318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40" y="1008"/>
                          <a:ext cx="253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43" name="Object 8"/>
            <p:cNvGraphicFramePr>
              <a:graphicFrameLocks noChangeAspect="1"/>
            </p:cNvGraphicFramePr>
            <p:nvPr/>
          </p:nvGraphicFramePr>
          <p:xfrm>
            <a:off x="4224" y="1008"/>
            <a:ext cx="253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" name="" r:id="rId5" imgW="152400" imgH="177800" progId="Equation.3">
                    <p:embed/>
                  </p:oleObj>
                </mc:Choice>
                <mc:Fallback>
                  <p:oleObj name="" r:id="rId5" imgW="152400" imgH="177800" progId="Equation.3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224" y="1008"/>
                          <a:ext cx="253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8073" name="Text Box 9"/>
          <p:cNvSpPr txBox="1"/>
          <p:nvPr/>
        </p:nvSpPr>
        <p:spPr>
          <a:xfrm>
            <a:off x="908050" y="2092325"/>
            <a:ext cx="5099050" cy="530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四选一数据选择器只需两位地址代码</a:t>
            </a:r>
            <a:endParaRPr lang="zh-CN" altLang="en-US" sz="2400" dirty="0"/>
          </a:p>
        </p:txBody>
      </p:sp>
      <p:graphicFrame>
        <p:nvGraphicFramePr>
          <p:cNvPr id="88074" name="Object 10"/>
          <p:cNvGraphicFramePr>
            <a:graphicFrameLocks noChangeAspect="1"/>
          </p:cNvGraphicFramePr>
          <p:nvPr/>
        </p:nvGraphicFramePr>
        <p:xfrm>
          <a:off x="5943600" y="2209800"/>
          <a:ext cx="4365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7" imgW="165100" imgH="177800" progId="Equation.3">
                  <p:embed/>
                </p:oleObj>
              </mc:Choice>
              <mc:Fallback>
                <p:oleObj name="" r:id="rId7" imgW="165100" imgH="1778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43600" y="2209800"/>
                        <a:ext cx="436563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5" name="Object 11"/>
          <p:cNvGraphicFramePr>
            <a:graphicFrameLocks noChangeAspect="1"/>
          </p:cNvGraphicFramePr>
          <p:nvPr/>
        </p:nvGraphicFramePr>
        <p:xfrm>
          <a:off x="6553200" y="2209800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9" imgW="177800" imgH="177800" progId="Equation.3">
                  <p:embed/>
                </p:oleObj>
              </mc:Choice>
              <mc:Fallback>
                <p:oleObj name="" r:id="rId9" imgW="177800" imgH="1778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53200" y="2209800"/>
                        <a:ext cx="4572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6" name="Text Box 12"/>
          <p:cNvSpPr txBox="1"/>
          <p:nvPr/>
        </p:nvSpPr>
        <p:spPr>
          <a:xfrm>
            <a:off x="882650" y="2667000"/>
            <a:ext cx="793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选：</a:t>
            </a:r>
            <a:endParaRPr lang="zh-CN" altLang="en-US" sz="2400" b="1" dirty="0"/>
          </a:p>
        </p:txBody>
      </p:sp>
      <p:grpSp>
        <p:nvGrpSpPr>
          <p:cNvPr id="3" name="Group 13"/>
          <p:cNvGrpSpPr/>
          <p:nvPr/>
        </p:nvGrpSpPr>
        <p:grpSpPr>
          <a:xfrm>
            <a:off x="1524000" y="2667000"/>
            <a:ext cx="1011238" cy="469900"/>
            <a:chOff x="960" y="1680"/>
            <a:chExt cx="637" cy="296"/>
          </a:xfrm>
        </p:grpSpPr>
        <p:graphicFrame>
          <p:nvGraphicFramePr>
            <p:cNvPr id="68639" name="Object 14"/>
            <p:cNvGraphicFramePr>
              <a:graphicFrameLocks noChangeAspect="1"/>
            </p:cNvGraphicFramePr>
            <p:nvPr/>
          </p:nvGraphicFramePr>
          <p:xfrm>
            <a:off x="960" y="1680"/>
            <a:ext cx="27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" name="" r:id="rId11" imgW="165100" imgH="177800" progId="Equation.3">
                    <p:embed/>
                  </p:oleObj>
                </mc:Choice>
                <mc:Fallback>
                  <p:oleObj name="" r:id="rId11" imgW="165100" imgH="177800" progId="Equation.3">
                    <p:embed/>
                    <p:pic>
                      <p:nvPicPr>
                        <p:cNvPr id="0" name="图片 31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60" y="1680"/>
                          <a:ext cx="275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40" name="Object 15"/>
            <p:cNvGraphicFramePr>
              <a:graphicFrameLocks noChangeAspect="1"/>
            </p:cNvGraphicFramePr>
            <p:nvPr/>
          </p:nvGraphicFramePr>
          <p:xfrm>
            <a:off x="1344" y="1680"/>
            <a:ext cx="253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" name="" r:id="rId12" imgW="152400" imgH="177800" progId="Equation.3">
                    <p:embed/>
                  </p:oleObj>
                </mc:Choice>
                <mc:Fallback>
                  <p:oleObj name="" r:id="rId12" imgW="152400" imgH="177800" progId="Equation.3">
                    <p:embed/>
                    <p:pic>
                      <p:nvPicPr>
                        <p:cNvPr id="0" name="图片 318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44" y="1680"/>
                          <a:ext cx="253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8080" name="Line 16"/>
          <p:cNvSpPr/>
          <p:nvPr/>
        </p:nvSpPr>
        <p:spPr>
          <a:xfrm>
            <a:off x="2667000" y="2895600"/>
            <a:ext cx="457200" cy="0"/>
          </a:xfrm>
          <a:prstGeom prst="line">
            <a:avLst/>
          </a:prstGeom>
          <a:ln w="3810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8081" name="Text Box 17"/>
          <p:cNvSpPr txBox="1"/>
          <p:nvPr/>
        </p:nvSpPr>
        <p:spPr>
          <a:xfrm>
            <a:off x="3260725" y="2611438"/>
            <a:ext cx="32639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作为选择器的地址输入</a:t>
            </a:r>
            <a:endParaRPr lang="zh-CN" altLang="en-US" sz="2400" b="1" dirty="0"/>
          </a:p>
        </p:txBody>
      </p:sp>
      <p:grpSp>
        <p:nvGrpSpPr>
          <p:cNvPr id="4" name="Group 18"/>
          <p:cNvGrpSpPr/>
          <p:nvPr/>
        </p:nvGrpSpPr>
        <p:grpSpPr>
          <a:xfrm>
            <a:off x="1524000" y="3165475"/>
            <a:ext cx="3048000" cy="504825"/>
            <a:chOff x="960" y="1994"/>
            <a:chExt cx="1920" cy="318"/>
          </a:xfrm>
        </p:grpSpPr>
        <p:grpSp>
          <p:nvGrpSpPr>
            <p:cNvPr id="68632" name="Group 19"/>
            <p:cNvGrpSpPr/>
            <p:nvPr/>
          </p:nvGrpSpPr>
          <p:grpSpPr>
            <a:xfrm>
              <a:off x="960" y="1994"/>
              <a:ext cx="803" cy="318"/>
              <a:chOff x="960" y="1994"/>
              <a:chExt cx="803" cy="318"/>
            </a:xfrm>
          </p:grpSpPr>
          <p:graphicFrame>
            <p:nvGraphicFramePr>
              <p:cNvPr id="68636" name="Object 20"/>
              <p:cNvGraphicFramePr>
                <a:graphicFrameLocks noChangeAspect="1"/>
              </p:cNvGraphicFramePr>
              <p:nvPr/>
            </p:nvGraphicFramePr>
            <p:xfrm>
              <a:off x="960" y="2016"/>
              <a:ext cx="275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9" name="" r:id="rId13" imgW="165100" imgH="177800" progId="Equation.3">
                      <p:embed/>
                    </p:oleObj>
                  </mc:Choice>
                  <mc:Fallback>
                    <p:oleObj name="" r:id="rId13" imgW="165100" imgH="177800" progId="Equation.3">
                      <p:embed/>
                      <p:pic>
                        <p:nvPicPr>
                          <p:cNvPr id="0" name="图片 3178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960" y="2016"/>
                            <a:ext cx="275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8637" name="Text Box 21"/>
              <p:cNvSpPr txBox="1"/>
              <p:nvPr/>
            </p:nvSpPr>
            <p:spPr>
              <a:xfrm>
                <a:off x="1200" y="1994"/>
                <a:ext cx="22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/>
                  <a:t>=</a:t>
                </a:r>
                <a:endParaRPr lang="en-US" altLang="zh-CN" sz="2400" dirty="0"/>
              </a:p>
            </p:txBody>
          </p:sp>
          <p:graphicFrame>
            <p:nvGraphicFramePr>
              <p:cNvPr id="68638" name="Object 22"/>
              <p:cNvGraphicFramePr>
                <a:graphicFrameLocks noChangeAspect="1"/>
              </p:cNvGraphicFramePr>
              <p:nvPr/>
            </p:nvGraphicFramePr>
            <p:xfrm>
              <a:off x="1488" y="2016"/>
              <a:ext cx="275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3" name="" r:id="rId14" imgW="165100" imgH="177800" progId="Equation.3">
                      <p:embed/>
                    </p:oleObj>
                  </mc:Choice>
                  <mc:Fallback>
                    <p:oleObj name="" r:id="rId14" imgW="165100" imgH="177800" progId="Equation.3">
                      <p:embed/>
                      <p:pic>
                        <p:nvPicPr>
                          <p:cNvPr id="0" name="图片 3172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488" y="2016"/>
                            <a:ext cx="275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8633" name="Object 23"/>
            <p:cNvGraphicFramePr>
              <a:graphicFrameLocks noChangeAspect="1"/>
            </p:cNvGraphicFramePr>
            <p:nvPr/>
          </p:nvGraphicFramePr>
          <p:xfrm>
            <a:off x="2147" y="2016"/>
            <a:ext cx="253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" name="" r:id="rId15" imgW="152400" imgH="177800" progId="Equation.3">
                    <p:embed/>
                  </p:oleObj>
                </mc:Choice>
                <mc:Fallback>
                  <p:oleObj name="" r:id="rId15" imgW="152400" imgH="177800" progId="Equation.3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47" y="2016"/>
                          <a:ext cx="253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634" name="Text Box 24"/>
            <p:cNvSpPr txBox="1"/>
            <p:nvPr/>
          </p:nvSpPr>
          <p:spPr>
            <a:xfrm>
              <a:off x="2390" y="1994"/>
              <a:ext cx="2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/>
                <a:t>=</a:t>
              </a:r>
              <a:endParaRPr lang="en-US" altLang="zh-CN" sz="2400" dirty="0"/>
            </a:p>
          </p:txBody>
        </p:sp>
        <p:graphicFrame>
          <p:nvGraphicFramePr>
            <p:cNvPr id="68635" name="Object 25"/>
            <p:cNvGraphicFramePr>
              <a:graphicFrameLocks noChangeAspect="1"/>
            </p:cNvGraphicFramePr>
            <p:nvPr/>
          </p:nvGraphicFramePr>
          <p:xfrm>
            <a:off x="2592" y="2016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" name="" r:id="rId16" imgW="177800" imgH="177800" progId="Equation.3">
                    <p:embed/>
                  </p:oleObj>
                </mc:Choice>
                <mc:Fallback>
                  <p:oleObj name="" r:id="rId16" imgW="177800" imgH="177800" progId="Equation.3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592" y="2016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8090" name="Object 26"/>
          <p:cNvGraphicFramePr>
            <a:graphicFrameLocks noChangeAspect="1"/>
          </p:cNvGraphicFramePr>
          <p:nvPr/>
        </p:nvGraphicFramePr>
        <p:xfrm>
          <a:off x="1524000" y="3733800"/>
          <a:ext cx="40163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17" imgW="152400" imgH="177800" progId="Equation.3">
                  <p:embed/>
                </p:oleObj>
              </mc:Choice>
              <mc:Fallback>
                <p:oleObj name="" r:id="rId17" imgW="152400" imgH="177800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4000" y="3733800"/>
                        <a:ext cx="401638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91" name="Line 27"/>
          <p:cNvSpPr/>
          <p:nvPr/>
        </p:nvSpPr>
        <p:spPr>
          <a:xfrm>
            <a:off x="2057400" y="3962400"/>
            <a:ext cx="381000" cy="0"/>
          </a:xfrm>
          <a:prstGeom prst="line">
            <a:avLst/>
          </a:prstGeom>
          <a:ln w="3810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8092" name="Text Box 28"/>
          <p:cNvSpPr txBox="1"/>
          <p:nvPr/>
        </p:nvSpPr>
        <p:spPr>
          <a:xfrm>
            <a:off x="2590800" y="3733800"/>
            <a:ext cx="203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作数据输入用</a:t>
            </a:r>
            <a:endParaRPr lang="zh-CN" altLang="en-US" sz="2400" b="1" dirty="0"/>
          </a:p>
        </p:txBody>
      </p:sp>
      <p:sp>
        <p:nvSpPr>
          <p:cNvPr id="88093" name="Text Box 29"/>
          <p:cNvSpPr txBox="1"/>
          <p:nvPr/>
        </p:nvSpPr>
        <p:spPr>
          <a:xfrm>
            <a:off x="898525" y="4287838"/>
            <a:ext cx="11017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A50021"/>
                </a:solidFill>
              </a:rPr>
              <a:t>关键：</a:t>
            </a:r>
            <a:endParaRPr lang="zh-CN" altLang="en-US" sz="2400" b="1" dirty="0">
              <a:solidFill>
                <a:srgbClr val="A50021"/>
              </a:solidFill>
            </a:endParaRPr>
          </a:p>
        </p:txBody>
      </p:sp>
      <p:sp>
        <p:nvSpPr>
          <p:cNvPr id="88094" name="Text Box 30"/>
          <p:cNvSpPr txBox="1"/>
          <p:nvPr/>
        </p:nvSpPr>
        <p:spPr>
          <a:xfrm>
            <a:off x="1905000" y="4225925"/>
            <a:ext cx="2955925" cy="968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根据不同的地址输入</a:t>
            </a:r>
            <a:endParaRPr lang="zh-CN" altLang="en-US" sz="2400" b="1" dirty="0"/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确定相应的数据输入</a:t>
            </a:r>
            <a:endParaRPr lang="zh-CN" altLang="en-US" sz="2400" b="1" dirty="0"/>
          </a:p>
        </p:txBody>
      </p:sp>
      <p:sp>
        <p:nvSpPr>
          <p:cNvPr id="88095" name="Text Box 31"/>
          <p:cNvSpPr txBox="1"/>
          <p:nvPr/>
        </p:nvSpPr>
        <p:spPr>
          <a:xfrm>
            <a:off x="1889125" y="5202238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400" dirty="0"/>
          </a:p>
        </p:txBody>
      </p:sp>
      <p:grpSp>
        <p:nvGrpSpPr>
          <p:cNvPr id="6" name="Group 32"/>
          <p:cNvGrpSpPr/>
          <p:nvPr/>
        </p:nvGrpSpPr>
        <p:grpSpPr>
          <a:xfrm>
            <a:off x="5181600" y="3276600"/>
            <a:ext cx="3657600" cy="2895600"/>
            <a:chOff x="3264" y="2064"/>
            <a:chExt cx="2304" cy="1824"/>
          </a:xfrm>
        </p:grpSpPr>
        <p:graphicFrame>
          <p:nvGraphicFramePr>
            <p:cNvPr id="68630" name="Object 33"/>
            <p:cNvGraphicFramePr>
              <a:graphicFrameLocks noChangeAspect="1"/>
            </p:cNvGraphicFramePr>
            <p:nvPr/>
          </p:nvGraphicFramePr>
          <p:xfrm>
            <a:off x="3360" y="2064"/>
            <a:ext cx="2160" cy="18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4" name="" r:id="rId18" imgW="1438275" imgH="1238250" progId="Paint.Picture">
                    <p:embed/>
                  </p:oleObj>
                </mc:Choice>
                <mc:Fallback>
                  <p:oleObj name="" r:id="rId18" imgW="1438275" imgH="1238250" progId="Paint.Picture">
                    <p:embed/>
                    <p:pic>
                      <p:nvPicPr>
                        <p:cNvPr id="0" name="图片 3183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360" y="2064"/>
                          <a:ext cx="2160" cy="18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631" name="Rectangle 34"/>
            <p:cNvSpPr/>
            <p:nvPr/>
          </p:nvSpPr>
          <p:spPr>
            <a:xfrm>
              <a:off x="3264" y="2064"/>
              <a:ext cx="2304" cy="1824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88099" name="Text Box 35"/>
          <p:cNvSpPr txBox="1"/>
          <p:nvPr/>
        </p:nvSpPr>
        <p:spPr>
          <a:xfrm>
            <a:off x="974725" y="1620838"/>
            <a:ext cx="47974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根据全加器，其有三个输入变量：</a:t>
            </a:r>
            <a:endParaRPr lang="zh-CN" altLang="en-US" sz="2400" b="1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8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8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88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88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6" grpId="0"/>
      <p:bldP spid="88067" grpId="0"/>
      <p:bldP spid="88068" grpId="0"/>
      <p:bldP spid="88073" grpId="0"/>
      <p:bldP spid="88076" grpId="0"/>
      <p:bldP spid="88081" grpId="0"/>
      <p:bldP spid="88092" grpId="0"/>
      <p:bldP spid="88093" grpId="0"/>
      <p:bldP spid="88094" grpId="0"/>
      <p:bldP spid="88095" grpId="0"/>
      <p:bldP spid="8809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5029200" y="3657600"/>
            <a:ext cx="3733800" cy="2895600"/>
            <a:chOff x="3168" y="2304"/>
            <a:chExt cx="2352" cy="1824"/>
          </a:xfrm>
        </p:grpSpPr>
        <p:graphicFrame>
          <p:nvGraphicFramePr>
            <p:cNvPr id="69684" name="Object 3"/>
            <p:cNvGraphicFramePr>
              <a:graphicFrameLocks noChangeAspect="1"/>
            </p:cNvGraphicFramePr>
            <p:nvPr/>
          </p:nvGraphicFramePr>
          <p:xfrm>
            <a:off x="3264" y="2304"/>
            <a:ext cx="2160" cy="18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5" name="" r:id="rId1" imgW="1438275" imgH="1238250" progId="Paint.Picture">
                    <p:embed/>
                  </p:oleObj>
                </mc:Choice>
                <mc:Fallback>
                  <p:oleObj name="" r:id="rId1" imgW="1438275" imgH="1238250" progId="Paint.Picture">
                    <p:embed/>
                    <p:pic>
                      <p:nvPicPr>
                        <p:cNvPr id="0" name="图片 318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264" y="2304"/>
                          <a:ext cx="2160" cy="18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685" name="Rectangle 4"/>
            <p:cNvSpPr/>
            <p:nvPr/>
          </p:nvSpPr>
          <p:spPr>
            <a:xfrm>
              <a:off x="3168" y="2304"/>
              <a:ext cx="2352" cy="1776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90117" name="Text Box 5"/>
          <p:cNvSpPr txBox="1"/>
          <p:nvPr/>
        </p:nvSpPr>
        <p:spPr>
          <a:xfrm>
            <a:off x="5376863" y="4468813"/>
            <a:ext cx="414337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en-US" sz="2000" b="1" dirty="0"/>
              <a:t>A</a:t>
            </a:r>
            <a:r>
              <a:rPr lang="en-US" altLang="en-US" sz="2000" b="1" baseline="-25000" dirty="0"/>
              <a:t>i</a:t>
            </a:r>
            <a:endParaRPr lang="en-US" altLang="zh-CN" sz="2000" b="1" dirty="0"/>
          </a:p>
        </p:txBody>
      </p:sp>
      <p:sp>
        <p:nvSpPr>
          <p:cNvPr id="90118" name="Text Box 6"/>
          <p:cNvSpPr txBox="1"/>
          <p:nvPr/>
        </p:nvSpPr>
        <p:spPr>
          <a:xfrm>
            <a:off x="5391150" y="4191000"/>
            <a:ext cx="4000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B</a:t>
            </a:r>
            <a:r>
              <a:rPr lang="en-US" altLang="zh-CN" sz="2000" b="1" baseline="-25000" dirty="0"/>
              <a:t>i</a:t>
            </a:r>
            <a:endParaRPr lang="en-US" altLang="zh-CN" sz="2000" b="1" dirty="0"/>
          </a:p>
        </p:txBody>
      </p:sp>
      <p:sp>
        <p:nvSpPr>
          <p:cNvPr id="90119" name="Text Box 7"/>
          <p:cNvSpPr txBox="1"/>
          <p:nvPr/>
        </p:nvSpPr>
        <p:spPr>
          <a:xfrm>
            <a:off x="5334000" y="4953000"/>
            <a:ext cx="4143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C</a:t>
            </a:r>
            <a:r>
              <a:rPr lang="en-US" altLang="zh-CN" sz="2000" b="1" baseline="-25000" dirty="0"/>
              <a:t>i</a:t>
            </a:r>
            <a:endParaRPr lang="en-US" altLang="zh-CN" sz="2000" b="1" dirty="0"/>
          </a:p>
        </p:txBody>
      </p:sp>
      <p:sp>
        <p:nvSpPr>
          <p:cNvPr id="90120" name="Text Box 8"/>
          <p:cNvSpPr txBox="1"/>
          <p:nvPr/>
        </p:nvSpPr>
        <p:spPr>
          <a:xfrm>
            <a:off x="5410200" y="3810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0</a:t>
            </a:r>
            <a:endParaRPr lang="en-US" altLang="zh-CN" sz="2000" b="1" dirty="0"/>
          </a:p>
        </p:txBody>
      </p:sp>
      <p:sp>
        <p:nvSpPr>
          <p:cNvPr id="90121" name="Text Box 9"/>
          <p:cNvSpPr txBox="1"/>
          <p:nvPr/>
        </p:nvSpPr>
        <p:spPr>
          <a:xfrm>
            <a:off x="5334000" y="5791200"/>
            <a:ext cx="4143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C</a:t>
            </a:r>
            <a:r>
              <a:rPr lang="en-US" altLang="zh-CN" sz="2000" b="1" baseline="-25000" dirty="0"/>
              <a:t>i</a:t>
            </a:r>
            <a:endParaRPr lang="en-US" altLang="zh-CN" sz="2000" b="1" dirty="0"/>
          </a:p>
        </p:txBody>
      </p:sp>
      <p:grpSp>
        <p:nvGrpSpPr>
          <p:cNvPr id="3" name="Group 10"/>
          <p:cNvGrpSpPr/>
          <p:nvPr/>
        </p:nvGrpSpPr>
        <p:grpSpPr>
          <a:xfrm>
            <a:off x="5105400" y="5562600"/>
            <a:ext cx="414338" cy="396875"/>
            <a:chOff x="1680" y="3254"/>
            <a:chExt cx="261" cy="250"/>
          </a:xfrm>
        </p:grpSpPr>
        <p:sp>
          <p:nvSpPr>
            <p:cNvPr id="69682" name="Text Box 11"/>
            <p:cNvSpPr txBox="1"/>
            <p:nvPr/>
          </p:nvSpPr>
          <p:spPr>
            <a:xfrm>
              <a:off x="1680" y="3254"/>
              <a:ext cx="26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/>
                <a:t>C</a:t>
              </a:r>
              <a:r>
                <a:rPr lang="en-US" altLang="zh-CN" sz="2000" b="1" baseline="-25000" dirty="0"/>
                <a:t>i</a:t>
              </a:r>
              <a:endParaRPr lang="en-US" altLang="zh-CN" sz="2000" b="1" dirty="0"/>
            </a:p>
          </p:txBody>
        </p:sp>
        <p:sp>
          <p:nvSpPr>
            <p:cNvPr id="69683" name="Line 12"/>
            <p:cNvSpPr/>
            <p:nvPr/>
          </p:nvSpPr>
          <p:spPr>
            <a:xfrm>
              <a:off x="1776" y="3264"/>
              <a:ext cx="4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13"/>
          <p:cNvGrpSpPr/>
          <p:nvPr/>
        </p:nvGrpSpPr>
        <p:grpSpPr>
          <a:xfrm>
            <a:off x="5376863" y="5318125"/>
            <a:ext cx="414337" cy="396875"/>
            <a:chOff x="1680" y="3254"/>
            <a:chExt cx="261" cy="250"/>
          </a:xfrm>
        </p:grpSpPr>
        <p:sp>
          <p:nvSpPr>
            <p:cNvPr id="69680" name="Text Box 14"/>
            <p:cNvSpPr txBox="1"/>
            <p:nvPr/>
          </p:nvSpPr>
          <p:spPr>
            <a:xfrm>
              <a:off x="1680" y="3254"/>
              <a:ext cx="26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/>
                <a:t>C</a:t>
              </a:r>
              <a:r>
                <a:rPr lang="en-US" altLang="zh-CN" sz="2000" b="1" baseline="-25000" dirty="0"/>
                <a:t>i</a:t>
              </a:r>
              <a:endParaRPr lang="en-US" altLang="zh-CN" sz="2000" b="1" dirty="0"/>
            </a:p>
          </p:txBody>
        </p:sp>
        <p:sp>
          <p:nvSpPr>
            <p:cNvPr id="69681" name="Line 15"/>
            <p:cNvSpPr/>
            <p:nvPr/>
          </p:nvSpPr>
          <p:spPr>
            <a:xfrm>
              <a:off x="1776" y="3264"/>
              <a:ext cx="4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0128" name="Text Box 16"/>
          <p:cNvSpPr txBox="1"/>
          <p:nvPr/>
        </p:nvSpPr>
        <p:spPr>
          <a:xfrm>
            <a:off x="8077200" y="4572000"/>
            <a:ext cx="4111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S</a:t>
            </a:r>
            <a:r>
              <a:rPr lang="en-US" altLang="zh-CN" sz="2400" b="1" baseline="-25000" dirty="0"/>
              <a:t>i</a:t>
            </a:r>
            <a:endParaRPr lang="en-US" altLang="zh-CN" sz="2400" b="1" dirty="0"/>
          </a:p>
        </p:txBody>
      </p:sp>
      <p:sp>
        <p:nvSpPr>
          <p:cNvPr id="90129" name="Text Box 17"/>
          <p:cNvSpPr txBox="1"/>
          <p:nvPr/>
        </p:nvSpPr>
        <p:spPr>
          <a:xfrm>
            <a:off x="762000" y="879475"/>
            <a:ext cx="41576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C</a:t>
            </a:r>
            <a:r>
              <a:rPr lang="en-US" altLang="zh-CN" sz="2400" b="1" baseline="-25000" dirty="0"/>
              <a:t>i</a:t>
            </a:r>
            <a:r>
              <a:rPr lang="zh-CN" altLang="zh-CN" sz="2400" b="1" dirty="0"/>
              <a:t>的实现电路由大家自己完成</a:t>
            </a:r>
            <a:endParaRPr lang="zh-CN" altLang="en-US" sz="2400" b="1" dirty="0"/>
          </a:p>
        </p:txBody>
      </p:sp>
      <p:sp>
        <p:nvSpPr>
          <p:cNvPr id="90130" name="Text Box 18"/>
          <p:cNvSpPr txBox="1"/>
          <p:nvPr/>
        </p:nvSpPr>
        <p:spPr>
          <a:xfrm>
            <a:off x="771525" y="1447800"/>
            <a:ext cx="38798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如采用八选一该如何实现？</a:t>
            </a:r>
            <a:endParaRPr lang="zh-CN" altLang="en-US" sz="2400" b="1" dirty="0"/>
          </a:p>
        </p:txBody>
      </p:sp>
      <p:sp>
        <p:nvSpPr>
          <p:cNvPr id="90131" name="Text Box 19"/>
          <p:cNvSpPr txBox="1"/>
          <p:nvPr/>
        </p:nvSpPr>
        <p:spPr>
          <a:xfrm>
            <a:off x="914400" y="2016125"/>
            <a:ext cx="4791075" cy="530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八选一数据选择器需三位地址代码</a:t>
            </a:r>
            <a:endParaRPr lang="zh-CN" altLang="en-US" sz="2400" dirty="0"/>
          </a:p>
        </p:txBody>
      </p:sp>
      <p:sp>
        <p:nvSpPr>
          <p:cNvPr id="90132" name="Text Box 20"/>
          <p:cNvSpPr txBox="1"/>
          <p:nvPr/>
        </p:nvSpPr>
        <p:spPr>
          <a:xfrm>
            <a:off x="854075" y="2590800"/>
            <a:ext cx="793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选：</a:t>
            </a:r>
            <a:endParaRPr lang="zh-CN" altLang="en-US" sz="2400" b="1" dirty="0"/>
          </a:p>
        </p:txBody>
      </p:sp>
      <p:sp>
        <p:nvSpPr>
          <p:cNvPr id="90133" name="Line 21"/>
          <p:cNvSpPr/>
          <p:nvPr/>
        </p:nvSpPr>
        <p:spPr>
          <a:xfrm>
            <a:off x="3111500" y="2819400"/>
            <a:ext cx="457200" cy="0"/>
          </a:xfrm>
          <a:prstGeom prst="line">
            <a:avLst/>
          </a:prstGeom>
          <a:ln w="3810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34" name="Text Box 22"/>
          <p:cNvSpPr txBox="1"/>
          <p:nvPr/>
        </p:nvSpPr>
        <p:spPr>
          <a:xfrm>
            <a:off x="3581400" y="2535238"/>
            <a:ext cx="32639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作为选择器的地址输入</a:t>
            </a:r>
            <a:endParaRPr lang="zh-CN" altLang="en-US" sz="2400" b="1" dirty="0"/>
          </a:p>
        </p:txBody>
      </p:sp>
      <p:grpSp>
        <p:nvGrpSpPr>
          <p:cNvPr id="5" name="Group 23"/>
          <p:cNvGrpSpPr/>
          <p:nvPr/>
        </p:nvGrpSpPr>
        <p:grpSpPr>
          <a:xfrm>
            <a:off x="1539875" y="3089275"/>
            <a:ext cx="1292225" cy="504825"/>
            <a:chOff x="970" y="1946"/>
            <a:chExt cx="814" cy="318"/>
          </a:xfrm>
        </p:grpSpPr>
        <p:sp>
          <p:nvSpPr>
            <p:cNvPr id="69676" name="Text Box 24"/>
            <p:cNvSpPr txBox="1"/>
            <p:nvPr/>
          </p:nvSpPr>
          <p:spPr>
            <a:xfrm>
              <a:off x="1210" y="1946"/>
              <a:ext cx="2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/>
                <a:t>=</a:t>
              </a:r>
              <a:endParaRPr lang="en-US" altLang="zh-CN" sz="2400" dirty="0"/>
            </a:p>
          </p:txBody>
        </p:sp>
        <p:grpSp>
          <p:nvGrpSpPr>
            <p:cNvPr id="69677" name="Group 25"/>
            <p:cNvGrpSpPr/>
            <p:nvPr/>
          </p:nvGrpSpPr>
          <p:grpSpPr>
            <a:xfrm>
              <a:off x="970" y="1968"/>
              <a:ext cx="814" cy="296"/>
              <a:chOff x="970" y="1968"/>
              <a:chExt cx="814" cy="296"/>
            </a:xfrm>
          </p:grpSpPr>
          <p:graphicFrame>
            <p:nvGraphicFramePr>
              <p:cNvPr id="69678" name="Object 26"/>
              <p:cNvGraphicFramePr>
                <a:graphicFrameLocks noChangeAspect="1"/>
              </p:cNvGraphicFramePr>
              <p:nvPr/>
            </p:nvGraphicFramePr>
            <p:xfrm>
              <a:off x="970" y="1968"/>
              <a:ext cx="275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6" name="" r:id="rId3" imgW="165100" imgH="177800" progId="Equation.3">
                      <p:embed/>
                    </p:oleObj>
                  </mc:Choice>
                  <mc:Fallback>
                    <p:oleObj name="" r:id="rId3" imgW="165100" imgH="177800" progId="Equation.3">
                      <p:embed/>
                      <p:pic>
                        <p:nvPicPr>
                          <p:cNvPr id="0" name="图片 318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970" y="1968"/>
                            <a:ext cx="275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679" name="Object 27"/>
              <p:cNvGraphicFramePr>
                <a:graphicFrameLocks noChangeAspect="1"/>
              </p:cNvGraphicFramePr>
              <p:nvPr/>
            </p:nvGraphicFramePr>
            <p:xfrm>
              <a:off x="1488" y="1968"/>
              <a:ext cx="296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0" name="" r:id="rId5" imgW="177800" imgH="177800" progId="Equation.3">
                      <p:embed/>
                    </p:oleObj>
                  </mc:Choice>
                  <mc:Fallback>
                    <p:oleObj name="" r:id="rId5" imgW="177800" imgH="177800" progId="Equation.3">
                      <p:embed/>
                      <p:pic>
                        <p:nvPicPr>
                          <p:cNvPr id="0" name="图片 3189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488" y="1968"/>
                            <a:ext cx="296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" name="Group 28"/>
          <p:cNvGrpSpPr/>
          <p:nvPr/>
        </p:nvGrpSpPr>
        <p:grpSpPr>
          <a:xfrm>
            <a:off x="1539875" y="2590800"/>
            <a:ext cx="1439863" cy="492125"/>
            <a:chOff x="970" y="1632"/>
            <a:chExt cx="907" cy="310"/>
          </a:xfrm>
        </p:grpSpPr>
        <p:graphicFrame>
          <p:nvGraphicFramePr>
            <p:cNvPr id="69673" name="Object 29"/>
            <p:cNvGraphicFramePr>
              <a:graphicFrameLocks noChangeAspect="1"/>
            </p:cNvGraphicFramePr>
            <p:nvPr/>
          </p:nvGraphicFramePr>
          <p:xfrm>
            <a:off x="970" y="1632"/>
            <a:ext cx="27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4" name="" r:id="rId7" imgW="165100" imgH="177800" progId="Equation.3">
                    <p:embed/>
                  </p:oleObj>
                </mc:Choice>
                <mc:Fallback>
                  <p:oleObj name="" r:id="rId7" imgW="165100" imgH="177800" progId="Equation.3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70" y="1632"/>
                          <a:ext cx="275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74" name="Object 30"/>
            <p:cNvGraphicFramePr>
              <a:graphicFrameLocks noChangeAspect="1"/>
            </p:cNvGraphicFramePr>
            <p:nvPr/>
          </p:nvGraphicFramePr>
          <p:xfrm>
            <a:off x="1296" y="1632"/>
            <a:ext cx="253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" name="" r:id="rId8" imgW="152400" imgH="177800" progId="Equation.3">
                    <p:embed/>
                  </p:oleObj>
                </mc:Choice>
                <mc:Fallback>
                  <p:oleObj name="" r:id="rId8" imgW="152400" imgH="177800" progId="Equation.3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296" y="1632"/>
                          <a:ext cx="253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75" name="Object 31"/>
            <p:cNvGraphicFramePr>
              <a:graphicFrameLocks noChangeAspect="1"/>
            </p:cNvGraphicFramePr>
            <p:nvPr/>
          </p:nvGraphicFramePr>
          <p:xfrm>
            <a:off x="1624" y="1646"/>
            <a:ext cx="253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" name="" r:id="rId10" imgW="152400" imgH="177800" progId="Equation.3">
                    <p:embed/>
                  </p:oleObj>
                </mc:Choice>
                <mc:Fallback>
                  <p:oleObj name="" r:id="rId10" imgW="152400" imgH="177800" progId="Equation.3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624" y="1646"/>
                          <a:ext cx="253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0144" name="Text Box 32"/>
          <p:cNvSpPr txBox="1"/>
          <p:nvPr/>
        </p:nvSpPr>
        <p:spPr>
          <a:xfrm>
            <a:off x="1511300" y="3616325"/>
            <a:ext cx="1409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数据输入</a:t>
            </a:r>
            <a:endParaRPr lang="zh-CN" altLang="en-US" sz="2400" b="1" dirty="0"/>
          </a:p>
        </p:txBody>
      </p:sp>
      <p:grpSp>
        <p:nvGrpSpPr>
          <p:cNvPr id="8" name="Group 33"/>
          <p:cNvGrpSpPr/>
          <p:nvPr/>
        </p:nvGrpSpPr>
        <p:grpSpPr>
          <a:xfrm>
            <a:off x="5778500" y="2092325"/>
            <a:ext cx="1600200" cy="469900"/>
            <a:chOff x="3640" y="1318"/>
            <a:chExt cx="1008" cy="296"/>
          </a:xfrm>
        </p:grpSpPr>
        <p:graphicFrame>
          <p:nvGraphicFramePr>
            <p:cNvPr id="69670" name="Object 34"/>
            <p:cNvGraphicFramePr>
              <a:graphicFrameLocks noChangeAspect="1"/>
            </p:cNvGraphicFramePr>
            <p:nvPr/>
          </p:nvGraphicFramePr>
          <p:xfrm>
            <a:off x="3997" y="1318"/>
            <a:ext cx="27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" name="" r:id="rId12" imgW="165100" imgH="177800" progId="Equation.3">
                    <p:embed/>
                  </p:oleObj>
                </mc:Choice>
                <mc:Fallback>
                  <p:oleObj name="" r:id="rId12" imgW="165100" imgH="177800" progId="Equation.3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997" y="1318"/>
                          <a:ext cx="275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71" name="Object 35"/>
            <p:cNvGraphicFramePr>
              <a:graphicFrameLocks noChangeAspect="1"/>
            </p:cNvGraphicFramePr>
            <p:nvPr/>
          </p:nvGraphicFramePr>
          <p:xfrm>
            <a:off x="4360" y="1318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" name="" r:id="rId14" imgW="177800" imgH="177800" progId="Equation.3">
                    <p:embed/>
                  </p:oleObj>
                </mc:Choice>
                <mc:Fallback>
                  <p:oleObj name="" r:id="rId14" imgW="177800" imgH="177800" progId="Equation.3">
                    <p:embed/>
                    <p:pic>
                      <p:nvPicPr>
                        <p:cNvPr id="0" name="图片 3187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360" y="1318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72" name="Object 36"/>
            <p:cNvGraphicFramePr>
              <a:graphicFrameLocks noChangeAspect="1"/>
            </p:cNvGraphicFramePr>
            <p:nvPr/>
          </p:nvGraphicFramePr>
          <p:xfrm>
            <a:off x="3640" y="1318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" name="" r:id="rId16" imgW="177800" imgH="177800" progId="Equation.3">
                    <p:embed/>
                  </p:oleObj>
                </mc:Choice>
                <mc:Fallback>
                  <p:oleObj name="" r:id="rId16" imgW="177800" imgH="177800" progId="Equation.3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40" y="1318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37"/>
          <p:cNvGrpSpPr/>
          <p:nvPr/>
        </p:nvGrpSpPr>
        <p:grpSpPr>
          <a:xfrm>
            <a:off x="3424238" y="3082925"/>
            <a:ext cx="2963862" cy="533400"/>
            <a:chOff x="2157" y="1942"/>
            <a:chExt cx="1867" cy="336"/>
          </a:xfrm>
        </p:grpSpPr>
        <p:grpSp>
          <p:nvGrpSpPr>
            <p:cNvPr id="69661" name="Group 38"/>
            <p:cNvGrpSpPr/>
            <p:nvPr/>
          </p:nvGrpSpPr>
          <p:grpSpPr>
            <a:xfrm>
              <a:off x="2157" y="1946"/>
              <a:ext cx="723" cy="318"/>
              <a:chOff x="2157" y="1946"/>
              <a:chExt cx="723" cy="318"/>
            </a:xfrm>
          </p:grpSpPr>
          <p:sp>
            <p:nvSpPr>
              <p:cNvPr id="69666" name="Text Box 39"/>
              <p:cNvSpPr txBox="1"/>
              <p:nvPr/>
            </p:nvSpPr>
            <p:spPr>
              <a:xfrm>
                <a:off x="2400" y="1946"/>
                <a:ext cx="22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/>
                  <a:t>=</a:t>
                </a:r>
                <a:endParaRPr lang="en-US" altLang="zh-CN" sz="2400" dirty="0"/>
              </a:p>
            </p:txBody>
          </p:sp>
          <p:grpSp>
            <p:nvGrpSpPr>
              <p:cNvPr id="69667" name="Group 40"/>
              <p:cNvGrpSpPr/>
              <p:nvPr/>
            </p:nvGrpSpPr>
            <p:grpSpPr>
              <a:xfrm>
                <a:off x="2157" y="1968"/>
                <a:ext cx="723" cy="296"/>
                <a:chOff x="2157" y="1968"/>
                <a:chExt cx="723" cy="296"/>
              </a:xfrm>
            </p:grpSpPr>
            <p:graphicFrame>
              <p:nvGraphicFramePr>
                <p:cNvPr id="69668" name="Object 41"/>
                <p:cNvGraphicFramePr>
                  <a:graphicFrameLocks noChangeAspect="1"/>
                </p:cNvGraphicFramePr>
                <p:nvPr/>
              </p:nvGraphicFramePr>
              <p:xfrm>
                <a:off x="2157" y="1968"/>
                <a:ext cx="253" cy="29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92" name="" r:id="rId17" imgW="152400" imgH="177800" progId="Equation.3">
                        <p:embed/>
                      </p:oleObj>
                    </mc:Choice>
                    <mc:Fallback>
                      <p:oleObj name="" r:id="rId17" imgW="152400" imgH="177800" progId="Equation.3">
                        <p:embed/>
                        <p:pic>
                          <p:nvPicPr>
                            <p:cNvPr id="0" name="图片 3191"/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157" y="1968"/>
                              <a:ext cx="253" cy="296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9669" name="Object 42"/>
                <p:cNvGraphicFramePr>
                  <a:graphicFrameLocks noChangeAspect="1"/>
                </p:cNvGraphicFramePr>
                <p:nvPr/>
              </p:nvGraphicFramePr>
              <p:xfrm>
                <a:off x="2612" y="1968"/>
                <a:ext cx="26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96" name="" r:id="rId18" imgW="165100" imgH="177800" progId="Equation.3">
                        <p:embed/>
                      </p:oleObj>
                    </mc:Choice>
                    <mc:Fallback>
                      <p:oleObj name="" r:id="rId18" imgW="165100" imgH="177800" progId="Equation.3">
                        <p:embed/>
                        <p:pic>
                          <p:nvPicPr>
                            <p:cNvPr id="0" name="图片 3195"/>
                            <p:cNvPicPr/>
                            <p:nvPr/>
                          </p:nvPicPr>
                          <p:blipFill>
                            <a:blip r:embed="rId1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612" y="1968"/>
                              <a:ext cx="26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69662" name="Text Box 43"/>
            <p:cNvSpPr txBox="1"/>
            <p:nvPr/>
          </p:nvSpPr>
          <p:spPr>
            <a:xfrm>
              <a:off x="3486" y="1942"/>
              <a:ext cx="2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/>
                <a:t>=</a:t>
              </a:r>
              <a:endParaRPr lang="en-US" altLang="zh-CN" sz="2400" dirty="0"/>
            </a:p>
          </p:txBody>
        </p:sp>
        <p:grpSp>
          <p:nvGrpSpPr>
            <p:cNvPr id="69663" name="Group 44"/>
            <p:cNvGrpSpPr/>
            <p:nvPr/>
          </p:nvGrpSpPr>
          <p:grpSpPr>
            <a:xfrm>
              <a:off x="3160" y="1942"/>
              <a:ext cx="864" cy="336"/>
              <a:chOff x="3160" y="1942"/>
              <a:chExt cx="864" cy="336"/>
            </a:xfrm>
          </p:grpSpPr>
          <p:graphicFrame>
            <p:nvGraphicFramePr>
              <p:cNvPr id="69664" name="Object 45"/>
              <p:cNvGraphicFramePr>
                <a:graphicFrameLocks noChangeAspect="1"/>
              </p:cNvGraphicFramePr>
              <p:nvPr/>
            </p:nvGraphicFramePr>
            <p:xfrm>
              <a:off x="3160" y="1982"/>
              <a:ext cx="253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9" name="" r:id="rId20" imgW="152400" imgH="177800" progId="Equation.3">
                      <p:embed/>
                    </p:oleObj>
                  </mc:Choice>
                  <mc:Fallback>
                    <p:oleObj name="" r:id="rId20" imgW="152400" imgH="177800" progId="Equation.3">
                      <p:embed/>
                      <p:pic>
                        <p:nvPicPr>
                          <p:cNvPr id="0" name="图片 3188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3160" y="1982"/>
                            <a:ext cx="253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665" name="Object 46"/>
              <p:cNvGraphicFramePr>
                <a:graphicFrameLocks noChangeAspect="1"/>
              </p:cNvGraphicFramePr>
              <p:nvPr/>
            </p:nvGraphicFramePr>
            <p:xfrm>
              <a:off x="3736" y="1942"/>
              <a:ext cx="28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7" name="" r:id="rId21" imgW="177800" imgH="177800" progId="Equation.3">
                      <p:embed/>
                    </p:oleObj>
                  </mc:Choice>
                  <mc:Fallback>
                    <p:oleObj name="" r:id="rId21" imgW="177800" imgH="177800" progId="Equation.3">
                      <p:embed/>
                      <p:pic>
                        <p:nvPicPr>
                          <p:cNvPr id="0" name="图片 3196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3736" y="1942"/>
                            <a:ext cx="288" cy="2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0159" name="Line 47"/>
          <p:cNvSpPr/>
          <p:nvPr/>
        </p:nvSpPr>
        <p:spPr>
          <a:xfrm flipH="1">
            <a:off x="2882900" y="3844925"/>
            <a:ext cx="533400" cy="0"/>
          </a:xfrm>
          <a:prstGeom prst="line">
            <a:avLst/>
          </a:prstGeom>
          <a:ln w="3810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60" name="Text Box 48"/>
          <p:cNvSpPr txBox="1"/>
          <p:nvPr/>
        </p:nvSpPr>
        <p:spPr>
          <a:xfrm>
            <a:off x="3644900" y="3636963"/>
            <a:ext cx="8001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常量</a:t>
            </a:r>
            <a:endParaRPr lang="zh-CN" altLang="en-US" sz="2400" b="1" dirty="0"/>
          </a:p>
        </p:txBody>
      </p:sp>
      <p:sp>
        <p:nvSpPr>
          <p:cNvPr id="90161" name="Text Box 49"/>
          <p:cNvSpPr txBox="1"/>
          <p:nvPr/>
        </p:nvSpPr>
        <p:spPr>
          <a:xfrm>
            <a:off x="822325" y="4138613"/>
            <a:ext cx="123666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A50021"/>
                </a:solidFill>
              </a:rPr>
              <a:t>关键：</a:t>
            </a:r>
            <a:endParaRPr lang="zh-CN" altLang="en-US" sz="2800" b="1" dirty="0">
              <a:solidFill>
                <a:srgbClr val="A50021"/>
              </a:solidFill>
            </a:endParaRPr>
          </a:p>
        </p:txBody>
      </p:sp>
      <p:sp>
        <p:nvSpPr>
          <p:cNvPr id="90162" name="Text Box 50"/>
          <p:cNvSpPr txBox="1"/>
          <p:nvPr/>
        </p:nvSpPr>
        <p:spPr>
          <a:xfrm>
            <a:off x="1828800" y="4191000"/>
            <a:ext cx="2955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根据不同的地址输入</a:t>
            </a:r>
            <a:endParaRPr lang="zh-CN" altLang="en-US" sz="2400" b="1" dirty="0"/>
          </a:p>
        </p:txBody>
      </p:sp>
      <p:sp>
        <p:nvSpPr>
          <p:cNvPr id="90163" name="Line 51"/>
          <p:cNvSpPr/>
          <p:nvPr/>
        </p:nvSpPr>
        <p:spPr>
          <a:xfrm>
            <a:off x="3124200" y="4648200"/>
            <a:ext cx="0" cy="381000"/>
          </a:xfrm>
          <a:prstGeom prst="line">
            <a:avLst/>
          </a:prstGeom>
          <a:ln w="3810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64" name="Text Box 52"/>
          <p:cNvSpPr txBox="1"/>
          <p:nvPr/>
        </p:nvSpPr>
        <p:spPr>
          <a:xfrm>
            <a:off x="1295400" y="5181600"/>
            <a:ext cx="35655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确定相应的数据输入常量</a:t>
            </a:r>
            <a:endParaRPr lang="zh-CN" altLang="en-US" sz="2400" b="1" dirty="0"/>
          </a:p>
        </p:txBody>
      </p:sp>
      <p:sp>
        <p:nvSpPr>
          <p:cNvPr id="90165" name="Text Box 53"/>
          <p:cNvSpPr txBox="1"/>
          <p:nvPr/>
        </p:nvSpPr>
        <p:spPr>
          <a:xfrm>
            <a:off x="1393825" y="5791200"/>
            <a:ext cx="23399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由大家自己完成</a:t>
            </a:r>
            <a:endParaRPr lang="zh-CN" altLang="en-US" sz="2400" b="1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0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0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0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0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90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90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90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9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90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9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9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7" grpId="0"/>
      <p:bldP spid="90118" grpId="0"/>
      <p:bldP spid="90119" grpId="0"/>
      <p:bldP spid="90120" grpId="0"/>
      <p:bldP spid="90121" grpId="0"/>
      <p:bldP spid="90128" grpId="0"/>
      <p:bldP spid="90129" grpId="0"/>
      <p:bldP spid="90130" grpId="0"/>
      <p:bldP spid="90131" grpId="0"/>
      <p:bldP spid="90132" grpId="0"/>
      <p:bldP spid="90134" grpId="0"/>
      <p:bldP spid="90144" grpId="0"/>
      <p:bldP spid="90160" grpId="0"/>
      <p:bldP spid="90161" grpId="0"/>
      <p:bldP spid="90162" grpId="0"/>
      <p:bldP spid="90164" grpId="0"/>
      <p:bldP spid="9016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Text Box 2"/>
          <p:cNvSpPr txBox="1"/>
          <p:nvPr/>
        </p:nvSpPr>
        <p:spPr>
          <a:xfrm>
            <a:off x="3657600" y="228600"/>
            <a:ext cx="2057400" cy="579438"/>
          </a:xfrm>
          <a:prstGeom prst="rect">
            <a:avLst/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A50021"/>
                </a:solidFill>
                <a:ea typeface="隶书" panose="02010509060101010101" pitchFamily="49" charset="-122"/>
              </a:rPr>
              <a:t>和       数</a:t>
            </a:r>
            <a:endParaRPr lang="zh-CN" altLang="en-US" sz="2800" b="1" dirty="0">
              <a:solidFill>
                <a:srgbClr val="A50021"/>
              </a:solidFill>
              <a:ea typeface="隶书" panose="02010509060101010101" pitchFamily="49" charset="-122"/>
            </a:endParaRPr>
          </a:p>
        </p:txBody>
      </p:sp>
      <p:sp>
        <p:nvSpPr>
          <p:cNvPr id="89091" name="Line 3"/>
          <p:cNvSpPr/>
          <p:nvPr/>
        </p:nvSpPr>
        <p:spPr>
          <a:xfrm>
            <a:off x="4114800" y="1600200"/>
            <a:ext cx="0" cy="304800"/>
          </a:xfrm>
          <a:prstGeom prst="line">
            <a:avLst/>
          </a:prstGeom>
          <a:ln w="5715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9092" name="Line 4"/>
          <p:cNvSpPr/>
          <p:nvPr/>
        </p:nvSpPr>
        <p:spPr>
          <a:xfrm>
            <a:off x="5486400" y="1600200"/>
            <a:ext cx="0" cy="304800"/>
          </a:xfrm>
          <a:prstGeom prst="line">
            <a:avLst/>
          </a:prstGeom>
          <a:ln w="5715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9093" name="Line 5"/>
          <p:cNvSpPr/>
          <p:nvPr/>
        </p:nvSpPr>
        <p:spPr>
          <a:xfrm>
            <a:off x="6858000" y="1600200"/>
            <a:ext cx="0" cy="304800"/>
          </a:xfrm>
          <a:prstGeom prst="line">
            <a:avLst/>
          </a:prstGeom>
          <a:ln w="5715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9094" name="Line 6"/>
          <p:cNvSpPr/>
          <p:nvPr/>
        </p:nvSpPr>
        <p:spPr>
          <a:xfrm>
            <a:off x="8153400" y="1600200"/>
            <a:ext cx="0" cy="304800"/>
          </a:xfrm>
          <a:prstGeom prst="line">
            <a:avLst/>
          </a:prstGeom>
          <a:ln w="5715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89095" name="Object 7"/>
          <p:cNvGraphicFramePr>
            <a:graphicFrameLocks noChangeAspect="1"/>
          </p:cNvGraphicFramePr>
          <p:nvPr/>
        </p:nvGraphicFramePr>
        <p:xfrm>
          <a:off x="3886200" y="1828800"/>
          <a:ext cx="622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1" imgW="177800" imgH="177800" progId="Equation.3">
                  <p:embed/>
                </p:oleObj>
              </mc:Choice>
              <mc:Fallback>
                <p:oleObj name="" r:id="rId1" imgW="177800" imgH="177800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86200" y="1828800"/>
                        <a:ext cx="6223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6" name="Object 8"/>
          <p:cNvGraphicFramePr>
            <a:graphicFrameLocks noChangeAspect="1"/>
          </p:cNvGraphicFramePr>
          <p:nvPr/>
        </p:nvGraphicFramePr>
        <p:xfrm>
          <a:off x="5284788" y="1828800"/>
          <a:ext cx="5651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3" imgW="165100" imgH="177800" progId="Equation.3">
                  <p:embed/>
                </p:oleObj>
              </mc:Choice>
              <mc:Fallback>
                <p:oleObj name="" r:id="rId3" imgW="165100" imgH="177800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84788" y="1828800"/>
                        <a:ext cx="56515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7" name="Object 9"/>
          <p:cNvGraphicFramePr>
            <a:graphicFrameLocks noChangeAspect="1"/>
          </p:cNvGraphicFramePr>
          <p:nvPr/>
        </p:nvGraphicFramePr>
        <p:xfrm>
          <a:off x="6692900" y="1828800"/>
          <a:ext cx="622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5" imgW="177800" imgH="177800" progId="Equation.3">
                  <p:embed/>
                </p:oleObj>
              </mc:Choice>
              <mc:Fallback>
                <p:oleObj name="" r:id="rId5" imgW="177800" imgH="1778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92900" y="1828800"/>
                        <a:ext cx="6223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8" name="Object 10"/>
          <p:cNvGraphicFramePr>
            <a:graphicFrameLocks noChangeAspect="1"/>
          </p:cNvGraphicFramePr>
          <p:nvPr/>
        </p:nvGraphicFramePr>
        <p:xfrm>
          <a:off x="7924800" y="1816100"/>
          <a:ext cx="622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7" imgW="177800" imgH="177800" progId="Equation.3">
                  <p:embed/>
                </p:oleObj>
              </mc:Choice>
              <mc:Fallback>
                <p:oleObj name="" r:id="rId7" imgW="177800" imgH="177800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24800" y="1816100"/>
                        <a:ext cx="6223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9" name="Object 11"/>
          <p:cNvGraphicFramePr>
            <a:graphicFrameLocks noChangeAspect="1"/>
          </p:cNvGraphicFramePr>
          <p:nvPr/>
        </p:nvGraphicFramePr>
        <p:xfrm>
          <a:off x="914400" y="2514600"/>
          <a:ext cx="14478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9" imgW="405765" imgH="177800" progId="Equation.3">
                  <p:embed/>
                </p:oleObj>
              </mc:Choice>
              <mc:Fallback>
                <p:oleObj name="" r:id="rId9" imgW="405765" imgH="177800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14400" y="2514600"/>
                        <a:ext cx="1447800" cy="631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0" name="Object 12"/>
          <p:cNvGraphicFramePr>
            <a:graphicFrameLocks noChangeAspect="1"/>
          </p:cNvGraphicFramePr>
          <p:nvPr/>
        </p:nvGraphicFramePr>
        <p:xfrm>
          <a:off x="2743200" y="2451100"/>
          <a:ext cx="13716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11" imgW="393065" imgH="215900" progId="Equation.3">
                  <p:embed/>
                </p:oleObj>
              </mc:Choice>
              <mc:Fallback>
                <p:oleObj name="" r:id="rId11" imgW="393065" imgH="215900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43200" y="2451100"/>
                        <a:ext cx="1371600" cy="74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1" name="Object 13"/>
          <p:cNvGraphicFramePr>
            <a:graphicFrameLocks noChangeAspect="1"/>
          </p:cNvGraphicFramePr>
          <p:nvPr/>
        </p:nvGraphicFramePr>
        <p:xfrm>
          <a:off x="6477000" y="2590800"/>
          <a:ext cx="12954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13" imgW="405765" imgH="177800" progId="Equation.3">
                  <p:embed/>
                </p:oleObj>
              </mc:Choice>
              <mc:Fallback>
                <p:oleObj name="" r:id="rId13" imgW="405765" imgH="177800" progId="Equation.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77000" y="2590800"/>
                        <a:ext cx="1295400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2" name="Object 14"/>
          <p:cNvGraphicFramePr>
            <a:graphicFrameLocks noChangeAspect="1"/>
          </p:cNvGraphicFramePr>
          <p:nvPr/>
        </p:nvGraphicFramePr>
        <p:xfrm>
          <a:off x="4572000" y="2438400"/>
          <a:ext cx="134620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15" imgW="405765" imgH="215900" progId="Equation.3">
                  <p:embed/>
                </p:oleObj>
              </mc:Choice>
              <mc:Fallback>
                <p:oleObj name="" r:id="rId15" imgW="405765" imgH="215900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72000" y="2438400"/>
                        <a:ext cx="1346200" cy="712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3" name="Object 15"/>
          <p:cNvGraphicFramePr>
            <a:graphicFrameLocks noChangeAspect="1"/>
          </p:cNvGraphicFramePr>
          <p:nvPr/>
        </p:nvGraphicFramePr>
        <p:xfrm>
          <a:off x="2286000" y="4648200"/>
          <a:ext cx="64008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17" imgW="2145665" imgH="215900" progId="Equation.3">
                  <p:embed/>
                </p:oleObj>
              </mc:Choice>
              <mc:Fallback>
                <p:oleObj name="" r:id="rId17" imgW="2145665" imgH="21590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286000" y="4648200"/>
                        <a:ext cx="6400800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4" name="Line 16"/>
          <p:cNvSpPr/>
          <p:nvPr/>
        </p:nvSpPr>
        <p:spPr>
          <a:xfrm>
            <a:off x="3517900" y="5181600"/>
            <a:ext cx="0" cy="304800"/>
          </a:xfrm>
          <a:prstGeom prst="line">
            <a:avLst/>
          </a:prstGeom>
          <a:ln w="5715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9105" name="Line 17"/>
          <p:cNvSpPr/>
          <p:nvPr/>
        </p:nvSpPr>
        <p:spPr>
          <a:xfrm>
            <a:off x="4800600" y="5181600"/>
            <a:ext cx="0" cy="304800"/>
          </a:xfrm>
          <a:prstGeom prst="line">
            <a:avLst/>
          </a:prstGeom>
          <a:ln w="5715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9106" name="Line 18"/>
          <p:cNvSpPr/>
          <p:nvPr/>
        </p:nvSpPr>
        <p:spPr>
          <a:xfrm>
            <a:off x="6172200" y="5181600"/>
            <a:ext cx="0" cy="304800"/>
          </a:xfrm>
          <a:prstGeom prst="line">
            <a:avLst/>
          </a:prstGeom>
          <a:ln w="5715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9107" name="Line 19"/>
          <p:cNvSpPr/>
          <p:nvPr/>
        </p:nvSpPr>
        <p:spPr>
          <a:xfrm>
            <a:off x="7772400" y="5181600"/>
            <a:ext cx="0" cy="304800"/>
          </a:xfrm>
          <a:prstGeom prst="line">
            <a:avLst/>
          </a:prstGeom>
          <a:ln w="57150" cap="flat" cmpd="sng">
            <a:solidFill>
              <a:srgbClr val="A5002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89108" name="Object 20"/>
          <p:cNvGraphicFramePr>
            <a:graphicFrameLocks noChangeAspect="1"/>
          </p:cNvGraphicFramePr>
          <p:nvPr/>
        </p:nvGraphicFramePr>
        <p:xfrm>
          <a:off x="3289300" y="5410200"/>
          <a:ext cx="622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19" imgW="177800" imgH="177800" progId="Equation.3">
                  <p:embed/>
                </p:oleObj>
              </mc:Choice>
              <mc:Fallback>
                <p:oleObj name="" r:id="rId19" imgW="177800" imgH="17780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89300" y="5410200"/>
                        <a:ext cx="6223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9" name="Object 21"/>
          <p:cNvGraphicFramePr>
            <a:graphicFrameLocks noChangeAspect="1"/>
          </p:cNvGraphicFramePr>
          <p:nvPr/>
        </p:nvGraphicFramePr>
        <p:xfrm>
          <a:off x="4616450" y="5410200"/>
          <a:ext cx="5651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" name="" r:id="rId20" imgW="165100" imgH="177800" progId="Equation.3">
                  <p:embed/>
                </p:oleObj>
              </mc:Choice>
              <mc:Fallback>
                <p:oleObj name="" r:id="rId20" imgW="165100" imgH="177800" progId="Equation.3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616450" y="5410200"/>
                        <a:ext cx="56515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10" name="Object 22"/>
          <p:cNvGraphicFramePr>
            <a:graphicFrameLocks noChangeAspect="1"/>
          </p:cNvGraphicFramePr>
          <p:nvPr/>
        </p:nvGraphicFramePr>
        <p:xfrm>
          <a:off x="5943600" y="5410200"/>
          <a:ext cx="622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22" imgW="177800" imgH="177800" progId="Equation.3">
                  <p:embed/>
                </p:oleObj>
              </mc:Choice>
              <mc:Fallback>
                <p:oleObj name="" r:id="rId22" imgW="177800" imgH="177800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43600" y="5410200"/>
                        <a:ext cx="6223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11" name="Object 23"/>
          <p:cNvGraphicFramePr>
            <a:graphicFrameLocks noChangeAspect="1"/>
          </p:cNvGraphicFramePr>
          <p:nvPr/>
        </p:nvGraphicFramePr>
        <p:xfrm>
          <a:off x="7543800" y="5397500"/>
          <a:ext cx="622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23" imgW="177800" imgH="177800" progId="Equation.3">
                  <p:embed/>
                </p:oleObj>
              </mc:Choice>
              <mc:Fallback>
                <p:oleObj name="" r:id="rId23" imgW="177800" imgH="177800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43800" y="5397500"/>
                        <a:ext cx="6223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12" name="Object 24"/>
          <p:cNvGraphicFramePr>
            <a:graphicFrameLocks noChangeAspect="1"/>
          </p:cNvGraphicFramePr>
          <p:nvPr/>
        </p:nvGraphicFramePr>
        <p:xfrm>
          <a:off x="1512888" y="5943600"/>
          <a:ext cx="1316037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24" imgW="368300" imgH="177800" progId="Equation.3">
                  <p:embed/>
                </p:oleObj>
              </mc:Choice>
              <mc:Fallback>
                <p:oleObj name="" r:id="rId24" imgW="368300" imgH="177800" progId="Equation.3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12888" y="5943600"/>
                        <a:ext cx="1316037" cy="631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13" name="Object 25"/>
          <p:cNvGraphicFramePr>
            <a:graphicFrameLocks noChangeAspect="1"/>
          </p:cNvGraphicFramePr>
          <p:nvPr/>
        </p:nvGraphicFramePr>
        <p:xfrm>
          <a:off x="3276600" y="5946775"/>
          <a:ext cx="13716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26" imgW="393065" imgH="177800" progId="Equation.3">
                  <p:embed/>
                </p:oleObj>
              </mc:Choice>
              <mc:Fallback>
                <p:oleObj name="" r:id="rId26" imgW="393065" imgH="17780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276600" y="5946775"/>
                        <a:ext cx="1371600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14" name="Object 26"/>
          <p:cNvGraphicFramePr>
            <a:graphicFrameLocks noChangeAspect="1"/>
          </p:cNvGraphicFramePr>
          <p:nvPr/>
        </p:nvGraphicFramePr>
        <p:xfrm>
          <a:off x="7213600" y="5943600"/>
          <a:ext cx="10922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28" imgW="342900" imgH="177800" progId="Equation.3">
                  <p:embed/>
                </p:oleObj>
              </mc:Choice>
              <mc:Fallback>
                <p:oleObj name="" r:id="rId28" imgW="342900" imgH="177800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213600" y="5943600"/>
                        <a:ext cx="1092200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15" name="Object 27"/>
          <p:cNvGraphicFramePr>
            <a:graphicFrameLocks noChangeAspect="1"/>
          </p:cNvGraphicFramePr>
          <p:nvPr/>
        </p:nvGraphicFramePr>
        <p:xfrm>
          <a:off x="5105400" y="5930900"/>
          <a:ext cx="13462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30" imgW="405765" imgH="177800" progId="Equation.3">
                  <p:embed/>
                </p:oleObj>
              </mc:Choice>
              <mc:Fallback>
                <p:oleObj name="" r:id="rId30" imgW="405765" imgH="177800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105400" y="5930900"/>
                        <a:ext cx="1346200" cy="585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16" name="Text Box 28"/>
          <p:cNvSpPr txBox="1"/>
          <p:nvPr/>
        </p:nvSpPr>
        <p:spPr>
          <a:xfrm>
            <a:off x="3641725" y="3200400"/>
            <a:ext cx="2073275" cy="579438"/>
          </a:xfrm>
          <a:prstGeom prst="rect">
            <a:avLst/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A50021"/>
                </a:solidFill>
                <a:ea typeface="隶书" panose="02010509060101010101" pitchFamily="49" charset="-122"/>
              </a:rPr>
              <a:t>进位数</a:t>
            </a:r>
            <a:endParaRPr lang="zh-CN" altLang="en-US" b="1" dirty="0">
              <a:solidFill>
                <a:srgbClr val="A50021"/>
              </a:solidFill>
              <a:ea typeface="隶书" panose="02010509060101010101" pitchFamily="49" charset="-122"/>
            </a:endParaRPr>
          </a:p>
        </p:txBody>
      </p:sp>
      <p:grpSp>
        <p:nvGrpSpPr>
          <p:cNvPr id="2" name="Group 29"/>
          <p:cNvGrpSpPr/>
          <p:nvPr/>
        </p:nvGrpSpPr>
        <p:grpSpPr>
          <a:xfrm>
            <a:off x="685800" y="990600"/>
            <a:ext cx="8077200" cy="2133600"/>
            <a:chOff x="432" y="624"/>
            <a:chExt cx="5088" cy="1344"/>
          </a:xfrm>
        </p:grpSpPr>
        <p:graphicFrame>
          <p:nvGraphicFramePr>
            <p:cNvPr id="70689" name="Object 30"/>
            <p:cNvGraphicFramePr>
              <a:graphicFrameLocks noChangeAspect="1"/>
            </p:cNvGraphicFramePr>
            <p:nvPr/>
          </p:nvGraphicFramePr>
          <p:xfrm>
            <a:off x="528" y="672"/>
            <a:ext cx="4752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0" name="" r:id="rId32" imgW="2565400" imgH="215900" progId="Equation.3">
                    <p:embed/>
                  </p:oleObj>
                </mc:Choice>
                <mc:Fallback>
                  <p:oleObj name="" r:id="rId32" imgW="2565400" imgH="215900" progId="Equation.3">
                    <p:embed/>
                    <p:pic>
                      <p:nvPicPr>
                        <p:cNvPr id="0" name="图片 3209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528" y="672"/>
                          <a:ext cx="4752" cy="3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690" name="Rectangle 31"/>
            <p:cNvSpPr/>
            <p:nvPr/>
          </p:nvSpPr>
          <p:spPr>
            <a:xfrm>
              <a:off x="432" y="624"/>
              <a:ext cx="5088" cy="1344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" name="Group 32"/>
          <p:cNvGrpSpPr/>
          <p:nvPr/>
        </p:nvGrpSpPr>
        <p:grpSpPr>
          <a:xfrm>
            <a:off x="685800" y="3886200"/>
            <a:ext cx="8153400" cy="2819400"/>
            <a:chOff x="432" y="2448"/>
            <a:chExt cx="5136" cy="1776"/>
          </a:xfrm>
        </p:grpSpPr>
        <p:graphicFrame>
          <p:nvGraphicFramePr>
            <p:cNvPr id="70687" name="Object 33"/>
            <p:cNvGraphicFramePr>
              <a:graphicFrameLocks noChangeAspect="1"/>
            </p:cNvGraphicFramePr>
            <p:nvPr/>
          </p:nvGraphicFramePr>
          <p:xfrm>
            <a:off x="480" y="2448"/>
            <a:ext cx="4992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1" name="" r:id="rId34" imgW="2603500" imgH="215900" progId="Equation.3">
                    <p:embed/>
                  </p:oleObj>
                </mc:Choice>
                <mc:Fallback>
                  <p:oleObj name="" r:id="rId34" imgW="2603500" imgH="215900" progId="Equation.3">
                    <p:embed/>
                    <p:pic>
                      <p:nvPicPr>
                        <p:cNvPr id="0" name="图片 3210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480" y="2448"/>
                          <a:ext cx="4992" cy="4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688" name="Rectangle 34"/>
            <p:cNvSpPr/>
            <p:nvPr/>
          </p:nvSpPr>
          <p:spPr>
            <a:xfrm>
              <a:off x="432" y="2448"/>
              <a:ext cx="5136" cy="1776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9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9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8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8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89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89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89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89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8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89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89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89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89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89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animBg="1"/>
      <p:bldP spid="8911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Text Box 2"/>
          <p:cNvSpPr txBox="1"/>
          <p:nvPr/>
        </p:nvSpPr>
        <p:spPr>
          <a:xfrm>
            <a:off x="304800" y="304800"/>
            <a:ext cx="2320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二、数据分配器</a:t>
            </a:r>
            <a:endParaRPr lang="zh-CN" altLang="en-US" sz="2400" dirty="0"/>
          </a:p>
        </p:txBody>
      </p:sp>
      <p:sp>
        <p:nvSpPr>
          <p:cNvPr id="50181" name="Text Box 5"/>
          <p:cNvSpPr txBox="1"/>
          <p:nvPr/>
        </p:nvSpPr>
        <p:spPr>
          <a:xfrm>
            <a:off x="471488" y="914400"/>
            <a:ext cx="35274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（一）数据分配器的功能</a:t>
            </a:r>
            <a:endParaRPr lang="zh-CN" altLang="en-US" sz="2400" dirty="0"/>
          </a:p>
        </p:txBody>
      </p:sp>
      <p:graphicFrame>
        <p:nvGraphicFramePr>
          <p:cNvPr id="50183" name="Object 7"/>
          <p:cNvGraphicFramePr>
            <a:graphicFrameLocks noChangeAspect="1"/>
          </p:cNvGraphicFramePr>
          <p:nvPr/>
        </p:nvGraphicFramePr>
        <p:xfrm>
          <a:off x="990600" y="2286000"/>
          <a:ext cx="7162800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1" imgW="4610100" imgH="1628775" progId="Paint.Picture">
                  <p:embed/>
                </p:oleObj>
              </mc:Choice>
              <mc:Fallback>
                <p:oleObj name="" r:id="rId1" imgW="4610100" imgH="1628775" progId="Paint.Picture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0600" y="2286000"/>
                        <a:ext cx="7162800" cy="327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4" name="Text Box 8"/>
          <p:cNvSpPr txBox="1"/>
          <p:nvPr/>
        </p:nvSpPr>
        <p:spPr>
          <a:xfrm>
            <a:off x="596900" y="1600200"/>
            <a:ext cx="3867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分配器与选择器的功能相反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pSp>
        <p:nvGrpSpPr>
          <p:cNvPr id="2" name="Group 17"/>
          <p:cNvGrpSpPr/>
          <p:nvPr/>
        </p:nvGrpSpPr>
        <p:grpSpPr>
          <a:xfrm>
            <a:off x="228600" y="5410200"/>
            <a:ext cx="3657600" cy="1295400"/>
            <a:chOff x="144" y="3408"/>
            <a:chExt cx="2304" cy="816"/>
          </a:xfrm>
        </p:grpSpPr>
        <p:sp>
          <p:nvSpPr>
            <p:cNvPr id="71694" name="Text Box 6"/>
            <p:cNvSpPr txBox="1"/>
            <p:nvPr/>
          </p:nvSpPr>
          <p:spPr>
            <a:xfrm>
              <a:off x="144" y="3700"/>
              <a:ext cx="2304" cy="524"/>
            </a:xfrm>
            <a:prstGeom prst="rect">
              <a:avLst/>
            </a:prstGeom>
            <a:solidFill>
              <a:srgbClr val="FFFF66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当</a:t>
              </a:r>
              <a:r>
                <a:rPr lang="en-US" altLang="zh-CN" sz="2400" b="1" dirty="0"/>
                <a:t>F = 1</a:t>
              </a:r>
              <a:r>
                <a:rPr lang="zh-CN" altLang="en-US" sz="2400" b="1" dirty="0"/>
                <a:t>时它即为普通的译码器。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71695" name="Line 9"/>
            <p:cNvSpPr/>
            <p:nvPr/>
          </p:nvSpPr>
          <p:spPr>
            <a:xfrm flipH="1" flipV="1">
              <a:off x="864" y="3408"/>
              <a:ext cx="144" cy="288"/>
            </a:xfrm>
            <a:prstGeom prst="line">
              <a:avLst/>
            </a:prstGeom>
            <a:ln w="412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50187" name="Oval 11"/>
          <p:cNvSpPr/>
          <p:nvPr/>
        </p:nvSpPr>
        <p:spPr>
          <a:xfrm>
            <a:off x="914400" y="5029200"/>
            <a:ext cx="685800" cy="457200"/>
          </a:xfrm>
          <a:prstGeom prst="ellipse">
            <a:avLst/>
          </a:prstGeom>
          <a:noFill/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0188" name="Text Box 12"/>
          <p:cNvSpPr txBox="1"/>
          <p:nvPr/>
        </p:nvSpPr>
        <p:spPr>
          <a:xfrm>
            <a:off x="4943475" y="1138238"/>
            <a:ext cx="1117600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一输入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0189" name="Line 13"/>
          <p:cNvSpPr/>
          <p:nvPr/>
        </p:nvSpPr>
        <p:spPr>
          <a:xfrm flipH="1">
            <a:off x="1600200" y="1752600"/>
            <a:ext cx="3429000" cy="304800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190" name="Text Box 14"/>
          <p:cNvSpPr txBox="1"/>
          <p:nvPr/>
        </p:nvSpPr>
        <p:spPr>
          <a:xfrm>
            <a:off x="4943475" y="1824038"/>
            <a:ext cx="1117600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多输出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71691" name="Oval 15"/>
          <p:cNvSpPr/>
          <p:nvPr/>
        </p:nvSpPr>
        <p:spPr>
          <a:xfrm>
            <a:off x="1981200" y="2362200"/>
            <a:ext cx="914400" cy="914400"/>
          </a:xfrm>
          <a:prstGeom prst="ellipse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0192" name="Oval 16"/>
          <p:cNvSpPr/>
          <p:nvPr/>
        </p:nvSpPr>
        <p:spPr>
          <a:xfrm>
            <a:off x="1752600" y="2209800"/>
            <a:ext cx="3657600" cy="457200"/>
          </a:xfrm>
          <a:prstGeom prst="ellipse">
            <a:avLst/>
          </a:prstGeom>
          <a:noFill/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0194" name="Text Box 18"/>
          <p:cNvSpPr txBox="1"/>
          <p:nvPr/>
        </p:nvSpPr>
        <p:spPr>
          <a:xfrm>
            <a:off x="6207125" y="5405438"/>
            <a:ext cx="1412875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逻辑符号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/>
      <p:bldP spid="50184" grpId="0"/>
      <p:bldP spid="50187" grpId="0" animBg="1"/>
      <p:bldP spid="50188" grpId="0" animBg="1"/>
      <p:bldP spid="50190" grpId="0" animBg="1"/>
      <p:bldP spid="50192" grpId="0" animBg="1"/>
      <p:bldP spid="5019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1202" name="Object 2"/>
          <p:cNvGraphicFramePr>
            <a:graphicFrameLocks noChangeAspect="1"/>
          </p:cNvGraphicFramePr>
          <p:nvPr/>
        </p:nvGraphicFramePr>
        <p:xfrm>
          <a:off x="838200" y="2057400"/>
          <a:ext cx="7486650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1" imgW="3293110" imgH="2329180" progId="Paint.Picture">
                  <p:embed/>
                </p:oleObj>
              </mc:Choice>
              <mc:Fallback>
                <p:oleObj name="" r:id="rId1" imgW="3293110" imgH="2329180" progId="Paint.Picture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2057400"/>
                        <a:ext cx="7486650" cy="449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7" name="Text Box 3"/>
          <p:cNvSpPr txBox="1"/>
          <p:nvPr/>
        </p:nvSpPr>
        <p:spPr>
          <a:xfrm>
            <a:off x="304800" y="457200"/>
            <a:ext cx="35337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（二）数据分配器的应用</a:t>
            </a:r>
            <a:endParaRPr lang="zh-CN" altLang="en-US" sz="2400" b="1" dirty="0"/>
          </a:p>
        </p:txBody>
      </p:sp>
      <p:sp>
        <p:nvSpPr>
          <p:cNvPr id="51204" name="Text Box 4"/>
          <p:cNvSpPr txBox="1"/>
          <p:nvPr/>
        </p:nvSpPr>
        <p:spPr>
          <a:xfrm>
            <a:off x="384175" y="1143000"/>
            <a:ext cx="845502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例：利用数据选择器和分配器实现信息的“并行</a:t>
            </a:r>
            <a:r>
              <a:rPr lang="en-US" altLang="zh-CN" sz="2400" b="1" dirty="0"/>
              <a:t>—</a:t>
            </a:r>
            <a:r>
              <a:rPr lang="zh-CN" altLang="en-US" sz="2400" b="1" dirty="0"/>
              <a:t>串行</a:t>
            </a:r>
            <a:r>
              <a:rPr lang="en-US" altLang="zh-CN" sz="2400" b="1" dirty="0"/>
              <a:t>—</a:t>
            </a:r>
            <a:r>
              <a:rPr lang="zh-CN" altLang="en-US" sz="2400" b="1" dirty="0"/>
              <a:t>并行”传送。</a:t>
            </a:r>
            <a:endParaRPr lang="zh-CN" altLang="en-US" sz="2400" b="1" dirty="0"/>
          </a:p>
        </p:txBody>
      </p:sp>
      <p:sp>
        <p:nvSpPr>
          <p:cNvPr id="51206" name="AutoShape 6"/>
          <p:cNvSpPr/>
          <p:nvPr/>
        </p:nvSpPr>
        <p:spPr>
          <a:xfrm>
            <a:off x="5334000" y="2362200"/>
            <a:ext cx="3810000" cy="533400"/>
          </a:xfrm>
          <a:prstGeom prst="wedgeRoundRectCallout">
            <a:avLst>
              <a:gd name="adj1" fmla="val -25625"/>
              <a:gd name="adj2" fmla="val 77681"/>
              <a:gd name="adj3" fmla="val 16667"/>
            </a:avLst>
          </a:prstGeom>
          <a:solidFill>
            <a:srgbClr val="FFFF66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由译码器连成的数据分配器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1207" name="Text Box 7"/>
          <p:cNvSpPr txBox="1"/>
          <p:nvPr/>
        </p:nvSpPr>
        <p:spPr>
          <a:xfrm>
            <a:off x="3698875" y="1676400"/>
            <a:ext cx="962025" cy="45720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0 0 0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51209" name="Text Box 9"/>
          <p:cNvSpPr txBox="1"/>
          <p:nvPr/>
        </p:nvSpPr>
        <p:spPr>
          <a:xfrm>
            <a:off x="336550" y="4038600"/>
            <a:ext cx="365125" cy="519113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0</a:t>
            </a:r>
            <a:endParaRPr lang="en-US" altLang="zh-CN" sz="2400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51210" name="Text Box 10"/>
          <p:cNvSpPr txBox="1"/>
          <p:nvPr/>
        </p:nvSpPr>
        <p:spPr>
          <a:xfrm>
            <a:off x="396875" y="4754563"/>
            <a:ext cx="365125" cy="519112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CC00"/>
                </a:solidFill>
                <a:latin typeface="宋体" panose="02010600030101010101" pitchFamily="2" charset="-122"/>
              </a:rPr>
              <a:t>1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51211" name="Text Box 11"/>
          <p:cNvSpPr txBox="1"/>
          <p:nvPr/>
        </p:nvSpPr>
        <p:spPr>
          <a:xfrm>
            <a:off x="3886200" y="5248275"/>
            <a:ext cx="349250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1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51212" name="Text Box 12"/>
          <p:cNvSpPr txBox="1"/>
          <p:nvPr/>
        </p:nvSpPr>
        <p:spPr>
          <a:xfrm>
            <a:off x="3886200" y="5938838"/>
            <a:ext cx="349250" cy="466725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CC00"/>
                </a:solidFill>
                <a:latin typeface="宋体" panose="02010600030101010101" pitchFamily="2" charset="-122"/>
              </a:rPr>
              <a:t>0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51213" name="Text Box 13"/>
          <p:cNvSpPr txBox="1"/>
          <p:nvPr/>
        </p:nvSpPr>
        <p:spPr>
          <a:xfrm>
            <a:off x="4703763" y="5553075"/>
            <a:ext cx="803275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译码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1214" name="Text Box 14"/>
          <p:cNvSpPr txBox="1"/>
          <p:nvPr/>
        </p:nvSpPr>
        <p:spPr>
          <a:xfrm>
            <a:off x="4676775" y="6086475"/>
            <a:ext cx="1419225" cy="466725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CC00"/>
                </a:solidFill>
                <a:latin typeface="宋体" panose="02010600030101010101" pitchFamily="2" charset="-122"/>
              </a:rPr>
              <a:t>禁止译码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1215" name="Line 15"/>
          <p:cNvSpPr/>
          <p:nvPr/>
        </p:nvSpPr>
        <p:spPr>
          <a:xfrm>
            <a:off x="4572000" y="1905000"/>
            <a:ext cx="3505200" cy="1524000"/>
          </a:xfrm>
          <a:prstGeom prst="line">
            <a:avLst/>
          </a:prstGeom>
          <a:ln w="41275" cap="flat" cmpd="sng">
            <a:solidFill>
              <a:srgbClr val="00CC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1216" name="Text Box 16"/>
          <p:cNvSpPr txBox="1"/>
          <p:nvPr/>
        </p:nvSpPr>
        <p:spPr>
          <a:xfrm>
            <a:off x="8397875" y="3352800"/>
            <a:ext cx="365125" cy="519113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0</a:t>
            </a:r>
            <a:endParaRPr lang="en-US" altLang="zh-CN" sz="2400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51217" name="Text Box 17"/>
          <p:cNvSpPr txBox="1"/>
          <p:nvPr/>
        </p:nvSpPr>
        <p:spPr>
          <a:xfrm>
            <a:off x="8458200" y="4038600"/>
            <a:ext cx="365125" cy="519113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CC00"/>
                </a:solidFill>
                <a:latin typeface="宋体" panose="02010600030101010101" pitchFamily="2" charset="-122"/>
              </a:rPr>
              <a:t>1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51218" name="Line 18"/>
          <p:cNvSpPr/>
          <p:nvPr/>
        </p:nvSpPr>
        <p:spPr>
          <a:xfrm flipH="1">
            <a:off x="1524000" y="1981200"/>
            <a:ext cx="2133600" cy="2057400"/>
          </a:xfrm>
          <a:prstGeom prst="line">
            <a:avLst/>
          </a:prstGeom>
          <a:ln w="38100" cap="flat" cmpd="sng">
            <a:solidFill>
              <a:srgbClr val="00CC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1219" name="Rectangle 19"/>
          <p:cNvSpPr/>
          <p:nvPr/>
        </p:nvSpPr>
        <p:spPr>
          <a:xfrm>
            <a:off x="1219200" y="4038600"/>
            <a:ext cx="457200" cy="304800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1220" name="Rectangle 20"/>
          <p:cNvSpPr/>
          <p:nvPr/>
        </p:nvSpPr>
        <p:spPr>
          <a:xfrm>
            <a:off x="8001000" y="3429000"/>
            <a:ext cx="381000" cy="304800"/>
          </a:xfrm>
          <a:prstGeom prst="rect">
            <a:avLst/>
          </a:prstGeom>
          <a:noFill/>
          <a:ln w="412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1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/>
      <p:bldP spid="51206" grpId="0" animBg="1"/>
      <p:bldP spid="51207" grpId="0" animBg="1"/>
      <p:bldP spid="51209" grpId="0" animBg="1"/>
      <p:bldP spid="51210" grpId="0" animBg="1"/>
      <p:bldP spid="51211" grpId="0" animBg="1"/>
      <p:bldP spid="51212" grpId="0" animBg="1"/>
      <p:bldP spid="51213" grpId="0" animBg="1"/>
      <p:bldP spid="51214" grpId="0" animBg="1"/>
      <p:bldP spid="51216" grpId="0" animBg="1"/>
      <p:bldP spid="51217" grpId="0" animBg="1"/>
      <p:bldP spid="51219" grpId="0" animBg="1"/>
      <p:bldP spid="512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Text Box 2"/>
          <p:cNvSpPr txBox="1"/>
          <p:nvPr/>
        </p:nvSpPr>
        <p:spPr>
          <a:xfrm>
            <a:off x="2438400" y="331788"/>
            <a:ext cx="40735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第五节 奇偶检验电路</a:t>
            </a:r>
            <a:endParaRPr lang="zh-CN" altLang="en-US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2227" name="Text Box 3"/>
          <p:cNvSpPr txBox="1"/>
          <p:nvPr/>
        </p:nvSpPr>
        <p:spPr>
          <a:xfrm>
            <a:off x="381000" y="3581400"/>
            <a:ext cx="21717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）奇偶检验</a:t>
            </a:r>
            <a:endParaRPr lang="zh-CN" altLang="en-US" sz="2400" b="1" dirty="0"/>
          </a:p>
        </p:txBody>
      </p:sp>
      <p:sp>
        <p:nvSpPr>
          <p:cNvPr id="52228" name="Text Box 4"/>
          <p:cNvSpPr txBox="1"/>
          <p:nvPr/>
        </p:nvSpPr>
        <p:spPr>
          <a:xfrm>
            <a:off x="223838" y="1905000"/>
            <a:ext cx="24796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）奇偶检验码</a:t>
            </a:r>
            <a:endParaRPr lang="zh-CN" altLang="en-US" sz="2400" b="1" dirty="0"/>
          </a:p>
        </p:txBody>
      </p:sp>
      <p:sp>
        <p:nvSpPr>
          <p:cNvPr id="52234" name="Text Box 10"/>
          <p:cNvSpPr txBox="1"/>
          <p:nvPr/>
        </p:nvSpPr>
        <p:spPr>
          <a:xfrm>
            <a:off x="600075" y="1219200"/>
            <a:ext cx="203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一、奇偶检验</a:t>
            </a:r>
            <a:endParaRPr lang="zh-CN" altLang="en-US" sz="2400" b="1" dirty="0"/>
          </a:p>
        </p:txBody>
      </p:sp>
      <p:grpSp>
        <p:nvGrpSpPr>
          <p:cNvPr id="2" name="Group 16"/>
          <p:cNvGrpSpPr/>
          <p:nvPr/>
        </p:nvGrpSpPr>
        <p:grpSpPr>
          <a:xfrm>
            <a:off x="833438" y="2514600"/>
            <a:ext cx="4849812" cy="457200"/>
            <a:chOff x="1437" y="1440"/>
            <a:chExt cx="3055" cy="288"/>
          </a:xfrm>
        </p:grpSpPr>
        <p:sp>
          <p:nvSpPr>
            <p:cNvPr id="73747" name="Text Box 5"/>
            <p:cNvSpPr txBox="1"/>
            <p:nvPr/>
          </p:nvSpPr>
          <p:spPr>
            <a:xfrm>
              <a:off x="1437" y="1440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信息位</a:t>
              </a:r>
              <a:endParaRPr lang="zh-CN" altLang="en-US" sz="2400" b="1" dirty="0"/>
            </a:p>
          </p:txBody>
        </p:sp>
        <p:sp>
          <p:nvSpPr>
            <p:cNvPr id="73748" name="Text Box 11"/>
            <p:cNvSpPr txBox="1"/>
            <p:nvPr/>
          </p:nvSpPr>
          <p:spPr>
            <a:xfrm>
              <a:off x="2056" y="1440"/>
              <a:ext cx="24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：由若干位二进制代码构成</a:t>
              </a:r>
              <a:endParaRPr lang="zh-CN" altLang="en-US" sz="2400" b="1" dirty="0"/>
            </a:p>
          </p:txBody>
        </p:sp>
      </p:grpSp>
      <p:grpSp>
        <p:nvGrpSpPr>
          <p:cNvPr id="3" name="Group 17"/>
          <p:cNvGrpSpPr/>
          <p:nvPr/>
        </p:nvGrpSpPr>
        <p:grpSpPr>
          <a:xfrm>
            <a:off x="906463" y="2971800"/>
            <a:ext cx="3930650" cy="457200"/>
            <a:chOff x="1435" y="1872"/>
            <a:chExt cx="2476" cy="288"/>
          </a:xfrm>
        </p:grpSpPr>
        <p:sp>
          <p:nvSpPr>
            <p:cNvPr id="73745" name="Text Box 6"/>
            <p:cNvSpPr txBox="1"/>
            <p:nvPr/>
          </p:nvSpPr>
          <p:spPr>
            <a:xfrm>
              <a:off x="1435" y="1872"/>
              <a:ext cx="108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奇偶检验位</a:t>
              </a:r>
              <a:endParaRPr lang="zh-CN" altLang="en-US" sz="2400" b="1" dirty="0"/>
            </a:p>
          </p:txBody>
        </p:sp>
        <p:sp>
          <p:nvSpPr>
            <p:cNvPr id="73746" name="Text Box 12"/>
            <p:cNvSpPr txBox="1"/>
            <p:nvPr/>
          </p:nvSpPr>
          <p:spPr>
            <a:xfrm>
              <a:off x="2445" y="1872"/>
              <a:ext cx="146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：</a:t>
              </a:r>
              <a:r>
                <a:rPr lang="zh-CN" altLang="en-US" sz="2400" b="1" dirty="0"/>
                <a:t>一位代码构成</a:t>
              </a:r>
              <a:endParaRPr lang="zh-CN" altLang="en-US" sz="2400" b="1" dirty="0"/>
            </a:p>
          </p:txBody>
        </p:sp>
      </p:grpSp>
      <p:grpSp>
        <p:nvGrpSpPr>
          <p:cNvPr id="4" name="Group 20"/>
          <p:cNvGrpSpPr/>
          <p:nvPr/>
        </p:nvGrpSpPr>
        <p:grpSpPr>
          <a:xfrm>
            <a:off x="685800" y="4267200"/>
            <a:ext cx="5410200" cy="457200"/>
            <a:chOff x="432" y="2688"/>
            <a:chExt cx="3408" cy="288"/>
          </a:xfrm>
        </p:grpSpPr>
        <p:sp>
          <p:nvSpPr>
            <p:cNvPr id="73743" name="Text Box 8"/>
            <p:cNvSpPr txBox="1"/>
            <p:nvPr/>
          </p:nvSpPr>
          <p:spPr>
            <a:xfrm>
              <a:off x="432" y="2688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奇检验</a:t>
              </a:r>
              <a:endParaRPr lang="zh-CN" altLang="en-US" sz="2400" b="1" dirty="0"/>
            </a:p>
          </p:txBody>
        </p:sp>
        <p:sp>
          <p:nvSpPr>
            <p:cNvPr id="73744" name="Text Box 13"/>
            <p:cNvSpPr txBox="1"/>
            <p:nvPr/>
          </p:nvSpPr>
          <p:spPr>
            <a:xfrm>
              <a:off x="1056" y="2688"/>
              <a:ext cx="27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：整个码组中１的个数为奇数</a:t>
              </a:r>
              <a:endParaRPr lang="zh-CN" altLang="en-US" sz="2400" b="1" dirty="0"/>
            </a:p>
          </p:txBody>
        </p:sp>
      </p:grpSp>
      <p:grpSp>
        <p:nvGrpSpPr>
          <p:cNvPr id="5" name="Group 18"/>
          <p:cNvGrpSpPr/>
          <p:nvPr/>
        </p:nvGrpSpPr>
        <p:grpSpPr>
          <a:xfrm>
            <a:off x="757238" y="4800600"/>
            <a:ext cx="5226050" cy="457200"/>
            <a:chOff x="1293" y="2832"/>
            <a:chExt cx="3292" cy="288"/>
          </a:xfrm>
        </p:grpSpPr>
        <p:sp>
          <p:nvSpPr>
            <p:cNvPr id="73741" name="Text Box 9"/>
            <p:cNvSpPr txBox="1"/>
            <p:nvPr/>
          </p:nvSpPr>
          <p:spPr>
            <a:xfrm>
              <a:off x="1293" y="2832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偶检验</a:t>
              </a:r>
              <a:endParaRPr lang="zh-CN" altLang="en-US" sz="2400" b="1" dirty="0"/>
            </a:p>
          </p:txBody>
        </p:sp>
        <p:sp>
          <p:nvSpPr>
            <p:cNvPr id="73742" name="Text Box 14"/>
            <p:cNvSpPr txBox="1"/>
            <p:nvPr/>
          </p:nvSpPr>
          <p:spPr>
            <a:xfrm>
              <a:off x="1963" y="2832"/>
              <a:ext cx="262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：</a:t>
              </a:r>
              <a:r>
                <a:rPr lang="zh-CN" altLang="en-US" sz="2400" b="1" dirty="0"/>
                <a:t>整个码组中１的个数为偶数</a:t>
              </a:r>
              <a:endParaRPr lang="zh-CN" altLang="en-US" sz="2400" b="1" dirty="0"/>
            </a:p>
          </p:txBody>
        </p:sp>
      </p:grpSp>
      <p:grpSp>
        <p:nvGrpSpPr>
          <p:cNvPr id="6" name="Group 23"/>
          <p:cNvGrpSpPr/>
          <p:nvPr/>
        </p:nvGrpSpPr>
        <p:grpSpPr>
          <a:xfrm>
            <a:off x="5162550" y="3048000"/>
            <a:ext cx="1771650" cy="914400"/>
            <a:chOff x="3252" y="1920"/>
            <a:chExt cx="1116" cy="576"/>
          </a:xfrm>
        </p:grpSpPr>
        <p:sp>
          <p:nvSpPr>
            <p:cNvPr id="73739" name="Text Box 21"/>
            <p:cNvSpPr txBox="1"/>
            <p:nvPr/>
          </p:nvSpPr>
          <p:spPr>
            <a:xfrm>
              <a:off x="3252" y="1968"/>
              <a:ext cx="1116" cy="518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F</a:t>
              </a:r>
              <a:r>
                <a:rPr lang="en-US" altLang="zh-CN" sz="2400" b="1" baseline="-25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E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偶检验位</a:t>
              </a:r>
              <a:endParaRPr lang="zh-CN" altLang="en-US" sz="2400" b="1" dirty="0">
                <a:latin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F</a:t>
              </a:r>
              <a:r>
                <a:rPr lang="en-US" altLang="zh-CN" sz="2400" b="1" baseline="-25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OD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奇检验位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73740" name="AutoShape 22"/>
            <p:cNvSpPr/>
            <p:nvPr/>
          </p:nvSpPr>
          <p:spPr>
            <a:xfrm>
              <a:off x="3264" y="1920"/>
              <a:ext cx="1056" cy="576"/>
            </a:xfrm>
            <a:prstGeom prst="wedgeRoundRectCallout">
              <a:avLst>
                <a:gd name="adj1" fmla="val -64394"/>
                <a:gd name="adj2" fmla="val -35935"/>
                <a:gd name="adj3" fmla="val 16667"/>
              </a:avLst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/>
      <p:bldP spid="52228" grpId="0"/>
      <p:bldP spid="5223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3730" name="Object 2"/>
          <p:cNvGraphicFramePr>
            <a:graphicFrameLocks noChangeAspect="1"/>
          </p:cNvGraphicFramePr>
          <p:nvPr/>
        </p:nvGraphicFramePr>
        <p:xfrm>
          <a:off x="2133600" y="1828800"/>
          <a:ext cx="502920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name="" r:id="rId1" imgW="2743200" imgH="1771650" progId="Paint.Picture">
                  <p:embed/>
                </p:oleObj>
              </mc:Choice>
              <mc:Fallback>
                <p:oleObj name="" r:id="rId1" imgW="2743200" imgH="1771650" progId="Paint.Picture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3600" y="1828800"/>
                        <a:ext cx="5029200" cy="320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1" name="Oval 3"/>
          <p:cNvSpPr/>
          <p:nvPr/>
        </p:nvSpPr>
        <p:spPr>
          <a:xfrm>
            <a:off x="2743200" y="1981200"/>
            <a:ext cx="1676400" cy="1752600"/>
          </a:xfrm>
          <a:prstGeom prst="ellipse">
            <a:avLst/>
          </a:prstGeom>
          <a:noFill/>
          <a:ln w="412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1644650" y="1295400"/>
            <a:ext cx="2470150" cy="457200"/>
            <a:chOff x="1036" y="816"/>
            <a:chExt cx="1556" cy="288"/>
          </a:xfrm>
        </p:grpSpPr>
        <p:sp>
          <p:nvSpPr>
            <p:cNvPr id="74769" name="Text Box 4"/>
            <p:cNvSpPr txBox="1"/>
            <p:nvPr/>
          </p:nvSpPr>
          <p:spPr>
            <a:xfrm>
              <a:off x="1036" y="816"/>
              <a:ext cx="1556" cy="288"/>
            </a:xfrm>
            <a:prstGeom prst="rect">
              <a:avLst/>
            </a:prstGeom>
            <a:solidFill>
              <a:srgbClr val="FFFF99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发送信息码</a:t>
              </a:r>
              <a:r>
                <a:rPr lang="en-US" altLang="zh-CN" sz="2400" dirty="0">
                  <a:latin typeface="宋体" panose="02010600030101010101" pitchFamily="2" charset="-122"/>
                </a:rPr>
                <a:t>(N</a:t>
              </a:r>
              <a:r>
                <a:rPr lang="zh-CN" altLang="en-US" sz="2400" dirty="0">
                  <a:latin typeface="宋体" panose="02010600030101010101" pitchFamily="2" charset="-122"/>
                </a:rPr>
                <a:t>位</a:t>
              </a:r>
              <a:r>
                <a:rPr lang="en-US" altLang="zh-CN" sz="2400" dirty="0">
                  <a:latin typeface="宋体" panose="02010600030101010101" pitchFamily="2" charset="-122"/>
                </a:rPr>
                <a:t>)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  <p:sp>
          <p:nvSpPr>
            <p:cNvPr id="74770" name="AutoShape 5"/>
            <p:cNvSpPr/>
            <p:nvPr/>
          </p:nvSpPr>
          <p:spPr>
            <a:xfrm>
              <a:off x="1084" y="816"/>
              <a:ext cx="1440" cy="288"/>
            </a:xfrm>
            <a:prstGeom prst="wedgeRectCallout">
              <a:avLst>
                <a:gd name="adj1" fmla="val -4583"/>
                <a:gd name="adj2" fmla="val 75694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73734" name="Oval 6"/>
          <p:cNvSpPr/>
          <p:nvPr/>
        </p:nvSpPr>
        <p:spPr>
          <a:xfrm>
            <a:off x="4572000" y="2057400"/>
            <a:ext cx="1828800" cy="1905000"/>
          </a:xfrm>
          <a:prstGeom prst="ellipse">
            <a:avLst/>
          </a:prstGeom>
          <a:noFill/>
          <a:ln w="412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3" name="Group 17"/>
          <p:cNvGrpSpPr/>
          <p:nvPr/>
        </p:nvGrpSpPr>
        <p:grpSpPr>
          <a:xfrm>
            <a:off x="5410200" y="914400"/>
            <a:ext cx="2743200" cy="838200"/>
            <a:chOff x="3408" y="576"/>
            <a:chExt cx="1728" cy="528"/>
          </a:xfrm>
        </p:grpSpPr>
        <p:sp>
          <p:nvSpPr>
            <p:cNvPr id="74767" name="Text Box 7"/>
            <p:cNvSpPr txBox="1"/>
            <p:nvPr/>
          </p:nvSpPr>
          <p:spPr>
            <a:xfrm>
              <a:off x="3456" y="576"/>
              <a:ext cx="1652" cy="518"/>
            </a:xfrm>
            <a:prstGeom prst="rect">
              <a:avLst/>
            </a:prstGeom>
            <a:solidFill>
              <a:srgbClr val="FFFF99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接收信息码</a:t>
              </a:r>
              <a:r>
                <a:rPr lang="en-US" altLang="zh-CN" sz="2400" dirty="0">
                  <a:latin typeface="宋体" panose="02010600030101010101" pitchFamily="2" charset="-122"/>
                </a:rPr>
                <a:t>(N</a:t>
              </a:r>
              <a:r>
                <a:rPr lang="zh-CN" altLang="en-US" sz="2400" dirty="0">
                  <a:latin typeface="宋体" panose="02010600030101010101" pitchFamily="2" charset="-122"/>
                </a:rPr>
                <a:t>位</a:t>
              </a:r>
              <a:r>
                <a:rPr lang="en-US" altLang="zh-CN" sz="2400" dirty="0">
                  <a:latin typeface="宋体" panose="02010600030101010101" pitchFamily="2" charset="-122"/>
                </a:rPr>
                <a:t>)+</a:t>
              </a:r>
              <a:endParaRPr lang="en-US" altLang="zh-CN" sz="2400" dirty="0">
                <a:latin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检验位</a:t>
              </a:r>
              <a:r>
                <a:rPr lang="en-US" altLang="zh-CN" sz="2400" dirty="0">
                  <a:latin typeface="宋体" panose="02010600030101010101" pitchFamily="2" charset="-122"/>
                </a:rPr>
                <a:t>(1</a:t>
              </a:r>
              <a:r>
                <a:rPr lang="zh-CN" altLang="en-US" sz="2400" dirty="0">
                  <a:latin typeface="宋体" panose="02010600030101010101" pitchFamily="2" charset="-122"/>
                </a:rPr>
                <a:t>位</a:t>
              </a:r>
              <a:r>
                <a:rPr lang="en-US" altLang="zh-CN" sz="2400" dirty="0">
                  <a:latin typeface="宋体" panose="02010600030101010101" pitchFamily="2" charset="-122"/>
                </a:rPr>
                <a:t>)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  <p:sp>
          <p:nvSpPr>
            <p:cNvPr id="74768" name="AutoShape 8"/>
            <p:cNvSpPr/>
            <p:nvPr/>
          </p:nvSpPr>
          <p:spPr>
            <a:xfrm>
              <a:off x="3408" y="576"/>
              <a:ext cx="1728" cy="528"/>
            </a:xfrm>
            <a:prstGeom prst="wedgeRectCallout">
              <a:avLst>
                <a:gd name="adj1" fmla="val -43750"/>
                <a:gd name="adj2" fmla="val 7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73737" name="Oval 9"/>
          <p:cNvSpPr/>
          <p:nvPr/>
        </p:nvSpPr>
        <p:spPr>
          <a:xfrm>
            <a:off x="4343400" y="4343400"/>
            <a:ext cx="381000" cy="457200"/>
          </a:xfrm>
          <a:prstGeom prst="ellipse">
            <a:avLst/>
          </a:prstGeom>
          <a:noFill/>
          <a:ln w="412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4" name="Group 16"/>
          <p:cNvGrpSpPr/>
          <p:nvPr/>
        </p:nvGrpSpPr>
        <p:grpSpPr>
          <a:xfrm>
            <a:off x="2627313" y="5176838"/>
            <a:ext cx="1865312" cy="466725"/>
            <a:chOff x="1655" y="3261"/>
            <a:chExt cx="1175" cy="294"/>
          </a:xfrm>
        </p:grpSpPr>
        <p:sp>
          <p:nvSpPr>
            <p:cNvPr id="74765" name="Text Box 10"/>
            <p:cNvSpPr txBox="1"/>
            <p:nvPr/>
          </p:nvSpPr>
          <p:spPr>
            <a:xfrm>
              <a:off x="1655" y="3261"/>
              <a:ext cx="1175" cy="294"/>
            </a:xfrm>
            <a:prstGeom prst="rect">
              <a:avLst/>
            </a:prstGeom>
            <a:solidFill>
              <a:srgbClr val="FFCCFF"/>
            </a:solidFill>
            <a:ln w="9525" cap="flat" cmpd="sng">
              <a:solidFill>
                <a:srgbClr val="FFFF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检验位</a:t>
              </a:r>
              <a:r>
                <a:rPr lang="en-US" altLang="zh-CN" sz="2400" dirty="0">
                  <a:latin typeface="宋体" panose="02010600030101010101" pitchFamily="2" charset="-122"/>
                </a:rPr>
                <a:t>(1</a:t>
              </a:r>
              <a:r>
                <a:rPr lang="zh-CN" altLang="en-US" sz="2400" dirty="0">
                  <a:latin typeface="宋体" panose="02010600030101010101" pitchFamily="2" charset="-122"/>
                </a:rPr>
                <a:t>位</a:t>
              </a:r>
              <a:r>
                <a:rPr lang="en-US" altLang="zh-CN" sz="2400" dirty="0">
                  <a:latin typeface="宋体" panose="02010600030101010101" pitchFamily="2" charset="-122"/>
                </a:rPr>
                <a:t>)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  <p:sp>
          <p:nvSpPr>
            <p:cNvPr id="74766" name="AutoShape 11"/>
            <p:cNvSpPr/>
            <p:nvPr/>
          </p:nvSpPr>
          <p:spPr>
            <a:xfrm>
              <a:off x="1667" y="3264"/>
              <a:ext cx="1104" cy="288"/>
            </a:xfrm>
            <a:prstGeom prst="wedgeRectCallout">
              <a:avLst>
                <a:gd name="adj1" fmla="val 44292"/>
                <a:gd name="adj2" fmla="val -100694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73740" name="Oval 12"/>
          <p:cNvSpPr/>
          <p:nvPr/>
        </p:nvSpPr>
        <p:spPr>
          <a:xfrm>
            <a:off x="6400800" y="4267200"/>
            <a:ext cx="609600" cy="609600"/>
          </a:xfrm>
          <a:prstGeom prst="ellipse">
            <a:avLst/>
          </a:prstGeom>
          <a:noFill/>
          <a:ln w="412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5" name="Group 18"/>
          <p:cNvGrpSpPr/>
          <p:nvPr/>
        </p:nvGrpSpPr>
        <p:grpSpPr>
          <a:xfrm>
            <a:off x="6400800" y="5181600"/>
            <a:ext cx="1752600" cy="457200"/>
            <a:chOff x="4032" y="3264"/>
            <a:chExt cx="1104" cy="288"/>
          </a:xfrm>
        </p:grpSpPr>
        <p:sp>
          <p:nvSpPr>
            <p:cNvPr id="74763" name="Text Box 13"/>
            <p:cNvSpPr txBox="1"/>
            <p:nvPr/>
          </p:nvSpPr>
          <p:spPr>
            <a:xfrm>
              <a:off x="4156" y="3264"/>
              <a:ext cx="884" cy="288"/>
            </a:xfrm>
            <a:prstGeom prst="rect">
              <a:avLst/>
            </a:prstGeom>
            <a:solidFill>
              <a:srgbClr val="FFCCFF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检验结果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74764" name="AutoShape 14"/>
            <p:cNvSpPr/>
            <p:nvPr/>
          </p:nvSpPr>
          <p:spPr>
            <a:xfrm>
              <a:off x="4032" y="3264"/>
              <a:ext cx="1104" cy="288"/>
            </a:xfrm>
            <a:prstGeom prst="wedgeRectCallout">
              <a:avLst>
                <a:gd name="adj1" fmla="val -32880"/>
                <a:gd name="adj2" fmla="val -78472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animBg="1"/>
      <p:bldP spid="73734" grpId="0" animBg="1"/>
      <p:bldP spid="73737" grpId="0" animBg="1"/>
      <p:bldP spid="7374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Text Box 3"/>
          <p:cNvSpPr txBox="1"/>
          <p:nvPr/>
        </p:nvSpPr>
        <p:spPr>
          <a:xfrm>
            <a:off x="304800" y="0"/>
            <a:ext cx="38798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二、奇偶位产生和检验电路</a:t>
            </a:r>
            <a:endParaRPr lang="zh-CN" altLang="en-US" sz="2400" b="1" dirty="0">
              <a:ea typeface="黑体" panose="02010609060101010101" pitchFamily="49" charset="-122"/>
            </a:endParaRPr>
          </a:p>
        </p:txBody>
      </p:sp>
      <p:sp>
        <p:nvSpPr>
          <p:cNvPr id="54278" name="Text Box 6"/>
          <p:cNvSpPr txBox="1"/>
          <p:nvPr/>
        </p:nvSpPr>
        <p:spPr>
          <a:xfrm>
            <a:off x="304800" y="533400"/>
            <a:ext cx="7216775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异或门的功能：奇数个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的连续异或运算其结果为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；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               偶数个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的连续异或运算其结果为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sp>
        <p:nvSpPr>
          <p:cNvPr id="54286" name="Text Box 14"/>
          <p:cNvSpPr txBox="1"/>
          <p:nvPr/>
        </p:nvSpPr>
        <p:spPr>
          <a:xfrm>
            <a:off x="3802063" y="2890838"/>
            <a:ext cx="4562475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S = 0</a:t>
            </a:r>
            <a:r>
              <a:rPr lang="zh-CN" altLang="en-US" sz="2400" b="1" dirty="0"/>
              <a:t>，传输无误；</a:t>
            </a:r>
            <a:r>
              <a:rPr lang="en-US" altLang="zh-CN" sz="2400" b="1" dirty="0"/>
              <a:t>S = 1</a:t>
            </a:r>
            <a:r>
              <a:rPr lang="zh-CN" altLang="en-US" sz="2400" b="1" dirty="0"/>
              <a:t>传输有误</a:t>
            </a:r>
            <a:endParaRPr lang="zh-CN" altLang="en-US" sz="2400" b="1" dirty="0"/>
          </a:p>
        </p:txBody>
      </p:sp>
      <p:grpSp>
        <p:nvGrpSpPr>
          <p:cNvPr id="2" name="Group 29"/>
          <p:cNvGrpSpPr/>
          <p:nvPr/>
        </p:nvGrpSpPr>
        <p:grpSpPr>
          <a:xfrm>
            <a:off x="4114800" y="1524000"/>
            <a:ext cx="3028950" cy="685800"/>
            <a:chOff x="1536" y="1488"/>
            <a:chExt cx="1908" cy="432"/>
          </a:xfrm>
        </p:grpSpPr>
        <p:graphicFrame>
          <p:nvGraphicFramePr>
            <p:cNvPr id="75797" name="Object 4"/>
            <p:cNvGraphicFramePr>
              <a:graphicFrameLocks noChangeAspect="1"/>
            </p:cNvGraphicFramePr>
            <p:nvPr/>
          </p:nvGraphicFramePr>
          <p:xfrm>
            <a:off x="2016" y="1488"/>
            <a:ext cx="28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7" name="" r:id="rId1" imgW="5598160" imgH="116840" progId="Word.Document.8">
                    <p:embed/>
                  </p:oleObj>
                </mc:Choice>
                <mc:Fallback>
                  <p:oleObj name="" r:id="rId1" imgW="5598160" imgH="116840" progId="Word.Document.8">
                    <p:embed/>
                    <p:pic>
                      <p:nvPicPr>
                        <p:cNvPr id="0" name="图片 322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16" y="1488"/>
                          <a:ext cx="288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798" name="Object 9"/>
            <p:cNvGraphicFramePr>
              <a:graphicFrameLocks noChangeAspect="1"/>
            </p:cNvGraphicFramePr>
            <p:nvPr/>
          </p:nvGraphicFramePr>
          <p:xfrm>
            <a:off x="2496" y="1488"/>
            <a:ext cx="28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" name="" r:id="rId3" imgW="5598160" imgH="116840" progId="Word.Document.8">
                    <p:embed/>
                  </p:oleObj>
                </mc:Choice>
                <mc:Fallback>
                  <p:oleObj name="" r:id="rId3" imgW="5598160" imgH="116840" progId="Word.Document.8">
                    <p:embed/>
                    <p:pic>
                      <p:nvPicPr>
                        <p:cNvPr id="0" name="图片 322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496" y="1488"/>
                          <a:ext cx="288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799" name="Object 11"/>
            <p:cNvGraphicFramePr>
              <a:graphicFrameLocks noChangeAspect="1"/>
            </p:cNvGraphicFramePr>
            <p:nvPr/>
          </p:nvGraphicFramePr>
          <p:xfrm>
            <a:off x="2928" y="1488"/>
            <a:ext cx="28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" name="" r:id="rId4" imgW="5598160" imgH="116840" progId="Word.Document.8">
                    <p:embed/>
                  </p:oleObj>
                </mc:Choice>
                <mc:Fallback>
                  <p:oleObj name="" r:id="rId4" imgW="5598160" imgH="116840" progId="Word.Document.8">
                    <p:embed/>
                    <p:pic>
                      <p:nvPicPr>
                        <p:cNvPr id="0" name="图片 322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928" y="1488"/>
                          <a:ext cx="288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5800" name="Group 27"/>
            <p:cNvGrpSpPr/>
            <p:nvPr/>
          </p:nvGrpSpPr>
          <p:grpSpPr>
            <a:xfrm>
              <a:off x="1536" y="1536"/>
              <a:ext cx="1908" cy="288"/>
              <a:chOff x="1536" y="1248"/>
              <a:chExt cx="1908" cy="288"/>
            </a:xfrm>
          </p:grpSpPr>
          <p:sp>
            <p:nvSpPr>
              <p:cNvPr id="75801" name="Text Box 7"/>
              <p:cNvSpPr txBox="1"/>
              <p:nvPr/>
            </p:nvSpPr>
            <p:spPr>
              <a:xfrm>
                <a:off x="1536" y="1248"/>
                <a:ext cx="5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宋体" panose="02010600030101010101" pitchFamily="2" charset="-122"/>
                  </a:rPr>
                  <a:t>F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E</a:t>
                </a:r>
                <a:r>
                  <a:rPr lang="en-US" altLang="zh-CN" sz="2400" b="1" dirty="0">
                    <a:latin typeface="宋体" panose="02010600030101010101" pitchFamily="2" charset="-122"/>
                  </a:rPr>
                  <a:t>=B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3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75802" name="Text Box 8"/>
              <p:cNvSpPr txBox="1"/>
              <p:nvPr/>
            </p:nvSpPr>
            <p:spPr>
              <a:xfrm>
                <a:off x="2282" y="1248"/>
                <a:ext cx="2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宋体" panose="02010600030101010101" pitchFamily="2" charset="-122"/>
                  </a:rPr>
                  <a:t>B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2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75803" name="Text Box 10"/>
              <p:cNvSpPr txBox="1"/>
              <p:nvPr/>
            </p:nvSpPr>
            <p:spPr>
              <a:xfrm>
                <a:off x="2762" y="1248"/>
                <a:ext cx="2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宋体" panose="02010600030101010101" pitchFamily="2" charset="-122"/>
                  </a:rPr>
                  <a:t>B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1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75804" name="Text Box 12"/>
              <p:cNvSpPr txBox="1"/>
              <p:nvPr/>
            </p:nvSpPr>
            <p:spPr>
              <a:xfrm>
                <a:off x="3168" y="1248"/>
                <a:ext cx="2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宋体" panose="02010600030101010101" pitchFamily="2" charset="-122"/>
                  </a:rPr>
                  <a:t>B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0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4" name="Group 24"/>
          <p:cNvGrpSpPr/>
          <p:nvPr/>
        </p:nvGrpSpPr>
        <p:grpSpPr>
          <a:xfrm>
            <a:off x="3886200" y="2286000"/>
            <a:ext cx="3562350" cy="685800"/>
            <a:chOff x="976" y="1776"/>
            <a:chExt cx="2244" cy="432"/>
          </a:xfrm>
        </p:grpSpPr>
        <p:sp>
          <p:nvSpPr>
            <p:cNvPr id="75788" name="Text Box 15"/>
            <p:cNvSpPr txBox="1"/>
            <p:nvPr/>
          </p:nvSpPr>
          <p:spPr>
            <a:xfrm>
              <a:off x="976" y="1824"/>
              <a:ext cx="4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S=B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3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75789" name="Object 16"/>
            <p:cNvGraphicFramePr>
              <a:graphicFrameLocks noChangeAspect="1"/>
            </p:cNvGraphicFramePr>
            <p:nvPr/>
          </p:nvGraphicFramePr>
          <p:xfrm>
            <a:off x="1366" y="1776"/>
            <a:ext cx="28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1" name="" r:id="rId5" imgW="5598160" imgH="116840" progId="Word.Document.8">
                    <p:embed/>
                  </p:oleObj>
                </mc:Choice>
                <mc:Fallback>
                  <p:oleObj name="" r:id="rId5" imgW="5598160" imgH="116840" progId="Word.Document.8">
                    <p:embed/>
                    <p:pic>
                      <p:nvPicPr>
                        <p:cNvPr id="0" name="图片 322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366" y="1776"/>
                          <a:ext cx="288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790" name="Text Box 17"/>
            <p:cNvSpPr txBox="1"/>
            <p:nvPr/>
          </p:nvSpPr>
          <p:spPr>
            <a:xfrm>
              <a:off x="1632" y="18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2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75791" name="Object 18"/>
            <p:cNvGraphicFramePr>
              <a:graphicFrameLocks noChangeAspect="1"/>
            </p:cNvGraphicFramePr>
            <p:nvPr/>
          </p:nvGraphicFramePr>
          <p:xfrm>
            <a:off x="1824" y="1776"/>
            <a:ext cx="28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2" name="" r:id="rId6" imgW="5598160" imgH="116840" progId="Word.Document.8">
                    <p:embed/>
                  </p:oleObj>
                </mc:Choice>
                <mc:Fallback>
                  <p:oleObj name="" r:id="rId6" imgW="5598160" imgH="116840" progId="Word.Document.8">
                    <p:embed/>
                    <p:pic>
                      <p:nvPicPr>
                        <p:cNvPr id="0" name="图片 322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24" y="1776"/>
                          <a:ext cx="288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792" name="Text Box 19"/>
            <p:cNvSpPr txBox="1"/>
            <p:nvPr/>
          </p:nvSpPr>
          <p:spPr>
            <a:xfrm>
              <a:off x="2112" y="18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1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75793" name="Object 20"/>
            <p:cNvGraphicFramePr>
              <a:graphicFrameLocks noChangeAspect="1"/>
            </p:cNvGraphicFramePr>
            <p:nvPr/>
          </p:nvGraphicFramePr>
          <p:xfrm>
            <a:off x="2256" y="1776"/>
            <a:ext cx="28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5" name="" r:id="rId7" imgW="5598160" imgH="116840" progId="Word.Document.8">
                    <p:embed/>
                  </p:oleObj>
                </mc:Choice>
                <mc:Fallback>
                  <p:oleObj name="" r:id="rId7" imgW="5598160" imgH="116840" progId="Word.Document.8">
                    <p:embed/>
                    <p:pic>
                      <p:nvPicPr>
                        <p:cNvPr id="0" name="图片 32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256" y="1776"/>
                          <a:ext cx="288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794" name="Text Box 21"/>
            <p:cNvSpPr txBox="1"/>
            <p:nvPr/>
          </p:nvSpPr>
          <p:spPr>
            <a:xfrm>
              <a:off x="2496" y="18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0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75795" name="Object 22"/>
            <p:cNvGraphicFramePr>
              <a:graphicFrameLocks noChangeAspect="1"/>
            </p:cNvGraphicFramePr>
            <p:nvPr/>
          </p:nvGraphicFramePr>
          <p:xfrm>
            <a:off x="2688" y="1776"/>
            <a:ext cx="28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" name="" r:id="rId8" imgW="5598160" imgH="116840" progId="Word.Document.8">
                    <p:embed/>
                  </p:oleObj>
                </mc:Choice>
                <mc:Fallback>
                  <p:oleObj name="" r:id="rId8" imgW="5598160" imgH="116840" progId="Word.Document.8">
                    <p:embed/>
                    <p:pic>
                      <p:nvPicPr>
                        <p:cNvPr id="0" name="图片 322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688" y="1776"/>
                          <a:ext cx="288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796" name="Text Box 23"/>
            <p:cNvSpPr txBox="1"/>
            <p:nvPr/>
          </p:nvSpPr>
          <p:spPr>
            <a:xfrm>
              <a:off x="2944" y="18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F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E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54300" name="Text Box 28"/>
          <p:cNvSpPr txBox="1"/>
          <p:nvPr/>
        </p:nvSpPr>
        <p:spPr>
          <a:xfrm>
            <a:off x="300038" y="1600200"/>
            <a:ext cx="35464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发送端偶检验位表达式：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75784" name="Text Box 30"/>
          <p:cNvSpPr txBox="1"/>
          <p:nvPr/>
        </p:nvSpPr>
        <p:spPr>
          <a:xfrm>
            <a:off x="441325" y="2895600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54304" name="Text Box 32"/>
          <p:cNvSpPr txBox="1"/>
          <p:nvPr/>
        </p:nvSpPr>
        <p:spPr>
          <a:xfrm>
            <a:off x="290513" y="2362200"/>
            <a:ext cx="35655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接受端偶检验位表达式：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4306" name="Object 34"/>
          <p:cNvGraphicFramePr>
            <a:graphicFrameLocks noChangeAspect="1"/>
          </p:cNvGraphicFramePr>
          <p:nvPr/>
        </p:nvGraphicFramePr>
        <p:xfrm>
          <a:off x="1828800" y="3429000"/>
          <a:ext cx="533400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name="" r:id="rId9" imgW="1914525" imgH="2009775" progId="Paint.Picture">
                  <p:embed/>
                </p:oleObj>
              </mc:Choice>
              <mc:Fallback>
                <p:oleObj name="" r:id="rId9" imgW="1914525" imgH="2009775" progId="Paint.Picture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28800" y="3429000"/>
                        <a:ext cx="5334000" cy="335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7" name="Text Box 39"/>
          <p:cNvSpPr txBox="1"/>
          <p:nvPr/>
        </p:nvSpPr>
        <p:spPr>
          <a:xfrm>
            <a:off x="3108325" y="3048000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4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8" grpId="0"/>
      <p:bldP spid="54286" grpId="0" animBg="1"/>
      <p:bldP spid="54300" grpId="0"/>
      <p:bldP spid="5430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Text Box 2"/>
          <p:cNvSpPr txBox="1"/>
          <p:nvPr/>
        </p:nvSpPr>
        <p:spPr>
          <a:xfrm>
            <a:off x="2232025" y="168275"/>
            <a:ext cx="44831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第六节 模块化设计概述</a:t>
            </a:r>
            <a:endParaRPr lang="zh-CN" altLang="en-US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7347" name="Text Box 3"/>
          <p:cNvSpPr txBox="1"/>
          <p:nvPr/>
        </p:nvSpPr>
        <p:spPr>
          <a:xfrm>
            <a:off x="381000" y="1219200"/>
            <a:ext cx="6553200" cy="16986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14400" lvl="2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选择合适的集成电路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减少电路所需的模块总数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降低成本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提高电路可靠性。</a:t>
            </a:r>
            <a:endParaRPr lang="zh-CN" altLang="en-US" b="1" dirty="0"/>
          </a:p>
        </p:txBody>
      </p:sp>
      <p:sp>
        <p:nvSpPr>
          <p:cNvPr id="57348" name="Text Box 4"/>
          <p:cNvSpPr txBox="1"/>
          <p:nvPr/>
        </p:nvSpPr>
        <p:spPr>
          <a:xfrm>
            <a:off x="1143000" y="3609975"/>
            <a:ext cx="7772400" cy="21955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）根据系统的逻辑功能要求</a:t>
            </a:r>
            <a:r>
              <a: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画出系统结构框图</a:t>
            </a:r>
            <a:r>
              <a:rPr lang="zh-CN" altLang="en-US" sz="2400" b="1" dirty="0">
                <a:latin typeface="宋体" panose="02010600030101010101" pitchFamily="2" charset="-122"/>
              </a:rPr>
              <a:t>，且按功能将其划分成若干个子方框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）根据各子功能框的要求，</a:t>
            </a:r>
            <a:r>
              <a: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选用合适的</a:t>
            </a:r>
            <a:r>
              <a:rPr lang="en-US" altLang="zh-CN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MSI</a:t>
            </a:r>
            <a:r>
              <a: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或</a:t>
            </a:r>
            <a:r>
              <a:rPr lang="en-US" altLang="zh-CN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LSI</a:t>
            </a:r>
            <a:endParaRPr lang="en-US" altLang="zh-CN" sz="2400" b="1" dirty="0"/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）根据实际情况，有时需按传统设计方法</a:t>
            </a:r>
            <a:r>
              <a: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设计出相关的接口电路和外围辅助电路</a:t>
            </a:r>
            <a:endParaRPr lang="zh-CN" altLang="en-US" sz="2400" b="1" dirty="0"/>
          </a:p>
        </p:txBody>
      </p:sp>
      <p:sp>
        <p:nvSpPr>
          <p:cNvPr id="57349" name="Text Box 5"/>
          <p:cNvSpPr txBox="1"/>
          <p:nvPr/>
        </p:nvSpPr>
        <p:spPr>
          <a:xfrm>
            <a:off x="541338" y="3200400"/>
            <a:ext cx="16922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设计步骤：</a:t>
            </a:r>
            <a:endParaRPr lang="zh-CN" altLang="en-US" sz="2400" b="1" dirty="0"/>
          </a:p>
        </p:txBody>
      </p:sp>
      <p:sp>
        <p:nvSpPr>
          <p:cNvPr id="57350" name="Text Box 6"/>
          <p:cNvSpPr txBox="1"/>
          <p:nvPr/>
        </p:nvSpPr>
        <p:spPr>
          <a:xfrm>
            <a:off x="534988" y="762000"/>
            <a:ext cx="17049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设计原则：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/>
      <p:bldP spid="57348" grpId="0"/>
      <p:bldP spid="57349" grpId="0"/>
      <p:bldP spid="5735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Text Box 4"/>
          <p:cNvSpPr txBox="1"/>
          <p:nvPr/>
        </p:nvSpPr>
        <p:spPr>
          <a:xfrm>
            <a:off x="228600" y="777875"/>
            <a:ext cx="862647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 </a:t>
            </a:r>
            <a:r>
              <a:rPr lang="zh-CN" altLang="en-US" sz="2400" b="1" dirty="0"/>
              <a:t>例：设计一个将</a:t>
            </a:r>
            <a:r>
              <a:rPr lang="en-US" altLang="zh-CN" sz="2400" b="1" dirty="0"/>
              <a:t>8421BCD</a:t>
            </a:r>
            <a:r>
              <a:rPr lang="zh-CN" altLang="en-US" sz="2400" b="1" dirty="0"/>
              <a:t>码转换成余</a:t>
            </a:r>
            <a:r>
              <a:rPr lang="en-US" altLang="zh-CN" sz="2400" b="1" dirty="0"/>
              <a:t>3BCD</a:t>
            </a:r>
            <a:r>
              <a:rPr lang="zh-CN" altLang="en-US" sz="2400" b="1" dirty="0"/>
              <a:t>码的码组转换器。</a:t>
            </a:r>
            <a:endParaRPr lang="zh-CN" altLang="en-US" sz="2400" b="1" dirty="0"/>
          </a:p>
        </p:txBody>
      </p:sp>
      <p:sp>
        <p:nvSpPr>
          <p:cNvPr id="55302" name="Text Box 6"/>
          <p:cNvSpPr txBox="1"/>
          <p:nvPr/>
        </p:nvSpPr>
        <p:spPr>
          <a:xfrm>
            <a:off x="685800" y="2057400"/>
            <a:ext cx="7102475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latin typeface="宋体" panose="02010600030101010101" pitchFamily="2" charset="-122"/>
              </a:rPr>
              <a:t>采用与逻辑电路输出端等同数量的数据选择器     且附加门（本题需用四个选择器）</a:t>
            </a:r>
            <a:endParaRPr lang="zh-CN" altLang="en-US" sz="2400" b="1" dirty="0"/>
          </a:p>
        </p:txBody>
      </p:sp>
      <p:sp>
        <p:nvSpPr>
          <p:cNvPr id="55303" name="Text Box 7"/>
          <p:cNvSpPr txBox="1"/>
          <p:nvPr/>
        </p:nvSpPr>
        <p:spPr>
          <a:xfrm>
            <a:off x="685800" y="2971800"/>
            <a:ext cx="81534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latin typeface="宋体" panose="02010600030101010101" pitchFamily="2" charset="-122"/>
              </a:rPr>
              <a:t>采用</a:t>
            </a:r>
            <a:r>
              <a:rPr lang="zh-CN" altLang="en-US" sz="2400" b="1" dirty="0"/>
              <a:t>译码器</a:t>
            </a:r>
            <a:r>
              <a:rPr lang="zh-CN" altLang="en-US" sz="2400" b="1" dirty="0">
                <a:latin typeface="宋体" panose="02010600030101010101" pitchFamily="2" charset="-122"/>
              </a:rPr>
              <a:t>附加相应数量门（本题需一块</a:t>
            </a:r>
            <a:r>
              <a:rPr lang="en-US" altLang="zh-CN" sz="2400" b="1" dirty="0"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线</a:t>
            </a:r>
            <a:r>
              <a:rPr lang="en-US" altLang="zh-CN" sz="2400" b="1" dirty="0">
                <a:latin typeface="宋体" panose="02010600030101010101" pitchFamily="2" charset="-122"/>
              </a:rPr>
              <a:t>-16</a:t>
            </a:r>
            <a:r>
              <a:rPr lang="zh-CN" altLang="en-US" sz="2400" b="1" dirty="0">
                <a:latin typeface="宋体" panose="02010600030101010101" pitchFamily="2" charset="-122"/>
              </a:rPr>
              <a:t>线译  码器和四个门）</a:t>
            </a:r>
            <a:endParaRPr lang="zh-CN" altLang="en-US" sz="2400" b="1" dirty="0"/>
          </a:p>
        </p:txBody>
      </p:sp>
      <p:sp>
        <p:nvSpPr>
          <p:cNvPr id="55306" name="Text Box 10"/>
          <p:cNvSpPr txBox="1"/>
          <p:nvPr/>
        </p:nvSpPr>
        <p:spPr>
          <a:xfrm>
            <a:off x="228600" y="4419600"/>
            <a:ext cx="83058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latin typeface="宋体" panose="02010600030101010101" pitchFamily="2" charset="-122"/>
              </a:rPr>
              <a:t>采用</a:t>
            </a:r>
            <a:r>
              <a:rPr lang="en-US" altLang="zh-CN" sz="2400" b="1" dirty="0">
                <a:latin typeface="宋体" panose="02010600030101010101" pitchFamily="2" charset="-122"/>
              </a:rPr>
              <a:t>ROM</a:t>
            </a:r>
            <a:r>
              <a:rPr lang="zh-CN" altLang="en-US" sz="2400" b="1" dirty="0">
                <a:latin typeface="宋体" panose="02010600030101010101" pitchFamily="2" charset="-122"/>
              </a:rPr>
              <a:t>和可编程逻辑器件（后续章节学习）。</a:t>
            </a:r>
            <a:endParaRPr lang="zh-CN" altLang="en-US" sz="2400" b="1" dirty="0"/>
          </a:p>
        </p:txBody>
      </p:sp>
      <p:sp>
        <p:nvSpPr>
          <p:cNvPr id="55307" name="Text Box 11"/>
          <p:cNvSpPr txBox="1"/>
          <p:nvPr/>
        </p:nvSpPr>
        <p:spPr>
          <a:xfrm>
            <a:off x="914400" y="5562600"/>
            <a:ext cx="50990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经比较，采用第④种方法最经济合理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5301" name="Text Box 5"/>
          <p:cNvSpPr txBox="1"/>
          <p:nvPr/>
        </p:nvSpPr>
        <p:spPr>
          <a:xfrm>
            <a:off x="665163" y="1524000"/>
            <a:ext cx="70897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）利用经典的传统设计法，用</a:t>
            </a:r>
            <a:r>
              <a:rPr lang="en-US" altLang="zh-CN" sz="2400" b="1" dirty="0">
                <a:latin typeface="宋体" panose="02010600030101010101" pitchFamily="2" charset="-122"/>
              </a:rPr>
              <a:t>SSI</a:t>
            </a:r>
            <a:r>
              <a:rPr lang="zh-CN" altLang="en-US" sz="2400" b="1" dirty="0">
                <a:latin typeface="宋体" panose="02010600030101010101" pitchFamily="2" charset="-122"/>
              </a:rPr>
              <a:t>实现（见例</a:t>
            </a:r>
            <a:r>
              <a:rPr lang="en-US" altLang="zh-CN" sz="2400" b="1" dirty="0">
                <a:latin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宋体" panose="02010600030101010101" pitchFamily="2" charset="-122"/>
              </a:rPr>
              <a:t>）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5304" name="Text Box 8"/>
          <p:cNvSpPr txBox="1"/>
          <p:nvPr/>
        </p:nvSpPr>
        <p:spPr>
          <a:xfrm>
            <a:off x="727075" y="3886200"/>
            <a:ext cx="60102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latin typeface="宋体" panose="02010600030101010101" pitchFamily="2" charset="-122"/>
              </a:rPr>
              <a:t>采用一块四位二进制加法器（见例</a:t>
            </a:r>
            <a:r>
              <a:rPr lang="en-US" altLang="zh-CN" sz="2400" b="1" dirty="0">
                <a:latin typeface="宋体" panose="02010600030101010101" pitchFamily="2" charset="-122"/>
              </a:rPr>
              <a:t>6</a:t>
            </a:r>
            <a:r>
              <a:rPr lang="zh-CN" altLang="en-US" sz="2400" b="1" dirty="0">
                <a:latin typeface="宋体" panose="02010600030101010101" pitchFamily="2" charset="-122"/>
              </a:rPr>
              <a:t>）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5318" name="AutoShape 22">
            <a:hlinkClick r:id="rId1" action="ppaction://hlinksldjump"/>
          </p:cNvPr>
          <p:cNvSpPr/>
          <p:nvPr/>
        </p:nvSpPr>
        <p:spPr>
          <a:xfrm>
            <a:off x="7848600" y="1447800"/>
            <a:ext cx="609600" cy="609600"/>
          </a:xfrm>
          <a:prstGeom prst="actionButtonForwardNex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5319" name="AutoShape 23">
            <a:hlinkClick r:id="rId2" action="ppaction://hlinksldjump"/>
          </p:cNvPr>
          <p:cNvSpPr/>
          <p:nvPr/>
        </p:nvSpPr>
        <p:spPr>
          <a:xfrm>
            <a:off x="6705600" y="3810000"/>
            <a:ext cx="685800" cy="609600"/>
          </a:xfrm>
          <a:prstGeom prst="actionButtonForwardNex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2" grpId="0"/>
      <p:bldP spid="55303" grpId="0"/>
      <p:bldP spid="55306" grpId="0"/>
      <p:bldP spid="55307" grpId="0"/>
      <p:bldP spid="55301" grpId="0"/>
      <p:bldP spid="55304" grpId="0"/>
      <p:bldP spid="55318" grpId="0" animBg="1"/>
      <p:bldP spid="553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Text Box 2"/>
          <p:cNvSpPr txBox="1"/>
          <p:nvPr/>
        </p:nvSpPr>
        <p:spPr>
          <a:xfrm>
            <a:off x="822325" y="212725"/>
            <a:ext cx="685800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latin typeface="隶书" panose="02010509060101010101" pitchFamily="49" charset="-122"/>
                <a:ea typeface="隶书" panose="02010509060101010101" pitchFamily="49" charset="-122"/>
              </a:rPr>
              <a:t>第七节 组合电路中的竞争与冒险</a:t>
            </a:r>
            <a:endParaRPr lang="zh-CN" altLang="en-US" sz="36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" name="Text Box 3"/>
          <p:cNvSpPr txBox="1"/>
          <p:nvPr/>
        </p:nvSpPr>
        <p:spPr>
          <a:xfrm>
            <a:off x="381000" y="914400"/>
            <a:ext cx="23336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一、冒险与竞争</a:t>
            </a:r>
            <a:endParaRPr lang="zh-CN" altLang="en-US" sz="2400" b="1" dirty="0"/>
          </a:p>
        </p:txBody>
      </p:sp>
      <p:sp>
        <p:nvSpPr>
          <p:cNvPr id="56324" name="Text Box 4"/>
          <p:cNvSpPr txBox="1"/>
          <p:nvPr/>
        </p:nvSpPr>
        <p:spPr>
          <a:xfrm>
            <a:off x="450850" y="1443038"/>
            <a:ext cx="1111250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竞争：</a:t>
            </a:r>
            <a:endParaRPr lang="zh-CN" altLang="en-US" sz="2400" b="1" dirty="0"/>
          </a:p>
        </p:txBody>
      </p:sp>
      <p:sp>
        <p:nvSpPr>
          <p:cNvPr id="56325" name="Text Box 5"/>
          <p:cNvSpPr txBox="1"/>
          <p:nvPr/>
        </p:nvSpPr>
        <p:spPr>
          <a:xfrm>
            <a:off x="450850" y="2205038"/>
            <a:ext cx="1111250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冒险：</a:t>
            </a:r>
            <a:endParaRPr lang="zh-CN" altLang="en-US" sz="2400" b="1" dirty="0"/>
          </a:p>
        </p:txBody>
      </p:sp>
      <p:graphicFrame>
        <p:nvGraphicFramePr>
          <p:cNvPr id="56327" name="Object 7"/>
          <p:cNvGraphicFramePr>
            <a:graphicFrameLocks noChangeAspect="1"/>
          </p:cNvGraphicFramePr>
          <p:nvPr/>
        </p:nvGraphicFramePr>
        <p:xfrm>
          <a:off x="914400" y="3124200"/>
          <a:ext cx="7924800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" r:id="rId1" imgW="4177030" imgH="2696845" progId="Paint.Picture">
                  <p:embed/>
                </p:oleObj>
              </mc:Choice>
              <mc:Fallback>
                <p:oleObj name="" r:id="rId1" imgW="4177030" imgH="2696845" progId="Paint.Picture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3124200"/>
                        <a:ext cx="7924800" cy="3733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Text Box 8"/>
          <p:cNvSpPr txBox="1"/>
          <p:nvPr/>
        </p:nvSpPr>
        <p:spPr>
          <a:xfrm>
            <a:off x="1600200" y="1447800"/>
            <a:ext cx="73152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在组合电路中，信号经由不同的途径达到某一会合点的时间有先有后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6329" name="Text Box 9"/>
          <p:cNvSpPr txBox="1"/>
          <p:nvPr/>
        </p:nvSpPr>
        <p:spPr>
          <a:xfrm>
            <a:off x="1660525" y="2209800"/>
            <a:ext cx="7407275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由于竞争而引起电路输出发生瞬间错误现象。表现为输出端出现了原设计中没有的窄脉冲，常称其为毛刺。</a:t>
            </a:r>
            <a:endParaRPr lang="zh-CN" altLang="en-US" sz="2400" b="1" dirty="0"/>
          </a:p>
        </p:txBody>
      </p:sp>
      <p:sp>
        <p:nvSpPr>
          <p:cNvPr id="56330" name="Rectangle 10"/>
          <p:cNvSpPr/>
          <p:nvPr/>
        </p:nvSpPr>
        <p:spPr>
          <a:xfrm>
            <a:off x="1219200" y="4648200"/>
            <a:ext cx="990600" cy="9906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6331" name="Line 11"/>
          <p:cNvSpPr/>
          <p:nvPr/>
        </p:nvSpPr>
        <p:spPr>
          <a:xfrm flipV="1">
            <a:off x="2286000" y="4800600"/>
            <a:ext cx="4114800" cy="5334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6332" name="Line 12"/>
          <p:cNvSpPr/>
          <p:nvPr/>
        </p:nvSpPr>
        <p:spPr>
          <a:xfrm>
            <a:off x="6172200" y="4724400"/>
            <a:ext cx="304800" cy="0"/>
          </a:xfrm>
          <a:prstGeom prst="line">
            <a:avLst/>
          </a:prstGeom>
          <a:ln w="476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333" name="Line 13"/>
          <p:cNvSpPr/>
          <p:nvPr/>
        </p:nvSpPr>
        <p:spPr>
          <a:xfrm>
            <a:off x="6477000" y="5486400"/>
            <a:ext cx="304800" cy="0"/>
          </a:xfrm>
          <a:prstGeom prst="line">
            <a:avLst/>
          </a:prstGeom>
          <a:ln w="444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334" name="Line 14"/>
          <p:cNvSpPr/>
          <p:nvPr/>
        </p:nvSpPr>
        <p:spPr>
          <a:xfrm>
            <a:off x="6705600" y="5867400"/>
            <a:ext cx="304800" cy="0"/>
          </a:xfrm>
          <a:prstGeom prst="line">
            <a:avLst/>
          </a:prstGeom>
          <a:ln w="444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336" name="Line 16"/>
          <p:cNvSpPr/>
          <p:nvPr/>
        </p:nvSpPr>
        <p:spPr>
          <a:xfrm>
            <a:off x="6477000" y="4876800"/>
            <a:ext cx="152400" cy="457200"/>
          </a:xfrm>
          <a:prstGeom prst="line">
            <a:avLst/>
          </a:prstGeom>
          <a:ln w="412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6337" name="Line 17"/>
          <p:cNvSpPr/>
          <p:nvPr/>
        </p:nvSpPr>
        <p:spPr>
          <a:xfrm>
            <a:off x="6781800" y="5562600"/>
            <a:ext cx="152400" cy="228600"/>
          </a:xfrm>
          <a:prstGeom prst="line">
            <a:avLst/>
          </a:prstGeom>
          <a:ln w="412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6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6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6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6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6324" grpId="0" animBg="1"/>
      <p:bldP spid="56325" grpId="0" animBg="1"/>
      <p:bldP spid="56328" grpId="0"/>
      <p:bldP spid="56329" grpId="0"/>
      <p:bldP spid="5633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Text Box 2"/>
          <p:cNvSpPr txBox="1"/>
          <p:nvPr/>
        </p:nvSpPr>
        <p:spPr>
          <a:xfrm>
            <a:off x="298450" y="381000"/>
            <a:ext cx="32448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二、竞争与冒险的判断</a:t>
            </a:r>
            <a:endParaRPr lang="zh-CN" altLang="en-US" sz="2400" b="1" dirty="0"/>
          </a:p>
        </p:txBody>
      </p:sp>
      <p:sp>
        <p:nvSpPr>
          <p:cNvPr id="59395" name="Text Box 3"/>
          <p:cNvSpPr txBox="1"/>
          <p:nvPr/>
        </p:nvSpPr>
        <p:spPr>
          <a:xfrm>
            <a:off x="220663" y="966788"/>
            <a:ext cx="1419225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代数法：</a:t>
            </a:r>
            <a:endParaRPr lang="zh-CN" altLang="en-US" sz="2400" b="1" dirty="0"/>
          </a:p>
        </p:txBody>
      </p:sp>
      <p:sp>
        <p:nvSpPr>
          <p:cNvPr id="59397" name="Text Box 5"/>
          <p:cNvSpPr txBox="1"/>
          <p:nvPr/>
        </p:nvSpPr>
        <p:spPr>
          <a:xfrm>
            <a:off x="381000" y="990600"/>
            <a:ext cx="795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   </a:t>
            </a:r>
            <a:r>
              <a:rPr lang="zh-CN" altLang="en-US" sz="2400" b="1" dirty="0">
                <a:latin typeface="宋体" panose="02010600030101010101" pitchFamily="2" charset="-122"/>
              </a:rPr>
              <a:t>或的形式时，变量朝相反方向变化能引起险象。</a:t>
            </a:r>
            <a:endParaRPr lang="zh-CN" altLang="en-US" sz="2400" b="1" dirty="0"/>
          </a:p>
        </p:txBody>
      </p:sp>
      <p:sp>
        <p:nvSpPr>
          <p:cNvPr id="59396" name="Text Box 4"/>
          <p:cNvSpPr txBox="1"/>
          <p:nvPr/>
        </p:nvSpPr>
        <p:spPr>
          <a:xfrm>
            <a:off x="219075" y="1595438"/>
            <a:ext cx="1727200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卡诺图法：</a:t>
            </a:r>
            <a:endParaRPr lang="zh-CN" altLang="en-US" sz="2400" b="1" dirty="0"/>
          </a:p>
        </p:txBody>
      </p:sp>
      <p:sp>
        <p:nvSpPr>
          <p:cNvPr id="59398" name="Text Box 6"/>
          <p:cNvSpPr txBox="1"/>
          <p:nvPr/>
        </p:nvSpPr>
        <p:spPr>
          <a:xfrm>
            <a:off x="1676400" y="1600200"/>
            <a:ext cx="71628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如函数卡诺图上为简化作的圈相切，且相切处又无其他圈包含，则可能有险象。</a:t>
            </a:r>
            <a:endParaRPr lang="zh-CN" altLang="en-US" sz="2400" b="1" dirty="0"/>
          </a:p>
        </p:txBody>
      </p:sp>
      <p:sp>
        <p:nvSpPr>
          <p:cNvPr id="59399" name="Text Box 7"/>
          <p:cNvSpPr txBox="1"/>
          <p:nvPr/>
        </p:nvSpPr>
        <p:spPr>
          <a:xfrm>
            <a:off x="304800" y="2620963"/>
            <a:ext cx="839787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如图所示电路的卡诺图两圈相切，故有险象。</a:t>
            </a:r>
            <a:endParaRPr lang="zh-CN" altLang="en-US" sz="2400" b="1" dirty="0"/>
          </a:p>
        </p:txBody>
      </p:sp>
      <p:graphicFrame>
        <p:nvGraphicFramePr>
          <p:cNvPr id="59402" name="Object 10"/>
          <p:cNvGraphicFramePr>
            <a:graphicFrameLocks noChangeAspect="1"/>
          </p:cNvGraphicFramePr>
          <p:nvPr/>
        </p:nvGraphicFramePr>
        <p:xfrm>
          <a:off x="4572000" y="3352800"/>
          <a:ext cx="45720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" r:id="rId1" imgW="2905125" imgH="1543050" progId="Paint.Picture">
                  <p:embed/>
                </p:oleObj>
              </mc:Choice>
              <mc:Fallback>
                <p:oleObj name="" r:id="rId1" imgW="2905125" imgH="1543050" progId="Paint.Picture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0" y="3352800"/>
                        <a:ext cx="4572000" cy="350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3" name="Object 11"/>
          <p:cNvGraphicFramePr>
            <a:graphicFrameLocks noChangeAspect="1"/>
          </p:cNvGraphicFramePr>
          <p:nvPr/>
        </p:nvGraphicFramePr>
        <p:xfrm>
          <a:off x="0" y="3733800"/>
          <a:ext cx="44958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" r:id="rId3" imgW="2352675" imgH="1343025" progId="Paint.Picture">
                  <p:embed/>
                </p:oleObj>
              </mc:Choice>
              <mc:Fallback>
                <p:oleObj name="" r:id="rId3" imgW="2352675" imgH="1343025" progId="Paint.Picture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3733800"/>
                        <a:ext cx="4495800" cy="2590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5" name="Rectangle 13"/>
          <p:cNvSpPr/>
          <p:nvPr/>
        </p:nvSpPr>
        <p:spPr>
          <a:xfrm>
            <a:off x="5334000" y="3962400"/>
            <a:ext cx="1295400" cy="1219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animBg="1"/>
      <p:bldP spid="59397" grpId="0"/>
      <p:bldP spid="59396" grpId="0" animBg="1"/>
      <p:bldP spid="59398" grpId="0"/>
      <p:bldP spid="59399" grpId="0"/>
      <p:bldP spid="5940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Text Box 2"/>
          <p:cNvSpPr txBox="1"/>
          <p:nvPr/>
        </p:nvSpPr>
        <p:spPr>
          <a:xfrm>
            <a:off x="296863" y="381000"/>
            <a:ext cx="29432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三、冒险现象的消除</a:t>
            </a:r>
            <a:endParaRPr lang="zh-CN" altLang="en-US" sz="2400" b="1" dirty="0"/>
          </a:p>
        </p:txBody>
      </p:sp>
      <p:sp>
        <p:nvSpPr>
          <p:cNvPr id="60420" name="Text Box 4"/>
          <p:cNvSpPr txBox="1"/>
          <p:nvPr/>
        </p:nvSpPr>
        <p:spPr>
          <a:xfrm>
            <a:off x="293688" y="909638"/>
            <a:ext cx="2187575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1. </a:t>
            </a:r>
            <a:r>
              <a:rPr lang="zh-CN" altLang="en-US" sz="2400" b="1" dirty="0">
                <a:latin typeface="宋体" panose="02010600030101010101" pitchFamily="2" charset="-122"/>
              </a:rPr>
              <a:t>利用冗余项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0419" name="Text Box 3"/>
          <p:cNvSpPr txBox="1"/>
          <p:nvPr/>
        </p:nvSpPr>
        <p:spPr>
          <a:xfrm>
            <a:off x="304800" y="1524000"/>
            <a:ext cx="88392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如图所示卡诺图，只要在两圈相切处增加一个圈（冗余），就能消除冒险。由此得函数表达式为</a:t>
            </a:r>
            <a:endParaRPr lang="zh-CN" altLang="en-US" sz="2400" b="1" dirty="0"/>
          </a:p>
        </p:txBody>
      </p:sp>
      <p:graphicFrame>
        <p:nvGraphicFramePr>
          <p:cNvPr id="60421" name="Object 5"/>
          <p:cNvGraphicFramePr>
            <a:graphicFrameLocks noChangeAspect="1"/>
          </p:cNvGraphicFramePr>
          <p:nvPr/>
        </p:nvGraphicFramePr>
        <p:xfrm>
          <a:off x="1371600" y="2514600"/>
          <a:ext cx="65532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1" imgW="2905125" imgH="1543050" progId="Paint.Picture">
                  <p:embed/>
                </p:oleObj>
              </mc:Choice>
              <mc:Fallback>
                <p:oleObj name="" r:id="rId1" imgW="2905125" imgH="1543050" progId="Paint.Picture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1600" y="2514600"/>
                        <a:ext cx="6553200" cy="403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animBg="1"/>
      <p:bldP spid="60419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2"/>
          <p:cNvSpPr/>
          <p:nvPr/>
        </p:nvSpPr>
        <p:spPr>
          <a:xfrm>
            <a:off x="373063" y="228600"/>
            <a:ext cx="29432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三、冒险现象的消除</a:t>
            </a:r>
            <a:endParaRPr lang="zh-CN" altLang="en-US" sz="2400" b="1" dirty="0"/>
          </a:p>
        </p:txBody>
      </p:sp>
      <p:sp>
        <p:nvSpPr>
          <p:cNvPr id="81923" name="Rectangle 3"/>
          <p:cNvSpPr/>
          <p:nvPr/>
        </p:nvSpPr>
        <p:spPr>
          <a:xfrm>
            <a:off x="381000" y="757238"/>
            <a:ext cx="2187575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1. </a:t>
            </a:r>
            <a:r>
              <a:rPr lang="zh-CN" altLang="en-US" sz="2400" b="1" dirty="0">
                <a:latin typeface="宋体" panose="02010600030101010101" pitchFamily="2" charset="-122"/>
              </a:rPr>
              <a:t>利用冗余项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81924" name="Rectangle 4"/>
          <p:cNvSpPr/>
          <p:nvPr/>
        </p:nvSpPr>
        <p:spPr>
          <a:xfrm>
            <a:off x="444500" y="1290638"/>
            <a:ext cx="1657350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２</a:t>
            </a:r>
            <a:r>
              <a:rPr lang="en-US" altLang="zh-CN" sz="2400" b="1" dirty="0"/>
              <a:t>.</a:t>
            </a: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</a:rPr>
              <a:t>吸收法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1446" name="Text Box 6"/>
          <p:cNvSpPr txBox="1"/>
          <p:nvPr/>
        </p:nvSpPr>
        <p:spPr>
          <a:xfrm>
            <a:off x="304800" y="1828800"/>
            <a:ext cx="8550275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在输出端加小电容</a:t>
            </a:r>
            <a:r>
              <a:rPr lang="en-US" altLang="zh-CN" sz="2400" b="1" dirty="0">
                <a:latin typeface="宋体" panose="02010600030101010101" pitchFamily="2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可以消除毛刺如图</a:t>
            </a:r>
            <a:r>
              <a:rPr lang="en-US" altLang="zh-CN" sz="2400" b="1" dirty="0">
                <a:latin typeface="宋体" panose="02010600030101010101" pitchFamily="2" charset="-122"/>
              </a:rPr>
              <a:t>3-58</a:t>
            </a:r>
            <a:r>
              <a:rPr lang="zh-CN" altLang="en-US" sz="2400" b="1" dirty="0">
                <a:latin typeface="宋体" panose="02010600030101010101" pitchFamily="2" charset="-122"/>
              </a:rPr>
              <a:t>所示。但是输出波形的前后沿将变坏</a:t>
            </a:r>
            <a:r>
              <a:rPr lang="en-US" altLang="zh-CN" sz="2400" b="1" dirty="0">
                <a:latin typeface="宋体" panose="02010600030101010101" pitchFamily="2" charset="-122"/>
              </a:rPr>
              <a:t>, </a:t>
            </a:r>
            <a:r>
              <a:rPr lang="zh-CN" altLang="en-US" sz="2400" b="1" dirty="0">
                <a:latin typeface="宋体" panose="02010600030101010101" pitchFamily="2" charset="-122"/>
              </a:rPr>
              <a:t>在对波形要求较严格时，应再加整形电路。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1447" name="Object 7"/>
          <p:cNvGraphicFramePr>
            <a:graphicFrameLocks noChangeAspect="1"/>
          </p:cNvGraphicFramePr>
          <p:nvPr/>
        </p:nvGraphicFramePr>
        <p:xfrm>
          <a:off x="1676400" y="2971800"/>
          <a:ext cx="6019800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1" imgW="2247900" imgH="2247900" progId="Paint.Picture">
                  <p:embed/>
                </p:oleObj>
              </mc:Choice>
              <mc:Fallback>
                <p:oleObj name="" r:id="rId1" imgW="2247900" imgH="2247900" progId="Paint.Picture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76400" y="2971800"/>
                        <a:ext cx="6019800" cy="388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8" name="Rectangle 8"/>
          <p:cNvSpPr/>
          <p:nvPr/>
        </p:nvSpPr>
        <p:spPr>
          <a:xfrm>
            <a:off x="6324600" y="4267200"/>
            <a:ext cx="1295400" cy="1676400"/>
          </a:xfrm>
          <a:prstGeom prst="rect">
            <a:avLst/>
          </a:prstGeom>
          <a:noFill/>
          <a:ln w="444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6" grpId="0"/>
      <p:bldP spid="6144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2"/>
          <p:cNvSpPr/>
          <p:nvPr/>
        </p:nvSpPr>
        <p:spPr>
          <a:xfrm>
            <a:off x="293688" y="1519238"/>
            <a:ext cx="1501775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３</a:t>
            </a:r>
            <a:r>
              <a:rPr lang="en-US" altLang="zh-CN" sz="2400" b="1" dirty="0"/>
              <a:t>.</a:t>
            </a:r>
            <a:r>
              <a:rPr lang="zh-CN" altLang="en-US" sz="2400" b="1" dirty="0"/>
              <a:t>取样法</a:t>
            </a:r>
            <a:endParaRPr lang="zh-CN" altLang="en-US" sz="2400" b="1" dirty="0"/>
          </a:p>
        </p:txBody>
      </p:sp>
      <p:grpSp>
        <p:nvGrpSpPr>
          <p:cNvPr id="82947" name="Group 9"/>
          <p:cNvGrpSpPr/>
          <p:nvPr/>
        </p:nvGrpSpPr>
        <p:grpSpPr>
          <a:xfrm>
            <a:off x="220663" y="0"/>
            <a:ext cx="2943225" cy="1524000"/>
            <a:chOff x="235" y="144"/>
            <a:chExt cx="1854" cy="960"/>
          </a:xfrm>
        </p:grpSpPr>
        <p:sp>
          <p:nvSpPr>
            <p:cNvPr id="82956" name="Rectangle 3"/>
            <p:cNvSpPr/>
            <p:nvPr/>
          </p:nvSpPr>
          <p:spPr>
            <a:xfrm>
              <a:off x="235" y="144"/>
              <a:ext cx="18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三、冒险现象的消除</a:t>
              </a:r>
              <a:endParaRPr lang="zh-CN" altLang="en-US" sz="2400" b="1" dirty="0"/>
            </a:p>
          </p:txBody>
        </p:sp>
        <p:sp>
          <p:nvSpPr>
            <p:cNvPr id="82957" name="Rectangle 4"/>
            <p:cNvSpPr/>
            <p:nvPr/>
          </p:nvSpPr>
          <p:spPr>
            <a:xfrm>
              <a:off x="331" y="480"/>
              <a:ext cx="137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1.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利用冗余项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82958" name="Rectangle 5"/>
            <p:cNvSpPr/>
            <p:nvPr/>
          </p:nvSpPr>
          <p:spPr>
            <a:xfrm>
              <a:off x="284" y="816"/>
              <a:ext cx="10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２</a:t>
              </a:r>
              <a:r>
                <a:rPr lang="en-US" altLang="zh-CN" sz="2400" b="1" dirty="0"/>
                <a:t>.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吸收法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62475" name="Text Box 11"/>
          <p:cNvSpPr txBox="1"/>
          <p:nvPr/>
        </p:nvSpPr>
        <p:spPr>
          <a:xfrm>
            <a:off x="304800" y="2133600"/>
            <a:ext cx="8839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电路稳定后加入取样脉冲，在取样脉冲作用期间输出的信号才有效，可以避免毛刺影响输出波形。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2476" name="Text Box 12"/>
          <p:cNvSpPr txBox="1"/>
          <p:nvPr/>
        </p:nvSpPr>
        <p:spPr>
          <a:xfrm>
            <a:off x="381000" y="3048000"/>
            <a:ext cx="26416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加取样脉冲原则：</a:t>
            </a:r>
            <a:endParaRPr lang="zh-CN" altLang="en-US" sz="2400" b="1" dirty="0"/>
          </a:p>
        </p:txBody>
      </p:sp>
      <p:graphicFrame>
        <p:nvGraphicFramePr>
          <p:cNvPr id="108544" name="Object 0"/>
          <p:cNvGraphicFramePr>
            <a:graphicFrameLocks noChangeAspect="1"/>
          </p:cNvGraphicFramePr>
          <p:nvPr/>
        </p:nvGraphicFramePr>
        <p:xfrm>
          <a:off x="685800" y="4419600"/>
          <a:ext cx="32766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1" imgW="1981200" imgH="1657350" progId="Paint.Picture">
                  <p:embed/>
                </p:oleObj>
              </mc:Choice>
              <mc:Fallback>
                <p:oleObj name="" r:id="rId1" imgW="1981200" imgH="1657350" progId="Paint.Picture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5800" y="4419600"/>
                        <a:ext cx="3276600" cy="213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5" name="Object 1"/>
          <p:cNvGraphicFramePr>
            <a:graphicFrameLocks noChangeAspect="1"/>
          </p:cNvGraphicFramePr>
          <p:nvPr/>
        </p:nvGraphicFramePr>
        <p:xfrm>
          <a:off x="4495800" y="4419600"/>
          <a:ext cx="3505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" r:id="rId3" imgW="2238375" imgH="1533525" progId="Paint.Picture">
                  <p:embed/>
                </p:oleObj>
              </mc:Choice>
              <mc:Fallback>
                <p:oleObj name="" r:id="rId3" imgW="2238375" imgH="1533525" progId="Paint.Picture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95800" y="4419600"/>
                        <a:ext cx="3505200" cy="243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2" name="Text Box 18"/>
          <p:cNvSpPr txBox="1"/>
          <p:nvPr/>
        </p:nvSpPr>
        <p:spPr>
          <a:xfrm>
            <a:off x="5105400" y="3505200"/>
            <a:ext cx="2628900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“</a:t>
            </a:r>
            <a:r>
              <a:rPr lang="zh-CN" altLang="en-US" sz="2400" b="1" dirty="0">
                <a:latin typeface="宋体" panose="02010600030101010101" pitchFamily="2" charset="-122"/>
              </a:rPr>
              <a:t>或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门及</a:t>
            </a:r>
            <a:r>
              <a:rPr lang="zh-CN" altLang="en-US" sz="2400" b="1" dirty="0"/>
              <a:t>“</a:t>
            </a:r>
            <a:r>
              <a:rPr lang="zh-CN" altLang="en-US" sz="2400" b="1" dirty="0">
                <a:latin typeface="宋体" panose="02010600030101010101" pitchFamily="2" charset="-122"/>
              </a:rPr>
              <a:t>或非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门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加负取样脉冲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2485" name="Text Box 21"/>
          <p:cNvSpPr txBox="1"/>
          <p:nvPr/>
        </p:nvSpPr>
        <p:spPr>
          <a:xfrm>
            <a:off x="533400" y="3505200"/>
            <a:ext cx="2949575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“</a:t>
            </a:r>
            <a:r>
              <a:rPr lang="zh-CN" altLang="en-US" sz="2400" b="1" dirty="0">
                <a:latin typeface="宋体" panose="02010600030101010101" pitchFamily="2" charset="-122"/>
              </a:rPr>
              <a:t>与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门及</a:t>
            </a:r>
            <a:r>
              <a:rPr lang="zh-CN" altLang="en-US" sz="2400" b="1" dirty="0"/>
              <a:t>“</a:t>
            </a:r>
            <a:r>
              <a:rPr lang="zh-CN" altLang="en-US" sz="2400" b="1" dirty="0">
                <a:latin typeface="宋体" panose="02010600030101010101" pitchFamily="2" charset="-122"/>
              </a:rPr>
              <a:t>与非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门加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正取样脉冲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62486" name="Rectangle 22"/>
          <p:cNvSpPr/>
          <p:nvPr/>
        </p:nvSpPr>
        <p:spPr>
          <a:xfrm>
            <a:off x="533400" y="6096000"/>
            <a:ext cx="1828800" cy="457200"/>
          </a:xfrm>
          <a:prstGeom prst="rect">
            <a:avLst/>
          </a:prstGeom>
          <a:noFill/>
          <a:ln w="412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2487" name="Rectangle 23"/>
          <p:cNvSpPr/>
          <p:nvPr/>
        </p:nvSpPr>
        <p:spPr>
          <a:xfrm>
            <a:off x="6096000" y="6096000"/>
            <a:ext cx="1828800" cy="609600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2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5" grpId="0"/>
      <p:bldP spid="62476" grpId="0"/>
      <p:bldP spid="62482" grpId="0"/>
      <p:bldP spid="62485" grpId="0"/>
      <p:bldP spid="62486" grpId="0" animBg="1"/>
      <p:bldP spid="62487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Text Box 2"/>
          <p:cNvSpPr txBox="1"/>
          <p:nvPr/>
        </p:nvSpPr>
        <p:spPr>
          <a:xfrm>
            <a:off x="609600" y="1066800"/>
            <a:ext cx="8229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利用冗余项：</a:t>
            </a:r>
            <a:r>
              <a:rPr lang="zh-CN" altLang="en-US" sz="2400" b="1" dirty="0">
                <a:latin typeface="宋体" panose="02010600030101010101" pitchFamily="2" charset="-122"/>
              </a:rPr>
              <a:t>只能消除逻辑冒险，而不能消除功能冒险；适用范围有限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83971" name="Text Box 4"/>
          <p:cNvSpPr txBox="1"/>
          <p:nvPr/>
        </p:nvSpPr>
        <p:spPr>
          <a:xfrm>
            <a:off x="539750" y="381000"/>
            <a:ext cx="2320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三种方法比较：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3493" name="Text Box 5"/>
          <p:cNvSpPr txBox="1"/>
          <p:nvPr/>
        </p:nvSpPr>
        <p:spPr>
          <a:xfrm>
            <a:off x="533400" y="3276600"/>
            <a:ext cx="7620000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取样法：</a:t>
            </a:r>
            <a:r>
              <a:rPr lang="zh-CN" altLang="en-US" sz="2400" b="1" dirty="0">
                <a:latin typeface="宋体" panose="02010600030101010101" pitchFamily="2" charset="-122"/>
              </a:rPr>
              <a:t>加取样脉冲对逻辑冒险及功能冒险都有效。目前大多数中规模集成模块都设有使能端，可以将取样信号作用于该端，待电路稳定后才使输出有效。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3494" name="Text Box 6"/>
          <p:cNvSpPr txBox="1"/>
          <p:nvPr/>
        </p:nvSpPr>
        <p:spPr>
          <a:xfrm>
            <a:off x="609600" y="1981200"/>
            <a:ext cx="8229600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吸收法：</a:t>
            </a:r>
            <a:r>
              <a:rPr lang="zh-CN" altLang="en-US" sz="2400" b="1" dirty="0">
                <a:latin typeface="宋体" panose="02010600030101010101" pitchFamily="2" charset="-122"/>
              </a:rPr>
              <a:t>加滤波电容使输出信号变坏，引起波形的上升、下降时间变长，不宜在中间级使用。实验调试阶段采用的应急措施；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/>
      <p:bldP spid="63493" grpId="0"/>
      <p:bldP spid="63494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Text Box 2"/>
          <p:cNvSpPr txBox="1"/>
          <p:nvPr/>
        </p:nvSpPr>
        <p:spPr>
          <a:xfrm>
            <a:off x="990600" y="5029200"/>
            <a:ext cx="8229600" cy="9747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ts val="1200"/>
              </a:spcAft>
              <a:buNone/>
            </a:pPr>
            <a:r>
              <a:rPr lang="zh-CN" altLang="en-US" sz="2400" b="1" dirty="0"/>
              <a:t>加法器、比较器、译码器、编码器、数据选择器和码组检验器等。</a:t>
            </a:r>
            <a:endParaRPr lang="zh-CN" altLang="en-US" sz="2400" b="1" dirty="0"/>
          </a:p>
        </p:txBody>
      </p:sp>
      <p:sp>
        <p:nvSpPr>
          <p:cNvPr id="58371" name="Text Box 3"/>
          <p:cNvSpPr txBox="1"/>
          <p:nvPr/>
        </p:nvSpPr>
        <p:spPr>
          <a:xfrm>
            <a:off x="234950" y="574675"/>
            <a:ext cx="654050" cy="3175000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rgbClr val="CC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ea typeface="隶书" panose="02010509060101010101" pitchFamily="49" charset="-122"/>
              </a:rPr>
              <a:t>本</a:t>
            </a:r>
            <a:endParaRPr lang="zh-CN" altLang="en-US" sz="3600" b="1" dirty="0">
              <a:ea typeface="隶书" panose="02010509060101010101" pitchFamily="49" charset="-122"/>
            </a:endParaRPr>
          </a:p>
          <a:p>
            <a:pPr marL="0" lvl="0" indent="0" algn="ctr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ea typeface="隶书" panose="02010509060101010101" pitchFamily="49" charset="-122"/>
              </a:rPr>
              <a:t>章</a:t>
            </a:r>
            <a:endParaRPr lang="zh-CN" altLang="en-US" sz="3600" b="1" dirty="0">
              <a:ea typeface="隶书" panose="02010509060101010101" pitchFamily="49" charset="-122"/>
            </a:endParaRPr>
          </a:p>
          <a:p>
            <a:pPr marL="0" lvl="0" indent="0" algn="ctr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ea typeface="隶书" panose="02010509060101010101" pitchFamily="49" charset="-122"/>
              </a:rPr>
              <a:t>小</a:t>
            </a:r>
            <a:endParaRPr lang="zh-CN" altLang="en-US" sz="3600" b="1" dirty="0">
              <a:ea typeface="隶书" panose="02010509060101010101" pitchFamily="49" charset="-122"/>
            </a:endParaRPr>
          </a:p>
          <a:p>
            <a:pPr marL="0" lvl="0" indent="0" algn="ctr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ea typeface="隶书" panose="02010509060101010101" pitchFamily="49" charset="-122"/>
              </a:rPr>
              <a:t>结</a:t>
            </a:r>
            <a:endParaRPr lang="zh-CN" altLang="en-US" sz="3600" b="1" dirty="0">
              <a:ea typeface="隶书" panose="02010509060101010101" pitchFamily="49" charset="-122"/>
            </a:endParaRPr>
          </a:p>
        </p:txBody>
      </p:sp>
      <p:sp>
        <p:nvSpPr>
          <p:cNvPr id="58372" name="Text Box 4"/>
          <p:cNvSpPr txBox="1"/>
          <p:nvPr/>
        </p:nvSpPr>
        <p:spPr>
          <a:xfrm>
            <a:off x="990600" y="1066800"/>
            <a:ext cx="8001000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任何时刻的输出仅决定于当时的输入，而与电路原来的状态无关；它由基本门构成，不含存贮电路和记忆元件，且无反馈线。</a:t>
            </a:r>
            <a:endParaRPr lang="zh-CN" altLang="en-US" sz="2400" b="1" dirty="0"/>
          </a:p>
        </p:txBody>
      </p:sp>
      <p:sp>
        <p:nvSpPr>
          <p:cNvPr id="58373" name="Text Box 5"/>
          <p:cNvSpPr txBox="1"/>
          <p:nvPr/>
        </p:nvSpPr>
        <p:spPr>
          <a:xfrm>
            <a:off x="990600" y="2819400"/>
            <a:ext cx="70104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根据已经给定的逻辑电路，描述其逻辑功能。</a:t>
            </a:r>
            <a:endParaRPr lang="zh-CN" altLang="en-US" sz="2400" b="1" dirty="0"/>
          </a:p>
        </p:txBody>
      </p:sp>
      <p:sp>
        <p:nvSpPr>
          <p:cNvPr id="58374" name="Text Box 6"/>
          <p:cNvSpPr txBox="1"/>
          <p:nvPr/>
        </p:nvSpPr>
        <p:spPr>
          <a:xfrm>
            <a:off x="1066800" y="3962400"/>
            <a:ext cx="83820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根据设计要求构成功能正确、经济、可靠的电路</a:t>
            </a:r>
            <a:endParaRPr lang="zh-CN" altLang="en-US" sz="2400" b="1" dirty="0"/>
          </a:p>
        </p:txBody>
      </p:sp>
      <p:sp>
        <p:nvSpPr>
          <p:cNvPr id="58375" name="Text Box 7"/>
          <p:cNvSpPr txBox="1"/>
          <p:nvPr/>
        </p:nvSpPr>
        <p:spPr>
          <a:xfrm>
            <a:off x="901700" y="609600"/>
            <a:ext cx="2327275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（１）组合电路</a:t>
            </a:r>
            <a:endParaRPr lang="zh-CN" altLang="en-US" sz="2400" b="1" dirty="0"/>
          </a:p>
        </p:txBody>
      </p:sp>
      <p:sp>
        <p:nvSpPr>
          <p:cNvPr id="58376" name="Text Box 8"/>
          <p:cNvSpPr txBox="1"/>
          <p:nvPr/>
        </p:nvSpPr>
        <p:spPr>
          <a:xfrm>
            <a:off x="901700" y="2362200"/>
            <a:ext cx="3244850" cy="4572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（２）组合电路的分析</a:t>
            </a:r>
            <a:endParaRPr lang="zh-CN" altLang="en-US" sz="2400" b="1" dirty="0"/>
          </a:p>
        </p:txBody>
      </p:sp>
      <p:sp>
        <p:nvSpPr>
          <p:cNvPr id="58377" name="Text Box 9"/>
          <p:cNvSpPr txBox="1"/>
          <p:nvPr/>
        </p:nvSpPr>
        <p:spPr>
          <a:xfrm>
            <a:off x="895350" y="3429000"/>
            <a:ext cx="32448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（３）组合电路的设计</a:t>
            </a:r>
            <a:endParaRPr lang="zh-CN" altLang="en-US" sz="2400" b="1" dirty="0"/>
          </a:p>
        </p:txBody>
      </p:sp>
      <p:sp>
        <p:nvSpPr>
          <p:cNvPr id="58378" name="Text Box 10"/>
          <p:cNvSpPr txBox="1"/>
          <p:nvPr/>
        </p:nvSpPr>
        <p:spPr>
          <a:xfrm>
            <a:off x="904875" y="4495800"/>
            <a:ext cx="4778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（４）常用的中规模组合逻辑模块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/>
      <p:bldP spid="58371" grpId="0" animBg="1"/>
      <p:bldP spid="58372" grpId="0"/>
      <p:bldP spid="58373" grpId="0"/>
      <p:bldP spid="58374" grpId="0"/>
      <p:bldP spid="58375" grpId="0" animBg="1"/>
      <p:bldP spid="58376" grpId="0" animBg="1"/>
      <p:bldP spid="58377" grpId="0"/>
      <p:bldP spid="58378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6018" name="Group 2"/>
          <p:cNvGrpSpPr/>
          <p:nvPr/>
        </p:nvGrpSpPr>
        <p:grpSpPr>
          <a:xfrm>
            <a:off x="2590800" y="457200"/>
            <a:ext cx="2819400" cy="685800"/>
            <a:chOff x="1632" y="288"/>
            <a:chExt cx="1776" cy="432"/>
          </a:xfrm>
        </p:grpSpPr>
        <p:sp>
          <p:nvSpPr>
            <p:cNvPr id="86030" name="Oval 3"/>
            <p:cNvSpPr/>
            <p:nvPr/>
          </p:nvSpPr>
          <p:spPr>
            <a:xfrm>
              <a:off x="1632" y="336"/>
              <a:ext cx="1776" cy="384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86031" name="Text Box 4"/>
            <p:cNvSpPr txBox="1"/>
            <p:nvPr/>
          </p:nvSpPr>
          <p:spPr>
            <a:xfrm>
              <a:off x="1968" y="288"/>
              <a:ext cx="984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3600" b="1" dirty="0">
                  <a:solidFill>
                    <a:srgbClr val="A5002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作  业</a:t>
              </a:r>
              <a:endParaRPr lang="zh-CN" altLang="en-US" sz="36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86019" name="Rectangle 5"/>
          <p:cNvSpPr/>
          <p:nvPr/>
        </p:nvSpPr>
        <p:spPr>
          <a:xfrm>
            <a:off x="533400" y="1676400"/>
            <a:ext cx="8001000" cy="2362200"/>
          </a:xfrm>
          <a:prstGeom prst="rect">
            <a:avLst/>
          </a:prstGeom>
          <a:noFill/>
          <a:ln w="57150" cap="flat" cmpd="thinThick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86020" name="Text Box 6"/>
          <p:cNvSpPr txBox="1"/>
          <p:nvPr/>
        </p:nvSpPr>
        <p:spPr>
          <a:xfrm>
            <a:off x="620713" y="20574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3-3</a:t>
            </a:r>
            <a:r>
              <a:rPr lang="zh-CN" altLang="en-US" sz="2400" b="1" dirty="0"/>
              <a:t>、</a:t>
            </a:r>
            <a:endParaRPr lang="zh-CN" altLang="en-US" sz="2400" b="1" dirty="0"/>
          </a:p>
        </p:txBody>
      </p:sp>
      <p:sp>
        <p:nvSpPr>
          <p:cNvPr id="86021" name="Text Box 7"/>
          <p:cNvSpPr txBox="1"/>
          <p:nvPr/>
        </p:nvSpPr>
        <p:spPr>
          <a:xfrm>
            <a:off x="1468438" y="20574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3-4</a:t>
            </a:r>
            <a:r>
              <a:rPr lang="zh-CN" altLang="en-US" sz="2400" b="1" dirty="0"/>
              <a:t>、</a:t>
            </a:r>
            <a:endParaRPr lang="zh-CN" altLang="en-US" sz="2400" b="1" dirty="0"/>
          </a:p>
        </p:txBody>
      </p:sp>
      <p:sp>
        <p:nvSpPr>
          <p:cNvPr id="86022" name="Text Box 8"/>
          <p:cNvSpPr txBox="1"/>
          <p:nvPr/>
        </p:nvSpPr>
        <p:spPr>
          <a:xfrm>
            <a:off x="2232025" y="20574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3-5</a:t>
            </a:r>
            <a:r>
              <a:rPr lang="zh-CN" altLang="en-US" sz="2400" b="1" dirty="0"/>
              <a:t>、</a:t>
            </a:r>
            <a:endParaRPr lang="zh-CN" altLang="en-US" sz="2400" b="1" dirty="0"/>
          </a:p>
        </p:txBody>
      </p:sp>
      <p:sp>
        <p:nvSpPr>
          <p:cNvPr id="86023" name="Text Box 9"/>
          <p:cNvSpPr txBox="1"/>
          <p:nvPr/>
        </p:nvSpPr>
        <p:spPr>
          <a:xfrm>
            <a:off x="2994025" y="20574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3-6</a:t>
            </a:r>
            <a:r>
              <a:rPr lang="zh-CN" altLang="en-US" sz="2400" b="1" dirty="0"/>
              <a:t>、</a:t>
            </a:r>
            <a:endParaRPr lang="zh-CN" altLang="en-US" sz="2400" b="1" dirty="0"/>
          </a:p>
        </p:txBody>
      </p:sp>
      <p:sp>
        <p:nvSpPr>
          <p:cNvPr id="86024" name="Text Box 10"/>
          <p:cNvSpPr txBox="1"/>
          <p:nvPr/>
        </p:nvSpPr>
        <p:spPr>
          <a:xfrm>
            <a:off x="3756025" y="20574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3-8</a:t>
            </a:r>
            <a:r>
              <a:rPr lang="zh-CN" altLang="en-US" sz="2400" b="1" dirty="0"/>
              <a:t>、</a:t>
            </a:r>
            <a:endParaRPr lang="zh-CN" altLang="en-US" sz="2400" b="1" dirty="0"/>
          </a:p>
        </p:txBody>
      </p:sp>
      <p:sp>
        <p:nvSpPr>
          <p:cNvPr id="86025" name="Text Box 11"/>
          <p:cNvSpPr txBox="1"/>
          <p:nvPr/>
        </p:nvSpPr>
        <p:spPr>
          <a:xfrm>
            <a:off x="4518025" y="2057400"/>
            <a:ext cx="8921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3-9</a:t>
            </a:r>
            <a:r>
              <a:rPr lang="zh-CN" altLang="en-US" sz="2400" b="1" dirty="0"/>
              <a:t>、</a:t>
            </a:r>
            <a:endParaRPr lang="zh-CN" altLang="en-US" sz="2400" b="1" dirty="0"/>
          </a:p>
        </p:txBody>
      </p:sp>
      <p:sp>
        <p:nvSpPr>
          <p:cNvPr id="86026" name="Text Box 12"/>
          <p:cNvSpPr txBox="1"/>
          <p:nvPr/>
        </p:nvSpPr>
        <p:spPr>
          <a:xfrm>
            <a:off x="5229225" y="2057400"/>
            <a:ext cx="10445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3-10</a:t>
            </a:r>
            <a:r>
              <a:rPr lang="zh-CN" altLang="en-US" sz="2400" b="1" dirty="0"/>
              <a:t>、</a:t>
            </a:r>
            <a:endParaRPr lang="zh-CN" altLang="en-US" sz="2400" b="1" dirty="0"/>
          </a:p>
        </p:txBody>
      </p:sp>
      <p:sp>
        <p:nvSpPr>
          <p:cNvPr id="86027" name="Text Box 13"/>
          <p:cNvSpPr txBox="1"/>
          <p:nvPr/>
        </p:nvSpPr>
        <p:spPr>
          <a:xfrm>
            <a:off x="6118225" y="2057400"/>
            <a:ext cx="10445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3-11</a:t>
            </a:r>
            <a:r>
              <a:rPr lang="zh-CN" altLang="en-US" sz="2400" b="1" dirty="0"/>
              <a:t>、</a:t>
            </a:r>
            <a:endParaRPr lang="zh-CN" altLang="en-US" sz="2400" b="1" dirty="0"/>
          </a:p>
        </p:txBody>
      </p:sp>
      <p:sp>
        <p:nvSpPr>
          <p:cNvPr id="86028" name="Text Box 14"/>
          <p:cNvSpPr txBox="1"/>
          <p:nvPr/>
        </p:nvSpPr>
        <p:spPr>
          <a:xfrm>
            <a:off x="7032625" y="2057400"/>
            <a:ext cx="10445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3-15</a:t>
            </a:r>
            <a:r>
              <a:rPr lang="zh-CN" altLang="en-US" sz="2400" b="1" dirty="0"/>
              <a:t>、</a:t>
            </a:r>
            <a:endParaRPr lang="zh-CN" altLang="en-US" sz="2400" b="1" dirty="0"/>
          </a:p>
        </p:txBody>
      </p:sp>
      <p:sp>
        <p:nvSpPr>
          <p:cNvPr id="86029" name="Text Box 15"/>
          <p:cNvSpPr txBox="1"/>
          <p:nvPr/>
        </p:nvSpPr>
        <p:spPr>
          <a:xfrm>
            <a:off x="609600" y="2971800"/>
            <a:ext cx="7429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3-16</a:t>
            </a:r>
            <a:endParaRPr lang="en-US" altLang="zh-CN" sz="2400" b="1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7042" name="Object 2"/>
          <p:cNvGraphicFramePr>
            <a:graphicFrameLocks noChangeAspect="1"/>
          </p:cNvGraphicFramePr>
          <p:nvPr/>
        </p:nvGraphicFramePr>
        <p:xfrm>
          <a:off x="1905000" y="2438400"/>
          <a:ext cx="6477000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1" imgW="3629025" imgH="2514600" progId="Paint.Picture">
                  <p:embed/>
                </p:oleObj>
              </mc:Choice>
              <mc:Fallback>
                <p:oleObj name="" r:id="rId1" imgW="3629025" imgH="2514600" progId="Paint.Picture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5000" y="2438400"/>
                        <a:ext cx="6477000" cy="388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3" name="Rectangle 3"/>
          <p:cNvSpPr/>
          <p:nvPr/>
        </p:nvSpPr>
        <p:spPr>
          <a:xfrm>
            <a:off x="457200" y="1219200"/>
            <a:ext cx="11080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电路图</a:t>
            </a:r>
            <a:endParaRPr lang="zh-CN" altLang="en-US" sz="2400" b="1" dirty="0"/>
          </a:p>
        </p:txBody>
      </p:sp>
      <p:sp>
        <p:nvSpPr>
          <p:cNvPr id="87044" name="Oval 4"/>
          <p:cNvSpPr/>
          <p:nvPr/>
        </p:nvSpPr>
        <p:spPr>
          <a:xfrm>
            <a:off x="1828800" y="4800600"/>
            <a:ext cx="609600" cy="1295400"/>
          </a:xfrm>
          <a:prstGeom prst="ellipse">
            <a:avLst/>
          </a:prstGeom>
          <a:noFill/>
          <a:ln w="412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87045" name="Group 5"/>
          <p:cNvGrpSpPr/>
          <p:nvPr/>
        </p:nvGrpSpPr>
        <p:grpSpPr>
          <a:xfrm>
            <a:off x="0" y="4419600"/>
            <a:ext cx="1677988" cy="457200"/>
            <a:chOff x="0" y="3120"/>
            <a:chExt cx="1057" cy="288"/>
          </a:xfrm>
        </p:grpSpPr>
        <p:sp>
          <p:nvSpPr>
            <p:cNvPr id="87052" name="Text Box 6"/>
            <p:cNvSpPr txBox="1"/>
            <p:nvPr/>
          </p:nvSpPr>
          <p:spPr>
            <a:xfrm>
              <a:off x="75" y="3120"/>
              <a:ext cx="982" cy="288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8</a:t>
              </a:r>
              <a:r>
                <a:rPr lang="en-US" altLang="zh-CN" sz="2400" dirty="0">
                  <a:latin typeface="宋体" panose="02010600030101010101" pitchFamily="2" charset="-122"/>
                </a:rPr>
                <a:t>421BCD</a:t>
              </a:r>
              <a:r>
                <a:rPr lang="zh-CN" altLang="en-US" sz="2400" dirty="0">
                  <a:latin typeface="宋体" panose="02010600030101010101" pitchFamily="2" charset="-122"/>
                </a:rPr>
                <a:t>码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87053" name="AutoShape 7"/>
            <p:cNvSpPr/>
            <p:nvPr/>
          </p:nvSpPr>
          <p:spPr>
            <a:xfrm>
              <a:off x="0" y="3120"/>
              <a:ext cx="1056" cy="288"/>
            </a:xfrm>
            <a:prstGeom prst="wedgeRectCallout">
              <a:avLst>
                <a:gd name="adj1" fmla="val 45833"/>
                <a:gd name="adj2" fmla="val 7534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87046" name="Oval 8"/>
          <p:cNvSpPr/>
          <p:nvPr/>
        </p:nvSpPr>
        <p:spPr>
          <a:xfrm>
            <a:off x="2743200" y="2362200"/>
            <a:ext cx="5715000" cy="533400"/>
          </a:xfrm>
          <a:prstGeom prst="ellipse">
            <a:avLst/>
          </a:prstGeom>
          <a:noFill/>
          <a:ln w="412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87047" name="Group 9"/>
          <p:cNvGrpSpPr/>
          <p:nvPr/>
        </p:nvGrpSpPr>
        <p:grpSpPr>
          <a:xfrm>
            <a:off x="6019800" y="1447800"/>
            <a:ext cx="1006475" cy="533400"/>
            <a:chOff x="3792" y="1248"/>
            <a:chExt cx="634" cy="336"/>
          </a:xfrm>
        </p:grpSpPr>
        <p:sp>
          <p:nvSpPr>
            <p:cNvPr id="87050" name="Text Box 10"/>
            <p:cNvSpPr txBox="1"/>
            <p:nvPr/>
          </p:nvSpPr>
          <p:spPr>
            <a:xfrm>
              <a:off x="3830" y="1296"/>
              <a:ext cx="596" cy="288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宋体" panose="02010600030101010101" pitchFamily="2" charset="-122"/>
                </a:rPr>
                <a:t>余</a:t>
              </a:r>
              <a:r>
                <a:rPr lang="en-US" altLang="zh-CN" sz="2400" dirty="0">
                  <a:latin typeface="宋体" panose="02010600030101010101" pitchFamily="2" charset="-122"/>
                </a:rPr>
                <a:t>3</a:t>
              </a:r>
              <a:r>
                <a:rPr lang="zh-CN" altLang="en-US" sz="2400" dirty="0">
                  <a:latin typeface="宋体" panose="02010600030101010101" pitchFamily="2" charset="-122"/>
                </a:rPr>
                <a:t>码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87051" name="AutoShape 11"/>
            <p:cNvSpPr/>
            <p:nvPr/>
          </p:nvSpPr>
          <p:spPr>
            <a:xfrm>
              <a:off x="3792" y="1248"/>
              <a:ext cx="624" cy="336"/>
            </a:xfrm>
            <a:prstGeom prst="wedgeRectCallout">
              <a:avLst>
                <a:gd name="adj1" fmla="val -43750"/>
                <a:gd name="adj2" fmla="val 7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87048" name="Text Box 12"/>
          <p:cNvSpPr txBox="1"/>
          <p:nvPr/>
        </p:nvSpPr>
        <p:spPr>
          <a:xfrm>
            <a:off x="304800" y="304800"/>
            <a:ext cx="5454650" cy="5127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400" b="1" dirty="0"/>
              <a:t>试将</a:t>
            </a:r>
            <a:r>
              <a:rPr lang="en-US" altLang="zh-CN" sz="2400" b="1" dirty="0"/>
              <a:t>8421BCD</a:t>
            </a:r>
            <a:r>
              <a:rPr lang="zh-CN" altLang="en-US" sz="2400" b="1" dirty="0"/>
              <a:t>码转换成余</a:t>
            </a:r>
            <a:r>
              <a:rPr lang="en-US" altLang="zh-CN" sz="2400" b="1" dirty="0"/>
              <a:t>3BCD</a:t>
            </a:r>
            <a:r>
              <a:rPr lang="zh-CN" altLang="en-US" sz="2400" b="1" dirty="0"/>
              <a:t>码</a:t>
            </a:r>
            <a:endParaRPr lang="zh-CN" altLang="en-US" sz="2400" b="1" dirty="0"/>
          </a:p>
        </p:txBody>
      </p:sp>
      <p:sp>
        <p:nvSpPr>
          <p:cNvPr id="87049" name="AutoShape 13">
            <a:hlinkClick r:id="rId3" action="ppaction://hlinksldjump"/>
          </p:cNvPr>
          <p:cNvSpPr/>
          <p:nvPr/>
        </p:nvSpPr>
        <p:spPr>
          <a:xfrm>
            <a:off x="8305800" y="6096000"/>
            <a:ext cx="838200" cy="762000"/>
          </a:xfrm>
          <a:prstGeom prst="actionButtonBackPrevious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Text Box 2"/>
          <p:cNvSpPr txBox="1"/>
          <p:nvPr/>
        </p:nvSpPr>
        <p:spPr>
          <a:xfrm>
            <a:off x="381000" y="838200"/>
            <a:ext cx="830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6</a:t>
            </a:r>
            <a:r>
              <a:rPr lang="zh-CN" altLang="en-US" sz="2400" b="1" dirty="0"/>
              <a:t>：试用四位加法器实现</a:t>
            </a:r>
            <a:r>
              <a:rPr lang="en-US" altLang="zh-CN" sz="2400" b="1" dirty="0"/>
              <a:t>8421BCD</a:t>
            </a:r>
            <a:r>
              <a:rPr lang="zh-CN" altLang="en-US" sz="2400" b="1" dirty="0"/>
              <a:t>码至余</a:t>
            </a:r>
            <a:r>
              <a:rPr lang="en-US" altLang="zh-CN" sz="2400" b="1" dirty="0"/>
              <a:t>3BCD</a:t>
            </a:r>
            <a:r>
              <a:rPr lang="zh-CN" altLang="en-US" sz="2400" b="1" dirty="0"/>
              <a:t>码的转换。</a:t>
            </a:r>
            <a:endParaRPr lang="zh-CN" altLang="en-US" sz="2400" b="1" dirty="0"/>
          </a:p>
        </p:txBody>
      </p:sp>
      <p:graphicFrame>
        <p:nvGraphicFramePr>
          <p:cNvPr id="88067" name="Object 11"/>
          <p:cNvGraphicFramePr>
            <a:graphicFrameLocks noChangeAspect="1"/>
          </p:cNvGraphicFramePr>
          <p:nvPr/>
        </p:nvGraphicFramePr>
        <p:xfrm>
          <a:off x="1295400" y="1600200"/>
          <a:ext cx="69342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" name="" r:id="rId1" imgW="2686050" imgH="1895475" progId="Paint.Picture">
                  <p:embed/>
                </p:oleObj>
              </mc:Choice>
              <mc:Fallback>
                <p:oleObj name="" r:id="rId1" imgW="2686050" imgH="1895475" progId="Paint.Picture">
                  <p:embed/>
                  <p:pic>
                    <p:nvPicPr>
                      <p:cNvPr id="0" name="图片 323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5400" y="1600200"/>
                        <a:ext cx="6934200" cy="3962400"/>
                      </a:xfrm>
                      <a:prstGeom prst="rect">
                        <a:avLst/>
                      </a:prstGeom>
                      <a:noFill/>
                      <a:ln w="57150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8" name="AutoShape 13">
            <a:hlinkClick r:id="rId3" action="ppaction://hlinksldjump"/>
          </p:cNvPr>
          <p:cNvSpPr/>
          <p:nvPr/>
        </p:nvSpPr>
        <p:spPr>
          <a:xfrm>
            <a:off x="8077200" y="6096000"/>
            <a:ext cx="685800" cy="457200"/>
          </a:xfrm>
          <a:prstGeom prst="actionButtonBackPrevious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10815</Words>
  <Application>WPS 演示</Application>
  <PresentationFormat>全屏显示(4:3)</PresentationFormat>
  <Paragraphs>1158</Paragraphs>
  <Slides>81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175</vt:i4>
      </vt:variant>
      <vt:variant>
        <vt:lpstr>幻灯片标题</vt:lpstr>
      </vt:variant>
      <vt:variant>
        <vt:i4>81</vt:i4>
      </vt:variant>
    </vt:vector>
  </HeadingPairs>
  <TitlesOfParts>
    <vt:vector size="267" baseType="lpstr">
      <vt:lpstr>Arial</vt:lpstr>
      <vt:lpstr>宋体</vt:lpstr>
      <vt:lpstr>Wingdings</vt:lpstr>
      <vt:lpstr>Times New Roman</vt:lpstr>
      <vt:lpstr>隶书</vt:lpstr>
      <vt:lpstr>黑体</vt:lpstr>
      <vt:lpstr>Courier New</vt:lpstr>
      <vt:lpstr>微软雅黑</vt:lpstr>
      <vt:lpstr>Arial Unicode MS</vt:lpstr>
      <vt:lpstr>Times New Roman</vt:lpstr>
      <vt:lpstr>默认设计模板</vt:lpstr>
      <vt:lpstr>MS_ClipArt_Gallery.2</vt:lpstr>
      <vt:lpstr>Equation.3</vt:lpstr>
      <vt:lpstr>Equation.DSMT4</vt:lpstr>
      <vt:lpstr>Equation.3</vt:lpstr>
      <vt:lpstr>Equation.3</vt:lpstr>
      <vt:lpstr>Equation.3</vt:lpstr>
      <vt:lpstr>Equation.3</vt:lpstr>
      <vt:lpstr>Visio.Drawing.4</vt:lpstr>
      <vt:lpstr>Visio.Drawing.4</vt:lpstr>
      <vt:lpstr>Equation.3</vt:lpstr>
      <vt:lpstr>Equation.3</vt:lpstr>
      <vt:lpstr>Equation.3</vt:lpstr>
      <vt:lpstr>Equation.3</vt:lpstr>
      <vt:lpstr>Visio.Drawing.4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Paint.Picture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Paint.Picture</vt:lpstr>
      <vt:lpstr>Paint.Picture</vt:lpstr>
      <vt:lpstr>Word.Document.8</vt:lpstr>
      <vt:lpstr>Equation.3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Equation.3</vt:lpstr>
      <vt:lpstr>Equation.3</vt:lpstr>
      <vt:lpstr>MS_ClipArt_Gallery.2</vt:lpstr>
      <vt:lpstr>Paint.Picture</vt:lpstr>
      <vt:lpstr>Paint.Picture</vt:lpstr>
      <vt:lpstr>Paint.Picture</vt:lpstr>
      <vt:lpstr>Paint.Picture</vt:lpstr>
      <vt:lpstr>Paint.Picture</vt:lpstr>
      <vt:lpstr>Paint.Picture</vt:lpstr>
      <vt:lpstr>Equation.3</vt:lpstr>
      <vt:lpstr>Paint.Picture</vt:lpstr>
      <vt:lpstr>Equation.3</vt:lpstr>
      <vt:lpstr>Paint.Picture</vt:lpstr>
      <vt:lpstr>MS_ClipArt_Gallery.2</vt:lpstr>
      <vt:lpstr>Equation.DSMT4</vt:lpstr>
      <vt:lpstr>Equation.DSMT4</vt:lpstr>
      <vt:lpstr>Paint.Picture</vt:lpstr>
      <vt:lpstr>Paint.Picture</vt:lpstr>
      <vt:lpstr>Paint.Picture</vt:lpstr>
      <vt:lpstr>Equation.DSMT4</vt:lpstr>
      <vt:lpstr>Equation.DSMT4</vt:lpstr>
      <vt:lpstr>Equation.DSMT4</vt:lpstr>
      <vt:lpstr>Equation.DSMT4</vt:lpstr>
      <vt:lpstr>Paint.Picture</vt:lpstr>
      <vt:lpstr>MS_ClipArt_Gallery.2</vt:lpstr>
      <vt:lpstr>Paint.Picture</vt:lpstr>
      <vt:lpstr>Paint.Picture</vt:lpstr>
      <vt:lpstr>Paint.Picture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MS_ClipArt_Gallery.2</vt:lpstr>
      <vt:lpstr>Equation.3</vt:lpstr>
      <vt:lpstr>Equation.3</vt:lpstr>
      <vt:lpstr>Paint.Picture</vt:lpstr>
      <vt:lpstr>Equation.3</vt:lpstr>
      <vt:lpstr>Equation.3</vt:lpstr>
      <vt:lpstr>Paint.Picture</vt:lpstr>
      <vt:lpstr>Paint.Picture</vt:lpstr>
      <vt:lpstr>Paint.Picture</vt:lpstr>
      <vt:lpstr>Equation.3</vt:lpstr>
      <vt:lpstr>Equation.3</vt:lpstr>
      <vt:lpstr>MS_ClipArt_Gallery.2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Visio.Drawing.4</vt:lpstr>
      <vt:lpstr>Equation.3</vt:lpstr>
      <vt:lpstr>Paint.Picture</vt:lpstr>
      <vt:lpstr>MS_ClipArt_Gallery.2</vt:lpstr>
      <vt:lpstr>Visio.Drawing.4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Paint.Picture</vt:lpstr>
      <vt:lpstr>Paint.Picture</vt:lpstr>
      <vt:lpstr>Paint.Picture</vt:lpstr>
      <vt:lpstr>Paint.Picture</vt:lpstr>
      <vt:lpstr>Paint.Picture</vt:lpstr>
      <vt:lpstr>Equation.3</vt:lpstr>
      <vt:lpstr>Equation.3</vt:lpstr>
      <vt:lpstr>Paint.Picture</vt:lpstr>
      <vt:lpstr>Paint.Picture</vt:lpstr>
      <vt:lpstr>Paint.Picture</vt:lpstr>
      <vt:lpstr>Paint.Picture</vt:lpstr>
      <vt:lpstr>Paint.Picture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student17</dc:creator>
  <cp:lastModifiedBy>WPS_1640354101</cp:lastModifiedBy>
  <cp:revision>117</cp:revision>
  <dcterms:created xsi:type="dcterms:W3CDTF">1999-07-21T08:09:51Z</dcterms:created>
  <dcterms:modified xsi:type="dcterms:W3CDTF">2024-03-28T07:02:15Z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BDD94E2BD6E2482EB6F045B4AAD3B5E2_13</vt:lpwstr>
  </property>
  <property fmtid="{D5CDD505-2E9C-101B-9397-08002B2CF9AE}" pid="3" name="KSOProductBuildVer">
    <vt:lpwstr>2052-12.1.0.16388</vt:lpwstr>
  </property>
</Properties>
</file>