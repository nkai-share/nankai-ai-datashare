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wmf" ContentType="image/x-wmf"/>
  <Default Extension="gif" ContentType="image/gif"/>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402" r:id="rId18"/>
    <p:sldId id="271" r:id="rId19"/>
    <p:sldId id="272" r:id="rId20"/>
    <p:sldId id="274" r:id="rId21"/>
    <p:sldId id="273" r:id="rId22"/>
    <p:sldId id="276" r:id="rId23"/>
    <p:sldId id="275" r:id="rId24"/>
    <p:sldId id="278" r:id="rId25"/>
    <p:sldId id="277" r:id="rId26"/>
    <p:sldId id="280" r:id="rId27"/>
    <p:sldId id="279" r:id="rId28"/>
    <p:sldId id="282" r:id="rId29"/>
    <p:sldId id="281" r:id="rId30"/>
    <p:sldId id="284" r:id="rId31"/>
    <p:sldId id="411" r:id="rId32"/>
    <p:sldId id="412" r:id="rId33"/>
    <p:sldId id="413" r:id="rId34"/>
    <p:sldId id="414" r:id="rId35"/>
    <p:sldId id="283" r:id="rId36"/>
    <p:sldId id="286" r:id="rId37"/>
    <p:sldId id="285" r:id="rId38"/>
    <p:sldId id="288" r:id="rId39"/>
    <p:sldId id="287" r:id="rId40"/>
    <p:sldId id="290" r:id="rId41"/>
    <p:sldId id="289" r:id="rId42"/>
    <p:sldId id="292" r:id="rId43"/>
    <p:sldId id="291" r:id="rId44"/>
    <p:sldId id="294" r:id="rId45"/>
    <p:sldId id="293" r:id="rId46"/>
    <p:sldId id="296" r:id="rId47"/>
    <p:sldId id="295" r:id="rId48"/>
    <p:sldId id="298" r:id="rId49"/>
    <p:sldId id="297" r:id="rId50"/>
    <p:sldId id="300" r:id="rId51"/>
    <p:sldId id="299" r:id="rId52"/>
    <p:sldId id="302" r:id="rId53"/>
    <p:sldId id="301" r:id="rId54"/>
    <p:sldId id="304" r:id="rId55"/>
    <p:sldId id="303" r:id="rId56"/>
    <p:sldId id="305" r:id="rId57"/>
    <p:sldId id="307" r:id="rId58"/>
    <p:sldId id="306" r:id="rId59"/>
    <p:sldId id="309" r:id="rId60"/>
    <p:sldId id="308" r:id="rId61"/>
    <p:sldId id="311" r:id="rId62"/>
    <p:sldId id="310" r:id="rId63"/>
    <p:sldId id="313" r:id="rId64"/>
    <p:sldId id="312" r:id="rId65"/>
    <p:sldId id="315" r:id="rId66"/>
    <p:sldId id="314" r:id="rId67"/>
    <p:sldId id="406" r:id="rId68"/>
    <p:sldId id="407" r:id="rId69"/>
    <p:sldId id="408" r:id="rId70"/>
    <p:sldId id="317" r:id="rId71"/>
    <p:sldId id="316" r:id="rId72"/>
    <p:sldId id="319" r:id="rId73"/>
    <p:sldId id="318" r:id="rId74"/>
    <p:sldId id="321" r:id="rId75"/>
    <p:sldId id="320" r:id="rId76"/>
    <p:sldId id="323" r:id="rId77"/>
    <p:sldId id="322" r:id="rId78"/>
    <p:sldId id="326" r:id="rId79"/>
    <p:sldId id="325" r:id="rId80"/>
    <p:sldId id="324" r:id="rId81"/>
    <p:sldId id="328" r:id="rId82"/>
    <p:sldId id="327" r:id="rId83"/>
    <p:sldId id="330" r:id="rId84"/>
    <p:sldId id="329" r:id="rId85"/>
    <p:sldId id="332" r:id="rId86"/>
    <p:sldId id="331" r:id="rId87"/>
    <p:sldId id="334" r:id="rId88"/>
    <p:sldId id="333" r:id="rId89"/>
    <p:sldId id="403" r:id="rId90"/>
    <p:sldId id="336" r:id="rId91"/>
    <p:sldId id="335" r:id="rId92"/>
    <p:sldId id="338" r:id="rId93"/>
    <p:sldId id="337" r:id="rId94"/>
    <p:sldId id="340" r:id="rId95"/>
    <p:sldId id="339" r:id="rId96"/>
    <p:sldId id="342" r:id="rId97"/>
    <p:sldId id="341" r:id="rId98"/>
    <p:sldId id="344" r:id="rId99"/>
    <p:sldId id="343" r:id="rId100"/>
    <p:sldId id="346" r:id="rId101"/>
    <p:sldId id="345" r:id="rId102"/>
    <p:sldId id="348" r:id="rId103"/>
    <p:sldId id="347" r:id="rId104"/>
    <p:sldId id="350" r:id="rId105"/>
    <p:sldId id="349" r:id="rId106"/>
    <p:sldId id="352" r:id="rId107"/>
    <p:sldId id="405" r:id="rId108"/>
    <p:sldId id="351" r:id="rId109"/>
    <p:sldId id="354" r:id="rId110"/>
    <p:sldId id="353" r:id="rId111"/>
    <p:sldId id="356" r:id="rId112"/>
    <p:sldId id="355" r:id="rId113"/>
    <p:sldId id="358" r:id="rId114"/>
    <p:sldId id="357" r:id="rId115"/>
    <p:sldId id="361" r:id="rId116"/>
    <p:sldId id="360" r:id="rId117"/>
    <p:sldId id="359" r:id="rId118"/>
    <p:sldId id="363" r:id="rId119"/>
    <p:sldId id="362" r:id="rId120"/>
    <p:sldId id="365" r:id="rId121"/>
    <p:sldId id="404" r:id="rId122"/>
    <p:sldId id="364" r:id="rId123"/>
    <p:sldId id="366" r:id="rId124"/>
    <p:sldId id="368" r:id="rId125"/>
    <p:sldId id="367" r:id="rId126"/>
    <p:sldId id="370" r:id="rId127"/>
    <p:sldId id="410" r:id="rId128"/>
    <p:sldId id="409" r:id="rId129"/>
    <p:sldId id="369" r:id="rId130"/>
    <p:sldId id="372" r:id="rId131"/>
    <p:sldId id="371" r:id="rId132"/>
    <p:sldId id="374" r:id="rId133"/>
    <p:sldId id="373" r:id="rId134"/>
    <p:sldId id="375" r:id="rId135"/>
    <p:sldId id="377" r:id="rId136"/>
    <p:sldId id="376" r:id="rId137"/>
    <p:sldId id="379" r:id="rId138"/>
    <p:sldId id="378" r:id="rId139"/>
    <p:sldId id="381" r:id="rId140"/>
    <p:sldId id="416" r:id="rId141"/>
    <p:sldId id="417" r:id="rId142"/>
    <p:sldId id="418" r:id="rId143"/>
    <p:sldId id="419" r:id="rId144"/>
    <p:sldId id="420" r:id="rId145"/>
    <p:sldId id="421" r:id="rId146"/>
    <p:sldId id="422" r:id="rId147"/>
    <p:sldId id="423" r:id="rId148"/>
    <p:sldId id="424" r:id="rId149"/>
    <p:sldId id="425" r:id="rId150"/>
    <p:sldId id="426" r:id="rId151"/>
    <p:sldId id="427" r:id="rId152"/>
    <p:sldId id="428" r:id="rId153"/>
    <p:sldId id="429" r:id="rId154"/>
    <p:sldId id="431" r:id="rId155"/>
    <p:sldId id="432" r:id="rId156"/>
    <p:sldId id="433" r:id="rId157"/>
    <p:sldId id="434" r:id="rId158"/>
    <p:sldId id="435" r:id="rId159"/>
    <p:sldId id="436" r:id="rId160"/>
    <p:sldId id="437" r:id="rId161"/>
    <p:sldId id="438" r:id="rId162"/>
    <p:sldId id="439" r:id="rId163"/>
  </p:sldIdLst>
  <p:sldSz cx="9144000" cy="6858000" type="screen4x3"/>
  <p:notesSz cx="6858000" cy="9144000"/>
  <p:defaultTextStyle>
    <a:defPPr>
      <a:defRPr lang="zh-CN"/>
    </a:defPPr>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horzBarState="maximized">
    <p:restoredLeft sz="15620"/>
    <p:restoredTop sz="94660"/>
  </p:normalViewPr>
  <p:slideViewPr>
    <p:cSldViewPr showGuides="1">
      <p:cViewPr varScale="1">
        <p:scale>
          <a:sx n="78" d="100"/>
          <a:sy n="78" d="100"/>
        </p:scale>
        <p:origin x="-210"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showFormatting="0">
    <p:cViewPr>
      <p:scale>
        <a:sx n="66" d="100"/>
        <a:sy n="66" d="100"/>
      </p:scale>
      <p:origin x="0" y="18048"/>
    </p:cViewPr>
  </p:sorter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slide" Target="slides/slide97.xml"/><Relationship Id="rId98" Type="http://schemas.openxmlformats.org/officeDocument/2006/relationships/slide" Target="slides/slide96.xml"/><Relationship Id="rId97" Type="http://schemas.openxmlformats.org/officeDocument/2006/relationships/slide" Target="slides/slide95.xml"/><Relationship Id="rId96" Type="http://schemas.openxmlformats.org/officeDocument/2006/relationships/slide" Target="slides/slide94.xml"/><Relationship Id="rId95" Type="http://schemas.openxmlformats.org/officeDocument/2006/relationships/slide" Target="slides/slide93.xml"/><Relationship Id="rId94" Type="http://schemas.openxmlformats.org/officeDocument/2006/relationships/slide" Target="slides/slide92.xml"/><Relationship Id="rId93" Type="http://schemas.openxmlformats.org/officeDocument/2006/relationships/slide" Target="slides/slide91.xml"/><Relationship Id="rId92" Type="http://schemas.openxmlformats.org/officeDocument/2006/relationships/slide" Target="slides/slide90.xml"/><Relationship Id="rId91" Type="http://schemas.openxmlformats.org/officeDocument/2006/relationships/slide" Target="slides/slide89.xml"/><Relationship Id="rId90" Type="http://schemas.openxmlformats.org/officeDocument/2006/relationships/slide" Target="slides/slide88.xml"/><Relationship Id="rId9" Type="http://schemas.openxmlformats.org/officeDocument/2006/relationships/slide" Target="slides/slide7.xml"/><Relationship Id="rId89" Type="http://schemas.openxmlformats.org/officeDocument/2006/relationships/slide" Target="slides/slide87.xml"/><Relationship Id="rId88" Type="http://schemas.openxmlformats.org/officeDocument/2006/relationships/slide" Target="slides/slide86.xml"/><Relationship Id="rId87" Type="http://schemas.openxmlformats.org/officeDocument/2006/relationships/slide" Target="slides/slide85.xml"/><Relationship Id="rId86" Type="http://schemas.openxmlformats.org/officeDocument/2006/relationships/slide" Target="slides/slide84.xml"/><Relationship Id="rId85" Type="http://schemas.openxmlformats.org/officeDocument/2006/relationships/slide" Target="slides/slide83.xml"/><Relationship Id="rId84" Type="http://schemas.openxmlformats.org/officeDocument/2006/relationships/slide" Target="slides/slide82.xml"/><Relationship Id="rId83" Type="http://schemas.openxmlformats.org/officeDocument/2006/relationships/slide" Target="slides/slide81.xml"/><Relationship Id="rId82" Type="http://schemas.openxmlformats.org/officeDocument/2006/relationships/slide" Target="slides/slide80.xml"/><Relationship Id="rId81" Type="http://schemas.openxmlformats.org/officeDocument/2006/relationships/slide" Target="slides/slide79.xml"/><Relationship Id="rId80" Type="http://schemas.openxmlformats.org/officeDocument/2006/relationships/slide" Target="slides/slide78.xml"/><Relationship Id="rId8" Type="http://schemas.openxmlformats.org/officeDocument/2006/relationships/slide" Target="slides/slide6.xml"/><Relationship Id="rId79" Type="http://schemas.openxmlformats.org/officeDocument/2006/relationships/slide" Target="slides/slide77.xml"/><Relationship Id="rId78" Type="http://schemas.openxmlformats.org/officeDocument/2006/relationships/slide" Target="slides/slide76.xml"/><Relationship Id="rId77" Type="http://schemas.openxmlformats.org/officeDocument/2006/relationships/slide" Target="slides/slide75.xml"/><Relationship Id="rId76" Type="http://schemas.openxmlformats.org/officeDocument/2006/relationships/slide" Target="slides/slide74.xml"/><Relationship Id="rId75" Type="http://schemas.openxmlformats.org/officeDocument/2006/relationships/slide" Target="slides/slide73.xml"/><Relationship Id="rId74" Type="http://schemas.openxmlformats.org/officeDocument/2006/relationships/slide" Target="slides/slide72.xml"/><Relationship Id="rId73" Type="http://schemas.openxmlformats.org/officeDocument/2006/relationships/slide" Target="slides/slide71.xml"/><Relationship Id="rId72" Type="http://schemas.openxmlformats.org/officeDocument/2006/relationships/slide" Target="slides/slide70.xml"/><Relationship Id="rId71" Type="http://schemas.openxmlformats.org/officeDocument/2006/relationships/slide" Target="slides/slide69.xml"/><Relationship Id="rId70" Type="http://schemas.openxmlformats.org/officeDocument/2006/relationships/slide" Target="slides/slide68.xml"/><Relationship Id="rId7" Type="http://schemas.openxmlformats.org/officeDocument/2006/relationships/slide" Target="slides/slide5.xml"/><Relationship Id="rId69" Type="http://schemas.openxmlformats.org/officeDocument/2006/relationships/slide" Target="slides/slide67.xml"/><Relationship Id="rId68" Type="http://schemas.openxmlformats.org/officeDocument/2006/relationships/slide" Target="slides/slide66.xml"/><Relationship Id="rId67" Type="http://schemas.openxmlformats.org/officeDocument/2006/relationships/slide" Target="slides/slide65.xml"/><Relationship Id="rId66" Type="http://schemas.openxmlformats.org/officeDocument/2006/relationships/slide" Target="slides/slide64.xml"/><Relationship Id="rId65" Type="http://schemas.openxmlformats.org/officeDocument/2006/relationships/slide" Target="slides/slide63.xml"/><Relationship Id="rId64" Type="http://schemas.openxmlformats.org/officeDocument/2006/relationships/slide" Target="slides/slide62.xml"/><Relationship Id="rId63" Type="http://schemas.openxmlformats.org/officeDocument/2006/relationships/slide" Target="slides/slide61.xml"/><Relationship Id="rId62" Type="http://schemas.openxmlformats.org/officeDocument/2006/relationships/slide" Target="slides/slide60.xml"/><Relationship Id="rId61" Type="http://schemas.openxmlformats.org/officeDocument/2006/relationships/slide" Target="slides/slide59.xml"/><Relationship Id="rId60" Type="http://schemas.openxmlformats.org/officeDocument/2006/relationships/slide" Target="slides/slide58.xml"/><Relationship Id="rId6" Type="http://schemas.openxmlformats.org/officeDocument/2006/relationships/slide" Target="slides/slide4.xml"/><Relationship Id="rId59" Type="http://schemas.openxmlformats.org/officeDocument/2006/relationships/slide" Target="slides/slide57.xml"/><Relationship Id="rId58" Type="http://schemas.openxmlformats.org/officeDocument/2006/relationships/slide" Target="slides/slide56.xml"/><Relationship Id="rId57" Type="http://schemas.openxmlformats.org/officeDocument/2006/relationships/slide" Target="slides/slide55.xml"/><Relationship Id="rId56" Type="http://schemas.openxmlformats.org/officeDocument/2006/relationships/slide" Target="slides/slide54.xml"/><Relationship Id="rId55" Type="http://schemas.openxmlformats.org/officeDocument/2006/relationships/slide" Target="slides/slide53.xml"/><Relationship Id="rId54" Type="http://schemas.openxmlformats.org/officeDocument/2006/relationships/slide" Target="slides/slide52.xml"/><Relationship Id="rId53" Type="http://schemas.openxmlformats.org/officeDocument/2006/relationships/slide" Target="slides/slide51.xml"/><Relationship Id="rId52" Type="http://schemas.openxmlformats.org/officeDocument/2006/relationships/slide" Target="slides/slide50.xml"/><Relationship Id="rId51" Type="http://schemas.openxmlformats.org/officeDocument/2006/relationships/slide" Target="slides/slide49.xml"/><Relationship Id="rId50" Type="http://schemas.openxmlformats.org/officeDocument/2006/relationships/slide" Target="slides/slide48.xml"/><Relationship Id="rId5" Type="http://schemas.openxmlformats.org/officeDocument/2006/relationships/slide" Target="slides/slide3.xml"/><Relationship Id="rId49" Type="http://schemas.openxmlformats.org/officeDocument/2006/relationships/slide" Target="slides/slide47.xml"/><Relationship Id="rId48" Type="http://schemas.openxmlformats.org/officeDocument/2006/relationships/slide" Target="slides/slide46.xml"/><Relationship Id="rId47" Type="http://schemas.openxmlformats.org/officeDocument/2006/relationships/slide" Target="slides/slide45.xml"/><Relationship Id="rId46" Type="http://schemas.openxmlformats.org/officeDocument/2006/relationships/slide" Target="slides/slide44.xml"/><Relationship Id="rId45" Type="http://schemas.openxmlformats.org/officeDocument/2006/relationships/slide" Target="slides/slide43.xml"/><Relationship Id="rId44" Type="http://schemas.openxmlformats.org/officeDocument/2006/relationships/slide" Target="slides/slide42.xml"/><Relationship Id="rId43" Type="http://schemas.openxmlformats.org/officeDocument/2006/relationships/slide" Target="slides/slide41.xml"/><Relationship Id="rId42" Type="http://schemas.openxmlformats.org/officeDocument/2006/relationships/slide" Target="slides/slide40.xml"/><Relationship Id="rId41" Type="http://schemas.openxmlformats.org/officeDocument/2006/relationships/slide" Target="slides/slide39.xml"/><Relationship Id="rId40" Type="http://schemas.openxmlformats.org/officeDocument/2006/relationships/slide" Target="slides/slide38.xml"/><Relationship Id="rId4" Type="http://schemas.openxmlformats.org/officeDocument/2006/relationships/slide" Target="slides/slide2.xml"/><Relationship Id="rId39" Type="http://schemas.openxmlformats.org/officeDocument/2006/relationships/slide" Target="slides/slide37.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6" Type="http://schemas.openxmlformats.org/officeDocument/2006/relationships/tableStyles" Target="tableStyles.xml"/><Relationship Id="rId165" Type="http://schemas.openxmlformats.org/officeDocument/2006/relationships/viewProps" Target="viewProps.xml"/><Relationship Id="rId164" Type="http://schemas.openxmlformats.org/officeDocument/2006/relationships/presProps" Target="presProps.xml"/><Relationship Id="rId163" Type="http://schemas.openxmlformats.org/officeDocument/2006/relationships/slide" Target="slides/slide161.xml"/><Relationship Id="rId162" Type="http://schemas.openxmlformats.org/officeDocument/2006/relationships/slide" Target="slides/slide160.xml"/><Relationship Id="rId161" Type="http://schemas.openxmlformats.org/officeDocument/2006/relationships/slide" Target="slides/slide159.xml"/><Relationship Id="rId160" Type="http://schemas.openxmlformats.org/officeDocument/2006/relationships/slide" Target="slides/slide158.xml"/><Relationship Id="rId16" Type="http://schemas.openxmlformats.org/officeDocument/2006/relationships/slide" Target="slides/slide14.xml"/><Relationship Id="rId159" Type="http://schemas.openxmlformats.org/officeDocument/2006/relationships/slide" Target="slides/slide157.xml"/><Relationship Id="rId158" Type="http://schemas.openxmlformats.org/officeDocument/2006/relationships/slide" Target="slides/slide156.xml"/><Relationship Id="rId157" Type="http://schemas.openxmlformats.org/officeDocument/2006/relationships/slide" Target="slides/slide155.xml"/><Relationship Id="rId156" Type="http://schemas.openxmlformats.org/officeDocument/2006/relationships/slide" Target="slides/slide154.xml"/><Relationship Id="rId155" Type="http://schemas.openxmlformats.org/officeDocument/2006/relationships/slide" Target="slides/slide153.xml"/><Relationship Id="rId154" Type="http://schemas.openxmlformats.org/officeDocument/2006/relationships/slide" Target="slides/slide152.xml"/><Relationship Id="rId153" Type="http://schemas.openxmlformats.org/officeDocument/2006/relationships/slide" Target="slides/slide151.xml"/><Relationship Id="rId152" Type="http://schemas.openxmlformats.org/officeDocument/2006/relationships/slide" Target="slides/slide150.xml"/><Relationship Id="rId151" Type="http://schemas.openxmlformats.org/officeDocument/2006/relationships/slide" Target="slides/slide149.xml"/><Relationship Id="rId150" Type="http://schemas.openxmlformats.org/officeDocument/2006/relationships/slide" Target="slides/slide148.xml"/><Relationship Id="rId15" Type="http://schemas.openxmlformats.org/officeDocument/2006/relationships/slide" Target="slides/slide13.xml"/><Relationship Id="rId149" Type="http://schemas.openxmlformats.org/officeDocument/2006/relationships/slide" Target="slides/slide147.xml"/><Relationship Id="rId148" Type="http://schemas.openxmlformats.org/officeDocument/2006/relationships/slide" Target="slides/slide146.xml"/><Relationship Id="rId147" Type="http://schemas.openxmlformats.org/officeDocument/2006/relationships/slide" Target="slides/slide145.xml"/><Relationship Id="rId146" Type="http://schemas.openxmlformats.org/officeDocument/2006/relationships/slide" Target="slides/slide144.xml"/><Relationship Id="rId145" Type="http://schemas.openxmlformats.org/officeDocument/2006/relationships/slide" Target="slides/slide143.xml"/><Relationship Id="rId144" Type="http://schemas.openxmlformats.org/officeDocument/2006/relationships/slide" Target="slides/slide142.xml"/><Relationship Id="rId143" Type="http://schemas.openxmlformats.org/officeDocument/2006/relationships/slide" Target="slides/slide141.xml"/><Relationship Id="rId142" Type="http://schemas.openxmlformats.org/officeDocument/2006/relationships/slide" Target="slides/slide140.xml"/><Relationship Id="rId141" Type="http://schemas.openxmlformats.org/officeDocument/2006/relationships/slide" Target="slides/slide139.xml"/><Relationship Id="rId140" Type="http://schemas.openxmlformats.org/officeDocument/2006/relationships/slide" Target="slides/slide138.xml"/><Relationship Id="rId14" Type="http://schemas.openxmlformats.org/officeDocument/2006/relationships/slide" Target="slides/slide12.xml"/><Relationship Id="rId139" Type="http://schemas.openxmlformats.org/officeDocument/2006/relationships/slide" Target="slides/slide137.xml"/><Relationship Id="rId138" Type="http://schemas.openxmlformats.org/officeDocument/2006/relationships/slide" Target="slides/slide136.xml"/><Relationship Id="rId137" Type="http://schemas.openxmlformats.org/officeDocument/2006/relationships/slide" Target="slides/slide135.xml"/><Relationship Id="rId136" Type="http://schemas.openxmlformats.org/officeDocument/2006/relationships/slide" Target="slides/slide134.xml"/><Relationship Id="rId135" Type="http://schemas.openxmlformats.org/officeDocument/2006/relationships/slide" Target="slides/slide133.xml"/><Relationship Id="rId134" Type="http://schemas.openxmlformats.org/officeDocument/2006/relationships/slide" Target="slides/slide132.xml"/><Relationship Id="rId133" Type="http://schemas.openxmlformats.org/officeDocument/2006/relationships/slide" Target="slides/slide131.xml"/><Relationship Id="rId132" Type="http://schemas.openxmlformats.org/officeDocument/2006/relationships/slide" Target="slides/slide130.xml"/><Relationship Id="rId131" Type="http://schemas.openxmlformats.org/officeDocument/2006/relationships/slide" Target="slides/slide129.xml"/><Relationship Id="rId130" Type="http://schemas.openxmlformats.org/officeDocument/2006/relationships/slide" Target="slides/slide128.xml"/><Relationship Id="rId13" Type="http://schemas.openxmlformats.org/officeDocument/2006/relationships/slide" Target="slides/slide11.xml"/><Relationship Id="rId129" Type="http://schemas.openxmlformats.org/officeDocument/2006/relationships/slide" Target="slides/slide127.xml"/><Relationship Id="rId128" Type="http://schemas.openxmlformats.org/officeDocument/2006/relationships/slide" Target="slides/slide126.xml"/><Relationship Id="rId127" Type="http://schemas.openxmlformats.org/officeDocument/2006/relationships/slide" Target="slides/slide125.xml"/><Relationship Id="rId126" Type="http://schemas.openxmlformats.org/officeDocument/2006/relationships/slide" Target="slides/slide124.xml"/><Relationship Id="rId125" Type="http://schemas.openxmlformats.org/officeDocument/2006/relationships/slide" Target="slides/slide123.xml"/><Relationship Id="rId124" Type="http://schemas.openxmlformats.org/officeDocument/2006/relationships/slide" Target="slides/slide122.xml"/><Relationship Id="rId123" Type="http://schemas.openxmlformats.org/officeDocument/2006/relationships/slide" Target="slides/slide121.xml"/><Relationship Id="rId122" Type="http://schemas.openxmlformats.org/officeDocument/2006/relationships/slide" Target="slides/slide120.xml"/><Relationship Id="rId121" Type="http://schemas.openxmlformats.org/officeDocument/2006/relationships/slide" Target="slides/slide119.xml"/><Relationship Id="rId120" Type="http://schemas.openxmlformats.org/officeDocument/2006/relationships/slide" Target="slides/slide118.xml"/><Relationship Id="rId12" Type="http://schemas.openxmlformats.org/officeDocument/2006/relationships/slide" Target="slides/slide10.xml"/><Relationship Id="rId119" Type="http://schemas.openxmlformats.org/officeDocument/2006/relationships/slide" Target="slides/slide117.xml"/><Relationship Id="rId118" Type="http://schemas.openxmlformats.org/officeDocument/2006/relationships/slide" Target="slides/slide116.xml"/><Relationship Id="rId117" Type="http://schemas.openxmlformats.org/officeDocument/2006/relationships/slide" Target="slides/slide115.xml"/><Relationship Id="rId116" Type="http://schemas.openxmlformats.org/officeDocument/2006/relationships/slide" Target="slides/slide114.xml"/><Relationship Id="rId115" Type="http://schemas.openxmlformats.org/officeDocument/2006/relationships/slide" Target="slides/slide113.xml"/><Relationship Id="rId114" Type="http://schemas.openxmlformats.org/officeDocument/2006/relationships/slide" Target="slides/slide112.xml"/><Relationship Id="rId113" Type="http://schemas.openxmlformats.org/officeDocument/2006/relationships/slide" Target="slides/slide111.xml"/><Relationship Id="rId112" Type="http://schemas.openxmlformats.org/officeDocument/2006/relationships/slide" Target="slides/slide110.xml"/><Relationship Id="rId111" Type="http://schemas.openxmlformats.org/officeDocument/2006/relationships/slide" Target="slides/slide109.xml"/><Relationship Id="rId110" Type="http://schemas.openxmlformats.org/officeDocument/2006/relationships/slide" Target="slides/slide108.xml"/><Relationship Id="rId11" Type="http://schemas.openxmlformats.org/officeDocument/2006/relationships/slide" Target="slides/slide9.xml"/><Relationship Id="rId109" Type="http://schemas.openxmlformats.org/officeDocument/2006/relationships/slide" Target="slides/slide107.xml"/><Relationship Id="rId108" Type="http://schemas.openxmlformats.org/officeDocument/2006/relationships/slide" Target="slides/slide106.xml"/><Relationship Id="rId107" Type="http://schemas.openxmlformats.org/officeDocument/2006/relationships/slide" Target="slides/slide105.xml"/><Relationship Id="rId106" Type="http://schemas.openxmlformats.org/officeDocument/2006/relationships/slide" Target="slides/slide104.xml"/><Relationship Id="rId105" Type="http://schemas.openxmlformats.org/officeDocument/2006/relationships/slide" Target="slides/slide103.xml"/><Relationship Id="rId104" Type="http://schemas.openxmlformats.org/officeDocument/2006/relationships/slide" Target="slides/slide102.xml"/><Relationship Id="rId103" Type="http://schemas.openxmlformats.org/officeDocument/2006/relationships/slide" Target="slides/slide101.xml"/><Relationship Id="rId102" Type="http://schemas.openxmlformats.org/officeDocument/2006/relationships/slide" Target="slides/slide100.xml"/><Relationship Id="rId101" Type="http://schemas.openxmlformats.org/officeDocument/2006/relationships/slide" Target="slides/slide99.xml"/><Relationship Id="rId100" Type="http://schemas.openxmlformats.org/officeDocument/2006/relationships/slide" Target="slides/slide98.xml"/><Relationship Id="rId10" Type="http://schemas.openxmlformats.org/officeDocument/2006/relationships/slide" Target="slides/slide8.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3.w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5.wmf"/><Relationship Id="rId1" Type="http://schemas.openxmlformats.org/officeDocument/2006/relationships/image" Target="../media/image4.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6.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7.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8.wmf"/></Relationships>
</file>

<file path=ppt/drawings/_rels/vmlDrawing6.vml.rels><?xml version="1.0" encoding="UTF-8" standalone="yes"?>
<Relationships xmlns="http://schemas.openxmlformats.org/package/2006/relationships"><Relationship Id="rId2" Type="http://schemas.openxmlformats.org/officeDocument/2006/relationships/image" Target="../media/image10.wmf"/><Relationship Id="rId1" Type="http://schemas.openxmlformats.org/officeDocument/2006/relationships/image" Target="../media/image9.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1.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12.w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13.w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14.wmf"/></Relationships>
</file>

<file path=ppt/drawings/_rels/vmlDrawing11.vml.rels><?xml version="1.0" encoding="UTF-8" standalone="yes"?>
<Relationships xmlns="http://schemas.openxmlformats.org/package/2006/relationships"><Relationship Id="rId2" Type="http://schemas.openxmlformats.org/officeDocument/2006/relationships/image" Target="../media/image16.wmf"/><Relationship Id="rId1" Type="http://schemas.openxmlformats.org/officeDocument/2006/relationships/image" Target="../media/image15.w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17.wmf"/></Relationships>
</file>

<file path=ppt/drawings/_rels/vmlDrawing13.vml.rels><?xml version="1.0" encoding="UTF-8" standalone="yes"?>
<Relationships xmlns="http://schemas.openxmlformats.org/package/2006/relationships"><Relationship Id="rId2" Type="http://schemas.openxmlformats.org/officeDocument/2006/relationships/image" Target="../media/image15.wmf"/><Relationship Id="rId1" Type="http://schemas.openxmlformats.org/officeDocument/2006/relationships/image" Target="../media/image18.w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16.wmf"/></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20.png"/></Relationships>
</file>

<file path=ppt/drawings/_rels/vmlDrawing16.vml.rels><?xml version="1.0" encoding="UTF-8" standalone="yes"?>
<Relationships xmlns="http://schemas.openxmlformats.org/package/2006/relationships"><Relationship Id="rId1" Type="http://schemas.openxmlformats.org/officeDocument/2006/relationships/image" Target="../media/image21.wmf"/></Relationships>
</file>

<file path=ppt/drawings/_rels/vmlDrawing17.vml.rels><?xml version="1.0" encoding="UTF-8" standalone="yes"?>
<Relationships xmlns="http://schemas.openxmlformats.org/package/2006/relationships"><Relationship Id="rId1" Type="http://schemas.openxmlformats.org/officeDocument/2006/relationships/image" Target="../media/image22.wmf"/></Relationships>
</file>

<file path=ppt/drawings/_rels/vmlDrawing18.vml.rels><?xml version="1.0" encoding="UTF-8" standalone="yes"?>
<Relationships xmlns="http://schemas.openxmlformats.org/package/2006/relationships"><Relationship Id="rId2" Type="http://schemas.openxmlformats.org/officeDocument/2006/relationships/image" Target="../media/image24.wmf"/><Relationship Id="rId1" Type="http://schemas.openxmlformats.org/officeDocument/2006/relationships/image" Target="../media/image23.wmf"/></Relationships>
</file>

<file path=ppt/drawings/_rels/vmlDrawing19.vml.rels><?xml version="1.0" encoding="UTF-8" standalone="yes"?>
<Relationships xmlns="http://schemas.openxmlformats.org/package/2006/relationships"><Relationship Id="rId1" Type="http://schemas.openxmlformats.org/officeDocument/2006/relationships/image" Target="../media/image25.wmf"/></Relationships>
</file>

<file path=ppt/drawings/_rels/vmlDrawing20.vml.rels><?xml version="1.0" encoding="UTF-8" standalone="yes"?>
<Relationships xmlns="http://schemas.openxmlformats.org/package/2006/relationships"><Relationship Id="rId1" Type="http://schemas.openxmlformats.org/officeDocument/2006/relationships/image" Target="../media/image26.wmf"/></Relationships>
</file>

<file path=ppt/drawings/_rels/vmlDrawing21.vml.rels><?xml version="1.0" encoding="UTF-8" standalone="yes"?>
<Relationships xmlns="http://schemas.openxmlformats.org/package/2006/relationships"><Relationship Id="rId1" Type="http://schemas.openxmlformats.org/officeDocument/2006/relationships/image" Target="../media/image27.wmf"/></Relationships>
</file>

<file path=ppt/drawings/_rels/vmlDrawing22.vml.rels><?xml version="1.0" encoding="UTF-8" standalone="yes"?>
<Relationships xmlns="http://schemas.openxmlformats.org/package/2006/relationships"><Relationship Id="rId1" Type="http://schemas.openxmlformats.org/officeDocument/2006/relationships/image" Target="../media/image28.wmf"/></Relationships>
</file>

<file path=ppt/drawings/_rels/vmlDrawing23.vml.rels><?xml version="1.0" encoding="UTF-8" standalone="yes"?>
<Relationships xmlns="http://schemas.openxmlformats.org/package/2006/relationships"><Relationship Id="rId1" Type="http://schemas.openxmlformats.org/officeDocument/2006/relationships/image" Target="../media/image29.wmf"/></Relationships>
</file>

<file path=ppt/drawings/_rels/vmlDrawing24.vml.rels><?xml version="1.0" encoding="UTF-8" standalone="yes"?>
<Relationships xmlns="http://schemas.openxmlformats.org/package/2006/relationships"><Relationship Id="rId1" Type="http://schemas.openxmlformats.org/officeDocument/2006/relationships/image" Target="../media/image30.wmf"/></Relationships>
</file>

<file path=ppt/drawings/_rels/vmlDrawing25.vml.rels><?xml version="1.0" encoding="UTF-8" standalone="yes"?>
<Relationships xmlns="http://schemas.openxmlformats.org/package/2006/relationships"><Relationship Id="rId1" Type="http://schemas.openxmlformats.org/officeDocument/2006/relationships/image" Target="../media/image31.wmf"/></Relationships>
</file>

<file path=ppt/drawings/_rels/vmlDrawing26.vml.rels><?xml version="1.0" encoding="UTF-8" standalone="yes"?>
<Relationships xmlns="http://schemas.openxmlformats.org/package/2006/relationships"><Relationship Id="rId1" Type="http://schemas.openxmlformats.org/officeDocument/2006/relationships/image" Target="../media/image32.wmf"/></Relationships>
</file>

<file path=ppt/drawings/_rels/vmlDrawing27.vml.rels><?xml version="1.0" encoding="UTF-8" standalone="yes"?>
<Relationships xmlns="http://schemas.openxmlformats.org/package/2006/relationships"><Relationship Id="rId1" Type="http://schemas.openxmlformats.org/officeDocument/2006/relationships/image" Target="../media/image33.wmf"/></Relationships>
</file>

<file path=ppt/drawings/_rels/vmlDrawing28.vml.rels><?xml version="1.0" encoding="UTF-8" standalone="yes"?>
<Relationships xmlns="http://schemas.openxmlformats.org/package/2006/relationships"><Relationship Id="rId1" Type="http://schemas.openxmlformats.org/officeDocument/2006/relationships/image" Target="../media/image34.wmf"/></Relationships>
</file>

<file path=ppt/drawings/_rels/vmlDrawing29.vml.rels><?xml version="1.0" encoding="UTF-8" standalone="yes"?>
<Relationships xmlns="http://schemas.openxmlformats.org/package/2006/relationships"><Relationship Id="rId2" Type="http://schemas.openxmlformats.org/officeDocument/2006/relationships/image" Target="../media/image36.wmf"/><Relationship Id="rId1" Type="http://schemas.openxmlformats.org/officeDocument/2006/relationships/image" Target="../media/image35.wmf"/></Relationships>
</file>

<file path=ppt/drawings/_rels/vmlDrawing30.vml.rels><?xml version="1.0" encoding="UTF-8" standalone="yes"?>
<Relationships xmlns="http://schemas.openxmlformats.org/package/2006/relationships"><Relationship Id="rId1" Type="http://schemas.openxmlformats.org/officeDocument/2006/relationships/image" Target="../media/image37.wmf"/></Relationships>
</file>

<file path=ppt/drawings/_rels/vmlDrawing31.vml.rels><?xml version="1.0" encoding="UTF-8" standalone="yes"?>
<Relationships xmlns="http://schemas.openxmlformats.org/package/2006/relationships"><Relationship Id="rId1" Type="http://schemas.openxmlformats.org/officeDocument/2006/relationships/image" Target="../media/image38.wmf"/></Relationships>
</file>

<file path=ppt/drawings/_rels/vmlDrawing32.vml.rels><?xml version="1.0" encoding="UTF-8" standalone="yes"?>
<Relationships xmlns="http://schemas.openxmlformats.org/package/2006/relationships"><Relationship Id="rId1" Type="http://schemas.openxmlformats.org/officeDocument/2006/relationships/image" Target="../media/image39.wmf"/></Relationships>
</file>

<file path=ppt/drawings/_rels/vmlDrawing33.vml.rels><?xml version="1.0" encoding="UTF-8" standalone="yes"?>
<Relationships xmlns="http://schemas.openxmlformats.org/package/2006/relationships"><Relationship Id="rId1" Type="http://schemas.openxmlformats.org/officeDocument/2006/relationships/image" Target="../media/image40.png"/></Relationships>
</file>

<file path=ppt/drawings/_rels/vmlDrawing34.vml.rels><?xml version="1.0" encoding="UTF-8" standalone="yes"?>
<Relationships xmlns="http://schemas.openxmlformats.org/package/2006/relationships"><Relationship Id="rId1" Type="http://schemas.openxmlformats.org/officeDocument/2006/relationships/image" Target="../media/image41.png"/></Relationships>
</file>

<file path=ppt/drawings/_rels/vmlDrawing35.vml.rels><?xml version="1.0" encoding="UTF-8" standalone="yes"?>
<Relationships xmlns="http://schemas.openxmlformats.org/package/2006/relationships"><Relationship Id="rId1" Type="http://schemas.openxmlformats.org/officeDocument/2006/relationships/image" Target="../media/image42.png"/></Relationships>
</file>

<file path=ppt/drawings/_rels/vmlDrawing36.vml.rels><?xml version="1.0" encoding="UTF-8" standalone="yes"?>
<Relationships xmlns="http://schemas.openxmlformats.org/package/2006/relationships"><Relationship Id="rId1" Type="http://schemas.openxmlformats.org/officeDocument/2006/relationships/image" Target="../media/image43.wmf"/></Relationships>
</file>

<file path=ppt/drawings/_rels/vmlDrawing37.vml.rels><?xml version="1.0" encoding="UTF-8" standalone="yes"?>
<Relationships xmlns="http://schemas.openxmlformats.org/package/2006/relationships"><Relationship Id="rId1" Type="http://schemas.openxmlformats.org/officeDocument/2006/relationships/image" Target="../media/image44.wmf"/></Relationships>
</file>

<file path=ppt/drawings/_rels/vmlDrawing38.vml.rels><?xml version="1.0" encoding="UTF-8" standalone="yes"?>
<Relationships xmlns="http://schemas.openxmlformats.org/package/2006/relationships"><Relationship Id="rId1" Type="http://schemas.openxmlformats.org/officeDocument/2006/relationships/image" Target="../media/image45.wmf"/></Relationships>
</file>

<file path=ppt/drawings/_rels/vmlDrawing39.vml.rels><?xml version="1.0" encoding="UTF-8" standalone="yes"?>
<Relationships xmlns="http://schemas.openxmlformats.org/package/2006/relationships"><Relationship Id="rId1" Type="http://schemas.openxmlformats.org/officeDocument/2006/relationships/image" Target="../media/image46.wmf"/></Relationships>
</file>

<file path=ppt/drawings/_rels/vmlDrawing40.vml.rels><?xml version="1.0" encoding="UTF-8" standalone="yes"?>
<Relationships xmlns="http://schemas.openxmlformats.org/package/2006/relationships"><Relationship Id="rId1" Type="http://schemas.openxmlformats.org/officeDocument/2006/relationships/image" Target="../media/image47.wmf"/></Relationships>
</file>

<file path=ppt/drawings/_rels/vmlDrawing41.vml.rels><?xml version="1.0" encoding="UTF-8" standalone="yes"?>
<Relationships xmlns="http://schemas.openxmlformats.org/package/2006/relationships"><Relationship Id="rId1" Type="http://schemas.openxmlformats.org/officeDocument/2006/relationships/image" Target="../media/image48.wmf"/></Relationships>
</file>

<file path=ppt/drawings/_rels/vmlDrawing42.vml.rels><?xml version="1.0" encoding="UTF-8" standalone="yes"?>
<Relationships xmlns="http://schemas.openxmlformats.org/package/2006/relationships"><Relationship Id="rId1" Type="http://schemas.openxmlformats.org/officeDocument/2006/relationships/image" Target="../media/image49.wmf"/></Relationships>
</file>

<file path=ppt/drawings/_rels/vmlDrawing43.vml.rels><?xml version="1.0" encoding="UTF-8" standalone="yes"?>
<Relationships xmlns="http://schemas.openxmlformats.org/package/2006/relationships"><Relationship Id="rId1" Type="http://schemas.openxmlformats.org/officeDocument/2006/relationships/image" Target="../media/image50.wmf"/></Relationships>
</file>

<file path=ppt/drawings/_rels/vmlDrawing44.vml.rels><?xml version="1.0" encoding="UTF-8" standalone="yes"?>
<Relationships xmlns="http://schemas.openxmlformats.org/package/2006/relationships"><Relationship Id="rId1" Type="http://schemas.openxmlformats.org/officeDocument/2006/relationships/image" Target="../media/image52.wmf"/></Relationships>
</file>

<file path=ppt/drawings/_rels/vmlDrawing45.vml.rels><?xml version="1.0" encoding="UTF-8" standalone="yes"?>
<Relationships xmlns="http://schemas.openxmlformats.org/package/2006/relationships"><Relationship Id="rId1" Type="http://schemas.openxmlformats.org/officeDocument/2006/relationships/image" Target="../media/image53.wmf"/></Relationships>
</file>

<file path=ppt/drawings/_rels/vmlDrawing46.vml.rels><?xml version="1.0" encoding="UTF-8" standalone="yes"?>
<Relationships xmlns="http://schemas.openxmlformats.org/package/2006/relationships"><Relationship Id="rId1" Type="http://schemas.openxmlformats.org/officeDocument/2006/relationships/image" Target="../media/image54.wmf"/></Relationships>
</file>

<file path=ppt/drawings/_rels/vmlDrawing47.vml.rels><?xml version="1.0" encoding="UTF-8" standalone="yes"?>
<Relationships xmlns="http://schemas.openxmlformats.org/package/2006/relationships"><Relationship Id="rId1" Type="http://schemas.openxmlformats.org/officeDocument/2006/relationships/image" Target="../media/image56.wmf"/></Relationships>
</file>

<file path=ppt/drawings/_rels/vmlDrawing48.vml.rels><?xml version="1.0" encoding="UTF-8" standalone="yes"?>
<Relationships xmlns="http://schemas.openxmlformats.org/package/2006/relationships"><Relationship Id="rId1" Type="http://schemas.openxmlformats.org/officeDocument/2006/relationships/image" Target="../media/image57.wmf"/></Relationships>
</file>

<file path=ppt/drawings/_rels/vmlDrawing49.vml.rels><?xml version="1.0" encoding="UTF-8" standalone="yes"?>
<Relationships xmlns="http://schemas.openxmlformats.org/package/2006/relationships"><Relationship Id="rId1" Type="http://schemas.openxmlformats.org/officeDocument/2006/relationships/image" Target="../media/image58.wmf"/></Relationships>
</file>

<file path=ppt/drawings/_rels/vmlDrawing50.vml.rels><?xml version="1.0" encoding="UTF-8" standalone="yes"?>
<Relationships xmlns="http://schemas.openxmlformats.org/package/2006/relationships"><Relationship Id="rId2" Type="http://schemas.openxmlformats.org/officeDocument/2006/relationships/image" Target="../media/image60.wmf"/><Relationship Id="rId1" Type="http://schemas.openxmlformats.org/officeDocument/2006/relationships/image" Target="../media/image59.wmf"/></Relationships>
</file>

<file path=ppt/drawings/_rels/vmlDrawing51.vml.rels><?xml version="1.0" encoding="UTF-8" standalone="yes"?>
<Relationships xmlns="http://schemas.openxmlformats.org/package/2006/relationships"><Relationship Id="rId1" Type="http://schemas.openxmlformats.org/officeDocument/2006/relationships/image" Target="../media/image61.wmf"/></Relationships>
</file>

<file path=ppt/drawings/_rels/vmlDrawing52.vml.rels><?xml version="1.0" encoding="UTF-8" standalone="yes"?>
<Relationships xmlns="http://schemas.openxmlformats.org/package/2006/relationships"><Relationship Id="rId1" Type="http://schemas.openxmlformats.org/officeDocument/2006/relationships/image" Target="../media/image62.wmf"/></Relationships>
</file>

<file path=ppt/drawings/_rels/vmlDrawing53.vml.rels><?xml version="1.0" encoding="UTF-8" standalone="yes"?>
<Relationships xmlns="http://schemas.openxmlformats.org/package/2006/relationships"><Relationship Id="rId2" Type="http://schemas.openxmlformats.org/officeDocument/2006/relationships/image" Target="../media/image64.wmf"/><Relationship Id="rId1" Type="http://schemas.openxmlformats.org/officeDocument/2006/relationships/image" Target="../media/image63.wmf"/></Relationships>
</file>

<file path=ppt/drawings/_rels/vmlDrawing54.vml.rels><?xml version="1.0" encoding="UTF-8" standalone="yes"?>
<Relationships xmlns="http://schemas.openxmlformats.org/package/2006/relationships"><Relationship Id="rId1" Type="http://schemas.openxmlformats.org/officeDocument/2006/relationships/image" Target="../media/image65.wmf"/></Relationships>
</file>

<file path=ppt/drawings/_rels/vmlDrawing55.vml.rels><?xml version="1.0" encoding="UTF-8" standalone="yes"?>
<Relationships xmlns="http://schemas.openxmlformats.org/package/2006/relationships"><Relationship Id="rId1" Type="http://schemas.openxmlformats.org/officeDocument/2006/relationships/image" Target="../media/image67.wmf"/></Relationships>
</file>

<file path=ppt/drawings/_rels/vmlDrawing56.vml.rels><?xml version="1.0" encoding="UTF-8" standalone="yes"?>
<Relationships xmlns="http://schemas.openxmlformats.org/package/2006/relationships"><Relationship Id="rId1" Type="http://schemas.openxmlformats.org/officeDocument/2006/relationships/image" Target="../media/image70.wmf"/></Relationships>
</file>

<file path=ppt/drawings/_rels/vmlDrawing57.vml.rels><?xml version="1.0" encoding="UTF-8" standalone="yes"?>
<Relationships xmlns="http://schemas.openxmlformats.org/package/2006/relationships"><Relationship Id="rId2" Type="http://schemas.openxmlformats.org/officeDocument/2006/relationships/image" Target="../media/image72.wmf"/><Relationship Id="rId1" Type="http://schemas.openxmlformats.org/officeDocument/2006/relationships/image" Target="../media/image71.wmf"/></Relationships>
</file>

<file path=ppt/drawings/_rels/vmlDrawing58.vml.rels><?xml version="1.0" encoding="UTF-8" standalone="yes"?>
<Relationships xmlns="http://schemas.openxmlformats.org/package/2006/relationships"><Relationship Id="rId1" Type="http://schemas.openxmlformats.org/officeDocument/2006/relationships/image" Target="../media/image73.wmf"/></Relationships>
</file>

<file path=ppt/drawings/_rels/vmlDrawing59.vml.rels><?xml version="1.0" encoding="UTF-8" standalone="yes"?>
<Relationships xmlns="http://schemas.openxmlformats.org/package/2006/relationships"><Relationship Id="rId1" Type="http://schemas.openxmlformats.org/officeDocument/2006/relationships/image" Target="../media/image74.wmf"/></Relationships>
</file>

<file path=ppt/drawings/_rels/vmlDrawing60.vml.rels><?xml version="1.0" encoding="UTF-8" standalone="yes"?>
<Relationships xmlns="http://schemas.openxmlformats.org/package/2006/relationships"><Relationship Id="rId1" Type="http://schemas.openxmlformats.org/officeDocument/2006/relationships/image" Target="../media/image75.wmf"/></Relationships>
</file>

<file path=ppt/drawings/_rels/vmlDrawing61.vml.rels><?xml version="1.0" encoding="UTF-8" standalone="yes"?>
<Relationships xmlns="http://schemas.openxmlformats.org/package/2006/relationships"><Relationship Id="rId1" Type="http://schemas.openxmlformats.org/officeDocument/2006/relationships/image" Target="../media/image77.wmf"/></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pPr lvl="0"/>
            <a:endParaRPr lang="zh-CN" altLang="en-US" dirty="0">
              <a:latin typeface="Times New Roman" panose="02020603050405020304" pitchFamily="18" charset="0"/>
            </a:endParaRPr>
          </a:p>
        </p:txBody>
      </p:sp>
      <p:sp>
        <p:nvSpPr>
          <p:cNvPr id="5" name="页脚占位符 4"/>
          <p:cNvSpPr>
            <a:spLocks noGrp="1"/>
          </p:cNvSpPr>
          <p:nvPr>
            <p:ph type="ftr" sz="quarter" idx="11"/>
          </p:nvPr>
        </p:nvSpPr>
        <p:spPr/>
        <p:txBody>
          <a:bodyPr/>
          <a:lstStyle/>
          <a:p>
            <a:pPr lvl="0"/>
            <a:endParaRPr lang="zh-CN" altLang="en-US" dirty="0">
              <a:latin typeface="Times New Roman" panose="02020603050405020304" pitchFamily="18" charset="0"/>
            </a:endParaRPr>
          </a:p>
        </p:txBody>
      </p:sp>
      <p:sp>
        <p:nvSpPr>
          <p:cNvPr id="6" name="灯片编号占位符 5"/>
          <p:cNvSpPr>
            <a:spLocks noGrp="1"/>
          </p:cNvSpPr>
          <p:nvPr>
            <p:ph type="sldNum" sz="quarter" idx="12"/>
          </p:nvPr>
        </p:nvSpPr>
        <p:spPr/>
        <p:txBody>
          <a:bodyPr/>
          <a:lstStyle/>
          <a:p>
            <a:pPr lvl="0"/>
            <a:fld id="{9A0DB2DC-4C9A-4742-B13C-FB6460FD3503}" type="slidenum">
              <a:rPr lang="zh-CN" altLang="en-US" dirty="0">
                <a:latin typeface="Times New Roman" panose="02020603050405020304" pitchFamily="18" charset="0"/>
              </a:rPr>
            </a:fld>
            <a:endParaRPr lang="zh-CN" altLang="en-US" dirty="0">
              <a:latin typeface="Times New Roman" panose="02020603050405020304" pitchFamily="18" charset="0"/>
            </a:endParaRPr>
          </a:p>
        </p:txBody>
      </p:sp>
    </p:spTree>
  </p:cSld>
  <p:clrMapOvr>
    <a:masterClrMapping/>
  </p:clrMapOvr>
  <p:transition>
    <p:blinds dir="vert"/>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pPr lvl="0"/>
            <a:endParaRPr lang="zh-CN" altLang="en-US" dirty="0">
              <a:latin typeface="Times New Roman" panose="02020603050405020304" pitchFamily="18" charset="0"/>
            </a:endParaRPr>
          </a:p>
        </p:txBody>
      </p:sp>
      <p:sp>
        <p:nvSpPr>
          <p:cNvPr id="5" name="页脚占位符 4"/>
          <p:cNvSpPr>
            <a:spLocks noGrp="1"/>
          </p:cNvSpPr>
          <p:nvPr>
            <p:ph type="ftr" sz="quarter" idx="11"/>
          </p:nvPr>
        </p:nvSpPr>
        <p:spPr/>
        <p:txBody>
          <a:bodyPr/>
          <a:lstStyle/>
          <a:p>
            <a:pPr lvl="0"/>
            <a:endParaRPr lang="zh-CN" altLang="en-US" dirty="0">
              <a:latin typeface="Times New Roman" panose="02020603050405020304" pitchFamily="18" charset="0"/>
            </a:endParaRPr>
          </a:p>
        </p:txBody>
      </p:sp>
      <p:sp>
        <p:nvSpPr>
          <p:cNvPr id="6" name="灯片编号占位符 5"/>
          <p:cNvSpPr>
            <a:spLocks noGrp="1"/>
          </p:cNvSpPr>
          <p:nvPr>
            <p:ph type="sldNum" sz="quarter" idx="12"/>
          </p:nvPr>
        </p:nvSpPr>
        <p:spPr/>
        <p:txBody>
          <a:bodyPr/>
          <a:lstStyle/>
          <a:p>
            <a:pPr lvl="0"/>
            <a:fld id="{9A0DB2DC-4C9A-4742-B13C-FB6460FD3503}" type="slidenum">
              <a:rPr lang="zh-CN" altLang="en-US" dirty="0">
                <a:latin typeface="Times New Roman" panose="02020603050405020304" pitchFamily="18" charset="0"/>
              </a:rPr>
            </a:fld>
            <a:endParaRPr lang="zh-CN" altLang="en-US" dirty="0">
              <a:latin typeface="Times New Roman" panose="02020603050405020304" pitchFamily="18" charset="0"/>
            </a:endParaRPr>
          </a:p>
        </p:txBody>
      </p:sp>
    </p:spTree>
  </p:cSld>
  <p:clrMapOvr>
    <a:masterClrMapping/>
  </p:clrMapOvr>
  <p:transition>
    <p:blinds dir="vert"/>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lstStyle/>
          <a:p>
            <a:pPr lvl="0"/>
            <a:endParaRPr lang="zh-CN" altLang="en-US" dirty="0">
              <a:latin typeface="Times New Roman" panose="02020603050405020304" pitchFamily="18" charset="0"/>
            </a:endParaRPr>
          </a:p>
        </p:txBody>
      </p:sp>
      <p:sp>
        <p:nvSpPr>
          <p:cNvPr id="5" name="页脚占位符 4"/>
          <p:cNvSpPr>
            <a:spLocks noGrp="1"/>
          </p:cNvSpPr>
          <p:nvPr>
            <p:ph type="ftr" sz="quarter" idx="11"/>
          </p:nvPr>
        </p:nvSpPr>
        <p:spPr/>
        <p:txBody>
          <a:bodyPr/>
          <a:lstStyle/>
          <a:p>
            <a:pPr lvl="0"/>
            <a:endParaRPr lang="zh-CN" altLang="en-US" dirty="0">
              <a:latin typeface="Times New Roman" panose="02020603050405020304" pitchFamily="18" charset="0"/>
            </a:endParaRPr>
          </a:p>
        </p:txBody>
      </p:sp>
      <p:sp>
        <p:nvSpPr>
          <p:cNvPr id="6" name="灯片编号占位符 5"/>
          <p:cNvSpPr>
            <a:spLocks noGrp="1"/>
          </p:cNvSpPr>
          <p:nvPr>
            <p:ph type="sldNum" sz="quarter" idx="12"/>
          </p:nvPr>
        </p:nvSpPr>
        <p:spPr/>
        <p:txBody>
          <a:bodyPr/>
          <a:lstStyle/>
          <a:p>
            <a:pPr lvl="0"/>
            <a:fld id="{9A0DB2DC-4C9A-4742-B13C-FB6460FD3503}" type="slidenum">
              <a:rPr lang="zh-CN" altLang="en-US" dirty="0">
                <a:latin typeface="Times New Roman" panose="02020603050405020304" pitchFamily="18" charset="0"/>
              </a:rPr>
            </a:fld>
            <a:endParaRPr lang="zh-CN" altLang="en-US" dirty="0">
              <a:latin typeface="Times New Roman" panose="02020603050405020304" pitchFamily="18" charset="0"/>
            </a:endParaRPr>
          </a:p>
        </p:txBody>
      </p:sp>
    </p:spTree>
  </p:cSld>
  <p:clrMapOvr>
    <a:masterClrMapping/>
  </p:clrMapOvr>
  <p:transition>
    <p:blinds dir="vert"/>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685800" y="1981200"/>
            <a:ext cx="3808476" cy="4114800"/>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49724" y="1981200"/>
            <a:ext cx="3808476" cy="4114800"/>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pPr lvl="0"/>
            <a:endParaRPr lang="zh-CN" altLang="en-US" dirty="0">
              <a:latin typeface="Times New Roman" panose="02020603050405020304" pitchFamily="18" charset="0"/>
            </a:endParaRPr>
          </a:p>
        </p:txBody>
      </p:sp>
      <p:sp>
        <p:nvSpPr>
          <p:cNvPr id="6" name="页脚占位符 5"/>
          <p:cNvSpPr>
            <a:spLocks noGrp="1"/>
          </p:cNvSpPr>
          <p:nvPr>
            <p:ph type="ftr" sz="quarter" idx="11"/>
          </p:nvPr>
        </p:nvSpPr>
        <p:spPr/>
        <p:txBody>
          <a:bodyPr/>
          <a:lstStyle/>
          <a:p>
            <a:pPr lvl="0"/>
            <a:endParaRPr lang="zh-CN" altLang="en-US" dirty="0">
              <a:latin typeface="Times New Roman" panose="02020603050405020304" pitchFamily="18" charset="0"/>
            </a:endParaRPr>
          </a:p>
        </p:txBody>
      </p:sp>
      <p:sp>
        <p:nvSpPr>
          <p:cNvPr id="7" name="灯片编号占位符 6"/>
          <p:cNvSpPr>
            <a:spLocks noGrp="1"/>
          </p:cNvSpPr>
          <p:nvPr>
            <p:ph type="sldNum" sz="quarter" idx="12"/>
          </p:nvPr>
        </p:nvSpPr>
        <p:spPr/>
        <p:txBody>
          <a:bodyPr/>
          <a:lstStyle/>
          <a:p>
            <a:pPr lvl="0"/>
            <a:fld id="{9A0DB2DC-4C9A-4742-B13C-FB6460FD3503}" type="slidenum">
              <a:rPr lang="zh-CN" altLang="en-US" dirty="0">
                <a:latin typeface="Times New Roman" panose="02020603050405020304" pitchFamily="18" charset="0"/>
              </a:rPr>
            </a:fld>
            <a:endParaRPr lang="zh-CN" altLang="en-US" dirty="0">
              <a:latin typeface="Times New Roman" panose="02020603050405020304" pitchFamily="18" charset="0"/>
            </a:endParaRPr>
          </a:p>
        </p:txBody>
      </p:sp>
    </p:spTree>
  </p:cSld>
  <p:clrMapOvr>
    <a:masterClrMapping/>
  </p:clrMapOvr>
  <p:transition>
    <p:blinds dir="vert"/>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890081" y="2665379"/>
            <a:ext cx="3655181" cy="3524284"/>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92704" y="2665379"/>
            <a:ext cx="3673182" cy="3524284"/>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pPr lvl="0"/>
            <a:endParaRPr lang="zh-CN" altLang="en-US" dirty="0">
              <a:latin typeface="Times New Roman" panose="02020603050405020304" pitchFamily="18" charset="0"/>
            </a:endParaRPr>
          </a:p>
        </p:txBody>
      </p:sp>
      <p:sp>
        <p:nvSpPr>
          <p:cNvPr id="8" name="页脚占位符 7"/>
          <p:cNvSpPr>
            <a:spLocks noGrp="1"/>
          </p:cNvSpPr>
          <p:nvPr>
            <p:ph type="ftr" sz="quarter" idx="11"/>
          </p:nvPr>
        </p:nvSpPr>
        <p:spPr/>
        <p:txBody>
          <a:bodyPr/>
          <a:lstStyle/>
          <a:p>
            <a:pPr lvl="0"/>
            <a:endParaRPr lang="zh-CN" altLang="en-US" dirty="0">
              <a:latin typeface="Times New Roman" panose="02020603050405020304" pitchFamily="18" charset="0"/>
            </a:endParaRPr>
          </a:p>
        </p:txBody>
      </p:sp>
      <p:sp>
        <p:nvSpPr>
          <p:cNvPr id="9" name="灯片编号占位符 8"/>
          <p:cNvSpPr>
            <a:spLocks noGrp="1"/>
          </p:cNvSpPr>
          <p:nvPr>
            <p:ph type="sldNum" sz="quarter" idx="12"/>
          </p:nvPr>
        </p:nvSpPr>
        <p:spPr/>
        <p:txBody>
          <a:bodyPr/>
          <a:lstStyle/>
          <a:p>
            <a:pPr lvl="0"/>
            <a:fld id="{9A0DB2DC-4C9A-4742-B13C-FB6460FD3503}" type="slidenum">
              <a:rPr lang="zh-CN" altLang="en-US" dirty="0">
                <a:latin typeface="Times New Roman" panose="02020603050405020304" pitchFamily="18" charset="0"/>
              </a:rPr>
            </a:fld>
            <a:endParaRPr lang="zh-CN" altLang="en-US" dirty="0">
              <a:latin typeface="Times New Roman" panose="02020603050405020304" pitchFamily="18" charset="0"/>
            </a:endParaRPr>
          </a:p>
        </p:txBody>
      </p:sp>
    </p:spTree>
  </p:cSld>
  <p:clrMapOvr>
    <a:masterClrMapping/>
  </p:clrMapOvr>
  <p:transition>
    <p:blinds dir="vert"/>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pPr lvl="0"/>
            <a:endParaRPr lang="zh-CN" altLang="en-US" dirty="0">
              <a:latin typeface="Times New Roman" panose="02020603050405020304" pitchFamily="18" charset="0"/>
            </a:endParaRPr>
          </a:p>
        </p:txBody>
      </p:sp>
      <p:sp>
        <p:nvSpPr>
          <p:cNvPr id="4" name="页脚占位符 3"/>
          <p:cNvSpPr>
            <a:spLocks noGrp="1"/>
          </p:cNvSpPr>
          <p:nvPr>
            <p:ph type="ftr" sz="quarter" idx="11"/>
          </p:nvPr>
        </p:nvSpPr>
        <p:spPr/>
        <p:txBody>
          <a:bodyPr/>
          <a:lstStyle/>
          <a:p>
            <a:pPr lvl="0"/>
            <a:endParaRPr lang="zh-CN" altLang="en-US" dirty="0">
              <a:latin typeface="Times New Roman" panose="02020603050405020304" pitchFamily="18" charset="0"/>
            </a:endParaRPr>
          </a:p>
        </p:txBody>
      </p:sp>
      <p:sp>
        <p:nvSpPr>
          <p:cNvPr id="5" name="灯片编号占位符 4"/>
          <p:cNvSpPr>
            <a:spLocks noGrp="1"/>
          </p:cNvSpPr>
          <p:nvPr>
            <p:ph type="sldNum" sz="quarter" idx="12"/>
          </p:nvPr>
        </p:nvSpPr>
        <p:spPr/>
        <p:txBody>
          <a:bodyPr/>
          <a:lstStyle/>
          <a:p>
            <a:pPr lvl="0"/>
            <a:fld id="{9A0DB2DC-4C9A-4742-B13C-FB6460FD3503}" type="slidenum">
              <a:rPr lang="zh-CN" altLang="en-US" dirty="0">
                <a:latin typeface="Times New Roman" panose="02020603050405020304" pitchFamily="18" charset="0"/>
              </a:rPr>
            </a:fld>
            <a:endParaRPr lang="zh-CN" altLang="en-US" dirty="0">
              <a:latin typeface="Times New Roman" panose="02020603050405020304" pitchFamily="18" charset="0"/>
            </a:endParaRPr>
          </a:p>
        </p:txBody>
      </p:sp>
    </p:spTree>
  </p:cSld>
  <p:clrMapOvr>
    <a:masterClrMapping/>
  </p:clrMapOvr>
  <p:transition>
    <p:blinds dir="vert"/>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lvl="0"/>
            <a:fld id="{BB962C8B-B14F-4D97-AF65-F5344CB8AC3E}" type="datetime1">
              <a:rPr lang="zh-CN" altLang="en-US" dirty="0">
                <a:latin typeface="Times New Roman" panose="02020603050405020304" pitchFamily="18" charset="0"/>
              </a:rPr>
            </a:fld>
            <a:endParaRPr lang="zh-CN" altLang="en-US" dirty="0">
              <a:latin typeface="Times New Roman" panose="02020603050405020304" pitchFamily="18" charset="0"/>
            </a:endParaRPr>
          </a:p>
        </p:txBody>
      </p:sp>
      <p:sp>
        <p:nvSpPr>
          <p:cNvPr id="3" name="页脚占位符 2"/>
          <p:cNvSpPr>
            <a:spLocks noGrp="1"/>
          </p:cNvSpPr>
          <p:nvPr>
            <p:ph type="ftr" sz="quarter" idx="11"/>
          </p:nvPr>
        </p:nvSpPr>
        <p:spPr/>
        <p:txBody>
          <a:bodyPr/>
          <a:lstStyle/>
          <a:p>
            <a:pPr lvl="0"/>
            <a:endParaRPr lang="zh-CN" altLang="en-US" dirty="0">
              <a:latin typeface="Times New Roman" panose="02020603050405020304" pitchFamily="18" charset="0"/>
            </a:endParaRPr>
          </a:p>
        </p:txBody>
      </p:sp>
      <p:sp>
        <p:nvSpPr>
          <p:cNvPr id="4" name="灯片编号占位符 3"/>
          <p:cNvSpPr>
            <a:spLocks noGrp="1"/>
          </p:cNvSpPr>
          <p:nvPr>
            <p:ph type="sldNum" sz="quarter" idx="12"/>
          </p:nvPr>
        </p:nvSpPr>
        <p:spPr/>
        <p:txBody>
          <a:bodyPr/>
          <a:lstStyle/>
          <a:p>
            <a:pPr lvl="0"/>
            <a:fld id="{9A0DB2DC-4C9A-4742-B13C-FB6460FD3503}" type="slidenum">
              <a:rPr lang="zh-CN" altLang="en-US" dirty="0">
                <a:latin typeface="Times New Roman" panose="02020603050405020304" pitchFamily="18" charset="0"/>
              </a:rPr>
            </a:fld>
            <a:endParaRPr lang="zh-CN" altLang="en-US" dirty="0">
              <a:latin typeface="Times New Roman" panose="02020603050405020304" pitchFamily="18" charset="0"/>
            </a:endParaRPr>
          </a:p>
        </p:txBody>
      </p:sp>
    </p:spTree>
  </p:cSld>
  <p:clrMapOvr>
    <a:masterClrMapping/>
  </p:clrMapOvr>
  <p:transition>
    <p:blinds dir="vert"/>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pPr lvl="0"/>
            <a:endParaRPr lang="zh-CN" altLang="en-US" dirty="0">
              <a:latin typeface="Times New Roman" panose="02020603050405020304" pitchFamily="18" charset="0"/>
            </a:endParaRPr>
          </a:p>
        </p:txBody>
      </p:sp>
      <p:sp>
        <p:nvSpPr>
          <p:cNvPr id="6" name="页脚占位符 5"/>
          <p:cNvSpPr>
            <a:spLocks noGrp="1"/>
          </p:cNvSpPr>
          <p:nvPr>
            <p:ph type="ftr" sz="quarter" idx="11"/>
          </p:nvPr>
        </p:nvSpPr>
        <p:spPr/>
        <p:txBody>
          <a:bodyPr/>
          <a:lstStyle/>
          <a:p>
            <a:pPr lvl="0"/>
            <a:endParaRPr lang="zh-CN" altLang="en-US" dirty="0">
              <a:latin typeface="Times New Roman" panose="02020603050405020304" pitchFamily="18" charset="0"/>
            </a:endParaRPr>
          </a:p>
        </p:txBody>
      </p:sp>
      <p:sp>
        <p:nvSpPr>
          <p:cNvPr id="7" name="灯片编号占位符 6"/>
          <p:cNvSpPr>
            <a:spLocks noGrp="1"/>
          </p:cNvSpPr>
          <p:nvPr>
            <p:ph type="sldNum" sz="quarter" idx="12"/>
          </p:nvPr>
        </p:nvSpPr>
        <p:spPr/>
        <p:txBody>
          <a:bodyPr/>
          <a:lstStyle/>
          <a:p>
            <a:pPr lvl="0"/>
            <a:fld id="{9A0DB2DC-4C9A-4742-B13C-FB6460FD3503}" type="slidenum">
              <a:rPr lang="zh-CN" altLang="en-US" dirty="0">
                <a:latin typeface="Times New Roman" panose="02020603050405020304" pitchFamily="18" charset="0"/>
              </a:rPr>
            </a:fld>
            <a:endParaRPr lang="zh-CN" altLang="en-US" dirty="0">
              <a:latin typeface="Times New Roman" panose="02020603050405020304" pitchFamily="18" charset="0"/>
            </a:endParaRPr>
          </a:p>
        </p:txBody>
      </p:sp>
    </p:spTree>
  </p:cSld>
  <p:clrMapOvr>
    <a:masterClrMapping/>
  </p:clrMapOvr>
  <p:transition>
    <p:blinds dir="vert"/>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zh-CN" altLang="en-US"/>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pPr lvl="0"/>
            <a:endParaRPr lang="zh-CN" altLang="en-US" dirty="0">
              <a:latin typeface="Times New Roman" panose="02020603050405020304" pitchFamily="18" charset="0"/>
            </a:endParaRPr>
          </a:p>
        </p:txBody>
      </p:sp>
      <p:sp>
        <p:nvSpPr>
          <p:cNvPr id="6" name="页脚占位符 5"/>
          <p:cNvSpPr>
            <a:spLocks noGrp="1"/>
          </p:cNvSpPr>
          <p:nvPr>
            <p:ph type="ftr" sz="quarter" idx="11"/>
          </p:nvPr>
        </p:nvSpPr>
        <p:spPr/>
        <p:txBody>
          <a:bodyPr/>
          <a:lstStyle/>
          <a:p>
            <a:pPr lvl="0"/>
            <a:endParaRPr lang="zh-CN" altLang="en-US" dirty="0">
              <a:latin typeface="Times New Roman" panose="02020603050405020304" pitchFamily="18" charset="0"/>
            </a:endParaRPr>
          </a:p>
        </p:txBody>
      </p:sp>
      <p:sp>
        <p:nvSpPr>
          <p:cNvPr id="7" name="灯片编号占位符 6"/>
          <p:cNvSpPr>
            <a:spLocks noGrp="1"/>
          </p:cNvSpPr>
          <p:nvPr>
            <p:ph type="sldNum" sz="quarter" idx="12"/>
          </p:nvPr>
        </p:nvSpPr>
        <p:spPr/>
        <p:txBody>
          <a:bodyPr/>
          <a:lstStyle/>
          <a:p>
            <a:pPr lvl="0"/>
            <a:fld id="{9A0DB2DC-4C9A-4742-B13C-FB6460FD3503}" type="slidenum">
              <a:rPr lang="zh-CN" altLang="en-US" dirty="0">
                <a:latin typeface="Times New Roman" panose="02020603050405020304" pitchFamily="18" charset="0"/>
              </a:rPr>
            </a:fld>
            <a:endParaRPr lang="zh-CN" altLang="en-US" dirty="0">
              <a:latin typeface="Times New Roman" panose="02020603050405020304" pitchFamily="18" charset="0"/>
            </a:endParaRPr>
          </a:p>
        </p:txBody>
      </p:sp>
    </p:spTree>
  </p:cSld>
  <p:clrMapOvr>
    <a:masterClrMapping/>
  </p:clrMapOvr>
  <p:transition>
    <p:blinds dir="vert"/>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pPr lvl="0"/>
            <a:endParaRPr lang="zh-CN" altLang="en-US" dirty="0">
              <a:latin typeface="Times New Roman" panose="02020603050405020304" pitchFamily="18" charset="0"/>
            </a:endParaRPr>
          </a:p>
        </p:txBody>
      </p:sp>
      <p:sp>
        <p:nvSpPr>
          <p:cNvPr id="5" name="页脚占位符 4"/>
          <p:cNvSpPr>
            <a:spLocks noGrp="1"/>
          </p:cNvSpPr>
          <p:nvPr>
            <p:ph type="ftr" sz="quarter" idx="11"/>
          </p:nvPr>
        </p:nvSpPr>
        <p:spPr/>
        <p:txBody>
          <a:bodyPr/>
          <a:lstStyle/>
          <a:p>
            <a:pPr lvl="0"/>
            <a:endParaRPr lang="zh-CN" altLang="en-US" dirty="0">
              <a:latin typeface="Times New Roman" panose="02020603050405020304" pitchFamily="18" charset="0"/>
            </a:endParaRPr>
          </a:p>
        </p:txBody>
      </p:sp>
      <p:sp>
        <p:nvSpPr>
          <p:cNvPr id="6" name="灯片编号占位符 5"/>
          <p:cNvSpPr>
            <a:spLocks noGrp="1"/>
          </p:cNvSpPr>
          <p:nvPr>
            <p:ph type="sldNum" sz="quarter" idx="12"/>
          </p:nvPr>
        </p:nvSpPr>
        <p:spPr/>
        <p:txBody>
          <a:bodyPr/>
          <a:lstStyle/>
          <a:p>
            <a:pPr lvl="0"/>
            <a:fld id="{9A0DB2DC-4C9A-4742-B13C-FB6460FD3503}" type="slidenum">
              <a:rPr lang="zh-CN" altLang="en-US" dirty="0">
                <a:latin typeface="Times New Roman" panose="02020603050405020304" pitchFamily="18" charset="0"/>
              </a:rPr>
            </a:fld>
            <a:endParaRPr lang="zh-CN" altLang="en-US" dirty="0">
              <a:latin typeface="Times New Roman" panose="02020603050405020304" pitchFamily="18" charset="0"/>
            </a:endParaRPr>
          </a:p>
        </p:txBody>
      </p:sp>
    </p:spTree>
  </p:cSld>
  <p:clrMapOvr>
    <a:masterClrMapping/>
  </p:clrMapOvr>
  <p:transition>
    <p:blinds dir="vert"/>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15100" y="609600"/>
            <a:ext cx="1943100" cy="5486400"/>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685800" y="609600"/>
            <a:ext cx="5716657" cy="5486400"/>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pPr lvl="0"/>
            <a:endParaRPr lang="zh-CN" altLang="en-US" dirty="0">
              <a:latin typeface="Times New Roman" panose="02020603050405020304" pitchFamily="18" charset="0"/>
            </a:endParaRPr>
          </a:p>
        </p:txBody>
      </p:sp>
      <p:sp>
        <p:nvSpPr>
          <p:cNvPr id="5" name="页脚占位符 4"/>
          <p:cNvSpPr>
            <a:spLocks noGrp="1"/>
          </p:cNvSpPr>
          <p:nvPr>
            <p:ph type="ftr" sz="quarter" idx="11"/>
          </p:nvPr>
        </p:nvSpPr>
        <p:spPr/>
        <p:txBody>
          <a:bodyPr/>
          <a:lstStyle/>
          <a:p>
            <a:pPr lvl="0"/>
            <a:endParaRPr lang="zh-CN" altLang="en-US" dirty="0">
              <a:latin typeface="Times New Roman" panose="02020603050405020304" pitchFamily="18" charset="0"/>
            </a:endParaRPr>
          </a:p>
        </p:txBody>
      </p:sp>
      <p:sp>
        <p:nvSpPr>
          <p:cNvPr id="6" name="灯片编号占位符 5"/>
          <p:cNvSpPr>
            <a:spLocks noGrp="1"/>
          </p:cNvSpPr>
          <p:nvPr>
            <p:ph type="sldNum" sz="quarter" idx="12"/>
          </p:nvPr>
        </p:nvSpPr>
        <p:spPr/>
        <p:txBody>
          <a:bodyPr/>
          <a:lstStyle/>
          <a:p>
            <a:pPr lvl="0"/>
            <a:fld id="{9A0DB2DC-4C9A-4742-B13C-FB6460FD3503}" type="slidenum">
              <a:rPr lang="zh-CN" altLang="en-US" dirty="0">
                <a:latin typeface="Times New Roman" panose="02020603050405020304" pitchFamily="18" charset="0"/>
              </a:rPr>
            </a:fld>
            <a:endParaRPr lang="zh-CN" altLang="en-US" dirty="0">
              <a:latin typeface="Times New Roman" panose="02020603050405020304" pitchFamily="18" charset="0"/>
            </a:endParaRPr>
          </a:p>
        </p:txBody>
      </p:sp>
    </p:spTree>
  </p:cSld>
  <p:clrMapOvr>
    <a:masterClrMapping/>
  </p:clrMapOvr>
  <p:transition>
    <p:blinds dir="vert"/>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文本占位符 2"/>
          <p:cNvSpPr>
            <a:spLocks noGrp="1"/>
          </p:cNvSpPr>
          <p:nvPr>
            <p:ph type="body" sz="half" idx="1"/>
          </p:nvPr>
        </p:nvSpPr>
        <p:spPr>
          <a:xfrm>
            <a:off x="628650" y="1825625"/>
            <a:ext cx="38862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quarter" idx="2"/>
          </p:nvPr>
        </p:nvSpPr>
        <p:spPr>
          <a:xfrm>
            <a:off x="4629150" y="1825625"/>
            <a:ext cx="3886200" cy="2098675"/>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内容占位符 4"/>
          <p:cNvSpPr>
            <a:spLocks noGrp="1"/>
          </p:cNvSpPr>
          <p:nvPr>
            <p:ph sz="quarter" idx="3"/>
          </p:nvPr>
        </p:nvSpPr>
        <p:spPr>
          <a:xfrm>
            <a:off x="4629150" y="4076700"/>
            <a:ext cx="3886200" cy="2100263"/>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日期占位符 5"/>
          <p:cNvSpPr>
            <a:spLocks noGrp="1"/>
          </p:cNvSpPr>
          <p:nvPr>
            <p:ph type="dt" sz="half" idx="10"/>
          </p:nvPr>
        </p:nvSpPr>
        <p:spPr/>
        <p:txBody>
          <a:bodyPr/>
          <a:lstStyle/>
          <a:p>
            <a:pPr lvl="0"/>
            <a:fld id="{BB962C8B-B14F-4D97-AF65-F5344CB8AC3E}" type="datetime1">
              <a:rPr lang="zh-CN" altLang="en-US" dirty="0">
                <a:latin typeface="Times New Roman" panose="02020603050405020304" pitchFamily="18" charset="0"/>
              </a:rPr>
            </a:fld>
            <a:endParaRPr lang="zh-CN" altLang="en-US" dirty="0">
              <a:latin typeface="Times New Roman" panose="02020603050405020304" pitchFamily="18" charset="0"/>
            </a:endParaRPr>
          </a:p>
        </p:txBody>
      </p:sp>
      <p:sp>
        <p:nvSpPr>
          <p:cNvPr id="7" name="页脚占位符 6"/>
          <p:cNvSpPr>
            <a:spLocks noGrp="1"/>
          </p:cNvSpPr>
          <p:nvPr>
            <p:ph type="ftr" sz="quarter" idx="11"/>
          </p:nvPr>
        </p:nvSpPr>
        <p:spPr/>
        <p:txBody>
          <a:bodyPr/>
          <a:lstStyle/>
          <a:p>
            <a:pPr lvl="0"/>
            <a:endParaRPr lang="zh-CN" altLang="en-US" dirty="0">
              <a:latin typeface="Times New Roman" panose="02020603050405020304" pitchFamily="18" charset="0"/>
            </a:endParaRPr>
          </a:p>
        </p:txBody>
      </p:sp>
      <p:sp>
        <p:nvSpPr>
          <p:cNvPr id="8" name="灯片编号占位符 7"/>
          <p:cNvSpPr>
            <a:spLocks noGrp="1"/>
          </p:cNvSpPr>
          <p:nvPr>
            <p:ph type="sldNum" sz="quarter" idx="12"/>
          </p:nvPr>
        </p:nvSpPr>
        <p:spPr/>
        <p:txBody>
          <a:bodyPr/>
          <a:lstStyle/>
          <a:p>
            <a:pPr lvl="0"/>
            <a:fld id="{9A0DB2DC-4C9A-4742-B13C-FB6460FD3503}" type="slidenum">
              <a:rPr lang="zh-CN" altLang="en-US" dirty="0">
                <a:latin typeface="Times New Roman" panose="02020603050405020304" pitchFamily="18" charset="0"/>
              </a:rPr>
            </a:fld>
            <a:endParaRPr lang="zh-CN" altLang="en-US" dirty="0">
              <a:latin typeface="Times New Roman" panose="02020603050405020304" pitchFamily="18" charset="0"/>
            </a:endParaRPr>
          </a:p>
        </p:txBody>
      </p:sp>
    </p:spTree>
  </p:cSld>
  <p:clrMapOvr>
    <a:masterClrMapping/>
  </p:clrMapOvr>
  <p:transition>
    <p:blinds dir="vert"/>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685800" y="609600"/>
            <a:ext cx="7772400" cy="5486400"/>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3" name="日期占位符 2"/>
          <p:cNvSpPr>
            <a:spLocks noGrp="1"/>
          </p:cNvSpPr>
          <p:nvPr>
            <p:ph type="dt" sz="half" idx="10"/>
          </p:nvPr>
        </p:nvSpPr>
        <p:spPr/>
        <p:txBody>
          <a:bodyPr/>
          <a:lstStyle/>
          <a:p>
            <a:pPr lvl="0"/>
            <a:fld id="{BB962C8B-B14F-4D97-AF65-F5344CB8AC3E}" type="datetime1">
              <a:rPr lang="zh-CN" altLang="en-US" dirty="0">
                <a:latin typeface="Times New Roman" panose="02020603050405020304" pitchFamily="18" charset="0"/>
              </a:rPr>
            </a:fld>
            <a:endParaRPr lang="zh-CN" altLang="en-US" dirty="0">
              <a:latin typeface="Times New Roman" panose="02020603050405020304" pitchFamily="18" charset="0"/>
            </a:endParaRPr>
          </a:p>
        </p:txBody>
      </p:sp>
      <p:sp>
        <p:nvSpPr>
          <p:cNvPr id="4" name="页脚占位符 3"/>
          <p:cNvSpPr>
            <a:spLocks noGrp="1"/>
          </p:cNvSpPr>
          <p:nvPr>
            <p:ph type="ftr" sz="quarter" idx="11"/>
          </p:nvPr>
        </p:nvSpPr>
        <p:spPr/>
        <p:txBody>
          <a:bodyPr/>
          <a:lstStyle/>
          <a:p>
            <a:pPr lvl="0"/>
            <a:endParaRPr lang="zh-CN" altLang="en-US" dirty="0">
              <a:latin typeface="Times New Roman" panose="02020603050405020304" pitchFamily="18" charset="0"/>
            </a:endParaRPr>
          </a:p>
        </p:txBody>
      </p:sp>
      <p:sp>
        <p:nvSpPr>
          <p:cNvPr id="5" name="灯片编号占位符 4"/>
          <p:cNvSpPr>
            <a:spLocks noGrp="1"/>
          </p:cNvSpPr>
          <p:nvPr>
            <p:ph type="sldNum" sz="quarter" idx="12"/>
          </p:nvPr>
        </p:nvSpPr>
        <p:spPr/>
        <p:txBody>
          <a:bodyPr/>
          <a:lstStyle/>
          <a:p>
            <a:pPr lvl="0"/>
            <a:fld id="{9A0DB2DC-4C9A-4742-B13C-FB6460FD3503}" type="slidenum">
              <a:rPr lang="zh-CN" altLang="en-US" dirty="0">
                <a:latin typeface="Times New Roman" panose="02020603050405020304" pitchFamily="18" charset="0"/>
              </a:rPr>
            </a:fld>
            <a:endParaRPr lang="zh-CN" altLang="en-US" dirty="0">
              <a:latin typeface="Times New Roman" panose="02020603050405020304" pitchFamily="18" charset="0"/>
            </a:endParaRPr>
          </a:p>
        </p:txBody>
      </p:sp>
    </p:spTree>
  </p:cSld>
  <p:clrMapOvr>
    <a:masterClrMapping/>
  </p:clrMapOvr>
  <p:transition>
    <p:blinds dir="vert"/>
  </p:transition>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5" Type="http://schemas.openxmlformats.org/officeDocument/2006/relationships/theme" Target="../theme/theme1.xml"/><Relationship Id="rId14" Type="http://schemas.openxmlformats.org/officeDocument/2006/relationships/image" Target="../media/image1.jpeg"/><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rotWithShape="0">
          <a:blip r:embed="rId14"/>
        </a:blipFill>
        <a:effectLst/>
      </p:bgPr>
    </p:bg>
    <p:spTree>
      <p:nvGrpSpPr>
        <p:cNvPr id="1" name=""/>
        <p:cNvGrpSpPr/>
        <p:nvPr/>
      </p:nvGrpSpPr>
      <p:grpSpPr/>
      <p:sp>
        <p:nvSpPr>
          <p:cNvPr id="1026" name="标题 1025"/>
          <p:cNvSpPr>
            <a:spLocks noGrp="1"/>
          </p:cNvSpPr>
          <p:nvPr>
            <p:ph type="title"/>
          </p:nvPr>
        </p:nvSpPr>
        <p:spPr>
          <a:xfrm>
            <a:off x="685800" y="609600"/>
            <a:ext cx="7772400" cy="1143000"/>
          </a:xfrm>
          <a:prstGeom prst="rect">
            <a:avLst/>
          </a:prstGeom>
          <a:noFill/>
          <a:ln w="9525">
            <a:noFill/>
          </a:ln>
        </p:spPr>
        <p:txBody>
          <a:bodyPr anchor="ctr" anchorCtr="0"/>
          <a:p>
            <a:pPr lvl="0"/>
            <a:r>
              <a:rPr lang="zh-CN" altLang="en-US" dirty="0"/>
              <a:t>单击此处编辑母版标题样式</a:t>
            </a:r>
            <a:endParaRPr lang="zh-CN" altLang="en-US" dirty="0"/>
          </a:p>
        </p:txBody>
      </p:sp>
      <p:sp>
        <p:nvSpPr>
          <p:cNvPr id="1027" name="文本占位符 1026"/>
          <p:cNvSpPr>
            <a:spLocks noGrp="1"/>
          </p:cNvSpPr>
          <p:nvPr>
            <p:ph type="body" idx="1"/>
          </p:nvPr>
        </p:nvSpPr>
        <p:spPr>
          <a:xfrm>
            <a:off x="685800" y="1981200"/>
            <a:ext cx="7772400" cy="4114800"/>
          </a:xfrm>
          <a:prstGeom prst="rect">
            <a:avLst/>
          </a:prstGeom>
          <a:noFill/>
          <a:ln w="9525">
            <a:noFill/>
          </a:ln>
        </p:spPr>
        <p:txBody>
          <a:bodyPr/>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1028" name="日期占位符 1027"/>
          <p:cNvSpPr>
            <a:spLocks noGrp="1"/>
          </p:cNvSpPr>
          <p:nvPr>
            <p:ph type="dt" sz="half" idx="2"/>
          </p:nvPr>
        </p:nvSpPr>
        <p:spPr>
          <a:xfrm>
            <a:off x="685800" y="6248400"/>
            <a:ext cx="1905000" cy="457200"/>
          </a:xfrm>
          <a:prstGeom prst="rect">
            <a:avLst/>
          </a:prstGeom>
          <a:noFill/>
          <a:ln w="9525">
            <a:noFill/>
          </a:ln>
        </p:spPr>
        <p:txBody>
          <a:bodyPr/>
          <a:lstStyle>
            <a:lvl1pPr>
              <a:defRPr sz="1400"/>
            </a:lvl1pPr>
          </a:lstStyle>
          <a:p>
            <a:pPr lvl="0"/>
            <a:fld id="{BB962C8B-B14F-4D97-AF65-F5344CB8AC3E}" type="datetime1">
              <a:rPr lang="zh-CN" altLang="en-US" dirty="0">
                <a:latin typeface="Times New Roman" panose="02020603050405020304" pitchFamily="18" charset="0"/>
              </a:rPr>
            </a:fld>
            <a:endParaRPr lang="zh-CN" altLang="en-US" dirty="0">
              <a:latin typeface="Times New Roman" panose="02020603050405020304" pitchFamily="18" charset="0"/>
            </a:endParaRPr>
          </a:p>
        </p:txBody>
      </p:sp>
      <p:sp>
        <p:nvSpPr>
          <p:cNvPr id="1029" name="页脚占位符 1028"/>
          <p:cNvSpPr>
            <a:spLocks noGrp="1"/>
          </p:cNvSpPr>
          <p:nvPr>
            <p:ph type="ftr" sz="quarter" idx="3"/>
          </p:nvPr>
        </p:nvSpPr>
        <p:spPr>
          <a:xfrm>
            <a:off x="3124200" y="6248400"/>
            <a:ext cx="2895600" cy="457200"/>
          </a:xfrm>
          <a:prstGeom prst="rect">
            <a:avLst/>
          </a:prstGeom>
          <a:noFill/>
          <a:ln w="9525">
            <a:noFill/>
          </a:ln>
        </p:spPr>
        <p:txBody>
          <a:bodyPr/>
          <a:lstStyle>
            <a:lvl1pPr algn="ctr">
              <a:defRPr sz="1400"/>
            </a:lvl1pPr>
          </a:lstStyle>
          <a:p>
            <a:pPr lvl="0"/>
            <a:endParaRPr lang="zh-CN" altLang="en-US" dirty="0">
              <a:latin typeface="Times New Roman" panose="02020603050405020304" pitchFamily="18" charset="0"/>
            </a:endParaRPr>
          </a:p>
        </p:txBody>
      </p:sp>
      <p:sp>
        <p:nvSpPr>
          <p:cNvPr id="1030" name="灯片编号占位符 1029"/>
          <p:cNvSpPr>
            <a:spLocks noGrp="1"/>
          </p:cNvSpPr>
          <p:nvPr>
            <p:ph type="sldNum" sz="quarter" idx="4"/>
          </p:nvPr>
        </p:nvSpPr>
        <p:spPr>
          <a:xfrm>
            <a:off x="6553200" y="6248400"/>
            <a:ext cx="1905000" cy="457200"/>
          </a:xfrm>
          <a:prstGeom prst="rect">
            <a:avLst/>
          </a:prstGeom>
          <a:noFill/>
          <a:ln w="9525">
            <a:noFill/>
          </a:ln>
        </p:spPr>
        <p:txBody>
          <a:bodyPr/>
          <a:lstStyle>
            <a:lvl1pPr algn="r">
              <a:defRPr sz="1400"/>
            </a:lvl1pPr>
          </a:lstStyle>
          <a:p>
            <a:pPr lvl="0"/>
            <a:fld id="{9A0DB2DC-4C9A-4742-B13C-FB6460FD3503}" type="slidenum">
              <a:rPr lang="zh-CN" altLang="en-US" dirty="0">
                <a:latin typeface="Times New Roman" panose="02020603050405020304" pitchFamily="18" charset="0"/>
              </a:rPr>
            </a:fld>
            <a:endParaRPr lang="zh-CN" altLang="en-US" dirty="0">
              <a:latin typeface="Times New Roman" panose="02020603050405020304" pitchFamily="18"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ransition>
    <p:blinds dir="vert"/>
  </p:transition>
  <p:hf sldNum="0" hdr="0" ftr="0" dt="0"/>
  <p:txStyles>
    <p:titleStyle>
      <a:lvl1pPr marL="0" lvl="0" indent="0" algn="ctr" defTabSz="914400" rtl="0" eaLnBrk="1" fontAlgn="base" latinLnBrk="0" hangingPunct="1">
        <a:lnSpc>
          <a:spcPct val="100000"/>
        </a:lnSpc>
        <a:spcBef>
          <a:spcPct val="0"/>
        </a:spcBef>
        <a:spcAft>
          <a:spcPct val="0"/>
        </a:spcAft>
        <a:buNone/>
        <a:defRPr sz="4400" b="0" i="0" u="none" kern="1200" baseline="0">
          <a:solidFill>
            <a:schemeClr val="tx2"/>
          </a:solidFill>
          <a:latin typeface="+mj-lt"/>
          <a:ea typeface="+mj-ea"/>
          <a:cs typeface="+mj-cs"/>
        </a:defRPr>
      </a:lvl1pPr>
    </p:titleStyle>
    <p:bodyStyle>
      <a:lvl1pPr marL="342900" lvl="0" indent="-342900" algn="l" defTabSz="914400" rtl="0" eaLnBrk="1" fontAlgn="base" latinLnBrk="0" hangingPunct="1">
        <a:lnSpc>
          <a:spcPct val="100000"/>
        </a:lnSpc>
        <a:spcBef>
          <a:spcPct val="20000"/>
        </a:spcBef>
        <a:spcAft>
          <a:spcPct val="0"/>
        </a:spcAft>
        <a:buChar char="•"/>
        <a:defRPr sz="3200" b="0" i="0" u="none" kern="1200" baseline="0">
          <a:solidFill>
            <a:schemeClr val="tx1"/>
          </a:solidFill>
          <a:latin typeface="+mn-lt"/>
          <a:ea typeface="+mn-ea"/>
          <a:cs typeface="+mn-cs"/>
        </a:defRPr>
      </a:lvl1pPr>
      <a:lvl2pPr marL="742950" lvl="1" indent="-285750" algn="l" defTabSz="914400" rtl="0" eaLnBrk="1" fontAlgn="base" latinLnBrk="0" hangingPunct="1">
        <a:lnSpc>
          <a:spcPct val="100000"/>
        </a:lnSpc>
        <a:spcBef>
          <a:spcPct val="20000"/>
        </a:spcBef>
        <a:spcAft>
          <a:spcPct val="0"/>
        </a:spcAft>
        <a:buChar char="–"/>
        <a:defRPr sz="2800" b="0" i="0" u="none" kern="1200" baseline="0">
          <a:solidFill>
            <a:schemeClr val="tx1"/>
          </a:solidFill>
          <a:latin typeface="+mn-lt"/>
          <a:ea typeface="+mn-ea"/>
          <a:cs typeface="+mn-cs"/>
        </a:defRPr>
      </a:lvl2pPr>
      <a:lvl3pPr marL="1143000" lvl="2" indent="-228600" algn="l" defTabSz="914400" rtl="0" eaLnBrk="1" fontAlgn="base" latinLnBrk="0" hangingPunct="1">
        <a:lnSpc>
          <a:spcPct val="100000"/>
        </a:lnSpc>
        <a:spcBef>
          <a:spcPct val="20000"/>
        </a:spcBef>
        <a:spcAft>
          <a:spcPct val="0"/>
        </a:spcAft>
        <a:buChar char="•"/>
        <a:defRPr sz="2400" b="0" i="0" u="none" kern="1200" baseline="0">
          <a:solidFill>
            <a:schemeClr val="tx1"/>
          </a:solidFill>
          <a:latin typeface="+mn-lt"/>
          <a:ea typeface="+mn-ea"/>
          <a:cs typeface="+mn-cs"/>
        </a:defRPr>
      </a:lvl3pPr>
      <a:lvl4pPr marL="1600200" lvl="3"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4pPr>
      <a:lvl5pPr marL="2057400" lvl="4"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5pPr>
      <a:lvl6pPr marL="2514600" lvl="5"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6pPr>
      <a:lvl7pPr marL="2971800" lvl="6"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7pPr>
      <a:lvl8pPr marL="3429000" lvl="7"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8pPr>
      <a:lvl9pPr marL="3886200" lvl="8"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9pPr>
    </p:bodyStyle>
    <p:other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mn-lt"/>
          <a:ea typeface="+mn-ea"/>
          <a:cs typeface="+mn-cs"/>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9pPr>
    </p:otherStyle>
  </p:txStyles>
</p:sldMaster>
</file>

<file path=ppt/slides/_rels/slide1.xml.rels><?xml version="1.0" encoding="UTF-8" standalone="yes"?>
<Relationships xmlns="http://schemas.openxmlformats.org/package/2006/relationships"><Relationship Id="rId6" Type="http://schemas.openxmlformats.org/officeDocument/2006/relationships/slideLayout" Target="../slideLayouts/slideLayout7.xml"/><Relationship Id="rId5" Type="http://schemas.openxmlformats.org/officeDocument/2006/relationships/image" Target="../media/image2.GIF"/><Relationship Id="rId4" Type="http://schemas.openxmlformats.org/officeDocument/2006/relationships/hyperlink" Target="&#23553;&#38754;&#21450;&#30446;&#24405;.ppt" TargetMode="External"/><Relationship Id="rId3" Type="http://schemas.openxmlformats.org/officeDocument/2006/relationships/slide" Target="slide128.xml"/><Relationship Id="rId2" Type="http://schemas.openxmlformats.org/officeDocument/2006/relationships/slide" Target="slide69.xml"/><Relationship Id="rId1" Type="http://schemas.openxmlformats.org/officeDocument/2006/relationships/slide" Target="slide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4" Type="http://schemas.openxmlformats.org/officeDocument/2006/relationships/vmlDrawing" Target="../drawings/vmlDrawing1.vml"/><Relationship Id="rId3" Type="http://schemas.openxmlformats.org/officeDocument/2006/relationships/slideLayout" Target="../slideLayouts/slideLayout7.xml"/><Relationship Id="rId2" Type="http://schemas.openxmlformats.org/officeDocument/2006/relationships/image" Target="../media/image3.wmf"/><Relationship Id="rId1" Type="http://schemas.openxmlformats.org/officeDocument/2006/relationships/oleObject" Target="../embeddings/oleObject1.bin"/></Relationships>
</file>

<file path=ppt/slides/_rels/slide4.xml.rels><?xml version="1.0" encoding="UTF-8" standalone="yes"?>
<Relationships xmlns="http://schemas.openxmlformats.org/package/2006/relationships"><Relationship Id="rId6" Type="http://schemas.openxmlformats.org/officeDocument/2006/relationships/vmlDrawing" Target="../drawings/vmlDrawing2.vml"/><Relationship Id="rId5" Type="http://schemas.openxmlformats.org/officeDocument/2006/relationships/slideLayout" Target="../slideLayouts/slideLayout7.xml"/><Relationship Id="rId4" Type="http://schemas.openxmlformats.org/officeDocument/2006/relationships/image" Target="../media/image5.wmf"/><Relationship Id="rId3" Type="http://schemas.openxmlformats.org/officeDocument/2006/relationships/oleObject" Target="../embeddings/oleObject3.bin"/><Relationship Id="rId2" Type="http://schemas.openxmlformats.org/officeDocument/2006/relationships/image" Target="../media/image4.wmf"/><Relationship Id="rId1" Type="http://schemas.openxmlformats.org/officeDocument/2006/relationships/oleObject" Target="../embeddings/oleObject2.bin"/></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4" Type="http://schemas.openxmlformats.org/officeDocument/2006/relationships/vmlDrawing" Target="../drawings/vmlDrawing3.vml"/><Relationship Id="rId3" Type="http://schemas.openxmlformats.org/officeDocument/2006/relationships/slideLayout" Target="../slideLayouts/slideLayout7.xml"/><Relationship Id="rId2" Type="http://schemas.openxmlformats.org/officeDocument/2006/relationships/image" Target="../media/image6.wmf"/><Relationship Id="rId1" Type="http://schemas.openxmlformats.org/officeDocument/2006/relationships/oleObject" Target="../embeddings/oleObject4.bin"/></Relationships>
</file>

<file path=ppt/slides/_rels/slide7.xml.rels><?xml version="1.0" encoding="UTF-8" standalone="yes"?>
<Relationships xmlns="http://schemas.openxmlformats.org/package/2006/relationships"><Relationship Id="rId4" Type="http://schemas.openxmlformats.org/officeDocument/2006/relationships/vmlDrawing" Target="../drawings/vmlDrawing4.vml"/><Relationship Id="rId3" Type="http://schemas.openxmlformats.org/officeDocument/2006/relationships/slideLayout" Target="../slideLayouts/slideLayout7.xml"/><Relationship Id="rId2" Type="http://schemas.openxmlformats.org/officeDocument/2006/relationships/image" Target="../media/image7.wmf"/><Relationship Id="rId1" Type="http://schemas.openxmlformats.org/officeDocument/2006/relationships/oleObject" Target="../embeddings/oleObject5.bin"/></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4" Type="http://schemas.openxmlformats.org/officeDocument/2006/relationships/vmlDrawing" Target="../drawings/vmlDrawing5.vml"/><Relationship Id="rId3" Type="http://schemas.openxmlformats.org/officeDocument/2006/relationships/slideLayout" Target="../slideLayouts/slideLayout7.xml"/><Relationship Id="rId2" Type="http://schemas.openxmlformats.org/officeDocument/2006/relationships/image" Target="../media/image8.wmf"/><Relationship Id="rId1" Type="http://schemas.openxmlformats.org/officeDocument/2006/relationships/oleObject" Target="../embeddings/oleObject6.bin"/></Relationships>
</file>

<file path=ppt/slides/_rels/slide11.xml.rels><?xml version="1.0" encoding="UTF-8" standalone="yes"?>
<Relationships xmlns="http://schemas.openxmlformats.org/package/2006/relationships"><Relationship Id="rId6" Type="http://schemas.openxmlformats.org/officeDocument/2006/relationships/vmlDrawing" Target="../drawings/vmlDrawing6.vml"/><Relationship Id="rId5" Type="http://schemas.openxmlformats.org/officeDocument/2006/relationships/slideLayout" Target="../slideLayouts/slideLayout7.xml"/><Relationship Id="rId4" Type="http://schemas.openxmlformats.org/officeDocument/2006/relationships/image" Target="../media/image10.wmf"/><Relationship Id="rId3" Type="http://schemas.openxmlformats.org/officeDocument/2006/relationships/oleObject" Target="../embeddings/oleObject8.bin"/><Relationship Id="rId2" Type="http://schemas.openxmlformats.org/officeDocument/2006/relationships/image" Target="../media/image9.wmf"/><Relationship Id="rId1" Type="http://schemas.openxmlformats.org/officeDocument/2006/relationships/oleObject" Target="../embeddings/oleObject7.bin"/></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4" Type="http://schemas.openxmlformats.org/officeDocument/2006/relationships/vmlDrawing" Target="../drawings/vmlDrawing7.vml"/><Relationship Id="rId3" Type="http://schemas.openxmlformats.org/officeDocument/2006/relationships/slideLayout" Target="../slideLayouts/slideLayout7.xml"/><Relationship Id="rId2" Type="http://schemas.openxmlformats.org/officeDocument/2006/relationships/image" Target="../media/image11.wmf"/><Relationship Id="rId1" Type="http://schemas.openxmlformats.org/officeDocument/2006/relationships/oleObject" Target="../embeddings/oleObject9.bin"/></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4" Type="http://schemas.openxmlformats.org/officeDocument/2006/relationships/vmlDrawing" Target="../drawings/vmlDrawing8.vml"/><Relationship Id="rId3" Type="http://schemas.openxmlformats.org/officeDocument/2006/relationships/slideLayout" Target="../slideLayouts/slideLayout7.xml"/><Relationship Id="rId2" Type="http://schemas.openxmlformats.org/officeDocument/2006/relationships/image" Target="../media/image12.wmf"/><Relationship Id="rId1" Type="http://schemas.openxmlformats.org/officeDocument/2006/relationships/oleObject" Target="../embeddings/oleObject10.bin"/></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4" Type="http://schemas.openxmlformats.org/officeDocument/2006/relationships/vmlDrawing" Target="../drawings/vmlDrawing9.vml"/><Relationship Id="rId3" Type="http://schemas.openxmlformats.org/officeDocument/2006/relationships/slideLayout" Target="../slideLayouts/slideLayout7.xml"/><Relationship Id="rId2" Type="http://schemas.openxmlformats.org/officeDocument/2006/relationships/image" Target="../media/image13.wmf"/><Relationship Id="rId1" Type="http://schemas.openxmlformats.org/officeDocument/2006/relationships/oleObject" Target="../embeddings/oleObject11.bin"/></Relationships>
</file>

<file path=ppt/slides/_rels/slide19.xml.rels><?xml version="1.0" encoding="UTF-8" standalone="yes"?>
<Relationships xmlns="http://schemas.openxmlformats.org/package/2006/relationships"><Relationship Id="rId4" Type="http://schemas.openxmlformats.org/officeDocument/2006/relationships/vmlDrawing" Target="../drawings/vmlDrawing10.vml"/><Relationship Id="rId3" Type="http://schemas.openxmlformats.org/officeDocument/2006/relationships/slideLayout" Target="../slideLayouts/slideLayout7.xml"/><Relationship Id="rId2" Type="http://schemas.openxmlformats.org/officeDocument/2006/relationships/image" Target="../media/image14.wmf"/><Relationship Id="rId1" Type="http://schemas.openxmlformats.org/officeDocument/2006/relationships/oleObject" Target="../embeddings/oleObject12.bin"/></Relationships>
</file>

<file path=ppt/slides/_rels/slide20.xml.rels><?xml version="1.0" encoding="UTF-8" standalone="yes"?>
<Relationships xmlns="http://schemas.openxmlformats.org/package/2006/relationships"><Relationship Id="rId6" Type="http://schemas.openxmlformats.org/officeDocument/2006/relationships/vmlDrawing" Target="../drawings/vmlDrawing11.vml"/><Relationship Id="rId5" Type="http://schemas.openxmlformats.org/officeDocument/2006/relationships/slideLayout" Target="../slideLayouts/slideLayout7.xml"/><Relationship Id="rId4" Type="http://schemas.openxmlformats.org/officeDocument/2006/relationships/image" Target="../media/image16.wmf"/><Relationship Id="rId3" Type="http://schemas.openxmlformats.org/officeDocument/2006/relationships/oleObject" Target="../embeddings/oleObject14.bin"/><Relationship Id="rId2" Type="http://schemas.openxmlformats.org/officeDocument/2006/relationships/image" Target="../media/image15.wmf"/><Relationship Id="rId1" Type="http://schemas.openxmlformats.org/officeDocument/2006/relationships/oleObject" Target="../embeddings/oleObject13.bin"/></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4" Type="http://schemas.openxmlformats.org/officeDocument/2006/relationships/vmlDrawing" Target="../drawings/vmlDrawing12.vml"/><Relationship Id="rId3" Type="http://schemas.openxmlformats.org/officeDocument/2006/relationships/slideLayout" Target="../slideLayouts/slideLayout7.xml"/><Relationship Id="rId2" Type="http://schemas.openxmlformats.org/officeDocument/2006/relationships/image" Target="../media/image17.wmf"/><Relationship Id="rId1" Type="http://schemas.openxmlformats.org/officeDocument/2006/relationships/oleObject" Target="../embeddings/oleObject15.bin"/></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6" Type="http://schemas.openxmlformats.org/officeDocument/2006/relationships/vmlDrawing" Target="../drawings/vmlDrawing13.vml"/><Relationship Id="rId5" Type="http://schemas.openxmlformats.org/officeDocument/2006/relationships/slideLayout" Target="../slideLayouts/slideLayout7.xml"/><Relationship Id="rId4" Type="http://schemas.openxmlformats.org/officeDocument/2006/relationships/image" Target="../media/image15.wmf"/><Relationship Id="rId3" Type="http://schemas.openxmlformats.org/officeDocument/2006/relationships/oleObject" Target="../embeddings/oleObject17.bin"/><Relationship Id="rId2" Type="http://schemas.openxmlformats.org/officeDocument/2006/relationships/image" Target="../media/image18.wmf"/><Relationship Id="rId1" Type="http://schemas.openxmlformats.org/officeDocument/2006/relationships/oleObject" Target="../embeddings/oleObject16.bin"/></Relationships>
</file>

<file path=ppt/slides/_rels/slide25.xml.rels><?xml version="1.0" encoding="UTF-8" standalone="yes"?>
<Relationships xmlns="http://schemas.openxmlformats.org/package/2006/relationships"><Relationship Id="rId4" Type="http://schemas.openxmlformats.org/officeDocument/2006/relationships/vmlDrawing" Target="../drawings/vmlDrawing14.vml"/><Relationship Id="rId3" Type="http://schemas.openxmlformats.org/officeDocument/2006/relationships/slideLayout" Target="../slideLayouts/slideLayout7.xml"/><Relationship Id="rId2" Type="http://schemas.openxmlformats.org/officeDocument/2006/relationships/image" Target="../media/image16.wmf"/><Relationship Id="rId1" Type="http://schemas.openxmlformats.org/officeDocument/2006/relationships/oleObject" Target="../embeddings/oleObject18.bin"/></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9.jpeg"/></Relationships>
</file>

<file path=ppt/slides/_rels/slide28.xml.rels><?xml version="1.0" encoding="UTF-8" standalone="yes"?>
<Relationships xmlns="http://schemas.openxmlformats.org/package/2006/relationships"><Relationship Id="rId4" Type="http://schemas.openxmlformats.org/officeDocument/2006/relationships/vmlDrawing" Target="../drawings/vmlDrawing15.vml"/><Relationship Id="rId3" Type="http://schemas.openxmlformats.org/officeDocument/2006/relationships/slideLayout" Target="../slideLayouts/slideLayout7.xml"/><Relationship Id="rId2" Type="http://schemas.openxmlformats.org/officeDocument/2006/relationships/image" Target="../media/image20.png"/><Relationship Id="rId1" Type="http://schemas.openxmlformats.org/officeDocument/2006/relationships/oleObject" Target="../embeddings/oleObject19.bin"/></Relationships>
</file>

<file path=ppt/slides/_rels/slide29.xml.rels><?xml version="1.0" encoding="UTF-8" standalone="yes"?>
<Relationships xmlns="http://schemas.openxmlformats.org/package/2006/relationships"><Relationship Id="rId4" Type="http://schemas.openxmlformats.org/officeDocument/2006/relationships/vmlDrawing" Target="../drawings/vmlDrawing16.vml"/><Relationship Id="rId3" Type="http://schemas.openxmlformats.org/officeDocument/2006/relationships/slideLayout" Target="../slideLayouts/slideLayout7.xml"/><Relationship Id="rId2" Type="http://schemas.openxmlformats.org/officeDocument/2006/relationships/image" Target="../media/image21.wmf"/><Relationship Id="rId1" Type="http://schemas.openxmlformats.org/officeDocument/2006/relationships/oleObject" Target="../embeddings/oleObject20.bin"/></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4" Type="http://schemas.openxmlformats.org/officeDocument/2006/relationships/vmlDrawing" Target="../drawings/vmlDrawing17.vml"/><Relationship Id="rId3" Type="http://schemas.openxmlformats.org/officeDocument/2006/relationships/slideLayout" Target="../slideLayouts/slideLayout2.xml"/><Relationship Id="rId2" Type="http://schemas.openxmlformats.org/officeDocument/2006/relationships/image" Target="../media/image22.wmf"/><Relationship Id="rId1" Type="http://schemas.openxmlformats.org/officeDocument/2006/relationships/oleObject" Target="../embeddings/oleObject21.bin"/></Relationships>
</file>

<file path=ppt/slides/_rels/slide32.xml.rels><?xml version="1.0" encoding="UTF-8" standalone="yes"?>
<Relationships xmlns="http://schemas.openxmlformats.org/package/2006/relationships"><Relationship Id="rId6" Type="http://schemas.openxmlformats.org/officeDocument/2006/relationships/vmlDrawing" Target="../drawings/vmlDrawing18.vml"/><Relationship Id="rId5" Type="http://schemas.openxmlformats.org/officeDocument/2006/relationships/slideLayout" Target="../slideLayouts/slideLayout12.xml"/><Relationship Id="rId4" Type="http://schemas.openxmlformats.org/officeDocument/2006/relationships/image" Target="../media/image24.wmf"/><Relationship Id="rId3" Type="http://schemas.openxmlformats.org/officeDocument/2006/relationships/oleObject" Target="../embeddings/oleObject23.bin"/><Relationship Id="rId2" Type="http://schemas.openxmlformats.org/officeDocument/2006/relationships/image" Target="../media/image23.wmf"/><Relationship Id="rId1" Type="http://schemas.openxmlformats.org/officeDocument/2006/relationships/oleObject" Target="../embeddings/oleObject22.bin"/></Relationships>
</file>

<file path=ppt/slides/_rels/slide33.xml.rels><?xml version="1.0" encoding="UTF-8" standalone="yes"?>
<Relationships xmlns="http://schemas.openxmlformats.org/package/2006/relationships"><Relationship Id="rId4" Type="http://schemas.openxmlformats.org/officeDocument/2006/relationships/vmlDrawing" Target="../drawings/vmlDrawing19.vml"/><Relationship Id="rId3" Type="http://schemas.openxmlformats.org/officeDocument/2006/relationships/slideLayout" Target="../slideLayouts/slideLayout13.xml"/><Relationship Id="rId2" Type="http://schemas.openxmlformats.org/officeDocument/2006/relationships/image" Target="../media/image25.wmf"/><Relationship Id="rId1" Type="http://schemas.openxmlformats.org/officeDocument/2006/relationships/oleObject" Target="../embeddings/oleObject24.bin"/></Relationships>
</file>

<file path=ppt/slides/_rels/slide34.xml.rels><?xml version="1.0" encoding="UTF-8" standalone="yes"?>
<Relationships xmlns="http://schemas.openxmlformats.org/package/2006/relationships"><Relationship Id="rId4" Type="http://schemas.openxmlformats.org/officeDocument/2006/relationships/vmlDrawing" Target="../drawings/vmlDrawing20.vml"/><Relationship Id="rId3" Type="http://schemas.openxmlformats.org/officeDocument/2006/relationships/slideLayout" Target="../slideLayouts/slideLayout7.xml"/><Relationship Id="rId2" Type="http://schemas.openxmlformats.org/officeDocument/2006/relationships/image" Target="../media/image26.wmf"/><Relationship Id="rId1" Type="http://schemas.openxmlformats.org/officeDocument/2006/relationships/oleObject" Target="../embeddings/oleObject25.bin"/></Relationships>
</file>

<file path=ppt/slides/_rels/slide35.xml.rels><?xml version="1.0" encoding="UTF-8" standalone="yes"?>
<Relationships xmlns="http://schemas.openxmlformats.org/package/2006/relationships"><Relationship Id="rId4" Type="http://schemas.openxmlformats.org/officeDocument/2006/relationships/vmlDrawing" Target="../drawings/vmlDrawing21.vml"/><Relationship Id="rId3" Type="http://schemas.openxmlformats.org/officeDocument/2006/relationships/slideLayout" Target="../slideLayouts/slideLayout7.xml"/><Relationship Id="rId2" Type="http://schemas.openxmlformats.org/officeDocument/2006/relationships/image" Target="../media/image27.wmf"/><Relationship Id="rId1" Type="http://schemas.openxmlformats.org/officeDocument/2006/relationships/oleObject" Target="../embeddings/oleObject26.bin"/></Relationships>
</file>

<file path=ppt/slides/_rels/slide36.xml.rels><?xml version="1.0" encoding="UTF-8" standalone="yes"?>
<Relationships xmlns="http://schemas.openxmlformats.org/package/2006/relationships"><Relationship Id="rId4" Type="http://schemas.openxmlformats.org/officeDocument/2006/relationships/vmlDrawing" Target="../drawings/vmlDrawing22.vml"/><Relationship Id="rId3" Type="http://schemas.openxmlformats.org/officeDocument/2006/relationships/slideLayout" Target="../slideLayouts/slideLayout7.xml"/><Relationship Id="rId2" Type="http://schemas.openxmlformats.org/officeDocument/2006/relationships/image" Target="../media/image28.wmf"/><Relationship Id="rId1" Type="http://schemas.openxmlformats.org/officeDocument/2006/relationships/oleObject" Target="../embeddings/oleObject27.bin"/></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4" Type="http://schemas.openxmlformats.org/officeDocument/2006/relationships/vmlDrawing" Target="../drawings/vmlDrawing23.vml"/><Relationship Id="rId3" Type="http://schemas.openxmlformats.org/officeDocument/2006/relationships/slideLayout" Target="../slideLayouts/slideLayout7.xml"/><Relationship Id="rId2" Type="http://schemas.openxmlformats.org/officeDocument/2006/relationships/image" Target="../media/image29.wmf"/><Relationship Id="rId1" Type="http://schemas.openxmlformats.org/officeDocument/2006/relationships/oleObject" Target="../embeddings/oleObject28.bin"/></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4" Type="http://schemas.openxmlformats.org/officeDocument/2006/relationships/vmlDrawing" Target="../drawings/vmlDrawing24.vml"/><Relationship Id="rId3" Type="http://schemas.openxmlformats.org/officeDocument/2006/relationships/slideLayout" Target="../slideLayouts/slideLayout7.xml"/><Relationship Id="rId2" Type="http://schemas.openxmlformats.org/officeDocument/2006/relationships/image" Target="../media/image30.wmf"/><Relationship Id="rId1" Type="http://schemas.openxmlformats.org/officeDocument/2006/relationships/oleObject" Target="../embeddings/oleObject29.bin"/></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4" Type="http://schemas.openxmlformats.org/officeDocument/2006/relationships/vmlDrawing" Target="../drawings/vmlDrawing25.vml"/><Relationship Id="rId3" Type="http://schemas.openxmlformats.org/officeDocument/2006/relationships/slideLayout" Target="../slideLayouts/slideLayout7.xml"/><Relationship Id="rId2" Type="http://schemas.openxmlformats.org/officeDocument/2006/relationships/image" Target="../media/image31.wmf"/><Relationship Id="rId1" Type="http://schemas.openxmlformats.org/officeDocument/2006/relationships/oleObject" Target="../embeddings/oleObject30.bin"/></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4" Type="http://schemas.openxmlformats.org/officeDocument/2006/relationships/vmlDrawing" Target="../drawings/vmlDrawing26.vml"/><Relationship Id="rId3" Type="http://schemas.openxmlformats.org/officeDocument/2006/relationships/slideLayout" Target="../slideLayouts/slideLayout7.xml"/><Relationship Id="rId2" Type="http://schemas.openxmlformats.org/officeDocument/2006/relationships/image" Target="../media/image32.wmf"/><Relationship Id="rId1" Type="http://schemas.openxmlformats.org/officeDocument/2006/relationships/oleObject" Target="../embeddings/oleObject31.bin"/></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4" Type="http://schemas.openxmlformats.org/officeDocument/2006/relationships/vmlDrawing" Target="../drawings/vmlDrawing27.vml"/><Relationship Id="rId3" Type="http://schemas.openxmlformats.org/officeDocument/2006/relationships/slideLayout" Target="../slideLayouts/slideLayout7.xml"/><Relationship Id="rId2" Type="http://schemas.openxmlformats.org/officeDocument/2006/relationships/image" Target="../media/image33.wmf"/><Relationship Id="rId1" Type="http://schemas.openxmlformats.org/officeDocument/2006/relationships/oleObject" Target="../embeddings/oleObject32.bin"/></Relationships>
</file>

<file path=ppt/slides/_rels/slide57.xml.rels><?xml version="1.0" encoding="UTF-8" standalone="yes"?>
<Relationships xmlns="http://schemas.openxmlformats.org/package/2006/relationships"><Relationship Id="rId4" Type="http://schemas.openxmlformats.org/officeDocument/2006/relationships/vmlDrawing" Target="../drawings/vmlDrawing28.vml"/><Relationship Id="rId3" Type="http://schemas.openxmlformats.org/officeDocument/2006/relationships/slideLayout" Target="../slideLayouts/slideLayout7.xml"/><Relationship Id="rId2" Type="http://schemas.openxmlformats.org/officeDocument/2006/relationships/image" Target="../media/image34.wmf"/><Relationship Id="rId1" Type="http://schemas.openxmlformats.org/officeDocument/2006/relationships/oleObject" Target="../embeddings/oleObject33.bin"/></Relationships>
</file>

<file path=ppt/slides/_rels/slide58.xml.rels><?xml version="1.0" encoding="UTF-8" standalone="yes"?>
<Relationships xmlns="http://schemas.openxmlformats.org/package/2006/relationships"><Relationship Id="rId6" Type="http://schemas.openxmlformats.org/officeDocument/2006/relationships/vmlDrawing" Target="../drawings/vmlDrawing29.vml"/><Relationship Id="rId5" Type="http://schemas.openxmlformats.org/officeDocument/2006/relationships/slideLayout" Target="../slideLayouts/slideLayout7.xml"/><Relationship Id="rId4" Type="http://schemas.openxmlformats.org/officeDocument/2006/relationships/image" Target="../media/image36.wmf"/><Relationship Id="rId3" Type="http://schemas.openxmlformats.org/officeDocument/2006/relationships/oleObject" Target="../embeddings/oleObject35.bin"/><Relationship Id="rId2" Type="http://schemas.openxmlformats.org/officeDocument/2006/relationships/image" Target="../media/image35.wmf"/><Relationship Id="rId1" Type="http://schemas.openxmlformats.org/officeDocument/2006/relationships/oleObject" Target="../embeddings/oleObject34.bin"/></Relationships>
</file>

<file path=ppt/slides/_rels/slide59.xml.rels><?xml version="1.0" encoding="UTF-8" standalone="yes"?>
<Relationships xmlns="http://schemas.openxmlformats.org/package/2006/relationships"><Relationship Id="rId4" Type="http://schemas.openxmlformats.org/officeDocument/2006/relationships/vmlDrawing" Target="../drawings/vmlDrawing30.vml"/><Relationship Id="rId3" Type="http://schemas.openxmlformats.org/officeDocument/2006/relationships/slideLayout" Target="../slideLayouts/slideLayout7.xml"/><Relationship Id="rId2" Type="http://schemas.openxmlformats.org/officeDocument/2006/relationships/image" Target="../media/image37.wmf"/><Relationship Id="rId1" Type="http://schemas.openxmlformats.org/officeDocument/2006/relationships/oleObject" Target="../embeddings/oleObject36.bin"/></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4" Type="http://schemas.openxmlformats.org/officeDocument/2006/relationships/vmlDrawing" Target="../drawings/vmlDrawing31.vml"/><Relationship Id="rId3" Type="http://schemas.openxmlformats.org/officeDocument/2006/relationships/slideLayout" Target="../slideLayouts/slideLayout7.xml"/><Relationship Id="rId2" Type="http://schemas.openxmlformats.org/officeDocument/2006/relationships/image" Target="../media/image38.wmf"/><Relationship Id="rId1" Type="http://schemas.openxmlformats.org/officeDocument/2006/relationships/oleObject" Target="../embeddings/oleObject37.bin"/></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4" Type="http://schemas.openxmlformats.org/officeDocument/2006/relationships/vmlDrawing" Target="../drawings/vmlDrawing32.vml"/><Relationship Id="rId3" Type="http://schemas.openxmlformats.org/officeDocument/2006/relationships/slideLayout" Target="../slideLayouts/slideLayout7.xml"/><Relationship Id="rId2" Type="http://schemas.openxmlformats.org/officeDocument/2006/relationships/image" Target="../media/image39.wmf"/><Relationship Id="rId1" Type="http://schemas.openxmlformats.org/officeDocument/2006/relationships/oleObject" Target="../embeddings/oleObject38.bin"/></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4" Type="http://schemas.openxmlformats.org/officeDocument/2006/relationships/vmlDrawing" Target="../drawings/vmlDrawing33.vml"/><Relationship Id="rId3" Type="http://schemas.openxmlformats.org/officeDocument/2006/relationships/slideLayout" Target="../slideLayouts/slideLayout7.xml"/><Relationship Id="rId2" Type="http://schemas.openxmlformats.org/officeDocument/2006/relationships/image" Target="../media/image40.png"/><Relationship Id="rId1" Type="http://schemas.openxmlformats.org/officeDocument/2006/relationships/oleObject" Target="../embeddings/oleObject39.bin"/></Relationships>
</file>

<file path=ppt/slides/_rels/slide67.xml.rels><?xml version="1.0" encoding="UTF-8" standalone="yes"?>
<Relationships xmlns="http://schemas.openxmlformats.org/package/2006/relationships"><Relationship Id="rId4" Type="http://schemas.openxmlformats.org/officeDocument/2006/relationships/vmlDrawing" Target="../drawings/vmlDrawing34.vml"/><Relationship Id="rId3" Type="http://schemas.openxmlformats.org/officeDocument/2006/relationships/slideLayout" Target="../slideLayouts/slideLayout7.xml"/><Relationship Id="rId2" Type="http://schemas.openxmlformats.org/officeDocument/2006/relationships/image" Target="../media/image41.png"/><Relationship Id="rId1" Type="http://schemas.openxmlformats.org/officeDocument/2006/relationships/oleObject" Target="../embeddings/oleObject40.bin"/></Relationships>
</file>

<file path=ppt/slides/_rels/slide68.xml.rels><?xml version="1.0" encoding="UTF-8" standalone="yes"?>
<Relationships xmlns="http://schemas.openxmlformats.org/package/2006/relationships"><Relationship Id="rId4" Type="http://schemas.openxmlformats.org/officeDocument/2006/relationships/vmlDrawing" Target="../drawings/vmlDrawing35.vml"/><Relationship Id="rId3" Type="http://schemas.openxmlformats.org/officeDocument/2006/relationships/slideLayout" Target="../slideLayouts/slideLayout7.xml"/><Relationship Id="rId2" Type="http://schemas.openxmlformats.org/officeDocument/2006/relationships/image" Target="../media/image42.png"/><Relationship Id="rId1" Type="http://schemas.openxmlformats.org/officeDocument/2006/relationships/oleObject" Target="../embeddings/oleObject41.bin"/></Relationships>
</file>

<file path=ppt/slides/_rels/slide69.xml.rels><?xml version="1.0" encoding="UTF-8" standalone="yes"?>
<Relationships xmlns="http://schemas.openxmlformats.org/package/2006/relationships"><Relationship Id="rId4" Type="http://schemas.openxmlformats.org/officeDocument/2006/relationships/vmlDrawing" Target="../drawings/vmlDrawing36.vml"/><Relationship Id="rId3" Type="http://schemas.openxmlformats.org/officeDocument/2006/relationships/slideLayout" Target="../slideLayouts/slideLayout7.xml"/><Relationship Id="rId2" Type="http://schemas.openxmlformats.org/officeDocument/2006/relationships/image" Target="../media/image43.wmf"/><Relationship Id="rId1" Type="http://schemas.openxmlformats.org/officeDocument/2006/relationships/oleObject" Target="../embeddings/oleObject42.bin"/></Relationships>
</file>

<file path=ppt/slides/_rels/slide70.xml.rels><?xml version="1.0" encoding="UTF-8" standalone="yes"?>
<Relationships xmlns="http://schemas.openxmlformats.org/package/2006/relationships"><Relationship Id="rId4" Type="http://schemas.openxmlformats.org/officeDocument/2006/relationships/vmlDrawing" Target="../drawings/vmlDrawing37.vml"/><Relationship Id="rId3" Type="http://schemas.openxmlformats.org/officeDocument/2006/relationships/slideLayout" Target="../slideLayouts/slideLayout7.xml"/><Relationship Id="rId2" Type="http://schemas.openxmlformats.org/officeDocument/2006/relationships/image" Target="../media/image44.wmf"/><Relationship Id="rId1" Type="http://schemas.openxmlformats.org/officeDocument/2006/relationships/oleObject" Target="../embeddings/oleObject43.bin"/></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4" Type="http://schemas.openxmlformats.org/officeDocument/2006/relationships/vmlDrawing" Target="../drawings/vmlDrawing38.vml"/><Relationship Id="rId3" Type="http://schemas.openxmlformats.org/officeDocument/2006/relationships/slideLayout" Target="../slideLayouts/slideLayout7.xml"/><Relationship Id="rId2" Type="http://schemas.openxmlformats.org/officeDocument/2006/relationships/image" Target="../media/image45.wmf"/><Relationship Id="rId1" Type="http://schemas.openxmlformats.org/officeDocument/2006/relationships/oleObject" Target="../embeddings/oleObject44.bin"/></Relationships>
</file>

<file path=ppt/slides/_rels/slide73.xml.rels><?xml version="1.0" encoding="UTF-8" standalone="yes"?>
<Relationships xmlns="http://schemas.openxmlformats.org/package/2006/relationships"><Relationship Id="rId4" Type="http://schemas.openxmlformats.org/officeDocument/2006/relationships/vmlDrawing" Target="../drawings/vmlDrawing39.vml"/><Relationship Id="rId3" Type="http://schemas.openxmlformats.org/officeDocument/2006/relationships/slideLayout" Target="../slideLayouts/slideLayout7.xml"/><Relationship Id="rId2" Type="http://schemas.openxmlformats.org/officeDocument/2006/relationships/image" Target="../media/image46.wmf"/><Relationship Id="rId1" Type="http://schemas.openxmlformats.org/officeDocument/2006/relationships/oleObject" Target="../embeddings/oleObject45.bin"/></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4" Type="http://schemas.openxmlformats.org/officeDocument/2006/relationships/vmlDrawing" Target="../drawings/vmlDrawing40.vml"/><Relationship Id="rId3" Type="http://schemas.openxmlformats.org/officeDocument/2006/relationships/slideLayout" Target="../slideLayouts/slideLayout7.xml"/><Relationship Id="rId2" Type="http://schemas.openxmlformats.org/officeDocument/2006/relationships/image" Target="../media/image47.wmf"/><Relationship Id="rId1" Type="http://schemas.openxmlformats.org/officeDocument/2006/relationships/oleObject" Target="../embeddings/oleObject46.bin"/></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4" Type="http://schemas.openxmlformats.org/officeDocument/2006/relationships/vmlDrawing" Target="../drawings/vmlDrawing41.vml"/><Relationship Id="rId3" Type="http://schemas.openxmlformats.org/officeDocument/2006/relationships/slideLayout" Target="../slideLayouts/slideLayout7.xml"/><Relationship Id="rId2" Type="http://schemas.openxmlformats.org/officeDocument/2006/relationships/image" Target="../media/image48.wmf"/><Relationship Id="rId1" Type="http://schemas.openxmlformats.org/officeDocument/2006/relationships/oleObject" Target="../embeddings/oleObject47.bin"/></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4" Type="http://schemas.openxmlformats.org/officeDocument/2006/relationships/vmlDrawing" Target="../drawings/vmlDrawing42.vml"/><Relationship Id="rId3" Type="http://schemas.openxmlformats.org/officeDocument/2006/relationships/slideLayout" Target="../slideLayouts/slideLayout7.xml"/><Relationship Id="rId2" Type="http://schemas.openxmlformats.org/officeDocument/2006/relationships/image" Target="../media/image49.wmf"/><Relationship Id="rId1" Type="http://schemas.openxmlformats.org/officeDocument/2006/relationships/oleObject" Target="../embeddings/oleObject48.bin"/></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4" Type="http://schemas.openxmlformats.org/officeDocument/2006/relationships/vmlDrawing" Target="../drawings/vmlDrawing43.vml"/><Relationship Id="rId3" Type="http://schemas.openxmlformats.org/officeDocument/2006/relationships/slideLayout" Target="../slideLayouts/slideLayout7.xml"/><Relationship Id="rId2" Type="http://schemas.openxmlformats.org/officeDocument/2006/relationships/image" Target="../media/image50.wmf"/><Relationship Id="rId1" Type="http://schemas.openxmlformats.org/officeDocument/2006/relationships/oleObject" Target="../embeddings/oleObject49.bin"/></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51.jpeg"/></Relationships>
</file>

<file path=ppt/slides/_rels/slide89.xml.rels><?xml version="1.0" encoding="UTF-8" standalone="yes"?>
<Relationships xmlns="http://schemas.openxmlformats.org/package/2006/relationships"><Relationship Id="rId4" Type="http://schemas.openxmlformats.org/officeDocument/2006/relationships/vmlDrawing" Target="../drawings/vmlDrawing44.vml"/><Relationship Id="rId3" Type="http://schemas.openxmlformats.org/officeDocument/2006/relationships/slideLayout" Target="../slideLayouts/slideLayout7.xml"/><Relationship Id="rId2" Type="http://schemas.openxmlformats.org/officeDocument/2006/relationships/image" Target="../media/image52.wmf"/><Relationship Id="rId1" Type="http://schemas.openxmlformats.org/officeDocument/2006/relationships/oleObject" Target="../embeddings/oleObject50.bin"/></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4" Type="http://schemas.openxmlformats.org/officeDocument/2006/relationships/vmlDrawing" Target="../drawings/vmlDrawing45.vml"/><Relationship Id="rId3" Type="http://schemas.openxmlformats.org/officeDocument/2006/relationships/slideLayout" Target="../slideLayouts/slideLayout7.xml"/><Relationship Id="rId2" Type="http://schemas.openxmlformats.org/officeDocument/2006/relationships/image" Target="../media/image53.wmf"/><Relationship Id="rId1" Type="http://schemas.openxmlformats.org/officeDocument/2006/relationships/oleObject" Target="../embeddings/oleObject51.bin"/></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4" Type="http://schemas.openxmlformats.org/officeDocument/2006/relationships/vmlDrawing" Target="../drawings/vmlDrawing46.vml"/><Relationship Id="rId3" Type="http://schemas.openxmlformats.org/officeDocument/2006/relationships/slideLayout" Target="../slideLayouts/slideLayout7.xml"/><Relationship Id="rId2" Type="http://schemas.openxmlformats.org/officeDocument/2006/relationships/image" Target="../media/image54.wmf"/><Relationship Id="rId1" Type="http://schemas.openxmlformats.org/officeDocument/2006/relationships/oleObject" Target="../embeddings/oleObject52.bin"/></Relationships>
</file>

<file path=ppt/slides/_rels/slide9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55.jpeg"/></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4" Type="http://schemas.openxmlformats.org/officeDocument/2006/relationships/vmlDrawing" Target="../drawings/vmlDrawing47.vml"/><Relationship Id="rId3" Type="http://schemas.openxmlformats.org/officeDocument/2006/relationships/slideLayout" Target="../slideLayouts/slideLayout7.xml"/><Relationship Id="rId2" Type="http://schemas.openxmlformats.org/officeDocument/2006/relationships/image" Target="../media/image56.wmf"/><Relationship Id="rId1" Type="http://schemas.openxmlformats.org/officeDocument/2006/relationships/oleObject" Target="../embeddings/oleObject53.bin"/></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4" Type="http://schemas.openxmlformats.org/officeDocument/2006/relationships/vmlDrawing" Target="../drawings/vmlDrawing48.vml"/><Relationship Id="rId3" Type="http://schemas.openxmlformats.org/officeDocument/2006/relationships/slideLayout" Target="../slideLayouts/slideLayout7.xml"/><Relationship Id="rId2" Type="http://schemas.openxmlformats.org/officeDocument/2006/relationships/image" Target="../media/image57.wmf"/><Relationship Id="rId1" Type="http://schemas.openxmlformats.org/officeDocument/2006/relationships/oleObject" Target="../embeddings/oleObject54.bin"/></Relationships>
</file>

<file path=ppt/slides/_rels/slide104.xml.rels><?xml version="1.0" encoding="UTF-8" standalone="yes"?>
<Relationships xmlns="http://schemas.openxmlformats.org/package/2006/relationships"><Relationship Id="rId4" Type="http://schemas.openxmlformats.org/officeDocument/2006/relationships/vmlDrawing" Target="../drawings/vmlDrawing49.vml"/><Relationship Id="rId3" Type="http://schemas.openxmlformats.org/officeDocument/2006/relationships/slideLayout" Target="../slideLayouts/slideLayout7.xml"/><Relationship Id="rId2" Type="http://schemas.openxmlformats.org/officeDocument/2006/relationships/image" Target="../media/image58.wmf"/><Relationship Id="rId1" Type="http://schemas.openxmlformats.org/officeDocument/2006/relationships/oleObject" Target="../embeddings/oleObject55.bin"/></Relationships>
</file>

<file path=ppt/slides/_rels/slide105.xml.rels><?xml version="1.0" encoding="UTF-8" standalone="yes"?>
<Relationships xmlns="http://schemas.openxmlformats.org/package/2006/relationships"><Relationship Id="rId6" Type="http://schemas.openxmlformats.org/officeDocument/2006/relationships/vmlDrawing" Target="../drawings/vmlDrawing50.vml"/><Relationship Id="rId5" Type="http://schemas.openxmlformats.org/officeDocument/2006/relationships/slideLayout" Target="../slideLayouts/slideLayout7.xml"/><Relationship Id="rId4" Type="http://schemas.openxmlformats.org/officeDocument/2006/relationships/image" Target="../media/image60.wmf"/><Relationship Id="rId3" Type="http://schemas.openxmlformats.org/officeDocument/2006/relationships/oleObject" Target="../embeddings/oleObject57.bin"/><Relationship Id="rId2" Type="http://schemas.openxmlformats.org/officeDocument/2006/relationships/image" Target="../media/image59.wmf"/><Relationship Id="rId1" Type="http://schemas.openxmlformats.org/officeDocument/2006/relationships/oleObject" Target="../embeddings/oleObject56.bin"/></Relationships>
</file>

<file path=ppt/slides/_rels/slide106.xml.rels><?xml version="1.0" encoding="UTF-8" standalone="yes"?>
<Relationships xmlns="http://schemas.openxmlformats.org/package/2006/relationships"><Relationship Id="rId4" Type="http://schemas.openxmlformats.org/officeDocument/2006/relationships/vmlDrawing" Target="../drawings/vmlDrawing51.vml"/><Relationship Id="rId3" Type="http://schemas.openxmlformats.org/officeDocument/2006/relationships/slideLayout" Target="../slideLayouts/slideLayout7.xml"/><Relationship Id="rId2" Type="http://schemas.openxmlformats.org/officeDocument/2006/relationships/image" Target="../media/image61.wmf"/><Relationship Id="rId1" Type="http://schemas.openxmlformats.org/officeDocument/2006/relationships/oleObject" Target="../embeddings/oleObject58.bin"/></Relationships>
</file>

<file path=ppt/slides/_rels/slide107.xml.rels><?xml version="1.0" encoding="UTF-8" standalone="yes"?>
<Relationships xmlns="http://schemas.openxmlformats.org/package/2006/relationships"><Relationship Id="rId4" Type="http://schemas.openxmlformats.org/officeDocument/2006/relationships/vmlDrawing" Target="../drawings/vmlDrawing52.vml"/><Relationship Id="rId3" Type="http://schemas.openxmlformats.org/officeDocument/2006/relationships/slideLayout" Target="../slideLayouts/slideLayout7.xml"/><Relationship Id="rId2" Type="http://schemas.openxmlformats.org/officeDocument/2006/relationships/image" Target="../media/image62.wmf"/><Relationship Id="rId1" Type="http://schemas.openxmlformats.org/officeDocument/2006/relationships/oleObject" Target="../embeddings/oleObject59.bin"/></Relationships>
</file>

<file path=ppt/slides/_rels/slide108.xml.rels><?xml version="1.0" encoding="UTF-8" standalone="yes"?>
<Relationships xmlns="http://schemas.openxmlformats.org/package/2006/relationships"><Relationship Id="rId6" Type="http://schemas.openxmlformats.org/officeDocument/2006/relationships/vmlDrawing" Target="../drawings/vmlDrawing53.vml"/><Relationship Id="rId5" Type="http://schemas.openxmlformats.org/officeDocument/2006/relationships/slideLayout" Target="../slideLayouts/slideLayout7.xml"/><Relationship Id="rId4" Type="http://schemas.openxmlformats.org/officeDocument/2006/relationships/image" Target="../media/image64.wmf"/><Relationship Id="rId3" Type="http://schemas.openxmlformats.org/officeDocument/2006/relationships/oleObject" Target="../embeddings/oleObject61.bin"/><Relationship Id="rId2" Type="http://schemas.openxmlformats.org/officeDocument/2006/relationships/image" Target="../media/image63.wmf"/><Relationship Id="rId1" Type="http://schemas.openxmlformats.org/officeDocument/2006/relationships/oleObject" Target="../embeddings/oleObject60.bin"/></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4" Type="http://schemas.openxmlformats.org/officeDocument/2006/relationships/vmlDrawing" Target="../drawings/vmlDrawing54.vml"/><Relationship Id="rId3" Type="http://schemas.openxmlformats.org/officeDocument/2006/relationships/slideLayout" Target="../slideLayouts/slideLayout7.xml"/><Relationship Id="rId2" Type="http://schemas.openxmlformats.org/officeDocument/2006/relationships/image" Target="../media/image65.wmf"/><Relationship Id="rId1" Type="http://schemas.openxmlformats.org/officeDocument/2006/relationships/oleObject" Target="../embeddings/oleObject62.bin"/></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66.jpeg"/></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4" Type="http://schemas.openxmlformats.org/officeDocument/2006/relationships/vmlDrawing" Target="../drawings/vmlDrawing55.vml"/><Relationship Id="rId3" Type="http://schemas.openxmlformats.org/officeDocument/2006/relationships/slideLayout" Target="../slideLayouts/slideLayout7.xml"/><Relationship Id="rId2" Type="http://schemas.openxmlformats.org/officeDocument/2006/relationships/image" Target="../media/image67.wmf"/><Relationship Id="rId1" Type="http://schemas.openxmlformats.org/officeDocument/2006/relationships/oleObject" Target="../embeddings/oleObject63.bin"/></Relationships>
</file>

<file path=ppt/slides/_rels/slide12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68.jpeg"/></Relationships>
</file>

<file path=ppt/slides/_rels/slide12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69.jpeg"/></Relationships>
</file>

<file path=ppt/slides/_rels/slide128.xml.rels><?xml version="1.0" encoding="UTF-8" standalone="yes"?>
<Relationships xmlns="http://schemas.openxmlformats.org/package/2006/relationships"><Relationship Id="rId4" Type="http://schemas.openxmlformats.org/officeDocument/2006/relationships/vmlDrawing" Target="../drawings/vmlDrawing56.vml"/><Relationship Id="rId3" Type="http://schemas.openxmlformats.org/officeDocument/2006/relationships/slideLayout" Target="../slideLayouts/slideLayout7.xml"/><Relationship Id="rId2" Type="http://schemas.openxmlformats.org/officeDocument/2006/relationships/image" Target="../media/image70.wmf"/><Relationship Id="rId1" Type="http://schemas.openxmlformats.org/officeDocument/2006/relationships/oleObject" Target="../embeddings/oleObject64.bin"/></Relationships>
</file>

<file path=ppt/slides/_rels/slide129.xml.rels><?xml version="1.0" encoding="UTF-8" standalone="yes"?>
<Relationships xmlns="http://schemas.openxmlformats.org/package/2006/relationships"><Relationship Id="rId6" Type="http://schemas.openxmlformats.org/officeDocument/2006/relationships/vmlDrawing" Target="../drawings/vmlDrawing57.vml"/><Relationship Id="rId5" Type="http://schemas.openxmlformats.org/officeDocument/2006/relationships/slideLayout" Target="../slideLayouts/slideLayout7.xml"/><Relationship Id="rId4" Type="http://schemas.openxmlformats.org/officeDocument/2006/relationships/image" Target="../media/image72.wmf"/><Relationship Id="rId3" Type="http://schemas.openxmlformats.org/officeDocument/2006/relationships/oleObject" Target="../embeddings/oleObject66.bin"/><Relationship Id="rId2" Type="http://schemas.openxmlformats.org/officeDocument/2006/relationships/image" Target="../media/image71.wmf"/><Relationship Id="rId1" Type="http://schemas.openxmlformats.org/officeDocument/2006/relationships/oleObject" Target="../embeddings/oleObject65.bin"/></Relationships>
</file>

<file path=ppt/slides/_rels/slide130.xml.rels><?xml version="1.0" encoding="UTF-8" standalone="yes"?>
<Relationships xmlns="http://schemas.openxmlformats.org/package/2006/relationships"><Relationship Id="rId4" Type="http://schemas.openxmlformats.org/officeDocument/2006/relationships/vmlDrawing" Target="../drawings/vmlDrawing58.vml"/><Relationship Id="rId3" Type="http://schemas.openxmlformats.org/officeDocument/2006/relationships/slideLayout" Target="../slideLayouts/slideLayout7.xml"/><Relationship Id="rId2" Type="http://schemas.openxmlformats.org/officeDocument/2006/relationships/image" Target="../media/image73.wmf"/><Relationship Id="rId1" Type="http://schemas.openxmlformats.org/officeDocument/2006/relationships/oleObject" Target="../embeddings/oleObject67.bin"/></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4" Type="http://schemas.openxmlformats.org/officeDocument/2006/relationships/vmlDrawing" Target="../drawings/vmlDrawing59.vml"/><Relationship Id="rId3" Type="http://schemas.openxmlformats.org/officeDocument/2006/relationships/slideLayout" Target="../slideLayouts/slideLayout7.xml"/><Relationship Id="rId2" Type="http://schemas.openxmlformats.org/officeDocument/2006/relationships/image" Target="../media/image74.wmf"/><Relationship Id="rId1" Type="http://schemas.openxmlformats.org/officeDocument/2006/relationships/oleObject" Target="../embeddings/oleObject68.bin"/></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5.xml.rels><?xml version="1.0" encoding="UTF-8" standalone="yes"?>
<Relationships xmlns="http://schemas.openxmlformats.org/package/2006/relationships"><Relationship Id="rId4" Type="http://schemas.openxmlformats.org/officeDocument/2006/relationships/vmlDrawing" Target="../drawings/vmlDrawing60.vml"/><Relationship Id="rId3" Type="http://schemas.openxmlformats.org/officeDocument/2006/relationships/slideLayout" Target="../slideLayouts/slideLayout7.xml"/><Relationship Id="rId2" Type="http://schemas.openxmlformats.org/officeDocument/2006/relationships/image" Target="../media/image75.wmf"/><Relationship Id="rId1" Type="http://schemas.openxmlformats.org/officeDocument/2006/relationships/oleObject" Target="../embeddings/oleObject69.bin"/></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76.png"/></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2.xml.rels><?xml version="1.0" encoding="UTF-8" standalone="yes"?>
<Relationships xmlns="http://schemas.openxmlformats.org/package/2006/relationships"><Relationship Id="rId4" Type="http://schemas.openxmlformats.org/officeDocument/2006/relationships/vmlDrawing" Target="../drawings/vmlDrawing61.vml"/><Relationship Id="rId3" Type="http://schemas.openxmlformats.org/officeDocument/2006/relationships/slideLayout" Target="../slideLayouts/slideLayout7.xml"/><Relationship Id="rId2" Type="http://schemas.openxmlformats.org/officeDocument/2006/relationships/image" Target="../media/image77.wmf"/><Relationship Id="rId1" Type="http://schemas.openxmlformats.org/officeDocument/2006/relationships/oleObject" Target="../embeddings/oleObject70.bin"/></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78.png"/></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79.png"/></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80.jpeg"/></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81.jpeg"/></Relationships>
</file>

<file path=ppt/slides/_rels/slide15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82.jpeg"/></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54" name="文本框 2053"/>
          <p:cNvSpPr txBox="1"/>
          <p:nvPr/>
        </p:nvSpPr>
        <p:spPr>
          <a:xfrm>
            <a:off x="2279650" y="1136650"/>
            <a:ext cx="5027613" cy="701675"/>
          </a:xfrm>
          <a:prstGeom prst="rect">
            <a:avLst/>
          </a:prstGeom>
          <a:noFill/>
          <a:ln w="9525">
            <a:noFill/>
          </a:ln>
        </p:spPr>
        <p:txBody>
          <a:bodyPr wrap="none" anchor="t" anchorCtr="0">
            <a:spAutoFit/>
          </a:bodyPr>
          <a:p>
            <a:r>
              <a:rPr lang="zh-CN" altLang="en-US" sz="4000" b="1">
                <a:latin typeface="宋体" panose="02010600030101010101" pitchFamily="2" charset="-122"/>
              </a:rPr>
              <a:t>第</a:t>
            </a:r>
            <a:r>
              <a:rPr lang="en-US" altLang="zh-CN" sz="4000" b="1">
                <a:latin typeface="宋体" panose="02010600030101010101" pitchFamily="2" charset="-122"/>
              </a:rPr>
              <a:t>11</a:t>
            </a:r>
            <a:r>
              <a:rPr lang="zh-CN" altLang="en-US" sz="4000" b="1" dirty="0">
                <a:latin typeface="宋体" panose="02010600030101010101" pitchFamily="2" charset="-122"/>
              </a:rPr>
              <a:t>章 数模接口电路</a:t>
            </a:r>
            <a:endParaRPr lang="zh-CN" altLang="en-US" sz="4000" b="1">
              <a:latin typeface="宋体" panose="02010600030101010101" pitchFamily="2" charset="-122"/>
            </a:endParaRPr>
          </a:p>
        </p:txBody>
      </p:sp>
      <p:sp>
        <p:nvSpPr>
          <p:cNvPr id="2055" name="文本框 2054"/>
          <p:cNvSpPr txBox="1"/>
          <p:nvPr/>
        </p:nvSpPr>
        <p:spPr>
          <a:xfrm>
            <a:off x="1524000" y="2287588"/>
            <a:ext cx="5562600" cy="3016250"/>
          </a:xfrm>
          <a:prstGeom prst="rect">
            <a:avLst/>
          </a:prstGeom>
          <a:noFill/>
          <a:ln w="9525">
            <a:noFill/>
          </a:ln>
        </p:spPr>
        <p:txBody>
          <a:bodyPr>
            <a:spAutoFit/>
          </a:bodyPr>
          <a:p>
            <a:pPr>
              <a:lnSpc>
                <a:spcPct val="200000"/>
              </a:lnSpc>
            </a:pPr>
            <a:r>
              <a:rPr lang="en-US" altLang="zh-CN" sz="3200" b="1">
                <a:latin typeface="Times New Roman" panose="02020603050405020304" pitchFamily="18" charset="0"/>
                <a:hlinkClick r:id="rId1" action="ppaction://hlinksldjump"/>
              </a:rPr>
              <a:t>11.1   </a:t>
            </a:r>
            <a:r>
              <a:rPr lang="zh-CN" altLang="en-US" sz="3200" b="1" dirty="0">
                <a:latin typeface="Times New Roman" panose="02020603050405020304" pitchFamily="18" charset="0"/>
                <a:hlinkClick r:id="rId1" action="ppaction://hlinksldjump"/>
              </a:rPr>
              <a:t>集成数模转换器</a:t>
            </a:r>
            <a:endParaRPr lang="zh-CN" altLang="en-US" sz="3200" b="1">
              <a:latin typeface="Times New Roman" panose="02020603050405020304" pitchFamily="18" charset="0"/>
            </a:endParaRPr>
          </a:p>
          <a:p>
            <a:pPr>
              <a:lnSpc>
                <a:spcPct val="200000"/>
              </a:lnSpc>
            </a:pPr>
            <a:r>
              <a:rPr lang="en-US" altLang="zh-CN" sz="3200" b="1">
                <a:latin typeface="Times New Roman" panose="02020603050405020304" pitchFamily="18" charset="0"/>
                <a:hlinkClick r:id="rId2" action="ppaction://hlinksldjump"/>
              </a:rPr>
              <a:t>11.2   </a:t>
            </a:r>
            <a:r>
              <a:rPr lang="zh-CN" altLang="en-US" sz="3200" b="1" dirty="0">
                <a:latin typeface="Times New Roman" panose="02020603050405020304" pitchFamily="18" charset="0"/>
                <a:hlinkClick r:id="rId2" action="ppaction://hlinksldjump"/>
              </a:rPr>
              <a:t>集成模数转换器</a:t>
            </a:r>
            <a:endParaRPr lang="zh-CN" altLang="en-US" sz="3200" b="1">
              <a:latin typeface="Times New Roman" panose="02020603050405020304" pitchFamily="18" charset="0"/>
            </a:endParaRPr>
          </a:p>
          <a:p>
            <a:pPr>
              <a:lnSpc>
                <a:spcPct val="200000"/>
              </a:lnSpc>
            </a:pPr>
            <a:r>
              <a:rPr lang="en-US" altLang="zh-CN" sz="3200" b="1">
                <a:latin typeface="Times New Roman" panose="02020603050405020304" pitchFamily="18" charset="0"/>
                <a:hlinkClick r:id="rId3" action="ppaction://hlinksldjump"/>
              </a:rPr>
              <a:t>11.3   </a:t>
            </a:r>
            <a:r>
              <a:rPr lang="zh-CN" altLang="en-US" sz="3200" b="1" dirty="0">
                <a:latin typeface="Times New Roman" panose="02020603050405020304" pitchFamily="18" charset="0"/>
                <a:hlinkClick r:id="rId3" action="ppaction://hlinksldjump"/>
              </a:rPr>
              <a:t>数模接口电路的应用</a:t>
            </a:r>
            <a:endParaRPr lang="zh-CN" altLang="en-US" sz="3200" b="1">
              <a:latin typeface="Times New Roman" panose="02020603050405020304" pitchFamily="18" charset="0"/>
            </a:endParaRPr>
          </a:p>
        </p:txBody>
      </p:sp>
      <p:pic>
        <p:nvPicPr>
          <p:cNvPr id="2056" name="图片 2055" descr="GIF014">
            <a:hlinkClick r:id="rId4" action="ppaction://hlinkpres?slideindex=1&amp;slidetitle="/>
          </p:cNvPr>
          <p:cNvPicPr>
            <a:picLocks noChangeAspect="1"/>
          </p:cNvPicPr>
          <p:nvPr/>
        </p:nvPicPr>
        <p:blipFill>
          <a:blip r:embed="rId5"/>
          <a:stretch>
            <a:fillRect/>
          </a:stretch>
        </p:blipFill>
        <p:spPr>
          <a:xfrm>
            <a:off x="8229600" y="6370638"/>
            <a:ext cx="914400" cy="481012"/>
          </a:xfrm>
          <a:prstGeom prst="rect">
            <a:avLst/>
          </a:prstGeom>
          <a:noFill/>
          <a:ln w="9525">
            <a:noFill/>
          </a:ln>
        </p:spPr>
      </p:pic>
    </p:spTree>
  </p:cSld>
  <p:clrMapOvr>
    <a:masterClrMapping/>
  </p:clrMapOvr>
  <p:transition>
    <p:blinds dir="vert"/>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76" name="文本框 3075"/>
          <p:cNvSpPr txBox="1"/>
          <p:nvPr/>
        </p:nvSpPr>
        <p:spPr>
          <a:xfrm>
            <a:off x="2741613" y="762000"/>
            <a:ext cx="3852862" cy="579438"/>
          </a:xfrm>
          <a:prstGeom prst="rect">
            <a:avLst/>
          </a:prstGeom>
          <a:noFill/>
          <a:ln w="9525">
            <a:noFill/>
          </a:ln>
        </p:spPr>
        <p:txBody>
          <a:bodyPr wrap="none" anchor="t" anchorCtr="0">
            <a:spAutoFit/>
          </a:bodyPr>
          <a:p>
            <a:r>
              <a:rPr lang="en-US" altLang="zh-CN" sz="3200" b="1">
                <a:latin typeface="Times New Roman" panose="02020603050405020304" pitchFamily="18" charset="0"/>
              </a:rPr>
              <a:t>11.1 </a:t>
            </a:r>
            <a:r>
              <a:rPr lang="zh-CN" altLang="en-US" sz="3200" b="1" dirty="0">
                <a:latin typeface="Times New Roman" panose="02020603050405020304" pitchFamily="18" charset="0"/>
              </a:rPr>
              <a:t>集成数模转换器</a:t>
            </a:r>
            <a:endParaRPr lang="zh-CN" altLang="en-US" sz="3200" b="1">
              <a:latin typeface="Times New Roman" panose="02020603050405020304" pitchFamily="18" charset="0"/>
            </a:endParaRPr>
          </a:p>
        </p:txBody>
      </p:sp>
      <p:sp>
        <p:nvSpPr>
          <p:cNvPr id="3077" name="文本框 3076"/>
          <p:cNvSpPr txBox="1"/>
          <p:nvPr/>
        </p:nvSpPr>
        <p:spPr>
          <a:xfrm>
            <a:off x="152400" y="1635125"/>
            <a:ext cx="8991600" cy="3013075"/>
          </a:xfrm>
          <a:prstGeom prst="rect">
            <a:avLst/>
          </a:prstGeom>
          <a:noFill/>
          <a:ln w="9525">
            <a:noFill/>
          </a:ln>
        </p:spPr>
        <p:txBody>
          <a:bodyPr>
            <a:spAutoFit/>
          </a:bodyPr>
          <a:p>
            <a:pPr>
              <a:lnSpc>
                <a:spcPct val="150000"/>
              </a:lnSpc>
              <a:spcBef>
                <a:spcPct val="50000"/>
              </a:spcBef>
            </a:pPr>
            <a:r>
              <a:rPr lang="en-US" altLang="zh-CN" b="1">
                <a:latin typeface="Times New Roman" panose="02020603050405020304" pitchFamily="18" charset="0"/>
              </a:rPr>
              <a:t>11.1.1 </a:t>
            </a:r>
            <a:r>
              <a:rPr lang="zh-CN" altLang="en-US" b="1" dirty="0">
                <a:latin typeface="Times New Roman" panose="02020603050405020304" pitchFamily="18" charset="0"/>
              </a:rPr>
              <a:t>数模转换的基本概念</a:t>
            </a:r>
            <a:endParaRPr lang="zh-CN" altLang="en-US" b="1" dirty="0">
              <a:latin typeface="Times New Roman" panose="02020603050405020304" pitchFamily="18" charset="0"/>
            </a:endParaRPr>
          </a:p>
          <a:p>
            <a:pPr>
              <a:lnSpc>
                <a:spcPct val="150000"/>
              </a:lnSpc>
              <a:spcBef>
                <a:spcPct val="50000"/>
              </a:spcBef>
            </a:pPr>
            <a:r>
              <a:rPr lang="zh-CN" altLang="en-US" dirty="0">
                <a:latin typeface="Times New Roman" panose="02020603050405020304" pitchFamily="18" charset="0"/>
              </a:rPr>
              <a:t>      </a:t>
            </a:r>
            <a:r>
              <a:rPr lang="zh-CN" altLang="en-US" b="1" dirty="0">
                <a:latin typeface="Times New Roman" panose="02020603050405020304" pitchFamily="18" charset="0"/>
              </a:rPr>
              <a:t>数模转换器</a:t>
            </a:r>
            <a:r>
              <a:rPr lang="en-US" altLang="zh-CN" b="1">
                <a:latin typeface="Times New Roman" panose="02020603050405020304" pitchFamily="18" charset="0"/>
              </a:rPr>
              <a:t>DAC</a:t>
            </a:r>
            <a:r>
              <a:rPr lang="zh-CN" altLang="en-US" b="1" dirty="0">
                <a:latin typeface="Times New Roman" panose="02020603050405020304" pitchFamily="18" charset="0"/>
              </a:rPr>
              <a:t>的原理框图如图</a:t>
            </a:r>
            <a:r>
              <a:rPr lang="en-US" altLang="zh-CN" b="1">
                <a:latin typeface="Times New Roman" panose="02020603050405020304" pitchFamily="18" charset="0"/>
              </a:rPr>
              <a:t>11-1</a:t>
            </a:r>
            <a:r>
              <a:rPr lang="zh-CN" altLang="en-US" b="1" dirty="0">
                <a:latin typeface="Times New Roman" panose="02020603050405020304" pitchFamily="18" charset="0"/>
              </a:rPr>
              <a:t>所示。其中</a:t>
            </a:r>
            <a:r>
              <a:rPr lang="en-US" altLang="zh-CN" b="1">
                <a:latin typeface="Times New Roman" panose="02020603050405020304" pitchFamily="18" charset="0"/>
              </a:rPr>
              <a:t>D</a:t>
            </a:r>
            <a:r>
              <a:rPr lang="zh-CN" altLang="en-US" b="1">
                <a:latin typeface="Times New Roman" panose="02020603050405020304" pitchFamily="18" charset="0"/>
              </a:rPr>
              <a:t>（</a:t>
            </a:r>
            <a:r>
              <a:rPr lang="en-US" altLang="zh-CN" b="1">
                <a:latin typeface="Times New Roman" panose="02020603050405020304" pitchFamily="18" charset="0"/>
              </a:rPr>
              <a:t>D</a:t>
            </a:r>
            <a:r>
              <a:rPr lang="en-US" altLang="zh-CN" b="1" baseline="-25000">
                <a:latin typeface="Times New Roman" panose="02020603050405020304" pitchFamily="18" charset="0"/>
              </a:rPr>
              <a:t>n-1</a:t>
            </a:r>
            <a:r>
              <a:rPr lang="en-US" altLang="zh-CN" b="1">
                <a:latin typeface="Times New Roman" panose="02020603050405020304" pitchFamily="18" charset="0"/>
              </a:rPr>
              <a:t>D</a:t>
            </a:r>
            <a:r>
              <a:rPr lang="en-US" altLang="zh-CN" b="1" baseline="-25000">
                <a:latin typeface="Times New Roman" panose="02020603050405020304" pitchFamily="18" charset="0"/>
              </a:rPr>
              <a:t>n-2</a:t>
            </a:r>
            <a:r>
              <a:rPr lang="en-US" altLang="zh-CN" b="1">
                <a:latin typeface="Times New Roman" panose="02020603050405020304" pitchFamily="18" charset="0"/>
              </a:rPr>
              <a:t> ... D</a:t>
            </a:r>
            <a:r>
              <a:rPr lang="en-US" altLang="zh-CN" b="1" baseline="-25000">
                <a:latin typeface="Times New Roman" panose="02020603050405020304" pitchFamily="18" charset="0"/>
              </a:rPr>
              <a:t>1</a:t>
            </a:r>
            <a:r>
              <a:rPr lang="en-US" altLang="zh-CN" b="1">
                <a:latin typeface="Times New Roman" panose="02020603050405020304" pitchFamily="18" charset="0"/>
              </a:rPr>
              <a:t>D</a:t>
            </a:r>
            <a:r>
              <a:rPr lang="en-US" altLang="zh-CN" b="1" baseline="-25000">
                <a:latin typeface="Times New Roman" panose="02020603050405020304" pitchFamily="18" charset="0"/>
              </a:rPr>
              <a:t>0</a:t>
            </a:r>
            <a:r>
              <a:rPr lang="zh-CN" altLang="en-US" b="1">
                <a:latin typeface="Times New Roman" panose="02020603050405020304" pitchFamily="18" charset="0"/>
              </a:rPr>
              <a:t>）</a:t>
            </a:r>
            <a:r>
              <a:rPr lang="zh-CN" altLang="en-US" b="1" dirty="0">
                <a:latin typeface="Times New Roman" panose="02020603050405020304" pitchFamily="18" charset="0"/>
              </a:rPr>
              <a:t>为输入的</a:t>
            </a:r>
            <a:r>
              <a:rPr lang="en-US" altLang="zh-CN" b="1">
                <a:latin typeface="Times New Roman" panose="02020603050405020304" pitchFamily="18" charset="0"/>
              </a:rPr>
              <a:t>n</a:t>
            </a:r>
            <a:r>
              <a:rPr lang="zh-CN" altLang="en-US" b="1" dirty="0">
                <a:latin typeface="Times New Roman" panose="02020603050405020304" pitchFamily="18" charset="0"/>
              </a:rPr>
              <a:t>位二进制数， </a:t>
            </a:r>
            <a:r>
              <a:rPr lang="en-US" altLang="zh-CN" b="1">
                <a:latin typeface="Times New Roman" panose="02020603050405020304" pitchFamily="18" charset="0"/>
              </a:rPr>
              <a:t>S</a:t>
            </a:r>
            <a:r>
              <a:rPr lang="en-US" altLang="zh-CN" b="1" baseline="-25000">
                <a:latin typeface="Times New Roman" panose="02020603050405020304" pitchFamily="18" charset="0"/>
              </a:rPr>
              <a:t>A</a:t>
            </a:r>
            <a:r>
              <a:rPr lang="zh-CN" altLang="en-US" b="1" dirty="0">
                <a:latin typeface="Times New Roman" panose="02020603050405020304" pitchFamily="18" charset="0"/>
              </a:rPr>
              <a:t>为输出的模拟信号（模拟电压</a:t>
            </a:r>
            <a:r>
              <a:rPr lang="en-US" altLang="zh-CN" b="1">
                <a:latin typeface="Times New Roman" panose="02020603050405020304" pitchFamily="18" charset="0"/>
              </a:rPr>
              <a:t>U</a:t>
            </a:r>
            <a:r>
              <a:rPr lang="en-US" altLang="zh-CN" b="1" baseline="-25000">
                <a:latin typeface="Times New Roman" panose="02020603050405020304" pitchFamily="18" charset="0"/>
              </a:rPr>
              <a:t>A</a:t>
            </a:r>
            <a:r>
              <a:rPr lang="zh-CN" altLang="en-US" b="1" dirty="0">
                <a:latin typeface="Times New Roman" panose="02020603050405020304" pitchFamily="18" charset="0"/>
              </a:rPr>
              <a:t>或模拟电流</a:t>
            </a:r>
            <a:r>
              <a:rPr lang="en-US" altLang="zh-CN" b="1">
                <a:latin typeface="Times New Roman" panose="02020603050405020304" pitchFamily="18" charset="0"/>
              </a:rPr>
              <a:t>I</a:t>
            </a:r>
            <a:r>
              <a:rPr lang="en-US" altLang="zh-CN" b="1" baseline="-25000">
                <a:latin typeface="Times New Roman" panose="02020603050405020304" pitchFamily="18" charset="0"/>
              </a:rPr>
              <a:t>A</a:t>
            </a:r>
            <a:r>
              <a:rPr lang="zh-CN" altLang="en-US" b="1">
                <a:latin typeface="Times New Roman" panose="02020603050405020304" pitchFamily="18" charset="0"/>
              </a:rPr>
              <a:t>），</a:t>
            </a:r>
            <a:r>
              <a:rPr lang="en-US" altLang="zh-CN" b="1">
                <a:latin typeface="Times New Roman" panose="02020603050405020304" pitchFamily="18" charset="0"/>
              </a:rPr>
              <a:t>U</a:t>
            </a:r>
            <a:r>
              <a:rPr lang="en-US" altLang="zh-CN" b="1" baseline="-25000">
                <a:latin typeface="Times New Roman" panose="02020603050405020304" pitchFamily="18" charset="0"/>
              </a:rPr>
              <a:t>REF</a:t>
            </a:r>
            <a:r>
              <a:rPr lang="zh-CN" altLang="en-US" b="1" dirty="0">
                <a:latin typeface="Times New Roman" panose="02020603050405020304" pitchFamily="18" charset="0"/>
              </a:rPr>
              <a:t>为实现数</a:t>
            </a:r>
            <a:r>
              <a:rPr lang="en-US" altLang="zh-CN" b="1">
                <a:latin typeface="Times New Roman" panose="02020603050405020304" pitchFamily="18" charset="0"/>
              </a:rPr>
              <a:t>/</a:t>
            </a:r>
            <a:r>
              <a:rPr lang="zh-CN" altLang="en-US" b="1" dirty="0">
                <a:latin typeface="Times New Roman" panose="02020603050405020304" pitchFamily="18" charset="0"/>
              </a:rPr>
              <a:t>模转换所必需的参考电压（也称基准电压）</a:t>
            </a:r>
            <a:r>
              <a:rPr lang="en-US" altLang="zh-CN" b="1">
                <a:latin typeface="Times New Roman" panose="02020603050405020304" pitchFamily="18" charset="0"/>
              </a:rPr>
              <a:t>U</a:t>
            </a:r>
            <a:r>
              <a:rPr lang="en-US" altLang="zh-CN" b="1" baseline="-25000">
                <a:latin typeface="Times New Roman" panose="02020603050405020304" pitchFamily="18" charset="0"/>
              </a:rPr>
              <a:t>REF</a:t>
            </a:r>
            <a:r>
              <a:rPr lang="zh-CN" altLang="en-US" b="1">
                <a:latin typeface="Times New Roman" panose="02020603050405020304" pitchFamily="18" charset="0"/>
              </a:rPr>
              <a:t>，</a:t>
            </a:r>
            <a:r>
              <a:rPr lang="zh-CN" altLang="en-US" b="1" dirty="0">
                <a:latin typeface="Times New Roman" panose="02020603050405020304" pitchFamily="18" charset="0"/>
              </a:rPr>
              <a:t>它们三者之间满足如下比例关系： </a:t>
            </a:r>
            <a:endParaRPr lang="zh-CN" altLang="en-US" b="1">
              <a:latin typeface="Times New Roman" panose="02020603050405020304" pitchFamily="18" charset="0"/>
            </a:endParaRPr>
          </a:p>
        </p:txBody>
      </p:sp>
      <p:sp>
        <p:nvSpPr>
          <p:cNvPr id="3078" name="文本框 3077"/>
          <p:cNvSpPr txBox="1"/>
          <p:nvPr/>
        </p:nvSpPr>
        <p:spPr>
          <a:xfrm>
            <a:off x="3810000" y="4876800"/>
            <a:ext cx="1997075" cy="457200"/>
          </a:xfrm>
          <a:prstGeom prst="rect">
            <a:avLst/>
          </a:prstGeom>
          <a:noFill/>
          <a:ln w="9525">
            <a:noFill/>
          </a:ln>
        </p:spPr>
        <p:txBody>
          <a:bodyPr>
            <a:spAutoFit/>
          </a:bodyPr>
          <a:p>
            <a:r>
              <a:rPr lang="en-US" altLang="zh-CN" b="1">
                <a:latin typeface="Times New Roman" panose="02020603050405020304" pitchFamily="18" charset="0"/>
              </a:rPr>
              <a:t>S</a:t>
            </a:r>
            <a:r>
              <a:rPr lang="en-US" altLang="zh-CN" b="1" baseline="-25000">
                <a:latin typeface="Times New Roman" panose="02020603050405020304" pitchFamily="18" charset="0"/>
              </a:rPr>
              <a:t>A</a:t>
            </a:r>
            <a:r>
              <a:rPr lang="en-US" altLang="zh-CN" b="1">
                <a:latin typeface="Times New Roman" panose="02020603050405020304" pitchFamily="18" charset="0"/>
              </a:rPr>
              <a:t> = KDU</a:t>
            </a:r>
            <a:r>
              <a:rPr lang="en-US" altLang="zh-CN" b="1" baseline="-25000">
                <a:latin typeface="Times New Roman" panose="02020603050405020304" pitchFamily="18" charset="0"/>
              </a:rPr>
              <a:t>REF</a:t>
            </a:r>
            <a:endParaRPr lang="en-US" altLang="zh-CN" b="1">
              <a:latin typeface="Times New Roman" panose="02020603050405020304" pitchFamily="18" charset="0"/>
            </a:endParaRPr>
          </a:p>
        </p:txBody>
      </p:sp>
      <p:sp>
        <p:nvSpPr>
          <p:cNvPr id="3079" name="文本框 3078"/>
          <p:cNvSpPr txBox="1"/>
          <p:nvPr/>
        </p:nvSpPr>
        <p:spPr>
          <a:xfrm>
            <a:off x="228600" y="5410200"/>
            <a:ext cx="8763000" cy="1187450"/>
          </a:xfrm>
          <a:prstGeom prst="rect">
            <a:avLst/>
          </a:prstGeom>
          <a:noFill/>
          <a:ln w="9525">
            <a:noFill/>
          </a:ln>
        </p:spPr>
        <p:txBody>
          <a:bodyPr>
            <a:spAutoFit/>
          </a:bodyPr>
          <a:p>
            <a:pPr>
              <a:lnSpc>
                <a:spcPct val="150000"/>
              </a:lnSpc>
              <a:spcBef>
                <a:spcPct val="50000"/>
              </a:spcBef>
            </a:pPr>
            <a:r>
              <a:rPr lang="zh-CN" altLang="en-US" b="1" dirty="0">
                <a:latin typeface="Times New Roman" panose="02020603050405020304" pitchFamily="18" charset="0"/>
              </a:rPr>
              <a:t>式中，</a:t>
            </a:r>
            <a:r>
              <a:rPr lang="en-US" altLang="zh-CN" b="1">
                <a:latin typeface="Times New Roman" panose="02020603050405020304" pitchFamily="18" charset="0"/>
              </a:rPr>
              <a:t>K</a:t>
            </a:r>
            <a:r>
              <a:rPr lang="zh-CN" altLang="en-US" b="1" dirty="0">
                <a:latin typeface="Times New Roman" panose="02020603050405020304" pitchFamily="18" charset="0"/>
              </a:rPr>
              <a:t>为比例系数，不同的</a:t>
            </a:r>
            <a:r>
              <a:rPr lang="en-US" altLang="zh-CN" b="1">
                <a:latin typeface="Times New Roman" panose="02020603050405020304" pitchFamily="18" charset="0"/>
              </a:rPr>
              <a:t>DAC</a:t>
            </a:r>
            <a:r>
              <a:rPr lang="zh-CN" altLang="en-US" b="1" dirty="0">
                <a:latin typeface="Times New Roman" panose="02020603050405020304" pitchFamily="18" charset="0"/>
              </a:rPr>
              <a:t>有各自不同的</a:t>
            </a:r>
            <a:r>
              <a:rPr lang="en-US" altLang="zh-CN" b="1">
                <a:latin typeface="Times New Roman" panose="02020603050405020304" pitchFamily="18" charset="0"/>
              </a:rPr>
              <a:t>K</a:t>
            </a:r>
            <a:r>
              <a:rPr lang="zh-CN" altLang="en-US" b="1" dirty="0">
                <a:latin typeface="Times New Roman" panose="02020603050405020304" pitchFamily="18" charset="0"/>
              </a:rPr>
              <a:t>值；</a:t>
            </a:r>
            <a:r>
              <a:rPr lang="en-US" altLang="zh-CN" b="1">
                <a:latin typeface="Times New Roman" panose="02020603050405020304" pitchFamily="18" charset="0"/>
              </a:rPr>
              <a:t>D</a:t>
            </a:r>
            <a:r>
              <a:rPr lang="zh-CN" altLang="en-US" b="1" dirty="0">
                <a:latin typeface="Times New Roman" panose="02020603050405020304" pitchFamily="18" charset="0"/>
              </a:rPr>
              <a:t>为输入的</a:t>
            </a:r>
            <a:r>
              <a:rPr lang="en-US" altLang="zh-CN" b="1">
                <a:latin typeface="Times New Roman" panose="02020603050405020304" pitchFamily="18" charset="0"/>
              </a:rPr>
              <a:t>n</a:t>
            </a:r>
            <a:r>
              <a:rPr lang="zh-CN" altLang="en-US" b="1" dirty="0">
                <a:latin typeface="Times New Roman" panose="02020603050405020304" pitchFamily="18" charset="0"/>
              </a:rPr>
              <a:t>位二进制数所对应的十进制数值。</a:t>
            </a:r>
            <a:endParaRPr lang="zh-CN" altLang="en-US" b="1">
              <a:latin typeface="Times New Roman" panose="02020603050405020304" pitchFamily="18" charset="0"/>
            </a:endParaRPr>
          </a:p>
        </p:txBody>
      </p:sp>
      <p:sp>
        <p:nvSpPr>
          <p:cNvPr id="3080" name="文本框 3079"/>
          <p:cNvSpPr txBox="1"/>
          <p:nvPr/>
        </p:nvSpPr>
        <p:spPr>
          <a:xfrm>
            <a:off x="7299325" y="4841875"/>
            <a:ext cx="946150" cy="457200"/>
          </a:xfrm>
          <a:prstGeom prst="rect">
            <a:avLst/>
          </a:prstGeom>
          <a:noFill/>
          <a:ln w="9525">
            <a:noFill/>
          </a:ln>
        </p:spPr>
        <p:txBody>
          <a:bodyPr wrap="none" anchor="t" anchorCtr="0">
            <a:spAutoFit/>
          </a:bodyPr>
          <a:p>
            <a:r>
              <a:rPr lang="en-US" altLang="zh-CN">
                <a:latin typeface="Times New Roman" panose="02020603050405020304" pitchFamily="18" charset="0"/>
              </a:rPr>
              <a:t>(11-1)</a:t>
            </a:r>
            <a:endParaRPr lang="en-US" altLang="zh-CN">
              <a:latin typeface="Times New Roman" panose="02020603050405020304" pitchFamily="18" charset="0"/>
            </a:endParaRPr>
          </a:p>
        </p:txBody>
      </p:sp>
    </p:spTree>
  </p:cSld>
  <p:clrMapOvr>
    <a:masterClrMapping/>
  </p:clrMapOvr>
  <p:transition>
    <p:blinds dir="vert"/>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102" name="文本框 4101"/>
          <p:cNvSpPr txBox="1"/>
          <p:nvPr/>
        </p:nvSpPr>
        <p:spPr>
          <a:xfrm>
            <a:off x="2963863" y="5715000"/>
            <a:ext cx="3368675" cy="457200"/>
          </a:xfrm>
          <a:prstGeom prst="rect">
            <a:avLst/>
          </a:prstGeom>
          <a:noFill/>
          <a:ln w="9525">
            <a:noFill/>
          </a:ln>
        </p:spPr>
        <p:txBody>
          <a:bodyPr wrap="none" anchor="t" anchorCtr="0">
            <a:spAutoFit/>
          </a:bodyPr>
          <a:p>
            <a:r>
              <a:rPr lang="zh-CN" altLang="en-US" dirty="0">
                <a:latin typeface="Times New Roman" panose="02020603050405020304" pitchFamily="18" charset="0"/>
              </a:rPr>
              <a:t>图 </a:t>
            </a:r>
            <a:r>
              <a:rPr lang="en-US" altLang="zh-CN">
                <a:latin typeface="Times New Roman" panose="02020603050405020304" pitchFamily="18" charset="0"/>
              </a:rPr>
              <a:t>11-1 DAC</a:t>
            </a:r>
            <a:r>
              <a:rPr lang="zh-CN" altLang="en-US" dirty="0">
                <a:latin typeface="Times New Roman" panose="02020603050405020304" pitchFamily="18" charset="0"/>
              </a:rPr>
              <a:t>的原理框图</a:t>
            </a:r>
            <a:endParaRPr lang="zh-CN" altLang="en-US">
              <a:latin typeface="Times New Roman" panose="02020603050405020304" pitchFamily="18" charset="0"/>
            </a:endParaRPr>
          </a:p>
        </p:txBody>
      </p:sp>
      <p:graphicFrame>
        <p:nvGraphicFramePr>
          <p:cNvPr id="4104" name="对象 4103"/>
          <p:cNvGraphicFramePr/>
          <p:nvPr/>
        </p:nvGraphicFramePr>
        <p:xfrm>
          <a:off x="2324100" y="1600200"/>
          <a:ext cx="4495800" cy="2857500"/>
        </p:xfrm>
        <a:graphic>
          <a:graphicData uri="http://schemas.openxmlformats.org/presentationml/2006/ole">
            <mc:AlternateContent xmlns:mc="http://schemas.openxmlformats.org/markup-compatibility/2006">
              <mc:Choice xmlns:v="urn:schemas-microsoft-com:vml" Requires="v">
                <p:oleObj spid="_x0000_s3077" name="" r:id="rId1" imgW="1432560" imgH="914400" progId="Visio.Drawing.4">
                  <p:embed/>
                </p:oleObj>
              </mc:Choice>
              <mc:Fallback>
                <p:oleObj name="" r:id="rId1" imgW="1432560" imgH="914400" progId="Visio.Drawing.4">
                  <p:embed/>
                  <p:pic>
                    <p:nvPicPr>
                      <p:cNvPr id="0" name="图片 3076"/>
                      <p:cNvPicPr/>
                      <p:nvPr/>
                    </p:nvPicPr>
                    <p:blipFill>
                      <a:blip r:embed="rId2"/>
                      <a:stretch>
                        <a:fillRect/>
                      </a:stretch>
                    </p:blipFill>
                    <p:spPr>
                      <a:xfrm>
                        <a:off x="2324100" y="1600200"/>
                        <a:ext cx="4495800" cy="2857500"/>
                      </a:xfrm>
                      <a:prstGeom prst="rect">
                        <a:avLst/>
                      </a:prstGeom>
                      <a:noFill/>
                      <a:ln w="38100">
                        <a:noFill/>
                        <a:miter/>
                      </a:ln>
                    </p:spPr>
                  </p:pic>
                </p:oleObj>
              </mc:Fallback>
            </mc:AlternateContent>
          </a:graphicData>
        </a:graphic>
      </p:graphicFrame>
    </p:spTree>
  </p:cSld>
  <p:clrMapOvr>
    <a:masterClrMapping/>
  </p:clrMapOvr>
  <p:transition>
    <p:blinds dir="vert"/>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4" name="文本框 5123"/>
          <p:cNvSpPr txBox="1"/>
          <p:nvPr/>
        </p:nvSpPr>
        <p:spPr>
          <a:xfrm>
            <a:off x="609600" y="609600"/>
            <a:ext cx="1403350" cy="457200"/>
          </a:xfrm>
          <a:prstGeom prst="rect">
            <a:avLst/>
          </a:prstGeom>
          <a:noFill/>
          <a:ln w="9525">
            <a:noFill/>
          </a:ln>
        </p:spPr>
        <p:txBody>
          <a:bodyPr wrap="none" anchor="t" anchorCtr="0">
            <a:spAutoFit/>
          </a:bodyPr>
          <a:p>
            <a:r>
              <a:rPr lang="zh-CN" altLang="en-US" dirty="0">
                <a:latin typeface="Times New Roman" panose="02020603050405020304" pitchFamily="18" charset="0"/>
              </a:rPr>
              <a:t>如果假设</a:t>
            </a:r>
            <a:endParaRPr lang="zh-CN" altLang="en-US">
              <a:latin typeface="Times New Roman" panose="02020603050405020304" pitchFamily="18" charset="0"/>
            </a:endParaRPr>
          </a:p>
        </p:txBody>
      </p:sp>
      <p:graphicFrame>
        <p:nvGraphicFramePr>
          <p:cNvPr id="5125" name="对象 5124"/>
          <p:cNvGraphicFramePr/>
          <p:nvPr/>
        </p:nvGraphicFramePr>
        <p:xfrm>
          <a:off x="1485900" y="1295400"/>
          <a:ext cx="6743700" cy="1665288"/>
        </p:xfrm>
        <a:graphic>
          <a:graphicData uri="http://schemas.openxmlformats.org/presentationml/2006/ole">
            <mc:AlternateContent xmlns:mc="http://schemas.openxmlformats.org/markup-compatibility/2006">
              <mc:Choice xmlns:v="urn:schemas-microsoft-com:vml" Requires="v">
                <p:oleObj spid="_x0000_s3078" name="" r:id="rId1" imgW="3084830" imgH="761365" progId="Equation.3">
                  <p:embed/>
                </p:oleObj>
              </mc:Choice>
              <mc:Fallback>
                <p:oleObj name="" r:id="rId1" imgW="3084830" imgH="761365" progId="Equation.3">
                  <p:embed/>
                  <p:pic>
                    <p:nvPicPr>
                      <p:cNvPr id="0" name="图片 3077"/>
                      <p:cNvPicPr/>
                      <p:nvPr/>
                    </p:nvPicPr>
                    <p:blipFill>
                      <a:blip r:embed="rId2"/>
                      <a:stretch>
                        <a:fillRect/>
                      </a:stretch>
                    </p:blipFill>
                    <p:spPr>
                      <a:xfrm>
                        <a:off x="1485900" y="1295400"/>
                        <a:ext cx="6743700" cy="1665288"/>
                      </a:xfrm>
                      <a:prstGeom prst="rect">
                        <a:avLst/>
                      </a:prstGeom>
                      <a:noFill/>
                      <a:ln w="38100">
                        <a:noFill/>
                        <a:miter/>
                      </a:ln>
                    </p:spPr>
                  </p:pic>
                </p:oleObj>
              </mc:Fallback>
            </mc:AlternateContent>
          </a:graphicData>
        </a:graphic>
      </p:graphicFrame>
      <p:sp>
        <p:nvSpPr>
          <p:cNvPr id="5126" name="文本框 5125"/>
          <p:cNvSpPr txBox="1"/>
          <p:nvPr/>
        </p:nvSpPr>
        <p:spPr>
          <a:xfrm>
            <a:off x="8153400" y="2209800"/>
            <a:ext cx="946150" cy="457200"/>
          </a:xfrm>
          <a:prstGeom prst="rect">
            <a:avLst/>
          </a:prstGeom>
          <a:noFill/>
          <a:ln w="9525">
            <a:noFill/>
          </a:ln>
        </p:spPr>
        <p:txBody>
          <a:bodyPr wrap="none" anchor="t" anchorCtr="0">
            <a:spAutoFit/>
          </a:bodyPr>
          <a:p>
            <a:r>
              <a:rPr lang="en-US" altLang="zh-CN">
                <a:latin typeface="Times New Roman" panose="02020603050405020304" pitchFamily="18" charset="0"/>
              </a:rPr>
              <a:t>(11-2)</a:t>
            </a:r>
            <a:endParaRPr lang="en-US" altLang="zh-CN">
              <a:latin typeface="Times New Roman" panose="02020603050405020304" pitchFamily="18" charset="0"/>
            </a:endParaRPr>
          </a:p>
        </p:txBody>
      </p:sp>
      <p:sp>
        <p:nvSpPr>
          <p:cNvPr id="5127" name="文本框 5126"/>
          <p:cNvSpPr txBox="1"/>
          <p:nvPr/>
        </p:nvSpPr>
        <p:spPr>
          <a:xfrm>
            <a:off x="609600" y="3089275"/>
            <a:ext cx="2266950" cy="457200"/>
          </a:xfrm>
          <a:prstGeom prst="rect">
            <a:avLst/>
          </a:prstGeom>
          <a:noFill/>
          <a:ln w="9525">
            <a:noFill/>
          </a:ln>
        </p:spPr>
        <p:txBody>
          <a:bodyPr wrap="none" anchor="t" anchorCtr="0">
            <a:spAutoFit/>
          </a:bodyPr>
          <a:p>
            <a:r>
              <a:rPr lang="zh-CN" altLang="en-US" dirty="0">
                <a:latin typeface="Times New Roman" panose="02020603050405020304" pitchFamily="18" charset="0"/>
              </a:rPr>
              <a:t>则式</a:t>
            </a:r>
            <a:r>
              <a:rPr lang="en-US" altLang="zh-CN">
                <a:latin typeface="Times New Roman" panose="02020603050405020304" pitchFamily="18" charset="0"/>
              </a:rPr>
              <a:t>11-1</a:t>
            </a:r>
            <a:r>
              <a:rPr lang="zh-CN" altLang="en-US" dirty="0">
                <a:latin typeface="Times New Roman" panose="02020603050405020304" pitchFamily="18" charset="0"/>
              </a:rPr>
              <a:t>可变为</a:t>
            </a:r>
            <a:endParaRPr lang="zh-CN" altLang="en-US">
              <a:latin typeface="Times New Roman" panose="02020603050405020304" pitchFamily="18" charset="0"/>
            </a:endParaRPr>
          </a:p>
        </p:txBody>
      </p:sp>
      <p:graphicFrame>
        <p:nvGraphicFramePr>
          <p:cNvPr id="5128" name="对象 5127"/>
          <p:cNvGraphicFramePr/>
          <p:nvPr/>
        </p:nvGraphicFramePr>
        <p:xfrm>
          <a:off x="2895600" y="3429000"/>
          <a:ext cx="3276600" cy="1041400"/>
        </p:xfrm>
        <a:graphic>
          <a:graphicData uri="http://schemas.openxmlformats.org/presentationml/2006/ole">
            <mc:AlternateContent xmlns:mc="http://schemas.openxmlformats.org/markup-compatibility/2006">
              <mc:Choice xmlns:v="urn:schemas-microsoft-com:vml" Requires="v">
                <p:oleObj spid="_x0000_s3076" name="" r:id="rId3" imgW="1358265" imgH="431800" progId="Equation.3">
                  <p:embed/>
                </p:oleObj>
              </mc:Choice>
              <mc:Fallback>
                <p:oleObj name="" r:id="rId3" imgW="1358265" imgH="431800" progId="Equation.3">
                  <p:embed/>
                  <p:pic>
                    <p:nvPicPr>
                      <p:cNvPr id="0" name="图片 3075"/>
                      <p:cNvPicPr/>
                      <p:nvPr/>
                    </p:nvPicPr>
                    <p:blipFill>
                      <a:blip r:embed="rId4"/>
                      <a:stretch>
                        <a:fillRect/>
                      </a:stretch>
                    </p:blipFill>
                    <p:spPr>
                      <a:xfrm>
                        <a:off x="2895600" y="3429000"/>
                        <a:ext cx="3276600" cy="1041400"/>
                      </a:xfrm>
                      <a:prstGeom prst="rect">
                        <a:avLst/>
                      </a:prstGeom>
                      <a:noFill/>
                      <a:ln w="38100">
                        <a:noFill/>
                        <a:miter/>
                      </a:ln>
                    </p:spPr>
                  </p:pic>
                </p:oleObj>
              </mc:Fallback>
            </mc:AlternateContent>
          </a:graphicData>
        </a:graphic>
      </p:graphicFrame>
      <p:sp>
        <p:nvSpPr>
          <p:cNvPr id="5129" name="文本框 5128"/>
          <p:cNvSpPr txBox="1"/>
          <p:nvPr/>
        </p:nvSpPr>
        <p:spPr>
          <a:xfrm>
            <a:off x="8229600" y="3657600"/>
            <a:ext cx="946150" cy="457200"/>
          </a:xfrm>
          <a:prstGeom prst="rect">
            <a:avLst/>
          </a:prstGeom>
          <a:noFill/>
          <a:ln w="9525">
            <a:noFill/>
          </a:ln>
        </p:spPr>
        <p:txBody>
          <a:bodyPr wrap="none" anchor="t" anchorCtr="0">
            <a:spAutoFit/>
          </a:bodyPr>
          <a:p>
            <a:r>
              <a:rPr lang="en-US" altLang="zh-CN">
                <a:latin typeface="Times New Roman" panose="02020603050405020304" pitchFamily="18" charset="0"/>
              </a:rPr>
              <a:t>(11-3)</a:t>
            </a:r>
            <a:endParaRPr lang="en-US" altLang="zh-CN">
              <a:latin typeface="Times New Roman" panose="02020603050405020304" pitchFamily="18" charset="0"/>
            </a:endParaRPr>
          </a:p>
        </p:txBody>
      </p:sp>
      <p:sp>
        <p:nvSpPr>
          <p:cNvPr id="5130" name="文本框 5129"/>
          <p:cNvSpPr txBox="1"/>
          <p:nvPr/>
        </p:nvSpPr>
        <p:spPr>
          <a:xfrm>
            <a:off x="304800" y="4572000"/>
            <a:ext cx="8686800" cy="1820863"/>
          </a:xfrm>
          <a:prstGeom prst="rect">
            <a:avLst/>
          </a:prstGeom>
          <a:noFill/>
          <a:ln w="9525">
            <a:noFill/>
          </a:ln>
        </p:spPr>
        <p:txBody>
          <a:bodyPr>
            <a:spAutoFit/>
          </a:bodyPr>
          <a:p>
            <a:pPr>
              <a:lnSpc>
                <a:spcPct val="158000"/>
              </a:lnSpc>
              <a:spcBef>
                <a:spcPct val="50000"/>
              </a:spcBef>
            </a:pPr>
            <a:r>
              <a:rPr lang="zh-CN" altLang="en-US" dirty="0">
                <a:latin typeface="Times New Roman" panose="02020603050405020304" pitchFamily="18" charset="0"/>
              </a:rPr>
              <a:t>另外必须指出，</a:t>
            </a:r>
            <a:r>
              <a:rPr lang="en-US" altLang="zh-CN">
                <a:latin typeface="Times New Roman" panose="02020603050405020304" pitchFamily="18" charset="0"/>
              </a:rPr>
              <a:t>n</a:t>
            </a:r>
            <a:r>
              <a:rPr lang="zh-CN" altLang="en-US" dirty="0">
                <a:latin typeface="Times New Roman" panose="02020603050405020304" pitchFamily="18" charset="0"/>
              </a:rPr>
              <a:t>位二进制代码有</a:t>
            </a:r>
            <a:r>
              <a:rPr lang="en-US" altLang="zh-CN">
                <a:latin typeface="Times New Roman" panose="02020603050405020304" pitchFamily="18" charset="0"/>
              </a:rPr>
              <a:t>2</a:t>
            </a:r>
            <a:r>
              <a:rPr lang="en-US" altLang="zh-CN" baseline="30000">
                <a:latin typeface="Times New Roman" panose="02020603050405020304" pitchFamily="18" charset="0"/>
              </a:rPr>
              <a:t>n</a:t>
            </a:r>
            <a:r>
              <a:rPr lang="zh-CN" altLang="en-US" dirty="0">
                <a:latin typeface="Times New Roman" panose="02020603050405020304" pitchFamily="18" charset="0"/>
              </a:rPr>
              <a:t>种不同的组合，从而对应有</a:t>
            </a:r>
            <a:r>
              <a:rPr lang="en-US" altLang="zh-CN">
                <a:latin typeface="Times New Roman" panose="02020603050405020304" pitchFamily="18" charset="0"/>
              </a:rPr>
              <a:t>2</a:t>
            </a:r>
            <a:r>
              <a:rPr lang="en-US" altLang="zh-CN" baseline="30000">
                <a:latin typeface="Times New Roman" panose="02020603050405020304" pitchFamily="18" charset="0"/>
              </a:rPr>
              <a:t>n</a:t>
            </a:r>
            <a:r>
              <a:rPr lang="zh-CN" altLang="en-US" dirty="0">
                <a:latin typeface="Times New Roman" panose="02020603050405020304" pitchFamily="18" charset="0"/>
              </a:rPr>
              <a:t>个模拟电压（或电流）值， 所以严格地讲</a:t>
            </a:r>
            <a:r>
              <a:rPr lang="en-US" altLang="zh-CN">
                <a:latin typeface="Times New Roman" panose="02020603050405020304" pitchFamily="18" charset="0"/>
              </a:rPr>
              <a:t>DAC</a:t>
            </a:r>
            <a:r>
              <a:rPr lang="zh-CN" altLang="en-US" dirty="0">
                <a:latin typeface="Times New Roman" panose="02020603050405020304" pitchFamily="18" charset="0"/>
              </a:rPr>
              <a:t>的输出并非真正的模拟信号， 而是时间连续、 幅度离散的信号。</a:t>
            </a:r>
            <a:endParaRPr lang="zh-CN" altLang="en-US">
              <a:latin typeface="Times New Roman" panose="02020603050405020304" pitchFamily="18" charset="0"/>
            </a:endParaRPr>
          </a:p>
        </p:txBody>
      </p:sp>
    </p:spTree>
  </p:cSld>
  <p:clrMapOvr>
    <a:masterClrMapping/>
  </p:clrMapOvr>
  <p:transition>
    <p:blinds dir="vert"/>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8" name="文本框 6147"/>
          <p:cNvSpPr txBox="1"/>
          <p:nvPr/>
        </p:nvSpPr>
        <p:spPr>
          <a:xfrm>
            <a:off x="228600" y="665163"/>
            <a:ext cx="8686800" cy="5278437"/>
          </a:xfrm>
          <a:prstGeom prst="rect">
            <a:avLst/>
          </a:prstGeom>
          <a:noFill/>
          <a:ln w="9525">
            <a:noFill/>
          </a:ln>
        </p:spPr>
        <p:txBody>
          <a:bodyPr>
            <a:spAutoFit/>
          </a:bodyPr>
          <a:p>
            <a:pPr>
              <a:lnSpc>
                <a:spcPct val="158000"/>
              </a:lnSpc>
              <a:spcBef>
                <a:spcPct val="50000"/>
              </a:spcBef>
            </a:pPr>
            <a:r>
              <a:rPr lang="en-US" altLang="zh-CN" dirty="0">
                <a:latin typeface="Times New Roman" panose="02020603050405020304" pitchFamily="18" charset="0"/>
              </a:rPr>
              <a:t>        </a:t>
            </a:r>
            <a:r>
              <a:rPr lang="zh-CN" altLang="en-US" b="1" dirty="0">
                <a:latin typeface="Times New Roman" panose="02020603050405020304" pitchFamily="18" charset="0"/>
              </a:rPr>
              <a:t>一个</a:t>
            </a:r>
            <a:r>
              <a:rPr lang="en-US" altLang="zh-CN" b="1">
                <a:latin typeface="Times New Roman" panose="02020603050405020304" pitchFamily="18" charset="0"/>
              </a:rPr>
              <a:t>n</a:t>
            </a:r>
            <a:r>
              <a:rPr lang="zh-CN" altLang="en-US" b="1">
                <a:latin typeface="Times New Roman" panose="02020603050405020304" pitchFamily="18" charset="0"/>
              </a:rPr>
              <a:t>位</a:t>
            </a:r>
            <a:r>
              <a:rPr lang="en-US" altLang="zh-CN" b="1">
                <a:latin typeface="Times New Roman" panose="02020603050405020304" pitchFamily="18" charset="0"/>
              </a:rPr>
              <a:t>D/A</a:t>
            </a:r>
            <a:r>
              <a:rPr lang="zh-CN" altLang="en-US" b="1" dirty="0">
                <a:latin typeface="Times New Roman" panose="02020603050405020304" pitchFamily="18" charset="0"/>
              </a:rPr>
              <a:t>转换电路的结构框图如图</a:t>
            </a:r>
            <a:r>
              <a:rPr lang="en-US" altLang="zh-CN" b="1">
                <a:latin typeface="Times New Roman" panose="02020603050405020304" pitchFamily="18" charset="0"/>
              </a:rPr>
              <a:t>11- 2</a:t>
            </a:r>
            <a:r>
              <a:rPr lang="zh-CN" altLang="en-US" b="1" dirty="0">
                <a:latin typeface="Times New Roman" panose="02020603050405020304" pitchFamily="18" charset="0"/>
              </a:rPr>
              <a:t>所示， 它主要由输入数码寄存器、 数控模拟开关、电阻解码网络、 求和电路、 参考电压及逻辑控制电路组成。 输入的数字信号可以串行或并行方式输入； 数字信号输入后首先存储在输入寄存器内， 寄存器并行输出的每一位驱动一个数控模拟开关， 使电阻解码网络将每一位数码翻译成相应大小的模拟量， 并送给求和电路；求和电路将各位数码所代表的模拟量相加便得到与数字量相对应的模拟量。</a:t>
            </a:r>
            <a:r>
              <a:rPr lang="en-US" altLang="zh-CN" b="1">
                <a:latin typeface="Times New Roman" panose="02020603050405020304" pitchFamily="18" charset="0"/>
              </a:rPr>
              <a:t>DAC</a:t>
            </a:r>
            <a:r>
              <a:rPr lang="zh-CN" altLang="en-US" b="1" dirty="0">
                <a:latin typeface="Times New Roman" panose="02020603050405020304" pitchFamily="18" charset="0"/>
              </a:rPr>
              <a:t>的核心电路是电阻解码网络，下面将主要介绍电阻解码网络这部分电路的工作原理。 </a:t>
            </a:r>
            <a:endParaRPr lang="zh-CN" altLang="en-US" b="1">
              <a:latin typeface="Times New Roman" panose="02020603050405020304" pitchFamily="18" charset="0"/>
            </a:endParaRPr>
          </a:p>
        </p:txBody>
      </p:sp>
    </p:spTree>
  </p:cSld>
  <p:clrMapOvr>
    <a:masterClrMapping/>
  </p:clrMapOvr>
  <p:transition>
    <p:blinds dir="vert"/>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72" name="文本框 7171"/>
          <p:cNvSpPr txBox="1"/>
          <p:nvPr/>
        </p:nvSpPr>
        <p:spPr>
          <a:xfrm>
            <a:off x="2565400" y="5638800"/>
            <a:ext cx="4164013" cy="457200"/>
          </a:xfrm>
          <a:prstGeom prst="rect">
            <a:avLst/>
          </a:prstGeom>
          <a:noFill/>
          <a:ln w="9525">
            <a:noFill/>
          </a:ln>
        </p:spPr>
        <p:txBody>
          <a:bodyPr wrap="none" anchor="t" anchorCtr="0">
            <a:spAutoFit/>
          </a:bodyPr>
          <a:p>
            <a:r>
              <a:rPr lang="zh-CN" altLang="en-US" dirty="0">
                <a:latin typeface="Times New Roman" panose="02020603050405020304" pitchFamily="18" charset="0"/>
              </a:rPr>
              <a:t>图 </a:t>
            </a:r>
            <a:r>
              <a:rPr lang="en-US" altLang="zh-CN">
                <a:latin typeface="Times New Roman" panose="02020603050405020304" pitchFamily="18" charset="0"/>
              </a:rPr>
              <a:t>11-2 D/A</a:t>
            </a:r>
            <a:r>
              <a:rPr lang="zh-CN" altLang="en-US" dirty="0">
                <a:latin typeface="Times New Roman" panose="02020603050405020304" pitchFamily="18" charset="0"/>
              </a:rPr>
              <a:t>转换器的结构框图</a:t>
            </a:r>
            <a:endParaRPr lang="zh-CN" altLang="en-US">
              <a:latin typeface="Times New Roman" panose="02020603050405020304" pitchFamily="18" charset="0"/>
            </a:endParaRPr>
          </a:p>
        </p:txBody>
      </p:sp>
      <p:graphicFrame>
        <p:nvGraphicFramePr>
          <p:cNvPr id="7173" name="对象 7172"/>
          <p:cNvGraphicFramePr/>
          <p:nvPr/>
        </p:nvGraphicFramePr>
        <p:xfrm>
          <a:off x="0" y="1828800"/>
          <a:ext cx="9144000" cy="2644775"/>
        </p:xfrm>
        <a:graphic>
          <a:graphicData uri="http://schemas.openxmlformats.org/presentationml/2006/ole">
            <mc:AlternateContent xmlns:mc="http://schemas.openxmlformats.org/markup-compatibility/2006">
              <mc:Choice xmlns:v="urn:schemas-microsoft-com:vml" Requires="v">
                <p:oleObj spid="_x0000_s3081" name="" r:id="rId1" imgW="4457700" imgH="1287780" progId="Visio.Drawing.4">
                  <p:embed/>
                </p:oleObj>
              </mc:Choice>
              <mc:Fallback>
                <p:oleObj name="" r:id="rId1" imgW="4457700" imgH="1287780" progId="Visio.Drawing.4">
                  <p:embed/>
                  <p:pic>
                    <p:nvPicPr>
                      <p:cNvPr id="0" name="图片 3080"/>
                      <p:cNvPicPr/>
                      <p:nvPr/>
                    </p:nvPicPr>
                    <p:blipFill>
                      <a:blip r:embed="rId2"/>
                      <a:stretch>
                        <a:fillRect/>
                      </a:stretch>
                    </p:blipFill>
                    <p:spPr>
                      <a:xfrm>
                        <a:off x="0" y="1828800"/>
                        <a:ext cx="9144000" cy="2644775"/>
                      </a:xfrm>
                      <a:prstGeom prst="rect">
                        <a:avLst/>
                      </a:prstGeom>
                      <a:noFill/>
                      <a:ln w="38100">
                        <a:noFill/>
                        <a:miter/>
                      </a:ln>
                    </p:spPr>
                  </p:pic>
                </p:oleObj>
              </mc:Fallback>
            </mc:AlternateContent>
          </a:graphicData>
        </a:graphic>
      </p:graphicFrame>
    </p:spTree>
  </p:cSld>
  <p:clrMapOvr>
    <a:masterClrMapping/>
  </p:clrMapOvr>
  <p:transition>
    <p:blinds dir="vert"/>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文本框 8195"/>
          <p:cNvSpPr txBox="1"/>
          <p:nvPr/>
        </p:nvSpPr>
        <p:spPr>
          <a:xfrm>
            <a:off x="212725" y="498475"/>
            <a:ext cx="3779838" cy="457200"/>
          </a:xfrm>
          <a:prstGeom prst="rect">
            <a:avLst/>
          </a:prstGeom>
          <a:noFill/>
          <a:ln w="9525">
            <a:noFill/>
          </a:ln>
        </p:spPr>
        <p:txBody>
          <a:bodyPr wrap="none" anchor="t" anchorCtr="0">
            <a:spAutoFit/>
          </a:bodyPr>
          <a:p>
            <a:r>
              <a:rPr lang="en-US" altLang="zh-CN" b="1">
                <a:latin typeface="Times New Roman" panose="02020603050405020304" pitchFamily="18" charset="0"/>
              </a:rPr>
              <a:t>11.1.2 </a:t>
            </a:r>
            <a:r>
              <a:rPr lang="zh-CN" altLang="en-US" b="1" dirty="0">
                <a:latin typeface="Times New Roman" panose="02020603050405020304" pitchFamily="18" charset="0"/>
              </a:rPr>
              <a:t>常用数模转换技术</a:t>
            </a:r>
            <a:endParaRPr lang="zh-CN" altLang="en-US" b="1">
              <a:latin typeface="Times New Roman" panose="02020603050405020304" pitchFamily="18" charset="0"/>
            </a:endParaRPr>
          </a:p>
        </p:txBody>
      </p:sp>
      <p:sp>
        <p:nvSpPr>
          <p:cNvPr id="8197" name="文本框 8196"/>
          <p:cNvSpPr txBox="1"/>
          <p:nvPr/>
        </p:nvSpPr>
        <p:spPr>
          <a:xfrm>
            <a:off x="228600" y="1066800"/>
            <a:ext cx="8686800" cy="1755775"/>
          </a:xfrm>
          <a:prstGeom prst="rect">
            <a:avLst/>
          </a:prstGeom>
          <a:noFill/>
          <a:ln w="9525">
            <a:noFill/>
          </a:ln>
        </p:spPr>
        <p:txBody>
          <a:bodyPr>
            <a:spAutoFit/>
          </a:bodyPr>
          <a:p>
            <a:pPr>
              <a:lnSpc>
                <a:spcPct val="135000"/>
              </a:lnSpc>
              <a:spcBef>
                <a:spcPct val="50000"/>
              </a:spcBef>
            </a:pPr>
            <a:r>
              <a:rPr lang="en-US" altLang="zh-CN" b="1" dirty="0">
                <a:latin typeface="Times New Roman" panose="02020603050405020304" pitchFamily="18" charset="0"/>
              </a:rPr>
              <a:t>        </a:t>
            </a:r>
            <a:r>
              <a:rPr lang="en-US" altLang="zh-CN" b="1">
                <a:latin typeface="Times New Roman" panose="02020603050405020304" pitchFamily="18" charset="0"/>
              </a:rPr>
              <a:t>1. </a:t>
            </a:r>
            <a:r>
              <a:rPr lang="zh-CN" altLang="en-US" b="1" dirty="0">
                <a:latin typeface="Times New Roman" panose="02020603050405020304" pitchFamily="18" charset="0"/>
              </a:rPr>
              <a:t>权电阻网络</a:t>
            </a:r>
            <a:r>
              <a:rPr lang="en-US" altLang="zh-CN" b="1">
                <a:latin typeface="Times New Roman" panose="02020603050405020304" pitchFamily="18" charset="0"/>
              </a:rPr>
              <a:t>DAC</a:t>
            </a:r>
            <a:r>
              <a:rPr lang="zh-CN" altLang="en-US" b="1" dirty="0">
                <a:latin typeface="Times New Roman" panose="02020603050405020304" pitchFamily="18" charset="0"/>
              </a:rPr>
              <a:t>电路</a:t>
            </a:r>
            <a:endParaRPr lang="zh-CN" altLang="en-US" b="1">
              <a:latin typeface="Times New Roman" panose="02020603050405020304" pitchFamily="18" charset="0"/>
            </a:endParaRPr>
          </a:p>
          <a:p>
            <a:pPr>
              <a:lnSpc>
                <a:spcPct val="135000"/>
              </a:lnSpc>
              <a:spcBef>
                <a:spcPct val="50000"/>
              </a:spcBef>
            </a:pPr>
            <a:r>
              <a:rPr lang="zh-CN" altLang="en-US">
                <a:latin typeface="Times New Roman" panose="02020603050405020304" pitchFamily="18" charset="0"/>
              </a:rPr>
              <a:t>        </a:t>
            </a:r>
            <a:r>
              <a:rPr lang="zh-CN" altLang="en-US" dirty="0">
                <a:latin typeface="Times New Roman" panose="02020603050405020304" pitchFamily="18" charset="0"/>
              </a:rPr>
              <a:t>图</a:t>
            </a:r>
            <a:r>
              <a:rPr lang="en-US" altLang="zh-CN">
                <a:latin typeface="Times New Roman" panose="02020603050405020304" pitchFamily="18" charset="0"/>
              </a:rPr>
              <a:t>11- 3</a:t>
            </a:r>
            <a:r>
              <a:rPr lang="zh-CN" altLang="en-US" dirty="0">
                <a:latin typeface="Times New Roman" panose="02020603050405020304" pitchFamily="18" charset="0"/>
              </a:rPr>
              <a:t>所示是</a:t>
            </a:r>
            <a:r>
              <a:rPr lang="en-US" altLang="zh-CN">
                <a:latin typeface="Times New Roman" panose="02020603050405020304" pitchFamily="18" charset="0"/>
              </a:rPr>
              <a:t>4</a:t>
            </a:r>
            <a:r>
              <a:rPr lang="zh-CN" altLang="en-US" dirty="0">
                <a:latin typeface="Times New Roman" panose="02020603050405020304" pitchFamily="18" charset="0"/>
              </a:rPr>
              <a:t>位权电阻网络</a:t>
            </a:r>
            <a:r>
              <a:rPr lang="en-US" altLang="zh-CN">
                <a:latin typeface="Times New Roman" panose="02020603050405020304" pitchFamily="18" charset="0"/>
              </a:rPr>
              <a:t>DAC</a:t>
            </a:r>
            <a:r>
              <a:rPr lang="zh-CN" altLang="en-US" dirty="0">
                <a:latin typeface="Times New Roman" panose="02020603050405020304" pitchFamily="18" charset="0"/>
              </a:rPr>
              <a:t>电路的原理图， 该电路由四部分构成：</a:t>
            </a:r>
            <a:endParaRPr lang="zh-CN" altLang="en-US">
              <a:latin typeface="Times New Roman" panose="02020603050405020304" pitchFamily="18" charset="0"/>
            </a:endParaRPr>
          </a:p>
        </p:txBody>
      </p:sp>
      <p:sp>
        <p:nvSpPr>
          <p:cNvPr id="8198" name="文本框 8197"/>
          <p:cNvSpPr txBox="1"/>
          <p:nvPr/>
        </p:nvSpPr>
        <p:spPr>
          <a:xfrm>
            <a:off x="2362200" y="5943600"/>
            <a:ext cx="4892675" cy="457200"/>
          </a:xfrm>
          <a:prstGeom prst="rect">
            <a:avLst/>
          </a:prstGeom>
          <a:noFill/>
          <a:ln w="9525">
            <a:noFill/>
          </a:ln>
        </p:spPr>
        <p:txBody>
          <a:bodyPr wrap="none" anchor="t" anchorCtr="0">
            <a:spAutoFit/>
          </a:bodyPr>
          <a:p>
            <a:r>
              <a:rPr lang="zh-CN" altLang="en-US" dirty="0">
                <a:latin typeface="Times New Roman" panose="02020603050405020304" pitchFamily="18" charset="0"/>
              </a:rPr>
              <a:t>图 </a:t>
            </a:r>
            <a:r>
              <a:rPr lang="en-US" altLang="zh-CN">
                <a:latin typeface="Times New Roman" panose="02020603050405020304" pitchFamily="18" charset="0"/>
              </a:rPr>
              <a:t>11-3 </a:t>
            </a:r>
            <a:r>
              <a:rPr lang="zh-CN" altLang="en-US" dirty="0">
                <a:latin typeface="Times New Roman" panose="02020603050405020304" pitchFamily="18" charset="0"/>
              </a:rPr>
              <a:t>权电阻网络</a:t>
            </a:r>
            <a:r>
              <a:rPr lang="en-US" altLang="zh-CN">
                <a:latin typeface="Times New Roman" panose="02020603050405020304" pitchFamily="18" charset="0"/>
              </a:rPr>
              <a:t>DAC</a:t>
            </a:r>
            <a:r>
              <a:rPr lang="zh-CN" altLang="en-US" dirty="0">
                <a:latin typeface="Times New Roman" panose="02020603050405020304" pitchFamily="18" charset="0"/>
              </a:rPr>
              <a:t>电路原理图</a:t>
            </a:r>
            <a:endParaRPr lang="zh-CN" altLang="en-US">
              <a:latin typeface="Times New Roman" panose="02020603050405020304" pitchFamily="18" charset="0"/>
            </a:endParaRPr>
          </a:p>
        </p:txBody>
      </p:sp>
      <p:graphicFrame>
        <p:nvGraphicFramePr>
          <p:cNvPr id="8199" name="对象 8198"/>
          <p:cNvGraphicFramePr/>
          <p:nvPr/>
        </p:nvGraphicFramePr>
        <p:xfrm>
          <a:off x="1066800" y="2133600"/>
          <a:ext cx="7696200" cy="3859213"/>
        </p:xfrm>
        <a:graphic>
          <a:graphicData uri="http://schemas.openxmlformats.org/presentationml/2006/ole">
            <mc:AlternateContent xmlns:mc="http://schemas.openxmlformats.org/markup-compatibility/2006">
              <mc:Choice xmlns:v="urn:schemas-microsoft-com:vml" Requires="v">
                <p:oleObj spid="_x0000_s3080" name="" r:id="rId1" imgW="3147060" imgH="1577340" progId="Visio.Drawing.4">
                  <p:embed/>
                </p:oleObj>
              </mc:Choice>
              <mc:Fallback>
                <p:oleObj name="" r:id="rId1" imgW="3147060" imgH="1577340" progId="Visio.Drawing.4">
                  <p:embed/>
                  <p:pic>
                    <p:nvPicPr>
                      <p:cNvPr id="0" name="图片 3079"/>
                      <p:cNvPicPr/>
                      <p:nvPr/>
                    </p:nvPicPr>
                    <p:blipFill>
                      <a:blip r:embed="rId2"/>
                      <a:stretch>
                        <a:fillRect/>
                      </a:stretch>
                    </p:blipFill>
                    <p:spPr>
                      <a:xfrm>
                        <a:off x="1066800" y="2133600"/>
                        <a:ext cx="7696200" cy="3859213"/>
                      </a:xfrm>
                      <a:prstGeom prst="rect">
                        <a:avLst/>
                      </a:prstGeom>
                      <a:noFill/>
                      <a:ln w="38100">
                        <a:noFill/>
                        <a:miter/>
                      </a:ln>
                    </p:spPr>
                  </p:pic>
                </p:oleObj>
              </mc:Fallback>
            </mc:AlternateContent>
          </a:graphicData>
        </a:graphic>
      </p:graphicFrame>
    </p:spTree>
  </p:cSld>
  <p:clrMapOvr>
    <a:masterClrMapping/>
  </p:clrMapOvr>
  <p:transition>
    <p:blinds dir="vert"/>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20" name="文本框 9219"/>
          <p:cNvSpPr txBox="1"/>
          <p:nvPr/>
        </p:nvSpPr>
        <p:spPr>
          <a:xfrm>
            <a:off x="152400" y="657225"/>
            <a:ext cx="8839200" cy="5057775"/>
          </a:xfrm>
          <a:prstGeom prst="rect">
            <a:avLst/>
          </a:prstGeom>
          <a:noFill/>
          <a:ln w="9525">
            <a:noFill/>
          </a:ln>
        </p:spPr>
        <p:txBody>
          <a:bodyPr>
            <a:spAutoFit/>
          </a:bodyPr>
          <a:p>
            <a:pPr>
              <a:lnSpc>
                <a:spcPct val="180000"/>
              </a:lnSpc>
              <a:spcBef>
                <a:spcPct val="50000"/>
              </a:spcBef>
            </a:pPr>
            <a:r>
              <a:rPr lang="en-US" altLang="zh-CN" dirty="0">
                <a:latin typeface="Times New Roman" panose="02020603050405020304" pitchFamily="18" charset="0"/>
              </a:rPr>
              <a:t>       </a:t>
            </a:r>
            <a:r>
              <a:rPr lang="en-US" altLang="zh-CN" b="1">
                <a:latin typeface="Times New Roman" panose="02020603050405020304" pitchFamily="18" charset="0"/>
              </a:rPr>
              <a:t>① </a:t>
            </a:r>
            <a:r>
              <a:rPr lang="zh-CN" altLang="en-US" b="1" dirty="0">
                <a:latin typeface="Times New Roman" panose="02020603050405020304" pitchFamily="18" charset="0"/>
              </a:rPr>
              <a:t>权电阻网络。该电阻网络由四个电阻构成， 它们的阻值分别与输入的四位二进制数一一对应，满足以下关系： </a:t>
            </a:r>
            <a:endParaRPr lang="zh-CN" altLang="en-US" b="1" dirty="0">
              <a:latin typeface="Times New Roman" panose="02020603050405020304" pitchFamily="18" charset="0"/>
            </a:endParaRPr>
          </a:p>
          <a:p>
            <a:pPr algn="ctr">
              <a:lnSpc>
                <a:spcPct val="180000"/>
              </a:lnSpc>
              <a:spcBef>
                <a:spcPct val="50000"/>
              </a:spcBef>
            </a:pPr>
            <a:r>
              <a:rPr lang="zh-CN" altLang="en-US" b="1">
                <a:latin typeface="Times New Roman" panose="02020603050405020304" pitchFamily="18" charset="0"/>
              </a:rPr>
              <a:t>  </a:t>
            </a:r>
            <a:r>
              <a:rPr lang="zh-CN" altLang="en-US" b="1" dirty="0">
                <a:latin typeface="Times New Roman" panose="02020603050405020304" pitchFamily="18" charset="0"/>
              </a:rPr>
              <a:t>                  </a:t>
            </a:r>
            <a:r>
              <a:rPr lang="en-US" altLang="zh-CN" b="1" err="1">
                <a:latin typeface="Times New Roman" panose="02020603050405020304" pitchFamily="18" charset="0"/>
              </a:rPr>
              <a:t>R</a:t>
            </a:r>
            <a:r>
              <a:rPr lang="en-US" altLang="zh-CN" b="1" i="1" baseline="-25000" err="1">
                <a:latin typeface="Times New Roman" panose="02020603050405020304" pitchFamily="18" charset="0"/>
              </a:rPr>
              <a:t>i</a:t>
            </a:r>
            <a:r>
              <a:rPr lang="en-US" altLang="zh-CN" b="1">
                <a:latin typeface="Times New Roman" panose="02020603050405020304" pitchFamily="18" charset="0"/>
              </a:rPr>
              <a:t>=2</a:t>
            </a:r>
            <a:r>
              <a:rPr lang="en-US" altLang="zh-CN" b="1" baseline="30000">
                <a:latin typeface="Times New Roman" panose="02020603050405020304" pitchFamily="18" charset="0"/>
              </a:rPr>
              <a:t>n-1-</a:t>
            </a:r>
            <a:r>
              <a:rPr lang="en-US" altLang="zh-CN" b="1" i="1" baseline="30000">
                <a:latin typeface="Times New Roman" panose="02020603050405020304" pitchFamily="18" charset="0"/>
              </a:rPr>
              <a:t>i</a:t>
            </a:r>
            <a:r>
              <a:rPr lang="en-US" altLang="zh-CN" b="1">
                <a:latin typeface="Times New Roman" panose="02020603050405020304" pitchFamily="18" charset="0"/>
              </a:rPr>
              <a:t>R</a:t>
            </a:r>
            <a:r>
              <a:rPr lang="zh-CN" altLang="en-US" b="1">
                <a:latin typeface="Times New Roman" panose="02020603050405020304" pitchFamily="18" charset="0"/>
              </a:rPr>
              <a:t>             （</a:t>
            </a:r>
            <a:r>
              <a:rPr lang="en-US" altLang="zh-CN" b="1">
                <a:latin typeface="Times New Roman" panose="02020603050405020304" pitchFamily="18" charset="0"/>
              </a:rPr>
              <a:t>11- 4</a:t>
            </a:r>
            <a:r>
              <a:rPr lang="zh-CN" altLang="en-US" b="1">
                <a:latin typeface="Times New Roman" panose="02020603050405020304" pitchFamily="18" charset="0"/>
              </a:rPr>
              <a:t>）</a:t>
            </a:r>
            <a:endParaRPr lang="zh-CN" altLang="en-US" b="1">
              <a:latin typeface="Times New Roman" panose="02020603050405020304" pitchFamily="18" charset="0"/>
            </a:endParaRPr>
          </a:p>
          <a:p>
            <a:pPr>
              <a:lnSpc>
                <a:spcPct val="180000"/>
              </a:lnSpc>
              <a:spcBef>
                <a:spcPct val="50000"/>
              </a:spcBef>
            </a:pPr>
            <a:r>
              <a:rPr lang="zh-CN" altLang="en-US" b="1" dirty="0">
                <a:latin typeface="Times New Roman" panose="02020603050405020304" pitchFamily="18" charset="0"/>
              </a:rPr>
              <a:t>式中， </a:t>
            </a:r>
            <a:r>
              <a:rPr lang="en-US" altLang="zh-CN" b="1">
                <a:latin typeface="Times New Roman" panose="02020603050405020304" pitchFamily="18" charset="0"/>
              </a:rPr>
              <a:t>n</a:t>
            </a:r>
            <a:r>
              <a:rPr lang="zh-CN" altLang="en-US" b="1" dirty="0">
                <a:latin typeface="Times New Roman" panose="02020603050405020304" pitchFamily="18" charset="0"/>
              </a:rPr>
              <a:t>为输入二进制数的位数，</a:t>
            </a:r>
            <a:r>
              <a:rPr lang="en-US" altLang="zh-CN" b="1" err="1">
                <a:latin typeface="Times New Roman" panose="02020603050405020304" pitchFamily="18" charset="0"/>
              </a:rPr>
              <a:t>R</a:t>
            </a:r>
            <a:r>
              <a:rPr lang="en-US" altLang="zh-CN" b="1" i="1" baseline="-25000" err="1">
                <a:latin typeface="Times New Roman" panose="02020603050405020304" pitchFamily="18" charset="0"/>
              </a:rPr>
              <a:t>i</a:t>
            </a:r>
            <a:r>
              <a:rPr lang="zh-CN" altLang="en-US" b="1" dirty="0">
                <a:latin typeface="Times New Roman" panose="02020603050405020304" pitchFamily="18" charset="0"/>
              </a:rPr>
              <a:t>为与二进制数</a:t>
            </a:r>
            <a:r>
              <a:rPr lang="en-US" altLang="zh-CN" b="1" err="1">
                <a:latin typeface="Times New Roman" panose="02020603050405020304" pitchFamily="18" charset="0"/>
              </a:rPr>
              <a:t>D</a:t>
            </a:r>
            <a:r>
              <a:rPr lang="en-US" altLang="zh-CN" b="1" i="1" baseline="-25000" err="1">
                <a:latin typeface="Times New Roman" panose="02020603050405020304" pitchFamily="18" charset="0"/>
              </a:rPr>
              <a:t>i</a:t>
            </a:r>
            <a:r>
              <a:rPr lang="zh-CN" altLang="en-US" b="1" dirty="0">
                <a:latin typeface="Times New Roman" panose="02020603050405020304" pitchFamily="18" charset="0"/>
              </a:rPr>
              <a:t>位相对应的电阻值，而</a:t>
            </a:r>
            <a:r>
              <a:rPr lang="en-US" altLang="zh-CN" b="1">
                <a:latin typeface="Times New Roman" panose="02020603050405020304" pitchFamily="18" charset="0"/>
              </a:rPr>
              <a:t>2</a:t>
            </a:r>
            <a:r>
              <a:rPr lang="en-US" altLang="zh-CN" b="1" i="1" baseline="30000">
                <a:latin typeface="Times New Roman" panose="02020603050405020304" pitchFamily="18" charset="0"/>
              </a:rPr>
              <a:t>i</a:t>
            </a:r>
            <a:r>
              <a:rPr lang="zh-CN" altLang="en-US" b="1" dirty="0">
                <a:latin typeface="Times New Roman" panose="02020603050405020304" pitchFamily="18" charset="0"/>
              </a:rPr>
              <a:t>则为</a:t>
            </a:r>
            <a:r>
              <a:rPr lang="en-US" altLang="zh-CN" b="1" err="1">
                <a:latin typeface="Times New Roman" panose="02020603050405020304" pitchFamily="18" charset="0"/>
              </a:rPr>
              <a:t>D</a:t>
            </a:r>
            <a:r>
              <a:rPr lang="en-US" altLang="zh-CN" b="1" i="1" baseline="30000" err="1">
                <a:latin typeface="Times New Roman" panose="02020603050405020304" pitchFamily="18" charset="0"/>
              </a:rPr>
              <a:t>i</a:t>
            </a:r>
            <a:r>
              <a:rPr lang="zh-CN" altLang="en-US" b="1" dirty="0">
                <a:latin typeface="Times New Roman" panose="02020603050405020304" pitchFamily="18" charset="0"/>
              </a:rPr>
              <a:t>位的权值，所以可以看出二进制数的某一位所对应的电阻的大小与该位的权值成反比，这就是权电阻网络名称的由来。例如在图</a:t>
            </a:r>
            <a:r>
              <a:rPr lang="en-US" altLang="zh-CN" b="1">
                <a:latin typeface="Times New Roman" panose="02020603050405020304" pitchFamily="18" charset="0"/>
              </a:rPr>
              <a:t>11- 3</a:t>
            </a:r>
            <a:r>
              <a:rPr lang="zh-CN" altLang="en-US" b="1" dirty="0">
                <a:latin typeface="Times New Roman" panose="02020603050405020304" pitchFamily="18" charset="0"/>
              </a:rPr>
              <a:t>中，最高位</a:t>
            </a:r>
            <a:r>
              <a:rPr lang="en-US" altLang="zh-CN" b="1">
                <a:latin typeface="Times New Roman" panose="02020603050405020304" pitchFamily="18" charset="0"/>
              </a:rPr>
              <a:t>D</a:t>
            </a:r>
            <a:r>
              <a:rPr lang="en-US" altLang="zh-CN" b="1" baseline="-25000">
                <a:latin typeface="Times New Roman" panose="02020603050405020304" pitchFamily="18" charset="0"/>
              </a:rPr>
              <a:t>3</a:t>
            </a:r>
            <a:r>
              <a:rPr lang="zh-CN" altLang="en-US" b="1" dirty="0">
                <a:latin typeface="Times New Roman" panose="02020603050405020304" pitchFamily="18" charset="0"/>
              </a:rPr>
              <a:t>所对应的电阻</a:t>
            </a:r>
            <a:r>
              <a:rPr lang="en-US" altLang="zh-CN" b="1">
                <a:latin typeface="Times New Roman" panose="02020603050405020304" pitchFamily="18" charset="0"/>
              </a:rPr>
              <a:t>R</a:t>
            </a:r>
            <a:r>
              <a:rPr lang="en-US" altLang="zh-CN" b="1" baseline="-25000">
                <a:latin typeface="Times New Roman" panose="02020603050405020304" pitchFamily="18" charset="0"/>
              </a:rPr>
              <a:t>3</a:t>
            </a:r>
            <a:r>
              <a:rPr lang="en-US" altLang="zh-CN" b="1">
                <a:latin typeface="Times New Roman" panose="02020603050405020304" pitchFamily="18" charset="0"/>
              </a:rPr>
              <a:t>=R</a:t>
            </a:r>
            <a:r>
              <a:rPr lang="zh-CN" altLang="en-US" b="1">
                <a:latin typeface="Times New Roman" panose="02020603050405020304" pitchFamily="18" charset="0"/>
              </a:rPr>
              <a:t>。</a:t>
            </a:r>
            <a:endParaRPr lang="zh-CN" altLang="en-US" b="1">
              <a:latin typeface="Times New Roman" panose="02020603050405020304" pitchFamily="18" charset="0"/>
            </a:endParaRPr>
          </a:p>
        </p:txBody>
      </p:sp>
    </p:spTree>
  </p:cSld>
  <p:clrMapOvr>
    <a:masterClrMapping/>
  </p:clrMapOvr>
  <p:transition>
    <p:blinds dir="vert"/>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4" name="文本框 10243"/>
          <p:cNvSpPr txBox="1"/>
          <p:nvPr/>
        </p:nvSpPr>
        <p:spPr>
          <a:xfrm>
            <a:off x="228600" y="647700"/>
            <a:ext cx="8839200" cy="5067300"/>
          </a:xfrm>
          <a:prstGeom prst="rect">
            <a:avLst/>
          </a:prstGeom>
          <a:noFill/>
          <a:ln w="9525">
            <a:noFill/>
          </a:ln>
        </p:spPr>
        <p:txBody>
          <a:bodyPr>
            <a:spAutoFit/>
          </a:bodyPr>
          <a:p>
            <a:pPr>
              <a:lnSpc>
                <a:spcPct val="158000"/>
              </a:lnSpc>
              <a:spcBef>
                <a:spcPct val="50000"/>
              </a:spcBef>
            </a:pPr>
            <a:r>
              <a:rPr lang="en-US" altLang="zh-CN" dirty="0">
                <a:latin typeface="Times New Roman" panose="02020603050405020304" pitchFamily="18" charset="0"/>
              </a:rPr>
              <a:t>        </a:t>
            </a:r>
            <a:r>
              <a:rPr lang="en-US" altLang="zh-CN" b="1">
                <a:latin typeface="Times New Roman" panose="02020603050405020304" pitchFamily="18" charset="0"/>
              </a:rPr>
              <a:t>② </a:t>
            </a:r>
            <a:r>
              <a:rPr lang="zh-CN" altLang="en-US" b="1" dirty="0">
                <a:latin typeface="Times New Roman" panose="02020603050405020304" pitchFamily="18" charset="0"/>
              </a:rPr>
              <a:t>模拟开关。每一个电阻都有一个单刀双掷的模拟开关与其串联，</a:t>
            </a:r>
            <a:r>
              <a:rPr lang="en-US" altLang="zh-CN" b="1">
                <a:latin typeface="Times New Roman" panose="02020603050405020304" pitchFamily="18" charset="0"/>
              </a:rPr>
              <a:t>4</a:t>
            </a:r>
            <a:r>
              <a:rPr lang="zh-CN" altLang="en-US" b="1" dirty="0">
                <a:latin typeface="Times New Roman" panose="02020603050405020304" pitchFamily="18" charset="0"/>
              </a:rPr>
              <a:t>个模拟开关的状态分别由</a:t>
            </a:r>
            <a:r>
              <a:rPr lang="en-US" altLang="zh-CN" b="1">
                <a:latin typeface="Times New Roman" panose="02020603050405020304" pitchFamily="18" charset="0"/>
              </a:rPr>
              <a:t>4</a:t>
            </a:r>
            <a:r>
              <a:rPr lang="zh-CN" altLang="en-US" b="1" dirty="0">
                <a:latin typeface="Times New Roman" panose="02020603050405020304" pitchFamily="18" charset="0"/>
              </a:rPr>
              <a:t>位二进制数码控制。当</a:t>
            </a:r>
            <a:r>
              <a:rPr lang="en-US" altLang="zh-CN" b="1" err="1">
                <a:latin typeface="Times New Roman" panose="02020603050405020304" pitchFamily="18" charset="0"/>
              </a:rPr>
              <a:t>D</a:t>
            </a:r>
            <a:r>
              <a:rPr lang="en-US" altLang="zh-CN" b="1" i="1" baseline="-25000" err="1">
                <a:latin typeface="Times New Roman" panose="02020603050405020304" pitchFamily="18" charset="0"/>
              </a:rPr>
              <a:t>i</a:t>
            </a:r>
            <a:r>
              <a:rPr lang="en-US" altLang="zh-CN" b="1">
                <a:latin typeface="Times New Roman" panose="02020603050405020304" pitchFamily="18" charset="0"/>
              </a:rPr>
              <a:t>=0</a:t>
            </a:r>
            <a:r>
              <a:rPr lang="zh-CN" altLang="en-US" b="1" dirty="0">
                <a:latin typeface="Times New Roman" panose="02020603050405020304" pitchFamily="18" charset="0"/>
              </a:rPr>
              <a:t>时， 开关</a:t>
            </a:r>
            <a:r>
              <a:rPr lang="en-US" altLang="zh-CN" b="1" err="1">
                <a:latin typeface="Times New Roman" panose="02020603050405020304" pitchFamily="18" charset="0"/>
              </a:rPr>
              <a:t>S</a:t>
            </a:r>
            <a:r>
              <a:rPr lang="en-US" altLang="zh-CN" b="1" i="1" baseline="-25000" err="1">
                <a:latin typeface="Times New Roman" panose="02020603050405020304" pitchFamily="18" charset="0"/>
              </a:rPr>
              <a:t>i</a:t>
            </a:r>
            <a:r>
              <a:rPr lang="zh-CN" altLang="en-US" b="1" dirty="0">
                <a:latin typeface="Times New Roman" panose="02020603050405020304" pitchFamily="18" charset="0"/>
              </a:rPr>
              <a:t>打到右边，使电阻</a:t>
            </a:r>
            <a:r>
              <a:rPr lang="en-US" altLang="zh-CN" b="1" err="1">
                <a:latin typeface="Times New Roman" panose="02020603050405020304" pitchFamily="18" charset="0"/>
              </a:rPr>
              <a:t>R</a:t>
            </a:r>
            <a:r>
              <a:rPr lang="en-US" altLang="zh-CN" b="1" i="1" baseline="-25000" err="1">
                <a:latin typeface="Times New Roman" panose="02020603050405020304" pitchFamily="18" charset="0"/>
              </a:rPr>
              <a:t>i</a:t>
            </a:r>
            <a:r>
              <a:rPr lang="zh-CN" altLang="en-US" b="1" dirty="0">
                <a:latin typeface="Times New Roman" panose="02020603050405020304" pitchFamily="18" charset="0"/>
              </a:rPr>
              <a:t>接地；当</a:t>
            </a:r>
            <a:r>
              <a:rPr lang="en-US" altLang="zh-CN" b="1" err="1">
                <a:latin typeface="Times New Roman" panose="02020603050405020304" pitchFamily="18" charset="0"/>
              </a:rPr>
              <a:t>D</a:t>
            </a:r>
            <a:r>
              <a:rPr lang="en-US" altLang="zh-CN" b="1" i="1" baseline="-25000" err="1">
                <a:latin typeface="Times New Roman" panose="02020603050405020304" pitchFamily="18" charset="0"/>
              </a:rPr>
              <a:t>i</a:t>
            </a:r>
            <a:r>
              <a:rPr lang="en-US" altLang="zh-CN" b="1">
                <a:latin typeface="Times New Roman" panose="02020603050405020304" pitchFamily="18" charset="0"/>
              </a:rPr>
              <a:t>=1</a:t>
            </a:r>
            <a:r>
              <a:rPr lang="zh-CN" altLang="en-US" b="1" dirty="0">
                <a:latin typeface="Times New Roman" panose="02020603050405020304" pitchFamily="18" charset="0"/>
              </a:rPr>
              <a:t>时，开关</a:t>
            </a:r>
            <a:r>
              <a:rPr lang="en-US" altLang="zh-CN" b="1" err="1">
                <a:latin typeface="Times New Roman" panose="02020603050405020304" pitchFamily="18" charset="0"/>
              </a:rPr>
              <a:t>S</a:t>
            </a:r>
            <a:r>
              <a:rPr lang="en-US" altLang="zh-CN" b="1" i="1" baseline="-25000" err="1">
                <a:latin typeface="Times New Roman" panose="02020603050405020304" pitchFamily="18" charset="0"/>
              </a:rPr>
              <a:t>i</a:t>
            </a:r>
            <a:r>
              <a:rPr lang="zh-CN" altLang="en-US" b="1" dirty="0">
                <a:latin typeface="Times New Roman" panose="02020603050405020304" pitchFamily="18" charset="0"/>
              </a:rPr>
              <a:t>打到左边，使电阻</a:t>
            </a:r>
            <a:r>
              <a:rPr lang="en-US" altLang="zh-CN" b="1" err="1">
                <a:latin typeface="Times New Roman" panose="02020603050405020304" pitchFamily="18" charset="0"/>
              </a:rPr>
              <a:t>R</a:t>
            </a:r>
            <a:r>
              <a:rPr lang="en-US" altLang="zh-CN" b="1" i="1" baseline="-25000" err="1">
                <a:latin typeface="Times New Roman" panose="02020603050405020304" pitchFamily="18" charset="0"/>
              </a:rPr>
              <a:t>i</a:t>
            </a:r>
            <a:r>
              <a:rPr lang="zh-CN" altLang="en-US" b="1">
                <a:latin typeface="Times New Roman" panose="02020603050405020304" pitchFamily="18" charset="0"/>
              </a:rPr>
              <a:t>接</a:t>
            </a:r>
            <a:r>
              <a:rPr lang="en-US" altLang="zh-CN" b="1">
                <a:latin typeface="Times New Roman" panose="02020603050405020304" pitchFamily="18" charset="0"/>
              </a:rPr>
              <a:t>U</a:t>
            </a:r>
            <a:r>
              <a:rPr lang="en-US" altLang="zh-CN" b="1" baseline="-25000">
                <a:latin typeface="Times New Roman" panose="02020603050405020304" pitchFamily="18" charset="0"/>
              </a:rPr>
              <a:t>REF</a:t>
            </a:r>
            <a:r>
              <a:rPr lang="zh-CN" altLang="en-US" b="1">
                <a:latin typeface="Times New Roman" panose="02020603050405020304" pitchFamily="18" charset="0"/>
              </a:rPr>
              <a:t>。 </a:t>
            </a:r>
            <a:endParaRPr lang="zh-CN" altLang="en-US" b="1">
              <a:latin typeface="Times New Roman" panose="02020603050405020304" pitchFamily="18" charset="0"/>
            </a:endParaRPr>
          </a:p>
          <a:p>
            <a:pPr>
              <a:lnSpc>
                <a:spcPct val="158000"/>
              </a:lnSpc>
              <a:spcBef>
                <a:spcPct val="50000"/>
              </a:spcBef>
            </a:pPr>
            <a:r>
              <a:rPr lang="zh-CN" altLang="en-US" b="1" dirty="0">
                <a:latin typeface="Times New Roman" panose="02020603050405020304" pitchFamily="18" charset="0"/>
              </a:rPr>
              <a:t>   </a:t>
            </a:r>
            <a:r>
              <a:rPr lang="zh-CN" altLang="en-US" b="1">
                <a:latin typeface="Times New Roman" panose="02020603050405020304" pitchFamily="18" charset="0"/>
              </a:rPr>
              <a:t>     </a:t>
            </a:r>
            <a:r>
              <a:rPr lang="en-US" altLang="zh-CN" b="1">
                <a:latin typeface="Times New Roman" panose="02020603050405020304" pitchFamily="18" charset="0"/>
              </a:rPr>
              <a:t>③ </a:t>
            </a:r>
            <a:r>
              <a:rPr lang="zh-CN" altLang="en-US" b="1" dirty="0">
                <a:latin typeface="Times New Roman" panose="02020603050405020304" pitchFamily="18" charset="0"/>
              </a:rPr>
              <a:t>基准电压源</a:t>
            </a:r>
            <a:r>
              <a:rPr lang="en-US" altLang="zh-CN" b="1">
                <a:latin typeface="Times New Roman" panose="02020603050405020304" pitchFamily="18" charset="0"/>
              </a:rPr>
              <a:t>U</a:t>
            </a:r>
            <a:r>
              <a:rPr lang="en-US" altLang="zh-CN" b="1" baseline="-25000">
                <a:latin typeface="Times New Roman" panose="02020603050405020304" pitchFamily="18" charset="0"/>
              </a:rPr>
              <a:t>REF</a:t>
            </a:r>
            <a:r>
              <a:rPr lang="zh-CN" altLang="en-US" b="1">
                <a:latin typeface="Times New Roman" panose="02020603050405020304" pitchFamily="18" charset="0"/>
              </a:rPr>
              <a:t>。</a:t>
            </a:r>
            <a:r>
              <a:rPr lang="zh-CN" altLang="en-US" b="1" dirty="0">
                <a:latin typeface="Times New Roman" panose="02020603050405020304" pitchFamily="18" charset="0"/>
              </a:rPr>
              <a:t>作为</a:t>
            </a:r>
            <a:r>
              <a:rPr lang="en-US" altLang="zh-CN" b="1">
                <a:latin typeface="Times New Roman" panose="02020603050405020304" pitchFamily="18" charset="0"/>
              </a:rPr>
              <a:t>A/D</a:t>
            </a:r>
            <a:r>
              <a:rPr lang="zh-CN" altLang="en-US" b="1" dirty="0">
                <a:latin typeface="Times New Roman" panose="02020603050405020304" pitchFamily="18" charset="0"/>
              </a:rPr>
              <a:t>转换的参考值， 要求其准确度高、稳定性好。 </a:t>
            </a:r>
            <a:endParaRPr lang="zh-CN" altLang="en-US" b="1" dirty="0">
              <a:latin typeface="Times New Roman" panose="02020603050405020304" pitchFamily="18" charset="0"/>
            </a:endParaRPr>
          </a:p>
          <a:p>
            <a:pPr>
              <a:lnSpc>
                <a:spcPct val="158000"/>
              </a:lnSpc>
              <a:spcBef>
                <a:spcPct val="50000"/>
              </a:spcBef>
            </a:pPr>
            <a:r>
              <a:rPr lang="zh-CN" altLang="en-US" b="1" dirty="0">
                <a:latin typeface="Times New Roman" panose="02020603050405020304" pitchFamily="18" charset="0"/>
              </a:rPr>
              <a:t>        </a:t>
            </a:r>
            <a:r>
              <a:rPr lang="en-US" altLang="zh-CN" b="1">
                <a:latin typeface="Times New Roman" panose="02020603050405020304" pitchFamily="18" charset="0"/>
              </a:rPr>
              <a:t>④ </a:t>
            </a:r>
            <a:r>
              <a:rPr lang="zh-CN" altLang="en-US" b="1" dirty="0">
                <a:latin typeface="Times New Roman" panose="02020603050405020304" pitchFamily="18" charset="0"/>
              </a:rPr>
              <a:t>求和放大器。通常由运算放大器构成，并接成反相放大器的形式。 </a:t>
            </a:r>
            <a:endParaRPr lang="zh-CN" altLang="en-US" b="1" dirty="0">
              <a:latin typeface="Times New Roman" panose="02020603050405020304" pitchFamily="18" charset="0"/>
            </a:endParaRPr>
          </a:p>
        </p:txBody>
      </p:sp>
    </p:spTree>
  </p:cSld>
  <p:clrMapOvr>
    <a:masterClrMapping/>
  </p:clrMapOvr>
  <p:transition>
    <p:blinds dir="vert"/>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8" name="文本框 11267"/>
          <p:cNvSpPr txBox="1"/>
          <p:nvPr/>
        </p:nvSpPr>
        <p:spPr>
          <a:xfrm>
            <a:off x="152400" y="304800"/>
            <a:ext cx="8991600" cy="2940050"/>
          </a:xfrm>
          <a:prstGeom prst="rect">
            <a:avLst/>
          </a:prstGeom>
          <a:noFill/>
          <a:ln w="9525">
            <a:noFill/>
          </a:ln>
        </p:spPr>
        <p:txBody>
          <a:bodyPr>
            <a:spAutoFit/>
          </a:bodyPr>
          <a:p>
            <a:pPr>
              <a:lnSpc>
                <a:spcPct val="130000"/>
              </a:lnSpc>
              <a:spcBef>
                <a:spcPct val="50000"/>
              </a:spcBef>
            </a:pPr>
            <a:r>
              <a:rPr lang="en-US" altLang="zh-CN" dirty="0">
                <a:latin typeface="Times New Roman" panose="02020603050405020304" pitchFamily="18" charset="0"/>
              </a:rPr>
              <a:t>        </a:t>
            </a:r>
            <a:r>
              <a:rPr lang="zh-CN" altLang="en-US" b="1" dirty="0">
                <a:latin typeface="Times New Roman" panose="02020603050405020304" pitchFamily="18" charset="0"/>
              </a:rPr>
              <a:t>为了简化分析， 在本章中将运算放大器近似看成是理想的放大器，即它的开环放大倍数为无穷大， 输入电流为零（输入电阻无穷大），输出电阻为零。 由于</a:t>
            </a:r>
            <a:r>
              <a:rPr lang="en-US" altLang="zh-CN" b="1">
                <a:latin typeface="Times New Roman" panose="02020603050405020304" pitchFamily="18" charset="0"/>
              </a:rPr>
              <a:t>N</a:t>
            </a:r>
            <a:r>
              <a:rPr lang="zh-CN" altLang="en-US" b="1" dirty="0">
                <a:latin typeface="Times New Roman" panose="02020603050405020304" pitchFamily="18" charset="0"/>
              </a:rPr>
              <a:t>点为虚地， 当</a:t>
            </a:r>
            <a:r>
              <a:rPr lang="en-US" altLang="zh-CN" b="1" err="1">
                <a:latin typeface="Times New Roman" panose="02020603050405020304" pitchFamily="18" charset="0"/>
              </a:rPr>
              <a:t>D</a:t>
            </a:r>
            <a:r>
              <a:rPr lang="en-US" altLang="zh-CN" b="1" i="1" baseline="-25000" err="1">
                <a:latin typeface="Times New Roman" panose="02020603050405020304" pitchFamily="18" charset="0"/>
              </a:rPr>
              <a:t>i</a:t>
            </a:r>
            <a:r>
              <a:rPr lang="en-US" altLang="zh-CN" b="1">
                <a:latin typeface="Times New Roman" panose="02020603050405020304" pitchFamily="18" charset="0"/>
              </a:rPr>
              <a:t> = 0</a:t>
            </a:r>
            <a:r>
              <a:rPr lang="zh-CN" altLang="en-US" b="1" dirty="0">
                <a:latin typeface="Times New Roman" panose="02020603050405020304" pitchFamily="18" charset="0"/>
              </a:rPr>
              <a:t>时， 相应的电阻</a:t>
            </a:r>
            <a:r>
              <a:rPr lang="en-US" altLang="zh-CN" b="1" err="1">
                <a:latin typeface="Times New Roman" panose="02020603050405020304" pitchFamily="18" charset="0"/>
              </a:rPr>
              <a:t>R</a:t>
            </a:r>
            <a:r>
              <a:rPr lang="en-US" altLang="zh-CN" b="1" i="1" baseline="-25000" err="1">
                <a:latin typeface="Times New Roman" panose="02020603050405020304" pitchFamily="18" charset="0"/>
              </a:rPr>
              <a:t>i</a:t>
            </a:r>
            <a:r>
              <a:rPr lang="zh-CN" altLang="en-US" b="1" dirty="0">
                <a:latin typeface="Times New Roman" panose="02020603050405020304" pitchFamily="18" charset="0"/>
              </a:rPr>
              <a:t>上没有电流；当</a:t>
            </a:r>
            <a:r>
              <a:rPr lang="en-US" altLang="zh-CN" b="1" err="1">
                <a:latin typeface="Times New Roman" panose="02020603050405020304" pitchFamily="18" charset="0"/>
              </a:rPr>
              <a:t>D</a:t>
            </a:r>
            <a:r>
              <a:rPr lang="en-US" altLang="zh-CN" b="1" i="1" baseline="-25000" err="1">
                <a:latin typeface="Times New Roman" panose="02020603050405020304" pitchFamily="18" charset="0"/>
              </a:rPr>
              <a:t>i</a:t>
            </a:r>
            <a:r>
              <a:rPr lang="en-US" altLang="zh-CN" b="1">
                <a:latin typeface="Times New Roman" panose="02020603050405020304" pitchFamily="18" charset="0"/>
              </a:rPr>
              <a:t> = 1</a:t>
            </a:r>
            <a:r>
              <a:rPr lang="zh-CN" altLang="en-US" b="1" dirty="0">
                <a:latin typeface="Times New Roman" panose="02020603050405020304" pitchFamily="18" charset="0"/>
              </a:rPr>
              <a:t>时，电阻</a:t>
            </a:r>
            <a:r>
              <a:rPr lang="en-US" altLang="zh-CN" b="1" err="1">
                <a:latin typeface="Times New Roman" panose="02020603050405020304" pitchFamily="18" charset="0"/>
              </a:rPr>
              <a:t>R</a:t>
            </a:r>
            <a:r>
              <a:rPr lang="en-US" altLang="zh-CN" b="1" i="1" baseline="-25000" err="1">
                <a:latin typeface="Times New Roman" panose="02020603050405020304" pitchFamily="18" charset="0"/>
              </a:rPr>
              <a:t>i</a:t>
            </a:r>
            <a:r>
              <a:rPr lang="zh-CN" altLang="en-US" b="1" dirty="0">
                <a:latin typeface="Times New Roman" panose="02020603050405020304" pitchFamily="18" charset="0"/>
              </a:rPr>
              <a:t>上有电流流过，大小为</a:t>
            </a:r>
            <a:r>
              <a:rPr lang="en-US" altLang="zh-CN" b="1">
                <a:latin typeface="Times New Roman" panose="02020603050405020304" pitchFamily="18" charset="0"/>
              </a:rPr>
              <a:t>I</a:t>
            </a:r>
            <a:r>
              <a:rPr lang="en-US" altLang="zh-CN" b="1" i="1" baseline="-25000">
                <a:latin typeface="Times New Roman" panose="02020603050405020304" pitchFamily="18" charset="0"/>
              </a:rPr>
              <a:t>i</a:t>
            </a:r>
            <a:r>
              <a:rPr lang="en-US" altLang="zh-CN" b="1">
                <a:latin typeface="Times New Roman" panose="02020603050405020304" pitchFamily="18" charset="0"/>
              </a:rPr>
              <a:t>=U</a:t>
            </a:r>
            <a:r>
              <a:rPr lang="en-US" altLang="zh-CN" b="1" baseline="-25000">
                <a:latin typeface="Times New Roman" panose="02020603050405020304" pitchFamily="18" charset="0"/>
              </a:rPr>
              <a:t>REF</a:t>
            </a:r>
            <a:r>
              <a:rPr lang="en-US" altLang="zh-CN" b="1">
                <a:latin typeface="Times New Roman" panose="02020603050405020304" pitchFamily="18" charset="0"/>
              </a:rPr>
              <a:t>/</a:t>
            </a:r>
            <a:r>
              <a:rPr lang="en-US" altLang="zh-CN" b="1" err="1">
                <a:latin typeface="Times New Roman" panose="02020603050405020304" pitchFamily="18" charset="0"/>
              </a:rPr>
              <a:t>R</a:t>
            </a:r>
            <a:r>
              <a:rPr lang="en-US" altLang="zh-CN" b="1" i="1" baseline="-25000" err="1">
                <a:latin typeface="Times New Roman" panose="02020603050405020304" pitchFamily="18" charset="0"/>
              </a:rPr>
              <a:t>i</a:t>
            </a:r>
            <a:r>
              <a:rPr lang="zh-CN" altLang="en-US" b="1">
                <a:latin typeface="Times New Roman" panose="02020603050405020304" pitchFamily="18" charset="0"/>
              </a:rPr>
              <a:t>。</a:t>
            </a:r>
            <a:r>
              <a:rPr lang="zh-CN" altLang="en-US" b="1" dirty="0">
                <a:latin typeface="Times New Roman" panose="02020603050405020304" pitchFamily="18" charset="0"/>
              </a:rPr>
              <a:t>根据叠加原理，对于任意输入的一个二进制</a:t>
            </a:r>
            <a:r>
              <a:rPr lang="en-US" altLang="zh-CN" b="1">
                <a:latin typeface="Times New Roman" panose="02020603050405020304" pitchFamily="18" charset="0"/>
              </a:rPr>
              <a:t>(D</a:t>
            </a:r>
            <a:r>
              <a:rPr lang="en-US" altLang="zh-CN" b="1" baseline="-25000">
                <a:latin typeface="Times New Roman" panose="02020603050405020304" pitchFamily="18" charset="0"/>
              </a:rPr>
              <a:t>3</a:t>
            </a:r>
            <a:r>
              <a:rPr lang="en-US" altLang="zh-CN" b="1">
                <a:latin typeface="Times New Roman" panose="02020603050405020304" pitchFamily="18" charset="0"/>
              </a:rPr>
              <a:t>D</a:t>
            </a:r>
            <a:r>
              <a:rPr lang="en-US" altLang="zh-CN" b="1" baseline="-25000">
                <a:latin typeface="Times New Roman" panose="02020603050405020304" pitchFamily="18" charset="0"/>
              </a:rPr>
              <a:t>2</a:t>
            </a:r>
            <a:r>
              <a:rPr lang="en-US" altLang="zh-CN" b="1">
                <a:latin typeface="Times New Roman" panose="02020603050405020304" pitchFamily="18" charset="0"/>
              </a:rPr>
              <a:t>D</a:t>
            </a:r>
            <a:r>
              <a:rPr lang="en-US" altLang="zh-CN" b="1" baseline="-25000">
                <a:latin typeface="Times New Roman" panose="02020603050405020304" pitchFamily="18" charset="0"/>
              </a:rPr>
              <a:t>1</a:t>
            </a:r>
            <a:r>
              <a:rPr lang="en-US" altLang="zh-CN" b="1">
                <a:latin typeface="Times New Roman" panose="02020603050405020304" pitchFamily="18" charset="0"/>
              </a:rPr>
              <a:t>D</a:t>
            </a:r>
            <a:r>
              <a:rPr lang="en-US" altLang="zh-CN" b="1" baseline="-25000">
                <a:latin typeface="Times New Roman" panose="02020603050405020304" pitchFamily="18" charset="0"/>
              </a:rPr>
              <a:t>0</a:t>
            </a:r>
            <a:r>
              <a:rPr lang="en-US" altLang="zh-CN" b="1">
                <a:latin typeface="Times New Roman" panose="02020603050405020304" pitchFamily="18" charset="0"/>
              </a:rPr>
              <a:t>)</a:t>
            </a:r>
            <a:r>
              <a:rPr lang="en-US" altLang="zh-CN" b="1" baseline="-25000">
                <a:latin typeface="Times New Roman" panose="02020603050405020304" pitchFamily="18" charset="0"/>
              </a:rPr>
              <a:t>2</a:t>
            </a:r>
            <a:r>
              <a:rPr lang="zh-CN" altLang="en-US" b="1">
                <a:latin typeface="Times New Roman" panose="02020603050405020304" pitchFamily="18" charset="0"/>
              </a:rPr>
              <a:t>，</a:t>
            </a:r>
            <a:r>
              <a:rPr lang="zh-CN" altLang="en-US" b="1" dirty="0">
                <a:latin typeface="Times New Roman" panose="02020603050405020304" pitchFamily="18" charset="0"/>
              </a:rPr>
              <a:t>应有</a:t>
            </a:r>
            <a:endParaRPr lang="zh-CN" altLang="en-US" b="1">
              <a:latin typeface="Times New Roman" panose="02020603050405020304" pitchFamily="18" charset="0"/>
            </a:endParaRPr>
          </a:p>
        </p:txBody>
      </p:sp>
      <p:graphicFrame>
        <p:nvGraphicFramePr>
          <p:cNvPr id="11269" name="对象 11268"/>
          <p:cNvGraphicFramePr/>
          <p:nvPr/>
        </p:nvGraphicFramePr>
        <p:xfrm>
          <a:off x="1600200" y="3200400"/>
          <a:ext cx="5943600" cy="3516313"/>
        </p:xfrm>
        <a:graphic>
          <a:graphicData uri="http://schemas.openxmlformats.org/presentationml/2006/ole">
            <mc:AlternateContent xmlns:mc="http://schemas.openxmlformats.org/markup-compatibility/2006">
              <mc:Choice xmlns:v="urn:schemas-microsoft-com:vml" Requires="v">
                <p:oleObj spid="_x0000_s3079" name="" r:id="rId1" imgW="3048000" imgH="1803400" progId="Equation.3">
                  <p:embed/>
                </p:oleObj>
              </mc:Choice>
              <mc:Fallback>
                <p:oleObj name="" r:id="rId1" imgW="3048000" imgH="1803400" progId="Equation.3">
                  <p:embed/>
                  <p:pic>
                    <p:nvPicPr>
                      <p:cNvPr id="0" name="图片 3078"/>
                      <p:cNvPicPr/>
                      <p:nvPr/>
                    </p:nvPicPr>
                    <p:blipFill>
                      <a:blip r:embed="rId2"/>
                      <a:stretch>
                        <a:fillRect/>
                      </a:stretch>
                    </p:blipFill>
                    <p:spPr>
                      <a:xfrm>
                        <a:off x="1600200" y="3200400"/>
                        <a:ext cx="5943600" cy="3516313"/>
                      </a:xfrm>
                      <a:prstGeom prst="rect">
                        <a:avLst/>
                      </a:prstGeom>
                      <a:noFill/>
                      <a:ln w="38100">
                        <a:noFill/>
                        <a:miter/>
                      </a:ln>
                    </p:spPr>
                  </p:pic>
                </p:oleObj>
              </mc:Fallback>
            </mc:AlternateContent>
          </a:graphicData>
        </a:graphic>
      </p:graphicFrame>
      <p:sp>
        <p:nvSpPr>
          <p:cNvPr id="11270" name="文本框 11269"/>
          <p:cNvSpPr txBox="1"/>
          <p:nvPr/>
        </p:nvSpPr>
        <p:spPr>
          <a:xfrm>
            <a:off x="7756525" y="6019800"/>
            <a:ext cx="946150" cy="457200"/>
          </a:xfrm>
          <a:prstGeom prst="rect">
            <a:avLst/>
          </a:prstGeom>
          <a:noFill/>
          <a:ln w="9525">
            <a:noFill/>
          </a:ln>
        </p:spPr>
        <p:txBody>
          <a:bodyPr wrap="none" anchor="t" anchorCtr="0">
            <a:spAutoFit/>
          </a:bodyPr>
          <a:p>
            <a:r>
              <a:rPr lang="en-US" altLang="zh-CN">
                <a:latin typeface="Times New Roman" panose="02020603050405020304" pitchFamily="18" charset="0"/>
              </a:rPr>
              <a:t>(11-5)</a:t>
            </a:r>
            <a:endParaRPr lang="en-US" altLang="zh-CN">
              <a:latin typeface="Times New Roman" panose="02020603050405020304" pitchFamily="18" charset="0"/>
            </a:endParaRPr>
          </a:p>
        </p:txBody>
      </p:sp>
    </p:spTree>
  </p:cSld>
  <p:clrMapOvr>
    <a:masterClrMapping/>
  </p:clrMapOvr>
  <p:transition>
    <p:blinds dir="vert"/>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92" name="文本框 12291"/>
          <p:cNvSpPr txBox="1"/>
          <p:nvPr/>
        </p:nvSpPr>
        <p:spPr>
          <a:xfrm>
            <a:off x="452438" y="762000"/>
            <a:ext cx="6811962" cy="457200"/>
          </a:xfrm>
          <a:prstGeom prst="rect">
            <a:avLst/>
          </a:prstGeom>
          <a:noFill/>
          <a:ln w="9525">
            <a:noFill/>
          </a:ln>
        </p:spPr>
        <p:txBody>
          <a:bodyPr wrap="none" anchor="t" anchorCtr="0">
            <a:spAutoFit/>
          </a:bodyPr>
          <a:p>
            <a:r>
              <a:rPr lang="zh-CN" altLang="en-US" dirty="0">
                <a:latin typeface="Times New Roman" panose="02020603050405020304" pitchFamily="18" charset="0"/>
              </a:rPr>
              <a:t>求和放大器的反馈电阻</a:t>
            </a:r>
            <a:r>
              <a:rPr lang="en-US" altLang="zh-CN">
                <a:latin typeface="Times New Roman" panose="02020603050405020304" pitchFamily="18" charset="0"/>
              </a:rPr>
              <a:t>R</a:t>
            </a:r>
            <a:r>
              <a:rPr lang="en-US" altLang="zh-CN" baseline="-25000">
                <a:latin typeface="Times New Roman" panose="02020603050405020304" pitchFamily="18" charset="0"/>
              </a:rPr>
              <a:t>F</a:t>
            </a:r>
            <a:r>
              <a:rPr lang="en-US" altLang="zh-CN">
                <a:latin typeface="Times New Roman" panose="02020603050405020304" pitchFamily="18" charset="0"/>
              </a:rPr>
              <a:t> = R/2</a:t>
            </a:r>
            <a:r>
              <a:rPr lang="zh-CN" altLang="en-US">
                <a:latin typeface="Times New Roman" panose="02020603050405020304" pitchFamily="18" charset="0"/>
              </a:rPr>
              <a:t>，</a:t>
            </a:r>
            <a:r>
              <a:rPr lang="zh-CN" altLang="en-US" dirty="0">
                <a:latin typeface="Times New Roman" panose="02020603050405020304" pitchFamily="18" charset="0"/>
              </a:rPr>
              <a:t>则输出电压</a:t>
            </a:r>
            <a:r>
              <a:rPr lang="en-US" altLang="zh-CN">
                <a:latin typeface="Times New Roman" panose="02020603050405020304" pitchFamily="18" charset="0"/>
              </a:rPr>
              <a:t>U</a:t>
            </a:r>
            <a:r>
              <a:rPr lang="en-US" altLang="zh-CN" baseline="-25000">
                <a:latin typeface="Times New Roman" panose="02020603050405020304" pitchFamily="18" charset="0"/>
              </a:rPr>
              <a:t>O</a:t>
            </a:r>
            <a:r>
              <a:rPr lang="zh-CN" altLang="en-US">
                <a:latin typeface="Times New Roman" panose="02020603050405020304" pitchFamily="18" charset="0"/>
              </a:rPr>
              <a:t>为</a:t>
            </a:r>
            <a:endParaRPr lang="zh-CN" altLang="en-US">
              <a:latin typeface="Times New Roman" panose="02020603050405020304" pitchFamily="18" charset="0"/>
            </a:endParaRPr>
          </a:p>
        </p:txBody>
      </p:sp>
      <p:graphicFrame>
        <p:nvGraphicFramePr>
          <p:cNvPr id="12293" name="对象 12292"/>
          <p:cNvGraphicFramePr/>
          <p:nvPr/>
        </p:nvGraphicFramePr>
        <p:xfrm>
          <a:off x="1905000" y="1447800"/>
          <a:ext cx="4953000" cy="1046163"/>
        </p:xfrm>
        <a:graphic>
          <a:graphicData uri="http://schemas.openxmlformats.org/presentationml/2006/ole">
            <mc:AlternateContent xmlns:mc="http://schemas.openxmlformats.org/markup-compatibility/2006">
              <mc:Choice xmlns:v="urn:schemas-microsoft-com:vml" Requires="v">
                <p:oleObj spid="_x0000_s3076" name="" r:id="rId1" imgW="2044065" imgH="431800" progId="Equation.3">
                  <p:embed/>
                </p:oleObj>
              </mc:Choice>
              <mc:Fallback>
                <p:oleObj name="" r:id="rId1" imgW="2044065" imgH="431800" progId="Equation.3">
                  <p:embed/>
                  <p:pic>
                    <p:nvPicPr>
                      <p:cNvPr id="0" name="图片 3075"/>
                      <p:cNvPicPr/>
                      <p:nvPr/>
                    </p:nvPicPr>
                    <p:blipFill>
                      <a:blip r:embed="rId2"/>
                      <a:stretch>
                        <a:fillRect/>
                      </a:stretch>
                    </p:blipFill>
                    <p:spPr>
                      <a:xfrm>
                        <a:off x="1905000" y="1447800"/>
                        <a:ext cx="4953000" cy="1046163"/>
                      </a:xfrm>
                      <a:prstGeom prst="rect">
                        <a:avLst/>
                      </a:prstGeom>
                      <a:noFill/>
                      <a:ln w="38100">
                        <a:noFill/>
                        <a:miter/>
                      </a:ln>
                    </p:spPr>
                  </p:pic>
                </p:oleObj>
              </mc:Fallback>
            </mc:AlternateContent>
          </a:graphicData>
        </a:graphic>
      </p:graphicFrame>
      <p:sp>
        <p:nvSpPr>
          <p:cNvPr id="12294" name="文本框 12293"/>
          <p:cNvSpPr txBox="1"/>
          <p:nvPr/>
        </p:nvSpPr>
        <p:spPr>
          <a:xfrm>
            <a:off x="441325" y="2708275"/>
            <a:ext cx="5248275" cy="457200"/>
          </a:xfrm>
          <a:prstGeom prst="rect">
            <a:avLst/>
          </a:prstGeom>
          <a:noFill/>
          <a:ln w="9525">
            <a:noFill/>
          </a:ln>
        </p:spPr>
        <p:txBody>
          <a:bodyPr wrap="none" anchor="t" anchorCtr="0">
            <a:spAutoFit/>
          </a:bodyPr>
          <a:p>
            <a:r>
              <a:rPr lang="zh-CN" altLang="en-US" dirty="0">
                <a:latin typeface="Times New Roman" panose="02020603050405020304" pitchFamily="18" charset="0"/>
              </a:rPr>
              <a:t>推广到</a:t>
            </a:r>
            <a:r>
              <a:rPr lang="en-US" altLang="zh-CN">
                <a:latin typeface="Times New Roman" panose="02020603050405020304" pitchFamily="18" charset="0"/>
              </a:rPr>
              <a:t>n</a:t>
            </a:r>
            <a:r>
              <a:rPr lang="zh-CN" altLang="en-US" dirty="0">
                <a:latin typeface="Times New Roman" panose="02020603050405020304" pitchFamily="18" charset="0"/>
              </a:rPr>
              <a:t>位权电阻网络</a:t>
            </a:r>
            <a:r>
              <a:rPr lang="en-US" altLang="zh-CN">
                <a:latin typeface="Times New Roman" panose="02020603050405020304" pitchFamily="18" charset="0"/>
              </a:rPr>
              <a:t>DAC</a:t>
            </a:r>
            <a:r>
              <a:rPr lang="zh-CN" altLang="en-US" dirty="0">
                <a:latin typeface="Times New Roman" panose="02020603050405020304" pitchFamily="18" charset="0"/>
              </a:rPr>
              <a:t>电路，可得</a:t>
            </a:r>
            <a:endParaRPr lang="zh-CN" altLang="en-US">
              <a:latin typeface="Times New Roman" panose="02020603050405020304" pitchFamily="18" charset="0"/>
            </a:endParaRPr>
          </a:p>
        </p:txBody>
      </p:sp>
      <p:graphicFrame>
        <p:nvGraphicFramePr>
          <p:cNvPr id="12295" name="对象 12294"/>
          <p:cNvGraphicFramePr/>
          <p:nvPr/>
        </p:nvGraphicFramePr>
        <p:xfrm>
          <a:off x="2879725" y="3429000"/>
          <a:ext cx="3384550" cy="1046163"/>
        </p:xfrm>
        <a:graphic>
          <a:graphicData uri="http://schemas.openxmlformats.org/presentationml/2006/ole">
            <mc:AlternateContent xmlns:mc="http://schemas.openxmlformats.org/markup-compatibility/2006">
              <mc:Choice xmlns:v="urn:schemas-microsoft-com:vml" Requires="v">
                <p:oleObj spid="_x0000_s3077" name="" r:id="rId3" imgW="1396365" imgH="431800" progId="Equation.3">
                  <p:embed/>
                </p:oleObj>
              </mc:Choice>
              <mc:Fallback>
                <p:oleObj name="" r:id="rId3" imgW="1396365" imgH="431800" progId="Equation.3">
                  <p:embed/>
                  <p:pic>
                    <p:nvPicPr>
                      <p:cNvPr id="0" name="图片 3076"/>
                      <p:cNvPicPr/>
                      <p:nvPr/>
                    </p:nvPicPr>
                    <p:blipFill>
                      <a:blip r:embed="rId4"/>
                      <a:stretch>
                        <a:fillRect/>
                      </a:stretch>
                    </p:blipFill>
                    <p:spPr>
                      <a:xfrm>
                        <a:off x="2879725" y="3429000"/>
                        <a:ext cx="3384550" cy="1046163"/>
                      </a:xfrm>
                      <a:prstGeom prst="rect">
                        <a:avLst/>
                      </a:prstGeom>
                      <a:noFill/>
                      <a:ln w="38100">
                        <a:noFill/>
                        <a:miter/>
                      </a:ln>
                    </p:spPr>
                  </p:pic>
                </p:oleObj>
              </mc:Fallback>
            </mc:AlternateContent>
          </a:graphicData>
        </a:graphic>
      </p:graphicFrame>
      <p:sp>
        <p:nvSpPr>
          <p:cNvPr id="12296" name="文本框 12295"/>
          <p:cNvSpPr txBox="1"/>
          <p:nvPr/>
        </p:nvSpPr>
        <p:spPr>
          <a:xfrm>
            <a:off x="7696200" y="1752600"/>
            <a:ext cx="946150" cy="457200"/>
          </a:xfrm>
          <a:prstGeom prst="rect">
            <a:avLst/>
          </a:prstGeom>
          <a:noFill/>
          <a:ln w="9525">
            <a:noFill/>
          </a:ln>
        </p:spPr>
        <p:txBody>
          <a:bodyPr wrap="none" anchor="t" anchorCtr="0">
            <a:spAutoFit/>
          </a:bodyPr>
          <a:p>
            <a:r>
              <a:rPr lang="en-US" altLang="zh-CN">
                <a:latin typeface="Times New Roman" panose="02020603050405020304" pitchFamily="18" charset="0"/>
              </a:rPr>
              <a:t>(11-6)</a:t>
            </a:r>
            <a:endParaRPr lang="en-US" altLang="zh-CN">
              <a:latin typeface="Times New Roman" panose="02020603050405020304" pitchFamily="18" charset="0"/>
            </a:endParaRPr>
          </a:p>
        </p:txBody>
      </p:sp>
      <p:sp>
        <p:nvSpPr>
          <p:cNvPr id="12297" name="文本框 12296"/>
          <p:cNvSpPr txBox="1"/>
          <p:nvPr/>
        </p:nvSpPr>
        <p:spPr>
          <a:xfrm>
            <a:off x="7848600" y="3733800"/>
            <a:ext cx="946150" cy="457200"/>
          </a:xfrm>
          <a:prstGeom prst="rect">
            <a:avLst/>
          </a:prstGeom>
          <a:noFill/>
          <a:ln w="9525">
            <a:noFill/>
          </a:ln>
        </p:spPr>
        <p:txBody>
          <a:bodyPr wrap="none" anchor="t" anchorCtr="0">
            <a:spAutoFit/>
          </a:bodyPr>
          <a:p>
            <a:r>
              <a:rPr lang="en-US" altLang="zh-CN">
                <a:latin typeface="Times New Roman" panose="02020603050405020304" pitchFamily="18" charset="0"/>
              </a:rPr>
              <a:t>(11-7)</a:t>
            </a:r>
            <a:endParaRPr lang="en-US" altLang="zh-CN">
              <a:latin typeface="Times New Roman" panose="02020603050405020304" pitchFamily="18" charset="0"/>
            </a:endParaRPr>
          </a:p>
        </p:txBody>
      </p:sp>
      <p:sp>
        <p:nvSpPr>
          <p:cNvPr id="12298" name="文本框 12297"/>
          <p:cNvSpPr txBox="1"/>
          <p:nvPr/>
        </p:nvSpPr>
        <p:spPr>
          <a:xfrm>
            <a:off x="152400" y="4513263"/>
            <a:ext cx="8763000" cy="1735137"/>
          </a:xfrm>
          <a:prstGeom prst="rect">
            <a:avLst/>
          </a:prstGeom>
          <a:noFill/>
          <a:ln w="9525">
            <a:noFill/>
          </a:ln>
        </p:spPr>
        <p:txBody>
          <a:bodyPr>
            <a:spAutoFit/>
          </a:bodyPr>
          <a:p>
            <a:pPr>
              <a:lnSpc>
                <a:spcPct val="150000"/>
              </a:lnSpc>
              <a:spcBef>
                <a:spcPct val="50000"/>
              </a:spcBef>
            </a:pPr>
            <a:r>
              <a:rPr lang="en-US" altLang="zh-CN" dirty="0">
                <a:latin typeface="Times New Roman" panose="02020603050405020304" pitchFamily="18" charset="0"/>
              </a:rPr>
              <a:t>       </a:t>
            </a:r>
            <a:r>
              <a:rPr lang="zh-CN" altLang="en-US" dirty="0">
                <a:latin typeface="Times New Roman" panose="02020603050405020304" pitchFamily="18" charset="0"/>
              </a:rPr>
              <a:t>由式</a:t>
            </a:r>
            <a:r>
              <a:rPr lang="en-US" altLang="zh-CN">
                <a:latin typeface="Times New Roman" panose="02020603050405020304" pitchFamily="18" charset="0"/>
              </a:rPr>
              <a:t>11- 6</a:t>
            </a:r>
            <a:r>
              <a:rPr lang="zh-CN" altLang="en-US" dirty="0">
                <a:latin typeface="Times New Roman" panose="02020603050405020304" pitchFamily="18" charset="0"/>
              </a:rPr>
              <a:t>和式</a:t>
            </a:r>
            <a:r>
              <a:rPr lang="en-US" altLang="zh-CN">
                <a:latin typeface="Times New Roman" panose="02020603050405020304" pitchFamily="18" charset="0"/>
              </a:rPr>
              <a:t>11- 7</a:t>
            </a:r>
            <a:r>
              <a:rPr lang="zh-CN" altLang="en-US" dirty="0">
                <a:latin typeface="Times New Roman" panose="02020603050405020304" pitchFamily="18" charset="0"/>
              </a:rPr>
              <a:t>可以看出，权电阻网络</a:t>
            </a:r>
            <a:r>
              <a:rPr lang="en-US" altLang="zh-CN">
                <a:latin typeface="Times New Roman" panose="02020603050405020304" pitchFamily="18" charset="0"/>
              </a:rPr>
              <a:t>DAC</a:t>
            </a:r>
            <a:r>
              <a:rPr lang="zh-CN" altLang="en-US" dirty="0">
                <a:latin typeface="Times New Roman" panose="02020603050405020304" pitchFamily="18" charset="0"/>
              </a:rPr>
              <a:t>电路的输出电压和输入数字量之间的关系与式</a:t>
            </a:r>
            <a:r>
              <a:rPr lang="en-US" altLang="zh-CN">
                <a:latin typeface="Times New Roman" panose="02020603050405020304" pitchFamily="18" charset="0"/>
              </a:rPr>
              <a:t>11- 3</a:t>
            </a:r>
            <a:r>
              <a:rPr lang="zh-CN" altLang="en-US" dirty="0">
                <a:latin typeface="Times New Roman" panose="02020603050405020304" pitchFamily="18" charset="0"/>
              </a:rPr>
              <a:t>的描述完全一致。这里的比例系数</a:t>
            </a:r>
            <a:r>
              <a:rPr lang="en-US" altLang="zh-CN">
                <a:latin typeface="Times New Roman" panose="02020603050405020304" pitchFamily="18" charset="0"/>
              </a:rPr>
              <a:t>K=-1/2</a:t>
            </a:r>
            <a:r>
              <a:rPr lang="en-US" altLang="zh-CN" baseline="30000">
                <a:latin typeface="Times New Roman" panose="02020603050405020304" pitchFamily="18" charset="0"/>
              </a:rPr>
              <a:t>n</a:t>
            </a:r>
            <a:r>
              <a:rPr lang="zh-CN" altLang="en-US">
                <a:latin typeface="Times New Roman" panose="02020603050405020304" pitchFamily="18" charset="0"/>
              </a:rPr>
              <a:t>， </a:t>
            </a:r>
            <a:r>
              <a:rPr lang="zh-CN" altLang="en-US" dirty="0">
                <a:latin typeface="Times New Roman" panose="02020603050405020304" pitchFamily="18" charset="0"/>
              </a:rPr>
              <a:t>即输出电压与基准电压的极性相反。</a:t>
            </a:r>
            <a:endParaRPr lang="zh-CN" altLang="en-US">
              <a:latin typeface="Times New Roman" panose="02020603050405020304" pitchFamily="18" charset="0"/>
            </a:endParaRPr>
          </a:p>
        </p:txBody>
      </p:sp>
    </p:spTree>
  </p:cSld>
  <p:clrMapOvr>
    <a:masterClrMapping/>
  </p:clrMapOvr>
  <p:transition>
    <p:blinds dir="vert"/>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316" name="文本框 13315"/>
          <p:cNvSpPr txBox="1"/>
          <p:nvPr/>
        </p:nvSpPr>
        <p:spPr>
          <a:xfrm>
            <a:off x="304800" y="841375"/>
            <a:ext cx="8610600" cy="4035425"/>
          </a:xfrm>
          <a:prstGeom prst="rect">
            <a:avLst/>
          </a:prstGeom>
          <a:noFill/>
          <a:ln w="9525">
            <a:noFill/>
          </a:ln>
        </p:spPr>
        <p:txBody>
          <a:bodyPr>
            <a:spAutoFit/>
          </a:bodyPr>
          <a:p>
            <a:pPr>
              <a:lnSpc>
                <a:spcPct val="180000"/>
              </a:lnSpc>
              <a:spcBef>
                <a:spcPct val="50000"/>
              </a:spcBef>
            </a:pPr>
            <a:r>
              <a:rPr lang="en-US" altLang="zh-CN" dirty="0">
                <a:latin typeface="Times New Roman" panose="02020603050405020304" pitchFamily="18" charset="0"/>
              </a:rPr>
              <a:t>        </a:t>
            </a:r>
            <a:r>
              <a:rPr lang="zh-CN" altLang="en-US" b="1" dirty="0">
                <a:latin typeface="Times New Roman" panose="02020603050405020304" pitchFamily="18" charset="0"/>
              </a:rPr>
              <a:t>权电阻网络</a:t>
            </a:r>
            <a:r>
              <a:rPr lang="en-US" altLang="zh-CN" b="1">
                <a:latin typeface="Times New Roman" panose="02020603050405020304" pitchFamily="18" charset="0"/>
              </a:rPr>
              <a:t>DAC</a:t>
            </a:r>
            <a:r>
              <a:rPr lang="zh-CN" altLang="en-US" b="1" dirty="0">
                <a:latin typeface="Times New Roman" panose="02020603050405020304" pitchFamily="18" charset="0"/>
              </a:rPr>
              <a:t>电路的优点是结构简单，所用的电阻个数比较少。它的缺点是电阻的取值范围太大，这个问题在输入数字量的位数较多时尤其突出。例如当输入数字量的位数为</a:t>
            </a:r>
            <a:r>
              <a:rPr lang="en-US" altLang="zh-CN" b="1">
                <a:latin typeface="Times New Roman" panose="02020603050405020304" pitchFamily="18" charset="0"/>
              </a:rPr>
              <a:t>12</a:t>
            </a:r>
            <a:r>
              <a:rPr lang="zh-CN" altLang="en-US" b="1" dirty="0">
                <a:latin typeface="Times New Roman" panose="02020603050405020304" pitchFamily="18" charset="0"/>
              </a:rPr>
              <a:t>位时， 最大电阻与最小电阻之间的比例达到</a:t>
            </a:r>
            <a:r>
              <a:rPr lang="en-US" altLang="zh-CN" b="1">
                <a:latin typeface="Times New Roman" panose="02020603050405020304" pitchFamily="18" charset="0"/>
              </a:rPr>
              <a:t>2048∶1</a:t>
            </a:r>
            <a:r>
              <a:rPr lang="zh-CN" altLang="en-US" b="1" dirty="0">
                <a:latin typeface="Times New Roman" panose="02020603050405020304" pitchFamily="18" charset="0"/>
              </a:rPr>
              <a:t>， 要在如此大的范围内保证电阻的精度，对于集成</a:t>
            </a:r>
            <a:r>
              <a:rPr lang="en-US" altLang="zh-CN" b="1">
                <a:latin typeface="Times New Roman" panose="02020603050405020304" pitchFamily="18" charset="0"/>
              </a:rPr>
              <a:t>DAC</a:t>
            </a:r>
            <a:r>
              <a:rPr lang="zh-CN" altLang="en-US" b="1" dirty="0">
                <a:latin typeface="Times New Roman" panose="02020603050405020304" pitchFamily="18" charset="0"/>
              </a:rPr>
              <a:t>的制造是十分困难的。 </a:t>
            </a:r>
            <a:endParaRPr lang="zh-CN" altLang="en-US" b="1">
              <a:latin typeface="Times New Roman" panose="02020603050405020304" pitchFamily="18" charset="0"/>
            </a:endParaRPr>
          </a:p>
        </p:txBody>
      </p:sp>
    </p:spTree>
  </p:cSld>
  <p:clrMapOvr>
    <a:masterClrMapping/>
  </p:clrMapOvr>
  <p:transition>
    <p:blinds dir="vert"/>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340" name="文本框 14339"/>
          <p:cNvSpPr txBox="1"/>
          <p:nvPr/>
        </p:nvSpPr>
        <p:spPr>
          <a:xfrm>
            <a:off x="228600" y="647700"/>
            <a:ext cx="8686800" cy="5067300"/>
          </a:xfrm>
          <a:prstGeom prst="rect">
            <a:avLst/>
          </a:prstGeom>
          <a:noFill/>
          <a:ln w="9525">
            <a:noFill/>
          </a:ln>
        </p:spPr>
        <p:txBody>
          <a:bodyPr>
            <a:spAutoFit/>
          </a:bodyPr>
          <a:p>
            <a:pPr>
              <a:lnSpc>
                <a:spcPct val="158000"/>
              </a:lnSpc>
              <a:spcBef>
                <a:spcPct val="50000"/>
              </a:spcBef>
            </a:pPr>
            <a:r>
              <a:rPr lang="en-US" altLang="zh-CN" dirty="0">
                <a:latin typeface="Times New Roman" panose="02020603050405020304" pitchFamily="18" charset="0"/>
              </a:rPr>
              <a:t>        </a:t>
            </a:r>
            <a:r>
              <a:rPr lang="en-US" altLang="zh-CN" b="1">
                <a:latin typeface="Times New Roman" panose="02020603050405020304" pitchFamily="18" charset="0"/>
              </a:rPr>
              <a:t>2. T</a:t>
            </a:r>
            <a:r>
              <a:rPr lang="zh-CN" altLang="en-US" b="1" dirty="0">
                <a:latin typeface="Times New Roman" panose="02020603050405020304" pitchFamily="18" charset="0"/>
              </a:rPr>
              <a:t>型电阻网络</a:t>
            </a:r>
            <a:r>
              <a:rPr lang="en-US" altLang="zh-CN" b="1">
                <a:latin typeface="Times New Roman" panose="02020603050405020304" pitchFamily="18" charset="0"/>
              </a:rPr>
              <a:t>DAC</a:t>
            </a:r>
            <a:r>
              <a:rPr lang="zh-CN" altLang="en-US" b="1" dirty="0">
                <a:latin typeface="Times New Roman" panose="02020603050405020304" pitchFamily="18" charset="0"/>
              </a:rPr>
              <a:t>电路</a:t>
            </a:r>
            <a:endParaRPr lang="zh-CN" altLang="en-US">
              <a:latin typeface="Times New Roman" panose="02020603050405020304" pitchFamily="18" charset="0"/>
            </a:endParaRPr>
          </a:p>
          <a:p>
            <a:pPr>
              <a:lnSpc>
                <a:spcPct val="158000"/>
              </a:lnSpc>
              <a:spcBef>
                <a:spcPct val="50000"/>
              </a:spcBef>
            </a:pPr>
            <a:r>
              <a:rPr lang="zh-CN" altLang="en-US">
                <a:latin typeface="Times New Roman" panose="02020603050405020304" pitchFamily="18" charset="0"/>
              </a:rPr>
              <a:t>        </a:t>
            </a:r>
            <a:r>
              <a:rPr lang="zh-CN" altLang="en-US" b="1" dirty="0">
                <a:latin typeface="Times New Roman" panose="02020603050405020304" pitchFamily="18" charset="0"/>
              </a:rPr>
              <a:t>图</a:t>
            </a:r>
            <a:r>
              <a:rPr lang="en-US" altLang="zh-CN" b="1">
                <a:latin typeface="Times New Roman" panose="02020603050405020304" pitchFamily="18" charset="0"/>
              </a:rPr>
              <a:t>11- 4</a:t>
            </a:r>
            <a:r>
              <a:rPr lang="zh-CN" altLang="en-US" b="1" dirty="0">
                <a:latin typeface="Times New Roman" panose="02020603050405020304" pitchFamily="18" charset="0"/>
              </a:rPr>
              <a:t>所示为</a:t>
            </a:r>
            <a:r>
              <a:rPr lang="en-US" altLang="zh-CN" b="1">
                <a:latin typeface="Times New Roman" panose="02020603050405020304" pitchFamily="18" charset="0"/>
              </a:rPr>
              <a:t>4</a:t>
            </a:r>
            <a:r>
              <a:rPr lang="zh-CN" altLang="en-US" b="1" dirty="0">
                <a:latin typeface="Times New Roman" panose="02020603050405020304" pitchFamily="18" charset="0"/>
              </a:rPr>
              <a:t>位</a:t>
            </a:r>
            <a:r>
              <a:rPr lang="en-US" altLang="zh-CN" b="1">
                <a:latin typeface="Times New Roman" panose="02020603050405020304" pitchFamily="18" charset="0"/>
              </a:rPr>
              <a:t>T</a:t>
            </a:r>
            <a:r>
              <a:rPr lang="zh-CN" altLang="en-US" b="1" dirty="0">
                <a:latin typeface="Times New Roman" panose="02020603050405020304" pitchFamily="18" charset="0"/>
              </a:rPr>
              <a:t>型电阻网络</a:t>
            </a:r>
            <a:r>
              <a:rPr lang="en-US" altLang="zh-CN" b="1">
                <a:latin typeface="Times New Roman" panose="02020603050405020304" pitchFamily="18" charset="0"/>
              </a:rPr>
              <a:t>DAC</a:t>
            </a:r>
            <a:r>
              <a:rPr lang="zh-CN" altLang="en-US" b="1" dirty="0">
                <a:latin typeface="Times New Roman" panose="02020603050405020304" pitchFamily="18" charset="0"/>
              </a:rPr>
              <a:t>电路的原理图， 它克服了权电阻网络</a:t>
            </a:r>
            <a:r>
              <a:rPr lang="en-US" altLang="zh-CN" b="1">
                <a:latin typeface="Times New Roman" panose="02020603050405020304" pitchFamily="18" charset="0"/>
              </a:rPr>
              <a:t>DAC</a:t>
            </a:r>
            <a:r>
              <a:rPr lang="zh-CN" altLang="en-US" b="1" dirty="0">
                <a:latin typeface="Times New Roman" panose="02020603050405020304" pitchFamily="18" charset="0"/>
              </a:rPr>
              <a:t>电路的缺点，无论</a:t>
            </a:r>
            <a:r>
              <a:rPr lang="en-US" altLang="zh-CN" b="1">
                <a:latin typeface="Times New Roman" panose="02020603050405020304" pitchFamily="18" charset="0"/>
              </a:rPr>
              <a:t>DAC</a:t>
            </a:r>
            <a:r>
              <a:rPr lang="zh-CN" altLang="en-US" b="1" dirty="0">
                <a:latin typeface="Times New Roman" panose="02020603050405020304" pitchFamily="18" charset="0"/>
              </a:rPr>
              <a:t>有多少位， 电阻网络中只有</a:t>
            </a:r>
            <a:r>
              <a:rPr lang="en-US" altLang="zh-CN" b="1">
                <a:latin typeface="Times New Roman" panose="02020603050405020304" pitchFamily="18" charset="0"/>
              </a:rPr>
              <a:t>R</a:t>
            </a:r>
            <a:r>
              <a:rPr lang="zh-CN" altLang="en-US" b="1" dirty="0">
                <a:latin typeface="Times New Roman" panose="02020603050405020304" pitchFamily="18" charset="0"/>
              </a:rPr>
              <a:t>和</a:t>
            </a:r>
            <a:r>
              <a:rPr lang="en-US" altLang="zh-CN" b="1">
                <a:latin typeface="Times New Roman" panose="02020603050405020304" pitchFamily="18" charset="0"/>
              </a:rPr>
              <a:t>2R</a:t>
            </a:r>
            <a:r>
              <a:rPr lang="zh-CN" altLang="en-US" b="1" dirty="0">
                <a:latin typeface="Times New Roman" panose="02020603050405020304" pitchFamily="18" charset="0"/>
              </a:rPr>
              <a:t>两种电阻，但电阻的个数却比相同位数的权电阻网络</a:t>
            </a:r>
            <a:r>
              <a:rPr lang="en-US" altLang="zh-CN" b="1">
                <a:latin typeface="Times New Roman" panose="02020603050405020304" pitchFamily="18" charset="0"/>
              </a:rPr>
              <a:t>DAC</a:t>
            </a:r>
            <a:r>
              <a:rPr lang="zh-CN" altLang="en-US" b="1" dirty="0">
                <a:latin typeface="Times New Roman" panose="02020603050405020304" pitchFamily="18" charset="0"/>
              </a:rPr>
              <a:t>增加了一倍。</a:t>
            </a:r>
            <a:endParaRPr lang="zh-CN" altLang="en-US" b="1" dirty="0">
              <a:latin typeface="Times New Roman" panose="02020603050405020304" pitchFamily="18" charset="0"/>
            </a:endParaRPr>
          </a:p>
          <a:p>
            <a:pPr>
              <a:lnSpc>
                <a:spcPct val="158000"/>
              </a:lnSpc>
              <a:spcBef>
                <a:spcPct val="50000"/>
              </a:spcBef>
            </a:pPr>
            <a:r>
              <a:rPr lang="zh-CN" altLang="en-US" b="1">
                <a:latin typeface="Times New Roman" panose="02020603050405020304" pitchFamily="18" charset="0"/>
              </a:rPr>
              <a:t>        </a:t>
            </a:r>
            <a:r>
              <a:rPr lang="en-US" altLang="zh-CN" b="1">
                <a:latin typeface="Times New Roman" panose="02020603050405020304" pitchFamily="18" charset="0"/>
              </a:rPr>
              <a:t>T</a:t>
            </a:r>
            <a:r>
              <a:rPr lang="zh-CN" altLang="en-US" b="1" dirty="0">
                <a:latin typeface="Times New Roman" panose="02020603050405020304" pitchFamily="18" charset="0"/>
              </a:rPr>
              <a:t>型电阻网络</a:t>
            </a:r>
            <a:r>
              <a:rPr lang="en-US" altLang="zh-CN" b="1">
                <a:latin typeface="Times New Roman" panose="02020603050405020304" pitchFamily="18" charset="0"/>
              </a:rPr>
              <a:t>DAC</a:t>
            </a:r>
            <a:r>
              <a:rPr lang="zh-CN" altLang="en-US" b="1" dirty="0">
                <a:latin typeface="Times New Roman" panose="02020603050405020304" pitchFamily="18" charset="0"/>
              </a:rPr>
              <a:t>电路也由四部分构成， 它们是： </a:t>
            </a:r>
            <a:r>
              <a:rPr lang="en-US" altLang="zh-CN" b="1">
                <a:latin typeface="Times New Roman" panose="02020603050405020304" pitchFamily="18" charset="0"/>
              </a:rPr>
              <a:t>R- 2R</a:t>
            </a:r>
            <a:r>
              <a:rPr lang="zh-CN" altLang="en-US" b="1" dirty="0">
                <a:latin typeface="Times New Roman" panose="02020603050405020304" pitchFamily="18" charset="0"/>
              </a:rPr>
              <a:t>电阻网络、单刀双掷模拟开关（</a:t>
            </a:r>
            <a:r>
              <a:rPr lang="en-US" altLang="zh-CN" b="1">
                <a:latin typeface="Times New Roman" panose="02020603050405020304" pitchFamily="18" charset="0"/>
              </a:rPr>
              <a:t>S</a:t>
            </a:r>
            <a:r>
              <a:rPr lang="en-US" altLang="zh-CN" b="1" baseline="-25000">
                <a:latin typeface="Times New Roman" panose="02020603050405020304" pitchFamily="18" charset="0"/>
              </a:rPr>
              <a:t>0</a:t>
            </a:r>
            <a:r>
              <a:rPr lang="zh-CN" altLang="en-US" b="1">
                <a:latin typeface="Times New Roman" panose="02020603050405020304" pitchFamily="18" charset="0"/>
              </a:rPr>
              <a:t>、</a:t>
            </a:r>
            <a:r>
              <a:rPr lang="en-US" altLang="zh-CN" b="1">
                <a:latin typeface="Times New Roman" panose="02020603050405020304" pitchFamily="18" charset="0"/>
              </a:rPr>
              <a:t>S</a:t>
            </a:r>
            <a:r>
              <a:rPr lang="en-US" altLang="zh-CN" b="1" baseline="-25000">
                <a:latin typeface="Times New Roman" panose="02020603050405020304" pitchFamily="18" charset="0"/>
              </a:rPr>
              <a:t>1</a:t>
            </a:r>
            <a:r>
              <a:rPr lang="zh-CN" altLang="en-US" b="1">
                <a:latin typeface="Times New Roman" panose="02020603050405020304" pitchFamily="18" charset="0"/>
              </a:rPr>
              <a:t>、</a:t>
            </a:r>
            <a:r>
              <a:rPr lang="en-US" altLang="zh-CN" b="1">
                <a:latin typeface="Times New Roman" panose="02020603050405020304" pitchFamily="18" charset="0"/>
              </a:rPr>
              <a:t>S</a:t>
            </a:r>
            <a:r>
              <a:rPr lang="en-US" altLang="zh-CN" b="1" baseline="-25000">
                <a:latin typeface="Times New Roman" panose="02020603050405020304" pitchFamily="18" charset="0"/>
              </a:rPr>
              <a:t>2</a:t>
            </a:r>
            <a:r>
              <a:rPr lang="zh-CN" altLang="en-US" b="1">
                <a:latin typeface="Times New Roman" panose="02020603050405020304" pitchFamily="18" charset="0"/>
              </a:rPr>
              <a:t>和</a:t>
            </a:r>
            <a:r>
              <a:rPr lang="en-US" altLang="zh-CN" b="1">
                <a:latin typeface="Times New Roman" panose="02020603050405020304" pitchFamily="18" charset="0"/>
              </a:rPr>
              <a:t>S</a:t>
            </a:r>
            <a:r>
              <a:rPr lang="en-US" altLang="zh-CN" b="1" baseline="-25000">
                <a:latin typeface="Times New Roman" panose="02020603050405020304" pitchFamily="18" charset="0"/>
              </a:rPr>
              <a:t>3</a:t>
            </a:r>
            <a:r>
              <a:rPr lang="zh-CN" altLang="en-US" b="1">
                <a:latin typeface="Times New Roman" panose="02020603050405020304" pitchFamily="18" charset="0"/>
              </a:rPr>
              <a:t>）、</a:t>
            </a:r>
            <a:r>
              <a:rPr lang="zh-CN" altLang="en-US" b="1" dirty="0">
                <a:latin typeface="Times New Roman" panose="02020603050405020304" pitchFamily="18" charset="0"/>
              </a:rPr>
              <a:t>基准电压Ｕ</a:t>
            </a:r>
            <a:r>
              <a:rPr lang="en-US" altLang="zh-CN" b="1" baseline="-25000">
                <a:latin typeface="Times New Roman" panose="02020603050405020304" pitchFamily="18" charset="0"/>
              </a:rPr>
              <a:t>REF</a:t>
            </a:r>
            <a:r>
              <a:rPr lang="zh-CN" altLang="en-US" b="1" dirty="0">
                <a:latin typeface="Times New Roman" panose="02020603050405020304" pitchFamily="18" charset="0"/>
              </a:rPr>
              <a:t>和求和放大器。  </a:t>
            </a:r>
            <a:endParaRPr lang="zh-CN" altLang="en-US" b="1">
              <a:latin typeface="Times New Roman" panose="02020603050405020304" pitchFamily="18" charset="0"/>
            </a:endParaRPr>
          </a:p>
        </p:txBody>
      </p:sp>
    </p:spTree>
  </p:cSld>
  <p:clrMapOvr>
    <a:masterClrMapping/>
  </p:clrMapOvr>
  <p:transition>
    <p:blinds dir="vert"/>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4" name="文本框 15363"/>
          <p:cNvSpPr txBox="1"/>
          <p:nvPr/>
        </p:nvSpPr>
        <p:spPr>
          <a:xfrm>
            <a:off x="2108200" y="5562600"/>
            <a:ext cx="5078413" cy="457200"/>
          </a:xfrm>
          <a:prstGeom prst="rect">
            <a:avLst/>
          </a:prstGeom>
          <a:noFill/>
          <a:ln w="9525">
            <a:noFill/>
          </a:ln>
        </p:spPr>
        <p:txBody>
          <a:bodyPr wrap="none" anchor="t" anchorCtr="0">
            <a:spAutoFit/>
          </a:bodyPr>
          <a:p>
            <a:r>
              <a:rPr lang="zh-CN" altLang="en-US" dirty="0">
                <a:latin typeface="Times New Roman" panose="02020603050405020304" pitchFamily="18" charset="0"/>
              </a:rPr>
              <a:t>图 </a:t>
            </a:r>
            <a:r>
              <a:rPr lang="en-US" altLang="zh-CN">
                <a:latin typeface="Times New Roman" panose="02020603050405020304" pitchFamily="18" charset="0"/>
              </a:rPr>
              <a:t>11-4 T</a:t>
            </a:r>
            <a:r>
              <a:rPr lang="zh-CN" altLang="en-US" dirty="0">
                <a:latin typeface="Times New Roman" panose="02020603050405020304" pitchFamily="18" charset="0"/>
              </a:rPr>
              <a:t>型电阻网络</a:t>
            </a:r>
            <a:r>
              <a:rPr lang="en-US" altLang="zh-CN">
                <a:latin typeface="Times New Roman" panose="02020603050405020304" pitchFamily="18" charset="0"/>
              </a:rPr>
              <a:t>DAC</a:t>
            </a:r>
            <a:r>
              <a:rPr lang="zh-CN" altLang="en-US" dirty="0">
                <a:latin typeface="Times New Roman" panose="02020603050405020304" pitchFamily="18" charset="0"/>
              </a:rPr>
              <a:t>电路原理图</a:t>
            </a:r>
            <a:endParaRPr lang="zh-CN" altLang="en-US">
              <a:latin typeface="Times New Roman" panose="02020603050405020304" pitchFamily="18" charset="0"/>
            </a:endParaRPr>
          </a:p>
        </p:txBody>
      </p:sp>
      <p:graphicFrame>
        <p:nvGraphicFramePr>
          <p:cNvPr id="15365" name="对象 15364"/>
          <p:cNvGraphicFramePr/>
          <p:nvPr/>
        </p:nvGraphicFramePr>
        <p:xfrm>
          <a:off x="304800" y="990600"/>
          <a:ext cx="8534400" cy="4000500"/>
        </p:xfrm>
        <a:graphic>
          <a:graphicData uri="http://schemas.openxmlformats.org/presentationml/2006/ole">
            <mc:AlternateContent xmlns:mc="http://schemas.openxmlformats.org/markup-compatibility/2006">
              <mc:Choice xmlns:v="urn:schemas-microsoft-com:vml" Requires="v">
                <p:oleObj spid="_x0000_s3082" name="" r:id="rId1" imgW="3360420" imgH="1577340" progId="Visio.Drawing.4">
                  <p:embed/>
                </p:oleObj>
              </mc:Choice>
              <mc:Fallback>
                <p:oleObj name="" r:id="rId1" imgW="3360420" imgH="1577340" progId="Visio.Drawing.4">
                  <p:embed/>
                  <p:pic>
                    <p:nvPicPr>
                      <p:cNvPr id="0" name="图片 3081"/>
                      <p:cNvPicPr/>
                      <p:nvPr/>
                    </p:nvPicPr>
                    <p:blipFill>
                      <a:blip r:embed="rId2"/>
                      <a:stretch>
                        <a:fillRect/>
                      </a:stretch>
                    </p:blipFill>
                    <p:spPr>
                      <a:xfrm>
                        <a:off x="304800" y="990600"/>
                        <a:ext cx="8534400" cy="4000500"/>
                      </a:xfrm>
                      <a:prstGeom prst="rect">
                        <a:avLst/>
                      </a:prstGeom>
                      <a:noFill/>
                      <a:ln w="38100">
                        <a:noFill/>
                        <a:miter/>
                      </a:ln>
                    </p:spPr>
                  </p:pic>
                </p:oleObj>
              </mc:Fallback>
            </mc:AlternateContent>
          </a:graphicData>
        </a:graphic>
      </p:graphicFrame>
    </p:spTree>
  </p:cSld>
  <p:clrMapOvr>
    <a:masterClrMapping/>
  </p:clrMapOvr>
  <p:transition>
    <p:blinds dir="vert"/>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388" name="文本框 16387"/>
          <p:cNvSpPr txBox="1"/>
          <p:nvPr/>
        </p:nvSpPr>
        <p:spPr>
          <a:xfrm>
            <a:off x="152400" y="512763"/>
            <a:ext cx="8877300" cy="5888037"/>
          </a:xfrm>
          <a:prstGeom prst="rect">
            <a:avLst/>
          </a:prstGeom>
          <a:noFill/>
          <a:ln w="9525">
            <a:noFill/>
          </a:ln>
        </p:spPr>
        <p:txBody>
          <a:bodyPr>
            <a:spAutoFit/>
          </a:bodyPr>
          <a:p>
            <a:pPr>
              <a:lnSpc>
                <a:spcPct val="135000"/>
              </a:lnSpc>
              <a:spcBef>
                <a:spcPct val="50000"/>
              </a:spcBef>
            </a:pPr>
            <a:r>
              <a:rPr lang="en-US" altLang="zh-CN" dirty="0">
                <a:latin typeface="Times New Roman" panose="02020603050405020304" pitchFamily="18" charset="0"/>
              </a:rPr>
              <a:t>        </a:t>
            </a:r>
            <a:r>
              <a:rPr lang="en-US" altLang="zh-CN" b="1">
                <a:latin typeface="Times New Roman" panose="02020603050405020304" pitchFamily="18" charset="0"/>
              </a:rPr>
              <a:t>4</a:t>
            </a:r>
            <a:r>
              <a:rPr lang="zh-CN" altLang="en-US" b="1" dirty="0">
                <a:latin typeface="Times New Roman" panose="02020603050405020304" pitchFamily="18" charset="0"/>
              </a:rPr>
              <a:t>个模拟开关由</a:t>
            </a:r>
            <a:r>
              <a:rPr lang="en-US" altLang="zh-CN" b="1">
                <a:latin typeface="Times New Roman" panose="02020603050405020304" pitchFamily="18" charset="0"/>
              </a:rPr>
              <a:t>4</a:t>
            </a:r>
            <a:r>
              <a:rPr lang="zh-CN" altLang="en-US" b="1" dirty="0">
                <a:latin typeface="Times New Roman" panose="02020603050405020304" pitchFamily="18" charset="0"/>
              </a:rPr>
              <a:t>位二进制数码分别控制，当</a:t>
            </a:r>
            <a:r>
              <a:rPr lang="en-US" altLang="zh-CN" b="1" err="1">
                <a:latin typeface="Times New Roman" panose="02020603050405020304" pitchFamily="18" charset="0"/>
              </a:rPr>
              <a:t>D</a:t>
            </a:r>
            <a:r>
              <a:rPr lang="en-US" altLang="zh-CN" b="1" i="1" baseline="-25000" err="1">
                <a:latin typeface="Times New Roman" panose="02020603050405020304" pitchFamily="18" charset="0"/>
              </a:rPr>
              <a:t>i</a:t>
            </a:r>
            <a:r>
              <a:rPr lang="en-US" altLang="zh-CN" b="1">
                <a:latin typeface="Times New Roman" panose="02020603050405020304" pitchFamily="18" charset="0"/>
              </a:rPr>
              <a:t> = 0</a:t>
            </a:r>
            <a:r>
              <a:rPr lang="zh-CN" altLang="en-US" b="1" dirty="0">
                <a:latin typeface="Times New Roman" panose="02020603050405020304" pitchFamily="18" charset="0"/>
              </a:rPr>
              <a:t>时，开关</a:t>
            </a:r>
            <a:r>
              <a:rPr lang="en-US" altLang="zh-CN" b="1" err="1">
                <a:latin typeface="Times New Roman" panose="02020603050405020304" pitchFamily="18" charset="0"/>
              </a:rPr>
              <a:t>S</a:t>
            </a:r>
            <a:r>
              <a:rPr lang="en-US" altLang="zh-CN" b="1" i="1" baseline="-25000" err="1">
                <a:latin typeface="Times New Roman" panose="02020603050405020304" pitchFamily="18" charset="0"/>
              </a:rPr>
              <a:t>i</a:t>
            </a:r>
            <a:r>
              <a:rPr lang="zh-CN" altLang="en-US" b="1" dirty="0">
                <a:latin typeface="Times New Roman" panose="02020603050405020304" pitchFamily="18" charset="0"/>
              </a:rPr>
              <a:t>打到右边，使与之相串联的</a:t>
            </a:r>
            <a:r>
              <a:rPr lang="en-US" altLang="zh-CN" b="1">
                <a:latin typeface="Times New Roman" panose="02020603050405020304" pitchFamily="18" charset="0"/>
              </a:rPr>
              <a:t>2R</a:t>
            </a:r>
            <a:r>
              <a:rPr lang="zh-CN" altLang="en-US" b="1" dirty="0">
                <a:latin typeface="Times New Roman" panose="02020603050405020304" pitchFamily="18" charset="0"/>
              </a:rPr>
              <a:t>电阻接地；当</a:t>
            </a:r>
            <a:r>
              <a:rPr lang="en-US" altLang="zh-CN" b="1" err="1">
                <a:latin typeface="Times New Roman" panose="02020603050405020304" pitchFamily="18" charset="0"/>
              </a:rPr>
              <a:t>D</a:t>
            </a:r>
            <a:r>
              <a:rPr lang="en-US" altLang="zh-CN" b="1" i="1" baseline="-25000" err="1">
                <a:latin typeface="Times New Roman" panose="02020603050405020304" pitchFamily="18" charset="0"/>
              </a:rPr>
              <a:t>i</a:t>
            </a:r>
            <a:r>
              <a:rPr lang="en-US" altLang="zh-CN" b="1">
                <a:latin typeface="Times New Roman" panose="02020603050405020304" pitchFamily="18" charset="0"/>
              </a:rPr>
              <a:t> = 1</a:t>
            </a:r>
            <a:r>
              <a:rPr lang="zh-CN" altLang="en-US" b="1" dirty="0">
                <a:latin typeface="Times New Roman" panose="02020603050405020304" pitchFamily="18" charset="0"/>
              </a:rPr>
              <a:t>时，开关</a:t>
            </a:r>
            <a:r>
              <a:rPr lang="en-US" altLang="zh-CN" b="1" err="1">
                <a:latin typeface="Times New Roman" panose="02020603050405020304" pitchFamily="18" charset="0"/>
              </a:rPr>
              <a:t>S</a:t>
            </a:r>
            <a:r>
              <a:rPr lang="en-US" altLang="zh-CN" b="1" i="1" baseline="-25000" err="1">
                <a:latin typeface="Times New Roman" panose="02020603050405020304" pitchFamily="18" charset="0"/>
              </a:rPr>
              <a:t>i</a:t>
            </a:r>
            <a:r>
              <a:rPr lang="zh-CN" altLang="en-US" b="1" dirty="0">
                <a:latin typeface="Times New Roman" panose="02020603050405020304" pitchFamily="18" charset="0"/>
              </a:rPr>
              <a:t>打到左边，使</a:t>
            </a:r>
            <a:r>
              <a:rPr lang="en-US" altLang="zh-CN" b="1">
                <a:latin typeface="Times New Roman" panose="02020603050405020304" pitchFamily="18" charset="0"/>
              </a:rPr>
              <a:t>2R</a:t>
            </a:r>
            <a:r>
              <a:rPr lang="zh-CN" altLang="en-US" b="1" dirty="0">
                <a:latin typeface="Times New Roman" panose="02020603050405020304" pitchFamily="18" charset="0"/>
              </a:rPr>
              <a:t>电阻接基准电压</a:t>
            </a:r>
            <a:r>
              <a:rPr lang="en-US" altLang="zh-CN" b="1">
                <a:latin typeface="Times New Roman" panose="02020603050405020304" pitchFamily="18" charset="0"/>
              </a:rPr>
              <a:t>U</a:t>
            </a:r>
            <a:r>
              <a:rPr lang="en-US" altLang="zh-CN" b="1" baseline="-25000">
                <a:latin typeface="Times New Roman" panose="02020603050405020304" pitchFamily="18" charset="0"/>
              </a:rPr>
              <a:t>REF</a:t>
            </a:r>
            <a:r>
              <a:rPr lang="zh-CN" altLang="en-US" b="1">
                <a:latin typeface="Times New Roman" panose="02020603050405020304" pitchFamily="18" charset="0"/>
              </a:rPr>
              <a:t>。</a:t>
            </a:r>
            <a:r>
              <a:rPr lang="zh-CN" altLang="en-US" b="1" dirty="0">
                <a:latin typeface="Times New Roman" panose="02020603050405020304" pitchFamily="18" charset="0"/>
              </a:rPr>
              <a:t>该电路在结构上有以下特点：</a:t>
            </a:r>
            <a:endParaRPr lang="zh-CN" altLang="en-US" b="1" dirty="0">
              <a:latin typeface="Times New Roman" panose="02020603050405020304" pitchFamily="18" charset="0"/>
            </a:endParaRPr>
          </a:p>
          <a:p>
            <a:pPr>
              <a:lnSpc>
                <a:spcPct val="135000"/>
              </a:lnSpc>
              <a:spcBef>
                <a:spcPct val="50000"/>
              </a:spcBef>
            </a:pPr>
            <a:r>
              <a:rPr lang="zh-CN" altLang="en-US" b="1" dirty="0">
                <a:latin typeface="Times New Roman" panose="02020603050405020304" pitchFamily="18" charset="0"/>
              </a:rPr>
              <a:t>        </a:t>
            </a:r>
            <a:r>
              <a:rPr lang="en-US" altLang="zh-CN" b="1">
                <a:latin typeface="Times New Roman" panose="02020603050405020304" pitchFamily="18" charset="0"/>
              </a:rPr>
              <a:t>① </a:t>
            </a:r>
            <a:r>
              <a:rPr lang="zh-CN" altLang="en-US" b="1" dirty="0">
                <a:latin typeface="Times New Roman" panose="02020603050405020304" pitchFamily="18" charset="0"/>
              </a:rPr>
              <a:t>如果不考虑基准电压源</a:t>
            </a:r>
            <a:r>
              <a:rPr lang="en-US" altLang="zh-CN" b="1">
                <a:latin typeface="Times New Roman" panose="02020603050405020304" pitchFamily="18" charset="0"/>
              </a:rPr>
              <a:t>U</a:t>
            </a:r>
            <a:r>
              <a:rPr lang="en-US" altLang="zh-CN" b="1" baseline="-25000">
                <a:latin typeface="Times New Roman" panose="02020603050405020304" pitchFamily="18" charset="0"/>
              </a:rPr>
              <a:t>REF</a:t>
            </a:r>
            <a:r>
              <a:rPr lang="zh-CN" altLang="en-US" b="1" dirty="0">
                <a:latin typeface="Times New Roman" panose="02020603050405020304" pitchFamily="18" charset="0"/>
              </a:rPr>
              <a:t>的内阻，那么无论模拟开关的状态如何，从</a:t>
            </a:r>
            <a:r>
              <a:rPr lang="en-US" altLang="zh-CN" b="1">
                <a:latin typeface="Times New Roman" panose="02020603050405020304" pitchFamily="18" charset="0"/>
              </a:rPr>
              <a:t>T</a:t>
            </a:r>
            <a:r>
              <a:rPr lang="zh-CN" altLang="en-US" b="1" dirty="0">
                <a:latin typeface="Times New Roman" panose="02020603050405020304" pitchFamily="18" charset="0"/>
              </a:rPr>
              <a:t>型电阻网络的节点（</a:t>
            </a:r>
            <a:r>
              <a:rPr lang="en-US" altLang="zh-CN" b="1">
                <a:latin typeface="Times New Roman" panose="02020603050405020304" pitchFamily="18" charset="0"/>
              </a:rPr>
              <a:t>P</a:t>
            </a:r>
            <a:r>
              <a:rPr lang="en-US" altLang="zh-CN" b="1" baseline="-25000">
                <a:latin typeface="Times New Roman" panose="02020603050405020304" pitchFamily="18" charset="0"/>
              </a:rPr>
              <a:t>0</a:t>
            </a:r>
            <a:r>
              <a:rPr lang="zh-CN" altLang="en-US" b="1">
                <a:latin typeface="Times New Roman" panose="02020603050405020304" pitchFamily="18" charset="0"/>
              </a:rPr>
              <a:t>、</a:t>
            </a:r>
            <a:r>
              <a:rPr lang="en-US" altLang="zh-CN" b="1">
                <a:latin typeface="Times New Roman" panose="02020603050405020304" pitchFamily="18" charset="0"/>
              </a:rPr>
              <a:t>P</a:t>
            </a:r>
            <a:r>
              <a:rPr lang="en-US" altLang="zh-CN" b="1" baseline="-25000">
                <a:latin typeface="Times New Roman" panose="02020603050405020304" pitchFamily="18" charset="0"/>
              </a:rPr>
              <a:t>1</a:t>
            </a:r>
            <a:r>
              <a:rPr lang="zh-CN" altLang="en-US" b="1">
                <a:latin typeface="Times New Roman" panose="02020603050405020304" pitchFamily="18" charset="0"/>
              </a:rPr>
              <a:t>、</a:t>
            </a:r>
            <a:r>
              <a:rPr lang="en-US" altLang="zh-CN" b="1">
                <a:latin typeface="Times New Roman" panose="02020603050405020304" pitchFamily="18" charset="0"/>
              </a:rPr>
              <a:t>P</a:t>
            </a:r>
            <a:r>
              <a:rPr lang="en-US" altLang="zh-CN" b="1" baseline="-25000">
                <a:latin typeface="Times New Roman" panose="02020603050405020304" pitchFamily="18" charset="0"/>
              </a:rPr>
              <a:t>2</a:t>
            </a:r>
            <a:r>
              <a:rPr lang="zh-CN" altLang="en-US" b="1">
                <a:latin typeface="Times New Roman" panose="02020603050405020304" pitchFamily="18" charset="0"/>
              </a:rPr>
              <a:t>、</a:t>
            </a:r>
            <a:r>
              <a:rPr lang="en-US" altLang="zh-CN" b="1">
                <a:latin typeface="Times New Roman" panose="02020603050405020304" pitchFamily="18" charset="0"/>
              </a:rPr>
              <a:t>P</a:t>
            </a:r>
            <a:r>
              <a:rPr lang="en-US" altLang="zh-CN" b="1" baseline="-25000">
                <a:latin typeface="Times New Roman" panose="02020603050405020304" pitchFamily="18" charset="0"/>
              </a:rPr>
              <a:t>3</a:t>
            </a:r>
            <a:r>
              <a:rPr lang="zh-CN" altLang="en-US" b="1">
                <a:latin typeface="Times New Roman" panose="02020603050405020304" pitchFamily="18" charset="0"/>
              </a:rPr>
              <a:t>）</a:t>
            </a:r>
            <a:r>
              <a:rPr lang="zh-CN" altLang="en-US" b="1" dirty="0">
                <a:latin typeface="Times New Roman" panose="02020603050405020304" pitchFamily="18" charset="0"/>
              </a:rPr>
              <a:t>向左、 向右或向下看的等效电阻都等于</a:t>
            </a:r>
            <a:r>
              <a:rPr lang="en-US" altLang="zh-CN" b="1">
                <a:latin typeface="Times New Roman" panose="02020603050405020304" pitchFamily="18" charset="0"/>
              </a:rPr>
              <a:t>2R</a:t>
            </a:r>
            <a:r>
              <a:rPr lang="zh-CN" altLang="en-US" b="1">
                <a:latin typeface="Times New Roman" panose="02020603050405020304" pitchFamily="18" charset="0"/>
              </a:rPr>
              <a:t>，</a:t>
            </a:r>
            <a:r>
              <a:rPr lang="zh-CN" altLang="en-US" b="1" dirty="0">
                <a:latin typeface="Times New Roman" panose="02020603050405020304" pitchFamily="18" charset="0"/>
              </a:rPr>
              <a:t>则从运算放大器的虚地点</a:t>
            </a:r>
            <a:r>
              <a:rPr lang="en-US" altLang="zh-CN" b="1">
                <a:latin typeface="Times New Roman" panose="02020603050405020304" pitchFamily="18" charset="0"/>
              </a:rPr>
              <a:t>N</a:t>
            </a:r>
            <a:r>
              <a:rPr lang="zh-CN" altLang="en-US" b="1" dirty="0">
                <a:latin typeface="Times New Roman" panose="02020603050405020304" pitchFamily="18" charset="0"/>
              </a:rPr>
              <a:t>向左看去，</a:t>
            </a:r>
            <a:r>
              <a:rPr lang="en-US" altLang="zh-CN" b="1">
                <a:latin typeface="Times New Roman" panose="02020603050405020304" pitchFamily="18" charset="0"/>
              </a:rPr>
              <a:t>T</a:t>
            </a:r>
            <a:r>
              <a:rPr lang="zh-CN" altLang="en-US" b="1" dirty="0">
                <a:latin typeface="Times New Roman" panose="02020603050405020304" pitchFamily="18" charset="0"/>
              </a:rPr>
              <a:t>型电阻网络的等效电阻等于</a:t>
            </a:r>
            <a:r>
              <a:rPr lang="en-US" altLang="zh-CN" b="1">
                <a:latin typeface="Times New Roman" panose="02020603050405020304" pitchFamily="18" charset="0"/>
              </a:rPr>
              <a:t>3R</a:t>
            </a:r>
            <a:r>
              <a:rPr lang="zh-CN" altLang="en-US" b="1">
                <a:latin typeface="Times New Roman" panose="02020603050405020304" pitchFamily="18" charset="0"/>
              </a:rPr>
              <a:t>。</a:t>
            </a:r>
            <a:endParaRPr lang="zh-CN" altLang="en-US" b="1">
              <a:latin typeface="Times New Roman" panose="02020603050405020304" pitchFamily="18" charset="0"/>
            </a:endParaRPr>
          </a:p>
          <a:p>
            <a:pPr>
              <a:lnSpc>
                <a:spcPct val="135000"/>
              </a:lnSpc>
              <a:spcBef>
                <a:spcPct val="50000"/>
              </a:spcBef>
            </a:pPr>
            <a:r>
              <a:rPr lang="zh-CN" altLang="en-US" b="1">
                <a:latin typeface="Times New Roman" panose="02020603050405020304" pitchFamily="18" charset="0"/>
              </a:rPr>
              <a:t>        </a:t>
            </a:r>
            <a:r>
              <a:rPr lang="en-US" altLang="zh-CN" b="1">
                <a:latin typeface="Times New Roman" panose="02020603050405020304" pitchFamily="18" charset="0"/>
              </a:rPr>
              <a:t>② </a:t>
            </a:r>
            <a:r>
              <a:rPr lang="zh-CN" altLang="en-US" b="1" dirty="0">
                <a:latin typeface="Times New Roman" panose="02020603050405020304" pitchFamily="18" charset="0"/>
              </a:rPr>
              <a:t>当任意一位</a:t>
            </a:r>
            <a:r>
              <a:rPr lang="en-US" altLang="zh-CN" b="1" err="1">
                <a:latin typeface="Times New Roman" panose="02020603050405020304" pitchFamily="18" charset="0"/>
              </a:rPr>
              <a:t>D</a:t>
            </a:r>
            <a:r>
              <a:rPr lang="en-US" altLang="zh-CN" b="1" i="1" baseline="-25000" err="1">
                <a:latin typeface="Times New Roman" panose="02020603050405020304" pitchFamily="18" charset="0"/>
              </a:rPr>
              <a:t>i</a:t>
            </a:r>
            <a:r>
              <a:rPr lang="en-US" altLang="zh-CN" b="1">
                <a:latin typeface="Times New Roman" panose="02020603050405020304" pitchFamily="18" charset="0"/>
              </a:rPr>
              <a:t> = 1</a:t>
            </a:r>
            <a:r>
              <a:rPr lang="zh-CN" altLang="en-US" b="1">
                <a:latin typeface="Times New Roman" panose="02020603050405020304" pitchFamily="18" charset="0"/>
              </a:rPr>
              <a:t>，</a:t>
            </a:r>
            <a:r>
              <a:rPr lang="zh-CN" altLang="en-US" b="1" dirty="0">
                <a:latin typeface="Times New Roman" panose="02020603050405020304" pitchFamily="18" charset="0"/>
              </a:rPr>
              <a:t>其余位</a:t>
            </a:r>
            <a:r>
              <a:rPr lang="en-US" altLang="zh-CN" b="1" err="1">
                <a:latin typeface="Times New Roman" panose="02020603050405020304" pitchFamily="18" charset="0"/>
              </a:rPr>
              <a:t>D</a:t>
            </a:r>
            <a:r>
              <a:rPr lang="en-US" altLang="zh-CN" b="1" i="1" baseline="-25000" err="1">
                <a:latin typeface="Times New Roman" panose="02020603050405020304" pitchFamily="18" charset="0"/>
              </a:rPr>
              <a:t>j</a:t>
            </a:r>
            <a:r>
              <a:rPr lang="en-US" altLang="zh-CN" b="1">
                <a:latin typeface="Times New Roman" panose="02020603050405020304" pitchFamily="18" charset="0"/>
              </a:rPr>
              <a:t> = 0</a:t>
            </a:r>
            <a:r>
              <a:rPr lang="zh-CN" altLang="en-US" b="1" dirty="0">
                <a:latin typeface="Times New Roman" panose="02020603050405020304" pitchFamily="18" charset="0"/>
              </a:rPr>
              <a:t>时，我们可以根据图</a:t>
            </a:r>
            <a:r>
              <a:rPr lang="en-US" altLang="zh-CN" b="1">
                <a:latin typeface="Times New Roman" panose="02020603050405020304" pitchFamily="18" charset="0"/>
              </a:rPr>
              <a:t>11-5</a:t>
            </a:r>
            <a:r>
              <a:rPr lang="zh-CN" altLang="en-US" b="1" dirty="0">
                <a:latin typeface="Times New Roman" panose="02020603050405020304" pitchFamily="18" charset="0"/>
              </a:rPr>
              <a:t>所示的等效电路，计算出流过该</a:t>
            </a:r>
            <a:r>
              <a:rPr lang="en-US" altLang="zh-CN" b="1">
                <a:latin typeface="Times New Roman" panose="02020603050405020304" pitchFamily="18" charset="0"/>
              </a:rPr>
              <a:t>2R</a:t>
            </a:r>
            <a:r>
              <a:rPr lang="zh-CN" altLang="en-US" b="1" dirty="0">
                <a:latin typeface="Times New Roman" panose="02020603050405020304" pitchFamily="18" charset="0"/>
              </a:rPr>
              <a:t>电阻支路的电流</a:t>
            </a:r>
            <a:r>
              <a:rPr lang="en-US" altLang="zh-CN" b="1">
                <a:latin typeface="Times New Roman" panose="02020603050405020304" pitchFamily="18" charset="0"/>
              </a:rPr>
              <a:t>I</a:t>
            </a:r>
            <a:r>
              <a:rPr lang="en-US" altLang="zh-CN" b="1" i="1" baseline="-25000">
                <a:latin typeface="Times New Roman" panose="02020603050405020304" pitchFamily="18" charset="0"/>
              </a:rPr>
              <a:t>i</a:t>
            </a:r>
            <a:r>
              <a:rPr lang="en-US" altLang="zh-CN" b="1">
                <a:latin typeface="Times New Roman" panose="02020603050405020304" pitchFamily="18" charset="0"/>
              </a:rPr>
              <a:t>=U</a:t>
            </a:r>
            <a:r>
              <a:rPr lang="en-US" altLang="zh-CN" b="1" baseline="-25000">
                <a:latin typeface="Times New Roman" panose="02020603050405020304" pitchFamily="18" charset="0"/>
              </a:rPr>
              <a:t>REF</a:t>
            </a:r>
            <a:r>
              <a:rPr lang="en-US" altLang="zh-CN" b="1">
                <a:latin typeface="Times New Roman" panose="02020603050405020304" pitchFamily="18" charset="0"/>
              </a:rPr>
              <a:t>/3R</a:t>
            </a:r>
            <a:r>
              <a:rPr lang="zh-CN" altLang="en-US" b="1">
                <a:latin typeface="Times New Roman" panose="02020603050405020304" pitchFamily="18" charset="0"/>
              </a:rPr>
              <a:t>， </a:t>
            </a:r>
            <a:r>
              <a:rPr lang="zh-CN" altLang="en-US" b="1" dirty="0">
                <a:latin typeface="Times New Roman" panose="02020603050405020304" pitchFamily="18" charset="0"/>
              </a:rPr>
              <a:t>并且这部分电流每流进一个节点时，都会向另外两个方向分流， 分流系数为</a:t>
            </a:r>
            <a:r>
              <a:rPr lang="en-US" altLang="zh-CN" b="1">
                <a:latin typeface="Times New Roman" panose="02020603050405020304" pitchFamily="18" charset="0"/>
              </a:rPr>
              <a:t>1/2</a:t>
            </a:r>
            <a:r>
              <a:rPr lang="zh-CN" altLang="en-US" b="1" dirty="0">
                <a:latin typeface="Times New Roman" panose="02020603050405020304" pitchFamily="18" charset="0"/>
              </a:rPr>
              <a:t>。</a:t>
            </a:r>
            <a:r>
              <a:rPr lang="zh-CN" altLang="en-US" b="1">
                <a:latin typeface="Times New Roman" panose="02020603050405020304" pitchFamily="18" charset="0"/>
              </a:rPr>
              <a:t> </a:t>
            </a:r>
            <a:endParaRPr lang="zh-CN" altLang="en-US" b="1">
              <a:latin typeface="Times New Roman" panose="02020603050405020304" pitchFamily="18" charset="0"/>
            </a:endParaRPr>
          </a:p>
        </p:txBody>
      </p:sp>
    </p:spTree>
  </p:cSld>
  <p:clrMapOvr>
    <a:masterClrMapping/>
  </p:clrMapOvr>
  <p:transition>
    <p:blinds dir="vert"/>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1058" name="文本框 301057"/>
          <p:cNvSpPr txBox="1"/>
          <p:nvPr/>
        </p:nvSpPr>
        <p:spPr>
          <a:xfrm>
            <a:off x="2667000" y="5715000"/>
            <a:ext cx="3408363" cy="457200"/>
          </a:xfrm>
          <a:prstGeom prst="rect">
            <a:avLst/>
          </a:prstGeom>
          <a:noFill/>
          <a:ln w="9525">
            <a:noFill/>
          </a:ln>
        </p:spPr>
        <p:txBody>
          <a:bodyPr wrap="none" anchor="t" anchorCtr="0">
            <a:spAutoFit/>
          </a:bodyPr>
          <a:p>
            <a:r>
              <a:rPr lang="zh-CN" altLang="en-US" dirty="0">
                <a:latin typeface="Times New Roman" panose="02020603050405020304" pitchFamily="18" charset="0"/>
              </a:rPr>
              <a:t>图 </a:t>
            </a:r>
            <a:r>
              <a:rPr lang="en-US" altLang="zh-CN">
                <a:latin typeface="Times New Roman" panose="02020603050405020304" pitchFamily="18" charset="0"/>
              </a:rPr>
              <a:t>11-5   P</a:t>
            </a:r>
            <a:r>
              <a:rPr lang="en-US" altLang="zh-CN" i="1" baseline="-25000">
                <a:latin typeface="Times New Roman" panose="02020603050405020304" pitchFamily="18" charset="0"/>
              </a:rPr>
              <a:t>i</a:t>
            </a:r>
            <a:r>
              <a:rPr lang="zh-CN" altLang="en-US" dirty="0">
                <a:latin typeface="Times New Roman" panose="02020603050405020304" pitchFamily="18" charset="0"/>
              </a:rPr>
              <a:t>节点等效电路</a:t>
            </a:r>
            <a:endParaRPr lang="zh-CN" altLang="en-US">
              <a:latin typeface="Times New Roman" panose="02020603050405020304" pitchFamily="18" charset="0"/>
            </a:endParaRPr>
          </a:p>
        </p:txBody>
      </p:sp>
      <p:graphicFrame>
        <p:nvGraphicFramePr>
          <p:cNvPr id="301059" name="对象 301058"/>
          <p:cNvGraphicFramePr/>
          <p:nvPr/>
        </p:nvGraphicFramePr>
        <p:xfrm>
          <a:off x="2552700" y="1295400"/>
          <a:ext cx="4038600" cy="3657600"/>
        </p:xfrm>
        <a:graphic>
          <a:graphicData uri="http://schemas.openxmlformats.org/presentationml/2006/ole">
            <mc:AlternateContent xmlns:mc="http://schemas.openxmlformats.org/markup-compatibility/2006">
              <mc:Choice xmlns:v="urn:schemas-microsoft-com:vml" Requires="v">
                <p:oleObj spid="_x0000_s3081" name="" r:id="rId1" imgW="1249680" imgH="1127760" progId="Visio.Drawing.4">
                  <p:embed/>
                </p:oleObj>
              </mc:Choice>
              <mc:Fallback>
                <p:oleObj name="" r:id="rId1" imgW="1249680" imgH="1127760" progId="Visio.Drawing.4">
                  <p:embed/>
                  <p:pic>
                    <p:nvPicPr>
                      <p:cNvPr id="0" name="图片 3080"/>
                      <p:cNvPicPr/>
                      <p:nvPr/>
                    </p:nvPicPr>
                    <p:blipFill>
                      <a:blip r:embed="rId2"/>
                      <a:stretch>
                        <a:fillRect/>
                      </a:stretch>
                    </p:blipFill>
                    <p:spPr>
                      <a:xfrm>
                        <a:off x="2552700" y="1295400"/>
                        <a:ext cx="4038600" cy="3657600"/>
                      </a:xfrm>
                      <a:prstGeom prst="rect">
                        <a:avLst/>
                      </a:prstGeom>
                      <a:noFill/>
                      <a:ln w="38100">
                        <a:noFill/>
                        <a:miter/>
                      </a:ln>
                    </p:spPr>
                  </p:pic>
                </p:oleObj>
              </mc:Fallback>
            </mc:AlternateContent>
          </a:graphicData>
        </a:graphic>
      </p:graphicFrame>
    </p:spTree>
  </p:cSld>
  <p:clrMapOvr>
    <a:masterClrMapping/>
  </p:clrMapOvr>
  <p:transition>
    <p:blinds dir="vert"/>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412" name="文本框 17411"/>
          <p:cNvSpPr txBox="1"/>
          <p:nvPr/>
        </p:nvSpPr>
        <p:spPr>
          <a:xfrm>
            <a:off x="381000" y="762000"/>
            <a:ext cx="8458200" cy="457200"/>
          </a:xfrm>
          <a:prstGeom prst="rect">
            <a:avLst/>
          </a:prstGeom>
          <a:noFill/>
          <a:ln w="9525">
            <a:noFill/>
          </a:ln>
        </p:spPr>
        <p:txBody>
          <a:bodyPr>
            <a:spAutoFit/>
          </a:bodyPr>
          <a:p>
            <a:pPr>
              <a:spcBef>
                <a:spcPct val="50000"/>
              </a:spcBef>
            </a:pPr>
            <a:r>
              <a:rPr lang="zh-CN" altLang="en-US">
                <a:latin typeface="Times New Roman" panose="02020603050405020304" pitchFamily="18" charset="0"/>
              </a:rPr>
              <a:t></a:t>
            </a:r>
            <a:endParaRPr lang="zh-CN" altLang="en-US">
              <a:latin typeface="Times New Roman" panose="02020603050405020304" pitchFamily="18" charset="0"/>
            </a:endParaRPr>
          </a:p>
        </p:txBody>
      </p:sp>
      <p:sp>
        <p:nvSpPr>
          <p:cNvPr id="17413" name="文本框 17412"/>
          <p:cNvSpPr txBox="1"/>
          <p:nvPr/>
        </p:nvSpPr>
        <p:spPr>
          <a:xfrm>
            <a:off x="228600" y="688975"/>
            <a:ext cx="8686800" cy="4035425"/>
          </a:xfrm>
          <a:prstGeom prst="rect">
            <a:avLst/>
          </a:prstGeom>
          <a:noFill/>
          <a:ln w="9525">
            <a:noFill/>
          </a:ln>
        </p:spPr>
        <p:txBody>
          <a:bodyPr>
            <a:spAutoFit/>
          </a:bodyPr>
          <a:p>
            <a:pPr>
              <a:lnSpc>
                <a:spcPct val="180000"/>
              </a:lnSpc>
              <a:spcBef>
                <a:spcPct val="50000"/>
              </a:spcBef>
            </a:pPr>
            <a:r>
              <a:rPr lang="en-US" altLang="zh-CN" dirty="0">
                <a:latin typeface="Times New Roman" panose="02020603050405020304" pitchFamily="18" charset="0"/>
              </a:rPr>
              <a:t>        </a:t>
            </a:r>
            <a:r>
              <a:rPr lang="zh-CN" altLang="en-US" b="1" dirty="0">
                <a:latin typeface="Times New Roman" panose="02020603050405020304" pitchFamily="18" charset="0"/>
              </a:rPr>
              <a:t>例如，当只有</a:t>
            </a:r>
            <a:r>
              <a:rPr lang="en-US" altLang="zh-CN" b="1">
                <a:latin typeface="Times New Roman" panose="02020603050405020304" pitchFamily="18" charset="0"/>
              </a:rPr>
              <a:t>D</a:t>
            </a:r>
            <a:r>
              <a:rPr lang="en-US" altLang="zh-CN" b="1" baseline="-25000">
                <a:latin typeface="Times New Roman" panose="02020603050405020304" pitchFamily="18" charset="0"/>
              </a:rPr>
              <a:t>0</a:t>
            </a:r>
            <a:r>
              <a:rPr lang="en-US" altLang="zh-CN" b="1">
                <a:latin typeface="Times New Roman" panose="02020603050405020304" pitchFamily="18" charset="0"/>
              </a:rPr>
              <a:t> = 1</a:t>
            </a:r>
            <a:r>
              <a:rPr lang="zh-CN" altLang="en-US" b="1" dirty="0">
                <a:latin typeface="Times New Roman" panose="02020603050405020304" pitchFamily="18" charset="0"/>
              </a:rPr>
              <a:t>时（即只有开关</a:t>
            </a:r>
            <a:r>
              <a:rPr lang="en-US" altLang="zh-CN" b="1">
                <a:latin typeface="Times New Roman" panose="02020603050405020304" pitchFamily="18" charset="0"/>
              </a:rPr>
              <a:t>S</a:t>
            </a:r>
            <a:r>
              <a:rPr lang="en-US" altLang="zh-CN" b="1" baseline="-25000">
                <a:latin typeface="Times New Roman" panose="02020603050405020304" pitchFamily="18" charset="0"/>
              </a:rPr>
              <a:t>0</a:t>
            </a:r>
            <a:r>
              <a:rPr lang="zh-CN" altLang="en-US" b="1">
                <a:latin typeface="Times New Roman" panose="02020603050405020304" pitchFamily="18" charset="0"/>
              </a:rPr>
              <a:t>接</a:t>
            </a:r>
            <a:r>
              <a:rPr lang="en-US" altLang="zh-CN" b="1">
                <a:latin typeface="Times New Roman" panose="02020603050405020304" pitchFamily="18" charset="0"/>
              </a:rPr>
              <a:t>U</a:t>
            </a:r>
            <a:r>
              <a:rPr lang="en-US" altLang="zh-CN" b="1" baseline="-25000">
                <a:latin typeface="Times New Roman" panose="02020603050405020304" pitchFamily="18" charset="0"/>
              </a:rPr>
              <a:t>REF</a:t>
            </a:r>
            <a:r>
              <a:rPr lang="zh-CN" altLang="en-US" b="1">
                <a:latin typeface="Times New Roman" panose="02020603050405020304" pitchFamily="18" charset="0"/>
              </a:rPr>
              <a:t>，</a:t>
            </a:r>
            <a:r>
              <a:rPr lang="zh-CN" altLang="en-US" b="1" dirty="0">
                <a:latin typeface="Times New Roman" panose="02020603050405020304" pitchFamily="18" charset="0"/>
              </a:rPr>
              <a:t>其余的开关都接地），其等效电路如图</a:t>
            </a:r>
            <a:r>
              <a:rPr lang="en-US" altLang="zh-CN" b="1">
                <a:latin typeface="Times New Roman" panose="02020603050405020304" pitchFamily="18" charset="0"/>
              </a:rPr>
              <a:t>11- 6</a:t>
            </a:r>
            <a:r>
              <a:rPr lang="zh-CN" altLang="en-US" b="1" dirty="0">
                <a:latin typeface="Times New Roman" panose="02020603050405020304" pitchFamily="18" charset="0"/>
              </a:rPr>
              <a:t>所示。可以看出，经</a:t>
            </a:r>
            <a:r>
              <a:rPr lang="en-US" altLang="zh-CN" b="1">
                <a:latin typeface="Times New Roman" panose="02020603050405020304" pitchFamily="18" charset="0"/>
              </a:rPr>
              <a:t>S</a:t>
            </a:r>
            <a:r>
              <a:rPr lang="en-US" altLang="zh-CN" b="1" baseline="-25000">
                <a:latin typeface="Times New Roman" panose="02020603050405020304" pitchFamily="18" charset="0"/>
              </a:rPr>
              <a:t>0</a:t>
            </a:r>
            <a:r>
              <a:rPr lang="zh-CN" altLang="en-US" b="1" dirty="0">
                <a:latin typeface="Times New Roman" panose="02020603050405020304" pitchFamily="18" charset="0"/>
              </a:rPr>
              <a:t>流出的电流</a:t>
            </a:r>
            <a:r>
              <a:rPr lang="en-US" altLang="zh-CN" b="1">
                <a:latin typeface="Times New Roman" panose="02020603050405020304" pitchFamily="18" charset="0"/>
              </a:rPr>
              <a:t>I</a:t>
            </a:r>
            <a:r>
              <a:rPr lang="en-US" altLang="zh-CN" b="1" baseline="-25000">
                <a:latin typeface="Times New Roman" panose="02020603050405020304" pitchFamily="18" charset="0"/>
              </a:rPr>
              <a:t>0</a:t>
            </a:r>
            <a:r>
              <a:rPr lang="en-US" altLang="zh-CN" b="1">
                <a:latin typeface="Times New Roman" panose="02020603050405020304" pitchFamily="18" charset="0"/>
              </a:rPr>
              <a:t>=</a:t>
            </a:r>
            <a:r>
              <a:rPr lang="zh-CN" altLang="en-US" b="1">
                <a:latin typeface="Times New Roman" panose="02020603050405020304" pitchFamily="18" charset="0"/>
              </a:rPr>
              <a:t>Ｕ</a:t>
            </a:r>
            <a:r>
              <a:rPr lang="en-US" altLang="zh-CN" b="1" baseline="-25000">
                <a:latin typeface="Times New Roman" panose="02020603050405020304" pitchFamily="18" charset="0"/>
              </a:rPr>
              <a:t>REF</a:t>
            </a:r>
            <a:r>
              <a:rPr lang="en-US" altLang="zh-CN" b="1">
                <a:latin typeface="Times New Roman" panose="02020603050405020304" pitchFamily="18" charset="0"/>
              </a:rPr>
              <a:t>/3R</a:t>
            </a:r>
            <a:r>
              <a:rPr lang="zh-CN" altLang="en-US" b="1">
                <a:latin typeface="Times New Roman" panose="02020603050405020304" pitchFamily="18" charset="0"/>
              </a:rPr>
              <a:t>，</a:t>
            </a:r>
            <a:r>
              <a:rPr lang="zh-CN" altLang="en-US" b="1" dirty="0">
                <a:latin typeface="Times New Roman" panose="02020603050405020304" pitchFamily="18" charset="0"/>
              </a:rPr>
              <a:t>它要经过四个节点的分流才能到达求和放大器。 在每一节点处，由于向右和向下看的等效电阻都是</a:t>
            </a:r>
            <a:r>
              <a:rPr lang="en-US" altLang="zh-CN" b="1">
                <a:latin typeface="Times New Roman" panose="02020603050405020304" pitchFamily="18" charset="0"/>
              </a:rPr>
              <a:t>2R</a:t>
            </a:r>
            <a:r>
              <a:rPr lang="zh-CN" altLang="en-US" b="1">
                <a:latin typeface="Times New Roman" panose="02020603050405020304" pitchFamily="18" charset="0"/>
              </a:rPr>
              <a:t>， </a:t>
            </a:r>
            <a:r>
              <a:rPr lang="zh-CN" altLang="en-US" b="1" dirty="0">
                <a:latin typeface="Times New Roman" panose="02020603050405020304" pitchFamily="18" charset="0"/>
              </a:rPr>
              <a:t>所以在每一节点分流时的分流系数都是</a:t>
            </a:r>
            <a:r>
              <a:rPr lang="en-US" altLang="zh-CN" b="1">
                <a:latin typeface="Times New Roman" panose="02020603050405020304" pitchFamily="18" charset="0"/>
              </a:rPr>
              <a:t>1/2</a:t>
            </a:r>
            <a:r>
              <a:rPr lang="zh-CN" altLang="en-US" b="1" dirty="0">
                <a:latin typeface="Times New Roman" panose="02020603050405020304" pitchFamily="18" charset="0"/>
              </a:rPr>
              <a:t>。因而，流向求和放大器的电流</a:t>
            </a:r>
            <a:r>
              <a:rPr lang="en-US" altLang="zh-CN" b="1">
                <a:latin typeface="Times New Roman" panose="02020603050405020304" pitchFamily="18" charset="0"/>
              </a:rPr>
              <a:t>I</a:t>
            </a:r>
            <a:r>
              <a:rPr lang="en-US" altLang="zh-CN" b="1" baseline="-25000">
                <a:latin typeface="Times New Roman" panose="02020603050405020304" pitchFamily="18" charset="0"/>
              </a:rPr>
              <a:t>0</a:t>
            </a:r>
            <a:r>
              <a:rPr lang="en-US" altLang="zh-CN" b="1">
                <a:latin typeface="Times New Roman" panose="02020603050405020304" pitchFamily="18" charset="0"/>
              </a:rPr>
              <a:t>′</a:t>
            </a:r>
            <a:r>
              <a:rPr lang="zh-CN" altLang="en-US" b="1" dirty="0">
                <a:latin typeface="Times New Roman" panose="02020603050405020304" pitchFamily="18" charset="0"/>
              </a:rPr>
              <a:t>应为</a:t>
            </a:r>
            <a:r>
              <a:rPr lang="en-US" altLang="zh-CN" b="1">
                <a:latin typeface="Times New Roman" panose="02020603050405020304" pitchFamily="18" charset="0"/>
              </a:rPr>
              <a:t>I</a:t>
            </a:r>
            <a:r>
              <a:rPr lang="en-US" altLang="zh-CN" b="1" baseline="-25000">
                <a:latin typeface="Times New Roman" panose="02020603050405020304" pitchFamily="18" charset="0"/>
              </a:rPr>
              <a:t>0</a:t>
            </a:r>
            <a:r>
              <a:rPr lang="en-US" altLang="zh-CN" b="1">
                <a:latin typeface="Times New Roman" panose="02020603050405020304" pitchFamily="18" charset="0"/>
              </a:rPr>
              <a:t>/2</a:t>
            </a:r>
            <a:r>
              <a:rPr lang="en-US" altLang="zh-CN" b="1" baseline="30000">
                <a:latin typeface="Times New Roman" panose="02020603050405020304" pitchFamily="18" charset="0"/>
              </a:rPr>
              <a:t>4</a:t>
            </a:r>
            <a:r>
              <a:rPr lang="zh-CN" altLang="en-US" b="1">
                <a:latin typeface="Times New Roman" panose="02020603050405020304" pitchFamily="18" charset="0"/>
              </a:rPr>
              <a:t>。 </a:t>
            </a:r>
            <a:endParaRPr lang="zh-CN" altLang="en-US" b="1">
              <a:latin typeface="Times New Roman" panose="02020603050405020304" pitchFamily="18" charset="0"/>
            </a:endParaRPr>
          </a:p>
        </p:txBody>
      </p:sp>
    </p:spTree>
  </p:cSld>
  <p:clrMapOvr>
    <a:masterClrMapping/>
  </p:clrMapOvr>
  <p:transition>
    <p:blinds dir="vert"/>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436" name="文本框 18435"/>
          <p:cNvSpPr txBox="1"/>
          <p:nvPr/>
        </p:nvSpPr>
        <p:spPr>
          <a:xfrm>
            <a:off x="1473200" y="5562600"/>
            <a:ext cx="6348413" cy="457200"/>
          </a:xfrm>
          <a:prstGeom prst="rect">
            <a:avLst/>
          </a:prstGeom>
          <a:noFill/>
          <a:ln w="9525">
            <a:noFill/>
          </a:ln>
        </p:spPr>
        <p:txBody>
          <a:bodyPr wrap="none" anchor="t" anchorCtr="0">
            <a:spAutoFit/>
          </a:bodyPr>
          <a:p>
            <a:r>
              <a:rPr lang="zh-CN" altLang="en-US" dirty="0">
                <a:latin typeface="Times New Roman" panose="02020603050405020304" pitchFamily="18" charset="0"/>
              </a:rPr>
              <a:t>图 </a:t>
            </a:r>
            <a:r>
              <a:rPr lang="en-US" altLang="zh-CN">
                <a:latin typeface="Times New Roman" panose="02020603050405020304" pitchFamily="18" charset="0"/>
              </a:rPr>
              <a:t>11-6 </a:t>
            </a:r>
            <a:r>
              <a:rPr lang="zh-CN" altLang="en-US" dirty="0">
                <a:latin typeface="Times New Roman" panose="02020603050405020304" pitchFamily="18" charset="0"/>
              </a:rPr>
              <a:t>模拟开关</a:t>
            </a:r>
            <a:r>
              <a:rPr lang="en-US" altLang="zh-CN">
                <a:latin typeface="Times New Roman" panose="02020603050405020304" pitchFamily="18" charset="0"/>
              </a:rPr>
              <a:t>S</a:t>
            </a:r>
            <a:r>
              <a:rPr lang="en-US" altLang="zh-CN" baseline="-25000">
                <a:latin typeface="Times New Roman" panose="02020603050405020304" pitchFamily="18" charset="0"/>
              </a:rPr>
              <a:t>0</a:t>
            </a:r>
            <a:r>
              <a:rPr lang="zh-CN" altLang="en-US" dirty="0">
                <a:latin typeface="Times New Roman" panose="02020603050405020304" pitchFamily="18" charset="0"/>
              </a:rPr>
              <a:t>单独作用时各个支路的电路</a:t>
            </a:r>
            <a:endParaRPr lang="zh-CN" altLang="en-US">
              <a:latin typeface="Times New Roman" panose="02020603050405020304" pitchFamily="18" charset="0"/>
            </a:endParaRPr>
          </a:p>
        </p:txBody>
      </p:sp>
      <p:graphicFrame>
        <p:nvGraphicFramePr>
          <p:cNvPr id="18437" name="对象 18436"/>
          <p:cNvGraphicFramePr/>
          <p:nvPr/>
        </p:nvGraphicFramePr>
        <p:xfrm>
          <a:off x="381000" y="1219200"/>
          <a:ext cx="8382000" cy="3671888"/>
        </p:xfrm>
        <a:graphic>
          <a:graphicData uri="http://schemas.openxmlformats.org/presentationml/2006/ole">
            <mc:AlternateContent xmlns:mc="http://schemas.openxmlformats.org/markup-compatibility/2006">
              <mc:Choice xmlns:v="urn:schemas-microsoft-com:vml" Requires="v">
                <p:oleObj spid="_x0000_s3079" name="" r:id="rId1" imgW="3352800" imgH="1470660" progId="Visio.Drawing.4">
                  <p:embed/>
                </p:oleObj>
              </mc:Choice>
              <mc:Fallback>
                <p:oleObj name="" r:id="rId1" imgW="3352800" imgH="1470660" progId="Visio.Drawing.4">
                  <p:embed/>
                  <p:pic>
                    <p:nvPicPr>
                      <p:cNvPr id="0" name="图片 3078"/>
                      <p:cNvPicPr/>
                      <p:nvPr/>
                    </p:nvPicPr>
                    <p:blipFill>
                      <a:blip r:embed="rId2"/>
                      <a:stretch>
                        <a:fillRect/>
                      </a:stretch>
                    </p:blipFill>
                    <p:spPr>
                      <a:xfrm>
                        <a:off x="381000" y="1219200"/>
                        <a:ext cx="8382000" cy="3671888"/>
                      </a:xfrm>
                      <a:prstGeom prst="rect">
                        <a:avLst/>
                      </a:prstGeom>
                      <a:noFill/>
                      <a:ln w="38100">
                        <a:noFill/>
                        <a:miter/>
                      </a:ln>
                    </p:spPr>
                  </p:pic>
                </p:oleObj>
              </mc:Fallback>
            </mc:AlternateContent>
          </a:graphicData>
        </a:graphic>
      </p:graphicFrame>
    </p:spTree>
  </p:cSld>
  <p:clrMapOvr>
    <a:masterClrMapping/>
  </p:clrMapOvr>
  <p:transition>
    <p:blinds dir="vert"/>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484" name="文本框 20483"/>
          <p:cNvSpPr txBox="1"/>
          <p:nvPr/>
        </p:nvSpPr>
        <p:spPr>
          <a:xfrm>
            <a:off x="152400" y="430213"/>
            <a:ext cx="8915400" cy="2465387"/>
          </a:xfrm>
          <a:prstGeom prst="rect">
            <a:avLst/>
          </a:prstGeom>
          <a:noFill/>
          <a:ln w="9525">
            <a:noFill/>
          </a:ln>
        </p:spPr>
        <p:txBody>
          <a:bodyPr>
            <a:spAutoFit/>
          </a:bodyPr>
          <a:p>
            <a:pPr>
              <a:lnSpc>
                <a:spcPct val="150000"/>
              </a:lnSpc>
              <a:spcBef>
                <a:spcPct val="50000"/>
              </a:spcBef>
            </a:pPr>
            <a:r>
              <a:rPr lang="en-US" altLang="zh-CN" dirty="0">
                <a:latin typeface="Times New Roman" panose="02020603050405020304" pitchFamily="18" charset="0"/>
              </a:rPr>
              <a:t>        </a:t>
            </a:r>
            <a:r>
              <a:rPr lang="zh-CN" altLang="en-US" dirty="0">
                <a:latin typeface="Times New Roman" panose="02020603050405020304" pitchFamily="18" charset="0"/>
              </a:rPr>
              <a:t>同理，当</a:t>
            </a:r>
            <a:r>
              <a:rPr lang="en-US" altLang="zh-CN">
                <a:latin typeface="Times New Roman" panose="02020603050405020304" pitchFamily="18" charset="0"/>
              </a:rPr>
              <a:t>D</a:t>
            </a:r>
            <a:r>
              <a:rPr lang="en-US" altLang="zh-CN" baseline="-25000">
                <a:latin typeface="Times New Roman" panose="02020603050405020304" pitchFamily="18" charset="0"/>
              </a:rPr>
              <a:t>1</a:t>
            </a:r>
            <a:r>
              <a:rPr lang="zh-CN" altLang="en-US">
                <a:latin typeface="Times New Roman" panose="02020603050405020304" pitchFamily="18" charset="0"/>
              </a:rPr>
              <a:t>、</a:t>
            </a:r>
            <a:r>
              <a:rPr lang="en-US" altLang="zh-CN">
                <a:latin typeface="Times New Roman" panose="02020603050405020304" pitchFamily="18" charset="0"/>
              </a:rPr>
              <a:t>D</a:t>
            </a:r>
            <a:r>
              <a:rPr lang="en-US" altLang="zh-CN" baseline="-25000">
                <a:latin typeface="Times New Roman" panose="02020603050405020304" pitchFamily="18" charset="0"/>
              </a:rPr>
              <a:t>2</a:t>
            </a:r>
            <a:r>
              <a:rPr lang="zh-CN" altLang="en-US">
                <a:latin typeface="Times New Roman" panose="02020603050405020304" pitchFamily="18" charset="0"/>
              </a:rPr>
              <a:t>、</a:t>
            </a:r>
            <a:r>
              <a:rPr lang="en-US" altLang="zh-CN">
                <a:latin typeface="Times New Roman" panose="02020603050405020304" pitchFamily="18" charset="0"/>
              </a:rPr>
              <a:t>D</a:t>
            </a:r>
            <a:r>
              <a:rPr lang="en-US" altLang="zh-CN" baseline="-25000">
                <a:latin typeface="Times New Roman" panose="02020603050405020304" pitchFamily="18" charset="0"/>
              </a:rPr>
              <a:t>3</a:t>
            </a:r>
            <a:r>
              <a:rPr lang="zh-CN" altLang="en-US" dirty="0">
                <a:latin typeface="Times New Roman" panose="02020603050405020304" pitchFamily="18" charset="0"/>
              </a:rPr>
              <a:t>各自单独为</a:t>
            </a:r>
            <a:r>
              <a:rPr lang="en-US" altLang="zh-CN">
                <a:latin typeface="Times New Roman" panose="02020603050405020304" pitchFamily="18" charset="0"/>
              </a:rPr>
              <a:t>1</a:t>
            </a:r>
            <a:r>
              <a:rPr lang="zh-CN" altLang="en-US" dirty="0">
                <a:latin typeface="Times New Roman" panose="02020603050405020304" pitchFamily="18" charset="0"/>
              </a:rPr>
              <a:t>时，流向求和放大器的电流分别为：</a:t>
            </a:r>
            <a:r>
              <a:rPr lang="en-US" altLang="zh-CN">
                <a:latin typeface="Times New Roman" panose="02020603050405020304" pitchFamily="18" charset="0"/>
              </a:rPr>
              <a:t>I</a:t>
            </a:r>
            <a:r>
              <a:rPr lang="en-US" altLang="zh-CN" baseline="-25000">
                <a:latin typeface="Times New Roman" panose="02020603050405020304" pitchFamily="18" charset="0"/>
              </a:rPr>
              <a:t>1</a:t>
            </a:r>
            <a:r>
              <a:rPr lang="en-US" altLang="zh-CN">
                <a:latin typeface="Times New Roman" panose="02020603050405020304" pitchFamily="18" charset="0"/>
              </a:rPr>
              <a:t>′= I</a:t>
            </a:r>
            <a:r>
              <a:rPr lang="en-US" altLang="zh-CN" baseline="-25000">
                <a:latin typeface="Times New Roman" panose="02020603050405020304" pitchFamily="18" charset="0"/>
              </a:rPr>
              <a:t>1</a:t>
            </a:r>
            <a:r>
              <a:rPr lang="en-US" altLang="zh-CN">
                <a:latin typeface="Times New Roman" panose="02020603050405020304" pitchFamily="18" charset="0"/>
              </a:rPr>
              <a:t>/2</a:t>
            </a:r>
            <a:r>
              <a:rPr lang="en-US" altLang="zh-CN" baseline="30000">
                <a:latin typeface="Times New Roman" panose="02020603050405020304" pitchFamily="18" charset="0"/>
              </a:rPr>
              <a:t>3</a:t>
            </a:r>
            <a:r>
              <a:rPr lang="zh-CN" altLang="en-US">
                <a:latin typeface="Times New Roman" panose="02020603050405020304" pitchFamily="18" charset="0"/>
              </a:rPr>
              <a:t>， </a:t>
            </a:r>
            <a:r>
              <a:rPr lang="en-US" altLang="zh-CN">
                <a:latin typeface="Times New Roman" panose="02020603050405020304" pitchFamily="18" charset="0"/>
              </a:rPr>
              <a:t>I</a:t>
            </a:r>
            <a:r>
              <a:rPr lang="en-US" altLang="zh-CN" baseline="-25000">
                <a:latin typeface="Times New Roman" panose="02020603050405020304" pitchFamily="18" charset="0"/>
              </a:rPr>
              <a:t>2</a:t>
            </a:r>
            <a:r>
              <a:rPr lang="en-US" altLang="zh-CN">
                <a:latin typeface="Times New Roman" panose="02020603050405020304" pitchFamily="18" charset="0"/>
              </a:rPr>
              <a:t>′ = I</a:t>
            </a:r>
            <a:r>
              <a:rPr lang="en-US" altLang="zh-CN" baseline="-25000">
                <a:latin typeface="Times New Roman" panose="02020603050405020304" pitchFamily="18" charset="0"/>
              </a:rPr>
              <a:t>2</a:t>
            </a:r>
            <a:r>
              <a:rPr lang="en-US" altLang="zh-CN">
                <a:latin typeface="Times New Roman" panose="02020603050405020304" pitchFamily="18" charset="0"/>
              </a:rPr>
              <a:t>/2</a:t>
            </a:r>
            <a:r>
              <a:rPr lang="en-US" altLang="zh-CN" baseline="30000">
                <a:latin typeface="Times New Roman" panose="02020603050405020304" pitchFamily="18" charset="0"/>
              </a:rPr>
              <a:t>2</a:t>
            </a:r>
            <a:r>
              <a:rPr lang="zh-CN" altLang="en-US">
                <a:latin typeface="Times New Roman" panose="02020603050405020304" pitchFamily="18" charset="0"/>
              </a:rPr>
              <a:t>， </a:t>
            </a:r>
            <a:r>
              <a:rPr lang="en-US" altLang="zh-CN">
                <a:latin typeface="Times New Roman" panose="02020603050405020304" pitchFamily="18" charset="0"/>
              </a:rPr>
              <a:t>I</a:t>
            </a:r>
            <a:r>
              <a:rPr lang="en-US" altLang="zh-CN" baseline="-25000">
                <a:latin typeface="Times New Roman" panose="02020603050405020304" pitchFamily="18" charset="0"/>
              </a:rPr>
              <a:t>3</a:t>
            </a:r>
            <a:r>
              <a:rPr lang="en-US" altLang="zh-CN">
                <a:latin typeface="Times New Roman" panose="02020603050405020304" pitchFamily="18" charset="0"/>
              </a:rPr>
              <a:t>′=2</a:t>
            </a:r>
            <a:r>
              <a:rPr lang="en-US" altLang="zh-CN" baseline="30000">
                <a:latin typeface="Times New Roman" panose="02020603050405020304" pitchFamily="18" charset="0"/>
              </a:rPr>
              <a:t>1</a:t>
            </a:r>
            <a:endParaRPr lang="en-US" altLang="zh-CN" baseline="30000">
              <a:latin typeface="Times New Roman" panose="02020603050405020304" pitchFamily="18" charset="0"/>
            </a:endParaRPr>
          </a:p>
          <a:p>
            <a:pPr>
              <a:lnSpc>
                <a:spcPct val="150000"/>
              </a:lnSpc>
              <a:spcBef>
                <a:spcPct val="50000"/>
              </a:spcBef>
            </a:pPr>
            <a:r>
              <a:rPr lang="en-US" altLang="zh-CN" baseline="30000">
                <a:latin typeface="Times New Roman" panose="02020603050405020304" pitchFamily="18" charset="0"/>
              </a:rPr>
              <a:t>            </a:t>
            </a:r>
            <a:r>
              <a:rPr lang="zh-CN" altLang="en-US" dirty="0">
                <a:latin typeface="Times New Roman" panose="02020603050405020304" pitchFamily="18" charset="0"/>
              </a:rPr>
              <a:t>根据叠加原理，对于任意输入的一个二进制数（</a:t>
            </a:r>
            <a:r>
              <a:rPr lang="en-US" altLang="zh-CN">
                <a:latin typeface="Times New Roman" panose="02020603050405020304" pitchFamily="18" charset="0"/>
              </a:rPr>
              <a:t>D</a:t>
            </a:r>
            <a:r>
              <a:rPr lang="en-US" altLang="zh-CN" baseline="-25000">
                <a:latin typeface="Times New Roman" panose="02020603050405020304" pitchFamily="18" charset="0"/>
              </a:rPr>
              <a:t>3</a:t>
            </a:r>
            <a:r>
              <a:rPr lang="en-US" altLang="zh-CN">
                <a:latin typeface="Times New Roman" panose="02020603050405020304" pitchFamily="18" charset="0"/>
              </a:rPr>
              <a:t>D</a:t>
            </a:r>
            <a:r>
              <a:rPr lang="en-US" altLang="zh-CN" baseline="-25000">
                <a:latin typeface="Times New Roman" panose="02020603050405020304" pitchFamily="18" charset="0"/>
              </a:rPr>
              <a:t>2</a:t>
            </a:r>
            <a:r>
              <a:rPr lang="en-US" altLang="zh-CN">
                <a:latin typeface="Times New Roman" panose="02020603050405020304" pitchFamily="18" charset="0"/>
              </a:rPr>
              <a:t>D</a:t>
            </a:r>
            <a:r>
              <a:rPr lang="en-US" altLang="zh-CN" baseline="-25000">
                <a:latin typeface="Times New Roman" panose="02020603050405020304" pitchFamily="18" charset="0"/>
              </a:rPr>
              <a:t>1</a:t>
            </a:r>
            <a:r>
              <a:rPr lang="en-US" altLang="zh-CN">
                <a:latin typeface="Times New Roman" panose="02020603050405020304" pitchFamily="18" charset="0"/>
              </a:rPr>
              <a:t>D</a:t>
            </a:r>
            <a:r>
              <a:rPr lang="en-US" altLang="zh-CN" baseline="-25000">
                <a:latin typeface="Times New Roman" panose="02020603050405020304" pitchFamily="18" charset="0"/>
              </a:rPr>
              <a:t>0</a:t>
            </a:r>
            <a:r>
              <a:rPr lang="en-US" altLang="zh-CN">
                <a:latin typeface="Times New Roman" panose="02020603050405020304" pitchFamily="18" charset="0"/>
              </a:rPr>
              <a:t>)</a:t>
            </a:r>
            <a:r>
              <a:rPr lang="en-US" altLang="zh-CN" baseline="-25000">
                <a:latin typeface="Times New Roman" panose="02020603050405020304" pitchFamily="18" charset="0"/>
              </a:rPr>
              <a:t>2</a:t>
            </a:r>
            <a:r>
              <a:rPr lang="zh-CN" altLang="en-US">
                <a:latin typeface="Times New Roman" panose="02020603050405020304" pitchFamily="18" charset="0"/>
              </a:rPr>
              <a:t>，</a:t>
            </a:r>
            <a:r>
              <a:rPr lang="zh-CN" altLang="en-US" dirty="0">
                <a:latin typeface="Times New Roman" panose="02020603050405020304" pitchFamily="18" charset="0"/>
              </a:rPr>
              <a:t>流向求和放大器的电流</a:t>
            </a:r>
            <a:r>
              <a:rPr lang="en-US" altLang="zh-CN">
                <a:latin typeface="Times New Roman" panose="02020603050405020304" pitchFamily="18" charset="0"/>
              </a:rPr>
              <a:t>I</a:t>
            </a:r>
            <a:r>
              <a:rPr lang="en-US" altLang="zh-CN" baseline="-25000">
                <a:latin typeface="Times New Roman" panose="02020603050405020304" pitchFamily="18" charset="0"/>
              </a:rPr>
              <a:t>∑</a:t>
            </a:r>
            <a:r>
              <a:rPr lang="zh-CN" altLang="en-US" dirty="0">
                <a:latin typeface="Times New Roman" panose="02020603050405020304" pitchFamily="18" charset="0"/>
              </a:rPr>
              <a:t>应为：</a:t>
            </a:r>
            <a:endParaRPr lang="zh-CN" altLang="en-US">
              <a:latin typeface="Times New Roman" panose="02020603050405020304" pitchFamily="18" charset="0"/>
            </a:endParaRPr>
          </a:p>
        </p:txBody>
      </p:sp>
      <p:graphicFrame>
        <p:nvGraphicFramePr>
          <p:cNvPr id="20485" name="对象 20484"/>
          <p:cNvGraphicFramePr/>
          <p:nvPr/>
        </p:nvGraphicFramePr>
        <p:xfrm>
          <a:off x="1028700" y="3200400"/>
          <a:ext cx="7086600" cy="2897188"/>
        </p:xfrm>
        <a:graphic>
          <a:graphicData uri="http://schemas.openxmlformats.org/presentationml/2006/ole">
            <mc:AlternateContent xmlns:mc="http://schemas.openxmlformats.org/markup-compatibility/2006">
              <mc:Choice xmlns:v="urn:schemas-microsoft-com:vml" Requires="v">
                <p:oleObj spid="_x0000_s3080" name="" r:id="rId1" imgW="3200400" imgH="1308100" progId="Equation.3">
                  <p:embed/>
                </p:oleObj>
              </mc:Choice>
              <mc:Fallback>
                <p:oleObj name="" r:id="rId1" imgW="3200400" imgH="1308100" progId="Equation.3">
                  <p:embed/>
                  <p:pic>
                    <p:nvPicPr>
                      <p:cNvPr id="0" name="图片 3079"/>
                      <p:cNvPicPr/>
                      <p:nvPr/>
                    </p:nvPicPr>
                    <p:blipFill>
                      <a:blip r:embed="rId2"/>
                      <a:stretch>
                        <a:fillRect/>
                      </a:stretch>
                    </p:blipFill>
                    <p:spPr>
                      <a:xfrm>
                        <a:off x="1028700" y="3200400"/>
                        <a:ext cx="7086600" cy="2897188"/>
                      </a:xfrm>
                      <a:prstGeom prst="rect">
                        <a:avLst/>
                      </a:prstGeom>
                      <a:noFill/>
                      <a:ln w="38100">
                        <a:noFill/>
                        <a:miter/>
                      </a:ln>
                    </p:spPr>
                  </p:pic>
                </p:oleObj>
              </mc:Fallback>
            </mc:AlternateContent>
          </a:graphicData>
        </a:graphic>
      </p:graphicFrame>
      <p:sp>
        <p:nvSpPr>
          <p:cNvPr id="20486" name="文本框 20485"/>
          <p:cNvSpPr txBox="1"/>
          <p:nvPr/>
        </p:nvSpPr>
        <p:spPr>
          <a:xfrm>
            <a:off x="8001000" y="5486400"/>
            <a:ext cx="946150" cy="457200"/>
          </a:xfrm>
          <a:prstGeom prst="rect">
            <a:avLst/>
          </a:prstGeom>
          <a:noFill/>
          <a:ln w="9525">
            <a:noFill/>
          </a:ln>
        </p:spPr>
        <p:txBody>
          <a:bodyPr wrap="none" anchor="t" anchorCtr="0">
            <a:spAutoFit/>
          </a:bodyPr>
          <a:p>
            <a:r>
              <a:rPr lang="en-US" altLang="zh-CN">
                <a:latin typeface="Times New Roman" panose="02020603050405020304" pitchFamily="18" charset="0"/>
              </a:rPr>
              <a:t>(11-8)</a:t>
            </a:r>
            <a:endParaRPr lang="en-US" altLang="zh-CN">
              <a:latin typeface="Times New Roman" panose="02020603050405020304" pitchFamily="18" charset="0"/>
            </a:endParaRPr>
          </a:p>
        </p:txBody>
      </p:sp>
    </p:spTree>
  </p:cSld>
  <p:clrMapOvr>
    <a:masterClrMapping/>
  </p:clrMapOvr>
  <p:transition>
    <p:blinds dir="vert"/>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460" name="文本框 19459"/>
          <p:cNvSpPr txBox="1"/>
          <p:nvPr/>
        </p:nvSpPr>
        <p:spPr>
          <a:xfrm>
            <a:off x="441325" y="830263"/>
            <a:ext cx="7116763" cy="457200"/>
          </a:xfrm>
          <a:prstGeom prst="rect">
            <a:avLst/>
          </a:prstGeom>
          <a:noFill/>
          <a:ln w="9525">
            <a:noFill/>
          </a:ln>
        </p:spPr>
        <p:txBody>
          <a:bodyPr wrap="none" anchor="t" anchorCtr="0">
            <a:spAutoFit/>
          </a:bodyPr>
          <a:p>
            <a:r>
              <a:rPr lang="zh-CN" altLang="en-US" dirty="0">
                <a:latin typeface="Times New Roman" panose="02020603050405020304" pitchFamily="18" charset="0"/>
              </a:rPr>
              <a:t>求和放大器的反馈电阻</a:t>
            </a:r>
            <a:r>
              <a:rPr lang="en-US" altLang="zh-CN">
                <a:latin typeface="Times New Roman" panose="02020603050405020304" pitchFamily="18" charset="0"/>
              </a:rPr>
              <a:t>R</a:t>
            </a:r>
            <a:r>
              <a:rPr lang="en-US" altLang="zh-CN" baseline="-25000">
                <a:latin typeface="Times New Roman" panose="02020603050405020304" pitchFamily="18" charset="0"/>
              </a:rPr>
              <a:t>F</a:t>
            </a:r>
            <a:r>
              <a:rPr lang="en-US" altLang="zh-CN">
                <a:latin typeface="Times New Roman" panose="02020603050405020304" pitchFamily="18" charset="0"/>
              </a:rPr>
              <a:t> = 3R</a:t>
            </a:r>
            <a:r>
              <a:rPr lang="zh-CN" altLang="en-US">
                <a:latin typeface="Times New Roman" panose="02020603050405020304" pitchFamily="18" charset="0"/>
              </a:rPr>
              <a:t>，</a:t>
            </a:r>
            <a:r>
              <a:rPr lang="zh-CN" altLang="en-US" dirty="0">
                <a:latin typeface="Times New Roman" panose="02020603050405020304" pitchFamily="18" charset="0"/>
              </a:rPr>
              <a:t>则输出电压</a:t>
            </a:r>
            <a:r>
              <a:rPr lang="en-US" altLang="zh-CN">
                <a:latin typeface="Times New Roman" panose="02020603050405020304" pitchFamily="18" charset="0"/>
              </a:rPr>
              <a:t>U</a:t>
            </a:r>
            <a:r>
              <a:rPr lang="en-US" altLang="zh-CN" baseline="-25000">
                <a:latin typeface="Times New Roman" panose="02020603050405020304" pitchFamily="18" charset="0"/>
              </a:rPr>
              <a:t>O</a:t>
            </a:r>
            <a:r>
              <a:rPr lang="zh-CN" altLang="en-US" dirty="0">
                <a:latin typeface="Times New Roman" panose="02020603050405020304" pitchFamily="18" charset="0"/>
              </a:rPr>
              <a:t>为</a:t>
            </a:r>
            <a:r>
              <a:rPr lang="en-US" altLang="zh-CN">
                <a:latin typeface="Times New Roman" panose="02020603050405020304" pitchFamily="18" charset="0"/>
              </a:rPr>
              <a:t>:</a:t>
            </a:r>
            <a:r>
              <a:rPr lang="zh-CN" altLang="en-US">
                <a:latin typeface="Times New Roman" panose="02020603050405020304" pitchFamily="18" charset="0"/>
              </a:rPr>
              <a:t></a:t>
            </a:r>
            <a:endParaRPr lang="zh-CN" altLang="en-US">
              <a:latin typeface="Times New Roman" panose="02020603050405020304" pitchFamily="18" charset="0"/>
            </a:endParaRPr>
          </a:p>
        </p:txBody>
      </p:sp>
      <p:graphicFrame>
        <p:nvGraphicFramePr>
          <p:cNvPr id="19461" name="对象 19460"/>
          <p:cNvGraphicFramePr/>
          <p:nvPr/>
        </p:nvGraphicFramePr>
        <p:xfrm>
          <a:off x="2095500" y="1703388"/>
          <a:ext cx="4953000" cy="1039812"/>
        </p:xfrm>
        <a:graphic>
          <a:graphicData uri="http://schemas.openxmlformats.org/presentationml/2006/ole">
            <mc:AlternateContent xmlns:mc="http://schemas.openxmlformats.org/markup-compatibility/2006">
              <mc:Choice xmlns:v="urn:schemas-microsoft-com:vml" Requires="v">
                <p:oleObj spid="_x0000_s3078" name="" r:id="rId1" imgW="2056765" imgH="431800" progId="Equation.3">
                  <p:embed/>
                </p:oleObj>
              </mc:Choice>
              <mc:Fallback>
                <p:oleObj name="" r:id="rId1" imgW="2056765" imgH="431800" progId="Equation.3">
                  <p:embed/>
                  <p:pic>
                    <p:nvPicPr>
                      <p:cNvPr id="0" name="图片 3077"/>
                      <p:cNvPicPr/>
                      <p:nvPr/>
                    </p:nvPicPr>
                    <p:blipFill>
                      <a:blip r:embed="rId2"/>
                      <a:stretch>
                        <a:fillRect/>
                      </a:stretch>
                    </p:blipFill>
                    <p:spPr>
                      <a:xfrm>
                        <a:off x="2095500" y="1703388"/>
                        <a:ext cx="4953000" cy="1039812"/>
                      </a:xfrm>
                      <a:prstGeom prst="rect">
                        <a:avLst/>
                      </a:prstGeom>
                      <a:noFill/>
                      <a:ln w="38100">
                        <a:noFill/>
                        <a:miter/>
                      </a:ln>
                    </p:spPr>
                  </p:pic>
                </p:oleObj>
              </mc:Fallback>
            </mc:AlternateContent>
          </a:graphicData>
        </a:graphic>
      </p:graphicFrame>
      <p:sp>
        <p:nvSpPr>
          <p:cNvPr id="19462" name="文本框 19461"/>
          <p:cNvSpPr txBox="1"/>
          <p:nvPr/>
        </p:nvSpPr>
        <p:spPr>
          <a:xfrm>
            <a:off x="533400" y="3151188"/>
            <a:ext cx="5510213" cy="457200"/>
          </a:xfrm>
          <a:prstGeom prst="rect">
            <a:avLst/>
          </a:prstGeom>
          <a:noFill/>
          <a:ln w="9525">
            <a:noFill/>
          </a:ln>
        </p:spPr>
        <p:txBody>
          <a:bodyPr wrap="none" anchor="t" anchorCtr="0">
            <a:spAutoFit/>
          </a:bodyPr>
          <a:p>
            <a:r>
              <a:rPr lang="zh-CN" altLang="en-US" dirty="0">
                <a:latin typeface="Times New Roman" panose="02020603050405020304" pitchFamily="18" charset="0"/>
              </a:rPr>
              <a:t>推广到</a:t>
            </a:r>
            <a:r>
              <a:rPr lang="en-US" altLang="zh-CN">
                <a:latin typeface="Times New Roman" panose="02020603050405020304" pitchFamily="18" charset="0"/>
              </a:rPr>
              <a:t>n</a:t>
            </a:r>
            <a:r>
              <a:rPr lang="zh-CN" altLang="en-US">
                <a:latin typeface="Times New Roman" panose="02020603050405020304" pitchFamily="18" charset="0"/>
              </a:rPr>
              <a:t>位</a:t>
            </a:r>
            <a:r>
              <a:rPr lang="en-US" altLang="zh-CN">
                <a:latin typeface="Times New Roman" panose="02020603050405020304" pitchFamily="18" charset="0"/>
              </a:rPr>
              <a:t>T</a:t>
            </a:r>
            <a:r>
              <a:rPr lang="zh-CN" altLang="en-US" dirty="0">
                <a:latin typeface="Times New Roman" panose="02020603050405020304" pitchFamily="18" charset="0"/>
              </a:rPr>
              <a:t>型电阻网络</a:t>
            </a:r>
            <a:r>
              <a:rPr lang="en-US" altLang="zh-CN">
                <a:latin typeface="Times New Roman" panose="02020603050405020304" pitchFamily="18" charset="0"/>
              </a:rPr>
              <a:t>DAC</a:t>
            </a:r>
            <a:r>
              <a:rPr lang="zh-CN" altLang="en-US" dirty="0">
                <a:latin typeface="Times New Roman" panose="02020603050405020304" pitchFamily="18" charset="0"/>
              </a:rPr>
              <a:t>电路， 可得</a:t>
            </a:r>
            <a:endParaRPr lang="zh-CN" altLang="en-US">
              <a:latin typeface="Times New Roman" panose="02020603050405020304" pitchFamily="18" charset="0"/>
            </a:endParaRPr>
          </a:p>
        </p:txBody>
      </p:sp>
      <p:graphicFrame>
        <p:nvGraphicFramePr>
          <p:cNvPr id="19463" name="对象 19462"/>
          <p:cNvGraphicFramePr/>
          <p:nvPr/>
        </p:nvGraphicFramePr>
        <p:xfrm>
          <a:off x="2874963" y="4065588"/>
          <a:ext cx="3394075" cy="1039812"/>
        </p:xfrm>
        <a:graphic>
          <a:graphicData uri="http://schemas.openxmlformats.org/presentationml/2006/ole">
            <mc:AlternateContent xmlns:mc="http://schemas.openxmlformats.org/markup-compatibility/2006">
              <mc:Choice xmlns:v="urn:schemas-microsoft-com:vml" Requires="v">
                <p:oleObj spid="_x0000_s3085" name="" r:id="rId3" imgW="1409065" imgH="431800" progId="Equation.3">
                  <p:embed/>
                </p:oleObj>
              </mc:Choice>
              <mc:Fallback>
                <p:oleObj name="" r:id="rId3" imgW="1409065" imgH="431800" progId="Equation.3">
                  <p:embed/>
                  <p:pic>
                    <p:nvPicPr>
                      <p:cNvPr id="0" name="图片 3084"/>
                      <p:cNvPicPr/>
                      <p:nvPr/>
                    </p:nvPicPr>
                    <p:blipFill>
                      <a:blip r:embed="rId4"/>
                      <a:stretch>
                        <a:fillRect/>
                      </a:stretch>
                    </p:blipFill>
                    <p:spPr>
                      <a:xfrm>
                        <a:off x="2874963" y="4065588"/>
                        <a:ext cx="3394075" cy="1039812"/>
                      </a:xfrm>
                      <a:prstGeom prst="rect">
                        <a:avLst/>
                      </a:prstGeom>
                      <a:noFill/>
                      <a:ln w="38100">
                        <a:noFill/>
                        <a:miter/>
                      </a:ln>
                    </p:spPr>
                  </p:pic>
                </p:oleObj>
              </mc:Fallback>
            </mc:AlternateContent>
          </a:graphicData>
        </a:graphic>
      </p:graphicFrame>
      <p:sp>
        <p:nvSpPr>
          <p:cNvPr id="19464" name="文本框 19463"/>
          <p:cNvSpPr txBox="1"/>
          <p:nvPr/>
        </p:nvSpPr>
        <p:spPr>
          <a:xfrm>
            <a:off x="8001000" y="2008188"/>
            <a:ext cx="946150" cy="457200"/>
          </a:xfrm>
          <a:prstGeom prst="rect">
            <a:avLst/>
          </a:prstGeom>
          <a:noFill/>
          <a:ln w="9525">
            <a:noFill/>
          </a:ln>
        </p:spPr>
        <p:txBody>
          <a:bodyPr wrap="none" anchor="t" anchorCtr="0">
            <a:spAutoFit/>
          </a:bodyPr>
          <a:p>
            <a:r>
              <a:rPr lang="en-US" altLang="zh-CN">
                <a:latin typeface="Times New Roman" panose="02020603050405020304" pitchFamily="18" charset="0"/>
              </a:rPr>
              <a:t>(11-9)</a:t>
            </a:r>
            <a:endParaRPr lang="en-US" altLang="zh-CN">
              <a:latin typeface="Times New Roman" panose="02020603050405020304" pitchFamily="18" charset="0"/>
            </a:endParaRPr>
          </a:p>
        </p:txBody>
      </p:sp>
      <p:sp>
        <p:nvSpPr>
          <p:cNvPr id="19465" name="文本框 19464"/>
          <p:cNvSpPr txBox="1"/>
          <p:nvPr/>
        </p:nvSpPr>
        <p:spPr>
          <a:xfrm>
            <a:off x="8077200" y="4370388"/>
            <a:ext cx="1098550" cy="457200"/>
          </a:xfrm>
          <a:prstGeom prst="rect">
            <a:avLst/>
          </a:prstGeom>
          <a:noFill/>
          <a:ln w="9525">
            <a:noFill/>
          </a:ln>
        </p:spPr>
        <p:txBody>
          <a:bodyPr wrap="none" anchor="t" anchorCtr="0">
            <a:spAutoFit/>
          </a:bodyPr>
          <a:p>
            <a:r>
              <a:rPr lang="en-US" altLang="zh-CN">
                <a:latin typeface="Times New Roman" panose="02020603050405020304" pitchFamily="18" charset="0"/>
              </a:rPr>
              <a:t>(11-10)</a:t>
            </a:r>
            <a:endParaRPr lang="en-US" altLang="zh-CN">
              <a:latin typeface="Times New Roman" panose="02020603050405020304" pitchFamily="18" charset="0"/>
            </a:endParaRPr>
          </a:p>
        </p:txBody>
      </p:sp>
    </p:spTree>
  </p:cSld>
  <p:clrMapOvr>
    <a:masterClrMapping/>
  </p:clrMapOvr>
  <p:transition>
    <p:blinds dir="vert"/>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532" name="文本框 22531"/>
          <p:cNvSpPr txBox="1"/>
          <p:nvPr/>
        </p:nvSpPr>
        <p:spPr>
          <a:xfrm>
            <a:off x="76200" y="454025"/>
            <a:ext cx="9067800" cy="6175375"/>
          </a:xfrm>
          <a:prstGeom prst="rect">
            <a:avLst/>
          </a:prstGeom>
          <a:noFill/>
          <a:ln w="9525">
            <a:noFill/>
          </a:ln>
        </p:spPr>
        <p:txBody>
          <a:bodyPr>
            <a:spAutoFit/>
          </a:bodyPr>
          <a:p>
            <a:pPr>
              <a:lnSpc>
                <a:spcPct val="138000"/>
              </a:lnSpc>
              <a:spcBef>
                <a:spcPct val="50000"/>
              </a:spcBef>
            </a:pPr>
            <a:r>
              <a:rPr lang="en-US" altLang="zh-CN" dirty="0">
                <a:latin typeface="Times New Roman" panose="02020603050405020304" pitchFamily="18" charset="0"/>
              </a:rPr>
              <a:t>        </a:t>
            </a:r>
            <a:r>
              <a:rPr lang="en-US" altLang="zh-CN" b="1">
                <a:latin typeface="Times New Roman" panose="02020603050405020304" pitchFamily="18" charset="0"/>
              </a:rPr>
              <a:t>3. </a:t>
            </a:r>
            <a:r>
              <a:rPr lang="zh-CN" altLang="en-US" b="1" dirty="0">
                <a:latin typeface="Times New Roman" panose="02020603050405020304" pitchFamily="18" charset="0"/>
              </a:rPr>
              <a:t>倒</a:t>
            </a:r>
            <a:r>
              <a:rPr lang="en-US" altLang="zh-CN" b="1">
                <a:latin typeface="Times New Roman" panose="02020603050405020304" pitchFamily="18" charset="0"/>
              </a:rPr>
              <a:t>T</a:t>
            </a:r>
            <a:r>
              <a:rPr lang="zh-CN" altLang="en-US" b="1" dirty="0">
                <a:latin typeface="Times New Roman" panose="02020603050405020304" pitchFamily="18" charset="0"/>
              </a:rPr>
              <a:t>型电阻网络</a:t>
            </a:r>
            <a:r>
              <a:rPr lang="en-US" altLang="zh-CN" b="1">
                <a:latin typeface="Times New Roman" panose="02020603050405020304" pitchFamily="18" charset="0"/>
              </a:rPr>
              <a:t>DAC</a:t>
            </a:r>
            <a:r>
              <a:rPr lang="zh-CN" altLang="en-US" b="1" dirty="0">
                <a:latin typeface="Times New Roman" panose="02020603050405020304" pitchFamily="18" charset="0"/>
              </a:rPr>
              <a:t>电路</a:t>
            </a:r>
            <a:endParaRPr lang="zh-CN" altLang="en-US">
              <a:latin typeface="Times New Roman" panose="02020603050405020304" pitchFamily="18" charset="0"/>
            </a:endParaRPr>
          </a:p>
          <a:p>
            <a:pPr>
              <a:lnSpc>
                <a:spcPct val="138000"/>
              </a:lnSpc>
              <a:spcBef>
                <a:spcPct val="50000"/>
              </a:spcBef>
            </a:pPr>
            <a:r>
              <a:rPr lang="zh-CN" altLang="en-US">
                <a:latin typeface="Times New Roman" panose="02020603050405020304" pitchFamily="18" charset="0"/>
              </a:rPr>
              <a:t>      </a:t>
            </a:r>
            <a:r>
              <a:rPr lang="zh-CN" altLang="en-US" dirty="0">
                <a:latin typeface="Times New Roman" panose="02020603050405020304" pitchFamily="18" charset="0"/>
              </a:rPr>
              <a:t>  </a:t>
            </a:r>
            <a:r>
              <a:rPr lang="zh-CN" altLang="en-US" b="1" dirty="0">
                <a:latin typeface="Times New Roman" panose="02020603050405020304" pitchFamily="18" charset="0"/>
              </a:rPr>
              <a:t>图</a:t>
            </a:r>
            <a:r>
              <a:rPr lang="en-US" altLang="zh-CN" b="1">
                <a:latin typeface="Times New Roman" panose="02020603050405020304" pitchFamily="18" charset="0"/>
              </a:rPr>
              <a:t>11- 7</a:t>
            </a:r>
            <a:r>
              <a:rPr lang="zh-CN" altLang="en-US" b="1" dirty="0">
                <a:latin typeface="Times New Roman" panose="02020603050405020304" pitchFamily="18" charset="0"/>
              </a:rPr>
              <a:t>所示为</a:t>
            </a:r>
            <a:r>
              <a:rPr lang="en-US" altLang="zh-CN" b="1">
                <a:latin typeface="Times New Roman" panose="02020603050405020304" pitchFamily="18" charset="0"/>
              </a:rPr>
              <a:t>4</a:t>
            </a:r>
            <a:r>
              <a:rPr lang="zh-CN" altLang="en-US" b="1" dirty="0">
                <a:latin typeface="Times New Roman" panose="02020603050405020304" pitchFamily="18" charset="0"/>
              </a:rPr>
              <a:t>位倒</a:t>
            </a:r>
            <a:r>
              <a:rPr lang="en-US" altLang="zh-CN" b="1">
                <a:latin typeface="Times New Roman" panose="02020603050405020304" pitchFamily="18" charset="0"/>
              </a:rPr>
              <a:t>T</a:t>
            </a:r>
            <a:r>
              <a:rPr lang="zh-CN" altLang="en-US" b="1" dirty="0">
                <a:latin typeface="Times New Roman" panose="02020603050405020304" pitchFamily="18" charset="0"/>
              </a:rPr>
              <a:t>型电阻网络</a:t>
            </a:r>
            <a:r>
              <a:rPr lang="en-US" altLang="zh-CN" b="1">
                <a:latin typeface="Times New Roman" panose="02020603050405020304" pitchFamily="18" charset="0"/>
              </a:rPr>
              <a:t>DAC</a:t>
            </a:r>
            <a:r>
              <a:rPr lang="zh-CN" altLang="en-US" b="1" dirty="0">
                <a:latin typeface="Times New Roman" panose="02020603050405020304" pitchFamily="18" charset="0"/>
              </a:rPr>
              <a:t>电路的原理图， 它同样由</a:t>
            </a:r>
            <a:r>
              <a:rPr lang="en-US" altLang="zh-CN" b="1">
                <a:latin typeface="Times New Roman" panose="02020603050405020304" pitchFamily="18" charset="0"/>
              </a:rPr>
              <a:t>R- 2R</a:t>
            </a:r>
            <a:r>
              <a:rPr lang="zh-CN" altLang="en-US" b="1" dirty="0">
                <a:latin typeface="Times New Roman" panose="02020603050405020304" pitchFamily="18" charset="0"/>
              </a:rPr>
              <a:t>电阻网络、单刀双掷模拟开关（</a:t>
            </a:r>
            <a:r>
              <a:rPr lang="en-US" altLang="zh-CN" b="1">
                <a:latin typeface="Times New Roman" panose="02020603050405020304" pitchFamily="18" charset="0"/>
              </a:rPr>
              <a:t>S</a:t>
            </a:r>
            <a:r>
              <a:rPr lang="en-US" altLang="zh-CN" b="1" baseline="-25000">
                <a:latin typeface="Times New Roman" panose="02020603050405020304" pitchFamily="18" charset="0"/>
              </a:rPr>
              <a:t>0</a:t>
            </a:r>
            <a:r>
              <a:rPr lang="zh-CN" altLang="en-US" b="1">
                <a:latin typeface="Times New Roman" panose="02020603050405020304" pitchFamily="18" charset="0"/>
              </a:rPr>
              <a:t>、</a:t>
            </a:r>
            <a:r>
              <a:rPr lang="en-US" altLang="zh-CN" b="1">
                <a:latin typeface="Times New Roman" panose="02020603050405020304" pitchFamily="18" charset="0"/>
              </a:rPr>
              <a:t>S</a:t>
            </a:r>
            <a:r>
              <a:rPr lang="en-US" altLang="zh-CN" b="1" baseline="-25000">
                <a:latin typeface="Times New Roman" panose="02020603050405020304" pitchFamily="18" charset="0"/>
              </a:rPr>
              <a:t>1</a:t>
            </a:r>
            <a:r>
              <a:rPr lang="zh-CN" altLang="en-US" b="1">
                <a:latin typeface="Times New Roman" panose="02020603050405020304" pitchFamily="18" charset="0"/>
              </a:rPr>
              <a:t>、</a:t>
            </a:r>
            <a:r>
              <a:rPr lang="en-US" altLang="zh-CN" b="1">
                <a:latin typeface="Times New Roman" panose="02020603050405020304" pitchFamily="18" charset="0"/>
              </a:rPr>
              <a:t>S</a:t>
            </a:r>
            <a:r>
              <a:rPr lang="en-US" altLang="zh-CN" b="1" baseline="-25000">
                <a:latin typeface="Times New Roman" panose="02020603050405020304" pitchFamily="18" charset="0"/>
              </a:rPr>
              <a:t>2</a:t>
            </a:r>
            <a:r>
              <a:rPr lang="zh-CN" altLang="en-US" b="1">
                <a:latin typeface="Times New Roman" panose="02020603050405020304" pitchFamily="18" charset="0"/>
              </a:rPr>
              <a:t>和</a:t>
            </a:r>
            <a:r>
              <a:rPr lang="en-US" altLang="zh-CN" b="1">
                <a:latin typeface="Times New Roman" panose="02020603050405020304" pitchFamily="18" charset="0"/>
              </a:rPr>
              <a:t>S</a:t>
            </a:r>
            <a:r>
              <a:rPr lang="en-US" altLang="zh-CN" b="1" baseline="-25000">
                <a:latin typeface="Times New Roman" panose="02020603050405020304" pitchFamily="18" charset="0"/>
              </a:rPr>
              <a:t>3</a:t>
            </a:r>
            <a:r>
              <a:rPr lang="zh-CN" altLang="en-US" b="1">
                <a:latin typeface="Times New Roman" panose="02020603050405020304" pitchFamily="18" charset="0"/>
              </a:rPr>
              <a:t>）、 </a:t>
            </a:r>
            <a:r>
              <a:rPr lang="zh-CN" altLang="en-US" b="1" dirty="0">
                <a:latin typeface="Times New Roman" panose="02020603050405020304" pitchFamily="18" charset="0"/>
              </a:rPr>
              <a:t>基准电压</a:t>
            </a:r>
            <a:r>
              <a:rPr lang="en-US" altLang="zh-CN" b="1">
                <a:latin typeface="Times New Roman" panose="02020603050405020304" pitchFamily="18" charset="0"/>
              </a:rPr>
              <a:t>U</a:t>
            </a:r>
            <a:r>
              <a:rPr lang="en-US" altLang="zh-CN" b="1" baseline="-25000">
                <a:latin typeface="Times New Roman" panose="02020603050405020304" pitchFamily="18" charset="0"/>
              </a:rPr>
              <a:t>REF</a:t>
            </a:r>
            <a:r>
              <a:rPr lang="zh-CN" altLang="en-US" b="1" dirty="0">
                <a:latin typeface="Times New Roman" panose="02020603050405020304" pitchFamily="18" charset="0"/>
              </a:rPr>
              <a:t>和求和放大器四部分构成。它与</a:t>
            </a:r>
            <a:r>
              <a:rPr lang="en-US" altLang="zh-CN" b="1">
                <a:latin typeface="Times New Roman" panose="02020603050405020304" pitchFamily="18" charset="0"/>
              </a:rPr>
              <a:t>T</a:t>
            </a:r>
            <a:r>
              <a:rPr lang="zh-CN" altLang="en-US" b="1" dirty="0">
                <a:latin typeface="Times New Roman" panose="02020603050405020304" pitchFamily="18" charset="0"/>
              </a:rPr>
              <a:t>型电阻网络</a:t>
            </a:r>
            <a:r>
              <a:rPr lang="en-US" altLang="zh-CN" b="1">
                <a:latin typeface="Times New Roman" panose="02020603050405020304" pitchFamily="18" charset="0"/>
              </a:rPr>
              <a:t>DAC</a:t>
            </a:r>
            <a:r>
              <a:rPr lang="zh-CN" altLang="en-US" b="1" dirty="0">
                <a:latin typeface="Times New Roman" panose="02020603050405020304" pitchFamily="18" charset="0"/>
              </a:rPr>
              <a:t>电路的区别在于： </a:t>
            </a:r>
            <a:endParaRPr lang="zh-CN" altLang="en-US" b="1" dirty="0">
              <a:latin typeface="Times New Roman" panose="02020603050405020304" pitchFamily="18" charset="0"/>
            </a:endParaRPr>
          </a:p>
          <a:p>
            <a:pPr>
              <a:lnSpc>
                <a:spcPct val="138000"/>
              </a:lnSpc>
              <a:spcBef>
                <a:spcPct val="50000"/>
              </a:spcBef>
            </a:pPr>
            <a:r>
              <a:rPr lang="zh-CN" altLang="en-US" b="1" dirty="0">
                <a:latin typeface="Times New Roman" panose="02020603050405020304" pitchFamily="18" charset="0"/>
              </a:rPr>
              <a:t>        </a:t>
            </a:r>
            <a:r>
              <a:rPr lang="en-US" altLang="zh-CN" b="1">
                <a:latin typeface="Times New Roman" panose="02020603050405020304" pitchFamily="18" charset="0"/>
              </a:rPr>
              <a:t>① </a:t>
            </a:r>
            <a:r>
              <a:rPr lang="zh-CN" altLang="en-US" b="1" dirty="0">
                <a:latin typeface="Times New Roman" panose="02020603050405020304" pitchFamily="18" charset="0"/>
              </a:rPr>
              <a:t>电阻网络呈倒</a:t>
            </a:r>
            <a:r>
              <a:rPr lang="en-US" altLang="zh-CN" b="1">
                <a:latin typeface="Times New Roman" panose="02020603050405020304" pitchFamily="18" charset="0"/>
              </a:rPr>
              <a:t>T</a:t>
            </a:r>
            <a:r>
              <a:rPr lang="zh-CN" altLang="en-US" b="1" dirty="0">
                <a:latin typeface="Times New Roman" panose="02020603050405020304" pitchFamily="18" charset="0"/>
              </a:rPr>
              <a:t>型分布。 </a:t>
            </a:r>
            <a:endParaRPr lang="zh-CN" altLang="en-US" b="1" dirty="0">
              <a:latin typeface="Times New Roman" panose="02020603050405020304" pitchFamily="18" charset="0"/>
            </a:endParaRPr>
          </a:p>
          <a:p>
            <a:pPr>
              <a:lnSpc>
                <a:spcPct val="138000"/>
              </a:lnSpc>
              <a:spcBef>
                <a:spcPct val="50000"/>
              </a:spcBef>
            </a:pPr>
            <a:r>
              <a:rPr lang="zh-CN" altLang="en-US" b="1" dirty="0">
                <a:latin typeface="Times New Roman" panose="02020603050405020304" pitchFamily="18" charset="0"/>
              </a:rPr>
              <a:t>        </a:t>
            </a:r>
            <a:r>
              <a:rPr lang="en-US" altLang="zh-CN" b="1">
                <a:latin typeface="Times New Roman" panose="02020603050405020304" pitchFamily="18" charset="0"/>
              </a:rPr>
              <a:t>② </a:t>
            </a:r>
            <a:r>
              <a:rPr lang="zh-CN" altLang="en-US" b="1" dirty="0">
                <a:latin typeface="Times New Roman" panose="02020603050405020304" pitchFamily="18" charset="0"/>
              </a:rPr>
              <a:t>模拟开关的位置发生了变化。 在</a:t>
            </a:r>
            <a:r>
              <a:rPr lang="en-US" altLang="zh-CN" b="1">
                <a:latin typeface="Times New Roman" panose="02020603050405020304" pitchFamily="18" charset="0"/>
              </a:rPr>
              <a:t>T</a:t>
            </a:r>
            <a:r>
              <a:rPr lang="zh-CN" altLang="en-US" b="1" dirty="0">
                <a:latin typeface="Times New Roman" panose="02020603050405020304" pitchFamily="18" charset="0"/>
              </a:rPr>
              <a:t>型电阻网络</a:t>
            </a:r>
            <a:r>
              <a:rPr lang="en-US" altLang="zh-CN" b="1">
                <a:latin typeface="Times New Roman" panose="02020603050405020304" pitchFamily="18" charset="0"/>
              </a:rPr>
              <a:t>DAC</a:t>
            </a:r>
            <a:r>
              <a:rPr lang="zh-CN" altLang="en-US" b="1" dirty="0">
                <a:latin typeface="Times New Roman" panose="02020603050405020304" pitchFamily="18" charset="0"/>
              </a:rPr>
              <a:t>电路中， 模拟开关位于基准电压源和电阻网络之间，并在基准电压和地之间切换； 而在倒</a:t>
            </a:r>
            <a:r>
              <a:rPr lang="en-US" altLang="zh-CN" b="1">
                <a:latin typeface="Times New Roman" panose="02020603050405020304" pitchFamily="18" charset="0"/>
              </a:rPr>
              <a:t>T</a:t>
            </a:r>
            <a:r>
              <a:rPr lang="zh-CN" altLang="en-US" b="1" dirty="0">
                <a:latin typeface="Times New Roman" panose="02020603050405020304" pitchFamily="18" charset="0"/>
              </a:rPr>
              <a:t>型电阻网络</a:t>
            </a:r>
            <a:r>
              <a:rPr lang="en-US" altLang="zh-CN" b="1">
                <a:latin typeface="Times New Roman" panose="02020603050405020304" pitchFamily="18" charset="0"/>
              </a:rPr>
              <a:t>DAC</a:t>
            </a:r>
            <a:r>
              <a:rPr lang="zh-CN" altLang="en-US" b="1" dirty="0">
                <a:latin typeface="Times New Roman" panose="02020603050405020304" pitchFamily="18" charset="0"/>
              </a:rPr>
              <a:t>电路中，模拟开关位于电阻网络和求和放大器之间，并在求和放大器的虚地</a:t>
            </a:r>
            <a:r>
              <a:rPr lang="en-US" altLang="zh-CN" b="1">
                <a:latin typeface="Times New Roman" panose="02020603050405020304" pitchFamily="18" charset="0"/>
              </a:rPr>
              <a:t>N</a:t>
            </a:r>
            <a:r>
              <a:rPr lang="zh-CN" altLang="en-US" b="1" dirty="0">
                <a:latin typeface="Times New Roman" panose="02020603050405020304" pitchFamily="18" charset="0"/>
              </a:rPr>
              <a:t>和地之间切换。当</a:t>
            </a:r>
            <a:r>
              <a:rPr lang="en-US" altLang="zh-CN" b="1" err="1">
                <a:latin typeface="Times New Roman" panose="02020603050405020304" pitchFamily="18" charset="0"/>
              </a:rPr>
              <a:t>D</a:t>
            </a:r>
            <a:r>
              <a:rPr lang="en-US" altLang="zh-CN" b="1" i="1" baseline="-25000" err="1">
                <a:latin typeface="Times New Roman" panose="02020603050405020304" pitchFamily="18" charset="0"/>
              </a:rPr>
              <a:t>i</a:t>
            </a:r>
            <a:r>
              <a:rPr lang="en-US" altLang="zh-CN" b="1">
                <a:latin typeface="Times New Roman" panose="02020603050405020304" pitchFamily="18" charset="0"/>
              </a:rPr>
              <a:t> = 1</a:t>
            </a:r>
            <a:r>
              <a:rPr lang="zh-CN" altLang="en-US" b="1" dirty="0">
                <a:latin typeface="Times New Roman" panose="02020603050405020304" pitchFamily="18" charset="0"/>
              </a:rPr>
              <a:t>时，</a:t>
            </a:r>
            <a:r>
              <a:rPr lang="en-US" altLang="zh-CN" b="1" err="1">
                <a:latin typeface="Times New Roman" panose="02020603050405020304" pitchFamily="18" charset="0"/>
              </a:rPr>
              <a:t>S</a:t>
            </a:r>
            <a:r>
              <a:rPr lang="en-US" altLang="zh-CN" b="1" i="1" baseline="-25000" err="1">
                <a:latin typeface="Times New Roman" panose="02020603050405020304" pitchFamily="18" charset="0"/>
              </a:rPr>
              <a:t>i</a:t>
            </a:r>
            <a:r>
              <a:rPr lang="zh-CN" altLang="en-US" b="1" dirty="0">
                <a:latin typeface="Times New Roman" panose="02020603050405020304" pitchFamily="18" charset="0"/>
              </a:rPr>
              <a:t>接虚地；当</a:t>
            </a:r>
            <a:r>
              <a:rPr lang="en-US" altLang="zh-CN" b="1" err="1">
                <a:latin typeface="Times New Roman" panose="02020603050405020304" pitchFamily="18" charset="0"/>
              </a:rPr>
              <a:t>D</a:t>
            </a:r>
            <a:r>
              <a:rPr lang="en-US" altLang="zh-CN" b="1" i="1" baseline="-25000" err="1">
                <a:latin typeface="Times New Roman" panose="02020603050405020304" pitchFamily="18" charset="0"/>
              </a:rPr>
              <a:t>i</a:t>
            </a:r>
            <a:r>
              <a:rPr lang="en-US" altLang="zh-CN" b="1">
                <a:latin typeface="Times New Roman" panose="02020603050405020304" pitchFamily="18" charset="0"/>
              </a:rPr>
              <a:t> = 0</a:t>
            </a:r>
            <a:r>
              <a:rPr lang="zh-CN" altLang="en-US" b="1" dirty="0">
                <a:latin typeface="Times New Roman" panose="02020603050405020304" pitchFamily="18" charset="0"/>
              </a:rPr>
              <a:t>时，</a:t>
            </a:r>
            <a:r>
              <a:rPr lang="en-US" altLang="zh-CN" b="1" err="1">
                <a:latin typeface="Times New Roman" panose="02020603050405020304" pitchFamily="18" charset="0"/>
              </a:rPr>
              <a:t>S</a:t>
            </a:r>
            <a:r>
              <a:rPr lang="en-US" altLang="zh-CN" b="1" i="1" baseline="-25000" err="1">
                <a:latin typeface="Times New Roman" panose="02020603050405020304" pitchFamily="18" charset="0"/>
              </a:rPr>
              <a:t>i</a:t>
            </a:r>
            <a:r>
              <a:rPr lang="zh-CN" altLang="en-US" b="1" dirty="0">
                <a:latin typeface="Times New Roman" panose="02020603050405020304" pitchFamily="18" charset="0"/>
              </a:rPr>
              <a:t>接地。</a:t>
            </a:r>
            <a:r>
              <a:rPr lang="zh-CN" altLang="en-US" dirty="0">
                <a:latin typeface="Times New Roman" panose="02020603050405020304" pitchFamily="18" charset="0"/>
              </a:rPr>
              <a:t> </a:t>
            </a:r>
            <a:endParaRPr lang="zh-CN" altLang="en-US">
              <a:latin typeface="Times New Roman" panose="02020603050405020304" pitchFamily="18" charset="0"/>
            </a:endParaRPr>
          </a:p>
        </p:txBody>
      </p:sp>
    </p:spTree>
  </p:cSld>
  <p:clrMapOvr>
    <a:masterClrMapping/>
  </p:clrMapOvr>
  <p:transition>
    <p:blinds dir="vert"/>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508" name="文本框 21507"/>
          <p:cNvSpPr txBox="1"/>
          <p:nvPr/>
        </p:nvSpPr>
        <p:spPr>
          <a:xfrm>
            <a:off x="2209800" y="5562600"/>
            <a:ext cx="5383213" cy="457200"/>
          </a:xfrm>
          <a:prstGeom prst="rect">
            <a:avLst/>
          </a:prstGeom>
          <a:noFill/>
          <a:ln w="9525">
            <a:noFill/>
          </a:ln>
        </p:spPr>
        <p:txBody>
          <a:bodyPr wrap="none" anchor="t" anchorCtr="0">
            <a:spAutoFit/>
          </a:bodyPr>
          <a:p>
            <a:r>
              <a:rPr lang="zh-CN" altLang="en-US" dirty="0">
                <a:latin typeface="Times New Roman" panose="02020603050405020304" pitchFamily="18" charset="0"/>
              </a:rPr>
              <a:t>图 </a:t>
            </a:r>
            <a:r>
              <a:rPr lang="en-US" altLang="zh-CN">
                <a:latin typeface="Times New Roman" panose="02020603050405020304" pitchFamily="18" charset="0"/>
              </a:rPr>
              <a:t>11-7 </a:t>
            </a:r>
            <a:r>
              <a:rPr lang="zh-CN" altLang="en-US" dirty="0">
                <a:latin typeface="Times New Roman" panose="02020603050405020304" pitchFamily="18" charset="0"/>
              </a:rPr>
              <a:t>倒</a:t>
            </a:r>
            <a:r>
              <a:rPr lang="en-US" altLang="zh-CN">
                <a:latin typeface="Times New Roman" panose="02020603050405020304" pitchFamily="18" charset="0"/>
              </a:rPr>
              <a:t>T</a:t>
            </a:r>
            <a:r>
              <a:rPr lang="zh-CN" altLang="en-US" dirty="0">
                <a:latin typeface="Times New Roman" panose="02020603050405020304" pitchFamily="18" charset="0"/>
              </a:rPr>
              <a:t>型电阻网络</a:t>
            </a:r>
            <a:r>
              <a:rPr lang="en-US" altLang="zh-CN">
                <a:latin typeface="Times New Roman" panose="02020603050405020304" pitchFamily="18" charset="0"/>
              </a:rPr>
              <a:t>DAC</a:t>
            </a:r>
            <a:r>
              <a:rPr lang="zh-CN" altLang="en-US" dirty="0">
                <a:latin typeface="Times New Roman" panose="02020603050405020304" pitchFamily="18" charset="0"/>
              </a:rPr>
              <a:t>电路原理图</a:t>
            </a:r>
            <a:endParaRPr lang="zh-CN" altLang="en-US">
              <a:latin typeface="Times New Roman" panose="02020603050405020304" pitchFamily="18" charset="0"/>
            </a:endParaRPr>
          </a:p>
        </p:txBody>
      </p:sp>
      <p:graphicFrame>
        <p:nvGraphicFramePr>
          <p:cNvPr id="21509" name="对象 21508"/>
          <p:cNvGraphicFramePr/>
          <p:nvPr/>
        </p:nvGraphicFramePr>
        <p:xfrm>
          <a:off x="0" y="914400"/>
          <a:ext cx="9144000" cy="3886200"/>
        </p:xfrm>
        <a:graphic>
          <a:graphicData uri="http://schemas.openxmlformats.org/presentationml/2006/ole">
            <mc:AlternateContent xmlns:mc="http://schemas.openxmlformats.org/markup-compatibility/2006">
              <mc:Choice xmlns:v="urn:schemas-microsoft-com:vml" Requires="v">
                <p:oleObj spid="_x0000_s3084" name="" r:id="rId1" imgW="3543300" imgH="1508760" progId="Visio.Drawing.4">
                  <p:embed/>
                </p:oleObj>
              </mc:Choice>
              <mc:Fallback>
                <p:oleObj name="" r:id="rId1" imgW="3543300" imgH="1508760" progId="Visio.Drawing.4">
                  <p:embed/>
                  <p:pic>
                    <p:nvPicPr>
                      <p:cNvPr id="0" name="图片 3083"/>
                      <p:cNvPicPr/>
                      <p:nvPr/>
                    </p:nvPicPr>
                    <p:blipFill>
                      <a:blip r:embed="rId2"/>
                      <a:stretch>
                        <a:fillRect/>
                      </a:stretch>
                    </p:blipFill>
                    <p:spPr>
                      <a:xfrm>
                        <a:off x="0" y="914400"/>
                        <a:ext cx="9144000" cy="3886200"/>
                      </a:xfrm>
                      <a:prstGeom prst="rect">
                        <a:avLst/>
                      </a:prstGeom>
                      <a:noFill/>
                      <a:ln w="38100">
                        <a:noFill/>
                        <a:miter/>
                      </a:ln>
                    </p:spPr>
                  </p:pic>
                </p:oleObj>
              </mc:Fallback>
            </mc:AlternateContent>
          </a:graphicData>
        </a:graphic>
      </p:graphicFrame>
    </p:spTree>
  </p:cSld>
  <p:clrMapOvr>
    <a:masterClrMapping/>
  </p:clrMapOvr>
  <p:transition>
    <p:blinds dir="vert"/>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4580" name="文本框 24579"/>
          <p:cNvSpPr txBox="1"/>
          <p:nvPr/>
        </p:nvSpPr>
        <p:spPr>
          <a:xfrm>
            <a:off x="304800" y="685800"/>
            <a:ext cx="8610600" cy="3378200"/>
          </a:xfrm>
          <a:prstGeom prst="rect">
            <a:avLst/>
          </a:prstGeom>
          <a:noFill/>
          <a:ln w="9525">
            <a:noFill/>
          </a:ln>
        </p:spPr>
        <p:txBody>
          <a:bodyPr>
            <a:spAutoFit/>
          </a:bodyPr>
          <a:p>
            <a:pPr>
              <a:lnSpc>
                <a:spcPct val="180000"/>
              </a:lnSpc>
              <a:spcBef>
                <a:spcPct val="50000"/>
              </a:spcBef>
            </a:pPr>
            <a:r>
              <a:rPr lang="en-US" altLang="zh-CN" dirty="0">
                <a:latin typeface="Times New Roman" panose="02020603050405020304" pitchFamily="18" charset="0"/>
              </a:rPr>
              <a:t>        </a:t>
            </a:r>
            <a:r>
              <a:rPr lang="zh-CN" altLang="en-US" b="1" dirty="0">
                <a:latin typeface="Times New Roman" panose="02020603050405020304" pitchFamily="18" charset="0"/>
              </a:rPr>
              <a:t>分析倒</a:t>
            </a:r>
            <a:r>
              <a:rPr lang="en-US" altLang="zh-CN" b="1">
                <a:latin typeface="Times New Roman" panose="02020603050405020304" pitchFamily="18" charset="0"/>
              </a:rPr>
              <a:t>T</a:t>
            </a:r>
            <a:r>
              <a:rPr lang="zh-CN" altLang="en-US" b="1" dirty="0">
                <a:latin typeface="Times New Roman" panose="02020603050405020304" pitchFamily="18" charset="0"/>
              </a:rPr>
              <a:t>型电阻网络，不难看出：无论模拟开关的状态如何， 从任何一个节点（</a:t>
            </a:r>
            <a:r>
              <a:rPr lang="en-US" altLang="zh-CN" b="1">
                <a:latin typeface="Times New Roman" panose="02020603050405020304" pitchFamily="18" charset="0"/>
              </a:rPr>
              <a:t>P</a:t>
            </a:r>
            <a:r>
              <a:rPr lang="en-US" altLang="zh-CN" b="1" baseline="-25000">
                <a:latin typeface="Times New Roman" panose="02020603050405020304" pitchFamily="18" charset="0"/>
              </a:rPr>
              <a:t>0</a:t>
            </a:r>
            <a:r>
              <a:rPr lang="zh-CN" altLang="en-US" b="1">
                <a:latin typeface="Times New Roman" panose="02020603050405020304" pitchFamily="18" charset="0"/>
              </a:rPr>
              <a:t>、</a:t>
            </a:r>
            <a:r>
              <a:rPr lang="en-US" altLang="zh-CN" b="1">
                <a:latin typeface="Times New Roman" panose="02020603050405020304" pitchFamily="18" charset="0"/>
              </a:rPr>
              <a:t>P</a:t>
            </a:r>
            <a:r>
              <a:rPr lang="en-US" altLang="zh-CN" b="1" baseline="-25000">
                <a:latin typeface="Times New Roman" panose="02020603050405020304" pitchFamily="18" charset="0"/>
              </a:rPr>
              <a:t>1</a:t>
            </a:r>
            <a:r>
              <a:rPr lang="zh-CN" altLang="en-US" b="1">
                <a:latin typeface="Times New Roman" panose="02020603050405020304" pitchFamily="18" charset="0"/>
              </a:rPr>
              <a:t>、</a:t>
            </a:r>
            <a:r>
              <a:rPr lang="en-US" altLang="zh-CN" b="1">
                <a:latin typeface="Times New Roman" panose="02020603050405020304" pitchFamily="18" charset="0"/>
              </a:rPr>
              <a:t>P</a:t>
            </a:r>
            <a:r>
              <a:rPr lang="en-US" altLang="zh-CN" b="1" baseline="-25000">
                <a:latin typeface="Times New Roman" panose="02020603050405020304" pitchFamily="18" charset="0"/>
              </a:rPr>
              <a:t>2</a:t>
            </a:r>
            <a:r>
              <a:rPr lang="zh-CN" altLang="en-US" b="1">
                <a:latin typeface="Times New Roman" panose="02020603050405020304" pitchFamily="18" charset="0"/>
              </a:rPr>
              <a:t>、</a:t>
            </a:r>
            <a:r>
              <a:rPr lang="en-US" altLang="zh-CN" b="1">
                <a:latin typeface="Times New Roman" panose="02020603050405020304" pitchFamily="18" charset="0"/>
              </a:rPr>
              <a:t>P</a:t>
            </a:r>
            <a:r>
              <a:rPr lang="en-US" altLang="zh-CN" b="1" baseline="-25000">
                <a:latin typeface="Times New Roman" panose="02020603050405020304" pitchFamily="18" charset="0"/>
              </a:rPr>
              <a:t>3</a:t>
            </a:r>
            <a:r>
              <a:rPr lang="zh-CN" altLang="en-US" b="1">
                <a:latin typeface="Times New Roman" panose="02020603050405020304" pitchFamily="18" charset="0"/>
              </a:rPr>
              <a:t>）</a:t>
            </a:r>
            <a:r>
              <a:rPr lang="zh-CN" altLang="en-US" b="1" dirty="0">
                <a:latin typeface="Times New Roman" panose="02020603050405020304" pitchFamily="18" charset="0"/>
              </a:rPr>
              <a:t>向上或向左看去的等效电阻均为</a:t>
            </a:r>
            <a:r>
              <a:rPr lang="en-US" altLang="zh-CN" b="1">
                <a:latin typeface="Times New Roman" panose="02020603050405020304" pitchFamily="18" charset="0"/>
              </a:rPr>
              <a:t>R</a:t>
            </a:r>
            <a:r>
              <a:rPr lang="zh-CN" altLang="en-US" b="1">
                <a:latin typeface="Times New Roman" panose="02020603050405020304" pitchFamily="18" charset="0"/>
              </a:rPr>
              <a:t>。 </a:t>
            </a:r>
            <a:r>
              <a:rPr lang="zh-CN" altLang="en-US" b="1" dirty="0">
                <a:latin typeface="Times New Roman" panose="02020603050405020304" pitchFamily="18" charset="0"/>
              </a:rPr>
              <a:t>因此我们可以计算出基准电压源</a:t>
            </a:r>
            <a:r>
              <a:rPr lang="en-US" altLang="zh-CN" b="1">
                <a:latin typeface="Times New Roman" panose="02020603050405020304" pitchFamily="18" charset="0"/>
              </a:rPr>
              <a:t>U</a:t>
            </a:r>
            <a:r>
              <a:rPr lang="en-US" altLang="zh-CN" b="1" baseline="-25000">
                <a:latin typeface="Times New Roman" panose="02020603050405020304" pitchFamily="18" charset="0"/>
              </a:rPr>
              <a:t>REF</a:t>
            </a:r>
            <a:r>
              <a:rPr lang="zh-CN" altLang="en-US" b="1" dirty="0">
                <a:latin typeface="Times New Roman" panose="02020603050405020304" pitchFamily="18" charset="0"/>
              </a:rPr>
              <a:t>的输出电流</a:t>
            </a:r>
            <a:r>
              <a:rPr lang="en-US" altLang="zh-CN" b="1">
                <a:latin typeface="Times New Roman" panose="02020603050405020304" pitchFamily="18" charset="0"/>
              </a:rPr>
              <a:t>I=U</a:t>
            </a:r>
            <a:r>
              <a:rPr lang="en-US" altLang="zh-CN" b="1" baseline="-25000">
                <a:latin typeface="Times New Roman" panose="02020603050405020304" pitchFamily="18" charset="0"/>
              </a:rPr>
              <a:t>REF</a:t>
            </a:r>
            <a:r>
              <a:rPr lang="en-US" altLang="zh-CN" b="1">
                <a:latin typeface="Times New Roman" panose="02020603050405020304" pitchFamily="18" charset="0"/>
              </a:rPr>
              <a:t>/R</a:t>
            </a:r>
            <a:r>
              <a:rPr lang="zh-CN" altLang="en-US" b="1">
                <a:latin typeface="Times New Roman" panose="02020603050405020304" pitchFamily="18" charset="0"/>
              </a:rPr>
              <a:t>，</a:t>
            </a:r>
            <a:r>
              <a:rPr lang="zh-CN" altLang="en-US" b="1" dirty="0">
                <a:latin typeface="Times New Roman" panose="02020603050405020304" pitchFamily="18" charset="0"/>
              </a:rPr>
              <a:t>并且每流经一个节点时就产生</a:t>
            </a:r>
            <a:r>
              <a:rPr lang="en-US" altLang="zh-CN" b="1">
                <a:latin typeface="Times New Roman" panose="02020603050405020304" pitchFamily="18" charset="0"/>
              </a:rPr>
              <a:t>1/2</a:t>
            </a:r>
            <a:r>
              <a:rPr lang="zh-CN" altLang="en-US" b="1" dirty="0">
                <a:latin typeface="Times New Roman" panose="02020603050405020304" pitchFamily="18" charset="0"/>
              </a:rPr>
              <a:t>分流， 则各支路的电流分别为：</a:t>
            </a:r>
            <a:r>
              <a:rPr lang="en-US" altLang="zh-CN" b="1">
                <a:latin typeface="Times New Roman" panose="02020603050405020304" pitchFamily="18" charset="0"/>
              </a:rPr>
              <a:t>I</a:t>
            </a:r>
            <a:r>
              <a:rPr lang="en-US" altLang="zh-CN" b="1" baseline="-25000">
                <a:latin typeface="Times New Roman" panose="02020603050405020304" pitchFamily="18" charset="0"/>
              </a:rPr>
              <a:t>0</a:t>
            </a:r>
            <a:r>
              <a:rPr lang="en-US" altLang="zh-CN" b="1">
                <a:latin typeface="Times New Roman" panose="02020603050405020304" pitchFamily="18" charset="0"/>
              </a:rPr>
              <a:t>= I/2</a:t>
            </a:r>
            <a:r>
              <a:rPr lang="en-US" altLang="zh-CN" b="1" baseline="30000">
                <a:latin typeface="Times New Roman" panose="02020603050405020304" pitchFamily="18" charset="0"/>
              </a:rPr>
              <a:t>4</a:t>
            </a:r>
            <a:r>
              <a:rPr lang="zh-CN" altLang="en-US" b="1">
                <a:latin typeface="Times New Roman" panose="02020603050405020304" pitchFamily="18" charset="0"/>
              </a:rPr>
              <a:t>，</a:t>
            </a:r>
            <a:r>
              <a:rPr lang="en-US" altLang="zh-CN" b="1">
                <a:latin typeface="Times New Roman" panose="02020603050405020304" pitchFamily="18" charset="0"/>
              </a:rPr>
              <a:t>I</a:t>
            </a:r>
            <a:r>
              <a:rPr lang="en-US" altLang="zh-CN" b="1" baseline="-25000">
                <a:latin typeface="Times New Roman" panose="02020603050405020304" pitchFamily="18" charset="0"/>
              </a:rPr>
              <a:t>1</a:t>
            </a:r>
            <a:r>
              <a:rPr lang="en-US" altLang="zh-CN" b="1">
                <a:latin typeface="Times New Roman" panose="02020603050405020304" pitchFamily="18" charset="0"/>
              </a:rPr>
              <a:t>= I/2</a:t>
            </a:r>
            <a:r>
              <a:rPr lang="en-US" altLang="zh-CN" b="1" baseline="30000">
                <a:latin typeface="Times New Roman" panose="02020603050405020304" pitchFamily="18" charset="0"/>
              </a:rPr>
              <a:t>3</a:t>
            </a:r>
            <a:r>
              <a:rPr lang="zh-CN" altLang="en-US" b="1">
                <a:latin typeface="Times New Roman" panose="02020603050405020304" pitchFamily="18" charset="0"/>
              </a:rPr>
              <a:t>， </a:t>
            </a:r>
            <a:r>
              <a:rPr lang="en-US" altLang="zh-CN" b="1">
                <a:latin typeface="Times New Roman" panose="02020603050405020304" pitchFamily="18" charset="0"/>
              </a:rPr>
              <a:t>I</a:t>
            </a:r>
            <a:r>
              <a:rPr lang="en-US" altLang="zh-CN" b="1" baseline="-25000">
                <a:latin typeface="Times New Roman" panose="02020603050405020304" pitchFamily="18" charset="0"/>
              </a:rPr>
              <a:t>2</a:t>
            </a:r>
            <a:r>
              <a:rPr lang="en-US" altLang="zh-CN" b="1">
                <a:latin typeface="Times New Roman" panose="02020603050405020304" pitchFamily="18" charset="0"/>
              </a:rPr>
              <a:t>= I/2</a:t>
            </a:r>
            <a:r>
              <a:rPr lang="en-US" altLang="zh-CN" b="1" baseline="30000">
                <a:latin typeface="Times New Roman" panose="02020603050405020304" pitchFamily="18" charset="0"/>
              </a:rPr>
              <a:t>2</a:t>
            </a:r>
            <a:r>
              <a:rPr lang="zh-CN" altLang="en-US" b="1">
                <a:latin typeface="Times New Roman" panose="02020603050405020304" pitchFamily="18" charset="0"/>
              </a:rPr>
              <a:t>， </a:t>
            </a:r>
            <a:r>
              <a:rPr lang="en-US" altLang="zh-CN" b="1">
                <a:latin typeface="Times New Roman" panose="02020603050405020304" pitchFamily="18" charset="0"/>
              </a:rPr>
              <a:t>I</a:t>
            </a:r>
            <a:r>
              <a:rPr lang="en-US" altLang="zh-CN" b="1" baseline="-25000">
                <a:latin typeface="Times New Roman" panose="02020603050405020304" pitchFamily="18" charset="0"/>
              </a:rPr>
              <a:t>3</a:t>
            </a:r>
            <a:r>
              <a:rPr lang="en-US" altLang="zh-CN" b="1">
                <a:latin typeface="Times New Roman" panose="02020603050405020304" pitchFamily="18" charset="0"/>
              </a:rPr>
              <a:t>= I/2</a:t>
            </a:r>
            <a:r>
              <a:rPr lang="en-US" altLang="zh-CN" b="1" baseline="30000">
                <a:latin typeface="Times New Roman" panose="02020603050405020304" pitchFamily="18" charset="0"/>
              </a:rPr>
              <a:t>1</a:t>
            </a:r>
            <a:r>
              <a:rPr lang="zh-CN" altLang="en-US" b="1">
                <a:latin typeface="Times New Roman" panose="02020603050405020304" pitchFamily="18" charset="0"/>
              </a:rPr>
              <a:t>。</a:t>
            </a:r>
            <a:r>
              <a:rPr lang="zh-CN" altLang="en-US">
                <a:latin typeface="Times New Roman" panose="02020603050405020304" pitchFamily="18" charset="0"/>
              </a:rPr>
              <a:t> </a:t>
            </a:r>
            <a:endParaRPr lang="zh-CN" altLang="en-US">
              <a:latin typeface="Times New Roman" panose="02020603050405020304" pitchFamily="18" charset="0"/>
            </a:endParaRPr>
          </a:p>
        </p:txBody>
      </p:sp>
    </p:spTree>
  </p:cSld>
  <p:clrMapOvr>
    <a:masterClrMapping/>
  </p:clrMapOvr>
  <p:transition>
    <p:blinds dir="vert"/>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3556" name="文本框 23555"/>
          <p:cNvSpPr txBox="1"/>
          <p:nvPr/>
        </p:nvSpPr>
        <p:spPr>
          <a:xfrm>
            <a:off x="228600" y="304800"/>
            <a:ext cx="8686800" cy="1244600"/>
          </a:xfrm>
          <a:prstGeom prst="rect">
            <a:avLst/>
          </a:prstGeom>
          <a:noFill/>
          <a:ln w="9525">
            <a:noFill/>
          </a:ln>
        </p:spPr>
        <p:txBody>
          <a:bodyPr>
            <a:spAutoFit/>
          </a:bodyPr>
          <a:p>
            <a:pPr>
              <a:lnSpc>
                <a:spcPct val="158000"/>
              </a:lnSpc>
              <a:spcBef>
                <a:spcPct val="50000"/>
              </a:spcBef>
            </a:pPr>
            <a:r>
              <a:rPr lang="en-US" altLang="zh-CN" dirty="0">
                <a:latin typeface="Times New Roman" panose="02020603050405020304" pitchFamily="18" charset="0"/>
              </a:rPr>
              <a:t>       </a:t>
            </a:r>
            <a:r>
              <a:rPr lang="zh-CN" altLang="en-US" dirty="0">
                <a:latin typeface="Times New Roman" panose="02020603050405020304" pitchFamily="18" charset="0"/>
              </a:rPr>
              <a:t>根据叠加原理，对于任意输入的一个二进制数</a:t>
            </a:r>
            <a:r>
              <a:rPr lang="en-US" altLang="zh-CN">
                <a:latin typeface="Times New Roman" panose="02020603050405020304" pitchFamily="18" charset="0"/>
              </a:rPr>
              <a:t>(D</a:t>
            </a:r>
            <a:r>
              <a:rPr lang="en-US" altLang="zh-CN" baseline="-25000">
                <a:latin typeface="Times New Roman" panose="02020603050405020304" pitchFamily="18" charset="0"/>
              </a:rPr>
              <a:t>3</a:t>
            </a:r>
            <a:r>
              <a:rPr lang="en-US" altLang="zh-CN">
                <a:latin typeface="Times New Roman" panose="02020603050405020304" pitchFamily="18" charset="0"/>
              </a:rPr>
              <a:t>D</a:t>
            </a:r>
            <a:r>
              <a:rPr lang="en-US" altLang="zh-CN" baseline="-25000">
                <a:latin typeface="Times New Roman" panose="02020603050405020304" pitchFamily="18" charset="0"/>
              </a:rPr>
              <a:t>2</a:t>
            </a:r>
            <a:r>
              <a:rPr lang="en-US" altLang="zh-CN">
                <a:latin typeface="Times New Roman" panose="02020603050405020304" pitchFamily="18" charset="0"/>
              </a:rPr>
              <a:t>D</a:t>
            </a:r>
            <a:r>
              <a:rPr lang="en-US" altLang="zh-CN" baseline="-25000">
                <a:latin typeface="Times New Roman" panose="02020603050405020304" pitchFamily="18" charset="0"/>
              </a:rPr>
              <a:t>1</a:t>
            </a:r>
            <a:r>
              <a:rPr lang="en-US" altLang="zh-CN">
                <a:latin typeface="Times New Roman" panose="02020603050405020304" pitchFamily="18" charset="0"/>
              </a:rPr>
              <a:t>D</a:t>
            </a:r>
            <a:r>
              <a:rPr lang="en-US" altLang="zh-CN" baseline="-25000">
                <a:latin typeface="Times New Roman" panose="02020603050405020304" pitchFamily="18" charset="0"/>
              </a:rPr>
              <a:t>0</a:t>
            </a:r>
            <a:r>
              <a:rPr lang="en-US" altLang="zh-CN">
                <a:latin typeface="Times New Roman" panose="02020603050405020304" pitchFamily="18" charset="0"/>
              </a:rPr>
              <a:t>)</a:t>
            </a:r>
            <a:r>
              <a:rPr lang="en-US" altLang="zh-CN" baseline="30000">
                <a:latin typeface="Times New Roman" panose="02020603050405020304" pitchFamily="18" charset="0"/>
              </a:rPr>
              <a:t>2</a:t>
            </a:r>
            <a:r>
              <a:rPr lang="zh-CN" altLang="en-US">
                <a:latin typeface="Times New Roman" panose="02020603050405020304" pitchFamily="18" charset="0"/>
              </a:rPr>
              <a:t>， </a:t>
            </a:r>
            <a:r>
              <a:rPr lang="zh-CN" altLang="en-US" dirty="0">
                <a:latin typeface="Times New Roman" panose="02020603050405020304" pitchFamily="18" charset="0"/>
              </a:rPr>
              <a:t>流向求和放大器的电流</a:t>
            </a:r>
            <a:r>
              <a:rPr lang="en-US" altLang="zh-CN">
                <a:latin typeface="Times New Roman" panose="02020603050405020304" pitchFamily="18" charset="0"/>
              </a:rPr>
              <a:t>I</a:t>
            </a:r>
            <a:r>
              <a:rPr lang="en-US" altLang="zh-CN" baseline="-25000">
                <a:latin typeface="Times New Roman" panose="02020603050405020304" pitchFamily="18" charset="0"/>
              </a:rPr>
              <a:t>Σ</a:t>
            </a:r>
            <a:r>
              <a:rPr lang="zh-CN" altLang="en-US" dirty="0">
                <a:latin typeface="Times New Roman" panose="02020603050405020304" pitchFamily="18" charset="0"/>
              </a:rPr>
              <a:t>应为：</a:t>
            </a:r>
            <a:endParaRPr lang="zh-CN" altLang="en-US">
              <a:latin typeface="Times New Roman" panose="02020603050405020304" pitchFamily="18" charset="0"/>
            </a:endParaRPr>
          </a:p>
        </p:txBody>
      </p:sp>
      <p:graphicFrame>
        <p:nvGraphicFramePr>
          <p:cNvPr id="23557" name="对象 23556"/>
          <p:cNvGraphicFramePr/>
          <p:nvPr/>
        </p:nvGraphicFramePr>
        <p:xfrm>
          <a:off x="1524000" y="1717675"/>
          <a:ext cx="6553200" cy="2625725"/>
        </p:xfrm>
        <a:graphic>
          <a:graphicData uri="http://schemas.openxmlformats.org/presentationml/2006/ole">
            <mc:AlternateContent xmlns:mc="http://schemas.openxmlformats.org/markup-compatibility/2006">
              <mc:Choice xmlns:v="urn:schemas-microsoft-com:vml" Requires="v">
                <p:oleObj spid="_x0000_s3087" name="" r:id="rId1" imgW="3200400" imgH="1282700" progId="Equation.3">
                  <p:embed/>
                </p:oleObj>
              </mc:Choice>
              <mc:Fallback>
                <p:oleObj name="" r:id="rId1" imgW="3200400" imgH="1282700" progId="Equation.3">
                  <p:embed/>
                  <p:pic>
                    <p:nvPicPr>
                      <p:cNvPr id="0" name="图片 3086"/>
                      <p:cNvPicPr/>
                      <p:nvPr/>
                    </p:nvPicPr>
                    <p:blipFill>
                      <a:blip r:embed="rId2"/>
                      <a:stretch>
                        <a:fillRect/>
                      </a:stretch>
                    </p:blipFill>
                    <p:spPr>
                      <a:xfrm>
                        <a:off x="1524000" y="1717675"/>
                        <a:ext cx="6553200" cy="2625725"/>
                      </a:xfrm>
                      <a:prstGeom prst="rect">
                        <a:avLst/>
                      </a:prstGeom>
                      <a:noFill/>
                      <a:ln w="38100">
                        <a:noFill/>
                        <a:miter/>
                      </a:ln>
                    </p:spPr>
                  </p:pic>
                </p:oleObj>
              </mc:Fallback>
            </mc:AlternateContent>
          </a:graphicData>
        </a:graphic>
      </p:graphicFrame>
      <p:sp>
        <p:nvSpPr>
          <p:cNvPr id="23558" name="文本框 23557"/>
          <p:cNvSpPr txBox="1"/>
          <p:nvPr/>
        </p:nvSpPr>
        <p:spPr>
          <a:xfrm>
            <a:off x="228600" y="4575175"/>
            <a:ext cx="6938963" cy="457200"/>
          </a:xfrm>
          <a:prstGeom prst="rect">
            <a:avLst/>
          </a:prstGeom>
          <a:noFill/>
          <a:ln w="9525">
            <a:noFill/>
          </a:ln>
        </p:spPr>
        <p:txBody>
          <a:bodyPr wrap="none" anchor="t" anchorCtr="0">
            <a:spAutoFit/>
          </a:bodyPr>
          <a:p>
            <a:r>
              <a:rPr lang="zh-CN" altLang="en-US" dirty="0">
                <a:latin typeface="Times New Roman" panose="02020603050405020304" pitchFamily="18" charset="0"/>
              </a:rPr>
              <a:t>求和放大器的反馈电阻</a:t>
            </a:r>
            <a:r>
              <a:rPr lang="en-US" altLang="zh-CN">
                <a:latin typeface="Times New Roman" panose="02020603050405020304" pitchFamily="18" charset="0"/>
              </a:rPr>
              <a:t>R</a:t>
            </a:r>
            <a:r>
              <a:rPr lang="en-US" altLang="zh-CN" baseline="-25000">
                <a:latin typeface="Times New Roman" panose="02020603050405020304" pitchFamily="18" charset="0"/>
              </a:rPr>
              <a:t>F </a:t>
            </a:r>
            <a:r>
              <a:rPr lang="en-US" altLang="zh-CN">
                <a:latin typeface="Times New Roman" panose="02020603050405020304" pitchFamily="18" charset="0"/>
              </a:rPr>
              <a:t>= R</a:t>
            </a:r>
            <a:r>
              <a:rPr lang="zh-CN" altLang="en-US">
                <a:latin typeface="Times New Roman" panose="02020603050405020304" pitchFamily="18" charset="0"/>
              </a:rPr>
              <a:t>，</a:t>
            </a:r>
            <a:r>
              <a:rPr lang="zh-CN" altLang="en-US" dirty="0">
                <a:latin typeface="Times New Roman" panose="02020603050405020304" pitchFamily="18" charset="0"/>
              </a:rPr>
              <a:t>则输出电压</a:t>
            </a:r>
            <a:r>
              <a:rPr lang="en-US" altLang="zh-CN">
                <a:latin typeface="Times New Roman" panose="02020603050405020304" pitchFamily="18" charset="0"/>
              </a:rPr>
              <a:t>U</a:t>
            </a:r>
            <a:r>
              <a:rPr lang="en-US" altLang="zh-CN" baseline="-25000">
                <a:latin typeface="Times New Roman" panose="02020603050405020304" pitchFamily="18" charset="0"/>
              </a:rPr>
              <a:t>O</a:t>
            </a:r>
            <a:r>
              <a:rPr lang="zh-CN" altLang="en-US" dirty="0">
                <a:latin typeface="Times New Roman" panose="02020603050405020304" pitchFamily="18" charset="0"/>
              </a:rPr>
              <a:t>为</a:t>
            </a:r>
            <a:r>
              <a:rPr lang="en-US" altLang="zh-CN">
                <a:latin typeface="Times New Roman" panose="02020603050405020304" pitchFamily="18" charset="0"/>
              </a:rPr>
              <a:t>:</a:t>
            </a:r>
            <a:r>
              <a:rPr lang="zh-CN" altLang="en-US">
                <a:latin typeface="Times New Roman" panose="02020603050405020304" pitchFamily="18" charset="0"/>
              </a:rPr>
              <a:t></a:t>
            </a:r>
            <a:endParaRPr lang="zh-CN" altLang="en-US">
              <a:latin typeface="Times New Roman" panose="02020603050405020304" pitchFamily="18" charset="0"/>
            </a:endParaRPr>
          </a:p>
        </p:txBody>
      </p:sp>
      <p:graphicFrame>
        <p:nvGraphicFramePr>
          <p:cNvPr id="23559" name="对象 23558"/>
          <p:cNvGraphicFramePr/>
          <p:nvPr/>
        </p:nvGraphicFramePr>
        <p:xfrm>
          <a:off x="1828800" y="5337175"/>
          <a:ext cx="4343400" cy="911225"/>
        </p:xfrm>
        <a:graphic>
          <a:graphicData uri="http://schemas.openxmlformats.org/presentationml/2006/ole">
            <mc:AlternateContent xmlns:mc="http://schemas.openxmlformats.org/markup-compatibility/2006">
              <mc:Choice xmlns:v="urn:schemas-microsoft-com:vml" Requires="v">
                <p:oleObj spid="_x0000_s3083" name="" r:id="rId3" imgW="2056765" imgH="431800" progId="Equation.3">
                  <p:embed/>
                </p:oleObj>
              </mc:Choice>
              <mc:Fallback>
                <p:oleObj name="" r:id="rId3" imgW="2056765" imgH="431800" progId="Equation.3">
                  <p:embed/>
                  <p:pic>
                    <p:nvPicPr>
                      <p:cNvPr id="0" name="图片 3082"/>
                      <p:cNvPicPr/>
                      <p:nvPr/>
                    </p:nvPicPr>
                    <p:blipFill>
                      <a:blip r:embed="rId4"/>
                      <a:stretch>
                        <a:fillRect/>
                      </a:stretch>
                    </p:blipFill>
                    <p:spPr>
                      <a:xfrm>
                        <a:off x="1828800" y="5337175"/>
                        <a:ext cx="4343400" cy="911225"/>
                      </a:xfrm>
                      <a:prstGeom prst="rect">
                        <a:avLst/>
                      </a:prstGeom>
                      <a:noFill/>
                      <a:ln w="38100">
                        <a:noFill/>
                        <a:miter/>
                      </a:ln>
                    </p:spPr>
                  </p:pic>
                </p:oleObj>
              </mc:Fallback>
            </mc:AlternateContent>
          </a:graphicData>
        </a:graphic>
      </p:graphicFrame>
      <p:sp>
        <p:nvSpPr>
          <p:cNvPr id="23562" name="文本框 23561"/>
          <p:cNvSpPr txBox="1"/>
          <p:nvPr/>
        </p:nvSpPr>
        <p:spPr>
          <a:xfrm>
            <a:off x="7924800" y="3505200"/>
            <a:ext cx="1098550" cy="457200"/>
          </a:xfrm>
          <a:prstGeom prst="rect">
            <a:avLst/>
          </a:prstGeom>
          <a:noFill/>
          <a:ln w="9525">
            <a:noFill/>
          </a:ln>
        </p:spPr>
        <p:txBody>
          <a:bodyPr wrap="none" anchor="t" anchorCtr="0">
            <a:spAutoFit/>
          </a:bodyPr>
          <a:p>
            <a:r>
              <a:rPr lang="en-US" altLang="zh-CN">
                <a:latin typeface="Times New Roman" panose="02020603050405020304" pitchFamily="18" charset="0"/>
              </a:rPr>
              <a:t>(11-11)</a:t>
            </a:r>
            <a:endParaRPr lang="en-US" altLang="zh-CN">
              <a:latin typeface="Times New Roman" panose="02020603050405020304" pitchFamily="18" charset="0"/>
            </a:endParaRPr>
          </a:p>
        </p:txBody>
      </p:sp>
      <p:sp>
        <p:nvSpPr>
          <p:cNvPr id="23563" name="文本框 23562"/>
          <p:cNvSpPr txBox="1"/>
          <p:nvPr/>
        </p:nvSpPr>
        <p:spPr>
          <a:xfrm>
            <a:off x="8045450" y="5638800"/>
            <a:ext cx="1098550" cy="457200"/>
          </a:xfrm>
          <a:prstGeom prst="rect">
            <a:avLst/>
          </a:prstGeom>
          <a:noFill/>
          <a:ln w="9525">
            <a:noFill/>
          </a:ln>
        </p:spPr>
        <p:txBody>
          <a:bodyPr wrap="none" anchor="t" anchorCtr="0">
            <a:spAutoFit/>
          </a:bodyPr>
          <a:p>
            <a:r>
              <a:rPr lang="en-US" altLang="zh-CN">
                <a:latin typeface="Times New Roman" panose="02020603050405020304" pitchFamily="18" charset="0"/>
              </a:rPr>
              <a:t>(11-12)</a:t>
            </a:r>
            <a:endParaRPr lang="en-US" altLang="zh-CN">
              <a:latin typeface="Times New Roman" panose="02020603050405020304" pitchFamily="18" charset="0"/>
            </a:endParaRPr>
          </a:p>
        </p:txBody>
      </p:sp>
    </p:spTree>
  </p:cSld>
  <p:clrMapOvr>
    <a:masterClrMapping/>
  </p:clrMapOvr>
  <p:transition>
    <p:blinds dir="vert"/>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6628" name="文本框 26627"/>
          <p:cNvSpPr txBox="1"/>
          <p:nvPr/>
        </p:nvSpPr>
        <p:spPr>
          <a:xfrm>
            <a:off x="228600" y="2971800"/>
            <a:ext cx="8839200" cy="3378200"/>
          </a:xfrm>
          <a:prstGeom prst="rect">
            <a:avLst/>
          </a:prstGeom>
          <a:noFill/>
          <a:ln w="9525">
            <a:noFill/>
          </a:ln>
        </p:spPr>
        <p:txBody>
          <a:bodyPr>
            <a:spAutoFit/>
          </a:bodyPr>
          <a:p>
            <a:pPr>
              <a:lnSpc>
                <a:spcPct val="150000"/>
              </a:lnSpc>
              <a:spcBef>
                <a:spcPct val="50000"/>
              </a:spcBef>
            </a:pPr>
            <a:r>
              <a:rPr lang="en-US" altLang="zh-CN" dirty="0">
                <a:latin typeface="Times New Roman" panose="02020603050405020304" pitchFamily="18" charset="0"/>
              </a:rPr>
              <a:t>        </a:t>
            </a:r>
            <a:r>
              <a:rPr lang="zh-CN" altLang="en-US" b="1" dirty="0">
                <a:latin typeface="Times New Roman" panose="02020603050405020304" pitchFamily="18" charset="0"/>
              </a:rPr>
              <a:t>与</a:t>
            </a:r>
            <a:r>
              <a:rPr lang="en-US" altLang="zh-CN" b="1">
                <a:latin typeface="Times New Roman" panose="02020603050405020304" pitchFamily="18" charset="0"/>
              </a:rPr>
              <a:t>T</a:t>
            </a:r>
            <a:r>
              <a:rPr lang="zh-CN" altLang="en-US" b="1" dirty="0">
                <a:latin typeface="Times New Roman" panose="02020603050405020304" pitchFamily="18" charset="0"/>
              </a:rPr>
              <a:t>型电阻网络</a:t>
            </a:r>
            <a:r>
              <a:rPr lang="en-US" altLang="zh-CN" b="1">
                <a:latin typeface="Times New Roman" panose="02020603050405020304" pitchFamily="18" charset="0"/>
              </a:rPr>
              <a:t>DAC</a:t>
            </a:r>
            <a:r>
              <a:rPr lang="zh-CN" altLang="en-US" b="1" dirty="0">
                <a:latin typeface="Times New Roman" panose="02020603050405020304" pitchFamily="18" charset="0"/>
              </a:rPr>
              <a:t>电路相比， 倒</a:t>
            </a:r>
            <a:r>
              <a:rPr lang="en-US" altLang="zh-CN" b="1">
                <a:latin typeface="Times New Roman" panose="02020603050405020304" pitchFamily="18" charset="0"/>
              </a:rPr>
              <a:t>T</a:t>
            </a:r>
            <a:r>
              <a:rPr lang="zh-CN" altLang="en-US" b="1" dirty="0">
                <a:latin typeface="Times New Roman" panose="02020603050405020304" pitchFamily="18" charset="0"/>
              </a:rPr>
              <a:t>型电阻网络</a:t>
            </a:r>
            <a:r>
              <a:rPr lang="en-US" altLang="zh-CN" b="1">
                <a:latin typeface="Times New Roman" panose="02020603050405020304" pitchFamily="18" charset="0"/>
              </a:rPr>
              <a:t>DAC</a:t>
            </a:r>
            <a:r>
              <a:rPr lang="zh-CN" altLang="en-US" b="1" dirty="0">
                <a:latin typeface="Times New Roman" panose="02020603050405020304" pitchFamily="18" charset="0"/>
              </a:rPr>
              <a:t>电路的突出优点在于：无论输入信号如何变化，流过基准电压源、模拟开关以及各电阻支路的电流均保持恒定，电路中各节点的电压也保持不变，这有利于提高</a:t>
            </a:r>
            <a:r>
              <a:rPr lang="en-US" altLang="zh-CN" b="1">
                <a:latin typeface="Times New Roman" panose="02020603050405020304" pitchFamily="18" charset="0"/>
              </a:rPr>
              <a:t>DAC</a:t>
            </a:r>
            <a:r>
              <a:rPr lang="zh-CN" altLang="en-US" b="1" dirty="0">
                <a:latin typeface="Times New Roman" panose="02020603050405020304" pitchFamily="18" charset="0"/>
              </a:rPr>
              <a:t>的转换速度。 再加上倒</a:t>
            </a:r>
            <a:r>
              <a:rPr lang="en-US" altLang="zh-CN" b="1">
                <a:latin typeface="Times New Roman" panose="02020603050405020304" pitchFamily="18" charset="0"/>
              </a:rPr>
              <a:t>T</a:t>
            </a:r>
            <a:r>
              <a:rPr lang="zh-CN" altLang="en-US" b="1" dirty="0">
                <a:latin typeface="Times New Roman" panose="02020603050405020304" pitchFamily="18" charset="0"/>
              </a:rPr>
              <a:t>型电阻网络</a:t>
            </a:r>
            <a:r>
              <a:rPr lang="en-US" altLang="zh-CN" b="1">
                <a:latin typeface="Times New Roman" panose="02020603050405020304" pitchFamily="18" charset="0"/>
              </a:rPr>
              <a:t>DAC</a:t>
            </a:r>
            <a:r>
              <a:rPr lang="zh-CN" altLang="en-US" b="1" dirty="0">
                <a:latin typeface="Times New Roman" panose="02020603050405020304" pitchFamily="18" charset="0"/>
              </a:rPr>
              <a:t>电路只有两种电阻值和它便于集成的优点，使其成为目前集成</a:t>
            </a:r>
            <a:r>
              <a:rPr lang="en-US" altLang="zh-CN" b="1">
                <a:latin typeface="Times New Roman" panose="02020603050405020304" pitchFamily="18" charset="0"/>
              </a:rPr>
              <a:t>DAC</a:t>
            </a:r>
            <a:r>
              <a:rPr lang="zh-CN" altLang="en-US" b="1" dirty="0">
                <a:latin typeface="Times New Roman" panose="02020603050405020304" pitchFamily="18" charset="0"/>
              </a:rPr>
              <a:t>中应用最多的转换电路。</a:t>
            </a:r>
            <a:endParaRPr lang="zh-CN" altLang="en-US" b="1">
              <a:latin typeface="Times New Roman" panose="02020603050405020304" pitchFamily="18" charset="0"/>
            </a:endParaRPr>
          </a:p>
        </p:txBody>
      </p:sp>
      <p:sp>
        <p:nvSpPr>
          <p:cNvPr id="26629" name="文本框 26628"/>
          <p:cNvSpPr txBox="1"/>
          <p:nvPr/>
        </p:nvSpPr>
        <p:spPr>
          <a:xfrm>
            <a:off x="128588" y="685800"/>
            <a:ext cx="5638800" cy="457200"/>
          </a:xfrm>
          <a:prstGeom prst="rect">
            <a:avLst/>
          </a:prstGeom>
          <a:noFill/>
          <a:ln w="9525">
            <a:noFill/>
          </a:ln>
        </p:spPr>
        <p:txBody>
          <a:bodyPr wrap="none" anchor="t" anchorCtr="0">
            <a:spAutoFit/>
          </a:bodyPr>
          <a:p>
            <a:r>
              <a:rPr lang="en-US" altLang="zh-CN" dirty="0">
                <a:latin typeface="Times New Roman" panose="02020603050405020304" pitchFamily="18" charset="0"/>
              </a:rPr>
              <a:t> </a:t>
            </a:r>
            <a:r>
              <a:rPr lang="zh-CN" altLang="en-US" b="1" dirty="0">
                <a:latin typeface="Times New Roman" panose="02020603050405020304" pitchFamily="18" charset="0"/>
              </a:rPr>
              <a:t>推广到</a:t>
            </a:r>
            <a:r>
              <a:rPr lang="en-US" altLang="zh-CN" b="1">
                <a:latin typeface="Times New Roman" panose="02020603050405020304" pitchFamily="18" charset="0"/>
              </a:rPr>
              <a:t>n</a:t>
            </a:r>
            <a:r>
              <a:rPr lang="zh-CN" altLang="en-US" b="1">
                <a:latin typeface="Times New Roman" panose="02020603050405020304" pitchFamily="18" charset="0"/>
              </a:rPr>
              <a:t>位</a:t>
            </a:r>
            <a:r>
              <a:rPr lang="en-US" altLang="zh-CN" b="1">
                <a:latin typeface="Times New Roman" panose="02020603050405020304" pitchFamily="18" charset="0"/>
              </a:rPr>
              <a:t>T</a:t>
            </a:r>
            <a:r>
              <a:rPr lang="zh-CN" altLang="en-US" b="1" dirty="0">
                <a:latin typeface="Times New Roman" panose="02020603050405020304" pitchFamily="18" charset="0"/>
              </a:rPr>
              <a:t>型电阻网络</a:t>
            </a:r>
            <a:r>
              <a:rPr lang="en-US" altLang="zh-CN" b="1">
                <a:latin typeface="Times New Roman" panose="02020603050405020304" pitchFamily="18" charset="0"/>
              </a:rPr>
              <a:t>DAC</a:t>
            </a:r>
            <a:r>
              <a:rPr lang="zh-CN" altLang="en-US" b="1" dirty="0">
                <a:latin typeface="Times New Roman" panose="02020603050405020304" pitchFamily="18" charset="0"/>
              </a:rPr>
              <a:t>电路， 可得</a:t>
            </a:r>
            <a:endParaRPr lang="zh-CN" altLang="en-US" b="1">
              <a:latin typeface="Times New Roman" panose="02020603050405020304" pitchFamily="18" charset="0"/>
            </a:endParaRPr>
          </a:p>
        </p:txBody>
      </p:sp>
      <p:graphicFrame>
        <p:nvGraphicFramePr>
          <p:cNvPr id="26630" name="对象 26629"/>
          <p:cNvGraphicFramePr/>
          <p:nvPr/>
        </p:nvGraphicFramePr>
        <p:xfrm>
          <a:off x="2590800" y="1524000"/>
          <a:ext cx="3429000" cy="1049338"/>
        </p:xfrm>
        <a:graphic>
          <a:graphicData uri="http://schemas.openxmlformats.org/presentationml/2006/ole">
            <mc:AlternateContent xmlns:mc="http://schemas.openxmlformats.org/markup-compatibility/2006">
              <mc:Choice xmlns:v="urn:schemas-microsoft-com:vml" Requires="v">
                <p:oleObj spid="_x0000_s3086" name="" r:id="rId1" imgW="1409065" imgH="431800" progId="Equation.3">
                  <p:embed/>
                </p:oleObj>
              </mc:Choice>
              <mc:Fallback>
                <p:oleObj name="" r:id="rId1" imgW="1409065" imgH="431800" progId="Equation.3">
                  <p:embed/>
                  <p:pic>
                    <p:nvPicPr>
                      <p:cNvPr id="0" name="图片 3085"/>
                      <p:cNvPicPr/>
                      <p:nvPr/>
                    </p:nvPicPr>
                    <p:blipFill>
                      <a:blip r:embed="rId2"/>
                      <a:stretch>
                        <a:fillRect/>
                      </a:stretch>
                    </p:blipFill>
                    <p:spPr>
                      <a:xfrm>
                        <a:off x="2590800" y="1524000"/>
                        <a:ext cx="3429000" cy="1049338"/>
                      </a:xfrm>
                      <a:prstGeom prst="rect">
                        <a:avLst/>
                      </a:prstGeom>
                      <a:solidFill>
                        <a:schemeClr val="bg1"/>
                      </a:solidFill>
                      <a:ln w="38100">
                        <a:noFill/>
                        <a:miter/>
                      </a:ln>
                    </p:spPr>
                  </p:pic>
                </p:oleObj>
              </mc:Fallback>
            </mc:AlternateContent>
          </a:graphicData>
        </a:graphic>
      </p:graphicFrame>
      <p:sp>
        <p:nvSpPr>
          <p:cNvPr id="26631" name="文本框 26630"/>
          <p:cNvSpPr txBox="1"/>
          <p:nvPr/>
        </p:nvSpPr>
        <p:spPr>
          <a:xfrm>
            <a:off x="7848600" y="1828800"/>
            <a:ext cx="1098550" cy="457200"/>
          </a:xfrm>
          <a:prstGeom prst="rect">
            <a:avLst/>
          </a:prstGeom>
          <a:noFill/>
          <a:ln w="9525">
            <a:noFill/>
          </a:ln>
        </p:spPr>
        <p:txBody>
          <a:bodyPr wrap="none" anchor="t" anchorCtr="0">
            <a:spAutoFit/>
          </a:bodyPr>
          <a:p>
            <a:r>
              <a:rPr lang="en-US" altLang="zh-CN">
                <a:latin typeface="Times New Roman" panose="02020603050405020304" pitchFamily="18" charset="0"/>
              </a:rPr>
              <a:t>(11-13)</a:t>
            </a:r>
            <a:endParaRPr lang="en-US" altLang="zh-CN">
              <a:latin typeface="Times New Roman" panose="02020603050405020304" pitchFamily="18" charset="0"/>
            </a:endParaRPr>
          </a:p>
        </p:txBody>
      </p:sp>
    </p:spTree>
  </p:cSld>
  <p:clrMapOvr>
    <a:masterClrMapping/>
  </p:clrMapOvr>
  <p:transition>
    <p:blinds dir="vert"/>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5604" name="文本框 25603"/>
          <p:cNvSpPr txBox="1"/>
          <p:nvPr/>
        </p:nvSpPr>
        <p:spPr>
          <a:xfrm>
            <a:off x="762000" y="685800"/>
            <a:ext cx="2657475" cy="457200"/>
          </a:xfrm>
          <a:prstGeom prst="rect">
            <a:avLst/>
          </a:prstGeom>
          <a:noFill/>
          <a:ln w="9525">
            <a:noFill/>
          </a:ln>
        </p:spPr>
        <p:txBody>
          <a:bodyPr wrap="none" anchor="t" anchorCtr="0">
            <a:spAutoFit/>
          </a:bodyPr>
          <a:p>
            <a:r>
              <a:rPr lang="en-US" altLang="zh-CN" b="1">
                <a:latin typeface="Times New Roman" panose="02020603050405020304" pitchFamily="18" charset="0"/>
              </a:rPr>
              <a:t>4. </a:t>
            </a:r>
            <a:r>
              <a:rPr lang="zh-CN" altLang="en-US" b="1" dirty="0">
                <a:latin typeface="Times New Roman" panose="02020603050405020304" pitchFamily="18" charset="0"/>
              </a:rPr>
              <a:t>双极性</a:t>
            </a:r>
            <a:r>
              <a:rPr lang="en-US" altLang="zh-CN" b="1">
                <a:latin typeface="Times New Roman" panose="02020603050405020304" pitchFamily="18" charset="0"/>
              </a:rPr>
              <a:t>DAC</a:t>
            </a:r>
            <a:r>
              <a:rPr lang="zh-CN" altLang="en-US" b="1" dirty="0">
                <a:latin typeface="Times New Roman" panose="02020603050405020304" pitchFamily="18" charset="0"/>
              </a:rPr>
              <a:t>电路</a:t>
            </a:r>
            <a:endParaRPr lang="zh-CN" altLang="en-US" b="1">
              <a:latin typeface="Times New Roman" panose="02020603050405020304" pitchFamily="18" charset="0"/>
            </a:endParaRPr>
          </a:p>
        </p:txBody>
      </p:sp>
      <p:sp>
        <p:nvSpPr>
          <p:cNvPr id="25605" name="文本框 25604"/>
          <p:cNvSpPr txBox="1"/>
          <p:nvPr/>
        </p:nvSpPr>
        <p:spPr>
          <a:xfrm>
            <a:off x="228600" y="1306513"/>
            <a:ext cx="8686800" cy="5094287"/>
          </a:xfrm>
          <a:prstGeom prst="rect">
            <a:avLst/>
          </a:prstGeom>
          <a:noFill/>
          <a:ln w="9525">
            <a:noFill/>
          </a:ln>
        </p:spPr>
        <p:txBody>
          <a:bodyPr>
            <a:spAutoFit/>
          </a:bodyPr>
          <a:p>
            <a:pPr>
              <a:lnSpc>
                <a:spcPct val="130000"/>
              </a:lnSpc>
              <a:spcBef>
                <a:spcPct val="50000"/>
              </a:spcBef>
            </a:pPr>
            <a:r>
              <a:rPr lang="en-US" altLang="zh-CN" dirty="0">
                <a:latin typeface="Times New Roman" panose="02020603050405020304" pitchFamily="18" charset="0"/>
              </a:rPr>
              <a:t>       </a:t>
            </a:r>
            <a:r>
              <a:rPr lang="zh-CN" altLang="en-US" b="1" dirty="0">
                <a:latin typeface="Times New Roman" panose="02020603050405020304" pitchFamily="18" charset="0"/>
              </a:rPr>
              <a:t>偏移二进制码是在带符号二进制码的基础上加上一个偏移量得到的。</a:t>
            </a:r>
            <a:r>
              <a:rPr lang="en-US" altLang="zh-CN" b="1">
                <a:latin typeface="Times New Roman" panose="02020603050405020304" pitchFamily="18" charset="0"/>
              </a:rPr>
              <a:t>n</a:t>
            </a:r>
            <a:r>
              <a:rPr lang="zh-CN" altLang="en-US" b="1" dirty="0">
                <a:latin typeface="Times New Roman" panose="02020603050405020304" pitchFamily="18" charset="0"/>
              </a:rPr>
              <a:t>位二进制数</a:t>
            </a:r>
            <a:r>
              <a:rPr lang="en-US" altLang="zh-CN" b="1">
                <a:latin typeface="Times New Roman" panose="02020603050405020304" pitchFamily="18" charset="0"/>
              </a:rPr>
              <a:t>D </a:t>
            </a:r>
            <a:r>
              <a:rPr lang="zh-CN" altLang="en-US" b="1" dirty="0">
                <a:latin typeface="Times New Roman" panose="02020603050405020304" pitchFamily="18" charset="0"/>
              </a:rPr>
              <a:t>的偏移二进制码为</a:t>
            </a:r>
            <a:endParaRPr lang="zh-CN" altLang="en-US" b="1" dirty="0">
              <a:latin typeface="Times New Roman" panose="02020603050405020304" pitchFamily="18" charset="0"/>
            </a:endParaRPr>
          </a:p>
          <a:p>
            <a:pPr algn="r">
              <a:lnSpc>
                <a:spcPct val="130000"/>
              </a:lnSpc>
              <a:spcBef>
                <a:spcPct val="50000"/>
              </a:spcBef>
            </a:pPr>
            <a:r>
              <a:rPr lang="en-US" altLang="zh-CN" b="1">
                <a:latin typeface="Times New Roman" panose="02020603050405020304" pitchFamily="18" charset="0"/>
              </a:rPr>
              <a:t>D</a:t>
            </a:r>
            <a:r>
              <a:rPr lang="en-US" altLang="zh-CN" b="1" baseline="-25000">
                <a:latin typeface="Times New Roman" panose="02020603050405020304" pitchFamily="18" charset="0"/>
              </a:rPr>
              <a:t>B </a:t>
            </a:r>
            <a:r>
              <a:rPr lang="en-US" altLang="zh-CN" b="1">
                <a:latin typeface="Times New Roman" panose="02020603050405020304" pitchFamily="18" charset="0"/>
              </a:rPr>
              <a:t>= D</a:t>
            </a:r>
            <a:r>
              <a:rPr lang="en-US" altLang="zh-CN" b="1" baseline="-25000">
                <a:latin typeface="Times New Roman" panose="02020603050405020304" pitchFamily="18" charset="0"/>
              </a:rPr>
              <a:t>C</a:t>
            </a:r>
            <a:r>
              <a:rPr lang="zh-CN" altLang="en-US" b="1">
                <a:latin typeface="Times New Roman" panose="02020603050405020304" pitchFamily="18" charset="0"/>
              </a:rPr>
              <a:t>＋</a:t>
            </a:r>
            <a:r>
              <a:rPr lang="en-US" altLang="zh-CN" b="1">
                <a:latin typeface="Times New Roman" panose="02020603050405020304" pitchFamily="18" charset="0"/>
              </a:rPr>
              <a:t>2</a:t>
            </a:r>
            <a:r>
              <a:rPr lang="en-US" altLang="zh-CN" b="1" baseline="30000">
                <a:latin typeface="Times New Roman" panose="02020603050405020304" pitchFamily="18" charset="0"/>
              </a:rPr>
              <a:t>n</a:t>
            </a:r>
            <a:r>
              <a:rPr lang="en-US" altLang="zh-CN" b="1">
                <a:latin typeface="Times New Roman" panose="02020603050405020304" pitchFamily="18" charset="0"/>
              </a:rPr>
              <a:t> 				(11- 14) </a:t>
            </a:r>
            <a:endParaRPr lang="en-US" altLang="zh-CN" b="1">
              <a:latin typeface="Times New Roman" panose="02020603050405020304" pitchFamily="18" charset="0"/>
            </a:endParaRPr>
          </a:p>
          <a:p>
            <a:pPr>
              <a:lnSpc>
                <a:spcPct val="130000"/>
              </a:lnSpc>
              <a:spcBef>
                <a:spcPct val="50000"/>
              </a:spcBef>
            </a:pPr>
            <a:r>
              <a:rPr lang="zh-CN" altLang="en-US" b="1" dirty="0">
                <a:latin typeface="Times New Roman" panose="02020603050405020304" pitchFamily="18" charset="0"/>
              </a:rPr>
              <a:t>式中</a:t>
            </a:r>
            <a:r>
              <a:rPr lang="en-US" altLang="zh-CN" b="1">
                <a:latin typeface="Times New Roman" panose="02020603050405020304" pitchFamily="18" charset="0"/>
              </a:rPr>
              <a:t>2</a:t>
            </a:r>
            <a:r>
              <a:rPr lang="en-US" altLang="zh-CN" b="1" baseline="30000">
                <a:latin typeface="Times New Roman" panose="02020603050405020304" pitchFamily="18" charset="0"/>
              </a:rPr>
              <a:t>n </a:t>
            </a:r>
            <a:r>
              <a:rPr lang="zh-CN" altLang="en-US" b="1" dirty="0">
                <a:latin typeface="Times New Roman" panose="02020603050405020304" pitchFamily="18" charset="0"/>
              </a:rPr>
              <a:t>就是偏移量，</a:t>
            </a:r>
            <a:r>
              <a:rPr lang="en-US" altLang="zh-CN" b="1">
                <a:latin typeface="Times New Roman" panose="02020603050405020304" pitchFamily="18" charset="0"/>
              </a:rPr>
              <a:t>D</a:t>
            </a:r>
            <a:r>
              <a:rPr lang="en-US" altLang="zh-CN" b="1" baseline="-25000">
                <a:latin typeface="Times New Roman" panose="02020603050405020304" pitchFamily="18" charset="0"/>
              </a:rPr>
              <a:t>C</a:t>
            </a:r>
            <a:r>
              <a:rPr lang="zh-CN" altLang="en-US" b="1">
                <a:latin typeface="Times New Roman" panose="02020603050405020304" pitchFamily="18" charset="0"/>
              </a:rPr>
              <a:t>是</a:t>
            </a:r>
            <a:r>
              <a:rPr lang="en-US" altLang="zh-CN" b="1">
                <a:latin typeface="Times New Roman" panose="02020603050405020304" pitchFamily="18" charset="0"/>
              </a:rPr>
              <a:t>n</a:t>
            </a:r>
            <a:r>
              <a:rPr lang="zh-CN" altLang="en-US" b="1" dirty="0">
                <a:latin typeface="Times New Roman" panose="02020603050405020304" pitchFamily="18" charset="0"/>
              </a:rPr>
              <a:t>位二进制数</a:t>
            </a:r>
            <a:r>
              <a:rPr lang="en-US" altLang="zh-CN" b="1">
                <a:latin typeface="Times New Roman" panose="02020603050405020304" pitchFamily="18" charset="0"/>
              </a:rPr>
              <a:t>D </a:t>
            </a:r>
            <a:r>
              <a:rPr lang="zh-CN" altLang="en-US" b="1" dirty="0">
                <a:latin typeface="Times New Roman" panose="02020603050405020304" pitchFamily="18" charset="0"/>
              </a:rPr>
              <a:t>的补码。例如一个正的</a:t>
            </a:r>
            <a:r>
              <a:rPr lang="en-US" altLang="zh-CN" b="1">
                <a:latin typeface="Times New Roman" panose="02020603050405020304" pitchFamily="18" charset="0"/>
              </a:rPr>
              <a:t>3</a:t>
            </a:r>
            <a:r>
              <a:rPr lang="zh-CN" altLang="en-US" b="1" dirty="0">
                <a:latin typeface="Times New Roman" panose="02020603050405020304" pitchFamily="18" charset="0"/>
              </a:rPr>
              <a:t>位二进制数</a:t>
            </a:r>
            <a:r>
              <a:rPr lang="en-US" altLang="zh-CN" b="1">
                <a:latin typeface="Times New Roman" panose="02020603050405020304" pitchFamily="18" charset="0"/>
              </a:rPr>
              <a:t>D = (+110)</a:t>
            </a:r>
            <a:r>
              <a:rPr lang="en-US" altLang="zh-CN" b="1" baseline="-25000">
                <a:latin typeface="Times New Roman" panose="02020603050405020304" pitchFamily="18" charset="0"/>
              </a:rPr>
              <a:t>2</a:t>
            </a:r>
            <a:r>
              <a:rPr lang="zh-CN" altLang="en-US" b="1">
                <a:latin typeface="Times New Roman" panose="02020603050405020304" pitchFamily="18" charset="0"/>
              </a:rPr>
              <a:t>，</a:t>
            </a:r>
            <a:r>
              <a:rPr lang="zh-CN" altLang="en-US" b="1" dirty="0">
                <a:latin typeface="Times New Roman" panose="02020603050405020304" pitchFamily="18" charset="0"/>
              </a:rPr>
              <a:t>其补码为</a:t>
            </a:r>
            <a:r>
              <a:rPr lang="en-US" altLang="zh-CN" b="1">
                <a:latin typeface="Times New Roman" panose="02020603050405020304" pitchFamily="18" charset="0"/>
              </a:rPr>
              <a:t>(0110)</a:t>
            </a:r>
            <a:r>
              <a:rPr lang="en-US" altLang="zh-CN" b="1" baseline="-25000">
                <a:latin typeface="Times New Roman" panose="02020603050405020304" pitchFamily="18" charset="0"/>
              </a:rPr>
              <a:t>2</a:t>
            </a:r>
            <a:r>
              <a:rPr lang="zh-CN" altLang="en-US" b="1" dirty="0">
                <a:latin typeface="Times New Roman" panose="02020603050405020304" pitchFamily="18" charset="0"/>
              </a:rPr>
              <a:t>，则对应的偏移二进制码为： </a:t>
            </a:r>
            <a:endParaRPr lang="zh-CN" altLang="en-US" b="1" dirty="0">
              <a:latin typeface="Times New Roman" panose="02020603050405020304" pitchFamily="18" charset="0"/>
            </a:endParaRPr>
          </a:p>
          <a:p>
            <a:pPr algn="ctr">
              <a:lnSpc>
                <a:spcPct val="130000"/>
              </a:lnSpc>
              <a:spcBef>
                <a:spcPct val="50000"/>
              </a:spcBef>
            </a:pPr>
            <a:r>
              <a:rPr lang="en-US" altLang="zh-CN" b="1">
                <a:latin typeface="Times New Roman" panose="02020603050405020304" pitchFamily="18" charset="0"/>
              </a:rPr>
              <a:t>D</a:t>
            </a:r>
            <a:r>
              <a:rPr lang="en-US" altLang="zh-CN" b="1" baseline="-25000">
                <a:latin typeface="Times New Roman" panose="02020603050405020304" pitchFamily="18" charset="0"/>
              </a:rPr>
              <a:t>B</a:t>
            </a:r>
            <a:r>
              <a:rPr lang="en-US" altLang="zh-CN" b="1">
                <a:latin typeface="Times New Roman" panose="02020603050405020304" pitchFamily="18" charset="0"/>
              </a:rPr>
              <a:t> = (0110)</a:t>
            </a:r>
            <a:r>
              <a:rPr lang="en-US" altLang="zh-CN" b="1" baseline="-25000">
                <a:latin typeface="Times New Roman" panose="02020603050405020304" pitchFamily="18" charset="0"/>
              </a:rPr>
              <a:t>2</a:t>
            </a:r>
            <a:r>
              <a:rPr lang="en-US" altLang="zh-CN" b="1">
                <a:latin typeface="Times New Roman" panose="02020603050405020304" pitchFamily="18" charset="0"/>
              </a:rPr>
              <a:t> + (1000)</a:t>
            </a:r>
            <a:r>
              <a:rPr lang="en-US" altLang="zh-CN" b="1" baseline="-25000">
                <a:latin typeface="Times New Roman" panose="02020603050405020304" pitchFamily="18" charset="0"/>
              </a:rPr>
              <a:t>2</a:t>
            </a:r>
            <a:r>
              <a:rPr lang="en-US" altLang="zh-CN" b="1">
                <a:latin typeface="Times New Roman" panose="02020603050405020304" pitchFamily="18" charset="0"/>
              </a:rPr>
              <a:t> = (1110)</a:t>
            </a:r>
            <a:r>
              <a:rPr lang="en-US" altLang="zh-CN" b="1" baseline="-25000">
                <a:latin typeface="Times New Roman" panose="02020603050405020304" pitchFamily="18" charset="0"/>
              </a:rPr>
              <a:t>2</a:t>
            </a:r>
            <a:endParaRPr lang="en-US" altLang="zh-CN" b="1" baseline="-25000">
              <a:latin typeface="Times New Roman" panose="02020603050405020304" pitchFamily="18" charset="0"/>
            </a:endParaRPr>
          </a:p>
          <a:p>
            <a:pPr algn="ctr">
              <a:lnSpc>
                <a:spcPct val="130000"/>
              </a:lnSpc>
              <a:spcBef>
                <a:spcPct val="50000"/>
              </a:spcBef>
            </a:pPr>
            <a:r>
              <a:rPr lang="zh-CN" altLang="en-US" b="1">
                <a:latin typeface="Times New Roman" panose="02020603050405020304" pitchFamily="18" charset="0"/>
              </a:rPr>
              <a:t>若</a:t>
            </a:r>
            <a:r>
              <a:rPr lang="en-US" altLang="zh-CN" b="1">
                <a:latin typeface="Times New Roman" panose="02020603050405020304" pitchFamily="18" charset="0"/>
              </a:rPr>
              <a:t>D = (-110)</a:t>
            </a:r>
            <a:r>
              <a:rPr lang="en-US" altLang="zh-CN" b="1" baseline="-25000">
                <a:latin typeface="Times New Roman" panose="02020603050405020304" pitchFamily="18" charset="0"/>
              </a:rPr>
              <a:t>2</a:t>
            </a:r>
            <a:r>
              <a:rPr lang="zh-CN" altLang="en-US" b="1">
                <a:latin typeface="Times New Roman" panose="02020603050405020304" pitchFamily="18" charset="0"/>
              </a:rPr>
              <a:t>，</a:t>
            </a:r>
            <a:r>
              <a:rPr lang="zh-CN" altLang="en-US" b="1" dirty="0">
                <a:latin typeface="Times New Roman" panose="02020603050405020304" pitchFamily="18" charset="0"/>
              </a:rPr>
              <a:t>其补码为</a:t>
            </a:r>
            <a:r>
              <a:rPr lang="en-US" altLang="zh-CN" b="1">
                <a:latin typeface="Times New Roman" panose="02020603050405020304" pitchFamily="18" charset="0"/>
              </a:rPr>
              <a:t>(1010)</a:t>
            </a:r>
            <a:r>
              <a:rPr lang="en-US" altLang="zh-CN" b="1" baseline="-25000">
                <a:latin typeface="Times New Roman" panose="02020603050405020304" pitchFamily="18" charset="0"/>
              </a:rPr>
              <a:t>2</a:t>
            </a:r>
            <a:r>
              <a:rPr lang="zh-CN" altLang="en-US" b="1" dirty="0">
                <a:latin typeface="Times New Roman" panose="02020603050405020304" pitchFamily="18" charset="0"/>
              </a:rPr>
              <a:t>，则对应的偏移二进制码为：                          </a:t>
            </a:r>
            <a:r>
              <a:rPr lang="en-US" altLang="zh-CN" b="1">
                <a:latin typeface="Times New Roman" panose="02020603050405020304" pitchFamily="18" charset="0"/>
              </a:rPr>
              <a:t>D</a:t>
            </a:r>
            <a:r>
              <a:rPr lang="en-US" altLang="zh-CN" b="1" baseline="-25000">
                <a:latin typeface="Times New Roman" panose="02020603050405020304" pitchFamily="18" charset="0"/>
              </a:rPr>
              <a:t>B</a:t>
            </a:r>
            <a:r>
              <a:rPr lang="en-US" altLang="zh-CN" b="1">
                <a:latin typeface="Times New Roman" panose="02020603050405020304" pitchFamily="18" charset="0"/>
              </a:rPr>
              <a:t> = (1010)</a:t>
            </a:r>
            <a:r>
              <a:rPr lang="en-US" altLang="zh-CN" b="1" baseline="-25000">
                <a:latin typeface="Times New Roman" panose="02020603050405020304" pitchFamily="18" charset="0"/>
              </a:rPr>
              <a:t>2</a:t>
            </a:r>
            <a:r>
              <a:rPr lang="en-US" altLang="zh-CN" b="1">
                <a:latin typeface="Times New Roman" panose="02020603050405020304" pitchFamily="18" charset="0"/>
              </a:rPr>
              <a:t> + (1000)</a:t>
            </a:r>
            <a:r>
              <a:rPr lang="en-US" altLang="zh-CN" b="1" baseline="-25000">
                <a:latin typeface="Times New Roman" panose="02020603050405020304" pitchFamily="18" charset="0"/>
              </a:rPr>
              <a:t>2</a:t>
            </a:r>
            <a:r>
              <a:rPr lang="en-US" altLang="zh-CN" b="1">
                <a:latin typeface="Times New Roman" panose="02020603050405020304" pitchFamily="18" charset="0"/>
              </a:rPr>
              <a:t> = (0010)</a:t>
            </a:r>
            <a:r>
              <a:rPr lang="en-US" altLang="zh-CN" b="1" baseline="-25000">
                <a:latin typeface="Times New Roman" panose="02020603050405020304" pitchFamily="18" charset="0"/>
              </a:rPr>
              <a:t>2</a:t>
            </a:r>
            <a:endParaRPr lang="en-US" altLang="zh-CN" b="1">
              <a:latin typeface="Times New Roman" panose="02020603050405020304" pitchFamily="18" charset="0"/>
            </a:endParaRPr>
          </a:p>
        </p:txBody>
      </p:sp>
    </p:spTree>
  </p:cSld>
  <p:clrMapOvr>
    <a:masterClrMapping/>
  </p:clrMapOvr>
  <p:transition>
    <p:blinds dir="vert"/>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8676" name="文本框 28675"/>
          <p:cNvSpPr txBox="1"/>
          <p:nvPr/>
        </p:nvSpPr>
        <p:spPr>
          <a:xfrm>
            <a:off x="457200" y="533400"/>
            <a:ext cx="8001000" cy="457200"/>
          </a:xfrm>
          <a:prstGeom prst="rect">
            <a:avLst/>
          </a:prstGeom>
          <a:noFill/>
          <a:ln w="9525">
            <a:noFill/>
          </a:ln>
        </p:spPr>
        <p:txBody>
          <a:bodyPr>
            <a:spAutoFit/>
          </a:bodyPr>
          <a:p>
            <a:r>
              <a:rPr lang="zh-CN" altLang="en-US" b="1" dirty="0">
                <a:latin typeface="Times New Roman" panose="02020603050405020304" pitchFamily="18" charset="0"/>
              </a:rPr>
              <a:t>表</a:t>
            </a:r>
            <a:r>
              <a:rPr lang="en-US" altLang="zh-CN" b="1">
                <a:latin typeface="Times New Roman" panose="02020603050405020304" pitchFamily="18" charset="0"/>
              </a:rPr>
              <a:t>11-1 </a:t>
            </a:r>
            <a:r>
              <a:rPr lang="zh-CN" altLang="en-US" b="1" dirty="0">
                <a:latin typeface="Times New Roman" panose="02020603050405020304" pitchFamily="18" charset="0"/>
              </a:rPr>
              <a:t>无符号二进制数、偏移二进制码和补码对应的输出</a:t>
            </a:r>
            <a:endParaRPr lang="zh-CN" altLang="en-US" b="1">
              <a:latin typeface="Times New Roman" panose="02020603050405020304" pitchFamily="18" charset="0"/>
            </a:endParaRPr>
          </a:p>
        </p:txBody>
      </p:sp>
      <p:pic>
        <p:nvPicPr>
          <p:cNvPr id="28677" name="图片 28676" descr="Img00042"/>
          <p:cNvPicPr>
            <a:picLocks noChangeAspect="1"/>
          </p:cNvPicPr>
          <p:nvPr/>
        </p:nvPicPr>
        <p:blipFill>
          <a:blip r:embed="rId1"/>
          <a:stretch>
            <a:fillRect/>
          </a:stretch>
        </p:blipFill>
        <p:spPr>
          <a:xfrm>
            <a:off x="304800" y="1219200"/>
            <a:ext cx="8610600" cy="5181600"/>
          </a:xfrm>
          <a:prstGeom prst="rect">
            <a:avLst/>
          </a:prstGeom>
          <a:noFill/>
          <a:ln w="9525">
            <a:noFill/>
          </a:ln>
        </p:spPr>
      </p:pic>
    </p:spTree>
  </p:cSld>
  <p:clrMapOvr>
    <a:masterClrMapping/>
  </p:clrMapOvr>
  <p:transition>
    <p:blinds dir="vert"/>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652" name="文本框 27651"/>
          <p:cNvSpPr txBox="1"/>
          <p:nvPr/>
        </p:nvSpPr>
        <p:spPr>
          <a:xfrm>
            <a:off x="968375" y="5764213"/>
            <a:ext cx="7312025" cy="396875"/>
          </a:xfrm>
          <a:prstGeom prst="rect">
            <a:avLst/>
          </a:prstGeom>
          <a:noFill/>
          <a:ln w="9525">
            <a:noFill/>
          </a:ln>
        </p:spPr>
        <p:txBody>
          <a:bodyPr wrap="none" anchor="t" anchorCtr="0">
            <a:spAutoFit/>
          </a:bodyPr>
          <a:p>
            <a:r>
              <a:rPr lang="zh-CN" altLang="en-US" sz="2000" dirty="0">
                <a:latin typeface="Times New Roman" panose="02020603050405020304" pitchFamily="18" charset="0"/>
              </a:rPr>
              <a:t>图 </a:t>
            </a:r>
            <a:r>
              <a:rPr lang="en-US" altLang="zh-CN" sz="2000">
                <a:latin typeface="Times New Roman" panose="02020603050405020304" pitchFamily="18" charset="0"/>
              </a:rPr>
              <a:t>11-8 </a:t>
            </a:r>
            <a:r>
              <a:rPr lang="zh-CN" altLang="en-US" sz="2000" dirty="0">
                <a:latin typeface="Times New Roman" panose="02020603050405020304" pitchFamily="18" charset="0"/>
              </a:rPr>
              <a:t>偏移二进制输入的倒</a:t>
            </a:r>
            <a:r>
              <a:rPr lang="en-US" altLang="zh-CN" sz="2000">
                <a:latin typeface="Times New Roman" panose="02020603050405020304" pitchFamily="18" charset="0"/>
              </a:rPr>
              <a:t>T</a:t>
            </a:r>
            <a:r>
              <a:rPr lang="zh-CN" altLang="en-US" sz="2000" dirty="0">
                <a:latin typeface="Times New Roman" panose="02020603050405020304" pitchFamily="18" charset="0"/>
              </a:rPr>
              <a:t>型电阻网络双极性</a:t>
            </a:r>
            <a:r>
              <a:rPr lang="en-US" altLang="zh-CN" sz="2000">
                <a:latin typeface="Times New Roman" panose="02020603050405020304" pitchFamily="18" charset="0"/>
              </a:rPr>
              <a:t>DAC</a:t>
            </a:r>
            <a:r>
              <a:rPr lang="zh-CN" altLang="en-US" sz="2000" dirty="0">
                <a:latin typeface="Times New Roman" panose="02020603050405020304" pitchFamily="18" charset="0"/>
              </a:rPr>
              <a:t>电路原理图</a:t>
            </a:r>
            <a:endParaRPr lang="zh-CN" altLang="en-US" sz="2000">
              <a:latin typeface="Times New Roman" panose="02020603050405020304" pitchFamily="18" charset="0"/>
            </a:endParaRPr>
          </a:p>
        </p:txBody>
      </p:sp>
      <p:graphicFrame>
        <p:nvGraphicFramePr>
          <p:cNvPr id="27654" name="对象 27653"/>
          <p:cNvGraphicFramePr/>
          <p:nvPr/>
        </p:nvGraphicFramePr>
        <p:xfrm>
          <a:off x="381000" y="838200"/>
          <a:ext cx="8458200" cy="4524375"/>
        </p:xfrm>
        <a:graphic>
          <a:graphicData uri="http://schemas.openxmlformats.org/presentationml/2006/ole">
            <mc:AlternateContent xmlns:mc="http://schemas.openxmlformats.org/markup-compatibility/2006">
              <mc:Choice xmlns:v="urn:schemas-microsoft-com:vml" Requires="v">
                <p:oleObj spid="_x0000_s3090" name="" r:id="rId1" imgW="7896225" imgH="3867150" progId="Paint.Picture">
                  <p:embed/>
                </p:oleObj>
              </mc:Choice>
              <mc:Fallback>
                <p:oleObj name="" r:id="rId1" imgW="7896225" imgH="3867150" progId="Paint.Picture">
                  <p:embed/>
                  <p:pic>
                    <p:nvPicPr>
                      <p:cNvPr id="0" name="图片 3089"/>
                      <p:cNvPicPr/>
                      <p:nvPr/>
                    </p:nvPicPr>
                    <p:blipFill>
                      <a:blip r:embed="rId2"/>
                      <a:stretch>
                        <a:fillRect/>
                      </a:stretch>
                    </p:blipFill>
                    <p:spPr>
                      <a:xfrm>
                        <a:off x="381000" y="838200"/>
                        <a:ext cx="8458200" cy="4524375"/>
                      </a:xfrm>
                      <a:prstGeom prst="rect">
                        <a:avLst/>
                      </a:prstGeom>
                      <a:noFill/>
                      <a:ln w="38100">
                        <a:noFill/>
                        <a:miter/>
                      </a:ln>
                    </p:spPr>
                  </p:pic>
                </p:oleObj>
              </mc:Fallback>
            </mc:AlternateContent>
          </a:graphicData>
        </a:graphic>
      </p:graphicFrame>
    </p:spTree>
  </p:cSld>
  <p:clrMapOvr>
    <a:masterClrMapping/>
  </p:clrMapOvr>
  <p:transition>
    <p:blinds dir="vert"/>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724" name="文本框 30723"/>
          <p:cNvSpPr txBox="1"/>
          <p:nvPr/>
        </p:nvSpPr>
        <p:spPr>
          <a:xfrm>
            <a:off x="228600" y="533400"/>
            <a:ext cx="8763000" cy="2973388"/>
          </a:xfrm>
          <a:prstGeom prst="rect">
            <a:avLst/>
          </a:prstGeom>
          <a:noFill/>
          <a:ln w="9525">
            <a:noFill/>
          </a:ln>
        </p:spPr>
        <p:txBody>
          <a:bodyPr>
            <a:spAutoFit/>
          </a:bodyPr>
          <a:p>
            <a:pPr>
              <a:lnSpc>
                <a:spcPct val="158000"/>
              </a:lnSpc>
              <a:spcBef>
                <a:spcPct val="50000"/>
              </a:spcBef>
            </a:pPr>
            <a:r>
              <a:rPr lang="en-US" altLang="zh-CN" dirty="0">
                <a:latin typeface="Times New Roman" panose="02020603050405020304" pitchFamily="18" charset="0"/>
              </a:rPr>
              <a:t>        </a:t>
            </a:r>
            <a:r>
              <a:rPr lang="zh-CN" altLang="en-US" b="1" dirty="0">
                <a:latin typeface="Times New Roman" panose="02020603050405020304" pitchFamily="18" charset="0"/>
              </a:rPr>
              <a:t>从表</a:t>
            </a:r>
            <a:r>
              <a:rPr lang="en-US" altLang="zh-CN" b="1">
                <a:latin typeface="Times New Roman" panose="02020603050405020304" pitchFamily="18" charset="0"/>
              </a:rPr>
              <a:t>11- 1</a:t>
            </a:r>
            <a:r>
              <a:rPr lang="zh-CN" altLang="en-US" b="1" dirty="0">
                <a:latin typeface="Times New Roman" panose="02020603050405020304" pitchFamily="18" charset="0"/>
              </a:rPr>
              <a:t>中可以看出，为了得到应该输出的电压，只要保证输入</a:t>
            </a:r>
            <a:r>
              <a:rPr lang="en-US" altLang="zh-CN" b="1">
                <a:latin typeface="Times New Roman" panose="02020603050405020304" pitchFamily="18" charset="0"/>
              </a:rPr>
              <a:t>D</a:t>
            </a:r>
            <a:r>
              <a:rPr lang="en-US" altLang="zh-CN" b="1" baseline="-25000">
                <a:latin typeface="Times New Roman" panose="02020603050405020304" pitchFamily="18" charset="0"/>
              </a:rPr>
              <a:t>2</a:t>
            </a:r>
            <a:r>
              <a:rPr lang="en-US" altLang="zh-CN" b="1">
                <a:latin typeface="Times New Roman" panose="02020603050405020304" pitchFamily="18" charset="0"/>
              </a:rPr>
              <a:t>D</a:t>
            </a:r>
            <a:r>
              <a:rPr lang="en-US" altLang="zh-CN" b="1" baseline="-25000">
                <a:latin typeface="Times New Roman" panose="02020603050405020304" pitchFamily="18" charset="0"/>
              </a:rPr>
              <a:t>1</a:t>
            </a:r>
            <a:r>
              <a:rPr lang="en-US" altLang="zh-CN" b="1">
                <a:latin typeface="Times New Roman" panose="02020603050405020304" pitchFamily="18" charset="0"/>
              </a:rPr>
              <a:t>D</a:t>
            </a:r>
            <a:r>
              <a:rPr lang="en-US" altLang="zh-CN" b="1" baseline="-25000">
                <a:latin typeface="Times New Roman" panose="02020603050405020304" pitchFamily="18" charset="0"/>
              </a:rPr>
              <a:t>0</a:t>
            </a:r>
            <a:r>
              <a:rPr lang="en-US" altLang="zh-CN" b="1">
                <a:latin typeface="Times New Roman" panose="02020603050405020304" pitchFamily="18" charset="0"/>
              </a:rPr>
              <a:t>=100</a:t>
            </a:r>
            <a:r>
              <a:rPr lang="zh-CN" altLang="en-US" b="1" dirty="0">
                <a:latin typeface="Times New Roman" panose="02020603050405020304" pitchFamily="18" charset="0"/>
              </a:rPr>
              <a:t>时输出电压</a:t>
            </a:r>
            <a:r>
              <a:rPr lang="en-US" altLang="zh-CN" b="1">
                <a:latin typeface="Times New Roman" panose="02020603050405020304" pitchFamily="18" charset="0"/>
              </a:rPr>
              <a:t>U</a:t>
            </a:r>
            <a:r>
              <a:rPr lang="en-US" altLang="zh-CN" b="1" baseline="-25000">
                <a:latin typeface="Times New Roman" panose="02020603050405020304" pitchFamily="18" charset="0"/>
              </a:rPr>
              <a:t>O</a:t>
            </a:r>
            <a:r>
              <a:rPr lang="en-US" altLang="zh-CN" b="1">
                <a:latin typeface="Times New Roman" panose="02020603050405020304" pitchFamily="18" charset="0"/>
              </a:rPr>
              <a:t> = 0</a:t>
            </a:r>
            <a:r>
              <a:rPr lang="zh-CN" altLang="en-US" b="1" dirty="0">
                <a:latin typeface="Times New Roman" panose="02020603050405020304" pitchFamily="18" charset="0"/>
              </a:rPr>
              <a:t>即可。为此，在求和放大器的输入端增加了偏移电压</a:t>
            </a:r>
            <a:r>
              <a:rPr lang="en-US" altLang="zh-CN" b="1">
                <a:latin typeface="Times New Roman" panose="02020603050405020304" pitchFamily="18" charset="0"/>
              </a:rPr>
              <a:t>U</a:t>
            </a:r>
            <a:r>
              <a:rPr lang="en-US" altLang="zh-CN" b="1" baseline="-25000">
                <a:latin typeface="Times New Roman" panose="02020603050405020304" pitchFamily="18" charset="0"/>
              </a:rPr>
              <a:t>B</a:t>
            </a:r>
            <a:r>
              <a:rPr lang="zh-CN" altLang="en-US" b="1" dirty="0">
                <a:latin typeface="Times New Roman" panose="02020603050405020304" pitchFamily="18" charset="0"/>
              </a:rPr>
              <a:t>和偏移电阻</a:t>
            </a:r>
            <a:r>
              <a:rPr lang="en-US" altLang="zh-CN" b="1">
                <a:latin typeface="Times New Roman" panose="02020603050405020304" pitchFamily="18" charset="0"/>
              </a:rPr>
              <a:t>R</a:t>
            </a:r>
            <a:r>
              <a:rPr lang="en-US" altLang="zh-CN" b="1" baseline="-25000">
                <a:latin typeface="Times New Roman" panose="02020603050405020304" pitchFamily="18" charset="0"/>
              </a:rPr>
              <a:t>B</a:t>
            </a:r>
            <a:r>
              <a:rPr lang="zh-CN" altLang="en-US" b="1">
                <a:latin typeface="Times New Roman" panose="02020603050405020304" pitchFamily="18" charset="0"/>
              </a:rPr>
              <a:t>。</a:t>
            </a:r>
            <a:r>
              <a:rPr lang="zh-CN" altLang="en-US" b="1" dirty="0">
                <a:latin typeface="Times New Roman" panose="02020603050405020304" pitchFamily="18" charset="0"/>
              </a:rPr>
              <a:t>根据图</a:t>
            </a:r>
            <a:r>
              <a:rPr lang="en-US" altLang="zh-CN" b="1">
                <a:latin typeface="Times New Roman" panose="02020603050405020304" pitchFamily="18" charset="0"/>
              </a:rPr>
              <a:t>11- 8</a:t>
            </a:r>
            <a:r>
              <a:rPr lang="zh-CN" altLang="en-US" b="1" dirty="0">
                <a:latin typeface="Times New Roman" panose="02020603050405020304" pitchFamily="18" charset="0"/>
              </a:rPr>
              <a:t>所示电路， 为了使输入</a:t>
            </a:r>
            <a:r>
              <a:rPr lang="en-US" altLang="zh-CN" b="1">
                <a:latin typeface="Times New Roman" panose="02020603050405020304" pitchFamily="18" charset="0"/>
              </a:rPr>
              <a:t>D</a:t>
            </a:r>
            <a:r>
              <a:rPr lang="en-US" altLang="zh-CN" b="1" baseline="-25000">
                <a:latin typeface="Times New Roman" panose="02020603050405020304" pitchFamily="18" charset="0"/>
              </a:rPr>
              <a:t>2</a:t>
            </a:r>
            <a:r>
              <a:rPr lang="en-US" altLang="zh-CN" b="1">
                <a:latin typeface="Times New Roman" panose="02020603050405020304" pitchFamily="18" charset="0"/>
              </a:rPr>
              <a:t>D</a:t>
            </a:r>
            <a:r>
              <a:rPr lang="en-US" altLang="zh-CN" b="1" baseline="-25000">
                <a:latin typeface="Times New Roman" panose="02020603050405020304" pitchFamily="18" charset="0"/>
              </a:rPr>
              <a:t>1</a:t>
            </a:r>
            <a:r>
              <a:rPr lang="en-US" altLang="zh-CN" b="1">
                <a:latin typeface="Times New Roman" panose="02020603050405020304" pitchFamily="18" charset="0"/>
              </a:rPr>
              <a:t>D</a:t>
            </a:r>
            <a:r>
              <a:rPr lang="en-US" altLang="zh-CN" b="1" baseline="-25000">
                <a:latin typeface="Times New Roman" panose="02020603050405020304" pitchFamily="18" charset="0"/>
              </a:rPr>
              <a:t>0</a:t>
            </a:r>
            <a:r>
              <a:rPr lang="en-US" altLang="zh-CN" b="1">
                <a:latin typeface="Times New Roman" panose="02020603050405020304" pitchFamily="18" charset="0"/>
              </a:rPr>
              <a:t>=100</a:t>
            </a:r>
            <a:r>
              <a:rPr lang="zh-CN" altLang="en-US" b="1" dirty="0">
                <a:latin typeface="Times New Roman" panose="02020603050405020304" pitchFamily="18" charset="0"/>
              </a:rPr>
              <a:t>时输出电</a:t>
            </a:r>
            <a:r>
              <a:rPr lang="en-US" altLang="zh-CN" b="1">
                <a:latin typeface="Times New Roman" panose="02020603050405020304" pitchFamily="18" charset="0"/>
              </a:rPr>
              <a:t>U</a:t>
            </a:r>
            <a:r>
              <a:rPr lang="en-US" altLang="zh-CN" b="1" baseline="-25000">
                <a:latin typeface="Times New Roman" panose="02020603050405020304" pitchFamily="18" charset="0"/>
              </a:rPr>
              <a:t>O</a:t>
            </a:r>
            <a:r>
              <a:rPr lang="en-US" altLang="zh-CN" b="1">
                <a:latin typeface="Times New Roman" panose="02020603050405020304" pitchFamily="18" charset="0"/>
              </a:rPr>
              <a:t> = 0</a:t>
            </a:r>
            <a:r>
              <a:rPr lang="zh-CN" altLang="en-US" b="1">
                <a:latin typeface="Times New Roman" panose="02020603050405020304" pitchFamily="18" charset="0"/>
              </a:rPr>
              <a:t>，</a:t>
            </a:r>
            <a:r>
              <a:rPr lang="zh-CN" altLang="en-US" b="1" dirty="0">
                <a:latin typeface="Times New Roman" panose="02020603050405020304" pitchFamily="18" charset="0"/>
              </a:rPr>
              <a:t>电流</a:t>
            </a:r>
            <a:r>
              <a:rPr lang="en-US" altLang="zh-CN" b="1">
                <a:latin typeface="Times New Roman" panose="02020603050405020304" pitchFamily="18" charset="0"/>
              </a:rPr>
              <a:t>I</a:t>
            </a:r>
            <a:r>
              <a:rPr lang="en-US" altLang="zh-CN" b="1" baseline="-25000">
                <a:latin typeface="Times New Roman" panose="02020603050405020304" pitchFamily="18" charset="0"/>
              </a:rPr>
              <a:t>Σ</a:t>
            </a:r>
            <a:r>
              <a:rPr lang="zh-CN" altLang="en-US" b="1" dirty="0">
                <a:latin typeface="Times New Roman" panose="02020603050405020304" pitchFamily="18" charset="0"/>
              </a:rPr>
              <a:t>和偏移电流</a:t>
            </a:r>
            <a:r>
              <a:rPr lang="en-US" altLang="zh-CN" b="1">
                <a:latin typeface="Times New Roman" panose="02020603050405020304" pitchFamily="18" charset="0"/>
              </a:rPr>
              <a:t>I</a:t>
            </a:r>
            <a:r>
              <a:rPr lang="en-US" altLang="zh-CN" b="1" baseline="-25000">
                <a:latin typeface="Times New Roman" panose="02020603050405020304" pitchFamily="18" charset="0"/>
              </a:rPr>
              <a:t>B</a:t>
            </a:r>
            <a:r>
              <a:rPr lang="zh-CN" altLang="en-US" b="1" dirty="0">
                <a:latin typeface="Times New Roman" panose="02020603050405020304" pitchFamily="18" charset="0"/>
              </a:rPr>
              <a:t>之和必须为零，则有： </a:t>
            </a:r>
            <a:endParaRPr lang="zh-CN" altLang="en-US" b="1">
              <a:latin typeface="Times New Roman" panose="02020603050405020304" pitchFamily="18" charset="0"/>
            </a:endParaRPr>
          </a:p>
        </p:txBody>
      </p:sp>
      <p:graphicFrame>
        <p:nvGraphicFramePr>
          <p:cNvPr id="30725" name="对象 30724"/>
          <p:cNvGraphicFramePr/>
          <p:nvPr/>
        </p:nvGraphicFramePr>
        <p:xfrm>
          <a:off x="3743325" y="3429000"/>
          <a:ext cx="1657350" cy="989013"/>
        </p:xfrm>
        <a:graphic>
          <a:graphicData uri="http://schemas.openxmlformats.org/presentationml/2006/ole">
            <mc:AlternateContent xmlns:mc="http://schemas.openxmlformats.org/markup-compatibility/2006">
              <mc:Choice xmlns:v="urn:schemas-microsoft-com:vml" Requires="v">
                <p:oleObj spid="_x0000_s3089" name="" r:id="rId1" imgW="723900" imgH="431800" progId="Equation.3">
                  <p:embed/>
                </p:oleObj>
              </mc:Choice>
              <mc:Fallback>
                <p:oleObj name="" r:id="rId1" imgW="723900" imgH="431800" progId="Equation.3">
                  <p:embed/>
                  <p:pic>
                    <p:nvPicPr>
                      <p:cNvPr id="0" name="图片 3088"/>
                      <p:cNvPicPr/>
                      <p:nvPr/>
                    </p:nvPicPr>
                    <p:blipFill>
                      <a:blip r:embed="rId2"/>
                      <a:stretch>
                        <a:fillRect/>
                      </a:stretch>
                    </p:blipFill>
                    <p:spPr>
                      <a:xfrm>
                        <a:off x="3743325" y="3429000"/>
                        <a:ext cx="1657350" cy="989013"/>
                      </a:xfrm>
                      <a:prstGeom prst="rect">
                        <a:avLst/>
                      </a:prstGeom>
                      <a:noFill/>
                      <a:ln w="38100">
                        <a:noFill/>
                        <a:miter/>
                      </a:ln>
                    </p:spPr>
                  </p:pic>
                </p:oleObj>
              </mc:Fallback>
            </mc:AlternateContent>
          </a:graphicData>
        </a:graphic>
      </p:graphicFrame>
      <p:sp>
        <p:nvSpPr>
          <p:cNvPr id="30726" name="文本框 30725"/>
          <p:cNvSpPr txBox="1"/>
          <p:nvPr/>
        </p:nvSpPr>
        <p:spPr>
          <a:xfrm>
            <a:off x="228600" y="4572000"/>
            <a:ext cx="8686800" cy="1820863"/>
          </a:xfrm>
          <a:prstGeom prst="rect">
            <a:avLst/>
          </a:prstGeom>
          <a:noFill/>
          <a:ln w="9525">
            <a:noFill/>
          </a:ln>
        </p:spPr>
        <p:txBody>
          <a:bodyPr>
            <a:spAutoFit/>
          </a:bodyPr>
          <a:p>
            <a:pPr>
              <a:lnSpc>
                <a:spcPct val="158000"/>
              </a:lnSpc>
              <a:spcBef>
                <a:spcPct val="50000"/>
              </a:spcBef>
            </a:pPr>
            <a:r>
              <a:rPr lang="en-US" altLang="zh-CN" dirty="0">
                <a:latin typeface="Times New Roman" panose="02020603050405020304" pitchFamily="18" charset="0"/>
              </a:rPr>
              <a:t>        </a:t>
            </a:r>
            <a:r>
              <a:rPr lang="zh-CN" altLang="en-US" b="1" dirty="0">
                <a:latin typeface="Times New Roman" panose="02020603050405020304" pitchFamily="18" charset="0"/>
              </a:rPr>
              <a:t>偏移电压源和基准电压源的极性相反。当</a:t>
            </a:r>
            <a:r>
              <a:rPr lang="en-US" altLang="zh-CN" b="1">
                <a:latin typeface="Times New Roman" panose="02020603050405020304" pitchFamily="18" charset="0"/>
              </a:rPr>
              <a:t>U</a:t>
            </a:r>
            <a:r>
              <a:rPr lang="en-US" altLang="zh-CN" b="1" baseline="-25000">
                <a:latin typeface="Times New Roman" panose="02020603050405020304" pitchFamily="18" charset="0"/>
              </a:rPr>
              <a:t>REF</a:t>
            </a:r>
            <a:r>
              <a:rPr lang="zh-CN" altLang="en-US" b="1" dirty="0">
                <a:latin typeface="Times New Roman" panose="02020603050405020304" pitchFamily="18" charset="0"/>
              </a:rPr>
              <a:t>为正电源时，输出电压和输入偏移二进制码的极性一致；当</a:t>
            </a:r>
            <a:r>
              <a:rPr lang="en-US" altLang="zh-CN" b="1">
                <a:latin typeface="Times New Roman" panose="02020603050405020304" pitchFamily="18" charset="0"/>
              </a:rPr>
              <a:t>U</a:t>
            </a:r>
            <a:r>
              <a:rPr lang="en-US" altLang="zh-CN" b="1" baseline="-25000">
                <a:latin typeface="Times New Roman" panose="02020603050405020304" pitchFamily="18" charset="0"/>
              </a:rPr>
              <a:t>REF</a:t>
            </a:r>
            <a:r>
              <a:rPr lang="zh-CN" altLang="en-US" b="1" dirty="0">
                <a:latin typeface="Times New Roman" panose="02020603050405020304" pitchFamily="18" charset="0"/>
              </a:rPr>
              <a:t>为负电源时， 输出电压和输入偏移二进制码的极性相反。 </a:t>
            </a:r>
            <a:endParaRPr lang="zh-CN" altLang="en-US" b="1">
              <a:latin typeface="Times New Roman" panose="02020603050405020304" pitchFamily="18" charset="0"/>
            </a:endParaRPr>
          </a:p>
        </p:txBody>
      </p:sp>
      <p:sp>
        <p:nvSpPr>
          <p:cNvPr id="30727" name="矩形 30726"/>
          <p:cNvSpPr/>
          <p:nvPr/>
        </p:nvSpPr>
        <p:spPr>
          <a:xfrm>
            <a:off x="7467600" y="3733800"/>
            <a:ext cx="1174750" cy="457200"/>
          </a:xfrm>
          <a:prstGeom prst="rect">
            <a:avLst/>
          </a:prstGeom>
          <a:noFill/>
          <a:ln w="9525">
            <a:noFill/>
          </a:ln>
        </p:spPr>
        <p:txBody>
          <a:bodyPr wrap="none" anchor="t" anchorCtr="0">
            <a:spAutoFit/>
          </a:bodyPr>
          <a:p>
            <a:r>
              <a:rPr lang="en-US" altLang="zh-CN">
                <a:latin typeface="Times New Roman" panose="02020603050405020304" pitchFamily="18" charset="0"/>
              </a:rPr>
              <a:t>(11- 15)</a:t>
            </a:r>
            <a:endParaRPr lang="en-US" altLang="zh-CN">
              <a:latin typeface="Times New Roman" panose="02020603050405020304" pitchFamily="18" charset="0"/>
            </a:endParaRPr>
          </a:p>
        </p:txBody>
      </p:sp>
    </p:spTree>
  </p:cSld>
  <p:clrMapOvr>
    <a:masterClrMapping/>
  </p:clrMapOvr>
  <p:transition>
    <p:blinds dir="vert"/>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11299" name="文本占位符 311298"/>
          <p:cNvSpPr>
            <a:spLocks noGrp="1"/>
          </p:cNvSpPr>
          <p:nvPr>
            <p:ph type="body" idx="1"/>
          </p:nvPr>
        </p:nvSpPr>
        <p:spPr>
          <a:xfrm>
            <a:off x="685800" y="549275"/>
            <a:ext cx="7772400" cy="5546725"/>
          </a:xfrm>
          <a:ln/>
        </p:spPr>
        <p:txBody>
          <a:bodyPr/>
          <a:p>
            <a:r>
              <a:rPr lang="en-US" altLang="zh-CN" sz="2800" b="1"/>
              <a:t>5.  </a:t>
            </a:r>
            <a:r>
              <a:rPr lang="zh-CN" altLang="en-US" sz="2800" b="1" dirty="0"/>
              <a:t>权电流型</a:t>
            </a:r>
            <a:r>
              <a:rPr lang="en-US" altLang="zh-CN" sz="2800" b="1"/>
              <a:t>D/A</a:t>
            </a:r>
            <a:r>
              <a:rPr lang="zh-CN" altLang="en-US" sz="2800" b="1" dirty="0"/>
              <a:t>转换器</a:t>
            </a:r>
            <a:r>
              <a:rPr lang="zh-CN" altLang="en-US" dirty="0"/>
              <a:t> </a:t>
            </a:r>
            <a:endParaRPr lang="zh-CN" altLang="en-US" dirty="0"/>
          </a:p>
        </p:txBody>
      </p:sp>
      <p:sp>
        <p:nvSpPr>
          <p:cNvPr id="311300" name="矩形 311299"/>
          <p:cNvSpPr/>
          <p:nvPr/>
        </p:nvSpPr>
        <p:spPr>
          <a:xfrm>
            <a:off x="539750" y="2198688"/>
            <a:ext cx="8353425" cy="2647950"/>
          </a:xfrm>
          <a:prstGeom prst="rect">
            <a:avLst/>
          </a:prstGeom>
          <a:noFill/>
          <a:ln w="9525">
            <a:noFill/>
          </a:ln>
        </p:spPr>
        <p:txBody>
          <a:bodyPr anchor="ctr" anchorCtr="0">
            <a:spAutoFit/>
          </a:bodyPr>
          <a:p>
            <a:r>
              <a:rPr lang="en-US" altLang="zh-CN" b="1" dirty="0">
                <a:latin typeface="Times New Roman" panose="02020603050405020304" pitchFamily="18" charset="0"/>
              </a:rPr>
              <a:t>        </a:t>
            </a:r>
            <a:r>
              <a:rPr lang="zh-CN" altLang="en-US" b="1" dirty="0">
                <a:latin typeface="Times New Roman" panose="02020603050405020304" pitchFamily="18" charset="0"/>
              </a:rPr>
              <a:t>图</a:t>
            </a:r>
            <a:r>
              <a:rPr lang="en-US" altLang="zh-CN" b="1">
                <a:latin typeface="Times New Roman" panose="02020603050405020304" pitchFamily="18" charset="0"/>
              </a:rPr>
              <a:t>11-9</a:t>
            </a:r>
            <a:r>
              <a:rPr lang="zh-CN" altLang="en-US" b="1" dirty="0">
                <a:latin typeface="Times New Roman" panose="02020603050405020304" pitchFamily="18" charset="0"/>
              </a:rPr>
              <a:t>所示为四位权电流型</a:t>
            </a:r>
            <a:r>
              <a:rPr lang="en-US" altLang="zh-CN" b="1">
                <a:latin typeface="Times New Roman" panose="02020603050405020304" pitchFamily="18" charset="0"/>
              </a:rPr>
              <a:t>D/A</a:t>
            </a:r>
            <a:r>
              <a:rPr lang="zh-CN" altLang="en-US" b="1" dirty="0">
                <a:latin typeface="Times New Roman" panose="02020603050405020304" pitchFamily="18" charset="0"/>
              </a:rPr>
              <a:t>转换器的原理图。它由权电流</a:t>
            </a:r>
            <a:r>
              <a:rPr lang="en-US" altLang="zh-CN" b="1">
                <a:latin typeface="Times New Roman" panose="02020603050405020304" pitchFamily="18" charset="0"/>
              </a:rPr>
              <a:t>I/16</a:t>
            </a:r>
            <a:r>
              <a:rPr lang="zh-CN" altLang="en-US" b="1" dirty="0">
                <a:latin typeface="Times New Roman" panose="02020603050405020304" pitchFamily="18" charset="0"/>
              </a:rPr>
              <a:t>、</a:t>
            </a:r>
            <a:r>
              <a:rPr lang="en-US" altLang="zh-CN" b="1">
                <a:latin typeface="Times New Roman" panose="02020603050405020304" pitchFamily="18" charset="0"/>
              </a:rPr>
              <a:t>I/8</a:t>
            </a:r>
            <a:r>
              <a:rPr lang="zh-CN" altLang="en-US" b="1" dirty="0">
                <a:latin typeface="Times New Roman" panose="02020603050405020304" pitchFamily="18" charset="0"/>
              </a:rPr>
              <a:t>、</a:t>
            </a:r>
            <a:r>
              <a:rPr lang="en-US" altLang="zh-CN" b="1">
                <a:latin typeface="Times New Roman" panose="02020603050405020304" pitchFamily="18" charset="0"/>
              </a:rPr>
              <a:t>I/4</a:t>
            </a:r>
            <a:r>
              <a:rPr lang="zh-CN" altLang="en-US" b="1" dirty="0">
                <a:latin typeface="Times New Roman" panose="02020603050405020304" pitchFamily="18" charset="0"/>
              </a:rPr>
              <a:t>、</a:t>
            </a:r>
            <a:r>
              <a:rPr lang="en-US" altLang="zh-CN" b="1">
                <a:latin typeface="Times New Roman" panose="02020603050405020304" pitchFamily="18" charset="0"/>
              </a:rPr>
              <a:t>I/2</a:t>
            </a:r>
            <a:r>
              <a:rPr lang="zh-CN" altLang="en-US" b="1" dirty="0">
                <a:latin typeface="Times New Roman" panose="02020603050405020304" pitchFamily="18" charset="0"/>
              </a:rPr>
              <a:t>，电子模拟开关</a:t>
            </a:r>
            <a:r>
              <a:rPr lang="en-US" altLang="zh-CN" b="1">
                <a:latin typeface="Times New Roman" panose="02020603050405020304" pitchFamily="18" charset="0"/>
              </a:rPr>
              <a:t>S0</a:t>
            </a:r>
            <a:r>
              <a:rPr lang="zh-CN" altLang="en-US" b="1" dirty="0">
                <a:latin typeface="Times New Roman" panose="02020603050405020304" pitchFamily="18" charset="0"/>
              </a:rPr>
              <a:t>、</a:t>
            </a:r>
            <a:r>
              <a:rPr lang="en-US" altLang="zh-CN" b="1">
                <a:latin typeface="Times New Roman" panose="02020603050405020304" pitchFamily="18" charset="0"/>
              </a:rPr>
              <a:t>S1</a:t>
            </a:r>
            <a:r>
              <a:rPr lang="zh-CN" altLang="en-US" b="1" dirty="0">
                <a:latin typeface="Times New Roman" panose="02020603050405020304" pitchFamily="18" charset="0"/>
              </a:rPr>
              <a:t>、</a:t>
            </a:r>
            <a:r>
              <a:rPr lang="en-US" altLang="zh-CN" b="1">
                <a:latin typeface="Times New Roman" panose="02020603050405020304" pitchFamily="18" charset="0"/>
              </a:rPr>
              <a:t>S2</a:t>
            </a:r>
            <a:r>
              <a:rPr lang="zh-CN" altLang="en-US" b="1" dirty="0">
                <a:latin typeface="Times New Roman" panose="02020603050405020304" pitchFamily="18" charset="0"/>
              </a:rPr>
              <a:t>、</a:t>
            </a:r>
            <a:r>
              <a:rPr lang="en-US" altLang="zh-CN" b="1">
                <a:latin typeface="Times New Roman" panose="02020603050405020304" pitchFamily="18" charset="0"/>
              </a:rPr>
              <a:t>S3</a:t>
            </a:r>
            <a:r>
              <a:rPr lang="zh-CN" altLang="en-US" b="1" dirty="0">
                <a:latin typeface="Times New Roman" panose="02020603050405020304" pitchFamily="18" charset="0"/>
              </a:rPr>
              <a:t>，基准电压</a:t>
            </a:r>
            <a:r>
              <a:rPr lang="en-US" altLang="zh-CN" b="1">
                <a:latin typeface="Times New Roman" panose="02020603050405020304" pitchFamily="18" charset="0"/>
              </a:rPr>
              <a:t>U</a:t>
            </a:r>
            <a:r>
              <a:rPr lang="en-US" altLang="zh-CN" b="1" baseline="-25000">
                <a:latin typeface="Times New Roman" panose="02020603050405020304" pitchFamily="18" charset="0"/>
              </a:rPr>
              <a:t>REF</a:t>
            </a:r>
            <a:r>
              <a:rPr lang="zh-CN" altLang="en-US" b="1" dirty="0">
                <a:latin typeface="Times New Roman" panose="02020603050405020304" pitchFamily="18" charset="0"/>
              </a:rPr>
              <a:t>及求和运算放大器组成。</a:t>
            </a:r>
            <a:endParaRPr lang="zh-CN" altLang="en-US" b="1" dirty="0">
              <a:latin typeface="Times New Roman" panose="02020603050405020304" pitchFamily="18" charset="0"/>
            </a:endParaRPr>
          </a:p>
          <a:p>
            <a:endParaRPr lang="zh-CN" altLang="en-US" b="1" dirty="0">
              <a:latin typeface="Times New Roman" panose="02020603050405020304" pitchFamily="18" charset="0"/>
            </a:endParaRPr>
          </a:p>
          <a:p>
            <a:r>
              <a:rPr lang="en-US" altLang="zh-CN" b="1" dirty="0">
                <a:latin typeface="Times New Roman" panose="02020603050405020304" pitchFamily="18" charset="0"/>
              </a:rPr>
              <a:t>        </a:t>
            </a:r>
            <a:r>
              <a:rPr lang="zh-CN" altLang="en-US" b="1" dirty="0">
                <a:latin typeface="Times New Roman" panose="02020603050405020304" pitchFamily="18" charset="0"/>
              </a:rPr>
              <a:t>电子模拟开关</a:t>
            </a:r>
            <a:r>
              <a:rPr lang="en-US" altLang="zh-CN" b="1">
                <a:latin typeface="Times New Roman" panose="02020603050405020304" pitchFamily="18" charset="0"/>
              </a:rPr>
              <a:t>S0</a:t>
            </a:r>
            <a:r>
              <a:rPr lang="zh-CN" altLang="en-US" b="1" dirty="0">
                <a:latin typeface="Times New Roman" panose="02020603050405020304" pitchFamily="18" charset="0"/>
              </a:rPr>
              <a:t>～</a:t>
            </a:r>
            <a:r>
              <a:rPr lang="en-US" altLang="zh-CN" b="1">
                <a:latin typeface="Times New Roman" panose="02020603050405020304" pitchFamily="18" charset="0"/>
              </a:rPr>
              <a:t>S3</a:t>
            </a:r>
            <a:r>
              <a:rPr lang="zh-CN" altLang="en-US" b="1" dirty="0">
                <a:latin typeface="Times New Roman" panose="02020603050405020304" pitchFamily="18" charset="0"/>
              </a:rPr>
              <a:t>受输入数字信号</a:t>
            </a:r>
            <a:r>
              <a:rPr lang="en-US" altLang="zh-CN" b="1">
                <a:latin typeface="Times New Roman" panose="02020603050405020304" pitchFamily="18" charset="0"/>
              </a:rPr>
              <a:t>d0</a:t>
            </a:r>
            <a:r>
              <a:rPr lang="zh-CN" altLang="en-US" b="1" dirty="0">
                <a:latin typeface="Times New Roman" panose="02020603050405020304" pitchFamily="18" charset="0"/>
              </a:rPr>
              <a:t>～</a:t>
            </a:r>
            <a:r>
              <a:rPr lang="en-US" altLang="zh-CN" b="1">
                <a:latin typeface="Times New Roman" panose="02020603050405020304" pitchFamily="18" charset="0"/>
              </a:rPr>
              <a:t>d3</a:t>
            </a:r>
            <a:r>
              <a:rPr lang="zh-CN" altLang="en-US" b="1" dirty="0">
                <a:latin typeface="Times New Roman" panose="02020603050405020304" pitchFamily="18" charset="0"/>
              </a:rPr>
              <a:t>控制，如果第</a:t>
            </a:r>
            <a:r>
              <a:rPr lang="en-US" altLang="zh-CN" b="1">
                <a:latin typeface="Times New Roman" panose="02020603050405020304" pitchFamily="18" charset="0"/>
              </a:rPr>
              <a:t>i</a:t>
            </a:r>
            <a:r>
              <a:rPr lang="zh-CN" altLang="en-US" b="1" dirty="0">
                <a:latin typeface="Times New Roman" panose="02020603050405020304" pitchFamily="18" charset="0"/>
              </a:rPr>
              <a:t>位数字信号</a:t>
            </a:r>
            <a:r>
              <a:rPr lang="en-US" altLang="zh-CN" b="1" err="1">
                <a:latin typeface="Times New Roman" panose="02020603050405020304" pitchFamily="18" charset="0"/>
              </a:rPr>
              <a:t>di</a:t>
            </a:r>
            <a:r>
              <a:rPr lang="en-US" altLang="zh-CN" b="1">
                <a:latin typeface="Times New Roman" panose="02020603050405020304" pitchFamily="18" charset="0"/>
              </a:rPr>
              <a:t>=1</a:t>
            </a:r>
            <a:r>
              <a:rPr lang="zh-CN" altLang="en-US" b="1" dirty="0">
                <a:latin typeface="Times New Roman" panose="02020603050405020304" pitchFamily="18" charset="0"/>
              </a:rPr>
              <a:t>，则相应的开关</a:t>
            </a:r>
            <a:r>
              <a:rPr lang="en-US" altLang="zh-CN" b="1" err="1">
                <a:latin typeface="Times New Roman" panose="02020603050405020304" pitchFamily="18" charset="0"/>
              </a:rPr>
              <a:t>Si</a:t>
            </a:r>
            <a:r>
              <a:rPr lang="zh-CN" altLang="en-US" b="1" dirty="0">
                <a:latin typeface="Times New Roman" panose="02020603050405020304" pitchFamily="18" charset="0"/>
              </a:rPr>
              <a:t>将权电流源接至运算放大器的反相输入端；若</a:t>
            </a:r>
            <a:r>
              <a:rPr lang="en-US" altLang="zh-CN" b="1" err="1">
                <a:latin typeface="Times New Roman" panose="02020603050405020304" pitchFamily="18" charset="0"/>
              </a:rPr>
              <a:t>di</a:t>
            </a:r>
            <a:r>
              <a:rPr lang="en-US" altLang="zh-CN" b="1">
                <a:latin typeface="Times New Roman" panose="02020603050405020304" pitchFamily="18" charset="0"/>
              </a:rPr>
              <a:t>=0,</a:t>
            </a:r>
            <a:r>
              <a:rPr lang="zh-CN" altLang="en-US" b="1" dirty="0">
                <a:latin typeface="Times New Roman" panose="02020603050405020304" pitchFamily="18" charset="0"/>
              </a:rPr>
              <a:t>其相应的开关将电流源接地。 </a:t>
            </a:r>
            <a:endParaRPr lang="zh-CN" altLang="en-US" b="1" dirty="0">
              <a:latin typeface="Times New Roman" panose="02020603050405020304" pitchFamily="18" charset="0"/>
            </a:endParaRPr>
          </a:p>
        </p:txBody>
      </p:sp>
    </p:spTree>
  </p:cSld>
  <p:clrMapOvr>
    <a:masterClrMapping/>
  </p:clrMapOvr>
  <p:transition>
    <p:blinds dir="vert"/>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317444" name="内容占位符 317443"/>
          <p:cNvGraphicFramePr/>
          <p:nvPr>
            <p:ph idx="1"/>
          </p:nvPr>
        </p:nvGraphicFramePr>
        <p:xfrm>
          <a:off x="250825" y="404813"/>
          <a:ext cx="8569325" cy="4638675"/>
        </p:xfrm>
        <a:graphic>
          <a:graphicData uri="http://schemas.openxmlformats.org/presentationml/2006/ole">
            <mc:AlternateContent xmlns:mc="http://schemas.openxmlformats.org/markup-compatibility/2006">
              <mc:Choice xmlns:v="urn:schemas-microsoft-com:vml" Requires="v">
                <p:oleObj spid="_x0000_s3088" name="" r:id="rId1" imgW="3337560" imgH="1805940" progId="">
                  <p:embed/>
                </p:oleObj>
              </mc:Choice>
              <mc:Fallback>
                <p:oleObj name="" r:id="rId1" imgW="3337560" imgH="1805940" progId="">
                  <p:embed/>
                  <p:pic>
                    <p:nvPicPr>
                      <p:cNvPr id="0" name="图片 3087"/>
                      <p:cNvPicPr/>
                      <p:nvPr/>
                    </p:nvPicPr>
                    <p:blipFill>
                      <a:blip r:embed="rId2"/>
                      <a:stretch>
                        <a:fillRect/>
                      </a:stretch>
                    </p:blipFill>
                    <p:spPr>
                      <a:xfrm>
                        <a:off x="250825" y="404813"/>
                        <a:ext cx="8569325" cy="4638675"/>
                      </a:xfrm>
                      <a:prstGeom prst="rect">
                        <a:avLst/>
                      </a:prstGeom>
                      <a:noFill/>
                      <a:ln w="38100">
                        <a:miter/>
                      </a:ln>
                    </p:spPr>
                  </p:pic>
                </p:oleObj>
              </mc:Fallback>
            </mc:AlternateContent>
          </a:graphicData>
        </a:graphic>
      </p:graphicFrame>
      <p:sp>
        <p:nvSpPr>
          <p:cNvPr id="317447" name="矩形 317446"/>
          <p:cNvSpPr/>
          <p:nvPr/>
        </p:nvSpPr>
        <p:spPr>
          <a:xfrm>
            <a:off x="2411413" y="5445125"/>
            <a:ext cx="3871912" cy="457200"/>
          </a:xfrm>
          <a:prstGeom prst="rect">
            <a:avLst/>
          </a:prstGeom>
          <a:noFill/>
          <a:ln w="9525">
            <a:noFill/>
          </a:ln>
        </p:spPr>
        <p:txBody>
          <a:bodyPr wrap="none" anchor="ctr" anchorCtr="0">
            <a:spAutoFit/>
          </a:bodyPr>
          <a:p>
            <a:r>
              <a:rPr lang="zh-CN" altLang="en-US" b="1" dirty="0">
                <a:latin typeface="Times New Roman" panose="02020603050405020304" pitchFamily="18" charset="0"/>
              </a:rPr>
              <a:t>图</a:t>
            </a:r>
            <a:r>
              <a:rPr lang="en-US" altLang="zh-CN" b="1">
                <a:latin typeface="Times New Roman" panose="02020603050405020304" pitchFamily="18" charset="0"/>
              </a:rPr>
              <a:t>11-9 </a:t>
            </a:r>
            <a:r>
              <a:rPr lang="zh-CN" altLang="en-US" b="1" dirty="0">
                <a:latin typeface="Times New Roman" panose="02020603050405020304" pitchFamily="18" charset="0"/>
              </a:rPr>
              <a:t>权电流型</a:t>
            </a:r>
            <a:r>
              <a:rPr lang="en-US" altLang="zh-CN" b="1">
                <a:latin typeface="Times New Roman" panose="02020603050405020304" pitchFamily="18" charset="0"/>
              </a:rPr>
              <a:t>D/A</a:t>
            </a:r>
            <a:r>
              <a:rPr lang="zh-CN" altLang="en-US" b="1" dirty="0">
                <a:latin typeface="Times New Roman" panose="02020603050405020304" pitchFamily="18" charset="0"/>
              </a:rPr>
              <a:t>转换器 </a:t>
            </a:r>
            <a:endParaRPr lang="zh-CN" altLang="en-US" b="1" dirty="0">
              <a:latin typeface="Times New Roman" panose="02020603050405020304" pitchFamily="18" charset="0"/>
            </a:endParaRPr>
          </a:p>
        </p:txBody>
      </p:sp>
    </p:spTree>
  </p:cSld>
  <p:clrMapOvr>
    <a:masterClrMapping/>
  </p:clrMapOvr>
  <p:transition>
    <p:blinds dir="vert"/>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19497" name="标题 319496"/>
          <p:cNvSpPr>
            <a:spLocks noGrp="1"/>
          </p:cNvSpPr>
          <p:nvPr>
            <p:ph type="title"/>
          </p:nvPr>
        </p:nvSpPr>
        <p:spPr>
          <a:ln/>
        </p:spPr>
        <p:txBody>
          <a:bodyPr anchor="ctr" anchorCtr="0"/>
          <a:p>
            <a:endParaRPr dirty="0"/>
          </a:p>
        </p:txBody>
      </p:sp>
      <p:sp>
        <p:nvSpPr>
          <p:cNvPr id="319491" name="文本占位符 319490"/>
          <p:cNvSpPr>
            <a:spLocks noGrp="1"/>
          </p:cNvSpPr>
          <p:nvPr>
            <p:ph type="body" sz="half" idx="1"/>
          </p:nvPr>
        </p:nvSpPr>
        <p:spPr>
          <a:xfrm>
            <a:off x="685800" y="1981200"/>
            <a:ext cx="8207375" cy="4114800"/>
          </a:xfrm>
          <a:ln/>
        </p:spPr>
        <p:txBody>
          <a:bodyPr/>
          <a:p>
            <a:pPr>
              <a:buClrTx/>
              <a:buSzTx/>
              <a:buFontTx/>
            </a:pPr>
            <a:r>
              <a:rPr lang="zh-CN" altLang="en-US" sz="2000" b="1" dirty="0"/>
              <a:t>恒电流源电路经常使用图</a:t>
            </a:r>
            <a:r>
              <a:rPr lang="en-US" altLang="zh-CN" sz="2000" b="1"/>
              <a:t>11-10</a:t>
            </a:r>
            <a:r>
              <a:rPr lang="zh-CN" altLang="en-US" sz="2000" b="1" dirty="0"/>
              <a:t>所示的电路结构形式。只要在电路工作时</a:t>
            </a:r>
            <a:r>
              <a:rPr lang="en-US" altLang="zh-CN" sz="2000" b="1" i="1"/>
              <a:t>U</a:t>
            </a:r>
            <a:r>
              <a:rPr lang="en-US" altLang="zh-CN" sz="2000" b="1" baseline="-25000"/>
              <a:t>B</a:t>
            </a:r>
            <a:r>
              <a:rPr lang="zh-CN" altLang="en-US" sz="2000" b="1" dirty="0"/>
              <a:t>和</a:t>
            </a:r>
            <a:r>
              <a:rPr lang="en-US" altLang="zh-CN" sz="2000" b="1" i="1"/>
              <a:t>U</a:t>
            </a:r>
            <a:r>
              <a:rPr lang="en-US" altLang="zh-CN" sz="2000" b="1" baseline="-25000"/>
              <a:t>EE</a:t>
            </a:r>
            <a:r>
              <a:rPr lang="zh-CN" altLang="en-US" sz="2000" b="1" dirty="0"/>
              <a:t>稳定不变，则三极管的集电极电流可保持恒定，不受开关内阻的影响。电流的大小近似为 </a:t>
            </a:r>
            <a:r>
              <a:rPr lang="en-US" altLang="zh-CN" sz="2000" b="1" dirty="0"/>
              <a:t>  </a:t>
            </a:r>
            <a:endParaRPr lang="en-US" altLang="zh-CN" sz="2000" b="1" dirty="0"/>
          </a:p>
        </p:txBody>
      </p:sp>
      <p:graphicFrame>
        <p:nvGraphicFramePr>
          <p:cNvPr id="319492" name="内容占位符 319491"/>
          <p:cNvGraphicFramePr/>
          <p:nvPr>
            <p:ph sz="quarter" idx="2"/>
          </p:nvPr>
        </p:nvGraphicFramePr>
        <p:xfrm>
          <a:off x="3276600" y="3068638"/>
          <a:ext cx="3024188" cy="920750"/>
        </p:xfrm>
        <a:graphic>
          <a:graphicData uri="http://schemas.openxmlformats.org/presentationml/2006/ole">
            <mc:AlternateContent xmlns:mc="http://schemas.openxmlformats.org/markup-compatibility/2006">
              <mc:Choice xmlns:v="urn:schemas-microsoft-com:vml" Requires="v">
                <p:oleObj spid="_x0000_s3096" name="" r:id="rId1" imgW="1269365" imgH="431800" progId="">
                  <p:embed/>
                </p:oleObj>
              </mc:Choice>
              <mc:Fallback>
                <p:oleObj name="" r:id="rId1" imgW="1269365" imgH="431800" progId="">
                  <p:embed/>
                  <p:pic>
                    <p:nvPicPr>
                      <p:cNvPr id="0" name="图片 3095"/>
                      <p:cNvPicPr/>
                      <p:nvPr/>
                    </p:nvPicPr>
                    <p:blipFill>
                      <a:blip r:embed="rId2"/>
                      <a:stretch>
                        <a:fillRect/>
                      </a:stretch>
                    </p:blipFill>
                    <p:spPr>
                      <a:xfrm>
                        <a:off x="3276600" y="3068638"/>
                        <a:ext cx="3024188" cy="920750"/>
                      </a:xfrm>
                      <a:prstGeom prst="rect">
                        <a:avLst/>
                      </a:prstGeom>
                      <a:noFill/>
                      <a:ln w="38100">
                        <a:miter/>
                      </a:ln>
                    </p:spPr>
                  </p:pic>
                </p:oleObj>
              </mc:Fallback>
            </mc:AlternateContent>
          </a:graphicData>
        </a:graphic>
      </p:graphicFrame>
      <p:sp>
        <p:nvSpPr>
          <p:cNvPr id="319495" name="矩形 319494"/>
          <p:cNvSpPr/>
          <p:nvPr/>
        </p:nvSpPr>
        <p:spPr>
          <a:xfrm>
            <a:off x="7235825" y="3284538"/>
            <a:ext cx="1174750" cy="457200"/>
          </a:xfrm>
          <a:prstGeom prst="rect">
            <a:avLst/>
          </a:prstGeom>
          <a:noFill/>
          <a:ln w="9525">
            <a:noFill/>
          </a:ln>
        </p:spPr>
        <p:txBody>
          <a:bodyPr wrap="none" anchor="t" anchorCtr="0">
            <a:spAutoFit/>
          </a:bodyPr>
          <a:p>
            <a:r>
              <a:rPr lang="en-US" altLang="zh-CN">
                <a:latin typeface="Times New Roman" panose="02020603050405020304" pitchFamily="18" charset="0"/>
              </a:rPr>
              <a:t>(11- 16)</a:t>
            </a:r>
            <a:endParaRPr lang="en-US" altLang="zh-CN">
              <a:latin typeface="Times New Roman" panose="02020603050405020304" pitchFamily="18" charset="0"/>
            </a:endParaRPr>
          </a:p>
        </p:txBody>
      </p:sp>
      <p:graphicFrame>
        <p:nvGraphicFramePr>
          <p:cNvPr id="319496" name="内容占位符 319495"/>
          <p:cNvGraphicFramePr/>
          <p:nvPr>
            <p:ph sz="quarter" idx="3"/>
          </p:nvPr>
        </p:nvGraphicFramePr>
        <p:xfrm>
          <a:off x="2700338" y="3933825"/>
          <a:ext cx="3529012" cy="2001838"/>
        </p:xfrm>
        <a:graphic>
          <a:graphicData uri="http://schemas.openxmlformats.org/presentationml/2006/ole">
            <mc:AlternateContent xmlns:mc="http://schemas.openxmlformats.org/markup-compatibility/2006">
              <mc:Choice xmlns:v="urn:schemas-microsoft-com:vml" Requires="v">
                <p:oleObj spid="_x0000_s3098" name="" r:id="rId3" imgW="1623060" imgH="922020" progId="">
                  <p:embed/>
                </p:oleObj>
              </mc:Choice>
              <mc:Fallback>
                <p:oleObj name="" r:id="rId3" imgW="1623060" imgH="922020" progId="">
                  <p:embed/>
                  <p:pic>
                    <p:nvPicPr>
                      <p:cNvPr id="0" name="图片 3097"/>
                      <p:cNvPicPr/>
                      <p:nvPr/>
                    </p:nvPicPr>
                    <p:blipFill>
                      <a:blip r:embed="rId4"/>
                      <a:stretch>
                        <a:fillRect/>
                      </a:stretch>
                    </p:blipFill>
                    <p:spPr>
                      <a:xfrm>
                        <a:off x="2700338" y="3933825"/>
                        <a:ext cx="3529012" cy="2001838"/>
                      </a:xfrm>
                      <a:prstGeom prst="rect">
                        <a:avLst/>
                      </a:prstGeom>
                      <a:noFill/>
                      <a:ln w="38100">
                        <a:miter/>
                      </a:ln>
                    </p:spPr>
                  </p:pic>
                </p:oleObj>
              </mc:Fallback>
            </mc:AlternateContent>
          </a:graphicData>
        </a:graphic>
      </p:graphicFrame>
      <p:sp>
        <p:nvSpPr>
          <p:cNvPr id="319499" name="矩形 319498"/>
          <p:cNvSpPr/>
          <p:nvPr/>
        </p:nvSpPr>
        <p:spPr>
          <a:xfrm>
            <a:off x="1908175" y="5876925"/>
            <a:ext cx="5249863" cy="457200"/>
          </a:xfrm>
          <a:prstGeom prst="rect">
            <a:avLst/>
          </a:prstGeom>
          <a:noFill/>
          <a:ln w="9525">
            <a:noFill/>
          </a:ln>
        </p:spPr>
        <p:txBody>
          <a:bodyPr wrap="none" anchor="ctr" anchorCtr="0">
            <a:spAutoFit/>
          </a:bodyPr>
          <a:p>
            <a:r>
              <a:rPr lang="zh-CN" altLang="en-US" b="1" dirty="0">
                <a:latin typeface="Times New Roman" panose="02020603050405020304" pitchFamily="18" charset="0"/>
              </a:rPr>
              <a:t>图</a:t>
            </a:r>
            <a:r>
              <a:rPr lang="en-US" altLang="zh-CN" b="1">
                <a:latin typeface="Times New Roman" panose="02020603050405020304" pitchFamily="18" charset="0"/>
              </a:rPr>
              <a:t>11-10 </a:t>
            </a:r>
            <a:r>
              <a:rPr lang="zh-CN" altLang="en-US" b="1" dirty="0">
                <a:latin typeface="Times New Roman" panose="02020603050405020304" pitchFamily="18" charset="0"/>
              </a:rPr>
              <a:t>权电流</a:t>
            </a:r>
            <a:r>
              <a:rPr lang="en-US" altLang="zh-CN" b="1">
                <a:latin typeface="Times New Roman" panose="02020603050405020304" pitchFamily="18" charset="0"/>
              </a:rPr>
              <a:t>D/A</a:t>
            </a:r>
            <a:r>
              <a:rPr lang="zh-CN" altLang="en-US" b="1" dirty="0">
                <a:latin typeface="Times New Roman" panose="02020603050405020304" pitchFamily="18" charset="0"/>
              </a:rPr>
              <a:t>转换器中的电流源</a:t>
            </a:r>
            <a:r>
              <a:rPr lang="zh-CN" altLang="en-US" dirty="0">
                <a:latin typeface="Times New Roman" panose="02020603050405020304" pitchFamily="18" charset="0"/>
              </a:rPr>
              <a:t> </a:t>
            </a:r>
            <a:endParaRPr lang="zh-CN" altLang="en-US" dirty="0">
              <a:latin typeface="Times New Roman" panose="02020603050405020304" pitchFamily="18" charset="0"/>
            </a:endParaRPr>
          </a:p>
        </p:txBody>
      </p:sp>
    </p:spTree>
  </p:cSld>
  <p:clrMapOvr>
    <a:masterClrMapping/>
  </p:clrMapOvr>
  <p:transition>
    <p:blinds dir="vert"/>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322564" name="内容占位符 322563"/>
          <p:cNvGraphicFramePr/>
          <p:nvPr>
            <p:ph idx="4294967295"/>
          </p:nvPr>
        </p:nvGraphicFramePr>
        <p:xfrm>
          <a:off x="611188" y="620713"/>
          <a:ext cx="6121400" cy="2303462"/>
        </p:xfrm>
        <a:graphic>
          <a:graphicData uri="http://schemas.openxmlformats.org/presentationml/2006/ole">
            <mc:AlternateContent xmlns:mc="http://schemas.openxmlformats.org/markup-compatibility/2006">
              <mc:Choice xmlns:v="urn:schemas-microsoft-com:vml" Requires="v">
                <p:oleObj spid="_x0000_s3095" name="" r:id="rId1" imgW="2082165" imgH="1129665" progId="">
                  <p:embed/>
                </p:oleObj>
              </mc:Choice>
              <mc:Fallback>
                <p:oleObj name="" r:id="rId1" imgW="2082165" imgH="1129665" progId="">
                  <p:embed/>
                  <p:pic>
                    <p:nvPicPr>
                      <p:cNvPr id="0" name="图片 3094"/>
                      <p:cNvPicPr/>
                      <p:nvPr/>
                    </p:nvPicPr>
                    <p:blipFill>
                      <a:blip r:embed="rId2"/>
                      <a:stretch>
                        <a:fillRect/>
                      </a:stretch>
                    </p:blipFill>
                    <p:spPr>
                      <a:xfrm>
                        <a:off x="611188" y="620713"/>
                        <a:ext cx="6121400" cy="2303462"/>
                      </a:xfrm>
                      <a:prstGeom prst="rect">
                        <a:avLst/>
                      </a:prstGeom>
                      <a:noFill/>
                      <a:ln w="38100">
                        <a:miter/>
                      </a:ln>
                    </p:spPr>
                  </p:pic>
                </p:oleObj>
              </mc:Fallback>
            </mc:AlternateContent>
          </a:graphicData>
        </a:graphic>
      </p:graphicFrame>
      <p:sp>
        <p:nvSpPr>
          <p:cNvPr id="322566" name="矩形 322565"/>
          <p:cNvSpPr/>
          <p:nvPr/>
        </p:nvSpPr>
        <p:spPr>
          <a:xfrm>
            <a:off x="7019925" y="1268413"/>
            <a:ext cx="1174750" cy="457200"/>
          </a:xfrm>
          <a:prstGeom prst="rect">
            <a:avLst/>
          </a:prstGeom>
          <a:noFill/>
          <a:ln w="9525">
            <a:noFill/>
          </a:ln>
        </p:spPr>
        <p:txBody>
          <a:bodyPr>
            <a:spAutoFit/>
          </a:bodyPr>
          <a:p>
            <a:r>
              <a:rPr lang="en-US" altLang="zh-CN">
                <a:latin typeface="Times New Roman" panose="02020603050405020304" pitchFamily="18" charset="0"/>
              </a:rPr>
              <a:t>(11- 17)</a:t>
            </a:r>
            <a:endParaRPr lang="en-US" altLang="zh-CN">
              <a:latin typeface="Times New Roman" panose="02020603050405020304" pitchFamily="18" charset="0"/>
            </a:endParaRPr>
          </a:p>
        </p:txBody>
      </p:sp>
      <p:sp>
        <p:nvSpPr>
          <p:cNvPr id="322567" name="矩形 322566"/>
          <p:cNvSpPr/>
          <p:nvPr/>
        </p:nvSpPr>
        <p:spPr>
          <a:xfrm>
            <a:off x="179388" y="3405188"/>
            <a:ext cx="8569325" cy="1917700"/>
          </a:xfrm>
          <a:prstGeom prst="rect">
            <a:avLst/>
          </a:prstGeom>
          <a:noFill/>
          <a:ln w="9525">
            <a:noFill/>
          </a:ln>
        </p:spPr>
        <p:txBody>
          <a:bodyPr anchor="ctr" anchorCtr="0">
            <a:spAutoFit/>
          </a:bodyPr>
          <a:p>
            <a:r>
              <a:rPr lang="zh-CN" altLang="en-US" b="1" dirty="0">
                <a:latin typeface="Times New Roman" panose="02020603050405020304" pitchFamily="18" charset="0"/>
              </a:rPr>
              <a:t>可见，输出电压</a:t>
            </a:r>
            <a:r>
              <a:rPr lang="en-US" altLang="zh-CN" b="1">
                <a:latin typeface="Times New Roman" panose="02020603050405020304" pitchFamily="18" charset="0"/>
              </a:rPr>
              <a:t>u</a:t>
            </a:r>
            <a:r>
              <a:rPr lang="en-US" altLang="zh-CN" b="1" baseline="-25000">
                <a:latin typeface="Times New Roman" panose="02020603050405020304" pitchFamily="18" charset="0"/>
              </a:rPr>
              <a:t>0</a:t>
            </a:r>
            <a:r>
              <a:rPr lang="zh-CN" altLang="en-US" b="1" dirty="0">
                <a:latin typeface="Times New Roman" panose="02020603050405020304" pitchFamily="18" charset="0"/>
              </a:rPr>
              <a:t>正比于输入的数字量，实现了数字量到模拟量的转换。权电流</a:t>
            </a:r>
            <a:r>
              <a:rPr lang="en-US" altLang="zh-CN" b="1">
                <a:latin typeface="Times New Roman" panose="02020603050405020304" pitchFamily="18" charset="0"/>
              </a:rPr>
              <a:t>D/A</a:t>
            </a:r>
            <a:r>
              <a:rPr lang="zh-CN" altLang="en-US" b="1" dirty="0">
                <a:latin typeface="Times New Roman" panose="02020603050405020304" pitchFamily="18" charset="0"/>
              </a:rPr>
              <a:t>转换器各支路电流的叠加方法与传输方式和</a:t>
            </a:r>
            <a:r>
              <a:rPr lang="en-US" altLang="zh-CN" b="1">
                <a:latin typeface="Times New Roman" panose="02020603050405020304" pitchFamily="18" charset="0"/>
              </a:rPr>
              <a:t>R</a:t>
            </a:r>
            <a:r>
              <a:rPr lang="zh-CN" altLang="en-US" b="1" dirty="0">
                <a:latin typeface="Times New Roman" panose="02020603050405020304" pitchFamily="18" charset="0"/>
              </a:rPr>
              <a:t>－</a:t>
            </a:r>
            <a:r>
              <a:rPr lang="en-US" altLang="zh-CN" b="1">
                <a:latin typeface="Times New Roman" panose="02020603050405020304" pitchFamily="18" charset="0"/>
              </a:rPr>
              <a:t>2R</a:t>
            </a:r>
            <a:r>
              <a:rPr lang="zh-CN" altLang="en-US" b="1" dirty="0">
                <a:latin typeface="Times New Roman" panose="02020603050405020304" pitchFamily="18" charset="0"/>
              </a:rPr>
              <a:t>倒</a:t>
            </a:r>
            <a:r>
              <a:rPr lang="en-US" altLang="zh-CN" b="1">
                <a:latin typeface="Times New Roman" panose="02020603050405020304" pitchFamily="18" charset="0"/>
              </a:rPr>
              <a:t>T</a:t>
            </a:r>
            <a:r>
              <a:rPr lang="zh-CN" altLang="en-US" b="1" dirty="0">
                <a:latin typeface="Times New Roman" panose="02020603050405020304" pitchFamily="18" charset="0"/>
              </a:rPr>
              <a:t>型电阻网络</a:t>
            </a:r>
            <a:r>
              <a:rPr lang="en-US" altLang="zh-CN" b="1">
                <a:latin typeface="Times New Roman" panose="02020603050405020304" pitchFamily="18" charset="0"/>
              </a:rPr>
              <a:t>D/A</a:t>
            </a:r>
            <a:r>
              <a:rPr lang="zh-CN" altLang="en-US" b="1" dirty="0">
                <a:latin typeface="Times New Roman" panose="02020603050405020304" pitchFamily="18" charset="0"/>
              </a:rPr>
              <a:t>转换器相同，因而也具有转换速度快的特点。此外</a:t>
            </a:r>
            <a:r>
              <a:rPr lang="en-US" altLang="zh-CN" b="1">
                <a:latin typeface="Times New Roman" panose="02020603050405020304" pitchFamily="18" charset="0"/>
              </a:rPr>
              <a:t>,</a:t>
            </a:r>
            <a:r>
              <a:rPr lang="zh-CN" altLang="en-US" b="1" dirty="0">
                <a:latin typeface="Times New Roman" panose="02020603050405020304" pitchFamily="18" charset="0"/>
              </a:rPr>
              <a:t>由于采用了恒流源，每个支路电流的大小不再受开关内阻和压降的影响，从而降低了对开关电路的要求。</a:t>
            </a:r>
            <a:r>
              <a:rPr lang="zh-CN" altLang="en-US" dirty="0">
                <a:latin typeface="Times New Roman" panose="02020603050405020304" pitchFamily="18" charset="0"/>
              </a:rPr>
              <a:t> </a:t>
            </a:r>
            <a:endParaRPr lang="zh-CN" altLang="en-US" dirty="0">
              <a:latin typeface="Times New Roman" panose="02020603050405020304" pitchFamily="18" charset="0"/>
            </a:endParaRPr>
          </a:p>
        </p:txBody>
      </p:sp>
    </p:spTree>
  </p:cSld>
  <p:clrMapOvr>
    <a:masterClrMapping/>
  </p:clrMapOvr>
  <p:transition>
    <p:blinds dir="vert"/>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9700" name="文本框 29699"/>
          <p:cNvSpPr txBox="1"/>
          <p:nvPr/>
        </p:nvSpPr>
        <p:spPr>
          <a:xfrm>
            <a:off x="152400" y="533400"/>
            <a:ext cx="8991600" cy="3914775"/>
          </a:xfrm>
          <a:prstGeom prst="rect">
            <a:avLst/>
          </a:prstGeom>
          <a:noFill/>
          <a:ln w="9525">
            <a:noFill/>
          </a:ln>
        </p:spPr>
        <p:txBody>
          <a:bodyPr>
            <a:spAutoFit/>
          </a:bodyPr>
          <a:p>
            <a:pPr>
              <a:lnSpc>
                <a:spcPct val="158000"/>
              </a:lnSpc>
              <a:spcBef>
                <a:spcPct val="50000"/>
              </a:spcBef>
            </a:pPr>
            <a:r>
              <a:rPr lang="en-US" altLang="zh-CN" b="1">
                <a:latin typeface="Times New Roman" panose="02020603050405020304" pitchFamily="18" charset="0"/>
              </a:rPr>
              <a:t>11.1.3 </a:t>
            </a:r>
            <a:r>
              <a:rPr lang="zh-CN" altLang="en-US" b="1" dirty="0">
                <a:latin typeface="Times New Roman" panose="02020603050405020304" pitchFamily="18" charset="0"/>
              </a:rPr>
              <a:t>集成</a:t>
            </a:r>
            <a:r>
              <a:rPr lang="en-US" altLang="zh-CN" b="1">
                <a:latin typeface="Times New Roman" panose="02020603050405020304" pitchFamily="18" charset="0"/>
              </a:rPr>
              <a:t>DAC</a:t>
            </a:r>
            <a:r>
              <a:rPr lang="zh-CN" altLang="en-US" b="1" dirty="0">
                <a:latin typeface="Times New Roman" panose="02020603050405020304" pitchFamily="18" charset="0"/>
              </a:rPr>
              <a:t>的主要技术指标</a:t>
            </a:r>
            <a:endParaRPr lang="zh-CN" altLang="en-US" b="1" dirty="0">
              <a:latin typeface="Times New Roman" panose="02020603050405020304" pitchFamily="18" charset="0"/>
            </a:endParaRPr>
          </a:p>
          <a:p>
            <a:pPr>
              <a:lnSpc>
                <a:spcPct val="158000"/>
              </a:lnSpc>
              <a:spcBef>
                <a:spcPct val="50000"/>
              </a:spcBef>
            </a:pPr>
            <a:r>
              <a:rPr lang="zh-CN" altLang="en-US">
                <a:latin typeface="Times New Roman" panose="02020603050405020304" pitchFamily="18" charset="0"/>
              </a:rPr>
              <a:t>        </a:t>
            </a:r>
            <a:r>
              <a:rPr lang="en-US" altLang="zh-CN" b="1">
                <a:latin typeface="Times New Roman" panose="02020603050405020304" pitchFamily="18" charset="0"/>
              </a:rPr>
              <a:t>1. </a:t>
            </a:r>
            <a:r>
              <a:rPr lang="zh-CN" altLang="en-US" b="1" dirty="0">
                <a:latin typeface="Times New Roman" panose="02020603050405020304" pitchFamily="18" charset="0"/>
              </a:rPr>
              <a:t>最小输出电压</a:t>
            </a:r>
            <a:r>
              <a:rPr lang="en-US" altLang="zh-CN" b="1">
                <a:latin typeface="Times New Roman" panose="02020603050405020304" pitchFamily="18" charset="0"/>
              </a:rPr>
              <a:t>U</a:t>
            </a:r>
            <a:r>
              <a:rPr lang="en-US" altLang="zh-CN" b="1" baseline="-25000">
                <a:latin typeface="Times New Roman" panose="02020603050405020304" pitchFamily="18" charset="0"/>
              </a:rPr>
              <a:t>LSB</a:t>
            </a:r>
            <a:r>
              <a:rPr lang="zh-CN" altLang="en-US" b="1" dirty="0">
                <a:latin typeface="Times New Roman" panose="02020603050405020304" pitchFamily="18" charset="0"/>
              </a:rPr>
              <a:t>和满量程输出电压</a:t>
            </a:r>
            <a:r>
              <a:rPr lang="en-US" altLang="zh-CN" b="1">
                <a:latin typeface="Times New Roman" panose="02020603050405020304" pitchFamily="18" charset="0"/>
              </a:rPr>
              <a:t>U</a:t>
            </a:r>
            <a:r>
              <a:rPr lang="en-US" altLang="zh-CN" b="1" baseline="-25000">
                <a:latin typeface="Times New Roman" panose="02020603050405020304" pitchFamily="18" charset="0"/>
              </a:rPr>
              <a:t>FSR</a:t>
            </a:r>
            <a:endParaRPr lang="en-US" altLang="zh-CN" b="1" baseline="-25000">
              <a:latin typeface="Times New Roman" panose="02020603050405020304" pitchFamily="18" charset="0"/>
            </a:endParaRPr>
          </a:p>
          <a:p>
            <a:pPr>
              <a:lnSpc>
                <a:spcPct val="158000"/>
              </a:lnSpc>
              <a:spcBef>
                <a:spcPct val="50000"/>
              </a:spcBef>
            </a:pPr>
            <a:r>
              <a:rPr lang="en-US" altLang="zh-CN">
                <a:latin typeface="Times New Roman" panose="02020603050405020304" pitchFamily="18" charset="0"/>
              </a:rPr>
              <a:t>       </a:t>
            </a:r>
            <a:r>
              <a:rPr lang="zh-CN" altLang="en-US" dirty="0">
                <a:latin typeface="Times New Roman" panose="02020603050405020304" pitchFamily="18" charset="0"/>
              </a:rPr>
              <a:t>最小输出电压</a:t>
            </a:r>
            <a:r>
              <a:rPr lang="en-US" altLang="zh-CN">
                <a:latin typeface="Times New Roman" panose="02020603050405020304" pitchFamily="18" charset="0"/>
              </a:rPr>
              <a:t>U</a:t>
            </a:r>
            <a:r>
              <a:rPr lang="en-US" altLang="zh-CN" baseline="-25000">
                <a:latin typeface="Times New Roman" panose="02020603050405020304" pitchFamily="18" charset="0"/>
              </a:rPr>
              <a:t>LSB</a:t>
            </a:r>
            <a:r>
              <a:rPr lang="zh-CN" altLang="en-US" dirty="0">
                <a:latin typeface="Times New Roman" panose="02020603050405020304" pitchFamily="18" charset="0"/>
              </a:rPr>
              <a:t>是指输入数字量只有最低位为</a:t>
            </a:r>
            <a:r>
              <a:rPr lang="en-US" altLang="zh-CN">
                <a:latin typeface="Times New Roman" panose="02020603050405020304" pitchFamily="18" charset="0"/>
              </a:rPr>
              <a:t>1</a:t>
            </a:r>
            <a:r>
              <a:rPr lang="zh-CN" altLang="en-US" dirty="0">
                <a:latin typeface="Times New Roman" panose="02020603050405020304" pitchFamily="18" charset="0"/>
              </a:rPr>
              <a:t>时，</a:t>
            </a:r>
            <a:r>
              <a:rPr lang="en-US" altLang="zh-CN">
                <a:latin typeface="Times New Roman" panose="02020603050405020304" pitchFamily="18" charset="0"/>
              </a:rPr>
              <a:t>DAC</a:t>
            </a:r>
            <a:r>
              <a:rPr lang="zh-CN" altLang="en-US" dirty="0">
                <a:latin typeface="Times New Roman" panose="02020603050405020304" pitchFamily="18" charset="0"/>
              </a:rPr>
              <a:t>所输出的模拟电压的幅度。或者说，就是当输入数字量的最低位的状态发生变化时（由</a:t>
            </a:r>
            <a:r>
              <a:rPr lang="en-US" altLang="zh-CN">
                <a:latin typeface="Times New Roman" panose="02020603050405020304" pitchFamily="18" charset="0"/>
              </a:rPr>
              <a:t>0</a:t>
            </a:r>
            <a:r>
              <a:rPr lang="zh-CN" altLang="en-US" dirty="0">
                <a:latin typeface="Times New Roman" panose="02020603050405020304" pitchFamily="18" charset="0"/>
              </a:rPr>
              <a:t>变成</a:t>
            </a:r>
            <a:r>
              <a:rPr lang="en-US" altLang="zh-CN">
                <a:latin typeface="Times New Roman" panose="02020603050405020304" pitchFamily="18" charset="0"/>
              </a:rPr>
              <a:t>1</a:t>
            </a:r>
            <a:r>
              <a:rPr lang="zh-CN" altLang="en-US" dirty="0">
                <a:latin typeface="Times New Roman" panose="02020603050405020304" pitchFamily="18" charset="0"/>
              </a:rPr>
              <a:t>或由</a:t>
            </a:r>
            <a:r>
              <a:rPr lang="en-US" altLang="zh-CN">
                <a:latin typeface="Times New Roman" panose="02020603050405020304" pitchFamily="18" charset="0"/>
              </a:rPr>
              <a:t>1</a:t>
            </a:r>
            <a:r>
              <a:rPr lang="zh-CN" altLang="en-US" dirty="0">
                <a:latin typeface="Times New Roman" panose="02020603050405020304" pitchFamily="18" charset="0"/>
              </a:rPr>
              <a:t>变成</a:t>
            </a:r>
            <a:r>
              <a:rPr lang="en-US" altLang="zh-CN">
                <a:latin typeface="Times New Roman" panose="02020603050405020304" pitchFamily="18" charset="0"/>
              </a:rPr>
              <a:t>0</a:t>
            </a:r>
            <a:r>
              <a:rPr lang="zh-CN" altLang="en-US" dirty="0">
                <a:latin typeface="Times New Roman" panose="02020603050405020304" pitchFamily="18" charset="0"/>
              </a:rPr>
              <a:t>），所引起的输出模拟电压的变化量。对于</a:t>
            </a:r>
            <a:r>
              <a:rPr lang="en-US" altLang="zh-CN">
                <a:latin typeface="Times New Roman" panose="02020603050405020304" pitchFamily="18" charset="0"/>
              </a:rPr>
              <a:t>n</a:t>
            </a:r>
            <a:r>
              <a:rPr lang="zh-CN" altLang="en-US">
                <a:latin typeface="Times New Roman" panose="02020603050405020304" pitchFamily="18" charset="0"/>
              </a:rPr>
              <a:t>位</a:t>
            </a:r>
            <a:r>
              <a:rPr lang="en-US" altLang="zh-CN">
                <a:latin typeface="Times New Roman" panose="02020603050405020304" pitchFamily="18" charset="0"/>
              </a:rPr>
              <a:t>DAC</a:t>
            </a:r>
            <a:r>
              <a:rPr lang="zh-CN" altLang="en-US" dirty="0">
                <a:latin typeface="Times New Roman" panose="02020603050405020304" pitchFamily="18" charset="0"/>
              </a:rPr>
              <a:t>电路，最小输出电压</a:t>
            </a:r>
            <a:r>
              <a:rPr lang="en-US" altLang="zh-CN">
                <a:latin typeface="Times New Roman" panose="02020603050405020304" pitchFamily="18" charset="0"/>
              </a:rPr>
              <a:t>U</a:t>
            </a:r>
            <a:r>
              <a:rPr lang="en-US" altLang="zh-CN" baseline="-25000">
                <a:latin typeface="Times New Roman" panose="02020603050405020304" pitchFamily="18" charset="0"/>
              </a:rPr>
              <a:t>LSB</a:t>
            </a:r>
            <a:r>
              <a:rPr lang="zh-CN" altLang="en-US" dirty="0">
                <a:latin typeface="Times New Roman" panose="02020603050405020304" pitchFamily="18" charset="0"/>
              </a:rPr>
              <a:t>为</a:t>
            </a:r>
            <a:endParaRPr lang="zh-CN" altLang="en-US">
              <a:latin typeface="Times New Roman" panose="02020603050405020304" pitchFamily="18" charset="0"/>
            </a:endParaRPr>
          </a:p>
        </p:txBody>
      </p:sp>
      <p:graphicFrame>
        <p:nvGraphicFramePr>
          <p:cNvPr id="29701" name="对象 29700"/>
          <p:cNvGraphicFramePr/>
          <p:nvPr/>
        </p:nvGraphicFramePr>
        <p:xfrm>
          <a:off x="3162300" y="4800600"/>
          <a:ext cx="2819400" cy="1230313"/>
        </p:xfrm>
        <a:graphic>
          <a:graphicData uri="http://schemas.openxmlformats.org/presentationml/2006/ole">
            <mc:AlternateContent xmlns:mc="http://schemas.openxmlformats.org/markup-compatibility/2006">
              <mc:Choice xmlns:v="urn:schemas-microsoft-com:vml" Requires="v">
                <p:oleObj spid="_x0000_s3097" name="" r:id="rId1" imgW="901065" imgH="393700" progId="Equation.3">
                  <p:embed/>
                </p:oleObj>
              </mc:Choice>
              <mc:Fallback>
                <p:oleObj name="" r:id="rId1" imgW="901065" imgH="393700" progId="Equation.3">
                  <p:embed/>
                  <p:pic>
                    <p:nvPicPr>
                      <p:cNvPr id="0" name="图片 3096"/>
                      <p:cNvPicPr/>
                      <p:nvPr/>
                    </p:nvPicPr>
                    <p:blipFill>
                      <a:blip r:embed="rId2"/>
                      <a:stretch>
                        <a:fillRect/>
                      </a:stretch>
                    </p:blipFill>
                    <p:spPr>
                      <a:xfrm>
                        <a:off x="3162300" y="4800600"/>
                        <a:ext cx="2819400" cy="1230313"/>
                      </a:xfrm>
                      <a:prstGeom prst="rect">
                        <a:avLst/>
                      </a:prstGeom>
                      <a:noFill/>
                      <a:ln w="38100">
                        <a:noFill/>
                        <a:miter/>
                      </a:ln>
                    </p:spPr>
                  </p:pic>
                </p:oleObj>
              </mc:Fallback>
            </mc:AlternateContent>
          </a:graphicData>
        </a:graphic>
      </p:graphicFrame>
      <p:sp>
        <p:nvSpPr>
          <p:cNvPr id="29702" name="文本框 29701"/>
          <p:cNvSpPr txBox="1"/>
          <p:nvPr/>
        </p:nvSpPr>
        <p:spPr>
          <a:xfrm>
            <a:off x="7696200" y="5181600"/>
            <a:ext cx="1098550" cy="457200"/>
          </a:xfrm>
          <a:prstGeom prst="rect">
            <a:avLst/>
          </a:prstGeom>
          <a:noFill/>
          <a:ln w="9525">
            <a:noFill/>
          </a:ln>
        </p:spPr>
        <p:txBody>
          <a:bodyPr wrap="none" anchor="t" anchorCtr="0">
            <a:spAutoFit/>
          </a:bodyPr>
          <a:p>
            <a:r>
              <a:rPr lang="en-US" altLang="zh-CN">
                <a:latin typeface="Times New Roman" panose="02020603050405020304" pitchFamily="18" charset="0"/>
              </a:rPr>
              <a:t>(11-18)</a:t>
            </a:r>
            <a:endParaRPr lang="en-US" altLang="zh-CN">
              <a:latin typeface="Times New Roman" panose="02020603050405020304" pitchFamily="18" charset="0"/>
            </a:endParaRPr>
          </a:p>
        </p:txBody>
      </p:sp>
    </p:spTree>
  </p:cSld>
  <p:clrMapOvr>
    <a:masterClrMapping/>
  </p:clrMapOvr>
  <p:transition>
    <p:blinds dir="vert"/>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2772" name="文本框 32771"/>
          <p:cNvSpPr txBox="1"/>
          <p:nvPr/>
        </p:nvSpPr>
        <p:spPr>
          <a:xfrm>
            <a:off x="228600" y="457200"/>
            <a:ext cx="8686800" cy="1735138"/>
          </a:xfrm>
          <a:prstGeom prst="rect">
            <a:avLst/>
          </a:prstGeom>
          <a:noFill/>
          <a:ln w="9525">
            <a:noFill/>
          </a:ln>
        </p:spPr>
        <p:txBody>
          <a:bodyPr>
            <a:spAutoFit/>
          </a:bodyPr>
          <a:p>
            <a:pPr>
              <a:lnSpc>
                <a:spcPct val="150000"/>
              </a:lnSpc>
              <a:spcBef>
                <a:spcPct val="50000"/>
              </a:spcBef>
            </a:pPr>
            <a:r>
              <a:rPr lang="en-US" altLang="zh-CN" dirty="0">
                <a:latin typeface="Times New Roman" panose="02020603050405020304" pitchFamily="18" charset="0"/>
              </a:rPr>
              <a:t>        </a:t>
            </a:r>
            <a:r>
              <a:rPr lang="zh-CN" altLang="en-US" b="1" dirty="0">
                <a:latin typeface="Times New Roman" panose="02020603050405020304" pitchFamily="18" charset="0"/>
              </a:rPr>
              <a:t>满量程输出电压</a:t>
            </a:r>
            <a:r>
              <a:rPr lang="en-US" altLang="zh-CN" b="1">
                <a:latin typeface="Times New Roman" panose="02020603050405020304" pitchFamily="18" charset="0"/>
              </a:rPr>
              <a:t>U</a:t>
            </a:r>
            <a:r>
              <a:rPr lang="en-US" altLang="zh-CN" b="1" baseline="-25000">
                <a:latin typeface="Times New Roman" panose="02020603050405020304" pitchFamily="18" charset="0"/>
              </a:rPr>
              <a:t>FSR</a:t>
            </a:r>
            <a:r>
              <a:rPr lang="zh-CN" altLang="en-US" b="1" dirty="0">
                <a:latin typeface="Times New Roman" panose="02020603050405020304" pitchFamily="18" charset="0"/>
              </a:rPr>
              <a:t>定义为：输入数字量的所有位均为</a:t>
            </a:r>
            <a:r>
              <a:rPr lang="en-US" altLang="zh-CN" b="1">
                <a:latin typeface="Times New Roman" panose="02020603050405020304" pitchFamily="18" charset="0"/>
              </a:rPr>
              <a:t>1</a:t>
            </a:r>
            <a:r>
              <a:rPr lang="zh-CN" altLang="en-US" b="1" dirty="0">
                <a:latin typeface="Times New Roman" panose="02020603050405020304" pitchFamily="18" charset="0"/>
              </a:rPr>
              <a:t>时， </a:t>
            </a:r>
            <a:r>
              <a:rPr lang="en-US" altLang="zh-CN" b="1">
                <a:latin typeface="Times New Roman" panose="02020603050405020304" pitchFamily="18" charset="0"/>
              </a:rPr>
              <a:t>DAC</a:t>
            </a:r>
            <a:r>
              <a:rPr lang="zh-CN" altLang="en-US" b="1" dirty="0">
                <a:latin typeface="Times New Roman" panose="02020603050405020304" pitchFamily="18" charset="0"/>
              </a:rPr>
              <a:t>输出模拟电压的幅度。有时也把</a:t>
            </a:r>
            <a:r>
              <a:rPr lang="en-US" altLang="zh-CN" b="1">
                <a:latin typeface="Times New Roman" panose="02020603050405020304" pitchFamily="18" charset="0"/>
              </a:rPr>
              <a:t>U</a:t>
            </a:r>
            <a:r>
              <a:rPr lang="en-US" altLang="zh-CN" b="1" baseline="-25000">
                <a:latin typeface="Times New Roman" panose="02020603050405020304" pitchFamily="18" charset="0"/>
              </a:rPr>
              <a:t>FSR</a:t>
            </a:r>
            <a:r>
              <a:rPr lang="zh-CN" altLang="en-US" b="1" dirty="0">
                <a:latin typeface="Times New Roman" panose="02020603050405020304" pitchFamily="18" charset="0"/>
              </a:rPr>
              <a:t>称为最大输出电压</a:t>
            </a:r>
            <a:r>
              <a:rPr lang="en-US" altLang="zh-CN" b="1" err="1">
                <a:latin typeface="Times New Roman" panose="02020603050405020304" pitchFamily="18" charset="0"/>
              </a:rPr>
              <a:t>U</a:t>
            </a:r>
            <a:r>
              <a:rPr lang="en-US" altLang="zh-CN" b="1" baseline="-25000" err="1">
                <a:latin typeface="Times New Roman" panose="02020603050405020304" pitchFamily="18" charset="0"/>
              </a:rPr>
              <a:t>max</a:t>
            </a:r>
            <a:r>
              <a:rPr lang="zh-CN" altLang="en-US" b="1">
                <a:latin typeface="Times New Roman" panose="02020603050405020304" pitchFamily="18" charset="0"/>
              </a:rPr>
              <a:t>。 </a:t>
            </a:r>
            <a:r>
              <a:rPr lang="zh-CN" altLang="en-US" b="1" dirty="0">
                <a:latin typeface="Times New Roman" panose="02020603050405020304" pitchFamily="18" charset="0"/>
              </a:rPr>
              <a:t>对于</a:t>
            </a:r>
            <a:r>
              <a:rPr lang="en-US" altLang="zh-CN" b="1">
                <a:latin typeface="Times New Roman" panose="02020603050405020304" pitchFamily="18" charset="0"/>
              </a:rPr>
              <a:t>n</a:t>
            </a:r>
            <a:r>
              <a:rPr lang="zh-CN" altLang="en-US" b="1">
                <a:latin typeface="Times New Roman" panose="02020603050405020304" pitchFamily="18" charset="0"/>
              </a:rPr>
              <a:t>位</a:t>
            </a:r>
            <a:r>
              <a:rPr lang="en-US" altLang="zh-CN" b="1">
                <a:latin typeface="Times New Roman" panose="02020603050405020304" pitchFamily="18" charset="0"/>
              </a:rPr>
              <a:t>DAC</a:t>
            </a:r>
            <a:r>
              <a:rPr lang="zh-CN" altLang="en-US" b="1" dirty="0">
                <a:latin typeface="Times New Roman" panose="02020603050405020304" pitchFamily="18" charset="0"/>
              </a:rPr>
              <a:t>电路，满量程输出电压</a:t>
            </a:r>
            <a:r>
              <a:rPr lang="en-US" altLang="zh-CN" b="1">
                <a:latin typeface="Times New Roman" panose="02020603050405020304" pitchFamily="18" charset="0"/>
              </a:rPr>
              <a:t>U</a:t>
            </a:r>
            <a:r>
              <a:rPr lang="en-US" altLang="zh-CN" b="1" baseline="-25000">
                <a:latin typeface="Times New Roman" panose="02020603050405020304" pitchFamily="18" charset="0"/>
              </a:rPr>
              <a:t>FSR</a:t>
            </a:r>
            <a:r>
              <a:rPr lang="zh-CN" altLang="en-US" b="1">
                <a:latin typeface="Times New Roman" panose="02020603050405020304" pitchFamily="18" charset="0"/>
              </a:rPr>
              <a:t>为</a:t>
            </a:r>
            <a:endParaRPr lang="zh-CN" altLang="en-US" b="1">
              <a:latin typeface="Times New Roman" panose="02020603050405020304" pitchFamily="18" charset="0"/>
            </a:endParaRPr>
          </a:p>
        </p:txBody>
      </p:sp>
      <p:graphicFrame>
        <p:nvGraphicFramePr>
          <p:cNvPr id="32773" name="对象 32772"/>
          <p:cNvGraphicFramePr/>
          <p:nvPr/>
        </p:nvGraphicFramePr>
        <p:xfrm>
          <a:off x="3124200" y="2590800"/>
          <a:ext cx="3225800" cy="1065213"/>
        </p:xfrm>
        <a:graphic>
          <a:graphicData uri="http://schemas.openxmlformats.org/presentationml/2006/ole">
            <mc:AlternateContent xmlns:mc="http://schemas.openxmlformats.org/markup-compatibility/2006">
              <mc:Choice xmlns:v="urn:schemas-microsoft-com:vml" Requires="v">
                <p:oleObj spid="_x0000_s3092" name="" r:id="rId1" imgW="1269365" imgH="419100" progId="Equation.3">
                  <p:embed/>
                </p:oleObj>
              </mc:Choice>
              <mc:Fallback>
                <p:oleObj name="" r:id="rId1" imgW="1269365" imgH="419100" progId="Equation.3">
                  <p:embed/>
                  <p:pic>
                    <p:nvPicPr>
                      <p:cNvPr id="0" name="图片 3091"/>
                      <p:cNvPicPr/>
                      <p:nvPr/>
                    </p:nvPicPr>
                    <p:blipFill>
                      <a:blip r:embed="rId2"/>
                      <a:stretch>
                        <a:fillRect/>
                      </a:stretch>
                    </p:blipFill>
                    <p:spPr>
                      <a:xfrm>
                        <a:off x="3124200" y="2590800"/>
                        <a:ext cx="3225800" cy="1065213"/>
                      </a:xfrm>
                      <a:prstGeom prst="rect">
                        <a:avLst/>
                      </a:prstGeom>
                      <a:noFill/>
                      <a:ln w="38100">
                        <a:noFill/>
                        <a:miter/>
                      </a:ln>
                    </p:spPr>
                  </p:pic>
                </p:oleObj>
              </mc:Fallback>
            </mc:AlternateContent>
          </a:graphicData>
        </a:graphic>
      </p:graphicFrame>
      <p:sp>
        <p:nvSpPr>
          <p:cNvPr id="32774" name="文本框 32773"/>
          <p:cNvSpPr txBox="1"/>
          <p:nvPr/>
        </p:nvSpPr>
        <p:spPr>
          <a:xfrm>
            <a:off x="228600" y="3879850"/>
            <a:ext cx="8686800" cy="2063750"/>
          </a:xfrm>
          <a:prstGeom prst="rect">
            <a:avLst/>
          </a:prstGeom>
          <a:noFill/>
          <a:ln w="9525">
            <a:noFill/>
          </a:ln>
        </p:spPr>
        <p:txBody>
          <a:bodyPr>
            <a:spAutoFit/>
          </a:bodyPr>
          <a:p>
            <a:pPr>
              <a:lnSpc>
                <a:spcPct val="180000"/>
              </a:lnSpc>
              <a:spcBef>
                <a:spcPct val="50000"/>
              </a:spcBef>
            </a:pPr>
            <a:r>
              <a:rPr lang="en-US" altLang="zh-CN" dirty="0">
                <a:latin typeface="Times New Roman" panose="02020603050405020304" pitchFamily="18" charset="0"/>
              </a:rPr>
              <a:t>        </a:t>
            </a:r>
            <a:r>
              <a:rPr lang="zh-CN" altLang="en-US" b="1" dirty="0">
                <a:latin typeface="Times New Roman" panose="02020603050405020304" pitchFamily="18" charset="0"/>
              </a:rPr>
              <a:t>对于电流输出的</a:t>
            </a:r>
            <a:r>
              <a:rPr lang="en-US" altLang="zh-CN" b="1">
                <a:latin typeface="Times New Roman" panose="02020603050405020304" pitchFamily="18" charset="0"/>
              </a:rPr>
              <a:t>DAC</a:t>
            </a:r>
            <a:r>
              <a:rPr lang="zh-CN" altLang="en-US" b="1">
                <a:latin typeface="Times New Roman" panose="02020603050405020304" pitchFamily="18" charset="0"/>
              </a:rPr>
              <a:t>，</a:t>
            </a:r>
            <a:r>
              <a:rPr lang="zh-CN" altLang="en-US" b="1" dirty="0">
                <a:latin typeface="Times New Roman" panose="02020603050405020304" pitchFamily="18" charset="0"/>
              </a:rPr>
              <a:t>则有</a:t>
            </a:r>
            <a:r>
              <a:rPr lang="en-US" altLang="zh-CN" b="1">
                <a:latin typeface="Times New Roman" panose="02020603050405020304" pitchFamily="18" charset="0"/>
              </a:rPr>
              <a:t>I</a:t>
            </a:r>
            <a:r>
              <a:rPr lang="en-US" altLang="zh-CN" b="1" baseline="-25000">
                <a:latin typeface="Times New Roman" panose="02020603050405020304" pitchFamily="18" charset="0"/>
              </a:rPr>
              <a:t>LSB</a:t>
            </a:r>
            <a:r>
              <a:rPr lang="zh-CN" altLang="en-US" b="1">
                <a:latin typeface="Times New Roman" panose="02020603050405020304" pitchFamily="18" charset="0"/>
              </a:rPr>
              <a:t>和</a:t>
            </a:r>
            <a:r>
              <a:rPr lang="en-US" altLang="zh-CN" b="1">
                <a:latin typeface="Times New Roman" panose="02020603050405020304" pitchFamily="18" charset="0"/>
              </a:rPr>
              <a:t>I</a:t>
            </a:r>
            <a:r>
              <a:rPr lang="en-US" altLang="zh-CN" b="1" baseline="-25000">
                <a:latin typeface="Times New Roman" panose="02020603050405020304" pitchFamily="18" charset="0"/>
              </a:rPr>
              <a:t>FSR</a:t>
            </a:r>
            <a:r>
              <a:rPr lang="zh-CN" altLang="en-US" b="1" dirty="0">
                <a:latin typeface="Times New Roman" panose="02020603050405020304" pitchFamily="18" charset="0"/>
              </a:rPr>
              <a:t>两个概念，其含义与</a:t>
            </a:r>
            <a:r>
              <a:rPr lang="en-US" altLang="zh-CN" b="1">
                <a:latin typeface="Times New Roman" panose="02020603050405020304" pitchFamily="18" charset="0"/>
              </a:rPr>
              <a:t>U</a:t>
            </a:r>
            <a:r>
              <a:rPr lang="en-US" altLang="zh-CN" b="1" baseline="-25000">
                <a:latin typeface="Times New Roman" panose="02020603050405020304" pitchFamily="18" charset="0"/>
              </a:rPr>
              <a:t>LSB</a:t>
            </a:r>
            <a:r>
              <a:rPr lang="zh-CN" altLang="en-US" b="1">
                <a:latin typeface="Times New Roman" panose="02020603050405020304" pitchFamily="18" charset="0"/>
              </a:rPr>
              <a:t>和</a:t>
            </a:r>
            <a:r>
              <a:rPr lang="en-US" altLang="zh-CN" b="1">
                <a:latin typeface="Times New Roman" panose="02020603050405020304" pitchFamily="18" charset="0"/>
              </a:rPr>
              <a:t>U</a:t>
            </a:r>
            <a:r>
              <a:rPr lang="en-US" altLang="zh-CN" b="1" baseline="-25000">
                <a:latin typeface="Times New Roman" panose="02020603050405020304" pitchFamily="18" charset="0"/>
              </a:rPr>
              <a:t>FSR</a:t>
            </a:r>
            <a:r>
              <a:rPr lang="zh-CN" altLang="en-US" b="1" dirty="0">
                <a:latin typeface="Times New Roman" panose="02020603050405020304" pitchFamily="18" charset="0"/>
              </a:rPr>
              <a:t>相对应。有时也将</a:t>
            </a:r>
            <a:r>
              <a:rPr lang="en-US" altLang="zh-CN" b="1">
                <a:latin typeface="Times New Roman" panose="02020603050405020304" pitchFamily="18" charset="0"/>
              </a:rPr>
              <a:t>U</a:t>
            </a:r>
            <a:r>
              <a:rPr lang="en-US" altLang="zh-CN" b="1" baseline="-25000">
                <a:latin typeface="Times New Roman" panose="02020603050405020304" pitchFamily="18" charset="0"/>
              </a:rPr>
              <a:t>LSB</a:t>
            </a:r>
            <a:r>
              <a:rPr lang="zh-CN" altLang="en-US" b="1">
                <a:latin typeface="Times New Roman" panose="02020603050405020304" pitchFamily="18" charset="0"/>
              </a:rPr>
              <a:t>和</a:t>
            </a:r>
            <a:r>
              <a:rPr lang="en-US" altLang="zh-CN" b="1">
                <a:latin typeface="Times New Roman" panose="02020603050405020304" pitchFamily="18" charset="0"/>
              </a:rPr>
              <a:t>I</a:t>
            </a:r>
            <a:r>
              <a:rPr lang="en-US" altLang="zh-CN" b="1" baseline="-25000">
                <a:latin typeface="Times New Roman" panose="02020603050405020304" pitchFamily="18" charset="0"/>
              </a:rPr>
              <a:t>LSB</a:t>
            </a:r>
            <a:r>
              <a:rPr lang="zh-CN" altLang="en-US" b="1" dirty="0">
                <a:latin typeface="Times New Roman" panose="02020603050405020304" pitchFamily="18" charset="0"/>
              </a:rPr>
              <a:t>简称为</a:t>
            </a:r>
            <a:r>
              <a:rPr lang="en-US" altLang="zh-CN" b="1">
                <a:latin typeface="Times New Roman" panose="02020603050405020304" pitchFamily="18" charset="0"/>
              </a:rPr>
              <a:t>LSB</a:t>
            </a:r>
            <a:r>
              <a:rPr lang="zh-CN" altLang="en-US" b="1">
                <a:latin typeface="Times New Roman" panose="02020603050405020304" pitchFamily="18" charset="0"/>
              </a:rPr>
              <a:t>，将</a:t>
            </a:r>
            <a:r>
              <a:rPr lang="en-US" altLang="zh-CN" b="1">
                <a:latin typeface="Times New Roman" panose="02020603050405020304" pitchFamily="18" charset="0"/>
              </a:rPr>
              <a:t>U</a:t>
            </a:r>
            <a:r>
              <a:rPr lang="en-US" altLang="zh-CN" b="1" baseline="-25000">
                <a:latin typeface="Times New Roman" panose="02020603050405020304" pitchFamily="18" charset="0"/>
              </a:rPr>
              <a:t>FSR</a:t>
            </a:r>
            <a:r>
              <a:rPr lang="zh-CN" altLang="en-US" b="1">
                <a:latin typeface="Times New Roman" panose="02020603050405020304" pitchFamily="18" charset="0"/>
              </a:rPr>
              <a:t>和</a:t>
            </a:r>
            <a:r>
              <a:rPr lang="en-US" altLang="zh-CN" b="1">
                <a:latin typeface="Times New Roman" panose="02020603050405020304" pitchFamily="18" charset="0"/>
              </a:rPr>
              <a:t>I</a:t>
            </a:r>
            <a:r>
              <a:rPr lang="en-US" altLang="zh-CN" b="1" baseline="-25000">
                <a:latin typeface="Times New Roman" panose="02020603050405020304" pitchFamily="18" charset="0"/>
              </a:rPr>
              <a:t>FSR</a:t>
            </a:r>
            <a:r>
              <a:rPr lang="zh-CN" altLang="en-US" b="1" dirty="0">
                <a:latin typeface="Times New Roman" panose="02020603050405020304" pitchFamily="18" charset="0"/>
              </a:rPr>
              <a:t>简称为</a:t>
            </a:r>
            <a:r>
              <a:rPr lang="en-US" altLang="zh-CN" b="1">
                <a:latin typeface="Times New Roman" panose="02020603050405020304" pitchFamily="18" charset="0"/>
              </a:rPr>
              <a:t>FSR</a:t>
            </a:r>
            <a:r>
              <a:rPr lang="zh-CN" altLang="en-US" b="1">
                <a:latin typeface="Times New Roman" panose="02020603050405020304" pitchFamily="18" charset="0"/>
              </a:rPr>
              <a:t>（</a:t>
            </a:r>
            <a:r>
              <a:rPr lang="en-US" altLang="zh-CN" b="1">
                <a:latin typeface="Times New Roman" panose="02020603050405020304" pitchFamily="18" charset="0"/>
              </a:rPr>
              <a:t>Full Scale Range</a:t>
            </a:r>
            <a:r>
              <a:rPr lang="zh-CN" altLang="en-US" b="1">
                <a:latin typeface="Times New Roman" panose="02020603050405020304" pitchFamily="18" charset="0"/>
              </a:rPr>
              <a:t>）。</a:t>
            </a:r>
            <a:endParaRPr lang="zh-CN" altLang="en-US" b="1">
              <a:latin typeface="Times New Roman" panose="02020603050405020304" pitchFamily="18" charset="0"/>
            </a:endParaRPr>
          </a:p>
        </p:txBody>
      </p:sp>
      <p:sp>
        <p:nvSpPr>
          <p:cNvPr id="32775" name="文本框 32774"/>
          <p:cNvSpPr txBox="1"/>
          <p:nvPr/>
        </p:nvSpPr>
        <p:spPr>
          <a:xfrm>
            <a:off x="7772400" y="2971800"/>
            <a:ext cx="1098550" cy="457200"/>
          </a:xfrm>
          <a:prstGeom prst="rect">
            <a:avLst/>
          </a:prstGeom>
          <a:noFill/>
          <a:ln w="9525">
            <a:noFill/>
          </a:ln>
        </p:spPr>
        <p:txBody>
          <a:bodyPr wrap="none" anchor="t" anchorCtr="0">
            <a:spAutoFit/>
          </a:bodyPr>
          <a:p>
            <a:r>
              <a:rPr lang="en-US" altLang="zh-CN">
                <a:latin typeface="Times New Roman" panose="02020603050405020304" pitchFamily="18" charset="0"/>
              </a:rPr>
              <a:t>(11-19)</a:t>
            </a:r>
            <a:endParaRPr lang="en-US" altLang="zh-CN">
              <a:latin typeface="Times New Roman" panose="02020603050405020304" pitchFamily="18" charset="0"/>
            </a:endParaRPr>
          </a:p>
        </p:txBody>
      </p:sp>
    </p:spTree>
  </p:cSld>
  <p:clrMapOvr>
    <a:masterClrMapping/>
  </p:clrMapOvr>
  <p:transition>
    <p:blinds dir="vert"/>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1748" name="文本框 31747"/>
          <p:cNvSpPr txBox="1"/>
          <p:nvPr/>
        </p:nvSpPr>
        <p:spPr>
          <a:xfrm>
            <a:off x="152400" y="304800"/>
            <a:ext cx="8763000" cy="3659188"/>
          </a:xfrm>
          <a:prstGeom prst="rect">
            <a:avLst/>
          </a:prstGeom>
          <a:noFill/>
          <a:ln w="9525">
            <a:noFill/>
          </a:ln>
        </p:spPr>
        <p:txBody>
          <a:bodyPr>
            <a:spAutoFit/>
          </a:bodyPr>
          <a:p>
            <a:pPr>
              <a:lnSpc>
                <a:spcPct val="138000"/>
              </a:lnSpc>
              <a:spcBef>
                <a:spcPct val="50000"/>
              </a:spcBef>
            </a:pPr>
            <a:r>
              <a:rPr lang="en-US" altLang="zh-CN" dirty="0">
                <a:latin typeface="Times New Roman" panose="02020603050405020304" pitchFamily="18" charset="0"/>
              </a:rPr>
              <a:t>       </a:t>
            </a:r>
            <a:r>
              <a:rPr lang="en-US" altLang="zh-CN" b="1">
                <a:latin typeface="Times New Roman" panose="02020603050405020304" pitchFamily="18" charset="0"/>
              </a:rPr>
              <a:t>2. </a:t>
            </a:r>
            <a:r>
              <a:rPr lang="zh-CN" altLang="en-US" b="1" dirty="0">
                <a:latin typeface="Times New Roman" panose="02020603050405020304" pitchFamily="18" charset="0"/>
              </a:rPr>
              <a:t>转换精度</a:t>
            </a:r>
            <a:endParaRPr lang="zh-CN" altLang="en-US" dirty="0">
              <a:latin typeface="Times New Roman" panose="02020603050405020304" pitchFamily="18" charset="0"/>
            </a:endParaRPr>
          </a:p>
          <a:p>
            <a:pPr>
              <a:lnSpc>
                <a:spcPct val="138000"/>
              </a:lnSpc>
              <a:spcBef>
                <a:spcPct val="50000"/>
              </a:spcBef>
            </a:pPr>
            <a:r>
              <a:rPr lang="zh-CN" altLang="en-US">
                <a:latin typeface="Times New Roman" panose="02020603050405020304" pitchFamily="18" charset="0"/>
              </a:rPr>
              <a:t>       </a:t>
            </a:r>
            <a:r>
              <a:rPr lang="en-US" altLang="zh-CN" b="1">
                <a:latin typeface="Times New Roman" panose="02020603050405020304" pitchFamily="18" charset="0"/>
              </a:rPr>
              <a:t>D/A</a:t>
            </a:r>
            <a:r>
              <a:rPr lang="zh-CN" altLang="en-US" b="1" dirty="0">
                <a:latin typeface="Times New Roman" panose="02020603050405020304" pitchFamily="18" charset="0"/>
              </a:rPr>
              <a:t>转换器的转换精度通常用分辨率和转换误差来描述。 </a:t>
            </a:r>
            <a:endParaRPr lang="zh-CN" altLang="en-US" b="1" dirty="0">
              <a:latin typeface="Times New Roman" panose="02020603050405020304" pitchFamily="18" charset="0"/>
            </a:endParaRPr>
          </a:p>
          <a:p>
            <a:pPr>
              <a:lnSpc>
                <a:spcPct val="138000"/>
              </a:lnSpc>
              <a:spcBef>
                <a:spcPct val="50000"/>
              </a:spcBef>
            </a:pPr>
            <a:r>
              <a:rPr lang="zh-CN" altLang="en-US" b="1">
                <a:latin typeface="Times New Roman" panose="02020603050405020304" pitchFamily="18" charset="0"/>
              </a:rPr>
              <a:t>       </a:t>
            </a:r>
            <a:r>
              <a:rPr lang="en-US" altLang="zh-CN" b="1">
                <a:latin typeface="Times New Roman" panose="02020603050405020304" pitchFamily="18" charset="0"/>
              </a:rPr>
              <a:t>1</a:t>
            </a:r>
            <a:r>
              <a:rPr lang="zh-CN" altLang="en-US" b="1">
                <a:latin typeface="Times New Roman" panose="02020603050405020304" pitchFamily="18" charset="0"/>
              </a:rPr>
              <a:t>） </a:t>
            </a:r>
            <a:r>
              <a:rPr lang="zh-CN" altLang="en-US" b="1" dirty="0">
                <a:latin typeface="Times New Roman" panose="02020603050405020304" pitchFamily="18" charset="0"/>
              </a:rPr>
              <a:t>分辨率</a:t>
            </a:r>
            <a:endParaRPr lang="zh-CN" altLang="en-US" b="1" dirty="0">
              <a:latin typeface="Times New Roman" panose="02020603050405020304" pitchFamily="18" charset="0"/>
            </a:endParaRPr>
          </a:p>
          <a:p>
            <a:pPr>
              <a:lnSpc>
                <a:spcPct val="138000"/>
              </a:lnSpc>
              <a:spcBef>
                <a:spcPct val="50000"/>
              </a:spcBef>
            </a:pPr>
            <a:r>
              <a:rPr lang="zh-CN" altLang="en-US" b="1" dirty="0">
                <a:latin typeface="Times New Roman" panose="02020603050405020304" pitchFamily="18" charset="0"/>
              </a:rPr>
              <a:t>       分辨率是指</a:t>
            </a:r>
            <a:r>
              <a:rPr lang="en-US" altLang="zh-CN" b="1">
                <a:latin typeface="Times New Roman" panose="02020603050405020304" pitchFamily="18" charset="0"/>
              </a:rPr>
              <a:t>DAC</a:t>
            </a:r>
            <a:r>
              <a:rPr lang="zh-CN" altLang="en-US" b="1" dirty="0">
                <a:latin typeface="Times New Roman" panose="02020603050405020304" pitchFamily="18" charset="0"/>
              </a:rPr>
              <a:t>能够分辨最小电压的能力， 它是</a:t>
            </a:r>
            <a:r>
              <a:rPr lang="en-US" altLang="zh-CN" b="1">
                <a:latin typeface="Times New Roman" panose="02020603050405020304" pitchFamily="18" charset="0"/>
              </a:rPr>
              <a:t>D/A</a:t>
            </a:r>
            <a:r>
              <a:rPr lang="zh-CN" altLang="en-US" b="1" dirty="0">
                <a:latin typeface="Times New Roman" panose="02020603050405020304" pitchFamily="18" charset="0"/>
              </a:rPr>
              <a:t>转换器在理论上所能达到的精度，我们将其定义为</a:t>
            </a:r>
            <a:r>
              <a:rPr lang="en-US" altLang="zh-CN" b="1">
                <a:latin typeface="Times New Roman" panose="02020603050405020304" pitchFamily="18" charset="0"/>
              </a:rPr>
              <a:t>DAC</a:t>
            </a:r>
            <a:r>
              <a:rPr lang="zh-CN" altLang="en-US" b="1" dirty="0">
                <a:latin typeface="Times New Roman" panose="02020603050405020304" pitchFamily="18" charset="0"/>
              </a:rPr>
              <a:t>的最小输出电压和最大输出电压之比， 即</a:t>
            </a:r>
            <a:endParaRPr lang="zh-CN" altLang="en-US" b="1">
              <a:latin typeface="Times New Roman" panose="02020603050405020304" pitchFamily="18" charset="0"/>
            </a:endParaRPr>
          </a:p>
        </p:txBody>
      </p:sp>
      <p:graphicFrame>
        <p:nvGraphicFramePr>
          <p:cNvPr id="31749" name="对象 31748"/>
          <p:cNvGraphicFramePr/>
          <p:nvPr/>
        </p:nvGraphicFramePr>
        <p:xfrm>
          <a:off x="2895600" y="3959225"/>
          <a:ext cx="3390900" cy="993775"/>
        </p:xfrm>
        <a:graphic>
          <a:graphicData uri="http://schemas.openxmlformats.org/presentationml/2006/ole">
            <mc:AlternateContent xmlns:mc="http://schemas.openxmlformats.org/markup-compatibility/2006">
              <mc:Choice xmlns:v="urn:schemas-microsoft-com:vml" Requires="v">
                <p:oleObj spid="_x0000_s3091" name="" r:id="rId1" imgW="1472565" imgH="431800" progId="Equation.3">
                  <p:embed/>
                </p:oleObj>
              </mc:Choice>
              <mc:Fallback>
                <p:oleObj name="" r:id="rId1" imgW="1472565" imgH="431800" progId="Equation.3">
                  <p:embed/>
                  <p:pic>
                    <p:nvPicPr>
                      <p:cNvPr id="0" name="图片 3090"/>
                      <p:cNvPicPr/>
                      <p:nvPr/>
                    </p:nvPicPr>
                    <p:blipFill>
                      <a:blip r:embed="rId2"/>
                      <a:stretch>
                        <a:fillRect/>
                      </a:stretch>
                    </p:blipFill>
                    <p:spPr>
                      <a:xfrm>
                        <a:off x="2895600" y="3959225"/>
                        <a:ext cx="3390900" cy="993775"/>
                      </a:xfrm>
                      <a:prstGeom prst="rect">
                        <a:avLst/>
                      </a:prstGeom>
                      <a:noFill/>
                      <a:ln w="38100">
                        <a:noFill/>
                        <a:miter/>
                      </a:ln>
                    </p:spPr>
                  </p:pic>
                </p:oleObj>
              </mc:Fallback>
            </mc:AlternateContent>
          </a:graphicData>
        </a:graphic>
      </p:graphicFrame>
      <p:sp>
        <p:nvSpPr>
          <p:cNvPr id="31750" name="文本框 31749"/>
          <p:cNvSpPr txBox="1"/>
          <p:nvPr/>
        </p:nvSpPr>
        <p:spPr>
          <a:xfrm>
            <a:off x="152400" y="4876800"/>
            <a:ext cx="8763000" cy="1573213"/>
          </a:xfrm>
          <a:prstGeom prst="rect">
            <a:avLst/>
          </a:prstGeom>
          <a:noFill/>
          <a:ln w="9525">
            <a:noFill/>
          </a:ln>
        </p:spPr>
        <p:txBody>
          <a:bodyPr>
            <a:spAutoFit/>
          </a:bodyPr>
          <a:p>
            <a:pPr>
              <a:lnSpc>
                <a:spcPct val="135000"/>
              </a:lnSpc>
              <a:spcBef>
                <a:spcPct val="50000"/>
              </a:spcBef>
            </a:pPr>
            <a:r>
              <a:rPr lang="zh-CN" altLang="en-US" b="1" dirty="0">
                <a:latin typeface="Times New Roman" panose="02020603050405020304" pitchFamily="18" charset="0"/>
              </a:rPr>
              <a:t>显然，</a:t>
            </a:r>
            <a:r>
              <a:rPr lang="en-US" altLang="zh-CN" b="1">
                <a:latin typeface="Times New Roman" panose="02020603050405020304" pitchFamily="18" charset="0"/>
              </a:rPr>
              <a:t>DAC</a:t>
            </a:r>
            <a:r>
              <a:rPr lang="zh-CN" altLang="en-US" b="1" dirty="0">
                <a:latin typeface="Times New Roman" panose="02020603050405020304" pitchFamily="18" charset="0"/>
              </a:rPr>
              <a:t>的位数</a:t>
            </a:r>
            <a:r>
              <a:rPr lang="en-US" altLang="zh-CN" b="1">
                <a:latin typeface="Times New Roman" panose="02020603050405020304" pitchFamily="18" charset="0"/>
              </a:rPr>
              <a:t>n</a:t>
            </a:r>
            <a:r>
              <a:rPr lang="zh-CN" altLang="en-US" b="1" dirty="0">
                <a:latin typeface="Times New Roman" panose="02020603050405020304" pitchFamily="18" charset="0"/>
              </a:rPr>
              <a:t>越大，分辨率越高。正因为如此， 在实际的集成</a:t>
            </a:r>
            <a:r>
              <a:rPr lang="en-US" altLang="zh-CN" b="1">
                <a:latin typeface="Times New Roman" panose="02020603050405020304" pitchFamily="18" charset="0"/>
              </a:rPr>
              <a:t>DAC</a:t>
            </a:r>
            <a:r>
              <a:rPr lang="zh-CN" altLang="en-US" b="1" dirty="0">
                <a:latin typeface="Times New Roman" panose="02020603050405020304" pitchFamily="18" charset="0"/>
              </a:rPr>
              <a:t>产品的参数表中，有时直接将</a:t>
            </a:r>
            <a:r>
              <a:rPr lang="en-US" altLang="zh-CN" b="1">
                <a:latin typeface="Times New Roman" panose="02020603050405020304" pitchFamily="18" charset="0"/>
              </a:rPr>
              <a:t>2</a:t>
            </a:r>
            <a:r>
              <a:rPr lang="en-US" altLang="zh-CN" b="1" baseline="30000">
                <a:latin typeface="Times New Roman" panose="02020603050405020304" pitchFamily="18" charset="0"/>
              </a:rPr>
              <a:t>n</a:t>
            </a:r>
            <a:r>
              <a:rPr lang="zh-CN" altLang="en-US" b="1">
                <a:latin typeface="Times New Roman" panose="02020603050405020304" pitchFamily="18" charset="0"/>
              </a:rPr>
              <a:t>或</a:t>
            </a:r>
            <a:r>
              <a:rPr lang="en-US" altLang="zh-CN" b="1">
                <a:latin typeface="Times New Roman" panose="02020603050405020304" pitchFamily="18" charset="0"/>
              </a:rPr>
              <a:t>n</a:t>
            </a:r>
            <a:r>
              <a:rPr lang="zh-CN" altLang="en-US" b="1" dirty="0">
                <a:latin typeface="Times New Roman" panose="02020603050405020304" pitchFamily="18" charset="0"/>
              </a:rPr>
              <a:t>作为</a:t>
            </a:r>
            <a:r>
              <a:rPr lang="en-US" altLang="zh-CN" b="1">
                <a:latin typeface="Times New Roman" panose="02020603050405020304" pitchFamily="18" charset="0"/>
              </a:rPr>
              <a:t>DAC</a:t>
            </a:r>
            <a:r>
              <a:rPr lang="zh-CN" altLang="en-US" b="1" dirty="0">
                <a:latin typeface="Times New Roman" panose="02020603050405020304" pitchFamily="18" charset="0"/>
              </a:rPr>
              <a:t>的分辨率。 例如：</a:t>
            </a:r>
            <a:r>
              <a:rPr lang="en-US" altLang="zh-CN" b="1">
                <a:latin typeface="Times New Roman" panose="02020603050405020304" pitchFamily="18" charset="0"/>
              </a:rPr>
              <a:t>8</a:t>
            </a:r>
            <a:r>
              <a:rPr lang="zh-CN" altLang="en-US" b="1" dirty="0">
                <a:latin typeface="Times New Roman" panose="02020603050405020304" pitchFamily="18" charset="0"/>
              </a:rPr>
              <a:t>位</a:t>
            </a:r>
            <a:r>
              <a:rPr lang="en-US" altLang="zh-CN" b="1">
                <a:latin typeface="Times New Roman" panose="02020603050405020304" pitchFamily="18" charset="0"/>
              </a:rPr>
              <a:t>DAC</a:t>
            </a:r>
            <a:r>
              <a:rPr lang="zh-CN" altLang="en-US" b="1" dirty="0">
                <a:latin typeface="Times New Roman" panose="02020603050405020304" pitchFamily="18" charset="0"/>
              </a:rPr>
              <a:t>的分辨率为</a:t>
            </a:r>
            <a:r>
              <a:rPr lang="en-US" altLang="zh-CN" b="1">
                <a:latin typeface="Times New Roman" panose="02020603050405020304" pitchFamily="18" charset="0"/>
              </a:rPr>
              <a:t>2</a:t>
            </a:r>
            <a:r>
              <a:rPr lang="en-US" altLang="zh-CN" b="1" baseline="30000">
                <a:latin typeface="Times New Roman" panose="02020603050405020304" pitchFamily="18" charset="0"/>
              </a:rPr>
              <a:t>8</a:t>
            </a:r>
            <a:r>
              <a:rPr lang="zh-CN" altLang="en-US" b="1" dirty="0">
                <a:latin typeface="Times New Roman" panose="02020603050405020304" pitchFamily="18" charset="0"/>
              </a:rPr>
              <a:t>或</a:t>
            </a:r>
            <a:r>
              <a:rPr lang="en-US" altLang="zh-CN" b="1">
                <a:latin typeface="Times New Roman" panose="02020603050405020304" pitchFamily="18" charset="0"/>
              </a:rPr>
              <a:t>8</a:t>
            </a:r>
            <a:r>
              <a:rPr lang="zh-CN" altLang="en-US" b="1" dirty="0">
                <a:latin typeface="Times New Roman" panose="02020603050405020304" pitchFamily="18" charset="0"/>
              </a:rPr>
              <a:t>位。</a:t>
            </a:r>
            <a:endParaRPr lang="zh-CN" altLang="en-US" b="1">
              <a:latin typeface="Times New Roman" panose="02020603050405020304" pitchFamily="18" charset="0"/>
            </a:endParaRPr>
          </a:p>
        </p:txBody>
      </p:sp>
      <p:sp>
        <p:nvSpPr>
          <p:cNvPr id="31751" name="文本框 31750"/>
          <p:cNvSpPr txBox="1"/>
          <p:nvPr/>
        </p:nvSpPr>
        <p:spPr>
          <a:xfrm>
            <a:off x="7527925" y="4156075"/>
            <a:ext cx="1098550" cy="457200"/>
          </a:xfrm>
          <a:prstGeom prst="rect">
            <a:avLst/>
          </a:prstGeom>
          <a:noFill/>
          <a:ln w="9525">
            <a:noFill/>
          </a:ln>
        </p:spPr>
        <p:txBody>
          <a:bodyPr wrap="none" anchor="t" anchorCtr="0">
            <a:spAutoFit/>
          </a:bodyPr>
          <a:p>
            <a:r>
              <a:rPr lang="en-US" altLang="zh-CN">
                <a:latin typeface="Times New Roman" panose="02020603050405020304" pitchFamily="18" charset="0"/>
              </a:rPr>
              <a:t>(11-20)</a:t>
            </a:r>
            <a:endParaRPr lang="en-US" altLang="zh-CN">
              <a:latin typeface="Times New Roman" panose="02020603050405020304" pitchFamily="18" charset="0"/>
            </a:endParaRPr>
          </a:p>
        </p:txBody>
      </p:sp>
    </p:spTree>
  </p:cSld>
  <p:clrMapOvr>
    <a:masterClrMapping/>
  </p:clrMapOvr>
  <p:transition>
    <p:blinds dir="vert"/>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4820" name="文本框 34819"/>
          <p:cNvSpPr txBox="1"/>
          <p:nvPr/>
        </p:nvSpPr>
        <p:spPr>
          <a:xfrm>
            <a:off x="152400" y="457200"/>
            <a:ext cx="8915400" cy="5883275"/>
          </a:xfrm>
          <a:prstGeom prst="rect">
            <a:avLst/>
          </a:prstGeom>
          <a:noFill/>
          <a:ln w="9525">
            <a:noFill/>
          </a:ln>
        </p:spPr>
        <p:txBody>
          <a:bodyPr>
            <a:spAutoFit/>
          </a:bodyPr>
          <a:p>
            <a:pPr>
              <a:lnSpc>
                <a:spcPct val="150000"/>
              </a:lnSpc>
              <a:spcBef>
                <a:spcPct val="50000"/>
              </a:spcBef>
            </a:pPr>
            <a:r>
              <a:rPr lang="en-US" altLang="zh-CN" sz="2000" dirty="0">
                <a:latin typeface="Times New Roman" panose="02020603050405020304" pitchFamily="18" charset="0"/>
              </a:rPr>
              <a:t>         </a:t>
            </a:r>
            <a:r>
              <a:rPr lang="en-US" altLang="zh-CN" sz="2000" b="1">
                <a:latin typeface="Times New Roman" panose="02020603050405020304" pitchFamily="18" charset="0"/>
              </a:rPr>
              <a:t>2</a:t>
            </a:r>
            <a:r>
              <a:rPr lang="zh-CN" altLang="en-US" sz="2000" b="1" dirty="0">
                <a:latin typeface="Times New Roman" panose="02020603050405020304" pitchFamily="18" charset="0"/>
              </a:rPr>
              <a:t>） 转换误差</a:t>
            </a:r>
            <a:endParaRPr lang="zh-CN" altLang="en-US" sz="2000" b="1" dirty="0">
              <a:latin typeface="Times New Roman" panose="02020603050405020304" pitchFamily="18" charset="0"/>
            </a:endParaRPr>
          </a:p>
          <a:p>
            <a:pPr>
              <a:lnSpc>
                <a:spcPct val="150000"/>
              </a:lnSpc>
              <a:spcBef>
                <a:spcPct val="50000"/>
              </a:spcBef>
            </a:pPr>
            <a:r>
              <a:rPr lang="zh-CN" altLang="en-US" sz="2000" b="1" dirty="0">
                <a:latin typeface="Times New Roman" panose="02020603050405020304" pitchFamily="18" charset="0"/>
              </a:rPr>
              <a:t>        由于</a:t>
            </a:r>
            <a:r>
              <a:rPr lang="en-US" altLang="zh-CN" sz="2000" b="1">
                <a:latin typeface="Times New Roman" panose="02020603050405020304" pitchFamily="18" charset="0"/>
              </a:rPr>
              <a:t>DAC</a:t>
            </a:r>
            <a:r>
              <a:rPr lang="zh-CN" altLang="en-US" sz="2000" b="1" dirty="0">
                <a:latin typeface="Times New Roman" panose="02020603050405020304" pitchFamily="18" charset="0"/>
              </a:rPr>
              <a:t>的各个环节在参数和性能上与理论值之间不可避免地存在着差异，所以它在实际工作中并不能达到理论上的精度。 转换误差就是用来描述</a:t>
            </a:r>
            <a:r>
              <a:rPr lang="en-US" altLang="zh-CN" sz="2000" b="1">
                <a:latin typeface="Times New Roman" panose="02020603050405020304" pitchFamily="18" charset="0"/>
              </a:rPr>
              <a:t>DAC</a:t>
            </a:r>
            <a:r>
              <a:rPr lang="zh-CN" altLang="en-US" sz="2000" b="1" dirty="0">
                <a:latin typeface="Times New Roman" panose="02020603050405020304" pitchFamily="18" charset="0"/>
              </a:rPr>
              <a:t>输出模拟信号的理论值和实际值之间差别的一个综合性指标。 </a:t>
            </a:r>
            <a:endParaRPr lang="zh-CN" altLang="en-US" sz="2000" b="1" dirty="0">
              <a:latin typeface="Times New Roman" panose="02020603050405020304" pitchFamily="18" charset="0"/>
            </a:endParaRPr>
          </a:p>
          <a:p>
            <a:pPr>
              <a:lnSpc>
                <a:spcPct val="150000"/>
              </a:lnSpc>
              <a:spcBef>
                <a:spcPct val="50000"/>
              </a:spcBef>
            </a:pPr>
            <a:r>
              <a:rPr lang="zh-CN" altLang="en-US" sz="2000" b="1" dirty="0">
                <a:latin typeface="Times New Roman" panose="02020603050405020304" pitchFamily="18" charset="0"/>
              </a:rPr>
              <a:t>         </a:t>
            </a:r>
            <a:r>
              <a:rPr lang="en-US" altLang="zh-CN" sz="2000" b="1">
                <a:latin typeface="Times New Roman" panose="02020603050405020304" pitchFamily="18" charset="0"/>
              </a:rPr>
              <a:t>DAC</a:t>
            </a:r>
            <a:r>
              <a:rPr lang="zh-CN" altLang="en-US" sz="2000" b="1" dirty="0">
                <a:latin typeface="Times New Roman" panose="02020603050405020304" pitchFamily="18" charset="0"/>
              </a:rPr>
              <a:t>的转换误差一般有两种表示方式： 绝对误差和相对误差。所谓绝对误差，就是实际值与理论值之间的最大差值， 通常用最小输出值</a:t>
            </a:r>
            <a:r>
              <a:rPr lang="en-US" altLang="zh-CN" sz="2000" b="1">
                <a:latin typeface="Times New Roman" panose="02020603050405020304" pitchFamily="18" charset="0"/>
              </a:rPr>
              <a:t>LSB</a:t>
            </a:r>
            <a:r>
              <a:rPr lang="zh-CN" altLang="en-US" sz="2000" b="1" dirty="0">
                <a:latin typeface="Times New Roman" panose="02020603050405020304" pitchFamily="18" charset="0"/>
              </a:rPr>
              <a:t>的倍数来表示。例如：转换误差为</a:t>
            </a:r>
            <a:r>
              <a:rPr lang="en-US" altLang="zh-CN" sz="2000" b="1">
                <a:latin typeface="Times New Roman" panose="02020603050405020304" pitchFamily="18" charset="0"/>
              </a:rPr>
              <a:t>0.5 LSB</a:t>
            </a:r>
            <a:r>
              <a:rPr lang="zh-CN" altLang="en-US" sz="2000" b="1">
                <a:latin typeface="Times New Roman" panose="02020603050405020304" pitchFamily="18" charset="0"/>
              </a:rPr>
              <a:t>， </a:t>
            </a:r>
            <a:r>
              <a:rPr lang="zh-CN" altLang="en-US" sz="2000" b="1" dirty="0">
                <a:latin typeface="Times New Roman" panose="02020603050405020304" pitchFamily="18" charset="0"/>
              </a:rPr>
              <a:t>表明输出信号的实际值与理论值之间的最大差值不超过最小输出值的一半。相对误差是指绝对误差与</a:t>
            </a:r>
            <a:r>
              <a:rPr lang="en-US" altLang="zh-CN" sz="2000" b="1">
                <a:latin typeface="Times New Roman" panose="02020603050405020304" pitchFamily="18" charset="0"/>
              </a:rPr>
              <a:t>DAC</a:t>
            </a:r>
            <a:r>
              <a:rPr lang="zh-CN" altLang="en-US" sz="2000" b="1" dirty="0">
                <a:latin typeface="Times New Roman" panose="02020603050405020304" pitchFamily="18" charset="0"/>
              </a:rPr>
              <a:t>满量程输出值</a:t>
            </a:r>
            <a:r>
              <a:rPr lang="en-US" altLang="zh-CN" sz="2000" b="1">
                <a:latin typeface="Times New Roman" panose="02020603050405020304" pitchFamily="18" charset="0"/>
              </a:rPr>
              <a:t>FSR</a:t>
            </a:r>
            <a:r>
              <a:rPr lang="zh-CN" altLang="en-US" sz="2000" b="1" dirty="0">
                <a:latin typeface="Times New Roman" panose="02020603050405020304" pitchFamily="18" charset="0"/>
              </a:rPr>
              <a:t>的比值，以</a:t>
            </a:r>
            <a:r>
              <a:rPr lang="en-US" altLang="zh-CN" sz="2000" b="1">
                <a:latin typeface="Times New Roman" panose="02020603050405020304" pitchFamily="18" charset="0"/>
              </a:rPr>
              <a:t>FSR</a:t>
            </a:r>
            <a:r>
              <a:rPr lang="zh-CN" altLang="en-US" sz="2000" b="1" dirty="0">
                <a:latin typeface="Times New Roman" panose="02020603050405020304" pitchFamily="18" charset="0"/>
              </a:rPr>
              <a:t>的百分比来表示。例如：转换误差为</a:t>
            </a:r>
            <a:r>
              <a:rPr lang="en-US" altLang="zh-CN" sz="2000" b="1">
                <a:latin typeface="Times New Roman" panose="02020603050405020304" pitchFamily="18" charset="0"/>
              </a:rPr>
              <a:t>0.02%FSR</a:t>
            </a:r>
            <a:r>
              <a:rPr lang="zh-CN" altLang="en-US" sz="2000" b="1">
                <a:latin typeface="Times New Roman" panose="02020603050405020304" pitchFamily="18" charset="0"/>
              </a:rPr>
              <a:t>， </a:t>
            </a:r>
            <a:r>
              <a:rPr lang="zh-CN" altLang="en-US" sz="2000" b="1" dirty="0">
                <a:latin typeface="Times New Roman" panose="02020603050405020304" pitchFamily="18" charset="0"/>
              </a:rPr>
              <a:t>表示输出信号的实际值与理论值之间的最大差值是满量程输出值的</a:t>
            </a:r>
            <a:r>
              <a:rPr lang="en-US" altLang="zh-CN" sz="2000" b="1">
                <a:latin typeface="Times New Roman" panose="02020603050405020304" pitchFamily="18" charset="0"/>
              </a:rPr>
              <a:t>0.02%</a:t>
            </a:r>
            <a:r>
              <a:rPr lang="zh-CN" altLang="en-US" sz="2000" b="1" dirty="0">
                <a:latin typeface="Times New Roman" panose="02020603050405020304" pitchFamily="18" charset="0"/>
              </a:rPr>
              <a:t>。由于转换误差的存在，转换精度只讲位数就是片面的， 因为转换误差大于</a:t>
            </a:r>
            <a:r>
              <a:rPr lang="en-US" altLang="zh-CN" sz="2000" b="1">
                <a:latin typeface="Times New Roman" panose="02020603050405020304" pitchFamily="18" charset="0"/>
              </a:rPr>
              <a:t>1LSB</a:t>
            </a:r>
            <a:r>
              <a:rPr lang="zh-CN" altLang="en-US" sz="2000" b="1" dirty="0">
                <a:latin typeface="Times New Roman" panose="02020603050405020304" pitchFamily="18" charset="0"/>
              </a:rPr>
              <a:t>时，理论精度就没有意义了。 </a:t>
            </a:r>
            <a:endParaRPr lang="zh-CN" altLang="en-US" sz="2000" b="1">
              <a:latin typeface="Times New Roman" panose="02020603050405020304" pitchFamily="18" charset="0"/>
            </a:endParaRPr>
          </a:p>
        </p:txBody>
      </p:sp>
    </p:spTree>
  </p:cSld>
  <p:clrMapOvr>
    <a:masterClrMapping/>
  </p:clrMapOvr>
  <p:transition>
    <p:blinds dir="vert"/>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3796" name="文本框 33795"/>
          <p:cNvSpPr txBox="1"/>
          <p:nvPr/>
        </p:nvSpPr>
        <p:spPr>
          <a:xfrm>
            <a:off x="228600" y="439738"/>
            <a:ext cx="8763000" cy="6037262"/>
          </a:xfrm>
          <a:prstGeom prst="rect">
            <a:avLst/>
          </a:prstGeom>
          <a:noFill/>
          <a:ln w="9525">
            <a:noFill/>
          </a:ln>
        </p:spPr>
        <p:txBody>
          <a:bodyPr>
            <a:spAutoFit/>
          </a:bodyPr>
          <a:p>
            <a:pPr>
              <a:lnSpc>
                <a:spcPct val="158000"/>
              </a:lnSpc>
              <a:spcBef>
                <a:spcPct val="50000"/>
              </a:spcBef>
            </a:pPr>
            <a:r>
              <a:rPr lang="en-US" altLang="zh-CN" dirty="0">
                <a:latin typeface="Times New Roman" panose="02020603050405020304" pitchFamily="18" charset="0"/>
              </a:rPr>
              <a:t>        </a:t>
            </a:r>
            <a:r>
              <a:rPr lang="zh-CN" altLang="en-US" b="1" dirty="0">
                <a:latin typeface="Times New Roman" panose="02020603050405020304" pitchFamily="18" charset="0"/>
              </a:rPr>
              <a:t>造成</a:t>
            </a:r>
            <a:r>
              <a:rPr lang="en-US" altLang="zh-CN" b="1">
                <a:latin typeface="Times New Roman" panose="02020603050405020304" pitchFamily="18" charset="0"/>
              </a:rPr>
              <a:t>DAC</a:t>
            </a:r>
            <a:r>
              <a:rPr lang="zh-CN" altLang="en-US" b="1" dirty="0">
                <a:latin typeface="Times New Roman" panose="02020603050405020304" pitchFamily="18" charset="0"/>
              </a:rPr>
              <a:t>转换误差的原因有多种，如参考电压</a:t>
            </a:r>
            <a:r>
              <a:rPr lang="en-US" altLang="zh-CN" b="1">
                <a:latin typeface="Times New Roman" panose="02020603050405020304" pitchFamily="18" charset="0"/>
              </a:rPr>
              <a:t>U</a:t>
            </a:r>
            <a:r>
              <a:rPr lang="en-US" altLang="zh-CN" b="1" baseline="-25000">
                <a:latin typeface="Times New Roman" panose="02020603050405020304" pitchFamily="18" charset="0"/>
              </a:rPr>
              <a:t>REF</a:t>
            </a:r>
            <a:r>
              <a:rPr lang="zh-CN" altLang="en-US" b="1" dirty="0">
                <a:latin typeface="Times New Roman" panose="02020603050405020304" pitchFamily="18" charset="0"/>
              </a:rPr>
              <a:t>的波动、运算放大器的零点漂移、模拟开关的导通内阻和导通压降、电阻解码网络中电阻阻值的偏差等等。 </a:t>
            </a:r>
            <a:endParaRPr lang="zh-CN" altLang="en-US" b="1" dirty="0">
              <a:latin typeface="Times New Roman" panose="02020603050405020304" pitchFamily="18" charset="0"/>
            </a:endParaRPr>
          </a:p>
          <a:p>
            <a:pPr>
              <a:lnSpc>
                <a:spcPct val="158000"/>
              </a:lnSpc>
              <a:spcBef>
                <a:spcPct val="50000"/>
              </a:spcBef>
            </a:pPr>
            <a:r>
              <a:rPr lang="zh-CN" altLang="en-US" b="1" dirty="0">
                <a:latin typeface="Times New Roman" panose="02020603050405020304" pitchFamily="18" charset="0"/>
              </a:rPr>
              <a:t>        </a:t>
            </a:r>
            <a:r>
              <a:rPr lang="en-US" altLang="zh-CN" b="1">
                <a:latin typeface="Times New Roman" panose="02020603050405020304" pitchFamily="18" charset="0"/>
              </a:rPr>
              <a:t>① </a:t>
            </a:r>
            <a:r>
              <a:rPr lang="zh-CN" altLang="en-US" b="1" dirty="0">
                <a:latin typeface="Times New Roman" panose="02020603050405020304" pitchFamily="18" charset="0"/>
              </a:rPr>
              <a:t>比例系数误差：是指由于</a:t>
            </a:r>
            <a:r>
              <a:rPr lang="en-US" altLang="zh-CN" b="1">
                <a:latin typeface="Times New Roman" panose="02020603050405020304" pitchFamily="18" charset="0"/>
              </a:rPr>
              <a:t>DAC</a:t>
            </a:r>
            <a:r>
              <a:rPr lang="zh-CN" altLang="en-US" b="1" dirty="0">
                <a:latin typeface="Times New Roman" panose="02020603050405020304" pitchFamily="18" charset="0"/>
              </a:rPr>
              <a:t>实际的比例系数与理想的比例系数之间存在偏差，而引起的输出模拟信号的误差， 也称为增益误差或斜率误差，如图</a:t>
            </a:r>
            <a:r>
              <a:rPr lang="en-US" altLang="zh-CN" b="1">
                <a:latin typeface="Times New Roman" panose="02020603050405020304" pitchFamily="18" charset="0"/>
              </a:rPr>
              <a:t>11- 11</a:t>
            </a:r>
            <a:r>
              <a:rPr lang="zh-CN" altLang="en-US" b="1" dirty="0">
                <a:latin typeface="Times New Roman" panose="02020603050405020304" pitchFamily="18" charset="0"/>
              </a:rPr>
              <a:t>所示。这种误差使得</a:t>
            </a:r>
            <a:r>
              <a:rPr lang="en-US" altLang="zh-CN" b="1">
                <a:latin typeface="Times New Roman" panose="02020603050405020304" pitchFamily="18" charset="0"/>
              </a:rPr>
              <a:t>DAC</a:t>
            </a:r>
            <a:r>
              <a:rPr lang="zh-CN" altLang="en-US" b="1" dirty="0">
                <a:latin typeface="Times New Roman" panose="02020603050405020304" pitchFamily="18" charset="0"/>
              </a:rPr>
              <a:t>的每一个模拟输出值都与相应的理论值相差同一百分比， 即输入的数字量越大，输出模拟信号的误差也就越大。根据以上几种</a:t>
            </a:r>
            <a:r>
              <a:rPr lang="en-US" altLang="zh-CN" b="1">
                <a:latin typeface="Times New Roman" panose="02020603050405020304" pitchFamily="18" charset="0"/>
              </a:rPr>
              <a:t>DAC</a:t>
            </a:r>
            <a:r>
              <a:rPr lang="zh-CN" altLang="en-US" b="1" dirty="0">
                <a:latin typeface="Times New Roman" panose="02020603050405020304" pitchFamily="18" charset="0"/>
              </a:rPr>
              <a:t>电路的分析可知，参考电压</a:t>
            </a:r>
            <a:r>
              <a:rPr lang="en-US" altLang="zh-CN" b="1">
                <a:latin typeface="Times New Roman" panose="02020603050405020304" pitchFamily="18" charset="0"/>
              </a:rPr>
              <a:t>U</a:t>
            </a:r>
            <a:r>
              <a:rPr lang="en-US" altLang="zh-CN" b="1" baseline="-25000">
                <a:latin typeface="Times New Roman" panose="02020603050405020304" pitchFamily="18" charset="0"/>
              </a:rPr>
              <a:t>REF</a:t>
            </a:r>
            <a:r>
              <a:rPr lang="zh-CN" altLang="en-US" b="1" dirty="0">
                <a:latin typeface="Times New Roman" panose="02020603050405020304" pitchFamily="18" charset="0"/>
              </a:rPr>
              <a:t>的波动和运算放大器的闭环增益偏离理论值是引起这种误差的主要原因。 </a:t>
            </a:r>
            <a:endParaRPr lang="zh-CN" altLang="en-US" b="1">
              <a:latin typeface="Times New Roman" panose="02020603050405020304" pitchFamily="18" charset="0"/>
            </a:endParaRPr>
          </a:p>
        </p:txBody>
      </p:sp>
    </p:spTree>
  </p:cSld>
  <p:clrMapOvr>
    <a:masterClrMapping/>
  </p:clrMapOvr>
  <p:transition>
    <p:blinds dir="vert"/>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6868" name="文本框 36867"/>
          <p:cNvSpPr txBox="1"/>
          <p:nvPr/>
        </p:nvSpPr>
        <p:spPr>
          <a:xfrm>
            <a:off x="2667000" y="5867400"/>
            <a:ext cx="4740275" cy="457200"/>
          </a:xfrm>
          <a:prstGeom prst="rect">
            <a:avLst/>
          </a:prstGeom>
          <a:noFill/>
          <a:ln w="9525">
            <a:noFill/>
          </a:ln>
        </p:spPr>
        <p:txBody>
          <a:bodyPr wrap="none" anchor="t" anchorCtr="0">
            <a:spAutoFit/>
          </a:bodyPr>
          <a:p>
            <a:r>
              <a:rPr lang="zh-CN" altLang="en-US" dirty="0">
                <a:latin typeface="Times New Roman" panose="02020603050405020304" pitchFamily="18" charset="0"/>
              </a:rPr>
              <a:t>图 </a:t>
            </a:r>
            <a:r>
              <a:rPr lang="en-US" altLang="zh-CN">
                <a:latin typeface="Times New Roman" panose="02020603050405020304" pitchFamily="18" charset="0"/>
              </a:rPr>
              <a:t>11-11   3</a:t>
            </a:r>
            <a:r>
              <a:rPr lang="zh-CN" altLang="en-US" dirty="0">
                <a:latin typeface="Times New Roman" panose="02020603050405020304" pitchFamily="18" charset="0"/>
              </a:rPr>
              <a:t>位</a:t>
            </a:r>
            <a:r>
              <a:rPr lang="en-US" altLang="zh-CN">
                <a:latin typeface="Times New Roman" panose="02020603050405020304" pitchFamily="18" charset="0"/>
              </a:rPr>
              <a:t>DAC</a:t>
            </a:r>
            <a:r>
              <a:rPr lang="zh-CN" altLang="en-US" dirty="0">
                <a:latin typeface="Times New Roman" panose="02020603050405020304" pitchFamily="18" charset="0"/>
              </a:rPr>
              <a:t>的比例系数误差</a:t>
            </a:r>
            <a:endParaRPr lang="zh-CN" altLang="en-US">
              <a:latin typeface="Times New Roman" panose="02020603050405020304" pitchFamily="18" charset="0"/>
            </a:endParaRPr>
          </a:p>
        </p:txBody>
      </p:sp>
      <p:graphicFrame>
        <p:nvGraphicFramePr>
          <p:cNvPr id="36869" name="对象 36868"/>
          <p:cNvGraphicFramePr/>
          <p:nvPr/>
        </p:nvGraphicFramePr>
        <p:xfrm>
          <a:off x="2463800" y="638175"/>
          <a:ext cx="5156200" cy="5000625"/>
        </p:xfrm>
        <a:graphic>
          <a:graphicData uri="http://schemas.openxmlformats.org/presentationml/2006/ole">
            <mc:AlternateContent xmlns:mc="http://schemas.openxmlformats.org/markup-compatibility/2006">
              <mc:Choice xmlns:v="urn:schemas-microsoft-com:vml" Requires="v">
                <p:oleObj spid="_x0000_s3093" name="" r:id="rId1" imgW="2110740" imgH="2042160" progId="Visio.Drawing.4">
                  <p:embed/>
                </p:oleObj>
              </mc:Choice>
              <mc:Fallback>
                <p:oleObj name="" r:id="rId1" imgW="2110740" imgH="2042160" progId="Visio.Drawing.4">
                  <p:embed/>
                  <p:pic>
                    <p:nvPicPr>
                      <p:cNvPr id="0" name="图片 3092"/>
                      <p:cNvPicPr/>
                      <p:nvPr/>
                    </p:nvPicPr>
                    <p:blipFill>
                      <a:blip r:embed="rId2"/>
                      <a:stretch>
                        <a:fillRect/>
                      </a:stretch>
                    </p:blipFill>
                    <p:spPr>
                      <a:xfrm>
                        <a:off x="2463800" y="638175"/>
                        <a:ext cx="5156200" cy="5000625"/>
                      </a:xfrm>
                      <a:prstGeom prst="rect">
                        <a:avLst/>
                      </a:prstGeom>
                      <a:noFill/>
                      <a:ln w="38100">
                        <a:noFill/>
                        <a:miter/>
                      </a:ln>
                    </p:spPr>
                  </p:pic>
                </p:oleObj>
              </mc:Fallback>
            </mc:AlternateContent>
          </a:graphicData>
        </a:graphic>
      </p:graphicFrame>
    </p:spTree>
  </p:cSld>
  <p:clrMapOvr>
    <a:masterClrMapping/>
  </p:clrMapOvr>
  <p:transition>
    <p:blinds dir="vert"/>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5844" name="文本框 35843"/>
          <p:cNvSpPr txBox="1"/>
          <p:nvPr/>
        </p:nvSpPr>
        <p:spPr>
          <a:xfrm>
            <a:off x="228600" y="685800"/>
            <a:ext cx="8686800" cy="4819650"/>
          </a:xfrm>
          <a:prstGeom prst="rect">
            <a:avLst/>
          </a:prstGeom>
          <a:noFill/>
          <a:ln w="9525">
            <a:noFill/>
          </a:ln>
        </p:spPr>
        <p:txBody>
          <a:bodyPr>
            <a:spAutoFit/>
          </a:bodyPr>
          <a:p>
            <a:pPr>
              <a:lnSpc>
                <a:spcPct val="178000"/>
              </a:lnSpc>
              <a:spcBef>
                <a:spcPct val="50000"/>
              </a:spcBef>
            </a:pPr>
            <a:r>
              <a:rPr lang="en-US" altLang="zh-CN" dirty="0">
                <a:latin typeface="Times New Roman" panose="02020603050405020304" pitchFamily="18" charset="0"/>
              </a:rPr>
              <a:t>        </a:t>
            </a:r>
            <a:r>
              <a:rPr lang="en-US" altLang="zh-CN" b="1">
                <a:latin typeface="Times New Roman" panose="02020603050405020304" pitchFamily="18" charset="0"/>
              </a:rPr>
              <a:t>② </a:t>
            </a:r>
            <a:r>
              <a:rPr lang="zh-CN" altLang="en-US" b="1" dirty="0">
                <a:latin typeface="Times New Roman" panose="02020603050405020304" pitchFamily="18" charset="0"/>
              </a:rPr>
              <a:t>失调误差： </a:t>
            </a:r>
            <a:endParaRPr lang="zh-CN" altLang="en-US" b="1" dirty="0">
              <a:latin typeface="Times New Roman" panose="02020603050405020304" pitchFamily="18" charset="0"/>
            </a:endParaRPr>
          </a:p>
          <a:p>
            <a:pPr>
              <a:lnSpc>
                <a:spcPct val="178000"/>
              </a:lnSpc>
              <a:spcBef>
                <a:spcPct val="50000"/>
              </a:spcBef>
            </a:pPr>
            <a:r>
              <a:rPr lang="zh-CN" altLang="en-US" b="1" dirty="0">
                <a:latin typeface="Times New Roman" panose="02020603050405020304" pitchFamily="18" charset="0"/>
              </a:rPr>
              <a:t>        也称为零点误差或平移误差， 它是指当输入数字量的所有位都为</a:t>
            </a:r>
            <a:r>
              <a:rPr lang="en-US" altLang="zh-CN" b="1">
                <a:latin typeface="Times New Roman" panose="02020603050405020304" pitchFamily="18" charset="0"/>
              </a:rPr>
              <a:t>0</a:t>
            </a:r>
            <a:r>
              <a:rPr lang="zh-CN" altLang="en-US" b="1" dirty="0">
                <a:latin typeface="Times New Roman" panose="02020603050405020304" pitchFamily="18" charset="0"/>
              </a:rPr>
              <a:t>时，</a:t>
            </a:r>
            <a:r>
              <a:rPr lang="en-US" altLang="zh-CN" b="1">
                <a:latin typeface="Times New Roman" panose="02020603050405020304" pitchFamily="18" charset="0"/>
              </a:rPr>
              <a:t>DAC</a:t>
            </a:r>
            <a:r>
              <a:rPr lang="zh-CN" altLang="en-US" b="1" dirty="0">
                <a:latin typeface="Times New Roman" panose="02020603050405020304" pitchFamily="18" charset="0"/>
              </a:rPr>
              <a:t>的输出电压与理想情况下的输出电压（应为</a:t>
            </a:r>
            <a:r>
              <a:rPr lang="en-US" altLang="zh-CN" b="1">
                <a:latin typeface="Times New Roman" panose="02020603050405020304" pitchFamily="18" charset="0"/>
              </a:rPr>
              <a:t>0</a:t>
            </a:r>
            <a:r>
              <a:rPr lang="zh-CN" altLang="en-US" b="1" dirty="0">
                <a:latin typeface="Times New Roman" panose="02020603050405020304" pitchFamily="18" charset="0"/>
              </a:rPr>
              <a:t>）之差。 造成这种误差的原因是运算放大器的零点漂移，它与输入的数字量无关。 这种误差使得</a:t>
            </a:r>
            <a:r>
              <a:rPr lang="en-US" altLang="zh-CN" b="1">
                <a:latin typeface="Times New Roman" panose="02020603050405020304" pitchFamily="18" charset="0"/>
              </a:rPr>
              <a:t>DAC</a:t>
            </a:r>
            <a:r>
              <a:rPr lang="zh-CN" altLang="en-US" b="1" dirty="0">
                <a:latin typeface="Times New Roman" panose="02020603050405020304" pitchFamily="18" charset="0"/>
              </a:rPr>
              <a:t>实际的转换特性曲线相对于理想的转换特性曲线发生了平移（向上或向下），如图</a:t>
            </a:r>
            <a:r>
              <a:rPr lang="en-US" altLang="zh-CN" b="1">
                <a:latin typeface="Times New Roman" panose="02020603050405020304" pitchFamily="18" charset="0"/>
              </a:rPr>
              <a:t>11- 12</a:t>
            </a:r>
            <a:r>
              <a:rPr lang="zh-CN" altLang="en-US" b="1" dirty="0">
                <a:latin typeface="Times New Roman" panose="02020603050405020304" pitchFamily="18" charset="0"/>
              </a:rPr>
              <a:t>所示。 </a:t>
            </a:r>
            <a:endParaRPr lang="zh-CN" altLang="en-US" b="1">
              <a:latin typeface="Times New Roman" panose="02020603050405020304" pitchFamily="18" charset="0"/>
            </a:endParaRPr>
          </a:p>
        </p:txBody>
      </p:sp>
    </p:spTree>
  </p:cSld>
  <p:clrMapOvr>
    <a:masterClrMapping/>
  </p:clrMapOvr>
  <p:transition>
    <p:blinds dir="vert"/>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8916" name="文本框 38915"/>
          <p:cNvSpPr txBox="1"/>
          <p:nvPr/>
        </p:nvSpPr>
        <p:spPr>
          <a:xfrm>
            <a:off x="2895600" y="5867400"/>
            <a:ext cx="4130675" cy="457200"/>
          </a:xfrm>
          <a:prstGeom prst="rect">
            <a:avLst/>
          </a:prstGeom>
          <a:noFill/>
          <a:ln w="9525">
            <a:noFill/>
          </a:ln>
        </p:spPr>
        <p:txBody>
          <a:bodyPr wrap="none" anchor="t" anchorCtr="0">
            <a:spAutoFit/>
          </a:bodyPr>
          <a:p>
            <a:r>
              <a:rPr lang="zh-CN" altLang="en-US" dirty="0">
                <a:latin typeface="Times New Roman" panose="02020603050405020304" pitchFamily="18" charset="0"/>
              </a:rPr>
              <a:t>图 </a:t>
            </a:r>
            <a:r>
              <a:rPr lang="en-US" altLang="zh-CN">
                <a:latin typeface="Times New Roman" panose="02020603050405020304" pitchFamily="18" charset="0"/>
              </a:rPr>
              <a:t>11-12   3</a:t>
            </a:r>
            <a:r>
              <a:rPr lang="zh-CN" altLang="en-US" dirty="0">
                <a:latin typeface="Times New Roman" panose="02020603050405020304" pitchFamily="18" charset="0"/>
              </a:rPr>
              <a:t>位</a:t>
            </a:r>
            <a:r>
              <a:rPr lang="en-US" altLang="zh-CN">
                <a:latin typeface="Times New Roman" panose="02020603050405020304" pitchFamily="18" charset="0"/>
              </a:rPr>
              <a:t>DAC</a:t>
            </a:r>
            <a:r>
              <a:rPr lang="zh-CN" altLang="en-US" dirty="0">
                <a:latin typeface="Times New Roman" panose="02020603050405020304" pitchFamily="18" charset="0"/>
              </a:rPr>
              <a:t>的失调误差</a:t>
            </a:r>
            <a:endParaRPr lang="zh-CN" altLang="en-US">
              <a:latin typeface="Times New Roman" panose="02020603050405020304" pitchFamily="18" charset="0"/>
            </a:endParaRPr>
          </a:p>
        </p:txBody>
      </p:sp>
      <p:graphicFrame>
        <p:nvGraphicFramePr>
          <p:cNvPr id="38917" name="对象 38916"/>
          <p:cNvGraphicFramePr/>
          <p:nvPr/>
        </p:nvGraphicFramePr>
        <p:xfrm>
          <a:off x="2463800" y="490538"/>
          <a:ext cx="5308600" cy="5148262"/>
        </p:xfrm>
        <a:graphic>
          <a:graphicData uri="http://schemas.openxmlformats.org/presentationml/2006/ole">
            <mc:AlternateContent xmlns:mc="http://schemas.openxmlformats.org/markup-compatibility/2006">
              <mc:Choice xmlns:v="urn:schemas-microsoft-com:vml" Requires="v">
                <p:oleObj spid="_x0000_s3094" name="" r:id="rId1" imgW="2110740" imgH="2042160" progId="Visio.Drawing.4">
                  <p:embed/>
                </p:oleObj>
              </mc:Choice>
              <mc:Fallback>
                <p:oleObj name="" r:id="rId1" imgW="2110740" imgH="2042160" progId="Visio.Drawing.4">
                  <p:embed/>
                  <p:pic>
                    <p:nvPicPr>
                      <p:cNvPr id="0" name="图片 3093"/>
                      <p:cNvPicPr/>
                      <p:nvPr/>
                    </p:nvPicPr>
                    <p:blipFill>
                      <a:blip r:embed="rId2"/>
                      <a:stretch>
                        <a:fillRect/>
                      </a:stretch>
                    </p:blipFill>
                    <p:spPr>
                      <a:xfrm>
                        <a:off x="2463800" y="490538"/>
                        <a:ext cx="5308600" cy="5148262"/>
                      </a:xfrm>
                      <a:prstGeom prst="rect">
                        <a:avLst/>
                      </a:prstGeom>
                      <a:noFill/>
                      <a:ln w="38100">
                        <a:noFill/>
                        <a:miter/>
                      </a:ln>
                    </p:spPr>
                  </p:pic>
                </p:oleObj>
              </mc:Fallback>
            </mc:AlternateContent>
          </a:graphicData>
        </a:graphic>
      </p:graphicFrame>
    </p:spTree>
  </p:cSld>
  <p:clrMapOvr>
    <a:masterClrMapping/>
  </p:clrMapOvr>
  <p:transition>
    <p:blinds dir="vert"/>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7892" name="文本框 37891"/>
          <p:cNvSpPr txBox="1"/>
          <p:nvPr/>
        </p:nvSpPr>
        <p:spPr>
          <a:xfrm>
            <a:off x="152400" y="533400"/>
            <a:ext cx="8839200" cy="5461000"/>
          </a:xfrm>
          <a:prstGeom prst="rect">
            <a:avLst/>
          </a:prstGeom>
          <a:noFill/>
          <a:ln w="9525">
            <a:noFill/>
          </a:ln>
        </p:spPr>
        <p:txBody>
          <a:bodyPr>
            <a:spAutoFit/>
          </a:bodyPr>
          <a:p>
            <a:pPr>
              <a:lnSpc>
                <a:spcPct val="158000"/>
              </a:lnSpc>
              <a:spcBef>
                <a:spcPct val="50000"/>
              </a:spcBef>
            </a:pPr>
            <a:r>
              <a:rPr lang="en-US" altLang="zh-CN" dirty="0">
                <a:latin typeface="Times New Roman" panose="02020603050405020304" pitchFamily="18" charset="0"/>
              </a:rPr>
              <a:t>        </a:t>
            </a:r>
            <a:r>
              <a:rPr lang="en-US" altLang="zh-CN" b="1">
                <a:latin typeface="Times New Roman" panose="02020603050405020304" pitchFamily="18" charset="0"/>
              </a:rPr>
              <a:t>③ </a:t>
            </a:r>
            <a:r>
              <a:rPr lang="zh-CN" altLang="en-US" b="1" dirty="0">
                <a:latin typeface="Times New Roman" panose="02020603050405020304" pitchFamily="18" charset="0"/>
              </a:rPr>
              <a:t>非线性误差： </a:t>
            </a:r>
            <a:endParaRPr lang="zh-CN" altLang="en-US" b="1" dirty="0">
              <a:latin typeface="Times New Roman" panose="02020603050405020304" pitchFamily="18" charset="0"/>
            </a:endParaRPr>
          </a:p>
          <a:p>
            <a:pPr>
              <a:lnSpc>
                <a:spcPct val="158000"/>
              </a:lnSpc>
              <a:spcBef>
                <a:spcPct val="50000"/>
              </a:spcBef>
            </a:pPr>
            <a:r>
              <a:rPr lang="zh-CN" altLang="en-US" b="1" dirty="0">
                <a:latin typeface="Times New Roman" panose="02020603050405020304" pitchFamily="18" charset="0"/>
              </a:rPr>
              <a:t>        是指一种没有一定变化规律的误差，它既不是常数也不与输入数字量成比例，通常用偏离理想转换特性的最大值来表示。这种误差使得</a:t>
            </a:r>
            <a:r>
              <a:rPr lang="en-US" altLang="zh-CN" b="1">
                <a:latin typeface="Times New Roman" panose="02020603050405020304" pitchFamily="18" charset="0"/>
              </a:rPr>
              <a:t>DAC</a:t>
            </a:r>
            <a:r>
              <a:rPr lang="zh-CN" altLang="en-US" b="1" dirty="0">
                <a:latin typeface="Times New Roman" panose="02020603050405020304" pitchFamily="18" charset="0"/>
              </a:rPr>
              <a:t>理想的线性转换特性变为非线性，如图</a:t>
            </a:r>
            <a:r>
              <a:rPr lang="en-US" altLang="zh-CN" b="1">
                <a:latin typeface="Times New Roman" panose="02020603050405020304" pitchFamily="18" charset="0"/>
              </a:rPr>
              <a:t>11- 13</a:t>
            </a:r>
            <a:r>
              <a:rPr lang="zh-CN" altLang="en-US" b="1" dirty="0">
                <a:latin typeface="Times New Roman" panose="02020603050405020304" pitchFamily="18" charset="0"/>
              </a:rPr>
              <a:t>所示。 造成这种误差的原因有很多， 如模拟开关的导通电阻和导通压降不可能绝对为零，而且各个模拟开关的导通电阻也未必相同； 再如电阻网络中的电阻阻值存在偏差， 各个电阻支路的电阻偏差以及对输出电压的影响也不一定相同等等，这些都会导致输出模拟电压的非线性误差。</a:t>
            </a:r>
            <a:endParaRPr lang="zh-CN" altLang="en-US" b="1">
              <a:latin typeface="Times New Roman" panose="02020603050405020304" pitchFamily="18" charset="0"/>
            </a:endParaRPr>
          </a:p>
        </p:txBody>
      </p:sp>
    </p:spTree>
  </p:cSld>
  <p:clrMapOvr>
    <a:masterClrMapping/>
  </p:clrMapOvr>
  <p:transition>
    <p:blinds dir="vert"/>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64" name="文本框 40963"/>
          <p:cNvSpPr txBox="1"/>
          <p:nvPr/>
        </p:nvSpPr>
        <p:spPr>
          <a:xfrm>
            <a:off x="2743200" y="6019800"/>
            <a:ext cx="4283075" cy="457200"/>
          </a:xfrm>
          <a:prstGeom prst="rect">
            <a:avLst/>
          </a:prstGeom>
          <a:noFill/>
          <a:ln w="9525">
            <a:noFill/>
          </a:ln>
        </p:spPr>
        <p:txBody>
          <a:bodyPr wrap="none" anchor="t" anchorCtr="0">
            <a:spAutoFit/>
          </a:bodyPr>
          <a:p>
            <a:r>
              <a:rPr lang="zh-CN" altLang="en-US" dirty="0">
                <a:latin typeface="Times New Roman" panose="02020603050405020304" pitchFamily="18" charset="0"/>
              </a:rPr>
              <a:t>图 </a:t>
            </a:r>
            <a:r>
              <a:rPr lang="en-US" altLang="zh-CN">
                <a:latin typeface="Times New Roman" panose="02020603050405020304" pitchFamily="18" charset="0"/>
              </a:rPr>
              <a:t>11-13 3</a:t>
            </a:r>
            <a:r>
              <a:rPr lang="zh-CN" altLang="en-US" dirty="0">
                <a:latin typeface="Times New Roman" panose="02020603050405020304" pitchFamily="18" charset="0"/>
              </a:rPr>
              <a:t>位</a:t>
            </a:r>
            <a:r>
              <a:rPr lang="en-US" altLang="zh-CN">
                <a:latin typeface="Times New Roman" panose="02020603050405020304" pitchFamily="18" charset="0"/>
              </a:rPr>
              <a:t>DAC</a:t>
            </a:r>
            <a:r>
              <a:rPr lang="zh-CN" altLang="en-US" dirty="0">
                <a:latin typeface="Times New Roman" panose="02020603050405020304" pitchFamily="18" charset="0"/>
              </a:rPr>
              <a:t>的非线性误差</a:t>
            </a:r>
            <a:endParaRPr lang="zh-CN" altLang="en-US">
              <a:latin typeface="Times New Roman" panose="02020603050405020304" pitchFamily="18" charset="0"/>
            </a:endParaRPr>
          </a:p>
        </p:txBody>
      </p:sp>
      <p:graphicFrame>
        <p:nvGraphicFramePr>
          <p:cNvPr id="40965" name="对象 40964"/>
          <p:cNvGraphicFramePr/>
          <p:nvPr/>
        </p:nvGraphicFramePr>
        <p:xfrm>
          <a:off x="2362200" y="762000"/>
          <a:ext cx="5080000" cy="4930775"/>
        </p:xfrm>
        <a:graphic>
          <a:graphicData uri="http://schemas.openxmlformats.org/presentationml/2006/ole">
            <mc:AlternateContent xmlns:mc="http://schemas.openxmlformats.org/markup-compatibility/2006">
              <mc:Choice xmlns:v="urn:schemas-microsoft-com:vml" Requires="v">
                <p:oleObj spid="_x0000_s3100" name="" r:id="rId1" imgW="2110740" imgH="2042160" progId="Visio.Drawing.4">
                  <p:embed/>
                </p:oleObj>
              </mc:Choice>
              <mc:Fallback>
                <p:oleObj name="" r:id="rId1" imgW="2110740" imgH="2042160" progId="Visio.Drawing.4">
                  <p:embed/>
                  <p:pic>
                    <p:nvPicPr>
                      <p:cNvPr id="0" name="图片 3099"/>
                      <p:cNvPicPr/>
                      <p:nvPr/>
                    </p:nvPicPr>
                    <p:blipFill>
                      <a:blip r:embed="rId2"/>
                      <a:stretch>
                        <a:fillRect/>
                      </a:stretch>
                    </p:blipFill>
                    <p:spPr>
                      <a:xfrm>
                        <a:off x="2362200" y="762000"/>
                        <a:ext cx="5080000" cy="4930775"/>
                      </a:xfrm>
                      <a:prstGeom prst="rect">
                        <a:avLst/>
                      </a:prstGeom>
                      <a:noFill/>
                      <a:ln w="38100">
                        <a:noFill/>
                        <a:miter/>
                      </a:ln>
                    </p:spPr>
                  </p:pic>
                </p:oleObj>
              </mc:Fallback>
            </mc:AlternateContent>
          </a:graphicData>
        </a:graphic>
      </p:graphicFrame>
    </p:spTree>
  </p:cSld>
  <p:clrMapOvr>
    <a:masterClrMapping/>
  </p:clrMapOvr>
  <p:transition>
    <p:blinds dir="vert"/>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9940" name="文本框 39939"/>
          <p:cNvSpPr txBox="1"/>
          <p:nvPr/>
        </p:nvSpPr>
        <p:spPr>
          <a:xfrm>
            <a:off x="152400" y="381000"/>
            <a:ext cx="8915400" cy="6262688"/>
          </a:xfrm>
          <a:prstGeom prst="rect">
            <a:avLst/>
          </a:prstGeom>
          <a:noFill/>
          <a:ln w="9525">
            <a:noFill/>
          </a:ln>
        </p:spPr>
        <p:txBody>
          <a:bodyPr>
            <a:spAutoFit/>
          </a:bodyPr>
          <a:p>
            <a:pPr>
              <a:lnSpc>
                <a:spcPct val="140000"/>
              </a:lnSpc>
              <a:spcBef>
                <a:spcPct val="50000"/>
              </a:spcBef>
            </a:pPr>
            <a:r>
              <a:rPr lang="en-US" altLang="zh-CN" dirty="0">
                <a:latin typeface="Times New Roman" panose="02020603050405020304" pitchFamily="18" charset="0"/>
              </a:rPr>
              <a:t>         </a:t>
            </a:r>
            <a:r>
              <a:rPr lang="en-US" altLang="zh-CN" b="1">
                <a:latin typeface="Times New Roman" panose="02020603050405020304" pitchFamily="18" charset="0"/>
              </a:rPr>
              <a:t>3</a:t>
            </a:r>
            <a:r>
              <a:rPr lang="zh-CN" altLang="en-US" b="1" dirty="0">
                <a:latin typeface="Times New Roman" panose="02020603050405020304" pitchFamily="18" charset="0"/>
              </a:rPr>
              <a:t>． 转换速度</a:t>
            </a:r>
            <a:endParaRPr lang="zh-CN" altLang="en-US">
              <a:latin typeface="Times New Roman" panose="02020603050405020304" pitchFamily="18" charset="0"/>
            </a:endParaRPr>
          </a:p>
          <a:p>
            <a:pPr>
              <a:lnSpc>
                <a:spcPct val="140000"/>
              </a:lnSpc>
              <a:spcBef>
                <a:spcPct val="50000"/>
              </a:spcBef>
            </a:pPr>
            <a:r>
              <a:rPr lang="zh-CN" altLang="en-US">
                <a:latin typeface="Times New Roman" panose="02020603050405020304" pitchFamily="18" charset="0"/>
              </a:rPr>
              <a:t>        </a:t>
            </a:r>
            <a:r>
              <a:rPr lang="zh-CN" altLang="en-US" b="1" dirty="0">
                <a:latin typeface="Times New Roman" panose="02020603050405020304" pitchFamily="18" charset="0"/>
              </a:rPr>
              <a:t>通常用建立时间（</a:t>
            </a:r>
            <a:r>
              <a:rPr lang="en-US" altLang="zh-CN" b="1">
                <a:latin typeface="Times New Roman" panose="02020603050405020304" pitchFamily="18" charset="0"/>
              </a:rPr>
              <a:t>Setting Time</a:t>
            </a:r>
            <a:r>
              <a:rPr lang="zh-CN" altLang="en-US" b="1">
                <a:latin typeface="Times New Roman" panose="02020603050405020304" pitchFamily="18" charset="0"/>
              </a:rPr>
              <a:t>）</a:t>
            </a:r>
            <a:r>
              <a:rPr lang="zh-CN" altLang="en-US" b="1" dirty="0">
                <a:latin typeface="Times New Roman" panose="02020603050405020304" pitchFamily="18" charset="0"/>
              </a:rPr>
              <a:t>和转换速率来描述</a:t>
            </a:r>
            <a:r>
              <a:rPr lang="en-US" altLang="zh-CN" b="1">
                <a:latin typeface="Times New Roman" panose="02020603050405020304" pitchFamily="18" charset="0"/>
              </a:rPr>
              <a:t>DAC</a:t>
            </a:r>
            <a:r>
              <a:rPr lang="zh-CN" altLang="en-US" b="1" dirty="0">
                <a:latin typeface="Times New Roman" panose="02020603050405020304" pitchFamily="18" charset="0"/>
              </a:rPr>
              <a:t>的转换速度。 </a:t>
            </a:r>
            <a:endParaRPr lang="zh-CN" altLang="en-US" b="1" dirty="0">
              <a:latin typeface="Times New Roman" panose="02020603050405020304" pitchFamily="18" charset="0"/>
            </a:endParaRPr>
          </a:p>
          <a:p>
            <a:pPr>
              <a:lnSpc>
                <a:spcPct val="140000"/>
              </a:lnSpc>
              <a:spcBef>
                <a:spcPct val="50000"/>
              </a:spcBef>
            </a:pPr>
            <a:r>
              <a:rPr lang="zh-CN" altLang="en-US" b="1" dirty="0">
                <a:latin typeface="Times New Roman" panose="02020603050405020304" pitchFamily="18" charset="0"/>
              </a:rPr>
              <a:t>        当</a:t>
            </a:r>
            <a:r>
              <a:rPr lang="en-US" altLang="zh-CN" b="1">
                <a:latin typeface="Times New Roman" panose="02020603050405020304" pitchFamily="18" charset="0"/>
              </a:rPr>
              <a:t>DAC</a:t>
            </a:r>
            <a:r>
              <a:rPr lang="zh-CN" altLang="en-US" b="1" dirty="0">
                <a:latin typeface="Times New Roman" panose="02020603050405020304" pitchFamily="18" charset="0"/>
              </a:rPr>
              <a:t>输入的数字量发生变化后， 输出的模拟量并不能立即达到所对应的数值，它需要一段时间，我们将这段时间称为建立时间。由于数字量的变化量越大，</a:t>
            </a:r>
            <a:r>
              <a:rPr lang="en-US" altLang="zh-CN" b="1">
                <a:latin typeface="Times New Roman" panose="02020603050405020304" pitchFamily="18" charset="0"/>
              </a:rPr>
              <a:t>DAC</a:t>
            </a:r>
            <a:r>
              <a:rPr lang="zh-CN" altLang="en-US" b="1" dirty="0">
                <a:latin typeface="Times New Roman" panose="02020603050405020304" pitchFamily="18" charset="0"/>
              </a:rPr>
              <a:t>所需要的建立时间越长，所以在集成</a:t>
            </a:r>
            <a:r>
              <a:rPr lang="en-US" altLang="zh-CN" b="1">
                <a:latin typeface="Times New Roman" panose="02020603050405020304" pitchFamily="18" charset="0"/>
              </a:rPr>
              <a:t>DAC</a:t>
            </a:r>
            <a:r>
              <a:rPr lang="zh-CN" altLang="en-US" b="1" dirty="0">
                <a:latin typeface="Times New Roman" panose="02020603050405020304" pitchFamily="18" charset="0"/>
              </a:rPr>
              <a:t>产品的性能表中，建立时间通常是指输入数字量从全</a:t>
            </a:r>
            <a:r>
              <a:rPr lang="en-US" altLang="zh-CN" b="1">
                <a:latin typeface="Times New Roman" panose="02020603050405020304" pitchFamily="18" charset="0"/>
              </a:rPr>
              <a:t>0</a:t>
            </a:r>
            <a:r>
              <a:rPr lang="zh-CN" altLang="en-US" b="1" dirty="0">
                <a:latin typeface="Times New Roman" panose="02020603050405020304" pitchFamily="18" charset="0"/>
              </a:rPr>
              <a:t>突变到全</a:t>
            </a:r>
            <a:r>
              <a:rPr lang="en-US" altLang="zh-CN" b="1">
                <a:latin typeface="Times New Roman" panose="02020603050405020304" pitchFamily="18" charset="0"/>
              </a:rPr>
              <a:t>1</a:t>
            </a:r>
            <a:r>
              <a:rPr lang="zh-CN" altLang="en-US" b="1" dirty="0">
                <a:latin typeface="Times New Roman" panose="02020603050405020304" pitchFamily="18" charset="0"/>
              </a:rPr>
              <a:t>或从全</a:t>
            </a:r>
            <a:r>
              <a:rPr lang="en-US" altLang="zh-CN" b="1">
                <a:latin typeface="Times New Roman" panose="02020603050405020304" pitchFamily="18" charset="0"/>
              </a:rPr>
              <a:t>1</a:t>
            </a:r>
            <a:r>
              <a:rPr lang="zh-CN" altLang="en-US" b="1" dirty="0">
                <a:latin typeface="Times New Roman" panose="02020603050405020304" pitchFamily="18" charset="0"/>
              </a:rPr>
              <a:t>突变到全</a:t>
            </a:r>
            <a:r>
              <a:rPr lang="en-US" altLang="zh-CN" b="1">
                <a:latin typeface="Times New Roman" panose="02020603050405020304" pitchFamily="18" charset="0"/>
              </a:rPr>
              <a:t>0</a:t>
            </a:r>
            <a:r>
              <a:rPr lang="zh-CN" altLang="en-US" b="1" dirty="0">
                <a:latin typeface="Times New Roman" panose="02020603050405020304" pitchFamily="18" charset="0"/>
              </a:rPr>
              <a:t>开始， 输出模拟量进入到规定的误差范围内的时间。误差范围一般取</a:t>
            </a:r>
            <a:r>
              <a:rPr lang="en-US" altLang="zh-CN" b="1">
                <a:latin typeface="Times New Roman" panose="02020603050405020304" pitchFamily="18" charset="0"/>
              </a:rPr>
              <a:t>±LSB/2</a:t>
            </a:r>
            <a:r>
              <a:rPr lang="zh-CN" altLang="en-US" b="1">
                <a:latin typeface="Times New Roman" panose="02020603050405020304" pitchFamily="18" charset="0"/>
              </a:rPr>
              <a:t>。 </a:t>
            </a:r>
            <a:endParaRPr lang="zh-CN" altLang="en-US" b="1">
              <a:latin typeface="Times New Roman" panose="02020603050405020304" pitchFamily="18" charset="0"/>
            </a:endParaRPr>
          </a:p>
          <a:p>
            <a:pPr>
              <a:lnSpc>
                <a:spcPct val="140000"/>
              </a:lnSpc>
              <a:spcBef>
                <a:spcPct val="50000"/>
              </a:spcBef>
            </a:pPr>
            <a:r>
              <a:rPr lang="zh-CN" altLang="en-US" b="1">
                <a:latin typeface="Times New Roman" panose="02020603050405020304" pitchFamily="18" charset="0"/>
              </a:rPr>
              <a:t>      </a:t>
            </a:r>
            <a:r>
              <a:rPr lang="zh-CN" altLang="en-US" b="1" dirty="0">
                <a:latin typeface="Times New Roman" panose="02020603050405020304" pitchFamily="18" charset="0"/>
              </a:rPr>
              <a:t>  建立时间的倒数即为转换速率， 也就是每秒钟</a:t>
            </a:r>
            <a:r>
              <a:rPr lang="en-US" altLang="zh-CN" b="1">
                <a:latin typeface="Times New Roman" panose="02020603050405020304" pitchFamily="18" charset="0"/>
              </a:rPr>
              <a:t>DAC</a:t>
            </a:r>
            <a:r>
              <a:rPr lang="zh-CN" altLang="en-US" b="1" dirty="0">
                <a:latin typeface="Times New Roman" panose="02020603050405020304" pitchFamily="18" charset="0"/>
              </a:rPr>
              <a:t>至少可进行的转换次数。 </a:t>
            </a:r>
            <a:endParaRPr lang="zh-CN" altLang="en-US" b="1">
              <a:latin typeface="Times New Roman" panose="02020603050405020304" pitchFamily="18" charset="0"/>
            </a:endParaRPr>
          </a:p>
        </p:txBody>
      </p:sp>
    </p:spTree>
  </p:cSld>
  <p:clrMapOvr>
    <a:masterClrMapping/>
  </p:clrMapOvr>
  <p:transition>
    <p:blinds dir="vert"/>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3012" name="文本框 43011"/>
          <p:cNvSpPr txBox="1"/>
          <p:nvPr/>
        </p:nvSpPr>
        <p:spPr>
          <a:xfrm>
            <a:off x="152400" y="457200"/>
            <a:ext cx="8839200" cy="6008688"/>
          </a:xfrm>
          <a:prstGeom prst="rect">
            <a:avLst/>
          </a:prstGeom>
          <a:noFill/>
          <a:ln w="9525">
            <a:noFill/>
          </a:ln>
        </p:spPr>
        <p:txBody>
          <a:bodyPr>
            <a:spAutoFit/>
          </a:bodyPr>
          <a:p>
            <a:pPr>
              <a:lnSpc>
                <a:spcPct val="158000"/>
              </a:lnSpc>
              <a:spcBef>
                <a:spcPct val="50000"/>
              </a:spcBef>
            </a:pPr>
            <a:r>
              <a:rPr lang="en-US" altLang="zh-CN" b="1">
                <a:latin typeface="Times New Roman" panose="02020603050405020304" pitchFamily="18" charset="0"/>
              </a:rPr>
              <a:t>11.1.4 </a:t>
            </a:r>
            <a:r>
              <a:rPr lang="zh-CN" altLang="en-US" b="1" dirty="0">
                <a:latin typeface="Times New Roman" panose="02020603050405020304" pitchFamily="18" charset="0"/>
              </a:rPr>
              <a:t>集成</a:t>
            </a:r>
            <a:r>
              <a:rPr lang="en-US" altLang="zh-CN" b="1">
                <a:latin typeface="Times New Roman" panose="02020603050405020304" pitchFamily="18" charset="0"/>
              </a:rPr>
              <a:t>DAC</a:t>
            </a:r>
            <a:r>
              <a:rPr lang="zh-CN" altLang="en-US" b="1" dirty="0">
                <a:latin typeface="Times New Roman" panose="02020603050405020304" pitchFamily="18" charset="0"/>
              </a:rPr>
              <a:t>芯片的选择与使用</a:t>
            </a:r>
            <a:endParaRPr lang="zh-CN" altLang="en-US" b="1" dirty="0">
              <a:latin typeface="Times New Roman" panose="02020603050405020304" pitchFamily="18" charset="0"/>
            </a:endParaRPr>
          </a:p>
          <a:p>
            <a:pPr>
              <a:lnSpc>
                <a:spcPct val="158000"/>
              </a:lnSpc>
              <a:spcBef>
                <a:spcPct val="50000"/>
              </a:spcBef>
            </a:pPr>
            <a:r>
              <a:rPr lang="zh-CN" altLang="en-US">
                <a:latin typeface="Times New Roman" panose="02020603050405020304" pitchFamily="18" charset="0"/>
              </a:rPr>
              <a:t>        </a:t>
            </a:r>
            <a:r>
              <a:rPr lang="en-US" altLang="zh-CN" b="1">
                <a:latin typeface="Times New Roman" panose="02020603050405020304" pitchFamily="18" charset="0"/>
              </a:rPr>
              <a:t>1</a:t>
            </a:r>
            <a:r>
              <a:rPr lang="zh-CN" altLang="en-US" b="1">
                <a:latin typeface="Times New Roman" panose="02020603050405020304" pitchFamily="18" charset="0"/>
              </a:rPr>
              <a:t>． </a:t>
            </a:r>
            <a:r>
              <a:rPr lang="en-US" altLang="zh-CN" b="1">
                <a:latin typeface="Times New Roman" panose="02020603050405020304" pitchFamily="18" charset="0"/>
              </a:rPr>
              <a:t>DAC</a:t>
            </a:r>
            <a:r>
              <a:rPr lang="zh-CN" altLang="en-US" b="1" dirty="0">
                <a:latin typeface="Times New Roman" panose="02020603050405020304" pitchFamily="18" charset="0"/>
              </a:rPr>
              <a:t>芯片的选择原则</a:t>
            </a:r>
            <a:endParaRPr lang="zh-CN" altLang="en-US">
              <a:latin typeface="Times New Roman" panose="02020603050405020304" pitchFamily="18" charset="0"/>
            </a:endParaRPr>
          </a:p>
          <a:p>
            <a:pPr>
              <a:lnSpc>
                <a:spcPct val="158000"/>
              </a:lnSpc>
              <a:spcBef>
                <a:spcPct val="50000"/>
              </a:spcBef>
            </a:pPr>
            <a:r>
              <a:rPr lang="zh-CN" altLang="en-US">
                <a:latin typeface="Times New Roman" panose="02020603050405020304" pitchFamily="18" charset="0"/>
              </a:rPr>
              <a:t>       </a:t>
            </a:r>
            <a:r>
              <a:rPr lang="zh-CN" altLang="en-US" b="1" dirty="0">
                <a:latin typeface="Times New Roman" panose="02020603050405020304" pitchFamily="18" charset="0"/>
              </a:rPr>
              <a:t>目前， 集成</a:t>
            </a:r>
            <a:r>
              <a:rPr lang="en-US" altLang="zh-CN" b="1">
                <a:latin typeface="Times New Roman" panose="02020603050405020304" pitchFamily="18" charset="0"/>
              </a:rPr>
              <a:t>DAC</a:t>
            </a:r>
            <a:r>
              <a:rPr lang="zh-CN" altLang="en-US" b="1" dirty="0">
                <a:latin typeface="Times New Roman" panose="02020603050405020304" pitchFamily="18" charset="0"/>
              </a:rPr>
              <a:t>技术发展很快， 国内外市场上的集成</a:t>
            </a:r>
            <a:r>
              <a:rPr lang="en-US" altLang="zh-CN" b="1">
                <a:latin typeface="Times New Roman" panose="02020603050405020304" pitchFamily="18" charset="0"/>
              </a:rPr>
              <a:t>DAC</a:t>
            </a:r>
            <a:r>
              <a:rPr lang="zh-CN" altLang="en-US" b="1" dirty="0">
                <a:latin typeface="Times New Roman" panose="02020603050405020304" pitchFamily="18" charset="0"/>
              </a:rPr>
              <a:t>产品有几百种之多，性能各不相同，可以满足不同要求的应用场合。 </a:t>
            </a:r>
            <a:endParaRPr lang="zh-CN" altLang="en-US" b="1" dirty="0">
              <a:latin typeface="Times New Roman" panose="02020603050405020304" pitchFamily="18" charset="0"/>
            </a:endParaRPr>
          </a:p>
          <a:p>
            <a:pPr>
              <a:lnSpc>
                <a:spcPct val="158000"/>
              </a:lnSpc>
              <a:spcBef>
                <a:spcPct val="50000"/>
              </a:spcBef>
            </a:pPr>
            <a:r>
              <a:rPr lang="zh-CN" altLang="en-US" b="1" dirty="0">
                <a:latin typeface="Times New Roman" panose="02020603050405020304" pitchFamily="18" charset="0"/>
              </a:rPr>
              <a:t>       在选择</a:t>
            </a:r>
            <a:r>
              <a:rPr lang="en-US" altLang="zh-CN" b="1">
                <a:latin typeface="Times New Roman" panose="02020603050405020304" pitchFamily="18" charset="0"/>
              </a:rPr>
              <a:t>DAC</a:t>
            </a:r>
            <a:r>
              <a:rPr lang="zh-CN" altLang="en-US" b="1" dirty="0">
                <a:latin typeface="Times New Roman" panose="02020603050405020304" pitchFamily="18" charset="0"/>
              </a:rPr>
              <a:t>芯片时， 主要从以下几个方面考虑：</a:t>
            </a:r>
            <a:endParaRPr lang="zh-CN" altLang="en-US" b="1" dirty="0">
              <a:latin typeface="Times New Roman" panose="02020603050405020304" pitchFamily="18" charset="0"/>
            </a:endParaRPr>
          </a:p>
          <a:p>
            <a:pPr>
              <a:lnSpc>
                <a:spcPct val="158000"/>
              </a:lnSpc>
              <a:spcBef>
                <a:spcPct val="50000"/>
              </a:spcBef>
            </a:pPr>
            <a:r>
              <a:rPr lang="zh-CN" altLang="en-US" b="1" dirty="0">
                <a:latin typeface="Times New Roman" panose="02020603050405020304" pitchFamily="18" charset="0"/>
              </a:rPr>
              <a:t>       </a:t>
            </a:r>
            <a:r>
              <a:rPr lang="en-US" altLang="zh-CN" b="1">
                <a:latin typeface="Times New Roman" panose="02020603050405020304" pitchFamily="18" charset="0"/>
              </a:rPr>
              <a:t>① DAC</a:t>
            </a:r>
            <a:r>
              <a:rPr lang="zh-CN" altLang="en-US" b="1" dirty="0">
                <a:latin typeface="Times New Roman" panose="02020603050405020304" pitchFamily="18" charset="0"/>
              </a:rPr>
              <a:t>的转换精度。 这是</a:t>
            </a:r>
            <a:r>
              <a:rPr lang="en-US" altLang="zh-CN" b="1">
                <a:latin typeface="Times New Roman" panose="02020603050405020304" pitchFamily="18" charset="0"/>
              </a:rPr>
              <a:t>DAC</a:t>
            </a:r>
            <a:r>
              <a:rPr lang="zh-CN" altLang="en-US" b="1" dirty="0">
                <a:latin typeface="Times New Roman" panose="02020603050405020304" pitchFamily="18" charset="0"/>
              </a:rPr>
              <a:t>最重要的技术指标， 如前所述， 应该从</a:t>
            </a:r>
            <a:r>
              <a:rPr lang="en-US" altLang="zh-CN" b="1">
                <a:latin typeface="Times New Roman" panose="02020603050405020304" pitchFamily="18" charset="0"/>
              </a:rPr>
              <a:t>DAC</a:t>
            </a:r>
            <a:r>
              <a:rPr lang="zh-CN" altLang="en-US" b="1" dirty="0">
                <a:latin typeface="Times New Roman" panose="02020603050405020304" pitchFamily="18" charset="0"/>
              </a:rPr>
              <a:t>的位数（理论精度）和转换误差两个方面综合考虑。 </a:t>
            </a:r>
            <a:endParaRPr lang="zh-CN" altLang="en-US" b="1">
              <a:latin typeface="Times New Roman" panose="02020603050405020304" pitchFamily="18" charset="0"/>
            </a:endParaRPr>
          </a:p>
        </p:txBody>
      </p:sp>
    </p:spTree>
  </p:cSld>
  <p:clrMapOvr>
    <a:masterClrMapping/>
  </p:clrMapOvr>
  <p:transition>
    <p:blinds dir="vert"/>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1988" name="文本框 41987"/>
          <p:cNvSpPr txBox="1"/>
          <p:nvPr/>
        </p:nvSpPr>
        <p:spPr>
          <a:xfrm>
            <a:off x="228600" y="830263"/>
            <a:ext cx="8686800" cy="4884737"/>
          </a:xfrm>
          <a:prstGeom prst="rect">
            <a:avLst/>
          </a:prstGeom>
          <a:noFill/>
          <a:ln w="9525">
            <a:noFill/>
          </a:ln>
        </p:spPr>
        <p:txBody>
          <a:bodyPr>
            <a:spAutoFit/>
          </a:bodyPr>
          <a:p>
            <a:pPr>
              <a:lnSpc>
                <a:spcPct val="158000"/>
              </a:lnSpc>
              <a:spcBef>
                <a:spcPct val="50000"/>
              </a:spcBef>
            </a:pPr>
            <a:r>
              <a:rPr lang="en-US" altLang="zh-CN" dirty="0">
                <a:latin typeface="Times New Roman" panose="02020603050405020304" pitchFamily="18" charset="0"/>
              </a:rPr>
              <a:t>        </a:t>
            </a:r>
            <a:r>
              <a:rPr lang="en-US" altLang="zh-CN" b="1">
                <a:latin typeface="Times New Roman" panose="02020603050405020304" pitchFamily="18" charset="0"/>
              </a:rPr>
              <a:t>② DAC</a:t>
            </a:r>
            <a:r>
              <a:rPr lang="zh-CN" altLang="en-US" b="1" dirty="0">
                <a:latin typeface="Times New Roman" panose="02020603050405020304" pitchFamily="18" charset="0"/>
              </a:rPr>
              <a:t>的转换速度。按照建立时间的大小， </a:t>
            </a:r>
            <a:r>
              <a:rPr lang="en-US" altLang="zh-CN" b="1">
                <a:latin typeface="Times New Roman" panose="02020603050405020304" pitchFamily="18" charset="0"/>
              </a:rPr>
              <a:t>DAC</a:t>
            </a:r>
            <a:r>
              <a:rPr lang="zh-CN" altLang="en-US" b="1" dirty="0">
                <a:latin typeface="Times New Roman" panose="02020603050405020304" pitchFamily="18" charset="0"/>
              </a:rPr>
              <a:t>可以分成若干类。建立时间大于</a:t>
            </a:r>
            <a:r>
              <a:rPr lang="en-US" altLang="zh-CN" b="1">
                <a:latin typeface="Times New Roman" panose="02020603050405020304" pitchFamily="18" charset="0"/>
              </a:rPr>
              <a:t>300 μs</a:t>
            </a:r>
            <a:r>
              <a:rPr lang="zh-CN" altLang="en-US" b="1" dirty="0">
                <a:latin typeface="Times New Roman" panose="02020603050405020304" pitchFamily="18" charset="0"/>
              </a:rPr>
              <a:t>的属于低速型， 目前已较少见； 建立时间为</a:t>
            </a:r>
            <a:r>
              <a:rPr lang="en-US" altLang="zh-CN" b="1">
                <a:latin typeface="Times New Roman" panose="02020603050405020304" pitchFamily="18" charset="0"/>
              </a:rPr>
              <a:t>10</a:t>
            </a:r>
            <a:r>
              <a:rPr lang="zh-CN" altLang="en-US" b="1" dirty="0">
                <a:latin typeface="Times New Roman" panose="02020603050405020304" pitchFamily="18" charset="0"/>
              </a:rPr>
              <a:t>～</a:t>
            </a:r>
            <a:r>
              <a:rPr lang="en-US" altLang="zh-CN" b="1">
                <a:latin typeface="Times New Roman" panose="02020603050405020304" pitchFamily="18" charset="0"/>
              </a:rPr>
              <a:t>300 μs</a:t>
            </a:r>
            <a:r>
              <a:rPr lang="zh-CN" altLang="en-US" b="1" dirty="0">
                <a:latin typeface="Times New Roman" panose="02020603050405020304" pitchFamily="18" charset="0"/>
              </a:rPr>
              <a:t>的属于中速型； 建立时间在</a:t>
            </a:r>
            <a:r>
              <a:rPr lang="en-US" altLang="zh-CN" b="1">
                <a:latin typeface="Times New Roman" panose="02020603050405020304" pitchFamily="18" charset="0"/>
              </a:rPr>
              <a:t>0.01</a:t>
            </a:r>
            <a:r>
              <a:rPr lang="zh-CN" altLang="en-US" b="1" dirty="0">
                <a:latin typeface="Times New Roman" panose="02020603050405020304" pitchFamily="18" charset="0"/>
              </a:rPr>
              <a:t>～</a:t>
            </a:r>
            <a:r>
              <a:rPr lang="en-US" altLang="zh-CN" b="1">
                <a:latin typeface="Times New Roman" panose="02020603050405020304" pitchFamily="18" charset="0"/>
              </a:rPr>
              <a:t>10 μs</a:t>
            </a:r>
            <a:r>
              <a:rPr lang="zh-CN" altLang="en-US" b="1" dirty="0">
                <a:latin typeface="Times New Roman" panose="02020603050405020304" pitchFamily="18" charset="0"/>
              </a:rPr>
              <a:t>的为高速型；建立时间小于</a:t>
            </a:r>
            <a:r>
              <a:rPr lang="en-US" altLang="zh-CN" b="1">
                <a:latin typeface="Times New Roman" panose="02020603050405020304" pitchFamily="18" charset="0"/>
              </a:rPr>
              <a:t>0.01 μs</a:t>
            </a:r>
            <a:r>
              <a:rPr lang="zh-CN" altLang="en-US" b="1" dirty="0">
                <a:latin typeface="Times New Roman" panose="02020603050405020304" pitchFamily="18" charset="0"/>
              </a:rPr>
              <a:t>的为超高速型。 </a:t>
            </a:r>
            <a:endParaRPr lang="zh-CN" altLang="en-US" b="1" dirty="0">
              <a:latin typeface="Times New Roman" panose="02020603050405020304" pitchFamily="18" charset="0"/>
            </a:endParaRPr>
          </a:p>
          <a:p>
            <a:pPr>
              <a:lnSpc>
                <a:spcPct val="158000"/>
              </a:lnSpc>
              <a:spcBef>
                <a:spcPct val="50000"/>
              </a:spcBef>
            </a:pPr>
            <a:r>
              <a:rPr lang="zh-CN" altLang="en-US" b="1" dirty="0">
                <a:latin typeface="Times New Roman" panose="02020603050405020304" pitchFamily="18" charset="0"/>
              </a:rPr>
              <a:t>        </a:t>
            </a:r>
            <a:r>
              <a:rPr lang="en-US" altLang="zh-CN" b="1">
                <a:latin typeface="Times New Roman" panose="02020603050405020304" pitchFamily="18" charset="0"/>
              </a:rPr>
              <a:t>③ </a:t>
            </a:r>
            <a:r>
              <a:rPr lang="zh-CN" altLang="en-US" b="1" dirty="0">
                <a:latin typeface="Times New Roman" panose="02020603050405020304" pitchFamily="18" charset="0"/>
              </a:rPr>
              <a:t>输入数字量的特征。 输入数字量的特征是指数字量的编码方式（自然二进制码、补码、偏移二进制码、 </a:t>
            </a:r>
            <a:r>
              <a:rPr lang="en-US" altLang="zh-CN" b="1">
                <a:latin typeface="Times New Roman" panose="02020603050405020304" pitchFamily="18" charset="0"/>
              </a:rPr>
              <a:t>BCD</a:t>
            </a:r>
            <a:r>
              <a:rPr lang="zh-CN" altLang="en-US" b="1" dirty="0">
                <a:latin typeface="Times New Roman" panose="02020603050405020304" pitchFamily="18" charset="0"/>
              </a:rPr>
              <a:t>码等）、 数字量的输入方式（串行输入或并行输入）以及逻辑电平的类型（</a:t>
            </a:r>
            <a:r>
              <a:rPr lang="en-US" altLang="zh-CN" b="1">
                <a:latin typeface="Times New Roman" panose="02020603050405020304" pitchFamily="18" charset="0"/>
              </a:rPr>
              <a:t>TTL</a:t>
            </a:r>
            <a:r>
              <a:rPr lang="zh-CN" altLang="en-US" b="1" dirty="0">
                <a:latin typeface="Times New Roman" panose="02020603050405020304" pitchFamily="18" charset="0"/>
              </a:rPr>
              <a:t>电平、 </a:t>
            </a:r>
            <a:r>
              <a:rPr lang="en-US" altLang="zh-CN" b="1">
                <a:latin typeface="Times New Roman" panose="02020603050405020304" pitchFamily="18" charset="0"/>
              </a:rPr>
              <a:t>CMOS</a:t>
            </a:r>
            <a:r>
              <a:rPr lang="zh-CN" altLang="en-US" b="1" dirty="0">
                <a:latin typeface="Times New Roman" panose="02020603050405020304" pitchFamily="18" charset="0"/>
              </a:rPr>
              <a:t>电平或</a:t>
            </a:r>
            <a:r>
              <a:rPr lang="en-US" altLang="zh-CN" b="1">
                <a:latin typeface="Times New Roman" panose="02020603050405020304" pitchFamily="18" charset="0"/>
              </a:rPr>
              <a:t>ECL</a:t>
            </a:r>
            <a:r>
              <a:rPr lang="zh-CN" altLang="en-US" b="1" dirty="0">
                <a:latin typeface="Times New Roman" panose="02020603050405020304" pitchFamily="18" charset="0"/>
              </a:rPr>
              <a:t>电平等）。 </a:t>
            </a:r>
            <a:endParaRPr lang="zh-CN" altLang="en-US" b="1">
              <a:latin typeface="Times New Roman" panose="02020603050405020304" pitchFamily="18" charset="0"/>
            </a:endParaRPr>
          </a:p>
        </p:txBody>
      </p:sp>
    </p:spTree>
  </p:cSld>
  <p:clrMapOvr>
    <a:masterClrMapping/>
  </p:clrMapOvr>
  <p:transition>
    <p:blinds dir="vert"/>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5060" name="文本框 45059"/>
          <p:cNvSpPr txBox="1"/>
          <p:nvPr/>
        </p:nvSpPr>
        <p:spPr>
          <a:xfrm>
            <a:off x="304800" y="838200"/>
            <a:ext cx="8534400" cy="3560763"/>
          </a:xfrm>
          <a:prstGeom prst="rect">
            <a:avLst/>
          </a:prstGeom>
          <a:noFill/>
          <a:ln w="9525">
            <a:noFill/>
          </a:ln>
        </p:spPr>
        <p:txBody>
          <a:bodyPr>
            <a:spAutoFit/>
          </a:bodyPr>
          <a:p>
            <a:pPr>
              <a:lnSpc>
                <a:spcPct val="180000"/>
              </a:lnSpc>
              <a:spcBef>
                <a:spcPct val="50000"/>
              </a:spcBef>
            </a:pPr>
            <a:r>
              <a:rPr lang="en-US" altLang="zh-CN" dirty="0">
                <a:latin typeface="Times New Roman" panose="02020603050405020304" pitchFamily="18" charset="0"/>
              </a:rPr>
              <a:t>        </a:t>
            </a:r>
            <a:r>
              <a:rPr lang="en-US" altLang="zh-CN" b="1">
                <a:latin typeface="Times New Roman" panose="02020603050405020304" pitchFamily="18" charset="0"/>
              </a:rPr>
              <a:t>④ </a:t>
            </a:r>
            <a:r>
              <a:rPr lang="zh-CN" altLang="en-US" b="1" dirty="0">
                <a:latin typeface="Times New Roman" panose="02020603050405020304" pitchFamily="18" charset="0"/>
              </a:rPr>
              <a:t>输出模拟量的特征。 输出模拟量的特征是指</a:t>
            </a:r>
            <a:r>
              <a:rPr lang="en-US" altLang="zh-CN" b="1">
                <a:latin typeface="Times New Roman" panose="02020603050405020304" pitchFamily="18" charset="0"/>
              </a:rPr>
              <a:t>DAC</a:t>
            </a:r>
            <a:r>
              <a:rPr lang="zh-CN" altLang="en-US" b="1" dirty="0">
                <a:latin typeface="Times New Roman" panose="02020603050405020304" pitchFamily="18" charset="0"/>
              </a:rPr>
              <a:t>是电压输出还是电流输出，以及输出模拟量的范围。 </a:t>
            </a:r>
            <a:endParaRPr lang="zh-CN" altLang="en-US" b="1" dirty="0">
              <a:latin typeface="Times New Roman" panose="02020603050405020304" pitchFamily="18" charset="0"/>
            </a:endParaRPr>
          </a:p>
          <a:p>
            <a:pPr>
              <a:lnSpc>
                <a:spcPct val="180000"/>
              </a:lnSpc>
              <a:spcBef>
                <a:spcPct val="50000"/>
              </a:spcBef>
            </a:pPr>
            <a:r>
              <a:rPr lang="zh-CN" altLang="en-US" b="1" dirty="0">
                <a:latin typeface="Times New Roman" panose="02020603050405020304" pitchFamily="18" charset="0"/>
              </a:rPr>
              <a:t>        </a:t>
            </a:r>
            <a:r>
              <a:rPr lang="en-US" altLang="zh-CN" b="1">
                <a:latin typeface="Times New Roman" panose="02020603050405020304" pitchFamily="18" charset="0"/>
              </a:rPr>
              <a:t>⑤ </a:t>
            </a:r>
            <a:r>
              <a:rPr lang="zh-CN" altLang="en-US" b="1" dirty="0">
                <a:latin typeface="Times New Roman" panose="02020603050405020304" pitchFamily="18" charset="0"/>
              </a:rPr>
              <a:t>工作环境要求。这里主要是指</a:t>
            </a:r>
            <a:r>
              <a:rPr lang="en-US" altLang="zh-CN" b="1">
                <a:latin typeface="Times New Roman" panose="02020603050405020304" pitchFamily="18" charset="0"/>
              </a:rPr>
              <a:t>DAC</a:t>
            </a:r>
            <a:r>
              <a:rPr lang="zh-CN" altLang="en-US" b="1" dirty="0">
                <a:latin typeface="Times New Roman" panose="02020603050405020304" pitchFamily="18" charset="0"/>
              </a:rPr>
              <a:t>的工作电压、 参考电源、 工作温度、 功耗、 封装以及可靠性等性能要与应用系统相适应。 </a:t>
            </a:r>
            <a:endParaRPr lang="zh-CN" altLang="en-US" b="1">
              <a:latin typeface="Times New Roman" panose="02020603050405020304" pitchFamily="18" charset="0"/>
            </a:endParaRPr>
          </a:p>
        </p:txBody>
      </p:sp>
    </p:spTree>
  </p:cSld>
  <p:clrMapOvr>
    <a:masterClrMapping/>
  </p:clrMapOvr>
  <p:transition>
    <p:blinds dir="vert"/>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4036" name="文本框 44035"/>
          <p:cNvSpPr txBox="1"/>
          <p:nvPr/>
        </p:nvSpPr>
        <p:spPr>
          <a:xfrm>
            <a:off x="228600" y="533400"/>
            <a:ext cx="8686800" cy="5934075"/>
          </a:xfrm>
          <a:prstGeom prst="rect">
            <a:avLst/>
          </a:prstGeom>
          <a:noFill/>
          <a:ln w="9525">
            <a:noFill/>
          </a:ln>
        </p:spPr>
        <p:txBody>
          <a:bodyPr>
            <a:spAutoFit/>
          </a:bodyPr>
          <a:p>
            <a:pPr>
              <a:lnSpc>
                <a:spcPct val="150000"/>
              </a:lnSpc>
              <a:spcBef>
                <a:spcPct val="50000"/>
              </a:spcBef>
            </a:pPr>
            <a:r>
              <a:rPr lang="en-US" altLang="zh-CN" dirty="0">
                <a:latin typeface="Times New Roman" panose="02020603050405020304" pitchFamily="18" charset="0"/>
              </a:rPr>
              <a:t>        </a:t>
            </a:r>
            <a:r>
              <a:rPr lang="en-US" altLang="zh-CN" b="1">
                <a:latin typeface="Times New Roman" panose="02020603050405020304" pitchFamily="18" charset="0"/>
              </a:rPr>
              <a:t>2</a:t>
            </a:r>
            <a:r>
              <a:rPr lang="zh-CN" altLang="en-US" b="1" dirty="0">
                <a:latin typeface="Times New Roman" panose="02020603050405020304" pitchFamily="18" charset="0"/>
              </a:rPr>
              <a:t>． </a:t>
            </a:r>
            <a:r>
              <a:rPr lang="en-US" altLang="zh-CN" b="1">
                <a:latin typeface="Times New Roman" panose="02020603050405020304" pitchFamily="18" charset="0"/>
              </a:rPr>
              <a:t>DAC0832</a:t>
            </a:r>
            <a:r>
              <a:rPr lang="zh-CN" altLang="en-US" b="1" dirty="0">
                <a:latin typeface="Times New Roman" panose="02020603050405020304" pitchFamily="18" charset="0"/>
              </a:rPr>
              <a:t>简介</a:t>
            </a:r>
            <a:r>
              <a:rPr lang="zh-CN" altLang="en-US">
                <a:latin typeface="Times New Roman" panose="02020603050405020304" pitchFamily="18" charset="0"/>
              </a:rPr>
              <a:t>  </a:t>
            </a:r>
            <a:endParaRPr lang="zh-CN" altLang="en-US">
              <a:latin typeface="Times New Roman" panose="02020603050405020304" pitchFamily="18" charset="0"/>
            </a:endParaRPr>
          </a:p>
          <a:p>
            <a:pPr>
              <a:lnSpc>
                <a:spcPct val="150000"/>
              </a:lnSpc>
              <a:spcBef>
                <a:spcPct val="50000"/>
              </a:spcBef>
            </a:pPr>
            <a:r>
              <a:rPr lang="zh-CN" altLang="en-US">
                <a:latin typeface="Times New Roman" panose="02020603050405020304" pitchFamily="18" charset="0"/>
              </a:rPr>
              <a:t>        </a:t>
            </a:r>
            <a:r>
              <a:rPr lang="en-US" altLang="zh-CN" b="1">
                <a:latin typeface="Times New Roman" panose="02020603050405020304" pitchFamily="18" charset="0"/>
              </a:rPr>
              <a:t>DAC0832</a:t>
            </a:r>
            <a:r>
              <a:rPr lang="zh-CN" altLang="en-US" b="1" dirty="0">
                <a:latin typeface="Times New Roman" panose="02020603050405020304" pitchFamily="18" charset="0"/>
              </a:rPr>
              <a:t>是由美国国家半导体公司（</a:t>
            </a:r>
            <a:r>
              <a:rPr lang="en-US" altLang="zh-CN" b="1">
                <a:latin typeface="Times New Roman" panose="02020603050405020304" pitchFamily="18" charset="0"/>
              </a:rPr>
              <a:t>NSC</a:t>
            </a:r>
            <a:r>
              <a:rPr lang="zh-CN" altLang="en-US" b="1">
                <a:latin typeface="Times New Roman" panose="02020603050405020304" pitchFamily="18" charset="0"/>
              </a:rPr>
              <a:t>）</a:t>
            </a:r>
            <a:r>
              <a:rPr lang="zh-CN" altLang="en-US" b="1" dirty="0">
                <a:latin typeface="Times New Roman" panose="02020603050405020304" pitchFamily="18" charset="0"/>
              </a:rPr>
              <a:t>生产的</a:t>
            </a:r>
            <a:r>
              <a:rPr lang="en-US" altLang="zh-CN" b="1">
                <a:latin typeface="Times New Roman" panose="02020603050405020304" pitchFamily="18" charset="0"/>
              </a:rPr>
              <a:t>8</a:t>
            </a:r>
            <a:r>
              <a:rPr lang="zh-CN" altLang="en-US" b="1" dirty="0">
                <a:latin typeface="Times New Roman" panose="02020603050405020304" pitchFamily="18" charset="0"/>
              </a:rPr>
              <a:t>位</a:t>
            </a:r>
            <a:r>
              <a:rPr lang="en-US" altLang="zh-CN" b="1">
                <a:latin typeface="Times New Roman" panose="02020603050405020304" pitchFamily="18" charset="0"/>
              </a:rPr>
              <a:t>D/A</a:t>
            </a:r>
            <a:r>
              <a:rPr lang="zh-CN" altLang="en-US" b="1" dirty="0">
                <a:latin typeface="Times New Roman" panose="02020603050405020304" pitchFamily="18" charset="0"/>
              </a:rPr>
              <a:t>转换器， 芯片内采用</a:t>
            </a:r>
            <a:r>
              <a:rPr lang="en-US" altLang="zh-CN" b="1">
                <a:latin typeface="Times New Roman" panose="02020603050405020304" pitchFamily="18" charset="0"/>
              </a:rPr>
              <a:t>CMOS</a:t>
            </a:r>
            <a:r>
              <a:rPr lang="zh-CN" altLang="en-US" b="1" dirty="0">
                <a:latin typeface="Times New Roman" panose="02020603050405020304" pitchFamily="18" charset="0"/>
              </a:rPr>
              <a:t>工艺。该器件可以直接与</a:t>
            </a:r>
            <a:r>
              <a:rPr lang="en-US" altLang="zh-CN" b="1">
                <a:latin typeface="Times New Roman" panose="02020603050405020304" pitchFamily="18" charset="0"/>
              </a:rPr>
              <a:t>Z80</a:t>
            </a:r>
            <a:r>
              <a:rPr lang="zh-CN" altLang="en-US" b="1">
                <a:latin typeface="Times New Roman" panose="02020603050405020304" pitchFamily="18" charset="0"/>
              </a:rPr>
              <a:t>、</a:t>
            </a:r>
            <a:r>
              <a:rPr lang="en-US" altLang="zh-CN" b="1">
                <a:latin typeface="Times New Roman" panose="02020603050405020304" pitchFamily="18" charset="0"/>
              </a:rPr>
              <a:t>8051</a:t>
            </a:r>
            <a:r>
              <a:rPr lang="zh-CN" altLang="en-US" b="1">
                <a:latin typeface="Times New Roman" panose="02020603050405020304" pitchFamily="18" charset="0"/>
              </a:rPr>
              <a:t>、 </a:t>
            </a:r>
            <a:r>
              <a:rPr lang="en-US" altLang="zh-CN" b="1">
                <a:latin typeface="Times New Roman" panose="02020603050405020304" pitchFamily="18" charset="0"/>
              </a:rPr>
              <a:t>8085</a:t>
            </a:r>
            <a:r>
              <a:rPr lang="zh-CN" altLang="en-US" b="1" dirty="0">
                <a:latin typeface="Times New Roman" panose="02020603050405020304" pitchFamily="18" charset="0"/>
              </a:rPr>
              <a:t>等微处理器接口相连，是目前微机控制系统中常用的</a:t>
            </a:r>
            <a:r>
              <a:rPr lang="en-US" altLang="zh-CN" b="1">
                <a:latin typeface="Times New Roman" panose="02020603050405020304" pitchFamily="18" charset="0"/>
              </a:rPr>
              <a:t>D/A</a:t>
            </a:r>
            <a:r>
              <a:rPr lang="zh-CN" altLang="en-US" b="1" dirty="0">
                <a:latin typeface="Times New Roman" panose="02020603050405020304" pitchFamily="18" charset="0"/>
              </a:rPr>
              <a:t>转换芯片。 </a:t>
            </a:r>
            <a:endParaRPr lang="zh-CN" altLang="en-US" b="1" dirty="0">
              <a:latin typeface="Times New Roman" panose="02020603050405020304" pitchFamily="18" charset="0"/>
            </a:endParaRPr>
          </a:p>
          <a:p>
            <a:pPr>
              <a:lnSpc>
                <a:spcPct val="150000"/>
              </a:lnSpc>
              <a:spcBef>
                <a:spcPct val="50000"/>
              </a:spcBef>
            </a:pPr>
            <a:r>
              <a:rPr lang="zh-CN" altLang="en-US" b="1">
                <a:latin typeface="Times New Roman" panose="02020603050405020304" pitchFamily="18" charset="0"/>
              </a:rPr>
              <a:t>      </a:t>
            </a:r>
            <a:r>
              <a:rPr lang="en-US" altLang="zh-CN" b="1">
                <a:latin typeface="Times New Roman" panose="02020603050405020304" pitchFamily="18" charset="0"/>
              </a:rPr>
              <a:t>1</a:t>
            </a:r>
            <a:r>
              <a:rPr lang="zh-CN" altLang="en-US" b="1">
                <a:latin typeface="Times New Roman" panose="02020603050405020304" pitchFamily="18" charset="0"/>
              </a:rPr>
              <a:t>） </a:t>
            </a:r>
            <a:r>
              <a:rPr lang="en-US" altLang="zh-CN" b="1">
                <a:latin typeface="Times New Roman" panose="02020603050405020304" pitchFamily="18" charset="0"/>
              </a:rPr>
              <a:t>DAC0832</a:t>
            </a:r>
            <a:r>
              <a:rPr lang="zh-CN" altLang="en-US" b="1" dirty="0">
                <a:latin typeface="Times New Roman" panose="02020603050405020304" pitchFamily="18" charset="0"/>
              </a:rPr>
              <a:t>的性能</a:t>
            </a:r>
            <a:endParaRPr lang="zh-CN" altLang="en-US" b="1" dirty="0">
              <a:latin typeface="Times New Roman" panose="02020603050405020304" pitchFamily="18" charset="0"/>
            </a:endParaRPr>
          </a:p>
          <a:p>
            <a:pPr>
              <a:lnSpc>
                <a:spcPct val="150000"/>
              </a:lnSpc>
              <a:spcBef>
                <a:spcPct val="50000"/>
              </a:spcBef>
            </a:pPr>
            <a:r>
              <a:rPr lang="zh-CN" altLang="en-US" b="1" dirty="0">
                <a:latin typeface="Times New Roman" panose="02020603050405020304" pitchFamily="18" charset="0"/>
              </a:rPr>
              <a:t>      </a:t>
            </a:r>
            <a:r>
              <a:rPr lang="en-US" altLang="zh-CN" b="1">
                <a:latin typeface="Times New Roman" panose="02020603050405020304" pitchFamily="18" charset="0"/>
              </a:rPr>
              <a:t>DAC0832</a:t>
            </a:r>
            <a:r>
              <a:rPr lang="zh-CN" altLang="en-US" b="1" dirty="0">
                <a:latin typeface="Times New Roman" panose="02020603050405020304" pitchFamily="18" charset="0"/>
              </a:rPr>
              <a:t>的主要性能参数如下： </a:t>
            </a:r>
            <a:endParaRPr lang="zh-CN" altLang="en-US" b="1" dirty="0">
              <a:latin typeface="Times New Roman" panose="02020603050405020304" pitchFamily="18" charset="0"/>
            </a:endParaRPr>
          </a:p>
          <a:p>
            <a:pPr>
              <a:lnSpc>
                <a:spcPct val="150000"/>
              </a:lnSpc>
              <a:spcBef>
                <a:spcPct val="50000"/>
              </a:spcBef>
            </a:pPr>
            <a:r>
              <a:rPr lang="zh-CN" altLang="en-US" b="1" dirty="0">
                <a:latin typeface="Times New Roman" panose="02020603050405020304" pitchFamily="18" charset="0"/>
              </a:rPr>
              <a:t>      </a:t>
            </a:r>
            <a:r>
              <a:rPr lang="en-US" altLang="zh-CN" b="1">
                <a:latin typeface="Times New Roman" panose="02020603050405020304" pitchFamily="18" charset="0"/>
              </a:rPr>
              <a:t>① </a:t>
            </a:r>
            <a:r>
              <a:rPr lang="zh-CN" altLang="en-US" b="1" dirty="0">
                <a:latin typeface="Times New Roman" panose="02020603050405020304" pitchFamily="18" charset="0"/>
              </a:rPr>
              <a:t>并行</a:t>
            </a:r>
            <a:r>
              <a:rPr lang="en-US" altLang="zh-CN" b="1">
                <a:latin typeface="Times New Roman" panose="02020603050405020304" pitchFamily="18" charset="0"/>
              </a:rPr>
              <a:t>8</a:t>
            </a:r>
            <a:r>
              <a:rPr lang="zh-CN" altLang="en-US" b="1" dirty="0">
                <a:latin typeface="Times New Roman" panose="02020603050405020304" pitchFamily="18" charset="0"/>
              </a:rPr>
              <a:t>位</a:t>
            </a:r>
            <a:r>
              <a:rPr lang="en-US" altLang="zh-CN" b="1">
                <a:latin typeface="Times New Roman" panose="02020603050405020304" pitchFamily="18" charset="0"/>
              </a:rPr>
              <a:t>DAC</a:t>
            </a:r>
            <a:r>
              <a:rPr lang="zh-CN" altLang="en-US" b="1">
                <a:latin typeface="Times New Roman" panose="02020603050405020304" pitchFamily="18" charset="0"/>
              </a:rPr>
              <a:t>；</a:t>
            </a:r>
            <a:endParaRPr lang="zh-CN" altLang="en-US" b="1">
              <a:latin typeface="Times New Roman" panose="02020603050405020304" pitchFamily="18" charset="0"/>
            </a:endParaRPr>
          </a:p>
          <a:p>
            <a:pPr>
              <a:lnSpc>
                <a:spcPct val="150000"/>
              </a:lnSpc>
              <a:spcBef>
                <a:spcPct val="50000"/>
              </a:spcBef>
            </a:pPr>
            <a:r>
              <a:rPr lang="zh-CN" altLang="en-US" b="1">
                <a:latin typeface="Times New Roman" panose="02020603050405020304" pitchFamily="18" charset="0"/>
              </a:rPr>
              <a:t>      </a:t>
            </a:r>
            <a:r>
              <a:rPr lang="en-US" altLang="zh-CN" b="1">
                <a:latin typeface="Times New Roman" panose="02020603050405020304" pitchFamily="18" charset="0"/>
              </a:rPr>
              <a:t>② TTL</a:t>
            </a:r>
            <a:r>
              <a:rPr lang="zh-CN" altLang="en-US" b="1" dirty="0">
                <a:latin typeface="Times New Roman" panose="02020603050405020304" pitchFamily="18" charset="0"/>
              </a:rPr>
              <a:t>标准逻辑电平；</a:t>
            </a:r>
            <a:endParaRPr lang="zh-CN" altLang="en-US" b="1">
              <a:latin typeface="Times New Roman" panose="02020603050405020304" pitchFamily="18" charset="0"/>
            </a:endParaRPr>
          </a:p>
        </p:txBody>
      </p:sp>
    </p:spTree>
  </p:cSld>
  <p:clrMapOvr>
    <a:masterClrMapping/>
  </p:clrMapOvr>
  <p:transition>
    <p:blinds dir="vert"/>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7108" name="文本框 47107"/>
          <p:cNvSpPr txBox="1"/>
          <p:nvPr/>
        </p:nvSpPr>
        <p:spPr>
          <a:xfrm>
            <a:off x="1203325" y="509588"/>
            <a:ext cx="6308725" cy="5203825"/>
          </a:xfrm>
          <a:prstGeom prst="rect">
            <a:avLst/>
          </a:prstGeom>
          <a:noFill/>
          <a:ln w="9525">
            <a:noFill/>
          </a:ln>
        </p:spPr>
        <p:txBody>
          <a:bodyPr wrap="none" anchor="t" anchorCtr="0">
            <a:spAutoFit/>
          </a:bodyPr>
          <a:p>
            <a:pPr>
              <a:lnSpc>
                <a:spcPct val="200000"/>
              </a:lnSpc>
            </a:pPr>
            <a:r>
              <a:rPr lang="en-US" altLang="zh-CN" dirty="0">
                <a:latin typeface="Times New Roman" panose="02020603050405020304" pitchFamily="18" charset="0"/>
              </a:rPr>
              <a:t>      </a:t>
            </a:r>
            <a:r>
              <a:rPr lang="en-US" altLang="zh-CN" b="1">
                <a:latin typeface="Times New Roman" panose="02020603050405020304" pitchFamily="18" charset="0"/>
              </a:rPr>
              <a:t>③ </a:t>
            </a:r>
            <a:r>
              <a:rPr lang="zh-CN" altLang="en-US" b="1" dirty="0">
                <a:latin typeface="Times New Roman" panose="02020603050405020304" pitchFamily="18" charset="0"/>
              </a:rPr>
              <a:t>可单缓冲、 双缓冲或直通数据输入；</a:t>
            </a:r>
            <a:endParaRPr lang="zh-CN" altLang="en-US" b="1" dirty="0">
              <a:latin typeface="Times New Roman" panose="02020603050405020304" pitchFamily="18" charset="0"/>
            </a:endParaRPr>
          </a:p>
          <a:p>
            <a:pPr>
              <a:lnSpc>
                <a:spcPct val="200000"/>
              </a:lnSpc>
            </a:pPr>
            <a:r>
              <a:rPr lang="zh-CN" altLang="en-US" b="1" dirty="0">
                <a:latin typeface="Times New Roman" panose="02020603050405020304" pitchFamily="18" charset="0"/>
              </a:rPr>
              <a:t>      </a:t>
            </a:r>
            <a:r>
              <a:rPr lang="en-US" altLang="zh-CN" b="1">
                <a:latin typeface="Times New Roman" panose="02020603050405020304" pitchFamily="18" charset="0"/>
              </a:rPr>
              <a:t>④ </a:t>
            </a:r>
            <a:r>
              <a:rPr lang="zh-CN" altLang="en-US" b="1" dirty="0">
                <a:latin typeface="Times New Roman" panose="02020603050405020304" pitchFamily="18" charset="0"/>
              </a:rPr>
              <a:t>单一电源供电</a:t>
            </a:r>
            <a:r>
              <a:rPr lang="en-US" altLang="zh-CN" b="1">
                <a:latin typeface="Times New Roman" panose="02020603050405020304" pitchFamily="18" charset="0"/>
              </a:rPr>
              <a:t>5</a:t>
            </a:r>
            <a:r>
              <a:rPr lang="zh-CN" altLang="en-US" b="1" dirty="0">
                <a:latin typeface="Times New Roman" panose="02020603050405020304" pitchFamily="18" charset="0"/>
              </a:rPr>
              <a:t>～</a:t>
            </a:r>
            <a:r>
              <a:rPr lang="en-US" altLang="zh-CN" b="1">
                <a:latin typeface="Times New Roman" panose="02020603050405020304" pitchFamily="18" charset="0"/>
              </a:rPr>
              <a:t>15 V</a:t>
            </a:r>
            <a:r>
              <a:rPr lang="zh-CN" altLang="en-US" b="1">
                <a:latin typeface="Times New Roman" panose="02020603050405020304" pitchFamily="18" charset="0"/>
              </a:rPr>
              <a:t>；</a:t>
            </a:r>
            <a:endParaRPr lang="zh-CN" altLang="en-US" b="1">
              <a:latin typeface="Times New Roman" panose="02020603050405020304" pitchFamily="18" charset="0"/>
            </a:endParaRPr>
          </a:p>
          <a:p>
            <a:pPr>
              <a:lnSpc>
                <a:spcPct val="200000"/>
              </a:lnSpc>
            </a:pPr>
            <a:r>
              <a:rPr lang="zh-CN" altLang="en-US" b="1">
                <a:latin typeface="Times New Roman" panose="02020603050405020304" pitchFamily="18" charset="0"/>
              </a:rPr>
              <a:t>      </a:t>
            </a:r>
            <a:r>
              <a:rPr lang="en-US" altLang="zh-CN" b="1">
                <a:latin typeface="Times New Roman" panose="02020603050405020304" pitchFamily="18" charset="0"/>
              </a:rPr>
              <a:t>⑤ </a:t>
            </a:r>
            <a:r>
              <a:rPr lang="zh-CN" altLang="en-US" b="1" dirty="0">
                <a:latin typeface="Times New Roman" panose="02020603050405020304" pitchFamily="18" charset="0"/>
              </a:rPr>
              <a:t>参考电压源</a:t>
            </a:r>
            <a:r>
              <a:rPr lang="en-US" altLang="zh-CN" b="1">
                <a:latin typeface="Times New Roman" panose="02020603050405020304" pitchFamily="18" charset="0"/>
              </a:rPr>
              <a:t>-10</a:t>
            </a:r>
            <a:r>
              <a:rPr lang="zh-CN" altLang="en-US" b="1" dirty="0">
                <a:latin typeface="Times New Roman" panose="02020603050405020304" pitchFamily="18" charset="0"/>
              </a:rPr>
              <a:t>～</a:t>
            </a:r>
            <a:r>
              <a:rPr lang="en-US" altLang="zh-CN" b="1">
                <a:latin typeface="Times New Roman" panose="02020603050405020304" pitchFamily="18" charset="0"/>
              </a:rPr>
              <a:t>+10 V</a:t>
            </a:r>
            <a:r>
              <a:rPr lang="zh-CN" altLang="en-US" b="1">
                <a:latin typeface="Times New Roman" panose="02020603050405020304" pitchFamily="18" charset="0"/>
              </a:rPr>
              <a:t>；</a:t>
            </a:r>
            <a:endParaRPr lang="zh-CN" altLang="en-US" b="1">
              <a:latin typeface="Times New Roman" panose="02020603050405020304" pitchFamily="18" charset="0"/>
            </a:endParaRPr>
          </a:p>
          <a:p>
            <a:pPr>
              <a:lnSpc>
                <a:spcPct val="200000"/>
              </a:lnSpc>
            </a:pPr>
            <a:r>
              <a:rPr lang="zh-CN" altLang="en-US" b="1">
                <a:latin typeface="Times New Roman" panose="02020603050405020304" pitchFamily="18" charset="0"/>
              </a:rPr>
              <a:t>      </a:t>
            </a:r>
            <a:r>
              <a:rPr lang="en-US" altLang="zh-CN" b="1">
                <a:latin typeface="Times New Roman" panose="02020603050405020304" pitchFamily="18" charset="0"/>
              </a:rPr>
              <a:t>⑥ </a:t>
            </a:r>
            <a:r>
              <a:rPr lang="zh-CN" altLang="en-US" b="1" dirty="0">
                <a:latin typeface="Times New Roman" panose="02020603050405020304" pitchFamily="18" charset="0"/>
              </a:rPr>
              <a:t>转换时间</a:t>
            </a:r>
            <a:r>
              <a:rPr lang="en-US" altLang="zh-CN" b="1">
                <a:latin typeface="Times New Roman" panose="02020603050405020304" pitchFamily="18" charset="0"/>
              </a:rPr>
              <a:t>≤1 μs;</a:t>
            </a:r>
            <a:r>
              <a:rPr lang="zh-CN" altLang="en-US" b="1">
                <a:latin typeface="Times New Roman" panose="02020603050405020304" pitchFamily="18" charset="0"/>
              </a:rPr>
              <a:t></a:t>
            </a:r>
            <a:endParaRPr lang="zh-CN" altLang="en-US" b="1">
              <a:latin typeface="Times New Roman" panose="02020603050405020304" pitchFamily="18" charset="0"/>
            </a:endParaRPr>
          </a:p>
          <a:p>
            <a:pPr>
              <a:lnSpc>
                <a:spcPct val="200000"/>
              </a:lnSpc>
            </a:pPr>
            <a:r>
              <a:rPr lang="zh-CN" altLang="en-US" b="1">
                <a:latin typeface="Times New Roman" panose="02020603050405020304" pitchFamily="18" charset="0"/>
              </a:rPr>
              <a:t>      </a:t>
            </a:r>
            <a:r>
              <a:rPr lang="en-US" altLang="zh-CN" b="1">
                <a:latin typeface="Times New Roman" panose="02020603050405020304" pitchFamily="18" charset="0"/>
              </a:rPr>
              <a:t>⑦ </a:t>
            </a:r>
            <a:r>
              <a:rPr lang="zh-CN" altLang="en-US" b="1" dirty="0">
                <a:latin typeface="Times New Roman" panose="02020603050405020304" pitchFamily="18" charset="0"/>
              </a:rPr>
              <a:t>线性误差</a:t>
            </a:r>
            <a:r>
              <a:rPr lang="en-US" altLang="zh-CN" b="1">
                <a:latin typeface="Times New Roman" panose="02020603050405020304" pitchFamily="18" charset="0"/>
              </a:rPr>
              <a:t>≤0.2%FSR;</a:t>
            </a:r>
            <a:r>
              <a:rPr lang="zh-CN" altLang="en-US" b="1">
                <a:latin typeface="Times New Roman" panose="02020603050405020304" pitchFamily="18" charset="0"/>
              </a:rPr>
              <a:t></a:t>
            </a:r>
            <a:endParaRPr lang="zh-CN" altLang="en-US" b="1">
              <a:latin typeface="Times New Roman" panose="02020603050405020304" pitchFamily="18" charset="0"/>
            </a:endParaRPr>
          </a:p>
          <a:p>
            <a:pPr>
              <a:lnSpc>
                <a:spcPct val="200000"/>
              </a:lnSpc>
            </a:pPr>
            <a:r>
              <a:rPr lang="zh-CN" altLang="en-US" b="1">
                <a:latin typeface="Times New Roman" panose="02020603050405020304" pitchFamily="18" charset="0"/>
              </a:rPr>
              <a:t>      </a:t>
            </a:r>
            <a:r>
              <a:rPr lang="en-US" altLang="zh-CN" b="1">
                <a:latin typeface="Times New Roman" panose="02020603050405020304" pitchFamily="18" charset="0"/>
              </a:rPr>
              <a:t>⑧ </a:t>
            </a:r>
            <a:r>
              <a:rPr lang="zh-CN" altLang="en-US" b="1" dirty="0">
                <a:latin typeface="Times New Roman" panose="02020603050405020304" pitchFamily="18" charset="0"/>
              </a:rPr>
              <a:t>功耗</a:t>
            </a:r>
            <a:r>
              <a:rPr lang="en-US" altLang="zh-CN" b="1">
                <a:latin typeface="Times New Roman" panose="02020603050405020304" pitchFamily="18" charset="0"/>
              </a:rPr>
              <a:t>20 </a:t>
            </a:r>
            <a:r>
              <a:rPr lang="en-US" altLang="zh-CN" b="1" err="1">
                <a:latin typeface="Times New Roman" panose="02020603050405020304" pitchFamily="18" charset="0"/>
              </a:rPr>
              <a:t>mW</a:t>
            </a:r>
            <a:r>
              <a:rPr lang="en-US" altLang="zh-CN" b="1">
                <a:latin typeface="Times New Roman" panose="02020603050405020304" pitchFamily="18" charset="0"/>
              </a:rPr>
              <a:t>;</a:t>
            </a:r>
            <a:r>
              <a:rPr lang="zh-CN" altLang="en-US" b="1">
                <a:latin typeface="Times New Roman" panose="02020603050405020304" pitchFamily="18" charset="0"/>
              </a:rPr>
              <a:t></a:t>
            </a:r>
            <a:endParaRPr lang="zh-CN" altLang="en-US" b="1">
              <a:latin typeface="Times New Roman" panose="02020603050405020304" pitchFamily="18" charset="0"/>
            </a:endParaRPr>
          </a:p>
          <a:p>
            <a:pPr>
              <a:lnSpc>
                <a:spcPct val="200000"/>
              </a:lnSpc>
            </a:pPr>
            <a:r>
              <a:rPr lang="zh-CN" altLang="en-US" b="1">
                <a:latin typeface="Times New Roman" panose="02020603050405020304" pitchFamily="18" charset="0"/>
              </a:rPr>
              <a:t>      </a:t>
            </a:r>
            <a:r>
              <a:rPr lang="en-US" altLang="zh-CN" b="1">
                <a:latin typeface="Times New Roman" panose="02020603050405020304" pitchFamily="18" charset="0"/>
              </a:rPr>
              <a:t>⑨ </a:t>
            </a:r>
            <a:r>
              <a:rPr lang="zh-CN" altLang="en-US" b="1" dirty="0">
                <a:latin typeface="Times New Roman" panose="02020603050405020304" pitchFamily="18" charset="0"/>
              </a:rPr>
              <a:t>工作温度</a:t>
            </a:r>
            <a:r>
              <a:rPr lang="en-US" altLang="zh-CN" b="1">
                <a:latin typeface="Times New Roman" panose="02020603050405020304" pitchFamily="18" charset="0"/>
              </a:rPr>
              <a:t>0</a:t>
            </a:r>
            <a:r>
              <a:rPr lang="zh-CN" altLang="en-US" b="1" dirty="0">
                <a:latin typeface="Times New Roman" panose="02020603050405020304" pitchFamily="18" charset="0"/>
              </a:rPr>
              <a:t>～</a:t>
            </a:r>
            <a:r>
              <a:rPr lang="en-US" altLang="zh-CN" b="1">
                <a:latin typeface="Times New Roman" panose="02020603050405020304" pitchFamily="18" charset="0"/>
              </a:rPr>
              <a:t>70℃</a:t>
            </a:r>
            <a:r>
              <a:rPr lang="zh-CN" altLang="en-US" b="1" dirty="0">
                <a:latin typeface="Times New Roman" panose="02020603050405020304" pitchFamily="18" charset="0"/>
              </a:rPr>
              <a:t>。</a:t>
            </a:r>
            <a:endParaRPr lang="zh-CN" altLang="en-US" b="1">
              <a:latin typeface="Times New Roman" panose="02020603050405020304" pitchFamily="18" charset="0"/>
            </a:endParaRPr>
          </a:p>
        </p:txBody>
      </p:sp>
    </p:spTree>
  </p:cSld>
  <p:clrMapOvr>
    <a:masterClrMapping/>
  </p:clrMapOvr>
  <p:transition>
    <p:blinds dir="vert"/>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6084" name="文本框 46083"/>
          <p:cNvSpPr txBox="1"/>
          <p:nvPr/>
        </p:nvSpPr>
        <p:spPr>
          <a:xfrm>
            <a:off x="228600" y="685800"/>
            <a:ext cx="8686800" cy="3560763"/>
          </a:xfrm>
          <a:prstGeom prst="rect">
            <a:avLst/>
          </a:prstGeom>
          <a:noFill/>
          <a:ln w="9525">
            <a:noFill/>
          </a:ln>
        </p:spPr>
        <p:txBody>
          <a:bodyPr>
            <a:spAutoFit/>
          </a:bodyPr>
          <a:p>
            <a:pPr>
              <a:lnSpc>
                <a:spcPct val="180000"/>
              </a:lnSpc>
              <a:spcBef>
                <a:spcPct val="50000"/>
              </a:spcBef>
            </a:pPr>
            <a:r>
              <a:rPr lang="en-US" altLang="zh-CN" dirty="0">
                <a:latin typeface="Times New Roman" panose="02020603050405020304" pitchFamily="18" charset="0"/>
              </a:rPr>
              <a:t>        </a:t>
            </a:r>
            <a:r>
              <a:rPr lang="en-US" altLang="zh-CN" b="1">
                <a:latin typeface="Times New Roman" panose="02020603050405020304" pitchFamily="18" charset="0"/>
              </a:rPr>
              <a:t>2</a:t>
            </a:r>
            <a:r>
              <a:rPr lang="zh-CN" altLang="en-US" b="1" dirty="0">
                <a:latin typeface="Times New Roman" panose="02020603050405020304" pitchFamily="18" charset="0"/>
              </a:rPr>
              <a:t>） </a:t>
            </a:r>
            <a:r>
              <a:rPr lang="en-US" altLang="zh-CN" b="1">
                <a:latin typeface="Times New Roman" panose="02020603050405020304" pitchFamily="18" charset="0"/>
              </a:rPr>
              <a:t>DAC0832</a:t>
            </a:r>
            <a:r>
              <a:rPr lang="zh-CN" altLang="en-US" b="1" dirty="0">
                <a:latin typeface="Times New Roman" panose="02020603050405020304" pitchFamily="18" charset="0"/>
              </a:rPr>
              <a:t>的内部结构和引脚说明 </a:t>
            </a:r>
            <a:endParaRPr lang="zh-CN" altLang="en-US" b="1" dirty="0">
              <a:latin typeface="Times New Roman" panose="02020603050405020304" pitchFamily="18" charset="0"/>
            </a:endParaRPr>
          </a:p>
          <a:p>
            <a:pPr>
              <a:lnSpc>
                <a:spcPct val="180000"/>
              </a:lnSpc>
              <a:spcBef>
                <a:spcPct val="50000"/>
              </a:spcBef>
            </a:pPr>
            <a:r>
              <a:rPr lang="zh-CN" altLang="en-US" dirty="0">
                <a:latin typeface="Times New Roman" panose="02020603050405020304" pitchFamily="18" charset="0"/>
              </a:rPr>
              <a:t>        </a:t>
            </a:r>
            <a:r>
              <a:rPr lang="zh-CN" altLang="en-US" b="1" dirty="0">
                <a:latin typeface="Times New Roman" panose="02020603050405020304" pitchFamily="18" charset="0"/>
              </a:rPr>
              <a:t>图</a:t>
            </a:r>
            <a:r>
              <a:rPr lang="en-US" altLang="zh-CN" b="1">
                <a:latin typeface="Times New Roman" panose="02020603050405020304" pitchFamily="18" charset="0"/>
              </a:rPr>
              <a:t>11- 14</a:t>
            </a:r>
            <a:r>
              <a:rPr lang="zh-CN" altLang="en-US" b="1" dirty="0">
                <a:latin typeface="Times New Roman" panose="02020603050405020304" pitchFamily="18" charset="0"/>
              </a:rPr>
              <a:t>是</a:t>
            </a:r>
            <a:r>
              <a:rPr lang="en-US" altLang="zh-CN" b="1">
                <a:latin typeface="Times New Roman" panose="02020603050405020304" pitchFamily="18" charset="0"/>
              </a:rPr>
              <a:t>DAC0832</a:t>
            </a:r>
            <a:r>
              <a:rPr lang="zh-CN" altLang="en-US" b="1" dirty="0">
                <a:latin typeface="Times New Roman" panose="02020603050405020304" pitchFamily="18" charset="0"/>
              </a:rPr>
              <a:t>的内部结构框图， 虚框外标注的是外部引脚的标号及名称。 图上可以看出，电路由</a:t>
            </a:r>
            <a:r>
              <a:rPr lang="en-US" altLang="zh-CN" b="1">
                <a:latin typeface="Times New Roman" panose="02020603050405020304" pitchFamily="18" charset="0"/>
              </a:rPr>
              <a:t>8</a:t>
            </a:r>
            <a:r>
              <a:rPr lang="zh-CN" altLang="en-US" b="1" dirty="0">
                <a:latin typeface="Times New Roman" panose="02020603050405020304" pitchFamily="18" charset="0"/>
              </a:rPr>
              <a:t>位输入锁存器、 </a:t>
            </a:r>
            <a:r>
              <a:rPr lang="en-US" altLang="zh-CN" b="1">
                <a:latin typeface="Times New Roman" panose="02020603050405020304" pitchFamily="18" charset="0"/>
              </a:rPr>
              <a:t>8</a:t>
            </a:r>
            <a:r>
              <a:rPr lang="zh-CN" altLang="en-US" b="1" dirty="0">
                <a:latin typeface="Times New Roman" panose="02020603050405020304" pitchFamily="18" charset="0"/>
              </a:rPr>
              <a:t>位</a:t>
            </a:r>
            <a:r>
              <a:rPr lang="en-US" altLang="zh-CN" b="1">
                <a:latin typeface="Times New Roman" panose="02020603050405020304" pitchFamily="18" charset="0"/>
              </a:rPr>
              <a:t>D/A</a:t>
            </a:r>
            <a:r>
              <a:rPr lang="zh-CN" altLang="en-US" b="1" dirty="0">
                <a:latin typeface="Times New Roman" panose="02020603050405020304" pitchFamily="18" charset="0"/>
              </a:rPr>
              <a:t>锁存器、 </a:t>
            </a:r>
            <a:r>
              <a:rPr lang="en-US" altLang="zh-CN" b="1">
                <a:latin typeface="Times New Roman" panose="02020603050405020304" pitchFamily="18" charset="0"/>
              </a:rPr>
              <a:t>8</a:t>
            </a:r>
            <a:r>
              <a:rPr lang="zh-CN" altLang="en-US" b="1" dirty="0">
                <a:latin typeface="Times New Roman" panose="02020603050405020304" pitchFamily="18" charset="0"/>
              </a:rPr>
              <a:t>位</a:t>
            </a:r>
            <a:r>
              <a:rPr lang="en-US" altLang="zh-CN" b="1">
                <a:latin typeface="Times New Roman" panose="02020603050405020304" pitchFamily="18" charset="0"/>
              </a:rPr>
              <a:t>D/A</a:t>
            </a:r>
            <a:r>
              <a:rPr lang="zh-CN" altLang="en-US" b="1" dirty="0">
                <a:latin typeface="Times New Roman" panose="02020603050405020304" pitchFamily="18" charset="0"/>
              </a:rPr>
              <a:t>转换器、 逻辑控制电路以及输出电路的辅助元件</a:t>
            </a:r>
            <a:r>
              <a:rPr lang="en-US" altLang="zh-CN" b="1" err="1">
                <a:latin typeface="Times New Roman" panose="02020603050405020304" pitchFamily="18" charset="0"/>
              </a:rPr>
              <a:t>R</a:t>
            </a:r>
            <a:r>
              <a:rPr lang="en-US" altLang="zh-CN" b="1" baseline="-25000" err="1">
                <a:latin typeface="Times New Roman" panose="02020603050405020304" pitchFamily="18" charset="0"/>
              </a:rPr>
              <a:t>fb</a:t>
            </a:r>
            <a:r>
              <a:rPr lang="zh-CN" altLang="en-US" b="1">
                <a:latin typeface="Times New Roman" panose="02020603050405020304" pitchFamily="18" charset="0"/>
              </a:rPr>
              <a:t>（</a:t>
            </a:r>
            <a:r>
              <a:rPr lang="en-US" altLang="zh-CN" b="1">
                <a:latin typeface="Times New Roman" panose="02020603050405020304" pitchFamily="18" charset="0"/>
              </a:rPr>
              <a:t>15 kΩ</a:t>
            </a:r>
            <a:r>
              <a:rPr lang="zh-CN" altLang="en-US" b="1">
                <a:latin typeface="Times New Roman" panose="02020603050405020304" pitchFamily="18" charset="0"/>
              </a:rPr>
              <a:t>）</a:t>
            </a:r>
            <a:r>
              <a:rPr lang="zh-CN" altLang="en-US" b="1" dirty="0">
                <a:latin typeface="Times New Roman" panose="02020603050405020304" pitchFamily="18" charset="0"/>
              </a:rPr>
              <a:t>构成。 </a:t>
            </a:r>
            <a:endParaRPr lang="zh-CN" altLang="en-US" b="1">
              <a:latin typeface="Times New Roman" panose="02020603050405020304" pitchFamily="18" charset="0"/>
            </a:endParaRPr>
          </a:p>
        </p:txBody>
      </p:sp>
    </p:spTree>
  </p:cSld>
  <p:clrMapOvr>
    <a:masterClrMapping/>
  </p:clrMapOvr>
  <p:transition>
    <p:blinds dir="vert"/>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9156" name="文本框 49155"/>
          <p:cNvSpPr txBox="1"/>
          <p:nvPr/>
        </p:nvSpPr>
        <p:spPr>
          <a:xfrm>
            <a:off x="2239963" y="5943600"/>
            <a:ext cx="4816475" cy="457200"/>
          </a:xfrm>
          <a:prstGeom prst="rect">
            <a:avLst/>
          </a:prstGeom>
          <a:noFill/>
          <a:ln w="9525">
            <a:noFill/>
          </a:ln>
        </p:spPr>
        <p:txBody>
          <a:bodyPr wrap="none" anchor="t" anchorCtr="0">
            <a:spAutoFit/>
          </a:bodyPr>
          <a:p>
            <a:r>
              <a:rPr lang="zh-CN" altLang="en-US" dirty="0">
                <a:latin typeface="Times New Roman" panose="02020603050405020304" pitchFamily="18" charset="0"/>
              </a:rPr>
              <a:t>图 </a:t>
            </a:r>
            <a:r>
              <a:rPr lang="en-US" altLang="zh-CN">
                <a:latin typeface="Times New Roman" panose="02020603050405020304" pitchFamily="18" charset="0"/>
              </a:rPr>
              <a:t>11-14  DAC0832</a:t>
            </a:r>
            <a:r>
              <a:rPr lang="zh-CN" altLang="en-US" dirty="0">
                <a:latin typeface="Times New Roman" panose="02020603050405020304" pitchFamily="18" charset="0"/>
              </a:rPr>
              <a:t>的内部组成框图</a:t>
            </a:r>
            <a:endParaRPr lang="zh-CN" altLang="en-US">
              <a:latin typeface="Times New Roman" panose="02020603050405020304" pitchFamily="18" charset="0"/>
            </a:endParaRPr>
          </a:p>
        </p:txBody>
      </p:sp>
      <p:graphicFrame>
        <p:nvGraphicFramePr>
          <p:cNvPr id="49157" name="对象 49156"/>
          <p:cNvGraphicFramePr/>
          <p:nvPr/>
        </p:nvGraphicFramePr>
        <p:xfrm>
          <a:off x="533400" y="584200"/>
          <a:ext cx="8305800" cy="5283200"/>
        </p:xfrm>
        <a:graphic>
          <a:graphicData uri="http://schemas.openxmlformats.org/presentationml/2006/ole">
            <mc:AlternateContent xmlns:mc="http://schemas.openxmlformats.org/markup-compatibility/2006">
              <mc:Choice xmlns:v="urn:schemas-microsoft-com:vml" Requires="v">
                <p:oleObj spid="_x0000_s3099" name="" r:id="rId1" imgW="4061460" imgH="2583180" progId="Visio.Drawing.4">
                  <p:embed/>
                </p:oleObj>
              </mc:Choice>
              <mc:Fallback>
                <p:oleObj name="" r:id="rId1" imgW="4061460" imgH="2583180" progId="Visio.Drawing.4">
                  <p:embed/>
                  <p:pic>
                    <p:nvPicPr>
                      <p:cNvPr id="0" name="图片 3098"/>
                      <p:cNvPicPr/>
                      <p:nvPr/>
                    </p:nvPicPr>
                    <p:blipFill>
                      <a:blip r:embed="rId2"/>
                      <a:stretch>
                        <a:fillRect/>
                      </a:stretch>
                    </p:blipFill>
                    <p:spPr>
                      <a:xfrm>
                        <a:off x="533400" y="584200"/>
                        <a:ext cx="8305800" cy="5283200"/>
                      </a:xfrm>
                      <a:prstGeom prst="rect">
                        <a:avLst/>
                      </a:prstGeom>
                      <a:noFill/>
                      <a:ln w="38100">
                        <a:noFill/>
                        <a:miter/>
                      </a:ln>
                    </p:spPr>
                  </p:pic>
                </p:oleObj>
              </mc:Fallback>
            </mc:AlternateContent>
          </a:graphicData>
        </a:graphic>
      </p:graphicFrame>
    </p:spTree>
  </p:cSld>
  <p:clrMapOvr>
    <a:masterClrMapping/>
  </p:clrMapOvr>
  <p:transition>
    <p:blinds dir="vert"/>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48148" name="组合 48147"/>
          <p:cNvGrpSpPr/>
          <p:nvPr/>
        </p:nvGrpSpPr>
        <p:grpSpPr>
          <a:xfrm>
            <a:off x="228600" y="381000"/>
            <a:ext cx="8915400" cy="6080125"/>
            <a:chOff x="144" y="240"/>
            <a:chExt cx="5616" cy="3830"/>
          </a:xfrm>
        </p:grpSpPr>
        <p:sp>
          <p:nvSpPr>
            <p:cNvPr id="48132" name="文本框 48131"/>
            <p:cNvSpPr txBox="1"/>
            <p:nvPr/>
          </p:nvSpPr>
          <p:spPr>
            <a:xfrm>
              <a:off x="144" y="240"/>
              <a:ext cx="5616" cy="3830"/>
            </a:xfrm>
            <a:prstGeom prst="rect">
              <a:avLst/>
            </a:prstGeom>
            <a:noFill/>
            <a:ln w="9525">
              <a:noFill/>
            </a:ln>
          </p:spPr>
          <p:txBody>
            <a:bodyPr>
              <a:spAutoFit/>
            </a:bodyPr>
            <a:p>
              <a:pPr>
                <a:lnSpc>
                  <a:spcPct val="140000"/>
                </a:lnSpc>
                <a:spcBef>
                  <a:spcPct val="50000"/>
                </a:spcBef>
              </a:pPr>
              <a:r>
                <a:rPr lang="en-US" altLang="zh-CN" dirty="0">
                  <a:latin typeface="Times New Roman" panose="02020603050405020304" pitchFamily="18" charset="0"/>
                </a:rPr>
                <a:t>       </a:t>
              </a:r>
              <a:r>
                <a:rPr lang="en-US" altLang="zh-CN" b="1">
                  <a:latin typeface="Times New Roman" panose="02020603050405020304" pitchFamily="18" charset="0"/>
                </a:rPr>
                <a:t>① </a:t>
              </a:r>
              <a:r>
                <a:rPr lang="zh-CN" altLang="en-US" b="1" dirty="0">
                  <a:latin typeface="Times New Roman" panose="02020603050405020304" pitchFamily="18" charset="0"/>
                </a:rPr>
                <a:t>控制信号： </a:t>
              </a:r>
              <a:endParaRPr lang="zh-CN" altLang="en-US" b="1" dirty="0">
                <a:latin typeface="Times New Roman" panose="02020603050405020304" pitchFamily="18" charset="0"/>
              </a:endParaRPr>
            </a:p>
            <a:p>
              <a:pPr>
                <a:lnSpc>
                  <a:spcPct val="140000"/>
                </a:lnSpc>
                <a:spcBef>
                  <a:spcPct val="50000"/>
                </a:spcBef>
              </a:pPr>
              <a:r>
                <a:rPr lang="zh-CN" altLang="en-US" b="1" dirty="0">
                  <a:latin typeface="Times New Roman" panose="02020603050405020304" pitchFamily="18" charset="0"/>
                </a:rPr>
                <a:t>   </a:t>
              </a:r>
              <a:r>
                <a:rPr lang="en-US" altLang="zh-CN" b="1">
                  <a:latin typeface="Times New Roman" panose="02020603050405020304" pitchFamily="18" charset="0"/>
                </a:rPr>
                <a:t>CS</a:t>
              </a:r>
              <a:r>
                <a:rPr lang="zh-CN" altLang="en-US" b="1">
                  <a:latin typeface="Times New Roman" panose="02020603050405020304" pitchFamily="18" charset="0"/>
                </a:rPr>
                <a:t>、</a:t>
              </a:r>
              <a:r>
                <a:rPr lang="en-US" altLang="zh-CN" b="1">
                  <a:latin typeface="Times New Roman" panose="02020603050405020304" pitchFamily="18" charset="0"/>
                </a:rPr>
                <a:t>ILE</a:t>
              </a:r>
              <a:r>
                <a:rPr lang="zh-CN" altLang="en-US" b="1">
                  <a:latin typeface="Times New Roman" panose="02020603050405020304" pitchFamily="18" charset="0"/>
                </a:rPr>
                <a:t>、</a:t>
              </a:r>
              <a:r>
                <a:rPr lang="en-US" altLang="zh-CN" b="1">
                  <a:latin typeface="Times New Roman" panose="02020603050405020304" pitchFamily="18" charset="0"/>
                </a:rPr>
                <a:t>WR</a:t>
              </a:r>
              <a:r>
                <a:rPr lang="en-US" altLang="zh-CN" b="1" baseline="-25000">
                  <a:latin typeface="Times New Roman" panose="02020603050405020304" pitchFamily="18" charset="0"/>
                </a:rPr>
                <a:t>1</a:t>
              </a:r>
              <a:r>
                <a:rPr lang="en-US" altLang="zh-CN" b="1">
                  <a:latin typeface="Times New Roman" panose="02020603050405020304" pitchFamily="18" charset="0"/>
                </a:rPr>
                <a:t> </a:t>
              </a:r>
              <a:r>
                <a:rPr lang="zh-CN" altLang="en-US" b="1" dirty="0">
                  <a:latin typeface="Times New Roman" panose="02020603050405020304" pitchFamily="18" charset="0"/>
                </a:rPr>
                <a:t>这三个信号在一起配合使用，用于控制对输入锁存器的操作。</a:t>
              </a:r>
              <a:r>
                <a:rPr lang="en-US" altLang="zh-CN" b="1">
                  <a:latin typeface="Times New Roman" panose="02020603050405020304" pitchFamily="18" charset="0"/>
                </a:rPr>
                <a:t>CS</a:t>
              </a:r>
              <a:r>
                <a:rPr lang="zh-CN" altLang="en-US" b="1" dirty="0">
                  <a:latin typeface="Times New Roman" panose="02020603050405020304" pitchFamily="18" charset="0"/>
                </a:rPr>
                <a:t>为片选信号，低电平有效；</a:t>
              </a:r>
              <a:r>
                <a:rPr lang="en-US" altLang="zh-CN" b="1">
                  <a:latin typeface="Times New Roman" panose="02020603050405020304" pitchFamily="18" charset="0"/>
                </a:rPr>
                <a:t>ILE</a:t>
              </a:r>
              <a:r>
                <a:rPr lang="zh-CN" altLang="en-US" b="1" dirty="0">
                  <a:latin typeface="Times New Roman" panose="02020603050405020304" pitchFamily="18" charset="0"/>
                </a:rPr>
                <a:t>为输入锁存允许信号，高电平有效；</a:t>
              </a:r>
              <a:r>
                <a:rPr lang="en-US" altLang="zh-CN" b="1">
                  <a:latin typeface="Times New Roman" panose="02020603050405020304" pitchFamily="18" charset="0"/>
                </a:rPr>
                <a:t>WR</a:t>
              </a:r>
              <a:r>
                <a:rPr lang="en-US" altLang="zh-CN" b="1" baseline="-25000">
                  <a:latin typeface="Times New Roman" panose="02020603050405020304" pitchFamily="18" charset="0"/>
                </a:rPr>
                <a:t>1</a:t>
              </a:r>
              <a:r>
                <a:rPr lang="zh-CN" altLang="en-US" b="1" dirty="0">
                  <a:latin typeface="Times New Roman" panose="02020603050405020304" pitchFamily="18" charset="0"/>
                </a:rPr>
                <a:t>为输入锁存器的写信号，低电平有效。 只有当</a:t>
              </a:r>
              <a:r>
                <a:rPr lang="en-US" altLang="zh-CN" b="1">
                  <a:latin typeface="Times New Roman" panose="02020603050405020304" pitchFamily="18" charset="0"/>
                </a:rPr>
                <a:t>CS</a:t>
              </a:r>
              <a:r>
                <a:rPr lang="zh-CN" altLang="en-US" b="1">
                  <a:latin typeface="Times New Roman" panose="02020603050405020304" pitchFamily="18" charset="0"/>
                </a:rPr>
                <a:t>、</a:t>
              </a:r>
              <a:r>
                <a:rPr lang="en-US" altLang="zh-CN" b="1">
                  <a:latin typeface="Times New Roman" panose="02020603050405020304" pitchFamily="18" charset="0"/>
                </a:rPr>
                <a:t>ILE</a:t>
              </a:r>
              <a:r>
                <a:rPr lang="zh-CN" altLang="en-US" b="1">
                  <a:latin typeface="Times New Roman" panose="02020603050405020304" pitchFamily="18" charset="0"/>
                </a:rPr>
                <a:t>、</a:t>
              </a:r>
              <a:r>
                <a:rPr lang="en-US" altLang="zh-CN" b="1">
                  <a:latin typeface="Times New Roman" panose="02020603050405020304" pitchFamily="18" charset="0"/>
                </a:rPr>
                <a:t>WR</a:t>
              </a:r>
              <a:r>
                <a:rPr lang="en-US" altLang="zh-CN" b="1" baseline="-25000">
                  <a:latin typeface="Times New Roman" panose="02020603050405020304" pitchFamily="18" charset="0"/>
                </a:rPr>
                <a:t>1</a:t>
              </a:r>
              <a:r>
                <a:rPr lang="zh-CN" altLang="en-US" b="1" dirty="0">
                  <a:latin typeface="Times New Roman" panose="02020603050405020304" pitchFamily="18" charset="0"/>
                </a:rPr>
                <a:t>同时有效时，输入的数字量才能写入输入锁存器，并在</a:t>
              </a:r>
              <a:r>
                <a:rPr lang="en-US" altLang="zh-CN" b="1">
                  <a:latin typeface="Times New Roman" panose="02020603050405020304" pitchFamily="18" charset="0"/>
                </a:rPr>
                <a:t>WR</a:t>
              </a:r>
              <a:r>
                <a:rPr lang="en-US" altLang="zh-CN" b="1" baseline="-25000">
                  <a:latin typeface="Times New Roman" panose="02020603050405020304" pitchFamily="18" charset="0"/>
                </a:rPr>
                <a:t>1</a:t>
              </a:r>
              <a:r>
                <a:rPr lang="zh-CN" altLang="en-US" b="1" dirty="0">
                  <a:latin typeface="Times New Roman" panose="02020603050405020304" pitchFamily="18" charset="0"/>
                </a:rPr>
                <a:t>的上升沿实现数据锁存。 </a:t>
              </a:r>
              <a:endParaRPr lang="zh-CN" altLang="en-US" b="1" dirty="0">
                <a:latin typeface="Times New Roman" panose="02020603050405020304" pitchFamily="18" charset="0"/>
              </a:endParaRPr>
            </a:p>
            <a:p>
              <a:pPr>
                <a:lnSpc>
                  <a:spcPct val="140000"/>
                </a:lnSpc>
                <a:spcBef>
                  <a:spcPct val="50000"/>
                </a:spcBef>
              </a:pPr>
              <a:r>
                <a:rPr lang="zh-CN" altLang="en-US" b="1" dirty="0">
                  <a:latin typeface="Times New Roman" panose="02020603050405020304" pitchFamily="18" charset="0"/>
                </a:rPr>
                <a:t>         </a:t>
              </a:r>
              <a:r>
                <a:rPr lang="en-US" altLang="zh-CN" b="1">
                  <a:latin typeface="Times New Roman" panose="02020603050405020304" pitchFamily="18" charset="0"/>
                </a:rPr>
                <a:t>XFER</a:t>
              </a:r>
              <a:r>
                <a:rPr lang="zh-CN" altLang="en-US" b="1">
                  <a:latin typeface="Times New Roman" panose="02020603050405020304" pitchFamily="18" charset="0"/>
                </a:rPr>
                <a:t>、</a:t>
              </a:r>
              <a:r>
                <a:rPr lang="en-US" altLang="zh-CN" b="1">
                  <a:latin typeface="Times New Roman" panose="02020603050405020304" pitchFamily="18" charset="0"/>
                </a:rPr>
                <a:t>WR</a:t>
              </a:r>
              <a:r>
                <a:rPr lang="en-US" altLang="zh-CN" b="1" baseline="-25000">
                  <a:latin typeface="Times New Roman" panose="02020603050405020304" pitchFamily="18" charset="0"/>
                </a:rPr>
                <a:t>2</a:t>
              </a:r>
              <a:r>
                <a:rPr lang="zh-CN" altLang="en-US" b="1" dirty="0">
                  <a:latin typeface="Times New Roman" panose="02020603050405020304" pitchFamily="18" charset="0"/>
                </a:rPr>
                <a:t>这两个信号在一起配合使用，用于控制对</a:t>
              </a:r>
              <a:r>
                <a:rPr lang="en-US" altLang="zh-CN" b="1">
                  <a:latin typeface="Times New Roman" panose="02020603050405020304" pitchFamily="18" charset="0"/>
                </a:rPr>
                <a:t>D/A</a:t>
              </a:r>
              <a:r>
                <a:rPr lang="zh-CN" altLang="en-US" b="1" dirty="0">
                  <a:latin typeface="Times New Roman" panose="02020603050405020304" pitchFamily="18" charset="0"/>
                </a:rPr>
                <a:t>锁存器的操作。 </a:t>
              </a:r>
              <a:r>
                <a:rPr lang="en-US" altLang="zh-CN" b="1">
                  <a:latin typeface="Times New Roman" panose="02020603050405020304" pitchFamily="18" charset="0"/>
                </a:rPr>
                <a:t>XFER</a:t>
              </a:r>
              <a:r>
                <a:rPr lang="zh-CN" altLang="en-US" b="1" dirty="0">
                  <a:latin typeface="Times New Roman" panose="02020603050405020304" pitchFamily="18" charset="0"/>
                </a:rPr>
                <a:t>为传送控制信号，低电平有效；</a:t>
              </a:r>
              <a:r>
                <a:rPr lang="en-US" altLang="zh-CN" b="1">
                  <a:latin typeface="Times New Roman" panose="02020603050405020304" pitchFamily="18" charset="0"/>
                </a:rPr>
                <a:t>WR</a:t>
              </a:r>
              <a:r>
                <a:rPr lang="en-US" altLang="zh-CN" b="1" baseline="-25000">
                  <a:latin typeface="Times New Roman" panose="02020603050405020304" pitchFamily="18" charset="0"/>
                </a:rPr>
                <a:t>2</a:t>
              </a:r>
              <a:r>
                <a:rPr lang="en-US" altLang="zh-CN" b="1">
                  <a:latin typeface="Times New Roman" panose="02020603050405020304" pitchFamily="18" charset="0"/>
                </a:rPr>
                <a:t> </a:t>
              </a:r>
              <a:r>
                <a:rPr lang="zh-CN" altLang="en-US" b="1">
                  <a:latin typeface="Times New Roman" panose="02020603050405020304" pitchFamily="18" charset="0"/>
                </a:rPr>
                <a:t>为</a:t>
              </a:r>
              <a:r>
                <a:rPr lang="en-US" altLang="zh-CN" b="1">
                  <a:latin typeface="Times New Roman" panose="02020603050405020304" pitchFamily="18" charset="0"/>
                </a:rPr>
                <a:t>D/A</a:t>
              </a:r>
              <a:r>
                <a:rPr lang="zh-CN" altLang="en-US" b="1" dirty="0">
                  <a:latin typeface="Times New Roman" panose="02020603050405020304" pitchFamily="18" charset="0"/>
                </a:rPr>
                <a:t>锁存器的写信号，低电平有效。只有当</a:t>
              </a:r>
              <a:r>
                <a:rPr lang="en-US" altLang="zh-CN" b="1">
                  <a:latin typeface="Times New Roman" panose="02020603050405020304" pitchFamily="18" charset="0"/>
                </a:rPr>
                <a:t>XFER</a:t>
              </a:r>
              <a:r>
                <a:rPr lang="zh-CN" altLang="en-US" b="1">
                  <a:latin typeface="Times New Roman" panose="02020603050405020304" pitchFamily="18" charset="0"/>
                </a:rPr>
                <a:t>、</a:t>
              </a:r>
              <a:r>
                <a:rPr lang="en-US" altLang="zh-CN" b="1">
                  <a:latin typeface="Times New Roman" panose="02020603050405020304" pitchFamily="18" charset="0"/>
                </a:rPr>
                <a:t>WR</a:t>
              </a:r>
              <a:r>
                <a:rPr lang="en-US" altLang="zh-CN" b="1" baseline="-25000">
                  <a:latin typeface="Times New Roman" panose="02020603050405020304" pitchFamily="18" charset="0"/>
                </a:rPr>
                <a:t>2</a:t>
              </a:r>
              <a:r>
                <a:rPr lang="zh-CN" altLang="en-US" b="1" dirty="0">
                  <a:latin typeface="Times New Roman" panose="02020603050405020304" pitchFamily="18" charset="0"/>
                </a:rPr>
                <a:t>同时有效时，输入锁存器的数字量才能写入到</a:t>
              </a:r>
              <a:r>
                <a:rPr lang="en-US" altLang="zh-CN" b="1">
                  <a:latin typeface="Times New Roman" panose="02020603050405020304" pitchFamily="18" charset="0"/>
                </a:rPr>
                <a:t>D/A</a:t>
              </a:r>
              <a:r>
                <a:rPr lang="zh-CN" altLang="en-US" b="1" dirty="0">
                  <a:latin typeface="Times New Roman" panose="02020603050405020304" pitchFamily="18" charset="0"/>
                </a:rPr>
                <a:t>锁存器，并在</a:t>
              </a:r>
              <a:r>
                <a:rPr lang="en-US" altLang="zh-CN" b="1">
                  <a:latin typeface="Times New Roman" panose="02020603050405020304" pitchFamily="18" charset="0"/>
                </a:rPr>
                <a:t>WR</a:t>
              </a:r>
              <a:r>
                <a:rPr lang="en-US" altLang="zh-CN" b="1" baseline="-25000">
                  <a:latin typeface="Times New Roman" panose="02020603050405020304" pitchFamily="18" charset="0"/>
                </a:rPr>
                <a:t>2</a:t>
              </a:r>
              <a:r>
                <a:rPr lang="zh-CN" altLang="en-US" b="1" dirty="0">
                  <a:latin typeface="Times New Roman" panose="02020603050405020304" pitchFamily="18" charset="0"/>
                </a:rPr>
                <a:t>的上升沿实现数据锁存。 </a:t>
              </a:r>
              <a:endParaRPr lang="zh-CN" altLang="en-US" b="1">
                <a:latin typeface="Times New Roman" panose="02020603050405020304" pitchFamily="18" charset="0"/>
              </a:endParaRPr>
            </a:p>
          </p:txBody>
        </p:sp>
        <p:sp>
          <p:nvSpPr>
            <p:cNvPr id="48133" name="直接连接符 48132"/>
            <p:cNvSpPr/>
            <p:nvPr/>
          </p:nvSpPr>
          <p:spPr>
            <a:xfrm>
              <a:off x="528" y="800"/>
              <a:ext cx="240" cy="0"/>
            </a:xfrm>
            <a:prstGeom prst="line">
              <a:avLst/>
            </a:prstGeom>
            <a:ln w="9525" cap="flat" cmpd="sng">
              <a:solidFill>
                <a:schemeClr val="tx1"/>
              </a:solidFill>
              <a:prstDash val="solid"/>
              <a:headEnd type="none" w="med" len="med"/>
              <a:tailEnd type="none" w="med" len="med"/>
            </a:ln>
          </p:spPr>
        </p:sp>
        <p:sp>
          <p:nvSpPr>
            <p:cNvPr id="48135" name="直接连接符 48134"/>
            <p:cNvSpPr/>
            <p:nvPr/>
          </p:nvSpPr>
          <p:spPr>
            <a:xfrm>
              <a:off x="1440" y="800"/>
              <a:ext cx="336" cy="0"/>
            </a:xfrm>
            <a:prstGeom prst="line">
              <a:avLst/>
            </a:prstGeom>
            <a:ln w="9525" cap="flat" cmpd="sng">
              <a:solidFill>
                <a:schemeClr val="tx1"/>
              </a:solidFill>
              <a:prstDash val="solid"/>
              <a:headEnd type="none" w="med" len="med"/>
              <a:tailEnd type="none" w="med" len="med"/>
            </a:ln>
          </p:spPr>
        </p:sp>
        <p:sp>
          <p:nvSpPr>
            <p:cNvPr id="48136" name="直接连接符 48135"/>
            <p:cNvSpPr/>
            <p:nvPr/>
          </p:nvSpPr>
          <p:spPr>
            <a:xfrm>
              <a:off x="2304" y="1440"/>
              <a:ext cx="336" cy="0"/>
            </a:xfrm>
            <a:prstGeom prst="line">
              <a:avLst/>
            </a:prstGeom>
            <a:ln w="9525" cap="flat" cmpd="sng">
              <a:solidFill>
                <a:schemeClr val="tx1"/>
              </a:solidFill>
              <a:prstDash val="solid"/>
              <a:headEnd type="none" w="med" len="med"/>
              <a:tailEnd type="none" w="med" len="med"/>
            </a:ln>
          </p:spPr>
        </p:sp>
        <p:sp>
          <p:nvSpPr>
            <p:cNvPr id="48137" name="直接连接符 48136"/>
            <p:cNvSpPr/>
            <p:nvPr/>
          </p:nvSpPr>
          <p:spPr>
            <a:xfrm>
              <a:off x="1728" y="1112"/>
              <a:ext cx="240" cy="0"/>
            </a:xfrm>
            <a:prstGeom prst="line">
              <a:avLst/>
            </a:prstGeom>
            <a:ln w="9525" cap="flat" cmpd="sng">
              <a:solidFill>
                <a:schemeClr val="tx1"/>
              </a:solidFill>
              <a:prstDash val="solid"/>
              <a:headEnd type="none" w="med" len="med"/>
              <a:tailEnd type="none" w="med" len="med"/>
            </a:ln>
          </p:spPr>
        </p:sp>
        <p:sp>
          <p:nvSpPr>
            <p:cNvPr id="48138" name="直接连接符 48137"/>
            <p:cNvSpPr/>
            <p:nvPr/>
          </p:nvSpPr>
          <p:spPr>
            <a:xfrm>
              <a:off x="1200" y="1776"/>
              <a:ext cx="240" cy="0"/>
            </a:xfrm>
            <a:prstGeom prst="line">
              <a:avLst/>
            </a:prstGeom>
            <a:ln w="9525" cap="flat" cmpd="sng">
              <a:solidFill>
                <a:schemeClr val="tx1"/>
              </a:solidFill>
              <a:prstDash val="solid"/>
              <a:headEnd type="none" w="med" len="med"/>
              <a:tailEnd type="none" w="med" len="med"/>
            </a:ln>
          </p:spPr>
        </p:sp>
        <p:sp>
          <p:nvSpPr>
            <p:cNvPr id="48139" name="直接连接符 48138"/>
            <p:cNvSpPr/>
            <p:nvPr/>
          </p:nvSpPr>
          <p:spPr>
            <a:xfrm>
              <a:off x="2136" y="1760"/>
              <a:ext cx="288" cy="0"/>
            </a:xfrm>
            <a:prstGeom prst="line">
              <a:avLst/>
            </a:prstGeom>
            <a:ln w="9525" cap="flat" cmpd="sng">
              <a:solidFill>
                <a:schemeClr val="tx1"/>
              </a:solidFill>
              <a:prstDash val="solid"/>
              <a:headEnd type="none" w="med" len="med"/>
              <a:tailEnd type="none" w="med" len="med"/>
            </a:ln>
          </p:spPr>
        </p:sp>
        <p:sp>
          <p:nvSpPr>
            <p:cNvPr id="48140" name="直接连接符 48139"/>
            <p:cNvSpPr/>
            <p:nvPr/>
          </p:nvSpPr>
          <p:spPr>
            <a:xfrm>
              <a:off x="1720" y="2104"/>
              <a:ext cx="336" cy="0"/>
            </a:xfrm>
            <a:prstGeom prst="line">
              <a:avLst/>
            </a:prstGeom>
            <a:ln w="9525" cap="flat" cmpd="sng">
              <a:solidFill>
                <a:schemeClr val="tx1"/>
              </a:solidFill>
              <a:prstDash val="solid"/>
              <a:headEnd type="none" w="med" len="med"/>
              <a:tailEnd type="none" w="med" len="med"/>
            </a:ln>
          </p:spPr>
        </p:sp>
        <p:sp>
          <p:nvSpPr>
            <p:cNvPr id="48141" name="直接连接符 48140"/>
            <p:cNvSpPr/>
            <p:nvPr/>
          </p:nvSpPr>
          <p:spPr>
            <a:xfrm>
              <a:off x="656" y="2512"/>
              <a:ext cx="432" cy="0"/>
            </a:xfrm>
            <a:prstGeom prst="line">
              <a:avLst/>
            </a:prstGeom>
            <a:ln w="9525" cap="flat" cmpd="sng">
              <a:solidFill>
                <a:schemeClr val="tx1"/>
              </a:solidFill>
              <a:prstDash val="solid"/>
              <a:headEnd type="none" w="med" len="med"/>
              <a:tailEnd type="none" w="med" len="med"/>
            </a:ln>
          </p:spPr>
        </p:sp>
        <p:sp>
          <p:nvSpPr>
            <p:cNvPr id="48142" name="直接连接符 48141"/>
            <p:cNvSpPr/>
            <p:nvPr/>
          </p:nvSpPr>
          <p:spPr>
            <a:xfrm>
              <a:off x="1312" y="2528"/>
              <a:ext cx="336" cy="0"/>
            </a:xfrm>
            <a:prstGeom prst="line">
              <a:avLst/>
            </a:prstGeom>
            <a:ln w="9525" cap="flat" cmpd="sng">
              <a:solidFill>
                <a:schemeClr val="tx1"/>
              </a:solidFill>
              <a:prstDash val="solid"/>
              <a:headEnd type="none" w="med" len="med"/>
              <a:tailEnd type="none" w="med" len="med"/>
            </a:ln>
          </p:spPr>
        </p:sp>
        <p:sp>
          <p:nvSpPr>
            <p:cNvPr id="48143" name="直接连接符 48142"/>
            <p:cNvSpPr/>
            <p:nvPr/>
          </p:nvSpPr>
          <p:spPr>
            <a:xfrm>
              <a:off x="1392" y="2840"/>
              <a:ext cx="480" cy="0"/>
            </a:xfrm>
            <a:prstGeom prst="line">
              <a:avLst/>
            </a:prstGeom>
            <a:ln w="9525" cap="flat" cmpd="sng">
              <a:solidFill>
                <a:schemeClr val="tx1"/>
              </a:solidFill>
              <a:prstDash val="solid"/>
              <a:headEnd type="none" w="med" len="med"/>
              <a:tailEnd type="none" w="med" len="med"/>
            </a:ln>
          </p:spPr>
        </p:sp>
        <p:sp>
          <p:nvSpPr>
            <p:cNvPr id="48144" name="直接连接符 48143"/>
            <p:cNvSpPr/>
            <p:nvPr/>
          </p:nvSpPr>
          <p:spPr>
            <a:xfrm>
              <a:off x="4568" y="2832"/>
              <a:ext cx="336" cy="0"/>
            </a:xfrm>
            <a:prstGeom prst="line">
              <a:avLst/>
            </a:prstGeom>
            <a:ln w="9525" cap="flat" cmpd="sng">
              <a:solidFill>
                <a:schemeClr val="tx1"/>
              </a:solidFill>
              <a:prstDash val="solid"/>
              <a:headEnd type="none" w="med" len="med"/>
              <a:tailEnd type="none" w="med" len="med"/>
            </a:ln>
          </p:spPr>
        </p:sp>
        <p:sp>
          <p:nvSpPr>
            <p:cNvPr id="48145" name="直接连接符 48144"/>
            <p:cNvSpPr/>
            <p:nvPr/>
          </p:nvSpPr>
          <p:spPr>
            <a:xfrm>
              <a:off x="3456" y="3168"/>
              <a:ext cx="480" cy="0"/>
            </a:xfrm>
            <a:prstGeom prst="line">
              <a:avLst/>
            </a:prstGeom>
            <a:ln w="9525" cap="flat" cmpd="sng">
              <a:solidFill>
                <a:schemeClr val="tx1"/>
              </a:solidFill>
              <a:prstDash val="solid"/>
              <a:headEnd type="none" w="med" len="med"/>
              <a:tailEnd type="none" w="med" len="med"/>
            </a:ln>
          </p:spPr>
        </p:sp>
        <p:sp>
          <p:nvSpPr>
            <p:cNvPr id="48146" name="直接连接符 48145"/>
            <p:cNvSpPr/>
            <p:nvPr/>
          </p:nvSpPr>
          <p:spPr>
            <a:xfrm>
              <a:off x="4128" y="3168"/>
              <a:ext cx="336" cy="0"/>
            </a:xfrm>
            <a:prstGeom prst="line">
              <a:avLst/>
            </a:prstGeom>
            <a:ln w="9525" cap="flat" cmpd="sng">
              <a:solidFill>
                <a:schemeClr val="tx1"/>
              </a:solidFill>
              <a:prstDash val="solid"/>
              <a:headEnd type="none" w="med" len="med"/>
              <a:tailEnd type="none" w="med" len="med"/>
            </a:ln>
          </p:spPr>
        </p:sp>
        <p:sp>
          <p:nvSpPr>
            <p:cNvPr id="48147" name="直接连接符 48146"/>
            <p:cNvSpPr/>
            <p:nvPr/>
          </p:nvSpPr>
          <p:spPr>
            <a:xfrm>
              <a:off x="4368" y="3504"/>
              <a:ext cx="288" cy="0"/>
            </a:xfrm>
            <a:prstGeom prst="line">
              <a:avLst/>
            </a:prstGeom>
            <a:ln w="9525" cap="flat" cmpd="sng">
              <a:solidFill>
                <a:schemeClr val="tx1"/>
              </a:solidFill>
              <a:prstDash val="solid"/>
              <a:headEnd type="none" w="med" len="med"/>
              <a:tailEnd type="none" w="med" len="med"/>
            </a:ln>
          </p:spPr>
        </p:sp>
      </p:grpSp>
    </p:spTree>
  </p:cSld>
  <p:clrMapOvr>
    <a:masterClrMapping/>
  </p:clrMapOvr>
  <p:transition>
    <p:blinds dir="vert"/>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04" name="文本框 51203"/>
          <p:cNvSpPr txBox="1"/>
          <p:nvPr/>
        </p:nvSpPr>
        <p:spPr>
          <a:xfrm>
            <a:off x="228600" y="457200"/>
            <a:ext cx="8763000" cy="5751513"/>
          </a:xfrm>
          <a:prstGeom prst="rect">
            <a:avLst/>
          </a:prstGeom>
          <a:noFill/>
          <a:ln w="9525">
            <a:noFill/>
          </a:ln>
        </p:spPr>
        <p:txBody>
          <a:bodyPr>
            <a:spAutoFit/>
          </a:bodyPr>
          <a:p>
            <a:pPr>
              <a:lnSpc>
                <a:spcPct val="150000"/>
              </a:lnSpc>
              <a:spcBef>
                <a:spcPct val="50000"/>
              </a:spcBef>
            </a:pPr>
            <a:r>
              <a:rPr lang="en-US" altLang="zh-CN" dirty="0">
                <a:latin typeface="Times New Roman" panose="02020603050405020304" pitchFamily="18" charset="0"/>
              </a:rPr>
              <a:t>       </a:t>
            </a:r>
            <a:r>
              <a:rPr lang="en-US" altLang="zh-CN" b="1">
                <a:latin typeface="Times New Roman" panose="02020603050405020304" pitchFamily="18" charset="0"/>
              </a:rPr>
              <a:t>② </a:t>
            </a:r>
            <a:r>
              <a:rPr lang="zh-CN" altLang="en-US" b="1" dirty="0">
                <a:latin typeface="Times New Roman" panose="02020603050405020304" pitchFamily="18" charset="0"/>
              </a:rPr>
              <a:t>输入数字量</a:t>
            </a:r>
            <a:r>
              <a:rPr lang="en-US" altLang="zh-CN" b="1">
                <a:latin typeface="Times New Roman" panose="02020603050405020304" pitchFamily="18" charset="0"/>
              </a:rPr>
              <a:t>: </a:t>
            </a:r>
            <a:endParaRPr lang="en-US" altLang="zh-CN" b="1">
              <a:latin typeface="Times New Roman" panose="02020603050405020304" pitchFamily="18" charset="0"/>
            </a:endParaRPr>
          </a:p>
          <a:p>
            <a:pPr>
              <a:lnSpc>
                <a:spcPct val="150000"/>
              </a:lnSpc>
              <a:spcBef>
                <a:spcPct val="50000"/>
              </a:spcBef>
            </a:pPr>
            <a:r>
              <a:rPr lang="en-US" altLang="zh-CN" b="1">
                <a:latin typeface="Times New Roman" panose="02020603050405020304" pitchFamily="18" charset="0"/>
              </a:rPr>
              <a:t>        DI</a:t>
            </a:r>
            <a:r>
              <a:rPr lang="en-US" altLang="zh-CN" b="1" baseline="-25000">
                <a:latin typeface="Times New Roman" panose="02020603050405020304" pitchFamily="18" charset="0"/>
              </a:rPr>
              <a:t>0</a:t>
            </a:r>
            <a:r>
              <a:rPr lang="zh-CN" altLang="en-US" b="1">
                <a:latin typeface="Times New Roman" panose="02020603050405020304" pitchFamily="18" charset="0"/>
              </a:rPr>
              <a:t>～</a:t>
            </a:r>
            <a:r>
              <a:rPr lang="en-US" altLang="zh-CN" b="1">
                <a:latin typeface="Times New Roman" panose="02020603050405020304" pitchFamily="18" charset="0"/>
              </a:rPr>
              <a:t>DI</a:t>
            </a:r>
            <a:r>
              <a:rPr lang="en-US" altLang="zh-CN" b="1" baseline="-25000">
                <a:latin typeface="Times New Roman" panose="02020603050405020304" pitchFamily="18" charset="0"/>
              </a:rPr>
              <a:t>7</a:t>
            </a:r>
            <a:r>
              <a:rPr lang="zh-CN" altLang="en-US" b="1" dirty="0">
                <a:latin typeface="Times New Roman" panose="02020603050405020304" pitchFamily="18" charset="0"/>
              </a:rPr>
              <a:t>是</a:t>
            </a:r>
            <a:r>
              <a:rPr lang="en-US" altLang="zh-CN" b="1">
                <a:latin typeface="Times New Roman" panose="02020603050405020304" pitchFamily="18" charset="0"/>
              </a:rPr>
              <a:t>8</a:t>
            </a:r>
            <a:r>
              <a:rPr lang="zh-CN" altLang="en-US" b="1" dirty="0">
                <a:latin typeface="Times New Roman" panose="02020603050405020304" pitchFamily="18" charset="0"/>
              </a:rPr>
              <a:t>位数字量输入（自然二进制码），其中，</a:t>
            </a:r>
            <a:r>
              <a:rPr lang="en-US" altLang="zh-CN" b="1">
                <a:latin typeface="Times New Roman" panose="02020603050405020304" pitchFamily="18" charset="0"/>
              </a:rPr>
              <a:t>DI</a:t>
            </a:r>
            <a:r>
              <a:rPr lang="en-US" altLang="zh-CN" b="1" baseline="-25000">
                <a:latin typeface="Times New Roman" panose="02020603050405020304" pitchFamily="18" charset="0"/>
              </a:rPr>
              <a:t>0</a:t>
            </a:r>
            <a:r>
              <a:rPr lang="zh-CN" altLang="en-US" b="1" dirty="0">
                <a:latin typeface="Times New Roman" panose="02020603050405020304" pitchFamily="18" charset="0"/>
              </a:rPr>
              <a:t>为最低位，</a:t>
            </a:r>
            <a:r>
              <a:rPr lang="en-US" altLang="zh-CN" b="1">
                <a:latin typeface="Times New Roman" panose="02020603050405020304" pitchFamily="18" charset="0"/>
              </a:rPr>
              <a:t>DI</a:t>
            </a:r>
            <a:r>
              <a:rPr lang="en-US" altLang="zh-CN" b="1" baseline="-25000">
                <a:latin typeface="Times New Roman" panose="02020603050405020304" pitchFamily="18" charset="0"/>
              </a:rPr>
              <a:t>7</a:t>
            </a:r>
            <a:r>
              <a:rPr lang="zh-CN" altLang="en-US" b="1" dirty="0">
                <a:latin typeface="Times New Roman" panose="02020603050405020304" pitchFamily="18" charset="0"/>
              </a:rPr>
              <a:t>为最高位。 </a:t>
            </a:r>
            <a:endParaRPr lang="zh-CN" altLang="en-US" b="1" dirty="0">
              <a:latin typeface="Times New Roman" panose="02020603050405020304" pitchFamily="18" charset="0"/>
            </a:endParaRPr>
          </a:p>
          <a:p>
            <a:pPr>
              <a:lnSpc>
                <a:spcPct val="150000"/>
              </a:lnSpc>
              <a:spcBef>
                <a:spcPct val="50000"/>
              </a:spcBef>
            </a:pPr>
            <a:r>
              <a:rPr lang="zh-CN" altLang="en-US" b="1" dirty="0">
                <a:latin typeface="Times New Roman" panose="02020603050405020304" pitchFamily="18" charset="0"/>
              </a:rPr>
              <a:t>      </a:t>
            </a:r>
            <a:r>
              <a:rPr lang="en-US" altLang="zh-CN" b="1">
                <a:latin typeface="Times New Roman" panose="02020603050405020304" pitchFamily="18" charset="0"/>
              </a:rPr>
              <a:t>③ </a:t>
            </a:r>
            <a:r>
              <a:rPr lang="zh-CN" altLang="en-US" b="1" dirty="0">
                <a:latin typeface="Times New Roman" panose="02020603050405020304" pitchFamily="18" charset="0"/>
              </a:rPr>
              <a:t>输出模拟量</a:t>
            </a:r>
            <a:r>
              <a:rPr lang="en-US" altLang="zh-CN" b="1">
                <a:latin typeface="Times New Roman" panose="02020603050405020304" pitchFamily="18" charset="0"/>
              </a:rPr>
              <a:t>: </a:t>
            </a:r>
            <a:endParaRPr lang="en-US" altLang="zh-CN" b="1">
              <a:latin typeface="Times New Roman" panose="02020603050405020304" pitchFamily="18" charset="0"/>
            </a:endParaRPr>
          </a:p>
          <a:p>
            <a:pPr>
              <a:lnSpc>
                <a:spcPct val="150000"/>
              </a:lnSpc>
              <a:spcBef>
                <a:spcPct val="50000"/>
              </a:spcBef>
            </a:pPr>
            <a:r>
              <a:rPr lang="en-US" altLang="zh-CN" b="1">
                <a:latin typeface="Times New Roman" panose="02020603050405020304" pitchFamily="18" charset="0"/>
              </a:rPr>
              <a:t>       I</a:t>
            </a:r>
            <a:r>
              <a:rPr lang="en-US" altLang="zh-CN" b="1" baseline="-25000">
                <a:latin typeface="Times New Roman" panose="02020603050405020304" pitchFamily="18" charset="0"/>
              </a:rPr>
              <a:t>OUT1</a:t>
            </a:r>
            <a:r>
              <a:rPr lang="zh-CN" altLang="en-US" b="1">
                <a:latin typeface="Times New Roman" panose="02020603050405020304" pitchFamily="18" charset="0"/>
              </a:rPr>
              <a:t>是</a:t>
            </a:r>
            <a:r>
              <a:rPr lang="en-US" altLang="zh-CN" b="1">
                <a:latin typeface="Times New Roman" panose="02020603050405020304" pitchFamily="18" charset="0"/>
              </a:rPr>
              <a:t>DAC</a:t>
            </a:r>
            <a:r>
              <a:rPr lang="zh-CN" altLang="en-US" b="1" dirty="0">
                <a:latin typeface="Times New Roman" panose="02020603050405020304" pitchFamily="18" charset="0"/>
              </a:rPr>
              <a:t>输出电流</a:t>
            </a:r>
            <a:r>
              <a:rPr lang="en-US" altLang="zh-CN" b="1">
                <a:latin typeface="Times New Roman" panose="02020603050405020304" pitchFamily="18" charset="0"/>
              </a:rPr>
              <a:t>1</a:t>
            </a:r>
            <a:r>
              <a:rPr lang="zh-CN" altLang="en-US" b="1" dirty="0">
                <a:latin typeface="Times New Roman" panose="02020603050405020304" pitchFamily="18" charset="0"/>
              </a:rPr>
              <a:t>。当</a:t>
            </a:r>
            <a:r>
              <a:rPr lang="en-US" altLang="zh-CN" b="1">
                <a:latin typeface="Times New Roman" panose="02020603050405020304" pitchFamily="18" charset="0"/>
              </a:rPr>
              <a:t>D/A</a:t>
            </a:r>
            <a:r>
              <a:rPr lang="zh-CN" altLang="en-US" b="1" dirty="0">
                <a:latin typeface="Times New Roman" panose="02020603050405020304" pitchFamily="18" charset="0"/>
              </a:rPr>
              <a:t>锁存器中的数据全为</a:t>
            </a:r>
            <a:r>
              <a:rPr lang="en-US" altLang="zh-CN" b="1">
                <a:latin typeface="Times New Roman" panose="02020603050405020304" pitchFamily="18" charset="0"/>
              </a:rPr>
              <a:t>1</a:t>
            </a:r>
            <a:r>
              <a:rPr lang="zh-CN" altLang="en-US" b="1" dirty="0">
                <a:latin typeface="Times New Roman" panose="02020603050405020304" pitchFamily="18" charset="0"/>
              </a:rPr>
              <a:t>时，</a:t>
            </a:r>
            <a:r>
              <a:rPr lang="en-US" altLang="zh-CN" b="1">
                <a:latin typeface="Times New Roman" panose="02020603050405020304" pitchFamily="18" charset="0"/>
              </a:rPr>
              <a:t>I</a:t>
            </a:r>
            <a:r>
              <a:rPr lang="en-US" altLang="zh-CN" b="1" baseline="-25000">
                <a:latin typeface="Times New Roman" panose="02020603050405020304" pitchFamily="18" charset="0"/>
              </a:rPr>
              <a:t>OUT1</a:t>
            </a:r>
            <a:r>
              <a:rPr lang="zh-CN" altLang="en-US" b="1" dirty="0">
                <a:latin typeface="Times New Roman" panose="02020603050405020304" pitchFamily="18" charset="0"/>
              </a:rPr>
              <a:t>最大（满量程输出）； 当</a:t>
            </a:r>
            <a:r>
              <a:rPr lang="en-US" altLang="zh-CN" b="1">
                <a:latin typeface="Times New Roman" panose="02020603050405020304" pitchFamily="18" charset="0"/>
              </a:rPr>
              <a:t>D/A</a:t>
            </a:r>
            <a:r>
              <a:rPr lang="zh-CN" altLang="en-US" b="1" dirty="0">
                <a:latin typeface="Times New Roman" panose="02020603050405020304" pitchFamily="18" charset="0"/>
              </a:rPr>
              <a:t>锁存器中的数据全为</a:t>
            </a:r>
            <a:r>
              <a:rPr lang="en-US" altLang="zh-CN" b="1">
                <a:latin typeface="Times New Roman" panose="02020603050405020304" pitchFamily="18" charset="0"/>
              </a:rPr>
              <a:t>0</a:t>
            </a:r>
            <a:r>
              <a:rPr lang="zh-CN" altLang="en-US" b="1" dirty="0">
                <a:latin typeface="Times New Roman" panose="02020603050405020304" pitchFamily="18" charset="0"/>
              </a:rPr>
              <a:t>时，</a:t>
            </a:r>
            <a:r>
              <a:rPr lang="en-US" altLang="zh-CN" b="1">
                <a:latin typeface="Times New Roman" panose="02020603050405020304" pitchFamily="18" charset="0"/>
              </a:rPr>
              <a:t>I</a:t>
            </a:r>
            <a:r>
              <a:rPr lang="en-US" altLang="zh-CN" b="1" baseline="-25000">
                <a:latin typeface="Times New Roman" panose="02020603050405020304" pitchFamily="18" charset="0"/>
              </a:rPr>
              <a:t>OUT1</a:t>
            </a:r>
            <a:r>
              <a:rPr lang="en-US" altLang="zh-CN" b="1">
                <a:latin typeface="Times New Roman" panose="02020603050405020304" pitchFamily="18" charset="0"/>
              </a:rPr>
              <a:t> = 0</a:t>
            </a:r>
            <a:r>
              <a:rPr lang="zh-CN" altLang="en-US" b="1">
                <a:latin typeface="Times New Roman" panose="02020603050405020304" pitchFamily="18" charset="0"/>
              </a:rPr>
              <a:t>。 </a:t>
            </a:r>
            <a:endParaRPr lang="zh-CN" altLang="en-US" b="1">
              <a:latin typeface="Times New Roman" panose="02020603050405020304" pitchFamily="18" charset="0"/>
            </a:endParaRPr>
          </a:p>
          <a:p>
            <a:pPr>
              <a:lnSpc>
                <a:spcPct val="150000"/>
              </a:lnSpc>
              <a:spcBef>
                <a:spcPct val="50000"/>
              </a:spcBef>
            </a:pPr>
            <a:r>
              <a:rPr lang="zh-CN" altLang="en-US" b="1">
                <a:latin typeface="Times New Roman" panose="02020603050405020304" pitchFamily="18" charset="0"/>
              </a:rPr>
              <a:t>       </a:t>
            </a:r>
            <a:r>
              <a:rPr lang="en-US" altLang="zh-CN" b="1">
                <a:latin typeface="Times New Roman" panose="02020603050405020304" pitchFamily="18" charset="0"/>
              </a:rPr>
              <a:t>I</a:t>
            </a:r>
            <a:r>
              <a:rPr lang="en-US" altLang="zh-CN" b="1" baseline="-25000">
                <a:latin typeface="Times New Roman" panose="02020603050405020304" pitchFamily="18" charset="0"/>
              </a:rPr>
              <a:t>OUT2</a:t>
            </a:r>
            <a:r>
              <a:rPr lang="zh-CN" altLang="en-US" b="1">
                <a:latin typeface="Times New Roman" panose="02020603050405020304" pitchFamily="18" charset="0"/>
              </a:rPr>
              <a:t>是</a:t>
            </a:r>
            <a:r>
              <a:rPr lang="en-US" altLang="zh-CN" b="1">
                <a:latin typeface="Times New Roman" panose="02020603050405020304" pitchFamily="18" charset="0"/>
              </a:rPr>
              <a:t>DAC</a:t>
            </a:r>
            <a:r>
              <a:rPr lang="zh-CN" altLang="en-US" b="1" dirty="0">
                <a:latin typeface="Times New Roman" panose="02020603050405020304" pitchFamily="18" charset="0"/>
              </a:rPr>
              <a:t>输出电流</a:t>
            </a:r>
            <a:r>
              <a:rPr lang="en-US" altLang="zh-CN" b="1">
                <a:latin typeface="Times New Roman" panose="02020603050405020304" pitchFamily="18" charset="0"/>
              </a:rPr>
              <a:t>2</a:t>
            </a:r>
            <a:r>
              <a:rPr lang="zh-CN" altLang="en-US" b="1" dirty="0">
                <a:latin typeface="Times New Roman" panose="02020603050405020304" pitchFamily="18" charset="0"/>
              </a:rPr>
              <a:t>。 </a:t>
            </a:r>
            <a:r>
              <a:rPr lang="en-US" altLang="zh-CN" b="1">
                <a:latin typeface="Times New Roman" panose="02020603050405020304" pitchFamily="18" charset="0"/>
              </a:rPr>
              <a:t>I</a:t>
            </a:r>
            <a:r>
              <a:rPr lang="en-US" altLang="zh-CN" b="1" baseline="-25000">
                <a:latin typeface="Times New Roman" panose="02020603050405020304" pitchFamily="18" charset="0"/>
              </a:rPr>
              <a:t>OUT2</a:t>
            </a:r>
            <a:r>
              <a:rPr lang="zh-CN" altLang="en-US" b="1" dirty="0">
                <a:latin typeface="Times New Roman" panose="02020603050405020304" pitchFamily="18" charset="0"/>
              </a:rPr>
              <a:t>为一常数（满量程输出电流）与</a:t>
            </a:r>
            <a:r>
              <a:rPr lang="en-US" altLang="zh-CN" b="1">
                <a:latin typeface="Times New Roman" panose="02020603050405020304" pitchFamily="18" charset="0"/>
              </a:rPr>
              <a:t>I</a:t>
            </a:r>
            <a:r>
              <a:rPr lang="en-US" altLang="zh-CN" b="1" baseline="-25000">
                <a:latin typeface="Times New Roman" panose="02020603050405020304" pitchFamily="18" charset="0"/>
              </a:rPr>
              <a:t>OUT1</a:t>
            </a:r>
            <a:r>
              <a:rPr lang="zh-CN" altLang="en-US" b="1" dirty="0">
                <a:latin typeface="Times New Roman" panose="02020603050405020304" pitchFamily="18" charset="0"/>
              </a:rPr>
              <a:t>之差，即</a:t>
            </a:r>
            <a:r>
              <a:rPr lang="en-US" altLang="zh-CN" b="1">
                <a:latin typeface="Times New Roman" panose="02020603050405020304" pitchFamily="18" charset="0"/>
              </a:rPr>
              <a:t>I</a:t>
            </a:r>
            <a:r>
              <a:rPr lang="en-US" altLang="zh-CN" b="1" baseline="-25000">
                <a:latin typeface="Times New Roman" panose="02020603050405020304" pitchFamily="18" charset="0"/>
              </a:rPr>
              <a:t>OUT1</a:t>
            </a:r>
            <a:r>
              <a:rPr lang="en-US" altLang="zh-CN" b="1">
                <a:latin typeface="Times New Roman" panose="02020603050405020304" pitchFamily="18" charset="0"/>
              </a:rPr>
              <a:t>+I</a:t>
            </a:r>
            <a:r>
              <a:rPr lang="en-US" altLang="zh-CN" b="1" baseline="-25000">
                <a:latin typeface="Times New Roman" panose="02020603050405020304" pitchFamily="18" charset="0"/>
              </a:rPr>
              <a:t>OUT2</a:t>
            </a:r>
            <a:r>
              <a:rPr lang="en-US" altLang="zh-CN" b="1">
                <a:latin typeface="Times New Roman" panose="02020603050405020304" pitchFamily="18" charset="0"/>
              </a:rPr>
              <a:t>=</a:t>
            </a:r>
            <a:r>
              <a:rPr lang="zh-CN" altLang="en-US" b="1" dirty="0">
                <a:latin typeface="Times New Roman" panose="02020603050405020304" pitchFamily="18" charset="0"/>
              </a:rPr>
              <a:t>满量程输出电流。 </a:t>
            </a:r>
            <a:endParaRPr lang="zh-CN" altLang="en-US" b="1">
              <a:latin typeface="Times New Roman" panose="02020603050405020304" pitchFamily="18" charset="0"/>
            </a:endParaRPr>
          </a:p>
        </p:txBody>
      </p:sp>
    </p:spTree>
  </p:cSld>
  <p:clrMapOvr>
    <a:masterClrMapping/>
  </p:clrMapOvr>
  <p:transition>
    <p:blinds dir="vert"/>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0180" name="文本框 50179"/>
          <p:cNvSpPr txBox="1"/>
          <p:nvPr/>
        </p:nvSpPr>
        <p:spPr>
          <a:xfrm>
            <a:off x="304800" y="533400"/>
            <a:ext cx="8686800" cy="5568950"/>
          </a:xfrm>
          <a:prstGeom prst="rect">
            <a:avLst/>
          </a:prstGeom>
          <a:noFill/>
          <a:ln w="9525">
            <a:noFill/>
          </a:ln>
        </p:spPr>
        <p:txBody>
          <a:bodyPr>
            <a:spAutoFit/>
          </a:bodyPr>
          <a:p>
            <a:pPr>
              <a:lnSpc>
                <a:spcPct val="150000"/>
              </a:lnSpc>
              <a:spcBef>
                <a:spcPct val="50000"/>
              </a:spcBef>
            </a:pPr>
            <a:r>
              <a:rPr lang="en-US" altLang="zh-CN" dirty="0">
                <a:latin typeface="Times New Roman" panose="02020603050405020304" pitchFamily="18" charset="0"/>
              </a:rPr>
              <a:t>        </a:t>
            </a:r>
            <a:r>
              <a:rPr lang="en-US" altLang="zh-CN" b="1">
                <a:latin typeface="Times New Roman" panose="02020603050405020304" pitchFamily="18" charset="0"/>
              </a:rPr>
              <a:t>④ </a:t>
            </a:r>
            <a:r>
              <a:rPr lang="zh-CN" altLang="en-US" b="1" dirty="0">
                <a:latin typeface="Times New Roman" panose="02020603050405020304" pitchFamily="18" charset="0"/>
              </a:rPr>
              <a:t>电源、 地</a:t>
            </a:r>
            <a:r>
              <a:rPr lang="en-US" altLang="zh-CN" b="1">
                <a:latin typeface="Times New Roman" panose="02020603050405020304" pitchFamily="18" charset="0"/>
              </a:rPr>
              <a:t>:</a:t>
            </a:r>
            <a:endParaRPr lang="en-US" altLang="zh-CN" b="1">
              <a:latin typeface="Times New Roman" panose="02020603050405020304" pitchFamily="18" charset="0"/>
            </a:endParaRPr>
          </a:p>
          <a:p>
            <a:pPr>
              <a:lnSpc>
                <a:spcPct val="150000"/>
              </a:lnSpc>
              <a:spcBef>
                <a:spcPct val="50000"/>
              </a:spcBef>
            </a:pPr>
            <a:r>
              <a:rPr lang="en-US" altLang="zh-CN" b="1">
                <a:latin typeface="Times New Roman" panose="02020603050405020304" pitchFamily="18" charset="0"/>
              </a:rPr>
              <a:t>        U</a:t>
            </a:r>
            <a:r>
              <a:rPr lang="en-US" altLang="zh-CN" b="1" baseline="-25000">
                <a:latin typeface="Times New Roman" panose="02020603050405020304" pitchFamily="18" charset="0"/>
              </a:rPr>
              <a:t>REF</a:t>
            </a:r>
            <a:r>
              <a:rPr lang="zh-CN" altLang="en-US" b="1">
                <a:latin typeface="Times New Roman" panose="02020603050405020304" pitchFamily="18" charset="0"/>
              </a:rPr>
              <a:t>：</a:t>
            </a:r>
            <a:r>
              <a:rPr lang="zh-CN" altLang="en-US" b="1" dirty="0">
                <a:latin typeface="Times New Roman" panose="02020603050405020304" pitchFamily="18" charset="0"/>
              </a:rPr>
              <a:t>参考电压源。</a:t>
            </a:r>
            <a:r>
              <a:rPr lang="en-US" altLang="zh-CN" b="1">
                <a:latin typeface="Times New Roman" panose="02020603050405020304" pitchFamily="18" charset="0"/>
              </a:rPr>
              <a:t>DAC0832</a:t>
            </a:r>
            <a:r>
              <a:rPr lang="zh-CN" altLang="en-US" b="1" dirty="0">
                <a:latin typeface="Times New Roman" panose="02020603050405020304" pitchFamily="18" charset="0"/>
              </a:rPr>
              <a:t>需要外接基准电压，在</a:t>
            </a:r>
            <a:r>
              <a:rPr lang="en-US" altLang="zh-CN" b="1">
                <a:latin typeface="Times New Roman" panose="02020603050405020304" pitchFamily="18" charset="0"/>
              </a:rPr>
              <a:t>-10 V</a:t>
            </a:r>
            <a:r>
              <a:rPr lang="zh-CN" altLang="en-US" b="1">
                <a:latin typeface="Times New Roman" panose="02020603050405020304" pitchFamily="18" charset="0"/>
              </a:rPr>
              <a:t>～</a:t>
            </a:r>
            <a:r>
              <a:rPr lang="en-US" altLang="zh-CN" b="1">
                <a:latin typeface="Times New Roman" panose="02020603050405020304" pitchFamily="18" charset="0"/>
              </a:rPr>
              <a:t>+10 V</a:t>
            </a:r>
            <a:r>
              <a:rPr lang="zh-CN" altLang="en-US" b="1" dirty="0">
                <a:latin typeface="Times New Roman" panose="02020603050405020304" pitchFamily="18" charset="0"/>
              </a:rPr>
              <a:t>范围内取值。  </a:t>
            </a:r>
            <a:endParaRPr lang="zh-CN" altLang="en-US" b="1" dirty="0">
              <a:latin typeface="Times New Roman" panose="02020603050405020304" pitchFamily="18" charset="0"/>
            </a:endParaRPr>
          </a:p>
          <a:p>
            <a:pPr>
              <a:lnSpc>
                <a:spcPct val="150000"/>
              </a:lnSpc>
              <a:spcBef>
                <a:spcPct val="50000"/>
              </a:spcBef>
            </a:pPr>
            <a:r>
              <a:rPr lang="zh-CN" altLang="en-US" b="1" dirty="0">
                <a:latin typeface="Times New Roman" panose="02020603050405020304" pitchFamily="18" charset="0"/>
              </a:rPr>
              <a:t>        </a:t>
            </a:r>
            <a:r>
              <a:rPr lang="en-US" altLang="zh-CN" b="1">
                <a:latin typeface="Times New Roman" panose="02020603050405020304" pitchFamily="18" charset="0"/>
              </a:rPr>
              <a:t>U</a:t>
            </a:r>
            <a:r>
              <a:rPr lang="en-US" altLang="zh-CN" b="1" baseline="-25000">
                <a:latin typeface="Times New Roman" panose="02020603050405020304" pitchFamily="18" charset="0"/>
              </a:rPr>
              <a:t>CC</a:t>
            </a:r>
            <a:r>
              <a:rPr lang="zh-CN" altLang="en-US" b="1">
                <a:latin typeface="Times New Roman" panose="02020603050405020304" pitchFamily="18" charset="0"/>
              </a:rPr>
              <a:t>：</a:t>
            </a:r>
            <a:r>
              <a:rPr lang="zh-CN" altLang="en-US" b="1" dirty="0">
                <a:latin typeface="Times New Roman" panose="02020603050405020304" pitchFamily="18" charset="0"/>
              </a:rPr>
              <a:t>工作电压源。工作电压的范围为</a:t>
            </a:r>
            <a:r>
              <a:rPr lang="en-US" altLang="zh-CN" b="1">
                <a:latin typeface="Times New Roman" panose="02020603050405020304" pitchFamily="18" charset="0"/>
              </a:rPr>
              <a:t>+5 V</a:t>
            </a:r>
            <a:r>
              <a:rPr lang="zh-CN" altLang="en-US" b="1">
                <a:latin typeface="Times New Roman" panose="02020603050405020304" pitchFamily="18" charset="0"/>
              </a:rPr>
              <a:t>～</a:t>
            </a:r>
            <a:r>
              <a:rPr lang="en-US" altLang="zh-CN" b="1">
                <a:latin typeface="Times New Roman" panose="02020603050405020304" pitchFamily="18" charset="0"/>
              </a:rPr>
              <a:t>+15 V</a:t>
            </a:r>
            <a:r>
              <a:rPr lang="zh-CN" altLang="en-US" b="1">
                <a:latin typeface="Times New Roman" panose="02020603050405020304" pitchFamily="18" charset="0"/>
              </a:rPr>
              <a:t>， </a:t>
            </a:r>
            <a:r>
              <a:rPr lang="zh-CN" altLang="en-US" b="1" dirty="0">
                <a:latin typeface="Times New Roman" panose="02020603050405020304" pitchFamily="18" charset="0"/>
              </a:rPr>
              <a:t>最佳工作状态时用</a:t>
            </a:r>
            <a:r>
              <a:rPr lang="en-US" altLang="zh-CN" b="1">
                <a:latin typeface="Times New Roman" panose="02020603050405020304" pitchFamily="18" charset="0"/>
              </a:rPr>
              <a:t>+15 V</a:t>
            </a:r>
            <a:r>
              <a:rPr lang="zh-CN" altLang="en-US" b="1">
                <a:latin typeface="Times New Roman" panose="02020603050405020304" pitchFamily="18" charset="0"/>
              </a:rPr>
              <a:t>。 </a:t>
            </a:r>
            <a:endParaRPr lang="zh-CN" altLang="en-US" b="1">
              <a:latin typeface="Times New Roman" panose="02020603050405020304" pitchFamily="18" charset="0"/>
            </a:endParaRPr>
          </a:p>
          <a:p>
            <a:pPr>
              <a:lnSpc>
                <a:spcPct val="150000"/>
              </a:lnSpc>
              <a:spcBef>
                <a:spcPct val="50000"/>
              </a:spcBef>
            </a:pPr>
            <a:r>
              <a:rPr lang="zh-CN" altLang="en-US" b="1" dirty="0">
                <a:latin typeface="Times New Roman" panose="02020603050405020304" pitchFamily="18" charset="0"/>
              </a:rPr>
              <a:t>  </a:t>
            </a:r>
            <a:r>
              <a:rPr lang="zh-CN" altLang="en-US" b="1">
                <a:latin typeface="Times New Roman" panose="02020603050405020304" pitchFamily="18" charset="0"/>
              </a:rPr>
              <a:t>      </a:t>
            </a:r>
            <a:r>
              <a:rPr lang="en-US" altLang="zh-CN" b="1">
                <a:latin typeface="Times New Roman" panose="02020603050405020304" pitchFamily="18" charset="0"/>
              </a:rPr>
              <a:t>DGND</a:t>
            </a:r>
            <a:r>
              <a:rPr lang="zh-CN" altLang="en-US" b="1">
                <a:latin typeface="Times New Roman" panose="02020603050405020304" pitchFamily="18" charset="0"/>
              </a:rPr>
              <a:t>、</a:t>
            </a:r>
            <a:r>
              <a:rPr lang="en-US" altLang="zh-CN" b="1">
                <a:latin typeface="Times New Roman" panose="02020603050405020304" pitchFamily="18" charset="0"/>
              </a:rPr>
              <a:t>AGND</a:t>
            </a:r>
            <a:r>
              <a:rPr lang="zh-CN" altLang="en-US" b="1" dirty="0">
                <a:latin typeface="Times New Roman" panose="02020603050405020304" pitchFamily="18" charset="0"/>
              </a:rPr>
              <a:t>分别为数字电路地和模拟电路地。所有数字电路的地线均接到</a:t>
            </a:r>
            <a:r>
              <a:rPr lang="en-US" altLang="zh-CN" b="1">
                <a:latin typeface="Times New Roman" panose="02020603050405020304" pitchFamily="18" charset="0"/>
              </a:rPr>
              <a:t>DGND</a:t>
            </a:r>
            <a:r>
              <a:rPr lang="zh-CN" altLang="en-US" b="1">
                <a:latin typeface="Times New Roman" panose="02020603050405020304" pitchFamily="18" charset="0"/>
              </a:rPr>
              <a:t>，</a:t>
            </a:r>
            <a:r>
              <a:rPr lang="zh-CN" altLang="en-US" b="1" dirty="0">
                <a:latin typeface="Times New Roman" panose="02020603050405020304" pitchFamily="18" charset="0"/>
              </a:rPr>
              <a:t>所有模拟电路的地线均接到</a:t>
            </a:r>
            <a:r>
              <a:rPr lang="en-US" altLang="zh-CN" b="1">
                <a:latin typeface="Times New Roman" panose="02020603050405020304" pitchFamily="18" charset="0"/>
              </a:rPr>
              <a:t>AGND</a:t>
            </a:r>
            <a:r>
              <a:rPr lang="zh-CN" altLang="en-US" b="1">
                <a:latin typeface="Times New Roman" panose="02020603050405020304" pitchFamily="18" charset="0"/>
              </a:rPr>
              <a:t>， </a:t>
            </a:r>
            <a:r>
              <a:rPr lang="zh-CN" altLang="en-US" b="1" dirty="0">
                <a:latin typeface="Times New Roman" panose="02020603050405020304" pitchFamily="18" charset="0"/>
              </a:rPr>
              <a:t>并且就近将</a:t>
            </a:r>
            <a:r>
              <a:rPr lang="en-US" altLang="zh-CN" b="1">
                <a:latin typeface="Times New Roman" panose="02020603050405020304" pitchFamily="18" charset="0"/>
              </a:rPr>
              <a:t>DGND</a:t>
            </a:r>
            <a:r>
              <a:rPr lang="zh-CN" altLang="en-US" b="1">
                <a:latin typeface="Times New Roman" panose="02020603050405020304" pitchFamily="18" charset="0"/>
              </a:rPr>
              <a:t>和</a:t>
            </a:r>
            <a:r>
              <a:rPr lang="en-US" altLang="zh-CN" b="1">
                <a:latin typeface="Times New Roman" panose="02020603050405020304" pitchFamily="18" charset="0"/>
              </a:rPr>
              <a:t>AGND</a:t>
            </a:r>
            <a:r>
              <a:rPr lang="zh-CN" altLang="en-US" b="1" dirty="0">
                <a:latin typeface="Times New Roman" panose="02020603050405020304" pitchFamily="18" charset="0"/>
              </a:rPr>
              <a:t>在一点且只能在一点短接，以减少干扰。 </a:t>
            </a:r>
            <a:endParaRPr lang="zh-CN" altLang="en-US" b="1">
              <a:latin typeface="Times New Roman" panose="02020603050405020304" pitchFamily="18" charset="0"/>
            </a:endParaRPr>
          </a:p>
        </p:txBody>
      </p:sp>
    </p:spTree>
  </p:cSld>
  <p:clrMapOvr>
    <a:masterClrMapping/>
  </p:clrMapOvr>
  <p:transition>
    <p:blinds dir="vert"/>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2228" name="文本框 52227"/>
          <p:cNvSpPr txBox="1"/>
          <p:nvPr/>
        </p:nvSpPr>
        <p:spPr>
          <a:xfrm>
            <a:off x="228600" y="609600"/>
            <a:ext cx="8839200" cy="3560763"/>
          </a:xfrm>
          <a:prstGeom prst="rect">
            <a:avLst/>
          </a:prstGeom>
          <a:noFill/>
          <a:ln w="9525">
            <a:noFill/>
          </a:ln>
        </p:spPr>
        <p:txBody>
          <a:bodyPr>
            <a:spAutoFit/>
          </a:bodyPr>
          <a:p>
            <a:pPr>
              <a:lnSpc>
                <a:spcPct val="180000"/>
              </a:lnSpc>
              <a:spcBef>
                <a:spcPct val="50000"/>
              </a:spcBef>
            </a:pPr>
            <a:r>
              <a:rPr lang="en-US" altLang="zh-CN" dirty="0">
                <a:latin typeface="Times New Roman" panose="02020603050405020304" pitchFamily="18" charset="0"/>
              </a:rPr>
              <a:t>      </a:t>
            </a:r>
            <a:r>
              <a:rPr lang="en-US" altLang="zh-CN" b="1">
                <a:latin typeface="Times New Roman" panose="02020603050405020304" pitchFamily="18" charset="0"/>
              </a:rPr>
              <a:t>⑤ </a:t>
            </a:r>
            <a:r>
              <a:rPr lang="zh-CN" altLang="en-US" b="1" dirty="0">
                <a:latin typeface="Times New Roman" panose="02020603050405020304" pitchFamily="18" charset="0"/>
              </a:rPr>
              <a:t>其它</a:t>
            </a:r>
            <a:r>
              <a:rPr lang="en-US" altLang="zh-CN" b="1">
                <a:latin typeface="Times New Roman" panose="02020603050405020304" pitchFamily="18" charset="0"/>
              </a:rPr>
              <a:t>: </a:t>
            </a:r>
            <a:endParaRPr lang="en-US" altLang="zh-CN" b="1">
              <a:latin typeface="Times New Roman" panose="02020603050405020304" pitchFamily="18" charset="0"/>
            </a:endParaRPr>
          </a:p>
          <a:p>
            <a:pPr>
              <a:lnSpc>
                <a:spcPct val="180000"/>
              </a:lnSpc>
              <a:spcBef>
                <a:spcPct val="50000"/>
              </a:spcBef>
            </a:pPr>
            <a:r>
              <a:rPr lang="en-US" altLang="zh-CN" b="1">
                <a:latin typeface="Times New Roman" panose="02020603050405020304" pitchFamily="18" charset="0"/>
              </a:rPr>
              <a:t>       </a:t>
            </a:r>
            <a:r>
              <a:rPr lang="en-US" altLang="zh-CN" b="1" err="1">
                <a:latin typeface="Times New Roman" panose="02020603050405020304" pitchFamily="18" charset="0"/>
              </a:rPr>
              <a:t>R</a:t>
            </a:r>
            <a:r>
              <a:rPr lang="en-US" altLang="zh-CN" b="1" baseline="-25000" err="1">
                <a:latin typeface="Times New Roman" panose="02020603050405020304" pitchFamily="18" charset="0"/>
              </a:rPr>
              <a:t>fb</a:t>
            </a:r>
            <a:r>
              <a:rPr lang="zh-CN" altLang="en-US" b="1" dirty="0">
                <a:latin typeface="Times New Roman" panose="02020603050405020304" pitchFamily="18" charset="0"/>
              </a:rPr>
              <a:t>为反馈电阻连线端。</a:t>
            </a:r>
            <a:r>
              <a:rPr lang="en-US" altLang="zh-CN" b="1">
                <a:latin typeface="Times New Roman" panose="02020603050405020304" pitchFamily="18" charset="0"/>
              </a:rPr>
              <a:t>DAC0832</a:t>
            </a:r>
            <a:r>
              <a:rPr lang="zh-CN" altLang="en-US" b="1" dirty="0">
                <a:latin typeface="Times New Roman" panose="02020603050405020304" pitchFamily="18" charset="0"/>
              </a:rPr>
              <a:t>为电流输出型</a:t>
            </a:r>
            <a:r>
              <a:rPr lang="en-US" altLang="zh-CN" b="1">
                <a:latin typeface="Times New Roman" panose="02020603050405020304" pitchFamily="18" charset="0"/>
              </a:rPr>
              <a:t>D/A</a:t>
            </a:r>
            <a:r>
              <a:rPr lang="zh-CN" altLang="en-US" b="1" dirty="0">
                <a:latin typeface="Times New Roman" panose="02020603050405020304" pitchFamily="18" charset="0"/>
              </a:rPr>
              <a:t>转换器， 所以要获得模拟电压输出时，需要外接运算放大器，但运算放大器的反馈电阻不需要外接，在芯片内部已集成了一个</a:t>
            </a:r>
            <a:r>
              <a:rPr lang="en-US" altLang="zh-CN" b="1">
                <a:latin typeface="Times New Roman" panose="02020603050405020304" pitchFamily="18" charset="0"/>
              </a:rPr>
              <a:t>15 kΩ</a:t>
            </a:r>
            <a:r>
              <a:rPr lang="zh-CN" altLang="en-US" b="1" dirty="0">
                <a:latin typeface="Times New Roman" panose="02020603050405020304" pitchFamily="18" charset="0"/>
              </a:rPr>
              <a:t>的反馈电阻。</a:t>
            </a:r>
            <a:endParaRPr lang="zh-CN" altLang="en-US" b="1">
              <a:latin typeface="Times New Roman" panose="02020603050405020304" pitchFamily="18" charset="0"/>
            </a:endParaRPr>
          </a:p>
        </p:txBody>
      </p:sp>
    </p:spTree>
  </p:cSld>
  <p:clrMapOvr>
    <a:masterClrMapping/>
  </p:clrMapOvr>
  <p:transition>
    <p:blinds dir="vert"/>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4276" name="文本框 54275"/>
          <p:cNvSpPr txBox="1"/>
          <p:nvPr/>
        </p:nvSpPr>
        <p:spPr>
          <a:xfrm>
            <a:off x="762000" y="685800"/>
            <a:ext cx="3495675" cy="457200"/>
          </a:xfrm>
          <a:prstGeom prst="rect">
            <a:avLst/>
          </a:prstGeom>
          <a:noFill/>
          <a:ln w="9525">
            <a:noFill/>
          </a:ln>
        </p:spPr>
        <p:txBody>
          <a:bodyPr wrap="none" anchor="t" anchorCtr="0">
            <a:spAutoFit/>
          </a:bodyPr>
          <a:p>
            <a:r>
              <a:rPr lang="en-US" altLang="zh-CN">
                <a:latin typeface="Times New Roman" panose="02020603050405020304" pitchFamily="18" charset="0"/>
              </a:rPr>
              <a:t>3</a:t>
            </a:r>
            <a:r>
              <a:rPr lang="zh-CN" altLang="en-US" dirty="0">
                <a:latin typeface="Times New Roman" panose="02020603050405020304" pitchFamily="18" charset="0"/>
              </a:rPr>
              <a:t>） </a:t>
            </a:r>
            <a:r>
              <a:rPr lang="en-US" altLang="zh-CN">
                <a:latin typeface="Times New Roman" panose="02020603050405020304" pitchFamily="18" charset="0"/>
              </a:rPr>
              <a:t>DAC0832</a:t>
            </a:r>
            <a:r>
              <a:rPr lang="zh-CN" altLang="en-US" dirty="0">
                <a:latin typeface="Times New Roman" panose="02020603050405020304" pitchFamily="18" charset="0"/>
              </a:rPr>
              <a:t>的工作原理</a:t>
            </a:r>
            <a:endParaRPr lang="zh-CN" altLang="en-US">
              <a:latin typeface="Times New Roman" panose="02020603050405020304" pitchFamily="18" charset="0"/>
            </a:endParaRPr>
          </a:p>
        </p:txBody>
      </p:sp>
      <p:sp>
        <p:nvSpPr>
          <p:cNvPr id="54277" name="文本框 54276"/>
          <p:cNvSpPr txBox="1"/>
          <p:nvPr/>
        </p:nvSpPr>
        <p:spPr>
          <a:xfrm>
            <a:off x="2170113" y="5943600"/>
            <a:ext cx="4960937" cy="457200"/>
          </a:xfrm>
          <a:prstGeom prst="rect">
            <a:avLst/>
          </a:prstGeom>
          <a:noFill/>
          <a:ln w="9525">
            <a:noFill/>
          </a:ln>
        </p:spPr>
        <p:txBody>
          <a:bodyPr wrap="none" anchor="t" anchorCtr="0">
            <a:spAutoFit/>
          </a:bodyPr>
          <a:p>
            <a:r>
              <a:rPr lang="zh-CN" altLang="en-US" dirty="0">
                <a:latin typeface="Times New Roman" panose="02020603050405020304" pitchFamily="18" charset="0"/>
              </a:rPr>
              <a:t>图 </a:t>
            </a:r>
            <a:r>
              <a:rPr lang="en-US" altLang="zh-CN">
                <a:latin typeface="Times New Roman" panose="02020603050405020304" pitchFamily="18" charset="0"/>
              </a:rPr>
              <a:t>11-15 DAC0832</a:t>
            </a:r>
            <a:r>
              <a:rPr lang="zh-CN" altLang="en-US" dirty="0">
                <a:latin typeface="Times New Roman" panose="02020603050405020304" pitchFamily="18" charset="0"/>
              </a:rPr>
              <a:t>中的</a:t>
            </a:r>
            <a:r>
              <a:rPr lang="en-US" altLang="zh-CN">
                <a:latin typeface="Times New Roman" panose="02020603050405020304" pitchFamily="18" charset="0"/>
              </a:rPr>
              <a:t>D/A</a:t>
            </a:r>
            <a:r>
              <a:rPr lang="zh-CN" altLang="en-US" dirty="0">
                <a:latin typeface="Times New Roman" panose="02020603050405020304" pitchFamily="18" charset="0"/>
              </a:rPr>
              <a:t>转换电路</a:t>
            </a:r>
            <a:endParaRPr lang="zh-CN" altLang="en-US">
              <a:latin typeface="Times New Roman" panose="02020603050405020304" pitchFamily="18" charset="0"/>
            </a:endParaRPr>
          </a:p>
        </p:txBody>
      </p:sp>
      <p:graphicFrame>
        <p:nvGraphicFramePr>
          <p:cNvPr id="54278" name="对象 54277"/>
          <p:cNvGraphicFramePr/>
          <p:nvPr/>
        </p:nvGraphicFramePr>
        <p:xfrm>
          <a:off x="0" y="1219200"/>
          <a:ext cx="9144000" cy="4495800"/>
        </p:xfrm>
        <a:graphic>
          <a:graphicData uri="http://schemas.openxmlformats.org/presentationml/2006/ole">
            <mc:AlternateContent xmlns:mc="http://schemas.openxmlformats.org/markup-compatibility/2006">
              <mc:Choice xmlns:v="urn:schemas-microsoft-com:vml" Requires="v">
                <p:oleObj spid="_x0000_s3110" name="" r:id="rId1" imgW="3947160" imgH="1943100" progId="Visio.Drawing.4">
                  <p:embed/>
                </p:oleObj>
              </mc:Choice>
              <mc:Fallback>
                <p:oleObj name="" r:id="rId1" imgW="3947160" imgH="1943100" progId="Visio.Drawing.4">
                  <p:embed/>
                  <p:pic>
                    <p:nvPicPr>
                      <p:cNvPr id="0" name="图片 3109"/>
                      <p:cNvPicPr/>
                      <p:nvPr/>
                    </p:nvPicPr>
                    <p:blipFill>
                      <a:blip r:embed="rId2"/>
                      <a:stretch>
                        <a:fillRect/>
                      </a:stretch>
                    </p:blipFill>
                    <p:spPr>
                      <a:xfrm>
                        <a:off x="0" y="1219200"/>
                        <a:ext cx="9144000" cy="4495800"/>
                      </a:xfrm>
                      <a:prstGeom prst="rect">
                        <a:avLst/>
                      </a:prstGeom>
                      <a:noFill/>
                      <a:ln w="38100">
                        <a:noFill/>
                        <a:miter/>
                      </a:ln>
                    </p:spPr>
                  </p:pic>
                </p:oleObj>
              </mc:Fallback>
            </mc:AlternateContent>
          </a:graphicData>
        </a:graphic>
      </p:graphicFrame>
    </p:spTree>
  </p:cSld>
  <p:clrMapOvr>
    <a:masterClrMapping/>
  </p:clrMapOvr>
  <p:transition>
    <p:blinds dir="vert"/>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3252" name="文本框 53251"/>
          <p:cNvSpPr txBox="1"/>
          <p:nvPr/>
        </p:nvSpPr>
        <p:spPr>
          <a:xfrm>
            <a:off x="228600" y="381000"/>
            <a:ext cx="8915400" cy="3779838"/>
          </a:xfrm>
          <a:prstGeom prst="rect">
            <a:avLst/>
          </a:prstGeom>
          <a:noFill/>
          <a:ln w="9525">
            <a:noFill/>
          </a:ln>
        </p:spPr>
        <p:txBody>
          <a:bodyPr>
            <a:spAutoFit/>
          </a:bodyPr>
          <a:p>
            <a:pPr>
              <a:lnSpc>
                <a:spcPct val="130000"/>
              </a:lnSpc>
              <a:spcBef>
                <a:spcPct val="50000"/>
              </a:spcBef>
            </a:pPr>
            <a:r>
              <a:rPr lang="en-US" altLang="zh-CN" dirty="0">
                <a:latin typeface="Times New Roman" panose="02020603050405020304" pitchFamily="18" charset="0"/>
              </a:rPr>
              <a:t>        </a:t>
            </a:r>
            <a:r>
              <a:rPr lang="zh-CN" altLang="en-US" b="1" dirty="0">
                <a:latin typeface="Times New Roman" panose="02020603050405020304" pitchFamily="18" charset="0"/>
              </a:rPr>
              <a:t>在图</a:t>
            </a:r>
            <a:r>
              <a:rPr lang="en-US" altLang="zh-CN" b="1">
                <a:latin typeface="Times New Roman" panose="02020603050405020304" pitchFamily="18" charset="0"/>
              </a:rPr>
              <a:t>11- 15</a:t>
            </a:r>
            <a:r>
              <a:rPr lang="zh-CN" altLang="en-US" b="1" dirty="0">
                <a:latin typeface="Times New Roman" panose="02020603050405020304" pitchFamily="18" charset="0"/>
              </a:rPr>
              <a:t>中，模拟开关</a:t>
            </a:r>
            <a:r>
              <a:rPr lang="en-US" altLang="zh-CN" b="1" err="1">
                <a:latin typeface="Times New Roman" panose="02020603050405020304" pitchFamily="18" charset="0"/>
              </a:rPr>
              <a:t>S</a:t>
            </a:r>
            <a:r>
              <a:rPr lang="en-US" altLang="zh-CN" b="1" i="1" baseline="-25000" err="1">
                <a:latin typeface="Times New Roman" panose="02020603050405020304" pitchFamily="18" charset="0"/>
              </a:rPr>
              <a:t>i</a:t>
            </a:r>
            <a:r>
              <a:rPr lang="zh-CN" altLang="en-US" b="1" dirty="0">
                <a:latin typeface="Times New Roman" panose="02020603050405020304" pitchFamily="18" charset="0"/>
              </a:rPr>
              <a:t>受输入数字量</a:t>
            </a:r>
            <a:r>
              <a:rPr lang="en-US" altLang="zh-CN" b="1" err="1">
                <a:latin typeface="Times New Roman" panose="02020603050405020304" pitchFamily="18" charset="0"/>
              </a:rPr>
              <a:t>D</a:t>
            </a:r>
            <a:r>
              <a:rPr lang="en-US" altLang="zh-CN" b="1" i="1" baseline="-25000" err="1">
                <a:latin typeface="Times New Roman" panose="02020603050405020304" pitchFamily="18" charset="0"/>
              </a:rPr>
              <a:t>i</a:t>
            </a:r>
            <a:r>
              <a:rPr lang="zh-CN" altLang="en-US" b="1" dirty="0">
                <a:latin typeface="Times New Roman" panose="02020603050405020304" pitchFamily="18" charset="0"/>
              </a:rPr>
              <a:t>的控制。</a:t>
            </a:r>
            <a:r>
              <a:rPr lang="en-US" altLang="zh-CN" b="1" err="1">
                <a:latin typeface="Times New Roman" panose="02020603050405020304" pitchFamily="18" charset="0"/>
              </a:rPr>
              <a:t>D</a:t>
            </a:r>
            <a:r>
              <a:rPr lang="en-US" altLang="zh-CN" b="1" i="1" baseline="-25000" err="1">
                <a:latin typeface="Times New Roman" panose="02020603050405020304" pitchFamily="18" charset="0"/>
              </a:rPr>
              <a:t>i</a:t>
            </a:r>
            <a:r>
              <a:rPr lang="en-US" altLang="zh-CN" b="1">
                <a:latin typeface="Times New Roman" panose="02020603050405020304" pitchFamily="18" charset="0"/>
              </a:rPr>
              <a:t>=0</a:t>
            </a:r>
            <a:r>
              <a:rPr lang="zh-CN" altLang="en-US" b="1" dirty="0">
                <a:latin typeface="Times New Roman" panose="02020603050405020304" pitchFamily="18" charset="0"/>
              </a:rPr>
              <a:t>时， </a:t>
            </a:r>
            <a:endParaRPr lang="zh-CN" altLang="en-US" b="1" dirty="0">
              <a:latin typeface="Times New Roman" panose="02020603050405020304" pitchFamily="18" charset="0"/>
            </a:endParaRPr>
          </a:p>
          <a:p>
            <a:pPr>
              <a:lnSpc>
                <a:spcPct val="130000"/>
              </a:lnSpc>
              <a:spcBef>
                <a:spcPct val="50000"/>
              </a:spcBef>
            </a:pPr>
            <a:r>
              <a:rPr lang="en-US" altLang="zh-CN" b="1" err="1">
                <a:latin typeface="Times New Roman" panose="02020603050405020304" pitchFamily="18" charset="0"/>
              </a:rPr>
              <a:t>S</a:t>
            </a:r>
            <a:r>
              <a:rPr lang="en-US" altLang="zh-CN" b="1" i="1" baseline="-25000" err="1">
                <a:latin typeface="Times New Roman" panose="02020603050405020304" pitchFamily="18" charset="0"/>
              </a:rPr>
              <a:t>i</a:t>
            </a:r>
            <a:r>
              <a:rPr lang="zh-CN" altLang="en-US" b="1" dirty="0">
                <a:latin typeface="Times New Roman" panose="02020603050405020304" pitchFamily="18" charset="0"/>
              </a:rPr>
              <a:t>接地；</a:t>
            </a:r>
            <a:r>
              <a:rPr lang="en-US" altLang="zh-CN" b="1" err="1">
                <a:latin typeface="Times New Roman" panose="02020603050405020304" pitchFamily="18" charset="0"/>
              </a:rPr>
              <a:t>D</a:t>
            </a:r>
            <a:r>
              <a:rPr lang="en-US" altLang="zh-CN" b="1" i="1" baseline="-25000" err="1">
                <a:latin typeface="Times New Roman" panose="02020603050405020304" pitchFamily="18" charset="0"/>
              </a:rPr>
              <a:t>i</a:t>
            </a:r>
            <a:r>
              <a:rPr lang="en-US" altLang="zh-CN" b="1">
                <a:latin typeface="Times New Roman" panose="02020603050405020304" pitchFamily="18" charset="0"/>
              </a:rPr>
              <a:t>=1</a:t>
            </a:r>
            <a:r>
              <a:rPr lang="zh-CN" altLang="en-US" b="1" dirty="0">
                <a:latin typeface="Times New Roman" panose="02020603050405020304" pitchFamily="18" charset="0"/>
              </a:rPr>
              <a:t>时，</a:t>
            </a:r>
            <a:r>
              <a:rPr lang="en-US" altLang="zh-CN" b="1" err="1">
                <a:latin typeface="Times New Roman" panose="02020603050405020304" pitchFamily="18" charset="0"/>
              </a:rPr>
              <a:t>S</a:t>
            </a:r>
            <a:r>
              <a:rPr lang="en-US" altLang="zh-CN" b="1" i="1" baseline="-25000" err="1">
                <a:latin typeface="Times New Roman" panose="02020603050405020304" pitchFamily="18" charset="0"/>
              </a:rPr>
              <a:t>i</a:t>
            </a:r>
            <a:r>
              <a:rPr lang="zh-CN" altLang="en-US" b="1" dirty="0">
                <a:latin typeface="Times New Roman" panose="02020603050405020304" pitchFamily="18" charset="0"/>
              </a:rPr>
              <a:t>接虚地。 </a:t>
            </a:r>
            <a:endParaRPr lang="zh-CN" altLang="en-US" b="1" dirty="0">
              <a:latin typeface="Times New Roman" panose="02020603050405020304" pitchFamily="18" charset="0"/>
            </a:endParaRPr>
          </a:p>
          <a:p>
            <a:pPr>
              <a:lnSpc>
                <a:spcPct val="130000"/>
              </a:lnSpc>
              <a:spcBef>
                <a:spcPct val="50000"/>
              </a:spcBef>
            </a:pPr>
            <a:r>
              <a:rPr lang="zh-CN" altLang="en-US" b="1" dirty="0">
                <a:latin typeface="Times New Roman" panose="02020603050405020304" pitchFamily="18" charset="0"/>
              </a:rPr>
              <a:t>      无论</a:t>
            </a:r>
            <a:r>
              <a:rPr lang="en-US" altLang="zh-CN" b="1" err="1">
                <a:latin typeface="Times New Roman" panose="02020603050405020304" pitchFamily="18" charset="0"/>
              </a:rPr>
              <a:t>S</a:t>
            </a:r>
            <a:r>
              <a:rPr lang="en-US" altLang="zh-CN" b="1" i="1" baseline="-25000" err="1">
                <a:latin typeface="Times New Roman" panose="02020603050405020304" pitchFamily="18" charset="0"/>
              </a:rPr>
              <a:t>i</a:t>
            </a:r>
            <a:r>
              <a:rPr lang="zh-CN" altLang="en-US" b="1" dirty="0">
                <a:latin typeface="Times New Roman" panose="02020603050405020304" pitchFamily="18" charset="0"/>
              </a:rPr>
              <a:t>接地或是接虚地，电阻网络中各支路的电流保持不变。 由参考电压源</a:t>
            </a:r>
            <a:r>
              <a:rPr lang="en-US" altLang="zh-CN" b="1">
                <a:latin typeface="Times New Roman" panose="02020603050405020304" pitchFamily="18" charset="0"/>
              </a:rPr>
              <a:t>U</a:t>
            </a:r>
            <a:r>
              <a:rPr lang="en-US" altLang="zh-CN" b="1" baseline="-25000">
                <a:latin typeface="Times New Roman" panose="02020603050405020304" pitchFamily="18" charset="0"/>
              </a:rPr>
              <a:t>REF</a:t>
            </a:r>
            <a:r>
              <a:rPr lang="zh-CN" altLang="en-US" b="1" dirty="0">
                <a:latin typeface="Times New Roman" panose="02020603050405020304" pitchFamily="18" charset="0"/>
              </a:rPr>
              <a:t>流出的总电流</a:t>
            </a:r>
            <a:r>
              <a:rPr lang="en-US" altLang="zh-CN" b="1">
                <a:latin typeface="Times New Roman" panose="02020603050405020304" pitchFamily="18" charset="0"/>
              </a:rPr>
              <a:t>I=U</a:t>
            </a:r>
            <a:r>
              <a:rPr lang="en-US" altLang="zh-CN" b="1" baseline="-25000">
                <a:latin typeface="Times New Roman" panose="02020603050405020304" pitchFamily="18" charset="0"/>
              </a:rPr>
              <a:t>REF</a:t>
            </a:r>
            <a:r>
              <a:rPr lang="en-US" altLang="zh-CN" b="1">
                <a:latin typeface="Times New Roman" panose="02020603050405020304" pitchFamily="18" charset="0"/>
              </a:rPr>
              <a:t>/R</a:t>
            </a:r>
            <a:r>
              <a:rPr lang="zh-CN" altLang="en-US" b="1">
                <a:latin typeface="Times New Roman" panose="02020603050405020304" pitchFamily="18" charset="0"/>
              </a:rPr>
              <a:t>，</a:t>
            </a:r>
            <a:r>
              <a:rPr lang="zh-CN" altLang="en-US" b="1" dirty="0">
                <a:latin typeface="Times New Roman" panose="02020603050405020304" pitchFamily="18" charset="0"/>
              </a:rPr>
              <a:t>并且该电流每经过一个节点时都会进行</a:t>
            </a:r>
            <a:r>
              <a:rPr lang="en-US" altLang="zh-CN" b="1">
                <a:latin typeface="Times New Roman" panose="02020603050405020304" pitchFamily="18" charset="0"/>
              </a:rPr>
              <a:t>1/2</a:t>
            </a:r>
            <a:r>
              <a:rPr lang="zh-CN" altLang="en-US" b="1" dirty="0">
                <a:latin typeface="Times New Roman" panose="02020603050405020304" pitchFamily="18" charset="0"/>
              </a:rPr>
              <a:t>分流，则各</a:t>
            </a:r>
            <a:r>
              <a:rPr lang="en-US" altLang="zh-CN" b="1">
                <a:latin typeface="Times New Roman" panose="02020603050405020304" pitchFamily="18" charset="0"/>
              </a:rPr>
              <a:t>2R</a:t>
            </a:r>
            <a:r>
              <a:rPr lang="zh-CN" altLang="en-US" b="1" dirty="0">
                <a:latin typeface="Times New Roman" panose="02020603050405020304" pitchFamily="18" charset="0"/>
              </a:rPr>
              <a:t>电阻支路的电流</a:t>
            </a:r>
            <a:r>
              <a:rPr lang="en-US" altLang="zh-CN" b="1">
                <a:latin typeface="Times New Roman" panose="02020603050405020304" pitchFamily="18" charset="0"/>
              </a:rPr>
              <a:t>I</a:t>
            </a:r>
            <a:r>
              <a:rPr lang="en-US" altLang="zh-CN" b="1" i="1" baseline="-25000">
                <a:latin typeface="Times New Roman" panose="02020603050405020304" pitchFamily="18" charset="0"/>
              </a:rPr>
              <a:t>i</a:t>
            </a:r>
            <a:r>
              <a:rPr lang="en-US" altLang="zh-CN" b="1">
                <a:latin typeface="Times New Roman" panose="02020603050405020304" pitchFamily="18" charset="0"/>
              </a:rPr>
              <a:t> = I/2</a:t>
            </a:r>
            <a:r>
              <a:rPr lang="en-US" altLang="zh-CN" b="1" baseline="30000">
                <a:latin typeface="Times New Roman" panose="02020603050405020304" pitchFamily="18" charset="0"/>
              </a:rPr>
              <a:t>n-</a:t>
            </a:r>
            <a:r>
              <a:rPr lang="en-US" altLang="zh-CN" b="1" i="1" baseline="30000">
                <a:latin typeface="Times New Roman" panose="02020603050405020304" pitchFamily="18" charset="0"/>
              </a:rPr>
              <a:t>i</a:t>
            </a:r>
            <a:r>
              <a:rPr lang="zh-CN" altLang="en-US" b="1">
                <a:latin typeface="Times New Roman" panose="02020603050405020304" pitchFamily="18" charset="0"/>
              </a:rPr>
              <a:t>（</a:t>
            </a:r>
            <a:r>
              <a:rPr lang="en-US" altLang="zh-CN" b="1">
                <a:latin typeface="Times New Roman" panose="02020603050405020304" pitchFamily="18" charset="0"/>
              </a:rPr>
              <a:t>n= 8</a:t>
            </a:r>
            <a:r>
              <a:rPr lang="zh-CN" altLang="en-US" b="1">
                <a:latin typeface="Times New Roman" panose="02020603050405020304" pitchFamily="18" charset="0"/>
              </a:rPr>
              <a:t>）。</a:t>
            </a:r>
            <a:r>
              <a:rPr lang="zh-CN" altLang="en-US" b="1" dirty="0">
                <a:latin typeface="Times New Roman" panose="02020603050405020304" pitchFamily="18" charset="0"/>
              </a:rPr>
              <a:t>但是，随着输入数字量的不同，输出电流</a:t>
            </a:r>
            <a:r>
              <a:rPr lang="en-US" altLang="zh-CN" b="1">
                <a:latin typeface="Times New Roman" panose="02020603050405020304" pitchFamily="18" charset="0"/>
              </a:rPr>
              <a:t>I</a:t>
            </a:r>
            <a:r>
              <a:rPr lang="en-US" altLang="zh-CN" b="1" baseline="-25000">
                <a:latin typeface="Times New Roman" panose="02020603050405020304" pitchFamily="18" charset="0"/>
              </a:rPr>
              <a:t>OUT1</a:t>
            </a:r>
            <a:r>
              <a:rPr lang="zh-CN" altLang="en-US" b="1">
                <a:latin typeface="Times New Roman" panose="02020603050405020304" pitchFamily="18" charset="0"/>
              </a:rPr>
              <a:t>和</a:t>
            </a:r>
            <a:r>
              <a:rPr lang="en-US" altLang="zh-CN" b="1">
                <a:latin typeface="Times New Roman" panose="02020603050405020304" pitchFamily="18" charset="0"/>
              </a:rPr>
              <a:t>I</a:t>
            </a:r>
            <a:r>
              <a:rPr lang="en-US" altLang="zh-CN" b="1" baseline="-25000">
                <a:latin typeface="Times New Roman" panose="02020603050405020304" pitchFamily="18" charset="0"/>
              </a:rPr>
              <a:t>OUT2</a:t>
            </a:r>
            <a:r>
              <a:rPr lang="zh-CN" altLang="en-US" b="1" dirty="0">
                <a:latin typeface="Times New Roman" panose="02020603050405020304" pitchFamily="18" charset="0"/>
              </a:rPr>
              <a:t>也不相同，不难求出</a:t>
            </a:r>
            <a:endParaRPr lang="zh-CN" altLang="en-US" b="1">
              <a:latin typeface="Times New Roman" panose="02020603050405020304" pitchFamily="18" charset="0"/>
            </a:endParaRPr>
          </a:p>
        </p:txBody>
      </p:sp>
      <p:graphicFrame>
        <p:nvGraphicFramePr>
          <p:cNvPr id="53253" name="对象 53252"/>
          <p:cNvGraphicFramePr/>
          <p:nvPr/>
        </p:nvGraphicFramePr>
        <p:xfrm>
          <a:off x="2667000" y="3581400"/>
          <a:ext cx="4267200" cy="3111500"/>
        </p:xfrm>
        <a:graphic>
          <a:graphicData uri="http://schemas.openxmlformats.org/presentationml/2006/ole">
            <mc:AlternateContent xmlns:mc="http://schemas.openxmlformats.org/markup-compatibility/2006">
              <mc:Choice xmlns:v="urn:schemas-microsoft-com:vml" Requires="v">
                <p:oleObj spid="_x0000_s3108" name="" r:id="rId1" imgW="1968500" imgH="1435100" progId="Equation.3">
                  <p:embed/>
                </p:oleObj>
              </mc:Choice>
              <mc:Fallback>
                <p:oleObj name="" r:id="rId1" imgW="1968500" imgH="1435100" progId="Equation.3">
                  <p:embed/>
                  <p:pic>
                    <p:nvPicPr>
                      <p:cNvPr id="0" name="图片 3107"/>
                      <p:cNvPicPr/>
                      <p:nvPr/>
                    </p:nvPicPr>
                    <p:blipFill>
                      <a:blip r:embed="rId2"/>
                      <a:stretch>
                        <a:fillRect/>
                      </a:stretch>
                    </p:blipFill>
                    <p:spPr>
                      <a:xfrm>
                        <a:off x="2667000" y="3581400"/>
                        <a:ext cx="4267200" cy="3111500"/>
                      </a:xfrm>
                      <a:prstGeom prst="rect">
                        <a:avLst/>
                      </a:prstGeom>
                      <a:noFill/>
                      <a:ln w="38100">
                        <a:noFill/>
                        <a:miter/>
                      </a:ln>
                    </p:spPr>
                  </p:pic>
                </p:oleObj>
              </mc:Fallback>
            </mc:AlternateContent>
          </a:graphicData>
        </a:graphic>
      </p:graphicFrame>
      <p:sp>
        <p:nvSpPr>
          <p:cNvPr id="53254" name="文本框 53253"/>
          <p:cNvSpPr txBox="1"/>
          <p:nvPr/>
        </p:nvSpPr>
        <p:spPr>
          <a:xfrm>
            <a:off x="7848600" y="3886200"/>
            <a:ext cx="1098550" cy="457200"/>
          </a:xfrm>
          <a:prstGeom prst="rect">
            <a:avLst/>
          </a:prstGeom>
          <a:noFill/>
          <a:ln w="9525">
            <a:noFill/>
          </a:ln>
        </p:spPr>
        <p:txBody>
          <a:bodyPr wrap="none" anchor="t" anchorCtr="0">
            <a:spAutoFit/>
          </a:bodyPr>
          <a:p>
            <a:r>
              <a:rPr lang="en-US" altLang="zh-CN">
                <a:latin typeface="Times New Roman" panose="02020603050405020304" pitchFamily="18" charset="0"/>
              </a:rPr>
              <a:t>(11-21)</a:t>
            </a:r>
            <a:endParaRPr lang="en-US" altLang="zh-CN">
              <a:latin typeface="Times New Roman" panose="02020603050405020304" pitchFamily="18" charset="0"/>
            </a:endParaRPr>
          </a:p>
        </p:txBody>
      </p:sp>
      <p:sp>
        <p:nvSpPr>
          <p:cNvPr id="53255" name="文本框 53254"/>
          <p:cNvSpPr txBox="1"/>
          <p:nvPr/>
        </p:nvSpPr>
        <p:spPr>
          <a:xfrm>
            <a:off x="7924800" y="4876800"/>
            <a:ext cx="1098550" cy="457200"/>
          </a:xfrm>
          <a:prstGeom prst="rect">
            <a:avLst/>
          </a:prstGeom>
          <a:noFill/>
          <a:ln w="9525">
            <a:noFill/>
          </a:ln>
        </p:spPr>
        <p:txBody>
          <a:bodyPr wrap="none" anchor="t" anchorCtr="0">
            <a:spAutoFit/>
          </a:bodyPr>
          <a:p>
            <a:r>
              <a:rPr lang="en-US" altLang="zh-CN">
                <a:latin typeface="Times New Roman" panose="02020603050405020304" pitchFamily="18" charset="0"/>
              </a:rPr>
              <a:t>(11-22)</a:t>
            </a:r>
            <a:endParaRPr lang="en-US" altLang="zh-CN">
              <a:latin typeface="Times New Roman" panose="02020603050405020304" pitchFamily="18" charset="0"/>
            </a:endParaRPr>
          </a:p>
        </p:txBody>
      </p:sp>
      <p:sp>
        <p:nvSpPr>
          <p:cNvPr id="53256" name="文本框 53255"/>
          <p:cNvSpPr txBox="1"/>
          <p:nvPr/>
        </p:nvSpPr>
        <p:spPr>
          <a:xfrm>
            <a:off x="7924800" y="6019800"/>
            <a:ext cx="1098550" cy="457200"/>
          </a:xfrm>
          <a:prstGeom prst="rect">
            <a:avLst/>
          </a:prstGeom>
          <a:noFill/>
          <a:ln w="9525">
            <a:noFill/>
          </a:ln>
        </p:spPr>
        <p:txBody>
          <a:bodyPr wrap="none" anchor="t" anchorCtr="0">
            <a:spAutoFit/>
          </a:bodyPr>
          <a:p>
            <a:r>
              <a:rPr lang="en-US" altLang="zh-CN">
                <a:latin typeface="Times New Roman" panose="02020603050405020304" pitchFamily="18" charset="0"/>
              </a:rPr>
              <a:t>(11-23)</a:t>
            </a:r>
            <a:endParaRPr lang="en-US" altLang="zh-CN">
              <a:latin typeface="Times New Roman" panose="02020603050405020304" pitchFamily="18" charset="0"/>
            </a:endParaRPr>
          </a:p>
        </p:txBody>
      </p:sp>
    </p:spTree>
  </p:cSld>
  <p:clrMapOvr>
    <a:masterClrMapping/>
  </p:clrMapOvr>
  <p:transition>
    <p:blinds dir="vert"/>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6324" name="文本框 56323"/>
          <p:cNvSpPr txBox="1"/>
          <p:nvPr/>
        </p:nvSpPr>
        <p:spPr>
          <a:xfrm>
            <a:off x="609600" y="914400"/>
            <a:ext cx="4756150" cy="457200"/>
          </a:xfrm>
          <a:prstGeom prst="rect">
            <a:avLst/>
          </a:prstGeom>
          <a:noFill/>
          <a:ln w="9525">
            <a:noFill/>
          </a:ln>
        </p:spPr>
        <p:txBody>
          <a:bodyPr wrap="none" anchor="t" anchorCtr="0">
            <a:spAutoFit/>
          </a:bodyPr>
          <a:p>
            <a:r>
              <a:rPr lang="zh-CN" altLang="en-US" dirty="0">
                <a:latin typeface="Times New Roman" panose="02020603050405020304" pitchFamily="18" charset="0"/>
              </a:rPr>
              <a:t>则外接求和放大器的输出电压为</a:t>
            </a:r>
            <a:endParaRPr lang="zh-CN" altLang="en-US">
              <a:latin typeface="Times New Roman" panose="02020603050405020304" pitchFamily="18" charset="0"/>
            </a:endParaRPr>
          </a:p>
        </p:txBody>
      </p:sp>
      <p:graphicFrame>
        <p:nvGraphicFramePr>
          <p:cNvPr id="56325" name="对象 56324"/>
          <p:cNvGraphicFramePr/>
          <p:nvPr/>
        </p:nvGraphicFramePr>
        <p:xfrm>
          <a:off x="3048000" y="1914525"/>
          <a:ext cx="2667000" cy="676275"/>
        </p:xfrm>
        <a:graphic>
          <a:graphicData uri="http://schemas.openxmlformats.org/presentationml/2006/ole">
            <mc:AlternateContent xmlns:mc="http://schemas.openxmlformats.org/markup-compatibility/2006">
              <mc:Choice xmlns:v="urn:schemas-microsoft-com:vml" Requires="v">
                <p:oleObj spid="_x0000_s3107" name="" r:id="rId1" imgW="951865" imgH="241300" progId="Equation.3">
                  <p:embed/>
                </p:oleObj>
              </mc:Choice>
              <mc:Fallback>
                <p:oleObj name="" r:id="rId1" imgW="951865" imgH="241300" progId="Equation.3">
                  <p:embed/>
                  <p:pic>
                    <p:nvPicPr>
                      <p:cNvPr id="0" name="图片 3106"/>
                      <p:cNvPicPr/>
                      <p:nvPr/>
                    </p:nvPicPr>
                    <p:blipFill>
                      <a:blip r:embed="rId2"/>
                      <a:stretch>
                        <a:fillRect/>
                      </a:stretch>
                    </p:blipFill>
                    <p:spPr>
                      <a:xfrm>
                        <a:off x="3048000" y="1914525"/>
                        <a:ext cx="2667000" cy="676275"/>
                      </a:xfrm>
                      <a:prstGeom prst="rect">
                        <a:avLst/>
                      </a:prstGeom>
                      <a:noFill/>
                      <a:ln w="38100">
                        <a:noFill/>
                        <a:miter/>
                      </a:ln>
                    </p:spPr>
                  </p:pic>
                </p:oleObj>
              </mc:Fallback>
            </mc:AlternateContent>
          </a:graphicData>
        </a:graphic>
      </p:graphicFrame>
      <p:sp>
        <p:nvSpPr>
          <p:cNvPr id="56326" name="文本框 56325"/>
          <p:cNvSpPr txBox="1"/>
          <p:nvPr/>
        </p:nvSpPr>
        <p:spPr>
          <a:xfrm>
            <a:off x="7391400" y="2066925"/>
            <a:ext cx="1327150" cy="457200"/>
          </a:xfrm>
          <a:prstGeom prst="rect">
            <a:avLst/>
          </a:prstGeom>
          <a:noFill/>
          <a:ln w="9525">
            <a:noFill/>
          </a:ln>
        </p:spPr>
        <p:txBody>
          <a:bodyPr>
            <a:spAutoFit/>
          </a:bodyPr>
          <a:p>
            <a:r>
              <a:rPr lang="en-US" altLang="zh-CN">
                <a:latin typeface="Times New Roman" panose="02020603050405020304" pitchFamily="18" charset="0"/>
              </a:rPr>
              <a:t>(11-24)</a:t>
            </a:r>
            <a:endParaRPr lang="en-US" altLang="zh-CN">
              <a:latin typeface="Times New Roman" panose="02020603050405020304" pitchFamily="18" charset="0"/>
            </a:endParaRPr>
          </a:p>
        </p:txBody>
      </p:sp>
      <p:sp>
        <p:nvSpPr>
          <p:cNvPr id="56327" name="文本框 56326"/>
          <p:cNvSpPr txBox="1"/>
          <p:nvPr/>
        </p:nvSpPr>
        <p:spPr>
          <a:xfrm>
            <a:off x="533400" y="3117850"/>
            <a:ext cx="6523038" cy="457200"/>
          </a:xfrm>
          <a:prstGeom prst="rect">
            <a:avLst/>
          </a:prstGeom>
          <a:noFill/>
          <a:ln w="9525">
            <a:noFill/>
          </a:ln>
        </p:spPr>
        <p:txBody>
          <a:bodyPr wrap="none" anchor="t" anchorCtr="0">
            <a:spAutoFit/>
          </a:bodyPr>
          <a:p>
            <a:r>
              <a:rPr lang="zh-CN" altLang="en-US">
                <a:latin typeface="Times New Roman" panose="02020603050405020304" pitchFamily="18" charset="0"/>
              </a:rPr>
              <a:t>在</a:t>
            </a:r>
            <a:r>
              <a:rPr lang="en-US" altLang="zh-CN">
                <a:latin typeface="Times New Roman" panose="02020603050405020304" pitchFamily="18" charset="0"/>
              </a:rPr>
              <a:t>DAC0832</a:t>
            </a:r>
            <a:r>
              <a:rPr lang="zh-CN" altLang="en-US" dirty="0">
                <a:latin typeface="Times New Roman" panose="02020603050405020304" pitchFamily="18" charset="0"/>
              </a:rPr>
              <a:t>中，通常</a:t>
            </a:r>
            <a:r>
              <a:rPr lang="en-US" altLang="zh-CN">
                <a:latin typeface="Times New Roman" panose="02020603050405020304" pitchFamily="18" charset="0"/>
              </a:rPr>
              <a:t>R= R</a:t>
            </a:r>
            <a:r>
              <a:rPr lang="en-US" altLang="zh-CN" baseline="-25000">
                <a:latin typeface="Times New Roman" panose="02020603050405020304" pitchFamily="18" charset="0"/>
              </a:rPr>
              <a:t>fb</a:t>
            </a:r>
            <a:r>
              <a:rPr lang="en-US" altLang="zh-CN">
                <a:latin typeface="Times New Roman" panose="02020603050405020304" pitchFamily="18" charset="0"/>
              </a:rPr>
              <a:t>≈15 kΩ</a:t>
            </a:r>
            <a:r>
              <a:rPr lang="zh-CN" altLang="en-US">
                <a:latin typeface="Times New Roman" panose="02020603050405020304" pitchFamily="18" charset="0"/>
              </a:rPr>
              <a:t>， </a:t>
            </a:r>
            <a:r>
              <a:rPr lang="zh-CN" altLang="en-US" dirty="0">
                <a:latin typeface="Times New Roman" panose="02020603050405020304" pitchFamily="18" charset="0"/>
              </a:rPr>
              <a:t>所以</a:t>
            </a:r>
            <a:endParaRPr lang="zh-CN" altLang="en-US">
              <a:latin typeface="Times New Roman" panose="02020603050405020304" pitchFamily="18" charset="0"/>
            </a:endParaRPr>
          </a:p>
        </p:txBody>
      </p:sp>
      <p:graphicFrame>
        <p:nvGraphicFramePr>
          <p:cNvPr id="56328" name="对象 56327"/>
          <p:cNvGraphicFramePr/>
          <p:nvPr/>
        </p:nvGraphicFramePr>
        <p:xfrm>
          <a:off x="2474913" y="3727450"/>
          <a:ext cx="4192587" cy="2139950"/>
        </p:xfrm>
        <a:graphic>
          <a:graphicData uri="http://schemas.openxmlformats.org/presentationml/2006/ole">
            <mc:AlternateContent xmlns:mc="http://schemas.openxmlformats.org/markup-compatibility/2006">
              <mc:Choice xmlns:v="urn:schemas-microsoft-com:vml" Requires="v">
                <p:oleObj spid="_x0000_s3106" name="" r:id="rId3" imgW="1892300" imgH="965200" progId="Equation.3">
                  <p:embed/>
                </p:oleObj>
              </mc:Choice>
              <mc:Fallback>
                <p:oleObj name="" r:id="rId3" imgW="1892300" imgH="965200" progId="Equation.3">
                  <p:embed/>
                  <p:pic>
                    <p:nvPicPr>
                      <p:cNvPr id="0" name="图片 3105"/>
                      <p:cNvPicPr/>
                      <p:nvPr/>
                    </p:nvPicPr>
                    <p:blipFill>
                      <a:blip r:embed="rId4"/>
                      <a:stretch>
                        <a:fillRect/>
                      </a:stretch>
                    </p:blipFill>
                    <p:spPr>
                      <a:xfrm>
                        <a:off x="2474913" y="3727450"/>
                        <a:ext cx="4192587" cy="2139950"/>
                      </a:xfrm>
                      <a:prstGeom prst="rect">
                        <a:avLst/>
                      </a:prstGeom>
                      <a:noFill/>
                      <a:ln w="38100">
                        <a:noFill/>
                        <a:miter/>
                      </a:ln>
                    </p:spPr>
                  </p:pic>
                </p:oleObj>
              </mc:Fallback>
            </mc:AlternateContent>
          </a:graphicData>
        </a:graphic>
      </p:graphicFrame>
      <p:sp>
        <p:nvSpPr>
          <p:cNvPr id="56329" name="文本框 56328"/>
          <p:cNvSpPr txBox="1"/>
          <p:nvPr/>
        </p:nvSpPr>
        <p:spPr>
          <a:xfrm>
            <a:off x="7620000" y="5181600"/>
            <a:ext cx="1250950" cy="457200"/>
          </a:xfrm>
          <a:prstGeom prst="rect">
            <a:avLst/>
          </a:prstGeom>
          <a:noFill/>
          <a:ln w="9525">
            <a:noFill/>
          </a:ln>
        </p:spPr>
        <p:txBody>
          <a:bodyPr>
            <a:spAutoFit/>
          </a:bodyPr>
          <a:p>
            <a:r>
              <a:rPr lang="en-US" altLang="zh-CN">
                <a:latin typeface="Times New Roman" panose="02020603050405020304" pitchFamily="18" charset="0"/>
              </a:rPr>
              <a:t>(11-25)</a:t>
            </a:r>
            <a:endParaRPr lang="en-US" altLang="zh-CN">
              <a:latin typeface="Times New Roman" panose="02020603050405020304" pitchFamily="18" charset="0"/>
            </a:endParaRPr>
          </a:p>
        </p:txBody>
      </p:sp>
    </p:spTree>
  </p:cSld>
  <p:clrMapOvr>
    <a:masterClrMapping/>
  </p:clrMapOvr>
  <p:transition>
    <p:blinds dir="vert"/>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5300" name="文本框 55299"/>
          <p:cNvSpPr txBox="1"/>
          <p:nvPr/>
        </p:nvSpPr>
        <p:spPr>
          <a:xfrm>
            <a:off x="228600" y="609600"/>
            <a:ext cx="8763000" cy="2282825"/>
          </a:xfrm>
          <a:prstGeom prst="rect">
            <a:avLst/>
          </a:prstGeom>
          <a:noFill/>
          <a:ln w="9525">
            <a:noFill/>
          </a:ln>
        </p:spPr>
        <p:txBody>
          <a:bodyPr>
            <a:spAutoFit/>
          </a:bodyPr>
          <a:p>
            <a:pPr>
              <a:lnSpc>
                <a:spcPct val="150000"/>
              </a:lnSpc>
              <a:spcBef>
                <a:spcPct val="50000"/>
              </a:spcBef>
            </a:pPr>
            <a:r>
              <a:rPr lang="en-US" altLang="zh-CN" dirty="0">
                <a:latin typeface="Times New Roman" panose="02020603050405020304" pitchFamily="18" charset="0"/>
              </a:rPr>
              <a:t>        </a:t>
            </a:r>
            <a:r>
              <a:rPr lang="zh-CN" altLang="en-US" dirty="0">
                <a:latin typeface="Times New Roman" panose="02020603050405020304" pitchFamily="18" charset="0"/>
              </a:rPr>
              <a:t>可见，输出电压在数值上与基准电压</a:t>
            </a:r>
            <a:r>
              <a:rPr lang="en-US" altLang="zh-CN">
                <a:latin typeface="Times New Roman" panose="02020603050405020304" pitchFamily="18" charset="0"/>
              </a:rPr>
              <a:t>U</a:t>
            </a:r>
            <a:r>
              <a:rPr lang="en-US" altLang="zh-CN" baseline="-25000">
                <a:latin typeface="Times New Roman" panose="02020603050405020304" pitchFamily="18" charset="0"/>
              </a:rPr>
              <a:t>REF</a:t>
            </a:r>
            <a:r>
              <a:rPr lang="zh-CN" altLang="en-US" dirty="0">
                <a:latin typeface="Times New Roman" panose="02020603050405020304" pitchFamily="18" charset="0"/>
              </a:rPr>
              <a:t>的绝对值成正比，与输入数字量成正比，极性与基准电压的极性相反。 而基准电压</a:t>
            </a:r>
            <a:r>
              <a:rPr lang="en-US" altLang="zh-CN">
                <a:latin typeface="Times New Roman" panose="02020603050405020304" pitchFamily="18" charset="0"/>
              </a:rPr>
              <a:t>U</a:t>
            </a:r>
            <a:r>
              <a:rPr lang="en-US" altLang="zh-CN" baseline="-25000">
                <a:latin typeface="Times New Roman" panose="02020603050405020304" pitchFamily="18" charset="0"/>
              </a:rPr>
              <a:t>REF</a:t>
            </a:r>
            <a:r>
              <a:rPr lang="zh-CN" altLang="en-US" dirty="0">
                <a:latin typeface="Times New Roman" panose="02020603050405020304" pitchFamily="18" charset="0"/>
              </a:rPr>
              <a:t>是可正可负的，所以可以在</a:t>
            </a:r>
            <a:r>
              <a:rPr lang="en-US" altLang="zh-CN">
                <a:latin typeface="Times New Roman" panose="02020603050405020304" pitchFamily="18" charset="0"/>
              </a:rPr>
              <a:t>U</a:t>
            </a:r>
            <a:r>
              <a:rPr lang="en-US" altLang="zh-CN" baseline="-25000">
                <a:latin typeface="Times New Roman" panose="02020603050405020304" pitchFamily="18" charset="0"/>
              </a:rPr>
              <a:t>REF</a:t>
            </a:r>
            <a:r>
              <a:rPr lang="zh-CN" altLang="en-US" dirty="0">
                <a:latin typeface="Times New Roman" panose="02020603050405020304" pitchFamily="18" charset="0"/>
              </a:rPr>
              <a:t>端加一个交流电压</a:t>
            </a:r>
            <a:r>
              <a:rPr lang="en-US" altLang="zh-CN" err="1">
                <a:latin typeface="Times New Roman" panose="02020603050405020304" pitchFamily="18" charset="0"/>
              </a:rPr>
              <a:t>u</a:t>
            </a:r>
            <a:r>
              <a:rPr lang="en-US" altLang="zh-CN" i="1" baseline="-25000" err="1">
                <a:latin typeface="Times New Roman" panose="02020603050405020304" pitchFamily="18" charset="0"/>
              </a:rPr>
              <a:t>i</a:t>
            </a:r>
            <a:r>
              <a:rPr lang="zh-CN" altLang="en-US">
                <a:latin typeface="Times New Roman" panose="02020603050405020304" pitchFamily="18" charset="0"/>
              </a:rPr>
              <a:t>，</a:t>
            </a:r>
            <a:r>
              <a:rPr lang="zh-CN" altLang="en-US" dirty="0">
                <a:latin typeface="Times New Roman" panose="02020603050405020304" pitchFamily="18" charset="0"/>
              </a:rPr>
              <a:t>从而， 运算放大器输出电压为</a:t>
            </a:r>
            <a:endParaRPr lang="zh-CN" altLang="en-US">
              <a:latin typeface="Times New Roman" panose="02020603050405020304" pitchFamily="18" charset="0"/>
            </a:endParaRPr>
          </a:p>
        </p:txBody>
      </p:sp>
      <p:graphicFrame>
        <p:nvGraphicFramePr>
          <p:cNvPr id="55301" name="对象 55300"/>
          <p:cNvGraphicFramePr/>
          <p:nvPr/>
        </p:nvGraphicFramePr>
        <p:xfrm>
          <a:off x="2820988" y="3028950"/>
          <a:ext cx="3500437" cy="1104900"/>
        </p:xfrm>
        <a:graphic>
          <a:graphicData uri="http://schemas.openxmlformats.org/presentationml/2006/ole">
            <mc:AlternateContent xmlns:mc="http://schemas.openxmlformats.org/markup-compatibility/2006">
              <mc:Choice xmlns:v="urn:schemas-microsoft-com:vml" Requires="v">
                <p:oleObj spid="_x0000_s3109" name="" r:id="rId1" imgW="1370965" imgH="431800" progId="Equation.3">
                  <p:embed/>
                </p:oleObj>
              </mc:Choice>
              <mc:Fallback>
                <p:oleObj name="" r:id="rId1" imgW="1370965" imgH="431800" progId="Equation.3">
                  <p:embed/>
                  <p:pic>
                    <p:nvPicPr>
                      <p:cNvPr id="0" name="图片 3108"/>
                      <p:cNvPicPr/>
                      <p:nvPr/>
                    </p:nvPicPr>
                    <p:blipFill>
                      <a:blip r:embed="rId2"/>
                      <a:stretch>
                        <a:fillRect/>
                      </a:stretch>
                    </p:blipFill>
                    <p:spPr>
                      <a:xfrm>
                        <a:off x="2820988" y="3028950"/>
                        <a:ext cx="3500437" cy="1104900"/>
                      </a:xfrm>
                      <a:prstGeom prst="rect">
                        <a:avLst/>
                      </a:prstGeom>
                      <a:noFill/>
                      <a:ln w="38100">
                        <a:noFill/>
                        <a:miter/>
                      </a:ln>
                    </p:spPr>
                  </p:pic>
                </p:oleObj>
              </mc:Fallback>
            </mc:AlternateContent>
          </a:graphicData>
        </a:graphic>
      </p:graphicFrame>
      <p:sp>
        <p:nvSpPr>
          <p:cNvPr id="55302" name="文本框 55301"/>
          <p:cNvSpPr txBox="1"/>
          <p:nvPr/>
        </p:nvSpPr>
        <p:spPr>
          <a:xfrm>
            <a:off x="7543800" y="3352800"/>
            <a:ext cx="1250950" cy="457200"/>
          </a:xfrm>
          <a:prstGeom prst="rect">
            <a:avLst/>
          </a:prstGeom>
          <a:noFill/>
          <a:ln w="9525">
            <a:noFill/>
          </a:ln>
        </p:spPr>
        <p:txBody>
          <a:bodyPr>
            <a:spAutoFit/>
          </a:bodyPr>
          <a:p>
            <a:r>
              <a:rPr lang="en-US" altLang="zh-CN">
                <a:latin typeface="Times New Roman" panose="02020603050405020304" pitchFamily="18" charset="0"/>
              </a:rPr>
              <a:t>(11-26)</a:t>
            </a:r>
            <a:endParaRPr lang="en-US" altLang="zh-CN">
              <a:latin typeface="Times New Roman" panose="02020603050405020304" pitchFamily="18" charset="0"/>
            </a:endParaRPr>
          </a:p>
        </p:txBody>
      </p:sp>
      <p:sp>
        <p:nvSpPr>
          <p:cNvPr id="55303" name="文本框 55302"/>
          <p:cNvSpPr txBox="1"/>
          <p:nvPr/>
        </p:nvSpPr>
        <p:spPr>
          <a:xfrm>
            <a:off x="152400" y="4208463"/>
            <a:ext cx="8763000" cy="2039937"/>
          </a:xfrm>
          <a:prstGeom prst="rect">
            <a:avLst/>
          </a:prstGeom>
          <a:noFill/>
          <a:ln w="9525">
            <a:noFill/>
          </a:ln>
        </p:spPr>
        <p:txBody>
          <a:bodyPr>
            <a:spAutoFit/>
          </a:bodyPr>
          <a:p>
            <a:pPr>
              <a:lnSpc>
                <a:spcPct val="178000"/>
              </a:lnSpc>
              <a:spcBef>
                <a:spcPct val="50000"/>
              </a:spcBef>
            </a:pPr>
            <a:r>
              <a:rPr lang="zh-CN" altLang="en-US" dirty="0">
                <a:latin typeface="Times New Roman" panose="02020603050405020304" pitchFamily="18" charset="0"/>
              </a:rPr>
              <a:t>简写为</a:t>
            </a:r>
            <a:r>
              <a:rPr lang="en-US" altLang="zh-CN" err="1">
                <a:latin typeface="Times New Roman" panose="02020603050405020304" pitchFamily="18" charset="0"/>
              </a:rPr>
              <a:t>u</a:t>
            </a:r>
            <a:r>
              <a:rPr lang="en-US" altLang="zh-CN" baseline="-25000" err="1">
                <a:latin typeface="Times New Roman" panose="02020603050405020304" pitchFamily="18" charset="0"/>
              </a:rPr>
              <a:t>O</a:t>
            </a:r>
            <a:r>
              <a:rPr lang="en-US" altLang="zh-CN" baseline="-25000">
                <a:latin typeface="Times New Roman" panose="02020603050405020304" pitchFamily="18" charset="0"/>
              </a:rPr>
              <a:t> </a:t>
            </a:r>
            <a:r>
              <a:rPr lang="en-US" altLang="zh-CN">
                <a:latin typeface="Times New Roman" panose="02020603050405020304" pitchFamily="18" charset="0"/>
              </a:rPr>
              <a:t>= </a:t>
            </a:r>
            <a:r>
              <a:rPr lang="en-US" altLang="zh-CN" err="1">
                <a:latin typeface="Times New Roman" panose="02020603050405020304" pitchFamily="18" charset="0"/>
              </a:rPr>
              <a:t>Ku</a:t>
            </a:r>
            <a:r>
              <a:rPr lang="en-US" altLang="zh-CN" i="1" baseline="-25000" err="1">
                <a:latin typeface="Times New Roman" panose="02020603050405020304" pitchFamily="18" charset="0"/>
              </a:rPr>
              <a:t>i</a:t>
            </a:r>
            <a:r>
              <a:rPr lang="en-US" altLang="zh-CN" err="1">
                <a:latin typeface="Times New Roman" panose="02020603050405020304" pitchFamily="18" charset="0"/>
              </a:rPr>
              <a:t>D</a:t>
            </a:r>
            <a:r>
              <a:rPr lang="zh-CN" altLang="en-US">
                <a:latin typeface="Times New Roman" panose="02020603050405020304" pitchFamily="18" charset="0"/>
              </a:rPr>
              <a:t>，</a:t>
            </a:r>
            <a:r>
              <a:rPr lang="zh-CN" altLang="en-US" dirty="0">
                <a:latin typeface="Times New Roman" panose="02020603050405020304" pitchFamily="18" charset="0"/>
              </a:rPr>
              <a:t>其中</a:t>
            </a:r>
            <a:r>
              <a:rPr lang="en-US" altLang="zh-CN">
                <a:latin typeface="Times New Roman" panose="02020603050405020304" pitchFamily="18" charset="0"/>
              </a:rPr>
              <a:t>D</a:t>
            </a:r>
            <a:r>
              <a:rPr lang="zh-CN" altLang="en-US" dirty="0">
                <a:latin typeface="Times New Roman" panose="02020603050405020304" pitchFamily="18" charset="0"/>
              </a:rPr>
              <a:t>为输入数字量所对应的十进制数。该式表明，输出电压在数值上正比于输入电压与数字量的乘积。我们把具有这种功能的</a:t>
            </a:r>
            <a:r>
              <a:rPr lang="en-US" altLang="zh-CN">
                <a:latin typeface="Times New Roman" panose="02020603050405020304" pitchFamily="18" charset="0"/>
              </a:rPr>
              <a:t>DAC</a:t>
            </a:r>
            <a:r>
              <a:rPr lang="zh-CN" altLang="en-US" dirty="0">
                <a:latin typeface="Times New Roman" panose="02020603050405020304" pitchFamily="18" charset="0"/>
              </a:rPr>
              <a:t>称为乘法</a:t>
            </a:r>
            <a:r>
              <a:rPr lang="en-US" altLang="zh-CN">
                <a:latin typeface="Times New Roman" panose="02020603050405020304" pitchFamily="18" charset="0"/>
              </a:rPr>
              <a:t>DAC</a:t>
            </a:r>
            <a:r>
              <a:rPr lang="zh-CN" altLang="en-US">
                <a:latin typeface="Times New Roman" panose="02020603050405020304" pitchFamily="18" charset="0"/>
              </a:rPr>
              <a:t>， </a:t>
            </a:r>
            <a:r>
              <a:rPr lang="zh-CN" altLang="en-US" dirty="0">
                <a:latin typeface="Times New Roman" panose="02020603050405020304" pitchFamily="18" charset="0"/>
              </a:rPr>
              <a:t>记作</a:t>
            </a:r>
            <a:r>
              <a:rPr lang="en-US" altLang="zh-CN">
                <a:latin typeface="Times New Roman" panose="02020603050405020304" pitchFamily="18" charset="0"/>
              </a:rPr>
              <a:t>MDAC</a:t>
            </a:r>
            <a:r>
              <a:rPr lang="zh-CN" altLang="en-US">
                <a:latin typeface="Times New Roman" panose="02020603050405020304" pitchFamily="18" charset="0"/>
              </a:rPr>
              <a:t>。</a:t>
            </a:r>
            <a:endParaRPr lang="zh-CN" altLang="en-US">
              <a:latin typeface="Times New Roman" panose="02020603050405020304" pitchFamily="18" charset="0"/>
            </a:endParaRPr>
          </a:p>
        </p:txBody>
      </p:sp>
    </p:spTree>
  </p:cSld>
  <p:clrMapOvr>
    <a:masterClrMapping/>
  </p:clrMapOvr>
  <p:transition>
    <p:blinds dir="vert"/>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8372" name="文本框 58371"/>
          <p:cNvSpPr txBox="1"/>
          <p:nvPr/>
        </p:nvSpPr>
        <p:spPr>
          <a:xfrm>
            <a:off x="228600" y="612775"/>
            <a:ext cx="8686800" cy="4035425"/>
          </a:xfrm>
          <a:prstGeom prst="rect">
            <a:avLst/>
          </a:prstGeom>
          <a:noFill/>
          <a:ln w="9525">
            <a:noFill/>
          </a:ln>
        </p:spPr>
        <p:txBody>
          <a:bodyPr>
            <a:spAutoFit/>
          </a:bodyPr>
          <a:p>
            <a:pPr>
              <a:lnSpc>
                <a:spcPct val="180000"/>
              </a:lnSpc>
              <a:spcBef>
                <a:spcPct val="50000"/>
              </a:spcBef>
            </a:pPr>
            <a:r>
              <a:rPr lang="en-US" altLang="zh-CN" dirty="0">
                <a:latin typeface="Times New Roman" panose="02020603050405020304" pitchFamily="18" charset="0"/>
              </a:rPr>
              <a:t>        </a:t>
            </a:r>
            <a:r>
              <a:rPr lang="zh-CN" altLang="en-US" b="1" dirty="0">
                <a:latin typeface="Times New Roman" panose="02020603050405020304" pitchFamily="18" charset="0"/>
              </a:rPr>
              <a:t>如果在图</a:t>
            </a:r>
            <a:r>
              <a:rPr lang="en-US" altLang="zh-CN" b="1">
                <a:latin typeface="Times New Roman" panose="02020603050405020304" pitchFamily="18" charset="0"/>
              </a:rPr>
              <a:t>11- 15</a:t>
            </a:r>
            <a:r>
              <a:rPr lang="zh-CN" altLang="en-US" b="1" dirty="0">
                <a:latin typeface="Times New Roman" panose="02020603050405020304" pitchFamily="18" charset="0"/>
              </a:rPr>
              <a:t>所示电路的基础上再增加一级运算放大器， 如图</a:t>
            </a:r>
            <a:r>
              <a:rPr lang="en-US" altLang="zh-CN" b="1">
                <a:latin typeface="Times New Roman" panose="02020603050405020304" pitchFamily="18" charset="0"/>
              </a:rPr>
              <a:t>11- 16</a:t>
            </a:r>
            <a:r>
              <a:rPr lang="zh-CN" altLang="en-US" b="1" dirty="0">
                <a:latin typeface="Times New Roman" panose="02020603050405020304" pitchFamily="18" charset="0"/>
              </a:rPr>
              <a:t>所示， 便构成了双极性的</a:t>
            </a:r>
            <a:r>
              <a:rPr lang="en-US" altLang="zh-CN" b="1">
                <a:latin typeface="Times New Roman" panose="02020603050405020304" pitchFamily="18" charset="0"/>
              </a:rPr>
              <a:t>DAC</a:t>
            </a:r>
            <a:r>
              <a:rPr lang="zh-CN" altLang="en-US" b="1" dirty="0">
                <a:latin typeface="Times New Roman" panose="02020603050405020304" pitchFamily="18" charset="0"/>
              </a:rPr>
              <a:t>电路。 这种接法在效果上起到了把数字量的最高位当作符号位的作用。由于基准电压也可改变极性， 这样便实现了完整的四象限乘积输出。 关于双极性</a:t>
            </a:r>
            <a:r>
              <a:rPr lang="en-US" altLang="zh-CN" b="1">
                <a:latin typeface="Times New Roman" panose="02020603050405020304" pitchFamily="18" charset="0"/>
              </a:rPr>
              <a:t>DAC</a:t>
            </a:r>
            <a:r>
              <a:rPr lang="zh-CN" altLang="en-US" b="1" dirty="0">
                <a:latin typeface="Times New Roman" panose="02020603050405020304" pitchFamily="18" charset="0"/>
              </a:rPr>
              <a:t>电路的输出电压与输入数字量的关系， 请读者自行分析。</a:t>
            </a:r>
            <a:endParaRPr lang="zh-CN" altLang="en-US" b="1">
              <a:latin typeface="Times New Roman" panose="02020603050405020304" pitchFamily="18" charset="0"/>
            </a:endParaRPr>
          </a:p>
        </p:txBody>
      </p:sp>
    </p:spTree>
  </p:cSld>
  <p:clrMapOvr>
    <a:masterClrMapping/>
  </p:clrMapOvr>
  <p:transition>
    <p:blinds dir="vert"/>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7348" name="文本框 57347"/>
          <p:cNvSpPr txBox="1"/>
          <p:nvPr/>
        </p:nvSpPr>
        <p:spPr>
          <a:xfrm>
            <a:off x="2125663" y="5638800"/>
            <a:ext cx="5045075" cy="457200"/>
          </a:xfrm>
          <a:prstGeom prst="rect">
            <a:avLst/>
          </a:prstGeom>
          <a:noFill/>
          <a:ln w="9525">
            <a:noFill/>
          </a:ln>
        </p:spPr>
        <p:txBody>
          <a:bodyPr wrap="none" anchor="t" anchorCtr="0">
            <a:spAutoFit/>
          </a:bodyPr>
          <a:p>
            <a:r>
              <a:rPr lang="zh-CN" altLang="en-US" dirty="0">
                <a:latin typeface="Times New Roman" panose="02020603050405020304" pitchFamily="18" charset="0"/>
              </a:rPr>
              <a:t>图 </a:t>
            </a:r>
            <a:r>
              <a:rPr lang="en-US" altLang="zh-CN">
                <a:latin typeface="Times New Roman" panose="02020603050405020304" pitchFamily="18" charset="0"/>
              </a:rPr>
              <a:t>11-16 DAC0832</a:t>
            </a:r>
            <a:r>
              <a:rPr lang="zh-CN" altLang="en-US" dirty="0">
                <a:latin typeface="Times New Roman" panose="02020603050405020304" pitchFamily="18" charset="0"/>
              </a:rPr>
              <a:t>的双极性工作电路</a:t>
            </a:r>
            <a:endParaRPr lang="zh-CN" altLang="en-US">
              <a:latin typeface="Times New Roman" panose="02020603050405020304" pitchFamily="18" charset="0"/>
            </a:endParaRPr>
          </a:p>
        </p:txBody>
      </p:sp>
      <p:graphicFrame>
        <p:nvGraphicFramePr>
          <p:cNvPr id="57349" name="对象 57348"/>
          <p:cNvGraphicFramePr/>
          <p:nvPr/>
        </p:nvGraphicFramePr>
        <p:xfrm>
          <a:off x="0" y="1600200"/>
          <a:ext cx="9144000" cy="2917825"/>
        </p:xfrm>
        <a:graphic>
          <a:graphicData uri="http://schemas.openxmlformats.org/presentationml/2006/ole">
            <mc:AlternateContent xmlns:mc="http://schemas.openxmlformats.org/markup-compatibility/2006">
              <mc:Choice xmlns:v="urn:schemas-microsoft-com:vml" Requires="v">
                <p:oleObj spid="_x0000_s3105" name="" r:id="rId1" imgW="4175760" imgH="1333500" progId="Visio.Drawing.4">
                  <p:embed/>
                </p:oleObj>
              </mc:Choice>
              <mc:Fallback>
                <p:oleObj name="" r:id="rId1" imgW="4175760" imgH="1333500" progId="Visio.Drawing.4">
                  <p:embed/>
                  <p:pic>
                    <p:nvPicPr>
                      <p:cNvPr id="0" name="图片 3104"/>
                      <p:cNvPicPr/>
                      <p:nvPr/>
                    </p:nvPicPr>
                    <p:blipFill>
                      <a:blip r:embed="rId2"/>
                      <a:stretch>
                        <a:fillRect/>
                      </a:stretch>
                    </p:blipFill>
                    <p:spPr>
                      <a:xfrm>
                        <a:off x="0" y="1600200"/>
                        <a:ext cx="9144000" cy="2917825"/>
                      </a:xfrm>
                      <a:prstGeom prst="rect">
                        <a:avLst/>
                      </a:prstGeom>
                      <a:noFill/>
                      <a:ln w="38100">
                        <a:noFill/>
                        <a:miter/>
                      </a:ln>
                    </p:spPr>
                  </p:pic>
                </p:oleObj>
              </mc:Fallback>
            </mc:AlternateContent>
          </a:graphicData>
        </a:graphic>
      </p:graphicFrame>
    </p:spTree>
  </p:cSld>
  <p:clrMapOvr>
    <a:masterClrMapping/>
  </p:clrMapOvr>
  <p:transition>
    <p:blinds dir="vert"/>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0420" name="文本框 60419"/>
          <p:cNvSpPr txBox="1"/>
          <p:nvPr/>
        </p:nvSpPr>
        <p:spPr>
          <a:xfrm>
            <a:off x="152400" y="609600"/>
            <a:ext cx="8839200" cy="4217988"/>
          </a:xfrm>
          <a:prstGeom prst="rect">
            <a:avLst/>
          </a:prstGeom>
          <a:noFill/>
          <a:ln w="9525">
            <a:noFill/>
          </a:ln>
        </p:spPr>
        <p:txBody>
          <a:bodyPr>
            <a:spAutoFit/>
          </a:bodyPr>
          <a:p>
            <a:pPr>
              <a:lnSpc>
                <a:spcPct val="180000"/>
              </a:lnSpc>
              <a:spcBef>
                <a:spcPct val="50000"/>
              </a:spcBef>
            </a:pPr>
            <a:r>
              <a:rPr lang="en-US" altLang="zh-CN" b="1" dirty="0">
                <a:latin typeface="Times New Roman" panose="02020603050405020304" pitchFamily="18" charset="0"/>
              </a:rPr>
              <a:t>        </a:t>
            </a:r>
            <a:r>
              <a:rPr lang="en-US" altLang="zh-CN" b="1">
                <a:latin typeface="Times New Roman" panose="02020603050405020304" pitchFamily="18" charset="0"/>
              </a:rPr>
              <a:t>4</a:t>
            </a:r>
            <a:r>
              <a:rPr lang="zh-CN" altLang="en-US" b="1" dirty="0">
                <a:latin typeface="Times New Roman" panose="02020603050405020304" pitchFamily="18" charset="0"/>
              </a:rPr>
              <a:t>） </a:t>
            </a:r>
            <a:r>
              <a:rPr lang="en-US" altLang="zh-CN" b="1">
                <a:latin typeface="Times New Roman" panose="02020603050405020304" pitchFamily="18" charset="0"/>
              </a:rPr>
              <a:t>DAC0832</a:t>
            </a:r>
            <a:r>
              <a:rPr lang="zh-CN" altLang="en-US" b="1" dirty="0">
                <a:latin typeface="Times New Roman" panose="02020603050405020304" pitchFamily="18" charset="0"/>
              </a:rPr>
              <a:t>的工作方式</a:t>
            </a:r>
            <a:endParaRPr lang="zh-CN" altLang="en-US" b="1" dirty="0">
              <a:latin typeface="Times New Roman" panose="02020603050405020304" pitchFamily="18" charset="0"/>
            </a:endParaRPr>
          </a:p>
          <a:p>
            <a:pPr>
              <a:lnSpc>
                <a:spcPct val="180000"/>
              </a:lnSpc>
              <a:spcBef>
                <a:spcPct val="50000"/>
              </a:spcBef>
            </a:pPr>
            <a:r>
              <a:rPr lang="zh-CN" altLang="en-US" b="1" dirty="0">
                <a:latin typeface="Times New Roman" panose="02020603050405020304" pitchFamily="18" charset="0"/>
              </a:rPr>
              <a:t>       上面提到， 通过外接不同的电路， 可以使</a:t>
            </a:r>
            <a:r>
              <a:rPr lang="en-US" altLang="zh-CN" b="1">
                <a:latin typeface="Times New Roman" panose="02020603050405020304" pitchFamily="18" charset="0"/>
              </a:rPr>
              <a:t>DAC0832</a:t>
            </a:r>
            <a:r>
              <a:rPr lang="zh-CN" altLang="en-US" b="1" dirty="0">
                <a:latin typeface="Times New Roman" panose="02020603050405020304" pitchFamily="18" charset="0"/>
              </a:rPr>
              <a:t>实现单极性或双极性</a:t>
            </a:r>
            <a:r>
              <a:rPr lang="en-US" altLang="zh-CN" b="1">
                <a:latin typeface="Times New Roman" panose="02020603050405020304" pitchFamily="18" charset="0"/>
              </a:rPr>
              <a:t>D/A</a:t>
            </a:r>
            <a:r>
              <a:rPr lang="zh-CN" altLang="en-US" b="1" dirty="0">
                <a:latin typeface="Times New Roman" panose="02020603050405020304" pitchFamily="18" charset="0"/>
              </a:rPr>
              <a:t>转换。另外， 根据芯片内部的两个锁存器（</a:t>
            </a:r>
            <a:r>
              <a:rPr lang="en-US" altLang="zh-CN" b="1">
                <a:latin typeface="Times New Roman" panose="02020603050405020304" pitchFamily="18" charset="0"/>
              </a:rPr>
              <a:t>8</a:t>
            </a:r>
            <a:r>
              <a:rPr lang="zh-CN" altLang="en-US" b="1" dirty="0">
                <a:latin typeface="Times New Roman" panose="02020603050405020304" pitchFamily="18" charset="0"/>
              </a:rPr>
              <a:t>位输入锁存器、 </a:t>
            </a:r>
            <a:r>
              <a:rPr lang="en-US" altLang="zh-CN" b="1">
                <a:latin typeface="Times New Roman" panose="02020603050405020304" pitchFamily="18" charset="0"/>
              </a:rPr>
              <a:t>8</a:t>
            </a:r>
            <a:r>
              <a:rPr lang="zh-CN" altLang="en-US" b="1" dirty="0">
                <a:latin typeface="Times New Roman" panose="02020603050405020304" pitchFamily="18" charset="0"/>
              </a:rPr>
              <a:t>位</a:t>
            </a:r>
            <a:r>
              <a:rPr lang="en-US" altLang="zh-CN" b="1">
                <a:latin typeface="Times New Roman" panose="02020603050405020304" pitchFamily="18" charset="0"/>
              </a:rPr>
              <a:t>D/A</a:t>
            </a:r>
            <a:r>
              <a:rPr lang="zh-CN" altLang="en-US" b="1" dirty="0">
                <a:latin typeface="Times New Roman" panose="02020603050405020304" pitchFamily="18" charset="0"/>
              </a:rPr>
              <a:t>锁存器）工作状态的不同，</a:t>
            </a:r>
            <a:r>
              <a:rPr lang="en-US" altLang="zh-CN" b="1">
                <a:latin typeface="Times New Roman" panose="02020603050405020304" pitchFamily="18" charset="0"/>
              </a:rPr>
              <a:t>DAC0832</a:t>
            </a:r>
            <a:r>
              <a:rPr lang="zh-CN" altLang="en-US" b="1" dirty="0">
                <a:latin typeface="Times New Roman" panose="02020603050405020304" pitchFamily="18" charset="0"/>
              </a:rPr>
              <a:t>还可以有三种工作方式：双缓冲工作方式、单缓冲工作方式和直通工作方式。 </a:t>
            </a:r>
            <a:endParaRPr lang="zh-CN" altLang="en-US" b="1">
              <a:latin typeface="Times New Roman" panose="02020603050405020304" pitchFamily="18" charset="0"/>
            </a:endParaRPr>
          </a:p>
        </p:txBody>
      </p:sp>
    </p:spTree>
  </p:cSld>
  <p:clrMapOvr>
    <a:masterClrMapping/>
  </p:clrMapOvr>
  <p:transition>
    <p:blinds dir="vert"/>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59401" name="组合 59400"/>
          <p:cNvGrpSpPr/>
          <p:nvPr/>
        </p:nvGrpSpPr>
        <p:grpSpPr>
          <a:xfrm>
            <a:off x="152400" y="609600"/>
            <a:ext cx="8763000" cy="5751513"/>
            <a:chOff x="96" y="384"/>
            <a:chExt cx="5520" cy="3623"/>
          </a:xfrm>
        </p:grpSpPr>
        <p:sp>
          <p:nvSpPr>
            <p:cNvPr id="59396" name="文本框 59395"/>
            <p:cNvSpPr txBox="1"/>
            <p:nvPr/>
          </p:nvSpPr>
          <p:spPr>
            <a:xfrm>
              <a:off x="96" y="384"/>
              <a:ext cx="5520" cy="3623"/>
            </a:xfrm>
            <a:prstGeom prst="rect">
              <a:avLst/>
            </a:prstGeom>
            <a:noFill/>
            <a:ln w="9525">
              <a:noFill/>
            </a:ln>
          </p:spPr>
          <p:txBody>
            <a:bodyPr>
              <a:spAutoFit/>
            </a:bodyPr>
            <a:p>
              <a:pPr>
                <a:lnSpc>
                  <a:spcPct val="150000"/>
                </a:lnSpc>
                <a:spcBef>
                  <a:spcPct val="50000"/>
                </a:spcBef>
              </a:pPr>
              <a:r>
                <a:rPr lang="en-US" altLang="zh-CN" dirty="0">
                  <a:latin typeface="Times New Roman" panose="02020603050405020304" pitchFamily="18" charset="0"/>
                </a:rPr>
                <a:t>        </a:t>
              </a:r>
              <a:r>
                <a:rPr lang="en-US" altLang="zh-CN" b="1">
                  <a:latin typeface="Times New Roman" panose="02020603050405020304" pitchFamily="18" charset="0"/>
                </a:rPr>
                <a:t>① </a:t>
              </a:r>
              <a:r>
                <a:rPr lang="zh-CN" altLang="en-US" b="1" dirty="0">
                  <a:latin typeface="Times New Roman" panose="02020603050405020304" pitchFamily="18" charset="0"/>
                </a:rPr>
                <a:t>双缓冲工作方式</a:t>
              </a:r>
              <a:r>
                <a:rPr lang="en-US" altLang="zh-CN" b="1">
                  <a:latin typeface="Times New Roman" panose="02020603050405020304" pitchFamily="18" charset="0"/>
                </a:rPr>
                <a:t>: </a:t>
              </a:r>
              <a:endParaRPr lang="en-US" altLang="zh-CN" b="1">
                <a:latin typeface="Times New Roman" panose="02020603050405020304" pitchFamily="18" charset="0"/>
              </a:endParaRPr>
            </a:p>
            <a:p>
              <a:pPr>
                <a:lnSpc>
                  <a:spcPct val="150000"/>
                </a:lnSpc>
                <a:spcBef>
                  <a:spcPct val="50000"/>
                </a:spcBef>
              </a:pPr>
              <a:r>
                <a:rPr lang="en-US" altLang="zh-CN" b="1">
                  <a:latin typeface="Times New Roman" panose="02020603050405020304" pitchFamily="18" charset="0"/>
                </a:rPr>
                <a:t>        </a:t>
              </a:r>
              <a:r>
                <a:rPr lang="zh-CN" altLang="en-US" b="1" dirty="0">
                  <a:latin typeface="Times New Roman" panose="02020603050405020304" pitchFamily="18" charset="0"/>
                </a:rPr>
                <a:t>是指两个</a:t>
              </a:r>
              <a:r>
                <a:rPr lang="en-US" altLang="zh-CN" b="1">
                  <a:latin typeface="Times New Roman" panose="02020603050405020304" pitchFamily="18" charset="0"/>
                </a:rPr>
                <a:t>8</a:t>
              </a:r>
              <a:r>
                <a:rPr lang="zh-CN" altLang="en-US" b="1" dirty="0">
                  <a:latin typeface="Times New Roman" panose="02020603050405020304" pitchFamily="18" charset="0"/>
                </a:rPr>
                <a:t>位锁存器均处于受控锁存工作状态。 在双缓冲工作方式下，数字量的写入分成两步：第一步是当</a:t>
              </a:r>
              <a:r>
                <a:rPr lang="en-US" altLang="zh-CN" b="1">
                  <a:latin typeface="Times New Roman" panose="02020603050405020304" pitchFamily="18" charset="0"/>
                </a:rPr>
                <a:t>CS= 0</a:t>
              </a:r>
              <a:r>
                <a:rPr lang="zh-CN" altLang="en-US" b="1">
                  <a:latin typeface="Times New Roman" panose="02020603050405020304" pitchFamily="18" charset="0"/>
                </a:rPr>
                <a:t>、</a:t>
              </a:r>
              <a:r>
                <a:rPr lang="en-US" altLang="zh-CN" b="1">
                  <a:latin typeface="Times New Roman" panose="02020603050405020304" pitchFamily="18" charset="0"/>
                </a:rPr>
                <a:t>ILE = 1</a:t>
              </a:r>
              <a:r>
                <a:rPr lang="zh-CN" altLang="en-US" b="1" dirty="0">
                  <a:latin typeface="Times New Roman" panose="02020603050405020304" pitchFamily="18" charset="0"/>
                </a:rPr>
                <a:t>时， 外部输入的数字量在写信号</a:t>
              </a:r>
              <a:r>
                <a:rPr lang="en-US" altLang="zh-CN" b="1">
                  <a:latin typeface="Times New Roman" panose="02020603050405020304" pitchFamily="18" charset="0"/>
                </a:rPr>
                <a:t>WR</a:t>
              </a:r>
              <a:r>
                <a:rPr lang="en-US" altLang="zh-CN" b="1" baseline="-25000">
                  <a:latin typeface="Times New Roman" panose="02020603050405020304" pitchFamily="18" charset="0"/>
                </a:rPr>
                <a:t>1</a:t>
              </a:r>
              <a:r>
                <a:rPr lang="zh-CN" altLang="en-US" b="1">
                  <a:latin typeface="Times New Roman" panose="02020603050405020304" pitchFamily="18" charset="0"/>
                </a:rPr>
                <a:t>（</a:t>
              </a:r>
              <a:r>
                <a:rPr lang="zh-CN" altLang="en-US" b="1" dirty="0">
                  <a:latin typeface="Times New Roman" panose="02020603050405020304" pitchFamily="18" charset="0"/>
                </a:rPr>
                <a:t>负脉冲）的作用下写入</a:t>
              </a:r>
              <a:r>
                <a:rPr lang="en-US" altLang="zh-CN" b="1">
                  <a:latin typeface="Times New Roman" panose="02020603050405020304" pitchFamily="18" charset="0"/>
                </a:rPr>
                <a:t>8</a:t>
              </a:r>
              <a:r>
                <a:rPr lang="zh-CN" altLang="en-US" b="1" dirty="0">
                  <a:latin typeface="Times New Roman" panose="02020603050405020304" pitchFamily="18" charset="0"/>
                </a:rPr>
                <a:t>位输入锁存器， 并在写脉冲的上升沿锁存；第二步是令</a:t>
              </a:r>
              <a:r>
                <a:rPr lang="en-US" altLang="zh-CN" b="1">
                  <a:latin typeface="Times New Roman" panose="02020603050405020304" pitchFamily="18" charset="0"/>
                </a:rPr>
                <a:t>XFER= 0</a:t>
              </a:r>
              <a:r>
                <a:rPr lang="zh-CN" altLang="en-US" b="1">
                  <a:latin typeface="Times New Roman" panose="02020603050405020304" pitchFamily="18" charset="0"/>
                </a:rPr>
                <a:t>， </a:t>
              </a:r>
              <a:r>
                <a:rPr lang="zh-CN" altLang="en-US" b="1" dirty="0">
                  <a:latin typeface="Times New Roman" panose="02020603050405020304" pitchFamily="18" charset="0"/>
                </a:rPr>
                <a:t>在写信号</a:t>
              </a:r>
              <a:r>
                <a:rPr lang="en-US" altLang="zh-CN" b="1">
                  <a:latin typeface="Times New Roman" panose="02020603050405020304" pitchFamily="18" charset="0"/>
                </a:rPr>
                <a:t>WR</a:t>
              </a:r>
              <a:r>
                <a:rPr lang="en-US" altLang="zh-CN" b="1" baseline="-25000">
                  <a:latin typeface="Times New Roman" panose="02020603050405020304" pitchFamily="18" charset="0"/>
                </a:rPr>
                <a:t>2</a:t>
              </a:r>
              <a:r>
                <a:rPr lang="zh-CN" altLang="en-US" b="1">
                  <a:latin typeface="Times New Roman" panose="02020603050405020304" pitchFamily="18" charset="0"/>
                </a:rPr>
                <a:t>（</a:t>
              </a:r>
              <a:r>
                <a:rPr lang="zh-CN" altLang="en-US" b="1" dirty="0">
                  <a:latin typeface="Times New Roman" panose="02020603050405020304" pitchFamily="18" charset="0"/>
                </a:rPr>
                <a:t>负脉冲）的作用下将</a:t>
              </a:r>
              <a:r>
                <a:rPr lang="en-US" altLang="zh-CN" b="1">
                  <a:latin typeface="Times New Roman" panose="02020603050405020304" pitchFamily="18" charset="0"/>
                </a:rPr>
                <a:t>8</a:t>
              </a:r>
              <a:r>
                <a:rPr lang="zh-CN" altLang="en-US" b="1" dirty="0">
                  <a:latin typeface="Times New Roman" panose="02020603050405020304" pitchFamily="18" charset="0"/>
                </a:rPr>
                <a:t>位输入锁存器的数据写入</a:t>
              </a:r>
              <a:r>
                <a:rPr lang="en-US" altLang="zh-CN" b="1">
                  <a:latin typeface="Times New Roman" panose="02020603050405020304" pitchFamily="18" charset="0"/>
                </a:rPr>
                <a:t>8</a:t>
              </a:r>
              <a:r>
                <a:rPr lang="zh-CN" altLang="en-US" b="1" dirty="0">
                  <a:latin typeface="Times New Roman" panose="02020603050405020304" pitchFamily="18" charset="0"/>
                </a:rPr>
                <a:t>位</a:t>
              </a:r>
              <a:r>
                <a:rPr lang="en-US" altLang="zh-CN" b="1">
                  <a:latin typeface="Times New Roman" panose="02020603050405020304" pitchFamily="18" charset="0"/>
                </a:rPr>
                <a:t>DAC</a:t>
              </a:r>
              <a:r>
                <a:rPr lang="zh-CN" altLang="en-US" b="1" dirty="0">
                  <a:latin typeface="Times New Roman" panose="02020603050405020304" pitchFamily="18" charset="0"/>
                </a:rPr>
                <a:t>锁存器，开始</a:t>
              </a:r>
              <a:r>
                <a:rPr lang="en-US" altLang="zh-CN" b="1">
                  <a:latin typeface="Times New Roman" panose="02020603050405020304" pitchFamily="18" charset="0"/>
                </a:rPr>
                <a:t>D/A</a:t>
              </a:r>
              <a:r>
                <a:rPr lang="zh-CN" altLang="en-US" b="1" dirty="0">
                  <a:latin typeface="Times New Roman" panose="02020603050405020304" pitchFamily="18" charset="0"/>
                </a:rPr>
                <a:t>转换， 并在写脉冲的上升沿锁存。 这样， </a:t>
              </a:r>
              <a:r>
                <a:rPr lang="en-US" altLang="zh-CN" b="1">
                  <a:latin typeface="Times New Roman" panose="02020603050405020304" pitchFamily="18" charset="0"/>
                </a:rPr>
                <a:t>DAC0832</a:t>
              </a:r>
              <a:r>
                <a:rPr lang="zh-CN" altLang="en-US" b="1" dirty="0">
                  <a:latin typeface="Times New Roman" panose="02020603050405020304" pitchFamily="18" charset="0"/>
                </a:rPr>
                <a:t>在进行</a:t>
              </a:r>
              <a:r>
                <a:rPr lang="en-US" altLang="zh-CN" b="1">
                  <a:latin typeface="Times New Roman" panose="02020603050405020304" pitchFamily="18" charset="0"/>
                </a:rPr>
                <a:t>A/D</a:t>
              </a:r>
              <a:r>
                <a:rPr lang="zh-CN" altLang="en-US" b="1" dirty="0">
                  <a:latin typeface="Times New Roman" panose="02020603050405020304" pitchFamily="18" charset="0"/>
                </a:rPr>
                <a:t>转换的同时， 就可以采集下一个数字量。 图</a:t>
              </a:r>
              <a:r>
                <a:rPr lang="en-US" altLang="zh-CN" b="1">
                  <a:latin typeface="Times New Roman" panose="02020603050405020304" pitchFamily="18" charset="0"/>
                </a:rPr>
                <a:t>11- 17</a:t>
              </a:r>
              <a:r>
                <a:rPr lang="zh-CN" altLang="en-US" b="1" dirty="0">
                  <a:latin typeface="Times New Roman" panose="02020603050405020304" pitchFamily="18" charset="0"/>
                </a:rPr>
                <a:t>给出了</a:t>
              </a:r>
              <a:r>
                <a:rPr lang="en-US" altLang="zh-CN" b="1">
                  <a:latin typeface="Times New Roman" panose="02020603050405020304" pitchFamily="18" charset="0"/>
                </a:rPr>
                <a:t>DAC0832</a:t>
              </a:r>
              <a:r>
                <a:rPr lang="zh-CN" altLang="en-US" b="1" dirty="0">
                  <a:latin typeface="Times New Roman" panose="02020603050405020304" pitchFamily="18" charset="0"/>
                </a:rPr>
                <a:t>双缓冲工作方式下的连线图和时序图。 </a:t>
              </a:r>
              <a:endParaRPr lang="zh-CN" altLang="en-US" b="1">
                <a:latin typeface="Times New Roman" panose="02020603050405020304" pitchFamily="18" charset="0"/>
              </a:endParaRPr>
            </a:p>
          </p:txBody>
        </p:sp>
        <p:sp>
          <p:nvSpPr>
            <p:cNvPr id="59397" name="直接连接符 59396"/>
            <p:cNvSpPr/>
            <p:nvPr/>
          </p:nvSpPr>
          <p:spPr>
            <a:xfrm>
              <a:off x="4192" y="1328"/>
              <a:ext cx="192" cy="0"/>
            </a:xfrm>
            <a:prstGeom prst="line">
              <a:avLst/>
            </a:prstGeom>
            <a:ln w="9525" cap="flat" cmpd="sng">
              <a:solidFill>
                <a:schemeClr val="tx1"/>
              </a:solidFill>
              <a:prstDash val="solid"/>
              <a:headEnd type="none" w="med" len="med"/>
              <a:tailEnd type="none" w="med" len="med"/>
            </a:ln>
          </p:spPr>
        </p:sp>
        <p:sp>
          <p:nvSpPr>
            <p:cNvPr id="59398" name="直接连接符 59397"/>
            <p:cNvSpPr/>
            <p:nvPr/>
          </p:nvSpPr>
          <p:spPr>
            <a:xfrm>
              <a:off x="2880" y="1688"/>
              <a:ext cx="336" cy="0"/>
            </a:xfrm>
            <a:prstGeom prst="line">
              <a:avLst/>
            </a:prstGeom>
            <a:ln w="9525" cap="flat" cmpd="sng">
              <a:solidFill>
                <a:schemeClr val="tx1"/>
              </a:solidFill>
              <a:prstDash val="solid"/>
              <a:headEnd type="none" w="med" len="med"/>
              <a:tailEnd type="none" w="med" len="med"/>
            </a:ln>
          </p:spPr>
        </p:sp>
        <p:sp>
          <p:nvSpPr>
            <p:cNvPr id="59399" name="直接连接符 59398"/>
            <p:cNvSpPr/>
            <p:nvPr/>
          </p:nvSpPr>
          <p:spPr>
            <a:xfrm>
              <a:off x="4800" y="2016"/>
              <a:ext cx="480" cy="0"/>
            </a:xfrm>
            <a:prstGeom prst="line">
              <a:avLst/>
            </a:prstGeom>
            <a:ln w="9525" cap="flat" cmpd="sng">
              <a:solidFill>
                <a:schemeClr val="tx1"/>
              </a:solidFill>
              <a:prstDash val="solid"/>
              <a:headEnd type="none" w="med" len="med"/>
              <a:tailEnd type="none" w="med" len="med"/>
            </a:ln>
          </p:spPr>
        </p:sp>
        <p:sp>
          <p:nvSpPr>
            <p:cNvPr id="59400" name="直接连接符 59399"/>
            <p:cNvSpPr/>
            <p:nvPr/>
          </p:nvSpPr>
          <p:spPr>
            <a:xfrm>
              <a:off x="912" y="2368"/>
              <a:ext cx="336" cy="0"/>
            </a:xfrm>
            <a:prstGeom prst="line">
              <a:avLst/>
            </a:prstGeom>
            <a:ln w="9525" cap="flat" cmpd="sng">
              <a:solidFill>
                <a:schemeClr val="tx1"/>
              </a:solidFill>
              <a:prstDash val="solid"/>
              <a:headEnd type="none" w="med" len="med"/>
              <a:tailEnd type="none" w="med" len="med"/>
            </a:ln>
          </p:spPr>
        </p:sp>
      </p:grpSp>
    </p:spTree>
  </p:cSld>
  <p:clrMapOvr>
    <a:masterClrMapping/>
  </p:clrMapOvr>
  <p:transition>
    <p:blinds dir="vert"/>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2468" name="文本框 62467"/>
          <p:cNvSpPr txBox="1"/>
          <p:nvPr/>
        </p:nvSpPr>
        <p:spPr>
          <a:xfrm>
            <a:off x="1292225" y="5410200"/>
            <a:ext cx="7178675" cy="822325"/>
          </a:xfrm>
          <a:prstGeom prst="rect">
            <a:avLst/>
          </a:prstGeom>
          <a:noFill/>
          <a:ln w="9525">
            <a:noFill/>
          </a:ln>
        </p:spPr>
        <p:txBody>
          <a:bodyPr wrap="none" anchor="t" anchorCtr="0">
            <a:spAutoFit/>
          </a:bodyPr>
          <a:p>
            <a:pPr algn="ctr"/>
            <a:r>
              <a:rPr lang="zh-CN" altLang="en-US" dirty="0">
                <a:latin typeface="Times New Roman" panose="02020603050405020304" pitchFamily="18" charset="0"/>
              </a:rPr>
              <a:t>图 </a:t>
            </a:r>
            <a:r>
              <a:rPr lang="en-US" altLang="zh-CN">
                <a:latin typeface="Times New Roman" panose="02020603050405020304" pitchFamily="18" charset="0"/>
              </a:rPr>
              <a:t>11-17 DAC0832</a:t>
            </a:r>
            <a:r>
              <a:rPr lang="zh-CN" altLang="en-US" dirty="0">
                <a:latin typeface="Times New Roman" panose="02020603050405020304" pitchFamily="18" charset="0"/>
              </a:rPr>
              <a:t>双缓冲工作方式连续图和时序图</a:t>
            </a:r>
            <a:endParaRPr lang="zh-CN" altLang="en-US" dirty="0">
              <a:latin typeface="Times New Roman" panose="02020603050405020304" pitchFamily="18" charset="0"/>
            </a:endParaRPr>
          </a:p>
          <a:p>
            <a:pPr algn="ctr"/>
            <a:r>
              <a:rPr lang="en-US" altLang="zh-CN">
                <a:latin typeface="Times New Roman" panose="02020603050405020304" pitchFamily="18" charset="0"/>
              </a:rPr>
              <a:t>(a)  </a:t>
            </a:r>
            <a:r>
              <a:rPr lang="zh-CN" altLang="en-US" dirty="0">
                <a:latin typeface="Times New Roman" panose="02020603050405020304" pitchFamily="18" charset="0"/>
              </a:rPr>
              <a:t>连线图； </a:t>
            </a:r>
            <a:r>
              <a:rPr lang="en-US" altLang="zh-CN">
                <a:latin typeface="Times New Roman" panose="02020603050405020304" pitchFamily="18" charset="0"/>
              </a:rPr>
              <a:t>(b) </a:t>
            </a:r>
            <a:r>
              <a:rPr lang="zh-CN" altLang="en-US" dirty="0">
                <a:latin typeface="Times New Roman" panose="02020603050405020304" pitchFamily="18" charset="0"/>
              </a:rPr>
              <a:t>时序图</a:t>
            </a:r>
            <a:endParaRPr lang="zh-CN" altLang="en-US">
              <a:latin typeface="Times New Roman" panose="02020603050405020304" pitchFamily="18" charset="0"/>
            </a:endParaRPr>
          </a:p>
        </p:txBody>
      </p:sp>
      <p:graphicFrame>
        <p:nvGraphicFramePr>
          <p:cNvPr id="62469" name="对象 62468"/>
          <p:cNvGraphicFramePr/>
          <p:nvPr/>
        </p:nvGraphicFramePr>
        <p:xfrm>
          <a:off x="0" y="1447800"/>
          <a:ext cx="9144000" cy="3127375"/>
        </p:xfrm>
        <a:graphic>
          <a:graphicData uri="http://schemas.openxmlformats.org/presentationml/2006/ole">
            <mc:AlternateContent xmlns:mc="http://schemas.openxmlformats.org/markup-compatibility/2006">
              <mc:Choice xmlns:v="urn:schemas-microsoft-com:vml" Requires="v">
                <p:oleObj spid="_x0000_s3101" name="" r:id="rId1" imgW="5143500" imgH="1760220" progId="Visio.Drawing.4">
                  <p:embed/>
                </p:oleObj>
              </mc:Choice>
              <mc:Fallback>
                <p:oleObj name="" r:id="rId1" imgW="5143500" imgH="1760220" progId="Visio.Drawing.4">
                  <p:embed/>
                  <p:pic>
                    <p:nvPicPr>
                      <p:cNvPr id="0" name="图片 3100"/>
                      <p:cNvPicPr/>
                      <p:nvPr/>
                    </p:nvPicPr>
                    <p:blipFill>
                      <a:blip r:embed="rId2"/>
                      <a:stretch>
                        <a:fillRect/>
                      </a:stretch>
                    </p:blipFill>
                    <p:spPr>
                      <a:xfrm>
                        <a:off x="0" y="1447800"/>
                        <a:ext cx="9144000" cy="3127375"/>
                      </a:xfrm>
                      <a:prstGeom prst="rect">
                        <a:avLst/>
                      </a:prstGeom>
                      <a:noFill/>
                      <a:ln w="38100">
                        <a:noFill/>
                        <a:miter/>
                      </a:ln>
                    </p:spPr>
                  </p:pic>
                </p:oleObj>
              </mc:Fallback>
            </mc:AlternateContent>
          </a:graphicData>
        </a:graphic>
      </p:graphicFrame>
    </p:spTree>
  </p:cSld>
  <p:clrMapOvr>
    <a:masterClrMapping/>
  </p:clrMapOvr>
  <p:transition>
    <p:blinds dir="vert"/>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44" name="文本框 61443"/>
          <p:cNvSpPr txBox="1"/>
          <p:nvPr/>
        </p:nvSpPr>
        <p:spPr>
          <a:xfrm>
            <a:off x="228600" y="723900"/>
            <a:ext cx="8610600" cy="4381500"/>
          </a:xfrm>
          <a:prstGeom prst="rect">
            <a:avLst/>
          </a:prstGeom>
          <a:noFill/>
          <a:ln w="9525">
            <a:noFill/>
          </a:ln>
        </p:spPr>
        <p:txBody>
          <a:bodyPr>
            <a:spAutoFit/>
          </a:bodyPr>
          <a:p>
            <a:pPr>
              <a:lnSpc>
                <a:spcPct val="179000"/>
              </a:lnSpc>
              <a:spcBef>
                <a:spcPct val="50000"/>
              </a:spcBef>
            </a:pPr>
            <a:r>
              <a:rPr lang="en-US" altLang="zh-CN" dirty="0">
                <a:latin typeface="Times New Roman" panose="02020603050405020304" pitchFamily="18" charset="0"/>
              </a:rPr>
              <a:t>       </a:t>
            </a:r>
            <a:r>
              <a:rPr lang="en-US" altLang="zh-CN" b="1">
                <a:latin typeface="Times New Roman" panose="02020603050405020304" pitchFamily="18" charset="0"/>
              </a:rPr>
              <a:t>② </a:t>
            </a:r>
            <a:r>
              <a:rPr lang="zh-CN" altLang="en-US" b="1" dirty="0">
                <a:latin typeface="Times New Roman" panose="02020603050405020304" pitchFamily="18" charset="0"/>
              </a:rPr>
              <a:t>单缓冲工作方式： </a:t>
            </a:r>
            <a:endParaRPr lang="zh-CN" altLang="en-US" b="1" dirty="0">
              <a:latin typeface="Times New Roman" panose="02020603050405020304" pitchFamily="18" charset="0"/>
            </a:endParaRPr>
          </a:p>
          <a:p>
            <a:pPr>
              <a:lnSpc>
                <a:spcPct val="179000"/>
              </a:lnSpc>
              <a:spcBef>
                <a:spcPct val="50000"/>
              </a:spcBef>
            </a:pPr>
            <a:r>
              <a:rPr lang="zh-CN" altLang="en-US" b="1" dirty="0">
                <a:latin typeface="Times New Roman" panose="02020603050405020304" pitchFamily="18" charset="0"/>
              </a:rPr>
              <a:t>       在</a:t>
            </a:r>
            <a:r>
              <a:rPr lang="en-US" altLang="zh-CN" b="1">
                <a:latin typeface="Times New Roman" panose="02020603050405020304" pitchFamily="18" charset="0"/>
              </a:rPr>
              <a:t>DAC0832</a:t>
            </a:r>
            <a:r>
              <a:rPr lang="zh-CN" altLang="en-US" b="1" dirty="0">
                <a:latin typeface="Times New Roman" panose="02020603050405020304" pitchFamily="18" charset="0"/>
              </a:rPr>
              <a:t>的两个锁存器中， 使其中的一个始终处于直通状态， 而另外一个锁存器处于受控锁存状态或者控制两个锁存器同时进行锁存， 这就是单缓冲工作方式。 </a:t>
            </a:r>
            <a:endParaRPr lang="zh-CN" altLang="en-US" b="1" dirty="0">
              <a:latin typeface="Times New Roman" panose="02020603050405020304" pitchFamily="18" charset="0"/>
            </a:endParaRPr>
          </a:p>
          <a:p>
            <a:pPr>
              <a:lnSpc>
                <a:spcPct val="179000"/>
              </a:lnSpc>
              <a:spcBef>
                <a:spcPct val="50000"/>
              </a:spcBef>
            </a:pPr>
            <a:r>
              <a:rPr lang="zh-CN" altLang="en-US" b="1" dirty="0">
                <a:latin typeface="Times New Roman" panose="02020603050405020304" pitchFamily="18" charset="0"/>
              </a:rPr>
              <a:t>        </a:t>
            </a:r>
            <a:r>
              <a:rPr lang="en-US" altLang="zh-CN" b="1">
                <a:latin typeface="Times New Roman" panose="02020603050405020304" pitchFamily="18" charset="0"/>
              </a:rPr>
              <a:t>③ </a:t>
            </a:r>
            <a:r>
              <a:rPr lang="zh-CN" altLang="en-US" b="1" dirty="0">
                <a:latin typeface="Times New Roman" panose="02020603050405020304" pitchFamily="18" charset="0"/>
              </a:rPr>
              <a:t>直通工作方式：就是指两个锁存器均处于直通工作状态， 外部输入数字量发生变化， </a:t>
            </a:r>
            <a:r>
              <a:rPr lang="en-US" altLang="zh-CN" b="1">
                <a:latin typeface="Times New Roman" panose="02020603050405020304" pitchFamily="18" charset="0"/>
              </a:rPr>
              <a:t>A/D</a:t>
            </a:r>
            <a:r>
              <a:rPr lang="zh-CN" altLang="en-US" b="1" dirty="0">
                <a:latin typeface="Times New Roman" panose="02020603050405020304" pitchFamily="18" charset="0"/>
              </a:rPr>
              <a:t>转换器输出亦随之变化。</a:t>
            </a:r>
            <a:r>
              <a:rPr lang="zh-CN" altLang="en-US" dirty="0">
                <a:latin typeface="Times New Roman" panose="02020603050405020304" pitchFamily="18" charset="0"/>
              </a:rPr>
              <a:t> </a:t>
            </a:r>
            <a:endParaRPr lang="zh-CN" altLang="en-US">
              <a:latin typeface="Times New Roman" panose="02020603050405020304" pitchFamily="18" charset="0"/>
            </a:endParaRPr>
          </a:p>
        </p:txBody>
      </p:sp>
      <p:sp>
        <p:nvSpPr>
          <p:cNvPr id="61445" name="动作按钮: 后退或前一项 61444">
            <a:hlinkClick r:id="" action="ppaction://hlinkshowjump?jump=firstslide"/>
          </p:cNvPr>
          <p:cNvSpPr/>
          <p:nvPr/>
        </p:nvSpPr>
        <p:spPr>
          <a:xfrm>
            <a:off x="8610600" y="6553200"/>
            <a:ext cx="533400" cy="304800"/>
          </a:xfrm>
          <a:prstGeom prst="actionButtonBackPrevious">
            <a:avLst/>
          </a:prstGeom>
          <a:solidFill>
            <a:schemeClr val="accent1"/>
          </a:solidFill>
          <a:ln w="9525" cap="flat" cmpd="sng">
            <a:solidFill>
              <a:schemeClr val="tx1"/>
            </a:solidFill>
            <a:prstDash val="solid"/>
            <a:miter/>
            <a:headEnd type="none" w="med" len="med"/>
            <a:tailEnd type="none" w="med" len="med"/>
          </a:ln>
        </p:spPr>
        <p:txBody>
          <a:bodyPr/>
          <a:p>
            <a:endParaRPr lang="zh-CN" altLang="en-US"/>
          </a:p>
        </p:txBody>
      </p:sp>
    </p:spTree>
  </p:cSld>
  <p:clrMapOvr>
    <a:masterClrMapping/>
  </p:clrMapOvr>
  <p:transition>
    <p:blinds dir="vert"/>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305160" name="对象 305159"/>
          <p:cNvGraphicFramePr/>
          <p:nvPr/>
        </p:nvGraphicFramePr>
        <p:xfrm>
          <a:off x="1295400" y="228600"/>
          <a:ext cx="6477000" cy="6051550"/>
        </p:xfrm>
        <a:graphic>
          <a:graphicData uri="http://schemas.openxmlformats.org/presentationml/2006/ole">
            <mc:AlternateContent xmlns:mc="http://schemas.openxmlformats.org/markup-compatibility/2006">
              <mc:Choice xmlns:v="urn:schemas-microsoft-com:vml" Requires="v">
                <p:oleObj spid="_x0000_s3104" name="" r:id="rId1" imgW="3781425" imgH="3533775" progId="Paint.Picture">
                  <p:embed/>
                </p:oleObj>
              </mc:Choice>
              <mc:Fallback>
                <p:oleObj name="" r:id="rId1" imgW="3781425" imgH="3533775" progId="Paint.Picture">
                  <p:embed/>
                  <p:pic>
                    <p:nvPicPr>
                      <p:cNvPr id="0" name="图片 3103"/>
                      <p:cNvPicPr/>
                      <p:nvPr/>
                    </p:nvPicPr>
                    <p:blipFill>
                      <a:blip r:embed="rId2"/>
                      <a:stretch>
                        <a:fillRect/>
                      </a:stretch>
                    </p:blipFill>
                    <p:spPr>
                      <a:xfrm>
                        <a:off x="1295400" y="228600"/>
                        <a:ext cx="6477000" cy="6051550"/>
                      </a:xfrm>
                      <a:prstGeom prst="rect">
                        <a:avLst/>
                      </a:prstGeom>
                      <a:noFill/>
                      <a:ln w="38100">
                        <a:noFill/>
                        <a:miter/>
                      </a:ln>
                    </p:spPr>
                  </p:pic>
                </p:oleObj>
              </mc:Fallback>
            </mc:AlternateContent>
          </a:graphicData>
        </a:graphic>
      </p:graphicFrame>
    </p:spTree>
  </p:cSld>
  <p:clrMapOvr>
    <a:masterClrMapping/>
  </p:clrMapOvr>
  <p:transition>
    <p:blinds dir="vert"/>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306178" name="对象 306177"/>
          <p:cNvGraphicFramePr/>
          <p:nvPr/>
        </p:nvGraphicFramePr>
        <p:xfrm>
          <a:off x="152400" y="1066800"/>
          <a:ext cx="8686800" cy="3695700"/>
        </p:xfrm>
        <a:graphic>
          <a:graphicData uri="http://schemas.openxmlformats.org/presentationml/2006/ole">
            <mc:AlternateContent xmlns:mc="http://schemas.openxmlformats.org/markup-compatibility/2006">
              <mc:Choice xmlns:v="urn:schemas-microsoft-com:vml" Requires="v">
                <p:oleObj spid="_x0000_s3102" name="" r:id="rId1" imgW="7743825" imgH="2876550" progId="Paint.Picture">
                  <p:embed/>
                </p:oleObj>
              </mc:Choice>
              <mc:Fallback>
                <p:oleObj name="" r:id="rId1" imgW="7743825" imgH="2876550" progId="Paint.Picture">
                  <p:embed/>
                  <p:pic>
                    <p:nvPicPr>
                      <p:cNvPr id="0" name="图片 3101"/>
                      <p:cNvPicPr/>
                      <p:nvPr/>
                    </p:nvPicPr>
                    <p:blipFill>
                      <a:blip r:embed="rId2"/>
                      <a:stretch>
                        <a:fillRect/>
                      </a:stretch>
                    </p:blipFill>
                    <p:spPr>
                      <a:xfrm>
                        <a:off x="152400" y="1066800"/>
                        <a:ext cx="8686800" cy="3695700"/>
                      </a:xfrm>
                      <a:prstGeom prst="rect">
                        <a:avLst/>
                      </a:prstGeom>
                      <a:noFill/>
                      <a:ln w="38100">
                        <a:noFill/>
                        <a:miter/>
                      </a:ln>
                    </p:spPr>
                  </p:pic>
                </p:oleObj>
              </mc:Fallback>
            </mc:AlternateContent>
          </a:graphicData>
        </a:graphic>
      </p:graphicFrame>
    </p:spTree>
  </p:cSld>
  <p:clrMapOvr>
    <a:masterClrMapping/>
  </p:clrMapOvr>
  <p:transition>
    <p:blinds dir="vert"/>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307202" name="对象 307201"/>
          <p:cNvGraphicFramePr/>
          <p:nvPr/>
        </p:nvGraphicFramePr>
        <p:xfrm>
          <a:off x="1295400" y="658813"/>
          <a:ext cx="6324600" cy="5346700"/>
        </p:xfrm>
        <a:graphic>
          <a:graphicData uri="http://schemas.openxmlformats.org/presentationml/2006/ole">
            <mc:AlternateContent xmlns:mc="http://schemas.openxmlformats.org/markup-compatibility/2006">
              <mc:Choice xmlns:v="urn:schemas-microsoft-com:vml" Requires="v">
                <p:oleObj spid="_x0000_s3103" name="" r:id="rId1" imgW="3886200" imgH="3286125" progId="Paint.Picture">
                  <p:embed/>
                </p:oleObj>
              </mc:Choice>
              <mc:Fallback>
                <p:oleObj name="" r:id="rId1" imgW="3886200" imgH="3286125" progId="Paint.Picture">
                  <p:embed/>
                  <p:pic>
                    <p:nvPicPr>
                      <p:cNvPr id="0" name="图片 3102"/>
                      <p:cNvPicPr/>
                      <p:nvPr/>
                    </p:nvPicPr>
                    <p:blipFill>
                      <a:blip r:embed="rId2"/>
                      <a:stretch>
                        <a:fillRect/>
                      </a:stretch>
                    </p:blipFill>
                    <p:spPr>
                      <a:xfrm>
                        <a:off x="1295400" y="658813"/>
                        <a:ext cx="6324600" cy="5346700"/>
                      </a:xfrm>
                      <a:prstGeom prst="rect">
                        <a:avLst/>
                      </a:prstGeom>
                      <a:noFill/>
                      <a:ln w="38100">
                        <a:noFill/>
                        <a:miter/>
                      </a:ln>
                    </p:spPr>
                  </p:pic>
                </p:oleObj>
              </mc:Fallback>
            </mc:AlternateContent>
          </a:graphicData>
        </a:graphic>
      </p:graphicFrame>
    </p:spTree>
  </p:cSld>
  <p:clrMapOvr>
    <a:masterClrMapping/>
  </p:clrMapOvr>
  <p:transition>
    <p:blinds dir="vert"/>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4516" name="文本框 64515"/>
          <p:cNvSpPr txBox="1"/>
          <p:nvPr/>
        </p:nvSpPr>
        <p:spPr>
          <a:xfrm>
            <a:off x="2768600" y="715963"/>
            <a:ext cx="3852863" cy="579437"/>
          </a:xfrm>
          <a:prstGeom prst="rect">
            <a:avLst/>
          </a:prstGeom>
          <a:noFill/>
          <a:ln w="9525">
            <a:noFill/>
          </a:ln>
        </p:spPr>
        <p:txBody>
          <a:bodyPr wrap="none" anchor="t" anchorCtr="0">
            <a:spAutoFit/>
          </a:bodyPr>
          <a:p>
            <a:r>
              <a:rPr lang="en-US" altLang="zh-CN" sz="3200" b="1">
                <a:latin typeface="Times New Roman" panose="02020603050405020304" pitchFamily="18" charset="0"/>
              </a:rPr>
              <a:t>11.2 </a:t>
            </a:r>
            <a:r>
              <a:rPr lang="zh-CN" altLang="en-US" sz="3200" b="1" dirty="0">
                <a:latin typeface="Times New Roman" panose="02020603050405020304" pitchFamily="18" charset="0"/>
              </a:rPr>
              <a:t>集成模数转换器</a:t>
            </a:r>
            <a:endParaRPr lang="zh-CN" altLang="en-US" sz="3200" b="1">
              <a:latin typeface="Times New Roman" panose="02020603050405020304" pitchFamily="18" charset="0"/>
            </a:endParaRPr>
          </a:p>
        </p:txBody>
      </p:sp>
      <p:sp>
        <p:nvSpPr>
          <p:cNvPr id="64517" name="文本框 64516"/>
          <p:cNvSpPr txBox="1"/>
          <p:nvPr/>
        </p:nvSpPr>
        <p:spPr>
          <a:xfrm>
            <a:off x="152400" y="1447800"/>
            <a:ext cx="8915400" cy="2830513"/>
          </a:xfrm>
          <a:prstGeom prst="rect">
            <a:avLst/>
          </a:prstGeom>
          <a:noFill/>
          <a:ln w="9525">
            <a:noFill/>
          </a:ln>
        </p:spPr>
        <p:txBody>
          <a:bodyPr>
            <a:spAutoFit/>
          </a:bodyPr>
          <a:p>
            <a:pPr>
              <a:lnSpc>
                <a:spcPct val="150000"/>
              </a:lnSpc>
              <a:spcBef>
                <a:spcPct val="50000"/>
              </a:spcBef>
            </a:pPr>
            <a:r>
              <a:rPr lang="en-US" altLang="zh-CN" dirty="0">
                <a:latin typeface="Times New Roman" panose="02020603050405020304" pitchFamily="18" charset="0"/>
              </a:rPr>
              <a:t>       </a:t>
            </a:r>
            <a:r>
              <a:rPr lang="zh-CN" altLang="en-US" b="1" dirty="0">
                <a:latin typeface="Times New Roman" panose="02020603050405020304" pitchFamily="18" charset="0"/>
              </a:rPr>
              <a:t>模数转换器</a:t>
            </a:r>
            <a:r>
              <a:rPr lang="en-US" altLang="zh-CN" b="1">
                <a:latin typeface="Times New Roman" panose="02020603050405020304" pitchFamily="18" charset="0"/>
              </a:rPr>
              <a:t>ADC</a:t>
            </a:r>
            <a:r>
              <a:rPr lang="zh-CN" altLang="en-US" b="1" dirty="0">
                <a:latin typeface="Times New Roman" panose="02020603050405020304" pitchFamily="18" charset="0"/>
              </a:rPr>
              <a:t>用于将时间和幅度都连续的模拟信号转换成时间和幅度都离散的数字信号，其原理框图如图</a:t>
            </a:r>
            <a:r>
              <a:rPr lang="en-US" altLang="zh-CN" b="1">
                <a:latin typeface="Times New Roman" panose="02020603050405020304" pitchFamily="18" charset="0"/>
              </a:rPr>
              <a:t>11- 18</a:t>
            </a:r>
            <a:r>
              <a:rPr lang="zh-CN" altLang="en-US" b="1" dirty="0">
                <a:latin typeface="Times New Roman" panose="02020603050405020304" pitchFamily="18" charset="0"/>
              </a:rPr>
              <a:t>所示。其中， </a:t>
            </a:r>
            <a:r>
              <a:rPr lang="en-US" altLang="zh-CN" b="1">
                <a:latin typeface="Times New Roman" panose="02020603050405020304" pitchFamily="18" charset="0"/>
              </a:rPr>
              <a:t>U</a:t>
            </a:r>
            <a:r>
              <a:rPr lang="en-US" altLang="zh-CN" b="1" baseline="-25000">
                <a:latin typeface="Times New Roman" panose="02020603050405020304" pitchFamily="18" charset="0"/>
              </a:rPr>
              <a:t>I</a:t>
            </a:r>
            <a:r>
              <a:rPr lang="zh-CN" altLang="en-US" b="1" dirty="0">
                <a:latin typeface="Times New Roman" panose="02020603050405020304" pitchFamily="18" charset="0"/>
              </a:rPr>
              <a:t>为模拟电压输入，</a:t>
            </a:r>
            <a:r>
              <a:rPr lang="en-US" altLang="zh-CN" b="1">
                <a:latin typeface="Times New Roman" panose="02020603050405020304" pitchFamily="18" charset="0"/>
              </a:rPr>
              <a:t>D</a:t>
            </a:r>
            <a:r>
              <a:rPr lang="zh-CN" altLang="en-US" b="1">
                <a:latin typeface="Times New Roman" panose="02020603050405020304" pitchFamily="18" charset="0"/>
              </a:rPr>
              <a:t>（</a:t>
            </a:r>
            <a:r>
              <a:rPr lang="en-US" altLang="zh-CN" b="1">
                <a:latin typeface="Times New Roman" panose="02020603050405020304" pitchFamily="18" charset="0"/>
              </a:rPr>
              <a:t>D</a:t>
            </a:r>
            <a:r>
              <a:rPr lang="en-US" altLang="zh-CN" b="1" baseline="-25000">
                <a:latin typeface="Times New Roman" panose="02020603050405020304" pitchFamily="18" charset="0"/>
              </a:rPr>
              <a:t>n-1</a:t>
            </a:r>
            <a:r>
              <a:rPr lang="en-US" altLang="zh-CN" b="1">
                <a:latin typeface="Times New Roman" panose="02020603050405020304" pitchFamily="18" charset="0"/>
              </a:rPr>
              <a:t>D</a:t>
            </a:r>
            <a:r>
              <a:rPr lang="en-US" altLang="zh-CN" b="1" baseline="-25000">
                <a:latin typeface="Times New Roman" panose="02020603050405020304" pitchFamily="18" charset="0"/>
              </a:rPr>
              <a:t>n-2</a:t>
            </a:r>
            <a:r>
              <a:rPr lang="en-US" altLang="zh-CN" b="1">
                <a:latin typeface="Times New Roman" panose="02020603050405020304" pitchFamily="18" charset="0"/>
              </a:rPr>
              <a:t> ... D</a:t>
            </a:r>
            <a:r>
              <a:rPr lang="en-US" altLang="zh-CN" b="1" baseline="-25000">
                <a:latin typeface="Times New Roman" panose="02020603050405020304" pitchFamily="18" charset="0"/>
              </a:rPr>
              <a:t>1</a:t>
            </a:r>
            <a:r>
              <a:rPr lang="en-US" altLang="zh-CN" b="1">
                <a:latin typeface="Times New Roman" panose="02020603050405020304" pitchFamily="18" charset="0"/>
              </a:rPr>
              <a:t>D</a:t>
            </a:r>
            <a:r>
              <a:rPr lang="en-US" altLang="zh-CN" b="1" baseline="-25000">
                <a:latin typeface="Times New Roman" panose="02020603050405020304" pitchFamily="18" charset="0"/>
              </a:rPr>
              <a:t>0</a:t>
            </a:r>
            <a:r>
              <a:rPr lang="zh-CN" altLang="en-US" b="1">
                <a:latin typeface="Times New Roman" panose="02020603050405020304" pitchFamily="18" charset="0"/>
              </a:rPr>
              <a:t>）</a:t>
            </a:r>
            <a:r>
              <a:rPr lang="zh-CN" altLang="en-US" b="1" dirty="0">
                <a:latin typeface="Times New Roman" panose="02020603050405020304" pitchFamily="18" charset="0"/>
              </a:rPr>
              <a:t>为输出的</a:t>
            </a:r>
            <a:r>
              <a:rPr lang="en-US" altLang="zh-CN" b="1">
                <a:latin typeface="Times New Roman" panose="02020603050405020304" pitchFamily="18" charset="0"/>
              </a:rPr>
              <a:t>n</a:t>
            </a:r>
            <a:r>
              <a:rPr lang="zh-CN" altLang="en-US" b="1" dirty="0">
                <a:latin typeface="Times New Roman" panose="02020603050405020304" pitchFamily="18" charset="0"/>
              </a:rPr>
              <a:t>位数字信号， </a:t>
            </a:r>
            <a:r>
              <a:rPr lang="en-US" altLang="zh-CN" b="1">
                <a:latin typeface="Times New Roman" panose="02020603050405020304" pitchFamily="18" charset="0"/>
              </a:rPr>
              <a:t>U</a:t>
            </a:r>
            <a:r>
              <a:rPr lang="en-US" altLang="zh-CN" b="1" baseline="-25000">
                <a:latin typeface="Times New Roman" panose="02020603050405020304" pitchFamily="18" charset="0"/>
              </a:rPr>
              <a:t>REF</a:t>
            </a:r>
            <a:r>
              <a:rPr lang="zh-CN" altLang="en-US" b="1" dirty="0">
                <a:latin typeface="Times New Roman" panose="02020603050405020304" pitchFamily="18" charset="0"/>
              </a:rPr>
              <a:t>为实现模</a:t>
            </a:r>
            <a:r>
              <a:rPr lang="en-US" altLang="zh-CN" b="1">
                <a:latin typeface="Times New Roman" panose="02020603050405020304" pitchFamily="18" charset="0"/>
              </a:rPr>
              <a:t>/</a:t>
            </a:r>
            <a:r>
              <a:rPr lang="zh-CN" altLang="en-US" b="1" dirty="0">
                <a:latin typeface="Times New Roman" panose="02020603050405020304" pitchFamily="18" charset="0"/>
              </a:rPr>
              <a:t>数转换所必需的参考电压， 它们三者之间满足如下比例关系： </a:t>
            </a:r>
            <a:endParaRPr lang="zh-CN" altLang="en-US" b="1">
              <a:latin typeface="Times New Roman" panose="02020603050405020304" pitchFamily="18" charset="0"/>
            </a:endParaRPr>
          </a:p>
        </p:txBody>
      </p:sp>
      <p:graphicFrame>
        <p:nvGraphicFramePr>
          <p:cNvPr id="64518" name="对象 64517"/>
          <p:cNvGraphicFramePr/>
          <p:nvPr/>
        </p:nvGraphicFramePr>
        <p:xfrm>
          <a:off x="3581400" y="4114800"/>
          <a:ext cx="1905000" cy="1044575"/>
        </p:xfrm>
        <a:graphic>
          <a:graphicData uri="http://schemas.openxmlformats.org/presentationml/2006/ole">
            <mc:AlternateContent xmlns:mc="http://schemas.openxmlformats.org/markup-compatibility/2006">
              <mc:Choice xmlns:v="urn:schemas-microsoft-com:vml" Requires="v">
                <p:oleObj spid="_x0000_s3115" name="" r:id="rId1" imgW="786765" imgH="431800" progId="Equation.3">
                  <p:embed/>
                </p:oleObj>
              </mc:Choice>
              <mc:Fallback>
                <p:oleObj name="" r:id="rId1" imgW="786765" imgH="431800" progId="Equation.3">
                  <p:embed/>
                  <p:pic>
                    <p:nvPicPr>
                      <p:cNvPr id="0" name="图片 3114"/>
                      <p:cNvPicPr/>
                      <p:nvPr/>
                    </p:nvPicPr>
                    <p:blipFill>
                      <a:blip r:embed="rId2"/>
                      <a:stretch>
                        <a:fillRect/>
                      </a:stretch>
                    </p:blipFill>
                    <p:spPr>
                      <a:xfrm>
                        <a:off x="3581400" y="4114800"/>
                        <a:ext cx="1905000" cy="1044575"/>
                      </a:xfrm>
                      <a:prstGeom prst="rect">
                        <a:avLst/>
                      </a:prstGeom>
                      <a:noFill/>
                      <a:ln w="38100">
                        <a:noFill/>
                        <a:miter/>
                      </a:ln>
                    </p:spPr>
                  </p:pic>
                </p:oleObj>
              </mc:Fallback>
            </mc:AlternateContent>
          </a:graphicData>
        </a:graphic>
      </p:graphicFrame>
      <p:sp>
        <p:nvSpPr>
          <p:cNvPr id="64519" name="文本框 64518"/>
          <p:cNvSpPr txBox="1"/>
          <p:nvPr/>
        </p:nvSpPr>
        <p:spPr>
          <a:xfrm>
            <a:off x="0" y="5373688"/>
            <a:ext cx="7827963" cy="457200"/>
          </a:xfrm>
          <a:prstGeom prst="rect">
            <a:avLst/>
          </a:prstGeom>
          <a:noFill/>
          <a:ln w="9525">
            <a:noFill/>
          </a:ln>
        </p:spPr>
        <p:txBody>
          <a:bodyPr wrap="none" anchor="t" anchorCtr="0">
            <a:spAutoFit/>
          </a:bodyPr>
          <a:p>
            <a:r>
              <a:rPr lang="zh-CN" altLang="en-US" b="1" dirty="0">
                <a:latin typeface="Times New Roman" panose="02020603050405020304" pitchFamily="18" charset="0"/>
              </a:rPr>
              <a:t>式中，</a:t>
            </a:r>
            <a:r>
              <a:rPr lang="en-US" altLang="zh-CN" b="1">
                <a:latin typeface="Times New Roman" panose="02020603050405020304" pitchFamily="18" charset="0"/>
              </a:rPr>
              <a:t>K</a:t>
            </a:r>
            <a:r>
              <a:rPr lang="zh-CN" altLang="en-US" b="1" dirty="0">
                <a:latin typeface="Times New Roman" panose="02020603050405020304" pitchFamily="18" charset="0"/>
              </a:rPr>
              <a:t>为比例系数，不同的</a:t>
            </a:r>
            <a:r>
              <a:rPr lang="en-US" altLang="zh-CN" b="1">
                <a:latin typeface="Times New Roman" panose="02020603050405020304" pitchFamily="18" charset="0"/>
              </a:rPr>
              <a:t>ADC</a:t>
            </a:r>
            <a:r>
              <a:rPr lang="zh-CN" altLang="en-US" b="1" dirty="0">
                <a:latin typeface="Times New Roman" panose="02020603050405020304" pitchFamily="18" charset="0"/>
              </a:rPr>
              <a:t>有各自不同的</a:t>
            </a:r>
            <a:r>
              <a:rPr lang="en-US" altLang="zh-CN" b="1">
                <a:latin typeface="Times New Roman" panose="02020603050405020304" pitchFamily="18" charset="0"/>
              </a:rPr>
              <a:t>K</a:t>
            </a:r>
            <a:r>
              <a:rPr lang="zh-CN" altLang="en-US" b="1" dirty="0">
                <a:latin typeface="Times New Roman" panose="02020603050405020304" pitchFamily="18" charset="0"/>
              </a:rPr>
              <a:t>值。</a:t>
            </a:r>
            <a:r>
              <a:rPr lang="zh-CN" altLang="en-US" dirty="0">
                <a:latin typeface="Times New Roman" panose="02020603050405020304" pitchFamily="18" charset="0"/>
              </a:rPr>
              <a:t> </a:t>
            </a:r>
            <a:endParaRPr lang="zh-CN" altLang="en-US">
              <a:latin typeface="Times New Roman" panose="02020603050405020304" pitchFamily="18" charset="0"/>
            </a:endParaRPr>
          </a:p>
        </p:txBody>
      </p:sp>
      <p:sp>
        <p:nvSpPr>
          <p:cNvPr id="64520" name="文本框 64519"/>
          <p:cNvSpPr txBox="1"/>
          <p:nvPr/>
        </p:nvSpPr>
        <p:spPr>
          <a:xfrm>
            <a:off x="7162800" y="4419600"/>
            <a:ext cx="1098550" cy="457200"/>
          </a:xfrm>
          <a:prstGeom prst="rect">
            <a:avLst/>
          </a:prstGeom>
          <a:noFill/>
          <a:ln w="9525">
            <a:noFill/>
          </a:ln>
        </p:spPr>
        <p:txBody>
          <a:bodyPr wrap="none" anchor="t" anchorCtr="0">
            <a:spAutoFit/>
          </a:bodyPr>
          <a:p>
            <a:r>
              <a:rPr lang="en-US" altLang="zh-CN">
                <a:latin typeface="Times New Roman" panose="02020603050405020304" pitchFamily="18" charset="0"/>
              </a:rPr>
              <a:t>(11-27)</a:t>
            </a:r>
            <a:endParaRPr lang="en-US" altLang="zh-CN">
              <a:latin typeface="Times New Roman" panose="02020603050405020304" pitchFamily="18" charset="0"/>
            </a:endParaRPr>
          </a:p>
        </p:txBody>
      </p:sp>
    </p:spTree>
  </p:cSld>
  <p:clrMapOvr>
    <a:masterClrMapping/>
  </p:clrMapOvr>
  <p:transition>
    <p:blinds dir="vert"/>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3492" name="文本框 63491"/>
          <p:cNvSpPr txBox="1"/>
          <p:nvPr/>
        </p:nvSpPr>
        <p:spPr>
          <a:xfrm>
            <a:off x="3001963" y="5410200"/>
            <a:ext cx="3292475" cy="457200"/>
          </a:xfrm>
          <a:prstGeom prst="rect">
            <a:avLst/>
          </a:prstGeom>
          <a:noFill/>
          <a:ln w="9525">
            <a:noFill/>
          </a:ln>
        </p:spPr>
        <p:txBody>
          <a:bodyPr wrap="none" anchor="t" anchorCtr="0">
            <a:spAutoFit/>
          </a:bodyPr>
          <a:p>
            <a:r>
              <a:rPr lang="zh-CN" altLang="en-US" dirty="0">
                <a:latin typeface="Times New Roman" panose="02020603050405020304" pitchFamily="18" charset="0"/>
              </a:rPr>
              <a:t>图 </a:t>
            </a:r>
            <a:r>
              <a:rPr lang="en-US" altLang="zh-CN">
                <a:latin typeface="Times New Roman" panose="02020603050405020304" pitchFamily="18" charset="0"/>
              </a:rPr>
              <a:t>11-18  ADC</a:t>
            </a:r>
            <a:r>
              <a:rPr lang="zh-CN" altLang="en-US" dirty="0">
                <a:latin typeface="Times New Roman" panose="02020603050405020304" pitchFamily="18" charset="0"/>
              </a:rPr>
              <a:t>原理框图</a:t>
            </a:r>
            <a:endParaRPr lang="zh-CN" altLang="en-US">
              <a:latin typeface="Times New Roman" panose="02020603050405020304" pitchFamily="18" charset="0"/>
            </a:endParaRPr>
          </a:p>
        </p:txBody>
      </p:sp>
      <p:graphicFrame>
        <p:nvGraphicFramePr>
          <p:cNvPr id="63493" name="对象 63492"/>
          <p:cNvGraphicFramePr/>
          <p:nvPr/>
        </p:nvGraphicFramePr>
        <p:xfrm>
          <a:off x="2476500" y="1524000"/>
          <a:ext cx="4191000" cy="2663825"/>
        </p:xfrm>
        <a:graphic>
          <a:graphicData uri="http://schemas.openxmlformats.org/presentationml/2006/ole">
            <mc:AlternateContent xmlns:mc="http://schemas.openxmlformats.org/markup-compatibility/2006">
              <mc:Choice xmlns:v="urn:schemas-microsoft-com:vml" Requires="v">
                <p:oleObj spid="_x0000_s3113" name="" r:id="rId1" imgW="1432560" imgH="914400" progId="Visio.Drawing.4">
                  <p:embed/>
                </p:oleObj>
              </mc:Choice>
              <mc:Fallback>
                <p:oleObj name="" r:id="rId1" imgW="1432560" imgH="914400" progId="Visio.Drawing.4">
                  <p:embed/>
                  <p:pic>
                    <p:nvPicPr>
                      <p:cNvPr id="0" name="图片 3112"/>
                      <p:cNvPicPr/>
                      <p:nvPr/>
                    </p:nvPicPr>
                    <p:blipFill>
                      <a:blip r:embed="rId2"/>
                      <a:stretch>
                        <a:fillRect/>
                      </a:stretch>
                    </p:blipFill>
                    <p:spPr>
                      <a:xfrm>
                        <a:off x="2476500" y="1524000"/>
                        <a:ext cx="4191000" cy="2663825"/>
                      </a:xfrm>
                      <a:prstGeom prst="rect">
                        <a:avLst/>
                      </a:prstGeom>
                      <a:noFill/>
                      <a:ln w="38100">
                        <a:noFill/>
                        <a:miter/>
                      </a:ln>
                    </p:spPr>
                  </p:pic>
                </p:oleObj>
              </mc:Fallback>
            </mc:AlternateContent>
          </a:graphicData>
        </a:graphic>
      </p:graphicFrame>
    </p:spTree>
  </p:cSld>
  <p:clrMapOvr>
    <a:masterClrMapping/>
  </p:clrMapOvr>
  <p:transition>
    <p:blinds dir="vert"/>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6564" name="文本框 66563"/>
          <p:cNvSpPr txBox="1"/>
          <p:nvPr/>
        </p:nvSpPr>
        <p:spPr>
          <a:xfrm>
            <a:off x="0" y="533400"/>
            <a:ext cx="9144000" cy="6335713"/>
          </a:xfrm>
          <a:prstGeom prst="rect">
            <a:avLst/>
          </a:prstGeom>
          <a:noFill/>
          <a:ln w="9525">
            <a:noFill/>
          </a:ln>
        </p:spPr>
        <p:txBody>
          <a:bodyPr>
            <a:spAutoFit/>
          </a:bodyPr>
          <a:p>
            <a:pPr>
              <a:lnSpc>
                <a:spcPct val="130000"/>
              </a:lnSpc>
              <a:spcBef>
                <a:spcPct val="50000"/>
              </a:spcBef>
            </a:pPr>
            <a:r>
              <a:rPr lang="en-US" altLang="zh-CN" b="1">
                <a:latin typeface="Times New Roman" panose="02020603050405020304" pitchFamily="18" charset="0"/>
              </a:rPr>
              <a:t>11.2.1 </a:t>
            </a:r>
            <a:r>
              <a:rPr lang="zh-CN" altLang="en-US" b="1" dirty="0">
                <a:latin typeface="Times New Roman" panose="02020603050405020304" pitchFamily="18" charset="0"/>
              </a:rPr>
              <a:t>模数转换的一般过程</a:t>
            </a:r>
            <a:endParaRPr lang="zh-CN" altLang="en-US" b="1" dirty="0">
              <a:latin typeface="Times New Roman" panose="02020603050405020304" pitchFamily="18" charset="0"/>
            </a:endParaRPr>
          </a:p>
          <a:p>
            <a:pPr>
              <a:lnSpc>
                <a:spcPct val="130000"/>
              </a:lnSpc>
              <a:spcBef>
                <a:spcPct val="50000"/>
              </a:spcBef>
            </a:pPr>
            <a:r>
              <a:rPr lang="zh-CN" altLang="en-US">
                <a:latin typeface="Times New Roman" panose="02020603050405020304" pitchFamily="18" charset="0"/>
              </a:rPr>
              <a:t>         </a:t>
            </a:r>
            <a:r>
              <a:rPr lang="en-US" altLang="zh-CN" b="1">
                <a:latin typeface="Times New Roman" panose="02020603050405020304" pitchFamily="18" charset="0"/>
              </a:rPr>
              <a:t>1</a:t>
            </a:r>
            <a:r>
              <a:rPr lang="zh-CN" altLang="en-US" b="1">
                <a:latin typeface="Times New Roman" panose="02020603050405020304" pitchFamily="18" charset="0"/>
              </a:rPr>
              <a:t>． </a:t>
            </a:r>
            <a:r>
              <a:rPr lang="zh-CN" altLang="en-US" b="1" dirty="0">
                <a:latin typeface="Times New Roman" panose="02020603050405020304" pitchFamily="18" charset="0"/>
              </a:rPr>
              <a:t>采样与保持</a:t>
            </a:r>
            <a:endParaRPr lang="zh-CN" altLang="en-US" b="1">
              <a:latin typeface="Times New Roman" panose="02020603050405020304" pitchFamily="18" charset="0"/>
            </a:endParaRPr>
          </a:p>
          <a:p>
            <a:pPr>
              <a:lnSpc>
                <a:spcPct val="130000"/>
              </a:lnSpc>
              <a:spcBef>
                <a:spcPct val="50000"/>
              </a:spcBef>
            </a:pPr>
            <a:r>
              <a:rPr lang="zh-CN" altLang="en-US">
                <a:latin typeface="Times New Roman" panose="02020603050405020304" pitchFamily="18" charset="0"/>
              </a:rPr>
              <a:t>      </a:t>
            </a:r>
            <a:r>
              <a:rPr lang="zh-CN" altLang="en-US" dirty="0">
                <a:latin typeface="Times New Roman" panose="02020603050405020304" pitchFamily="18" charset="0"/>
              </a:rPr>
              <a:t>  </a:t>
            </a:r>
            <a:r>
              <a:rPr lang="zh-CN" altLang="en-US" b="1" dirty="0">
                <a:latin typeface="Times New Roman" panose="02020603050405020304" pitchFamily="18" charset="0"/>
              </a:rPr>
              <a:t>采样就是按照一定的时间间隔周期性地读取模拟信号的值， 从而将时间和取值都连续的模拟信号在时间上离散化。</a:t>
            </a:r>
            <a:endParaRPr lang="zh-CN" altLang="en-US" b="1" dirty="0">
              <a:latin typeface="Times New Roman" panose="02020603050405020304" pitchFamily="18" charset="0"/>
            </a:endParaRPr>
          </a:p>
          <a:p>
            <a:pPr>
              <a:lnSpc>
                <a:spcPct val="130000"/>
              </a:lnSpc>
              <a:spcBef>
                <a:spcPct val="50000"/>
              </a:spcBef>
            </a:pPr>
            <a:r>
              <a:rPr lang="zh-CN" altLang="en-US" b="1" dirty="0">
                <a:latin typeface="Times New Roman" panose="02020603050405020304" pitchFamily="18" charset="0"/>
              </a:rPr>
              <a:t>        采样过程可以用图</a:t>
            </a:r>
            <a:r>
              <a:rPr lang="en-US" altLang="zh-CN" b="1">
                <a:latin typeface="Times New Roman" panose="02020603050405020304" pitchFamily="18" charset="0"/>
              </a:rPr>
              <a:t>11- 19</a:t>
            </a:r>
            <a:r>
              <a:rPr lang="zh-CN" altLang="en-US" b="1" dirty="0">
                <a:latin typeface="Times New Roman" panose="02020603050405020304" pitchFamily="18" charset="0"/>
              </a:rPr>
              <a:t>来说明。图中</a:t>
            </a:r>
            <a:r>
              <a:rPr lang="en-US" altLang="zh-CN" b="1" err="1">
                <a:latin typeface="Times New Roman" panose="02020603050405020304" pitchFamily="18" charset="0"/>
              </a:rPr>
              <a:t>u</a:t>
            </a:r>
            <a:r>
              <a:rPr lang="en-US" altLang="zh-CN" b="1" baseline="-25000" err="1">
                <a:latin typeface="Times New Roman" panose="02020603050405020304" pitchFamily="18" charset="0"/>
              </a:rPr>
              <a:t>A</a:t>
            </a:r>
            <a:r>
              <a:rPr lang="en-US" altLang="zh-CN" b="1" err="1">
                <a:latin typeface="Times New Roman" panose="02020603050405020304" pitchFamily="18" charset="0"/>
              </a:rPr>
              <a:t>(</a:t>
            </a:r>
            <a:r>
              <a:rPr lang="en-US" altLang="zh-CN" b="1" i="1" err="1">
                <a:latin typeface="Times New Roman" panose="02020603050405020304" pitchFamily="18" charset="0"/>
              </a:rPr>
              <a:t>t</a:t>
            </a:r>
            <a:r>
              <a:rPr lang="en-US" altLang="zh-CN" b="1">
                <a:latin typeface="Times New Roman" panose="02020603050405020304" pitchFamily="18" charset="0"/>
              </a:rPr>
              <a:t>)</a:t>
            </a:r>
            <a:r>
              <a:rPr lang="zh-CN" altLang="en-US" b="1" dirty="0">
                <a:latin typeface="Times New Roman" panose="02020603050405020304" pitchFamily="18" charset="0"/>
              </a:rPr>
              <a:t>为输入模拟电压； </a:t>
            </a:r>
            <a:r>
              <a:rPr lang="en-US" altLang="zh-CN" b="1" err="1">
                <a:latin typeface="Times New Roman" panose="02020603050405020304" pitchFamily="18" charset="0"/>
              </a:rPr>
              <a:t>u</a:t>
            </a:r>
            <a:r>
              <a:rPr lang="en-US" altLang="zh-CN" b="1" baseline="-25000" err="1">
                <a:latin typeface="Times New Roman" panose="02020603050405020304" pitchFamily="18" charset="0"/>
              </a:rPr>
              <a:t>S</a:t>
            </a:r>
            <a:r>
              <a:rPr lang="en-US" altLang="zh-CN" b="1" err="1">
                <a:latin typeface="Times New Roman" panose="02020603050405020304" pitchFamily="18" charset="0"/>
              </a:rPr>
              <a:t>(</a:t>
            </a:r>
            <a:r>
              <a:rPr lang="en-US" altLang="zh-CN" b="1" i="1" err="1">
                <a:latin typeface="Times New Roman" panose="02020603050405020304" pitchFamily="18" charset="0"/>
              </a:rPr>
              <a:t>t</a:t>
            </a:r>
            <a:r>
              <a:rPr lang="en-US" altLang="zh-CN" b="1">
                <a:latin typeface="Times New Roman" panose="02020603050405020304" pitchFamily="18" charset="0"/>
              </a:rPr>
              <a:t>)</a:t>
            </a:r>
            <a:r>
              <a:rPr lang="zh-CN" altLang="en-US" b="1" dirty="0">
                <a:latin typeface="Times New Roman" panose="02020603050405020304" pitchFamily="18" charset="0"/>
              </a:rPr>
              <a:t>为采样电路的输出信号；</a:t>
            </a:r>
            <a:r>
              <a:rPr lang="en-US" altLang="zh-CN" b="1" i="1">
                <a:latin typeface="Times New Roman" panose="02020603050405020304" pitchFamily="18" charset="0"/>
              </a:rPr>
              <a:t>S</a:t>
            </a:r>
            <a:r>
              <a:rPr lang="en-US" altLang="zh-CN" b="1">
                <a:latin typeface="Times New Roman" panose="02020603050405020304" pitchFamily="18" charset="0"/>
              </a:rPr>
              <a:t>(</a:t>
            </a:r>
            <a:r>
              <a:rPr lang="en-US" altLang="zh-CN" b="1" i="1">
                <a:latin typeface="Times New Roman" panose="02020603050405020304" pitchFamily="18" charset="0"/>
              </a:rPr>
              <a:t>t</a:t>
            </a:r>
            <a:r>
              <a:rPr lang="en-US" altLang="zh-CN" b="1">
                <a:latin typeface="Times New Roman" panose="02020603050405020304" pitchFamily="18" charset="0"/>
              </a:rPr>
              <a:t>)</a:t>
            </a:r>
            <a:r>
              <a:rPr lang="zh-CN" altLang="en-US" b="1" dirty="0">
                <a:latin typeface="Times New Roman" panose="02020603050405020304" pitchFamily="18" charset="0"/>
              </a:rPr>
              <a:t>为采样脉冲信号， 它的重复周期为</a:t>
            </a:r>
            <a:r>
              <a:rPr lang="en-US" altLang="zh-CN" b="1">
                <a:latin typeface="Times New Roman" panose="02020603050405020304" pitchFamily="18" charset="0"/>
              </a:rPr>
              <a:t>T</a:t>
            </a:r>
            <a:r>
              <a:rPr lang="en-US" altLang="zh-CN" b="1" baseline="-25000">
                <a:latin typeface="Times New Roman" panose="02020603050405020304" pitchFamily="18" charset="0"/>
              </a:rPr>
              <a:t>S</a:t>
            </a:r>
            <a:r>
              <a:rPr lang="zh-CN" altLang="en-US" b="1">
                <a:latin typeface="Times New Roman" panose="02020603050405020304" pitchFamily="18" charset="0"/>
              </a:rPr>
              <a:t>，</a:t>
            </a:r>
            <a:r>
              <a:rPr lang="zh-CN" altLang="en-US" b="1" dirty="0">
                <a:latin typeface="Times New Roman" panose="02020603050405020304" pitchFamily="18" charset="0"/>
              </a:rPr>
              <a:t>脉冲宽度为</a:t>
            </a:r>
            <a:r>
              <a:rPr lang="en-US" altLang="zh-CN" b="1" i="1">
                <a:latin typeface="Times New Roman" panose="02020603050405020304" pitchFamily="18" charset="0"/>
              </a:rPr>
              <a:t>τ</a:t>
            </a:r>
            <a:r>
              <a:rPr lang="zh-CN" altLang="en-US" b="1">
                <a:latin typeface="Times New Roman" panose="02020603050405020304" pitchFamily="18" charset="0"/>
              </a:rPr>
              <a:t>。</a:t>
            </a:r>
            <a:r>
              <a:rPr lang="zh-CN" altLang="en-US" b="1" dirty="0">
                <a:latin typeface="Times New Roman" panose="02020603050405020304" pitchFamily="18" charset="0"/>
              </a:rPr>
              <a:t>采样电路实际上是一个受控的理想开关， 它受采样脉冲信号</a:t>
            </a:r>
            <a:r>
              <a:rPr lang="en-US" altLang="zh-CN" b="1">
                <a:latin typeface="Times New Roman" panose="02020603050405020304" pitchFamily="18" charset="0"/>
              </a:rPr>
              <a:t>S(t)</a:t>
            </a:r>
            <a:r>
              <a:rPr lang="zh-CN" altLang="en-US" b="1" dirty="0">
                <a:latin typeface="Times New Roman" panose="02020603050405020304" pitchFamily="18" charset="0"/>
              </a:rPr>
              <a:t>的控制，在脉冲存在的</a:t>
            </a:r>
            <a:r>
              <a:rPr lang="en-US" altLang="zh-CN" b="1">
                <a:latin typeface="Times New Roman" panose="02020603050405020304" pitchFamily="18" charset="0"/>
              </a:rPr>
              <a:t>τ</a:t>
            </a:r>
            <a:r>
              <a:rPr lang="zh-CN" altLang="en-US" b="1" dirty="0">
                <a:latin typeface="Times New Roman" panose="02020603050405020304" pitchFamily="18" charset="0"/>
              </a:rPr>
              <a:t>时间内，开关闭合。采样电路的输出随输入变化， 即</a:t>
            </a:r>
            <a:r>
              <a:rPr lang="en-US" altLang="zh-CN" b="1" err="1">
                <a:latin typeface="Times New Roman" panose="02020603050405020304" pitchFamily="18" charset="0"/>
              </a:rPr>
              <a:t>u</a:t>
            </a:r>
            <a:r>
              <a:rPr lang="en-US" altLang="zh-CN" b="1" baseline="-25000" err="1">
                <a:latin typeface="Times New Roman" panose="02020603050405020304" pitchFamily="18" charset="0"/>
              </a:rPr>
              <a:t>S</a:t>
            </a:r>
            <a:r>
              <a:rPr lang="en-US" altLang="zh-CN" b="1" err="1">
                <a:latin typeface="Times New Roman" panose="02020603050405020304" pitchFamily="18" charset="0"/>
              </a:rPr>
              <a:t>(</a:t>
            </a:r>
            <a:r>
              <a:rPr lang="en-US" altLang="zh-CN" b="1" i="1" err="1">
                <a:latin typeface="Times New Roman" panose="02020603050405020304" pitchFamily="18" charset="0"/>
              </a:rPr>
              <a:t>t</a:t>
            </a:r>
            <a:r>
              <a:rPr lang="en-US" altLang="zh-CN" b="1">
                <a:latin typeface="Times New Roman" panose="02020603050405020304" pitchFamily="18" charset="0"/>
              </a:rPr>
              <a:t>) = </a:t>
            </a:r>
            <a:r>
              <a:rPr lang="en-US" altLang="zh-CN" b="1" err="1">
                <a:latin typeface="Times New Roman" panose="02020603050405020304" pitchFamily="18" charset="0"/>
              </a:rPr>
              <a:t>u</a:t>
            </a:r>
            <a:r>
              <a:rPr lang="en-US" altLang="zh-CN" b="1" baseline="-25000" err="1">
                <a:latin typeface="Times New Roman" panose="02020603050405020304" pitchFamily="18" charset="0"/>
              </a:rPr>
              <a:t>A</a:t>
            </a:r>
            <a:r>
              <a:rPr lang="en-US" altLang="zh-CN" b="1" err="1">
                <a:latin typeface="Times New Roman" panose="02020603050405020304" pitchFamily="18" charset="0"/>
              </a:rPr>
              <a:t>(t</a:t>
            </a:r>
            <a:r>
              <a:rPr lang="en-US" altLang="zh-CN" b="1">
                <a:latin typeface="Times New Roman" panose="02020603050405020304" pitchFamily="18" charset="0"/>
              </a:rPr>
              <a:t>)</a:t>
            </a:r>
            <a:r>
              <a:rPr lang="zh-CN" altLang="en-US" b="1">
                <a:latin typeface="Times New Roman" panose="02020603050405020304" pitchFamily="18" charset="0"/>
              </a:rPr>
              <a:t>；</a:t>
            </a:r>
            <a:r>
              <a:rPr lang="zh-CN" altLang="en-US" b="1" dirty="0">
                <a:latin typeface="Times New Roman" panose="02020603050405020304" pitchFamily="18" charset="0"/>
              </a:rPr>
              <a:t>在采样脉冲的休止期（</a:t>
            </a:r>
            <a:r>
              <a:rPr lang="en-US" altLang="zh-CN" b="1">
                <a:latin typeface="Times New Roman" panose="02020603050405020304" pitchFamily="18" charset="0"/>
              </a:rPr>
              <a:t>T</a:t>
            </a:r>
            <a:r>
              <a:rPr lang="en-US" altLang="zh-CN" b="1" baseline="-25000">
                <a:latin typeface="Times New Roman" panose="02020603050405020304" pitchFamily="18" charset="0"/>
              </a:rPr>
              <a:t>S</a:t>
            </a:r>
            <a:r>
              <a:rPr lang="en-US" altLang="zh-CN" b="1">
                <a:latin typeface="Times New Roman" panose="02020603050405020304" pitchFamily="18" charset="0"/>
              </a:rPr>
              <a:t>-</a:t>
            </a:r>
            <a:r>
              <a:rPr lang="en-US" altLang="zh-CN" b="1" i="1">
                <a:latin typeface="Times New Roman" panose="02020603050405020304" pitchFamily="18" charset="0"/>
              </a:rPr>
              <a:t>τ</a:t>
            </a:r>
            <a:r>
              <a:rPr lang="zh-CN" altLang="en-US" b="1">
                <a:latin typeface="Times New Roman" panose="02020603050405020304" pitchFamily="18" charset="0"/>
              </a:rPr>
              <a:t>）</a:t>
            </a:r>
            <a:r>
              <a:rPr lang="zh-CN" altLang="en-US" b="1" dirty="0">
                <a:latin typeface="Times New Roman" panose="02020603050405020304" pitchFamily="18" charset="0"/>
              </a:rPr>
              <a:t>内， 采样电路的输出</a:t>
            </a:r>
            <a:r>
              <a:rPr lang="en-US" altLang="zh-CN" b="1" err="1">
                <a:latin typeface="Times New Roman" panose="02020603050405020304" pitchFamily="18" charset="0"/>
              </a:rPr>
              <a:t>uS(t</a:t>
            </a:r>
            <a:r>
              <a:rPr lang="en-US" altLang="zh-CN" b="1">
                <a:latin typeface="Times New Roman" panose="02020603050405020304" pitchFamily="18" charset="0"/>
              </a:rPr>
              <a:t>) = 0</a:t>
            </a:r>
            <a:r>
              <a:rPr lang="zh-CN" altLang="en-US" b="1">
                <a:latin typeface="Times New Roman" panose="02020603050405020304" pitchFamily="18" charset="0"/>
              </a:rPr>
              <a:t>。 </a:t>
            </a:r>
            <a:r>
              <a:rPr lang="zh-CN" altLang="en-US" b="1" dirty="0">
                <a:latin typeface="Times New Roman" panose="02020603050405020304" pitchFamily="18" charset="0"/>
              </a:rPr>
              <a:t>因此， 我们把采样脉冲的重复周期</a:t>
            </a:r>
            <a:r>
              <a:rPr lang="en-US" altLang="zh-CN" b="1">
                <a:latin typeface="Times New Roman" panose="02020603050405020304" pitchFamily="18" charset="0"/>
              </a:rPr>
              <a:t>T</a:t>
            </a:r>
            <a:r>
              <a:rPr lang="en-US" altLang="zh-CN" b="1" baseline="-25000">
                <a:latin typeface="Times New Roman" panose="02020603050405020304" pitchFamily="18" charset="0"/>
              </a:rPr>
              <a:t>S</a:t>
            </a:r>
            <a:r>
              <a:rPr lang="zh-CN" altLang="en-US" b="1" dirty="0">
                <a:latin typeface="Times New Roman" panose="02020603050405020304" pitchFamily="18" charset="0"/>
              </a:rPr>
              <a:t>称为采样周期， 把采样脉冲的宽度</a:t>
            </a:r>
            <a:r>
              <a:rPr lang="en-US" altLang="zh-CN" b="1">
                <a:latin typeface="Times New Roman" panose="02020603050405020304" pitchFamily="18" charset="0"/>
              </a:rPr>
              <a:t>τ</a:t>
            </a:r>
            <a:r>
              <a:rPr lang="zh-CN" altLang="en-US" b="1" dirty="0">
                <a:latin typeface="Times New Roman" panose="02020603050405020304" pitchFamily="18" charset="0"/>
              </a:rPr>
              <a:t>称为采样时间。</a:t>
            </a:r>
            <a:endParaRPr lang="zh-CN" altLang="en-US" b="1">
              <a:latin typeface="Times New Roman" panose="02020603050405020304" pitchFamily="18" charset="0"/>
            </a:endParaRPr>
          </a:p>
        </p:txBody>
      </p:sp>
    </p:spTree>
  </p:cSld>
  <p:clrMapOvr>
    <a:masterClrMapping/>
  </p:clrMapOvr>
  <p:transition>
    <p:blinds dir="vert"/>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5540" name="文本框 65539"/>
          <p:cNvSpPr txBox="1"/>
          <p:nvPr/>
        </p:nvSpPr>
        <p:spPr>
          <a:xfrm>
            <a:off x="228600" y="457200"/>
            <a:ext cx="8686800" cy="2282825"/>
          </a:xfrm>
          <a:prstGeom prst="rect">
            <a:avLst/>
          </a:prstGeom>
          <a:noFill/>
          <a:ln w="9525">
            <a:noFill/>
          </a:ln>
        </p:spPr>
        <p:txBody>
          <a:bodyPr>
            <a:spAutoFit/>
          </a:bodyPr>
          <a:p>
            <a:pPr>
              <a:lnSpc>
                <a:spcPct val="150000"/>
              </a:lnSpc>
              <a:spcBef>
                <a:spcPct val="50000"/>
              </a:spcBef>
            </a:pPr>
            <a:r>
              <a:rPr lang="en-US" altLang="zh-CN" dirty="0">
                <a:latin typeface="Times New Roman" panose="02020603050405020304" pitchFamily="18" charset="0"/>
              </a:rPr>
              <a:t>        </a:t>
            </a:r>
            <a:r>
              <a:rPr lang="zh-CN" altLang="en-US" b="1" dirty="0">
                <a:latin typeface="Times New Roman" panose="02020603050405020304" pitchFamily="18" charset="0"/>
              </a:rPr>
              <a:t>由图</a:t>
            </a:r>
            <a:r>
              <a:rPr lang="en-US" altLang="zh-CN" b="1">
                <a:latin typeface="Times New Roman" panose="02020603050405020304" pitchFamily="18" charset="0"/>
              </a:rPr>
              <a:t>11- 19</a:t>
            </a:r>
            <a:r>
              <a:rPr lang="zh-CN" altLang="en-US" b="1" dirty="0">
                <a:latin typeface="Times New Roman" panose="02020603050405020304" pitchFamily="18" charset="0"/>
              </a:rPr>
              <a:t>可以看出，采样电路的输出</a:t>
            </a:r>
            <a:r>
              <a:rPr lang="en-US" altLang="zh-CN" b="1" err="1">
                <a:latin typeface="Times New Roman" panose="02020603050405020304" pitchFamily="18" charset="0"/>
              </a:rPr>
              <a:t>u</a:t>
            </a:r>
            <a:r>
              <a:rPr lang="en-US" altLang="zh-CN" b="1" baseline="-25000" err="1">
                <a:latin typeface="Times New Roman" panose="02020603050405020304" pitchFamily="18" charset="0"/>
              </a:rPr>
              <a:t>S</a:t>
            </a:r>
            <a:r>
              <a:rPr lang="en-US" altLang="zh-CN" b="1" err="1">
                <a:latin typeface="Times New Roman" panose="02020603050405020304" pitchFamily="18" charset="0"/>
              </a:rPr>
              <a:t>(</a:t>
            </a:r>
            <a:r>
              <a:rPr lang="en-US" altLang="zh-CN" b="1" i="1" err="1">
                <a:latin typeface="Times New Roman" panose="02020603050405020304" pitchFamily="18" charset="0"/>
              </a:rPr>
              <a:t>t</a:t>
            </a:r>
            <a:r>
              <a:rPr lang="en-US" altLang="zh-CN" b="1">
                <a:latin typeface="Times New Roman" panose="02020603050405020304" pitchFamily="18" charset="0"/>
              </a:rPr>
              <a:t>)</a:t>
            </a:r>
            <a:r>
              <a:rPr lang="zh-CN" altLang="en-US" b="1" dirty="0">
                <a:latin typeface="Times New Roman" panose="02020603050405020304" pitchFamily="18" charset="0"/>
              </a:rPr>
              <a:t>与输入</a:t>
            </a:r>
            <a:r>
              <a:rPr lang="en-US" altLang="zh-CN" b="1" err="1">
                <a:latin typeface="Times New Roman" panose="02020603050405020304" pitchFamily="18" charset="0"/>
              </a:rPr>
              <a:t>u</a:t>
            </a:r>
            <a:r>
              <a:rPr lang="en-US" altLang="zh-CN" b="1" baseline="-25000" err="1">
                <a:latin typeface="Times New Roman" panose="02020603050405020304" pitchFamily="18" charset="0"/>
              </a:rPr>
              <a:t>A</a:t>
            </a:r>
            <a:r>
              <a:rPr lang="en-US" altLang="zh-CN" b="1" err="1">
                <a:latin typeface="Times New Roman" panose="02020603050405020304" pitchFamily="18" charset="0"/>
              </a:rPr>
              <a:t>(</a:t>
            </a:r>
            <a:r>
              <a:rPr lang="en-US" altLang="zh-CN" b="1" i="1" err="1">
                <a:latin typeface="Times New Roman" panose="02020603050405020304" pitchFamily="18" charset="0"/>
              </a:rPr>
              <a:t>t</a:t>
            </a:r>
            <a:r>
              <a:rPr lang="en-US" altLang="zh-CN" b="1">
                <a:latin typeface="Times New Roman" panose="02020603050405020304" pitchFamily="18" charset="0"/>
              </a:rPr>
              <a:t>)</a:t>
            </a:r>
            <a:r>
              <a:rPr lang="zh-CN" altLang="en-US" b="1" dirty="0">
                <a:latin typeface="Times New Roman" panose="02020603050405020304" pitchFamily="18" charset="0"/>
              </a:rPr>
              <a:t>相比，波形发生了很大的变化。根据采样定理，为了保证能够从</a:t>
            </a:r>
            <a:r>
              <a:rPr lang="en-US" altLang="zh-CN" b="1" err="1">
                <a:latin typeface="Times New Roman" panose="02020603050405020304" pitchFamily="18" charset="0"/>
              </a:rPr>
              <a:t>u</a:t>
            </a:r>
            <a:r>
              <a:rPr lang="en-US" altLang="zh-CN" b="1" baseline="-25000" err="1">
                <a:latin typeface="Times New Roman" panose="02020603050405020304" pitchFamily="18" charset="0"/>
              </a:rPr>
              <a:t>S</a:t>
            </a:r>
            <a:r>
              <a:rPr lang="en-US" altLang="zh-CN" b="1" err="1">
                <a:latin typeface="Times New Roman" panose="02020603050405020304" pitchFamily="18" charset="0"/>
              </a:rPr>
              <a:t>(</a:t>
            </a:r>
            <a:r>
              <a:rPr lang="en-US" altLang="zh-CN" b="1" i="1" err="1">
                <a:latin typeface="Times New Roman" panose="02020603050405020304" pitchFamily="18" charset="0"/>
              </a:rPr>
              <a:t>t</a:t>
            </a:r>
            <a:r>
              <a:rPr lang="en-US" altLang="zh-CN" b="1">
                <a:latin typeface="Times New Roman" panose="02020603050405020304" pitchFamily="18" charset="0"/>
              </a:rPr>
              <a:t>)</a:t>
            </a:r>
            <a:r>
              <a:rPr lang="zh-CN" altLang="en-US" b="1" dirty="0">
                <a:latin typeface="Times New Roman" panose="02020603050405020304" pitchFamily="18" charset="0"/>
              </a:rPr>
              <a:t>不失真地恢复出</a:t>
            </a:r>
            <a:r>
              <a:rPr lang="en-US" altLang="zh-CN" b="1" err="1">
                <a:latin typeface="Times New Roman" panose="02020603050405020304" pitchFamily="18" charset="0"/>
              </a:rPr>
              <a:t>u</a:t>
            </a:r>
            <a:r>
              <a:rPr lang="en-US" altLang="zh-CN" b="1" baseline="-25000" err="1">
                <a:latin typeface="Times New Roman" panose="02020603050405020304" pitchFamily="18" charset="0"/>
              </a:rPr>
              <a:t>A</a:t>
            </a:r>
            <a:r>
              <a:rPr lang="en-US" altLang="zh-CN" b="1" err="1">
                <a:latin typeface="Times New Roman" panose="02020603050405020304" pitchFamily="18" charset="0"/>
              </a:rPr>
              <a:t>(</a:t>
            </a:r>
            <a:r>
              <a:rPr lang="en-US" altLang="zh-CN" b="1" i="1" err="1">
                <a:latin typeface="Times New Roman" panose="02020603050405020304" pitchFamily="18" charset="0"/>
              </a:rPr>
              <a:t>t</a:t>
            </a:r>
            <a:r>
              <a:rPr lang="en-US" altLang="zh-CN" b="1">
                <a:latin typeface="Times New Roman" panose="02020603050405020304" pitchFamily="18" charset="0"/>
              </a:rPr>
              <a:t>)</a:t>
            </a:r>
            <a:r>
              <a:rPr lang="zh-CN" altLang="en-US" b="1">
                <a:latin typeface="Times New Roman" panose="02020603050405020304" pitchFamily="18" charset="0"/>
              </a:rPr>
              <a:t>，</a:t>
            </a:r>
            <a:r>
              <a:rPr lang="zh-CN" altLang="en-US" b="1" dirty="0">
                <a:latin typeface="Times New Roman" panose="02020603050405020304" pitchFamily="18" charset="0"/>
              </a:rPr>
              <a:t>采样频率</a:t>
            </a:r>
            <a:r>
              <a:rPr lang="en-US" altLang="zh-CN" b="1" err="1">
                <a:latin typeface="Times New Roman" panose="02020603050405020304" pitchFamily="18" charset="0"/>
              </a:rPr>
              <a:t>f</a:t>
            </a:r>
            <a:r>
              <a:rPr lang="en-US" altLang="zh-CN" b="1" baseline="-25000" err="1">
                <a:latin typeface="Times New Roman" panose="02020603050405020304" pitchFamily="18" charset="0"/>
              </a:rPr>
              <a:t>s</a:t>
            </a:r>
            <a:r>
              <a:rPr lang="zh-CN" altLang="en-US" b="1" dirty="0">
                <a:latin typeface="Times New Roman" panose="02020603050405020304" pitchFamily="18" charset="0"/>
              </a:rPr>
              <a:t>至少等于模拟信号</a:t>
            </a:r>
            <a:r>
              <a:rPr lang="en-US" altLang="zh-CN" b="1" err="1">
                <a:latin typeface="Times New Roman" panose="02020603050405020304" pitchFamily="18" charset="0"/>
              </a:rPr>
              <a:t>u</a:t>
            </a:r>
            <a:r>
              <a:rPr lang="en-US" altLang="zh-CN" b="1" baseline="-25000" err="1">
                <a:latin typeface="Times New Roman" panose="02020603050405020304" pitchFamily="18" charset="0"/>
              </a:rPr>
              <a:t>A</a:t>
            </a:r>
            <a:r>
              <a:rPr lang="en-US" altLang="zh-CN" b="1" err="1">
                <a:latin typeface="Times New Roman" panose="02020603050405020304" pitchFamily="18" charset="0"/>
              </a:rPr>
              <a:t>(t</a:t>
            </a:r>
            <a:r>
              <a:rPr lang="en-US" altLang="zh-CN" b="1">
                <a:latin typeface="Times New Roman" panose="02020603050405020304" pitchFamily="18" charset="0"/>
              </a:rPr>
              <a:t>)</a:t>
            </a:r>
            <a:r>
              <a:rPr lang="zh-CN" altLang="en-US" b="1" dirty="0">
                <a:latin typeface="Times New Roman" panose="02020603050405020304" pitchFamily="18" charset="0"/>
              </a:rPr>
              <a:t>中最高有效频率</a:t>
            </a:r>
            <a:r>
              <a:rPr lang="en-US" altLang="zh-CN" b="1" err="1">
                <a:latin typeface="Times New Roman" panose="02020603050405020304" pitchFamily="18" charset="0"/>
              </a:rPr>
              <a:t>f</a:t>
            </a:r>
            <a:r>
              <a:rPr lang="en-US" altLang="zh-CN" b="1" baseline="-25000" err="1">
                <a:latin typeface="Times New Roman" panose="02020603050405020304" pitchFamily="18" charset="0"/>
              </a:rPr>
              <a:t>max</a:t>
            </a:r>
            <a:r>
              <a:rPr lang="zh-CN" altLang="en-US" b="1" dirty="0">
                <a:latin typeface="Times New Roman" panose="02020603050405020304" pitchFamily="18" charset="0"/>
              </a:rPr>
              <a:t>的两倍，即：</a:t>
            </a:r>
            <a:endParaRPr lang="zh-CN" altLang="en-US" b="1">
              <a:latin typeface="Times New Roman" panose="02020603050405020304" pitchFamily="18" charset="0"/>
            </a:endParaRPr>
          </a:p>
        </p:txBody>
      </p:sp>
      <p:graphicFrame>
        <p:nvGraphicFramePr>
          <p:cNvPr id="65541" name="对象 65540"/>
          <p:cNvGraphicFramePr/>
          <p:nvPr/>
        </p:nvGraphicFramePr>
        <p:xfrm>
          <a:off x="3276600" y="2667000"/>
          <a:ext cx="2590800" cy="1144588"/>
        </p:xfrm>
        <a:graphic>
          <a:graphicData uri="http://schemas.openxmlformats.org/presentationml/2006/ole">
            <mc:AlternateContent xmlns:mc="http://schemas.openxmlformats.org/markup-compatibility/2006">
              <mc:Choice xmlns:v="urn:schemas-microsoft-com:vml" Requires="v">
                <p:oleObj spid="_x0000_s3111" name="" r:id="rId1" imgW="977265" imgH="431800" progId="Equation.3">
                  <p:embed/>
                </p:oleObj>
              </mc:Choice>
              <mc:Fallback>
                <p:oleObj name="" r:id="rId1" imgW="977265" imgH="431800" progId="Equation.3">
                  <p:embed/>
                  <p:pic>
                    <p:nvPicPr>
                      <p:cNvPr id="0" name="图片 3110"/>
                      <p:cNvPicPr/>
                      <p:nvPr/>
                    </p:nvPicPr>
                    <p:blipFill>
                      <a:blip r:embed="rId2"/>
                      <a:stretch>
                        <a:fillRect/>
                      </a:stretch>
                    </p:blipFill>
                    <p:spPr>
                      <a:xfrm>
                        <a:off x="3276600" y="2667000"/>
                        <a:ext cx="2590800" cy="1144588"/>
                      </a:xfrm>
                      <a:prstGeom prst="rect">
                        <a:avLst/>
                      </a:prstGeom>
                      <a:noFill/>
                      <a:ln w="38100">
                        <a:noFill/>
                        <a:miter/>
                      </a:ln>
                    </p:spPr>
                  </p:pic>
                </p:oleObj>
              </mc:Fallback>
            </mc:AlternateContent>
          </a:graphicData>
        </a:graphic>
      </p:graphicFrame>
      <p:sp>
        <p:nvSpPr>
          <p:cNvPr id="65542" name="文本框 65541"/>
          <p:cNvSpPr txBox="1"/>
          <p:nvPr/>
        </p:nvSpPr>
        <p:spPr>
          <a:xfrm>
            <a:off x="228600" y="3889375"/>
            <a:ext cx="8763000" cy="2282825"/>
          </a:xfrm>
          <a:prstGeom prst="rect">
            <a:avLst/>
          </a:prstGeom>
          <a:noFill/>
          <a:ln w="9525">
            <a:noFill/>
          </a:ln>
        </p:spPr>
        <p:txBody>
          <a:bodyPr>
            <a:spAutoFit/>
          </a:bodyPr>
          <a:p>
            <a:pPr>
              <a:lnSpc>
                <a:spcPct val="150000"/>
              </a:lnSpc>
              <a:spcBef>
                <a:spcPct val="50000"/>
              </a:spcBef>
            </a:pPr>
            <a:r>
              <a:rPr lang="en-US" altLang="zh-CN" dirty="0">
                <a:latin typeface="Times New Roman" panose="02020603050405020304" pitchFamily="18" charset="0"/>
              </a:rPr>
              <a:t>        </a:t>
            </a:r>
            <a:r>
              <a:rPr lang="zh-CN" altLang="en-US" b="1" dirty="0">
                <a:latin typeface="Times New Roman" panose="02020603050405020304" pitchFamily="18" charset="0"/>
              </a:rPr>
              <a:t>所谓保持，就是在连续两次采样之间，将上一次采样结束时所得到的样值通过保持电路保持一段时间，以便将其数字化（量化和编码）。采样与保持过程通常是通过采样</a:t>
            </a:r>
            <a:r>
              <a:rPr lang="en-US" altLang="zh-CN" b="1">
                <a:latin typeface="Times New Roman" panose="02020603050405020304" pitchFamily="18" charset="0"/>
              </a:rPr>
              <a:t>/</a:t>
            </a:r>
            <a:r>
              <a:rPr lang="zh-CN" altLang="en-US" b="1" dirty="0">
                <a:latin typeface="Times New Roman" panose="02020603050405020304" pitchFamily="18" charset="0"/>
              </a:rPr>
              <a:t>保持电路一起实现。</a:t>
            </a:r>
            <a:endParaRPr lang="zh-CN" altLang="en-US" b="1">
              <a:latin typeface="Times New Roman" panose="02020603050405020304" pitchFamily="18" charset="0"/>
            </a:endParaRPr>
          </a:p>
        </p:txBody>
      </p:sp>
      <p:sp>
        <p:nvSpPr>
          <p:cNvPr id="65543" name="文本框 65542"/>
          <p:cNvSpPr txBox="1"/>
          <p:nvPr/>
        </p:nvSpPr>
        <p:spPr>
          <a:xfrm>
            <a:off x="7451725" y="3089275"/>
            <a:ext cx="1098550" cy="457200"/>
          </a:xfrm>
          <a:prstGeom prst="rect">
            <a:avLst/>
          </a:prstGeom>
          <a:noFill/>
          <a:ln w="9525">
            <a:noFill/>
          </a:ln>
        </p:spPr>
        <p:txBody>
          <a:bodyPr wrap="none" anchor="t" anchorCtr="0">
            <a:spAutoFit/>
          </a:bodyPr>
          <a:p>
            <a:r>
              <a:rPr lang="en-US" altLang="zh-CN">
                <a:latin typeface="Times New Roman" panose="02020603050405020304" pitchFamily="18" charset="0"/>
              </a:rPr>
              <a:t>(11-28)</a:t>
            </a:r>
            <a:endParaRPr lang="en-US" altLang="zh-CN">
              <a:latin typeface="Times New Roman" panose="02020603050405020304" pitchFamily="18" charset="0"/>
            </a:endParaRPr>
          </a:p>
        </p:txBody>
      </p:sp>
    </p:spTree>
  </p:cSld>
  <p:clrMapOvr>
    <a:masterClrMapping/>
  </p:clrMapOvr>
  <p:transition>
    <p:blinds dir="vert"/>
  </p:transition>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8612" name="文本框 68611"/>
          <p:cNvSpPr txBox="1"/>
          <p:nvPr/>
        </p:nvSpPr>
        <p:spPr>
          <a:xfrm>
            <a:off x="3971925" y="5867400"/>
            <a:ext cx="1352550" cy="457200"/>
          </a:xfrm>
          <a:prstGeom prst="rect">
            <a:avLst/>
          </a:prstGeom>
          <a:noFill/>
          <a:ln w="9525">
            <a:noFill/>
          </a:ln>
        </p:spPr>
        <p:txBody>
          <a:bodyPr wrap="none" anchor="t" anchorCtr="0">
            <a:spAutoFit/>
          </a:bodyPr>
          <a:p>
            <a:r>
              <a:rPr lang="zh-CN" altLang="en-US" dirty="0">
                <a:latin typeface="Times New Roman" panose="02020603050405020304" pitchFamily="18" charset="0"/>
              </a:rPr>
              <a:t>图  </a:t>
            </a:r>
            <a:r>
              <a:rPr lang="en-US" altLang="zh-CN">
                <a:latin typeface="Times New Roman" panose="02020603050405020304" pitchFamily="18" charset="0"/>
              </a:rPr>
              <a:t>11-19</a:t>
            </a:r>
            <a:endParaRPr lang="en-US" altLang="zh-CN">
              <a:latin typeface="Times New Roman" panose="02020603050405020304" pitchFamily="18" charset="0"/>
            </a:endParaRPr>
          </a:p>
        </p:txBody>
      </p:sp>
      <p:graphicFrame>
        <p:nvGraphicFramePr>
          <p:cNvPr id="68613" name="对象 68612"/>
          <p:cNvGraphicFramePr/>
          <p:nvPr/>
        </p:nvGraphicFramePr>
        <p:xfrm>
          <a:off x="0" y="533400"/>
          <a:ext cx="9144000" cy="5156200"/>
        </p:xfrm>
        <a:graphic>
          <a:graphicData uri="http://schemas.openxmlformats.org/presentationml/2006/ole">
            <mc:AlternateContent xmlns:mc="http://schemas.openxmlformats.org/markup-compatibility/2006">
              <mc:Choice xmlns:v="urn:schemas-microsoft-com:vml" Requires="v">
                <p:oleObj spid="_x0000_s3114" name="" r:id="rId1" imgW="4122420" imgH="2324100" progId="Visio.Drawing.4">
                  <p:embed/>
                </p:oleObj>
              </mc:Choice>
              <mc:Fallback>
                <p:oleObj name="" r:id="rId1" imgW="4122420" imgH="2324100" progId="Visio.Drawing.4">
                  <p:embed/>
                  <p:pic>
                    <p:nvPicPr>
                      <p:cNvPr id="0" name="图片 3113"/>
                      <p:cNvPicPr/>
                      <p:nvPr/>
                    </p:nvPicPr>
                    <p:blipFill>
                      <a:blip r:embed="rId2"/>
                      <a:stretch>
                        <a:fillRect/>
                      </a:stretch>
                    </p:blipFill>
                    <p:spPr>
                      <a:xfrm>
                        <a:off x="0" y="533400"/>
                        <a:ext cx="9144000" cy="5156200"/>
                      </a:xfrm>
                      <a:prstGeom prst="rect">
                        <a:avLst/>
                      </a:prstGeom>
                      <a:noFill/>
                      <a:ln w="38100">
                        <a:noFill/>
                        <a:miter/>
                      </a:ln>
                    </p:spPr>
                  </p:pic>
                </p:oleObj>
              </mc:Fallback>
            </mc:AlternateContent>
          </a:graphicData>
        </a:graphic>
      </p:graphicFrame>
    </p:spTree>
  </p:cSld>
  <p:clrMapOvr>
    <a:masterClrMapping/>
  </p:clrMapOvr>
  <p:transition>
    <p:blinds dir="vert"/>
  </p:transition>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7588" name="文本框 67587"/>
          <p:cNvSpPr txBox="1"/>
          <p:nvPr/>
        </p:nvSpPr>
        <p:spPr>
          <a:xfrm>
            <a:off x="76200" y="685800"/>
            <a:ext cx="8991600" cy="6226175"/>
          </a:xfrm>
          <a:prstGeom prst="rect">
            <a:avLst/>
          </a:prstGeom>
          <a:noFill/>
          <a:ln w="9525">
            <a:noFill/>
          </a:ln>
        </p:spPr>
        <p:txBody>
          <a:bodyPr>
            <a:spAutoFit/>
          </a:bodyPr>
          <a:p>
            <a:pPr>
              <a:lnSpc>
                <a:spcPct val="140000"/>
              </a:lnSpc>
              <a:spcBef>
                <a:spcPct val="50000"/>
              </a:spcBef>
            </a:pPr>
            <a:r>
              <a:rPr lang="en-US" altLang="zh-CN" dirty="0">
                <a:latin typeface="Times New Roman" panose="02020603050405020304" pitchFamily="18" charset="0"/>
              </a:rPr>
              <a:t>        </a:t>
            </a:r>
            <a:r>
              <a:rPr lang="zh-CN" altLang="en-US" b="1" dirty="0">
                <a:latin typeface="Times New Roman" panose="02020603050405020304" pitchFamily="18" charset="0"/>
              </a:rPr>
              <a:t>图</a:t>
            </a:r>
            <a:r>
              <a:rPr lang="en-US" altLang="zh-CN" b="1">
                <a:latin typeface="Times New Roman" panose="02020603050405020304" pitchFamily="18" charset="0"/>
              </a:rPr>
              <a:t>11- 20</a:t>
            </a:r>
            <a:r>
              <a:rPr lang="zh-CN" altLang="en-US" b="1" dirty="0">
                <a:latin typeface="Times New Roman" panose="02020603050405020304" pitchFamily="18" charset="0"/>
              </a:rPr>
              <a:t>（</a:t>
            </a:r>
            <a:r>
              <a:rPr lang="en-US" altLang="zh-CN" b="1" i="1">
                <a:latin typeface="Times New Roman" panose="02020603050405020304" pitchFamily="18" charset="0"/>
              </a:rPr>
              <a:t>a</a:t>
            </a:r>
            <a:r>
              <a:rPr lang="zh-CN" altLang="en-US" b="1">
                <a:latin typeface="Times New Roman" panose="02020603050405020304" pitchFamily="18" charset="0"/>
              </a:rPr>
              <a:t>）</a:t>
            </a:r>
            <a:r>
              <a:rPr lang="zh-CN" altLang="en-US" b="1" dirty="0">
                <a:latin typeface="Times New Roman" panose="02020603050405020304" pitchFamily="18" charset="0"/>
              </a:rPr>
              <a:t>是一种最简单的采样</a:t>
            </a:r>
            <a:r>
              <a:rPr lang="en-US" altLang="zh-CN" b="1">
                <a:latin typeface="Times New Roman" panose="02020603050405020304" pitchFamily="18" charset="0"/>
              </a:rPr>
              <a:t>/</a:t>
            </a:r>
            <a:r>
              <a:rPr lang="zh-CN" altLang="en-US" b="1" dirty="0">
                <a:latin typeface="Times New Roman" panose="02020603050405020304" pitchFamily="18" charset="0"/>
              </a:rPr>
              <a:t>保持电路，它由采样开关</a:t>
            </a:r>
            <a:r>
              <a:rPr lang="en-US" altLang="zh-CN" b="1">
                <a:latin typeface="Times New Roman" panose="02020603050405020304" pitchFamily="18" charset="0"/>
              </a:rPr>
              <a:t>T</a:t>
            </a:r>
            <a:r>
              <a:rPr lang="zh-CN" altLang="en-US" b="1">
                <a:latin typeface="Times New Roman" panose="02020603050405020304" pitchFamily="18" charset="0"/>
              </a:rPr>
              <a:t>、 </a:t>
            </a:r>
            <a:r>
              <a:rPr lang="zh-CN" altLang="en-US" b="1" dirty="0">
                <a:latin typeface="Times New Roman" panose="02020603050405020304" pitchFamily="18" charset="0"/>
              </a:rPr>
              <a:t>用于存储采样值的电容</a:t>
            </a:r>
            <a:r>
              <a:rPr lang="en-US" altLang="zh-CN" b="1">
                <a:latin typeface="Times New Roman" panose="02020603050405020304" pitchFamily="18" charset="0"/>
              </a:rPr>
              <a:t>C</a:t>
            </a:r>
            <a:r>
              <a:rPr lang="zh-CN" altLang="en-US" b="1" dirty="0">
                <a:latin typeface="Times New Roman" panose="02020603050405020304" pitchFamily="18" charset="0"/>
              </a:rPr>
              <a:t>和缓冲放大器</a:t>
            </a:r>
            <a:r>
              <a:rPr lang="en-US" altLang="zh-CN" b="1">
                <a:latin typeface="Times New Roman" panose="02020603050405020304" pitchFamily="18" charset="0"/>
              </a:rPr>
              <a:t>A</a:t>
            </a:r>
            <a:r>
              <a:rPr lang="zh-CN" altLang="en-US" b="1" dirty="0">
                <a:latin typeface="Times New Roman" panose="02020603050405020304" pitchFamily="18" charset="0"/>
              </a:rPr>
              <a:t>组成。其中，采样开关</a:t>
            </a:r>
            <a:r>
              <a:rPr lang="en-US" altLang="zh-CN" b="1">
                <a:latin typeface="Times New Roman" panose="02020603050405020304" pitchFamily="18" charset="0"/>
              </a:rPr>
              <a:t>T</a:t>
            </a:r>
            <a:r>
              <a:rPr lang="zh-CN" altLang="en-US" b="1" dirty="0">
                <a:latin typeface="Times New Roman" panose="02020603050405020304" pitchFamily="18" charset="0"/>
              </a:rPr>
              <a:t>是用场效应管做的双向模拟开关，缓冲放大器一般采用运算放大器并接成电压跟随电路。 在采样时间内，采样脉冲</a:t>
            </a:r>
            <a:r>
              <a:rPr lang="en-US" altLang="zh-CN" b="1">
                <a:latin typeface="Times New Roman" panose="02020603050405020304" pitchFamily="18" charset="0"/>
              </a:rPr>
              <a:t>S( t )</a:t>
            </a:r>
            <a:r>
              <a:rPr lang="zh-CN" altLang="en-US" b="1" dirty="0">
                <a:latin typeface="Times New Roman" panose="02020603050405020304" pitchFamily="18" charset="0"/>
              </a:rPr>
              <a:t>存在，采样开关</a:t>
            </a:r>
            <a:r>
              <a:rPr lang="en-US" altLang="zh-CN" b="1">
                <a:latin typeface="Times New Roman" panose="02020603050405020304" pitchFamily="18" charset="0"/>
              </a:rPr>
              <a:t>T</a:t>
            </a:r>
            <a:r>
              <a:rPr lang="zh-CN" altLang="en-US" b="1" dirty="0">
                <a:latin typeface="Times New Roman" panose="02020603050405020304" pitchFamily="18" charset="0"/>
              </a:rPr>
              <a:t>导通， 输入模拟电压</a:t>
            </a:r>
            <a:r>
              <a:rPr lang="en-US" altLang="zh-CN" b="1" err="1">
                <a:latin typeface="Times New Roman" panose="02020603050405020304" pitchFamily="18" charset="0"/>
              </a:rPr>
              <a:t>u</a:t>
            </a:r>
            <a:r>
              <a:rPr lang="en-US" altLang="zh-CN" b="1" baseline="-25000" err="1">
                <a:latin typeface="Times New Roman" panose="02020603050405020304" pitchFamily="18" charset="0"/>
              </a:rPr>
              <a:t>A</a:t>
            </a:r>
            <a:r>
              <a:rPr lang="zh-CN" altLang="en-US" b="1" dirty="0">
                <a:latin typeface="Times New Roman" panose="02020603050405020304" pitchFamily="18" charset="0"/>
              </a:rPr>
              <a:t>通过采样开关对保持电容</a:t>
            </a:r>
            <a:r>
              <a:rPr lang="en-US" altLang="zh-CN" b="1">
                <a:latin typeface="Times New Roman" panose="02020603050405020304" pitchFamily="18" charset="0"/>
              </a:rPr>
              <a:t>C</a:t>
            </a:r>
            <a:r>
              <a:rPr lang="zh-CN" altLang="en-US" b="1" dirty="0">
                <a:latin typeface="Times New Roman" panose="02020603050405020304" pitchFamily="18" charset="0"/>
              </a:rPr>
              <a:t>充电，充电的时间常数应远小于采样时间</a:t>
            </a:r>
            <a:r>
              <a:rPr lang="en-US" altLang="zh-CN" b="1" i="1">
                <a:latin typeface="Times New Roman" panose="02020603050405020304" pitchFamily="18" charset="0"/>
              </a:rPr>
              <a:t>τ</a:t>
            </a:r>
            <a:r>
              <a:rPr lang="zh-CN" altLang="en-US" b="1">
                <a:latin typeface="Times New Roman" panose="02020603050405020304" pitchFamily="18" charset="0"/>
              </a:rPr>
              <a:t>， </a:t>
            </a:r>
            <a:r>
              <a:rPr lang="zh-CN" altLang="en-US" b="1" dirty="0">
                <a:latin typeface="Times New Roman" panose="02020603050405020304" pitchFamily="18" charset="0"/>
              </a:rPr>
              <a:t>所以电容</a:t>
            </a:r>
            <a:r>
              <a:rPr lang="en-US" altLang="zh-CN" b="1">
                <a:latin typeface="Times New Roman" panose="02020603050405020304" pitchFamily="18" charset="0"/>
              </a:rPr>
              <a:t>C</a:t>
            </a:r>
            <a:r>
              <a:rPr lang="zh-CN" altLang="en-US" b="1" dirty="0">
                <a:latin typeface="Times New Roman" panose="02020603050405020304" pitchFamily="18" charset="0"/>
              </a:rPr>
              <a:t>上的电压</a:t>
            </a:r>
            <a:r>
              <a:rPr lang="en-US" altLang="zh-CN" b="1" err="1">
                <a:latin typeface="Times New Roman" panose="02020603050405020304" pitchFamily="18" charset="0"/>
              </a:rPr>
              <a:t>u</a:t>
            </a:r>
            <a:r>
              <a:rPr lang="en-US" altLang="zh-CN" b="1" baseline="-25000" err="1">
                <a:latin typeface="Times New Roman" panose="02020603050405020304" pitchFamily="18" charset="0"/>
              </a:rPr>
              <a:t>C</a:t>
            </a:r>
            <a:r>
              <a:rPr lang="zh-CN" altLang="en-US" b="1" dirty="0">
                <a:latin typeface="Times New Roman" panose="02020603050405020304" pitchFamily="18" charset="0"/>
              </a:rPr>
              <a:t>在采样时间完全能够跟上输入模拟电压</a:t>
            </a:r>
            <a:r>
              <a:rPr lang="en-US" altLang="zh-CN" b="1" err="1">
                <a:latin typeface="Times New Roman" panose="02020603050405020304" pitchFamily="18" charset="0"/>
              </a:rPr>
              <a:t>u</a:t>
            </a:r>
            <a:r>
              <a:rPr lang="en-US" altLang="zh-CN" b="1" baseline="-25000" err="1">
                <a:latin typeface="Times New Roman" panose="02020603050405020304" pitchFamily="18" charset="0"/>
              </a:rPr>
              <a:t>A</a:t>
            </a:r>
            <a:r>
              <a:rPr lang="zh-CN" altLang="en-US" b="1" dirty="0">
                <a:latin typeface="Times New Roman" panose="02020603050405020304" pitchFamily="18" charset="0"/>
              </a:rPr>
              <a:t>的变化，则运算放大器的输出</a:t>
            </a:r>
            <a:r>
              <a:rPr lang="en-US" altLang="zh-CN" b="1" err="1">
                <a:latin typeface="Times New Roman" panose="02020603050405020304" pitchFamily="18" charset="0"/>
              </a:rPr>
              <a:t>u</a:t>
            </a:r>
            <a:r>
              <a:rPr lang="en-US" altLang="zh-CN" b="1" baseline="-25000" err="1">
                <a:latin typeface="Times New Roman" panose="02020603050405020304" pitchFamily="18" charset="0"/>
              </a:rPr>
              <a:t>S</a:t>
            </a:r>
            <a:r>
              <a:rPr lang="zh-CN" altLang="en-US" b="1" dirty="0">
                <a:latin typeface="Times New Roman" panose="02020603050405020304" pitchFamily="18" charset="0"/>
              </a:rPr>
              <a:t>也能跟上</a:t>
            </a:r>
            <a:r>
              <a:rPr lang="en-US" altLang="zh-CN" b="1" err="1">
                <a:latin typeface="Times New Roman" panose="02020603050405020304" pitchFamily="18" charset="0"/>
              </a:rPr>
              <a:t>u</a:t>
            </a:r>
            <a:r>
              <a:rPr lang="en-US" altLang="zh-CN" b="1" baseline="-25000" err="1">
                <a:latin typeface="Times New Roman" panose="02020603050405020304" pitchFamily="18" charset="0"/>
              </a:rPr>
              <a:t>A</a:t>
            </a:r>
            <a:r>
              <a:rPr lang="zh-CN" altLang="en-US" b="1" dirty="0">
                <a:latin typeface="Times New Roman" panose="02020603050405020304" pitchFamily="18" charset="0"/>
              </a:rPr>
              <a:t>的变化。当采样脉冲结束后，场效应管截止，如果电容</a:t>
            </a:r>
            <a:r>
              <a:rPr lang="en-US" altLang="zh-CN" b="1">
                <a:latin typeface="Times New Roman" panose="02020603050405020304" pitchFamily="18" charset="0"/>
              </a:rPr>
              <a:t>C</a:t>
            </a:r>
            <a:r>
              <a:rPr lang="zh-CN" altLang="en-US" b="1" dirty="0">
                <a:latin typeface="Times New Roman" panose="02020603050405020304" pitchFamily="18" charset="0"/>
              </a:rPr>
              <a:t>的漏电电阻、场效应管的截止阻抗和运算放大器的输入阻抗都很大，电容的漏电可以忽略不记，则电容</a:t>
            </a:r>
            <a:r>
              <a:rPr lang="en-US" altLang="zh-CN" b="1">
                <a:latin typeface="Times New Roman" panose="02020603050405020304" pitchFamily="18" charset="0"/>
              </a:rPr>
              <a:t>C</a:t>
            </a:r>
            <a:r>
              <a:rPr lang="zh-CN" altLang="en-US" b="1" dirty="0">
                <a:latin typeface="Times New Roman" panose="02020603050405020304" pitchFamily="18" charset="0"/>
              </a:rPr>
              <a:t>上的电压将保持采样脉冲结束前一瞬间</a:t>
            </a:r>
            <a:r>
              <a:rPr lang="en-US" altLang="zh-CN" b="1" err="1">
                <a:latin typeface="Times New Roman" panose="02020603050405020304" pitchFamily="18" charset="0"/>
              </a:rPr>
              <a:t>u</a:t>
            </a:r>
            <a:r>
              <a:rPr lang="en-US" altLang="zh-CN" b="1" baseline="-25000" err="1">
                <a:latin typeface="Times New Roman" panose="02020603050405020304" pitchFamily="18" charset="0"/>
              </a:rPr>
              <a:t>A</a:t>
            </a:r>
            <a:r>
              <a:rPr lang="zh-CN" altLang="en-US" b="1" dirty="0">
                <a:latin typeface="Times New Roman" panose="02020603050405020304" pitchFamily="18" charset="0"/>
              </a:rPr>
              <a:t>的电压一直到下一个采样脉冲到来时为止。 </a:t>
            </a:r>
            <a:endParaRPr lang="zh-CN" altLang="en-US" b="1">
              <a:latin typeface="Times New Roman" panose="02020603050405020304" pitchFamily="18" charset="0"/>
            </a:endParaRPr>
          </a:p>
        </p:txBody>
      </p:sp>
    </p:spTree>
  </p:cSld>
  <p:clrMapOvr>
    <a:masterClrMapping/>
  </p:clrMapOvr>
  <p:transition>
    <p:blinds dir="vert"/>
  </p:transition>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0660" name="文本框 70659"/>
          <p:cNvSpPr txBox="1"/>
          <p:nvPr/>
        </p:nvSpPr>
        <p:spPr>
          <a:xfrm>
            <a:off x="2906713" y="5410200"/>
            <a:ext cx="3417887" cy="1187450"/>
          </a:xfrm>
          <a:prstGeom prst="rect">
            <a:avLst/>
          </a:prstGeom>
          <a:noFill/>
          <a:ln w="9525">
            <a:noFill/>
          </a:ln>
        </p:spPr>
        <p:txBody>
          <a:bodyPr>
            <a:spAutoFit/>
          </a:bodyPr>
          <a:p>
            <a:pPr algn="ctr"/>
            <a:r>
              <a:rPr lang="zh-CN" altLang="en-US" dirty="0">
                <a:latin typeface="Times New Roman" panose="02020603050405020304" pitchFamily="18" charset="0"/>
              </a:rPr>
              <a:t>图 </a:t>
            </a:r>
            <a:r>
              <a:rPr lang="en-US" altLang="zh-CN">
                <a:latin typeface="Times New Roman" panose="02020603050405020304" pitchFamily="18" charset="0"/>
              </a:rPr>
              <a:t>11-20 </a:t>
            </a:r>
            <a:r>
              <a:rPr lang="zh-CN" altLang="en-US" dirty="0">
                <a:latin typeface="Times New Roman" panose="02020603050405020304" pitchFamily="18" charset="0"/>
              </a:rPr>
              <a:t>采样</a:t>
            </a:r>
            <a:r>
              <a:rPr lang="en-US" altLang="zh-CN">
                <a:latin typeface="Times New Roman" panose="02020603050405020304" pitchFamily="18" charset="0"/>
              </a:rPr>
              <a:t>/</a:t>
            </a:r>
            <a:r>
              <a:rPr lang="zh-CN" altLang="en-US" dirty="0">
                <a:latin typeface="Times New Roman" panose="02020603050405020304" pitchFamily="18" charset="0"/>
              </a:rPr>
              <a:t>保持电路</a:t>
            </a:r>
            <a:endParaRPr lang="zh-CN" altLang="en-US" dirty="0">
              <a:latin typeface="Times New Roman" panose="02020603050405020304" pitchFamily="18" charset="0"/>
            </a:endParaRPr>
          </a:p>
          <a:p>
            <a:pPr algn="ctr"/>
            <a:r>
              <a:rPr lang="en-US" altLang="zh-CN">
                <a:latin typeface="Times New Roman" panose="02020603050405020304" pitchFamily="18" charset="0"/>
              </a:rPr>
              <a:t>(a) </a:t>
            </a:r>
            <a:r>
              <a:rPr lang="zh-CN" altLang="en-US" dirty="0">
                <a:latin typeface="Times New Roman" panose="02020603050405020304" pitchFamily="18" charset="0"/>
              </a:rPr>
              <a:t>电路图； </a:t>
            </a:r>
            <a:r>
              <a:rPr lang="en-US" altLang="zh-CN">
                <a:latin typeface="Times New Roman" panose="02020603050405020304" pitchFamily="18" charset="0"/>
              </a:rPr>
              <a:t>(b) </a:t>
            </a:r>
            <a:r>
              <a:rPr lang="zh-CN" altLang="en-US" dirty="0">
                <a:latin typeface="Times New Roman" panose="02020603050405020304" pitchFamily="18" charset="0"/>
              </a:rPr>
              <a:t>波形图</a:t>
            </a:r>
            <a:endParaRPr lang="zh-CN" altLang="en-US">
              <a:latin typeface="Times New Roman" panose="02020603050405020304" pitchFamily="18" charset="0"/>
            </a:endParaRPr>
          </a:p>
        </p:txBody>
      </p:sp>
      <p:graphicFrame>
        <p:nvGraphicFramePr>
          <p:cNvPr id="70661" name="对象 70660"/>
          <p:cNvGraphicFramePr/>
          <p:nvPr/>
        </p:nvGraphicFramePr>
        <p:xfrm>
          <a:off x="0" y="1295400"/>
          <a:ext cx="9144000" cy="3249613"/>
        </p:xfrm>
        <a:graphic>
          <a:graphicData uri="http://schemas.openxmlformats.org/presentationml/2006/ole">
            <mc:AlternateContent xmlns:mc="http://schemas.openxmlformats.org/markup-compatibility/2006">
              <mc:Choice xmlns:v="urn:schemas-microsoft-com:vml" Requires="v">
                <p:oleObj spid="_x0000_s3112" name="" r:id="rId1" imgW="5021580" imgH="1783080" progId="Visio.Drawing.4">
                  <p:embed/>
                </p:oleObj>
              </mc:Choice>
              <mc:Fallback>
                <p:oleObj name="" r:id="rId1" imgW="5021580" imgH="1783080" progId="Visio.Drawing.4">
                  <p:embed/>
                  <p:pic>
                    <p:nvPicPr>
                      <p:cNvPr id="0" name="图片 3111"/>
                      <p:cNvPicPr/>
                      <p:nvPr/>
                    </p:nvPicPr>
                    <p:blipFill>
                      <a:blip r:embed="rId2"/>
                      <a:stretch>
                        <a:fillRect/>
                      </a:stretch>
                    </p:blipFill>
                    <p:spPr>
                      <a:xfrm>
                        <a:off x="0" y="1295400"/>
                        <a:ext cx="9144000" cy="3249613"/>
                      </a:xfrm>
                      <a:prstGeom prst="rect">
                        <a:avLst/>
                      </a:prstGeom>
                      <a:noFill/>
                      <a:ln w="38100">
                        <a:noFill/>
                        <a:miter/>
                      </a:ln>
                    </p:spPr>
                  </p:pic>
                </p:oleObj>
              </mc:Fallback>
            </mc:AlternateContent>
          </a:graphicData>
        </a:graphic>
      </p:graphicFrame>
    </p:spTree>
  </p:cSld>
  <p:clrMapOvr>
    <a:masterClrMapping/>
  </p:clrMapOvr>
  <p:transition>
    <p:blinds dir="vert"/>
  </p:transition>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9636" name="文本框 69635"/>
          <p:cNvSpPr txBox="1"/>
          <p:nvPr/>
        </p:nvSpPr>
        <p:spPr>
          <a:xfrm>
            <a:off x="228600" y="685800"/>
            <a:ext cx="8610600" cy="3378200"/>
          </a:xfrm>
          <a:prstGeom prst="rect">
            <a:avLst/>
          </a:prstGeom>
          <a:noFill/>
          <a:ln w="9525">
            <a:noFill/>
          </a:ln>
        </p:spPr>
        <p:txBody>
          <a:bodyPr>
            <a:spAutoFit/>
          </a:bodyPr>
          <a:p>
            <a:pPr>
              <a:lnSpc>
                <a:spcPct val="180000"/>
              </a:lnSpc>
              <a:spcBef>
                <a:spcPct val="50000"/>
              </a:spcBef>
            </a:pPr>
            <a:r>
              <a:rPr lang="en-US" altLang="zh-CN" dirty="0">
                <a:latin typeface="Times New Roman" panose="02020603050405020304" pitchFamily="18" charset="0"/>
              </a:rPr>
              <a:t>         </a:t>
            </a:r>
            <a:r>
              <a:rPr lang="zh-CN" altLang="en-US" dirty="0">
                <a:latin typeface="Times New Roman" panose="02020603050405020304" pitchFamily="18" charset="0"/>
              </a:rPr>
              <a:t>图</a:t>
            </a:r>
            <a:r>
              <a:rPr lang="en-US" altLang="zh-CN">
                <a:latin typeface="Times New Roman" panose="02020603050405020304" pitchFamily="18" charset="0"/>
              </a:rPr>
              <a:t>11- 20</a:t>
            </a:r>
            <a:r>
              <a:rPr lang="zh-CN" altLang="en-US" dirty="0">
                <a:latin typeface="Times New Roman" panose="02020603050405020304" pitchFamily="18" charset="0"/>
              </a:rPr>
              <a:t>（</a:t>
            </a:r>
            <a:r>
              <a:rPr lang="en-US" altLang="zh-CN">
                <a:latin typeface="Times New Roman" panose="02020603050405020304" pitchFamily="18" charset="0"/>
              </a:rPr>
              <a:t>b</a:t>
            </a:r>
            <a:r>
              <a:rPr lang="zh-CN" altLang="en-US">
                <a:latin typeface="Times New Roman" panose="02020603050405020304" pitchFamily="18" charset="0"/>
              </a:rPr>
              <a:t>）</a:t>
            </a:r>
            <a:r>
              <a:rPr lang="zh-CN" altLang="en-US" dirty="0">
                <a:latin typeface="Times New Roman" panose="02020603050405020304" pitchFamily="18" charset="0"/>
              </a:rPr>
              <a:t>给出了图</a:t>
            </a:r>
            <a:r>
              <a:rPr lang="en-US" altLang="zh-CN">
                <a:latin typeface="Times New Roman" panose="02020603050405020304" pitchFamily="18" charset="0"/>
              </a:rPr>
              <a:t>11- 20</a:t>
            </a:r>
            <a:r>
              <a:rPr lang="zh-CN" altLang="en-US" dirty="0">
                <a:latin typeface="Times New Roman" panose="02020603050405020304" pitchFamily="18" charset="0"/>
              </a:rPr>
              <a:t>（</a:t>
            </a:r>
            <a:r>
              <a:rPr lang="en-US" altLang="zh-CN">
                <a:latin typeface="Times New Roman" panose="02020603050405020304" pitchFamily="18" charset="0"/>
              </a:rPr>
              <a:t>a</a:t>
            </a:r>
            <a:r>
              <a:rPr lang="zh-CN" altLang="en-US">
                <a:latin typeface="Times New Roman" panose="02020603050405020304" pitchFamily="18" charset="0"/>
              </a:rPr>
              <a:t>）</a:t>
            </a:r>
            <a:r>
              <a:rPr lang="zh-CN" altLang="en-US" dirty="0">
                <a:latin typeface="Times New Roman" panose="02020603050405020304" pitchFamily="18" charset="0"/>
              </a:rPr>
              <a:t>所示电路中输入模拟电压</a:t>
            </a:r>
            <a:r>
              <a:rPr lang="en-US" altLang="zh-CN" err="1">
                <a:latin typeface="Times New Roman" panose="02020603050405020304" pitchFamily="18" charset="0"/>
              </a:rPr>
              <a:t>u</a:t>
            </a:r>
            <a:r>
              <a:rPr lang="en-US" altLang="zh-CN" baseline="-25000" err="1">
                <a:latin typeface="Times New Roman" panose="02020603050405020304" pitchFamily="18" charset="0"/>
              </a:rPr>
              <a:t>A</a:t>
            </a:r>
            <a:r>
              <a:rPr lang="zh-CN" altLang="en-US">
                <a:latin typeface="Times New Roman" panose="02020603050405020304" pitchFamily="18" charset="0"/>
              </a:rPr>
              <a:t>、</a:t>
            </a:r>
            <a:r>
              <a:rPr lang="zh-CN" altLang="en-US" dirty="0">
                <a:latin typeface="Times New Roman" panose="02020603050405020304" pitchFamily="18" charset="0"/>
              </a:rPr>
              <a:t>采样脉冲</a:t>
            </a:r>
            <a:r>
              <a:rPr lang="en-US" altLang="zh-CN">
                <a:latin typeface="Times New Roman" panose="02020603050405020304" pitchFamily="18" charset="0"/>
              </a:rPr>
              <a:t>S(t)</a:t>
            </a:r>
            <a:r>
              <a:rPr lang="zh-CN" altLang="en-US" dirty="0">
                <a:latin typeface="Times New Roman" panose="02020603050405020304" pitchFamily="18" charset="0"/>
              </a:rPr>
              <a:t>和采样</a:t>
            </a:r>
            <a:r>
              <a:rPr lang="en-US" altLang="zh-CN">
                <a:latin typeface="Times New Roman" panose="02020603050405020304" pitchFamily="18" charset="0"/>
              </a:rPr>
              <a:t>/</a:t>
            </a:r>
            <a:r>
              <a:rPr lang="zh-CN" altLang="en-US" dirty="0">
                <a:latin typeface="Times New Roman" panose="02020603050405020304" pitchFamily="18" charset="0"/>
              </a:rPr>
              <a:t>保持电路的输出</a:t>
            </a:r>
            <a:r>
              <a:rPr lang="en-US" altLang="zh-CN" err="1">
                <a:latin typeface="Times New Roman" panose="02020603050405020304" pitchFamily="18" charset="0"/>
              </a:rPr>
              <a:t>u</a:t>
            </a:r>
            <a:r>
              <a:rPr lang="en-US" altLang="zh-CN" baseline="-25000" err="1">
                <a:latin typeface="Times New Roman" panose="02020603050405020304" pitchFamily="18" charset="0"/>
              </a:rPr>
              <a:t>S</a:t>
            </a:r>
            <a:r>
              <a:rPr lang="zh-CN" altLang="en-US" dirty="0">
                <a:latin typeface="Times New Roman" panose="02020603050405020304" pitchFamily="18" charset="0"/>
              </a:rPr>
              <a:t>的波形。从图中可以清楚地看出， 在采样时间</a:t>
            </a:r>
            <a:r>
              <a:rPr lang="en-US" altLang="zh-CN" i="1">
                <a:latin typeface="Times New Roman" panose="02020603050405020304" pitchFamily="18" charset="0"/>
              </a:rPr>
              <a:t>τ</a:t>
            </a:r>
            <a:r>
              <a:rPr lang="zh-CN" altLang="en-US" dirty="0">
                <a:latin typeface="Times New Roman" panose="02020603050405020304" pitchFamily="18" charset="0"/>
              </a:rPr>
              <a:t>内，</a:t>
            </a:r>
            <a:r>
              <a:rPr lang="en-US" altLang="zh-CN" err="1">
                <a:latin typeface="Times New Roman" panose="02020603050405020304" pitchFamily="18" charset="0"/>
              </a:rPr>
              <a:t>u</a:t>
            </a:r>
            <a:r>
              <a:rPr lang="en-US" altLang="zh-CN" baseline="-25000" err="1">
                <a:latin typeface="Times New Roman" panose="02020603050405020304" pitchFamily="18" charset="0"/>
              </a:rPr>
              <a:t>S</a:t>
            </a:r>
            <a:r>
              <a:rPr lang="en-US" altLang="zh-CN">
                <a:latin typeface="Times New Roman" panose="02020603050405020304" pitchFamily="18" charset="0"/>
              </a:rPr>
              <a:t> = </a:t>
            </a:r>
            <a:r>
              <a:rPr lang="en-US" altLang="zh-CN" err="1">
                <a:latin typeface="Times New Roman" panose="02020603050405020304" pitchFamily="18" charset="0"/>
              </a:rPr>
              <a:t>u</a:t>
            </a:r>
            <a:r>
              <a:rPr lang="en-US" altLang="zh-CN" baseline="-25000" err="1">
                <a:latin typeface="Times New Roman" panose="02020603050405020304" pitchFamily="18" charset="0"/>
              </a:rPr>
              <a:t>A</a:t>
            </a:r>
            <a:r>
              <a:rPr lang="zh-CN" altLang="en-US">
                <a:latin typeface="Times New Roman" panose="02020603050405020304" pitchFamily="18" charset="0"/>
              </a:rPr>
              <a:t>；</a:t>
            </a:r>
            <a:r>
              <a:rPr lang="zh-CN" altLang="en-US" dirty="0">
                <a:latin typeface="Times New Roman" panose="02020603050405020304" pitchFamily="18" charset="0"/>
              </a:rPr>
              <a:t>在采样间隔时间（</a:t>
            </a:r>
            <a:r>
              <a:rPr lang="en-US" altLang="zh-CN">
                <a:latin typeface="Times New Roman" panose="02020603050405020304" pitchFamily="18" charset="0"/>
              </a:rPr>
              <a:t>T</a:t>
            </a:r>
            <a:r>
              <a:rPr lang="en-US" altLang="zh-CN" baseline="-25000">
                <a:latin typeface="Times New Roman" panose="02020603050405020304" pitchFamily="18" charset="0"/>
              </a:rPr>
              <a:t>S</a:t>
            </a:r>
            <a:r>
              <a:rPr lang="en-US" altLang="zh-CN">
                <a:latin typeface="Times New Roman" panose="02020603050405020304" pitchFamily="18" charset="0"/>
              </a:rPr>
              <a:t>-</a:t>
            </a:r>
            <a:r>
              <a:rPr lang="en-US" altLang="zh-CN" i="1">
                <a:latin typeface="Times New Roman" panose="02020603050405020304" pitchFamily="18" charset="0"/>
              </a:rPr>
              <a:t>τ</a:t>
            </a:r>
            <a:r>
              <a:rPr lang="zh-CN" altLang="en-US">
                <a:latin typeface="Times New Roman" panose="02020603050405020304" pitchFamily="18" charset="0"/>
              </a:rPr>
              <a:t>）</a:t>
            </a:r>
            <a:r>
              <a:rPr lang="zh-CN" altLang="en-US" dirty="0">
                <a:latin typeface="Times New Roman" panose="02020603050405020304" pitchFamily="18" charset="0"/>
              </a:rPr>
              <a:t>内，</a:t>
            </a:r>
            <a:r>
              <a:rPr lang="en-US" altLang="zh-CN" err="1">
                <a:latin typeface="Times New Roman" panose="02020603050405020304" pitchFamily="18" charset="0"/>
              </a:rPr>
              <a:t>u</a:t>
            </a:r>
            <a:r>
              <a:rPr lang="en-US" altLang="zh-CN" baseline="-25000" err="1">
                <a:latin typeface="Times New Roman" panose="02020603050405020304" pitchFamily="18" charset="0"/>
              </a:rPr>
              <a:t>S</a:t>
            </a:r>
            <a:r>
              <a:rPr lang="zh-CN" altLang="en-US" dirty="0">
                <a:latin typeface="Times New Roman" panose="02020603050405020304" pitchFamily="18" charset="0"/>
              </a:rPr>
              <a:t>保持不变， 因而其波形呈阶梯状。（</a:t>
            </a:r>
            <a:r>
              <a:rPr lang="en-US" altLang="zh-CN">
                <a:latin typeface="Times New Roman" panose="02020603050405020304" pitchFamily="18" charset="0"/>
              </a:rPr>
              <a:t>T</a:t>
            </a:r>
            <a:r>
              <a:rPr lang="en-US" altLang="zh-CN" baseline="-25000">
                <a:latin typeface="Times New Roman" panose="02020603050405020304" pitchFamily="18" charset="0"/>
              </a:rPr>
              <a:t>S</a:t>
            </a:r>
            <a:r>
              <a:rPr lang="en-US" altLang="zh-CN">
                <a:latin typeface="Times New Roman" panose="02020603050405020304" pitchFamily="18" charset="0"/>
              </a:rPr>
              <a:t>-</a:t>
            </a:r>
            <a:r>
              <a:rPr lang="en-US" altLang="zh-CN" i="1">
                <a:latin typeface="Times New Roman" panose="02020603050405020304" pitchFamily="18" charset="0"/>
              </a:rPr>
              <a:t>τ</a:t>
            </a:r>
            <a:r>
              <a:rPr lang="zh-CN" altLang="en-US">
                <a:latin typeface="Times New Roman" panose="02020603050405020304" pitchFamily="18" charset="0"/>
              </a:rPr>
              <a:t>）</a:t>
            </a:r>
            <a:r>
              <a:rPr lang="zh-CN" altLang="en-US" dirty="0">
                <a:latin typeface="Times New Roman" panose="02020603050405020304" pitchFamily="18" charset="0"/>
              </a:rPr>
              <a:t>这段时间正是供后级电路对</a:t>
            </a:r>
            <a:r>
              <a:rPr lang="en-US" altLang="zh-CN" err="1">
                <a:latin typeface="Times New Roman" panose="02020603050405020304" pitchFamily="18" charset="0"/>
              </a:rPr>
              <a:t>u</a:t>
            </a:r>
            <a:r>
              <a:rPr lang="en-US" altLang="zh-CN" baseline="-25000" err="1">
                <a:latin typeface="Times New Roman" panose="02020603050405020304" pitchFamily="18" charset="0"/>
              </a:rPr>
              <a:t>O</a:t>
            </a:r>
            <a:r>
              <a:rPr lang="zh-CN" altLang="en-US" dirty="0">
                <a:latin typeface="Times New Roman" panose="02020603050405020304" pitchFamily="18" charset="0"/>
              </a:rPr>
              <a:t>实现量化和编码的时间。</a:t>
            </a:r>
            <a:endParaRPr lang="zh-CN" altLang="en-US">
              <a:latin typeface="Times New Roman" panose="02020603050405020304" pitchFamily="18" charset="0"/>
            </a:endParaRPr>
          </a:p>
        </p:txBody>
      </p:sp>
    </p:spTree>
  </p:cSld>
  <p:clrMapOvr>
    <a:masterClrMapping/>
  </p:clrMapOvr>
  <p:transition>
    <p:blinds dir="vert"/>
  </p:transition>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3732" name="文本框 73731"/>
          <p:cNvSpPr txBox="1"/>
          <p:nvPr/>
        </p:nvSpPr>
        <p:spPr>
          <a:xfrm>
            <a:off x="152400" y="609600"/>
            <a:ext cx="8991600" cy="5751513"/>
          </a:xfrm>
          <a:prstGeom prst="rect">
            <a:avLst/>
          </a:prstGeom>
          <a:noFill/>
          <a:ln w="9525">
            <a:noFill/>
          </a:ln>
        </p:spPr>
        <p:txBody>
          <a:bodyPr>
            <a:spAutoFit/>
          </a:bodyPr>
          <a:p>
            <a:pPr>
              <a:lnSpc>
                <a:spcPct val="150000"/>
              </a:lnSpc>
              <a:spcBef>
                <a:spcPct val="50000"/>
              </a:spcBef>
            </a:pPr>
            <a:r>
              <a:rPr lang="en-US" altLang="zh-CN" b="1" dirty="0">
                <a:latin typeface="Times New Roman" panose="02020603050405020304" pitchFamily="18" charset="0"/>
              </a:rPr>
              <a:t>         </a:t>
            </a:r>
            <a:r>
              <a:rPr lang="en-US" altLang="zh-CN" b="1">
                <a:latin typeface="Times New Roman" panose="02020603050405020304" pitchFamily="18" charset="0"/>
              </a:rPr>
              <a:t>2</a:t>
            </a:r>
            <a:r>
              <a:rPr lang="zh-CN" altLang="en-US" b="1" dirty="0">
                <a:latin typeface="Times New Roman" panose="02020603050405020304" pitchFamily="18" charset="0"/>
              </a:rPr>
              <a:t>． 量化和编码</a:t>
            </a:r>
            <a:endParaRPr lang="zh-CN" altLang="en-US" b="1">
              <a:latin typeface="Times New Roman" panose="02020603050405020304" pitchFamily="18" charset="0"/>
            </a:endParaRPr>
          </a:p>
          <a:p>
            <a:pPr>
              <a:lnSpc>
                <a:spcPct val="150000"/>
              </a:lnSpc>
              <a:spcBef>
                <a:spcPct val="50000"/>
              </a:spcBef>
            </a:pPr>
            <a:r>
              <a:rPr lang="zh-CN" altLang="en-US">
                <a:latin typeface="Times New Roman" panose="02020603050405020304" pitchFamily="18" charset="0"/>
              </a:rPr>
              <a:t>      </a:t>
            </a:r>
            <a:r>
              <a:rPr lang="zh-CN" altLang="en-US" dirty="0">
                <a:latin typeface="Times New Roman" panose="02020603050405020304" pitchFamily="18" charset="0"/>
              </a:rPr>
              <a:t>  </a:t>
            </a:r>
            <a:r>
              <a:rPr lang="zh-CN" altLang="en-US" b="1" dirty="0">
                <a:latin typeface="Times New Roman" panose="02020603050405020304" pitchFamily="18" charset="0"/>
              </a:rPr>
              <a:t>数字信号不仅在时间上是离散的， 而且在取值上也不连续， 即数字信号的取值必须为某个规定的最小数量单位的整数倍。 因此， 为了将模拟信号转换成数字信号，还必须将采样</a:t>
            </a:r>
            <a:r>
              <a:rPr lang="en-US" altLang="zh-CN" b="1">
                <a:latin typeface="Times New Roman" panose="02020603050405020304" pitchFamily="18" charset="0"/>
              </a:rPr>
              <a:t>/</a:t>
            </a:r>
            <a:r>
              <a:rPr lang="zh-CN" altLang="en-US" b="1" dirty="0">
                <a:latin typeface="Times New Roman" panose="02020603050405020304" pitchFamily="18" charset="0"/>
              </a:rPr>
              <a:t>保持电路输出的采样值按照某种近似方式归并到相应的离散电平上，也就是将模拟信号在取值上离散化， 我们把这个过程称为量化。 将量化后的结果（离散电平）用数字代码来表示，称为编码。 于单极性模拟信号， 一般采用自然二进制编码； 对于双极性模拟信号，则通常采用二进制补码。 经过编码后得到的代码就是</a:t>
            </a:r>
            <a:r>
              <a:rPr lang="en-US" altLang="zh-CN" b="1">
                <a:latin typeface="Times New Roman" panose="02020603050405020304" pitchFamily="18" charset="0"/>
              </a:rPr>
              <a:t>A/D</a:t>
            </a:r>
            <a:r>
              <a:rPr lang="zh-CN" altLang="en-US" b="1" dirty="0">
                <a:latin typeface="Times New Roman" panose="02020603050405020304" pitchFamily="18" charset="0"/>
              </a:rPr>
              <a:t>转换器输出的数字量。 </a:t>
            </a:r>
            <a:endParaRPr lang="zh-CN" altLang="en-US" b="1">
              <a:latin typeface="Times New Roman" panose="02020603050405020304" pitchFamily="18" charset="0"/>
            </a:endParaRPr>
          </a:p>
        </p:txBody>
      </p:sp>
    </p:spTree>
  </p:cSld>
  <p:clrMapOvr>
    <a:masterClrMapping/>
  </p:clrMapOvr>
  <p:transition>
    <p:blinds dir="vert"/>
  </p:transition>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2708" name="文本框 72707"/>
          <p:cNvSpPr txBox="1"/>
          <p:nvPr/>
        </p:nvSpPr>
        <p:spPr>
          <a:xfrm>
            <a:off x="304800" y="609600"/>
            <a:ext cx="8610600" cy="4875213"/>
          </a:xfrm>
          <a:prstGeom prst="rect">
            <a:avLst/>
          </a:prstGeom>
          <a:noFill/>
          <a:ln w="9525">
            <a:noFill/>
          </a:ln>
        </p:spPr>
        <p:txBody>
          <a:bodyPr>
            <a:spAutoFit/>
          </a:bodyPr>
          <a:p>
            <a:pPr>
              <a:lnSpc>
                <a:spcPct val="180000"/>
              </a:lnSpc>
              <a:spcBef>
                <a:spcPct val="50000"/>
              </a:spcBef>
            </a:pPr>
            <a:r>
              <a:rPr lang="en-US" altLang="zh-CN" dirty="0">
                <a:latin typeface="Times New Roman" panose="02020603050405020304" pitchFamily="18" charset="0"/>
              </a:rPr>
              <a:t>        </a:t>
            </a:r>
            <a:r>
              <a:rPr lang="zh-CN" altLang="en-US" b="1" dirty="0">
                <a:latin typeface="Times New Roman" panose="02020603050405020304" pitchFamily="18" charset="0"/>
              </a:rPr>
              <a:t>在量化过程中，量化结果（离散电平）都是其中一个最小离散电平的整数倍，我们将这个最小离散电平值称为量化单位， 记作</a:t>
            </a:r>
            <a:r>
              <a:rPr lang="en-US" altLang="zh-CN" b="1">
                <a:latin typeface="Times New Roman" panose="02020603050405020304" pitchFamily="18" charset="0"/>
              </a:rPr>
              <a:t>Δ</a:t>
            </a:r>
            <a:r>
              <a:rPr lang="zh-CN" altLang="en-US" b="1">
                <a:latin typeface="Times New Roman" panose="02020603050405020304" pitchFamily="18" charset="0"/>
              </a:rPr>
              <a:t>。 </a:t>
            </a:r>
            <a:r>
              <a:rPr lang="zh-CN" altLang="en-US" b="1" dirty="0">
                <a:latin typeface="Times New Roman" panose="02020603050405020304" pitchFamily="18" charset="0"/>
              </a:rPr>
              <a:t>它也就是数字量的最低有效位</a:t>
            </a:r>
            <a:r>
              <a:rPr lang="en-US" altLang="zh-CN" b="1">
                <a:latin typeface="Times New Roman" panose="02020603050405020304" pitchFamily="18" charset="0"/>
              </a:rPr>
              <a:t>LSB</a:t>
            </a:r>
            <a:r>
              <a:rPr lang="zh-CN" altLang="en-US" b="1" dirty="0">
                <a:latin typeface="Times New Roman" panose="02020603050405020304" pitchFamily="18" charset="0"/>
              </a:rPr>
              <a:t>的</a:t>
            </a:r>
            <a:r>
              <a:rPr lang="en-US" altLang="zh-CN" b="1">
                <a:latin typeface="Times New Roman" panose="02020603050405020304" pitchFamily="18" charset="0"/>
              </a:rPr>
              <a:t>1</a:t>
            </a:r>
            <a:r>
              <a:rPr lang="zh-CN" altLang="en-US" b="1" dirty="0">
                <a:latin typeface="Times New Roman" panose="02020603050405020304" pitchFamily="18" charset="0"/>
              </a:rPr>
              <a:t>所代表的模拟电压值。 </a:t>
            </a:r>
            <a:endParaRPr lang="zh-CN" altLang="en-US" b="1" dirty="0">
              <a:latin typeface="Times New Roman" panose="02020603050405020304" pitchFamily="18" charset="0"/>
            </a:endParaRPr>
          </a:p>
          <a:p>
            <a:pPr>
              <a:lnSpc>
                <a:spcPct val="180000"/>
              </a:lnSpc>
              <a:spcBef>
                <a:spcPct val="50000"/>
              </a:spcBef>
            </a:pPr>
            <a:r>
              <a:rPr lang="zh-CN" altLang="en-US" b="1" dirty="0">
                <a:latin typeface="Times New Roman" panose="02020603050405020304" pitchFamily="18" charset="0"/>
              </a:rPr>
              <a:t>        由于采样</a:t>
            </a:r>
            <a:r>
              <a:rPr lang="en-US" altLang="zh-CN" b="1">
                <a:latin typeface="Times New Roman" panose="02020603050405020304" pitchFamily="18" charset="0"/>
              </a:rPr>
              <a:t>/</a:t>
            </a:r>
            <a:r>
              <a:rPr lang="zh-CN" altLang="en-US" b="1" dirty="0">
                <a:latin typeface="Times New Roman" panose="02020603050405020304" pitchFamily="18" charset="0"/>
              </a:rPr>
              <a:t>保持电路输出的信号在取值上是连续的， 不可能所有的采样值都恰好为量化单位的整数倍，所以量化前后不可避免地存在着误差， 这种误差称为量化误差，用</a:t>
            </a:r>
            <a:r>
              <a:rPr lang="en-US" altLang="zh-CN" b="1">
                <a:latin typeface="Times New Roman" panose="02020603050405020304" pitchFamily="18" charset="0"/>
              </a:rPr>
              <a:t>ε</a:t>
            </a:r>
            <a:r>
              <a:rPr lang="zh-CN" altLang="en-US" b="1" dirty="0">
                <a:latin typeface="Times New Roman" panose="02020603050405020304" pitchFamily="18" charset="0"/>
              </a:rPr>
              <a:t>表示。 </a:t>
            </a:r>
            <a:endParaRPr lang="zh-CN" altLang="en-US" b="1">
              <a:latin typeface="Times New Roman" panose="02020603050405020304" pitchFamily="18" charset="0"/>
            </a:endParaRPr>
          </a:p>
        </p:txBody>
      </p:sp>
    </p:spTree>
  </p:cSld>
  <p:clrMapOvr>
    <a:masterClrMapping/>
  </p:clrMapOvr>
  <p:transition>
    <p:blinds dir="vert"/>
  </p:transition>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684" name="文本框 71683"/>
          <p:cNvSpPr txBox="1"/>
          <p:nvPr/>
        </p:nvSpPr>
        <p:spPr>
          <a:xfrm>
            <a:off x="228600" y="457200"/>
            <a:ext cx="8686800" cy="5532438"/>
          </a:xfrm>
          <a:prstGeom prst="rect">
            <a:avLst/>
          </a:prstGeom>
          <a:noFill/>
          <a:ln w="9525">
            <a:noFill/>
          </a:ln>
        </p:spPr>
        <p:txBody>
          <a:bodyPr>
            <a:spAutoFit/>
          </a:bodyPr>
          <a:p>
            <a:pPr>
              <a:lnSpc>
                <a:spcPct val="180000"/>
              </a:lnSpc>
              <a:spcBef>
                <a:spcPct val="50000"/>
              </a:spcBef>
            </a:pPr>
            <a:r>
              <a:rPr lang="en-US" altLang="zh-CN" dirty="0">
                <a:latin typeface="Times New Roman" panose="02020603050405020304" pitchFamily="18" charset="0"/>
              </a:rPr>
              <a:t>        </a:t>
            </a:r>
            <a:r>
              <a:rPr lang="zh-CN" altLang="en-US" b="1" dirty="0">
                <a:latin typeface="Times New Roman" panose="02020603050405020304" pitchFamily="18" charset="0"/>
              </a:rPr>
              <a:t>量化可以按两种近似方式进行： 只舍不入量化方式和有舍有入（四舍五入）量化方式。下面以</a:t>
            </a:r>
            <a:r>
              <a:rPr lang="en-US" altLang="zh-CN" b="1">
                <a:latin typeface="Times New Roman" panose="02020603050405020304" pitchFamily="18" charset="0"/>
              </a:rPr>
              <a:t>3</a:t>
            </a:r>
            <a:r>
              <a:rPr lang="zh-CN" altLang="en-US" b="1" dirty="0">
                <a:latin typeface="Times New Roman" panose="02020603050405020304" pitchFamily="18" charset="0"/>
              </a:rPr>
              <a:t>位</a:t>
            </a:r>
            <a:r>
              <a:rPr lang="en-US" altLang="zh-CN" b="1">
                <a:latin typeface="Times New Roman" panose="02020603050405020304" pitchFamily="18" charset="0"/>
              </a:rPr>
              <a:t>A/D</a:t>
            </a:r>
            <a:r>
              <a:rPr lang="zh-CN" altLang="en-US" b="1" dirty="0">
                <a:latin typeface="Times New Roman" panose="02020603050405020304" pitchFamily="18" charset="0"/>
              </a:rPr>
              <a:t>转换器为例来说明这两种方式， 设采样值的变化范围是</a:t>
            </a:r>
            <a:r>
              <a:rPr lang="en-US" altLang="zh-CN" b="1">
                <a:latin typeface="Times New Roman" panose="02020603050405020304" pitchFamily="18" charset="0"/>
              </a:rPr>
              <a:t>0</a:t>
            </a:r>
            <a:r>
              <a:rPr lang="zh-CN" altLang="en-US" b="1" dirty="0">
                <a:latin typeface="Times New Roman" panose="02020603050405020304" pitchFamily="18" charset="0"/>
              </a:rPr>
              <a:t>～</a:t>
            </a:r>
            <a:r>
              <a:rPr lang="en-US" altLang="zh-CN" b="1">
                <a:latin typeface="Times New Roman" panose="02020603050405020304" pitchFamily="18" charset="0"/>
              </a:rPr>
              <a:t>8 V</a:t>
            </a:r>
            <a:r>
              <a:rPr lang="zh-CN" altLang="en-US" b="1">
                <a:latin typeface="Times New Roman" panose="02020603050405020304" pitchFamily="18" charset="0"/>
              </a:rPr>
              <a:t>。 </a:t>
            </a:r>
            <a:endParaRPr lang="zh-CN" altLang="en-US" b="1">
              <a:latin typeface="Times New Roman" panose="02020603050405020304" pitchFamily="18" charset="0"/>
            </a:endParaRPr>
          </a:p>
          <a:p>
            <a:pPr>
              <a:lnSpc>
                <a:spcPct val="180000"/>
              </a:lnSpc>
              <a:spcBef>
                <a:spcPct val="50000"/>
              </a:spcBef>
            </a:pPr>
            <a:r>
              <a:rPr lang="zh-CN" altLang="en-US" b="1" dirty="0">
                <a:latin typeface="Times New Roman" panose="02020603050405020304" pitchFamily="18" charset="0"/>
              </a:rPr>
              <a:t>        只舍不入量化方式如图</a:t>
            </a:r>
            <a:r>
              <a:rPr lang="en-US" altLang="zh-CN" b="1">
                <a:latin typeface="Times New Roman" panose="02020603050405020304" pitchFamily="18" charset="0"/>
              </a:rPr>
              <a:t>11- 21</a:t>
            </a:r>
            <a:r>
              <a:rPr lang="zh-CN" altLang="en-US" b="1" dirty="0">
                <a:latin typeface="Times New Roman" panose="02020603050405020304" pitchFamily="18" charset="0"/>
              </a:rPr>
              <a:t>所示。当采样</a:t>
            </a:r>
            <a:r>
              <a:rPr lang="en-US" altLang="zh-CN" b="1">
                <a:latin typeface="Times New Roman" panose="02020603050405020304" pitchFamily="18" charset="0"/>
              </a:rPr>
              <a:t>/</a:t>
            </a:r>
            <a:r>
              <a:rPr lang="zh-CN" altLang="en-US" b="1" dirty="0">
                <a:latin typeface="Times New Roman" panose="02020603050405020304" pitchFamily="18" charset="0"/>
              </a:rPr>
              <a:t>保持电路输出的电压</a:t>
            </a:r>
            <a:r>
              <a:rPr lang="en-US" altLang="zh-CN" b="1" err="1">
                <a:latin typeface="Times New Roman" panose="02020603050405020304" pitchFamily="18" charset="0"/>
              </a:rPr>
              <a:t>u</a:t>
            </a:r>
            <a:r>
              <a:rPr lang="en-US" altLang="zh-CN" b="1" baseline="-25000" err="1">
                <a:latin typeface="Times New Roman" panose="02020603050405020304" pitchFamily="18" charset="0"/>
              </a:rPr>
              <a:t>S</a:t>
            </a:r>
            <a:r>
              <a:rPr lang="zh-CN" altLang="en-US" b="1" dirty="0">
                <a:latin typeface="Times New Roman" panose="02020603050405020304" pitchFamily="18" charset="0"/>
              </a:rPr>
              <a:t>介于两个量化电平之间时， 采用取整的方法将其归并为较低的量化电平。例如，无论</a:t>
            </a:r>
            <a:r>
              <a:rPr lang="en-US" altLang="zh-CN" b="1" err="1">
                <a:latin typeface="Times New Roman" panose="02020603050405020304" pitchFamily="18" charset="0"/>
              </a:rPr>
              <a:t>u</a:t>
            </a:r>
            <a:r>
              <a:rPr lang="en-US" altLang="zh-CN" b="1" baseline="-25000" err="1">
                <a:latin typeface="Times New Roman" panose="02020603050405020304" pitchFamily="18" charset="0"/>
              </a:rPr>
              <a:t>S</a:t>
            </a:r>
            <a:r>
              <a:rPr lang="en-US" altLang="zh-CN" b="1">
                <a:latin typeface="Times New Roman" panose="02020603050405020304" pitchFamily="18" charset="0"/>
              </a:rPr>
              <a:t> = 5.9 V</a:t>
            </a:r>
            <a:r>
              <a:rPr lang="zh-CN" altLang="en-US" b="1" dirty="0">
                <a:latin typeface="Times New Roman" panose="02020603050405020304" pitchFamily="18" charset="0"/>
              </a:rPr>
              <a:t>还是</a:t>
            </a:r>
            <a:r>
              <a:rPr lang="en-US" altLang="zh-CN" b="1" err="1">
                <a:latin typeface="Times New Roman" panose="02020603050405020304" pitchFamily="18" charset="0"/>
              </a:rPr>
              <a:t>u</a:t>
            </a:r>
            <a:r>
              <a:rPr lang="en-US" altLang="zh-CN" b="1" baseline="-25000" err="1">
                <a:latin typeface="Times New Roman" panose="02020603050405020304" pitchFamily="18" charset="0"/>
              </a:rPr>
              <a:t>S</a:t>
            </a:r>
            <a:r>
              <a:rPr lang="en-US" altLang="zh-CN" b="1" baseline="-25000">
                <a:latin typeface="Times New Roman" panose="02020603050405020304" pitchFamily="18" charset="0"/>
              </a:rPr>
              <a:t> </a:t>
            </a:r>
            <a:r>
              <a:rPr lang="en-US" altLang="zh-CN" b="1">
                <a:latin typeface="Times New Roman" panose="02020603050405020304" pitchFamily="18" charset="0"/>
              </a:rPr>
              <a:t>= 5.1 V</a:t>
            </a:r>
            <a:r>
              <a:rPr lang="zh-CN" altLang="en-US" b="1">
                <a:latin typeface="Times New Roman" panose="02020603050405020304" pitchFamily="18" charset="0"/>
              </a:rPr>
              <a:t>，</a:t>
            </a:r>
            <a:r>
              <a:rPr lang="zh-CN" altLang="en-US" b="1" dirty="0">
                <a:latin typeface="Times New Roman" panose="02020603050405020304" pitchFamily="18" charset="0"/>
              </a:rPr>
              <a:t>都将其归并为</a:t>
            </a:r>
            <a:r>
              <a:rPr lang="en-US" altLang="zh-CN" b="1">
                <a:latin typeface="Times New Roman" panose="02020603050405020304" pitchFamily="18" charset="0"/>
              </a:rPr>
              <a:t>5 V</a:t>
            </a:r>
            <a:r>
              <a:rPr lang="zh-CN" altLang="en-US" b="1" dirty="0">
                <a:latin typeface="Times New Roman" panose="02020603050405020304" pitchFamily="18" charset="0"/>
              </a:rPr>
              <a:t>的量化电平， 输出的编码都为</a:t>
            </a:r>
            <a:r>
              <a:rPr lang="en-US" altLang="zh-CN" b="1">
                <a:latin typeface="Times New Roman" panose="02020603050405020304" pitchFamily="18" charset="0"/>
              </a:rPr>
              <a:t>101</a:t>
            </a:r>
            <a:r>
              <a:rPr lang="zh-CN" altLang="en-US" b="1" dirty="0">
                <a:latin typeface="Times New Roman" panose="02020603050405020304" pitchFamily="18" charset="0"/>
              </a:rPr>
              <a:t>。 可见， 采用只舍不入量化方式，最大误差</a:t>
            </a:r>
            <a:r>
              <a:rPr lang="en-US" altLang="zh-CN" b="1" i="1">
                <a:latin typeface="Times New Roman" panose="02020603050405020304" pitchFamily="18" charset="0"/>
              </a:rPr>
              <a:t>ε</a:t>
            </a:r>
            <a:r>
              <a:rPr lang="en-US" altLang="zh-CN" b="1" baseline="-25000">
                <a:latin typeface="Times New Roman" panose="02020603050405020304" pitchFamily="18" charset="0"/>
              </a:rPr>
              <a:t>max</a:t>
            </a:r>
            <a:r>
              <a:rPr lang="zh-CN" altLang="en-US" b="1" dirty="0">
                <a:latin typeface="Times New Roman" panose="02020603050405020304" pitchFamily="18" charset="0"/>
              </a:rPr>
              <a:t>等于量化单位</a:t>
            </a:r>
            <a:r>
              <a:rPr lang="en-US" altLang="zh-CN" b="1">
                <a:latin typeface="Times New Roman" panose="02020603050405020304" pitchFamily="18" charset="0"/>
              </a:rPr>
              <a:t>Δ</a:t>
            </a:r>
            <a:r>
              <a:rPr lang="zh-CN" altLang="en-US" b="1">
                <a:latin typeface="Times New Roman" panose="02020603050405020304" pitchFamily="18" charset="0"/>
              </a:rPr>
              <a:t>。 </a:t>
            </a:r>
            <a:endParaRPr lang="zh-CN" altLang="en-US" b="1">
              <a:latin typeface="Times New Roman" panose="02020603050405020304" pitchFamily="18" charset="0"/>
            </a:endParaRPr>
          </a:p>
        </p:txBody>
      </p:sp>
    </p:spTree>
  </p:cSld>
  <p:clrMapOvr>
    <a:masterClrMapping/>
  </p:clrMapOvr>
  <p:transition>
    <p:blinds dir="vert"/>
  </p:transition>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5780" name="文本框 75779"/>
          <p:cNvSpPr txBox="1"/>
          <p:nvPr/>
        </p:nvSpPr>
        <p:spPr>
          <a:xfrm>
            <a:off x="2590800" y="5791200"/>
            <a:ext cx="3790950" cy="457200"/>
          </a:xfrm>
          <a:prstGeom prst="rect">
            <a:avLst/>
          </a:prstGeom>
          <a:noFill/>
          <a:ln w="9525">
            <a:noFill/>
          </a:ln>
        </p:spPr>
        <p:txBody>
          <a:bodyPr wrap="none" anchor="t" anchorCtr="0">
            <a:spAutoFit/>
          </a:bodyPr>
          <a:p>
            <a:r>
              <a:rPr lang="zh-CN" altLang="en-US" dirty="0">
                <a:latin typeface="Times New Roman" panose="02020603050405020304" pitchFamily="18" charset="0"/>
              </a:rPr>
              <a:t>图 </a:t>
            </a:r>
            <a:r>
              <a:rPr lang="en-US" altLang="zh-CN">
                <a:latin typeface="Times New Roman" panose="02020603050405020304" pitchFamily="18" charset="0"/>
              </a:rPr>
              <a:t>11-21 </a:t>
            </a:r>
            <a:r>
              <a:rPr lang="zh-CN" altLang="en-US" dirty="0">
                <a:latin typeface="Times New Roman" panose="02020603050405020304" pitchFamily="18" charset="0"/>
              </a:rPr>
              <a:t>只舍不入量化方式</a:t>
            </a:r>
            <a:endParaRPr lang="zh-CN" altLang="en-US">
              <a:latin typeface="Times New Roman" panose="02020603050405020304" pitchFamily="18" charset="0"/>
            </a:endParaRPr>
          </a:p>
        </p:txBody>
      </p:sp>
      <p:graphicFrame>
        <p:nvGraphicFramePr>
          <p:cNvPr id="75781" name="对象 75780"/>
          <p:cNvGraphicFramePr/>
          <p:nvPr/>
        </p:nvGraphicFramePr>
        <p:xfrm>
          <a:off x="1333500" y="685800"/>
          <a:ext cx="6477000" cy="4664075"/>
        </p:xfrm>
        <a:graphic>
          <a:graphicData uri="http://schemas.openxmlformats.org/presentationml/2006/ole">
            <mc:AlternateContent xmlns:mc="http://schemas.openxmlformats.org/markup-compatibility/2006">
              <mc:Choice xmlns:v="urn:schemas-microsoft-com:vml" Requires="v">
                <p:oleObj spid="_x0000_s3117" name="" r:id="rId1" imgW="2286000" imgH="1645920" progId="Visio.Drawing.4">
                  <p:embed/>
                </p:oleObj>
              </mc:Choice>
              <mc:Fallback>
                <p:oleObj name="" r:id="rId1" imgW="2286000" imgH="1645920" progId="Visio.Drawing.4">
                  <p:embed/>
                  <p:pic>
                    <p:nvPicPr>
                      <p:cNvPr id="0" name="图片 3116"/>
                      <p:cNvPicPr/>
                      <p:nvPr/>
                    </p:nvPicPr>
                    <p:blipFill>
                      <a:blip r:embed="rId2"/>
                      <a:stretch>
                        <a:fillRect/>
                      </a:stretch>
                    </p:blipFill>
                    <p:spPr>
                      <a:xfrm>
                        <a:off x="1333500" y="685800"/>
                        <a:ext cx="6477000" cy="4664075"/>
                      </a:xfrm>
                      <a:prstGeom prst="rect">
                        <a:avLst/>
                      </a:prstGeom>
                      <a:noFill/>
                      <a:ln w="38100">
                        <a:noFill/>
                        <a:miter/>
                      </a:ln>
                    </p:spPr>
                  </p:pic>
                </p:oleObj>
              </mc:Fallback>
            </mc:AlternateContent>
          </a:graphicData>
        </a:graphic>
      </p:graphicFrame>
    </p:spTree>
  </p:cSld>
  <p:clrMapOvr>
    <a:masterClrMapping/>
  </p:clrMapOvr>
  <p:transition>
    <p:blinds dir="vert"/>
  </p:transition>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4756" name="文本框 74755"/>
          <p:cNvSpPr txBox="1"/>
          <p:nvPr/>
        </p:nvSpPr>
        <p:spPr>
          <a:xfrm>
            <a:off x="228600" y="784225"/>
            <a:ext cx="8763000" cy="4702175"/>
          </a:xfrm>
          <a:prstGeom prst="rect">
            <a:avLst/>
          </a:prstGeom>
          <a:noFill/>
          <a:ln w="9525">
            <a:noFill/>
          </a:ln>
        </p:spPr>
        <p:txBody>
          <a:bodyPr>
            <a:spAutoFit/>
          </a:bodyPr>
          <a:p>
            <a:pPr>
              <a:lnSpc>
                <a:spcPct val="158000"/>
              </a:lnSpc>
              <a:spcBef>
                <a:spcPct val="50000"/>
              </a:spcBef>
            </a:pPr>
            <a:r>
              <a:rPr lang="en-US" altLang="zh-CN" dirty="0">
                <a:latin typeface="Times New Roman" panose="02020603050405020304" pitchFamily="18" charset="0"/>
              </a:rPr>
              <a:t>         </a:t>
            </a:r>
            <a:r>
              <a:rPr lang="zh-CN" altLang="en-US" b="1" dirty="0">
                <a:latin typeface="Times New Roman" panose="02020603050405020304" pitchFamily="18" charset="0"/>
              </a:rPr>
              <a:t>四舍五入量化方式如图</a:t>
            </a:r>
            <a:r>
              <a:rPr lang="en-US" altLang="zh-CN" b="1">
                <a:latin typeface="Times New Roman" panose="02020603050405020304" pitchFamily="18" charset="0"/>
              </a:rPr>
              <a:t>11- 21</a:t>
            </a:r>
            <a:r>
              <a:rPr lang="zh-CN" altLang="en-US" b="1" dirty="0">
                <a:latin typeface="Times New Roman" panose="02020603050405020304" pitchFamily="18" charset="0"/>
              </a:rPr>
              <a:t>所示。当采样</a:t>
            </a:r>
            <a:r>
              <a:rPr lang="en-US" altLang="zh-CN" b="1">
                <a:latin typeface="Times New Roman" panose="02020603050405020304" pitchFamily="18" charset="0"/>
              </a:rPr>
              <a:t>/</a:t>
            </a:r>
            <a:r>
              <a:rPr lang="zh-CN" altLang="en-US" b="1" dirty="0">
                <a:latin typeface="Times New Roman" panose="02020603050405020304" pitchFamily="18" charset="0"/>
              </a:rPr>
              <a:t>保持电路输出的电压</a:t>
            </a:r>
            <a:r>
              <a:rPr lang="en-US" altLang="zh-CN" b="1" err="1">
                <a:latin typeface="Times New Roman" panose="02020603050405020304" pitchFamily="18" charset="0"/>
              </a:rPr>
              <a:t>u</a:t>
            </a:r>
            <a:r>
              <a:rPr lang="en-US" altLang="zh-CN" b="1" baseline="-25000" err="1">
                <a:latin typeface="Times New Roman" panose="02020603050405020304" pitchFamily="18" charset="0"/>
              </a:rPr>
              <a:t>S</a:t>
            </a:r>
            <a:r>
              <a:rPr lang="zh-CN" altLang="en-US" b="1" dirty="0">
                <a:latin typeface="Times New Roman" panose="02020603050405020304" pitchFamily="18" charset="0"/>
              </a:rPr>
              <a:t>介于两个量化电平之间时，采用四舍五入的方式将其归并为最相近那个量化电平。例如，若</a:t>
            </a:r>
            <a:r>
              <a:rPr lang="en-US" altLang="zh-CN" b="1" err="1">
                <a:latin typeface="Times New Roman" panose="02020603050405020304" pitchFamily="18" charset="0"/>
              </a:rPr>
              <a:t>u</a:t>
            </a:r>
            <a:r>
              <a:rPr lang="en-US" altLang="zh-CN" b="1" baseline="-25000" err="1">
                <a:latin typeface="Times New Roman" panose="02020603050405020304" pitchFamily="18" charset="0"/>
              </a:rPr>
              <a:t>S</a:t>
            </a:r>
            <a:r>
              <a:rPr lang="en-US" altLang="zh-CN" b="1">
                <a:latin typeface="Times New Roman" panose="02020603050405020304" pitchFamily="18" charset="0"/>
              </a:rPr>
              <a:t> = 5.49 V</a:t>
            </a:r>
            <a:r>
              <a:rPr lang="zh-CN" altLang="en-US" b="1">
                <a:latin typeface="Times New Roman" panose="02020603050405020304" pitchFamily="18" charset="0"/>
              </a:rPr>
              <a:t>，</a:t>
            </a:r>
            <a:r>
              <a:rPr lang="zh-CN" altLang="en-US" b="1" dirty="0">
                <a:latin typeface="Times New Roman" panose="02020603050405020304" pitchFamily="18" charset="0"/>
              </a:rPr>
              <a:t>就将其归并为</a:t>
            </a:r>
            <a:r>
              <a:rPr lang="en-US" altLang="zh-CN" b="1">
                <a:latin typeface="Times New Roman" panose="02020603050405020304" pitchFamily="18" charset="0"/>
              </a:rPr>
              <a:t>5 V</a:t>
            </a:r>
            <a:r>
              <a:rPr lang="zh-CN" altLang="en-US" b="1" dirty="0">
                <a:latin typeface="Times New Roman" panose="02020603050405020304" pitchFamily="18" charset="0"/>
              </a:rPr>
              <a:t>的量化电平，输出的编码为</a:t>
            </a:r>
            <a:r>
              <a:rPr lang="en-US" altLang="zh-CN" b="1">
                <a:latin typeface="Times New Roman" panose="02020603050405020304" pitchFamily="18" charset="0"/>
              </a:rPr>
              <a:t>101</a:t>
            </a:r>
            <a:r>
              <a:rPr lang="zh-CN" altLang="en-US" b="1" dirty="0">
                <a:latin typeface="Times New Roman" panose="02020603050405020304" pitchFamily="18" charset="0"/>
              </a:rPr>
              <a:t>； 若</a:t>
            </a:r>
            <a:r>
              <a:rPr lang="en-US" altLang="zh-CN" b="1" err="1">
                <a:latin typeface="Times New Roman" panose="02020603050405020304" pitchFamily="18" charset="0"/>
              </a:rPr>
              <a:t>u</a:t>
            </a:r>
            <a:r>
              <a:rPr lang="en-US" altLang="zh-CN" b="1" baseline="-25000" err="1">
                <a:latin typeface="Times New Roman" panose="02020603050405020304" pitchFamily="18" charset="0"/>
              </a:rPr>
              <a:t>S</a:t>
            </a:r>
            <a:r>
              <a:rPr lang="en-US" altLang="zh-CN" b="1">
                <a:latin typeface="Times New Roman" panose="02020603050405020304" pitchFamily="18" charset="0"/>
              </a:rPr>
              <a:t> = 5.50 V</a:t>
            </a:r>
            <a:r>
              <a:rPr lang="zh-CN" altLang="en-US" b="1">
                <a:latin typeface="Times New Roman" panose="02020603050405020304" pitchFamily="18" charset="0"/>
              </a:rPr>
              <a:t>，</a:t>
            </a:r>
            <a:r>
              <a:rPr lang="zh-CN" altLang="en-US" b="1" dirty="0">
                <a:latin typeface="Times New Roman" panose="02020603050405020304" pitchFamily="18" charset="0"/>
              </a:rPr>
              <a:t>就将其归并为</a:t>
            </a:r>
            <a:r>
              <a:rPr lang="en-US" altLang="zh-CN" b="1">
                <a:latin typeface="Times New Roman" panose="02020603050405020304" pitchFamily="18" charset="0"/>
              </a:rPr>
              <a:t>6 V</a:t>
            </a:r>
            <a:r>
              <a:rPr lang="zh-CN" altLang="en-US" b="1" dirty="0">
                <a:latin typeface="Times New Roman" panose="02020603050405020304" pitchFamily="18" charset="0"/>
              </a:rPr>
              <a:t>的量化电平，输出的编码为</a:t>
            </a:r>
            <a:r>
              <a:rPr lang="en-US" altLang="zh-CN" b="1">
                <a:latin typeface="Times New Roman" panose="02020603050405020304" pitchFamily="18" charset="0"/>
              </a:rPr>
              <a:t>110</a:t>
            </a:r>
            <a:r>
              <a:rPr lang="zh-CN" altLang="en-US" b="1" dirty="0">
                <a:latin typeface="Times New Roman" panose="02020603050405020304" pitchFamily="18" charset="0"/>
              </a:rPr>
              <a:t>。 可见， 采用四舍五入量化方式， 最大量化误差</a:t>
            </a:r>
            <a:r>
              <a:rPr lang="en-US" altLang="zh-CN" b="1" i="1">
                <a:latin typeface="Times New Roman" panose="02020603050405020304" pitchFamily="18" charset="0"/>
              </a:rPr>
              <a:t>ε</a:t>
            </a:r>
            <a:r>
              <a:rPr lang="en-US" altLang="zh-CN" b="1" baseline="-25000">
                <a:latin typeface="Times New Roman" panose="02020603050405020304" pitchFamily="18" charset="0"/>
              </a:rPr>
              <a:t>max</a:t>
            </a:r>
            <a:r>
              <a:rPr lang="zh-CN" altLang="en-US" b="1" dirty="0">
                <a:latin typeface="Times New Roman" panose="02020603050405020304" pitchFamily="18" charset="0"/>
              </a:rPr>
              <a:t>只有量化单位的一半（</a:t>
            </a:r>
            <a:r>
              <a:rPr lang="en-US" altLang="zh-CN" b="1">
                <a:latin typeface="Times New Roman" panose="02020603050405020304" pitchFamily="18" charset="0"/>
              </a:rPr>
              <a:t>Δ/2</a:t>
            </a:r>
            <a:r>
              <a:rPr lang="zh-CN" altLang="en-US" b="1">
                <a:latin typeface="Times New Roman" panose="02020603050405020304" pitchFamily="18" charset="0"/>
              </a:rPr>
              <a:t>），</a:t>
            </a:r>
            <a:r>
              <a:rPr lang="zh-CN" altLang="en-US" b="1" dirty="0">
                <a:latin typeface="Times New Roman" panose="02020603050405020304" pitchFamily="18" charset="0"/>
              </a:rPr>
              <a:t>比只舍不入量化方式的最大量化误差小。 所以，目前大多数的</a:t>
            </a:r>
            <a:r>
              <a:rPr lang="en-US" altLang="zh-CN" b="1">
                <a:latin typeface="Times New Roman" panose="02020603050405020304" pitchFamily="18" charset="0"/>
              </a:rPr>
              <a:t>A/D</a:t>
            </a:r>
            <a:r>
              <a:rPr lang="zh-CN" altLang="en-US" b="1" dirty="0">
                <a:latin typeface="Times New Roman" panose="02020603050405020304" pitchFamily="18" charset="0"/>
              </a:rPr>
              <a:t>转换器都采用这种量化方式。 </a:t>
            </a:r>
            <a:endParaRPr lang="zh-CN" altLang="en-US" b="1">
              <a:latin typeface="Times New Roman" panose="02020603050405020304" pitchFamily="18" charset="0"/>
            </a:endParaRPr>
          </a:p>
        </p:txBody>
      </p:sp>
    </p:spTree>
  </p:cSld>
  <p:clrMapOvr>
    <a:masterClrMapping/>
  </p:clrMapOvr>
  <p:transition>
    <p:blinds dir="vert"/>
  </p:transition>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7828" name="文本框 77827"/>
          <p:cNvSpPr txBox="1"/>
          <p:nvPr/>
        </p:nvSpPr>
        <p:spPr>
          <a:xfrm>
            <a:off x="2717800" y="5791200"/>
            <a:ext cx="3867150" cy="457200"/>
          </a:xfrm>
          <a:prstGeom prst="rect">
            <a:avLst/>
          </a:prstGeom>
          <a:noFill/>
          <a:ln w="9525">
            <a:noFill/>
          </a:ln>
        </p:spPr>
        <p:txBody>
          <a:bodyPr wrap="none" anchor="t" anchorCtr="0">
            <a:spAutoFit/>
          </a:bodyPr>
          <a:p>
            <a:r>
              <a:rPr lang="zh-CN" altLang="en-US" dirty="0">
                <a:latin typeface="Times New Roman" panose="02020603050405020304" pitchFamily="18" charset="0"/>
              </a:rPr>
              <a:t>图 </a:t>
            </a:r>
            <a:r>
              <a:rPr lang="en-US" altLang="zh-CN">
                <a:latin typeface="Times New Roman" panose="02020603050405020304" pitchFamily="18" charset="0"/>
              </a:rPr>
              <a:t>11- 21 </a:t>
            </a:r>
            <a:r>
              <a:rPr lang="zh-CN" altLang="en-US" dirty="0">
                <a:latin typeface="Times New Roman" panose="02020603050405020304" pitchFamily="18" charset="0"/>
              </a:rPr>
              <a:t>四舍五入量化方式</a:t>
            </a:r>
            <a:endParaRPr lang="zh-CN" altLang="en-US">
              <a:latin typeface="Times New Roman" panose="02020603050405020304" pitchFamily="18" charset="0"/>
            </a:endParaRPr>
          </a:p>
        </p:txBody>
      </p:sp>
      <p:graphicFrame>
        <p:nvGraphicFramePr>
          <p:cNvPr id="77829" name="对象 77828"/>
          <p:cNvGraphicFramePr/>
          <p:nvPr/>
        </p:nvGraphicFramePr>
        <p:xfrm>
          <a:off x="1752600" y="914400"/>
          <a:ext cx="6019800" cy="4330700"/>
        </p:xfrm>
        <a:graphic>
          <a:graphicData uri="http://schemas.openxmlformats.org/presentationml/2006/ole">
            <mc:AlternateContent xmlns:mc="http://schemas.openxmlformats.org/markup-compatibility/2006">
              <mc:Choice xmlns:v="urn:schemas-microsoft-com:vml" Requires="v">
                <p:oleObj spid="_x0000_s3116" name="" r:id="rId1" imgW="2270760" imgH="1630680" progId="Visio.Drawing.4">
                  <p:embed/>
                </p:oleObj>
              </mc:Choice>
              <mc:Fallback>
                <p:oleObj name="" r:id="rId1" imgW="2270760" imgH="1630680" progId="Visio.Drawing.4">
                  <p:embed/>
                  <p:pic>
                    <p:nvPicPr>
                      <p:cNvPr id="0" name="图片 3115"/>
                      <p:cNvPicPr/>
                      <p:nvPr/>
                    </p:nvPicPr>
                    <p:blipFill>
                      <a:blip r:embed="rId2"/>
                      <a:stretch>
                        <a:fillRect/>
                      </a:stretch>
                    </p:blipFill>
                    <p:spPr>
                      <a:xfrm>
                        <a:off x="1752600" y="914400"/>
                        <a:ext cx="6019800" cy="4330700"/>
                      </a:xfrm>
                      <a:prstGeom prst="rect">
                        <a:avLst/>
                      </a:prstGeom>
                      <a:noFill/>
                      <a:ln w="38100">
                        <a:noFill/>
                        <a:miter/>
                      </a:ln>
                    </p:spPr>
                  </p:pic>
                </p:oleObj>
              </mc:Fallback>
            </mc:AlternateContent>
          </a:graphicData>
        </a:graphic>
      </p:graphicFrame>
    </p:spTree>
  </p:cSld>
  <p:clrMapOvr>
    <a:masterClrMapping/>
  </p:clrMapOvr>
  <p:transition>
    <p:blinds dir="vert"/>
  </p:transition>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6804" name="文本框 76803"/>
          <p:cNvSpPr txBox="1"/>
          <p:nvPr/>
        </p:nvSpPr>
        <p:spPr>
          <a:xfrm>
            <a:off x="152400" y="533400"/>
            <a:ext cx="8839200" cy="5468938"/>
          </a:xfrm>
          <a:prstGeom prst="rect">
            <a:avLst/>
          </a:prstGeom>
          <a:noFill/>
          <a:ln w="9525">
            <a:noFill/>
          </a:ln>
        </p:spPr>
        <p:txBody>
          <a:bodyPr>
            <a:spAutoFit/>
          </a:bodyPr>
          <a:p>
            <a:pPr>
              <a:lnSpc>
                <a:spcPct val="178000"/>
              </a:lnSpc>
              <a:spcBef>
                <a:spcPct val="50000"/>
              </a:spcBef>
            </a:pPr>
            <a:r>
              <a:rPr lang="en-US" altLang="zh-CN" dirty="0">
                <a:latin typeface="Times New Roman" panose="02020603050405020304" pitchFamily="18" charset="0"/>
              </a:rPr>
              <a:t>        </a:t>
            </a:r>
            <a:r>
              <a:rPr lang="zh-CN" altLang="en-US" b="1" dirty="0">
                <a:latin typeface="Times New Roman" panose="02020603050405020304" pitchFamily="18" charset="0"/>
              </a:rPr>
              <a:t>量化误差是</a:t>
            </a:r>
            <a:r>
              <a:rPr lang="en-US" altLang="zh-CN" b="1">
                <a:latin typeface="Times New Roman" panose="02020603050405020304" pitchFamily="18" charset="0"/>
              </a:rPr>
              <a:t>A/D</a:t>
            </a:r>
            <a:r>
              <a:rPr lang="zh-CN" altLang="en-US" b="1" dirty="0">
                <a:latin typeface="Times New Roman" panose="02020603050405020304" pitchFamily="18" charset="0"/>
              </a:rPr>
              <a:t>转换的固有误差，只能减小，不能完全消除。 减小量化误差的主要措施就是减小量化单位。 但是当输入模拟电压的变化范围一定时， 量化单位越小就意味着量化电平的个数越多， 编码的位数越大，电路也就越复杂。 </a:t>
            </a:r>
            <a:endParaRPr lang="zh-CN" altLang="en-US" b="1" dirty="0">
              <a:latin typeface="Times New Roman" panose="02020603050405020304" pitchFamily="18" charset="0"/>
            </a:endParaRPr>
          </a:p>
          <a:p>
            <a:pPr>
              <a:lnSpc>
                <a:spcPct val="178000"/>
              </a:lnSpc>
              <a:spcBef>
                <a:spcPct val="50000"/>
              </a:spcBef>
            </a:pPr>
            <a:r>
              <a:rPr lang="zh-CN" altLang="en-US" b="1" dirty="0">
                <a:latin typeface="Times New Roman" panose="02020603050405020304" pitchFamily="18" charset="0"/>
              </a:rPr>
              <a:t>        前面介绍了</a:t>
            </a:r>
            <a:r>
              <a:rPr lang="en-US" altLang="zh-CN" b="1">
                <a:latin typeface="Times New Roman" panose="02020603050405020304" pitchFamily="18" charset="0"/>
              </a:rPr>
              <a:t>A/D</a:t>
            </a:r>
            <a:r>
              <a:rPr lang="zh-CN" altLang="en-US" b="1" dirty="0">
                <a:latin typeface="Times New Roman" panose="02020603050405020304" pitchFamily="18" charset="0"/>
              </a:rPr>
              <a:t>转换的四个基本过程， 对各种类型的</a:t>
            </a:r>
            <a:r>
              <a:rPr lang="en-US" altLang="zh-CN" b="1">
                <a:latin typeface="Times New Roman" panose="02020603050405020304" pitchFamily="18" charset="0"/>
              </a:rPr>
              <a:t>ADC</a:t>
            </a:r>
            <a:r>
              <a:rPr lang="zh-CN" altLang="en-US" b="1" dirty="0">
                <a:latin typeface="Times New Roman" panose="02020603050405020304" pitchFamily="18" charset="0"/>
              </a:rPr>
              <a:t>而言，采样与保持电路的基本原理都是一样的，它们之间的差别主要反映在</a:t>
            </a:r>
            <a:r>
              <a:rPr lang="en-US" altLang="zh-CN" b="1">
                <a:latin typeface="Times New Roman" panose="02020603050405020304" pitchFamily="18" charset="0"/>
              </a:rPr>
              <a:t>ADC</a:t>
            </a:r>
            <a:r>
              <a:rPr lang="zh-CN" altLang="en-US" b="1" dirty="0">
                <a:latin typeface="Times New Roman" panose="02020603050405020304" pitchFamily="18" charset="0"/>
              </a:rPr>
              <a:t>的核心部分</a:t>
            </a:r>
            <a:r>
              <a:rPr lang="en-US" altLang="zh-CN" b="1">
                <a:latin typeface="Times New Roman" panose="02020603050405020304" pitchFamily="18" charset="0"/>
              </a:rPr>
              <a:t>——</a:t>
            </a:r>
            <a:r>
              <a:rPr lang="zh-CN" altLang="en-US" b="1" dirty="0">
                <a:latin typeface="Times New Roman" panose="02020603050405020304" pitchFamily="18" charset="0"/>
              </a:rPr>
              <a:t>量化和编码电路上。所以下面介绍各种</a:t>
            </a:r>
            <a:r>
              <a:rPr lang="en-US" altLang="zh-CN" b="1">
                <a:latin typeface="Times New Roman" panose="02020603050405020304" pitchFamily="18" charset="0"/>
              </a:rPr>
              <a:t>A/D</a:t>
            </a:r>
            <a:r>
              <a:rPr lang="zh-CN" altLang="en-US" b="1" dirty="0">
                <a:latin typeface="Times New Roman" panose="02020603050405020304" pitchFamily="18" charset="0"/>
              </a:rPr>
              <a:t>转换技术时， 将主要介绍这部分电路。</a:t>
            </a:r>
            <a:endParaRPr lang="zh-CN" altLang="en-US" b="1">
              <a:latin typeface="Times New Roman" panose="02020603050405020304" pitchFamily="18" charset="0"/>
            </a:endParaRPr>
          </a:p>
        </p:txBody>
      </p:sp>
    </p:spTree>
  </p:cSld>
  <p:clrMapOvr>
    <a:masterClrMapping/>
  </p:clrMapOvr>
  <p:transition>
    <p:blinds dir="vert"/>
  </p:transition>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9876" name="文本框 79875"/>
          <p:cNvSpPr txBox="1"/>
          <p:nvPr/>
        </p:nvSpPr>
        <p:spPr>
          <a:xfrm>
            <a:off x="304800" y="838200"/>
            <a:ext cx="3473450" cy="457200"/>
          </a:xfrm>
          <a:prstGeom prst="rect">
            <a:avLst/>
          </a:prstGeom>
          <a:noFill/>
          <a:ln w="9525">
            <a:noFill/>
          </a:ln>
        </p:spPr>
        <p:txBody>
          <a:bodyPr wrap="none" anchor="t" anchorCtr="0">
            <a:spAutoFit/>
          </a:bodyPr>
          <a:p>
            <a:r>
              <a:rPr lang="en-US" altLang="zh-CN" b="1">
                <a:latin typeface="Times New Roman" panose="02020603050405020304" pitchFamily="18" charset="0"/>
              </a:rPr>
              <a:t>11.2.2 </a:t>
            </a:r>
            <a:r>
              <a:rPr lang="zh-CN" altLang="en-US" b="1" dirty="0">
                <a:latin typeface="Times New Roman" panose="02020603050405020304" pitchFamily="18" charset="0"/>
              </a:rPr>
              <a:t>常用模数转换技术</a:t>
            </a:r>
            <a:endParaRPr lang="zh-CN" altLang="en-US" b="1">
              <a:latin typeface="Times New Roman" panose="02020603050405020304" pitchFamily="18" charset="0"/>
            </a:endParaRPr>
          </a:p>
        </p:txBody>
      </p:sp>
      <p:sp>
        <p:nvSpPr>
          <p:cNvPr id="79877" name="文本框 79876"/>
          <p:cNvSpPr txBox="1"/>
          <p:nvPr/>
        </p:nvSpPr>
        <p:spPr>
          <a:xfrm>
            <a:off x="304800" y="1450975"/>
            <a:ext cx="8610600" cy="4035425"/>
          </a:xfrm>
          <a:prstGeom prst="rect">
            <a:avLst/>
          </a:prstGeom>
          <a:noFill/>
          <a:ln w="9525">
            <a:noFill/>
          </a:ln>
        </p:spPr>
        <p:txBody>
          <a:bodyPr>
            <a:spAutoFit/>
          </a:bodyPr>
          <a:p>
            <a:pPr>
              <a:lnSpc>
                <a:spcPct val="180000"/>
              </a:lnSpc>
              <a:spcBef>
                <a:spcPct val="50000"/>
              </a:spcBef>
            </a:pPr>
            <a:r>
              <a:rPr lang="en-US" altLang="zh-CN" dirty="0">
                <a:latin typeface="Times New Roman" panose="02020603050405020304" pitchFamily="18" charset="0"/>
              </a:rPr>
              <a:t>       </a:t>
            </a:r>
            <a:r>
              <a:rPr lang="zh-CN" altLang="en-US" b="1" dirty="0">
                <a:latin typeface="Times New Roman" panose="02020603050405020304" pitchFamily="18" charset="0"/>
              </a:rPr>
              <a:t>实现</a:t>
            </a:r>
            <a:r>
              <a:rPr lang="en-US" altLang="zh-CN" b="1">
                <a:latin typeface="Times New Roman" panose="02020603050405020304" pitchFamily="18" charset="0"/>
              </a:rPr>
              <a:t>A/D</a:t>
            </a:r>
            <a:r>
              <a:rPr lang="zh-CN" altLang="en-US" b="1" dirty="0">
                <a:latin typeface="Times New Roman" panose="02020603050405020304" pitchFamily="18" charset="0"/>
              </a:rPr>
              <a:t>转换的方法很多，按照工作原理不同可以分成直接</a:t>
            </a:r>
            <a:r>
              <a:rPr lang="en-US" altLang="zh-CN" b="1">
                <a:latin typeface="Times New Roman" panose="02020603050405020304" pitchFamily="18" charset="0"/>
              </a:rPr>
              <a:t>A/D</a:t>
            </a:r>
            <a:r>
              <a:rPr lang="zh-CN" altLang="en-US" b="1" dirty="0">
                <a:latin typeface="Times New Roman" panose="02020603050405020304" pitchFamily="18" charset="0"/>
              </a:rPr>
              <a:t>转换和间接</a:t>
            </a:r>
            <a:r>
              <a:rPr lang="en-US" altLang="zh-CN" b="1">
                <a:latin typeface="Times New Roman" panose="02020603050405020304" pitchFamily="18" charset="0"/>
              </a:rPr>
              <a:t>A/D</a:t>
            </a:r>
            <a:r>
              <a:rPr lang="zh-CN" altLang="en-US" b="1" dirty="0">
                <a:latin typeface="Times New Roman" panose="02020603050405020304" pitchFamily="18" charset="0"/>
              </a:rPr>
              <a:t>转换两类。直接</a:t>
            </a:r>
            <a:r>
              <a:rPr lang="en-US" altLang="zh-CN" b="1">
                <a:latin typeface="Times New Roman" panose="02020603050405020304" pitchFamily="18" charset="0"/>
              </a:rPr>
              <a:t>A/D</a:t>
            </a:r>
            <a:r>
              <a:rPr lang="zh-CN" altLang="en-US" b="1" dirty="0">
                <a:latin typeface="Times New Roman" panose="02020603050405020304" pitchFamily="18" charset="0"/>
              </a:rPr>
              <a:t>转换是将模拟信号直接转换成数字信号，比较典型的有并行比较型</a:t>
            </a:r>
            <a:r>
              <a:rPr lang="en-US" altLang="zh-CN" b="1">
                <a:latin typeface="Times New Roman" panose="02020603050405020304" pitchFamily="18" charset="0"/>
              </a:rPr>
              <a:t>A/D</a:t>
            </a:r>
            <a:r>
              <a:rPr lang="zh-CN" altLang="en-US" b="1" dirty="0">
                <a:latin typeface="Times New Roman" panose="02020603050405020304" pitchFamily="18" charset="0"/>
              </a:rPr>
              <a:t>转换和逐次逼近型</a:t>
            </a:r>
            <a:r>
              <a:rPr lang="en-US" altLang="zh-CN" b="1">
                <a:latin typeface="Times New Roman" panose="02020603050405020304" pitchFamily="18" charset="0"/>
              </a:rPr>
              <a:t>A/D</a:t>
            </a:r>
            <a:r>
              <a:rPr lang="zh-CN" altLang="en-US" b="1" dirty="0">
                <a:latin typeface="Times New Roman" panose="02020603050405020304" pitchFamily="18" charset="0"/>
              </a:rPr>
              <a:t>转换。间接</a:t>
            </a:r>
            <a:r>
              <a:rPr lang="en-US" altLang="zh-CN" b="1">
                <a:latin typeface="Times New Roman" panose="02020603050405020304" pitchFamily="18" charset="0"/>
              </a:rPr>
              <a:t>A/D</a:t>
            </a:r>
            <a:r>
              <a:rPr lang="zh-CN" altLang="en-US" b="1" dirty="0">
                <a:latin typeface="Times New Roman" panose="02020603050405020304" pitchFamily="18" charset="0"/>
              </a:rPr>
              <a:t>转换是先将模拟信号转换成某一中间变量（时间或频率），然后再将中间变量转换成数字量。比较典型的有双积分型</a:t>
            </a:r>
            <a:r>
              <a:rPr lang="en-US" altLang="zh-CN" b="1">
                <a:latin typeface="Times New Roman" panose="02020603050405020304" pitchFamily="18" charset="0"/>
              </a:rPr>
              <a:t>A/D</a:t>
            </a:r>
            <a:r>
              <a:rPr lang="zh-CN" altLang="en-US" b="1" dirty="0">
                <a:latin typeface="Times New Roman" panose="02020603050405020304" pitchFamily="18" charset="0"/>
              </a:rPr>
              <a:t>转换和电压</a:t>
            </a:r>
            <a:r>
              <a:rPr lang="en-US" altLang="zh-CN" b="1">
                <a:latin typeface="Times New Roman" panose="02020603050405020304" pitchFamily="18" charset="0"/>
              </a:rPr>
              <a:t>- </a:t>
            </a:r>
            <a:r>
              <a:rPr lang="zh-CN" altLang="en-US" b="1" dirty="0">
                <a:latin typeface="Times New Roman" panose="02020603050405020304" pitchFamily="18" charset="0"/>
              </a:rPr>
              <a:t>频率转换型</a:t>
            </a:r>
            <a:r>
              <a:rPr lang="en-US" altLang="zh-CN" b="1">
                <a:latin typeface="Times New Roman" panose="02020603050405020304" pitchFamily="18" charset="0"/>
              </a:rPr>
              <a:t>A/D</a:t>
            </a:r>
            <a:r>
              <a:rPr lang="zh-CN" altLang="en-US" b="1" dirty="0">
                <a:latin typeface="Times New Roman" panose="02020603050405020304" pitchFamily="18" charset="0"/>
              </a:rPr>
              <a:t>转换。 </a:t>
            </a:r>
            <a:endParaRPr lang="zh-CN" altLang="en-US" b="1">
              <a:latin typeface="Times New Roman" panose="02020603050405020304" pitchFamily="18" charset="0"/>
            </a:endParaRPr>
          </a:p>
        </p:txBody>
      </p:sp>
    </p:spTree>
  </p:cSld>
  <p:clrMapOvr>
    <a:masterClrMapping/>
  </p:clrMapOvr>
  <p:transition>
    <p:blinds dir="vert"/>
  </p:transition>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8852" name="文本框 78851"/>
          <p:cNvSpPr txBox="1"/>
          <p:nvPr/>
        </p:nvSpPr>
        <p:spPr>
          <a:xfrm>
            <a:off x="685800" y="457200"/>
            <a:ext cx="3462338" cy="457200"/>
          </a:xfrm>
          <a:prstGeom prst="rect">
            <a:avLst/>
          </a:prstGeom>
          <a:noFill/>
          <a:ln w="9525">
            <a:noFill/>
          </a:ln>
        </p:spPr>
        <p:txBody>
          <a:bodyPr wrap="none" anchor="t" anchorCtr="0">
            <a:spAutoFit/>
          </a:bodyPr>
          <a:p>
            <a:r>
              <a:rPr lang="en-US" altLang="zh-CN" b="1">
                <a:latin typeface="Times New Roman" panose="02020603050405020304" pitchFamily="18" charset="0"/>
              </a:rPr>
              <a:t>1</a:t>
            </a:r>
            <a:r>
              <a:rPr lang="zh-CN" altLang="en-US" b="1" dirty="0">
                <a:latin typeface="Times New Roman" panose="02020603050405020304" pitchFamily="18" charset="0"/>
              </a:rPr>
              <a:t>．并行比较型</a:t>
            </a:r>
            <a:r>
              <a:rPr lang="en-US" altLang="zh-CN" b="1">
                <a:latin typeface="Times New Roman" panose="02020603050405020304" pitchFamily="18" charset="0"/>
              </a:rPr>
              <a:t>ADC</a:t>
            </a:r>
            <a:r>
              <a:rPr lang="zh-CN" altLang="en-US" b="1" dirty="0">
                <a:latin typeface="Times New Roman" panose="02020603050405020304" pitchFamily="18" charset="0"/>
              </a:rPr>
              <a:t>电路</a:t>
            </a:r>
            <a:endParaRPr lang="zh-CN" altLang="en-US" b="1">
              <a:latin typeface="Times New Roman" panose="02020603050405020304" pitchFamily="18" charset="0"/>
            </a:endParaRPr>
          </a:p>
        </p:txBody>
      </p:sp>
      <p:sp>
        <p:nvSpPr>
          <p:cNvPr id="78853" name="文本框 78852"/>
          <p:cNvSpPr txBox="1"/>
          <p:nvPr/>
        </p:nvSpPr>
        <p:spPr>
          <a:xfrm>
            <a:off x="8382000" y="1376363"/>
            <a:ext cx="549275" cy="4105275"/>
          </a:xfrm>
          <a:prstGeom prst="rect">
            <a:avLst/>
          </a:prstGeom>
          <a:noFill/>
          <a:ln w="9525">
            <a:noFill/>
          </a:ln>
        </p:spPr>
        <p:txBody>
          <a:bodyPr vert="eaVert" wrap="none" anchor="t" anchorCtr="0">
            <a:spAutoFit/>
          </a:bodyPr>
          <a:p>
            <a:r>
              <a:rPr lang="zh-CN" altLang="en-US" dirty="0">
                <a:latin typeface="Times New Roman" panose="02020603050405020304" pitchFamily="18" charset="0"/>
              </a:rPr>
              <a:t>图 </a:t>
            </a:r>
            <a:r>
              <a:rPr lang="en-US" altLang="zh-CN">
                <a:latin typeface="Times New Roman" panose="02020603050405020304" pitchFamily="18" charset="0"/>
              </a:rPr>
              <a:t>11-23 </a:t>
            </a:r>
            <a:r>
              <a:rPr lang="zh-CN" altLang="en-US" dirty="0">
                <a:latin typeface="Times New Roman" panose="02020603050405020304" pitchFamily="18" charset="0"/>
              </a:rPr>
              <a:t>并行比较型</a:t>
            </a:r>
            <a:r>
              <a:rPr lang="en-US" altLang="zh-CN">
                <a:latin typeface="Times New Roman" panose="02020603050405020304" pitchFamily="18" charset="0"/>
              </a:rPr>
              <a:t>ADC</a:t>
            </a:r>
            <a:r>
              <a:rPr lang="zh-CN" altLang="en-US" dirty="0">
                <a:latin typeface="Times New Roman" panose="02020603050405020304" pitchFamily="18" charset="0"/>
              </a:rPr>
              <a:t>电路</a:t>
            </a:r>
            <a:endParaRPr lang="zh-CN" altLang="en-US">
              <a:latin typeface="Times New Roman" panose="02020603050405020304" pitchFamily="18" charset="0"/>
            </a:endParaRPr>
          </a:p>
        </p:txBody>
      </p:sp>
      <p:graphicFrame>
        <p:nvGraphicFramePr>
          <p:cNvPr id="78854" name="对象 78853"/>
          <p:cNvGraphicFramePr/>
          <p:nvPr/>
        </p:nvGraphicFramePr>
        <p:xfrm>
          <a:off x="2438400" y="838200"/>
          <a:ext cx="4819650" cy="6019800"/>
        </p:xfrm>
        <a:graphic>
          <a:graphicData uri="http://schemas.openxmlformats.org/presentationml/2006/ole">
            <mc:AlternateContent xmlns:mc="http://schemas.openxmlformats.org/markup-compatibility/2006">
              <mc:Choice xmlns:v="urn:schemas-microsoft-com:vml" Requires="v">
                <p:oleObj spid="_x0000_s3118" name="" r:id="rId1" imgW="3383280" imgH="4229100" progId="Visio.Drawing.4">
                  <p:embed/>
                </p:oleObj>
              </mc:Choice>
              <mc:Fallback>
                <p:oleObj name="" r:id="rId1" imgW="3383280" imgH="4229100" progId="Visio.Drawing.4">
                  <p:embed/>
                  <p:pic>
                    <p:nvPicPr>
                      <p:cNvPr id="0" name="图片 3117"/>
                      <p:cNvPicPr/>
                      <p:nvPr/>
                    </p:nvPicPr>
                    <p:blipFill>
                      <a:blip r:embed="rId2"/>
                      <a:stretch>
                        <a:fillRect/>
                      </a:stretch>
                    </p:blipFill>
                    <p:spPr>
                      <a:xfrm>
                        <a:off x="2438400" y="838200"/>
                        <a:ext cx="4819650" cy="6019800"/>
                      </a:xfrm>
                      <a:prstGeom prst="rect">
                        <a:avLst/>
                      </a:prstGeom>
                      <a:noFill/>
                      <a:ln w="38100">
                        <a:noFill/>
                        <a:miter/>
                      </a:ln>
                    </p:spPr>
                  </p:pic>
                </p:oleObj>
              </mc:Fallback>
            </mc:AlternateContent>
          </a:graphicData>
        </a:graphic>
      </p:graphicFrame>
    </p:spTree>
  </p:cSld>
  <p:clrMapOvr>
    <a:masterClrMapping/>
  </p:clrMapOvr>
  <p:transition>
    <p:blinds dir="vert"/>
  </p:transition>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25" name="文本框 81924"/>
          <p:cNvSpPr txBox="1"/>
          <p:nvPr/>
        </p:nvSpPr>
        <p:spPr>
          <a:xfrm>
            <a:off x="152400" y="550863"/>
            <a:ext cx="8839200" cy="5468937"/>
          </a:xfrm>
          <a:prstGeom prst="rect">
            <a:avLst/>
          </a:prstGeom>
          <a:noFill/>
          <a:ln w="9525">
            <a:noFill/>
          </a:ln>
        </p:spPr>
        <p:txBody>
          <a:bodyPr>
            <a:spAutoFit/>
          </a:bodyPr>
          <a:p>
            <a:pPr>
              <a:lnSpc>
                <a:spcPct val="178000"/>
              </a:lnSpc>
              <a:spcBef>
                <a:spcPct val="50000"/>
              </a:spcBef>
            </a:pPr>
            <a:r>
              <a:rPr lang="en-US" altLang="zh-CN" dirty="0">
                <a:latin typeface="Times New Roman" panose="02020603050405020304" pitchFamily="18" charset="0"/>
              </a:rPr>
              <a:t>        </a:t>
            </a:r>
            <a:r>
              <a:rPr lang="zh-CN" altLang="en-US" dirty="0">
                <a:latin typeface="Times New Roman" panose="02020603050405020304" pitchFamily="18" charset="0"/>
              </a:rPr>
              <a:t>图</a:t>
            </a:r>
            <a:r>
              <a:rPr lang="en-US" altLang="zh-CN">
                <a:latin typeface="Times New Roman" panose="02020603050405020304" pitchFamily="18" charset="0"/>
              </a:rPr>
              <a:t>11- 23</a:t>
            </a:r>
            <a:r>
              <a:rPr lang="zh-CN" altLang="en-US" dirty="0">
                <a:latin typeface="Times New Roman" panose="02020603050405020304" pitchFamily="18" charset="0"/>
              </a:rPr>
              <a:t>是</a:t>
            </a:r>
            <a:r>
              <a:rPr lang="en-US" altLang="zh-CN">
                <a:latin typeface="Times New Roman" panose="02020603050405020304" pitchFamily="18" charset="0"/>
              </a:rPr>
              <a:t>3</a:t>
            </a:r>
            <a:r>
              <a:rPr lang="zh-CN" altLang="en-US" dirty="0">
                <a:latin typeface="Times New Roman" panose="02020603050405020304" pitchFamily="18" charset="0"/>
              </a:rPr>
              <a:t>位并行比较型</a:t>
            </a:r>
            <a:r>
              <a:rPr lang="en-US" altLang="zh-CN">
                <a:latin typeface="Times New Roman" panose="02020603050405020304" pitchFamily="18" charset="0"/>
              </a:rPr>
              <a:t>ADC</a:t>
            </a:r>
            <a:r>
              <a:rPr lang="zh-CN" altLang="en-US" dirty="0">
                <a:latin typeface="Times New Roman" panose="02020603050405020304" pitchFamily="18" charset="0"/>
              </a:rPr>
              <a:t>的原理图，它由电阻分压器、 电压比较器</a:t>
            </a:r>
            <a:r>
              <a:rPr lang="en-US" altLang="zh-CN">
                <a:latin typeface="Times New Roman" panose="02020603050405020304" pitchFamily="18" charset="0"/>
              </a:rPr>
              <a:t>A</a:t>
            </a:r>
            <a:r>
              <a:rPr lang="en-US" altLang="zh-CN" baseline="-25000">
                <a:latin typeface="Times New Roman" panose="02020603050405020304" pitchFamily="18" charset="0"/>
              </a:rPr>
              <a:t>1</a:t>
            </a:r>
            <a:r>
              <a:rPr lang="zh-CN" altLang="en-US">
                <a:latin typeface="Times New Roman" panose="02020603050405020304" pitchFamily="18" charset="0"/>
              </a:rPr>
              <a:t>～</a:t>
            </a:r>
            <a:r>
              <a:rPr lang="en-US" altLang="zh-CN">
                <a:latin typeface="Times New Roman" panose="02020603050405020304" pitchFamily="18" charset="0"/>
              </a:rPr>
              <a:t>A</a:t>
            </a:r>
            <a:r>
              <a:rPr lang="en-US" altLang="zh-CN" baseline="-25000">
                <a:latin typeface="Times New Roman" panose="02020603050405020304" pitchFamily="18" charset="0"/>
              </a:rPr>
              <a:t>7</a:t>
            </a:r>
            <a:r>
              <a:rPr lang="zh-CN" altLang="en-US">
                <a:latin typeface="Times New Roman" panose="02020603050405020304" pitchFamily="18" charset="0"/>
              </a:rPr>
              <a:t>、</a:t>
            </a:r>
            <a:r>
              <a:rPr lang="zh-CN" altLang="en-US" dirty="0">
                <a:latin typeface="Times New Roman" panose="02020603050405020304" pitchFamily="18" charset="0"/>
              </a:rPr>
              <a:t>寄存器和编码电路四部分构成。 </a:t>
            </a:r>
            <a:endParaRPr lang="zh-CN" altLang="en-US" dirty="0">
              <a:latin typeface="Times New Roman" panose="02020603050405020304" pitchFamily="18" charset="0"/>
            </a:endParaRPr>
          </a:p>
          <a:p>
            <a:pPr>
              <a:lnSpc>
                <a:spcPct val="178000"/>
              </a:lnSpc>
              <a:spcBef>
                <a:spcPct val="50000"/>
              </a:spcBef>
            </a:pPr>
            <a:r>
              <a:rPr lang="zh-CN" altLang="en-US" dirty="0">
                <a:latin typeface="Times New Roman" panose="02020603050405020304" pitchFamily="18" charset="0"/>
              </a:rPr>
              <a:t>        基准电压</a:t>
            </a:r>
            <a:r>
              <a:rPr lang="en-US" altLang="zh-CN">
                <a:latin typeface="Times New Roman" panose="02020603050405020304" pitchFamily="18" charset="0"/>
              </a:rPr>
              <a:t>U</a:t>
            </a:r>
            <a:r>
              <a:rPr lang="en-US" altLang="zh-CN" baseline="-25000">
                <a:latin typeface="Times New Roman" panose="02020603050405020304" pitchFamily="18" charset="0"/>
              </a:rPr>
              <a:t>REF</a:t>
            </a:r>
            <a:r>
              <a:rPr lang="zh-CN" altLang="en-US" dirty="0">
                <a:latin typeface="Times New Roman" panose="02020603050405020304" pitchFamily="18" charset="0"/>
              </a:rPr>
              <a:t>经电阻分压器分压后，产生各电压比较器的参考电压：</a:t>
            </a:r>
            <a:r>
              <a:rPr lang="en-US" altLang="zh-CN">
                <a:latin typeface="Times New Roman" panose="02020603050405020304" pitchFamily="18" charset="0"/>
              </a:rPr>
              <a:t>u</a:t>
            </a:r>
            <a:r>
              <a:rPr lang="en-US" altLang="zh-CN" baseline="-25000">
                <a:latin typeface="Times New Roman" panose="02020603050405020304" pitchFamily="18" charset="0"/>
              </a:rPr>
              <a:t>1</a:t>
            </a:r>
            <a:r>
              <a:rPr lang="en-US" altLang="zh-CN">
                <a:latin typeface="Times New Roman" panose="02020603050405020304" pitchFamily="18" charset="0"/>
              </a:rPr>
              <a:t>= U</a:t>
            </a:r>
            <a:r>
              <a:rPr lang="en-US" altLang="zh-CN" baseline="-25000">
                <a:latin typeface="Times New Roman" panose="02020603050405020304" pitchFamily="18" charset="0"/>
              </a:rPr>
              <a:t>REF</a:t>
            </a:r>
            <a:r>
              <a:rPr lang="en-US" altLang="zh-CN">
                <a:latin typeface="Times New Roman" panose="02020603050405020304" pitchFamily="18" charset="0"/>
              </a:rPr>
              <a:t>/16</a:t>
            </a:r>
            <a:r>
              <a:rPr lang="zh-CN" altLang="en-US">
                <a:latin typeface="Times New Roman" panose="02020603050405020304" pitchFamily="18" charset="0"/>
              </a:rPr>
              <a:t>，</a:t>
            </a:r>
            <a:r>
              <a:rPr lang="en-US" altLang="zh-CN">
                <a:latin typeface="Times New Roman" panose="02020603050405020304" pitchFamily="18" charset="0"/>
              </a:rPr>
              <a:t>u</a:t>
            </a:r>
            <a:r>
              <a:rPr lang="en-US" altLang="zh-CN" baseline="-25000">
                <a:latin typeface="Times New Roman" panose="02020603050405020304" pitchFamily="18" charset="0"/>
              </a:rPr>
              <a:t>2</a:t>
            </a:r>
            <a:r>
              <a:rPr lang="en-US" altLang="zh-CN">
                <a:latin typeface="Times New Roman" panose="02020603050405020304" pitchFamily="18" charset="0"/>
              </a:rPr>
              <a:t>= 3U</a:t>
            </a:r>
            <a:r>
              <a:rPr lang="en-US" altLang="zh-CN" baseline="-25000">
                <a:latin typeface="Times New Roman" panose="02020603050405020304" pitchFamily="18" charset="0"/>
              </a:rPr>
              <a:t>REF</a:t>
            </a:r>
            <a:r>
              <a:rPr lang="en-US" altLang="zh-CN">
                <a:latin typeface="Times New Roman" panose="02020603050405020304" pitchFamily="18" charset="0"/>
              </a:rPr>
              <a:t>/16</a:t>
            </a:r>
            <a:r>
              <a:rPr lang="zh-CN" altLang="en-US">
                <a:latin typeface="Times New Roman" panose="02020603050405020304" pitchFamily="18" charset="0"/>
              </a:rPr>
              <a:t>，</a:t>
            </a:r>
            <a:r>
              <a:rPr lang="en-US" altLang="zh-CN">
                <a:latin typeface="Times New Roman" panose="02020603050405020304" pitchFamily="18" charset="0"/>
              </a:rPr>
              <a:t>u</a:t>
            </a:r>
            <a:r>
              <a:rPr lang="en-US" altLang="zh-CN" baseline="-25000">
                <a:latin typeface="Times New Roman" panose="02020603050405020304" pitchFamily="18" charset="0"/>
              </a:rPr>
              <a:t>3</a:t>
            </a:r>
            <a:r>
              <a:rPr lang="en-US" altLang="zh-CN">
                <a:latin typeface="Times New Roman" panose="02020603050405020304" pitchFamily="18" charset="0"/>
              </a:rPr>
              <a:t>= 5U</a:t>
            </a:r>
            <a:r>
              <a:rPr lang="en-US" altLang="zh-CN" baseline="-25000">
                <a:latin typeface="Times New Roman" panose="02020603050405020304" pitchFamily="18" charset="0"/>
              </a:rPr>
              <a:t>REF</a:t>
            </a:r>
            <a:r>
              <a:rPr lang="en-US" altLang="zh-CN">
                <a:latin typeface="Times New Roman" panose="02020603050405020304" pitchFamily="18" charset="0"/>
              </a:rPr>
              <a:t>/16</a:t>
            </a:r>
            <a:r>
              <a:rPr lang="zh-CN" altLang="en-US">
                <a:latin typeface="Times New Roman" panose="02020603050405020304" pitchFamily="18" charset="0"/>
              </a:rPr>
              <a:t>，</a:t>
            </a:r>
            <a:r>
              <a:rPr lang="en-US" altLang="zh-CN">
                <a:latin typeface="Times New Roman" panose="02020603050405020304" pitchFamily="18" charset="0"/>
              </a:rPr>
              <a:t>u</a:t>
            </a:r>
            <a:r>
              <a:rPr lang="en-US" altLang="zh-CN" baseline="-25000">
                <a:latin typeface="Times New Roman" panose="02020603050405020304" pitchFamily="18" charset="0"/>
              </a:rPr>
              <a:t>4</a:t>
            </a:r>
            <a:r>
              <a:rPr lang="en-US" altLang="zh-CN">
                <a:latin typeface="Times New Roman" panose="02020603050405020304" pitchFamily="18" charset="0"/>
              </a:rPr>
              <a:t>= 7U</a:t>
            </a:r>
            <a:r>
              <a:rPr lang="en-US" altLang="zh-CN" baseline="-25000">
                <a:latin typeface="Times New Roman" panose="02020603050405020304" pitchFamily="18" charset="0"/>
              </a:rPr>
              <a:t>REF</a:t>
            </a:r>
            <a:r>
              <a:rPr lang="en-US" altLang="zh-CN">
                <a:latin typeface="Times New Roman" panose="02020603050405020304" pitchFamily="18" charset="0"/>
              </a:rPr>
              <a:t>/16</a:t>
            </a:r>
            <a:r>
              <a:rPr lang="zh-CN" altLang="en-US">
                <a:latin typeface="Times New Roman" panose="02020603050405020304" pitchFamily="18" charset="0"/>
              </a:rPr>
              <a:t>， </a:t>
            </a:r>
            <a:r>
              <a:rPr lang="en-US" altLang="zh-CN">
                <a:latin typeface="Times New Roman" panose="02020603050405020304" pitchFamily="18" charset="0"/>
              </a:rPr>
              <a:t>u</a:t>
            </a:r>
            <a:r>
              <a:rPr lang="en-US" altLang="zh-CN" baseline="-25000">
                <a:latin typeface="Times New Roman" panose="02020603050405020304" pitchFamily="18" charset="0"/>
              </a:rPr>
              <a:t>5</a:t>
            </a:r>
            <a:r>
              <a:rPr lang="en-US" altLang="zh-CN">
                <a:latin typeface="Times New Roman" panose="02020603050405020304" pitchFamily="18" charset="0"/>
              </a:rPr>
              <a:t>= 9U</a:t>
            </a:r>
            <a:r>
              <a:rPr lang="en-US" altLang="zh-CN" baseline="-25000">
                <a:latin typeface="Times New Roman" panose="02020603050405020304" pitchFamily="18" charset="0"/>
              </a:rPr>
              <a:t>REF</a:t>
            </a:r>
            <a:r>
              <a:rPr lang="en-US" altLang="zh-CN">
                <a:latin typeface="Times New Roman" panose="02020603050405020304" pitchFamily="18" charset="0"/>
              </a:rPr>
              <a:t>/16</a:t>
            </a:r>
            <a:r>
              <a:rPr lang="zh-CN" altLang="en-US">
                <a:latin typeface="Times New Roman" panose="02020603050405020304" pitchFamily="18" charset="0"/>
              </a:rPr>
              <a:t>，</a:t>
            </a:r>
            <a:r>
              <a:rPr lang="en-US" altLang="zh-CN">
                <a:latin typeface="Times New Roman" panose="02020603050405020304" pitchFamily="18" charset="0"/>
              </a:rPr>
              <a:t>u</a:t>
            </a:r>
            <a:r>
              <a:rPr lang="en-US" altLang="zh-CN" baseline="-25000">
                <a:latin typeface="Times New Roman" panose="02020603050405020304" pitchFamily="18" charset="0"/>
              </a:rPr>
              <a:t>6</a:t>
            </a:r>
            <a:r>
              <a:rPr lang="en-US" altLang="zh-CN">
                <a:latin typeface="Times New Roman" panose="02020603050405020304" pitchFamily="18" charset="0"/>
              </a:rPr>
              <a:t>= 11U</a:t>
            </a:r>
            <a:r>
              <a:rPr lang="en-US" altLang="zh-CN" baseline="-25000">
                <a:latin typeface="Times New Roman" panose="02020603050405020304" pitchFamily="18" charset="0"/>
              </a:rPr>
              <a:t>REF</a:t>
            </a:r>
            <a:r>
              <a:rPr lang="en-US" altLang="zh-CN">
                <a:latin typeface="Times New Roman" panose="02020603050405020304" pitchFamily="18" charset="0"/>
              </a:rPr>
              <a:t>/16</a:t>
            </a:r>
            <a:r>
              <a:rPr lang="zh-CN" altLang="en-US">
                <a:latin typeface="Times New Roman" panose="02020603050405020304" pitchFamily="18" charset="0"/>
              </a:rPr>
              <a:t>，</a:t>
            </a:r>
            <a:r>
              <a:rPr lang="en-US" altLang="zh-CN">
                <a:latin typeface="Times New Roman" panose="02020603050405020304" pitchFamily="18" charset="0"/>
              </a:rPr>
              <a:t>u</a:t>
            </a:r>
            <a:r>
              <a:rPr lang="en-US" altLang="zh-CN" baseline="-25000">
                <a:latin typeface="Times New Roman" panose="02020603050405020304" pitchFamily="18" charset="0"/>
              </a:rPr>
              <a:t>7</a:t>
            </a:r>
            <a:r>
              <a:rPr lang="en-US" altLang="zh-CN">
                <a:latin typeface="Times New Roman" panose="02020603050405020304" pitchFamily="18" charset="0"/>
              </a:rPr>
              <a:t>=13 U</a:t>
            </a:r>
            <a:r>
              <a:rPr lang="en-US" altLang="zh-CN" baseline="-25000">
                <a:latin typeface="Times New Roman" panose="02020603050405020304" pitchFamily="18" charset="0"/>
              </a:rPr>
              <a:t>REF</a:t>
            </a:r>
            <a:r>
              <a:rPr lang="en-US" altLang="zh-CN">
                <a:latin typeface="Times New Roman" panose="02020603050405020304" pitchFamily="18" charset="0"/>
              </a:rPr>
              <a:t>/16</a:t>
            </a:r>
            <a:r>
              <a:rPr lang="zh-CN" altLang="en-US">
                <a:latin typeface="Times New Roman" panose="02020603050405020304" pitchFamily="18" charset="0"/>
              </a:rPr>
              <a:t>。</a:t>
            </a:r>
            <a:r>
              <a:rPr lang="zh-CN" altLang="en-US" dirty="0">
                <a:latin typeface="Times New Roman" panose="02020603050405020304" pitchFamily="18" charset="0"/>
              </a:rPr>
              <a:t>由这些参考电压值可以看出， 该</a:t>
            </a:r>
            <a:r>
              <a:rPr lang="en-US" altLang="zh-CN">
                <a:latin typeface="Times New Roman" panose="02020603050405020304" pitchFamily="18" charset="0"/>
              </a:rPr>
              <a:t>A/D</a:t>
            </a:r>
            <a:r>
              <a:rPr lang="zh-CN" altLang="en-US" dirty="0">
                <a:latin typeface="Times New Roman" panose="02020603050405020304" pitchFamily="18" charset="0"/>
              </a:rPr>
              <a:t>转换电路采用的是有舍有入的量化方式，量化单位</a:t>
            </a:r>
            <a:r>
              <a:rPr lang="en-US" altLang="zh-CN">
                <a:latin typeface="Times New Roman" panose="02020603050405020304" pitchFamily="18" charset="0"/>
              </a:rPr>
              <a:t>Δ=2U</a:t>
            </a:r>
            <a:r>
              <a:rPr lang="en-US" altLang="zh-CN" baseline="-25000">
                <a:latin typeface="Times New Roman" panose="02020603050405020304" pitchFamily="18" charset="0"/>
              </a:rPr>
              <a:t>REF</a:t>
            </a:r>
            <a:r>
              <a:rPr lang="en-US" altLang="zh-CN">
                <a:latin typeface="Times New Roman" panose="02020603050405020304" pitchFamily="18" charset="0"/>
              </a:rPr>
              <a:t>/16</a:t>
            </a:r>
            <a:r>
              <a:rPr lang="zh-CN" altLang="en-US">
                <a:latin typeface="Times New Roman" panose="02020603050405020304" pitchFamily="18" charset="0"/>
              </a:rPr>
              <a:t>，</a:t>
            </a:r>
            <a:r>
              <a:rPr lang="zh-CN" altLang="en-US" dirty="0">
                <a:latin typeface="Times New Roman" panose="02020603050405020304" pitchFamily="18" charset="0"/>
              </a:rPr>
              <a:t>在</a:t>
            </a:r>
            <a:r>
              <a:rPr lang="en-US" altLang="zh-CN">
                <a:latin typeface="Times New Roman" panose="02020603050405020304" pitchFamily="18" charset="0"/>
              </a:rPr>
              <a:t>0</a:t>
            </a:r>
            <a:r>
              <a:rPr lang="zh-CN" altLang="en-US" dirty="0">
                <a:latin typeface="Times New Roman" panose="02020603050405020304" pitchFamily="18" charset="0"/>
              </a:rPr>
              <a:t>～</a:t>
            </a:r>
            <a:r>
              <a:rPr lang="en-US" altLang="zh-CN">
                <a:latin typeface="Times New Roman" panose="02020603050405020304" pitchFamily="18" charset="0"/>
              </a:rPr>
              <a:t>15 U</a:t>
            </a:r>
            <a:r>
              <a:rPr lang="en-US" altLang="zh-CN" baseline="-25000">
                <a:latin typeface="Times New Roman" panose="02020603050405020304" pitchFamily="18" charset="0"/>
              </a:rPr>
              <a:t>REF</a:t>
            </a:r>
            <a:r>
              <a:rPr lang="en-US" altLang="zh-CN">
                <a:latin typeface="Times New Roman" panose="02020603050405020304" pitchFamily="18" charset="0"/>
              </a:rPr>
              <a:t>/16</a:t>
            </a:r>
            <a:r>
              <a:rPr lang="zh-CN" altLang="en-US" dirty="0">
                <a:latin typeface="Times New Roman" panose="02020603050405020304" pitchFamily="18" charset="0"/>
              </a:rPr>
              <a:t>范围内的模拟电压的最大量化误差</a:t>
            </a:r>
            <a:r>
              <a:rPr lang="en-US" altLang="zh-CN" i="1">
                <a:latin typeface="Times New Roman" panose="02020603050405020304" pitchFamily="18" charset="0"/>
              </a:rPr>
              <a:t>ε</a:t>
            </a:r>
            <a:r>
              <a:rPr lang="en-US" altLang="zh-CN" baseline="-25000">
                <a:latin typeface="Times New Roman" panose="02020603050405020304" pitchFamily="18" charset="0"/>
              </a:rPr>
              <a:t>max</a:t>
            </a:r>
            <a:r>
              <a:rPr lang="en-US" altLang="zh-CN">
                <a:latin typeface="Times New Roman" panose="02020603050405020304" pitchFamily="18" charset="0"/>
              </a:rPr>
              <a:t>=Δ/2= U</a:t>
            </a:r>
            <a:r>
              <a:rPr lang="en-US" altLang="zh-CN" baseline="-25000">
                <a:latin typeface="Times New Roman" panose="02020603050405020304" pitchFamily="18" charset="0"/>
              </a:rPr>
              <a:t>REF</a:t>
            </a:r>
            <a:r>
              <a:rPr lang="en-US" altLang="zh-CN">
                <a:latin typeface="Times New Roman" panose="02020603050405020304" pitchFamily="18" charset="0"/>
              </a:rPr>
              <a:t>/16</a:t>
            </a:r>
            <a:r>
              <a:rPr lang="zh-CN" altLang="en-US">
                <a:latin typeface="Times New Roman" panose="02020603050405020304" pitchFamily="18" charset="0"/>
              </a:rPr>
              <a:t>。 </a:t>
            </a:r>
            <a:endParaRPr lang="zh-CN" altLang="en-US">
              <a:latin typeface="Times New Roman" panose="02020603050405020304" pitchFamily="18" charset="0"/>
            </a:endParaRPr>
          </a:p>
        </p:txBody>
      </p:sp>
    </p:spTree>
  </p:cSld>
  <p:clrMapOvr>
    <a:masterClrMapping/>
  </p:clrMapOvr>
  <p:transition>
    <p:blinds dir="vert"/>
  </p:transition>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0900" name="文本框 80899"/>
          <p:cNvSpPr txBox="1"/>
          <p:nvPr/>
        </p:nvSpPr>
        <p:spPr>
          <a:xfrm>
            <a:off x="228600" y="609600"/>
            <a:ext cx="8686800" cy="4692650"/>
          </a:xfrm>
          <a:prstGeom prst="rect">
            <a:avLst/>
          </a:prstGeom>
          <a:noFill/>
          <a:ln w="9525">
            <a:noFill/>
          </a:ln>
        </p:spPr>
        <p:txBody>
          <a:bodyPr>
            <a:spAutoFit/>
          </a:bodyPr>
          <a:p>
            <a:pPr>
              <a:lnSpc>
                <a:spcPct val="180000"/>
              </a:lnSpc>
              <a:spcBef>
                <a:spcPct val="50000"/>
              </a:spcBef>
            </a:pPr>
            <a:r>
              <a:rPr lang="en-US" altLang="zh-CN" dirty="0">
                <a:latin typeface="Times New Roman" panose="02020603050405020304" pitchFamily="18" charset="0"/>
              </a:rPr>
              <a:t>         </a:t>
            </a:r>
            <a:r>
              <a:rPr lang="zh-CN" altLang="en-US" b="1" dirty="0">
                <a:latin typeface="Times New Roman" panose="02020603050405020304" pitchFamily="18" charset="0"/>
              </a:rPr>
              <a:t>各电压比较器的参考电压由反相输入端输入， 正相输入端为</a:t>
            </a:r>
            <a:r>
              <a:rPr lang="en-US" altLang="zh-CN" b="1">
                <a:latin typeface="Times New Roman" panose="02020603050405020304" pitchFamily="18" charset="0"/>
              </a:rPr>
              <a:t>ADC</a:t>
            </a:r>
            <a:r>
              <a:rPr lang="zh-CN" altLang="en-US" b="1" dirty="0">
                <a:latin typeface="Times New Roman" panose="02020603050405020304" pitchFamily="18" charset="0"/>
              </a:rPr>
              <a:t>输入模拟电压的采样值</a:t>
            </a:r>
            <a:r>
              <a:rPr lang="en-US" altLang="zh-CN" b="1" err="1">
                <a:latin typeface="Times New Roman" panose="02020603050405020304" pitchFamily="18" charset="0"/>
              </a:rPr>
              <a:t>u</a:t>
            </a:r>
            <a:r>
              <a:rPr lang="en-US" altLang="zh-CN" b="1" baseline="-25000" err="1">
                <a:latin typeface="Times New Roman" panose="02020603050405020304" pitchFamily="18" charset="0"/>
              </a:rPr>
              <a:t>S</a:t>
            </a:r>
            <a:r>
              <a:rPr lang="zh-CN" altLang="en-US" b="1">
                <a:latin typeface="Times New Roman" panose="02020603050405020304" pitchFamily="18" charset="0"/>
              </a:rPr>
              <a:t>。当</a:t>
            </a:r>
            <a:r>
              <a:rPr lang="en-US" altLang="zh-CN" b="1" err="1">
                <a:latin typeface="Times New Roman" panose="02020603050405020304" pitchFamily="18" charset="0"/>
              </a:rPr>
              <a:t>u</a:t>
            </a:r>
            <a:r>
              <a:rPr lang="en-US" altLang="zh-CN" b="1" baseline="-25000" err="1">
                <a:latin typeface="Times New Roman" panose="02020603050405020304" pitchFamily="18" charset="0"/>
              </a:rPr>
              <a:t>S</a:t>
            </a:r>
            <a:r>
              <a:rPr lang="zh-CN" altLang="en-US" b="1" dirty="0">
                <a:latin typeface="Times New Roman" panose="02020603050405020304" pitchFamily="18" charset="0"/>
              </a:rPr>
              <a:t>大于某电压比较器的参考电压时，该电压比较器输出高电平，反之则输出低电平。输入模拟电压值与电压比较器输出结果之间的关系列在表</a:t>
            </a:r>
            <a:r>
              <a:rPr lang="en-US" altLang="zh-CN" b="1">
                <a:latin typeface="Times New Roman" panose="02020603050405020304" pitchFamily="18" charset="0"/>
              </a:rPr>
              <a:t>11- 2</a:t>
            </a:r>
            <a:r>
              <a:rPr lang="zh-CN" altLang="en-US" b="1" dirty="0">
                <a:latin typeface="Times New Roman" panose="02020603050405020304" pitchFamily="18" charset="0"/>
              </a:rPr>
              <a:t>中。 例如，若</a:t>
            </a:r>
            <a:r>
              <a:rPr lang="en-US" altLang="zh-CN" b="1" err="1">
                <a:latin typeface="Times New Roman" panose="02020603050405020304" pitchFamily="18" charset="0"/>
              </a:rPr>
              <a:t>u</a:t>
            </a:r>
            <a:r>
              <a:rPr lang="en-US" altLang="zh-CN" b="1" baseline="-25000" err="1">
                <a:latin typeface="Times New Roman" panose="02020603050405020304" pitchFamily="18" charset="0"/>
              </a:rPr>
              <a:t>S</a:t>
            </a:r>
            <a:r>
              <a:rPr lang="zh-CN" altLang="en-US" b="1" dirty="0">
                <a:latin typeface="Times New Roman" panose="02020603050405020304" pitchFamily="18" charset="0"/>
              </a:rPr>
              <a:t>在</a:t>
            </a:r>
            <a:r>
              <a:rPr lang="en-US" altLang="zh-CN" b="1">
                <a:latin typeface="Times New Roman" panose="02020603050405020304" pitchFamily="18" charset="0"/>
              </a:rPr>
              <a:t>7U</a:t>
            </a:r>
            <a:r>
              <a:rPr lang="en-US" altLang="zh-CN" b="1" baseline="-25000">
                <a:latin typeface="Times New Roman" panose="02020603050405020304" pitchFamily="18" charset="0"/>
              </a:rPr>
              <a:t>REF</a:t>
            </a:r>
            <a:r>
              <a:rPr lang="en-US" altLang="zh-CN" b="1">
                <a:latin typeface="Times New Roman" panose="02020603050405020304" pitchFamily="18" charset="0"/>
              </a:rPr>
              <a:t>/16</a:t>
            </a:r>
            <a:r>
              <a:rPr lang="zh-CN" altLang="en-US" b="1">
                <a:latin typeface="Times New Roman" panose="02020603050405020304" pitchFamily="18" charset="0"/>
              </a:rPr>
              <a:t>～</a:t>
            </a:r>
            <a:r>
              <a:rPr lang="en-US" altLang="zh-CN" b="1">
                <a:latin typeface="Times New Roman" panose="02020603050405020304" pitchFamily="18" charset="0"/>
              </a:rPr>
              <a:t>9U</a:t>
            </a:r>
            <a:r>
              <a:rPr lang="en-US" altLang="zh-CN" b="1" baseline="-25000">
                <a:latin typeface="Times New Roman" panose="02020603050405020304" pitchFamily="18" charset="0"/>
              </a:rPr>
              <a:t>REF</a:t>
            </a:r>
            <a:r>
              <a:rPr lang="en-US" altLang="zh-CN" b="1">
                <a:latin typeface="Times New Roman" panose="02020603050405020304" pitchFamily="18" charset="0"/>
              </a:rPr>
              <a:t>/16</a:t>
            </a:r>
            <a:r>
              <a:rPr lang="zh-CN" altLang="en-US" b="1" dirty="0">
                <a:latin typeface="Times New Roman" panose="02020603050405020304" pitchFamily="18" charset="0"/>
              </a:rPr>
              <a:t>之间，且</a:t>
            </a:r>
            <a:r>
              <a:rPr lang="en-US" altLang="zh-CN" b="1" err="1">
                <a:latin typeface="Times New Roman" panose="02020603050405020304" pitchFamily="18" charset="0"/>
              </a:rPr>
              <a:t>u</a:t>
            </a:r>
            <a:r>
              <a:rPr lang="en-US" altLang="zh-CN" b="1" baseline="-25000" err="1">
                <a:latin typeface="Times New Roman" panose="02020603050405020304" pitchFamily="18" charset="0"/>
              </a:rPr>
              <a:t>S</a:t>
            </a:r>
            <a:r>
              <a:rPr lang="zh-CN" altLang="en-US" b="1">
                <a:latin typeface="Times New Roman" panose="02020603050405020304" pitchFamily="18" charset="0"/>
              </a:rPr>
              <a:t>＜</a:t>
            </a:r>
            <a:r>
              <a:rPr lang="en-US" altLang="zh-CN" b="1">
                <a:latin typeface="Times New Roman" panose="02020603050405020304" pitchFamily="18" charset="0"/>
              </a:rPr>
              <a:t>9U</a:t>
            </a:r>
            <a:r>
              <a:rPr lang="en-US" altLang="zh-CN" b="1" baseline="-25000">
                <a:latin typeface="Times New Roman" panose="02020603050405020304" pitchFamily="18" charset="0"/>
              </a:rPr>
              <a:t>REF</a:t>
            </a:r>
            <a:r>
              <a:rPr lang="en-US" altLang="zh-CN" b="1">
                <a:latin typeface="Times New Roman" panose="02020603050405020304" pitchFamily="18" charset="0"/>
              </a:rPr>
              <a:t>/16</a:t>
            </a:r>
            <a:r>
              <a:rPr lang="zh-CN" altLang="en-US" b="1">
                <a:latin typeface="Times New Roman" panose="02020603050405020304" pitchFamily="18" charset="0"/>
              </a:rPr>
              <a:t>，</a:t>
            </a:r>
            <a:r>
              <a:rPr lang="zh-CN" altLang="en-US" b="1" dirty="0">
                <a:latin typeface="Times New Roman" panose="02020603050405020304" pitchFamily="18" charset="0"/>
              </a:rPr>
              <a:t>则七个比较器的输出分别为：</a:t>
            </a:r>
            <a:r>
              <a:rPr lang="en-US" altLang="zh-CN" b="1">
                <a:latin typeface="Times New Roman" panose="02020603050405020304" pitchFamily="18" charset="0"/>
              </a:rPr>
              <a:t>C</a:t>
            </a:r>
            <a:r>
              <a:rPr lang="en-US" altLang="zh-CN" b="1" baseline="-25000">
                <a:latin typeface="Times New Roman" panose="02020603050405020304" pitchFamily="18" charset="0"/>
              </a:rPr>
              <a:t>1</a:t>
            </a:r>
            <a:r>
              <a:rPr lang="en-US" altLang="zh-CN" b="1">
                <a:latin typeface="Times New Roman" panose="02020603050405020304" pitchFamily="18" charset="0"/>
              </a:rPr>
              <a:t>= C</a:t>
            </a:r>
            <a:r>
              <a:rPr lang="en-US" altLang="zh-CN" b="1" baseline="-25000">
                <a:latin typeface="Times New Roman" panose="02020603050405020304" pitchFamily="18" charset="0"/>
              </a:rPr>
              <a:t>2</a:t>
            </a:r>
            <a:r>
              <a:rPr lang="en-US" altLang="zh-CN" b="1">
                <a:latin typeface="Times New Roman" panose="02020603050405020304" pitchFamily="18" charset="0"/>
              </a:rPr>
              <a:t>= C</a:t>
            </a:r>
            <a:r>
              <a:rPr lang="en-US" altLang="zh-CN" b="1" baseline="-25000">
                <a:latin typeface="Times New Roman" panose="02020603050405020304" pitchFamily="18" charset="0"/>
              </a:rPr>
              <a:t>3</a:t>
            </a:r>
            <a:r>
              <a:rPr lang="en-US" altLang="zh-CN" b="1">
                <a:latin typeface="Times New Roman" panose="02020603050405020304" pitchFamily="18" charset="0"/>
              </a:rPr>
              <a:t>= C</a:t>
            </a:r>
            <a:r>
              <a:rPr lang="en-US" altLang="zh-CN" b="1" baseline="-25000">
                <a:latin typeface="Times New Roman" panose="02020603050405020304" pitchFamily="18" charset="0"/>
              </a:rPr>
              <a:t>4</a:t>
            </a:r>
            <a:r>
              <a:rPr lang="en-US" altLang="zh-CN" b="1">
                <a:latin typeface="Times New Roman" panose="02020603050405020304" pitchFamily="18" charset="0"/>
              </a:rPr>
              <a:t>=1</a:t>
            </a:r>
            <a:r>
              <a:rPr lang="zh-CN" altLang="en-US" b="1">
                <a:latin typeface="Times New Roman" panose="02020603050405020304" pitchFamily="18" charset="0"/>
              </a:rPr>
              <a:t>、</a:t>
            </a:r>
            <a:r>
              <a:rPr lang="en-US" altLang="zh-CN" b="1">
                <a:latin typeface="Times New Roman" panose="02020603050405020304" pitchFamily="18" charset="0"/>
              </a:rPr>
              <a:t>C</a:t>
            </a:r>
            <a:r>
              <a:rPr lang="en-US" altLang="zh-CN" b="1" baseline="-25000">
                <a:latin typeface="Times New Roman" panose="02020603050405020304" pitchFamily="18" charset="0"/>
              </a:rPr>
              <a:t>5</a:t>
            </a:r>
            <a:r>
              <a:rPr lang="en-US" altLang="zh-CN" b="1">
                <a:latin typeface="Times New Roman" panose="02020603050405020304" pitchFamily="18" charset="0"/>
              </a:rPr>
              <a:t>= C</a:t>
            </a:r>
            <a:r>
              <a:rPr lang="en-US" altLang="zh-CN" b="1" baseline="-25000">
                <a:latin typeface="Times New Roman" panose="02020603050405020304" pitchFamily="18" charset="0"/>
              </a:rPr>
              <a:t>6</a:t>
            </a:r>
            <a:r>
              <a:rPr lang="en-US" altLang="zh-CN" b="1">
                <a:latin typeface="Times New Roman" panose="02020603050405020304" pitchFamily="18" charset="0"/>
              </a:rPr>
              <a:t>= C</a:t>
            </a:r>
            <a:r>
              <a:rPr lang="en-US" altLang="zh-CN" b="1" baseline="-25000">
                <a:latin typeface="Times New Roman" panose="02020603050405020304" pitchFamily="18" charset="0"/>
              </a:rPr>
              <a:t>7</a:t>
            </a:r>
            <a:r>
              <a:rPr lang="en-US" altLang="zh-CN" b="1">
                <a:latin typeface="Times New Roman" panose="02020603050405020304" pitchFamily="18" charset="0"/>
              </a:rPr>
              <a:t>=0</a:t>
            </a:r>
            <a:r>
              <a:rPr lang="zh-CN" altLang="en-US" b="1">
                <a:latin typeface="Times New Roman" panose="02020603050405020304" pitchFamily="18" charset="0"/>
              </a:rPr>
              <a:t>，</a:t>
            </a:r>
            <a:r>
              <a:rPr lang="zh-CN" altLang="en-US" b="1" dirty="0">
                <a:latin typeface="Times New Roman" panose="02020603050405020304" pitchFamily="18" charset="0"/>
              </a:rPr>
              <a:t>所对应的量化电平为</a:t>
            </a:r>
            <a:r>
              <a:rPr lang="en-US" altLang="zh-CN" b="1">
                <a:latin typeface="Times New Roman" panose="02020603050405020304" pitchFamily="18" charset="0"/>
              </a:rPr>
              <a:t>4U</a:t>
            </a:r>
            <a:r>
              <a:rPr lang="en-US" altLang="zh-CN" b="1" baseline="-25000">
                <a:latin typeface="Times New Roman" panose="02020603050405020304" pitchFamily="18" charset="0"/>
              </a:rPr>
              <a:t>REF</a:t>
            </a:r>
            <a:r>
              <a:rPr lang="en-US" altLang="zh-CN" b="1">
                <a:latin typeface="Times New Roman" panose="02020603050405020304" pitchFamily="18" charset="0"/>
              </a:rPr>
              <a:t>/8</a:t>
            </a:r>
            <a:r>
              <a:rPr lang="zh-CN" altLang="en-US" b="1">
                <a:latin typeface="Times New Roman" panose="02020603050405020304" pitchFamily="18" charset="0"/>
              </a:rPr>
              <a:t>。 </a:t>
            </a:r>
            <a:endParaRPr lang="zh-CN" altLang="en-US" b="1">
              <a:latin typeface="Times New Roman" panose="02020603050405020304" pitchFamily="18" charset="0"/>
            </a:endParaRPr>
          </a:p>
        </p:txBody>
      </p:sp>
    </p:spTree>
  </p:cSld>
  <p:clrMapOvr>
    <a:masterClrMapping/>
  </p:clrMapOvr>
  <p:transition>
    <p:blinds dir="vert"/>
  </p:transition>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2082" name="文本框 302081"/>
          <p:cNvSpPr txBox="1"/>
          <p:nvPr/>
        </p:nvSpPr>
        <p:spPr>
          <a:xfrm>
            <a:off x="1219200" y="685800"/>
            <a:ext cx="7300913" cy="457200"/>
          </a:xfrm>
          <a:prstGeom prst="rect">
            <a:avLst/>
          </a:prstGeom>
          <a:noFill/>
          <a:ln w="9525">
            <a:noFill/>
          </a:ln>
        </p:spPr>
        <p:txBody>
          <a:bodyPr wrap="none" anchor="t" anchorCtr="0">
            <a:spAutoFit/>
          </a:bodyPr>
          <a:p>
            <a:r>
              <a:rPr lang="zh-CN" altLang="en-US" b="1" dirty="0">
                <a:latin typeface="Times New Roman" panose="02020603050405020304" pitchFamily="18" charset="0"/>
              </a:rPr>
              <a:t>表</a:t>
            </a:r>
            <a:r>
              <a:rPr lang="en-US" altLang="zh-CN" b="1">
                <a:latin typeface="Times New Roman" panose="02020603050405020304" pitchFamily="18" charset="0"/>
              </a:rPr>
              <a:t>11- 2  3</a:t>
            </a:r>
            <a:r>
              <a:rPr lang="zh-CN" altLang="en-US" b="1" dirty="0">
                <a:latin typeface="Times New Roman" panose="02020603050405020304" pitchFamily="18" charset="0"/>
              </a:rPr>
              <a:t>位并行</a:t>
            </a:r>
            <a:r>
              <a:rPr lang="en-US" altLang="zh-CN" b="1">
                <a:latin typeface="Times New Roman" panose="02020603050405020304" pitchFamily="18" charset="0"/>
              </a:rPr>
              <a:t>ADC</a:t>
            </a:r>
            <a:r>
              <a:rPr lang="zh-CN" altLang="en-US" b="1" dirty="0">
                <a:latin typeface="Times New Roman" panose="02020603050405020304" pitchFamily="18" charset="0"/>
              </a:rPr>
              <a:t>模拟电压和输出编码转换关系表</a:t>
            </a:r>
            <a:endParaRPr lang="zh-CN" altLang="en-US" b="1">
              <a:latin typeface="Times New Roman" panose="02020603050405020304" pitchFamily="18" charset="0"/>
            </a:endParaRPr>
          </a:p>
        </p:txBody>
      </p:sp>
      <p:pic>
        <p:nvPicPr>
          <p:cNvPr id="302083" name="图片 302082" descr="Img00043"/>
          <p:cNvPicPr>
            <a:picLocks noChangeAspect="1"/>
          </p:cNvPicPr>
          <p:nvPr/>
        </p:nvPicPr>
        <p:blipFill>
          <a:blip r:embed="rId1"/>
          <a:stretch>
            <a:fillRect/>
          </a:stretch>
        </p:blipFill>
        <p:spPr>
          <a:xfrm>
            <a:off x="0" y="1447800"/>
            <a:ext cx="9144000" cy="4548188"/>
          </a:xfrm>
          <a:prstGeom prst="rect">
            <a:avLst/>
          </a:prstGeom>
          <a:noFill/>
          <a:ln w="9525">
            <a:noFill/>
          </a:ln>
        </p:spPr>
      </p:pic>
    </p:spTree>
  </p:cSld>
  <p:clrMapOvr>
    <a:masterClrMapping/>
  </p:clrMapOvr>
  <p:transition>
    <p:blinds dir="vert"/>
  </p:transition>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3972" name="文本框 83971"/>
          <p:cNvSpPr txBox="1"/>
          <p:nvPr/>
        </p:nvSpPr>
        <p:spPr>
          <a:xfrm>
            <a:off x="190500" y="638175"/>
            <a:ext cx="8763000" cy="2790825"/>
          </a:xfrm>
          <a:prstGeom prst="rect">
            <a:avLst/>
          </a:prstGeom>
          <a:noFill/>
          <a:ln w="9525">
            <a:noFill/>
          </a:ln>
        </p:spPr>
        <p:txBody>
          <a:bodyPr>
            <a:spAutoFit/>
          </a:bodyPr>
          <a:p>
            <a:pPr>
              <a:lnSpc>
                <a:spcPct val="138000"/>
              </a:lnSpc>
              <a:spcBef>
                <a:spcPct val="50000"/>
              </a:spcBef>
            </a:pPr>
            <a:r>
              <a:rPr lang="en-US" altLang="zh-CN" dirty="0">
                <a:latin typeface="Times New Roman" panose="02020603050405020304" pitchFamily="18" charset="0"/>
              </a:rPr>
              <a:t>       </a:t>
            </a:r>
            <a:r>
              <a:rPr lang="zh-CN" altLang="en-US" b="1" dirty="0">
                <a:latin typeface="Times New Roman" panose="02020603050405020304" pitchFamily="18" charset="0"/>
              </a:rPr>
              <a:t>在时钟脉冲</a:t>
            </a:r>
            <a:r>
              <a:rPr lang="en-US" altLang="zh-CN" b="1">
                <a:latin typeface="Times New Roman" panose="02020603050405020304" pitchFamily="18" charset="0"/>
              </a:rPr>
              <a:t>CP</a:t>
            </a:r>
            <a:r>
              <a:rPr lang="zh-CN" altLang="en-US" b="1" dirty="0">
                <a:latin typeface="Times New Roman" panose="02020603050405020304" pitchFamily="18" charset="0"/>
              </a:rPr>
              <a:t>的上升沿， 将电压比较器的比较结果存入相应的</a:t>
            </a:r>
            <a:r>
              <a:rPr lang="en-US" altLang="zh-CN" b="1">
                <a:latin typeface="Times New Roman" panose="02020603050405020304" pitchFamily="18" charset="0"/>
              </a:rPr>
              <a:t>D</a:t>
            </a:r>
            <a:r>
              <a:rPr lang="zh-CN" altLang="en-US" b="1" dirty="0">
                <a:latin typeface="Times New Roman" panose="02020603050405020304" pitchFamily="18" charset="0"/>
              </a:rPr>
              <a:t>触发器中，供编码电路进行编码。 </a:t>
            </a:r>
            <a:endParaRPr lang="zh-CN" altLang="en-US" b="1" dirty="0">
              <a:latin typeface="Times New Roman" panose="02020603050405020304" pitchFamily="18" charset="0"/>
            </a:endParaRPr>
          </a:p>
          <a:p>
            <a:pPr>
              <a:lnSpc>
                <a:spcPct val="138000"/>
              </a:lnSpc>
              <a:spcBef>
                <a:spcPct val="50000"/>
              </a:spcBef>
            </a:pPr>
            <a:r>
              <a:rPr lang="zh-CN" altLang="en-US" b="1" dirty="0">
                <a:latin typeface="Times New Roman" panose="02020603050405020304" pitchFamily="18" charset="0"/>
              </a:rPr>
              <a:t>       编码电路是一个组合逻辑电路， 根据表</a:t>
            </a:r>
            <a:r>
              <a:rPr lang="en-US" altLang="zh-CN" b="1">
                <a:latin typeface="Times New Roman" panose="02020603050405020304" pitchFamily="18" charset="0"/>
              </a:rPr>
              <a:t>11- 2</a:t>
            </a:r>
            <a:r>
              <a:rPr lang="zh-CN" altLang="en-US" b="1" dirty="0">
                <a:latin typeface="Times New Roman" panose="02020603050405020304" pitchFamily="18" charset="0"/>
              </a:rPr>
              <a:t>中所列的比较器输出与编码输出之间的对应关系，我们可以求出编码电路输出的逻辑表达式：</a:t>
            </a:r>
            <a:endParaRPr lang="zh-CN" altLang="en-US" b="1">
              <a:latin typeface="Times New Roman" panose="02020603050405020304" pitchFamily="18" charset="0"/>
            </a:endParaRPr>
          </a:p>
        </p:txBody>
      </p:sp>
      <p:graphicFrame>
        <p:nvGraphicFramePr>
          <p:cNvPr id="83973" name="对象 83972"/>
          <p:cNvGraphicFramePr/>
          <p:nvPr/>
        </p:nvGraphicFramePr>
        <p:xfrm>
          <a:off x="2819400" y="3810000"/>
          <a:ext cx="4191000" cy="1970088"/>
        </p:xfrm>
        <a:graphic>
          <a:graphicData uri="http://schemas.openxmlformats.org/presentationml/2006/ole">
            <mc:AlternateContent xmlns:mc="http://schemas.openxmlformats.org/markup-compatibility/2006">
              <mc:Choice xmlns:v="urn:schemas-microsoft-com:vml" Requires="v">
                <p:oleObj spid="_x0000_s3119" name="" r:id="rId1" imgW="1892300" imgH="889000" progId="Equation.3">
                  <p:embed/>
                </p:oleObj>
              </mc:Choice>
              <mc:Fallback>
                <p:oleObj name="" r:id="rId1" imgW="1892300" imgH="889000" progId="Equation.3">
                  <p:embed/>
                  <p:pic>
                    <p:nvPicPr>
                      <p:cNvPr id="0" name="图片 3118"/>
                      <p:cNvPicPr/>
                      <p:nvPr/>
                    </p:nvPicPr>
                    <p:blipFill>
                      <a:blip r:embed="rId2"/>
                      <a:stretch>
                        <a:fillRect/>
                      </a:stretch>
                    </p:blipFill>
                    <p:spPr>
                      <a:xfrm>
                        <a:off x="2819400" y="3810000"/>
                        <a:ext cx="4191000" cy="1970088"/>
                      </a:xfrm>
                      <a:prstGeom prst="rect">
                        <a:avLst/>
                      </a:prstGeom>
                      <a:noFill/>
                      <a:ln w="38100">
                        <a:noFill/>
                        <a:miter/>
                      </a:ln>
                    </p:spPr>
                  </p:pic>
                </p:oleObj>
              </mc:Fallback>
            </mc:AlternateContent>
          </a:graphicData>
        </a:graphic>
      </p:graphicFrame>
    </p:spTree>
  </p:cSld>
  <p:clrMapOvr>
    <a:masterClrMapping/>
  </p:clrMapOvr>
  <p:transition>
    <p:blinds dir="vert"/>
  </p:transition>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2948" name="文本框 82947"/>
          <p:cNvSpPr txBox="1"/>
          <p:nvPr/>
        </p:nvSpPr>
        <p:spPr>
          <a:xfrm>
            <a:off x="152400" y="533400"/>
            <a:ext cx="8991600" cy="5788025"/>
          </a:xfrm>
          <a:prstGeom prst="rect">
            <a:avLst/>
          </a:prstGeom>
          <a:noFill/>
          <a:ln w="9525">
            <a:noFill/>
          </a:ln>
        </p:spPr>
        <p:txBody>
          <a:bodyPr>
            <a:spAutoFit/>
          </a:bodyPr>
          <a:p>
            <a:pPr>
              <a:lnSpc>
                <a:spcPct val="130000"/>
              </a:lnSpc>
              <a:spcBef>
                <a:spcPct val="50000"/>
              </a:spcBef>
            </a:pPr>
            <a:r>
              <a:rPr lang="en-US" altLang="zh-CN" dirty="0">
                <a:latin typeface="Times New Roman" panose="02020603050405020304" pitchFamily="18" charset="0"/>
              </a:rPr>
              <a:t>        </a:t>
            </a:r>
            <a:r>
              <a:rPr lang="zh-CN" altLang="en-US" b="1" dirty="0">
                <a:latin typeface="Times New Roman" panose="02020603050405020304" pitchFamily="18" charset="0"/>
              </a:rPr>
              <a:t>在并行比较型</a:t>
            </a:r>
            <a:r>
              <a:rPr lang="en-US" altLang="zh-CN" b="1">
                <a:latin typeface="Times New Roman" panose="02020603050405020304" pitchFamily="18" charset="0"/>
              </a:rPr>
              <a:t>A/D</a:t>
            </a:r>
            <a:r>
              <a:rPr lang="zh-CN" altLang="en-US" b="1" dirty="0">
                <a:latin typeface="Times New Roman" panose="02020603050405020304" pitchFamily="18" charset="0"/>
              </a:rPr>
              <a:t>转换电路中，由于模拟电压</a:t>
            </a:r>
            <a:r>
              <a:rPr lang="en-US" altLang="zh-CN" b="1" err="1">
                <a:latin typeface="Times New Roman" panose="02020603050405020304" pitchFamily="18" charset="0"/>
              </a:rPr>
              <a:t>u</a:t>
            </a:r>
            <a:r>
              <a:rPr lang="en-US" altLang="zh-CN" b="1" baseline="-25000" err="1">
                <a:latin typeface="Times New Roman" panose="02020603050405020304" pitchFamily="18" charset="0"/>
              </a:rPr>
              <a:t>S</a:t>
            </a:r>
            <a:r>
              <a:rPr lang="zh-CN" altLang="en-US" b="1" dirty="0">
                <a:latin typeface="Times New Roman" panose="02020603050405020304" pitchFamily="18" charset="0"/>
              </a:rPr>
              <a:t>是同时送到各电压比较器与相应的参考电压进行比较的，所以其转换速度仅受比较器、</a:t>
            </a:r>
            <a:r>
              <a:rPr lang="en-US" altLang="zh-CN" b="1">
                <a:latin typeface="Times New Roman" panose="02020603050405020304" pitchFamily="18" charset="0"/>
              </a:rPr>
              <a:t>D</a:t>
            </a:r>
            <a:r>
              <a:rPr lang="zh-CN" altLang="en-US" b="1" dirty="0">
                <a:latin typeface="Times New Roman" panose="02020603050405020304" pitchFamily="18" charset="0"/>
              </a:rPr>
              <a:t>触发器和编码电路延迟时间的限制，转换时间一般为</a:t>
            </a:r>
            <a:r>
              <a:rPr lang="en-US" altLang="zh-CN" b="1">
                <a:latin typeface="Times New Roman" panose="02020603050405020304" pitchFamily="18" charset="0"/>
              </a:rPr>
              <a:t>ns</a:t>
            </a:r>
            <a:r>
              <a:rPr lang="zh-CN" altLang="en-US" b="1" dirty="0">
                <a:latin typeface="Times New Roman" panose="02020603050405020304" pitchFamily="18" charset="0"/>
              </a:rPr>
              <a:t>级。并行比较型</a:t>
            </a:r>
            <a:r>
              <a:rPr lang="en-US" altLang="zh-CN" b="1">
                <a:latin typeface="Times New Roman" panose="02020603050405020304" pitchFamily="18" charset="0"/>
              </a:rPr>
              <a:t>ADC</a:t>
            </a:r>
            <a:r>
              <a:rPr lang="zh-CN" altLang="en-US" b="1" dirty="0">
                <a:latin typeface="Times New Roman" panose="02020603050405020304" pitchFamily="18" charset="0"/>
              </a:rPr>
              <a:t>是目前最快的一种</a:t>
            </a:r>
            <a:r>
              <a:rPr lang="en-US" altLang="zh-CN" b="1">
                <a:latin typeface="Times New Roman" panose="02020603050405020304" pitchFamily="18" charset="0"/>
              </a:rPr>
              <a:t>A/D</a:t>
            </a:r>
            <a:r>
              <a:rPr lang="zh-CN" altLang="en-US" b="1" dirty="0">
                <a:latin typeface="Times New Roman" panose="02020603050405020304" pitchFamily="18" charset="0"/>
              </a:rPr>
              <a:t>转换电路， 为高速集成</a:t>
            </a:r>
            <a:r>
              <a:rPr lang="en-US" altLang="zh-CN" b="1">
                <a:latin typeface="Times New Roman" panose="02020603050405020304" pitchFamily="18" charset="0"/>
              </a:rPr>
              <a:t>ADC</a:t>
            </a:r>
            <a:r>
              <a:rPr lang="zh-CN" altLang="en-US" b="1" dirty="0">
                <a:latin typeface="Times New Roman" panose="02020603050405020304" pitchFamily="18" charset="0"/>
              </a:rPr>
              <a:t>所广泛采用。另外，由于比较器和</a:t>
            </a:r>
            <a:r>
              <a:rPr lang="en-US" altLang="zh-CN" b="1">
                <a:latin typeface="Times New Roman" panose="02020603050405020304" pitchFamily="18" charset="0"/>
              </a:rPr>
              <a:t>D</a:t>
            </a:r>
            <a:r>
              <a:rPr lang="zh-CN" altLang="en-US" b="1" dirty="0">
                <a:latin typeface="Times New Roman" panose="02020603050405020304" pitchFamily="18" charset="0"/>
              </a:rPr>
              <a:t>触发器同时兼有采样和保持的功能， 所以在这种</a:t>
            </a:r>
            <a:r>
              <a:rPr lang="en-US" altLang="zh-CN" b="1">
                <a:latin typeface="Times New Roman" panose="02020603050405020304" pitchFamily="18" charset="0"/>
              </a:rPr>
              <a:t>A/D</a:t>
            </a:r>
            <a:r>
              <a:rPr lang="zh-CN" altLang="en-US" b="1" dirty="0">
                <a:latin typeface="Times New Roman" panose="02020603050405020304" pitchFamily="18" charset="0"/>
              </a:rPr>
              <a:t>转换电路中不需要采样</a:t>
            </a:r>
            <a:r>
              <a:rPr lang="en-US" altLang="zh-CN" b="1">
                <a:latin typeface="Times New Roman" panose="02020603050405020304" pitchFamily="18" charset="0"/>
              </a:rPr>
              <a:t>/</a:t>
            </a:r>
            <a:r>
              <a:rPr lang="zh-CN" altLang="en-US" b="1" dirty="0">
                <a:latin typeface="Times New Roman" panose="02020603050405020304" pitchFamily="18" charset="0"/>
              </a:rPr>
              <a:t>保持电路， 这是并行比较型</a:t>
            </a:r>
            <a:r>
              <a:rPr lang="en-US" altLang="zh-CN" b="1">
                <a:latin typeface="Times New Roman" panose="02020603050405020304" pitchFamily="18" charset="0"/>
              </a:rPr>
              <a:t>A/D</a:t>
            </a:r>
            <a:r>
              <a:rPr lang="zh-CN" altLang="en-US" b="1" dirty="0">
                <a:latin typeface="Times New Roman" panose="02020603050405020304" pitchFamily="18" charset="0"/>
              </a:rPr>
              <a:t>转换电路的另一个优点。 并行比较型</a:t>
            </a:r>
            <a:r>
              <a:rPr lang="en-US" altLang="zh-CN" b="1">
                <a:latin typeface="Times New Roman" panose="02020603050405020304" pitchFamily="18" charset="0"/>
              </a:rPr>
              <a:t>ADC</a:t>
            </a:r>
            <a:r>
              <a:rPr lang="zh-CN" altLang="en-US" b="1" dirty="0">
                <a:latin typeface="Times New Roman" panose="02020603050405020304" pitchFamily="18" charset="0"/>
              </a:rPr>
              <a:t>的缺点是转换精度不易做得很高，主要因为输出编码每增加一位， 分压电阻、比较器和触发器的数量都要成倍增长，编码电路也更加复杂。例如，对于</a:t>
            </a:r>
            <a:r>
              <a:rPr lang="en-US" altLang="zh-CN" b="1">
                <a:latin typeface="Times New Roman" panose="02020603050405020304" pitchFamily="18" charset="0"/>
              </a:rPr>
              <a:t>n</a:t>
            </a:r>
            <a:r>
              <a:rPr lang="zh-CN" altLang="en-US" b="1" dirty="0">
                <a:latin typeface="Times New Roman" panose="02020603050405020304" pitchFamily="18" charset="0"/>
              </a:rPr>
              <a:t>位并行比较型</a:t>
            </a:r>
            <a:r>
              <a:rPr lang="en-US" altLang="zh-CN" b="1">
                <a:latin typeface="Times New Roman" panose="02020603050405020304" pitchFamily="18" charset="0"/>
              </a:rPr>
              <a:t>ADC</a:t>
            </a:r>
            <a:r>
              <a:rPr lang="zh-CN" altLang="en-US" b="1">
                <a:latin typeface="Times New Roman" panose="02020603050405020304" pitchFamily="18" charset="0"/>
              </a:rPr>
              <a:t>，</a:t>
            </a:r>
            <a:r>
              <a:rPr lang="zh-CN" altLang="en-US" b="1" dirty="0">
                <a:latin typeface="Times New Roman" panose="02020603050405020304" pitchFamily="18" charset="0"/>
              </a:rPr>
              <a:t>它需要</a:t>
            </a:r>
            <a:r>
              <a:rPr lang="en-US" altLang="zh-CN" b="1">
                <a:latin typeface="Times New Roman" panose="02020603050405020304" pitchFamily="18" charset="0"/>
              </a:rPr>
              <a:t>2n</a:t>
            </a:r>
            <a:r>
              <a:rPr lang="zh-CN" altLang="en-US" b="1" dirty="0">
                <a:latin typeface="Times New Roman" panose="02020603050405020304" pitchFamily="18" charset="0"/>
              </a:rPr>
              <a:t>个分压电阻、 （</a:t>
            </a:r>
            <a:r>
              <a:rPr lang="en-US" altLang="zh-CN" b="1">
                <a:latin typeface="Times New Roman" panose="02020603050405020304" pitchFamily="18" charset="0"/>
              </a:rPr>
              <a:t>2</a:t>
            </a:r>
            <a:r>
              <a:rPr lang="en-US" altLang="zh-CN" b="1" baseline="30000">
                <a:latin typeface="Times New Roman" panose="02020603050405020304" pitchFamily="18" charset="0"/>
              </a:rPr>
              <a:t>n</a:t>
            </a:r>
            <a:r>
              <a:rPr lang="zh-CN" altLang="en-US" b="1">
                <a:latin typeface="Times New Roman" panose="02020603050405020304" pitchFamily="18" charset="0"/>
              </a:rPr>
              <a:t>－</a:t>
            </a:r>
            <a:r>
              <a:rPr lang="en-US" altLang="zh-CN" b="1">
                <a:latin typeface="Times New Roman" panose="02020603050405020304" pitchFamily="18" charset="0"/>
              </a:rPr>
              <a:t>1</a:t>
            </a:r>
            <a:r>
              <a:rPr lang="zh-CN" altLang="en-US" b="1">
                <a:latin typeface="Times New Roman" panose="02020603050405020304" pitchFamily="18" charset="0"/>
              </a:rPr>
              <a:t>）</a:t>
            </a:r>
            <a:r>
              <a:rPr lang="zh-CN" altLang="en-US" b="1" dirty="0">
                <a:latin typeface="Times New Roman" panose="02020603050405020304" pitchFamily="18" charset="0"/>
              </a:rPr>
              <a:t>个比较器和（</a:t>
            </a:r>
            <a:r>
              <a:rPr lang="en-US" altLang="zh-CN" b="1">
                <a:latin typeface="Times New Roman" panose="02020603050405020304" pitchFamily="18" charset="0"/>
              </a:rPr>
              <a:t>2</a:t>
            </a:r>
            <a:r>
              <a:rPr lang="en-US" altLang="zh-CN" b="1" baseline="30000">
                <a:latin typeface="Times New Roman" panose="02020603050405020304" pitchFamily="18" charset="0"/>
              </a:rPr>
              <a:t>n</a:t>
            </a:r>
            <a:r>
              <a:rPr lang="zh-CN" altLang="en-US" b="1">
                <a:latin typeface="Times New Roman" panose="02020603050405020304" pitchFamily="18" charset="0"/>
              </a:rPr>
              <a:t>－</a:t>
            </a:r>
            <a:r>
              <a:rPr lang="en-US" altLang="zh-CN" b="1">
                <a:latin typeface="Times New Roman" panose="02020603050405020304" pitchFamily="18" charset="0"/>
              </a:rPr>
              <a:t>1</a:t>
            </a:r>
            <a:r>
              <a:rPr lang="zh-CN" altLang="en-US" b="1">
                <a:latin typeface="Times New Roman" panose="02020603050405020304" pitchFamily="18" charset="0"/>
              </a:rPr>
              <a:t>）个</a:t>
            </a:r>
            <a:r>
              <a:rPr lang="en-US" altLang="zh-CN" b="1">
                <a:latin typeface="Times New Roman" panose="02020603050405020304" pitchFamily="18" charset="0"/>
              </a:rPr>
              <a:t>D</a:t>
            </a:r>
            <a:r>
              <a:rPr lang="zh-CN" altLang="en-US" b="1" dirty="0">
                <a:latin typeface="Times New Roman" panose="02020603050405020304" pitchFamily="18" charset="0"/>
              </a:rPr>
              <a:t>触发器。而且随着电路元件的增多，元件之间的一致性也很难得到保证。</a:t>
            </a:r>
            <a:endParaRPr lang="zh-CN" altLang="en-US" b="1">
              <a:latin typeface="Times New Roman" panose="02020603050405020304" pitchFamily="18" charset="0"/>
            </a:endParaRPr>
          </a:p>
        </p:txBody>
      </p:sp>
    </p:spTree>
  </p:cSld>
  <p:clrMapOvr>
    <a:masterClrMapping/>
  </p:clrMapOvr>
  <p:transition>
    <p:blinds dir="vert"/>
  </p:transition>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6020" name="文本框 86019"/>
          <p:cNvSpPr txBox="1"/>
          <p:nvPr/>
        </p:nvSpPr>
        <p:spPr>
          <a:xfrm>
            <a:off x="533400" y="685800"/>
            <a:ext cx="3462338" cy="457200"/>
          </a:xfrm>
          <a:prstGeom prst="rect">
            <a:avLst/>
          </a:prstGeom>
          <a:noFill/>
          <a:ln w="9525">
            <a:noFill/>
          </a:ln>
        </p:spPr>
        <p:txBody>
          <a:bodyPr wrap="none" anchor="t" anchorCtr="0">
            <a:spAutoFit/>
          </a:bodyPr>
          <a:p>
            <a:r>
              <a:rPr lang="en-US" altLang="zh-CN" b="1">
                <a:latin typeface="Times New Roman" panose="02020603050405020304" pitchFamily="18" charset="0"/>
              </a:rPr>
              <a:t>2</a:t>
            </a:r>
            <a:r>
              <a:rPr lang="zh-CN" altLang="en-US" b="1" dirty="0">
                <a:latin typeface="Times New Roman" panose="02020603050405020304" pitchFamily="18" charset="0"/>
              </a:rPr>
              <a:t>．逐次逼近型</a:t>
            </a:r>
            <a:r>
              <a:rPr lang="en-US" altLang="zh-CN" b="1">
                <a:latin typeface="Times New Roman" panose="02020603050405020304" pitchFamily="18" charset="0"/>
              </a:rPr>
              <a:t>ADC</a:t>
            </a:r>
            <a:r>
              <a:rPr lang="zh-CN" altLang="en-US" b="1" dirty="0">
                <a:latin typeface="Times New Roman" panose="02020603050405020304" pitchFamily="18" charset="0"/>
              </a:rPr>
              <a:t>电路</a:t>
            </a:r>
            <a:endParaRPr lang="zh-CN" altLang="en-US" b="1">
              <a:latin typeface="Times New Roman" panose="02020603050405020304" pitchFamily="18" charset="0"/>
            </a:endParaRPr>
          </a:p>
        </p:txBody>
      </p:sp>
      <p:sp>
        <p:nvSpPr>
          <p:cNvPr id="86021" name="文本框 86020"/>
          <p:cNvSpPr txBox="1"/>
          <p:nvPr/>
        </p:nvSpPr>
        <p:spPr>
          <a:xfrm>
            <a:off x="2582863" y="5867400"/>
            <a:ext cx="4130675" cy="457200"/>
          </a:xfrm>
          <a:prstGeom prst="rect">
            <a:avLst/>
          </a:prstGeom>
          <a:noFill/>
          <a:ln w="9525">
            <a:noFill/>
          </a:ln>
        </p:spPr>
        <p:txBody>
          <a:bodyPr wrap="none" anchor="t" anchorCtr="0">
            <a:spAutoFit/>
          </a:bodyPr>
          <a:p>
            <a:r>
              <a:rPr lang="zh-CN" altLang="en-US" dirty="0">
                <a:latin typeface="Times New Roman" panose="02020603050405020304" pitchFamily="18" charset="0"/>
              </a:rPr>
              <a:t>图 </a:t>
            </a:r>
            <a:r>
              <a:rPr lang="en-US" altLang="zh-CN">
                <a:latin typeface="Times New Roman" panose="02020603050405020304" pitchFamily="18" charset="0"/>
              </a:rPr>
              <a:t>11-24 </a:t>
            </a:r>
            <a:r>
              <a:rPr lang="zh-CN" altLang="en-US" dirty="0">
                <a:latin typeface="Times New Roman" panose="02020603050405020304" pitchFamily="18" charset="0"/>
              </a:rPr>
              <a:t>逐次逼近型</a:t>
            </a:r>
            <a:r>
              <a:rPr lang="en-US" altLang="zh-CN">
                <a:latin typeface="Times New Roman" panose="02020603050405020304" pitchFamily="18" charset="0"/>
              </a:rPr>
              <a:t>ADC</a:t>
            </a:r>
            <a:r>
              <a:rPr lang="zh-CN" altLang="en-US" dirty="0">
                <a:latin typeface="Times New Roman" panose="02020603050405020304" pitchFamily="18" charset="0"/>
              </a:rPr>
              <a:t>电路</a:t>
            </a:r>
            <a:endParaRPr lang="zh-CN" altLang="en-US">
              <a:latin typeface="Times New Roman" panose="02020603050405020304" pitchFamily="18" charset="0"/>
            </a:endParaRPr>
          </a:p>
        </p:txBody>
      </p:sp>
      <p:graphicFrame>
        <p:nvGraphicFramePr>
          <p:cNvPr id="86022" name="对象 86021"/>
          <p:cNvGraphicFramePr/>
          <p:nvPr/>
        </p:nvGraphicFramePr>
        <p:xfrm>
          <a:off x="381000" y="1295400"/>
          <a:ext cx="8713788" cy="4410075"/>
        </p:xfrm>
        <a:graphic>
          <a:graphicData uri="http://schemas.openxmlformats.org/presentationml/2006/ole">
            <mc:AlternateContent xmlns:mc="http://schemas.openxmlformats.org/markup-compatibility/2006">
              <mc:Choice xmlns:v="urn:schemas-microsoft-com:vml" Requires="v">
                <p:oleObj spid="_x0000_s3120" name="" r:id="rId1" imgW="4168140" imgH="2110740" progId="Visio.Drawing.4">
                  <p:embed/>
                </p:oleObj>
              </mc:Choice>
              <mc:Fallback>
                <p:oleObj name="" r:id="rId1" imgW="4168140" imgH="2110740" progId="Visio.Drawing.4">
                  <p:embed/>
                  <p:pic>
                    <p:nvPicPr>
                      <p:cNvPr id="0" name="图片 3119"/>
                      <p:cNvPicPr/>
                      <p:nvPr/>
                    </p:nvPicPr>
                    <p:blipFill>
                      <a:blip r:embed="rId2"/>
                      <a:stretch>
                        <a:fillRect/>
                      </a:stretch>
                    </p:blipFill>
                    <p:spPr>
                      <a:xfrm>
                        <a:off x="381000" y="1295400"/>
                        <a:ext cx="8713788" cy="4410075"/>
                      </a:xfrm>
                      <a:prstGeom prst="rect">
                        <a:avLst/>
                      </a:prstGeom>
                      <a:noFill/>
                      <a:ln w="38100">
                        <a:noFill/>
                        <a:miter/>
                      </a:ln>
                    </p:spPr>
                  </p:pic>
                </p:oleObj>
              </mc:Fallback>
            </mc:AlternateContent>
          </a:graphicData>
        </a:graphic>
      </p:graphicFrame>
    </p:spTree>
  </p:cSld>
  <p:clrMapOvr>
    <a:masterClrMapping/>
  </p:clrMapOvr>
  <p:transition>
    <p:blinds dir="vert"/>
  </p:transition>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4996" name="文本框 84995"/>
          <p:cNvSpPr txBox="1"/>
          <p:nvPr/>
        </p:nvSpPr>
        <p:spPr>
          <a:xfrm>
            <a:off x="228600" y="381000"/>
            <a:ext cx="8686800" cy="6219825"/>
          </a:xfrm>
          <a:prstGeom prst="rect">
            <a:avLst/>
          </a:prstGeom>
          <a:noFill/>
          <a:ln w="9525">
            <a:noFill/>
          </a:ln>
        </p:spPr>
        <p:txBody>
          <a:bodyPr>
            <a:spAutoFit/>
          </a:bodyPr>
          <a:p>
            <a:pPr>
              <a:lnSpc>
                <a:spcPct val="158000"/>
              </a:lnSpc>
              <a:spcBef>
                <a:spcPct val="50000"/>
              </a:spcBef>
            </a:pPr>
            <a:r>
              <a:rPr lang="en-US" altLang="zh-CN" dirty="0">
                <a:latin typeface="Times New Roman" panose="02020603050405020304" pitchFamily="18" charset="0"/>
              </a:rPr>
              <a:t>       </a:t>
            </a:r>
            <a:r>
              <a:rPr lang="zh-CN" altLang="en-US" b="1" dirty="0">
                <a:latin typeface="Times New Roman" panose="02020603050405020304" pitchFamily="18" charset="0"/>
              </a:rPr>
              <a:t>在时钟脉冲</a:t>
            </a:r>
            <a:r>
              <a:rPr lang="en-US" altLang="zh-CN" b="1">
                <a:latin typeface="Times New Roman" panose="02020603050405020304" pitchFamily="18" charset="0"/>
              </a:rPr>
              <a:t>CP</a:t>
            </a:r>
            <a:r>
              <a:rPr lang="zh-CN" altLang="en-US" b="1" dirty="0">
                <a:latin typeface="Times New Roman" panose="02020603050405020304" pitchFamily="18" charset="0"/>
              </a:rPr>
              <a:t>的作用下，逻辑控制电路产生转换控制信号</a:t>
            </a:r>
            <a:r>
              <a:rPr lang="en-US" altLang="zh-CN" b="1">
                <a:latin typeface="Times New Roman" panose="02020603050405020304" pitchFamily="18" charset="0"/>
              </a:rPr>
              <a:t>C</a:t>
            </a:r>
            <a:r>
              <a:rPr lang="en-US" altLang="zh-CN" b="1" baseline="-25000">
                <a:latin typeface="Times New Roman" panose="02020603050405020304" pitchFamily="18" charset="0"/>
              </a:rPr>
              <a:t>1</a:t>
            </a:r>
            <a:r>
              <a:rPr lang="zh-CN" altLang="en-US" b="1">
                <a:latin typeface="Times New Roman" panose="02020603050405020304" pitchFamily="18" charset="0"/>
              </a:rPr>
              <a:t>，</a:t>
            </a:r>
            <a:r>
              <a:rPr lang="zh-CN" altLang="en-US" b="1" dirty="0">
                <a:latin typeface="Times New Roman" panose="02020603050405020304" pitchFamily="18" charset="0"/>
              </a:rPr>
              <a:t>其作用是：当</a:t>
            </a:r>
            <a:r>
              <a:rPr lang="en-US" altLang="zh-CN" b="1">
                <a:latin typeface="Times New Roman" panose="02020603050405020304" pitchFamily="18" charset="0"/>
              </a:rPr>
              <a:t>C</a:t>
            </a:r>
            <a:r>
              <a:rPr lang="en-US" altLang="zh-CN" b="1" baseline="-25000">
                <a:latin typeface="Times New Roman" panose="02020603050405020304" pitchFamily="18" charset="0"/>
              </a:rPr>
              <a:t>1</a:t>
            </a:r>
            <a:r>
              <a:rPr lang="en-US" altLang="zh-CN" b="1">
                <a:latin typeface="Times New Roman" panose="02020603050405020304" pitchFamily="18" charset="0"/>
              </a:rPr>
              <a:t>=1</a:t>
            </a:r>
            <a:r>
              <a:rPr lang="zh-CN" altLang="en-US" b="1" dirty="0">
                <a:latin typeface="Times New Roman" panose="02020603050405020304" pitchFamily="18" charset="0"/>
              </a:rPr>
              <a:t>时，采样</a:t>
            </a:r>
            <a:r>
              <a:rPr lang="en-US" altLang="zh-CN" b="1">
                <a:latin typeface="Times New Roman" panose="02020603050405020304" pitchFamily="18" charset="0"/>
              </a:rPr>
              <a:t>/</a:t>
            </a:r>
            <a:r>
              <a:rPr lang="zh-CN" altLang="en-US" b="1" dirty="0">
                <a:latin typeface="Times New Roman" panose="02020603050405020304" pitchFamily="18" charset="0"/>
              </a:rPr>
              <a:t>保持电路采样，采样值</a:t>
            </a:r>
            <a:r>
              <a:rPr lang="en-US" altLang="zh-CN" b="1" err="1">
                <a:latin typeface="Times New Roman" panose="02020603050405020304" pitchFamily="18" charset="0"/>
              </a:rPr>
              <a:t>u</a:t>
            </a:r>
            <a:r>
              <a:rPr lang="en-US" altLang="zh-CN" b="1" baseline="-25000" err="1">
                <a:latin typeface="Times New Roman" panose="02020603050405020304" pitchFamily="18" charset="0"/>
              </a:rPr>
              <a:t>S</a:t>
            </a:r>
            <a:r>
              <a:rPr lang="zh-CN" altLang="en-US" b="1" dirty="0">
                <a:latin typeface="Times New Roman" panose="02020603050405020304" pitchFamily="18" charset="0"/>
              </a:rPr>
              <a:t>跟随输入模拟电压</a:t>
            </a:r>
            <a:r>
              <a:rPr lang="en-US" altLang="zh-CN" b="1" err="1">
                <a:latin typeface="Times New Roman" panose="02020603050405020304" pitchFamily="18" charset="0"/>
              </a:rPr>
              <a:t>u</a:t>
            </a:r>
            <a:r>
              <a:rPr lang="en-US" altLang="zh-CN" b="1" baseline="-25000" err="1">
                <a:latin typeface="Times New Roman" panose="02020603050405020304" pitchFamily="18" charset="0"/>
              </a:rPr>
              <a:t>I</a:t>
            </a:r>
            <a:r>
              <a:rPr lang="zh-CN" altLang="en-US" b="1" dirty="0">
                <a:latin typeface="Times New Roman" panose="02020603050405020304" pitchFamily="18" charset="0"/>
              </a:rPr>
              <a:t>变化，</a:t>
            </a:r>
            <a:r>
              <a:rPr lang="en-US" altLang="zh-CN" b="1">
                <a:latin typeface="Times New Roman" panose="02020603050405020304" pitchFamily="18" charset="0"/>
              </a:rPr>
              <a:t>A/D</a:t>
            </a:r>
            <a:r>
              <a:rPr lang="zh-CN" altLang="en-US" b="1" dirty="0">
                <a:latin typeface="Times New Roman" panose="02020603050405020304" pitchFamily="18" charset="0"/>
              </a:rPr>
              <a:t>转换电路停止转换，将上一次转换的结果经输出电路输出；当</a:t>
            </a:r>
            <a:r>
              <a:rPr lang="en-US" altLang="zh-CN" b="1">
                <a:latin typeface="Times New Roman" panose="02020603050405020304" pitchFamily="18" charset="0"/>
              </a:rPr>
              <a:t>C</a:t>
            </a:r>
            <a:r>
              <a:rPr lang="en-US" altLang="zh-CN" b="1" baseline="-25000">
                <a:latin typeface="Times New Roman" panose="02020603050405020304" pitchFamily="18" charset="0"/>
              </a:rPr>
              <a:t>1</a:t>
            </a:r>
            <a:r>
              <a:rPr lang="en-US" altLang="zh-CN" b="1">
                <a:latin typeface="Times New Roman" panose="02020603050405020304" pitchFamily="18" charset="0"/>
              </a:rPr>
              <a:t>= 0</a:t>
            </a:r>
            <a:r>
              <a:rPr lang="zh-CN" altLang="en-US" b="1" dirty="0">
                <a:latin typeface="Times New Roman" panose="02020603050405020304" pitchFamily="18" charset="0"/>
              </a:rPr>
              <a:t>时，采样</a:t>
            </a:r>
            <a:r>
              <a:rPr lang="en-US" altLang="zh-CN" b="1">
                <a:latin typeface="Times New Roman" panose="02020603050405020304" pitchFamily="18" charset="0"/>
              </a:rPr>
              <a:t>/</a:t>
            </a:r>
            <a:r>
              <a:rPr lang="zh-CN" altLang="en-US" b="1" dirty="0">
                <a:latin typeface="Times New Roman" panose="02020603050405020304" pitchFamily="18" charset="0"/>
              </a:rPr>
              <a:t>保持电路停止采样，输出电路禁止输出，</a:t>
            </a:r>
            <a:r>
              <a:rPr lang="en-US" altLang="zh-CN" b="1">
                <a:latin typeface="Times New Roman" panose="02020603050405020304" pitchFamily="18" charset="0"/>
              </a:rPr>
              <a:t>A/D</a:t>
            </a:r>
            <a:r>
              <a:rPr lang="zh-CN" altLang="en-US" b="1" dirty="0">
                <a:latin typeface="Times New Roman" panose="02020603050405020304" pitchFamily="18" charset="0"/>
              </a:rPr>
              <a:t>转换电路开始工作，将由比较器</a:t>
            </a:r>
            <a:r>
              <a:rPr lang="en-US" altLang="zh-CN" b="1">
                <a:latin typeface="Times New Roman" panose="02020603050405020304" pitchFamily="18" charset="0"/>
              </a:rPr>
              <a:t>A</a:t>
            </a:r>
            <a:r>
              <a:rPr lang="zh-CN" altLang="en-US" b="1" dirty="0">
                <a:latin typeface="Times New Roman" panose="02020603050405020304" pitchFamily="18" charset="0"/>
              </a:rPr>
              <a:t>的反相端输入的模拟电压采样值转换成数字信号。</a:t>
            </a:r>
            <a:endParaRPr lang="zh-CN" altLang="en-US" b="1" dirty="0">
              <a:latin typeface="Times New Roman" panose="02020603050405020304" pitchFamily="18" charset="0"/>
            </a:endParaRPr>
          </a:p>
          <a:p>
            <a:pPr>
              <a:lnSpc>
                <a:spcPct val="158000"/>
              </a:lnSpc>
              <a:spcBef>
                <a:spcPct val="50000"/>
              </a:spcBef>
            </a:pPr>
            <a:r>
              <a:rPr lang="zh-CN" altLang="en-US" b="1" dirty="0">
                <a:latin typeface="Times New Roman" panose="02020603050405020304" pitchFamily="18" charset="0"/>
              </a:rPr>
              <a:t>         逐次逼近型</a:t>
            </a:r>
            <a:r>
              <a:rPr lang="en-US" altLang="zh-CN" b="1">
                <a:latin typeface="Times New Roman" panose="02020603050405020304" pitchFamily="18" charset="0"/>
              </a:rPr>
              <a:t>ADC</a:t>
            </a:r>
            <a:r>
              <a:rPr lang="zh-CN" altLang="en-US" b="1" dirty="0">
                <a:latin typeface="Times New Roman" panose="02020603050405020304" pitchFamily="18" charset="0"/>
              </a:rPr>
              <a:t>电路实现</a:t>
            </a:r>
            <a:r>
              <a:rPr lang="en-US" altLang="zh-CN" b="1">
                <a:latin typeface="Times New Roman" panose="02020603050405020304" pitchFamily="18" charset="0"/>
              </a:rPr>
              <a:t>A/D</a:t>
            </a:r>
            <a:r>
              <a:rPr lang="zh-CN" altLang="en-US" b="1" dirty="0">
                <a:latin typeface="Times New Roman" panose="02020603050405020304" pitchFamily="18" charset="0"/>
              </a:rPr>
              <a:t>转换的基本思想是“逐次逼近”（或称“逐位比较”），也就是由转换结果的最高位开始， 从高位到低位依次确定每一位的数码是</a:t>
            </a:r>
            <a:r>
              <a:rPr lang="en-US" altLang="zh-CN" b="1">
                <a:latin typeface="Times New Roman" panose="02020603050405020304" pitchFamily="18" charset="0"/>
              </a:rPr>
              <a:t>0</a:t>
            </a:r>
            <a:r>
              <a:rPr lang="zh-CN" altLang="en-US" b="1" dirty="0">
                <a:latin typeface="Times New Roman" panose="02020603050405020304" pitchFamily="18" charset="0"/>
              </a:rPr>
              <a:t>还是</a:t>
            </a:r>
            <a:r>
              <a:rPr lang="en-US" altLang="zh-CN" b="1">
                <a:latin typeface="Times New Roman" panose="02020603050405020304" pitchFamily="18" charset="0"/>
              </a:rPr>
              <a:t>1</a:t>
            </a:r>
            <a:r>
              <a:rPr lang="zh-CN" altLang="en-US" b="1" dirty="0">
                <a:latin typeface="Times New Roman" panose="02020603050405020304" pitchFamily="18" charset="0"/>
              </a:rPr>
              <a:t>。</a:t>
            </a:r>
            <a:endParaRPr lang="zh-CN" altLang="en-US" b="1" dirty="0">
              <a:latin typeface="Times New Roman" panose="02020603050405020304" pitchFamily="18" charset="0"/>
            </a:endParaRPr>
          </a:p>
          <a:p>
            <a:pPr>
              <a:lnSpc>
                <a:spcPct val="158000"/>
              </a:lnSpc>
              <a:spcBef>
                <a:spcPct val="50000"/>
              </a:spcBef>
            </a:pPr>
            <a:r>
              <a:rPr lang="zh-CN" altLang="en-US" b="1" dirty="0">
                <a:latin typeface="Times New Roman" panose="02020603050405020304" pitchFamily="18" charset="0"/>
              </a:rPr>
              <a:t>        在转换开始之前， 先将</a:t>
            </a:r>
            <a:r>
              <a:rPr lang="en-US" altLang="zh-CN" b="1">
                <a:latin typeface="Times New Roman" panose="02020603050405020304" pitchFamily="18" charset="0"/>
              </a:rPr>
              <a:t>n</a:t>
            </a:r>
            <a:r>
              <a:rPr lang="zh-CN" altLang="en-US" b="1" dirty="0">
                <a:latin typeface="Times New Roman" panose="02020603050405020304" pitchFamily="18" charset="0"/>
              </a:rPr>
              <a:t>位逐次逼近寄存器</a:t>
            </a:r>
            <a:r>
              <a:rPr lang="en-US" altLang="zh-CN" b="1">
                <a:latin typeface="Times New Roman" panose="02020603050405020304" pitchFamily="18" charset="0"/>
              </a:rPr>
              <a:t>SAR</a:t>
            </a:r>
            <a:r>
              <a:rPr lang="zh-CN" altLang="en-US" b="1" dirty="0">
                <a:latin typeface="Times New Roman" panose="02020603050405020304" pitchFamily="18" charset="0"/>
              </a:rPr>
              <a:t>清零。  </a:t>
            </a:r>
            <a:endParaRPr lang="zh-CN" altLang="en-US" b="1">
              <a:latin typeface="Times New Roman" panose="02020603050405020304" pitchFamily="18" charset="0"/>
            </a:endParaRPr>
          </a:p>
        </p:txBody>
      </p:sp>
    </p:spTree>
  </p:cSld>
  <p:clrMapOvr>
    <a:masterClrMapping/>
  </p:clrMapOvr>
  <p:transition>
    <p:blinds dir="vert"/>
  </p:transition>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8068" name="文本框 88067"/>
          <p:cNvSpPr txBox="1"/>
          <p:nvPr/>
        </p:nvSpPr>
        <p:spPr>
          <a:xfrm>
            <a:off x="304800" y="708025"/>
            <a:ext cx="8610600" cy="4702175"/>
          </a:xfrm>
          <a:prstGeom prst="rect">
            <a:avLst/>
          </a:prstGeom>
          <a:noFill/>
          <a:ln w="9525">
            <a:noFill/>
          </a:ln>
        </p:spPr>
        <p:txBody>
          <a:bodyPr>
            <a:spAutoFit/>
          </a:bodyPr>
          <a:p>
            <a:pPr>
              <a:lnSpc>
                <a:spcPct val="158000"/>
              </a:lnSpc>
              <a:spcBef>
                <a:spcPct val="50000"/>
              </a:spcBef>
            </a:pPr>
            <a:r>
              <a:rPr lang="en-US" altLang="zh-CN" dirty="0">
                <a:latin typeface="Times New Roman" panose="02020603050405020304" pitchFamily="18" charset="0"/>
              </a:rPr>
              <a:t>        </a:t>
            </a:r>
            <a:r>
              <a:rPr lang="zh-CN" altLang="en-US" b="1" dirty="0">
                <a:latin typeface="Times New Roman" panose="02020603050405020304" pitchFamily="18" charset="0"/>
              </a:rPr>
              <a:t>在第一个</a:t>
            </a:r>
            <a:r>
              <a:rPr lang="en-US" altLang="zh-CN" b="1">
                <a:latin typeface="Times New Roman" panose="02020603050405020304" pitchFamily="18" charset="0"/>
              </a:rPr>
              <a:t>CP</a:t>
            </a:r>
            <a:r>
              <a:rPr lang="zh-CN" altLang="en-US" b="1" dirty="0">
                <a:latin typeface="Times New Roman" panose="02020603050405020304" pitchFamily="18" charset="0"/>
              </a:rPr>
              <a:t>作用下，将</a:t>
            </a:r>
            <a:r>
              <a:rPr lang="en-US" altLang="zh-CN" b="1">
                <a:latin typeface="Times New Roman" panose="02020603050405020304" pitchFamily="18" charset="0"/>
              </a:rPr>
              <a:t>SAR</a:t>
            </a:r>
            <a:r>
              <a:rPr lang="zh-CN" altLang="en-US" b="1" dirty="0">
                <a:latin typeface="Times New Roman" panose="02020603050405020304" pitchFamily="18" charset="0"/>
              </a:rPr>
              <a:t>的最高位置</a:t>
            </a:r>
            <a:r>
              <a:rPr lang="en-US" altLang="zh-CN" b="1">
                <a:latin typeface="Times New Roman" panose="02020603050405020304" pitchFamily="18" charset="0"/>
              </a:rPr>
              <a:t>1</a:t>
            </a:r>
            <a:r>
              <a:rPr lang="zh-CN" altLang="en-US" b="1" dirty="0">
                <a:latin typeface="Times New Roman" panose="02020603050405020304" pitchFamily="18" charset="0"/>
              </a:rPr>
              <a:t>， 寄存器输出为</a:t>
            </a:r>
            <a:r>
              <a:rPr lang="en-US" altLang="zh-CN" b="1">
                <a:latin typeface="Times New Roman" panose="02020603050405020304" pitchFamily="18" charset="0"/>
              </a:rPr>
              <a:t>100…00</a:t>
            </a:r>
            <a:r>
              <a:rPr lang="zh-CN" altLang="en-US" b="1" dirty="0">
                <a:latin typeface="Times New Roman" panose="02020603050405020304" pitchFamily="18" charset="0"/>
              </a:rPr>
              <a:t>。 这个数字量被</a:t>
            </a:r>
            <a:r>
              <a:rPr lang="en-US" altLang="zh-CN" b="1">
                <a:latin typeface="Times New Roman" panose="02020603050405020304" pitchFamily="18" charset="0"/>
              </a:rPr>
              <a:t>D/A</a:t>
            </a:r>
            <a:r>
              <a:rPr lang="zh-CN" altLang="en-US" b="1" dirty="0">
                <a:latin typeface="Times New Roman" panose="02020603050405020304" pitchFamily="18" charset="0"/>
              </a:rPr>
              <a:t>转换器转换成相应的模拟电压</a:t>
            </a:r>
            <a:r>
              <a:rPr lang="en-US" altLang="zh-CN" b="1" err="1">
                <a:latin typeface="Times New Roman" panose="02020603050405020304" pitchFamily="18" charset="0"/>
              </a:rPr>
              <a:t>u</a:t>
            </a:r>
            <a:r>
              <a:rPr lang="en-US" altLang="zh-CN" b="1" baseline="-25000" err="1">
                <a:latin typeface="Times New Roman" panose="02020603050405020304" pitchFamily="18" charset="0"/>
              </a:rPr>
              <a:t>O</a:t>
            </a:r>
            <a:r>
              <a:rPr lang="zh-CN" altLang="en-US" b="1">
                <a:latin typeface="Times New Roman" panose="02020603050405020304" pitchFamily="18" charset="0"/>
              </a:rPr>
              <a:t>，</a:t>
            </a:r>
            <a:r>
              <a:rPr lang="zh-CN" altLang="en-US" b="1" dirty="0">
                <a:latin typeface="Times New Roman" panose="02020603050405020304" pitchFamily="18" charset="0"/>
              </a:rPr>
              <a:t>经偏移</a:t>
            </a:r>
            <a:r>
              <a:rPr lang="en-US" altLang="zh-CN" b="1">
                <a:latin typeface="Times New Roman" panose="02020603050405020304" pitchFamily="18" charset="0"/>
              </a:rPr>
              <a:t>Δ/2</a:t>
            </a:r>
            <a:r>
              <a:rPr lang="zh-CN" altLang="en-US" b="1" dirty="0">
                <a:latin typeface="Times New Roman" panose="02020603050405020304" pitchFamily="18" charset="0"/>
              </a:rPr>
              <a:t>后得到</a:t>
            </a:r>
            <a:r>
              <a:rPr lang="en-US" altLang="zh-CN" b="1" err="1">
                <a:latin typeface="Times New Roman" panose="02020603050405020304" pitchFamily="18" charset="0"/>
              </a:rPr>
              <a:t>u</a:t>
            </a:r>
            <a:r>
              <a:rPr lang="en-US" altLang="zh-CN" b="1" baseline="-25000" err="1">
                <a:latin typeface="Times New Roman" panose="02020603050405020304" pitchFamily="18" charset="0"/>
              </a:rPr>
              <a:t>O</a:t>
            </a:r>
            <a:r>
              <a:rPr lang="en-US" altLang="zh-CN" b="1">
                <a:latin typeface="Times New Roman" panose="02020603050405020304" pitchFamily="18" charset="0"/>
              </a:rPr>
              <a:t>′</a:t>
            </a:r>
            <a:r>
              <a:rPr lang="en-US" altLang="zh-CN" b="1" baseline="-25000">
                <a:latin typeface="Times New Roman" panose="02020603050405020304" pitchFamily="18" charset="0"/>
              </a:rPr>
              <a:t> </a:t>
            </a:r>
            <a:r>
              <a:rPr lang="en-US" altLang="zh-CN" b="1">
                <a:latin typeface="Times New Roman" panose="02020603050405020304" pitchFamily="18" charset="0"/>
              </a:rPr>
              <a:t>= u</a:t>
            </a:r>
            <a:r>
              <a:rPr lang="en-US" altLang="zh-CN" b="1" baseline="-25000">
                <a:latin typeface="Times New Roman" panose="02020603050405020304" pitchFamily="18" charset="0"/>
              </a:rPr>
              <a:t>O</a:t>
            </a:r>
            <a:r>
              <a:rPr lang="en-US" altLang="zh-CN" b="1">
                <a:latin typeface="Times New Roman" panose="02020603050405020304" pitchFamily="18" charset="0"/>
              </a:rPr>
              <a:t>-Δ/2</a:t>
            </a:r>
            <a:r>
              <a:rPr lang="zh-CN" altLang="en-US" b="1">
                <a:latin typeface="Times New Roman" panose="02020603050405020304" pitchFamily="18" charset="0"/>
              </a:rPr>
              <a:t>，</a:t>
            </a:r>
            <a:r>
              <a:rPr lang="zh-CN" altLang="en-US" b="1" dirty="0">
                <a:latin typeface="Times New Roman" panose="02020603050405020304" pitchFamily="18" charset="0"/>
              </a:rPr>
              <a:t>然后将它送至比较器的正相输入端与</a:t>
            </a:r>
            <a:r>
              <a:rPr lang="en-US" altLang="zh-CN" b="1">
                <a:latin typeface="Times New Roman" panose="02020603050405020304" pitchFamily="18" charset="0"/>
              </a:rPr>
              <a:t>ADC</a:t>
            </a:r>
            <a:r>
              <a:rPr lang="zh-CN" altLang="en-US" b="1" dirty="0">
                <a:latin typeface="Times New Roman" panose="02020603050405020304" pitchFamily="18" charset="0"/>
              </a:rPr>
              <a:t>输入模拟电压的采样值</a:t>
            </a:r>
            <a:r>
              <a:rPr lang="en-US" altLang="zh-CN" b="1" err="1">
                <a:latin typeface="Times New Roman" panose="02020603050405020304" pitchFamily="18" charset="0"/>
              </a:rPr>
              <a:t>u</a:t>
            </a:r>
            <a:r>
              <a:rPr lang="en-US" altLang="zh-CN" b="1" baseline="-25000" err="1">
                <a:latin typeface="Times New Roman" panose="02020603050405020304" pitchFamily="18" charset="0"/>
              </a:rPr>
              <a:t>S</a:t>
            </a:r>
            <a:r>
              <a:rPr lang="zh-CN" altLang="en-US" b="1" dirty="0">
                <a:latin typeface="Times New Roman" panose="02020603050405020304" pitchFamily="18" charset="0"/>
              </a:rPr>
              <a:t>相比较。如果</a:t>
            </a:r>
            <a:r>
              <a:rPr lang="en-US" altLang="zh-CN" b="1" err="1">
                <a:latin typeface="Times New Roman" panose="02020603050405020304" pitchFamily="18" charset="0"/>
              </a:rPr>
              <a:t>u</a:t>
            </a:r>
            <a:r>
              <a:rPr lang="en-US" altLang="zh-CN" b="1" baseline="-25000" err="1">
                <a:latin typeface="Times New Roman" panose="02020603050405020304" pitchFamily="18" charset="0"/>
              </a:rPr>
              <a:t>O</a:t>
            </a:r>
            <a:r>
              <a:rPr lang="en-US" altLang="zh-CN" b="1">
                <a:latin typeface="Times New Roman" panose="02020603050405020304" pitchFamily="18" charset="0"/>
              </a:rPr>
              <a:t>′</a:t>
            </a:r>
            <a:r>
              <a:rPr lang="zh-CN" altLang="en-US" b="1">
                <a:latin typeface="Times New Roman" panose="02020603050405020304" pitchFamily="18" charset="0"/>
              </a:rPr>
              <a:t>＞</a:t>
            </a:r>
            <a:r>
              <a:rPr lang="en-US" altLang="zh-CN" b="1" err="1">
                <a:latin typeface="Times New Roman" panose="02020603050405020304" pitchFamily="18" charset="0"/>
              </a:rPr>
              <a:t>u</a:t>
            </a:r>
            <a:r>
              <a:rPr lang="en-US" altLang="zh-CN" b="1" baseline="-25000" err="1">
                <a:latin typeface="Times New Roman" panose="02020603050405020304" pitchFamily="18" charset="0"/>
              </a:rPr>
              <a:t>S</a:t>
            </a:r>
            <a:r>
              <a:rPr lang="zh-CN" altLang="en-US" b="1">
                <a:latin typeface="Times New Roman" panose="02020603050405020304" pitchFamily="18" charset="0"/>
              </a:rPr>
              <a:t>， </a:t>
            </a:r>
            <a:r>
              <a:rPr lang="zh-CN" altLang="en-US" b="1" dirty="0">
                <a:latin typeface="Times New Roman" panose="02020603050405020304" pitchFamily="18" charset="0"/>
              </a:rPr>
              <a:t>则比较器的输出</a:t>
            </a:r>
            <a:r>
              <a:rPr lang="en-US" altLang="zh-CN" b="1">
                <a:latin typeface="Times New Roman" panose="02020603050405020304" pitchFamily="18" charset="0"/>
              </a:rPr>
              <a:t>C=1</a:t>
            </a:r>
            <a:r>
              <a:rPr lang="zh-CN" altLang="en-US" b="1">
                <a:latin typeface="Times New Roman" panose="02020603050405020304" pitchFamily="18" charset="0"/>
              </a:rPr>
              <a:t>，</a:t>
            </a:r>
            <a:r>
              <a:rPr lang="zh-CN" altLang="en-US" b="1" dirty="0">
                <a:latin typeface="Times New Roman" panose="02020603050405020304" pitchFamily="18" charset="0"/>
              </a:rPr>
              <a:t>说明这个数字量过大了，逻辑控制电路将</a:t>
            </a:r>
            <a:r>
              <a:rPr lang="en-US" altLang="zh-CN" b="1">
                <a:latin typeface="Times New Roman" panose="02020603050405020304" pitchFamily="18" charset="0"/>
              </a:rPr>
              <a:t>SAR</a:t>
            </a:r>
            <a:r>
              <a:rPr lang="zh-CN" altLang="en-US" b="1" dirty="0">
                <a:latin typeface="Times New Roman" panose="02020603050405020304" pitchFamily="18" charset="0"/>
              </a:rPr>
              <a:t>的最高位复</a:t>
            </a:r>
            <a:r>
              <a:rPr lang="en-US" altLang="zh-CN" b="1">
                <a:latin typeface="Times New Roman" panose="02020603050405020304" pitchFamily="18" charset="0"/>
              </a:rPr>
              <a:t>0</a:t>
            </a:r>
            <a:r>
              <a:rPr lang="zh-CN" altLang="en-US" b="1" dirty="0">
                <a:latin typeface="Times New Roman" panose="02020603050405020304" pitchFamily="18" charset="0"/>
              </a:rPr>
              <a:t>；如果</a:t>
            </a:r>
            <a:r>
              <a:rPr lang="en-US" altLang="zh-CN" b="1" err="1">
                <a:latin typeface="Times New Roman" panose="02020603050405020304" pitchFamily="18" charset="0"/>
              </a:rPr>
              <a:t>u</a:t>
            </a:r>
            <a:r>
              <a:rPr lang="en-US" altLang="zh-CN" b="1" baseline="-25000" err="1">
                <a:latin typeface="Times New Roman" panose="02020603050405020304" pitchFamily="18" charset="0"/>
              </a:rPr>
              <a:t>O</a:t>
            </a:r>
            <a:r>
              <a:rPr lang="en-US" altLang="zh-CN" b="1">
                <a:latin typeface="Times New Roman" panose="02020603050405020304" pitchFamily="18" charset="0"/>
              </a:rPr>
              <a:t> ′</a:t>
            </a:r>
            <a:r>
              <a:rPr lang="zh-CN" altLang="en-US" b="1">
                <a:latin typeface="Times New Roman" panose="02020603050405020304" pitchFamily="18" charset="0"/>
              </a:rPr>
              <a:t>＜</a:t>
            </a:r>
            <a:r>
              <a:rPr lang="en-US" altLang="zh-CN" b="1" err="1">
                <a:latin typeface="Times New Roman" panose="02020603050405020304" pitchFamily="18" charset="0"/>
              </a:rPr>
              <a:t>u</a:t>
            </a:r>
            <a:r>
              <a:rPr lang="en-US" altLang="zh-CN" b="1" baseline="-25000" err="1">
                <a:latin typeface="Times New Roman" panose="02020603050405020304" pitchFamily="18" charset="0"/>
              </a:rPr>
              <a:t>S</a:t>
            </a:r>
            <a:r>
              <a:rPr lang="zh-CN" altLang="en-US" b="1">
                <a:latin typeface="Times New Roman" panose="02020603050405020304" pitchFamily="18" charset="0"/>
              </a:rPr>
              <a:t>，</a:t>
            </a:r>
            <a:r>
              <a:rPr lang="zh-CN" altLang="en-US" b="1" dirty="0">
                <a:latin typeface="Times New Roman" panose="02020603050405020304" pitchFamily="18" charset="0"/>
              </a:rPr>
              <a:t>则比较器的输出</a:t>
            </a:r>
            <a:r>
              <a:rPr lang="en-US" altLang="zh-CN" b="1">
                <a:latin typeface="Times New Roman" panose="02020603050405020304" pitchFamily="18" charset="0"/>
              </a:rPr>
              <a:t>C= 0</a:t>
            </a:r>
            <a:r>
              <a:rPr lang="zh-CN" altLang="en-US" b="1">
                <a:latin typeface="Times New Roman" panose="02020603050405020304" pitchFamily="18" charset="0"/>
              </a:rPr>
              <a:t>，</a:t>
            </a:r>
            <a:r>
              <a:rPr lang="zh-CN" altLang="en-US" b="1" dirty="0">
                <a:latin typeface="Times New Roman" panose="02020603050405020304" pitchFamily="18" charset="0"/>
              </a:rPr>
              <a:t>说明这个数字量小了，</a:t>
            </a:r>
            <a:r>
              <a:rPr lang="en-US" altLang="zh-CN" b="1">
                <a:latin typeface="Times New Roman" panose="02020603050405020304" pitchFamily="18" charset="0"/>
              </a:rPr>
              <a:t>SAR</a:t>
            </a:r>
            <a:r>
              <a:rPr lang="zh-CN" altLang="en-US" b="1" dirty="0">
                <a:latin typeface="Times New Roman" panose="02020603050405020304" pitchFamily="18" charset="0"/>
              </a:rPr>
              <a:t>的最高位将保持</a:t>
            </a:r>
            <a:r>
              <a:rPr lang="en-US" altLang="zh-CN" b="1">
                <a:latin typeface="Times New Roman" panose="02020603050405020304" pitchFamily="18" charset="0"/>
              </a:rPr>
              <a:t>1</a:t>
            </a:r>
            <a:r>
              <a:rPr lang="zh-CN" altLang="en-US" b="1" dirty="0">
                <a:latin typeface="Times New Roman" panose="02020603050405020304" pitchFamily="18" charset="0"/>
              </a:rPr>
              <a:t>不变。 这样就确定了转换结果的最高位是</a:t>
            </a:r>
            <a:r>
              <a:rPr lang="en-US" altLang="zh-CN" b="1">
                <a:latin typeface="Times New Roman" panose="02020603050405020304" pitchFamily="18" charset="0"/>
              </a:rPr>
              <a:t>0</a:t>
            </a:r>
            <a:r>
              <a:rPr lang="zh-CN" altLang="en-US" b="1" dirty="0">
                <a:latin typeface="Times New Roman" panose="02020603050405020304" pitchFamily="18" charset="0"/>
              </a:rPr>
              <a:t>还是</a:t>
            </a:r>
            <a:r>
              <a:rPr lang="en-US" altLang="zh-CN" b="1">
                <a:latin typeface="Times New Roman" panose="02020603050405020304" pitchFamily="18" charset="0"/>
              </a:rPr>
              <a:t>1</a:t>
            </a:r>
            <a:r>
              <a:rPr lang="zh-CN" altLang="en-US" b="1" dirty="0">
                <a:latin typeface="Times New Roman" panose="02020603050405020304" pitchFamily="18" charset="0"/>
              </a:rPr>
              <a:t>。 </a:t>
            </a:r>
            <a:endParaRPr lang="zh-CN" altLang="en-US" b="1">
              <a:latin typeface="Times New Roman" panose="02020603050405020304" pitchFamily="18" charset="0"/>
            </a:endParaRPr>
          </a:p>
        </p:txBody>
      </p:sp>
    </p:spTree>
  </p:cSld>
  <p:clrMapOvr>
    <a:masterClrMapping/>
  </p:clrMapOvr>
  <p:transition>
    <p:blinds dir="vert"/>
  </p:transition>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7044" name="文本框 87043"/>
          <p:cNvSpPr txBox="1"/>
          <p:nvPr/>
        </p:nvSpPr>
        <p:spPr>
          <a:xfrm>
            <a:off x="304800" y="685800"/>
            <a:ext cx="8534400" cy="4875213"/>
          </a:xfrm>
          <a:prstGeom prst="rect">
            <a:avLst/>
          </a:prstGeom>
          <a:noFill/>
          <a:ln w="9525">
            <a:noFill/>
          </a:ln>
        </p:spPr>
        <p:txBody>
          <a:bodyPr>
            <a:spAutoFit/>
          </a:bodyPr>
          <a:p>
            <a:pPr>
              <a:lnSpc>
                <a:spcPct val="180000"/>
              </a:lnSpc>
              <a:spcBef>
                <a:spcPct val="50000"/>
              </a:spcBef>
            </a:pPr>
            <a:r>
              <a:rPr lang="en-US" altLang="zh-CN" dirty="0">
                <a:latin typeface="Times New Roman" panose="02020603050405020304" pitchFamily="18" charset="0"/>
              </a:rPr>
              <a:t>        </a:t>
            </a:r>
            <a:r>
              <a:rPr lang="zh-CN" altLang="en-US" b="1" dirty="0">
                <a:latin typeface="Times New Roman" panose="02020603050405020304" pitchFamily="18" charset="0"/>
              </a:rPr>
              <a:t>在第二个</a:t>
            </a:r>
            <a:r>
              <a:rPr lang="en-US" altLang="zh-CN" b="1">
                <a:latin typeface="Times New Roman" panose="02020603050405020304" pitchFamily="18" charset="0"/>
              </a:rPr>
              <a:t>CP</a:t>
            </a:r>
            <a:r>
              <a:rPr lang="zh-CN" altLang="en-US" b="1" dirty="0">
                <a:latin typeface="Times New Roman" panose="02020603050405020304" pitchFamily="18" charset="0"/>
              </a:rPr>
              <a:t>作用下，逻辑控制电路在前一次比较结果的基础上先将</a:t>
            </a:r>
            <a:r>
              <a:rPr lang="en-US" altLang="zh-CN" b="1">
                <a:latin typeface="Times New Roman" panose="02020603050405020304" pitchFamily="18" charset="0"/>
              </a:rPr>
              <a:t>SAR</a:t>
            </a:r>
            <a:r>
              <a:rPr lang="zh-CN" altLang="en-US" b="1" dirty="0">
                <a:latin typeface="Times New Roman" panose="02020603050405020304" pitchFamily="18" charset="0"/>
              </a:rPr>
              <a:t>的次高位置</a:t>
            </a:r>
            <a:r>
              <a:rPr lang="en-US" altLang="zh-CN" b="1">
                <a:latin typeface="Times New Roman" panose="02020603050405020304" pitchFamily="18" charset="0"/>
              </a:rPr>
              <a:t>1</a:t>
            </a:r>
            <a:r>
              <a:rPr lang="zh-CN" altLang="en-US" b="1" dirty="0">
                <a:latin typeface="Times New Roman" panose="02020603050405020304" pitchFamily="18" charset="0"/>
              </a:rPr>
              <a:t>，然后根据</a:t>
            </a:r>
            <a:r>
              <a:rPr lang="en-US" altLang="zh-CN" b="1" err="1">
                <a:latin typeface="Times New Roman" panose="02020603050405020304" pitchFamily="18" charset="0"/>
              </a:rPr>
              <a:t>u</a:t>
            </a:r>
            <a:r>
              <a:rPr lang="en-US" altLang="zh-CN" b="1" baseline="-25000" err="1">
                <a:latin typeface="Times New Roman" panose="02020603050405020304" pitchFamily="18" charset="0"/>
              </a:rPr>
              <a:t>O</a:t>
            </a:r>
            <a:r>
              <a:rPr lang="en-US" altLang="zh-CN" b="1">
                <a:latin typeface="Times New Roman" panose="02020603050405020304" pitchFamily="18" charset="0"/>
              </a:rPr>
              <a:t>′</a:t>
            </a:r>
            <a:r>
              <a:rPr lang="zh-CN" altLang="en-US" b="1">
                <a:latin typeface="Times New Roman" panose="02020603050405020304" pitchFamily="18" charset="0"/>
              </a:rPr>
              <a:t>和</a:t>
            </a:r>
            <a:r>
              <a:rPr lang="en-US" altLang="zh-CN" b="1" err="1">
                <a:latin typeface="Times New Roman" panose="02020603050405020304" pitchFamily="18" charset="0"/>
              </a:rPr>
              <a:t>u</a:t>
            </a:r>
            <a:r>
              <a:rPr lang="en-US" altLang="zh-CN" b="1" baseline="-25000" err="1">
                <a:latin typeface="Times New Roman" panose="02020603050405020304" pitchFamily="18" charset="0"/>
              </a:rPr>
              <a:t>S</a:t>
            </a:r>
            <a:r>
              <a:rPr lang="zh-CN" altLang="en-US" b="1" dirty="0">
                <a:latin typeface="Times New Roman" panose="02020603050405020304" pitchFamily="18" charset="0"/>
              </a:rPr>
              <a:t>的比较结果以确定</a:t>
            </a:r>
            <a:r>
              <a:rPr lang="en-US" altLang="zh-CN" b="1">
                <a:latin typeface="Times New Roman" panose="02020603050405020304" pitchFamily="18" charset="0"/>
              </a:rPr>
              <a:t>SAR</a:t>
            </a:r>
            <a:r>
              <a:rPr lang="zh-CN" altLang="en-US" b="1" dirty="0">
                <a:latin typeface="Times New Roman" panose="02020603050405020304" pitchFamily="18" charset="0"/>
              </a:rPr>
              <a:t>次高位的</a:t>
            </a:r>
            <a:r>
              <a:rPr lang="en-US" altLang="zh-CN" b="1">
                <a:latin typeface="Times New Roman" panose="02020603050405020304" pitchFamily="18" charset="0"/>
              </a:rPr>
              <a:t>1</a:t>
            </a:r>
            <a:r>
              <a:rPr lang="zh-CN" altLang="en-US" b="1" dirty="0">
                <a:latin typeface="Times New Roman" panose="02020603050405020304" pitchFamily="18" charset="0"/>
              </a:rPr>
              <a:t>是保留还是清除。 </a:t>
            </a:r>
            <a:endParaRPr lang="zh-CN" altLang="en-US" b="1" dirty="0">
              <a:latin typeface="Times New Roman" panose="02020603050405020304" pitchFamily="18" charset="0"/>
            </a:endParaRPr>
          </a:p>
          <a:p>
            <a:pPr>
              <a:lnSpc>
                <a:spcPct val="180000"/>
              </a:lnSpc>
              <a:spcBef>
                <a:spcPct val="50000"/>
              </a:spcBef>
            </a:pPr>
            <a:r>
              <a:rPr lang="zh-CN" altLang="en-US" b="1" dirty="0">
                <a:latin typeface="Times New Roman" panose="02020603050405020304" pitchFamily="18" charset="0"/>
              </a:rPr>
              <a:t>        在</a:t>
            </a:r>
            <a:r>
              <a:rPr lang="en-US" altLang="zh-CN" b="1">
                <a:latin typeface="Times New Roman" panose="02020603050405020304" pitchFamily="18" charset="0"/>
              </a:rPr>
              <a:t>CP</a:t>
            </a:r>
            <a:r>
              <a:rPr lang="zh-CN" altLang="en-US" b="1" dirty="0">
                <a:latin typeface="Times New Roman" panose="02020603050405020304" pitchFamily="18" charset="0"/>
              </a:rPr>
              <a:t>的作用下，按照同样的方法一直比较下去， 直到确定了最低位是</a:t>
            </a:r>
            <a:r>
              <a:rPr lang="en-US" altLang="zh-CN" b="1">
                <a:latin typeface="Times New Roman" panose="02020603050405020304" pitchFamily="18" charset="0"/>
              </a:rPr>
              <a:t>0</a:t>
            </a:r>
            <a:r>
              <a:rPr lang="zh-CN" altLang="en-US" b="1" dirty="0">
                <a:latin typeface="Times New Roman" panose="02020603050405020304" pitchFamily="18" charset="0"/>
              </a:rPr>
              <a:t>还是</a:t>
            </a:r>
            <a:r>
              <a:rPr lang="en-US" altLang="zh-CN" b="1">
                <a:latin typeface="Times New Roman" panose="02020603050405020304" pitchFamily="18" charset="0"/>
              </a:rPr>
              <a:t>1</a:t>
            </a:r>
            <a:r>
              <a:rPr lang="zh-CN" altLang="en-US" b="1" dirty="0">
                <a:latin typeface="Times New Roman" panose="02020603050405020304" pitchFamily="18" charset="0"/>
              </a:rPr>
              <a:t>为止。这时</a:t>
            </a:r>
            <a:r>
              <a:rPr lang="en-US" altLang="zh-CN" b="1">
                <a:latin typeface="Times New Roman" panose="02020603050405020304" pitchFamily="18" charset="0"/>
              </a:rPr>
              <a:t>SAR</a:t>
            </a:r>
            <a:r>
              <a:rPr lang="zh-CN" altLang="en-US" b="1" dirty="0">
                <a:latin typeface="Times New Roman" panose="02020603050405020304" pitchFamily="18" charset="0"/>
              </a:rPr>
              <a:t>中的内容就是这次</a:t>
            </a:r>
            <a:r>
              <a:rPr lang="en-US" altLang="zh-CN" b="1">
                <a:latin typeface="Times New Roman" panose="02020603050405020304" pitchFamily="18" charset="0"/>
              </a:rPr>
              <a:t>A/D</a:t>
            </a:r>
            <a:r>
              <a:rPr lang="zh-CN" altLang="en-US" b="1" dirty="0">
                <a:latin typeface="Times New Roman" panose="02020603050405020304" pitchFamily="18" charset="0"/>
              </a:rPr>
              <a:t>转换的最终结果。下面我们以一个例子具体说明</a:t>
            </a:r>
            <a:r>
              <a:rPr lang="en-US" altLang="zh-CN" b="1">
                <a:latin typeface="Times New Roman" panose="02020603050405020304" pitchFamily="18" charset="0"/>
              </a:rPr>
              <a:t>A/D</a:t>
            </a:r>
            <a:r>
              <a:rPr lang="zh-CN" altLang="en-US" b="1" dirty="0">
                <a:latin typeface="Times New Roman" panose="02020603050405020304" pitchFamily="18" charset="0"/>
              </a:rPr>
              <a:t>转换的过程。 </a:t>
            </a:r>
            <a:endParaRPr lang="zh-CN" altLang="en-US" b="1">
              <a:latin typeface="Times New Roman" panose="02020603050405020304" pitchFamily="18" charset="0"/>
            </a:endParaRPr>
          </a:p>
        </p:txBody>
      </p:sp>
    </p:spTree>
  </p:cSld>
  <p:clrMapOvr>
    <a:masterClrMapping/>
  </p:clrMapOvr>
  <p:transition>
    <p:blinds dir="vert"/>
  </p:transition>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0116" name="文本框 90115"/>
          <p:cNvSpPr txBox="1"/>
          <p:nvPr/>
        </p:nvSpPr>
        <p:spPr>
          <a:xfrm>
            <a:off x="152400" y="533400"/>
            <a:ext cx="8839200" cy="2287588"/>
          </a:xfrm>
          <a:prstGeom prst="rect">
            <a:avLst/>
          </a:prstGeom>
          <a:noFill/>
          <a:ln w="9525">
            <a:noFill/>
          </a:ln>
        </p:spPr>
        <p:txBody>
          <a:bodyPr>
            <a:spAutoFit/>
          </a:bodyPr>
          <a:p>
            <a:pPr>
              <a:lnSpc>
                <a:spcPct val="138000"/>
              </a:lnSpc>
              <a:spcBef>
                <a:spcPct val="50000"/>
              </a:spcBef>
            </a:pPr>
            <a:r>
              <a:rPr lang="en-US" altLang="zh-CN" dirty="0">
                <a:latin typeface="Times New Roman" panose="02020603050405020304" pitchFamily="18" charset="0"/>
              </a:rPr>
              <a:t>         </a:t>
            </a:r>
            <a:r>
              <a:rPr lang="zh-CN" altLang="en-US" b="1">
                <a:latin typeface="Times New Roman" panose="02020603050405020304" pitchFamily="18" charset="0"/>
              </a:rPr>
              <a:t>【</a:t>
            </a:r>
            <a:r>
              <a:rPr lang="zh-CN" altLang="en-US" b="1" dirty="0">
                <a:latin typeface="Times New Roman" panose="02020603050405020304" pitchFamily="18" charset="0"/>
              </a:rPr>
              <a:t>例</a:t>
            </a:r>
            <a:r>
              <a:rPr lang="en-US" altLang="zh-CN" b="1">
                <a:latin typeface="Times New Roman" panose="02020603050405020304" pitchFamily="18" charset="0"/>
              </a:rPr>
              <a:t>11- 1</a:t>
            </a:r>
            <a:r>
              <a:rPr lang="zh-CN" altLang="en-US" b="1">
                <a:latin typeface="Times New Roman" panose="02020603050405020304" pitchFamily="18" charset="0"/>
              </a:rPr>
              <a:t>】</a:t>
            </a:r>
            <a:r>
              <a:rPr lang="zh-CN" altLang="en-US" b="1" dirty="0">
                <a:latin typeface="Times New Roman" panose="02020603050405020304" pitchFamily="18" charset="0"/>
              </a:rPr>
              <a:t>在图</a:t>
            </a:r>
            <a:r>
              <a:rPr lang="en-US" altLang="zh-CN" b="1">
                <a:latin typeface="Times New Roman" panose="02020603050405020304" pitchFamily="18" charset="0"/>
              </a:rPr>
              <a:t>11- 22</a:t>
            </a:r>
            <a:r>
              <a:rPr lang="zh-CN" altLang="en-US" b="1" dirty="0">
                <a:latin typeface="Times New Roman" panose="02020603050405020304" pitchFamily="18" charset="0"/>
              </a:rPr>
              <a:t>电路中，若基准电压</a:t>
            </a:r>
            <a:r>
              <a:rPr lang="en-US" altLang="zh-CN" b="1">
                <a:latin typeface="Times New Roman" panose="02020603050405020304" pitchFamily="18" charset="0"/>
              </a:rPr>
              <a:t>U</a:t>
            </a:r>
            <a:r>
              <a:rPr lang="en-US" altLang="zh-CN" b="1" baseline="-25000">
                <a:latin typeface="Times New Roman" panose="02020603050405020304" pitchFamily="18" charset="0"/>
              </a:rPr>
              <a:t>REF</a:t>
            </a:r>
            <a:r>
              <a:rPr lang="en-US" altLang="zh-CN" b="1">
                <a:latin typeface="Times New Roman" panose="02020603050405020304" pitchFamily="18" charset="0"/>
              </a:rPr>
              <a:t> =-8 V</a:t>
            </a:r>
            <a:r>
              <a:rPr lang="zh-CN" altLang="en-US" b="1">
                <a:latin typeface="Times New Roman" panose="02020603050405020304" pitchFamily="18" charset="0"/>
              </a:rPr>
              <a:t>，</a:t>
            </a:r>
            <a:r>
              <a:rPr lang="en-US" altLang="zh-CN" b="1">
                <a:latin typeface="Times New Roman" panose="02020603050405020304" pitchFamily="18" charset="0"/>
              </a:rPr>
              <a:t>n=3</a:t>
            </a:r>
            <a:r>
              <a:rPr lang="zh-CN" altLang="en-US" b="1">
                <a:latin typeface="Times New Roman" panose="02020603050405020304" pitchFamily="18" charset="0"/>
              </a:rPr>
              <a:t>。 </a:t>
            </a:r>
            <a:r>
              <a:rPr lang="zh-CN" altLang="en-US" b="1" dirty="0">
                <a:latin typeface="Times New Roman" panose="02020603050405020304" pitchFamily="18" charset="0"/>
              </a:rPr>
              <a:t>当采样</a:t>
            </a:r>
            <a:r>
              <a:rPr lang="en-US" altLang="zh-CN" b="1">
                <a:latin typeface="Times New Roman" panose="02020603050405020304" pitchFamily="18" charset="0"/>
              </a:rPr>
              <a:t>- </a:t>
            </a:r>
            <a:r>
              <a:rPr lang="zh-CN" altLang="en-US" b="1" dirty="0">
                <a:latin typeface="Times New Roman" panose="02020603050405020304" pitchFamily="18" charset="0"/>
              </a:rPr>
              <a:t>保持电路输出电压</a:t>
            </a:r>
            <a:r>
              <a:rPr lang="en-US" altLang="zh-CN" b="1" err="1">
                <a:latin typeface="Times New Roman" panose="02020603050405020304" pitchFamily="18" charset="0"/>
              </a:rPr>
              <a:t>u</a:t>
            </a:r>
            <a:r>
              <a:rPr lang="en-US" altLang="zh-CN" b="1" baseline="-25000" err="1">
                <a:latin typeface="Times New Roman" panose="02020603050405020304" pitchFamily="18" charset="0"/>
              </a:rPr>
              <a:t>S</a:t>
            </a:r>
            <a:r>
              <a:rPr lang="en-US" altLang="zh-CN" b="1">
                <a:latin typeface="Times New Roman" panose="02020603050405020304" pitchFamily="18" charset="0"/>
              </a:rPr>
              <a:t>=4.9 V</a:t>
            </a:r>
            <a:r>
              <a:rPr lang="zh-CN" altLang="en-US" b="1" dirty="0">
                <a:latin typeface="Times New Roman" panose="02020603050405020304" pitchFamily="18" charset="0"/>
              </a:rPr>
              <a:t>时，试列表说明逐次逼近型</a:t>
            </a:r>
            <a:r>
              <a:rPr lang="en-US" altLang="zh-CN" b="1">
                <a:latin typeface="Times New Roman" panose="02020603050405020304" pitchFamily="18" charset="0"/>
              </a:rPr>
              <a:t>ADC</a:t>
            </a:r>
            <a:r>
              <a:rPr lang="zh-CN" altLang="en-US" b="1" dirty="0">
                <a:latin typeface="Times New Roman" panose="02020603050405020304" pitchFamily="18" charset="0"/>
              </a:rPr>
              <a:t>电路的</a:t>
            </a:r>
            <a:r>
              <a:rPr lang="en-US" altLang="zh-CN" b="1">
                <a:latin typeface="Times New Roman" panose="02020603050405020304" pitchFamily="18" charset="0"/>
              </a:rPr>
              <a:t>A/D</a:t>
            </a:r>
            <a:r>
              <a:rPr lang="zh-CN" altLang="en-US" b="1" dirty="0">
                <a:latin typeface="Times New Roman" panose="02020603050405020304" pitchFamily="18" charset="0"/>
              </a:rPr>
              <a:t>转换过程。 </a:t>
            </a:r>
            <a:endParaRPr lang="zh-CN" altLang="en-US" b="1" dirty="0">
              <a:latin typeface="Times New Roman" panose="02020603050405020304" pitchFamily="18" charset="0"/>
            </a:endParaRPr>
          </a:p>
          <a:p>
            <a:pPr>
              <a:lnSpc>
                <a:spcPct val="138000"/>
              </a:lnSpc>
              <a:spcBef>
                <a:spcPct val="50000"/>
              </a:spcBef>
            </a:pPr>
            <a:r>
              <a:rPr lang="zh-CN" altLang="en-US" b="1" dirty="0">
                <a:latin typeface="Times New Roman" panose="02020603050405020304" pitchFamily="18" charset="0"/>
              </a:rPr>
              <a:t>          解 由</a:t>
            </a:r>
            <a:r>
              <a:rPr lang="en-US" altLang="zh-CN" b="1">
                <a:latin typeface="Times New Roman" panose="02020603050405020304" pitchFamily="18" charset="0"/>
              </a:rPr>
              <a:t>U</a:t>
            </a:r>
            <a:r>
              <a:rPr lang="en-US" altLang="zh-CN" b="1" baseline="-25000">
                <a:latin typeface="Times New Roman" panose="02020603050405020304" pitchFamily="18" charset="0"/>
              </a:rPr>
              <a:t>REF</a:t>
            </a:r>
            <a:r>
              <a:rPr lang="en-US" altLang="zh-CN" b="1">
                <a:latin typeface="Times New Roman" panose="02020603050405020304" pitchFamily="18" charset="0"/>
              </a:rPr>
              <a:t>=-8 V</a:t>
            </a:r>
            <a:r>
              <a:rPr lang="zh-CN" altLang="en-US" b="1">
                <a:latin typeface="Times New Roman" panose="02020603050405020304" pitchFamily="18" charset="0"/>
              </a:rPr>
              <a:t>、</a:t>
            </a:r>
            <a:r>
              <a:rPr lang="en-US" altLang="zh-CN" b="1">
                <a:latin typeface="Times New Roman" panose="02020603050405020304" pitchFamily="18" charset="0"/>
              </a:rPr>
              <a:t>n=3</a:t>
            </a:r>
            <a:r>
              <a:rPr lang="zh-CN" altLang="en-US" b="1" dirty="0">
                <a:latin typeface="Times New Roman" panose="02020603050405020304" pitchFamily="18" charset="0"/>
              </a:rPr>
              <a:t>可求得量化单位：</a:t>
            </a:r>
            <a:endParaRPr lang="zh-CN" altLang="en-US" b="1">
              <a:latin typeface="Times New Roman" panose="02020603050405020304" pitchFamily="18" charset="0"/>
            </a:endParaRPr>
          </a:p>
        </p:txBody>
      </p:sp>
      <p:graphicFrame>
        <p:nvGraphicFramePr>
          <p:cNvPr id="90117" name="对象 90116"/>
          <p:cNvGraphicFramePr/>
          <p:nvPr/>
        </p:nvGraphicFramePr>
        <p:xfrm>
          <a:off x="3248025" y="3200400"/>
          <a:ext cx="2647950" cy="1012825"/>
        </p:xfrm>
        <a:graphic>
          <a:graphicData uri="http://schemas.openxmlformats.org/presentationml/2006/ole">
            <mc:AlternateContent xmlns:mc="http://schemas.openxmlformats.org/markup-compatibility/2006">
              <mc:Choice xmlns:v="urn:schemas-microsoft-com:vml" Requires="v">
                <p:oleObj spid="_x0000_s3121" name="" r:id="rId1" imgW="1028065" imgH="393700" progId="Equation.3">
                  <p:embed/>
                </p:oleObj>
              </mc:Choice>
              <mc:Fallback>
                <p:oleObj name="" r:id="rId1" imgW="1028065" imgH="393700" progId="Equation.3">
                  <p:embed/>
                  <p:pic>
                    <p:nvPicPr>
                      <p:cNvPr id="0" name="图片 3120"/>
                      <p:cNvPicPr/>
                      <p:nvPr/>
                    </p:nvPicPr>
                    <p:blipFill>
                      <a:blip r:embed="rId2"/>
                      <a:stretch>
                        <a:fillRect/>
                      </a:stretch>
                    </p:blipFill>
                    <p:spPr>
                      <a:xfrm>
                        <a:off x="3248025" y="3200400"/>
                        <a:ext cx="2647950" cy="1012825"/>
                      </a:xfrm>
                      <a:prstGeom prst="rect">
                        <a:avLst/>
                      </a:prstGeom>
                      <a:noFill/>
                      <a:ln w="38100">
                        <a:noFill/>
                        <a:miter/>
                      </a:ln>
                    </p:spPr>
                  </p:pic>
                </p:oleObj>
              </mc:Fallback>
            </mc:AlternateContent>
          </a:graphicData>
        </a:graphic>
      </p:graphicFrame>
      <p:sp>
        <p:nvSpPr>
          <p:cNvPr id="90118" name="文本框 90117"/>
          <p:cNvSpPr txBox="1"/>
          <p:nvPr/>
        </p:nvSpPr>
        <p:spPr>
          <a:xfrm>
            <a:off x="304800" y="4343400"/>
            <a:ext cx="3568700" cy="457200"/>
          </a:xfrm>
          <a:prstGeom prst="rect">
            <a:avLst/>
          </a:prstGeom>
          <a:noFill/>
          <a:ln w="9525">
            <a:noFill/>
          </a:ln>
        </p:spPr>
        <p:txBody>
          <a:bodyPr wrap="none" anchor="t" anchorCtr="0">
            <a:spAutoFit/>
          </a:bodyPr>
          <a:p>
            <a:r>
              <a:rPr lang="zh-CN" altLang="en-US" b="1" dirty="0">
                <a:latin typeface="Times New Roman" panose="02020603050405020304" pitchFamily="18" charset="0"/>
              </a:rPr>
              <a:t>偏移电压为</a:t>
            </a:r>
            <a:r>
              <a:rPr lang="en-US" altLang="zh-CN" b="1">
                <a:latin typeface="Times New Roman" panose="02020603050405020304" pitchFamily="18" charset="0"/>
              </a:rPr>
              <a:t>Δ/2 = 0.5 V</a:t>
            </a:r>
            <a:r>
              <a:rPr lang="zh-CN" altLang="en-US" b="1">
                <a:latin typeface="Times New Roman" panose="02020603050405020304" pitchFamily="18" charset="0"/>
              </a:rPr>
              <a:t>。</a:t>
            </a:r>
            <a:endParaRPr lang="zh-CN" altLang="en-US" b="1">
              <a:latin typeface="Times New Roman" panose="02020603050405020304" pitchFamily="18" charset="0"/>
            </a:endParaRPr>
          </a:p>
        </p:txBody>
      </p:sp>
      <p:sp>
        <p:nvSpPr>
          <p:cNvPr id="90119" name="文本框 90118"/>
          <p:cNvSpPr txBox="1"/>
          <p:nvPr/>
        </p:nvSpPr>
        <p:spPr>
          <a:xfrm>
            <a:off x="228600" y="5060950"/>
            <a:ext cx="8915400" cy="1187450"/>
          </a:xfrm>
          <a:prstGeom prst="rect">
            <a:avLst/>
          </a:prstGeom>
          <a:noFill/>
          <a:ln w="9525">
            <a:noFill/>
          </a:ln>
        </p:spPr>
        <p:txBody>
          <a:bodyPr>
            <a:spAutoFit/>
          </a:bodyPr>
          <a:p>
            <a:pPr>
              <a:lnSpc>
                <a:spcPct val="150000"/>
              </a:lnSpc>
              <a:spcBef>
                <a:spcPct val="50000"/>
              </a:spcBef>
            </a:pPr>
            <a:r>
              <a:rPr lang="en-US" altLang="zh-CN" dirty="0">
                <a:latin typeface="Times New Roman" panose="02020603050405020304" pitchFamily="18" charset="0"/>
              </a:rPr>
              <a:t>        </a:t>
            </a:r>
            <a:r>
              <a:rPr lang="zh-CN" altLang="en-US" b="1" dirty="0">
                <a:latin typeface="Times New Roman" panose="02020603050405020304" pitchFamily="18" charset="0"/>
              </a:rPr>
              <a:t>当</a:t>
            </a:r>
            <a:r>
              <a:rPr lang="en-US" altLang="zh-CN" b="1" err="1">
                <a:latin typeface="Times New Roman" panose="02020603050405020304" pitchFamily="18" charset="0"/>
              </a:rPr>
              <a:t>u</a:t>
            </a:r>
            <a:r>
              <a:rPr lang="en-US" altLang="zh-CN" b="1" baseline="-25000" err="1">
                <a:latin typeface="Times New Roman" panose="02020603050405020304" pitchFamily="18" charset="0"/>
              </a:rPr>
              <a:t>S</a:t>
            </a:r>
            <a:r>
              <a:rPr lang="en-US" altLang="zh-CN" b="1">
                <a:latin typeface="Times New Roman" panose="02020603050405020304" pitchFamily="18" charset="0"/>
              </a:rPr>
              <a:t>=4.9 V</a:t>
            </a:r>
            <a:r>
              <a:rPr lang="zh-CN" altLang="en-US" b="1" dirty="0">
                <a:latin typeface="Times New Roman" panose="02020603050405020304" pitchFamily="18" charset="0"/>
              </a:rPr>
              <a:t>时，逐次逼近型</a:t>
            </a:r>
            <a:r>
              <a:rPr lang="en-US" altLang="zh-CN" b="1">
                <a:latin typeface="Times New Roman" panose="02020603050405020304" pitchFamily="18" charset="0"/>
              </a:rPr>
              <a:t>ADC</a:t>
            </a:r>
            <a:r>
              <a:rPr lang="zh-CN" altLang="en-US" b="1" dirty="0">
                <a:latin typeface="Times New Roman" panose="02020603050405020304" pitchFamily="18" charset="0"/>
              </a:rPr>
              <a:t>电路的</a:t>
            </a:r>
            <a:r>
              <a:rPr lang="en-US" altLang="zh-CN" b="1">
                <a:latin typeface="Times New Roman" panose="02020603050405020304" pitchFamily="18" charset="0"/>
              </a:rPr>
              <a:t>A/D</a:t>
            </a:r>
            <a:r>
              <a:rPr lang="zh-CN" altLang="en-US" b="1" dirty="0">
                <a:latin typeface="Times New Roman" panose="02020603050405020304" pitchFamily="18" charset="0"/>
              </a:rPr>
              <a:t>转换过程如表</a:t>
            </a:r>
            <a:r>
              <a:rPr lang="en-US" altLang="zh-CN" b="1">
                <a:latin typeface="Times New Roman" panose="02020603050405020304" pitchFamily="18" charset="0"/>
              </a:rPr>
              <a:t>11- 3</a:t>
            </a:r>
            <a:r>
              <a:rPr lang="zh-CN" altLang="en-US" b="1" dirty="0">
                <a:latin typeface="Times New Roman" panose="02020603050405020304" pitchFamily="18" charset="0"/>
              </a:rPr>
              <a:t>所示。 </a:t>
            </a:r>
            <a:endParaRPr lang="zh-CN" altLang="en-US" b="1">
              <a:latin typeface="Times New Roman" panose="02020603050405020304" pitchFamily="18" charset="0"/>
            </a:endParaRPr>
          </a:p>
        </p:txBody>
      </p:sp>
    </p:spTree>
  </p:cSld>
  <p:clrMapOvr>
    <a:masterClrMapping/>
  </p:clrMapOvr>
  <p:transition>
    <p:blinds dir="vert"/>
  </p:transition>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9092" name="文本框 89091"/>
          <p:cNvSpPr txBox="1"/>
          <p:nvPr/>
        </p:nvSpPr>
        <p:spPr>
          <a:xfrm>
            <a:off x="1066800" y="914400"/>
            <a:ext cx="7313613" cy="457200"/>
          </a:xfrm>
          <a:prstGeom prst="rect">
            <a:avLst/>
          </a:prstGeom>
          <a:noFill/>
          <a:ln w="9525">
            <a:noFill/>
          </a:ln>
        </p:spPr>
        <p:txBody>
          <a:bodyPr wrap="none" anchor="t" anchorCtr="0">
            <a:spAutoFit/>
          </a:bodyPr>
          <a:p>
            <a:r>
              <a:rPr lang="zh-CN" altLang="en-US" b="1" dirty="0">
                <a:latin typeface="Times New Roman" panose="02020603050405020304" pitchFamily="18" charset="0"/>
              </a:rPr>
              <a:t>表</a:t>
            </a:r>
            <a:r>
              <a:rPr lang="en-US" altLang="zh-CN" b="1">
                <a:latin typeface="Times New Roman" panose="02020603050405020304" pitchFamily="18" charset="0"/>
              </a:rPr>
              <a:t>11- 3 </a:t>
            </a:r>
            <a:r>
              <a:rPr lang="zh-CN" altLang="en-US" b="1" dirty="0">
                <a:latin typeface="Times New Roman" panose="02020603050405020304" pitchFamily="18" charset="0"/>
              </a:rPr>
              <a:t>例</a:t>
            </a:r>
            <a:r>
              <a:rPr lang="en-US" altLang="zh-CN" b="1">
                <a:latin typeface="Times New Roman" panose="02020603050405020304" pitchFamily="18" charset="0"/>
              </a:rPr>
              <a:t>11- 1</a:t>
            </a:r>
            <a:r>
              <a:rPr lang="zh-CN" altLang="en-US" b="1" dirty="0">
                <a:latin typeface="Times New Roman" panose="02020603050405020304" pitchFamily="18" charset="0"/>
              </a:rPr>
              <a:t>逐次逼近型</a:t>
            </a:r>
            <a:r>
              <a:rPr lang="en-US" altLang="zh-CN" b="1">
                <a:latin typeface="Times New Roman" panose="02020603050405020304" pitchFamily="18" charset="0"/>
              </a:rPr>
              <a:t>ADC</a:t>
            </a:r>
            <a:r>
              <a:rPr lang="zh-CN" altLang="en-US" b="1" dirty="0">
                <a:latin typeface="Times New Roman" panose="02020603050405020304" pitchFamily="18" charset="0"/>
              </a:rPr>
              <a:t>电路的</a:t>
            </a:r>
            <a:r>
              <a:rPr lang="en-US" altLang="zh-CN" b="1">
                <a:latin typeface="Times New Roman" panose="02020603050405020304" pitchFamily="18" charset="0"/>
              </a:rPr>
              <a:t>A/D</a:t>
            </a:r>
            <a:r>
              <a:rPr lang="zh-CN" altLang="en-US" b="1" dirty="0">
                <a:latin typeface="Times New Roman" panose="02020603050405020304" pitchFamily="18" charset="0"/>
              </a:rPr>
              <a:t>转换过程表</a:t>
            </a:r>
            <a:endParaRPr lang="zh-CN" altLang="en-US" b="1">
              <a:latin typeface="Times New Roman" panose="02020603050405020304" pitchFamily="18" charset="0"/>
            </a:endParaRPr>
          </a:p>
        </p:txBody>
      </p:sp>
      <p:pic>
        <p:nvPicPr>
          <p:cNvPr id="89093" name="图片 89092" descr="Img00000"/>
          <p:cNvPicPr>
            <a:picLocks noChangeAspect="1"/>
          </p:cNvPicPr>
          <p:nvPr/>
        </p:nvPicPr>
        <p:blipFill>
          <a:blip r:embed="rId1"/>
          <a:stretch>
            <a:fillRect/>
          </a:stretch>
        </p:blipFill>
        <p:spPr>
          <a:xfrm>
            <a:off x="228600" y="1981200"/>
            <a:ext cx="8686800" cy="3960813"/>
          </a:xfrm>
          <a:prstGeom prst="rect">
            <a:avLst/>
          </a:prstGeom>
          <a:noFill/>
          <a:ln w="9525">
            <a:noFill/>
          </a:ln>
        </p:spPr>
      </p:pic>
    </p:spTree>
  </p:cSld>
  <p:clrMapOvr>
    <a:masterClrMapping/>
  </p:clrMapOvr>
  <p:transition>
    <p:blinds dir="vert"/>
  </p:transition>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64" name="文本框 92163"/>
          <p:cNvSpPr txBox="1"/>
          <p:nvPr/>
        </p:nvSpPr>
        <p:spPr>
          <a:xfrm>
            <a:off x="304800" y="762000"/>
            <a:ext cx="8686800" cy="3378200"/>
          </a:xfrm>
          <a:prstGeom prst="rect">
            <a:avLst/>
          </a:prstGeom>
          <a:noFill/>
          <a:ln w="9525">
            <a:noFill/>
          </a:ln>
        </p:spPr>
        <p:txBody>
          <a:bodyPr>
            <a:spAutoFit/>
          </a:bodyPr>
          <a:p>
            <a:pPr>
              <a:lnSpc>
                <a:spcPct val="180000"/>
              </a:lnSpc>
              <a:spcBef>
                <a:spcPct val="50000"/>
              </a:spcBef>
            </a:pPr>
            <a:r>
              <a:rPr lang="en-US" altLang="zh-CN" dirty="0">
                <a:latin typeface="Times New Roman" panose="02020603050405020304" pitchFamily="18" charset="0"/>
              </a:rPr>
              <a:t>        </a:t>
            </a:r>
            <a:r>
              <a:rPr lang="zh-CN" altLang="en-US" b="1" dirty="0">
                <a:latin typeface="Times New Roman" panose="02020603050405020304" pitchFamily="18" charset="0"/>
              </a:rPr>
              <a:t>转化的结果</a:t>
            </a:r>
            <a:r>
              <a:rPr lang="en-US" altLang="zh-CN" b="1">
                <a:latin typeface="Times New Roman" panose="02020603050405020304" pitchFamily="18" charset="0"/>
              </a:rPr>
              <a:t>D</a:t>
            </a:r>
            <a:r>
              <a:rPr lang="en-US" altLang="zh-CN" b="1" baseline="-25000">
                <a:latin typeface="Times New Roman" panose="02020603050405020304" pitchFamily="18" charset="0"/>
              </a:rPr>
              <a:t>2</a:t>
            </a:r>
            <a:r>
              <a:rPr lang="en-US" altLang="zh-CN" b="1">
                <a:latin typeface="Times New Roman" panose="02020603050405020304" pitchFamily="18" charset="0"/>
              </a:rPr>
              <a:t>D</a:t>
            </a:r>
            <a:r>
              <a:rPr lang="en-US" altLang="zh-CN" b="1" baseline="-25000">
                <a:latin typeface="Times New Roman" panose="02020603050405020304" pitchFamily="18" charset="0"/>
              </a:rPr>
              <a:t>1</a:t>
            </a:r>
            <a:r>
              <a:rPr lang="en-US" altLang="zh-CN" b="1">
                <a:latin typeface="Times New Roman" panose="02020603050405020304" pitchFamily="18" charset="0"/>
              </a:rPr>
              <a:t>D</a:t>
            </a:r>
            <a:r>
              <a:rPr lang="en-US" altLang="zh-CN" b="1" baseline="-25000">
                <a:latin typeface="Times New Roman" panose="02020603050405020304" pitchFamily="18" charset="0"/>
              </a:rPr>
              <a:t>0</a:t>
            </a:r>
            <a:r>
              <a:rPr lang="en-US" altLang="zh-CN" b="1">
                <a:latin typeface="Times New Roman" panose="02020603050405020304" pitchFamily="18" charset="0"/>
              </a:rPr>
              <a:t> = 101</a:t>
            </a:r>
            <a:r>
              <a:rPr lang="zh-CN" altLang="en-US" b="1">
                <a:latin typeface="Times New Roman" panose="02020603050405020304" pitchFamily="18" charset="0"/>
              </a:rPr>
              <a:t>，</a:t>
            </a:r>
            <a:r>
              <a:rPr lang="zh-CN" altLang="en-US" b="1" dirty="0">
                <a:latin typeface="Times New Roman" panose="02020603050405020304" pitchFamily="18" charset="0"/>
              </a:rPr>
              <a:t>其对应的量化电平为</a:t>
            </a:r>
            <a:r>
              <a:rPr lang="en-US" altLang="zh-CN" b="1">
                <a:latin typeface="Times New Roman" panose="02020603050405020304" pitchFamily="18" charset="0"/>
              </a:rPr>
              <a:t>5 V</a:t>
            </a:r>
            <a:r>
              <a:rPr lang="zh-CN" altLang="en-US" b="1">
                <a:latin typeface="Times New Roman" panose="02020603050405020304" pitchFamily="18" charset="0"/>
              </a:rPr>
              <a:t>， </a:t>
            </a:r>
            <a:r>
              <a:rPr lang="zh-CN" altLang="en-US" b="1" dirty="0">
                <a:latin typeface="Times New Roman" panose="02020603050405020304" pitchFamily="18" charset="0"/>
              </a:rPr>
              <a:t>量化误差</a:t>
            </a:r>
            <a:r>
              <a:rPr lang="en-US" altLang="zh-CN" b="1">
                <a:latin typeface="Times New Roman" panose="02020603050405020304" pitchFamily="18" charset="0"/>
              </a:rPr>
              <a:t>ε = 0.1 V</a:t>
            </a:r>
            <a:r>
              <a:rPr lang="zh-CN" altLang="en-US" b="1">
                <a:latin typeface="Times New Roman" panose="02020603050405020304" pitchFamily="18" charset="0"/>
              </a:rPr>
              <a:t>。</a:t>
            </a:r>
            <a:r>
              <a:rPr lang="zh-CN" altLang="en-US" b="1" dirty="0">
                <a:latin typeface="Times New Roman" panose="02020603050405020304" pitchFamily="18" charset="0"/>
              </a:rPr>
              <a:t>如果不引入偏移电压，按照上述过程得到的</a:t>
            </a:r>
            <a:r>
              <a:rPr lang="en-US" altLang="zh-CN" b="1">
                <a:latin typeface="Times New Roman" panose="02020603050405020304" pitchFamily="18" charset="0"/>
              </a:rPr>
              <a:t>A/D</a:t>
            </a:r>
            <a:r>
              <a:rPr lang="zh-CN" altLang="en-US" b="1" dirty="0">
                <a:latin typeface="Times New Roman" panose="02020603050405020304" pitchFamily="18" charset="0"/>
              </a:rPr>
              <a:t>转换结果</a:t>
            </a:r>
            <a:r>
              <a:rPr lang="en-US" altLang="zh-CN" b="1">
                <a:latin typeface="Times New Roman" panose="02020603050405020304" pitchFamily="18" charset="0"/>
              </a:rPr>
              <a:t>D</a:t>
            </a:r>
            <a:r>
              <a:rPr lang="en-US" altLang="zh-CN" b="1" baseline="-25000">
                <a:latin typeface="Times New Roman" panose="02020603050405020304" pitchFamily="18" charset="0"/>
              </a:rPr>
              <a:t>2</a:t>
            </a:r>
            <a:r>
              <a:rPr lang="en-US" altLang="zh-CN" b="1">
                <a:latin typeface="Times New Roman" panose="02020603050405020304" pitchFamily="18" charset="0"/>
              </a:rPr>
              <a:t>D</a:t>
            </a:r>
            <a:r>
              <a:rPr lang="en-US" altLang="zh-CN" b="1" baseline="-25000">
                <a:latin typeface="Times New Roman" panose="02020603050405020304" pitchFamily="18" charset="0"/>
              </a:rPr>
              <a:t>1</a:t>
            </a:r>
            <a:r>
              <a:rPr lang="en-US" altLang="zh-CN" b="1">
                <a:latin typeface="Times New Roman" panose="02020603050405020304" pitchFamily="18" charset="0"/>
              </a:rPr>
              <a:t>D</a:t>
            </a:r>
            <a:r>
              <a:rPr lang="en-US" altLang="zh-CN" b="1" baseline="-25000">
                <a:latin typeface="Times New Roman" panose="02020603050405020304" pitchFamily="18" charset="0"/>
              </a:rPr>
              <a:t>0 </a:t>
            </a:r>
            <a:r>
              <a:rPr lang="en-US" altLang="zh-CN" b="1">
                <a:latin typeface="Times New Roman" panose="02020603050405020304" pitchFamily="18" charset="0"/>
              </a:rPr>
              <a:t>= 100</a:t>
            </a:r>
            <a:r>
              <a:rPr lang="zh-CN" altLang="en-US" b="1">
                <a:latin typeface="Times New Roman" panose="02020603050405020304" pitchFamily="18" charset="0"/>
              </a:rPr>
              <a:t>，</a:t>
            </a:r>
            <a:r>
              <a:rPr lang="zh-CN" altLang="en-US" b="1" dirty="0">
                <a:latin typeface="Times New Roman" panose="02020603050405020304" pitchFamily="18" charset="0"/>
              </a:rPr>
              <a:t>对应的量化电平为</a:t>
            </a:r>
            <a:r>
              <a:rPr lang="en-US" altLang="zh-CN" b="1">
                <a:latin typeface="Times New Roman" panose="02020603050405020304" pitchFamily="18" charset="0"/>
              </a:rPr>
              <a:t>4 V</a:t>
            </a:r>
            <a:r>
              <a:rPr lang="zh-CN" altLang="en-US" b="1">
                <a:latin typeface="Times New Roman" panose="02020603050405020304" pitchFamily="18" charset="0"/>
              </a:rPr>
              <a:t>， </a:t>
            </a:r>
            <a:r>
              <a:rPr lang="zh-CN" altLang="en-US" b="1" dirty="0">
                <a:latin typeface="Times New Roman" panose="02020603050405020304" pitchFamily="18" charset="0"/>
              </a:rPr>
              <a:t>量化误差</a:t>
            </a:r>
            <a:r>
              <a:rPr lang="en-US" altLang="zh-CN" b="1" i="1">
                <a:latin typeface="Times New Roman" panose="02020603050405020304" pitchFamily="18" charset="0"/>
              </a:rPr>
              <a:t>ε</a:t>
            </a:r>
            <a:r>
              <a:rPr lang="en-US" altLang="zh-CN" b="1">
                <a:latin typeface="Times New Roman" panose="02020603050405020304" pitchFamily="18" charset="0"/>
              </a:rPr>
              <a:t> = 0.9 V</a:t>
            </a:r>
            <a:r>
              <a:rPr lang="zh-CN" altLang="en-US" b="1">
                <a:latin typeface="Times New Roman" panose="02020603050405020304" pitchFamily="18" charset="0"/>
              </a:rPr>
              <a:t>。 </a:t>
            </a:r>
            <a:r>
              <a:rPr lang="zh-CN" altLang="en-US" b="1" dirty="0">
                <a:latin typeface="Times New Roman" panose="02020603050405020304" pitchFamily="18" charset="0"/>
              </a:rPr>
              <a:t>可见， 偏移电压的引入是将只舍不入的量化方式变成了有舍有入的量化方式。</a:t>
            </a:r>
            <a:endParaRPr lang="zh-CN" altLang="en-US" b="1">
              <a:latin typeface="Times New Roman" panose="02020603050405020304" pitchFamily="18" charset="0"/>
            </a:endParaRPr>
          </a:p>
        </p:txBody>
      </p:sp>
    </p:spTree>
  </p:cSld>
  <p:clrMapOvr>
    <a:masterClrMapping/>
  </p:clrMapOvr>
  <p:transition>
    <p:blinds dir="vert"/>
  </p:transition>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1140" name="文本框 91139"/>
          <p:cNvSpPr txBox="1"/>
          <p:nvPr/>
        </p:nvSpPr>
        <p:spPr>
          <a:xfrm>
            <a:off x="152400" y="609600"/>
            <a:ext cx="8763000" cy="5278438"/>
          </a:xfrm>
          <a:prstGeom prst="rect">
            <a:avLst/>
          </a:prstGeom>
          <a:noFill/>
          <a:ln w="9525">
            <a:noFill/>
          </a:ln>
        </p:spPr>
        <p:txBody>
          <a:bodyPr>
            <a:spAutoFit/>
          </a:bodyPr>
          <a:p>
            <a:pPr>
              <a:lnSpc>
                <a:spcPct val="158000"/>
              </a:lnSpc>
              <a:spcBef>
                <a:spcPct val="50000"/>
              </a:spcBef>
            </a:pPr>
            <a:r>
              <a:rPr lang="en-US" altLang="zh-CN" dirty="0">
                <a:latin typeface="Times New Roman" panose="02020603050405020304" pitchFamily="18" charset="0"/>
              </a:rPr>
              <a:t>        </a:t>
            </a:r>
            <a:r>
              <a:rPr lang="zh-CN" altLang="en-US" b="1" dirty="0">
                <a:latin typeface="Times New Roman" panose="02020603050405020304" pitchFamily="18" charset="0"/>
              </a:rPr>
              <a:t>与并行比较型</a:t>
            </a:r>
            <a:r>
              <a:rPr lang="en-US" altLang="zh-CN" b="1">
                <a:latin typeface="Times New Roman" panose="02020603050405020304" pitchFamily="18" charset="0"/>
              </a:rPr>
              <a:t>ADC</a:t>
            </a:r>
            <a:r>
              <a:rPr lang="zh-CN" altLang="en-US" b="1" dirty="0">
                <a:latin typeface="Times New Roman" panose="02020603050405020304" pitchFamily="18" charset="0"/>
              </a:rPr>
              <a:t>电路相比， 逐次逼近型</a:t>
            </a:r>
            <a:r>
              <a:rPr lang="en-US" altLang="zh-CN" b="1">
                <a:latin typeface="Times New Roman" panose="02020603050405020304" pitchFamily="18" charset="0"/>
              </a:rPr>
              <a:t>ADC</a:t>
            </a:r>
            <a:r>
              <a:rPr lang="zh-CN" altLang="en-US" b="1" dirty="0">
                <a:latin typeface="Times New Roman" panose="02020603050405020304" pitchFamily="18" charset="0"/>
              </a:rPr>
              <a:t>电路的转换速度要慢很多，完成一次</a:t>
            </a:r>
            <a:r>
              <a:rPr lang="en-US" altLang="zh-CN" b="1">
                <a:latin typeface="Times New Roman" panose="02020603050405020304" pitchFamily="18" charset="0"/>
              </a:rPr>
              <a:t>n</a:t>
            </a:r>
            <a:r>
              <a:rPr lang="zh-CN" altLang="en-US" b="1" dirty="0">
                <a:latin typeface="Times New Roman" panose="02020603050405020304" pitchFamily="18" charset="0"/>
              </a:rPr>
              <a:t>位的转换必须经过（</a:t>
            </a:r>
            <a:r>
              <a:rPr lang="en-US" altLang="zh-CN" b="1">
                <a:latin typeface="Times New Roman" panose="02020603050405020304" pitchFamily="18" charset="0"/>
              </a:rPr>
              <a:t>n</a:t>
            </a:r>
            <a:r>
              <a:rPr lang="zh-CN" altLang="en-US" b="1">
                <a:latin typeface="Times New Roman" panose="02020603050405020304" pitchFamily="18" charset="0"/>
              </a:rPr>
              <a:t>＋</a:t>
            </a:r>
            <a:r>
              <a:rPr lang="en-US" altLang="zh-CN" b="1">
                <a:latin typeface="Times New Roman" panose="02020603050405020304" pitchFamily="18" charset="0"/>
              </a:rPr>
              <a:t>1</a:t>
            </a:r>
            <a:r>
              <a:rPr lang="zh-CN" altLang="en-US" b="1">
                <a:latin typeface="Times New Roman" panose="02020603050405020304" pitchFamily="18" charset="0"/>
              </a:rPr>
              <a:t>）</a:t>
            </a:r>
            <a:r>
              <a:rPr lang="zh-CN" altLang="en-US" b="1" dirty="0">
                <a:latin typeface="Times New Roman" panose="02020603050405020304" pitchFamily="18" charset="0"/>
              </a:rPr>
              <a:t>个时钟周期。 当时钟脉冲的频率一定时，</a:t>
            </a:r>
            <a:r>
              <a:rPr lang="en-US" altLang="zh-CN" b="1">
                <a:latin typeface="Times New Roman" panose="02020603050405020304" pitchFamily="18" charset="0"/>
              </a:rPr>
              <a:t>ADC</a:t>
            </a:r>
            <a:r>
              <a:rPr lang="zh-CN" altLang="en-US" b="1" dirty="0">
                <a:latin typeface="Times New Roman" panose="02020603050405020304" pitchFamily="18" charset="0"/>
              </a:rPr>
              <a:t>的位数越多，完成一次转换所需的时间越长。而时钟最高频率则主要受逐次比较器、 逼近型寄存器和</a:t>
            </a:r>
            <a:r>
              <a:rPr lang="en-US" altLang="zh-CN" b="1">
                <a:latin typeface="Times New Roman" panose="02020603050405020304" pitchFamily="18" charset="0"/>
              </a:rPr>
              <a:t>D/A</a:t>
            </a:r>
            <a:r>
              <a:rPr lang="zh-CN" altLang="en-US" b="1" dirty="0">
                <a:latin typeface="Times New Roman" panose="02020603050405020304" pitchFamily="18" charset="0"/>
              </a:rPr>
              <a:t>转换器延迟时间的限制。 但逐次逼近型</a:t>
            </a:r>
            <a:r>
              <a:rPr lang="en-US" altLang="zh-CN" b="1">
                <a:latin typeface="Times New Roman" panose="02020603050405020304" pitchFamily="18" charset="0"/>
              </a:rPr>
              <a:t>ADC</a:t>
            </a:r>
            <a:r>
              <a:rPr lang="zh-CN" altLang="en-US" b="1" dirty="0">
                <a:latin typeface="Times New Roman" panose="02020603050405020304" pitchFamily="18" charset="0"/>
              </a:rPr>
              <a:t>电路比并行比较型</a:t>
            </a:r>
            <a:r>
              <a:rPr lang="en-US" altLang="zh-CN" b="1">
                <a:latin typeface="Times New Roman" panose="02020603050405020304" pitchFamily="18" charset="0"/>
              </a:rPr>
              <a:t>ADC</a:t>
            </a:r>
            <a:r>
              <a:rPr lang="zh-CN" altLang="en-US" b="1" dirty="0">
                <a:latin typeface="Times New Roman" panose="02020603050405020304" pitchFamily="18" charset="0"/>
              </a:rPr>
              <a:t>电路简单，无论位数如何增加，都只用一个比较器，仅需要增加逼近型寄存器和</a:t>
            </a:r>
            <a:r>
              <a:rPr lang="en-US" altLang="zh-CN" b="1">
                <a:latin typeface="Times New Roman" panose="02020603050405020304" pitchFamily="18" charset="0"/>
              </a:rPr>
              <a:t>D/A</a:t>
            </a:r>
            <a:r>
              <a:rPr lang="zh-CN" altLang="en-US" b="1" dirty="0">
                <a:latin typeface="Times New Roman" panose="02020603050405020304" pitchFamily="18" charset="0"/>
              </a:rPr>
              <a:t>转换器的位数就可以了， 所以比较容易做到较高的精度。因此，逐次逼近型</a:t>
            </a:r>
            <a:r>
              <a:rPr lang="en-US" altLang="zh-CN" b="1">
                <a:latin typeface="Times New Roman" panose="02020603050405020304" pitchFamily="18" charset="0"/>
              </a:rPr>
              <a:t>ADC</a:t>
            </a:r>
            <a:r>
              <a:rPr lang="zh-CN" altLang="en-US" b="1" dirty="0">
                <a:latin typeface="Times New Roman" panose="02020603050405020304" pitchFamily="18" charset="0"/>
              </a:rPr>
              <a:t>电路广泛应用于高精度、中速以下的集成</a:t>
            </a:r>
            <a:r>
              <a:rPr lang="en-US" altLang="zh-CN" b="1">
                <a:latin typeface="Times New Roman" panose="02020603050405020304" pitchFamily="18" charset="0"/>
              </a:rPr>
              <a:t>ADC</a:t>
            </a:r>
            <a:r>
              <a:rPr lang="zh-CN" altLang="en-US" b="1" dirty="0">
                <a:latin typeface="Times New Roman" panose="02020603050405020304" pitchFamily="18" charset="0"/>
              </a:rPr>
              <a:t>中。 </a:t>
            </a:r>
            <a:endParaRPr lang="zh-CN" altLang="en-US" b="1">
              <a:latin typeface="Times New Roman" panose="02020603050405020304" pitchFamily="18" charset="0"/>
            </a:endParaRPr>
          </a:p>
        </p:txBody>
      </p:sp>
    </p:spTree>
  </p:cSld>
  <p:clrMapOvr>
    <a:masterClrMapping/>
  </p:clrMapOvr>
  <p:transition>
    <p:blinds dir="vert"/>
  </p:transition>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4212" name="文本框 94211"/>
          <p:cNvSpPr txBox="1"/>
          <p:nvPr/>
        </p:nvSpPr>
        <p:spPr>
          <a:xfrm>
            <a:off x="228600" y="457200"/>
            <a:ext cx="8763000" cy="5715000"/>
          </a:xfrm>
          <a:prstGeom prst="rect">
            <a:avLst/>
          </a:prstGeom>
          <a:noFill/>
          <a:ln w="9525">
            <a:noFill/>
          </a:ln>
        </p:spPr>
        <p:txBody>
          <a:bodyPr>
            <a:spAutoFit/>
          </a:bodyPr>
          <a:p>
            <a:pPr>
              <a:lnSpc>
                <a:spcPct val="180000"/>
              </a:lnSpc>
              <a:spcBef>
                <a:spcPct val="50000"/>
              </a:spcBef>
            </a:pPr>
            <a:r>
              <a:rPr lang="en-US" altLang="zh-CN" dirty="0">
                <a:latin typeface="Times New Roman" panose="02020603050405020304" pitchFamily="18" charset="0"/>
              </a:rPr>
              <a:t>        </a:t>
            </a:r>
            <a:r>
              <a:rPr lang="en-US" altLang="zh-CN" b="1">
                <a:latin typeface="Times New Roman" panose="02020603050405020304" pitchFamily="18" charset="0"/>
              </a:rPr>
              <a:t>3</a:t>
            </a:r>
            <a:r>
              <a:rPr lang="zh-CN" altLang="en-US" b="1" dirty="0">
                <a:latin typeface="Times New Roman" panose="02020603050405020304" pitchFamily="18" charset="0"/>
              </a:rPr>
              <a:t>． 双积分型</a:t>
            </a:r>
            <a:r>
              <a:rPr lang="en-US" altLang="zh-CN" b="1">
                <a:latin typeface="Times New Roman" panose="02020603050405020304" pitchFamily="18" charset="0"/>
              </a:rPr>
              <a:t>ADC</a:t>
            </a:r>
            <a:r>
              <a:rPr lang="zh-CN" altLang="en-US" b="1" dirty="0">
                <a:latin typeface="Times New Roman" panose="02020603050405020304" pitchFamily="18" charset="0"/>
              </a:rPr>
              <a:t>电路</a:t>
            </a:r>
            <a:r>
              <a:rPr lang="zh-CN" altLang="en-US" dirty="0">
                <a:latin typeface="Times New Roman" panose="02020603050405020304" pitchFamily="18" charset="0"/>
              </a:rPr>
              <a:t></a:t>
            </a:r>
            <a:endParaRPr lang="zh-CN" altLang="en-US">
              <a:latin typeface="Times New Roman" panose="02020603050405020304" pitchFamily="18" charset="0"/>
            </a:endParaRPr>
          </a:p>
          <a:p>
            <a:pPr>
              <a:lnSpc>
                <a:spcPct val="180000"/>
              </a:lnSpc>
              <a:spcBef>
                <a:spcPct val="50000"/>
              </a:spcBef>
            </a:pPr>
            <a:r>
              <a:rPr lang="zh-CN" altLang="en-US">
                <a:latin typeface="Times New Roman" panose="02020603050405020304" pitchFamily="18" charset="0"/>
              </a:rPr>
              <a:t>        </a:t>
            </a:r>
            <a:r>
              <a:rPr lang="zh-CN" altLang="en-US" b="1" dirty="0">
                <a:latin typeface="Times New Roman" panose="02020603050405020304" pitchFamily="18" charset="0"/>
              </a:rPr>
              <a:t>双积分型</a:t>
            </a:r>
            <a:r>
              <a:rPr lang="en-US" altLang="zh-CN" b="1">
                <a:latin typeface="Times New Roman" panose="02020603050405020304" pitchFamily="18" charset="0"/>
              </a:rPr>
              <a:t>ADC</a:t>
            </a:r>
            <a:r>
              <a:rPr lang="zh-CN" altLang="en-US" b="1" dirty="0">
                <a:latin typeface="Times New Roman" panose="02020603050405020304" pitchFamily="18" charset="0"/>
              </a:rPr>
              <a:t>电路是一种间接</a:t>
            </a:r>
            <a:r>
              <a:rPr lang="en-US" altLang="zh-CN" b="1">
                <a:latin typeface="Times New Roman" panose="02020603050405020304" pitchFamily="18" charset="0"/>
              </a:rPr>
              <a:t>A/D</a:t>
            </a:r>
            <a:r>
              <a:rPr lang="zh-CN" altLang="en-US" b="1" dirty="0">
                <a:latin typeface="Times New Roman" panose="02020603050405020304" pitchFamily="18" charset="0"/>
              </a:rPr>
              <a:t>转换电路。 它的转换原理是先把模拟电压转换成与之成正比的时间变量</a:t>
            </a:r>
            <a:r>
              <a:rPr lang="en-US" altLang="zh-CN" b="1">
                <a:latin typeface="Times New Roman" panose="02020603050405020304" pitchFamily="18" charset="0"/>
              </a:rPr>
              <a:t>T</a:t>
            </a:r>
            <a:r>
              <a:rPr lang="zh-CN" altLang="en-US" b="1">
                <a:latin typeface="Times New Roman" panose="02020603050405020304" pitchFamily="18" charset="0"/>
              </a:rPr>
              <a:t>， </a:t>
            </a:r>
            <a:r>
              <a:rPr lang="zh-CN" altLang="en-US" b="1" dirty="0">
                <a:latin typeface="Times New Roman" panose="02020603050405020304" pitchFamily="18" charset="0"/>
              </a:rPr>
              <a:t>然后在时间</a:t>
            </a:r>
            <a:r>
              <a:rPr lang="en-US" altLang="zh-CN" b="1">
                <a:latin typeface="Times New Roman" panose="02020603050405020304" pitchFamily="18" charset="0"/>
              </a:rPr>
              <a:t>T</a:t>
            </a:r>
            <a:r>
              <a:rPr lang="zh-CN" altLang="en-US" b="1" dirty="0">
                <a:latin typeface="Times New Roman" panose="02020603050405020304" pitchFamily="18" charset="0"/>
              </a:rPr>
              <a:t>内对固定频率的时钟脉冲计数，计数的结果就是正比于模拟电压的数字量。 </a:t>
            </a:r>
            <a:endParaRPr lang="zh-CN" altLang="en-US" b="1" dirty="0">
              <a:latin typeface="Times New Roman" panose="02020603050405020304" pitchFamily="18" charset="0"/>
            </a:endParaRPr>
          </a:p>
          <a:p>
            <a:pPr>
              <a:lnSpc>
                <a:spcPct val="180000"/>
              </a:lnSpc>
              <a:spcBef>
                <a:spcPct val="50000"/>
              </a:spcBef>
            </a:pPr>
            <a:r>
              <a:rPr lang="zh-CN" altLang="en-US" b="1" dirty="0">
                <a:latin typeface="Times New Roman" panose="02020603050405020304" pitchFamily="18" charset="0"/>
              </a:rPr>
              <a:t>         图</a:t>
            </a:r>
            <a:r>
              <a:rPr lang="en-US" altLang="zh-CN" b="1">
                <a:latin typeface="Times New Roman" panose="02020603050405020304" pitchFamily="18" charset="0"/>
              </a:rPr>
              <a:t>11- 25</a:t>
            </a:r>
            <a:r>
              <a:rPr lang="zh-CN" altLang="en-US" b="1" dirty="0">
                <a:latin typeface="Times New Roman" panose="02020603050405020304" pitchFamily="18" charset="0"/>
              </a:rPr>
              <a:t>所示为双积分型</a:t>
            </a:r>
            <a:r>
              <a:rPr lang="en-US" altLang="zh-CN" b="1">
                <a:latin typeface="Times New Roman" panose="02020603050405020304" pitchFamily="18" charset="0"/>
              </a:rPr>
              <a:t>ADC</a:t>
            </a:r>
            <a:r>
              <a:rPr lang="zh-CN" altLang="en-US" b="1" dirty="0">
                <a:latin typeface="Times New Roman" panose="02020603050405020304" pitchFamily="18" charset="0"/>
              </a:rPr>
              <a:t>电路的原理框图， 它主要由积分器、过零比较器、计数器</a:t>
            </a:r>
            <a:r>
              <a:rPr lang="en-US" altLang="zh-CN" b="1">
                <a:latin typeface="Times New Roman" panose="02020603050405020304" pitchFamily="18" charset="0"/>
              </a:rPr>
              <a:t>/</a:t>
            </a:r>
            <a:r>
              <a:rPr lang="zh-CN" altLang="en-US" b="1" dirty="0">
                <a:latin typeface="Times New Roman" panose="02020603050405020304" pitchFamily="18" charset="0"/>
              </a:rPr>
              <a:t>定时器、逻辑控制电路和模拟开关构成。</a:t>
            </a:r>
            <a:endParaRPr lang="zh-CN" altLang="en-US" b="1">
              <a:latin typeface="Times New Roman" panose="02020603050405020304" pitchFamily="18" charset="0"/>
            </a:endParaRPr>
          </a:p>
        </p:txBody>
      </p:sp>
    </p:spTree>
  </p:cSld>
  <p:clrMapOvr>
    <a:masterClrMapping/>
  </p:clrMapOvr>
  <p:transition>
    <p:blinds dir="vert"/>
  </p:transition>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3188" name="文本框 93187"/>
          <p:cNvSpPr txBox="1"/>
          <p:nvPr/>
        </p:nvSpPr>
        <p:spPr>
          <a:xfrm>
            <a:off x="2971800" y="5562600"/>
            <a:ext cx="3825875" cy="457200"/>
          </a:xfrm>
          <a:prstGeom prst="rect">
            <a:avLst/>
          </a:prstGeom>
          <a:noFill/>
          <a:ln w="9525">
            <a:noFill/>
          </a:ln>
        </p:spPr>
        <p:txBody>
          <a:bodyPr wrap="none" anchor="t" anchorCtr="0">
            <a:spAutoFit/>
          </a:bodyPr>
          <a:p>
            <a:r>
              <a:rPr lang="zh-CN" altLang="en-US" dirty="0">
                <a:latin typeface="Times New Roman" panose="02020603050405020304" pitchFamily="18" charset="0"/>
              </a:rPr>
              <a:t>图 </a:t>
            </a:r>
            <a:r>
              <a:rPr lang="en-US" altLang="zh-CN">
                <a:latin typeface="Times New Roman" panose="02020603050405020304" pitchFamily="18" charset="0"/>
              </a:rPr>
              <a:t>11-25 </a:t>
            </a:r>
            <a:r>
              <a:rPr lang="zh-CN" altLang="en-US" dirty="0">
                <a:latin typeface="Times New Roman" panose="02020603050405020304" pitchFamily="18" charset="0"/>
              </a:rPr>
              <a:t>双积分型</a:t>
            </a:r>
            <a:r>
              <a:rPr lang="en-US" altLang="zh-CN">
                <a:latin typeface="Times New Roman" panose="02020603050405020304" pitchFamily="18" charset="0"/>
              </a:rPr>
              <a:t>ADC</a:t>
            </a:r>
            <a:r>
              <a:rPr lang="zh-CN" altLang="en-US" dirty="0">
                <a:latin typeface="Times New Roman" panose="02020603050405020304" pitchFamily="18" charset="0"/>
              </a:rPr>
              <a:t>电路</a:t>
            </a:r>
            <a:endParaRPr lang="zh-CN" altLang="en-US">
              <a:latin typeface="Times New Roman" panose="02020603050405020304" pitchFamily="18" charset="0"/>
            </a:endParaRPr>
          </a:p>
        </p:txBody>
      </p:sp>
      <p:graphicFrame>
        <p:nvGraphicFramePr>
          <p:cNvPr id="93189" name="对象 93188"/>
          <p:cNvGraphicFramePr/>
          <p:nvPr/>
        </p:nvGraphicFramePr>
        <p:xfrm>
          <a:off x="0" y="990600"/>
          <a:ext cx="9144000" cy="4183063"/>
        </p:xfrm>
        <a:graphic>
          <a:graphicData uri="http://schemas.openxmlformats.org/presentationml/2006/ole">
            <mc:AlternateContent xmlns:mc="http://schemas.openxmlformats.org/markup-compatibility/2006">
              <mc:Choice xmlns:v="urn:schemas-microsoft-com:vml" Requires="v">
                <p:oleObj spid="_x0000_s3122" name="" r:id="rId1" imgW="4297680" imgH="1965960" progId="Visio.Drawing.4">
                  <p:embed/>
                </p:oleObj>
              </mc:Choice>
              <mc:Fallback>
                <p:oleObj name="" r:id="rId1" imgW="4297680" imgH="1965960" progId="Visio.Drawing.4">
                  <p:embed/>
                  <p:pic>
                    <p:nvPicPr>
                      <p:cNvPr id="0" name="图片 3121"/>
                      <p:cNvPicPr/>
                      <p:nvPr/>
                    </p:nvPicPr>
                    <p:blipFill>
                      <a:blip r:embed="rId2"/>
                      <a:stretch>
                        <a:fillRect/>
                      </a:stretch>
                    </p:blipFill>
                    <p:spPr>
                      <a:xfrm>
                        <a:off x="0" y="990600"/>
                        <a:ext cx="9144000" cy="4183063"/>
                      </a:xfrm>
                      <a:prstGeom prst="rect">
                        <a:avLst/>
                      </a:prstGeom>
                      <a:noFill/>
                      <a:ln w="38100">
                        <a:noFill/>
                        <a:miter/>
                      </a:ln>
                    </p:spPr>
                  </p:pic>
                </p:oleObj>
              </mc:Fallback>
            </mc:AlternateContent>
          </a:graphicData>
        </a:graphic>
      </p:graphicFrame>
    </p:spTree>
  </p:cSld>
  <p:clrMapOvr>
    <a:masterClrMapping/>
  </p:clrMapOvr>
  <p:transition>
    <p:blinds dir="vert"/>
  </p:transition>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6260" name="文本框 96259"/>
          <p:cNvSpPr txBox="1"/>
          <p:nvPr/>
        </p:nvSpPr>
        <p:spPr>
          <a:xfrm>
            <a:off x="152400" y="601663"/>
            <a:ext cx="8839200" cy="4884737"/>
          </a:xfrm>
          <a:prstGeom prst="rect">
            <a:avLst/>
          </a:prstGeom>
          <a:noFill/>
          <a:ln w="9525">
            <a:noFill/>
          </a:ln>
        </p:spPr>
        <p:txBody>
          <a:bodyPr>
            <a:spAutoFit/>
          </a:bodyPr>
          <a:p>
            <a:pPr>
              <a:lnSpc>
                <a:spcPct val="158000"/>
              </a:lnSpc>
              <a:spcBef>
                <a:spcPct val="50000"/>
              </a:spcBef>
            </a:pPr>
            <a:r>
              <a:rPr lang="en-US" altLang="zh-CN" dirty="0">
                <a:latin typeface="Times New Roman" panose="02020603050405020304" pitchFamily="18" charset="0"/>
              </a:rPr>
              <a:t>        </a:t>
            </a:r>
            <a:r>
              <a:rPr lang="zh-CN" altLang="en-US" b="1" dirty="0">
                <a:latin typeface="Times New Roman" panose="02020603050405020304" pitchFamily="18" charset="0"/>
              </a:rPr>
              <a:t>积分器是转换器的核心部分，它由运算放大器和</a:t>
            </a:r>
            <a:r>
              <a:rPr lang="en-US" altLang="zh-CN" b="1">
                <a:latin typeface="Times New Roman" panose="02020603050405020304" pitchFamily="18" charset="0"/>
              </a:rPr>
              <a:t>RC</a:t>
            </a:r>
            <a:r>
              <a:rPr lang="zh-CN" altLang="en-US" b="1" dirty="0">
                <a:latin typeface="Times New Roman" panose="02020603050405020304" pitchFamily="18" charset="0"/>
              </a:rPr>
              <a:t>网络构成， 积分常数</a:t>
            </a:r>
            <a:r>
              <a:rPr lang="en-US" altLang="zh-CN" b="1" i="1">
                <a:latin typeface="Times New Roman" panose="02020603050405020304" pitchFamily="18" charset="0"/>
              </a:rPr>
              <a:t>τ</a:t>
            </a:r>
            <a:r>
              <a:rPr lang="en-US" altLang="zh-CN" b="1">
                <a:latin typeface="Times New Roman" panose="02020603050405020304" pitchFamily="18" charset="0"/>
              </a:rPr>
              <a:t> = RC</a:t>
            </a:r>
            <a:r>
              <a:rPr lang="zh-CN" altLang="en-US" b="1">
                <a:latin typeface="Times New Roman" panose="02020603050405020304" pitchFamily="18" charset="0"/>
              </a:rPr>
              <a:t>。</a:t>
            </a:r>
            <a:r>
              <a:rPr lang="zh-CN" altLang="en-US" b="1" dirty="0">
                <a:latin typeface="Times New Roman" panose="02020603050405020304" pitchFamily="18" charset="0"/>
              </a:rPr>
              <a:t>积分器的输入端接单刀双掷模拟开关</a:t>
            </a:r>
            <a:r>
              <a:rPr lang="en-US" altLang="zh-CN" b="1">
                <a:latin typeface="Times New Roman" panose="02020603050405020304" pitchFamily="18" charset="0"/>
              </a:rPr>
              <a:t>S</a:t>
            </a:r>
            <a:r>
              <a:rPr lang="en-US" altLang="zh-CN" b="1" baseline="-25000">
                <a:latin typeface="Times New Roman" panose="02020603050405020304" pitchFamily="18" charset="0"/>
              </a:rPr>
              <a:t>1</a:t>
            </a:r>
            <a:r>
              <a:rPr lang="zh-CN" altLang="en-US" b="1">
                <a:latin typeface="Times New Roman" panose="02020603050405020304" pitchFamily="18" charset="0"/>
              </a:rPr>
              <a:t>，</a:t>
            </a:r>
            <a:r>
              <a:rPr lang="zh-CN" altLang="en-US" b="1" dirty="0">
                <a:latin typeface="Times New Roman" panose="02020603050405020304" pitchFamily="18" charset="0"/>
              </a:rPr>
              <a:t>在逻辑控制电路的作用下， </a:t>
            </a:r>
            <a:r>
              <a:rPr lang="en-US" altLang="zh-CN" b="1">
                <a:latin typeface="Times New Roman" panose="02020603050405020304" pitchFamily="18" charset="0"/>
              </a:rPr>
              <a:t>S</a:t>
            </a:r>
            <a:r>
              <a:rPr lang="en-US" altLang="zh-CN" b="1" baseline="-25000">
                <a:latin typeface="Times New Roman" panose="02020603050405020304" pitchFamily="18" charset="0"/>
              </a:rPr>
              <a:t>1</a:t>
            </a:r>
            <a:r>
              <a:rPr lang="zh-CN" altLang="en-US" b="1" dirty="0">
                <a:latin typeface="Times New Roman" panose="02020603050405020304" pitchFamily="18" charset="0"/>
              </a:rPr>
              <a:t>在不同的阶段分别将极性相反的模拟电压</a:t>
            </a:r>
            <a:r>
              <a:rPr lang="en-US" altLang="zh-CN" b="1" err="1">
                <a:latin typeface="Times New Roman" panose="02020603050405020304" pitchFamily="18" charset="0"/>
              </a:rPr>
              <a:t>u</a:t>
            </a:r>
            <a:r>
              <a:rPr lang="en-US" altLang="zh-CN" b="1" baseline="-25000" err="1">
                <a:latin typeface="Times New Roman" panose="02020603050405020304" pitchFamily="18" charset="0"/>
              </a:rPr>
              <a:t>I</a:t>
            </a:r>
            <a:r>
              <a:rPr lang="zh-CN" altLang="en-US" b="1" dirty="0">
                <a:latin typeface="Times New Roman" panose="02020603050405020304" pitchFamily="18" charset="0"/>
              </a:rPr>
              <a:t>和基准电压</a:t>
            </a:r>
            <a:r>
              <a:rPr lang="en-US" altLang="zh-CN" b="1">
                <a:latin typeface="Times New Roman" panose="02020603050405020304" pitchFamily="18" charset="0"/>
              </a:rPr>
              <a:t>U</a:t>
            </a:r>
            <a:r>
              <a:rPr lang="en-US" altLang="zh-CN" b="1" baseline="-25000">
                <a:latin typeface="Times New Roman" panose="02020603050405020304" pitchFamily="18" charset="0"/>
              </a:rPr>
              <a:t>REF</a:t>
            </a:r>
            <a:r>
              <a:rPr lang="zh-CN" altLang="en-US" b="1" dirty="0">
                <a:latin typeface="Times New Roman" panose="02020603050405020304" pitchFamily="18" charset="0"/>
              </a:rPr>
              <a:t>接入积分器进行积分。 </a:t>
            </a:r>
            <a:endParaRPr lang="zh-CN" altLang="en-US" b="1" dirty="0">
              <a:latin typeface="Times New Roman" panose="02020603050405020304" pitchFamily="18" charset="0"/>
            </a:endParaRPr>
          </a:p>
          <a:p>
            <a:pPr>
              <a:lnSpc>
                <a:spcPct val="158000"/>
              </a:lnSpc>
              <a:spcBef>
                <a:spcPct val="50000"/>
              </a:spcBef>
            </a:pPr>
            <a:r>
              <a:rPr lang="zh-CN" altLang="en-US" b="1" dirty="0">
                <a:latin typeface="Times New Roman" panose="02020603050405020304" pitchFamily="18" charset="0"/>
              </a:rPr>
              <a:t>        过零比较器的反相输入端接积分器的输出</a:t>
            </a:r>
            <a:r>
              <a:rPr lang="en-US" altLang="zh-CN" b="1" err="1">
                <a:latin typeface="Times New Roman" panose="02020603050405020304" pitchFamily="18" charset="0"/>
              </a:rPr>
              <a:t>u</a:t>
            </a:r>
            <a:r>
              <a:rPr lang="en-US" altLang="zh-CN" b="1" baseline="-25000" err="1">
                <a:latin typeface="Times New Roman" panose="02020603050405020304" pitchFamily="18" charset="0"/>
              </a:rPr>
              <a:t>O</a:t>
            </a:r>
            <a:r>
              <a:rPr lang="zh-CN" altLang="en-US" b="1">
                <a:latin typeface="Times New Roman" panose="02020603050405020304" pitchFamily="18" charset="0"/>
              </a:rPr>
              <a:t>，</a:t>
            </a:r>
            <a:r>
              <a:rPr lang="zh-CN" altLang="en-US" b="1" dirty="0">
                <a:latin typeface="Times New Roman" panose="02020603050405020304" pitchFamily="18" charset="0"/>
              </a:rPr>
              <a:t>正相输入端接地。即当</a:t>
            </a:r>
            <a:r>
              <a:rPr lang="en-US" altLang="zh-CN" b="1" err="1">
                <a:latin typeface="Times New Roman" panose="02020603050405020304" pitchFamily="18" charset="0"/>
              </a:rPr>
              <a:t>u</a:t>
            </a:r>
            <a:r>
              <a:rPr lang="en-US" altLang="zh-CN" b="1" baseline="-25000" err="1">
                <a:latin typeface="Times New Roman" panose="02020603050405020304" pitchFamily="18" charset="0"/>
              </a:rPr>
              <a:t>O</a:t>
            </a:r>
            <a:r>
              <a:rPr lang="zh-CN" altLang="en-US" b="1">
                <a:latin typeface="Times New Roman" panose="02020603050405020304" pitchFamily="18" charset="0"/>
              </a:rPr>
              <a:t>＜</a:t>
            </a:r>
            <a:r>
              <a:rPr lang="en-US" altLang="zh-CN" b="1">
                <a:latin typeface="Times New Roman" panose="02020603050405020304" pitchFamily="18" charset="0"/>
              </a:rPr>
              <a:t>0</a:t>
            </a:r>
            <a:r>
              <a:rPr lang="zh-CN" altLang="en-US" b="1" dirty="0">
                <a:latin typeface="Times New Roman" panose="02020603050405020304" pitchFamily="18" charset="0"/>
              </a:rPr>
              <a:t>时，过零比较器的输出</a:t>
            </a:r>
            <a:r>
              <a:rPr lang="en-US" altLang="zh-CN" b="1">
                <a:latin typeface="Times New Roman" panose="02020603050405020304" pitchFamily="18" charset="0"/>
              </a:rPr>
              <a:t>C=1</a:t>
            </a:r>
            <a:r>
              <a:rPr lang="zh-CN" altLang="en-US" b="1">
                <a:latin typeface="Times New Roman" panose="02020603050405020304" pitchFamily="18" charset="0"/>
              </a:rPr>
              <a:t>， </a:t>
            </a:r>
            <a:r>
              <a:rPr lang="zh-CN" altLang="en-US" b="1" dirty="0">
                <a:latin typeface="Times New Roman" panose="02020603050405020304" pitchFamily="18" charset="0"/>
              </a:rPr>
              <a:t>使时钟脉冲通过与门加到计数器的时钟输入端； 当</a:t>
            </a:r>
            <a:r>
              <a:rPr lang="en-US" altLang="zh-CN" b="1" err="1">
                <a:latin typeface="Times New Roman" panose="02020603050405020304" pitchFamily="18" charset="0"/>
              </a:rPr>
              <a:t>u</a:t>
            </a:r>
            <a:r>
              <a:rPr lang="en-US" altLang="zh-CN" b="1" baseline="-25000" err="1">
                <a:latin typeface="Times New Roman" panose="02020603050405020304" pitchFamily="18" charset="0"/>
              </a:rPr>
              <a:t>O</a:t>
            </a:r>
            <a:r>
              <a:rPr lang="zh-CN" altLang="en-US" b="1">
                <a:latin typeface="Times New Roman" panose="02020603050405020304" pitchFamily="18" charset="0"/>
              </a:rPr>
              <a:t>＞</a:t>
            </a:r>
            <a:r>
              <a:rPr lang="en-US" altLang="zh-CN" b="1">
                <a:latin typeface="Times New Roman" panose="02020603050405020304" pitchFamily="18" charset="0"/>
              </a:rPr>
              <a:t>0</a:t>
            </a:r>
            <a:r>
              <a:rPr lang="zh-CN" altLang="en-US" b="1" dirty="0">
                <a:latin typeface="Times New Roman" panose="02020603050405020304" pitchFamily="18" charset="0"/>
              </a:rPr>
              <a:t>时，过零比较器的输出</a:t>
            </a:r>
            <a:r>
              <a:rPr lang="en-US" altLang="zh-CN" b="1">
                <a:latin typeface="Times New Roman" panose="02020603050405020304" pitchFamily="18" charset="0"/>
              </a:rPr>
              <a:t>C= 0</a:t>
            </a:r>
            <a:r>
              <a:rPr lang="zh-CN" altLang="en-US" b="1">
                <a:latin typeface="Times New Roman" panose="02020603050405020304" pitchFamily="18" charset="0"/>
              </a:rPr>
              <a:t>， </a:t>
            </a:r>
            <a:r>
              <a:rPr lang="zh-CN" altLang="en-US" b="1" dirty="0">
                <a:latin typeface="Times New Roman" panose="02020603050405020304" pitchFamily="18" charset="0"/>
              </a:rPr>
              <a:t>计数器的时钟输入端无时钟信号。</a:t>
            </a:r>
            <a:endParaRPr lang="zh-CN" altLang="en-US" b="1">
              <a:latin typeface="Times New Roman" panose="02020603050405020304" pitchFamily="18" charset="0"/>
            </a:endParaRPr>
          </a:p>
        </p:txBody>
      </p:sp>
    </p:spTree>
  </p:cSld>
  <p:clrMapOvr>
    <a:masterClrMapping/>
  </p:clrMapOvr>
  <p:transition>
    <p:blinds dir="vert"/>
  </p:transition>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5236" name="文本框 95235"/>
          <p:cNvSpPr txBox="1"/>
          <p:nvPr/>
        </p:nvSpPr>
        <p:spPr>
          <a:xfrm>
            <a:off x="228600" y="735013"/>
            <a:ext cx="8763000" cy="4217987"/>
          </a:xfrm>
          <a:prstGeom prst="rect">
            <a:avLst/>
          </a:prstGeom>
          <a:noFill/>
          <a:ln w="9525">
            <a:noFill/>
          </a:ln>
        </p:spPr>
        <p:txBody>
          <a:bodyPr>
            <a:spAutoFit/>
          </a:bodyPr>
          <a:p>
            <a:pPr>
              <a:lnSpc>
                <a:spcPct val="180000"/>
              </a:lnSpc>
              <a:spcBef>
                <a:spcPct val="50000"/>
              </a:spcBef>
            </a:pPr>
            <a:r>
              <a:rPr lang="en-US" altLang="zh-CN" dirty="0">
                <a:latin typeface="Times New Roman" panose="02020603050405020304" pitchFamily="18" charset="0"/>
              </a:rPr>
              <a:t>        </a:t>
            </a:r>
            <a:r>
              <a:rPr lang="zh-CN" altLang="en-US" b="1" dirty="0">
                <a:latin typeface="Times New Roman" panose="02020603050405020304" pitchFamily="18" charset="0"/>
              </a:rPr>
              <a:t>下面我们以正极性的直流电压信号为例， 说明双积分型</a:t>
            </a:r>
            <a:r>
              <a:rPr lang="en-US" altLang="zh-CN" b="1">
                <a:latin typeface="Times New Roman" panose="02020603050405020304" pitchFamily="18" charset="0"/>
              </a:rPr>
              <a:t>ADC</a:t>
            </a:r>
            <a:r>
              <a:rPr lang="zh-CN" altLang="en-US" b="1" dirty="0">
                <a:latin typeface="Times New Roman" panose="02020603050405020304" pitchFamily="18" charset="0"/>
              </a:rPr>
              <a:t>电路的</a:t>
            </a:r>
            <a:r>
              <a:rPr lang="en-US" altLang="zh-CN" b="1">
                <a:latin typeface="Times New Roman" panose="02020603050405020304" pitchFamily="18" charset="0"/>
              </a:rPr>
              <a:t>A/D</a:t>
            </a:r>
            <a:r>
              <a:rPr lang="zh-CN" altLang="en-US" b="1" dirty="0">
                <a:latin typeface="Times New Roman" panose="02020603050405020304" pitchFamily="18" charset="0"/>
              </a:rPr>
              <a:t>转换过程。</a:t>
            </a:r>
            <a:r>
              <a:rPr lang="en-US" altLang="zh-CN" b="1">
                <a:latin typeface="Times New Roman" panose="02020603050405020304" pitchFamily="18" charset="0"/>
              </a:rPr>
              <a:t>+</a:t>
            </a:r>
            <a:r>
              <a:rPr lang="zh-CN" altLang="en-US" b="1" dirty="0">
                <a:latin typeface="Times New Roman" panose="02020603050405020304" pitchFamily="18" charset="0"/>
              </a:rPr>
              <a:t>在转换开始之前， 逻辑控制电路输出控制信号， 使计数器清零，同时使开关</a:t>
            </a:r>
            <a:r>
              <a:rPr lang="en-US" altLang="zh-CN" b="1">
                <a:latin typeface="Times New Roman" panose="02020603050405020304" pitchFamily="18" charset="0"/>
              </a:rPr>
              <a:t>S</a:t>
            </a:r>
            <a:r>
              <a:rPr lang="en-US" altLang="zh-CN" b="1" baseline="-25000">
                <a:latin typeface="Times New Roman" panose="02020603050405020304" pitchFamily="18" charset="0"/>
              </a:rPr>
              <a:t>2</a:t>
            </a:r>
            <a:r>
              <a:rPr lang="zh-CN" altLang="en-US" b="1" dirty="0">
                <a:latin typeface="Times New Roman" panose="02020603050405020304" pitchFamily="18" charset="0"/>
              </a:rPr>
              <a:t>闭合，电容</a:t>
            </a:r>
            <a:r>
              <a:rPr lang="en-US" altLang="zh-CN" b="1">
                <a:latin typeface="Times New Roman" panose="02020603050405020304" pitchFamily="18" charset="0"/>
              </a:rPr>
              <a:t>C</a:t>
            </a:r>
            <a:r>
              <a:rPr lang="zh-CN" altLang="en-US" b="1" dirty="0">
                <a:latin typeface="Times New Roman" panose="02020603050405020304" pitchFamily="18" charset="0"/>
              </a:rPr>
              <a:t>完全放电。 当开关</a:t>
            </a:r>
            <a:r>
              <a:rPr lang="en-US" altLang="zh-CN" b="1">
                <a:latin typeface="Times New Roman" panose="02020603050405020304" pitchFamily="18" charset="0"/>
              </a:rPr>
              <a:t>S</a:t>
            </a:r>
            <a:r>
              <a:rPr lang="en-US" altLang="zh-CN" b="1" baseline="-25000">
                <a:latin typeface="Times New Roman" panose="02020603050405020304" pitchFamily="18" charset="0"/>
              </a:rPr>
              <a:t>2</a:t>
            </a:r>
            <a:r>
              <a:rPr lang="zh-CN" altLang="en-US" b="1" dirty="0">
                <a:latin typeface="Times New Roman" panose="02020603050405020304" pitchFamily="18" charset="0"/>
              </a:rPr>
              <a:t>打开时，就开始进行</a:t>
            </a:r>
            <a:r>
              <a:rPr lang="en-US" altLang="zh-CN" b="1">
                <a:latin typeface="Times New Roman" panose="02020603050405020304" pitchFamily="18" charset="0"/>
              </a:rPr>
              <a:t>A/D</a:t>
            </a:r>
            <a:r>
              <a:rPr lang="zh-CN" altLang="en-US" b="1" dirty="0">
                <a:latin typeface="Times New Roman" panose="02020603050405020304" pitchFamily="18" charset="0"/>
              </a:rPr>
              <a:t>转换， 整个转换过程包含两次积分，故称为双积分型</a:t>
            </a:r>
            <a:r>
              <a:rPr lang="en-US" altLang="zh-CN" b="1">
                <a:latin typeface="Times New Roman" panose="02020603050405020304" pitchFamily="18" charset="0"/>
              </a:rPr>
              <a:t>ADC</a:t>
            </a:r>
            <a:r>
              <a:rPr lang="zh-CN" altLang="en-US" b="1" dirty="0">
                <a:latin typeface="Times New Roman" panose="02020603050405020304" pitchFamily="18" charset="0"/>
              </a:rPr>
              <a:t>电路。</a:t>
            </a:r>
            <a:endParaRPr lang="zh-CN" altLang="en-US" b="1" dirty="0">
              <a:latin typeface="Times New Roman" panose="02020603050405020304" pitchFamily="18" charset="0"/>
            </a:endParaRPr>
          </a:p>
          <a:p>
            <a:pPr>
              <a:lnSpc>
                <a:spcPct val="180000"/>
              </a:lnSpc>
              <a:spcBef>
                <a:spcPct val="50000"/>
              </a:spcBef>
            </a:pPr>
            <a:r>
              <a:rPr lang="zh-CN" altLang="en-US" b="1" dirty="0">
                <a:latin typeface="Times New Roman" panose="02020603050405020304" pitchFamily="18" charset="0"/>
              </a:rPr>
              <a:t>         第一次积分</a:t>
            </a:r>
            <a:r>
              <a:rPr lang="en-US" altLang="zh-CN" b="1">
                <a:latin typeface="Times New Roman" panose="02020603050405020304" pitchFamily="18" charset="0"/>
              </a:rPr>
              <a:t>——</a:t>
            </a:r>
            <a:r>
              <a:rPr lang="zh-CN" altLang="en-US" b="1" dirty="0">
                <a:latin typeface="Times New Roman" panose="02020603050405020304" pitchFamily="18" charset="0"/>
              </a:rPr>
              <a:t>对模拟电压</a:t>
            </a:r>
            <a:r>
              <a:rPr lang="en-US" altLang="zh-CN" b="1" err="1">
                <a:latin typeface="Times New Roman" panose="02020603050405020304" pitchFamily="18" charset="0"/>
              </a:rPr>
              <a:t>u</a:t>
            </a:r>
            <a:r>
              <a:rPr lang="en-US" altLang="zh-CN" b="1" baseline="-25000" err="1">
                <a:latin typeface="Times New Roman" panose="02020603050405020304" pitchFamily="18" charset="0"/>
              </a:rPr>
              <a:t>I</a:t>
            </a:r>
            <a:r>
              <a:rPr lang="zh-CN" altLang="en-US" b="1" dirty="0">
                <a:latin typeface="Times New Roman" panose="02020603050405020304" pitchFamily="18" charset="0"/>
              </a:rPr>
              <a:t>的固定时间</a:t>
            </a:r>
            <a:r>
              <a:rPr lang="en-US" altLang="zh-CN" b="1">
                <a:latin typeface="Times New Roman" panose="02020603050405020304" pitchFamily="18" charset="0"/>
              </a:rPr>
              <a:t>T</a:t>
            </a:r>
            <a:r>
              <a:rPr lang="en-US" altLang="zh-CN" b="1" baseline="-25000">
                <a:latin typeface="Times New Roman" panose="02020603050405020304" pitchFamily="18" charset="0"/>
              </a:rPr>
              <a:t>1</a:t>
            </a:r>
            <a:r>
              <a:rPr lang="zh-CN" altLang="en-US" b="1" dirty="0">
                <a:latin typeface="Times New Roman" panose="02020603050405020304" pitchFamily="18" charset="0"/>
              </a:rPr>
              <a:t>积分。  </a:t>
            </a:r>
            <a:endParaRPr lang="zh-CN" altLang="en-US" b="1">
              <a:latin typeface="Times New Roman" panose="02020603050405020304" pitchFamily="18" charset="0"/>
            </a:endParaRPr>
          </a:p>
        </p:txBody>
      </p:sp>
    </p:spTree>
  </p:cSld>
  <p:clrMapOvr>
    <a:masterClrMapping/>
  </p:clrMapOvr>
  <p:transition>
    <p:blinds dir="vert"/>
  </p:transition>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8308" name="文本框 98307"/>
          <p:cNvSpPr txBox="1"/>
          <p:nvPr/>
        </p:nvSpPr>
        <p:spPr>
          <a:xfrm>
            <a:off x="152400" y="304800"/>
            <a:ext cx="8915400" cy="3549650"/>
          </a:xfrm>
          <a:prstGeom prst="rect">
            <a:avLst/>
          </a:prstGeom>
          <a:noFill/>
          <a:ln w="9525">
            <a:noFill/>
          </a:ln>
        </p:spPr>
        <p:txBody>
          <a:bodyPr>
            <a:spAutoFit/>
          </a:bodyPr>
          <a:p>
            <a:pPr>
              <a:lnSpc>
                <a:spcPct val="158000"/>
              </a:lnSpc>
              <a:spcBef>
                <a:spcPct val="50000"/>
              </a:spcBef>
            </a:pPr>
            <a:r>
              <a:rPr lang="en-US" altLang="zh-CN" dirty="0">
                <a:latin typeface="Times New Roman" panose="02020603050405020304" pitchFamily="18" charset="0"/>
              </a:rPr>
              <a:t>       </a:t>
            </a:r>
            <a:r>
              <a:rPr lang="zh-CN" altLang="en-US" b="1" dirty="0">
                <a:latin typeface="Times New Roman" panose="02020603050405020304" pitchFamily="18" charset="0"/>
              </a:rPr>
              <a:t>设时间</a:t>
            </a:r>
            <a:r>
              <a:rPr lang="en-US" altLang="zh-CN" b="1">
                <a:latin typeface="Times New Roman" panose="02020603050405020304" pitchFamily="18" charset="0"/>
              </a:rPr>
              <a:t>t = 0</a:t>
            </a:r>
            <a:r>
              <a:rPr lang="zh-CN" altLang="en-US" b="1" dirty="0">
                <a:latin typeface="Times New Roman" panose="02020603050405020304" pitchFamily="18" charset="0"/>
              </a:rPr>
              <a:t>时，开关</a:t>
            </a:r>
            <a:r>
              <a:rPr lang="en-US" altLang="zh-CN" b="1">
                <a:latin typeface="Times New Roman" panose="02020603050405020304" pitchFamily="18" charset="0"/>
              </a:rPr>
              <a:t>S</a:t>
            </a:r>
            <a:r>
              <a:rPr lang="en-US" altLang="zh-CN" b="1" baseline="-25000">
                <a:latin typeface="Times New Roman" panose="02020603050405020304" pitchFamily="18" charset="0"/>
              </a:rPr>
              <a:t>1</a:t>
            </a:r>
            <a:r>
              <a:rPr lang="zh-CN" altLang="en-US" b="1" dirty="0">
                <a:latin typeface="Times New Roman" panose="02020603050405020304" pitchFamily="18" charset="0"/>
              </a:rPr>
              <a:t>将模拟电压</a:t>
            </a:r>
            <a:r>
              <a:rPr lang="en-US" altLang="zh-CN" b="1" err="1">
                <a:latin typeface="Times New Roman" panose="02020603050405020304" pitchFamily="18" charset="0"/>
              </a:rPr>
              <a:t>u</a:t>
            </a:r>
            <a:r>
              <a:rPr lang="en-US" altLang="zh-CN" b="1" baseline="-25000" err="1">
                <a:latin typeface="Times New Roman" panose="02020603050405020304" pitchFamily="18" charset="0"/>
              </a:rPr>
              <a:t>I</a:t>
            </a:r>
            <a:r>
              <a:rPr lang="zh-CN" altLang="en-US" b="1" dirty="0">
                <a:latin typeface="Times New Roman" panose="02020603050405020304" pitchFamily="18" charset="0"/>
              </a:rPr>
              <a:t>接入积分器开始积分，积分器输出</a:t>
            </a:r>
            <a:r>
              <a:rPr lang="en-US" altLang="zh-CN" b="1" err="1">
                <a:latin typeface="Times New Roman" panose="02020603050405020304" pitchFamily="18" charset="0"/>
              </a:rPr>
              <a:t>u</a:t>
            </a:r>
            <a:r>
              <a:rPr lang="en-US" altLang="zh-CN" b="1" baseline="-25000" err="1">
                <a:latin typeface="Times New Roman" panose="02020603050405020304" pitchFamily="18" charset="0"/>
              </a:rPr>
              <a:t>O</a:t>
            </a:r>
            <a:r>
              <a:rPr lang="zh-CN" altLang="en-US" b="1" dirty="0">
                <a:latin typeface="Times New Roman" panose="02020603050405020304" pitchFamily="18" charset="0"/>
              </a:rPr>
              <a:t>的变化如图</a:t>
            </a:r>
            <a:r>
              <a:rPr lang="en-US" altLang="zh-CN" b="1">
                <a:latin typeface="Times New Roman" panose="02020603050405020304" pitchFamily="18" charset="0"/>
              </a:rPr>
              <a:t>11- 24</a:t>
            </a:r>
            <a:r>
              <a:rPr lang="zh-CN" altLang="en-US" b="1" dirty="0">
                <a:latin typeface="Times New Roman" panose="02020603050405020304" pitchFamily="18" charset="0"/>
              </a:rPr>
              <a:t>中</a:t>
            </a:r>
            <a:r>
              <a:rPr lang="en-US" altLang="zh-CN" b="1">
                <a:latin typeface="Times New Roman" panose="02020603050405020304" pitchFamily="18" charset="0"/>
              </a:rPr>
              <a:t>T</a:t>
            </a:r>
            <a:r>
              <a:rPr lang="en-US" altLang="zh-CN" b="1" baseline="-25000">
                <a:latin typeface="Times New Roman" panose="02020603050405020304" pitchFamily="18" charset="0"/>
              </a:rPr>
              <a:t>1</a:t>
            </a:r>
            <a:r>
              <a:rPr lang="zh-CN" altLang="en-US" b="1" dirty="0">
                <a:latin typeface="Times New Roman" panose="02020603050405020304" pitchFamily="18" charset="0"/>
              </a:rPr>
              <a:t>段所示。由于</a:t>
            </a:r>
            <a:r>
              <a:rPr lang="en-US" altLang="zh-CN" b="1" err="1">
                <a:latin typeface="Times New Roman" panose="02020603050405020304" pitchFamily="18" charset="0"/>
              </a:rPr>
              <a:t>u</a:t>
            </a:r>
            <a:r>
              <a:rPr lang="en-US" altLang="zh-CN" b="1" baseline="-25000" err="1">
                <a:latin typeface="Times New Roman" panose="02020603050405020304" pitchFamily="18" charset="0"/>
              </a:rPr>
              <a:t>O</a:t>
            </a:r>
            <a:r>
              <a:rPr lang="zh-CN" altLang="en-US" b="1">
                <a:latin typeface="Times New Roman" panose="02020603050405020304" pitchFamily="18" charset="0"/>
              </a:rPr>
              <a:t>＜</a:t>
            </a:r>
            <a:r>
              <a:rPr lang="en-US" altLang="zh-CN" b="1">
                <a:latin typeface="Times New Roman" panose="02020603050405020304" pitchFamily="18" charset="0"/>
              </a:rPr>
              <a:t>0</a:t>
            </a:r>
            <a:r>
              <a:rPr lang="zh-CN" altLang="en-US" b="1">
                <a:latin typeface="Times New Roman" panose="02020603050405020304" pitchFamily="18" charset="0"/>
              </a:rPr>
              <a:t>，</a:t>
            </a:r>
            <a:r>
              <a:rPr lang="zh-CN" altLang="en-US" b="1" dirty="0">
                <a:latin typeface="Times New Roman" panose="02020603050405020304" pitchFamily="18" charset="0"/>
              </a:rPr>
              <a:t>所以过零比较器输出</a:t>
            </a:r>
            <a:r>
              <a:rPr lang="en-US" altLang="zh-CN" b="1">
                <a:latin typeface="Times New Roman" panose="02020603050405020304" pitchFamily="18" charset="0"/>
              </a:rPr>
              <a:t>C=1</a:t>
            </a:r>
            <a:r>
              <a:rPr lang="zh-CN" altLang="en-US" b="1">
                <a:latin typeface="Times New Roman" panose="02020603050405020304" pitchFamily="18" charset="0"/>
              </a:rPr>
              <a:t>，</a:t>
            </a:r>
            <a:r>
              <a:rPr lang="zh-CN" altLang="en-US" b="1" dirty="0">
                <a:latin typeface="Times New Roman" panose="02020603050405020304" pitchFamily="18" charset="0"/>
              </a:rPr>
              <a:t>时钟脉冲</a:t>
            </a:r>
            <a:r>
              <a:rPr lang="en-US" altLang="zh-CN" b="1">
                <a:latin typeface="Times New Roman" panose="02020603050405020304" pitchFamily="18" charset="0"/>
              </a:rPr>
              <a:t>CP</a:t>
            </a:r>
            <a:r>
              <a:rPr lang="zh-CN" altLang="en-US" b="1" dirty="0">
                <a:latin typeface="Times New Roman" panose="02020603050405020304" pitchFamily="18" charset="0"/>
              </a:rPr>
              <a:t>通过与门加到计数器的时钟输入端，数器从</a:t>
            </a:r>
            <a:r>
              <a:rPr lang="en-US" altLang="zh-CN" b="1">
                <a:latin typeface="Times New Roman" panose="02020603050405020304" pitchFamily="18" charset="0"/>
              </a:rPr>
              <a:t>0</a:t>
            </a:r>
            <a:r>
              <a:rPr lang="zh-CN" altLang="en-US" b="1" dirty="0">
                <a:latin typeface="Times New Roman" panose="02020603050405020304" pitchFamily="18" charset="0"/>
              </a:rPr>
              <a:t>开始计数。 在</a:t>
            </a:r>
            <a:r>
              <a:rPr lang="en-US" altLang="zh-CN" b="1">
                <a:latin typeface="Times New Roman" panose="02020603050405020304" pitchFamily="18" charset="0"/>
              </a:rPr>
              <a:t>2</a:t>
            </a:r>
            <a:r>
              <a:rPr lang="en-US" altLang="zh-CN" b="1" baseline="30000">
                <a:latin typeface="Times New Roman" panose="02020603050405020304" pitchFamily="18" charset="0"/>
              </a:rPr>
              <a:t>n</a:t>
            </a:r>
            <a:r>
              <a:rPr lang="zh-CN" altLang="en-US" b="1" dirty="0">
                <a:latin typeface="Times New Roman" panose="02020603050405020304" pitchFamily="18" charset="0"/>
              </a:rPr>
              <a:t>个时钟脉冲过后（</a:t>
            </a:r>
            <a:r>
              <a:rPr lang="en-US" altLang="zh-CN" b="1">
                <a:latin typeface="Times New Roman" panose="02020603050405020304" pitchFamily="18" charset="0"/>
              </a:rPr>
              <a:t>n</a:t>
            </a:r>
            <a:r>
              <a:rPr lang="zh-CN" altLang="en-US" b="1" dirty="0">
                <a:latin typeface="Times New Roman" panose="02020603050405020304" pitchFamily="18" charset="0"/>
              </a:rPr>
              <a:t>为计数器的位数），计数器又回到</a:t>
            </a:r>
            <a:r>
              <a:rPr lang="en-US" altLang="zh-CN" b="1">
                <a:latin typeface="Times New Roman" panose="02020603050405020304" pitchFamily="18" charset="0"/>
              </a:rPr>
              <a:t>0</a:t>
            </a:r>
            <a:r>
              <a:rPr lang="zh-CN" altLang="en-US" b="1" dirty="0">
                <a:latin typeface="Times New Roman" panose="02020603050405020304" pitchFamily="18" charset="0"/>
              </a:rPr>
              <a:t>，这时逻辑控制电路使开关</a:t>
            </a:r>
            <a:r>
              <a:rPr lang="en-US" altLang="zh-CN" b="1">
                <a:latin typeface="Times New Roman" panose="02020603050405020304" pitchFamily="18" charset="0"/>
              </a:rPr>
              <a:t>S1</a:t>
            </a:r>
            <a:r>
              <a:rPr lang="zh-CN" altLang="en-US" b="1" dirty="0">
                <a:latin typeface="Times New Roman" panose="02020603050405020304" pitchFamily="18" charset="0"/>
              </a:rPr>
              <a:t>切换到基准电压</a:t>
            </a:r>
            <a:r>
              <a:rPr lang="en-US" altLang="zh-CN" b="1">
                <a:latin typeface="Times New Roman" panose="02020603050405020304" pitchFamily="18" charset="0"/>
              </a:rPr>
              <a:t>U</a:t>
            </a:r>
            <a:r>
              <a:rPr lang="en-US" altLang="zh-CN" b="1" baseline="-25000">
                <a:latin typeface="Times New Roman" panose="02020603050405020304" pitchFamily="18" charset="0"/>
              </a:rPr>
              <a:t>REF</a:t>
            </a:r>
            <a:r>
              <a:rPr lang="zh-CN" altLang="en-US" b="1" dirty="0">
                <a:latin typeface="Times New Roman" panose="02020603050405020304" pitchFamily="18" charset="0"/>
              </a:rPr>
              <a:t>上，第一次积分结束。 第一次积分所用的时间</a:t>
            </a:r>
            <a:endParaRPr lang="zh-CN" altLang="en-US" b="1">
              <a:latin typeface="Times New Roman" panose="02020603050405020304" pitchFamily="18" charset="0"/>
            </a:endParaRPr>
          </a:p>
        </p:txBody>
      </p:sp>
      <p:sp>
        <p:nvSpPr>
          <p:cNvPr id="98309" name="文本框 98308"/>
          <p:cNvSpPr txBox="1"/>
          <p:nvPr/>
        </p:nvSpPr>
        <p:spPr>
          <a:xfrm>
            <a:off x="3657600" y="3810000"/>
            <a:ext cx="2208213" cy="579438"/>
          </a:xfrm>
          <a:prstGeom prst="rect">
            <a:avLst/>
          </a:prstGeom>
          <a:noFill/>
          <a:ln w="9525">
            <a:noFill/>
          </a:ln>
        </p:spPr>
        <p:txBody>
          <a:bodyPr>
            <a:spAutoFit/>
          </a:bodyPr>
          <a:p>
            <a:r>
              <a:rPr lang="en-US" altLang="zh-CN" sz="3200" b="1">
                <a:latin typeface="Times New Roman" panose="02020603050405020304" pitchFamily="18" charset="0"/>
              </a:rPr>
              <a:t>T</a:t>
            </a:r>
            <a:r>
              <a:rPr lang="en-US" altLang="zh-CN" sz="3200" b="1" baseline="-25000">
                <a:latin typeface="Times New Roman" panose="02020603050405020304" pitchFamily="18" charset="0"/>
              </a:rPr>
              <a:t>1</a:t>
            </a:r>
            <a:r>
              <a:rPr lang="en-US" altLang="zh-CN" sz="3200" b="1">
                <a:latin typeface="Times New Roman" panose="02020603050405020304" pitchFamily="18" charset="0"/>
              </a:rPr>
              <a:t>=2</a:t>
            </a:r>
            <a:r>
              <a:rPr lang="en-US" altLang="zh-CN" sz="3200" b="1" baseline="30000">
                <a:latin typeface="Times New Roman" panose="02020603050405020304" pitchFamily="18" charset="0"/>
              </a:rPr>
              <a:t>n</a:t>
            </a:r>
            <a:r>
              <a:rPr lang="en-US" altLang="zh-CN" sz="3200" b="1">
                <a:latin typeface="Times New Roman" panose="02020603050405020304" pitchFamily="18" charset="0"/>
              </a:rPr>
              <a:t>T</a:t>
            </a:r>
            <a:r>
              <a:rPr lang="en-US" altLang="zh-CN" sz="3200" b="1" baseline="-25000">
                <a:latin typeface="Times New Roman" panose="02020603050405020304" pitchFamily="18" charset="0"/>
              </a:rPr>
              <a:t>CP</a:t>
            </a:r>
            <a:r>
              <a:rPr lang="zh-CN" altLang="en-US" sz="3200" b="1">
                <a:latin typeface="Times New Roman" panose="02020603050405020304" pitchFamily="18" charset="0"/>
              </a:rPr>
              <a:t></a:t>
            </a:r>
            <a:endParaRPr lang="zh-CN" altLang="en-US" sz="3200" b="1">
              <a:latin typeface="Times New Roman" panose="02020603050405020304" pitchFamily="18" charset="0"/>
            </a:endParaRPr>
          </a:p>
        </p:txBody>
      </p:sp>
      <p:sp>
        <p:nvSpPr>
          <p:cNvPr id="98310" name="文本框 98309"/>
          <p:cNvSpPr txBox="1"/>
          <p:nvPr/>
        </p:nvSpPr>
        <p:spPr>
          <a:xfrm>
            <a:off x="152400" y="4267200"/>
            <a:ext cx="8991600" cy="1187450"/>
          </a:xfrm>
          <a:prstGeom prst="rect">
            <a:avLst/>
          </a:prstGeom>
          <a:noFill/>
          <a:ln w="9525">
            <a:noFill/>
          </a:ln>
        </p:spPr>
        <p:txBody>
          <a:bodyPr>
            <a:spAutoFit/>
          </a:bodyPr>
          <a:p>
            <a:pPr>
              <a:lnSpc>
                <a:spcPct val="150000"/>
              </a:lnSpc>
            </a:pPr>
            <a:r>
              <a:rPr lang="zh-CN" altLang="en-US" b="1" dirty="0">
                <a:latin typeface="Times New Roman" panose="02020603050405020304" pitchFamily="18" charset="0"/>
              </a:rPr>
              <a:t>其中</a:t>
            </a:r>
            <a:r>
              <a:rPr lang="en-US" altLang="zh-CN" b="1">
                <a:latin typeface="Times New Roman" panose="02020603050405020304" pitchFamily="18" charset="0"/>
              </a:rPr>
              <a:t>T</a:t>
            </a:r>
            <a:r>
              <a:rPr lang="en-US" altLang="zh-CN" b="1" baseline="-25000">
                <a:latin typeface="Times New Roman" panose="02020603050405020304" pitchFamily="18" charset="0"/>
              </a:rPr>
              <a:t>CP</a:t>
            </a:r>
            <a:r>
              <a:rPr lang="zh-CN" altLang="en-US" b="1" dirty="0">
                <a:latin typeface="Times New Roman" panose="02020603050405020304" pitchFamily="18" charset="0"/>
              </a:rPr>
              <a:t>是时钟脉冲的周期。当第一次积分结束时，积分器输出的电压为</a:t>
            </a:r>
            <a:r>
              <a:rPr lang="zh-CN" altLang="en-US" dirty="0">
                <a:latin typeface="Times New Roman" panose="02020603050405020304" pitchFamily="18" charset="0"/>
              </a:rPr>
              <a:t></a:t>
            </a:r>
            <a:endParaRPr lang="zh-CN" altLang="en-US">
              <a:latin typeface="Times New Roman" panose="02020603050405020304" pitchFamily="18" charset="0"/>
            </a:endParaRPr>
          </a:p>
        </p:txBody>
      </p:sp>
      <p:graphicFrame>
        <p:nvGraphicFramePr>
          <p:cNvPr id="98311" name="对象 98310"/>
          <p:cNvGraphicFramePr/>
          <p:nvPr/>
        </p:nvGraphicFramePr>
        <p:xfrm>
          <a:off x="2286000" y="4724400"/>
          <a:ext cx="4819650" cy="2149475"/>
        </p:xfrm>
        <a:graphic>
          <a:graphicData uri="http://schemas.openxmlformats.org/presentationml/2006/ole">
            <mc:AlternateContent xmlns:mc="http://schemas.openxmlformats.org/markup-compatibility/2006">
              <mc:Choice xmlns:v="urn:schemas-microsoft-com:vml" Requires="v">
                <p:oleObj spid="_x0000_s3123" name="" r:id="rId1" imgW="1993900" imgH="889000" progId="Equation.3">
                  <p:embed/>
                </p:oleObj>
              </mc:Choice>
              <mc:Fallback>
                <p:oleObj name="" r:id="rId1" imgW="1993900" imgH="889000" progId="Equation.3">
                  <p:embed/>
                  <p:pic>
                    <p:nvPicPr>
                      <p:cNvPr id="0" name="图片 3122"/>
                      <p:cNvPicPr/>
                      <p:nvPr/>
                    </p:nvPicPr>
                    <p:blipFill>
                      <a:blip r:embed="rId2"/>
                      <a:stretch>
                        <a:fillRect/>
                      </a:stretch>
                    </p:blipFill>
                    <p:spPr>
                      <a:xfrm>
                        <a:off x="2286000" y="4724400"/>
                        <a:ext cx="4819650" cy="2149475"/>
                      </a:xfrm>
                      <a:prstGeom prst="rect">
                        <a:avLst/>
                      </a:prstGeom>
                      <a:noFill/>
                      <a:ln w="38100">
                        <a:noFill/>
                        <a:miter/>
                      </a:ln>
                    </p:spPr>
                  </p:pic>
                </p:oleObj>
              </mc:Fallback>
            </mc:AlternateContent>
          </a:graphicData>
        </a:graphic>
      </p:graphicFrame>
      <p:sp>
        <p:nvSpPr>
          <p:cNvPr id="98312" name="文本框 98311"/>
          <p:cNvSpPr txBox="1"/>
          <p:nvPr/>
        </p:nvSpPr>
        <p:spPr>
          <a:xfrm>
            <a:off x="7924800" y="5638800"/>
            <a:ext cx="1098550" cy="457200"/>
          </a:xfrm>
          <a:prstGeom prst="rect">
            <a:avLst/>
          </a:prstGeom>
          <a:noFill/>
          <a:ln w="9525">
            <a:noFill/>
          </a:ln>
        </p:spPr>
        <p:txBody>
          <a:bodyPr wrap="none" anchor="t" anchorCtr="0">
            <a:spAutoFit/>
          </a:bodyPr>
          <a:p>
            <a:r>
              <a:rPr lang="en-US" altLang="zh-CN">
                <a:latin typeface="Times New Roman" panose="02020603050405020304" pitchFamily="18" charset="0"/>
              </a:rPr>
              <a:t>(11-30)</a:t>
            </a:r>
            <a:endParaRPr lang="en-US" altLang="zh-CN">
              <a:latin typeface="Times New Roman" panose="02020603050405020304" pitchFamily="18" charset="0"/>
            </a:endParaRPr>
          </a:p>
        </p:txBody>
      </p:sp>
    </p:spTree>
  </p:cSld>
  <p:clrMapOvr>
    <a:masterClrMapping/>
  </p:clrMapOvr>
  <p:transition>
    <p:blinds dir="vert"/>
  </p:transition>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7286" name="文本框 97285"/>
          <p:cNvSpPr txBox="1"/>
          <p:nvPr/>
        </p:nvSpPr>
        <p:spPr>
          <a:xfrm>
            <a:off x="762000" y="609600"/>
            <a:ext cx="6704013" cy="457200"/>
          </a:xfrm>
          <a:prstGeom prst="rect">
            <a:avLst/>
          </a:prstGeom>
          <a:noFill/>
          <a:ln w="9525">
            <a:noFill/>
          </a:ln>
        </p:spPr>
        <p:txBody>
          <a:bodyPr wrap="none" anchor="t" anchorCtr="0">
            <a:spAutoFit/>
          </a:bodyPr>
          <a:p>
            <a:r>
              <a:rPr lang="zh-CN" altLang="en-US" b="1" dirty="0">
                <a:latin typeface="Times New Roman" panose="02020603050405020304" pitchFamily="18" charset="0"/>
              </a:rPr>
              <a:t>第二次积分</a:t>
            </a:r>
            <a:r>
              <a:rPr lang="en-US" altLang="zh-CN" b="1">
                <a:latin typeface="Times New Roman" panose="02020603050405020304" pitchFamily="18" charset="0"/>
              </a:rPr>
              <a:t>——</a:t>
            </a:r>
            <a:r>
              <a:rPr lang="zh-CN" altLang="en-US" b="1" dirty="0">
                <a:latin typeface="Times New Roman" panose="02020603050405020304" pitchFamily="18" charset="0"/>
              </a:rPr>
              <a:t>对基准电压</a:t>
            </a:r>
            <a:r>
              <a:rPr lang="en-US" altLang="zh-CN" b="1">
                <a:latin typeface="Times New Roman" panose="02020603050405020304" pitchFamily="18" charset="0"/>
              </a:rPr>
              <a:t>U</a:t>
            </a:r>
            <a:r>
              <a:rPr lang="en-US" altLang="zh-CN" b="1" baseline="-25000">
                <a:latin typeface="Times New Roman" panose="02020603050405020304" pitchFamily="18" charset="0"/>
              </a:rPr>
              <a:t>REF</a:t>
            </a:r>
            <a:r>
              <a:rPr lang="zh-CN" altLang="en-US" b="1" dirty="0">
                <a:latin typeface="Times New Roman" panose="02020603050405020304" pitchFamily="18" charset="0"/>
              </a:rPr>
              <a:t>的反向积分。 </a:t>
            </a:r>
            <a:endParaRPr lang="zh-CN" altLang="en-US" b="1">
              <a:latin typeface="Times New Roman" panose="02020603050405020304" pitchFamily="18" charset="0"/>
            </a:endParaRPr>
          </a:p>
        </p:txBody>
      </p:sp>
      <p:sp>
        <p:nvSpPr>
          <p:cNvPr id="97287" name="文本框 97286"/>
          <p:cNvSpPr txBox="1"/>
          <p:nvPr/>
        </p:nvSpPr>
        <p:spPr>
          <a:xfrm>
            <a:off x="190500" y="1100138"/>
            <a:ext cx="8763000" cy="4035425"/>
          </a:xfrm>
          <a:prstGeom prst="rect">
            <a:avLst/>
          </a:prstGeom>
          <a:noFill/>
          <a:ln w="9525">
            <a:noFill/>
          </a:ln>
        </p:spPr>
        <p:txBody>
          <a:bodyPr>
            <a:spAutoFit/>
          </a:bodyPr>
          <a:p>
            <a:pPr>
              <a:lnSpc>
                <a:spcPct val="180000"/>
              </a:lnSpc>
              <a:spcBef>
                <a:spcPct val="50000"/>
              </a:spcBef>
            </a:pPr>
            <a:r>
              <a:rPr lang="en-US" altLang="zh-CN" dirty="0">
                <a:latin typeface="Times New Roman" panose="02020603050405020304" pitchFamily="18" charset="0"/>
              </a:rPr>
              <a:t>        </a:t>
            </a:r>
            <a:r>
              <a:rPr lang="zh-CN" altLang="en-US" b="1" dirty="0">
                <a:latin typeface="Times New Roman" panose="02020603050405020304" pitchFamily="18" charset="0"/>
              </a:rPr>
              <a:t>当时间</a:t>
            </a:r>
            <a:r>
              <a:rPr lang="en-US" altLang="zh-CN" b="1" i="1">
                <a:latin typeface="Times New Roman" panose="02020603050405020304" pitchFamily="18" charset="0"/>
              </a:rPr>
              <a:t>t</a:t>
            </a:r>
            <a:r>
              <a:rPr lang="en-US" altLang="zh-CN" b="1">
                <a:latin typeface="Times New Roman" panose="02020603050405020304" pitchFamily="18" charset="0"/>
              </a:rPr>
              <a:t> = </a:t>
            </a:r>
            <a:r>
              <a:rPr lang="en-US" altLang="zh-CN" b="1" i="1">
                <a:latin typeface="Times New Roman" panose="02020603050405020304" pitchFamily="18" charset="0"/>
              </a:rPr>
              <a:t>t</a:t>
            </a:r>
            <a:r>
              <a:rPr lang="en-US" altLang="zh-CN" b="1" baseline="-25000">
                <a:latin typeface="Times New Roman" panose="02020603050405020304" pitchFamily="18" charset="0"/>
              </a:rPr>
              <a:t>1</a:t>
            </a:r>
            <a:r>
              <a:rPr lang="zh-CN" altLang="en-US" b="1" dirty="0">
                <a:latin typeface="Times New Roman" panose="02020603050405020304" pitchFamily="18" charset="0"/>
              </a:rPr>
              <a:t>时，开关</a:t>
            </a:r>
            <a:r>
              <a:rPr lang="en-US" altLang="zh-CN" b="1">
                <a:latin typeface="Times New Roman" panose="02020603050405020304" pitchFamily="18" charset="0"/>
              </a:rPr>
              <a:t>S</a:t>
            </a:r>
            <a:r>
              <a:rPr lang="en-US" altLang="zh-CN" b="1" baseline="-25000">
                <a:latin typeface="Times New Roman" panose="02020603050405020304" pitchFamily="18" charset="0"/>
              </a:rPr>
              <a:t>1</a:t>
            </a:r>
            <a:r>
              <a:rPr lang="zh-CN" altLang="en-US" b="1" dirty="0">
                <a:latin typeface="Times New Roman" panose="02020603050405020304" pitchFamily="18" charset="0"/>
              </a:rPr>
              <a:t>将极性为负的基准电压</a:t>
            </a:r>
            <a:r>
              <a:rPr lang="en-US" altLang="zh-CN" b="1">
                <a:latin typeface="Times New Roman" panose="02020603050405020304" pitchFamily="18" charset="0"/>
              </a:rPr>
              <a:t>U</a:t>
            </a:r>
            <a:r>
              <a:rPr lang="en-US" altLang="zh-CN" b="1" baseline="-25000">
                <a:latin typeface="Times New Roman" panose="02020603050405020304" pitchFamily="18" charset="0"/>
              </a:rPr>
              <a:t>REF</a:t>
            </a:r>
            <a:r>
              <a:rPr lang="zh-CN" altLang="en-US" b="1" dirty="0">
                <a:latin typeface="Times New Roman" panose="02020603050405020304" pitchFamily="18" charset="0"/>
              </a:rPr>
              <a:t>接入积分器开始反向积分，积分器输出</a:t>
            </a:r>
            <a:r>
              <a:rPr lang="en-US" altLang="zh-CN" b="1" err="1">
                <a:latin typeface="Times New Roman" panose="02020603050405020304" pitchFamily="18" charset="0"/>
              </a:rPr>
              <a:t>u</a:t>
            </a:r>
            <a:r>
              <a:rPr lang="en-US" altLang="zh-CN" b="1" baseline="-25000" err="1">
                <a:latin typeface="Times New Roman" panose="02020603050405020304" pitchFamily="18" charset="0"/>
              </a:rPr>
              <a:t>O</a:t>
            </a:r>
            <a:r>
              <a:rPr lang="zh-CN" altLang="en-US" b="1" dirty="0">
                <a:latin typeface="Times New Roman" panose="02020603050405020304" pitchFamily="18" charset="0"/>
              </a:rPr>
              <a:t>的变化如图</a:t>
            </a:r>
            <a:r>
              <a:rPr lang="en-US" altLang="zh-CN" b="1">
                <a:latin typeface="Times New Roman" panose="02020603050405020304" pitchFamily="18" charset="0"/>
              </a:rPr>
              <a:t>11- 26</a:t>
            </a:r>
            <a:r>
              <a:rPr lang="zh-CN" altLang="en-US" b="1" dirty="0">
                <a:latin typeface="Times New Roman" panose="02020603050405020304" pitchFamily="18" charset="0"/>
              </a:rPr>
              <a:t>中</a:t>
            </a:r>
            <a:r>
              <a:rPr lang="en-US" altLang="zh-CN" b="1">
                <a:latin typeface="Times New Roman" panose="02020603050405020304" pitchFamily="18" charset="0"/>
              </a:rPr>
              <a:t>T</a:t>
            </a:r>
            <a:r>
              <a:rPr lang="en-US" altLang="zh-CN" b="1" baseline="-25000">
                <a:latin typeface="Times New Roman" panose="02020603050405020304" pitchFamily="18" charset="0"/>
              </a:rPr>
              <a:t>2</a:t>
            </a:r>
            <a:r>
              <a:rPr lang="zh-CN" altLang="en-US" b="1" dirty="0">
                <a:latin typeface="Times New Roman" panose="02020603050405020304" pitchFamily="18" charset="0"/>
              </a:rPr>
              <a:t>段所示。 计数器从</a:t>
            </a:r>
            <a:r>
              <a:rPr lang="en-US" altLang="zh-CN" b="1">
                <a:latin typeface="Times New Roman" panose="02020603050405020304" pitchFamily="18" charset="0"/>
              </a:rPr>
              <a:t>0</a:t>
            </a:r>
            <a:r>
              <a:rPr lang="zh-CN" altLang="en-US" b="1" dirty="0">
                <a:latin typeface="Times New Roman" panose="02020603050405020304" pitchFamily="18" charset="0"/>
              </a:rPr>
              <a:t>开始重新计数。当时间</a:t>
            </a:r>
            <a:r>
              <a:rPr lang="en-US" altLang="zh-CN" b="1">
                <a:latin typeface="Times New Roman" panose="02020603050405020304" pitchFamily="18" charset="0"/>
              </a:rPr>
              <a:t>t = t</a:t>
            </a:r>
            <a:r>
              <a:rPr lang="en-US" altLang="zh-CN" b="1" baseline="-25000">
                <a:latin typeface="Times New Roman" panose="02020603050405020304" pitchFamily="18" charset="0"/>
              </a:rPr>
              <a:t>2</a:t>
            </a:r>
            <a:r>
              <a:rPr lang="zh-CN" altLang="en-US" b="1" dirty="0">
                <a:latin typeface="Times New Roman" panose="02020603050405020304" pitchFamily="18" charset="0"/>
              </a:rPr>
              <a:t>时，</a:t>
            </a:r>
            <a:r>
              <a:rPr lang="en-US" altLang="zh-CN" b="1" err="1">
                <a:latin typeface="Times New Roman" panose="02020603050405020304" pitchFamily="18" charset="0"/>
              </a:rPr>
              <a:t>u</a:t>
            </a:r>
            <a:r>
              <a:rPr lang="en-US" altLang="zh-CN" b="1" baseline="-25000" err="1">
                <a:latin typeface="Times New Roman" panose="02020603050405020304" pitchFamily="18" charset="0"/>
              </a:rPr>
              <a:t>O</a:t>
            </a:r>
            <a:r>
              <a:rPr lang="zh-CN" altLang="en-US" b="1" dirty="0">
                <a:latin typeface="Times New Roman" panose="02020603050405020304" pitchFamily="18" charset="0"/>
              </a:rPr>
              <a:t>的电压线性上升到</a:t>
            </a:r>
            <a:r>
              <a:rPr lang="en-US" altLang="zh-CN" b="1">
                <a:latin typeface="Times New Roman" panose="02020603050405020304" pitchFamily="18" charset="0"/>
              </a:rPr>
              <a:t>0</a:t>
            </a:r>
            <a:r>
              <a:rPr lang="zh-CN" altLang="en-US" b="1" dirty="0">
                <a:latin typeface="Times New Roman" panose="02020603050405020304" pitchFamily="18" charset="0"/>
              </a:rPr>
              <a:t>， 比较器输出</a:t>
            </a:r>
            <a:r>
              <a:rPr lang="en-US" altLang="zh-CN" b="1">
                <a:latin typeface="Times New Roman" panose="02020603050405020304" pitchFamily="18" charset="0"/>
              </a:rPr>
              <a:t>C=0</a:t>
            </a:r>
            <a:r>
              <a:rPr lang="zh-CN" altLang="en-US" b="1">
                <a:latin typeface="Times New Roman" panose="02020603050405020304" pitchFamily="18" charset="0"/>
              </a:rPr>
              <a:t>，</a:t>
            </a:r>
            <a:r>
              <a:rPr lang="zh-CN" altLang="en-US" b="1" dirty="0">
                <a:latin typeface="Times New Roman" panose="02020603050405020304" pitchFamily="18" charset="0"/>
              </a:rPr>
              <a:t>与门关闭，计数器停止计数，第二次积分过程也告结束，计数器的数值</a:t>
            </a:r>
            <a:r>
              <a:rPr lang="en-US" altLang="zh-CN" b="1">
                <a:latin typeface="Times New Roman" panose="02020603050405020304" pitchFamily="18" charset="0"/>
              </a:rPr>
              <a:t>D</a:t>
            </a:r>
            <a:r>
              <a:rPr lang="zh-CN" altLang="en-US" b="1" dirty="0">
                <a:latin typeface="Times New Roman" panose="02020603050405020304" pitchFamily="18" charset="0"/>
              </a:rPr>
              <a:t>就是</a:t>
            </a:r>
            <a:r>
              <a:rPr lang="en-US" altLang="zh-CN" b="1">
                <a:latin typeface="Times New Roman" panose="02020603050405020304" pitchFamily="18" charset="0"/>
              </a:rPr>
              <a:t>A/D</a:t>
            </a:r>
            <a:r>
              <a:rPr lang="zh-CN" altLang="en-US" b="1" dirty="0">
                <a:latin typeface="Times New Roman" panose="02020603050405020304" pitchFamily="18" charset="0"/>
              </a:rPr>
              <a:t>转换输出的数字量。</a:t>
            </a:r>
            <a:r>
              <a:rPr lang="en-US" altLang="zh-CN" b="1">
                <a:latin typeface="Times New Roman" panose="02020603050405020304" pitchFamily="18" charset="0"/>
              </a:rPr>
              <a:t>t</a:t>
            </a:r>
            <a:r>
              <a:rPr lang="en-US" altLang="zh-CN" b="1" baseline="-25000">
                <a:latin typeface="Times New Roman" panose="02020603050405020304" pitchFamily="18" charset="0"/>
              </a:rPr>
              <a:t>2</a:t>
            </a:r>
            <a:r>
              <a:rPr lang="zh-CN" altLang="en-US" b="1" dirty="0">
                <a:latin typeface="Times New Roman" panose="02020603050405020304" pitchFamily="18" charset="0"/>
              </a:rPr>
              <a:t>时刻的电压可写为</a:t>
            </a:r>
            <a:endParaRPr lang="zh-CN" altLang="en-US" b="1">
              <a:latin typeface="Times New Roman" panose="02020603050405020304" pitchFamily="18" charset="0"/>
            </a:endParaRPr>
          </a:p>
        </p:txBody>
      </p:sp>
      <p:graphicFrame>
        <p:nvGraphicFramePr>
          <p:cNvPr id="97288" name="对象 97287"/>
          <p:cNvGraphicFramePr/>
          <p:nvPr/>
        </p:nvGraphicFramePr>
        <p:xfrm>
          <a:off x="2286000" y="5257800"/>
          <a:ext cx="4572000" cy="914400"/>
        </p:xfrm>
        <a:graphic>
          <a:graphicData uri="http://schemas.openxmlformats.org/presentationml/2006/ole">
            <mc:AlternateContent xmlns:mc="http://schemas.openxmlformats.org/markup-compatibility/2006">
              <mc:Choice xmlns:v="urn:schemas-microsoft-com:vml" Requires="v">
                <p:oleObj spid="_x0000_s3127" name="" r:id="rId1" imgW="1967865" imgH="393700" progId="Equation.3">
                  <p:embed/>
                </p:oleObj>
              </mc:Choice>
              <mc:Fallback>
                <p:oleObj name="" r:id="rId1" imgW="1967865" imgH="393700" progId="Equation.3">
                  <p:embed/>
                  <p:pic>
                    <p:nvPicPr>
                      <p:cNvPr id="0" name="图片 3126"/>
                      <p:cNvPicPr/>
                      <p:nvPr/>
                    </p:nvPicPr>
                    <p:blipFill>
                      <a:blip r:embed="rId2"/>
                      <a:stretch>
                        <a:fillRect/>
                      </a:stretch>
                    </p:blipFill>
                    <p:spPr>
                      <a:xfrm>
                        <a:off x="2286000" y="5257800"/>
                        <a:ext cx="4572000" cy="914400"/>
                      </a:xfrm>
                      <a:prstGeom prst="rect">
                        <a:avLst/>
                      </a:prstGeom>
                      <a:noFill/>
                      <a:ln w="38100">
                        <a:noFill/>
                        <a:miter/>
                      </a:ln>
                    </p:spPr>
                  </p:pic>
                </p:oleObj>
              </mc:Fallback>
            </mc:AlternateContent>
          </a:graphicData>
        </a:graphic>
      </p:graphicFrame>
      <p:sp>
        <p:nvSpPr>
          <p:cNvPr id="97290" name="文本框 97289"/>
          <p:cNvSpPr txBox="1"/>
          <p:nvPr/>
        </p:nvSpPr>
        <p:spPr>
          <a:xfrm>
            <a:off x="7772400" y="5562600"/>
            <a:ext cx="1098550" cy="457200"/>
          </a:xfrm>
          <a:prstGeom prst="rect">
            <a:avLst/>
          </a:prstGeom>
          <a:noFill/>
          <a:ln w="9525">
            <a:noFill/>
          </a:ln>
        </p:spPr>
        <p:txBody>
          <a:bodyPr wrap="none" anchor="t" anchorCtr="0">
            <a:spAutoFit/>
          </a:bodyPr>
          <a:p>
            <a:r>
              <a:rPr lang="en-US" altLang="zh-CN">
                <a:latin typeface="Times New Roman" panose="02020603050405020304" pitchFamily="18" charset="0"/>
              </a:rPr>
              <a:t>(11-31)</a:t>
            </a:r>
            <a:endParaRPr lang="en-US" altLang="zh-CN">
              <a:latin typeface="Times New Roman" panose="02020603050405020304" pitchFamily="18" charset="0"/>
            </a:endParaRPr>
          </a:p>
        </p:txBody>
      </p:sp>
    </p:spTree>
  </p:cSld>
  <p:clrMapOvr>
    <a:masterClrMapping/>
  </p:clrMapOvr>
  <p:transition>
    <p:blinds dir="vert"/>
  </p:transition>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0356" name="文本框 100355"/>
          <p:cNvSpPr txBox="1"/>
          <p:nvPr/>
        </p:nvSpPr>
        <p:spPr>
          <a:xfrm>
            <a:off x="381000" y="762000"/>
            <a:ext cx="1182688" cy="457200"/>
          </a:xfrm>
          <a:prstGeom prst="rect">
            <a:avLst/>
          </a:prstGeom>
          <a:noFill/>
          <a:ln w="9525">
            <a:noFill/>
          </a:ln>
        </p:spPr>
        <p:txBody>
          <a:bodyPr wrap="none" anchor="t" anchorCtr="0">
            <a:spAutoFit/>
          </a:bodyPr>
          <a:p>
            <a:r>
              <a:rPr lang="zh-CN" altLang="en-US" dirty="0">
                <a:latin typeface="Times New Roman" panose="02020603050405020304" pitchFamily="18" charset="0"/>
              </a:rPr>
              <a:t>于是有</a:t>
            </a:r>
            <a:r>
              <a:rPr lang="en-US" altLang="zh-CN">
                <a:latin typeface="Times New Roman" panose="02020603050405020304" pitchFamily="18" charset="0"/>
              </a:rPr>
              <a:t>:</a:t>
            </a:r>
            <a:endParaRPr lang="en-US" altLang="zh-CN">
              <a:latin typeface="Times New Roman" panose="02020603050405020304" pitchFamily="18" charset="0"/>
            </a:endParaRPr>
          </a:p>
        </p:txBody>
      </p:sp>
      <p:graphicFrame>
        <p:nvGraphicFramePr>
          <p:cNvPr id="100357" name="对象 100356"/>
          <p:cNvGraphicFramePr/>
          <p:nvPr/>
        </p:nvGraphicFramePr>
        <p:xfrm>
          <a:off x="2286000" y="1371600"/>
          <a:ext cx="4114800" cy="1117600"/>
        </p:xfrm>
        <a:graphic>
          <a:graphicData uri="http://schemas.openxmlformats.org/presentationml/2006/ole">
            <mc:AlternateContent xmlns:mc="http://schemas.openxmlformats.org/markup-compatibility/2006">
              <mc:Choice xmlns:v="urn:schemas-microsoft-com:vml" Requires="v">
                <p:oleObj spid="_x0000_s3126" name="" r:id="rId1" imgW="1586865" imgH="431800" progId="Equation.3">
                  <p:embed/>
                </p:oleObj>
              </mc:Choice>
              <mc:Fallback>
                <p:oleObj name="" r:id="rId1" imgW="1586865" imgH="431800" progId="Equation.3">
                  <p:embed/>
                  <p:pic>
                    <p:nvPicPr>
                      <p:cNvPr id="0" name="图片 3125"/>
                      <p:cNvPicPr/>
                      <p:nvPr/>
                    </p:nvPicPr>
                    <p:blipFill>
                      <a:blip r:embed="rId2"/>
                      <a:stretch>
                        <a:fillRect/>
                      </a:stretch>
                    </p:blipFill>
                    <p:spPr>
                      <a:xfrm>
                        <a:off x="2286000" y="1371600"/>
                        <a:ext cx="4114800" cy="1117600"/>
                      </a:xfrm>
                      <a:prstGeom prst="rect">
                        <a:avLst/>
                      </a:prstGeom>
                      <a:noFill/>
                      <a:ln w="38100">
                        <a:noFill/>
                        <a:miter/>
                      </a:ln>
                    </p:spPr>
                  </p:pic>
                </p:oleObj>
              </mc:Fallback>
            </mc:AlternateContent>
          </a:graphicData>
        </a:graphic>
      </p:graphicFrame>
      <p:sp>
        <p:nvSpPr>
          <p:cNvPr id="100358" name="文本框 100357"/>
          <p:cNvSpPr txBox="1"/>
          <p:nvPr/>
        </p:nvSpPr>
        <p:spPr>
          <a:xfrm>
            <a:off x="7315200" y="1752600"/>
            <a:ext cx="1098550" cy="457200"/>
          </a:xfrm>
          <a:prstGeom prst="rect">
            <a:avLst/>
          </a:prstGeom>
          <a:noFill/>
          <a:ln w="9525">
            <a:noFill/>
          </a:ln>
        </p:spPr>
        <p:txBody>
          <a:bodyPr wrap="none" anchor="t" anchorCtr="0">
            <a:spAutoFit/>
          </a:bodyPr>
          <a:p>
            <a:r>
              <a:rPr lang="en-US" altLang="zh-CN">
                <a:latin typeface="Times New Roman" panose="02020603050405020304" pitchFamily="18" charset="0"/>
              </a:rPr>
              <a:t>(11-32)</a:t>
            </a:r>
            <a:endParaRPr lang="en-US" altLang="zh-CN">
              <a:latin typeface="Times New Roman" panose="02020603050405020304" pitchFamily="18" charset="0"/>
            </a:endParaRPr>
          </a:p>
        </p:txBody>
      </p:sp>
      <p:graphicFrame>
        <p:nvGraphicFramePr>
          <p:cNvPr id="100359" name="对象 100358"/>
          <p:cNvGraphicFramePr/>
          <p:nvPr/>
        </p:nvGraphicFramePr>
        <p:xfrm>
          <a:off x="2743200" y="3048000"/>
          <a:ext cx="3536950" cy="1190625"/>
        </p:xfrm>
        <a:graphic>
          <a:graphicData uri="http://schemas.openxmlformats.org/presentationml/2006/ole">
            <mc:AlternateContent xmlns:mc="http://schemas.openxmlformats.org/markup-compatibility/2006">
              <mc:Choice xmlns:v="urn:schemas-microsoft-com:vml" Requires="v">
                <p:oleObj spid="_x0000_s3125" name="" r:id="rId3" imgW="1282065" imgH="431800" progId="Equation.3">
                  <p:embed/>
                </p:oleObj>
              </mc:Choice>
              <mc:Fallback>
                <p:oleObj name="" r:id="rId3" imgW="1282065" imgH="431800" progId="Equation.3">
                  <p:embed/>
                  <p:pic>
                    <p:nvPicPr>
                      <p:cNvPr id="0" name="图片 3124"/>
                      <p:cNvPicPr/>
                      <p:nvPr/>
                    </p:nvPicPr>
                    <p:blipFill>
                      <a:blip r:embed="rId4"/>
                      <a:stretch>
                        <a:fillRect/>
                      </a:stretch>
                    </p:blipFill>
                    <p:spPr>
                      <a:xfrm>
                        <a:off x="2743200" y="3048000"/>
                        <a:ext cx="3536950" cy="1190625"/>
                      </a:xfrm>
                      <a:prstGeom prst="rect">
                        <a:avLst/>
                      </a:prstGeom>
                      <a:noFill/>
                      <a:ln w="38100">
                        <a:noFill/>
                        <a:miter/>
                      </a:ln>
                    </p:spPr>
                  </p:pic>
                </p:oleObj>
              </mc:Fallback>
            </mc:AlternateContent>
          </a:graphicData>
        </a:graphic>
      </p:graphicFrame>
      <p:sp>
        <p:nvSpPr>
          <p:cNvPr id="100360" name="文本框 100359"/>
          <p:cNvSpPr txBox="1"/>
          <p:nvPr/>
        </p:nvSpPr>
        <p:spPr>
          <a:xfrm>
            <a:off x="7391400" y="3429000"/>
            <a:ext cx="1098550" cy="457200"/>
          </a:xfrm>
          <a:prstGeom prst="rect">
            <a:avLst/>
          </a:prstGeom>
          <a:noFill/>
          <a:ln w="9525">
            <a:noFill/>
          </a:ln>
        </p:spPr>
        <p:txBody>
          <a:bodyPr wrap="none" anchor="t" anchorCtr="0">
            <a:spAutoFit/>
          </a:bodyPr>
          <a:p>
            <a:r>
              <a:rPr lang="en-US" altLang="zh-CN">
                <a:latin typeface="Times New Roman" panose="02020603050405020304" pitchFamily="18" charset="0"/>
              </a:rPr>
              <a:t>(11-33)</a:t>
            </a:r>
            <a:endParaRPr lang="en-US" altLang="zh-CN">
              <a:latin typeface="Times New Roman" panose="02020603050405020304" pitchFamily="18" charset="0"/>
            </a:endParaRPr>
          </a:p>
        </p:txBody>
      </p:sp>
      <p:sp>
        <p:nvSpPr>
          <p:cNvPr id="100361" name="文本框 100360"/>
          <p:cNvSpPr txBox="1"/>
          <p:nvPr/>
        </p:nvSpPr>
        <p:spPr>
          <a:xfrm>
            <a:off x="517525" y="4841875"/>
            <a:ext cx="6740525" cy="822325"/>
          </a:xfrm>
          <a:prstGeom prst="rect">
            <a:avLst/>
          </a:prstGeom>
          <a:noFill/>
          <a:ln w="9525">
            <a:noFill/>
          </a:ln>
        </p:spPr>
        <p:txBody>
          <a:bodyPr>
            <a:spAutoFit/>
          </a:bodyPr>
          <a:p>
            <a:r>
              <a:rPr lang="zh-CN" altLang="en-US" dirty="0">
                <a:latin typeface="Times New Roman" panose="02020603050405020304" pitchFamily="18" charset="0"/>
              </a:rPr>
              <a:t>由式</a:t>
            </a:r>
            <a:r>
              <a:rPr lang="en-US" altLang="zh-CN">
                <a:latin typeface="Times New Roman" panose="02020603050405020304" pitchFamily="18" charset="0"/>
              </a:rPr>
              <a:t>11- 33</a:t>
            </a:r>
            <a:r>
              <a:rPr lang="zh-CN" altLang="en-US" dirty="0">
                <a:latin typeface="Times New Roman" panose="02020603050405020304" pitchFamily="18" charset="0"/>
              </a:rPr>
              <a:t>可以看出，数字量</a:t>
            </a:r>
            <a:r>
              <a:rPr lang="en-US" altLang="zh-CN">
                <a:latin typeface="Times New Roman" panose="02020603050405020304" pitchFamily="18" charset="0"/>
              </a:rPr>
              <a:t>D</a:t>
            </a:r>
            <a:r>
              <a:rPr lang="zh-CN" altLang="en-US">
                <a:latin typeface="Times New Roman" panose="02020603050405020304" pitchFamily="18" charset="0"/>
              </a:rPr>
              <a:t>与</a:t>
            </a:r>
            <a:r>
              <a:rPr lang="en-US" altLang="zh-CN" err="1">
                <a:latin typeface="Times New Roman" panose="02020603050405020304" pitchFamily="18" charset="0"/>
              </a:rPr>
              <a:t>u</a:t>
            </a:r>
            <a:r>
              <a:rPr lang="en-US" altLang="zh-CN" baseline="-25000" err="1">
                <a:latin typeface="Times New Roman" panose="02020603050405020304" pitchFamily="18" charset="0"/>
              </a:rPr>
              <a:t>I</a:t>
            </a:r>
            <a:r>
              <a:rPr lang="zh-CN" altLang="en-US" dirty="0">
                <a:latin typeface="Times New Roman" panose="02020603050405020304" pitchFamily="18" charset="0"/>
              </a:rPr>
              <a:t>的大小成正比。</a:t>
            </a:r>
            <a:endParaRPr lang="zh-CN" altLang="en-US">
              <a:latin typeface="Times New Roman" panose="02020603050405020304" pitchFamily="18" charset="0"/>
            </a:endParaRPr>
          </a:p>
        </p:txBody>
      </p:sp>
    </p:spTree>
  </p:cSld>
  <p:clrMapOvr>
    <a:masterClrMapping/>
  </p:clrMapOvr>
  <p:transition>
    <p:blinds dir="vert"/>
  </p:transition>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304130" name="对象 304129"/>
          <p:cNvGraphicFramePr/>
          <p:nvPr/>
        </p:nvGraphicFramePr>
        <p:xfrm>
          <a:off x="2765425" y="457200"/>
          <a:ext cx="3611563" cy="5257800"/>
        </p:xfrm>
        <a:graphic>
          <a:graphicData uri="http://schemas.openxmlformats.org/presentationml/2006/ole">
            <mc:AlternateContent xmlns:mc="http://schemas.openxmlformats.org/markup-compatibility/2006">
              <mc:Choice xmlns:v="urn:schemas-microsoft-com:vml" Requires="v">
                <p:oleObj spid="_x0000_s3124" name="" r:id="rId1" imgW="1684020" imgH="2453640" progId="Visio.Drawing.4">
                  <p:embed/>
                </p:oleObj>
              </mc:Choice>
              <mc:Fallback>
                <p:oleObj name="" r:id="rId1" imgW="1684020" imgH="2453640" progId="Visio.Drawing.4">
                  <p:embed/>
                  <p:pic>
                    <p:nvPicPr>
                      <p:cNvPr id="0" name="图片 3123"/>
                      <p:cNvPicPr/>
                      <p:nvPr/>
                    </p:nvPicPr>
                    <p:blipFill>
                      <a:blip r:embed="rId2"/>
                      <a:stretch>
                        <a:fillRect/>
                      </a:stretch>
                    </p:blipFill>
                    <p:spPr>
                      <a:xfrm>
                        <a:off x="2765425" y="457200"/>
                        <a:ext cx="3611563" cy="5257800"/>
                      </a:xfrm>
                      <a:prstGeom prst="rect">
                        <a:avLst/>
                      </a:prstGeom>
                      <a:noFill/>
                      <a:ln w="38100">
                        <a:noFill/>
                        <a:miter/>
                      </a:ln>
                    </p:spPr>
                  </p:pic>
                </p:oleObj>
              </mc:Fallback>
            </mc:AlternateContent>
          </a:graphicData>
        </a:graphic>
      </p:graphicFrame>
      <p:sp>
        <p:nvSpPr>
          <p:cNvPr id="304132" name="文本框 304131"/>
          <p:cNvSpPr txBox="1"/>
          <p:nvPr/>
        </p:nvSpPr>
        <p:spPr>
          <a:xfrm>
            <a:off x="2057400" y="5867400"/>
            <a:ext cx="5349875" cy="457200"/>
          </a:xfrm>
          <a:prstGeom prst="rect">
            <a:avLst/>
          </a:prstGeom>
          <a:noFill/>
          <a:ln w="9525">
            <a:noFill/>
          </a:ln>
        </p:spPr>
        <p:txBody>
          <a:bodyPr wrap="none" anchor="t" anchorCtr="0">
            <a:spAutoFit/>
          </a:bodyPr>
          <a:p>
            <a:r>
              <a:rPr lang="zh-CN" altLang="en-US" dirty="0">
                <a:latin typeface="Times New Roman" panose="02020603050405020304" pitchFamily="18" charset="0"/>
              </a:rPr>
              <a:t>图</a:t>
            </a:r>
            <a:r>
              <a:rPr lang="en-US" altLang="zh-CN">
                <a:latin typeface="Times New Roman" panose="02020603050405020304" pitchFamily="18" charset="0"/>
              </a:rPr>
              <a:t>11-26  </a:t>
            </a:r>
            <a:r>
              <a:rPr lang="zh-CN" altLang="en-US" dirty="0">
                <a:latin typeface="Times New Roman" panose="02020603050405020304" pitchFamily="18" charset="0"/>
              </a:rPr>
              <a:t>双积分型</a:t>
            </a:r>
            <a:r>
              <a:rPr lang="en-US" altLang="zh-CN">
                <a:latin typeface="Times New Roman" panose="02020603050405020304" pitchFamily="18" charset="0"/>
              </a:rPr>
              <a:t>ADC</a:t>
            </a:r>
            <a:r>
              <a:rPr lang="zh-CN" altLang="en-US" dirty="0">
                <a:latin typeface="Times New Roman" panose="02020603050405020304" pitchFamily="18" charset="0"/>
              </a:rPr>
              <a:t>电路各点的波形</a:t>
            </a:r>
            <a:endParaRPr lang="zh-CN" altLang="en-US" dirty="0">
              <a:latin typeface="Times New Roman" panose="02020603050405020304" pitchFamily="18" charset="0"/>
            </a:endParaRPr>
          </a:p>
        </p:txBody>
      </p:sp>
    </p:spTree>
  </p:cSld>
  <p:clrMapOvr>
    <a:masterClrMapping/>
  </p:clrMapOvr>
  <p:transition>
    <p:blinds dir="vert"/>
  </p:transition>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9332" name="文本框 99331"/>
          <p:cNvSpPr txBox="1"/>
          <p:nvPr/>
        </p:nvSpPr>
        <p:spPr>
          <a:xfrm>
            <a:off x="152400" y="457200"/>
            <a:ext cx="8763000" cy="4170363"/>
          </a:xfrm>
          <a:prstGeom prst="rect">
            <a:avLst/>
          </a:prstGeom>
          <a:noFill/>
          <a:ln w="9525">
            <a:noFill/>
          </a:ln>
        </p:spPr>
        <p:txBody>
          <a:bodyPr>
            <a:spAutoFit/>
          </a:bodyPr>
          <a:p>
            <a:pPr>
              <a:lnSpc>
                <a:spcPct val="178000"/>
              </a:lnSpc>
              <a:spcBef>
                <a:spcPct val="50000"/>
              </a:spcBef>
            </a:pPr>
            <a:r>
              <a:rPr lang="en-US" altLang="zh-CN" dirty="0">
                <a:latin typeface="Times New Roman" panose="02020603050405020304" pitchFamily="18" charset="0"/>
              </a:rPr>
              <a:t>       </a:t>
            </a:r>
            <a:r>
              <a:rPr lang="zh-CN" altLang="en-US" b="1">
                <a:latin typeface="Times New Roman" panose="02020603050405020304" pitchFamily="18" charset="0"/>
              </a:rPr>
              <a:t>【</a:t>
            </a:r>
            <a:r>
              <a:rPr lang="zh-CN" altLang="en-US" b="1" dirty="0">
                <a:latin typeface="Times New Roman" panose="02020603050405020304" pitchFamily="18" charset="0"/>
              </a:rPr>
              <a:t>例</a:t>
            </a:r>
            <a:r>
              <a:rPr lang="en-US" altLang="zh-CN" b="1">
                <a:latin typeface="Times New Roman" panose="02020603050405020304" pitchFamily="18" charset="0"/>
              </a:rPr>
              <a:t>11- 2</a:t>
            </a:r>
            <a:r>
              <a:rPr lang="zh-CN" altLang="en-US" b="1">
                <a:latin typeface="Times New Roman" panose="02020603050405020304" pitchFamily="18" charset="0"/>
              </a:rPr>
              <a:t>】</a:t>
            </a:r>
            <a:r>
              <a:rPr lang="zh-CN" altLang="en-US" dirty="0">
                <a:latin typeface="Times New Roman" panose="02020603050405020304" pitchFamily="18" charset="0"/>
              </a:rPr>
              <a:t>在图</a:t>
            </a:r>
            <a:r>
              <a:rPr lang="en-US" altLang="zh-CN">
                <a:latin typeface="Times New Roman" panose="02020603050405020304" pitchFamily="18" charset="0"/>
              </a:rPr>
              <a:t>11- 25</a:t>
            </a:r>
            <a:r>
              <a:rPr lang="zh-CN" altLang="en-US" dirty="0">
                <a:latin typeface="Times New Roman" panose="02020603050405020304" pitchFamily="18" charset="0"/>
              </a:rPr>
              <a:t>电路中，设基准电压</a:t>
            </a:r>
            <a:r>
              <a:rPr lang="en-US" altLang="zh-CN">
                <a:latin typeface="Times New Roman" panose="02020603050405020304" pitchFamily="18" charset="0"/>
              </a:rPr>
              <a:t>U</a:t>
            </a:r>
            <a:r>
              <a:rPr lang="en-US" altLang="zh-CN" baseline="-25000">
                <a:latin typeface="Times New Roman" panose="02020603050405020304" pitchFamily="18" charset="0"/>
              </a:rPr>
              <a:t>REF</a:t>
            </a:r>
            <a:r>
              <a:rPr lang="en-US" altLang="zh-CN">
                <a:latin typeface="Times New Roman" panose="02020603050405020304" pitchFamily="18" charset="0"/>
              </a:rPr>
              <a:t> =-10 V</a:t>
            </a:r>
            <a:r>
              <a:rPr lang="zh-CN" altLang="en-US">
                <a:latin typeface="Times New Roman" panose="02020603050405020304" pitchFamily="18" charset="0"/>
              </a:rPr>
              <a:t>，</a:t>
            </a:r>
            <a:r>
              <a:rPr lang="zh-CN" altLang="en-US" dirty="0">
                <a:latin typeface="Times New Roman" panose="02020603050405020304" pitchFamily="18" charset="0"/>
              </a:rPr>
              <a:t>计数器的位数</a:t>
            </a:r>
            <a:r>
              <a:rPr lang="en-US" altLang="zh-CN">
                <a:latin typeface="Times New Roman" panose="02020603050405020304" pitchFamily="18" charset="0"/>
              </a:rPr>
              <a:t>n=10</a:t>
            </a:r>
            <a:r>
              <a:rPr lang="zh-CN" altLang="en-US">
                <a:latin typeface="Times New Roman" panose="02020603050405020304" pitchFamily="18" charset="0"/>
              </a:rPr>
              <a:t>，</a:t>
            </a:r>
            <a:r>
              <a:rPr lang="zh-CN" altLang="en-US" dirty="0">
                <a:latin typeface="Times New Roman" panose="02020603050405020304" pitchFamily="18" charset="0"/>
              </a:rPr>
              <a:t>则完成一次转换最长需要多长时间？若输入的模拟电压</a:t>
            </a:r>
            <a:r>
              <a:rPr lang="en-US" altLang="zh-CN" err="1">
                <a:latin typeface="Times New Roman" panose="02020603050405020304" pitchFamily="18" charset="0"/>
              </a:rPr>
              <a:t>u</a:t>
            </a:r>
            <a:r>
              <a:rPr lang="en-US" altLang="zh-CN" baseline="-25000" err="1">
                <a:latin typeface="Times New Roman" panose="02020603050405020304" pitchFamily="18" charset="0"/>
              </a:rPr>
              <a:t>I</a:t>
            </a:r>
            <a:r>
              <a:rPr lang="en-US" altLang="zh-CN">
                <a:latin typeface="Times New Roman" panose="02020603050405020304" pitchFamily="18" charset="0"/>
              </a:rPr>
              <a:t> = 5 V</a:t>
            </a:r>
            <a:r>
              <a:rPr lang="zh-CN" altLang="en-US">
                <a:latin typeface="Times New Roman" panose="02020603050405020304" pitchFamily="18" charset="0"/>
              </a:rPr>
              <a:t>，</a:t>
            </a:r>
            <a:r>
              <a:rPr lang="zh-CN" altLang="en-US" dirty="0">
                <a:latin typeface="Times New Roman" panose="02020603050405020304" pitchFamily="18" charset="0"/>
              </a:rPr>
              <a:t>试求转换时间和输出的数字量</a:t>
            </a:r>
            <a:r>
              <a:rPr lang="en-US" altLang="zh-CN">
                <a:latin typeface="Times New Roman" panose="02020603050405020304" pitchFamily="18" charset="0"/>
              </a:rPr>
              <a:t>D</a:t>
            </a:r>
            <a:r>
              <a:rPr lang="zh-CN" altLang="en-US" dirty="0">
                <a:latin typeface="Times New Roman" panose="02020603050405020304" pitchFamily="18" charset="0"/>
              </a:rPr>
              <a:t>各为多少？</a:t>
            </a:r>
            <a:endParaRPr lang="zh-CN" altLang="en-US" dirty="0">
              <a:latin typeface="Times New Roman" panose="02020603050405020304" pitchFamily="18" charset="0"/>
            </a:endParaRPr>
          </a:p>
          <a:p>
            <a:pPr>
              <a:lnSpc>
                <a:spcPct val="178000"/>
              </a:lnSpc>
              <a:spcBef>
                <a:spcPct val="50000"/>
              </a:spcBef>
            </a:pPr>
            <a:r>
              <a:rPr lang="zh-CN" altLang="en-US" dirty="0">
                <a:latin typeface="Times New Roman" panose="02020603050405020304" pitchFamily="18" charset="0"/>
              </a:rPr>
              <a:t>        </a:t>
            </a:r>
            <a:r>
              <a:rPr lang="zh-CN" altLang="en-US" b="1" dirty="0">
                <a:latin typeface="Times New Roman" panose="02020603050405020304" pitchFamily="18" charset="0"/>
              </a:rPr>
              <a:t>解 </a:t>
            </a:r>
            <a:r>
              <a:rPr lang="zh-CN" altLang="en-US">
                <a:latin typeface="Times New Roman" panose="02020603050405020304" pitchFamily="18" charset="0"/>
              </a:rPr>
              <a:t> </a:t>
            </a:r>
            <a:r>
              <a:rPr lang="zh-CN" altLang="en-US" dirty="0">
                <a:latin typeface="Times New Roman" panose="02020603050405020304" pitchFamily="18" charset="0"/>
              </a:rPr>
              <a:t>双积分型</a:t>
            </a:r>
            <a:r>
              <a:rPr lang="en-US" altLang="zh-CN">
                <a:latin typeface="Times New Roman" panose="02020603050405020304" pitchFamily="18" charset="0"/>
              </a:rPr>
              <a:t>ADC</a:t>
            </a:r>
            <a:r>
              <a:rPr lang="zh-CN" altLang="en-US" dirty="0">
                <a:latin typeface="Times New Roman" panose="02020603050405020304" pitchFamily="18" charset="0"/>
              </a:rPr>
              <a:t>电路的第一次积分时间</a:t>
            </a:r>
            <a:r>
              <a:rPr lang="en-US" altLang="zh-CN">
                <a:latin typeface="Times New Roman" panose="02020603050405020304" pitchFamily="18" charset="0"/>
              </a:rPr>
              <a:t>T</a:t>
            </a:r>
            <a:r>
              <a:rPr lang="en-US" altLang="zh-CN" baseline="-25000">
                <a:latin typeface="Times New Roman" panose="02020603050405020304" pitchFamily="18" charset="0"/>
              </a:rPr>
              <a:t>1</a:t>
            </a:r>
            <a:r>
              <a:rPr lang="zh-CN" altLang="en-US" dirty="0">
                <a:latin typeface="Times New Roman" panose="02020603050405020304" pitchFamily="18" charset="0"/>
              </a:rPr>
              <a:t>是固定的，第二次积分时间</a:t>
            </a:r>
            <a:r>
              <a:rPr lang="en-US" altLang="zh-CN">
                <a:latin typeface="Times New Roman" panose="02020603050405020304" pitchFamily="18" charset="0"/>
              </a:rPr>
              <a:t>T</a:t>
            </a:r>
            <a:r>
              <a:rPr lang="en-US" altLang="zh-CN" baseline="-25000">
                <a:latin typeface="Times New Roman" panose="02020603050405020304" pitchFamily="18" charset="0"/>
              </a:rPr>
              <a:t>2</a:t>
            </a:r>
            <a:r>
              <a:rPr lang="zh-CN" altLang="en-US" dirty="0">
                <a:latin typeface="Times New Roman" panose="02020603050405020304" pitchFamily="18" charset="0"/>
              </a:rPr>
              <a:t>与输入模拟电压的值成正比。 当</a:t>
            </a:r>
            <a:r>
              <a:rPr lang="en-US" altLang="zh-CN">
                <a:latin typeface="Times New Roman" panose="02020603050405020304" pitchFamily="18" charset="0"/>
              </a:rPr>
              <a:t>T</a:t>
            </a:r>
            <a:r>
              <a:rPr lang="en-US" altLang="zh-CN" baseline="-25000">
                <a:latin typeface="Times New Roman" panose="02020603050405020304" pitchFamily="18" charset="0"/>
              </a:rPr>
              <a:t>1</a:t>
            </a:r>
            <a:r>
              <a:rPr lang="en-US" altLang="zh-CN">
                <a:latin typeface="Times New Roman" panose="02020603050405020304" pitchFamily="18" charset="0"/>
              </a:rPr>
              <a:t>= T</a:t>
            </a:r>
            <a:r>
              <a:rPr lang="en-US" altLang="zh-CN" baseline="-25000">
                <a:latin typeface="Times New Roman" panose="02020603050405020304" pitchFamily="18" charset="0"/>
              </a:rPr>
              <a:t>2</a:t>
            </a:r>
            <a:r>
              <a:rPr lang="zh-CN" altLang="en-US" dirty="0">
                <a:latin typeface="Times New Roman" panose="02020603050405020304" pitchFamily="18" charset="0"/>
              </a:rPr>
              <a:t>时，完成一次转换的时间最长， 即</a:t>
            </a:r>
            <a:endParaRPr lang="zh-CN" altLang="en-US">
              <a:latin typeface="Times New Roman" panose="02020603050405020304" pitchFamily="18" charset="0"/>
            </a:endParaRPr>
          </a:p>
        </p:txBody>
      </p:sp>
      <p:graphicFrame>
        <p:nvGraphicFramePr>
          <p:cNvPr id="99333" name="对象 99332"/>
          <p:cNvGraphicFramePr/>
          <p:nvPr/>
        </p:nvGraphicFramePr>
        <p:xfrm>
          <a:off x="533400" y="4876800"/>
          <a:ext cx="8153400" cy="996950"/>
        </p:xfrm>
        <a:graphic>
          <a:graphicData uri="http://schemas.openxmlformats.org/presentationml/2006/ole">
            <mc:AlternateContent xmlns:mc="http://schemas.openxmlformats.org/markup-compatibility/2006">
              <mc:Choice xmlns:v="urn:schemas-microsoft-com:vml" Requires="v">
                <p:oleObj spid="_x0000_s3129" name="" r:id="rId1" imgW="3529330" imgH="431800" progId="Equation.3">
                  <p:embed/>
                </p:oleObj>
              </mc:Choice>
              <mc:Fallback>
                <p:oleObj name="" r:id="rId1" imgW="3529330" imgH="431800" progId="Equation.3">
                  <p:embed/>
                  <p:pic>
                    <p:nvPicPr>
                      <p:cNvPr id="0" name="图片 3128"/>
                      <p:cNvPicPr/>
                      <p:nvPr/>
                    </p:nvPicPr>
                    <p:blipFill>
                      <a:blip r:embed="rId2"/>
                      <a:stretch>
                        <a:fillRect/>
                      </a:stretch>
                    </p:blipFill>
                    <p:spPr>
                      <a:xfrm>
                        <a:off x="533400" y="4876800"/>
                        <a:ext cx="8153400" cy="996950"/>
                      </a:xfrm>
                      <a:prstGeom prst="rect">
                        <a:avLst/>
                      </a:prstGeom>
                      <a:noFill/>
                      <a:ln w="38100">
                        <a:noFill/>
                        <a:miter/>
                      </a:ln>
                    </p:spPr>
                  </p:pic>
                </p:oleObj>
              </mc:Fallback>
            </mc:AlternateContent>
          </a:graphicData>
        </a:graphic>
      </p:graphicFrame>
    </p:spTree>
  </p:cSld>
  <p:clrMapOvr>
    <a:masterClrMapping/>
  </p:clrMapOvr>
  <p:transition>
    <p:blinds dir="vert"/>
  </p:transition>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04" name="文本框 102403"/>
          <p:cNvSpPr txBox="1"/>
          <p:nvPr/>
        </p:nvSpPr>
        <p:spPr>
          <a:xfrm>
            <a:off x="441325" y="574675"/>
            <a:ext cx="3590925" cy="457200"/>
          </a:xfrm>
          <a:prstGeom prst="rect">
            <a:avLst/>
          </a:prstGeom>
          <a:noFill/>
          <a:ln w="9525">
            <a:noFill/>
          </a:ln>
        </p:spPr>
        <p:txBody>
          <a:bodyPr>
            <a:spAutoFit/>
          </a:bodyPr>
          <a:p>
            <a:r>
              <a:rPr lang="zh-CN" altLang="en-US">
                <a:latin typeface="Times New Roman" panose="02020603050405020304" pitchFamily="18" charset="0"/>
              </a:rPr>
              <a:t>当</a:t>
            </a:r>
            <a:r>
              <a:rPr lang="en-US" altLang="zh-CN" err="1">
                <a:latin typeface="Times New Roman" panose="02020603050405020304" pitchFamily="18" charset="0"/>
              </a:rPr>
              <a:t>u</a:t>
            </a:r>
            <a:r>
              <a:rPr lang="en-US" altLang="zh-CN" baseline="-25000" err="1">
                <a:latin typeface="Times New Roman" panose="02020603050405020304" pitchFamily="18" charset="0"/>
              </a:rPr>
              <a:t>I</a:t>
            </a:r>
            <a:r>
              <a:rPr lang="en-US" altLang="zh-CN" baseline="-25000">
                <a:latin typeface="Times New Roman" panose="02020603050405020304" pitchFamily="18" charset="0"/>
              </a:rPr>
              <a:t> </a:t>
            </a:r>
            <a:r>
              <a:rPr lang="en-US" altLang="zh-CN">
                <a:latin typeface="Times New Roman" panose="02020603050405020304" pitchFamily="18" charset="0"/>
              </a:rPr>
              <a:t>= 5 V</a:t>
            </a:r>
            <a:r>
              <a:rPr lang="zh-CN" altLang="en-US" dirty="0">
                <a:latin typeface="Times New Roman" panose="02020603050405020304" pitchFamily="18" charset="0"/>
              </a:rPr>
              <a:t>时，转换时间为</a:t>
            </a:r>
            <a:endParaRPr lang="zh-CN" altLang="en-US">
              <a:latin typeface="Times New Roman" panose="02020603050405020304" pitchFamily="18" charset="0"/>
            </a:endParaRPr>
          </a:p>
        </p:txBody>
      </p:sp>
      <p:graphicFrame>
        <p:nvGraphicFramePr>
          <p:cNvPr id="102405" name="对象 102404"/>
          <p:cNvGraphicFramePr/>
          <p:nvPr/>
        </p:nvGraphicFramePr>
        <p:xfrm>
          <a:off x="901700" y="1323975"/>
          <a:ext cx="7340600" cy="2105025"/>
        </p:xfrm>
        <a:graphic>
          <a:graphicData uri="http://schemas.openxmlformats.org/presentationml/2006/ole">
            <mc:AlternateContent xmlns:mc="http://schemas.openxmlformats.org/markup-compatibility/2006">
              <mc:Choice xmlns:v="urn:schemas-microsoft-com:vml" Requires="v">
                <p:oleObj spid="_x0000_s3130" name="" r:id="rId1" imgW="3453130" imgH="989965" progId="Equation.3">
                  <p:embed/>
                </p:oleObj>
              </mc:Choice>
              <mc:Fallback>
                <p:oleObj name="" r:id="rId1" imgW="3453130" imgH="989965" progId="Equation.3">
                  <p:embed/>
                  <p:pic>
                    <p:nvPicPr>
                      <p:cNvPr id="0" name="图片 3129"/>
                      <p:cNvPicPr/>
                      <p:nvPr/>
                    </p:nvPicPr>
                    <p:blipFill>
                      <a:blip r:embed="rId2"/>
                      <a:stretch>
                        <a:fillRect/>
                      </a:stretch>
                    </p:blipFill>
                    <p:spPr>
                      <a:xfrm>
                        <a:off x="901700" y="1323975"/>
                        <a:ext cx="7340600" cy="2105025"/>
                      </a:xfrm>
                      <a:prstGeom prst="rect">
                        <a:avLst/>
                      </a:prstGeom>
                      <a:noFill/>
                      <a:ln w="38100">
                        <a:noFill/>
                        <a:miter/>
                      </a:ln>
                    </p:spPr>
                  </p:pic>
                </p:oleObj>
              </mc:Fallback>
            </mc:AlternateContent>
          </a:graphicData>
        </a:graphic>
      </p:graphicFrame>
      <p:sp>
        <p:nvSpPr>
          <p:cNvPr id="102406" name="文本框 102405"/>
          <p:cNvSpPr txBox="1"/>
          <p:nvPr/>
        </p:nvSpPr>
        <p:spPr>
          <a:xfrm>
            <a:off x="0" y="4114800"/>
            <a:ext cx="2538413" cy="457200"/>
          </a:xfrm>
          <a:prstGeom prst="rect">
            <a:avLst/>
          </a:prstGeom>
          <a:noFill/>
          <a:ln w="9525">
            <a:noFill/>
          </a:ln>
        </p:spPr>
        <p:txBody>
          <a:bodyPr wrap="none" anchor="t" anchorCtr="0">
            <a:spAutoFit/>
          </a:bodyPr>
          <a:p>
            <a:r>
              <a:rPr lang="zh-CN" altLang="en-US" dirty="0">
                <a:latin typeface="Times New Roman" panose="02020603050405020304" pitchFamily="18" charset="0"/>
              </a:rPr>
              <a:t>输出的数字量</a:t>
            </a:r>
            <a:r>
              <a:rPr lang="en-US" altLang="zh-CN">
                <a:latin typeface="Times New Roman" panose="02020603050405020304" pitchFamily="18" charset="0"/>
              </a:rPr>
              <a:t>D</a:t>
            </a:r>
            <a:r>
              <a:rPr lang="zh-CN" altLang="en-US">
                <a:latin typeface="Times New Roman" panose="02020603050405020304" pitchFamily="18" charset="0"/>
              </a:rPr>
              <a:t>为</a:t>
            </a:r>
            <a:endParaRPr lang="zh-CN" altLang="en-US">
              <a:latin typeface="Times New Roman" panose="02020603050405020304" pitchFamily="18" charset="0"/>
            </a:endParaRPr>
          </a:p>
        </p:txBody>
      </p:sp>
      <p:graphicFrame>
        <p:nvGraphicFramePr>
          <p:cNvPr id="102407" name="对象 102406"/>
          <p:cNvGraphicFramePr/>
          <p:nvPr/>
        </p:nvGraphicFramePr>
        <p:xfrm>
          <a:off x="0" y="4953000"/>
          <a:ext cx="9144000" cy="1000125"/>
        </p:xfrm>
        <a:graphic>
          <a:graphicData uri="http://schemas.openxmlformats.org/presentationml/2006/ole">
            <mc:AlternateContent xmlns:mc="http://schemas.openxmlformats.org/markup-compatibility/2006">
              <mc:Choice xmlns:v="urn:schemas-microsoft-com:vml" Requires="v">
                <p:oleObj spid="_x0000_s3128" name="" r:id="rId3" imgW="3947795" imgH="431800" progId="Equation.3">
                  <p:embed/>
                </p:oleObj>
              </mc:Choice>
              <mc:Fallback>
                <p:oleObj name="" r:id="rId3" imgW="3947795" imgH="431800" progId="Equation.3">
                  <p:embed/>
                  <p:pic>
                    <p:nvPicPr>
                      <p:cNvPr id="0" name="图片 3127"/>
                      <p:cNvPicPr/>
                      <p:nvPr/>
                    </p:nvPicPr>
                    <p:blipFill>
                      <a:blip r:embed="rId4"/>
                      <a:stretch>
                        <a:fillRect/>
                      </a:stretch>
                    </p:blipFill>
                    <p:spPr>
                      <a:xfrm>
                        <a:off x="0" y="4953000"/>
                        <a:ext cx="9144000" cy="1000125"/>
                      </a:xfrm>
                      <a:prstGeom prst="rect">
                        <a:avLst/>
                      </a:prstGeom>
                      <a:noFill/>
                      <a:ln w="38100">
                        <a:noFill/>
                        <a:miter/>
                      </a:ln>
                    </p:spPr>
                  </p:pic>
                </p:oleObj>
              </mc:Fallback>
            </mc:AlternateContent>
          </a:graphicData>
        </a:graphic>
      </p:graphicFrame>
    </p:spTree>
  </p:cSld>
  <p:clrMapOvr>
    <a:masterClrMapping/>
  </p:clrMapOvr>
  <p:transition>
    <p:blinds dir="vert"/>
  </p:transition>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1380" name="文本框 101379"/>
          <p:cNvSpPr txBox="1"/>
          <p:nvPr/>
        </p:nvSpPr>
        <p:spPr>
          <a:xfrm>
            <a:off x="152400" y="588963"/>
            <a:ext cx="8763000" cy="5854700"/>
          </a:xfrm>
          <a:prstGeom prst="rect">
            <a:avLst/>
          </a:prstGeom>
          <a:noFill/>
          <a:ln w="9525">
            <a:noFill/>
          </a:ln>
        </p:spPr>
        <p:txBody>
          <a:bodyPr>
            <a:spAutoFit/>
          </a:bodyPr>
          <a:p>
            <a:pPr>
              <a:lnSpc>
                <a:spcPct val="158000"/>
              </a:lnSpc>
              <a:spcBef>
                <a:spcPct val="50000"/>
              </a:spcBef>
            </a:pPr>
            <a:r>
              <a:rPr lang="en-US" altLang="zh-CN" dirty="0">
                <a:latin typeface="Times New Roman" panose="02020603050405020304" pitchFamily="18" charset="0"/>
              </a:rPr>
              <a:t>        </a:t>
            </a:r>
            <a:r>
              <a:rPr lang="zh-CN" altLang="en-US" b="1" dirty="0">
                <a:latin typeface="Times New Roman" panose="02020603050405020304" pitchFamily="18" charset="0"/>
              </a:rPr>
              <a:t>双积分型</a:t>
            </a:r>
            <a:r>
              <a:rPr lang="en-US" altLang="zh-CN" b="1">
                <a:latin typeface="Times New Roman" panose="02020603050405020304" pitchFamily="18" charset="0"/>
              </a:rPr>
              <a:t>ADC</a:t>
            </a:r>
            <a:r>
              <a:rPr lang="zh-CN" altLang="en-US" b="1" dirty="0">
                <a:latin typeface="Times New Roman" panose="02020603050405020304" pitchFamily="18" charset="0"/>
              </a:rPr>
              <a:t>电路的优点是转换精度可以做得很高。一方面由式</a:t>
            </a:r>
            <a:r>
              <a:rPr lang="en-US" altLang="zh-CN" b="1">
                <a:latin typeface="Times New Roman" panose="02020603050405020304" pitchFamily="18" charset="0"/>
              </a:rPr>
              <a:t>11- 33</a:t>
            </a:r>
            <a:r>
              <a:rPr lang="zh-CN" altLang="en-US" b="1" dirty="0">
                <a:latin typeface="Times New Roman" panose="02020603050405020304" pitchFamily="18" charset="0"/>
              </a:rPr>
              <a:t>可以看出，转换结果的精度仅与基准电压的准确度有关， 而对积分时间常数、时钟脉冲的周期都没有严格的要求，只要它们在两次积分过程中保持一样就可以了； 而且由于在输入端使用了积分器，所以该电路对平均值为零的噪声有很强的抑制能力。 另一方面，只要增加计数器的级数， 就可以很方便地增加输出数字量的位数，从而减小量化误差。 双积分型</a:t>
            </a:r>
            <a:r>
              <a:rPr lang="en-US" altLang="zh-CN" b="1">
                <a:latin typeface="Times New Roman" panose="02020603050405020304" pitchFamily="18" charset="0"/>
              </a:rPr>
              <a:t>ADC</a:t>
            </a:r>
            <a:r>
              <a:rPr lang="zh-CN" altLang="en-US" b="1" dirty="0">
                <a:latin typeface="Times New Roman" panose="02020603050405020304" pitchFamily="18" charset="0"/>
              </a:rPr>
              <a:t>电路的缺点是转换速度低，一般为几</a:t>
            </a:r>
            <a:r>
              <a:rPr lang="en-US" altLang="zh-CN" b="1">
                <a:latin typeface="Times New Roman" panose="02020603050405020304" pitchFamily="18" charset="0"/>
              </a:rPr>
              <a:t>ms</a:t>
            </a:r>
            <a:r>
              <a:rPr lang="zh-CN" altLang="en-US" b="1">
                <a:latin typeface="Times New Roman" panose="02020603050405020304" pitchFamily="18" charset="0"/>
              </a:rPr>
              <a:t>～</a:t>
            </a:r>
            <a:r>
              <a:rPr lang="zh-CN" altLang="en-US" b="1" dirty="0">
                <a:latin typeface="Times New Roman" panose="02020603050405020304" pitchFamily="18" charset="0"/>
              </a:rPr>
              <a:t>几百</a:t>
            </a:r>
            <a:r>
              <a:rPr lang="en-US" altLang="zh-CN" b="1">
                <a:latin typeface="Times New Roman" panose="02020603050405020304" pitchFamily="18" charset="0"/>
              </a:rPr>
              <a:t>ms</a:t>
            </a:r>
            <a:r>
              <a:rPr lang="zh-CN" altLang="en-US" b="1">
                <a:latin typeface="Times New Roman" panose="02020603050405020304" pitchFamily="18" charset="0"/>
              </a:rPr>
              <a:t>。</a:t>
            </a:r>
            <a:r>
              <a:rPr lang="zh-CN" altLang="en-US" b="1" dirty="0">
                <a:latin typeface="Times New Roman" panose="02020603050405020304" pitchFamily="18" charset="0"/>
              </a:rPr>
              <a:t>所以双积分型</a:t>
            </a:r>
            <a:r>
              <a:rPr lang="en-US" altLang="zh-CN" b="1">
                <a:latin typeface="Times New Roman" panose="02020603050405020304" pitchFamily="18" charset="0"/>
              </a:rPr>
              <a:t>ADC</a:t>
            </a:r>
            <a:r>
              <a:rPr lang="zh-CN" altLang="en-US" b="1" dirty="0">
                <a:latin typeface="Times New Roman" panose="02020603050405020304" pitchFamily="18" charset="0"/>
              </a:rPr>
              <a:t>电路在低速、 高精度集成</a:t>
            </a:r>
            <a:r>
              <a:rPr lang="en-US" altLang="zh-CN" b="1">
                <a:latin typeface="Times New Roman" panose="02020603050405020304" pitchFamily="18" charset="0"/>
              </a:rPr>
              <a:t>ADC</a:t>
            </a:r>
            <a:r>
              <a:rPr lang="zh-CN" altLang="en-US" b="1" dirty="0">
                <a:latin typeface="Times New Roman" panose="02020603050405020304" pitchFamily="18" charset="0"/>
              </a:rPr>
              <a:t>中的应用相当广泛。 </a:t>
            </a:r>
            <a:endParaRPr lang="zh-CN" altLang="en-US" b="1">
              <a:latin typeface="Times New Roman" panose="02020603050405020304" pitchFamily="18" charset="0"/>
            </a:endParaRPr>
          </a:p>
        </p:txBody>
      </p:sp>
    </p:spTree>
  </p:cSld>
  <p:clrMapOvr>
    <a:masterClrMapping/>
  </p:clrMapOvr>
  <p:transition>
    <p:blinds dir="vert"/>
  </p:transition>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4452" name="文本框 104451"/>
          <p:cNvSpPr txBox="1"/>
          <p:nvPr/>
        </p:nvSpPr>
        <p:spPr>
          <a:xfrm>
            <a:off x="228600" y="527050"/>
            <a:ext cx="8839200" cy="5826125"/>
          </a:xfrm>
          <a:prstGeom prst="rect">
            <a:avLst/>
          </a:prstGeom>
          <a:noFill/>
          <a:ln w="9525">
            <a:noFill/>
          </a:ln>
        </p:spPr>
        <p:txBody>
          <a:bodyPr>
            <a:spAutoFit/>
          </a:bodyPr>
          <a:p>
            <a:pPr>
              <a:lnSpc>
                <a:spcPct val="158000"/>
              </a:lnSpc>
              <a:spcBef>
                <a:spcPct val="50000"/>
              </a:spcBef>
            </a:pPr>
            <a:r>
              <a:rPr lang="en-US" altLang="zh-CN" b="1">
                <a:latin typeface="Times New Roman" panose="02020603050405020304" pitchFamily="18" charset="0"/>
              </a:rPr>
              <a:t>11.2.3 </a:t>
            </a:r>
            <a:r>
              <a:rPr lang="zh-CN" altLang="en-US" b="1" dirty="0">
                <a:latin typeface="Times New Roman" panose="02020603050405020304" pitchFamily="18" charset="0"/>
              </a:rPr>
              <a:t>集成</a:t>
            </a:r>
            <a:r>
              <a:rPr lang="en-US" altLang="zh-CN" b="1">
                <a:latin typeface="Times New Roman" panose="02020603050405020304" pitchFamily="18" charset="0"/>
              </a:rPr>
              <a:t>ADC</a:t>
            </a:r>
            <a:r>
              <a:rPr lang="zh-CN" altLang="en-US" b="1" dirty="0">
                <a:latin typeface="Times New Roman" panose="02020603050405020304" pitchFamily="18" charset="0"/>
              </a:rPr>
              <a:t>的主要技术指标</a:t>
            </a:r>
            <a:r>
              <a:rPr lang="zh-CN" altLang="en-US" dirty="0">
                <a:latin typeface="Times New Roman" panose="02020603050405020304" pitchFamily="18" charset="0"/>
              </a:rPr>
              <a:t></a:t>
            </a:r>
            <a:endParaRPr lang="zh-CN" altLang="en-US" dirty="0">
              <a:latin typeface="Times New Roman" panose="02020603050405020304" pitchFamily="18" charset="0"/>
            </a:endParaRPr>
          </a:p>
          <a:p>
            <a:pPr>
              <a:lnSpc>
                <a:spcPct val="158000"/>
              </a:lnSpc>
              <a:spcBef>
                <a:spcPct val="50000"/>
              </a:spcBef>
            </a:pPr>
            <a:r>
              <a:rPr lang="zh-CN" altLang="en-US" dirty="0">
                <a:latin typeface="Times New Roman" panose="02020603050405020304" pitchFamily="18" charset="0"/>
              </a:rPr>
              <a:t>        </a:t>
            </a:r>
            <a:r>
              <a:rPr lang="zh-CN" altLang="en-US" b="1" dirty="0">
                <a:latin typeface="Times New Roman" panose="02020603050405020304" pitchFamily="18" charset="0"/>
              </a:rPr>
              <a:t>衡量</a:t>
            </a:r>
            <a:r>
              <a:rPr lang="en-US" altLang="zh-CN" b="1">
                <a:latin typeface="Times New Roman" panose="02020603050405020304" pitchFamily="18" charset="0"/>
              </a:rPr>
              <a:t>A/D</a:t>
            </a:r>
            <a:r>
              <a:rPr lang="zh-CN" altLang="en-US" b="1" dirty="0">
                <a:latin typeface="Times New Roman" panose="02020603050405020304" pitchFamily="18" charset="0"/>
              </a:rPr>
              <a:t>转换器性能的技术指标有很多， 其中最主要的是转换精度和转换速度，其次还有转换电压范围等特性参数。  </a:t>
            </a:r>
            <a:endParaRPr lang="zh-CN" altLang="en-US" b="1" dirty="0">
              <a:latin typeface="Times New Roman" panose="02020603050405020304" pitchFamily="18" charset="0"/>
            </a:endParaRPr>
          </a:p>
          <a:p>
            <a:pPr>
              <a:lnSpc>
                <a:spcPct val="158000"/>
              </a:lnSpc>
              <a:spcBef>
                <a:spcPct val="50000"/>
              </a:spcBef>
            </a:pPr>
            <a:r>
              <a:rPr lang="zh-CN" altLang="en-US" b="1">
                <a:latin typeface="Times New Roman" panose="02020603050405020304" pitchFamily="18" charset="0"/>
              </a:rPr>
              <a:t>        </a:t>
            </a:r>
            <a:r>
              <a:rPr lang="en-US" altLang="zh-CN" b="1">
                <a:latin typeface="Times New Roman" panose="02020603050405020304" pitchFamily="18" charset="0"/>
              </a:rPr>
              <a:t>1</a:t>
            </a:r>
            <a:r>
              <a:rPr lang="zh-CN" altLang="en-US" b="1">
                <a:latin typeface="Times New Roman" panose="02020603050405020304" pitchFamily="18" charset="0"/>
              </a:rPr>
              <a:t>． </a:t>
            </a:r>
            <a:r>
              <a:rPr lang="zh-CN" altLang="en-US" b="1" dirty="0">
                <a:latin typeface="Times New Roman" panose="02020603050405020304" pitchFamily="18" charset="0"/>
              </a:rPr>
              <a:t>输入电压范围</a:t>
            </a:r>
            <a:endParaRPr lang="zh-CN" altLang="en-US">
              <a:latin typeface="Times New Roman" panose="02020603050405020304" pitchFamily="18" charset="0"/>
            </a:endParaRPr>
          </a:p>
          <a:p>
            <a:pPr>
              <a:lnSpc>
                <a:spcPct val="158000"/>
              </a:lnSpc>
              <a:spcBef>
                <a:spcPct val="50000"/>
              </a:spcBef>
            </a:pPr>
            <a:r>
              <a:rPr lang="zh-CN" altLang="en-US">
                <a:latin typeface="Times New Roman" panose="02020603050405020304" pitchFamily="18" charset="0"/>
              </a:rPr>
              <a:t>    </a:t>
            </a:r>
            <a:r>
              <a:rPr lang="zh-CN" altLang="en-US" dirty="0">
                <a:latin typeface="Times New Roman" panose="02020603050405020304" pitchFamily="18" charset="0"/>
              </a:rPr>
              <a:t>    </a:t>
            </a:r>
            <a:r>
              <a:rPr lang="zh-CN" altLang="en-US" b="1" dirty="0">
                <a:latin typeface="Times New Roman" panose="02020603050405020304" pitchFamily="18" charset="0"/>
              </a:rPr>
              <a:t>输入电压范围是指集成</a:t>
            </a:r>
            <a:r>
              <a:rPr lang="en-US" altLang="zh-CN" b="1">
                <a:latin typeface="Times New Roman" panose="02020603050405020304" pitchFamily="18" charset="0"/>
              </a:rPr>
              <a:t>A/D</a:t>
            </a:r>
            <a:r>
              <a:rPr lang="zh-CN" altLang="en-US" b="1" dirty="0">
                <a:latin typeface="Times New Roman" panose="02020603050405020304" pitchFamily="18" charset="0"/>
              </a:rPr>
              <a:t>转换器能够转换的模拟电压范围。 单极性工作的芯片的输入电压范围有</a:t>
            </a:r>
            <a:r>
              <a:rPr lang="en-US" altLang="zh-CN" b="1">
                <a:latin typeface="Times New Roman" panose="02020603050405020304" pitchFamily="18" charset="0"/>
              </a:rPr>
              <a:t>+5 V</a:t>
            </a:r>
            <a:r>
              <a:rPr lang="zh-CN" altLang="en-US" b="1">
                <a:latin typeface="Times New Roman" panose="02020603050405020304" pitchFamily="18" charset="0"/>
              </a:rPr>
              <a:t>、</a:t>
            </a:r>
            <a:r>
              <a:rPr lang="en-US" altLang="zh-CN" b="1">
                <a:latin typeface="Times New Roman" panose="02020603050405020304" pitchFamily="18" charset="0"/>
              </a:rPr>
              <a:t>+10 V</a:t>
            </a:r>
            <a:r>
              <a:rPr lang="zh-CN" altLang="en-US" b="1" dirty="0">
                <a:latin typeface="Times New Roman" panose="02020603050405020304" pitchFamily="18" charset="0"/>
              </a:rPr>
              <a:t>或</a:t>
            </a:r>
            <a:r>
              <a:rPr lang="en-US" altLang="zh-CN" b="1">
                <a:latin typeface="Times New Roman" panose="02020603050405020304" pitchFamily="18" charset="0"/>
              </a:rPr>
              <a:t>-5 V</a:t>
            </a:r>
            <a:r>
              <a:rPr lang="zh-CN" altLang="en-US" b="1">
                <a:latin typeface="Times New Roman" panose="02020603050405020304" pitchFamily="18" charset="0"/>
              </a:rPr>
              <a:t>、</a:t>
            </a:r>
            <a:r>
              <a:rPr lang="en-US" altLang="zh-CN" b="1">
                <a:latin typeface="Times New Roman" panose="02020603050405020304" pitchFamily="18" charset="0"/>
              </a:rPr>
              <a:t>-10 V</a:t>
            </a:r>
            <a:r>
              <a:rPr lang="zh-CN" altLang="en-US" b="1" dirty="0">
                <a:latin typeface="Times New Roman" panose="02020603050405020304" pitchFamily="18" charset="0"/>
              </a:rPr>
              <a:t>等，双极性工作的有以</a:t>
            </a:r>
            <a:r>
              <a:rPr lang="en-US" altLang="zh-CN" b="1">
                <a:latin typeface="Times New Roman" panose="02020603050405020304" pitchFamily="18" charset="0"/>
              </a:rPr>
              <a:t>0V</a:t>
            </a:r>
            <a:r>
              <a:rPr lang="zh-CN" altLang="en-US" b="1" dirty="0">
                <a:latin typeface="Times New Roman" panose="02020603050405020304" pitchFamily="18" charset="0"/>
              </a:rPr>
              <a:t>为中心的</a:t>
            </a:r>
            <a:r>
              <a:rPr lang="en-US" altLang="zh-CN" b="1">
                <a:latin typeface="Times New Roman" panose="02020603050405020304" pitchFamily="18" charset="0"/>
              </a:rPr>
              <a:t>±2.5 V</a:t>
            </a:r>
            <a:r>
              <a:rPr lang="zh-CN" altLang="en-US" b="1">
                <a:latin typeface="Times New Roman" panose="02020603050405020304" pitchFamily="18" charset="0"/>
              </a:rPr>
              <a:t>、</a:t>
            </a:r>
            <a:r>
              <a:rPr lang="en-US" altLang="zh-CN" b="1">
                <a:latin typeface="Times New Roman" panose="02020603050405020304" pitchFamily="18" charset="0"/>
              </a:rPr>
              <a:t>±5 V</a:t>
            </a:r>
            <a:r>
              <a:rPr lang="zh-CN" altLang="en-US" b="1">
                <a:latin typeface="Times New Roman" panose="02020603050405020304" pitchFamily="18" charset="0"/>
              </a:rPr>
              <a:t>、</a:t>
            </a:r>
            <a:r>
              <a:rPr lang="en-US" altLang="zh-CN" b="1">
                <a:latin typeface="Times New Roman" panose="02020603050405020304" pitchFamily="18" charset="0"/>
              </a:rPr>
              <a:t>±10 V</a:t>
            </a:r>
            <a:r>
              <a:rPr lang="zh-CN" altLang="en-US" b="1" dirty="0">
                <a:latin typeface="Times New Roman" panose="02020603050405020304" pitchFamily="18" charset="0"/>
              </a:rPr>
              <a:t>等，其值取决于基准电压的值。理论上最大输入电压</a:t>
            </a:r>
            <a:r>
              <a:rPr lang="en-US" altLang="zh-CN" b="1" err="1">
                <a:latin typeface="Times New Roman" panose="02020603050405020304" pitchFamily="18" charset="0"/>
              </a:rPr>
              <a:t>U</a:t>
            </a:r>
            <a:r>
              <a:rPr lang="en-US" altLang="zh-CN" b="1" baseline="-25000" err="1">
                <a:latin typeface="Times New Roman" panose="02020603050405020304" pitchFamily="18" charset="0"/>
              </a:rPr>
              <a:t>max</a:t>
            </a:r>
            <a:r>
              <a:rPr lang="en-US" altLang="zh-CN" b="1">
                <a:latin typeface="Times New Roman" panose="02020603050405020304" pitchFamily="18" charset="0"/>
              </a:rPr>
              <a:t>= U</a:t>
            </a:r>
            <a:r>
              <a:rPr lang="en-US" altLang="zh-CN" b="1" baseline="-25000">
                <a:latin typeface="Times New Roman" panose="02020603050405020304" pitchFamily="18" charset="0"/>
              </a:rPr>
              <a:t>REF</a:t>
            </a:r>
            <a:r>
              <a:rPr lang="en-US" altLang="zh-CN" b="1">
                <a:latin typeface="Times New Roman" panose="02020603050405020304" pitchFamily="18" charset="0"/>
              </a:rPr>
              <a:t> (2</a:t>
            </a:r>
            <a:r>
              <a:rPr lang="en-US" altLang="zh-CN" b="1" baseline="30000">
                <a:latin typeface="Times New Roman" panose="02020603050405020304" pitchFamily="18" charset="0"/>
              </a:rPr>
              <a:t>n</a:t>
            </a:r>
            <a:r>
              <a:rPr lang="en-US" altLang="zh-CN" b="1">
                <a:latin typeface="Times New Roman" panose="02020603050405020304" pitchFamily="18" charset="0"/>
              </a:rPr>
              <a:t>-1)/2</a:t>
            </a:r>
            <a:r>
              <a:rPr lang="en-US" altLang="zh-CN" b="1" baseline="30000">
                <a:latin typeface="Times New Roman" panose="02020603050405020304" pitchFamily="18" charset="0"/>
              </a:rPr>
              <a:t>n</a:t>
            </a:r>
            <a:r>
              <a:rPr lang="zh-CN" altLang="en-US" b="1">
                <a:latin typeface="Times New Roman" panose="02020603050405020304" pitchFamily="18" charset="0"/>
              </a:rPr>
              <a:t>，</a:t>
            </a:r>
            <a:r>
              <a:rPr lang="zh-CN" altLang="en-US" b="1" dirty="0">
                <a:latin typeface="Times New Roman" panose="02020603050405020304" pitchFamily="18" charset="0"/>
              </a:rPr>
              <a:t>有时也用</a:t>
            </a:r>
            <a:r>
              <a:rPr lang="en-US" altLang="zh-CN" b="1">
                <a:latin typeface="Times New Roman" panose="02020603050405020304" pitchFamily="18" charset="0"/>
              </a:rPr>
              <a:t>U</a:t>
            </a:r>
            <a:r>
              <a:rPr lang="en-US" altLang="zh-CN" b="1" baseline="-25000">
                <a:latin typeface="Times New Roman" panose="02020603050405020304" pitchFamily="18" charset="0"/>
              </a:rPr>
              <a:t>REF</a:t>
            </a:r>
            <a:r>
              <a:rPr lang="zh-CN" altLang="en-US" b="1" dirty="0">
                <a:latin typeface="Times New Roman" panose="02020603050405020304" pitchFamily="18" charset="0"/>
              </a:rPr>
              <a:t>近似代替。 </a:t>
            </a:r>
            <a:endParaRPr lang="zh-CN" altLang="en-US" b="1">
              <a:latin typeface="Times New Roman" panose="02020603050405020304" pitchFamily="18" charset="0"/>
            </a:endParaRPr>
          </a:p>
        </p:txBody>
      </p:sp>
    </p:spTree>
  </p:cSld>
  <p:clrMapOvr>
    <a:masterClrMapping/>
  </p:clrMapOvr>
  <p:transition>
    <p:blinds dir="vert"/>
  </p:transition>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3428" name="文本框 103427"/>
          <p:cNvSpPr txBox="1"/>
          <p:nvPr/>
        </p:nvSpPr>
        <p:spPr>
          <a:xfrm>
            <a:off x="152400" y="381000"/>
            <a:ext cx="8839200" cy="6175375"/>
          </a:xfrm>
          <a:prstGeom prst="rect">
            <a:avLst/>
          </a:prstGeom>
          <a:noFill/>
          <a:ln w="9525">
            <a:noFill/>
          </a:ln>
        </p:spPr>
        <p:txBody>
          <a:bodyPr>
            <a:spAutoFit/>
          </a:bodyPr>
          <a:p>
            <a:pPr>
              <a:lnSpc>
                <a:spcPct val="138000"/>
              </a:lnSpc>
              <a:spcBef>
                <a:spcPct val="50000"/>
              </a:spcBef>
            </a:pPr>
            <a:r>
              <a:rPr lang="en-US" altLang="zh-CN" b="1" dirty="0">
                <a:latin typeface="Times New Roman" panose="02020603050405020304" pitchFamily="18" charset="0"/>
              </a:rPr>
              <a:t>         </a:t>
            </a:r>
            <a:r>
              <a:rPr lang="en-US" altLang="zh-CN" b="1">
                <a:latin typeface="Times New Roman" panose="02020603050405020304" pitchFamily="18" charset="0"/>
              </a:rPr>
              <a:t>2</a:t>
            </a:r>
            <a:r>
              <a:rPr lang="zh-CN" altLang="en-US" b="1" dirty="0">
                <a:latin typeface="Times New Roman" panose="02020603050405020304" pitchFamily="18" charset="0"/>
              </a:rPr>
              <a:t>． 转换精度</a:t>
            </a:r>
            <a:endParaRPr lang="zh-CN" altLang="en-US" b="1">
              <a:latin typeface="Times New Roman" panose="02020603050405020304" pitchFamily="18" charset="0"/>
            </a:endParaRPr>
          </a:p>
          <a:p>
            <a:pPr>
              <a:lnSpc>
                <a:spcPct val="138000"/>
              </a:lnSpc>
              <a:spcBef>
                <a:spcPct val="50000"/>
              </a:spcBef>
            </a:pPr>
            <a:r>
              <a:rPr lang="zh-CN" altLang="en-US">
                <a:latin typeface="Times New Roman" panose="02020603050405020304" pitchFamily="18" charset="0"/>
              </a:rPr>
              <a:t>     </a:t>
            </a:r>
            <a:r>
              <a:rPr lang="zh-CN" altLang="en-US" dirty="0">
                <a:latin typeface="Times New Roman" panose="02020603050405020304" pitchFamily="18" charset="0"/>
              </a:rPr>
              <a:t>  </a:t>
            </a:r>
            <a:r>
              <a:rPr lang="zh-CN" altLang="en-US">
                <a:latin typeface="Times New Roman" panose="02020603050405020304" pitchFamily="18" charset="0"/>
              </a:rPr>
              <a:t> </a:t>
            </a:r>
            <a:r>
              <a:rPr lang="zh-CN" altLang="en-US" b="1" dirty="0">
                <a:latin typeface="Times New Roman" panose="02020603050405020304" pitchFamily="18" charset="0"/>
              </a:rPr>
              <a:t>集成</a:t>
            </a:r>
            <a:r>
              <a:rPr lang="en-US" altLang="zh-CN" b="1">
                <a:latin typeface="Times New Roman" panose="02020603050405020304" pitchFamily="18" charset="0"/>
              </a:rPr>
              <a:t>ADC</a:t>
            </a:r>
            <a:r>
              <a:rPr lang="zh-CN" altLang="en-US" b="1" dirty="0">
                <a:latin typeface="Times New Roman" panose="02020603050405020304" pitchFamily="18" charset="0"/>
              </a:rPr>
              <a:t>的转换精度也采用分辨率和转换误差来描述。</a:t>
            </a:r>
            <a:r>
              <a:rPr lang="zh-CN" altLang="en-US" dirty="0">
                <a:latin typeface="Times New Roman" panose="02020603050405020304" pitchFamily="18" charset="0"/>
              </a:rPr>
              <a:t> </a:t>
            </a:r>
            <a:endParaRPr lang="zh-CN" altLang="en-US" dirty="0">
              <a:latin typeface="Times New Roman" panose="02020603050405020304" pitchFamily="18" charset="0"/>
            </a:endParaRPr>
          </a:p>
          <a:p>
            <a:pPr>
              <a:lnSpc>
                <a:spcPct val="138000"/>
              </a:lnSpc>
              <a:spcBef>
                <a:spcPct val="50000"/>
              </a:spcBef>
            </a:pPr>
            <a:r>
              <a:rPr lang="zh-CN" altLang="en-US">
                <a:latin typeface="Times New Roman" panose="02020603050405020304" pitchFamily="18" charset="0"/>
              </a:rPr>
              <a:t>        </a:t>
            </a:r>
            <a:r>
              <a:rPr lang="en-US" altLang="zh-CN" b="1">
                <a:latin typeface="Times New Roman" panose="02020603050405020304" pitchFamily="18" charset="0"/>
              </a:rPr>
              <a:t>1</a:t>
            </a:r>
            <a:r>
              <a:rPr lang="zh-CN" altLang="en-US" b="1">
                <a:latin typeface="Times New Roman" panose="02020603050405020304" pitchFamily="18" charset="0"/>
              </a:rPr>
              <a:t>） </a:t>
            </a:r>
            <a:r>
              <a:rPr lang="zh-CN" altLang="en-US" b="1" dirty="0">
                <a:latin typeface="Times New Roman" panose="02020603050405020304" pitchFamily="18" charset="0"/>
              </a:rPr>
              <a:t>分辨率</a:t>
            </a:r>
            <a:endParaRPr lang="zh-CN" altLang="en-US" b="1" dirty="0">
              <a:latin typeface="Times New Roman" panose="02020603050405020304" pitchFamily="18" charset="0"/>
            </a:endParaRPr>
          </a:p>
          <a:p>
            <a:pPr>
              <a:lnSpc>
                <a:spcPct val="138000"/>
              </a:lnSpc>
              <a:spcBef>
                <a:spcPct val="50000"/>
              </a:spcBef>
            </a:pPr>
            <a:r>
              <a:rPr lang="zh-CN" altLang="en-US" b="1" dirty="0">
                <a:latin typeface="Times New Roman" panose="02020603050405020304" pitchFamily="18" charset="0"/>
              </a:rPr>
              <a:t>        分辨率又称为分解度，它指的是</a:t>
            </a:r>
            <a:r>
              <a:rPr lang="en-US" altLang="zh-CN" b="1">
                <a:latin typeface="Times New Roman" panose="02020603050405020304" pitchFamily="18" charset="0"/>
              </a:rPr>
              <a:t>A/D</a:t>
            </a:r>
            <a:r>
              <a:rPr lang="zh-CN" altLang="en-US" b="1" dirty="0">
                <a:latin typeface="Times New Roman" panose="02020603050405020304" pitchFamily="18" charset="0"/>
              </a:rPr>
              <a:t>转换器对输入模拟信号的分辨能力，通常用输出数字量的位数</a:t>
            </a:r>
            <a:r>
              <a:rPr lang="en-US" altLang="zh-CN" b="1">
                <a:latin typeface="Times New Roman" panose="02020603050405020304" pitchFamily="18" charset="0"/>
              </a:rPr>
              <a:t>n</a:t>
            </a:r>
            <a:r>
              <a:rPr lang="zh-CN" altLang="en-US" b="1" dirty="0">
                <a:latin typeface="Times New Roman" panose="02020603050405020304" pitchFamily="18" charset="0"/>
              </a:rPr>
              <a:t>来表示。例如， </a:t>
            </a:r>
            <a:r>
              <a:rPr lang="en-US" altLang="zh-CN" b="1">
                <a:latin typeface="Times New Roman" panose="02020603050405020304" pitchFamily="18" charset="0"/>
              </a:rPr>
              <a:t>n</a:t>
            </a:r>
            <a:r>
              <a:rPr lang="zh-CN" altLang="en-US" b="1" dirty="0">
                <a:latin typeface="Times New Roman" panose="02020603050405020304" pitchFamily="18" charset="0"/>
              </a:rPr>
              <a:t>位二进制</a:t>
            </a:r>
            <a:r>
              <a:rPr lang="en-US" altLang="zh-CN" b="1">
                <a:latin typeface="Times New Roman" panose="02020603050405020304" pitchFamily="18" charset="0"/>
              </a:rPr>
              <a:t>ADC</a:t>
            </a:r>
            <a:r>
              <a:rPr lang="zh-CN" altLang="en-US" b="1">
                <a:latin typeface="Times New Roman" panose="02020603050405020304" pitchFamily="18" charset="0"/>
              </a:rPr>
              <a:t>，</a:t>
            </a:r>
            <a:r>
              <a:rPr lang="zh-CN" altLang="en-US" b="1" dirty="0">
                <a:latin typeface="Times New Roman" panose="02020603050405020304" pitchFamily="18" charset="0"/>
              </a:rPr>
              <a:t>它可分辨</a:t>
            </a:r>
            <a:r>
              <a:rPr lang="en-US" altLang="zh-CN" b="1">
                <a:latin typeface="Times New Roman" panose="02020603050405020304" pitchFamily="18" charset="0"/>
              </a:rPr>
              <a:t>2</a:t>
            </a:r>
            <a:r>
              <a:rPr lang="en-US" altLang="zh-CN" b="1" baseline="30000">
                <a:latin typeface="Times New Roman" panose="02020603050405020304" pitchFamily="18" charset="0"/>
              </a:rPr>
              <a:t>n</a:t>
            </a:r>
            <a:r>
              <a:rPr lang="zh-CN" altLang="en-US" b="1" dirty="0">
                <a:latin typeface="Times New Roman" panose="02020603050405020304" pitchFamily="18" charset="0"/>
              </a:rPr>
              <a:t>个不同等级的模拟量，这些模拟量之间的最小差别为</a:t>
            </a:r>
            <a:r>
              <a:rPr lang="en-US" altLang="zh-CN" b="1">
                <a:latin typeface="Times New Roman" panose="02020603050405020304" pitchFamily="18" charset="0"/>
              </a:rPr>
              <a:t>U</a:t>
            </a:r>
            <a:r>
              <a:rPr lang="en-US" altLang="zh-CN" b="1" baseline="-25000">
                <a:latin typeface="Times New Roman" panose="02020603050405020304" pitchFamily="18" charset="0"/>
              </a:rPr>
              <a:t>max</a:t>
            </a:r>
            <a:r>
              <a:rPr lang="en-US" altLang="zh-CN" b="1">
                <a:latin typeface="Times New Roman" panose="02020603050405020304" pitchFamily="18" charset="0"/>
              </a:rPr>
              <a:t>/2</a:t>
            </a:r>
            <a:r>
              <a:rPr lang="en-US" altLang="zh-CN" b="1" baseline="30000">
                <a:latin typeface="Times New Roman" panose="02020603050405020304" pitchFamily="18" charset="0"/>
              </a:rPr>
              <a:t>n</a:t>
            </a:r>
            <a:r>
              <a:rPr lang="zh-CN" altLang="en-US" b="1">
                <a:latin typeface="Times New Roman" panose="02020603050405020304" pitchFamily="18" charset="0"/>
              </a:rPr>
              <a:t>（</a:t>
            </a:r>
            <a:r>
              <a:rPr lang="zh-CN" altLang="en-US" b="1" dirty="0">
                <a:latin typeface="Times New Roman" panose="02020603050405020304" pitchFamily="18" charset="0"/>
              </a:rPr>
              <a:t>即量化单位</a:t>
            </a:r>
            <a:r>
              <a:rPr lang="en-US" altLang="zh-CN" b="1">
                <a:latin typeface="Times New Roman" panose="02020603050405020304" pitchFamily="18" charset="0"/>
              </a:rPr>
              <a:t>Δ</a:t>
            </a:r>
            <a:r>
              <a:rPr lang="zh-CN" altLang="en-US" b="1">
                <a:latin typeface="Times New Roman" panose="02020603050405020304" pitchFamily="18" charset="0"/>
              </a:rPr>
              <a:t>）。</a:t>
            </a:r>
            <a:r>
              <a:rPr lang="zh-CN" altLang="en-US" b="1" dirty="0">
                <a:latin typeface="Times New Roman" panose="02020603050405020304" pitchFamily="18" charset="0"/>
              </a:rPr>
              <a:t>可见，分辨率所描述的也就是</a:t>
            </a:r>
            <a:r>
              <a:rPr lang="en-US" altLang="zh-CN" b="1">
                <a:latin typeface="Times New Roman" panose="02020603050405020304" pitchFamily="18" charset="0"/>
              </a:rPr>
              <a:t>A/D</a:t>
            </a:r>
            <a:r>
              <a:rPr lang="zh-CN" altLang="en-US" b="1" dirty="0">
                <a:latin typeface="Times New Roman" panose="02020603050405020304" pitchFamily="18" charset="0"/>
              </a:rPr>
              <a:t>转换的固有误差</a:t>
            </a:r>
            <a:r>
              <a:rPr lang="en-US" altLang="zh-CN" b="1">
                <a:latin typeface="Times New Roman" panose="02020603050405020304" pitchFamily="18" charset="0"/>
              </a:rPr>
              <a:t>——</a:t>
            </a:r>
            <a:r>
              <a:rPr lang="zh-CN" altLang="en-US" b="1" dirty="0">
                <a:latin typeface="Times New Roman" panose="02020603050405020304" pitchFamily="18" charset="0"/>
              </a:rPr>
              <a:t>量化误差</a:t>
            </a:r>
            <a:r>
              <a:rPr lang="en-US" altLang="zh-CN" b="1">
                <a:latin typeface="Times New Roman" panose="02020603050405020304" pitchFamily="18" charset="0"/>
              </a:rPr>
              <a:t>ε</a:t>
            </a:r>
            <a:r>
              <a:rPr lang="zh-CN" altLang="en-US" b="1">
                <a:latin typeface="Times New Roman" panose="02020603050405020304" pitchFamily="18" charset="0"/>
              </a:rPr>
              <a:t>，</a:t>
            </a:r>
            <a:r>
              <a:rPr lang="zh-CN" altLang="en-US" b="1" dirty="0">
                <a:latin typeface="Times New Roman" panose="02020603050405020304" pitchFamily="18" charset="0"/>
              </a:rPr>
              <a:t>它指出了</a:t>
            </a:r>
            <a:r>
              <a:rPr lang="en-US" altLang="zh-CN" b="1">
                <a:latin typeface="Times New Roman" panose="02020603050405020304" pitchFamily="18" charset="0"/>
              </a:rPr>
              <a:t>ADC</a:t>
            </a:r>
            <a:r>
              <a:rPr lang="zh-CN" altLang="en-US" b="1" dirty="0">
                <a:latin typeface="Times New Roman" panose="02020603050405020304" pitchFamily="18" charset="0"/>
              </a:rPr>
              <a:t>在理论上所能达到的精度。 根据量化方式的不同，</a:t>
            </a:r>
            <a:r>
              <a:rPr lang="en-US" altLang="zh-CN" b="1" i="1">
                <a:latin typeface="Times New Roman" panose="02020603050405020304" pitchFamily="18" charset="0"/>
              </a:rPr>
              <a:t>ε</a:t>
            </a:r>
            <a:r>
              <a:rPr lang="en-US" altLang="zh-CN" b="1">
                <a:latin typeface="Times New Roman" panose="02020603050405020304" pitchFamily="18" charset="0"/>
              </a:rPr>
              <a:t> = Δ</a:t>
            </a:r>
            <a:r>
              <a:rPr lang="zh-CN" altLang="en-US" b="1">
                <a:latin typeface="Times New Roman" panose="02020603050405020304" pitchFamily="18" charset="0"/>
              </a:rPr>
              <a:t>或</a:t>
            </a:r>
            <a:r>
              <a:rPr lang="en-US" altLang="zh-CN" b="1">
                <a:latin typeface="Times New Roman" panose="02020603050405020304" pitchFamily="18" charset="0"/>
              </a:rPr>
              <a:t>ε = Δ/2</a:t>
            </a:r>
            <a:r>
              <a:rPr lang="zh-CN" altLang="en-US" b="1">
                <a:latin typeface="Times New Roman" panose="02020603050405020304" pitchFamily="18" charset="0"/>
              </a:rPr>
              <a:t>。</a:t>
            </a:r>
            <a:r>
              <a:rPr lang="zh-CN" altLang="en-US" b="1" dirty="0">
                <a:latin typeface="Times New Roman" panose="02020603050405020304" pitchFamily="18" charset="0"/>
              </a:rPr>
              <a:t>当输入模拟电压的范围一定时， 数字量的位数</a:t>
            </a:r>
            <a:r>
              <a:rPr lang="en-US" altLang="zh-CN" b="1">
                <a:latin typeface="Times New Roman" panose="02020603050405020304" pitchFamily="18" charset="0"/>
              </a:rPr>
              <a:t>n</a:t>
            </a:r>
            <a:r>
              <a:rPr lang="zh-CN" altLang="en-US" b="1" dirty="0">
                <a:latin typeface="Times New Roman" panose="02020603050405020304" pitchFamily="18" charset="0"/>
              </a:rPr>
              <a:t>越大，量化误差越小，分辨率越高。</a:t>
            </a:r>
            <a:endParaRPr lang="zh-CN" altLang="en-US" b="1">
              <a:latin typeface="Times New Roman" panose="02020603050405020304" pitchFamily="18" charset="0"/>
            </a:endParaRPr>
          </a:p>
        </p:txBody>
      </p:sp>
    </p:spTree>
  </p:cSld>
  <p:clrMapOvr>
    <a:masterClrMapping/>
  </p:clrMapOvr>
  <p:transition>
    <p:blinds dir="vert"/>
  </p:transition>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6500" name="文本框 106499"/>
          <p:cNvSpPr txBox="1"/>
          <p:nvPr/>
        </p:nvSpPr>
        <p:spPr>
          <a:xfrm>
            <a:off x="152400" y="304800"/>
            <a:ext cx="8991600" cy="6564313"/>
          </a:xfrm>
          <a:prstGeom prst="rect">
            <a:avLst/>
          </a:prstGeom>
          <a:noFill/>
          <a:ln w="9525">
            <a:noFill/>
          </a:ln>
        </p:spPr>
        <p:txBody>
          <a:bodyPr>
            <a:spAutoFit/>
          </a:bodyPr>
          <a:p>
            <a:pPr>
              <a:lnSpc>
                <a:spcPct val="135000"/>
              </a:lnSpc>
              <a:spcBef>
                <a:spcPct val="50000"/>
              </a:spcBef>
            </a:pPr>
            <a:r>
              <a:rPr lang="en-US" altLang="zh-CN" dirty="0">
                <a:latin typeface="Times New Roman" panose="02020603050405020304" pitchFamily="18" charset="0"/>
              </a:rPr>
              <a:t>        </a:t>
            </a:r>
            <a:r>
              <a:rPr lang="en-US" altLang="zh-CN" b="1">
                <a:latin typeface="Times New Roman" panose="02020603050405020304" pitchFamily="18" charset="0"/>
              </a:rPr>
              <a:t>2</a:t>
            </a:r>
            <a:r>
              <a:rPr lang="zh-CN" altLang="en-US" b="1" dirty="0">
                <a:latin typeface="Times New Roman" panose="02020603050405020304" pitchFamily="18" charset="0"/>
              </a:rPr>
              <a:t>） 转换误差</a:t>
            </a:r>
            <a:endParaRPr lang="zh-CN" altLang="en-US" b="1" dirty="0">
              <a:latin typeface="Times New Roman" panose="02020603050405020304" pitchFamily="18" charset="0"/>
            </a:endParaRPr>
          </a:p>
          <a:p>
            <a:pPr>
              <a:lnSpc>
                <a:spcPct val="135000"/>
              </a:lnSpc>
              <a:spcBef>
                <a:spcPct val="50000"/>
              </a:spcBef>
            </a:pPr>
            <a:r>
              <a:rPr lang="zh-CN" altLang="en-US" b="1" dirty="0">
                <a:latin typeface="Times New Roman" panose="02020603050405020304" pitchFamily="18" charset="0"/>
              </a:rPr>
              <a:t>        转换误差是指</a:t>
            </a:r>
            <a:r>
              <a:rPr lang="en-US" altLang="zh-CN" b="1">
                <a:latin typeface="Times New Roman" panose="02020603050405020304" pitchFamily="18" charset="0"/>
              </a:rPr>
              <a:t>ADC</a:t>
            </a:r>
            <a:r>
              <a:rPr lang="zh-CN" altLang="en-US" b="1" dirty="0">
                <a:latin typeface="Times New Roman" panose="02020603050405020304" pitchFamily="18" charset="0"/>
              </a:rPr>
              <a:t>实际输出的数字量与理论上应该输出的数字量之间的差值，通常以最大值的形式给出，表示为最低有效位的位数。 例如，给出转换误差</a:t>
            </a:r>
            <a:r>
              <a:rPr lang="en-US" altLang="zh-CN" b="1">
                <a:latin typeface="Times New Roman" panose="02020603050405020304" pitchFamily="18" charset="0"/>
              </a:rPr>
              <a:t>≤±LSB/2</a:t>
            </a:r>
            <a:r>
              <a:rPr lang="zh-CN" altLang="en-US" b="1">
                <a:latin typeface="Times New Roman" panose="02020603050405020304" pitchFamily="18" charset="0"/>
              </a:rPr>
              <a:t>，</a:t>
            </a:r>
            <a:r>
              <a:rPr lang="zh-CN" altLang="en-US" b="1" dirty="0">
                <a:latin typeface="Times New Roman" panose="02020603050405020304" pitchFamily="18" charset="0"/>
              </a:rPr>
              <a:t>表示</a:t>
            </a:r>
            <a:r>
              <a:rPr lang="en-US" altLang="zh-CN" b="1">
                <a:latin typeface="Times New Roman" panose="02020603050405020304" pitchFamily="18" charset="0"/>
              </a:rPr>
              <a:t>ADC</a:t>
            </a:r>
            <a:r>
              <a:rPr lang="zh-CN" altLang="en-US" b="1" dirty="0">
                <a:latin typeface="Times New Roman" panose="02020603050405020304" pitchFamily="18" charset="0"/>
              </a:rPr>
              <a:t>实际值与理论值之间的差别最大不超过半个最低有效位。 有时也用最大输入模拟信号（</a:t>
            </a:r>
            <a:r>
              <a:rPr lang="en-US" altLang="zh-CN" b="1">
                <a:latin typeface="Times New Roman" panose="02020603050405020304" pitchFamily="18" charset="0"/>
              </a:rPr>
              <a:t>FSR</a:t>
            </a:r>
            <a:r>
              <a:rPr lang="zh-CN" altLang="en-US" b="1">
                <a:latin typeface="Times New Roman" panose="02020603050405020304" pitchFamily="18" charset="0"/>
              </a:rPr>
              <a:t>）</a:t>
            </a:r>
            <a:r>
              <a:rPr lang="zh-CN" altLang="en-US" b="1" dirty="0">
                <a:latin typeface="Times New Roman" panose="02020603050405020304" pitchFamily="18" charset="0"/>
              </a:rPr>
              <a:t>的百分数来表示转换误差，如</a:t>
            </a:r>
            <a:r>
              <a:rPr lang="en-US" altLang="zh-CN" b="1">
                <a:latin typeface="Times New Roman" panose="02020603050405020304" pitchFamily="18" charset="0"/>
              </a:rPr>
              <a:t>±0.05FSR</a:t>
            </a:r>
            <a:r>
              <a:rPr lang="zh-CN" altLang="en-US" b="1">
                <a:latin typeface="Times New Roman" panose="02020603050405020304" pitchFamily="18" charset="0"/>
              </a:rPr>
              <a:t>。 </a:t>
            </a:r>
            <a:endParaRPr lang="zh-CN" altLang="en-US" b="1">
              <a:latin typeface="Times New Roman" panose="02020603050405020304" pitchFamily="18" charset="0"/>
            </a:endParaRPr>
          </a:p>
          <a:p>
            <a:pPr>
              <a:lnSpc>
                <a:spcPct val="135000"/>
              </a:lnSpc>
              <a:spcBef>
                <a:spcPct val="50000"/>
              </a:spcBef>
            </a:pPr>
            <a:r>
              <a:rPr lang="zh-CN" altLang="en-US" b="1" dirty="0">
                <a:latin typeface="Times New Roman" panose="02020603050405020304" pitchFamily="18" charset="0"/>
              </a:rPr>
              <a:t>   </a:t>
            </a:r>
            <a:r>
              <a:rPr lang="zh-CN" altLang="en-US" b="1">
                <a:latin typeface="Times New Roman" panose="02020603050405020304" pitchFamily="18" charset="0"/>
              </a:rPr>
              <a:t>      </a:t>
            </a:r>
            <a:r>
              <a:rPr lang="en-US" altLang="zh-CN" b="1">
                <a:latin typeface="Times New Roman" panose="02020603050405020304" pitchFamily="18" charset="0"/>
              </a:rPr>
              <a:t>ADC</a:t>
            </a:r>
            <a:r>
              <a:rPr lang="zh-CN" altLang="en-US" b="1" dirty="0">
                <a:latin typeface="Times New Roman" panose="02020603050405020304" pitchFamily="18" charset="0"/>
              </a:rPr>
              <a:t>的转换误差是由</a:t>
            </a:r>
            <a:r>
              <a:rPr lang="en-US" altLang="zh-CN" b="1">
                <a:latin typeface="Times New Roman" panose="02020603050405020304" pitchFamily="18" charset="0"/>
              </a:rPr>
              <a:t>A/D</a:t>
            </a:r>
            <a:r>
              <a:rPr lang="zh-CN" altLang="en-US" b="1" dirty="0">
                <a:latin typeface="Times New Roman" panose="02020603050405020304" pitchFamily="18" charset="0"/>
              </a:rPr>
              <a:t>转换电路中各种元器件的非理想特性造成的，它是一个综合性指标，也包括比例系数误差、失调误差和非线性误差等多种类型误差，其成因与</a:t>
            </a:r>
            <a:r>
              <a:rPr lang="en-US" altLang="zh-CN" b="1">
                <a:latin typeface="Times New Roman" panose="02020603050405020304" pitchFamily="18" charset="0"/>
              </a:rPr>
              <a:t>D/A</a:t>
            </a:r>
            <a:r>
              <a:rPr lang="zh-CN" altLang="en-US" b="1" dirty="0">
                <a:latin typeface="Times New Roman" panose="02020603050405020304" pitchFamily="18" charset="0"/>
              </a:rPr>
              <a:t>转换电路类似。</a:t>
            </a:r>
            <a:endParaRPr lang="zh-CN" altLang="en-US" b="1" dirty="0">
              <a:latin typeface="Times New Roman" panose="02020603050405020304" pitchFamily="18" charset="0"/>
            </a:endParaRPr>
          </a:p>
          <a:p>
            <a:pPr>
              <a:lnSpc>
                <a:spcPct val="135000"/>
              </a:lnSpc>
              <a:spcBef>
                <a:spcPct val="50000"/>
              </a:spcBef>
            </a:pPr>
            <a:r>
              <a:rPr lang="zh-CN" altLang="en-US" b="1" dirty="0">
                <a:latin typeface="Times New Roman" panose="02020603050405020304" pitchFamily="18" charset="0"/>
              </a:rPr>
              <a:t>       必须指出，由于转换误差的存在，一味地增加输出数字量的位数并不一定能提高</a:t>
            </a:r>
            <a:r>
              <a:rPr lang="en-US" altLang="zh-CN" b="1">
                <a:latin typeface="Times New Roman" panose="02020603050405020304" pitchFamily="18" charset="0"/>
              </a:rPr>
              <a:t>ADC</a:t>
            </a:r>
            <a:r>
              <a:rPr lang="zh-CN" altLang="en-US" b="1" dirty="0">
                <a:latin typeface="Times New Roman" panose="02020603050405020304" pitchFamily="18" charset="0"/>
              </a:rPr>
              <a:t>的精度，必须根据转换误差小于等于量化误差这一关系， 合理地选择输出数字量的位数。 </a:t>
            </a:r>
            <a:endParaRPr lang="zh-CN" altLang="en-US" b="1">
              <a:latin typeface="Times New Roman" panose="02020603050405020304" pitchFamily="18" charset="0"/>
            </a:endParaRPr>
          </a:p>
        </p:txBody>
      </p:sp>
    </p:spTree>
  </p:cSld>
  <p:clrMapOvr>
    <a:masterClrMapping/>
  </p:clrMapOvr>
  <p:transition>
    <p:blinds dir="vert"/>
  </p:transition>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5476" name="文本框 105475"/>
          <p:cNvSpPr txBox="1"/>
          <p:nvPr/>
        </p:nvSpPr>
        <p:spPr>
          <a:xfrm>
            <a:off x="381000" y="762000"/>
            <a:ext cx="8534400" cy="4564063"/>
          </a:xfrm>
          <a:prstGeom prst="rect">
            <a:avLst/>
          </a:prstGeom>
          <a:noFill/>
          <a:ln w="9525">
            <a:noFill/>
          </a:ln>
        </p:spPr>
        <p:txBody>
          <a:bodyPr>
            <a:spAutoFit/>
          </a:bodyPr>
          <a:p>
            <a:pPr>
              <a:lnSpc>
                <a:spcPct val="168000"/>
              </a:lnSpc>
              <a:spcBef>
                <a:spcPct val="50000"/>
              </a:spcBef>
            </a:pPr>
            <a:r>
              <a:rPr lang="en-US" altLang="zh-CN" dirty="0">
                <a:latin typeface="Times New Roman" panose="02020603050405020304" pitchFamily="18" charset="0"/>
              </a:rPr>
              <a:t>        </a:t>
            </a:r>
            <a:r>
              <a:rPr lang="en-US" altLang="zh-CN" b="1">
                <a:latin typeface="Times New Roman" panose="02020603050405020304" pitchFamily="18" charset="0"/>
              </a:rPr>
              <a:t>3</a:t>
            </a:r>
            <a:r>
              <a:rPr lang="zh-CN" altLang="en-US" b="1" dirty="0">
                <a:latin typeface="Times New Roman" panose="02020603050405020304" pitchFamily="18" charset="0"/>
              </a:rPr>
              <a:t>． 转换速度</a:t>
            </a:r>
            <a:endParaRPr lang="zh-CN" altLang="en-US">
              <a:latin typeface="Times New Roman" panose="02020603050405020304" pitchFamily="18" charset="0"/>
            </a:endParaRPr>
          </a:p>
          <a:p>
            <a:pPr>
              <a:lnSpc>
                <a:spcPct val="168000"/>
              </a:lnSpc>
              <a:spcBef>
                <a:spcPct val="50000"/>
              </a:spcBef>
            </a:pPr>
            <a:r>
              <a:rPr lang="zh-CN" altLang="en-US">
                <a:latin typeface="Times New Roman" panose="02020603050405020304" pitchFamily="18" charset="0"/>
              </a:rPr>
              <a:t>     </a:t>
            </a:r>
            <a:r>
              <a:rPr lang="zh-CN" altLang="en-US" dirty="0">
                <a:latin typeface="Times New Roman" panose="02020603050405020304" pitchFamily="18" charset="0"/>
              </a:rPr>
              <a:t>  </a:t>
            </a:r>
            <a:r>
              <a:rPr lang="zh-CN" altLang="en-US">
                <a:latin typeface="Times New Roman" panose="02020603050405020304" pitchFamily="18" charset="0"/>
              </a:rPr>
              <a:t> </a:t>
            </a:r>
            <a:r>
              <a:rPr lang="en-US" altLang="zh-CN" b="1">
                <a:latin typeface="Times New Roman" panose="02020603050405020304" pitchFamily="18" charset="0"/>
              </a:rPr>
              <a:t>ADC</a:t>
            </a:r>
            <a:r>
              <a:rPr lang="zh-CN" altLang="en-US" b="1" dirty="0">
                <a:latin typeface="Times New Roman" panose="02020603050405020304" pitchFamily="18" charset="0"/>
              </a:rPr>
              <a:t>的转换速度用完成一次转换所用的时间来表示。它是指从接收到转换控制信号起，到输出端得到稳定有效的数字信号为止所经历的时间。 转换时间越短，说明</a:t>
            </a:r>
            <a:r>
              <a:rPr lang="en-US" altLang="zh-CN" b="1">
                <a:latin typeface="Times New Roman" panose="02020603050405020304" pitchFamily="18" charset="0"/>
              </a:rPr>
              <a:t>ADC</a:t>
            </a:r>
            <a:r>
              <a:rPr lang="zh-CN" altLang="en-US" b="1" dirty="0">
                <a:latin typeface="Times New Roman" panose="02020603050405020304" pitchFamily="18" charset="0"/>
              </a:rPr>
              <a:t>的转换速度越快。 有时也用每秒钟能完成转换的最大次数</a:t>
            </a:r>
            <a:r>
              <a:rPr lang="en-US" altLang="zh-CN" b="1">
                <a:latin typeface="Times New Roman" panose="02020603050405020304" pitchFamily="18" charset="0"/>
              </a:rPr>
              <a:t>——</a:t>
            </a:r>
            <a:r>
              <a:rPr lang="zh-CN" altLang="en-US" b="1" dirty="0">
                <a:latin typeface="Times New Roman" panose="02020603050405020304" pitchFamily="18" charset="0"/>
              </a:rPr>
              <a:t>转换速率来描述</a:t>
            </a:r>
            <a:r>
              <a:rPr lang="en-US" altLang="zh-CN" b="1">
                <a:latin typeface="Times New Roman" panose="02020603050405020304" pitchFamily="18" charset="0"/>
              </a:rPr>
              <a:t>ADC</a:t>
            </a:r>
            <a:r>
              <a:rPr lang="zh-CN" altLang="en-US" b="1" dirty="0">
                <a:latin typeface="Times New Roman" panose="02020603050405020304" pitchFamily="18" charset="0"/>
              </a:rPr>
              <a:t>的转换速度。</a:t>
            </a:r>
            <a:r>
              <a:rPr lang="en-US" altLang="zh-CN" b="1">
                <a:latin typeface="Times New Roman" panose="02020603050405020304" pitchFamily="18" charset="0"/>
              </a:rPr>
              <a:t>A/D</a:t>
            </a:r>
            <a:r>
              <a:rPr lang="zh-CN" altLang="en-US" b="1" dirty="0">
                <a:latin typeface="Times New Roman" panose="02020603050405020304" pitchFamily="18" charset="0"/>
              </a:rPr>
              <a:t>转换器的转换速度主要取决于转换电路的类型，不同类型转换电路的转换速度相差甚远。 </a:t>
            </a:r>
            <a:endParaRPr lang="zh-CN" altLang="en-US" b="1">
              <a:latin typeface="Times New Roman" panose="02020603050405020304" pitchFamily="18" charset="0"/>
            </a:endParaRPr>
          </a:p>
        </p:txBody>
      </p:sp>
    </p:spTree>
  </p:cSld>
  <p:clrMapOvr>
    <a:masterClrMapping/>
  </p:clrMapOvr>
  <p:transition>
    <p:blinds dir="vert"/>
  </p:transition>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9572" name="文本框 109571"/>
          <p:cNvSpPr txBox="1"/>
          <p:nvPr/>
        </p:nvSpPr>
        <p:spPr>
          <a:xfrm>
            <a:off x="152400" y="587375"/>
            <a:ext cx="8839200" cy="6191250"/>
          </a:xfrm>
          <a:prstGeom prst="rect">
            <a:avLst/>
          </a:prstGeom>
          <a:noFill/>
          <a:ln w="9525">
            <a:noFill/>
          </a:ln>
        </p:spPr>
        <p:txBody>
          <a:bodyPr>
            <a:spAutoFit/>
          </a:bodyPr>
          <a:p>
            <a:pPr>
              <a:lnSpc>
                <a:spcPct val="158000"/>
              </a:lnSpc>
              <a:spcBef>
                <a:spcPct val="50000"/>
              </a:spcBef>
            </a:pPr>
            <a:r>
              <a:rPr lang="en-US" altLang="zh-CN" b="1">
                <a:latin typeface="Times New Roman" panose="02020603050405020304" pitchFamily="18" charset="0"/>
              </a:rPr>
              <a:t>11.2.4 </a:t>
            </a:r>
            <a:r>
              <a:rPr lang="en-US" altLang="zh-CN" b="1" dirty="0">
                <a:latin typeface="Times New Roman" panose="02020603050405020304" pitchFamily="18" charset="0"/>
              </a:rPr>
              <a:t> ADC</a:t>
            </a:r>
            <a:r>
              <a:rPr lang="zh-CN" altLang="en-US" b="1" dirty="0">
                <a:latin typeface="Times New Roman" panose="02020603050405020304" pitchFamily="18" charset="0"/>
              </a:rPr>
              <a:t>芯片的选取</a:t>
            </a:r>
            <a:endParaRPr lang="zh-CN" altLang="en-US" dirty="0">
              <a:latin typeface="Times New Roman" panose="02020603050405020304" pitchFamily="18" charset="0"/>
            </a:endParaRPr>
          </a:p>
          <a:p>
            <a:pPr>
              <a:lnSpc>
                <a:spcPct val="158000"/>
              </a:lnSpc>
              <a:spcBef>
                <a:spcPct val="50000"/>
              </a:spcBef>
            </a:pPr>
            <a:r>
              <a:rPr lang="en-US" altLang="zh-CN" b="1">
                <a:latin typeface="Times New Roman" panose="02020603050405020304" pitchFamily="18" charset="0"/>
              </a:rPr>
              <a:t>1</a:t>
            </a:r>
            <a:r>
              <a:rPr lang="zh-CN" altLang="en-US" b="1" dirty="0">
                <a:latin typeface="Times New Roman" panose="02020603050405020304" pitchFamily="18" charset="0"/>
              </a:rPr>
              <a:t>． </a:t>
            </a:r>
            <a:r>
              <a:rPr lang="en-US" altLang="zh-CN" b="1">
                <a:latin typeface="Times New Roman" panose="02020603050405020304" pitchFamily="18" charset="0"/>
              </a:rPr>
              <a:t>ADC</a:t>
            </a:r>
            <a:r>
              <a:rPr lang="zh-CN" altLang="en-US" b="1" dirty="0">
                <a:latin typeface="Times New Roman" panose="02020603050405020304" pitchFamily="18" charset="0"/>
              </a:rPr>
              <a:t>芯片的选择原则</a:t>
            </a:r>
            <a:endParaRPr lang="zh-CN" altLang="en-US">
              <a:latin typeface="Times New Roman" panose="02020603050405020304" pitchFamily="18" charset="0"/>
            </a:endParaRPr>
          </a:p>
          <a:p>
            <a:pPr>
              <a:lnSpc>
                <a:spcPct val="158000"/>
              </a:lnSpc>
              <a:spcBef>
                <a:spcPct val="50000"/>
              </a:spcBef>
            </a:pPr>
            <a:r>
              <a:rPr lang="zh-CN" altLang="en-US">
                <a:latin typeface="Times New Roman" panose="02020603050405020304" pitchFamily="18" charset="0"/>
              </a:rPr>
              <a:t>        </a:t>
            </a:r>
            <a:r>
              <a:rPr lang="zh-CN" altLang="en-US" b="1" dirty="0">
                <a:latin typeface="Times New Roman" panose="02020603050405020304" pitchFamily="18" charset="0"/>
              </a:rPr>
              <a:t>目前， 集成</a:t>
            </a:r>
            <a:r>
              <a:rPr lang="en-US" altLang="zh-CN" b="1">
                <a:latin typeface="Times New Roman" panose="02020603050405020304" pitchFamily="18" charset="0"/>
              </a:rPr>
              <a:t>ADC</a:t>
            </a:r>
            <a:r>
              <a:rPr lang="zh-CN" altLang="en-US" b="1" dirty="0">
                <a:latin typeface="Times New Roman" panose="02020603050405020304" pitchFamily="18" charset="0"/>
              </a:rPr>
              <a:t>芯片的种类繁多，性能各不相同。我们在选用集成</a:t>
            </a:r>
            <a:r>
              <a:rPr lang="en-US" altLang="zh-CN" b="1">
                <a:latin typeface="Times New Roman" panose="02020603050405020304" pitchFamily="18" charset="0"/>
              </a:rPr>
              <a:t>ADC</a:t>
            </a:r>
            <a:r>
              <a:rPr lang="zh-CN" altLang="en-US" b="1" dirty="0">
                <a:latin typeface="Times New Roman" panose="02020603050405020304" pitchFamily="18" charset="0"/>
              </a:rPr>
              <a:t>时，应该主要考虑以下几点： </a:t>
            </a:r>
            <a:endParaRPr lang="zh-CN" altLang="en-US" b="1" dirty="0">
              <a:latin typeface="Times New Roman" panose="02020603050405020304" pitchFamily="18" charset="0"/>
            </a:endParaRPr>
          </a:p>
          <a:p>
            <a:pPr>
              <a:lnSpc>
                <a:spcPct val="158000"/>
              </a:lnSpc>
              <a:spcBef>
                <a:spcPct val="50000"/>
              </a:spcBef>
            </a:pPr>
            <a:r>
              <a:rPr lang="zh-CN" altLang="en-US" b="1" dirty="0">
                <a:latin typeface="Times New Roman" panose="02020603050405020304" pitchFamily="18" charset="0"/>
              </a:rPr>
              <a:t>      （</a:t>
            </a:r>
            <a:r>
              <a:rPr lang="en-US" altLang="zh-CN" b="1">
                <a:latin typeface="Times New Roman" panose="02020603050405020304" pitchFamily="18" charset="0"/>
              </a:rPr>
              <a:t>1</a:t>
            </a:r>
            <a:r>
              <a:rPr lang="zh-CN" altLang="en-US" b="1" dirty="0">
                <a:latin typeface="Times New Roman" panose="02020603050405020304" pitchFamily="18" charset="0"/>
              </a:rPr>
              <a:t>） 输入模拟信号的特征， 包括输入模拟信号的范围、 输入方式（单端输入或差分输入）和模拟信号的最高有效频率等。 </a:t>
            </a:r>
            <a:endParaRPr lang="zh-CN" altLang="en-US" b="1" dirty="0">
              <a:latin typeface="Times New Roman" panose="02020603050405020304" pitchFamily="18" charset="0"/>
            </a:endParaRPr>
          </a:p>
          <a:p>
            <a:pPr>
              <a:lnSpc>
                <a:spcPct val="158000"/>
              </a:lnSpc>
              <a:spcBef>
                <a:spcPct val="50000"/>
              </a:spcBef>
            </a:pPr>
            <a:r>
              <a:rPr lang="zh-CN" altLang="en-US" b="1" dirty="0">
                <a:latin typeface="Times New Roman" panose="02020603050405020304" pitchFamily="18" charset="0"/>
              </a:rPr>
              <a:t>      （</a:t>
            </a:r>
            <a:r>
              <a:rPr lang="en-US" altLang="zh-CN" b="1">
                <a:latin typeface="Times New Roman" panose="02020603050405020304" pitchFamily="18" charset="0"/>
              </a:rPr>
              <a:t>2</a:t>
            </a:r>
            <a:r>
              <a:rPr lang="zh-CN" altLang="en-US" b="1" dirty="0">
                <a:latin typeface="Times New Roman" panose="02020603050405020304" pitchFamily="18" charset="0"/>
              </a:rPr>
              <a:t>） 输入模拟通道， 是单通道还是多通道。 </a:t>
            </a:r>
            <a:endParaRPr lang="zh-CN" altLang="en-US" b="1" dirty="0">
              <a:latin typeface="Times New Roman" panose="02020603050405020304" pitchFamily="18" charset="0"/>
            </a:endParaRPr>
          </a:p>
          <a:p>
            <a:pPr>
              <a:lnSpc>
                <a:spcPct val="158000"/>
              </a:lnSpc>
              <a:spcBef>
                <a:spcPct val="50000"/>
              </a:spcBef>
            </a:pPr>
            <a:r>
              <a:rPr lang="zh-CN" altLang="en-US" b="1" dirty="0">
                <a:latin typeface="Times New Roman" panose="02020603050405020304" pitchFamily="18" charset="0"/>
              </a:rPr>
              <a:t>      （</a:t>
            </a:r>
            <a:r>
              <a:rPr lang="en-US" altLang="zh-CN" b="1">
                <a:latin typeface="Times New Roman" panose="02020603050405020304" pitchFamily="18" charset="0"/>
              </a:rPr>
              <a:t>3</a:t>
            </a:r>
            <a:r>
              <a:rPr lang="zh-CN" altLang="en-US" b="1" dirty="0">
                <a:latin typeface="Times New Roman" panose="02020603050405020304" pitchFamily="18" charset="0"/>
              </a:rPr>
              <a:t>） 转换精度和转换速度， 这是集成</a:t>
            </a:r>
            <a:r>
              <a:rPr lang="en-US" altLang="zh-CN" b="1">
                <a:latin typeface="Times New Roman" panose="02020603050405020304" pitchFamily="18" charset="0"/>
              </a:rPr>
              <a:t>ADC</a:t>
            </a:r>
            <a:r>
              <a:rPr lang="zh-CN" altLang="en-US" b="1" dirty="0">
                <a:latin typeface="Times New Roman" panose="02020603050405020304" pitchFamily="18" charset="0"/>
              </a:rPr>
              <a:t>最重要的两个性能指标。 </a:t>
            </a:r>
            <a:endParaRPr lang="zh-CN" altLang="en-US" b="1">
              <a:latin typeface="Times New Roman" panose="02020603050405020304" pitchFamily="18" charset="0"/>
            </a:endParaRPr>
          </a:p>
        </p:txBody>
      </p:sp>
    </p:spTree>
  </p:cSld>
  <p:clrMapOvr>
    <a:masterClrMapping/>
  </p:clrMapOvr>
  <p:transition>
    <p:blinds dir="vert"/>
  </p:transition>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8548" name="文本框 108547"/>
          <p:cNvSpPr txBox="1"/>
          <p:nvPr/>
        </p:nvSpPr>
        <p:spPr>
          <a:xfrm>
            <a:off x="304800" y="762000"/>
            <a:ext cx="8610600" cy="5176838"/>
          </a:xfrm>
          <a:prstGeom prst="rect">
            <a:avLst/>
          </a:prstGeom>
          <a:noFill/>
          <a:ln w="9525">
            <a:noFill/>
          </a:ln>
        </p:spPr>
        <p:txBody>
          <a:bodyPr>
            <a:spAutoFit/>
          </a:bodyPr>
          <a:p>
            <a:pPr>
              <a:lnSpc>
                <a:spcPct val="168000"/>
              </a:lnSpc>
              <a:spcBef>
                <a:spcPct val="50000"/>
              </a:spcBef>
            </a:pPr>
            <a:r>
              <a:rPr lang="en-US" altLang="zh-CN" dirty="0">
                <a:latin typeface="Times New Roman" panose="02020603050405020304" pitchFamily="18" charset="0"/>
              </a:rPr>
              <a:t>     </a:t>
            </a:r>
            <a:r>
              <a:rPr lang="zh-CN" altLang="en-US" b="1" dirty="0">
                <a:latin typeface="Times New Roman" panose="02020603050405020304" pitchFamily="18" charset="0"/>
              </a:rPr>
              <a:t>（</a:t>
            </a:r>
            <a:r>
              <a:rPr lang="en-US" altLang="zh-CN" b="1">
                <a:latin typeface="Times New Roman" panose="02020603050405020304" pitchFamily="18" charset="0"/>
              </a:rPr>
              <a:t>4</a:t>
            </a:r>
            <a:r>
              <a:rPr lang="zh-CN" altLang="en-US" b="1" dirty="0">
                <a:latin typeface="Times New Roman" panose="02020603050405020304" pitchFamily="18" charset="0"/>
              </a:rPr>
              <a:t>） 输出数字量的特征， 包括数字量的编码方式（自然二进制码、补码、偏移二进制码、 </a:t>
            </a:r>
            <a:r>
              <a:rPr lang="en-US" altLang="zh-CN" b="1">
                <a:latin typeface="Times New Roman" panose="02020603050405020304" pitchFamily="18" charset="0"/>
              </a:rPr>
              <a:t>BCD</a:t>
            </a:r>
            <a:r>
              <a:rPr lang="zh-CN" altLang="en-US" b="1" dirty="0">
                <a:latin typeface="Times New Roman" panose="02020603050405020304" pitchFamily="18" charset="0"/>
              </a:rPr>
              <a:t>码等）、数字量的输出方式（串行输出或并行输出， 三态输出、 缓冲输出或锁存输出）以及逻辑电平的类型（</a:t>
            </a:r>
            <a:r>
              <a:rPr lang="en-US" altLang="zh-CN" b="1">
                <a:latin typeface="Times New Roman" panose="02020603050405020304" pitchFamily="18" charset="0"/>
              </a:rPr>
              <a:t>TTL</a:t>
            </a:r>
            <a:r>
              <a:rPr lang="zh-CN" altLang="en-US" b="1" dirty="0">
                <a:latin typeface="Times New Roman" panose="02020603050405020304" pitchFamily="18" charset="0"/>
              </a:rPr>
              <a:t>电平、 </a:t>
            </a:r>
            <a:r>
              <a:rPr lang="en-US" altLang="zh-CN" b="1">
                <a:latin typeface="Times New Roman" panose="02020603050405020304" pitchFamily="18" charset="0"/>
              </a:rPr>
              <a:t>CMOS</a:t>
            </a:r>
            <a:r>
              <a:rPr lang="zh-CN" altLang="en-US" b="1" dirty="0">
                <a:latin typeface="Times New Roman" panose="02020603050405020304" pitchFamily="18" charset="0"/>
              </a:rPr>
              <a:t>电平或</a:t>
            </a:r>
            <a:r>
              <a:rPr lang="en-US" altLang="zh-CN" b="1">
                <a:latin typeface="Times New Roman" panose="02020603050405020304" pitchFamily="18" charset="0"/>
              </a:rPr>
              <a:t>ECL</a:t>
            </a:r>
            <a:r>
              <a:rPr lang="zh-CN" altLang="en-US" b="1" dirty="0">
                <a:latin typeface="Times New Roman" panose="02020603050405020304" pitchFamily="18" charset="0"/>
              </a:rPr>
              <a:t>电平等）。 </a:t>
            </a:r>
            <a:endParaRPr lang="zh-CN" altLang="en-US" b="1" dirty="0">
              <a:latin typeface="Times New Roman" panose="02020603050405020304" pitchFamily="18" charset="0"/>
            </a:endParaRPr>
          </a:p>
          <a:p>
            <a:pPr>
              <a:lnSpc>
                <a:spcPct val="168000"/>
              </a:lnSpc>
              <a:spcBef>
                <a:spcPct val="50000"/>
              </a:spcBef>
            </a:pPr>
            <a:r>
              <a:rPr lang="zh-CN" altLang="en-US" b="1" dirty="0">
                <a:latin typeface="Times New Roman" panose="02020603050405020304" pitchFamily="18" charset="0"/>
              </a:rPr>
              <a:t>      （</a:t>
            </a:r>
            <a:r>
              <a:rPr lang="en-US" altLang="zh-CN" b="1">
                <a:latin typeface="Times New Roman" panose="02020603050405020304" pitchFamily="18" charset="0"/>
              </a:rPr>
              <a:t>5</a:t>
            </a:r>
            <a:r>
              <a:rPr lang="zh-CN" altLang="en-US" b="1" dirty="0">
                <a:latin typeface="Times New Roman" panose="02020603050405020304" pitchFamily="18" charset="0"/>
              </a:rPr>
              <a:t>） 工作环境要求， 这里主要是指</a:t>
            </a:r>
            <a:r>
              <a:rPr lang="en-US" altLang="zh-CN" b="1">
                <a:latin typeface="Times New Roman" panose="02020603050405020304" pitchFamily="18" charset="0"/>
              </a:rPr>
              <a:t>ADC</a:t>
            </a:r>
            <a:r>
              <a:rPr lang="zh-CN" altLang="en-US" b="1" dirty="0">
                <a:latin typeface="Times New Roman" panose="02020603050405020304" pitchFamily="18" charset="0"/>
              </a:rPr>
              <a:t>的工作电压、 参考电压、工作温度、功耗、封装以及可靠性等性能要与应用系统相适应。 </a:t>
            </a:r>
            <a:endParaRPr lang="zh-CN" altLang="en-US" b="1">
              <a:latin typeface="Times New Roman" panose="02020603050405020304" pitchFamily="18" charset="0"/>
            </a:endParaRPr>
          </a:p>
        </p:txBody>
      </p:sp>
    </p:spTree>
  </p:cSld>
  <p:clrMapOvr>
    <a:masterClrMapping/>
  </p:clrMapOvr>
  <p:transition>
    <p:blinds dir="vert"/>
  </p:transition>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7524" name="文本框 107523"/>
          <p:cNvSpPr txBox="1"/>
          <p:nvPr/>
        </p:nvSpPr>
        <p:spPr>
          <a:xfrm>
            <a:off x="228600" y="609600"/>
            <a:ext cx="8686800" cy="3925888"/>
          </a:xfrm>
          <a:prstGeom prst="rect">
            <a:avLst/>
          </a:prstGeom>
          <a:noFill/>
          <a:ln w="9525">
            <a:noFill/>
          </a:ln>
        </p:spPr>
        <p:txBody>
          <a:bodyPr>
            <a:spAutoFit/>
          </a:bodyPr>
          <a:p>
            <a:pPr>
              <a:lnSpc>
                <a:spcPct val="200000"/>
              </a:lnSpc>
              <a:spcBef>
                <a:spcPct val="50000"/>
              </a:spcBef>
            </a:pPr>
            <a:r>
              <a:rPr lang="en-US" altLang="zh-CN" dirty="0">
                <a:latin typeface="Times New Roman" panose="02020603050405020304" pitchFamily="18" charset="0"/>
              </a:rPr>
              <a:t>         </a:t>
            </a:r>
            <a:r>
              <a:rPr lang="en-US" altLang="zh-CN" b="1">
                <a:latin typeface="Times New Roman" panose="02020603050405020304" pitchFamily="18" charset="0"/>
              </a:rPr>
              <a:t>2</a:t>
            </a:r>
            <a:r>
              <a:rPr lang="zh-CN" altLang="en-US" b="1" dirty="0">
                <a:latin typeface="Times New Roman" panose="02020603050405020304" pitchFamily="18" charset="0"/>
              </a:rPr>
              <a:t>． </a:t>
            </a:r>
            <a:r>
              <a:rPr lang="en-US" altLang="zh-CN" b="1">
                <a:latin typeface="Times New Roman" panose="02020603050405020304" pitchFamily="18" charset="0"/>
              </a:rPr>
              <a:t>ADC0809</a:t>
            </a:r>
            <a:r>
              <a:rPr lang="zh-CN" altLang="en-US" b="1" dirty="0">
                <a:latin typeface="Times New Roman" panose="02020603050405020304" pitchFamily="18" charset="0"/>
              </a:rPr>
              <a:t>简介</a:t>
            </a:r>
            <a:endParaRPr lang="zh-CN" altLang="en-US">
              <a:latin typeface="Times New Roman" panose="02020603050405020304" pitchFamily="18" charset="0"/>
            </a:endParaRPr>
          </a:p>
          <a:p>
            <a:pPr>
              <a:lnSpc>
                <a:spcPct val="200000"/>
              </a:lnSpc>
              <a:spcBef>
                <a:spcPct val="50000"/>
              </a:spcBef>
            </a:pPr>
            <a:r>
              <a:rPr lang="zh-CN" altLang="en-US">
                <a:latin typeface="Times New Roman" panose="02020603050405020304" pitchFamily="18" charset="0"/>
              </a:rPr>
              <a:t>        </a:t>
            </a:r>
            <a:r>
              <a:rPr lang="en-US" altLang="zh-CN" b="1">
                <a:latin typeface="Times New Roman" panose="02020603050405020304" pitchFamily="18" charset="0"/>
              </a:rPr>
              <a:t>ADC0809</a:t>
            </a:r>
            <a:r>
              <a:rPr lang="zh-CN" altLang="en-US" b="1" dirty="0">
                <a:latin typeface="Times New Roman" panose="02020603050405020304" pitchFamily="18" charset="0"/>
              </a:rPr>
              <a:t>是由美国国家半导体公司（</a:t>
            </a:r>
            <a:r>
              <a:rPr lang="en-US" altLang="zh-CN" b="1">
                <a:latin typeface="Times New Roman" panose="02020603050405020304" pitchFamily="18" charset="0"/>
              </a:rPr>
              <a:t>NSC</a:t>
            </a:r>
            <a:r>
              <a:rPr lang="zh-CN" altLang="en-US" b="1">
                <a:latin typeface="Times New Roman" panose="02020603050405020304" pitchFamily="18" charset="0"/>
              </a:rPr>
              <a:t>）</a:t>
            </a:r>
            <a:r>
              <a:rPr lang="zh-CN" altLang="en-US" b="1" dirty="0">
                <a:latin typeface="Times New Roman" panose="02020603050405020304" pitchFamily="18" charset="0"/>
              </a:rPr>
              <a:t>生产的</a:t>
            </a:r>
            <a:r>
              <a:rPr lang="en-US" altLang="zh-CN" b="1">
                <a:latin typeface="Times New Roman" panose="02020603050405020304" pitchFamily="18" charset="0"/>
              </a:rPr>
              <a:t>8</a:t>
            </a:r>
            <a:r>
              <a:rPr lang="zh-CN" altLang="en-US" b="1" dirty="0">
                <a:latin typeface="Times New Roman" panose="02020603050405020304" pitchFamily="18" charset="0"/>
              </a:rPr>
              <a:t>位逐次逼近型</a:t>
            </a:r>
            <a:r>
              <a:rPr lang="en-US" altLang="zh-CN" b="1">
                <a:latin typeface="Times New Roman" panose="02020603050405020304" pitchFamily="18" charset="0"/>
              </a:rPr>
              <a:t>A/D</a:t>
            </a:r>
            <a:r>
              <a:rPr lang="zh-CN" altLang="en-US" b="1" dirty="0">
                <a:latin typeface="Times New Roman" panose="02020603050405020304" pitchFamily="18" charset="0"/>
              </a:rPr>
              <a:t>转换器，芯片内采用</a:t>
            </a:r>
            <a:r>
              <a:rPr lang="en-US" altLang="zh-CN" b="1">
                <a:latin typeface="Times New Roman" panose="02020603050405020304" pitchFamily="18" charset="0"/>
              </a:rPr>
              <a:t>CMOS</a:t>
            </a:r>
            <a:r>
              <a:rPr lang="zh-CN" altLang="en-US" b="1" dirty="0">
                <a:latin typeface="Times New Roman" panose="02020603050405020304" pitchFamily="18" charset="0"/>
              </a:rPr>
              <a:t>工艺。 该器件具有与微处理器兼容的控制逻辑，可以直接与</a:t>
            </a:r>
            <a:r>
              <a:rPr lang="en-US" altLang="zh-CN" b="1">
                <a:latin typeface="Times New Roman" panose="02020603050405020304" pitchFamily="18" charset="0"/>
              </a:rPr>
              <a:t>Z80</a:t>
            </a:r>
            <a:r>
              <a:rPr lang="zh-CN" altLang="en-US" b="1">
                <a:latin typeface="Times New Roman" panose="02020603050405020304" pitchFamily="18" charset="0"/>
              </a:rPr>
              <a:t>、 </a:t>
            </a:r>
            <a:r>
              <a:rPr lang="en-US" altLang="zh-CN" b="1">
                <a:latin typeface="Times New Roman" panose="02020603050405020304" pitchFamily="18" charset="0"/>
              </a:rPr>
              <a:t>8051</a:t>
            </a:r>
            <a:r>
              <a:rPr lang="zh-CN" altLang="en-US" b="1">
                <a:latin typeface="Times New Roman" panose="02020603050405020304" pitchFamily="18" charset="0"/>
              </a:rPr>
              <a:t>、</a:t>
            </a:r>
            <a:r>
              <a:rPr lang="en-US" altLang="zh-CN" b="1">
                <a:latin typeface="Times New Roman" panose="02020603050405020304" pitchFamily="18" charset="0"/>
              </a:rPr>
              <a:t>8085</a:t>
            </a:r>
            <a:r>
              <a:rPr lang="zh-CN" altLang="en-US" b="1" dirty="0">
                <a:latin typeface="Times New Roman" panose="02020603050405020304" pitchFamily="18" charset="0"/>
              </a:rPr>
              <a:t>等微处理器接口相连。 </a:t>
            </a:r>
            <a:endParaRPr lang="zh-CN" altLang="en-US" b="1">
              <a:latin typeface="Times New Roman" panose="02020603050405020304" pitchFamily="18" charset="0"/>
            </a:endParaRPr>
          </a:p>
        </p:txBody>
      </p:sp>
    </p:spTree>
  </p:cSld>
  <p:clrMapOvr>
    <a:masterClrMapping/>
  </p:clrMapOvr>
  <p:transition>
    <p:blinds dir="vert"/>
  </p:transition>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1620" name="文本框 111619"/>
          <p:cNvSpPr txBox="1"/>
          <p:nvPr/>
        </p:nvSpPr>
        <p:spPr>
          <a:xfrm>
            <a:off x="762000" y="304800"/>
            <a:ext cx="8077200" cy="6956425"/>
          </a:xfrm>
          <a:prstGeom prst="rect">
            <a:avLst/>
          </a:prstGeom>
          <a:noFill/>
          <a:ln w="9525">
            <a:noFill/>
          </a:ln>
        </p:spPr>
        <p:txBody>
          <a:bodyPr>
            <a:spAutoFit/>
          </a:bodyPr>
          <a:p>
            <a:pPr>
              <a:lnSpc>
                <a:spcPct val="130000"/>
              </a:lnSpc>
              <a:spcBef>
                <a:spcPct val="50000"/>
              </a:spcBef>
            </a:pPr>
            <a:r>
              <a:rPr lang="en-US" altLang="zh-CN" dirty="0">
                <a:latin typeface="Times New Roman" panose="02020603050405020304" pitchFamily="18" charset="0"/>
              </a:rPr>
              <a:t>      </a:t>
            </a:r>
            <a:r>
              <a:rPr lang="en-US" altLang="zh-CN" b="1">
                <a:latin typeface="Times New Roman" panose="02020603050405020304" pitchFamily="18" charset="0"/>
              </a:rPr>
              <a:t>1</a:t>
            </a:r>
            <a:r>
              <a:rPr lang="zh-CN" altLang="en-US" b="1" dirty="0">
                <a:latin typeface="Times New Roman" panose="02020603050405020304" pitchFamily="18" charset="0"/>
              </a:rPr>
              <a:t>） </a:t>
            </a:r>
            <a:r>
              <a:rPr lang="en-US" altLang="zh-CN" b="1">
                <a:latin typeface="Times New Roman" panose="02020603050405020304" pitchFamily="18" charset="0"/>
              </a:rPr>
              <a:t>ADC0809</a:t>
            </a:r>
            <a:r>
              <a:rPr lang="zh-CN" altLang="en-US" b="1" dirty="0">
                <a:latin typeface="Times New Roman" panose="02020603050405020304" pitchFamily="18" charset="0"/>
              </a:rPr>
              <a:t>的性能</a:t>
            </a:r>
            <a:endParaRPr lang="zh-CN" altLang="en-US" b="1" dirty="0">
              <a:latin typeface="Times New Roman" panose="02020603050405020304" pitchFamily="18" charset="0"/>
            </a:endParaRPr>
          </a:p>
          <a:p>
            <a:pPr>
              <a:lnSpc>
                <a:spcPct val="130000"/>
              </a:lnSpc>
              <a:spcBef>
                <a:spcPct val="50000"/>
              </a:spcBef>
            </a:pPr>
            <a:r>
              <a:rPr lang="zh-CN" altLang="en-US" b="1" dirty="0">
                <a:latin typeface="Times New Roman" panose="02020603050405020304" pitchFamily="18" charset="0"/>
              </a:rPr>
              <a:t>      </a:t>
            </a:r>
            <a:r>
              <a:rPr lang="en-US" altLang="zh-CN" b="1">
                <a:latin typeface="Times New Roman" panose="02020603050405020304" pitchFamily="18" charset="0"/>
              </a:rPr>
              <a:t>① 8</a:t>
            </a:r>
            <a:r>
              <a:rPr lang="zh-CN" altLang="en-US" b="1" dirty="0">
                <a:latin typeface="Times New Roman" panose="02020603050405020304" pitchFamily="18" charset="0"/>
              </a:rPr>
              <a:t>位并行、 三态输出；</a:t>
            </a:r>
            <a:endParaRPr lang="zh-CN" altLang="en-US" b="1" dirty="0">
              <a:latin typeface="Times New Roman" panose="02020603050405020304" pitchFamily="18" charset="0"/>
            </a:endParaRPr>
          </a:p>
          <a:p>
            <a:pPr>
              <a:lnSpc>
                <a:spcPct val="130000"/>
              </a:lnSpc>
              <a:spcBef>
                <a:spcPct val="50000"/>
              </a:spcBef>
            </a:pPr>
            <a:r>
              <a:rPr lang="zh-CN" altLang="en-US" b="1" dirty="0">
                <a:latin typeface="Times New Roman" panose="02020603050405020304" pitchFamily="18" charset="0"/>
              </a:rPr>
              <a:t>      </a:t>
            </a:r>
            <a:r>
              <a:rPr lang="en-US" altLang="zh-CN" b="1">
                <a:latin typeface="Times New Roman" panose="02020603050405020304" pitchFamily="18" charset="0"/>
              </a:rPr>
              <a:t>② </a:t>
            </a:r>
            <a:r>
              <a:rPr lang="zh-CN" altLang="en-US" b="1" dirty="0">
                <a:latin typeface="Times New Roman" panose="02020603050405020304" pitchFamily="18" charset="0"/>
              </a:rPr>
              <a:t>转换时间： </a:t>
            </a:r>
            <a:r>
              <a:rPr lang="en-US" altLang="zh-CN" b="1">
                <a:latin typeface="Times New Roman" panose="02020603050405020304" pitchFamily="18" charset="0"/>
              </a:rPr>
              <a:t>100 μs</a:t>
            </a:r>
            <a:r>
              <a:rPr lang="zh-CN" altLang="en-US" b="1">
                <a:latin typeface="Times New Roman" panose="02020603050405020304" pitchFamily="18" charset="0"/>
              </a:rPr>
              <a:t>；</a:t>
            </a:r>
            <a:endParaRPr lang="zh-CN" altLang="en-US" b="1">
              <a:latin typeface="Times New Roman" panose="02020603050405020304" pitchFamily="18" charset="0"/>
            </a:endParaRPr>
          </a:p>
          <a:p>
            <a:pPr>
              <a:lnSpc>
                <a:spcPct val="130000"/>
              </a:lnSpc>
              <a:spcBef>
                <a:spcPct val="50000"/>
              </a:spcBef>
            </a:pPr>
            <a:r>
              <a:rPr lang="zh-CN" altLang="en-US" b="1">
                <a:latin typeface="Times New Roman" panose="02020603050405020304" pitchFamily="18" charset="0"/>
              </a:rPr>
              <a:t>      </a:t>
            </a:r>
            <a:r>
              <a:rPr lang="en-US" altLang="zh-CN" b="1">
                <a:latin typeface="Times New Roman" panose="02020603050405020304" pitchFamily="18" charset="0"/>
              </a:rPr>
              <a:t>③ </a:t>
            </a:r>
            <a:r>
              <a:rPr lang="zh-CN" altLang="en-US" b="1" dirty="0">
                <a:latin typeface="Times New Roman" panose="02020603050405020304" pitchFamily="18" charset="0"/>
              </a:rPr>
              <a:t>转换误差： </a:t>
            </a:r>
            <a:r>
              <a:rPr lang="en-US" altLang="zh-CN" b="1">
                <a:latin typeface="Times New Roman" panose="02020603050405020304" pitchFamily="18" charset="0"/>
              </a:rPr>
              <a:t>±1LSB</a:t>
            </a:r>
            <a:r>
              <a:rPr lang="zh-CN" altLang="en-US" b="1">
                <a:latin typeface="Times New Roman" panose="02020603050405020304" pitchFamily="18" charset="0"/>
              </a:rPr>
              <a:t>；</a:t>
            </a:r>
            <a:endParaRPr lang="zh-CN" altLang="en-US" b="1">
              <a:latin typeface="Times New Roman" panose="02020603050405020304" pitchFamily="18" charset="0"/>
            </a:endParaRPr>
          </a:p>
          <a:p>
            <a:pPr>
              <a:lnSpc>
                <a:spcPct val="130000"/>
              </a:lnSpc>
              <a:spcBef>
                <a:spcPct val="50000"/>
              </a:spcBef>
            </a:pPr>
            <a:r>
              <a:rPr lang="zh-CN" altLang="en-US" b="1">
                <a:latin typeface="Times New Roman" panose="02020603050405020304" pitchFamily="18" charset="0"/>
              </a:rPr>
              <a:t>      </a:t>
            </a:r>
            <a:r>
              <a:rPr lang="en-US" altLang="zh-CN" b="1">
                <a:latin typeface="Times New Roman" panose="02020603050405020304" pitchFamily="18" charset="0"/>
              </a:rPr>
              <a:t>④ TTL</a:t>
            </a:r>
            <a:r>
              <a:rPr lang="zh-CN" altLang="en-US" b="1" dirty="0">
                <a:latin typeface="Times New Roman" panose="02020603050405020304" pitchFamily="18" charset="0"/>
              </a:rPr>
              <a:t>标准逻辑电平；</a:t>
            </a:r>
            <a:endParaRPr lang="zh-CN" altLang="en-US" b="1" dirty="0">
              <a:latin typeface="Times New Roman" panose="02020603050405020304" pitchFamily="18" charset="0"/>
            </a:endParaRPr>
          </a:p>
          <a:p>
            <a:pPr>
              <a:lnSpc>
                <a:spcPct val="130000"/>
              </a:lnSpc>
              <a:spcBef>
                <a:spcPct val="50000"/>
              </a:spcBef>
            </a:pPr>
            <a:r>
              <a:rPr lang="zh-CN" altLang="en-US" b="1" dirty="0">
                <a:latin typeface="Times New Roman" panose="02020603050405020304" pitchFamily="18" charset="0"/>
              </a:rPr>
              <a:t>      </a:t>
            </a:r>
            <a:r>
              <a:rPr lang="en-US" altLang="zh-CN" b="1">
                <a:latin typeface="Times New Roman" panose="02020603050405020304" pitchFamily="18" charset="0"/>
              </a:rPr>
              <a:t>⑤ 8</a:t>
            </a:r>
            <a:r>
              <a:rPr lang="zh-CN" altLang="en-US" b="1" dirty="0">
                <a:latin typeface="Times New Roman" panose="02020603050405020304" pitchFamily="18" charset="0"/>
              </a:rPr>
              <a:t>个单端模拟输入通道， 输入模拟电压范围</a:t>
            </a:r>
            <a:r>
              <a:rPr lang="en-US" altLang="zh-CN" b="1">
                <a:latin typeface="Times New Roman" panose="02020603050405020304" pitchFamily="18" charset="0"/>
              </a:rPr>
              <a:t>0</a:t>
            </a:r>
            <a:r>
              <a:rPr lang="zh-CN" altLang="en-US" b="1" dirty="0">
                <a:latin typeface="Times New Roman" panose="02020603050405020304" pitchFamily="18" charset="0"/>
              </a:rPr>
              <a:t>～</a:t>
            </a:r>
            <a:r>
              <a:rPr lang="en-US" altLang="zh-CN" b="1">
                <a:latin typeface="Times New Roman" panose="02020603050405020304" pitchFamily="18" charset="0"/>
              </a:rPr>
              <a:t>+5 V</a:t>
            </a:r>
            <a:r>
              <a:rPr lang="zh-CN" altLang="en-US" b="1">
                <a:latin typeface="Times New Roman" panose="02020603050405020304" pitchFamily="18" charset="0"/>
              </a:rPr>
              <a:t>；</a:t>
            </a:r>
            <a:endParaRPr lang="zh-CN" altLang="en-US" b="1">
              <a:latin typeface="Times New Roman" panose="02020603050405020304" pitchFamily="18" charset="0"/>
            </a:endParaRPr>
          </a:p>
          <a:p>
            <a:pPr>
              <a:lnSpc>
                <a:spcPct val="130000"/>
              </a:lnSpc>
              <a:spcBef>
                <a:spcPct val="50000"/>
              </a:spcBef>
            </a:pPr>
            <a:r>
              <a:rPr lang="zh-CN" altLang="en-US" b="1">
                <a:latin typeface="Times New Roman" panose="02020603050405020304" pitchFamily="18" charset="0"/>
              </a:rPr>
              <a:t>      </a:t>
            </a:r>
            <a:r>
              <a:rPr lang="en-US" altLang="zh-CN" b="1">
                <a:latin typeface="Times New Roman" panose="02020603050405020304" pitchFamily="18" charset="0"/>
              </a:rPr>
              <a:t>⑥ </a:t>
            </a:r>
            <a:r>
              <a:rPr lang="zh-CN" altLang="en-US" b="1" dirty="0">
                <a:latin typeface="Times New Roman" panose="02020603050405020304" pitchFamily="18" charset="0"/>
              </a:rPr>
              <a:t>单一电源供电</a:t>
            </a:r>
            <a:r>
              <a:rPr lang="en-US" altLang="zh-CN" b="1">
                <a:latin typeface="Times New Roman" panose="02020603050405020304" pitchFamily="18" charset="0"/>
              </a:rPr>
              <a:t>+5 V</a:t>
            </a:r>
            <a:r>
              <a:rPr lang="zh-CN" altLang="en-US" b="1">
                <a:latin typeface="Times New Roman" panose="02020603050405020304" pitchFamily="18" charset="0"/>
              </a:rPr>
              <a:t>；</a:t>
            </a:r>
            <a:endParaRPr lang="zh-CN" altLang="en-US" b="1">
              <a:latin typeface="Times New Roman" panose="02020603050405020304" pitchFamily="18" charset="0"/>
            </a:endParaRPr>
          </a:p>
          <a:p>
            <a:pPr>
              <a:lnSpc>
                <a:spcPct val="130000"/>
              </a:lnSpc>
              <a:spcBef>
                <a:spcPct val="50000"/>
              </a:spcBef>
            </a:pPr>
            <a:r>
              <a:rPr lang="zh-CN" altLang="en-US" b="1">
                <a:latin typeface="Times New Roman" panose="02020603050405020304" pitchFamily="18" charset="0"/>
              </a:rPr>
              <a:t>      </a:t>
            </a:r>
            <a:r>
              <a:rPr lang="en-US" altLang="zh-CN" b="1">
                <a:latin typeface="Times New Roman" panose="02020603050405020304" pitchFamily="18" charset="0"/>
              </a:rPr>
              <a:t>⑦ </a:t>
            </a:r>
            <a:r>
              <a:rPr lang="zh-CN" altLang="en-US" b="1" dirty="0">
                <a:latin typeface="Times New Roman" panose="02020603050405020304" pitchFamily="18" charset="0"/>
              </a:rPr>
              <a:t>外接参考电压</a:t>
            </a:r>
            <a:r>
              <a:rPr lang="en-US" altLang="zh-CN" b="1">
                <a:latin typeface="Times New Roman" panose="02020603050405020304" pitchFamily="18" charset="0"/>
              </a:rPr>
              <a:t>0</a:t>
            </a:r>
            <a:r>
              <a:rPr lang="zh-CN" altLang="en-US" b="1" dirty="0">
                <a:latin typeface="Times New Roman" panose="02020603050405020304" pitchFamily="18" charset="0"/>
              </a:rPr>
              <a:t>～</a:t>
            </a:r>
            <a:r>
              <a:rPr lang="en-US" altLang="zh-CN" b="1">
                <a:latin typeface="Times New Roman" panose="02020603050405020304" pitchFamily="18" charset="0"/>
              </a:rPr>
              <a:t>+5 V</a:t>
            </a:r>
            <a:r>
              <a:rPr lang="zh-CN" altLang="en-US" b="1">
                <a:latin typeface="Times New Roman" panose="02020603050405020304" pitchFamily="18" charset="0"/>
              </a:rPr>
              <a:t>；</a:t>
            </a:r>
            <a:endParaRPr lang="zh-CN" altLang="en-US" b="1">
              <a:latin typeface="Times New Roman" panose="02020603050405020304" pitchFamily="18" charset="0"/>
            </a:endParaRPr>
          </a:p>
          <a:p>
            <a:pPr>
              <a:lnSpc>
                <a:spcPct val="130000"/>
              </a:lnSpc>
              <a:spcBef>
                <a:spcPct val="50000"/>
              </a:spcBef>
            </a:pPr>
            <a:r>
              <a:rPr lang="zh-CN" altLang="en-US" b="1">
                <a:latin typeface="Times New Roman" panose="02020603050405020304" pitchFamily="18" charset="0"/>
              </a:rPr>
              <a:t>      </a:t>
            </a:r>
            <a:r>
              <a:rPr lang="en-US" altLang="zh-CN" b="1">
                <a:latin typeface="Times New Roman" panose="02020603050405020304" pitchFamily="18" charset="0"/>
              </a:rPr>
              <a:t>⑧ </a:t>
            </a:r>
            <a:r>
              <a:rPr lang="zh-CN" altLang="en-US" b="1" dirty="0">
                <a:latin typeface="Times New Roman" panose="02020603050405020304" pitchFamily="18" charset="0"/>
              </a:rPr>
              <a:t>功耗</a:t>
            </a:r>
            <a:r>
              <a:rPr lang="en-US" altLang="zh-CN" b="1">
                <a:latin typeface="Times New Roman" panose="02020603050405020304" pitchFamily="18" charset="0"/>
              </a:rPr>
              <a:t>15 </a:t>
            </a:r>
            <a:r>
              <a:rPr lang="en-US" altLang="zh-CN" b="1" err="1">
                <a:latin typeface="Times New Roman" panose="02020603050405020304" pitchFamily="18" charset="0"/>
              </a:rPr>
              <a:t>mW</a:t>
            </a:r>
            <a:r>
              <a:rPr lang="zh-CN" altLang="en-US" b="1">
                <a:latin typeface="Times New Roman" panose="02020603050405020304" pitchFamily="18" charset="0"/>
              </a:rPr>
              <a:t>；</a:t>
            </a:r>
            <a:endParaRPr lang="zh-CN" altLang="en-US" b="1">
              <a:latin typeface="Times New Roman" panose="02020603050405020304" pitchFamily="18" charset="0"/>
            </a:endParaRPr>
          </a:p>
          <a:p>
            <a:pPr>
              <a:lnSpc>
                <a:spcPct val="130000"/>
              </a:lnSpc>
              <a:spcBef>
                <a:spcPct val="50000"/>
              </a:spcBef>
            </a:pPr>
            <a:r>
              <a:rPr lang="zh-CN" altLang="en-US" b="1">
                <a:latin typeface="Times New Roman" panose="02020603050405020304" pitchFamily="18" charset="0"/>
              </a:rPr>
              <a:t>      </a:t>
            </a:r>
            <a:r>
              <a:rPr lang="en-US" altLang="zh-CN" b="1">
                <a:latin typeface="Times New Roman" panose="02020603050405020304" pitchFamily="18" charset="0"/>
              </a:rPr>
              <a:t>⑨ </a:t>
            </a:r>
            <a:r>
              <a:rPr lang="zh-CN" altLang="en-US" b="1" dirty="0">
                <a:latin typeface="Times New Roman" panose="02020603050405020304" pitchFamily="18" charset="0"/>
              </a:rPr>
              <a:t>工作温度</a:t>
            </a:r>
            <a:r>
              <a:rPr lang="en-US" altLang="zh-CN" b="1">
                <a:latin typeface="Times New Roman" panose="02020603050405020304" pitchFamily="18" charset="0"/>
              </a:rPr>
              <a:t>0</a:t>
            </a:r>
            <a:r>
              <a:rPr lang="zh-CN" altLang="en-US" b="1" dirty="0">
                <a:latin typeface="Times New Roman" panose="02020603050405020304" pitchFamily="18" charset="0"/>
              </a:rPr>
              <a:t>～</a:t>
            </a:r>
            <a:r>
              <a:rPr lang="en-US" altLang="zh-CN" b="1">
                <a:latin typeface="Times New Roman" panose="02020603050405020304" pitchFamily="18" charset="0"/>
              </a:rPr>
              <a:t>70℃</a:t>
            </a:r>
            <a:r>
              <a:rPr lang="zh-CN" altLang="en-US" b="1" dirty="0">
                <a:latin typeface="Times New Roman" panose="02020603050405020304" pitchFamily="18" charset="0"/>
              </a:rPr>
              <a:t>。</a:t>
            </a:r>
            <a:endParaRPr lang="zh-CN" altLang="en-US" b="1">
              <a:latin typeface="Times New Roman" panose="02020603050405020304" pitchFamily="18" charset="0"/>
            </a:endParaRPr>
          </a:p>
        </p:txBody>
      </p:sp>
    </p:spTree>
  </p:cSld>
  <p:clrMapOvr>
    <a:masterClrMapping/>
  </p:clrMapOvr>
  <p:transition>
    <p:blinds dir="vert"/>
  </p:transition>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0596" name="文本框 110595"/>
          <p:cNvSpPr txBox="1"/>
          <p:nvPr/>
        </p:nvSpPr>
        <p:spPr>
          <a:xfrm>
            <a:off x="695325" y="457200"/>
            <a:ext cx="5324475" cy="457200"/>
          </a:xfrm>
          <a:prstGeom prst="rect">
            <a:avLst/>
          </a:prstGeom>
          <a:noFill/>
          <a:ln w="9525">
            <a:noFill/>
          </a:ln>
        </p:spPr>
        <p:txBody>
          <a:bodyPr wrap="none" anchor="t" anchorCtr="0">
            <a:spAutoFit/>
          </a:bodyPr>
          <a:p>
            <a:r>
              <a:rPr lang="en-US" altLang="zh-CN">
                <a:latin typeface="Times New Roman" panose="02020603050405020304" pitchFamily="18" charset="0"/>
              </a:rPr>
              <a:t>2</a:t>
            </a:r>
            <a:r>
              <a:rPr lang="zh-CN" altLang="en-US" dirty="0">
                <a:latin typeface="Times New Roman" panose="02020603050405020304" pitchFamily="18" charset="0"/>
              </a:rPr>
              <a:t>） </a:t>
            </a:r>
            <a:r>
              <a:rPr lang="en-US" altLang="zh-CN">
                <a:latin typeface="Times New Roman" panose="02020603050405020304" pitchFamily="18" charset="0"/>
              </a:rPr>
              <a:t>ADC0809</a:t>
            </a:r>
            <a:r>
              <a:rPr lang="zh-CN" altLang="en-US" dirty="0">
                <a:latin typeface="Times New Roman" panose="02020603050405020304" pitchFamily="18" charset="0"/>
              </a:rPr>
              <a:t>的内部结构和引脚说明</a:t>
            </a:r>
            <a:endParaRPr lang="zh-CN" altLang="en-US">
              <a:latin typeface="Times New Roman" panose="02020603050405020304" pitchFamily="18" charset="0"/>
            </a:endParaRPr>
          </a:p>
        </p:txBody>
      </p:sp>
      <p:sp>
        <p:nvSpPr>
          <p:cNvPr id="110597" name="文本框 110596"/>
          <p:cNvSpPr txBox="1"/>
          <p:nvPr/>
        </p:nvSpPr>
        <p:spPr>
          <a:xfrm>
            <a:off x="2316163" y="6477000"/>
            <a:ext cx="4664075" cy="457200"/>
          </a:xfrm>
          <a:prstGeom prst="rect">
            <a:avLst/>
          </a:prstGeom>
          <a:noFill/>
          <a:ln w="9525">
            <a:noFill/>
          </a:ln>
        </p:spPr>
        <p:txBody>
          <a:bodyPr wrap="none" anchor="t" anchorCtr="0">
            <a:spAutoFit/>
          </a:bodyPr>
          <a:p>
            <a:r>
              <a:rPr lang="zh-CN" altLang="en-US" dirty="0">
                <a:latin typeface="Times New Roman" panose="02020603050405020304" pitchFamily="18" charset="0"/>
              </a:rPr>
              <a:t>图</a:t>
            </a:r>
            <a:r>
              <a:rPr lang="en-US" altLang="zh-CN">
                <a:latin typeface="Times New Roman" panose="02020603050405020304" pitchFamily="18" charset="0"/>
              </a:rPr>
              <a:t>11-27 ADC0809</a:t>
            </a:r>
            <a:r>
              <a:rPr lang="zh-CN" altLang="en-US" dirty="0">
                <a:latin typeface="Times New Roman" panose="02020603050405020304" pitchFamily="18" charset="0"/>
              </a:rPr>
              <a:t>的内部结构框图</a:t>
            </a:r>
            <a:endParaRPr lang="zh-CN" altLang="en-US">
              <a:latin typeface="Times New Roman" panose="02020603050405020304" pitchFamily="18" charset="0"/>
            </a:endParaRPr>
          </a:p>
        </p:txBody>
      </p:sp>
      <p:graphicFrame>
        <p:nvGraphicFramePr>
          <p:cNvPr id="110598" name="对象 110597"/>
          <p:cNvGraphicFramePr/>
          <p:nvPr/>
        </p:nvGraphicFramePr>
        <p:xfrm>
          <a:off x="609600" y="908050"/>
          <a:ext cx="7848600" cy="5440363"/>
        </p:xfrm>
        <a:graphic>
          <a:graphicData uri="http://schemas.openxmlformats.org/presentationml/2006/ole">
            <mc:AlternateContent xmlns:mc="http://schemas.openxmlformats.org/markup-compatibility/2006">
              <mc:Choice xmlns:v="urn:schemas-microsoft-com:vml" Requires="v">
                <p:oleObj spid="_x0000_s3132" name="" r:id="rId1" imgW="4015740" imgH="2781300" progId="Visio.Drawing.4">
                  <p:embed/>
                </p:oleObj>
              </mc:Choice>
              <mc:Fallback>
                <p:oleObj name="" r:id="rId1" imgW="4015740" imgH="2781300" progId="Visio.Drawing.4">
                  <p:embed/>
                  <p:pic>
                    <p:nvPicPr>
                      <p:cNvPr id="0" name="图片 3131"/>
                      <p:cNvPicPr/>
                      <p:nvPr/>
                    </p:nvPicPr>
                    <p:blipFill>
                      <a:blip r:embed="rId2"/>
                      <a:stretch>
                        <a:fillRect/>
                      </a:stretch>
                    </p:blipFill>
                    <p:spPr>
                      <a:xfrm>
                        <a:off x="609600" y="908050"/>
                        <a:ext cx="7848600" cy="5440363"/>
                      </a:xfrm>
                      <a:prstGeom prst="rect">
                        <a:avLst/>
                      </a:prstGeom>
                      <a:noFill/>
                      <a:ln w="38100">
                        <a:noFill/>
                        <a:miter/>
                      </a:ln>
                    </p:spPr>
                  </p:pic>
                </p:oleObj>
              </mc:Fallback>
            </mc:AlternateContent>
          </a:graphicData>
        </a:graphic>
      </p:graphicFrame>
    </p:spTree>
  </p:cSld>
  <p:clrMapOvr>
    <a:masterClrMapping/>
  </p:clrMapOvr>
  <p:transition>
    <p:blinds dir="vert"/>
  </p:transition>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3668" name="文本框 113667"/>
          <p:cNvSpPr txBox="1"/>
          <p:nvPr/>
        </p:nvSpPr>
        <p:spPr>
          <a:xfrm>
            <a:off x="0" y="428625"/>
            <a:ext cx="9144000" cy="6618288"/>
          </a:xfrm>
          <a:prstGeom prst="rect">
            <a:avLst/>
          </a:prstGeom>
          <a:noFill/>
          <a:ln w="9525">
            <a:noFill/>
          </a:ln>
        </p:spPr>
        <p:txBody>
          <a:bodyPr>
            <a:spAutoFit/>
          </a:bodyPr>
          <a:p>
            <a:pPr>
              <a:lnSpc>
                <a:spcPct val="135000"/>
              </a:lnSpc>
              <a:spcBef>
                <a:spcPct val="50000"/>
              </a:spcBef>
            </a:pPr>
            <a:r>
              <a:rPr lang="en-US" altLang="zh-CN" dirty="0">
                <a:latin typeface="Times New Roman" panose="02020603050405020304" pitchFamily="18" charset="0"/>
              </a:rPr>
              <a:t>       </a:t>
            </a:r>
            <a:r>
              <a:rPr lang="zh-CN" altLang="en-US" b="1" dirty="0">
                <a:latin typeface="Times New Roman" panose="02020603050405020304" pitchFamily="18" charset="0"/>
              </a:rPr>
              <a:t>引脚说明： </a:t>
            </a:r>
            <a:endParaRPr lang="zh-CN" altLang="en-US" b="1" dirty="0">
              <a:latin typeface="Times New Roman" panose="02020603050405020304" pitchFamily="18" charset="0"/>
            </a:endParaRPr>
          </a:p>
          <a:p>
            <a:pPr>
              <a:lnSpc>
                <a:spcPct val="135000"/>
              </a:lnSpc>
              <a:spcBef>
                <a:spcPct val="50000"/>
              </a:spcBef>
            </a:pPr>
            <a:r>
              <a:rPr lang="zh-CN" altLang="en-US" b="1" dirty="0">
                <a:latin typeface="Times New Roman" panose="02020603050405020304" pitchFamily="18" charset="0"/>
              </a:rPr>
              <a:t>       </a:t>
            </a:r>
            <a:r>
              <a:rPr lang="en-US" altLang="zh-CN" b="1">
                <a:latin typeface="Times New Roman" panose="02020603050405020304" pitchFamily="18" charset="0"/>
              </a:rPr>
              <a:t>① </a:t>
            </a:r>
            <a:r>
              <a:rPr lang="zh-CN" altLang="en-US" b="1" dirty="0">
                <a:latin typeface="Times New Roman" panose="02020603050405020304" pitchFamily="18" charset="0"/>
              </a:rPr>
              <a:t>输入模拟信号</a:t>
            </a:r>
            <a:r>
              <a:rPr lang="en-US" altLang="zh-CN" b="1">
                <a:latin typeface="Times New Roman" panose="02020603050405020304" pitchFamily="18" charset="0"/>
              </a:rPr>
              <a:t>: </a:t>
            </a:r>
            <a:endParaRPr lang="en-US" altLang="zh-CN" b="1">
              <a:latin typeface="Times New Roman" panose="02020603050405020304" pitchFamily="18" charset="0"/>
            </a:endParaRPr>
          </a:p>
          <a:p>
            <a:pPr>
              <a:lnSpc>
                <a:spcPct val="135000"/>
              </a:lnSpc>
              <a:spcBef>
                <a:spcPct val="50000"/>
              </a:spcBef>
            </a:pPr>
            <a:r>
              <a:rPr lang="en-US" altLang="zh-CN" b="1">
                <a:latin typeface="Times New Roman" panose="02020603050405020304" pitchFamily="18" charset="0"/>
              </a:rPr>
              <a:t>        IN</a:t>
            </a:r>
            <a:r>
              <a:rPr lang="en-US" altLang="zh-CN" b="1" baseline="-25000">
                <a:latin typeface="Times New Roman" panose="02020603050405020304" pitchFamily="18" charset="0"/>
              </a:rPr>
              <a:t>0</a:t>
            </a:r>
            <a:r>
              <a:rPr lang="zh-CN" altLang="en-US" b="1">
                <a:latin typeface="Times New Roman" panose="02020603050405020304" pitchFamily="18" charset="0"/>
              </a:rPr>
              <a:t>～</a:t>
            </a:r>
            <a:r>
              <a:rPr lang="en-US" altLang="zh-CN" b="1">
                <a:latin typeface="Times New Roman" panose="02020603050405020304" pitchFamily="18" charset="0"/>
              </a:rPr>
              <a:t>IN</a:t>
            </a:r>
            <a:r>
              <a:rPr lang="en-US" altLang="zh-CN" b="1" baseline="-25000">
                <a:latin typeface="Times New Roman" panose="02020603050405020304" pitchFamily="18" charset="0"/>
              </a:rPr>
              <a:t>7</a:t>
            </a:r>
            <a:r>
              <a:rPr lang="zh-CN" altLang="en-US" b="1" dirty="0">
                <a:latin typeface="Times New Roman" panose="02020603050405020304" pitchFamily="18" charset="0"/>
              </a:rPr>
              <a:t>为</a:t>
            </a:r>
            <a:r>
              <a:rPr lang="en-US" altLang="zh-CN" b="1">
                <a:latin typeface="Times New Roman" panose="02020603050405020304" pitchFamily="18" charset="0"/>
              </a:rPr>
              <a:t>8</a:t>
            </a:r>
            <a:r>
              <a:rPr lang="zh-CN" altLang="en-US" b="1" dirty="0">
                <a:latin typeface="Times New Roman" panose="02020603050405020304" pitchFamily="18" charset="0"/>
              </a:rPr>
              <a:t>路模拟电压输入，可由</a:t>
            </a:r>
            <a:r>
              <a:rPr lang="en-US" altLang="zh-CN" b="1">
                <a:latin typeface="Times New Roman" panose="02020603050405020304" pitchFamily="18" charset="0"/>
              </a:rPr>
              <a:t>8</a:t>
            </a:r>
            <a:r>
              <a:rPr lang="zh-CN" altLang="en-US" b="1" dirty="0">
                <a:latin typeface="Times New Roman" panose="02020603050405020304" pitchFamily="18" charset="0"/>
              </a:rPr>
              <a:t>路模拟开关选择其中任何一路送至</a:t>
            </a:r>
            <a:r>
              <a:rPr lang="en-US" altLang="zh-CN" b="1">
                <a:latin typeface="Times New Roman" panose="02020603050405020304" pitchFamily="18" charset="0"/>
              </a:rPr>
              <a:t>8</a:t>
            </a:r>
            <a:r>
              <a:rPr lang="zh-CN" altLang="en-US" b="1" dirty="0">
                <a:latin typeface="Times New Roman" panose="02020603050405020304" pitchFamily="18" charset="0"/>
              </a:rPr>
              <a:t>位</a:t>
            </a:r>
            <a:r>
              <a:rPr lang="en-US" altLang="zh-CN" b="1">
                <a:latin typeface="Times New Roman" panose="02020603050405020304" pitchFamily="18" charset="0"/>
              </a:rPr>
              <a:t>A/D</a:t>
            </a:r>
            <a:r>
              <a:rPr lang="zh-CN" altLang="en-US" b="1" dirty="0">
                <a:latin typeface="Times New Roman" panose="02020603050405020304" pitchFamily="18" charset="0"/>
              </a:rPr>
              <a:t>转换电路进行转换。 </a:t>
            </a:r>
            <a:endParaRPr lang="zh-CN" altLang="en-US" b="1" dirty="0">
              <a:latin typeface="Times New Roman" panose="02020603050405020304" pitchFamily="18" charset="0"/>
            </a:endParaRPr>
          </a:p>
          <a:p>
            <a:pPr>
              <a:lnSpc>
                <a:spcPct val="135000"/>
              </a:lnSpc>
              <a:spcBef>
                <a:spcPct val="50000"/>
              </a:spcBef>
            </a:pPr>
            <a:r>
              <a:rPr lang="zh-CN" altLang="en-US" b="1" dirty="0">
                <a:latin typeface="Times New Roman" panose="02020603050405020304" pitchFamily="18" charset="0"/>
              </a:rPr>
              <a:t>        </a:t>
            </a:r>
            <a:r>
              <a:rPr lang="en-US" altLang="zh-CN" b="1">
                <a:latin typeface="Times New Roman" panose="02020603050405020304" pitchFamily="18" charset="0"/>
              </a:rPr>
              <a:t>② </a:t>
            </a:r>
            <a:r>
              <a:rPr lang="zh-CN" altLang="en-US" b="1" dirty="0">
                <a:latin typeface="Times New Roman" panose="02020603050405020304" pitchFamily="18" charset="0"/>
              </a:rPr>
              <a:t>输出数字信号： </a:t>
            </a:r>
            <a:endParaRPr lang="zh-CN" altLang="en-US" b="1" dirty="0">
              <a:latin typeface="Times New Roman" panose="02020603050405020304" pitchFamily="18" charset="0"/>
            </a:endParaRPr>
          </a:p>
          <a:p>
            <a:pPr>
              <a:lnSpc>
                <a:spcPct val="135000"/>
              </a:lnSpc>
              <a:spcBef>
                <a:spcPct val="50000"/>
              </a:spcBef>
            </a:pPr>
            <a:r>
              <a:rPr lang="zh-CN" altLang="en-US" b="1" dirty="0">
                <a:latin typeface="Times New Roman" panose="02020603050405020304" pitchFamily="18" charset="0"/>
              </a:rPr>
              <a:t>        </a:t>
            </a:r>
            <a:r>
              <a:rPr lang="en-US" altLang="zh-CN" b="1">
                <a:latin typeface="Times New Roman" panose="02020603050405020304" pitchFamily="18" charset="0"/>
              </a:rPr>
              <a:t>D</a:t>
            </a:r>
            <a:r>
              <a:rPr lang="en-US" altLang="zh-CN" b="1" baseline="-25000">
                <a:latin typeface="Times New Roman" panose="02020603050405020304" pitchFamily="18" charset="0"/>
              </a:rPr>
              <a:t>0</a:t>
            </a:r>
            <a:r>
              <a:rPr lang="zh-CN" altLang="en-US" b="1">
                <a:latin typeface="Times New Roman" panose="02020603050405020304" pitchFamily="18" charset="0"/>
              </a:rPr>
              <a:t>～</a:t>
            </a:r>
            <a:r>
              <a:rPr lang="en-US" altLang="zh-CN" b="1">
                <a:latin typeface="Times New Roman" panose="02020603050405020304" pitchFamily="18" charset="0"/>
              </a:rPr>
              <a:t>D</a:t>
            </a:r>
            <a:r>
              <a:rPr lang="en-US" altLang="zh-CN" b="1" baseline="-25000">
                <a:latin typeface="Times New Roman" panose="02020603050405020304" pitchFamily="18" charset="0"/>
              </a:rPr>
              <a:t>7</a:t>
            </a:r>
            <a:r>
              <a:rPr lang="zh-CN" altLang="en-US" b="1">
                <a:latin typeface="Times New Roman" panose="02020603050405020304" pitchFamily="18" charset="0"/>
              </a:rPr>
              <a:t>为</a:t>
            </a:r>
            <a:r>
              <a:rPr lang="en-US" altLang="zh-CN" b="1">
                <a:latin typeface="Times New Roman" panose="02020603050405020304" pitchFamily="18" charset="0"/>
              </a:rPr>
              <a:t>A/D</a:t>
            </a:r>
            <a:r>
              <a:rPr lang="zh-CN" altLang="en-US" b="1" dirty="0">
                <a:latin typeface="Times New Roman" panose="02020603050405020304" pitchFamily="18" charset="0"/>
              </a:rPr>
              <a:t>转换器输出的</a:t>
            </a:r>
            <a:r>
              <a:rPr lang="en-US" altLang="zh-CN" b="1">
                <a:latin typeface="Times New Roman" panose="02020603050405020304" pitchFamily="18" charset="0"/>
              </a:rPr>
              <a:t>8</a:t>
            </a:r>
            <a:r>
              <a:rPr lang="zh-CN" altLang="en-US" b="1" dirty="0">
                <a:latin typeface="Times New Roman" panose="02020603050405020304" pitchFamily="18" charset="0"/>
              </a:rPr>
              <a:t>位二进制数。其中，</a:t>
            </a:r>
            <a:r>
              <a:rPr lang="en-US" altLang="zh-CN" b="1">
                <a:latin typeface="Times New Roman" panose="02020603050405020304" pitchFamily="18" charset="0"/>
              </a:rPr>
              <a:t>D</a:t>
            </a:r>
            <a:r>
              <a:rPr lang="en-US" altLang="zh-CN" b="1" baseline="-25000">
                <a:latin typeface="Times New Roman" panose="02020603050405020304" pitchFamily="18" charset="0"/>
              </a:rPr>
              <a:t>7</a:t>
            </a:r>
            <a:r>
              <a:rPr lang="zh-CN" altLang="en-US" b="1" dirty="0">
                <a:latin typeface="Times New Roman" panose="02020603050405020304" pitchFamily="18" charset="0"/>
              </a:rPr>
              <a:t>为最高位，</a:t>
            </a:r>
            <a:r>
              <a:rPr lang="en-US" altLang="zh-CN" b="1">
                <a:latin typeface="Times New Roman" panose="02020603050405020304" pitchFamily="18" charset="0"/>
              </a:rPr>
              <a:t>D</a:t>
            </a:r>
            <a:r>
              <a:rPr lang="en-US" altLang="zh-CN" b="1" baseline="-25000">
                <a:latin typeface="Times New Roman" panose="02020603050405020304" pitchFamily="18" charset="0"/>
              </a:rPr>
              <a:t>0</a:t>
            </a:r>
            <a:r>
              <a:rPr lang="zh-CN" altLang="en-US" b="1" dirty="0">
                <a:latin typeface="Times New Roman" panose="02020603050405020304" pitchFamily="18" charset="0"/>
              </a:rPr>
              <a:t>为最低位。 </a:t>
            </a:r>
            <a:endParaRPr lang="zh-CN" altLang="en-US" b="1" dirty="0">
              <a:latin typeface="Times New Roman" panose="02020603050405020304" pitchFamily="18" charset="0"/>
            </a:endParaRPr>
          </a:p>
          <a:p>
            <a:pPr>
              <a:lnSpc>
                <a:spcPct val="135000"/>
              </a:lnSpc>
              <a:spcBef>
                <a:spcPct val="50000"/>
              </a:spcBef>
            </a:pPr>
            <a:r>
              <a:rPr lang="zh-CN" altLang="en-US" b="1" dirty="0">
                <a:latin typeface="Times New Roman" panose="02020603050405020304" pitchFamily="18" charset="0"/>
              </a:rPr>
              <a:t>      </a:t>
            </a:r>
            <a:r>
              <a:rPr lang="en-US" altLang="zh-CN" b="1">
                <a:latin typeface="Times New Roman" panose="02020603050405020304" pitchFamily="18" charset="0"/>
              </a:rPr>
              <a:t>③ </a:t>
            </a:r>
            <a:r>
              <a:rPr lang="zh-CN" altLang="en-US" b="1" dirty="0">
                <a:latin typeface="Times New Roman" panose="02020603050405020304" pitchFamily="18" charset="0"/>
              </a:rPr>
              <a:t>地址信号： </a:t>
            </a:r>
            <a:endParaRPr lang="zh-CN" altLang="en-US" b="1" dirty="0">
              <a:latin typeface="Times New Roman" panose="02020603050405020304" pitchFamily="18" charset="0"/>
            </a:endParaRPr>
          </a:p>
          <a:p>
            <a:pPr>
              <a:lnSpc>
                <a:spcPct val="135000"/>
              </a:lnSpc>
              <a:spcBef>
                <a:spcPct val="50000"/>
              </a:spcBef>
            </a:pPr>
            <a:r>
              <a:rPr lang="zh-CN" altLang="en-US" b="1" dirty="0">
                <a:latin typeface="Times New Roman" panose="02020603050405020304" pitchFamily="18" charset="0"/>
              </a:rPr>
              <a:t>      </a:t>
            </a:r>
            <a:r>
              <a:rPr lang="en-US" altLang="zh-CN" b="1">
                <a:latin typeface="Times New Roman" panose="02020603050405020304" pitchFamily="18" charset="0"/>
              </a:rPr>
              <a:t>ADDC</a:t>
            </a:r>
            <a:r>
              <a:rPr lang="zh-CN" altLang="en-US" b="1">
                <a:latin typeface="Times New Roman" panose="02020603050405020304" pitchFamily="18" charset="0"/>
              </a:rPr>
              <a:t>、</a:t>
            </a:r>
            <a:r>
              <a:rPr lang="en-US" altLang="zh-CN" b="1">
                <a:latin typeface="Times New Roman" panose="02020603050405020304" pitchFamily="18" charset="0"/>
              </a:rPr>
              <a:t>ADDB</a:t>
            </a:r>
            <a:r>
              <a:rPr lang="zh-CN" altLang="en-US" b="1">
                <a:latin typeface="Times New Roman" panose="02020603050405020304" pitchFamily="18" charset="0"/>
              </a:rPr>
              <a:t>、 </a:t>
            </a:r>
            <a:r>
              <a:rPr lang="en-US" altLang="zh-CN" b="1">
                <a:latin typeface="Times New Roman" panose="02020603050405020304" pitchFamily="18" charset="0"/>
              </a:rPr>
              <a:t>ADDA</a:t>
            </a:r>
            <a:r>
              <a:rPr lang="zh-CN" altLang="en-US" b="1" dirty="0">
                <a:latin typeface="Times New Roman" panose="02020603050405020304" pitchFamily="18" charset="0"/>
              </a:rPr>
              <a:t>为</a:t>
            </a:r>
            <a:r>
              <a:rPr lang="en-US" altLang="zh-CN" b="1">
                <a:latin typeface="Times New Roman" panose="02020603050405020304" pitchFamily="18" charset="0"/>
              </a:rPr>
              <a:t>3</a:t>
            </a:r>
            <a:r>
              <a:rPr lang="zh-CN" altLang="en-US" b="1" dirty="0">
                <a:latin typeface="Times New Roman" panose="02020603050405020304" pitchFamily="18" charset="0"/>
              </a:rPr>
              <a:t>位地址信号。</a:t>
            </a:r>
            <a:r>
              <a:rPr lang="en-US" altLang="zh-CN" b="1">
                <a:latin typeface="Times New Roman" panose="02020603050405020304" pitchFamily="18" charset="0"/>
              </a:rPr>
              <a:t>3</a:t>
            </a:r>
            <a:r>
              <a:rPr lang="zh-CN" altLang="en-US" b="1" dirty="0">
                <a:latin typeface="Times New Roman" panose="02020603050405020304" pitchFamily="18" charset="0"/>
              </a:rPr>
              <a:t>位地址经锁存和译码后，决定选择哪一路模拟电压进行</a:t>
            </a:r>
            <a:r>
              <a:rPr lang="en-US" altLang="zh-CN" b="1">
                <a:latin typeface="Times New Roman" panose="02020603050405020304" pitchFamily="18" charset="0"/>
              </a:rPr>
              <a:t>A/D</a:t>
            </a:r>
            <a:r>
              <a:rPr lang="zh-CN" altLang="en-US" b="1" dirty="0">
                <a:latin typeface="Times New Roman" panose="02020603050405020304" pitchFamily="18" charset="0"/>
              </a:rPr>
              <a:t>转换，对应关系如表</a:t>
            </a:r>
            <a:r>
              <a:rPr lang="en-US" altLang="zh-CN" b="1">
                <a:latin typeface="Times New Roman" panose="02020603050405020304" pitchFamily="18" charset="0"/>
              </a:rPr>
              <a:t>11- 4</a:t>
            </a:r>
            <a:r>
              <a:rPr lang="zh-CN" altLang="en-US" b="1" dirty="0">
                <a:latin typeface="Times New Roman" panose="02020603050405020304" pitchFamily="18" charset="0"/>
              </a:rPr>
              <a:t>所示。 </a:t>
            </a:r>
            <a:endParaRPr lang="zh-CN" altLang="en-US" b="1">
              <a:latin typeface="Times New Roman" panose="02020603050405020304" pitchFamily="18" charset="0"/>
            </a:endParaRPr>
          </a:p>
        </p:txBody>
      </p:sp>
    </p:spTree>
  </p:cSld>
  <p:clrMapOvr>
    <a:masterClrMapping/>
  </p:clrMapOvr>
  <p:transition>
    <p:blinds dir="vert"/>
  </p:transition>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3106" name="文本框 303105"/>
          <p:cNvSpPr txBox="1"/>
          <p:nvPr/>
        </p:nvSpPr>
        <p:spPr>
          <a:xfrm>
            <a:off x="2514600" y="914400"/>
            <a:ext cx="3959225" cy="457200"/>
          </a:xfrm>
          <a:prstGeom prst="rect">
            <a:avLst/>
          </a:prstGeom>
          <a:noFill/>
          <a:ln w="9525">
            <a:noFill/>
          </a:ln>
        </p:spPr>
        <p:txBody>
          <a:bodyPr wrap="none" anchor="t" anchorCtr="0">
            <a:spAutoFit/>
          </a:bodyPr>
          <a:p>
            <a:r>
              <a:rPr lang="zh-CN" altLang="en-US" b="1" dirty="0">
                <a:latin typeface="Times New Roman" panose="02020603050405020304" pitchFamily="18" charset="0"/>
              </a:rPr>
              <a:t>表</a:t>
            </a:r>
            <a:r>
              <a:rPr lang="en-US" altLang="zh-CN" b="1">
                <a:latin typeface="Times New Roman" panose="02020603050405020304" pitchFamily="18" charset="0"/>
              </a:rPr>
              <a:t>11- 4 </a:t>
            </a:r>
            <a:r>
              <a:rPr lang="zh-CN" altLang="en-US" b="1" dirty="0">
                <a:latin typeface="Times New Roman" panose="02020603050405020304" pitchFamily="18" charset="0"/>
              </a:rPr>
              <a:t>模拟输入信号的选择</a:t>
            </a:r>
            <a:endParaRPr lang="zh-CN" altLang="en-US" b="1">
              <a:latin typeface="Times New Roman" panose="02020603050405020304" pitchFamily="18" charset="0"/>
            </a:endParaRPr>
          </a:p>
        </p:txBody>
      </p:sp>
      <p:pic>
        <p:nvPicPr>
          <p:cNvPr id="303107" name="图片 303106" descr="Img00045"/>
          <p:cNvPicPr>
            <a:picLocks noChangeAspect="1"/>
          </p:cNvPicPr>
          <p:nvPr/>
        </p:nvPicPr>
        <p:blipFill>
          <a:blip r:embed="rId1"/>
          <a:stretch>
            <a:fillRect/>
          </a:stretch>
        </p:blipFill>
        <p:spPr>
          <a:xfrm>
            <a:off x="1676400" y="1828800"/>
            <a:ext cx="5943600" cy="4146550"/>
          </a:xfrm>
          <a:prstGeom prst="rect">
            <a:avLst/>
          </a:prstGeom>
          <a:noFill/>
          <a:ln w="9525">
            <a:noFill/>
          </a:ln>
        </p:spPr>
      </p:pic>
    </p:spTree>
  </p:cSld>
  <p:clrMapOvr>
    <a:masterClrMapping/>
  </p:clrMapOvr>
  <p:transition>
    <p:blinds dir="vert"/>
  </p:transition>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112646" name="组合 112645"/>
          <p:cNvGrpSpPr/>
          <p:nvPr/>
        </p:nvGrpSpPr>
        <p:grpSpPr>
          <a:xfrm>
            <a:off x="152400" y="533400"/>
            <a:ext cx="8991600" cy="5810250"/>
            <a:chOff x="96" y="336"/>
            <a:chExt cx="5664" cy="3660"/>
          </a:xfrm>
        </p:grpSpPr>
        <p:sp>
          <p:nvSpPr>
            <p:cNvPr id="112644" name="文本框 112643"/>
            <p:cNvSpPr txBox="1"/>
            <p:nvPr/>
          </p:nvSpPr>
          <p:spPr>
            <a:xfrm>
              <a:off x="96" y="336"/>
              <a:ext cx="5664" cy="3660"/>
            </a:xfrm>
            <a:prstGeom prst="rect">
              <a:avLst/>
            </a:prstGeom>
            <a:noFill/>
            <a:ln w="9525">
              <a:noFill/>
            </a:ln>
          </p:spPr>
          <p:txBody>
            <a:bodyPr>
              <a:spAutoFit/>
            </a:bodyPr>
            <a:p>
              <a:pPr>
                <a:lnSpc>
                  <a:spcPct val="138000"/>
                </a:lnSpc>
                <a:spcBef>
                  <a:spcPct val="50000"/>
                </a:spcBef>
              </a:pPr>
              <a:r>
                <a:rPr lang="en-US" altLang="zh-CN" dirty="0">
                  <a:latin typeface="Times New Roman" panose="02020603050405020304" pitchFamily="18" charset="0"/>
                </a:rPr>
                <a:t>        </a:t>
              </a:r>
              <a:r>
                <a:rPr lang="en-US" altLang="zh-CN" b="1">
                  <a:latin typeface="Times New Roman" panose="02020603050405020304" pitchFamily="18" charset="0"/>
                </a:rPr>
                <a:t>④ </a:t>
              </a:r>
              <a:r>
                <a:rPr lang="zh-CN" altLang="en-US" b="1" dirty="0">
                  <a:latin typeface="Times New Roman" panose="02020603050405020304" pitchFamily="18" charset="0"/>
                </a:rPr>
                <a:t>控制与状态信号： </a:t>
              </a:r>
              <a:endParaRPr lang="zh-CN" altLang="en-US" b="1" dirty="0">
                <a:latin typeface="Times New Roman" panose="02020603050405020304" pitchFamily="18" charset="0"/>
              </a:endParaRPr>
            </a:p>
            <a:p>
              <a:pPr>
                <a:lnSpc>
                  <a:spcPct val="138000"/>
                </a:lnSpc>
                <a:spcBef>
                  <a:spcPct val="50000"/>
                </a:spcBef>
              </a:pPr>
              <a:r>
                <a:rPr lang="zh-CN" altLang="en-US" b="1" dirty="0">
                  <a:latin typeface="Times New Roman" panose="02020603050405020304" pitchFamily="18" charset="0"/>
                </a:rPr>
                <a:t>         </a:t>
              </a:r>
              <a:r>
                <a:rPr lang="en-US" altLang="zh-CN" b="1">
                  <a:latin typeface="Times New Roman" panose="02020603050405020304" pitchFamily="18" charset="0"/>
                </a:rPr>
                <a:t>ALE</a:t>
              </a:r>
              <a:r>
                <a:rPr lang="zh-CN" altLang="en-US" b="1" dirty="0">
                  <a:latin typeface="Times New Roman" panose="02020603050405020304" pitchFamily="18" charset="0"/>
                </a:rPr>
                <a:t>为地址锁存允许信号， 它是</a:t>
              </a:r>
              <a:r>
                <a:rPr lang="en-US" altLang="zh-CN" b="1">
                  <a:latin typeface="Times New Roman" panose="02020603050405020304" pitchFamily="18" charset="0"/>
                </a:rPr>
                <a:t>1</a:t>
              </a:r>
              <a:r>
                <a:rPr lang="zh-CN" altLang="en-US" b="1" dirty="0">
                  <a:latin typeface="Times New Roman" panose="02020603050405020304" pitchFamily="18" charset="0"/>
                </a:rPr>
                <a:t>个正脉冲信号，在脉冲的上升沿将</a:t>
              </a:r>
              <a:r>
                <a:rPr lang="en-US" altLang="zh-CN" b="1">
                  <a:latin typeface="Times New Roman" panose="02020603050405020304" pitchFamily="18" charset="0"/>
                </a:rPr>
                <a:t>3</a:t>
              </a:r>
              <a:r>
                <a:rPr lang="zh-CN" altLang="en-US" b="1" dirty="0">
                  <a:latin typeface="Times New Roman" panose="02020603050405020304" pitchFamily="18" charset="0"/>
                </a:rPr>
                <a:t>位地址</a:t>
              </a:r>
              <a:r>
                <a:rPr lang="en-US" altLang="zh-CN" b="1">
                  <a:latin typeface="Times New Roman" panose="02020603050405020304" pitchFamily="18" charset="0"/>
                </a:rPr>
                <a:t>ADDC</a:t>
              </a:r>
              <a:r>
                <a:rPr lang="zh-CN" altLang="en-US" b="1">
                  <a:latin typeface="Times New Roman" panose="02020603050405020304" pitchFamily="18" charset="0"/>
                </a:rPr>
                <a:t>、</a:t>
              </a:r>
              <a:r>
                <a:rPr lang="en-US" altLang="zh-CN" b="1">
                  <a:latin typeface="Times New Roman" panose="02020603050405020304" pitchFamily="18" charset="0"/>
                </a:rPr>
                <a:t>ADDB</a:t>
              </a:r>
              <a:r>
                <a:rPr lang="zh-CN" altLang="en-US" b="1">
                  <a:latin typeface="Times New Roman" panose="02020603050405020304" pitchFamily="18" charset="0"/>
                </a:rPr>
                <a:t>和</a:t>
              </a:r>
              <a:r>
                <a:rPr lang="en-US" altLang="zh-CN" b="1">
                  <a:latin typeface="Times New Roman" panose="02020603050405020304" pitchFamily="18" charset="0"/>
                </a:rPr>
                <a:t>ADDA</a:t>
              </a:r>
              <a:r>
                <a:rPr lang="zh-CN" altLang="en-US" b="1" dirty="0">
                  <a:latin typeface="Times New Roman" panose="02020603050405020304" pitchFamily="18" charset="0"/>
                </a:rPr>
                <a:t>存入锁存器。 </a:t>
              </a:r>
              <a:r>
                <a:rPr lang="en-US" altLang="zh-CN" b="1">
                  <a:latin typeface="Times New Roman" panose="02020603050405020304" pitchFamily="18" charset="0"/>
                </a:rPr>
                <a:t>CLK</a:t>
              </a:r>
              <a:r>
                <a:rPr lang="zh-CN" altLang="en-US" b="1" dirty="0">
                  <a:latin typeface="Times New Roman" panose="02020603050405020304" pitchFamily="18" charset="0"/>
                </a:rPr>
                <a:t>为时钟脉冲输入，频率范围是</a:t>
              </a:r>
              <a:r>
                <a:rPr lang="en-US" altLang="zh-CN" b="1">
                  <a:latin typeface="Times New Roman" panose="02020603050405020304" pitchFamily="18" charset="0"/>
                </a:rPr>
                <a:t>10 k</a:t>
              </a:r>
              <a:r>
                <a:rPr lang="zh-CN" altLang="en-US" b="1">
                  <a:latin typeface="Times New Roman" panose="02020603050405020304" pitchFamily="18" charset="0"/>
                </a:rPr>
                <a:t>～</a:t>
              </a:r>
              <a:r>
                <a:rPr lang="en-US" altLang="zh-CN" b="1">
                  <a:latin typeface="Times New Roman" panose="02020603050405020304" pitchFamily="18" charset="0"/>
                </a:rPr>
                <a:t>1280 kHz</a:t>
              </a:r>
              <a:r>
                <a:rPr lang="zh-CN" altLang="en-US" b="1">
                  <a:latin typeface="Times New Roman" panose="02020603050405020304" pitchFamily="18" charset="0"/>
                </a:rPr>
                <a:t>。</a:t>
              </a:r>
              <a:r>
                <a:rPr lang="en-US" altLang="zh-CN" b="1">
                  <a:latin typeface="Times New Roman" panose="02020603050405020304" pitchFamily="18" charset="0"/>
                </a:rPr>
                <a:t>START</a:t>
              </a:r>
              <a:r>
                <a:rPr lang="zh-CN" altLang="en-US" b="1">
                  <a:latin typeface="Times New Roman" panose="02020603050405020304" pitchFamily="18" charset="0"/>
                </a:rPr>
                <a:t>为</a:t>
              </a:r>
              <a:r>
                <a:rPr lang="en-US" altLang="zh-CN" b="1">
                  <a:latin typeface="Times New Roman" panose="02020603050405020304" pitchFamily="18" charset="0"/>
                </a:rPr>
                <a:t>A/D</a:t>
              </a:r>
              <a:r>
                <a:rPr lang="zh-CN" altLang="en-US" b="1" dirty="0">
                  <a:latin typeface="Times New Roman" panose="02020603050405020304" pitchFamily="18" charset="0"/>
                </a:rPr>
                <a:t>转换的启动信号，它是</a:t>
              </a:r>
              <a:r>
                <a:rPr lang="en-US" altLang="zh-CN" b="1">
                  <a:latin typeface="Times New Roman" panose="02020603050405020304" pitchFamily="18" charset="0"/>
                </a:rPr>
                <a:t>1</a:t>
              </a:r>
              <a:r>
                <a:rPr lang="zh-CN" altLang="en-US" b="1" dirty="0">
                  <a:latin typeface="Times New Roman" panose="02020603050405020304" pitchFamily="18" charset="0"/>
                </a:rPr>
                <a:t>个正脉冲信号， 在</a:t>
              </a:r>
              <a:r>
                <a:rPr lang="en-US" altLang="zh-CN" b="1">
                  <a:latin typeface="Times New Roman" panose="02020603050405020304" pitchFamily="18" charset="0"/>
                </a:rPr>
                <a:t>START</a:t>
              </a:r>
              <a:r>
                <a:rPr lang="zh-CN" altLang="en-US" b="1" dirty="0">
                  <a:latin typeface="Times New Roman" panose="02020603050405020304" pitchFamily="18" charset="0"/>
                </a:rPr>
                <a:t>的上升沿，将逐次比较寄存器清</a:t>
              </a:r>
              <a:r>
                <a:rPr lang="en-US" altLang="zh-CN" b="1">
                  <a:latin typeface="Times New Roman" panose="02020603050405020304" pitchFamily="18" charset="0"/>
                </a:rPr>
                <a:t>0</a:t>
              </a:r>
              <a:r>
                <a:rPr lang="zh-CN" altLang="en-US" b="1" dirty="0">
                  <a:latin typeface="Times New Roman" panose="02020603050405020304" pitchFamily="18" charset="0"/>
                </a:rPr>
                <a:t>，在</a:t>
              </a:r>
              <a:r>
                <a:rPr lang="en-US" altLang="zh-CN" b="1">
                  <a:latin typeface="Times New Roman" panose="02020603050405020304" pitchFamily="18" charset="0"/>
                </a:rPr>
                <a:t>START</a:t>
              </a:r>
              <a:r>
                <a:rPr lang="zh-CN" altLang="en-US" b="1" dirty="0">
                  <a:latin typeface="Times New Roman" panose="02020603050405020304" pitchFamily="18" charset="0"/>
                </a:rPr>
                <a:t>的下降沿开始转换。</a:t>
              </a:r>
              <a:r>
                <a:rPr lang="en-US" altLang="zh-CN" b="1">
                  <a:latin typeface="Times New Roman" panose="02020603050405020304" pitchFamily="18" charset="0"/>
                </a:rPr>
                <a:t>EOC</a:t>
              </a:r>
              <a:r>
                <a:rPr lang="zh-CN" altLang="en-US" b="1" dirty="0">
                  <a:latin typeface="Times New Roman" panose="02020603050405020304" pitchFamily="18" charset="0"/>
                </a:rPr>
                <a:t>为转换结束标志， 高电平有效。 在</a:t>
              </a:r>
              <a:r>
                <a:rPr lang="en-US" altLang="zh-CN" b="1">
                  <a:latin typeface="Times New Roman" panose="02020603050405020304" pitchFamily="18" charset="0"/>
                </a:rPr>
                <a:t>START</a:t>
              </a:r>
              <a:r>
                <a:rPr lang="zh-CN" altLang="en-US" b="1" dirty="0">
                  <a:latin typeface="Times New Roman" panose="02020603050405020304" pitchFamily="18" charset="0"/>
                </a:rPr>
                <a:t>的上升沿到来后， </a:t>
              </a:r>
              <a:r>
                <a:rPr lang="en-US" altLang="zh-CN" b="1">
                  <a:latin typeface="Times New Roman" panose="02020603050405020304" pitchFamily="18" charset="0"/>
                </a:rPr>
                <a:t>EOC</a:t>
              </a:r>
              <a:r>
                <a:rPr lang="zh-CN" altLang="en-US" b="1" dirty="0">
                  <a:latin typeface="Times New Roman" panose="02020603050405020304" pitchFamily="18" charset="0"/>
                </a:rPr>
                <a:t>变成低电平，表示正在进行</a:t>
              </a:r>
              <a:r>
                <a:rPr lang="en-US" altLang="zh-CN" b="1">
                  <a:latin typeface="Times New Roman" panose="02020603050405020304" pitchFamily="18" charset="0"/>
                </a:rPr>
                <a:t>A/D</a:t>
              </a:r>
              <a:r>
                <a:rPr lang="zh-CN" altLang="en-US" b="1" dirty="0">
                  <a:latin typeface="Times New Roman" panose="02020603050405020304" pitchFamily="18" charset="0"/>
                </a:rPr>
                <a:t>转换； </a:t>
              </a:r>
              <a:r>
                <a:rPr lang="en-US" altLang="zh-CN" b="1">
                  <a:latin typeface="Times New Roman" panose="02020603050405020304" pitchFamily="18" charset="0"/>
                </a:rPr>
                <a:t>A/D</a:t>
              </a:r>
              <a:r>
                <a:rPr lang="zh-CN" altLang="en-US" b="1" dirty="0">
                  <a:latin typeface="Times New Roman" panose="02020603050405020304" pitchFamily="18" charset="0"/>
                </a:rPr>
                <a:t>转换结束后， </a:t>
              </a:r>
              <a:r>
                <a:rPr lang="en-US" altLang="zh-CN" b="1">
                  <a:latin typeface="Times New Roman" panose="02020603050405020304" pitchFamily="18" charset="0"/>
                </a:rPr>
                <a:t>EOC</a:t>
              </a:r>
              <a:r>
                <a:rPr lang="zh-CN" altLang="en-US" b="1" dirty="0">
                  <a:latin typeface="Times New Roman" panose="02020603050405020304" pitchFamily="18" charset="0"/>
                </a:rPr>
                <a:t>跳到高电平。 所以</a:t>
              </a:r>
              <a:r>
                <a:rPr lang="en-US" altLang="zh-CN" b="1">
                  <a:latin typeface="Times New Roman" panose="02020603050405020304" pitchFamily="18" charset="0"/>
                </a:rPr>
                <a:t>EOC</a:t>
              </a:r>
              <a:r>
                <a:rPr lang="zh-CN" altLang="en-US" b="1" dirty="0">
                  <a:latin typeface="Times New Roman" panose="02020603050405020304" pitchFamily="18" charset="0"/>
                </a:rPr>
                <a:t>可以作为通知数据接收设备开始读取</a:t>
              </a:r>
              <a:r>
                <a:rPr lang="en-US" altLang="zh-CN" b="1">
                  <a:latin typeface="Times New Roman" panose="02020603050405020304" pitchFamily="18" charset="0"/>
                </a:rPr>
                <a:t>A/D</a:t>
              </a:r>
              <a:r>
                <a:rPr lang="zh-CN" altLang="en-US" b="1" dirty="0">
                  <a:latin typeface="Times New Roman" panose="02020603050405020304" pitchFamily="18" charset="0"/>
                </a:rPr>
                <a:t>转换结果的启动信号， 或者作为向微处理器发出的中断请求信号</a:t>
              </a:r>
              <a:r>
                <a:rPr lang="en-US" altLang="zh-CN" b="1">
                  <a:latin typeface="Times New Roman" panose="02020603050405020304" pitchFamily="18" charset="0"/>
                </a:rPr>
                <a:t>INT</a:t>
              </a:r>
              <a:r>
                <a:rPr lang="zh-CN" altLang="en-US" b="1">
                  <a:latin typeface="Times New Roman" panose="02020603050405020304" pitchFamily="18" charset="0"/>
                </a:rPr>
                <a:t>（或</a:t>
              </a:r>
              <a:r>
                <a:rPr lang="en-US" altLang="zh-CN" b="1">
                  <a:latin typeface="Times New Roman" panose="02020603050405020304" pitchFamily="18" charset="0"/>
                </a:rPr>
                <a:t>INT</a:t>
              </a:r>
              <a:r>
                <a:rPr lang="zh-CN" altLang="en-US" b="1">
                  <a:latin typeface="Times New Roman" panose="02020603050405020304" pitchFamily="18" charset="0"/>
                </a:rPr>
                <a:t>）。</a:t>
              </a:r>
              <a:r>
                <a:rPr lang="en-US" altLang="zh-CN" b="1">
                  <a:latin typeface="Times New Roman" panose="02020603050405020304" pitchFamily="18" charset="0"/>
                </a:rPr>
                <a:t>OE</a:t>
              </a:r>
              <a:r>
                <a:rPr lang="zh-CN" altLang="en-US" b="1" dirty="0">
                  <a:latin typeface="Times New Roman" panose="02020603050405020304" pitchFamily="18" charset="0"/>
                </a:rPr>
                <a:t>为输出允许信号，高电平有效。</a:t>
              </a:r>
              <a:endParaRPr lang="zh-CN" altLang="en-US" b="1">
                <a:latin typeface="Times New Roman" panose="02020603050405020304" pitchFamily="18" charset="0"/>
              </a:endParaRPr>
            </a:p>
          </p:txBody>
        </p:sp>
        <p:sp>
          <p:nvSpPr>
            <p:cNvPr id="112645" name="直接连接符 112644"/>
            <p:cNvSpPr/>
            <p:nvPr/>
          </p:nvSpPr>
          <p:spPr>
            <a:xfrm>
              <a:off x="4320" y="3408"/>
              <a:ext cx="288" cy="0"/>
            </a:xfrm>
            <a:prstGeom prst="line">
              <a:avLst/>
            </a:prstGeom>
            <a:ln w="9525" cap="flat" cmpd="sng">
              <a:solidFill>
                <a:schemeClr val="tx1"/>
              </a:solidFill>
              <a:prstDash val="solid"/>
              <a:headEnd type="none" w="med" len="med"/>
              <a:tailEnd type="none" w="med" len="med"/>
            </a:ln>
          </p:spPr>
        </p:sp>
      </p:grpSp>
    </p:spTree>
  </p:cSld>
  <p:clrMapOvr>
    <a:masterClrMapping/>
  </p:clrMapOvr>
  <p:transition>
    <p:blinds dir="vert"/>
  </p:transition>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4692" name="文本框 114691"/>
          <p:cNvSpPr txBox="1"/>
          <p:nvPr/>
        </p:nvSpPr>
        <p:spPr>
          <a:xfrm>
            <a:off x="304800" y="609600"/>
            <a:ext cx="8610600" cy="2465388"/>
          </a:xfrm>
          <a:prstGeom prst="rect">
            <a:avLst/>
          </a:prstGeom>
          <a:noFill/>
          <a:ln w="9525">
            <a:noFill/>
          </a:ln>
        </p:spPr>
        <p:txBody>
          <a:bodyPr>
            <a:spAutoFit/>
          </a:bodyPr>
          <a:p>
            <a:pPr>
              <a:lnSpc>
                <a:spcPct val="200000"/>
              </a:lnSpc>
              <a:spcBef>
                <a:spcPct val="50000"/>
              </a:spcBef>
            </a:pPr>
            <a:r>
              <a:rPr lang="en-US" altLang="zh-CN" dirty="0">
                <a:latin typeface="Times New Roman" panose="02020603050405020304" pitchFamily="18" charset="0"/>
              </a:rPr>
              <a:t>        </a:t>
            </a:r>
            <a:r>
              <a:rPr lang="en-US" altLang="zh-CN" b="1">
                <a:latin typeface="Times New Roman" panose="02020603050405020304" pitchFamily="18" charset="0"/>
              </a:rPr>
              <a:t>⑤ </a:t>
            </a:r>
            <a:r>
              <a:rPr lang="zh-CN" altLang="en-US" b="1" dirty="0">
                <a:latin typeface="Times New Roman" panose="02020603050405020304" pitchFamily="18" charset="0"/>
              </a:rPr>
              <a:t>电源、 地：  </a:t>
            </a:r>
            <a:endParaRPr lang="zh-CN" altLang="en-US" b="1" dirty="0">
              <a:latin typeface="Times New Roman" panose="02020603050405020304" pitchFamily="18" charset="0"/>
            </a:endParaRPr>
          </a:p>
          <a:p>
            <a:pPr>
              <a:lnSpc>
                <a:spcPct val="200000"/>
              </a:lnSpc>
              <a:spcBef>
                <a:spcPct val="50000"/>
              </a:spcBef>
            </a:pPr>
            <a:r>
              <a:rPr lang="zh-CN" altLang="en-US" b="1" dirty="0">
                <a:latin typeface="Times New Roman" panose="02020603050405020304" pitchFamily="18" charset="0"/>
              </a:rPr>
              <a:t>        </a:t>
            </a:r>
            <a:r>
              <a:rPr lang="en-US" altLang="zh-CN" b="1">
                <a:latin typeface="Times New Roman" panose="02020603050405020304" pitchFamily="18" charset="0"/>
              </a:rPr>
              <a:t>U</a:t>
            </a:r>
            <a:r>
              <a:rPr lang="en-US" altLang="zh-CN" b="1" baseline="-25000">
                <a:latin typeface="Times New Roman" panose="02020603050405020304" pitchFamily="18" charset="0"/>
              </a:rPr>
              <a:t>CC</a:t>
            </a:r>
            <a:r>
              <a:rPr lang="zh-CN" altLang="en-US" b="1" dirty="0">
                <a:latin typeface="Times New Roman" panose="02020603050405020304" pitchFamily="18" charset="0"/>
              </a:rPr>
              <a:t>为工作电压源。</a:t>
            </a:r>
            <a:r>
              <a:rPr lang="en-US" altLang="zh-CN" b="1">
                <a:latin typeface="Times New Roman" panose="02020603050405020304" pitchFamily="18" charset="0"/>
              </a:rPr>
              <a:t>U</a:t>
            </a:r>
            <a:r>
              <a:rPr lang="en-US" altLang="zh-CN" b="1" baseline="-25000">
                <a:latin typeface="Times New Roman" panose="02020603050405020304" pitchFamily="18" charset="0"/>
              </a:rPr>
              <a:t>REF(</a:t>
            </a:r>
            <a:r>
              <a:rPr lang="zh-CN" altLang="en-US" b="1" baseline="-25000">
                <a:latin typeface="Times New Roman" panose="02020603050405020304" pitchFamily="18" charset="0"/>
              </a:rPr>
              <a:t>＋</a:t>
            </a:r>
            <a:r>
              <a:rPr lang="en-US" altLang="zh-CN" b="1" baseline="-25000">
                <a:latin typeface="Times New Roman" panose="02020603050405020304" pitchFamily="18" charset="0"/>
              </a:rPr>
              <a:t>)</a:t>
            </a:r>
            <a:r>
              <a:rPr lang="zh-CN" altLang="en-US" b="1">
                <a:latin typeface="Times New Roman" panose="02020603050405020304" pitchFamily="18" charset="0"/>
              </a:rPr>
              <a:t>、</a:t>
            </a:r>
            <a:r>
              <a:rPr lang="en-US" altLang="zh-CN" b="1">
                <a:latin typeface="Times New Roman" panose="02020603050405020304" pitchFamily="18" charset="0"/>
              </a:rPr>
              <a:t>U</a:t>
            </a:r>
            <a:r>
              <a:rPr lang="en-US" altLang="zh-CN" b="1" baseline="-25000">
                <a:latin typeface="Times New Roman" panose="02020603050405020304" pitchFamily="18" charset="0"/>
              </a:rPr>
              <a:t>REF(-)</a:t>
            </a:r>
            <a:r>
              <a:rPr lang="zh-CN" altLang="en-US" b="1" dirty="0">
                <a:latin typeface="Times New Roman" panose="02020603050405020304" pitchFamily="18" charset="0"/>
              </a:rPr>
              <a:t>为基准电压源的正端和负端。</a:t>
            </a:r>
            <a:r>
              <a:rPr lang="en-US" altLang="zh-CN" b="1">
                <a:latin typeface="Times New Roman" panose="02020603050405020304" pitchFamily="18" charset="0"/>
              </a:rPr>
              <a:t>GND</a:t>
            </a:r>
            <a:r>
              <a:rPr lang="zh-CN" altLang="en-US" b="1" dirty="0">
                <a:latin typeface="Times New Roman" panose="02020603050405020304" pitchFamily="18" charset="0"/>
              </a:rPr>
              <a:t>为接地。 </a:t>
            </a:r>
            <a:endParaRPr lang="zh-CN" altLang="en-US" b="1">
              <a:latin typeface="Times New Roman" panose="02020603050405020304" pitchFamily="18" charset="0"/>
            </a:endParaRPr>
          </a:p>
        </p:txBody>
      </p:sp>
    </p:spTree>
  </p:cSld>
  <p:clrMapOvr>
    <a:masterClrMapping/>
  </p:clrMapOvr>
  <p:transition>
    <p:blinds dir="vert"/>
  </p:transition>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6740" name="文本框 116739"/>
          <p:cNvSpPr txBox="1"/>
          <p:nvPr/>
        </p:nvSpPr>
        <p:spPr>
          <a:xfrm>
            <a:off x="228600" y="609600"/>
            <a:ext cx="8686800" cy="5468938"/>
          </a:xfrm>
          <a:prstGeom prst="rect">
            <a:avLst/>
          </a:prstGeom>
          <a:noFill/>
          <a:ln w="9525">
            <a:noFill/>
          </a:ln>
        </p:spPr>
        <p:txBody>
          <a:bodyPr>
            <a:spAutoFit/>
          </a:bodyPr>
          <a:p>
            <a:pPr>
              <a:lnSpc>
                <a:spcPct val="178000"/>
              </a:lnSpc>
              <a:spcBef>
                <a:spcPct val="50000"/>
              </a:spcBef>
            </a:pPr>
            <a:r>
              <a:rPr lang="en-US" altLang="zh-CN" dirty="0">
                <a:latin typeface="Times New Roman" panose="02020603050405020304" pitchFamily="18" charset="0"/>
              </a:rPr>
              <a:t>         </a:t>
            </a:r>
            <a:r>
              <a:rPr lang="en-US" altLang="zh-CN" b="1">
                <a:latin typeface="Times New Roman" panose="02020603050405020304" pitchFamily="18" charset="0"/>
              </a:rPr>
              <a:t>3</a:t>
            </a:r>
            <a:r>
              <a:rPr lang="zh-CN" altLang="en-US" b="1" dirty="0">
                <a:latin typeface="Times New Roman" panose="02020603050405020304" pitchFamily="18" charset="0"/>
              </a:rPr>
              <a:t>） </a:t>
            </a:r>
            <a:r>
              <a:rPr lang="en-US" altLang="zh-CN" b="1">
                <a:latin typeface="Times New Roman" panose="02020603050405020304" pitchFamily="18" charset="0"/>
              </a:rPr>
              <a:t>ADC0809</a:t>
            </a:r>
            <a:r>
              <a:rPr lang="zh-CN" altLang="en-US" b="1" dirty="0">
                <a:latin typeface="Times New Roman" panose="02020603050405020304" pitchFamily="18" charset="0"/>
              </a:rPr>
              <a:t>的工作过程</a:t>
            </a:r>
            <a:endParaRPr lang="zh-CN" altLang="en-US" b="1" dirty="0">
              <a:latin typeface="Times New Roman" panose="02020603050405020304" pitchFamily="18" charset="0"/>
            </a:endParaRPr>
          </a:p>
          <a:p>
            <a:pPr>
              <a:lnSpc>
                <a:spcPct val="178000"/>
              </a:lnSpc>
              <a:spcBef>
                <a:spcPct val="50000"/>
              </a:spcBef>
            </a:pPr>
            <a:r>
              <a:rPr lang="zh-CN" altLang="en-US" b="1" dirty="0">
                <a:latin typeface="Times New Roman" panose="02020603050405020304" pitchFamily="18" charset="0"/>
              </a:rPr>
              <a:t>         </a:t>
            </a:r>
            <a:r>
              <a:rPr lang="en-US" altLang="zh-CN" b="1">
                <a:latin typeface="Times New Roman" panose="02020603050405020304" pitchFamily="18" charset="0"/>
              </a:rPr>
              <a:t>ADC0809</a:t>
            </a:r>
            <a:r>
              <a:rPr lang="zh-CN" altLang="en-US" b="1" dirty="0">
                <a:latin typeface="Times New Roman" panose="02020603050405020304" pitchFamily="18" charset="0"/>
              </a:rPr>
              <a:t>的工作过程大致如下： 输入三位地址信号， 地址信号稳定后，在</a:t>
            </a:r>
            <a:r>
              <a:rPr lang="en-US" altLang="zh-CN" b="1">
                <a:latin typeface="Times New Roman" panose="02020603050405020304" pitchFamily="18" charset="0"/>
              </a:rPr>
              <a:t>ALE</a:t>
            </a:r>
            <a:r>
              <a:rPr lang="zh-CN" altLang="en-US" b="1" dirty="0">
                <a:latin typeface="Times New Roman" panose="02020603050405020304" pitchFamily="18" charset="0"/>
              </a:rPr>
              <a:t>脉冲的上升沿将其锁存，从而选通将进行</a:t>
            </a:r>
            <a:r>
              <a:rPr lang="en-US" altLang="zh-CN" b="1">
                <a:latin typeface="Times New Roman" panose="02020603050405020304" pitchFamily="18" charset="0"/>
              </a:rPr>
              <a:t>A/D</a:t>
            </a:r>
            <a:r>
              <a:rPr lang="zh-CN" altLang="en-US" b="1" dirty="0">
                <a:latin typeface="Times New Roman" panose="02020603050405020304" pitchFamily="18" charset="0"/>
              </a:rPr>
              <a:t>转换的那路模拟信号；发出</a:t>
            </a:r>
            <a:r>
              <a:rPr lang="en-US" altLang="zh-CN" b="1">
                <a:latin typeface="Times New Roman" panose="02020603050405020304" pitchFamily="18" charset="0"/>
              </a:rPr>
              <a:t>A/D</a:t>
            </a:r>
            <a:r>
              <a:rPr lang="zh-CN" altLang="en-US" b="1" dirty="0">
                <a:latin typeface="Times New Roman" panose="02020603050405020304" pitchFamily="18" charset="0"/>
              </a:rPr>
              <a:t>转换的启动信号</a:t>
            </a:r>
            <a:r>
              <a:rPr lang="en-US" altLang="zh-CN" b="1">
                <a:latin typeface="Times New Roman" panose="02020603050405020304" pitchFamily="18" charset="0"/>
              </a:rPr>
              <a:t>START</a:t>
            </a:r>
            <a:r>
              <a:rPr lang="zh-CN" altLang="en-US" b="1">
                <a:latin typeface="Times New Roman" panose="02020603050405020304" pitchFamily="18" charset="0"/>
              </a:rPr>
              <a:t>， 在</a:t>
            </a:r>
            <a:r>
              <a:rPr lang="en-US" altLang="zh-CN" b="1">
                <a:latin typeface="Times New Roman" panose="02020603050405020304" pitchFamily="18" charset="0"/>
              </a:rPr>
              <a:t>START</a:t>
            </a:r>
            <a:r>
              <a:rPr lang="zh-CN" altLang="en-US" b="1" dirty="0">
                <a:latin typeface="Times New Roman" panose="02020603050405020304" pitchFamily="18" charset="0"/>
              </a:rPr>
              <a:t>的上升沿，将逐次比较寄存器清零， 转换结束标志</a:t>
            </a:r>
            <a:r>
              <a:rPr lang="en-US" altLang="zh-CN" b="1">
                <a:latin typeface="Times New Roman" panose="02020603050405020304" pitchFamily="18" charset="0"/>
              </a:rPr>
              <a:t>EOC</a:t>
            </a:r>
            <a:r>
              <a:rPr lang="zh-CN" altLang="en-US" b="1" dirty="0">
                <a:latin typeface="Times New Roman" panose="02020603050405020304" pitchFamily="18" charset="0"/>
              </a:rPr>
              <a:t>变成低电平，在</a:t>
            </a:r>
            <a:r>
              <a:rPr lang="en-US" altLang="zh-CN" b="1">
                <a:latin typeface="Times New Roman" panose="02020603050405020304" pitchFamily="18" charset="0"/>
              </a:rPr>
              <a:t>START</a:t>
            </a:r>
            <a:r>
              <a:rPr lang="zh-CN" altLang="en-US" b="1" dirty="0">
                <a:latin typeface="Times New Roman" panose="02020603050405020304" pitchFamily="18" charset="0"/>
              </a:rPr>
              <a:t>的下降沿开始转换；转换过程在时钟脉冲</a:t>
            </a:r>
            <a:r>
              <a:rPr lang="en-US" altLang="zh-CN" b="1">
                <a:latin typeface="Times New Roman" panose="02020603050405020304" pitchFamily="18" charset="0"/>
              </a:rPr>
              <a:t>CLK</a:t>
            </a:r>
            <a:r>
              <a:rPr lang="zh-CN" altLang="en-US" b="1" dirty="0">
                <a:latin typeface="Times New Roman" panose="02020603050405020304" pitchFamily="18" charset="0"/>
              </a:rPr>
              <a:t>的控制下进行；转换结束后，转换结束标志</a:t>
            </a:r>
            <a:r>
              <a:rPr lang="en-US" altLang="zh-CN" b="1">
                <a:latin typeface="Times New Roman" panose="02020603050405020304" pitchFamily="18" charset="0"/>
              </a:rPr>
              <a:t>EOC</a:t>
            </a:r>
            <a:r>
              <a:rPr lang="zh-CN" altLang="en-US" b="1" dirty="0">
                <a:latin typeface="Times New Roman" panose="02020603050405020304" pitchFamily="18" charset="0"/>
              </a:rPr>
              <a:t>跳到高电平， 在</a:t>
            </a:r>
            <a:r>
              <a:rPr lang="en-US" altLang="zh-CN" b="1">
                <a:latin typeface="Times New Roman" panose="02020603050405020304" pitchFamily="18" charset="0"/>
              </a:rPr>
              <a:t>OE</a:t>
            </a:r>
            <a:r>
              <a:rPr lang="zh-CN" altLang="en-US" b="1" dirty="0">
                <a:latin typeface="Times New Roman" panose="02020603050405020304" pitchFamily="18" charset="0"/>
              </a:rPr>
              <a:t>端输入低电平， 转换结果输出。 </a:t>
            </a:r>
            <a:endParaRPr lang="zh-CN" altLang="en-US" b="1">
              <a:latin typeface="Times New Roman" panose="02020603050405020304" pitchFamily="18" charset="0"/>
            </a:endParaRPr>
          </a:p>
        </p:txBody>
      </p:sp>
    </p:spTree>
  </p:cSld>
  <p:clrMapOvr>
    <a:masterClrMapping/>
  </p:clrMapOvr>
  <p:transition>
    <p:blinds dir="vert"/>
  </p:transition>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5716" name="文本框 115715"/>
          <p:cNvSpPr txBox="1"/>
          <p:nvPr/>
        </p:nvSpPr>
        <p:spPr>
          <a:xfrm>
            <a:off x="228600" y="609600"/>
            <a:ext cx="8686800" cy="4437063"/>
          </a:xfrm>
          <a:prstGeom prst="rect">
            <a:avLst/>
          </a:prstGeom>
          <a:noFill/>
          <a:ln w="9525">
            <a:noFill/>
          </a:ln>
        </p:spPr>
        <p:txBody>
          <a:bodyPr>
            <a:spAutoFit/>
          </a:bodyPr>
          <a:p>
            <a:pPr>
              <a:lnSpc>
                <a:spcPct val="190000"/>
              </a:lnSpc>
              <a:spcBef>
                <a:spcPct val="50000"/>
              </a:spcBef>
            </a:pPr>
            <a:r>
              <a:rPr lang="en-US" altLang="zh-CN" dirty="0">
                <a:latin typeface="Times New Roman" panose="02020603050405020304" pitchFamily="18" charset="0"/>
              </a:rPr>
              <a:t>         </a:t>
            </a:r>
            <a:r>
              <a:rPr lang="zh-CN" altLang="en-US" b="1" dirty="0">
                <a:latin typeface="Times New Roman" panose="02020603050405020304" pitchFamily="18" charset="0"/>
              </a:rPr>
              <a:t>如果在进行转换的过程中接收到新的转换启动信号（</a:t>
            </a:r>
            <a:r>
              <a:rPr lang="en-US" altLang="zh-CN" b="1">
                <a:latin typeface="Times New Roman" panose="02020603050405020304" pitchFamily="18" charset="0"/>
              </a:rPr>
              <a:t>START</a:t>
            </a:r>
            <a:r>
              <a:rPr lang="zh-CN" altLang="en-US" b="1">
                <a:latin typeface="Times New Roman" panose="02020603050405020304" pitchFamily="18" charset="0"/>
              </a:rPr>
              <a:t>），</a:t>
            </a:r>
            <a:r>
              <a:rPr lang="zh-CN" altLang="en-US" b="1" dirty="0">
                <a:latin typeface="Times New Roman" panose="02020603050405020304" pitchFamily="18" charset="0"/>
              </a:rPr>
              <a:t>则逐次逼近寄存器被清零，正在进行的转换过程被终止，然后重新开始新的转换。 若将</a:t>
            </a:r>
            <a:r>
              <a:rPr lang="en-US" altLang="zh-CN" b="1">
                <a:latin typeface="Times New Roman" panose="02020603050405020304" pitchFamily="18" charset="0"/>
              </a:rPr>
              <a:t>START</a:t>
            </a:r>
            <a:r>
              <a:rPr lang="zh-CN" altLang="en-US" b="1">
                <a:latin typeface="Times New Roman" panose="02020603050405020304" pitchFamily="18" charset="0"/>
              </a:rPr>
              <a:t>和</a:t>
            </a:r>
            <a:r>
              <a:rPr lang="en-US" altLang="zh-CN" b="1">
                <a:latin typeface="Times New Roman" panose="02020603050405020304" pitchFamily="18" charset="0"/>
              </a:rPr>
              <a:t>EOC</a:t>
            </a:r>
            <a:r>
              <a:rPr lang="zh-CN" altLang="en-US" b="1" dirty="0">
                <a:latin typeface="Times New Roman" panose="02020603050405020304" pitchFamily="18" charset="0"/>
              </a:rPr>
              <a:t>短接，则可实现连续转换，但第一次转换须用外部启动脉冲。   </a:t>
            </a:r>
            <a:endParaRPr lang="zh-CN" altLang="en-US" b="1" dirty="0">
              <a:latin typeface="Times New Roman" panose="02020603050405020304" pitchFamily="18" charset="0"/>
            </a:endParaRPr>
          </a:p>
          <a:p>
            <a:pPr>
              <a:lnSpc>
                <a:spcPct val="190000"/>
              </a:lnSpc>
              <a:spcBef>
                <a:spcPct val="50000"/>
              </a:spcBef>
            </a:pPr>
            <a:r>
              <a:rPr lang="zh-CN" altLang="en-US" b="1" dirty="0">
                <a:latin typeface="Times New Roman" panose="02020603050405020304" pitchFamily="18" charset="0"/>
              </a:rPr>
              <a:t>         </a:t>
            </a:r>
            <a:r>
              <a:rPr lang="en-US" altLang="zh-CN" b="1">
                <a:latin typeface="Times New Roman" panose="02020603050405020304" pitchFamily="18" charset="0"/>
              </a:rPr>
              <a:t>ADC0809</a:t>
            </a:r>
            <a:r>
              <a:rPr lang="zh-CN" altLang="en-US" b="1" dirty="0">
                <a:latin typeface="Times New Roman" panose="02020603050405020304" pitchFamily="18" charset="0"/>
              </a:rPr>
              <a:t>典型应用中，与微处理器的连接关系如图</a:t>
            </a:r>
            <a:r>
              <a:rPr lang="en-US" altLang="zh-CN" b="1">
                <a:latin typeface="Times New Roman" panose="02020603050405020304" pitchFamily="18" charset="0"/>
              </a:rPr>
              <a:t>11- 28</a:t>
            </a:r>
            <a:r>
              <a:rPr lang="zh-CN" altLang="en-US" b="1" dirty="0">
                <a:latin typeface="Times New Roman" panose="02020603050405020304" pitchFamily="18" charset="0"/>
              </a:rPr>
              <a:t>所示。</a:t>
            </a:r>
            <a:endParaRPr lang="zh-CN" altLang="en-US" b="1">
              <a:latin typeface="Times New Roman" panose="02020603050405020304" pitchFamily="18" charset="0"/>
            </a:endParaRPr>
          </a:p>
        </p:txBody>
      </p:sp>
    </p:spTree>
  </p:cSld>
  <p:clrMapOvr>
    <a:masterClrMapping/>
  </p:clrMapOvr>
  <p:transition>
    <p:blinds dir="vert"/>
  </p:transition>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8788" name="文本框 118787"/>
          <p:cNvSpPr txBox="1"/>
          <p:nvPr/>
        </p:nvSpPr>
        <p:spPr>
          <a:xfrm>
            <a:off x="2316163" y="5791200"/>
            <a:ext cx="4664075" cy="457200"/>
          </a:xfrm>
          <a:prstGeom prst="rect">
            <a:avLst/>
          </a:prstGeom>
          <a:noFill/>
          <a:ln w="9525">
            <a:noFill/>
          </a:ln>
        </p:spPr>
        <p:txBody>
          <a:bodyPr wrap="none" anchor="t" anchorCtr="0">
            <a:spAutoFit/>
          </a:bodyPr>
          <a:p>
            <a:r>
              <a:rPr lang="zh-CN" altLang="en-US" dirty="0">
                <a:latin typeface="Times New Roman" panose="02020603050405020304" pitchFamily="18" charset="0"/>
              </a:rPr>
              <a:t>图 </a:t>
            </a:r>
            <a:r>
              <a:rPr lang="en-US" altLang="zh-CN">
                <a:latin typeface="Times New Roman" panose="02020603050405020304" pitchFamily="18" charset="0"/>
              </a:rPr>
              <a:t>11-28  ADC00809</a:t>
            </a:r>
            <a:r>
              <a:rPr lang="zh-CN" altLang="en-US" dirty="0">
                <a:latin typeface="Times New Roman" panose="02020603050405020304" pitchFamily="18" charset="0"/>
              </a:rPr>
              <a:t>的典型连接图</a:t>
            </a:r>
            <a:endParaRPr lang="zh-CN" altLang="en-US">
              <a:latin typeface="Times New Roman" panose="02020603050405020304" pitchFamily="18" charset="0"/>
            </a:endParaRPr>
          </a:p>
        </p:txBody>
      </p:sp>
      <p:sp>
        <p:nvSpPr>
          <p:cNvPr id="118789" name="动作按钮: 后退或前一项 118788">
            <a:hlinkClick r:id="" action="ppaction://hlinkshowjump?jump=firstslide"/>
          </p:cNvPr>
          <p:cNvSpPr/>
          <p:nvPr/>
        </p:nvSpPr>
        <p:spPr>
          <a:xfrm>
            <a:off x="8610600" y="6546850"/>
            <a:ext cx="533400" cy="304800"/>
          </a:xfrm>
          <a:prstGeom prst="actionButtonBackPrevious">
            <a:avLst/>
          </a:prstGeom>
          <a:solidFill>
            <a:schemeClr val="accent1"/>
          </a:solidFill>
          <a:ln w="9525" cap="flat" cmpd="sng">
            <a:solidFill>
              <a:schemeClr val="tx1"/>
            </a:solidFill>
            <a:prstDash val="solid"/>
            <a:miter/>
            <a:headEnd type="none" w="med" len="med"/>
            <a:tailEnd type="none" w="med" len="med"/>
          </a:ln>
        </p:spPr>
        <p:txBody>
          <a:bodyPr/>
          <a:p>
            <a:endParaRPr lang="zh-CN" altLang="en-US"/>
          </a:p>
        </p:txBody>
      </p:sp>
      <p:graphicFrame>
        <p:nvGraphicFramePr>
          <p:cNvPr id="118790" name="对象 118789"/>
          <p:cNvGraphicFramePr/>
          <p:nvPr/>
        </p:nvGraphicFramePr>
        <p:xfrm>
          <a:off x="381000" y="838200"/>
          <a:ext cx="8382000" cy="4508500"/>
        </p:xfrm>
        <a:graphic>
          <a:graphicData uri="http://schemas.openxmlformats.org/presentationml/2006/ole">
            <mc:AlternateContent xmlns:mc="http://schemas.openxmlformats.org/markup-compatibility/2006">
              <mc:Choice xmlns:v="urn:schemas-microsoft-com:vml" Requires="v">
                <p:oleObj spid="_x0000_s3136" name="" r:id="rId1" imgW="3992880" imgH="2148840" progId="Visio.Drawing.4">
                  <p:embed/>
                </p:oleObj>
              </mc:Choice>
              <mc:Fallback>
                <p:oleObj name="" r:id="rId1" imgW="3992880" imgH="2148840" progId="Visio.Drawing.4">
                  <p:embed/>
                  <p:pic>
                    <p:nvPicPr>
                      <p:cNvPr id="0" name="图片 3135"/>
                      <p:cNvPicPr/>
                      <p:nvPr/>
                    </p:nvPicPr>
                    <p:blipFill>
                      <a:blip r:embed="rId2"/>
                      <a:stretch>
                        <a:fillRect/>
                      </a:stretch>
                    </p:blipFill>
                    <p:spPr>
                      <a:xfrm>
                        <a:off x="381000" y="838200"/>
                        <a:ext cx="8382000" cy="4508500"/>
                      </a:xfrm>
                      <a:prstGeom prst="rect">
                        <a:avLst/>
                      </a:prstGeom>
                      <a:noFill/>
                      <a:ln w="38100">
                        <a:noFill/>
                        <a:miter/>
                      </a:ln>
                    </p:spPr>
                  </p:pic>
                </p:oleObj>
              </mc:Fallback>
            </mc:AlternateContent>
          </a:graphicData>
        </a:graphic>
      </p:graphicFrame>
    </p:spTree>
  </p:cSld>
  <p:clrMapOvr>
    <a:masterClrMapping/>
  </p:clrMapOvr>
  <p:transition>
    <p:blinds dir="vert"/>
  </p:transition>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09250" name="图片 309249" descr="ad008"/>
          <p:cNvPicPr>
            <a:picLocks noChangeAspect="1"/>
          </p:cNvPicPr>
          <p:nvPr/>
        </p:nvPicPr>
        <p:blipFill>
          <a:blip r:embed="rId1"/>
          <a:stretch>
            <a:fillRect/>
          </a:stretch>
        </p:blipFill>
        <p:spPr>
          <a:xfrm>
            <a:off x="0" y="1066800"/>
            <a:ext cx="8915400" cy="4267200"/>
          </a:xfrm>
          <a:prstGeom prst="rect">
            <a:avLst/>
          </a:prstGeom>
          <a:noFill/>
          <a:ln w="9525">
            <a:noFill/>
          </a:ln>
        </p:spPr>
      </p:pic>
    </p:spTree>
  </p:cSld>
  <p:clrMapOvr>
    <a:masterClrMapping/>
  </p:clrMapOvr>
  <p:transition>
    <p:blinds dir="vert"/>
  </p:transition>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08226" name="图片 308225" descr="ad007"/>
          <p:cNvPicPr>
            <a:picLocks noChangeAspect="1"/>
          </p:cNvPicPr>
          <p:nvPr/>
        </p:nvPicPr>
        <p:blipFill>
          <a:blip r:embed="rId1"/>
          <a:stretch>
            <a:fillRect/>
          </a:stretch>
        </p:blipFill>
        <p:spPr>
          <a:xfrm>
            <a:off x="533400" y="719138"/>
            <a:ext cx="8153400" cy="4157662"/>
          </a:xfrm>
          <a:prstGeom prst="rect">
            <a:avLst/>
          </a:prstGeom>
          <a:noFill/>
          <a:ln w="9525">
            <a:noFill/>
          </a:ln>
        </p:spPr>
      </p:pic>
    </p:spTree>
  </p:cSld>
  <p:clrMapOvr>
    <a:masterClrMapping/>
  </p:clrMapOvr>
  <p:transition>
    <p:blinds dir="vert"/>
  </p:transition>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7764" name="文本框 117763"/>
          <p:cNvSpPr txBox="1"/>
          <p:nvPr/>
        </p:nvSpPr>
        <p:spPr>
          <a:xfrm>
            <a:off x="2332038" y="609600"/>
            <a:ext cx="4668837" cy="579438"/>
          </a:xfrm>
          <a:prstGeom prst="rect">
            <a:avLst/>
          </a:prstGeom>
          <a:noFill/>
          <a:ln w="9525">
            <a:noFill/>
          </a:ln>
        </p:spPr>
        <p:txBody>
          <a:bodyPr wrap="none" anchor="t" anchorCtr="0">
            <a:spAutoFit/>
          </a:bodyPr>
          <a:p>
            <a:r>
              <a:rPr lang="en-US" altLang="zh-CN" sz="3200" b="1">
                <a:latin typeface="Times New Roman" panose="02020603050405020304" pitchFamily="18" charset="0"/>
              </a:rPr>
              <a:t>11.3 </a:t>
            </a:r>
            <a:r>
              <a:rPr lang="zh-CN" altLang="en-US" sz="3200" b="1" dirty="0">
                <a:latin typeface="Times New Roman" panose="02020603050405020304" pitchFamily="18" charset="0"/>
              </a:rPr>
              <a:t>数模接口电路的应用</a:t>
            </a:r>
            <a:endParaRPr lang="zh-CN" altLang="en-US" sz="3200" b="1">
              <a:latin typeface="Times New Roman" panose="02020603050405020304" pitchFamily="18" charset="0"/>
            </a:endParaRPr>
          </a:p>
        </p:txBody>
      </p:sp>
      <p:sp>
        <p:nvSpPr>
          <p:cNvPr id="117765" name="文本框 117764"/>
          <p:cNvSpPr txBox="1"/>
          <p:nvPr/>
        </p:nvSpPr>
        <p:spPr>
          <a:xfrm>
            <a:off x="212725" y="1412875"/>
            <a:ext cx="3167063" cy="457200"/>
          </a:xfrm>
          <a:prstGeom prst="rect">
            <a:avLst/>
          </a:prstGeom>
          <a:noFill/>
          <a:ln w="9525">
            <a:noFill/>
          </a:ln>
        </p:spPr>
        <p:txBody>
          <a:bodyPr wrap="none" anchor="t" anchorCtr="0">
            <a:spAutoFit/>
          </a:bodyPr>
          <a:p>
            <a:r>
              <a:rPr lang="en-US" altLang="zh-CN" b="1">
                <a:latin typeface="Times New Roman" panose="02020603050405020304" pitchFamily="18" charset="0"/>
              </a:rPr>
              <a:t>11.3.1 </a:t>
            </a:r>
            <a:r>
              <a:rPr lang="zh-CN" altLang="en-US" b="1" dirty="0">
                <a:latin typeface="Times New Roman" panose="02020603050405020304" pitchFamily="18" charset="0"/>
              </a:rPr>
              <a:t>程控增益放大器</a:t>
            </a:r>
            <a:endParaRPr lang="zh-CN" altLang="en-US" b="1">
              <a:latin typeface="Times New Roman" panose="02020603050405020304" pitchFamily="18" charset="0"/>
            </a:endParaRPr>
          </a:p>
        </p:txBody>
      </p:sp>
      <p:sp>
        <p:nvSpPr>
          <p:cNvPr id="117766" name="文本框 117765"/>
          <p:cNvSpPr txBox="1"/>
          <p:nvPr/>
        </p:nvSpPr>
        <p:spPr>
          <a:xfrm>
            <a:off x="2905125" y="6019800"/>
            <a:ext cx="3409950" cy="457200"/>
          </a:xfrm>
          <a:prstGeom prst="rect">
            <a:avLst/>
          </a:prstGeom>
          <a:noFill/>
          <a:ln w="9525">
            <a:noFill/>
          </a:ln>
        </p:spPr>
        <p:txBody>
          <a:bodyPr wrap="none" anchor="t" anchorCtr="0">
            <a:spAutoFit/>
          </a:bodyPr>
          <a:p>
            <a:r>
              <a:rPr lang="zh-CN" altLang="en-US" dirty="0">
                <a:latin typeface="Times New Roman" panose="02020603050405020304" pitchFamily="18" charset="0"/>
              </a:rPr>
              <a:t>图 </a:t>
            </a:r>
            <a:r>
              <a:rPr lang="en-US" altLang="zh-CN">
                <a:latin typeface="Times New Roman" panose="02020603050405020304" pitchFamily="18" charset="0"/>
              </a:rPr>
              <a:t>11-28</a:t>
            </a:r>
            <a:r>
              <a:rPr lang="zh-CN" altLang="en-US" dirty="0">
                <a:latin typeface="Times New Roman" panose="02020603050405020304" pitchFamily="18" charset="0"/>
              </a:rPr>
              <a:t>程控增益放大器</a:t>
            </a:r>
            <a:endParaRPr lang="zh-CN" altLang="en-US">
              <a:latin typeface="Times New Roman" panose="02020603050405020304" pitchFamily="18" charset="0"/>
            </a:endParaRPr>
          </a:p>
        </p:txBody>
      </p:sp>
      <p:graphicFrame>
        <p:nvGraphicFramePr>
          <p:cNvPr id="117767" name="对象 117766"/>
          <p:cNvGraphicFramePr/>
          <p:nvPr/>
        </p:nvGraphicFramePr>
        <p:xfrm>
          <a:off x="485775" y="1752600"/>
          <a:ext cx="8658225" cy="4117975"/>
        </p:xfrm>
        <a:graphic>
          <a:graphicData uri="http://schemas.openxmlformats.org/presentationml/2006/ole">
            <mc:AlternateContent xmlns:mc="http://schemas.openxmlformats.org/markup-compatibility/2006">
              <mc:Choice xmlns:v="urn:schemas-microsoft-com:vml" Requires="v">
                <p:oleObj spid="_x0000_s3133" name="" r:id="rId1" imgW="4084320" imgH="1943100" progId="Visio.Drawing.4">
                  <p:embed/>
                </p:oleObj>
              </mc:Choice>
              <mc:Fallback>
                <p:oleObj name="" r:id="rId1" imgW="4084320" imgH="1943100" progId="Visio.Drawing.4">
                  <p:embed/>
                  <p:pic>
                    <p:nvPicPr>
                      <p:cNvPr id="0" name="图片 3132"/>
                      <p:cNvPicPr/>
                      <p:nvPr/>
                    </p:nvPicPr>
                    <p:blipFill>
                      <a:blip r:embed="rId2"/>
                      <a:stretch>
                        <a:fillRect/>
                      </a:stretch>
                    </p:blipFill>
                    <p:spPr>
                      <a:xfrm>
                        <a:off x="485775" y="1752600"/>
                        <a:ext cx="8658225" cy="4117975"/>
                      </a:xfrm>
                      <a:prstGeom prst="rect">
                        <a:avLst/>
                      </a:prstGeom>
                      <a:noFill/>
                      <a:ln w="38100">
                        <a:noFill/>
                        <a:miter/>
                      </a:ln>
                    </p:spPr>
                  </p:pic>
                </p:oleObj>
              </mc:Fallback>
            </mc:AlternateContent>
          </a:graphicData>
        </a:graphic>
      </p:graphicFrame>
    </p:spTree>
  </p:cSld>
  <p:clrMapOvr>
    <a:masterClrMapping/>
  </p:clrMapOvr>
  <p:transition>
    <p:blinds dir="vert"/>
  </p:transition>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0836" name="文本框 120835"/>
          <p:cNvSpPr txBox="1"/>
          <p:nvPr/>
        </p:nvSpPr>
        <p:spPr>
          <a:xfrm>
            <a:off x="228600" y="457200"/>
            <a:ext cx="8763000" cy="1187450"/>
          </a:xfrm>
          <a:prstGeom prst="rect">
            <a:avLst/>
          </a:prstGeom>
          <a:noFill/>
          <a:ln w="9525">
            <a:noFill/>
          </a:ln>
        </p:spPr>
        <p:txBody>
          <a:bodyPr>
            <a:spAutoFit/>
          </a:bodyPr>
          <a:p>
            <a:pPr>
              <a:lnSpc>
                <a:spcPct val="150000"/>
              </a:lnSpc>
              <a:spcBef>
                <a:spcPct val="50000"/>
              </a:spcBef>
            </a:pPr>
            <a:r>
              <a:rPr lang="en-US" altLang="zh-CN" dirty="0">
                <a:latin typeface="Times New Roman" panose="02020603050405020304" pitchFamily="18" charset="0"/>
              </a:rPr>
              <a:t>        </a:t>
            </a:r>
            <a:r>
              <a:rPr lang="zh-CN" altLang="en-US" dirty="0">
                <a:latin typeface="Times New Roman" panose="02020603050405020304" pitchFamily="18" charset="0"/>
              </a:rPr>
              <a:t>根据图中电路的连接关系和</a:t>
            </a:r>
            <a:r>
              <a:rPr lang="en-US" altLang="zh-CN">
                <a:latin typeface="Times New Roman" panose="02020603050405020304" pitchFamily="18" charset="0"/>
              </a:rPr>
              <a:t>DAC0832</a:t>
            </a:r>
            <a:r>
              <a:rPr lang="zh-CN" altLang="en-US" dirty="0">
                <a:latin typeface="Times New Roman" panose="02020603050405020304" pitchFamily="18" charset="0"/>
              </a:rPr>
              <a:t>中倒</a:t>
            </a:r>
            <a:r>
              <a:rPr lang="en-US" altLang="zh-CN">
                <a:latin typeface="Times New Roman" panose="02020603050405020304" pitchFamily="18" charset="0"/>
              </a:rPr>
              <a:t>T</a:t>
            </a:r>
            <a:r>
              <a:rPr lang="zh-CN" altLang="en-US" dirty="0">
                <a:latin typeface="Times New Roman" panose="02020603050405020304" pitchFamily="18" charset="0"/>
              </a:rPr>
              <a:t>型电阻解码网络的特点， 不难得出以下表达式：</a:t>
            </a:r>
            <a:endParaRPr lang="zh-CN" altLang="en-US">
              <a:latin typeface="Times New Roman" panose="02020603050405020304" pitchFamily="18" charset="0"/>
            </a:endParaRPr>
          </a:p>
        </p:txBody>
      </p:sp>
      <p:graphicFrame>
        <p:nvGraphicFramePr>
          <p:cNvPr id="120837" name="对象 120836"/>
          <p:cNvGraphicFramePr/>
          <p:nvPr/>
        </p:nvGraphicFramePr>
        <p:xfrm>
          <a:off x="2895600" y="1814513"/>
          <a:ext cx="3721100" cy="3228975"/>
        </p:xfrm>
        <a:graphic>
          <a:graphicData uri="http://schemas.openxmlformats.org/presentationml/2006/ole">
            <mc:AlternateContent xmlns:mc="http://schemas.openxmlformats.org/markup-compatibility/2006">
              <mc:Choice xmlns:v="urn:schemas-microsoft-com:vml" Requires="v">
                <p:oleObj spid="_x0000_s3135" name="" r:id="rId1" imgW="1727200" imgH="1498600" progId="Equation.3">
                  <p:embed/>
                </p:oleObj>
              </mc:Choice>
              <mc:Fallback>
                <p:oleObj name="" r:id="rId1" imgW="1727200" imgH="1498600" progId="Equation.3">
                  <p:embed/>
                  <p:pic>
                    <p:nvPicPr>
                      <p:cNvPr id="0" name="图片 3134"/>
                      <p:cNvPicPr/>
                      <p:nvPr/>
                    </p:nvPicPr>
                    <p:blipFill>
                      <a:blip r:embed="rId2"/>
                      <a:stretch>
                        <a:fillRect/>
                      </a:stretch>
                    </p:blipFill>
                    <p:spPr>
                      <a:xfrm>
                        <a:off x="2895600" y="1814513"/>
                        <a:ext cx="3721100" cy="3228975"/>
                      </a:xfrm>
                      <a:prstGeom prst="rect">
                        <a:avLst/>
                      </a:prstGeom>
                      <a:noFill/>
                      <a:ln w="38100">
                        <a:noFill/>
                        <a:miter/>
                      </a:ln>
                    </p:spPr>
                  </p:pic>
                </p:oleObj>
              </mc:Fallback>
            </mc:AlternateContent>
          </a:graphicData>
        </a:graphic>
      </p:graphicFrame>
      <p:sp>
        <p:nvSpPr>
          <p:cNvPr id="120838" name="文本框 120837"/>
          <p:cNvSpPr txBox="1"/>
          <p:nvPr/>
        </p:nvSpPr>
        <p:spPr>
          <a:xfrm>
            <a:off x="304800" y="5181600"/>
            <a:ext cx="793750" cy="457200"/>
          </a:xfrm>
          <a:prstGeom prst="rect">
            <a:avLst/>
          </a:prstGeom>
          <a:noFill/>
          <a:ln w="9525">
            <a:noFill/>
          </a:ln>
        </p:spPr>
        <p:txBody>
          <a:bodyPr wrap="none" anchor="t" anchorCtr="0">
            <a:spAutoFit/>
          </a:bodyPr>
          <a:p>
            <a:r>
              <a:rPr lang="zh-CN" altLang="en-US" dirty="0">
                <a:latin typeface="Times New Roman" panose="02020603050405020304" pitchFamily="18" charset="0"/>
              </a:rPr>
              <a:t>因此</a:t>
            </a:r>
            <a:endParaRPr lang="zh-CN" altLang="en-US">
              <a:latin typeface="Times New Roman" panose="02020603050405020304" pitchFamily="18" charset="0"/>
            </a:endParaRPr>
          </a:p>
        </p:txBody>
      </p:sp>
      <p:graphicFrame>
        <p:nvGraphicFramePr>
          <p:cNvPr id="120839" name="对象 120838"/>
          <p:cNvGraphicFramePr/>
          <p:nvPr/>
        </p:nvGraphicFramePr>
        <p:xfrm>
          <a:off x="2667000" y="5410200"/>
          <a:ext cx="4267200" cy="1096963"/>
        </p:xfrm>
        <a:graphic>
          <a:graphicData uri="http://schemas.openxmlformats.org/presentationml/2006/ole">
            <mc:AlternateContent xmlns:mc="http://schemas.openxmlformats.org/markup-compatibility/2006">
              <mc:Choice xmlns:v="urn:schemas-microsoft-com:vml" Requires="v">
                <p:oleObj spid="_x0000_s3134" name="" r:id="rId3" imgW="1778000" imgH="457200" progId="Equation.3">
                  <p:embed/>
                </p:oleObj>
              </mc:Choice>
              <mc:Fallback>
                <p:oleObj name="" r:id="rId3" imgW="1778000" imgH="457200" progId="Equation.3">
                  <p:embed/>
                  <p:pic>
                    <p:nvPicPr>
                      <p:cNvPr id="0" name="图片 3133"/>
                      <p:cNvPicPr/>
                      <p:nvPr/>
                    </p:nvPicPr>
                    <p:blipFill>
                      <a:blip r:embed="rId4"/>
                      <a:stretch>
                        <a:fillRect/>
                      </a:stretch>
                    </p:blipFill>
                    <p:spPr>
                      <a:xfrm>
                        <a:off x="2667000" y="5410200"/>
                        <a:ext cx="4267200" cy="1096963"/>
                      </a:xfrm>
                      <a:prstGeom prst="rect">
                        <a:avLst/>
                      </a:prstGeom>
                      <a:noFill/>
                      <a:ln w="38100">
                        <a:noFill/>
                        <a:miter/>
                      </a:ln>
                    </p:spPr>
                  </p:pic>
                </p:oleObj>
              </mc:Fallback>
            </mc:AlternateContent>
          </a:graphicData>
        </a:graphic>
      </p:graphicFrame>
      <p:sp>
        <p:nvSpPr>
          <p:cNvPr id="120840" name="文本框 120839"/>
          <p:cNvSpPr txBox="1"/>
          <p:nvPr/>
        </p:nvSpPr>
        <p:spPr>
          <a:xfrm>
            <a:off x="7791450" y="2133600"/>
            <a:ext cx="1504950" cy="457200"/>
          </a:xfrm>
          <a:prstGeom prst="rect">
            <a:avLst/>
          </a:prstGeom>
          <a:noFill/>
          <a:ln w="9525">
            <a:noFill/>
          </a:ln>
        </p:spPr>
        <p:txBody>
          <a:bodyPr wrap="none" anchor="t" anchorCtr="0">
            <a:spAutoFit/>
          </a:bodyPr>
          <a:p>
            <a:r>
              <a:rPr lang="zh-CN" altLang="en-US" dirty="0">
                <a:latin typeface="Times New Roman" panose="02020603050405020304" pitchFamily="18" charset="0"/>
              </a:rPr>
              <a:t>（</a:t>
            </a:r>
            <a:r>
              <a:rPr lang="en-US" altLang="zh-CN">
                <a:latin typeface="Times New Roman" panose="02020603050405020304" pitchFamily="18" charset="0"/>
              </a:rPr>
              <a:t>11-34</a:t>
            </a:r>
            <a:r>
              <a:rPr lang="zh-CN" altLang="en-US" dirty="0">
                <a:latin typeface="Times New Roman" panose="02020603050405020304" pitchFamily="18" charset="0"/>
              </a:rPr>
              <a:t>）</a:t>
            </a:r>
            <a:endParaRPr lang="zh-CN" altLang="en-US">
              <a:latin typeface="Times New Roman" panose="02020603050405020304" pitchFamily="18" charset="0"/>
            </a:endParaRPr>
          </a:p>
        </p:txBody>
      </p:sp>
      <p:sp>
        <p:nvSpPr>
          <p:cNvPr id="120841" name="文本框 120840"/>
          <p:cNvSpPr txBox="1"/>
          <p:nvPr/>
        </p:nvSpPr>
        <p:spPr>
          <a:xfrm>
            <a:off x="7791450" y="4267200"/>
            <a:ext cx="1504950" cy="457200"/>
          </a:xfrm>
          <a:prstGeom prst="rect">
            <a:avLst/>
          </a:prstGeom>
          <a:noFill/>
          <a:ln w="9525">
            <a:noFill/>
          </a:ln>
        </p:spPr>
        <p:txBody>
          <a:bodyPr wrap="none" anchor="t" anchorCtr="0">
            <a:spAutoFit/>
          </a:bodyPr>
          <a:p>
            <a:r>
              <a:rPr lang="zh-CN" altLang="en-US" dirty="0">
                <a:latin typeface="Times New Roman" panose="02020603050405020304" pitchFamily="18" charset="0"/>
              </a:rPr>
              <a:t>（</a:t>
            </a:r>
            <a:r>
              <a:rPr lang="en-US" altLang="zh-CN">
                <a:latin typeface="Times New Roman" panose="02020603050405020304" pitchFamily="18" charset="0"/>
              </a:rPr>
              <a:t>11-35</a:t>
            </a:r>
            <a:r>
              <a:rPr lang="zh-CN" altLang="en-US" dirty="0">
                <a:latin typeface="Times New Roman" panose="02020603050405020304" pitchFamily="18" charset="0"/>
              </a:rPr>
              <a:t>）</a:t>
            </a:r>
            <a:endParaRPr lang="zh-CN" altLang="en-US">
              <a:latin typeface="Times New Roman" panose="02020603050405020304" pitchFamily="18" charset="0"/>
            </a:endParaRPr>
          </a:p>
        </p:txBody>
      </p:sp>
      <p:sp>
        <p:nvSpPr>
          <p:cNvPr id="120842" name="文本框 120841"/>
          <p:cNvSpPr txBox="1"/>
          <p:nvPr/>
        </p:nvSpPr>
        <p:spPr>
          <a:xfrm>
            <a:off x="7791450" y="5638800"/>
            <a:ext cx="1504950" cy="457200"/>
          </a:xfrm>
          <a:prstGeom prst="rect">
            <a:avLst/>
          </a:prstGeom>
          <a:noFill/>
          <a:ln w="9525">
            <a:noFill/>
          </a:ln>
        </p:spPr>
        <p:txBody>
          <a:bodyPr wrap="none" anchor="t" anchorCtr="0">
            <a:spAutoFit/>
          </a:bodyPr>
          <a:p>
            <a:r>
              <a:rPr lang="zh-CN" altLang="en-US" dirty="0">
                <a:latin typeface="Times New Roman" panose="02020603050405020304" pitchFamily="18" charset="0"/>
              </a:rPr>
              <a:t>（</a:t>
            </a:r>
            <a:r>
              <a:rPr lang="en-US" altLang="zh-CN">
                <a:latin typeface="Times New Roman" panose="02020603050405020304" pitchFamily="18" charset="0"/>
              </a:rPr>
              <a:t>11-36</a:t>
            </a:r>
            <a:r>
              <a:rPr lang="zh-CN" altLang="en-US" dirty="0">
                <a:latin typeface="Times New Roman" panose="02020603050405020304" pitchFamily="18" charset="0"/>
              </a:rPr>
              <a:t>）</a:t>
            </a:r>
            <a:endParaRPr lang="zh-CN" altLang="en-US">
              <a:latin typeface="Times New Roman" panose="02020603050405020304" pitchFamily="18" charset="0"/>
            </a:endParaRPr>
          </a:p>
        </p:txBody>
      </p:sp>
    </p:spTree>
  </p:cSld>
  <p:clrMapOvr>
    <a:masterClrMapping/>
  </p:clrMapOvr>
  <p:transition>
    <p:blinds dir="vert"/>
  </p:transition>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9812" name="文本框 119811"/>
          <p:cNvSpPr txBox="1"/>
          <p:nvPr/>
        </p:nvSpPr>
        <p:spPr>
          <a:xfrm>
            <a:off x="7467600" y="1905000"/>
            <a:ext cx="1504950" cy="457200"/>
          </a:xfrm>
          <a:prstGeom prst="rect">
            <a:avLst/>
          </a:prstGeom>
          <a:noFill/>
          <a:ln w="9525">
            <a:noFill/>
          </a:ln>
        </p:spPr>
        <p:txBody>
          <a:bodyPr wrap="none" anchor="t" anchorCtr="0">
            <a:spAutoFit/>
          </a:bodyPr>
          <a:p>
            <a:r>
              <a:rPr lang="zh-CN" altLang="en-US" dirty="0">
                <a:latin typeface="Times New Roman" panose="02020603050405020304" pitchFamily="18" charset="0"/>
              </a:rPr>
              <a:t>（</a:t>
            </a:r>
            <a:r>
              <a:rPr lang="en-US" altLang="zh-CN">
                <a:latin typeface="Times New Roman" panose="02020603050405020304" pitchFamily="18" charset="0"/>
              </a:rPr>
              <a:t>11-37</a:t>
            </a:r>
            <a:r>
              <a:rPr lang="zh-CN" altLang="en-US" dirty="0">
                <a:latin typeface="Times New Roman" panose="02020603050405020304" pitchFamily="18" charset="0"/>
              </a:rPr>
              <a:t>）</a:t>
            </a:r>
            <a:endParaRPr lang="zh-CN" altLang="en-US">
              <a:latin typeface="Times New Roman" panose="02020603050405020304" pitchFamily="18" charset="0"/>
            </a:endParaRPr>
          </a:p>
        </p:txBody>
      </p:sp>
      <p:sp>
        <p:nvSpPr>
          <p:cNvPr id="119813" name="文本框 119812"/>
          <p:cNvSpPr txBox="1"/>
          <p:nvPr/>
        </p:nvSpPr>
        <p:spPr>
          <a:xfrm>
            <a:off x="228600" y="533400"/>
            <a:ext cx="8610600" cy="1187450"/>
          </a:xfrm>
          <a:prstGeom prst="rect">
            <a:avLst/>
          </a:prstGeom>
          <a:noFill/>
          <a:ln w="9525">
            <a:noFill/>
          </a:ln>
        </p:spPr>
        <p:txBody>
          <a:bodyPr>
            <a:spAutoFit/>
          </a:bodyPr>
          <a:p>
            <a:pPr>
              <a:lnSpc>
                <a:spcPct val="150000"/>
              </a:lnSpc>
              <a:spcBef>
                <a:spcPct val="50000"/>
              </a:spcBef>
            </a:pPr>
            <a:r>
              <a:rPr lang="en-US" altLang="zh-CN" dirty="0">
                <a:latin typeface="Times New Roman" panose="02020603050405020304" pitchFamily="18" charset="0"/>
              </a:rPr>
              <a:t>        </a:t>
            </a:r>
            <a:r>
              <a:rPr lang="zh-CN" altLang="en-US" dirty="0">
                <a:latin typeface="Times New Roman" panose="02020603050405020304" pitchFamily="18" charset="0"/>
              </a:rPr>
              <a:t>又由于在</a:t>
            </a:r>
            <a:r>
              <a:rPr lang="en-US" altLang="zh-CN">
                <a:latin typeface="Times New Roman" panose="02020603050405020304" pitchFamily="18" charset="0"/>
              </a:rPr>
              <a:t>DAC0832</a:t>
            </a:r>
            <a:r>
              <a:rPr lang="zh-CN" altLang="en-US" dirty="0">
                <a:latin typeface="Times New Roman" panose="02020603050405020304" pitchFamily="18" charset="0"/>
              </a:rPr>
              <a:t>中，</a:t>
            </a:r>
            <a:r>
              <a:rPr lang="en-US" altLang="zh-CN">
                <a:latin typeface="Times New Roman" panose="02020603050405020304" pitchFamily="18" charset="0"/>
              </a:rPr>
              <a:t>R= R</a:t>
            </a:r>
            <a:r>
              <a:rPr lang="en-US" altLang="zh-CN" baseline="-25000">
                <a:latin typeface="Times New Roman" panose="02020603050405020304" pitchFamily="18" charset="0"/>
              </a:rPr>
              <a:t>fb</a:t>
            </a:r>
            <a:r>
              <a:rPr lang="en-US" altLang="zh-CN">
                <a:latin typeface="Times New Roman" panose="02020603050405020304" pitchFamily="18" charset="0"/>
              </a:rPr>
              <a:t>≈15 kΩ</a:t>
            </a:r>
            <a:r>
              <a:rPr lang="zh-CN" altLang="en-US">
                <a:latin typeface="Times New Roman" panose="02020603050405020304" pitchFamily="18" charset="0"/>
              </a:rPr>
              <a:t>，</a:t>
            </a:r>
            <a:r>
              <a:rPr lang="zh-CN" altLang="en-US" dirty="0">
                <a:latin typeface="Times New Roman" panose="02020603050405020304" pitchFamily="18" charset="0"/>
              </a:rPr>
              <a:t>所以放大器的电压增益</a:t>
            </a:r>
            <a:r>
              <a:rPr lang="en-US" altLang="zh-CN">
                <a:latin typeface="Times New Roman" panose="02020603050405020304" pitchFamily="18" charset="0"/>
              </a:rPr>
              <a:t>K</a:t>
            </a:r>
            <a:r>
              <a:rPr lang="en-US" altLang="zh-CN" baseline="-25000">
                <a:latin typeface="Times New Roman" panose="02020603050405020304" pitchFamily="18" charset="0"/>
              </a:rPr>
              <a:t>V</a:t>
            </a:r>
            <a:r>
              <a:rPr lang="zh-CN" altLang="en-US" dirty="0">
                <a:latin typeface="Times New Roman" panose="02020603050405020304" pitchFamily="18" charset="0"/>
              </a:rPr>
              <a:t>为：</a:t>
            </a:r>
            <a:endParaRPr lang="zh-CN" altLang="en-US">
              <a:latin typeface="Times New Roman" panose="02020603050405020304" pitchFamily="18" charset="0"/>
            </a:endParaRPr>
          </a:p>
        </p:txBody>
      </p:sp>
      <p:graphicFrame>
        <p:nvGraphicFramePr>
          <p:cNvPr id="119814" name="对象 119813"/>
          <p:cNvGraphicFramePr/>
          <p:nvPr/>
        </p:nvGraphicFramePr>
        <p:xfrm>
          <a:off x="2971800" y="1600200"/>
          <a:ext cx="3048000" cy="1068388"/>
        </p:xfrm>
        <a:graphic>
          <a:graphicData uri="http://schemas.openxmlformats.org/presentationml/2006/ole">
            <mc:AlternateContent xmlns:mc="http://schemas.openxmlformats.org/markup-compatibility/2006">
              <mc:Choice xmlns:v="urn:schemas-microsoft-com:vml" Requires="v">
                <p:oleObj spid="_x0000_s3138" name="" r:id="rId1" imgW="1231265" imgH="431800" progId="Equation.3">
                  <p:embed/>
                </p:oleObj>
              </mc:Choice>
              <mc:Fallback>
                <p:oleObj name="" r:id="rId1" imgW="1231265" imgH="431800" progId="Equation.3">
                  <p:embed/>
                  <p:pic>
                    <p:nvPicPr>
                      <p:cNvPr id="0" name="图片 3137"/>
                      <p:cNvPicPr/>
                      <p:nvPr/>
                    </p:nvPicPr>
                    <p:blipFill>
                      <a:blip r:embed="rId2"/>
                      <a:stretch>
                        <a:fillRect/>
                      </a:stretch>
                    </p:blipFill>
                    <p:spPr>
                      <a:xfrm>
                        <a:off x="2971800" y="1600200"/>
                        <a:ext cx="3048000" cy="1068388"/>
                      </a:xfrm>
                      <a:prstGeom prst="rect">
                        <a:avLst/>
                      </a:prstGeom>
                      <a:noFill/>
                      <a:ln w="38100">
                        <a:noFill/>
                        <a:miter/>
                      </a:ln>
                    </p:spPr>
                  </p:pic>
                </p:oleObj>
              </mc:Fallback>
            </mc:AlternateContent>
          </a:graphicData>
        </a:graphic>
      </p:graphicFrame>
      <p:sp>
        <p:nvSpPr>
          <p:cNvPr id="119815" name="文本框 119814"/>
          <p:cNvSpPr txBox="1"/>
          <p:nvPr/>
        </p:nvSpPr>
        <p:spPr>
          <a:xfrm>
            <a:off x="0" y="2668588"/>
            <a:ext cx="9144000" cy="3732212"/>
          </a:xfrm>
          <a:prstGeom prst="rect">
            <a:avLst/>
          </a:prstGeom>
          <a:noFill/>
          <a:ln w="9525">
            <a:noFill/>
          </a:ln>
        </p:spPr>
        <p:txBody>
          <a:bodyPr>
            <a:spAutoFit/>
          </a:bodyPr>
          <a:p>
            <a:pPr>
              <a:lnSpc>
                <a:spcPct val="158000"/>
              </a:lnSpc>
              <a:spcBef>
                <a:spcPct val="50000"/>
              </a:spcBef>
            </a:pPr>
            <a:r>
              <a:rPr lang="zh-CN" altLang="en-US" b="1" dirty="0">
                <a:latin typeface="Times New Roman" panose="02020603050405020304" pitchFamily="18" charset="0"/>
              </a:rPr>
              <a:t>其中，</a:t>
            </a:r>
            <a:r>
              <a:rPr lang="en-US" altLang="zh-CN" b="1">
                <a:latin typeface="Times New Roman" panose="02020603050405020304" pitchFamily="18" charset="0"/>
              </a:rPr>
              <a:t>D</a:t>
            </a:r>
            <a:r>
              <a:rPr lang="zh-CN" altLang="en-US" b="1" dirty="0">
                <a:latin typeface="Times New Roman" panose="02020603050405020304" pitchFamily="18" charset="0"/>
              </a:rPr>
              <a:t>为输入数字量所对应的十进制数。由式</a:t>
            </a:r>
            <a:r>
              <a:rPr lang="en-US" altLang="zh-CN" b="1">
                <a:latin typeface="Times New Roman" panose="02020603050405020304" pitchFamily="18" charset="0"/>
              </a:rPr>
              <a:t>11- 37</a:t>
            </a:r>
            <a:r>
              <a:rPr lang="zh-CN" altLang="en-US" b="1" dirty="0">
                <a:latin typeface="Times New Roman" panose="02020603050405020304" pitchFamily="18" charset="0"/>
              </a:rPr>
              <a:t>可以看出，放大器处于反相放大状态，增益</a:t>
            </a:r>
            <a:r>
              <a:rPr lang="en-US" altLang="zh-CN" b="1">
                <a:latin typeface="Times New Roman" panose="02020603050405020304" pitchFamily="18" charset="0"/>
              </a:rPr>
              <a:t>K</a:t>
            </a:r>
            <a:r>
              <a:rPr lang="en-US" altLang="zh-CN" b="1" i="1" baseline="-25000">
                <a:latin typeface="Times New Roman" panose="02020603050405020304" pitchFamily="18" charset="0"/>
              </a:rPr>
              <a:t>V</a:t>
            </a:r>
            <a:r>
              <a:rPr lang="zh-CN" altLang="en-US" b="1" dirty="0">
                <a:latin typeface="Times New Roman" panose="02020603050405020304" pitchFamily="18" charset="0"/>
              </a:rPr>
              <a:t>的大小随</a:t>
            </a:r>
            <a:r>
              <a:rPr lang="en-US" altLang="zh-CN" b="1">
                <a:latin typeface="Times New Roman" panose="02020603050405020304" pitchFamily="18" charset="0"/>
              </a:rPr>
              <a:t>DAC0832</a:t>
            </a:r>
            <a:r>
              <a:rPr lang="zh-CN" altLang="en-US" b="1" dirty="0">
                <a:latin typeface="Times New Roman" panose="02020603050405020304" pitchFamily="18" charset="0"/>
              </a:rPr>
              <a:t>输入数字量的变化而改变，与输入数字量的大小成反比。当输入的数字量为</a:t>
            </a:r>
            <a:r>
              <a:rPr lang="en-US" altLang="zh-CN" b="1">
                <a:latin typeface="Times New Roman" panose="02020603050405020304" pitchFamily="18" charset="0"/>
              </a:rPr>
              <a:t>0</a:t>
            </a:r>
            <a:r>
              <a:rPr lang="zh-CN" altLang="en-US" b="1" dirty="0">
                <a:latin typeface="Times New Roman" panose="02020603050405020304" pitchFamily="18" charset="0"/>
              </a:rPr>
              <a:t>时， 相当于开环，放大器处于饱和状态。 </a:t>
            </a:r>
            <a:endParaRPr lang="zh-CN" altLang="en-US" b="1" dirty="0">
              <a:latin typeface="Times New Roman" panose="02020603050405020304" pitchFamily="18" charset="0"/>
            </a:endParaRPr>
          </a:p>
          <a:p>
            <a:pPr>
              <a:lnSpc>
                <a:spcPct val="158000"/>
              </a:lnSpc>
              <a:spcBef>
                <a:spcPct val="50000"/>
              </a:spcBef>
            </a:pPr>
            <a:r>
              <a:rPr lang="zh-CN" altLang="en-US" b="1" dirty="0">
                <a:latin typeface="Times New Roman" panose="02020603050405020304" pitchFamily="18" charset="0"/>
              </a:rPr>
              <a:t>        与普通的放大器相比，这种程控增益放大器具有电路简单、调整方便、使用灵活等突出优点。 </a:t>
            </a:r>
            <a:endParaRPr lang="zh-CN" altLang="en-US" b="1">
              <a:latin typeface="Times New Roman" panose="02020603050405020304" pitchFamily="18" charset="0"/>
            </a:endParaRPr>
          </a:p>
        </p:txBody>
      </p:sp>
    </p:spTree>
  </p:cSld>
  <p:clrMapOvr>
    <a:masterClrMapping/>
  </p:clrMapOvr>
  <p:transition>
    <p:blinds dir="vert"/>
  </p:transition>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884" name="文本框 122883"/>
          <p:cNvSpPr txBox="1"/>
          <p:nvPr/>
        </p:nvSpPr>
        <p:spPr>
          <a:xfrm>
            <a:off x="228600" y="533400"/>
            <a:ext cx="8915400" cy="5992813"/>
          </a:xfrm>
          <a:prstGeom prst="rect">
            <a:avLst/>
          </a:prstGeom>
          <a:noFill/>
          <a:ln w="9525">
            <a:noFill/>
          </a:ln>
        </p:spPr>
        <p:txBody>
          <a:bodyPr>
            <a:spAutoFit/>
          </a:bodyPr>
          <a:p>
            <a:pPr>
              <a:lnSpc>
                <a:spcPct val="138000"/>
              </a:lnSpc>
              <a:spcBef>
                <a:spcPct val="50000"/>
              </a:spcBef>
            </a:pPr>
            <a:r>
              <a:rPr lang="en-US" altLang="zh-CN" b="1">
                <a:latin typeface="Times New Roman" panose="02020603050405020304" pitchFamily="18" charset="0"/>
              </a:rPr>
              <a:t>11.3.2 </a:t>
            </a:r>
            <a:r>
              <a:rPr lang="zh-CN" altLang="en-US" b="1" dirty="0">
                <a:latin typeface="Times New Roman" panose="02020603050405020304" pitchFamily="18" charset="0"/>
              </a:rPr>
              <a:t>数据采集与控制系统</a:t>
            </a:r>
            <a:r>
              <a:rPr lang="zh-CN" altLang="en-US" dirty="0">
                <a:latin typeface="Times New Roman" panose="02020603050405020304" pitchFamily="18" charset="0"/>
              </a:rPr>
              <a:t></a:t>
            </a:r>
            <a:endParaRPr lang="zh-CN" altLang="en-US" dirty="0">
              <a:latin typeface="Times New Roman" panose="02020603050405020304" pitchFamily="18" charset="0"/>
            </a:endParaRPr>
          </a:p>
          <a:p>
            <a:pPr>
              <a:lnSpc>
                <a:spcPct val="138000"/>
              </a:lnSpc>
              <a:spcBef>
                <a:spcPct val="50000"/>
              </a:spcBef>
            </a:pPr>
            <a:r>
              <a:rPr lang="zh-CN" altLang="en-US" dirty="0">
                <a:latin typeface="Times New Roman" panose="02020603050405020304" pitchFamily="18" charset="0"/>
              </a:rPr>
              <a:t>        </a:t>
            </a:r>
            <a:r>
              <a:rPr lang="zh-CN" altLang="en-US" b="1" dirty="0">
                <a:latin typeface="Times New Roman" panose="02020603050405020304" pitchFamily="18" charset="0"/>
              </a:rPr>
              <a:t>数据采集与控制系统是一种闭环系统， 其工作就是实时采集表征受控制对象状态的各种物理量，依据这些物理量判断出受控制对象当前所处的状态，并根据要求作出相应的反馈控制。 </a:t>
            </a:r>
            <a:endParaRPr lang="zh-CN" altLang="en-US" b="1" dirty="0">
              <a:latin typeface="Times New Roman" panose="02020603050405020304" pitchFamily="18" charset="0"/>
            </a:endParaRPr>
          </a:p>
          <a:p>
            <a:pPr>
              <a:lnSpc>
                <a:spcPct val="138000"/>
              </a:lnSpc>
              <a:spcBef>
                <a:spcPct val="50000"/>
              </a:spcBef>
            </a:pPr>
            <a:r>
              <a:rPr lang="zh-CN" altLang="en-US" b="1" dirty="0">
                <a:latin typeface="Times New Roman" panose="02020603050405020304" pitchFamily="18" charset="0"/>
              </a:rPr>
              <a:t>        在数据采集与控制系统中，通过传感器或其它方式采集到的物理量多数是模拟量， 模拟信号在经过必要的处理（如放大、 滤波等）后被转换成数字信号，以供数字系统（如微型计算机等）进行处理， 再将处理后的结果转换成相应的模拟信号，送给控制部件，以实现所需要的控制。以上整个过程都是在控制子系统（控制器）的统一管理和调度下完成的。由此看来，在数据采集与控制系统中， </a:t>
            </a:r>
            <a:r>
              <a:rPr lang="en-US" altLang="zh-CN" b="1">
                <a:latin typeface="Times New Roman" panose="02020603050405020304" pitchFamily="18" charset="0"/>
              </a:rPr>
              <a:t>ADC</a:t>
            </a:r>
            <a:r>
              <a:rPr lang="zh-CN" altLang="en-US" b="1">
                <a:latin typeface="Times New Roman" panose="02020603050405020304" pitchFamily="18" charset="0"/>
              </a:rPr>
              <a:t>和</a:t>
            </a:r>
            <a:r>
              <a:rPr lang="en-US" altLang="zh-CN" b="1">
                <a:latin typeface="Times New Roman" panose="02020603050405020304" pitchFamily="18" charset="0"/>
              </a:rPr>
              <a:t>DAC</a:t>
            </a:r>
            <a:r>
              <a:rPr lang="zh-CN" altLang="en-US" b="1" dirty="0">
                <a:latin typeface="Times New Roman" panose="02020603050405020304" pitchFamily="18" charset="0"/>
              </a:rPr>
              <a:t>是不可缺少的关键部件</a:t>
            </a:r>
            <a:endParaRPr lang="zh-CN" altLang="en-US" b="1">
              <a:latin typeface="Times New Roman" panose="02020603050405020304" pitchFamily="18" charset="0"/>
            </a:endParaRPr>
          </a:p>
        </p:txBody>
      </p:sp>
    </p:spTree>
  </p:cSld>
  <p:clrMapOvr>
    <a:masterClrMapping/>
  </p:clrMapOvr>
  <p:transition>
    <p:blinds dir="vert"/>
  </p:transition>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1860" name="文本框 121859"/>
          <p:cNvSpPr txBox="1"/>
          <p:nvPr/>
        </p:nvSpPr>
        <p:spPr>
          <a:xfrm>
            <a:off x="228600" y="533400"/>
            <a:ext cx="8763000" cy="5854700"/>
          </a:xfrm>
          <a:prstGeom prst="rect">
            <a:avLst/>
          </a:prstGeom>
          <a:noFill/>
          <a:ln w="9525">
            <a:noFill/>
          </a:ln>
        </p:spPr>
        <p:txBody>
          <a:bodyPr>
            <a:spAutoFit/>
          </a:bodyPr>
          <a:p>
            <a:pPr>
              <a:lnSpc>
                <a:spcPct val="158000"/>
              </a:lnSpc>
              <a:spcBef>
                <a:spcPct val="50000"/>
              </a:spcBef>
            </a:pPr>
            <a:r>
              <a:rPr lang="en-US" altLang="zh-CN" dirty="0">
                <a:latin typeface="Times New Roman" panose="02020603050405020304" pitchFamily="18" charset="0"/>
              </a:rPr>
              <a:t>        </a:t>
            </a:r>
            <a:r>
              <a:rPr lang="zh-CN" altLang="en-US" b="1" dirty="0">
                <a:latin typeface="Times New Roman" panose="02020603050405020304" pitchFamily="18" charset="0"/>
              </a:rPr>
              <a:t>这里介绍一种典型的数据采集与控制系统实例</a:t>
            </a:r>
            <a:r>
              <a:rPr lang="en-US" altLang="zh-CN" b="1">
                <a:latin typeface="Times New Roman" panose="02020603050405020304" pitchFamily="18" charset="0"/>
              </a:rPr>
              <a:t>——</a:t>
            </a:r>
            <a:r>
              <a:rPr lang="zh-CN" altLang="en-US" b="1" dirty="0">
                <a:latin typeface="Times New Roman" panose="02020603050405020304" pitchFamily="18" charset="0"/>
              </a:rPr>
              <a:t>加热炉温度控制系统，该系统的框图如图</a:t>
            </a:r>
            <a:r>
              <a:rPr lang="en-US" altLang="zh-CN" b="1">
                <a:latin typeface="Times New Roman" panose="02020603050405020304" pitchFamily="18" charset="0"/>
              </a:rPr>
              <a:t>11- 30</a:t>
            </a:r>
            <a:r>
              <a:rPr lang="zh-CN" altLang="en-US" b="1" dirty="0">
                <a:latin typeface="Times New Roman" panose="02020603050405020304" pitchFamily="18" charset="0"/>
              </a:rPr>
              <a:t>所示。在该系统中</a:t>
            </a:r>
            <a:r>
              <a:rPr lang="en-US" altLang="zh-CN" b="1">
                <a:latin typeface="Times New Roman" panose="02020603050405020304" pitchFamily="18" charset="0"/>
              </a:rPr>
              <a:t>,</a:t>
            </a:r>
            <a:r>
              <a:rPr lang="zh-CN" altLang="en-US" b="1" dirty="0">
                <a:latin typeface="Times New Roman" panose="02020603050405020304" pitchFamily="18" charset="0"/>
              </a:rPr>
              <a:t>受控对象是</a:t>
            </a:r>
            <a:r>
              <a:rPr lang="en-US" altLang="zh-CN" b="1">
                <a:latin typeface="Times New Roman" panose="02020603050405020304" pitchFamily="18" charset="0"/>
              </a:rPr>
              <a:t>8</a:t>
            </a:r>
            <a:r>
              <a:rPr lang="zh-CN" altLang="en-US" b="1" dirty="0">
                <a:latin typeface="Times New Roman" panose="02020603050405020304" pitchFamily="18" charset="0"/>
              </a:rPr>
              <a:t>个加热炉；需要采集并控制的物理量是加热炉的温度； 加热炉的燃料是天然气，通过调节阀门的位置，便能改变天然气的流量，从而改变炉内的温度。加热炉的温度由热电偶检测， 热电偶的输出信号一般在</a:t>
            </a:r>
            <a:r>
              <a:rPr lang="en-US" altLang="zh-CN" b="1">
                <a:latin typeface="Times New Roman" panose="02020603050405020304" pitchFamily="18" charset="0"/>
              </a:rPr>
              <a:t>100 mV</a:t>
            </a:r>
            <a:r>
              <a:rPr lang="zh-CN" altLang="en-US" b="1" dirty="0">
                <a:latin typeface="Times New Roman" panose="02020603050405020304" pitchFamily="18" charset="0"/>
              </a:rPr>
              <a:t>以下，经过信号调理电路变为</a:t>
            </a:r>
            <a:r>
              <a:rPr lang="en-US" altLang="zh-CN" b="1">
                <a:latin typeface="Times New Roman" panose="02020603050405020304" pitchFamily="18" charset="0"/>
              </a:rPr>
              <a:t>0</a:t>
            </a:r>
            <a:r>
              <a:rPr lang="zh-CN" altLang="en-US" b="1" dirty="0">
                <a:latin typeface="Times New Roman" panose="02020603050405020304" pitchFamily="18" charset="0"/>
              </a:rPr>
              <a:t>～</a:t>
            </a:r>
            <a:r>
              <a:rPr lang="en-US" altLang="zh-CN" b="1">
                <a:latin typeface="Times New Roman" panose="02020603050405020304" pitchFamily="18" charset="0"/>
              </a:rPr>
              <a:t>2 V</a:t>
            </a:r>
            <a:r>
              <a:rPr lang="zh-CN" altLang="en-US" b="1" dirty="0">
                <a:latin typeface="Times New Roman" panose="02020603050405020304" pitchFamily="18" charset="0"/>
              </a:rPr>
              <a:t>的信号，再由</a:t>
            </a:r>
            <a:r>
              <a:rPr lang="en-US" altLang="zh-CN" b="1">
                <a:latin typeface="Times New Roman" panose="02020603050405020304" pitchFamily="18" charset="0"/>
              </a:rPr>
              <a:t>ADC</a:t>
            </a:r>
            <a:r>
              <a:rPr lang="zh-CN" altLang="en-US" b="1" dirty="0">
                <a:latin typeface="Times New Roman" panose="02020603050405020304" pitchFamily="18" charset="0"/>
              </a:rPr>
              <a:t>转换成数字信号后，送给控制和处理电路； 处理电路根据给定的温度与炉内实际温度的偏差，按照一定的算法计算出输出的数字量；该数字量经</a:t>
            </a:r>
            <a:r>
              <a:rPr lang="en-US" altLang="zh-CN" b="1">
                <a:latin typeface="Times New Roman" panose="02020603050405020304" pitchFamily="18" charset="0"/>
              </a:rPr>
              <a:t>DAC</a:t>
            </a:r>
            <a:r>
              <a:rPr lang="zh-CN" altLang="en-US" b="1" dirty="0">
                <a:latin typeface="Times New Roman" panose="02020603050405020304" pitchFamily="18" charset="0"/>
              </a:rPr>
              <a:t>变为模拟量后加到控制部件上，调节阀门的开度，从而改变炉内的温度。 </a:t>
            </a:r>
            <a:endParaRPr lang="zh-CN" altLang="en-US" b="1">
              <a:latin typeface="Times New Roman" panose="02020603050405020304" pitchFamily="18" charset="0"/>
            </a:endParaRPr>
          </a:p>
        </p:txBody>
      </p:sp>
    </p:spTree>
  </p:cSld>
  <p:clrMapOvr>
    <a:masterClrMapping/>
  </p:clrMapOvr>
  <p:transition>
    <p:blinds dir="vert"/>
  </p:transition>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3908" name="文本框 123907"/>
          <p:cNvSpPr txBox="1"/>
          <p:nvPr/>
        </p:nvSpPr>
        <p:spPr>
          <a:xfrm>
            <a:off x="2819400" y="5943600"/>
            <a:ext cx="4095750" cy="457200"/>
          </a:xfrm>
          <a:prstGeom prst="rect">
            <a:avLst/>
          </a:prstGeom>
          <a:noFill/>
          <a:ln w="9525">
            <a:noFill/>
          </a:ln>
        </p:spPr>
        <p:txBody>
          <a:bodyPr wrap="none" anchor="t" anchorCtr="0">
            <a:spAutoFit/>
          </a:bodyPr>
          <a:p>
            <a:r>
              <a:rPr lang="zh-CN" altLang="en-US" dirty="0">
                <a:latin typeface="Times New Roman" panose="02020603050405020304" pitchFamily="18" charset="0"/>
              </a:rPr>
              <a:t>图 </a:t>
            </a:r>
            <a:r>
              <a:rPr lang="en-US" altLang="zh-CN">
                <a:latin typeface="Times New Roman" panose="02020603050405020304" pitchFamily="18" charset="0"/>
              </a:rPr>
              <a:t>11-29 </a:t>
            </a:r>
            <a:r>
              <a:rPr lang="zh-CN" altLang="en-US" dirty="0">
                <a:latin typeface="Times New Roman" panose="02020603050405020304" pitchFamily="18" charset="0"/>
              </a:rPr>
              <a:t>加热炉温度控制系统</a:t>
            </a:r>
            <a:endParaRPr lang="zh-CN" altLang="en-US">
              <a:latin typeface="Times New Roman" panose="02020603050405020304" pitchFamily="18" charset="0"/>
            </a:endParaRPr>
          </a:p>
        </p:txBody>
      </p:sp>
      <p:graphicFrame>
        <p:nvGraphicFramePr>
          <p:cNvPr id="123909" name="对象 123908"/>
          <p:cNvGraphicFramePr/>
          <p:nvPr/>
        </p:nvGraphicFramePr>
        <p:xfrm>
          <a:off x="0" y="381000"/>
          <a:ext cx="9144000" cy="5468938"/>
        </p:xfrm>
        <a:graphic>
          <a:graphicData uri="http://schemas.openxmlformats.org/presentationml/2006/ole">
            <mc:AlternateContent xmlns:mc="http://schemas.openxmlformats.org/markup-compatibility/2006">
              <mc:Choice xmlns:v="urn:schemas-microsoft-com:vml" Requires="v">
                <p:oleObj spid="_x0000_s3139" name="" r:id="rId1" imgW="4610100" imgH="2758440" progId="Visio.Drawing.4">
                  <p:embed/>
                </p:oleObj>
              </mc:Choice>
              <mc:Fallback>
                <p:oleObj name="" r:id="rId1" imgW="4610100" imgH="2758440" progId="Visio.Drawing.4">
                  <p:embed/>
                  <p:pic>
                    <p:nvPicPr>
                      <p:cNvPr id="0" name="图片 3138"/>
                      <p:cNvPicPr/>
                      <p:nvPr/>
                    </p:nvPicPr>
                    <p:blipFill>
                      <a:blip r:embed="rId2"/>
                      <a:stretch>
                        <a:fillRect/>
                      </a:stretch>
                    </p:blipFill>
                    <p:spPr>
                      <a:xfrm>
                        <a:off x="0" y="381000"/>
                        <a:ext cx="9144000" cy="5468938"/>
                      </a:xfrm>
                      <a:prstGeom prst="rect">
                        <a:avLst/>
                      </a:prstGeom>
                      <a:noFill/>
                      <a:ln w="38100">
                        <a:noFill/>
                        <a:miter/>
                      </a:ln>
                    </p:spPr>
                  </p:pic>
                </p:oleObj>
              </mc:Fallback>
            </mc:AlternateContent>
          </a:graphicData>
        </a:graphic>
      </p:graphicFrame>
    </p:spTree>
  </p:cSld>
  <p:clrMapOvr>
    <a:masterClrMapping/>
  </p:clrMapOvr>
  <p:transition>
    <p:blinds dir="vert"/>
  </p:transition>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5956" name="文本框 125955"/>
          <p:cNvSpPr txBox="1"/>
          <p:nvPr/>
        </p:nvSpPr>
        <p:spPr>
          <a:xfrm>
            <a:off x="228600" y="609600"/>
            <a:ext cx="8763000" cy="4035425"/>
          </a:xfrm>
          <a:prstGeom prst="rect">
            <a:avLst/>
          </a:prstGeom>
          <a:noFill/>
          <a:ln w="9525">
            <a:noFill/>
          </a:ln>
        </p:spPr>
        <p:txBody>
          <a:bodyPr>
            <a:spAutoFit/>
          </a:bodyPr>
          <a:p>
            <a:pPr>
              <a:lnSpc>
                <a:spcPct val="180000"/>
              </a:lnSpc>
              <a:spcBef>
                <a:spcPct val="50000"/>
              </a:spcBef>
            </a:pPr>
            <a:r>
              <a:rPr lang="en-US" altLang="zh-CN" dirty="0">
                <a:latin typeface="Times New Roman" panose="02020603050405020304" pitchFamily="18" charset="0"/>
              </a:rPr>
              <a:t>         </a:t>
            </a:r>
            <a:r>
              <a:rPr lang="zh-CN" altLang="en-US" b="1" dirty="0">
                <a:latin typeface="Times New Roman" panose="02020603050405020304" pitchFamily="18" charset="0"/>
              </a:rPr>
              <a:t>多路模拟开关用于实现对</a:t>
            </a:r>
            <a:r>
              <a:rPr lang="en-US" altLang="zh-CN" b="1">
                <a:latin typeface="Times New Roman" panose="02020603050405020304" pitchFamily="18" charset="0"/>
              </a:rPr>
              <a:t>8</a:t>
            </a:r>
            <a:r>
              <a:rPr lang="zh-CN" altLang="en-US" b="1" dirty="0">
                <a:latin typeface="Times New Roman" panose="02020603050405020304" pitchFamily="18" charset="0"/>
              </a:rPr>
              <a:t>路模拟信号的分时</a:t>
            </a:r>
            <a:r>
              <a:rPr lang="en-US" altLang="zh-CN" b="1">
                <a:latin typeface="Times New Roman" panose="02020603050405020304" pitchFamily="18" charset="0"/>
              </a:rPr>
              <a:t>A/D</a:t>
            </a:r>
            <a:r>
              <a:rPr lang="zh-CN" altLang="en-US" b="1" dirty="0">
                <a:latin typeface="Times New Roman" panose="02020603050405020304" pitchFamily="18" charset="0"/>
              </a:rPr>
              <a:t>转换， 如果</a:t>
            </a:r>
            <a:r>
              <a:rPr lang="en-US" altLang="zh-CN" b="1">
                <a:latin typeface="Times New Roman" panose="02020603050405020304" pitchFamily="18" charset="0"/>
              </a:rPr>
              <a:t>ADC</a:t>
            </a:r>
            <a:r>
              <a:rPr lang="zh-CN" altLang="en-US" b="1" dirty="0">
                <a:latin typeface="Times New Roman" panose="02020603050405020304" pitchFamily="18" charset="0"/>
              </a:rPr>
              <a:t>本身是多通道的，则不再需要外接多路模拟开关； 如果</a:t>
            </a:r>
            <a:r>
              <a:rPr lang="en-US" altLang="zh-CN" b="1">
                <a:latin typeface="Times New Roman" panose="02020603050405020304" pitchFamily="18" charset="0"/>
              </a:rPr>
              <a:t>ADC</a:t>
            </a:r>
            <a:r>
              <a:rPr lang="zh-CN" altLang="en-US" b="1" dirty="0">
                <a:latin typeface="Times New Roman" panose="02020603050405020304" pitchFamily="18" charset="0"/>
              </a:rPr>
              <a:t>芯片中没有集成采样</a:t>
            </a:r>
            <a:r>
              <a:rPr lang="en-US" altLang="zh-CN" b="1">
                <a:latin typeface="Times New Roman" panose="02020603050405020304" pitchFamily="18" charset="0"/>
              </a:rPr>
              <a:t>/</a:t>
            </a:r>
            <a:r>
              <a:rPr lang="zh-CN" altLang="en-US" b="1" dirty="0">
                <a:latin typeface="Times New Roman" panose="02020603050405020304" pitchFamily="18" charset="0"/>
              </a:rPr>
              <a:t>保持电路，则图</a:t>
            </a:r>
            <a:r>
              <a:rPr lang="en-US" altLang="zh-CN" b="1">
                <a:latin typeface="Times New Roman" panose="02020603050405020304" pitchFamily="18" charset="0"/>
              </a:rPr>
              <a:t>11- 29</a:t>
            </a:r>
            <a:r>
              <a:rPr lang="zh-CN" altLang="en-US" b="1" dirty="0">
                <a:latin typeface="Times New Roman" panose="02020603050405020304" pitchFamily="18" charset="0"/>
              </a:rPr>
              <a:t>中还需要增加采样</a:t>
            </a:r>
            <a:r>
              <a:rPr lang="en-US" altLang="zh-CN" b="1">
                <a:latin typeface="Times New Roman" panose="02020603050405020304" pitchFamily="18" charset="0"/>
              </a:rPr>
              <a:t>/</a:t>
            </a:r>
            <a:r>
              <a:rPr lang="zh-CN" altLang="en-US" b="1" dirty="0">
                <a:latin typeface="Times New Roman" panose="02020603050405020304" pitchFamily="18" charset="0"/>
              </a:rPr>
              <a:t>保持电路；图</a:t>
            </a:r>
            <a:r>
              <a:rPr lang="en-US" altLang="zh-CN" b="1">
                <a:latin typeface="Times New Roman" panose="02020603050405020304" pitchFamily="18" charset="0"/>
              </a:rPr>
              <a:t>11- 29</a:t>
            </a:r>
            <a:r>
              <a:rPr lang="zh-CN" altLang="en-US" b="1" dirty="0">
                <a:latin typeface="Times New Roman" panose="02020603050405020304" pitchFamily="18" charset="0"/>
              </a:rPr>
              <a:t>中的键盘、开关用于设置温度或系统的工作状态，控制器除了控制温度采集、 </a:t>
            </a:r>
            <a:r>
              <a:rPr lang="en-US" altLang="zh-CN" b="1">
                <a:latin typeface="Times New Roman" panose="02020603050405020304" pitchFamily="18" charset="0"/>
              </a:rPr>
              <a:t>A/D</a:t>
            </a:r>
            <a:r>
              <a:rPr lang="zh-CN" altLang="en-US" b="1">
                <a:latin typeface="Times New Roman" panose="02020603050405020304" pitchFamily="18" charset="0"/>
              </a:rPr>
              <a:t>和</a:t>
            </a:r>
            <a:r>
              <a:rPr lang="en-US" altLang="zh-CN" b="1">
                <a:latin typeface="Times New Roman" panose="02020603050405020304" pitchFamily="18" charset="0"/>
              </a:rPr>
              <a:t>D/A</a:t>
            </a:r>
            <a:r>
              <a:rPr lang="zh-CN" altLang="en-US" b="1" dirty="0">
                <a:latin typeface="Times New Roman" panose="02020603050405020304" pitchFamily="18" charset="0"/>
              </a:rPr>
              <a:t>以外， 还可以将采集到的温度值存入存储器、送到显示器显示或者打印出来。</a:t>
            </a:r>
            <a:r>
              <a:rPr lang="zh-CN" altLang="en-US" dirty="0">
                <a:latin typeface="Times New Roman" panose="02020603050405020304" pitchFamily="18" charset="0"/>
              </a:rPr>
              <a:t> </a:t>
            </a:r>
            <a:endParaRPr lang="zh-CN" altLang="en-US">
              <a:latin typeface="Times New Roman" panose="02020603050405020304" pitchFamily="18" charset="0"/>
            </a:endParaRPr>
          </a:p>
        </p:txBody>
      </p:sp>
    </p:spTree>
  </p:cSld>
  <p:clrMapOvr>
    <a:masterClrMapping/>
  </p:clrMapOvr>
  <p:transition>
    <p:blinds dir="vert"/>
  </p:transition>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4932" name="文本框 124931"/>
          <p:cNvSpPr txBox="1"/>
          <p:nvPr/>
        </p:nvSpPr>
        <p:spPr>
          <a:xfrm>
            <a:off x="152400" y="381000"/>
            <a:ext cx="8839200" cy="1917700"/>
          </a:xfrm>
          <a:prstGeom prst="rect">
            <a:avLst/>
          </a:prstGeom>
          <a:noFill/>
          <a:ln w="9525">
            <a:noFill/>
          </a:ln>
        </p:spPr>
        <p:txBody>
          <a:bodyPr>
            <a:spAutoFit/>
          </a:bodyPr>
          <a:p>
            <a:pPr>
              <a:lnSpc>
                <a:spcPct val="150000"/>
              </a:lnSpc>
              <a:spcBef>
                <a:spcPct val="50000"/>
              </a:spcBef>
            </a:pPr>
            <a:r>
              <a:rPr lang="en-US" altLang="zh-CN" b="1">
                <a:latin typeface="Times New Roman" panose="02020603050405020304" pitchFamily="18" charset="0"/>
              </a:rPr>
              <a:t>11.3.3  </a:t>
            </a:r>
            <a:r>
              <a:rPr lang="zh-CN" altLang="en-US" b="1" dirty="0">
                <a:latin typeface="Times New Roman" panose="02020603050405020304" pitchFamily="18" charset="0"/>
              </a:rPr>
              <a:t>数字保密电话系统</a:t>
            </a:r>
            <a:endParaRPr lang="zh-CN" altLang="en-US" b="1" dirty="0">
              <a:latin typeface="Times New Roman" panose="02020603050405020304" pitchFamily="18" charset="0"/>
            </a:endParaRPr>
          </a:p>
          <a:p>
            <a:pPr>
              <a:lnSpc>
                <a:spcPct val="150000"/>
              </a:lnSpc>
              <a:spcBef>
                <a:spcPct val="50000"/>
              </a:spcBef>
            </a:pPr>
            <a:r>
              <a:rPr lang="zh-CN" altLang="en-US" dirty="0">
                <a:latin typeface="Times New Roman" panose="02020603050405020304" pitchFamily="18" charset="0"/>
              </a:rPr>
              <a:t>        </a:t>
            </a:r>
            <a:r>
              <a:rPr lang="zh-CN" altLang="en-US" b="1" dirty="0">
                <a:latin typeface="Times New Roman" panose="02020603050405020304" pitchFamily="18" charset="0"/>
              </a:rPr>
              <a:t>数字保密电话系统的结构如图</a:t>
            </a:r>
            <a:r>
              <a:rPr lang="en-US" altLang="zh-CN" b="1">
                <a:latin typeface="Times New Roman" panose="02020603050405020304" pitchFamily="18" charset="0"/>
              </a:rPr>
              <a:t>11- 30</a:t>
            </a:r>
            <a:r>
              <a:rPr lang="zh-CN" altLang="en-US" b="1" dirty="0">
                <a:latin typeface="Times New Roman" panose="02020603050405020304" pitchFamily="18" charset="0"/>
              </a:rPr>
              <a:t>所示，它包括两大部分： 发送部分和接收部分。 </a:t>
            </a:r>
            <a:endParaRPr lang="zh-CN" altLang="en-US" b="1">
              <a:latin typeface="Times New Roman" panose="02020603050405020304" pitchFamily="18" charset="0"/>
            </a:endParaRPr>
          </a:p>
        </p:txBody>
      </p:sp>
      <p:sp>
        <p:nvSpPr>
          <p:cNvPr id="124933" name="文本框 124932"/>
          <p:cNvSpPr txBox="1"/>
          <p:nvPr/>
        </p:nvSpPr>
        <p:spPr>
          <a:xfrm>
            <a:off x="2971800" y="6019800"/>
            <a:ext cx="3790950" cy="457200"/>
          </a:xfrm>
          <a:prstGeom prst="rect">
            <a:avLst/>
          </a:prstGeom>
          <a:noFill/>
          <a:ln w="9525">
            <a:noFill/>
          </a:ln>
        </p:spPr>
        <p:txBody>
          <a:bodyPr wrap="none" anchor="t" anchorCtr="0">
            <a:spAutoFit/>
          </a:bodyPr>
          <a:p>
            <a:r>
              <a:rPr lang="zh-CN" altLang="en-US" dirty="0">
                <a:latin typeface="Times New Roman" panose="02020603050405020304" pitchFamily="18" charset="0"/>
              </a:rPr>
              <a:t>图 </a:t>
            </a:r>
            <a:r>
              <a:rPr lang="en-US" altLang="zh-CN" dirty="0">
                <a:latin typeface="Times New Roman" panose="02020603050405020304" pitchFamily="18" charset="0"/>
              </a:rPr>
              <a:t>11-30</a:t>
            </a:r>
            <a:r>
              <a:rPr lang="en-US" altLang="zh-CN">
                <a:latin typeface="Times New Roman" panose="02020603050405020304" pitchFamily="18" charset="0"/>
              </a:rPr>
              <a:t> </a:t>
            </a:r>
            <a:r>
              <a:rPr lang="zh-CN" altLang="en-US" dirty="0">
                <a:latin typeface="Times New Roman" panose="02020603050405020304" pitchFamily="18" charset="0"/>
              </a:rPr>
              <a:t>数字保密电话系统</a:t>
            </a:r>
            <a:endParaRPr lang="zh-CN" altLang="en-US">
              <a:latin typeface="Times New Roman" panose="02020603050405020304" pitchFamily="18" charset="0"/>
            </a:endParaRPr>
          </a:p>
        </p:txBody>
      </p:sp>
      <p:graphicFrame>
        <p:nvGraphicFramePr>
          <p:cNvPr id="124934" name="对象 124933"/>
          <p:cNvGraphicFramePr/>
          <p:nvPr/>
        </p:nvGraphicFramePr>
        <p:xfrm>
          <a:off x="0" y="2590800"/>
          <a:ext cx="8839200" cy="3071813"/>
        </p:xfrm>
        <a:graphic>
          <a:graphicData uri="http://schemas.openxmlformats.org/presentationml/2006/ole">
            <mc:AlternateContent xmlns:mc="http://schemas.openxmlformats.org/markup-compatibility/2006">
              <mc:Choice xmlns:v="urn:schemas-microsoft-com:vml" Requires="v">
                <p:oleObj spid="_x0000_s3137" name="" r:id="rId1" imgW="3817620" imgH="1325880" progId="Visio.Drawing.4">
                  <p:embed/>
                </p:oleObj>
              </mc:Choice>
              <mc:Fallback>
                <p:oleObj name="" r:id="rId1" imgW="3817620" imgH="1325880" progId="Visio.Drawing.4">
                  <p:embed/>
                  <p:pic>
                    <p:nvPicPr>
                      <p:cNvPr id="0" name="图片 3136"/>
                      <p:cNvPicPr/>
                      <p:nvPr/>
                    </p:nvPicPr>
                    <p:blipFill>
                      <a:blip r:embed="rId2"/>
                      <a:stretch>
                        <a:fillRect/>
                      </a:stretch>
                    </p:blipFill>
                    <p:spPr>
                      <a:xfrm>
                        <a:off x="0" y="2590800"/>
                        <a:ext cx="8839200" cy="3071813"/>
                      </a:xfrm>
                      <a:prstGeom prst="rect">
                        <a:avLst/>
                      </a:prstGeom>
                      <a:noFill/>
                      <a:ln w="38100">
                        <a:noFill/>
                        <a:miter/>
                      </a:ln>
                    </p:spPr>
                  </p:pic>
                </p:oleObj>
              </mc:Fallback>
            </mc:AlternateContent>
          </a:graphicData>
        </a:graphic>
      </p:graphicFrame>
    </p:spTree>
  </p:cSld>
  <p:clrMapOvr>
    <a:masterClrMapping/>
  </p:clrMapOvr>
  <p:transition>
    <p:blinds dir="vert"/>
  </p:transition>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8004" name="文本框 128003"/>
          <p:cNvSpPr txBox="1"/>
          <p:nvPr/>
        </p:nvSpPr>
        <p:spPr>
          <a:xfrm>
            <a:off x="228600" y="609600"/>
            <a:ext cx="8686800" cy="4352925"/>
          </a:xfrm>
          <a:prstGeom prst="rect">
            <a:avLst/>
          </a:prstGeom>
          <a:noFill/>
          <a:ln w="9525">
            <a:noFill/>
          </a:ln>
        </p:spPr>
        <p:txBody>
          <a:bodyPr>
            <a:spAutoFit/>
          </a:bodyPr>
          <a:p>
            <a:pPr>
              <a:lnSpc>
                <a:spcPct val="178000"/>
              </a:lnSpc>
              <a:spcBef>
                <a:spcPct val="50000"/>
              </a:spcBef>
            </a:pPr>
            <a:r>
              <a:rPr lang="en-US" altLang="zh-CN" dirty="0">
                <a:latin typeface="Times New Roman" panose="02020603050405020304" pitchFamily="18" charset="0"/>
              </a:rPr>
              <a:t>        </a:t>
            </a:r>
            <a:r>
              <a:rPr lang="zh-CN" altLang="en-US" b="1" dirty="0">
                <a:latin typeface="Times New Roman" panose="02020603050405020304" pitchFamily="18" charset="0"/>
              </a:rPr>
              <a:t>在发送部分中，原始的语音信号要在经过以下几个步骤， 变成加密的语音信号之后，才被送上线路，传输给对方。 </a:t>
            </a:r>
            <a:endParaRPr lang="zh-CN" altLang="en-US" b="1" dirty="0">
              <a:latin typeface="Times New Roman" panose="02020603050405020304" pitchFamily="18" charset="0"/>
            </a:endParaRPr>
          </a:p>
          <a:p>
            <a:pPr>
              <a:lnSpc>
                <a:spcPct val="178000"/>
              </a:lnSpc>
              <a:spcBef>
                <a:spcPct val="50000"/>
              </a:spcBef>
            </a:pPr>
            <a:r>
              <a:rPr lang="zh-CN" altLang="en-US" b="1" dirty="0">
                <a:latin typeface="Times New Roman" panose="02020603050405020304" pitchFamily="18" charset="0"/>
              </a:rPr>
              <a:t>        </a:t>
            </a:r>
            <a:r>
              <a:rPr lang="en-US" altLang="zh-CN" b="1">
                <a:latin typeface="Times New Roman" panose="02020603050405020304" pitchFamily="18" charset="0"/>
              </a:rPr>
              <a:t>① </a:t>
            </a:r>
            <a:r>
              <a:rPr lang="zh-CN" altLang="en-US" b="1" dirty="0">
                <a:latin typeface="Times New Roman" panose="02020603050405020304" pitchFamily="18" charset="0"/>
              </a:rPr>
              <a:t>通过低通滤波</a:t>
            </a:r>
            <a:r>
              <a:rPr lang="en-US" altLang="zh-CN" b="1">
                <a:latin typeface="Times New Roman" panose="02020603050405020304" pitchFamily="18" charset="0"/>
              </a:rPr>
              <a:t>LPF</a:t>
            </a:r>
            <a:r>
              <a:rPr lang="zh-CN" altLang="en-US" b="1">
                <a:latin typeface="Times New Roman" panose="02020603050405020304" pitchFamily="18" charset="0"/>
              </a:rPr>
              <a:t>（</a:t>
            </a:r>
            <a:r>
              <a:rPr lang="en-US" altLang="zh-CN" b="1">
                <a:latin typeface="Times New Roman" panose="02020603050405020304" pitchFamily="18" charset="0"/>
              </a:rPr>
              <a:t>Low</a:t>
            </a:r>
            <a:r>
              <a:rPr lang="zh-CN" altLang="en-US" b="1">
                <a:latin typeface="Times New Roman" panose="02020603050405020304" pitchFamily="18" charset="0"/>
              </a:rPr>
              <a:t></a:t>
            </a:r>
            <a:r>
              <a:rPr lang="en-US" altLang="zh-CN" b="1">
                <a:latin typeface="Times New Roman" panose="02020603050405020304" pitchFamily="18" charset="0"/>
              </a:rPr>
              <a:t>Pass Filter</a:t>
            </a:r>
            <a:r>
              <a:rPr lang="zh-CN" altLang="en-US" b="1">
                <a:latin typeface="Times New Roman" panose="02020603050405020304" pitchFamily="18" charset="0"/>
              </a:rPr>
              <a:t>），</a:t>
            </a:r>
            <a:r>
              <a:rPr lang="zh-CN" altLang="en-US" b="1" dirty="0">
                <a:latin typeface="Times New Roman" panose="02020603050405020304" pitchFamily="18" charset="0"/>
              </a:rPr>
              <a:t>滤除语音信号中不需要的高频分量。</a:t>
            </a:r>
            <a:endParaRPr lang="zh-CN" altLang="en-US" b="1" dirty="0">
              <a:latin typeface="Times New Roman" panose="02020603050405020304" pitchFamily="18" charset="0"/>
            </a:endParaRPr>
          </a:p>
          <a:p>
            <a:pPr>
              <a:lnSpc>
                <a:spcPct val="178000"/>
              </a:lnSpc>
              <a:spcBef>
                <a:spcPct val="50000"/>
              </a:spcBef>
            </a:pPr>
            <a:r>
              <a:rPr lang="zh-CN" altLang="en-US" b="1" dirty="0">
                <a:latin typeface="Times New Roman" panose="02020603050405020304" pitchFamily="18" charset="0"/>
              </a:rPr>
              <a:t>         </a:t>
            </a:r>
            <a:r>
              <a:rPr lang="en-US" altLang="zh-CN" b="1">
                <a:latin typeface="Times New Roman" panose="02020603050405020304" pitchFamily="18" charset="0"/>
              </a:rPr>
              <a:t>② </a:t>
            </a:r>
            <a:r>
              <a:rPr lang="zh-CN" altLang="en-US" b="1" dirty="0">
                <a:latin typeface="Times New Roman" panose="02020603050405020304" pitchFamily="18" charset="0"/>
              </a:rPr>
              <a:t>通过</a:t>
            </a:r>
            <a:r>
              <a:rPr lang="en-US" altLang="zh-CN" b="1">
                <a:latin typeface="Times New Roman" panose="02020603050405020304" pitchFamily="18" charset="0"/>
              </a:rPr>
              <a:t>A/D</a:t>
            </a:r>
            <a:r>
              <a:rPr lang="zh-CN" altLang="en-US" b="1" dirty="0">
                <a:latin typeface="Times New Roman" panose="02020603050405020304" pitchFamily="18" charset="0"/>
              </a:rPr>
              <a:t>转换，将模拟的语音信号转换成数字信号，以便下一步进行数字加密处理。</a:t>
            </a:r>
            <a:endParaRPr lang="zh-CN" altLang="en-US" b="1">
              <a:latin typeface="Times New Roman" panose="02020603050405020304" pitchFamily="18" charset="0"/>
            </a:endParaRPr>
          </a:p>
        </p:txBody>
      </p:sp>
    </p:spTree>
  </p:cSld>
  <p:clrMapOvr>
    <a:masterClrMapping/>
  </p:clrMapOvr>
  <p:transition>
    <p:blinds dir="vert"/>
  </p:transition>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6980" name="文本框 126979"/>
          <p:cNvSpPr txBox="1"/>
          <p:nvPr/>
        </p:nvSpPr>
        <p:spPr>
          <a:xfrm>
            <a:off x="228600" y="685800"/>
            <a:ext cx="8763000" cy="4819650"/>
          </a:xfrm>
          <a:prstGeom prst="rect">
            <a:avLst/>
          </a:prstGeom>
          <a:noFill/>
          <a:ln w="9525">
            <a:noFill/>
          </a:ln>
        </p:spPr>
        <p:txBody>
          <a:bodyPr>
            <a:spAutoFit/>
          </a:bodyPr>
          <a:p>
            <a:pPr>
              <a:lnSpc>
                <a:spcPct val="178000"/>
              </a:lnSpc>
              <a:spcBef>
                <a:spcPct val="50000"/>
              </a:spcBef>
            </a:pPr>
            <a:r>
              <a:rPr lang="en-US" altLang="zh-CN" dirty="0">
                <a:latin typeface="Times New Roman" panose="02020603050405020304" pitchFamily="18" charset="0"/>
              </a:rPr>
              <a:t>       </a:t>
            </a:r>
            <a:r>
              <a:rPr lang="en-US" altLang="zh-CN" b="1">
                <a:latin typeface="Times New Roman" panose="02020603050405020304" pitchFamily="18" charset="0"/>
              </a:rPr>
              <a:t>③ </a:t>
            </a:r>
            <a:r>
              <a:rPr lang="zh-CN" altLang="en-US" b="1" dirty="0">
                <a:latin typeface="Times New Roman" panose="02020603050405020304" pitchFamily="18" charset="0"/>
              </a:rPr>
              <a:t>置乱（</a:t>
            </a:r>
            <a:r>
              <a:rPr lang="en-US" altLang="zh-CN" b="1">
                <a:latin typeface="Times New Roman" panose="02020603050405020304" pitchFamily="18" charset="0"/>
              </a:rPr>
              <a:t>Scrambling</a:t>
            </a:r>
            <a:r>
              <a:rPr lang="zh-CN" altLang="en-US" b="1">
                <a:latin typeface="Times New Roman" panose="02020603050405020304" pitchFamily="18" charset="0"/>
              </a:rPr>
              <a:t>）， </a:t>
            </a:r>
            <a:r>
              <a:rPr lang="zh-CN" altLang="en-US" b="1" dirty="0">
                <a:latin typeface="Times New Roman" panose="02020603050405020304" pitchFamily="18" charset="0"/>
              </a:rPr>
              <a:t>也就是按照某种方式将数字信号的前后次序打乱。置乱有两种方式： 频域置乱（</a:t>
            </a:r>
            <a:r>
              <a:rPr lang="en-US" altLang="zh-CN" b="1">
                <a:latin typeface="Times New Roman" panose="02020603050405020304" pitchFamily="18" charset="0"/>
              </a:rPr>
              <a:t>Frequency Domain Scrambling</a:t>
            </a:r>
            <a:r>
              <a:rPr lang="zh-CN" altLang="en-US" b="1">
                <a:latin typeface="Times New Roman" panose="02020603050405020304" pitchFamily="18" charset="0"/>
              </a:rPr>
              <a:t>）</a:t>
            </a:r>
            <a:r>
              <a:rPr lang="zh-CN" altLang="en-US" b="1" dirty="0">
                <a:latin typeface="Times New Roman" panose="02020603050405020304" pitchFamily="18" charset="0"/>
              </a:rPr>
              <a:t>和时域置乱（</a:t>
            </a:r>
            <a:r>
              <a:rPr lang="en-US" altLang="zh-CN" b="1">
                <a:latin typeface="Times New Roman" panose="02020603050405020304" pitchFamily="18" charset="0"/>
              </a:rPr>
              <a:t>Time Domain Scrambling</a:t>
            </a:r>
            <a:r>
              <a:rPr lang="zh-CN" altLang="en-US" b="1">
                <a:latin typeface="Times New Roman" panose="02020603050405020304" pitchFamily="18" charset="0"/>
              </a:rPr>
              <a:t>）。</a:t>
            </a:r>
            <a:r>
              <a:rPr lang="zh-CN" altLang="en-US" b="1" dirty="0">
                <a:latin typeface="Times New Roman" panose="02020603050405020304" pitchFamily="18" charset="0"/>
              </a:rPr>
              <a:t>时域置乱又可分为样点置乱（</a:t>
            </a:r>
            <a:r>
              <a:rPr lang="en-US" altLang="zh-CN" b="1">
                <a:latin typeface="Times New Roman" panose="02020603050405020304" pitchFamily="18" charset="0"/>
              </a:rPr>
              <a:t>Time Sample Scrambling</a:t>
            </a:r>
            <a:r>
              <a:rPr lang="zh-CN" altLang="en-US" b="1">
                <a:latin typeface="Times New Roman" panose="02020603050405020304" pitchFamily="18" charset="0"/>
              </a:rPr>
              <a:t>）</a:t>
            </a:r>
            <a:r>
              <a:rPr lang="zh-CN" altLang="en-US" b="1" dirty="0">
                <a:latin typeface="Times New Roman" panose="02020603050405020304" pitchFamily="18" charset="0"/>
              </a:rPr>
              <a:t>和时段置乱</a:t>
            </a:r>
            <a:r>
              <a:rPr lang="en-US" altLang="zh-CN" b="1">
                <a:latin typeface="Times New Roman" panose="02020603050405020304" pitchFamily="18" charset="0"/>
              </a:rPr>
              <a:t>Time Segment Scrambling</a:t>
            </a:r>
            <a:r>
              <a:rPr lang="zh-CN" altLang="en-US" b="1">
                <a:latin typeface="Times New Roman" panose="02020603050405020304" pitchFamily="18" charset="0"/>
              </a:rPr>
              <a:t>）。 </a:t>
            </a:r>
            <a:endParaRPr lang="zh-CN" altLang="en-US" b="1">
              <a:latin typeface="Times New Roman" panose="02020603050405020304" pitchFamily="18" charset="0"/>
            </a:endParaRPr>
          </a:p>
          <a:p>
            <a:pPr>
              <a:lnSpc>
                <a:spcPct val="178000"/>
              </a:lnSpc>
              <a:spcBef>
                <a:spcPct val="50000"/>
              </a:spcBef>
            </a:pPr>
            <a:r>
              <a:rPr lang="zh-CN" altLang="en-US" b="1">
                <a:latin typeface="Times New Roman" panose="02020603050405020304" pitchFamily="18" charset="0"/>
              </a:rPr>
              <a:t>        </a:t>
            </a:r>
            <a:r>
              <a:rPr lang="en-US" altLang="zh-CN" b="1">
                <a:latin typeface="Times New Roman" panose="02020603050405020304" pitchFamily="18" charset="0"/>
              </a:rPr>
              <a:t>④ </a:t>
            </a:r>
            <a:r>
              <a:rPr lang="zh-CN" altLang="en-US" b="1" dirty="0">
                <a:latin typeface="Times New Roman" panose="02020603050405020304" pitchFamily="18" charset="0"/>
              </a:rPr>
              <a:t>经过置乱处理的数字信号再通过</a:t>
            </a:r>
            <a:r>
              <a:rPr lang="en-US" altLang="zh-CN" b="1">
                <a:latin typeface="Times New Roman" panose="02020603050405020304" pitchFamily="18" charset="0"/>
              </a:rPr>
              <a:t>D/A</a:t>
            </a:r>
            <a:r>
              <a:rPr lang="zh-CN" altLang="en-US" b="1" dirty="0">
                <a:latin typeface="Times New Roman" panose="02020603050405020304" pitchFamily="18" charset="0"/>
              </a:rPr>
              <a:t>转换，变换成一个在时间上连续、在取值上离散的阶梯信号。</a:t>
            </a:r>
            <a:endParaRPr lang="zh-CN" altLang="en-US" b="1">
              <a:latin typeface="Times New Roman" panose="02020603050405020304" pitchFamily="18" charset="0"/>
            </a:endParaRPr>
          </a:p>
        </p:txBody>
      </p:sp>
    </p:spTree>
  </p:cSld>
  <p:clrMapOvr>
    <a:masterClrMapping/>
  </p:clrMapOvr>
  <p:transition>
    <p:blinds dir="vert"/>
  </p:transition>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0052" name="文本框 130051"/>
          <p:cNvSpPr txBox="1"/>
          <p:nvPr/>
        </p:nvSpPr>
        <p:spPr>
          <a:xfrm>
            <a:off x="304800" y="763588"/>
            <a:ext cx="8610600" cy="3732212"/>
          </a:xfrm>
          <a:prstGeom prst="rect">
            <a:avLst/>
          </a:prstGeom>
          <a:noFill/>
          <a:ln w="9525">
            <a:noFill/>
          </a:ln>
        </p:spPr>
        <p:txBody>
          <a:bodyPr>
            <a:spAutoFit/>
          </a:bodyPr>
          <a:p>
            <a:pPr>
              <a:lnSpc>
                <a:spcPct val="158000"/>
              </a:lnSpc>
              <a:spcBef>
                <a:spcPct val="50000"/>
              </a:spcBef>
            </a:pPr>
            <a:r>
              <a:rPr lang="en-US" altLang="zh-CN" dirty="0">
                <a:latin typeface="Times New Roman" panose="02020603050405020304" pitchFamily="18" charset="0"/>
              </a:rPr>
              <a:t>        </a:t>
            </a:r>
            <a:r>
              <a:rPr lang="en-US" altLang="zh-CN" b="1">
                <a:latin typeface="Times New Roman" panose="02020603050405020304" pitchFamily="18" charset="0"/>
              </a:rPr>
              <a:t>⑤ </a:t>
            </a:r>
            <a:r>
              <a:rPr lang="zh-CN" altLang="en-US" b="1" dirty="0">
                <a:latin typeface="Times New Roman" panose="02020603050405020304" pitchFamily="18" charset="0"/>
              </a:rPr>
              <a:t>最后在经过低通滤波， 滤除阶梯信号中无用的高频分量， 使之变成一个模拟信号。该模拟信号就是已经被加密的语音信号。 </a:t>
            </a:r>
            <a:endParaRPr lang="zh-CN" altLang="en-US" b="1" dirty="0">
              <a:latin typeface="Times New Roman" panose="02020603050405020304" pitchFamily="18" charset="0"/>
            </a:endParaRPr>
          </a:p>
          <a:p>
            <a:pPr>
              <a:lnSpc>
                <a:spcPct val="158000"/>
              </a:lnSpc>
              <a:spcBef>
                <a:spcPct val="50000"/>
              </a:spcBef>
            </a:pPr>
            <a:r>
              <a:rPr lang="zh-CN" altLang="en-US" b="1" dirty="0">
                <a:latin typeface="Times New Roman" panose="02020603050405020304" pitchFamily="18" charset="0"/>
              </a:rPr>
              <a:t>        接收部分用于将对方传送过来的加密语音信号还原成原始的语音信号，其过程与语音信号发送的过程类似， 所不同的是置乱被其逆过程</a:t>
            </a:r>
            <a:r>
              <a:rPr lang="en-US" altLang="zh-CN" b="1">
                <a:latin typeface="Times New Roman" panose="02020603050405020304" pitchFamily="18" charset="0"/>
              </a:rPr>
              <a:t>——</a:t>
            </a:r>
            <a:r>
              <a:rPr lang="zh-CN" altLang="en-US" b="1" dirty="0">
                <a:latin typeface="Times New Roman" panose="02020603050405020304" pitchFamily="18" charset="0"/>
              </a:rPr>
              <a:t>解乱所代替。 </a:t>
            </a:r>
            <a:endParaRPr lang="zh-CN" altLang="en-US" b="1">
              <a:latin typeface="Times New Roman" panose="02020603050405020304" pitchFamily="18" charset="0"/>
            </a:endParaRPr>
          </a:p>
        </p:txBody>
      </p:sp>
      <p:sp>
        <p:nvSpPr>
          <p:cNvPr id="130053" name="动作按钮: 后退或前一项 130052">
            <a:hlinkClick r:id="" action="ppaction://hlinkshowjump?jump=firstslide"/>
          </p:cNvPr>
          <p:cNvSpPr/>
          <p:nvPr/>
        </p:nvSpPr>
        <p:spPr>
          <a:xfrm>
            <a:off x="8610600" y="6546850"/>
            <a:ext cx="533400" cy="304800"/>
          </a:xfrm>
          <a:prstGeom prst="actionButtonBackPrevious">
            <a:avLst/>
          </a:prstGeom>
          <a:solidFill>
            <a:schemeClr val="accent1"/>
          </a:solidFill>
          <a:ln w="9525" cap="flat" cmpd="sng">
            <a:solidFill>
              <a:schemeClr val="tx1"/>
            </a:solidFill>
            <a:prstDash val="solid"/>
            <a:miter/>
            <a:headEnd type="none" w="med" len="med"/>
            <a:tailEnd type="none" w="med" len="med"/>
          </a:ln>
        </p:spPr>
        <p:txBody>
          <a:bodyPr/>
          <a:p>
            <a:endParaRPr lang="zh-CN" altLang="en-US"/>
          </a:p>
        </p:txBody>
      </p:sp>
    </p:spTree>
  </p:cSld>
  <p:clrMapOvr>
    <a:masterClrMapping/>
  </p:clrMapOvr>
  <p:transition>
    <p:blinds dir="vert"/>
  </p:transition>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25634" name="文本框 325633"/>
          <p:cNvSpPr txBox="1"/>
          <p:nvPr/>
        </p:nvSpPr>
        <p:spPr>
          <a:xfrm>
            <a:off x="1143000" y="685800"/>
            <a:ext cx="4451350" cy="647700"/>
          </a:xfrm>
          <a:prstGeom prst="rect">
            <a:avLst/>
          </a:prstGeom>
          <a:noFill/>
          <a:ln w="9525">
            <a:noFill/>
          </a:ln>
        </p:spPr>
        <p:txBody>
          <a:bodyPr wrap="none" anchor="t" anchorCtr="0">
            <a:spAutoFit/>
          </a:bodyPr>
          <a:p>
            <a:pPr>
              <a:lnSpc>
                <a:spcPct val="130000"/>
              </a:lnSpc>
            </a:pPr>
            <a:r>
              <a:rPr lang="en-US" altLang="zh-CN" sz="2800" b="1">
                <a:latin typeface="Times New Roman" panose="02020603050405020304" pitchFamily="18" charset="0"/>
              </a:rPr>
              <a:t>11.3.4 </a:t>
            </a:r>
            <a:r>
              <a:rPr lang="zh-CN" altLang="en-US" sz="2800" b="1" dirty="0">
                <a:latin typeface="Times New Roman" panose="02020603050405020304" pitchFamily="18" charset="0"/>
              </a:rPr>
              <a:t>数据采集系统的设计 </a:t>
            </a:r>
            <a:endParaRPr lang="zh-CN" altLang="en-US" sz="2800" b="1">
              <a:latin typeface="Times New Roman" panose="02020603050405020304" pitchFamily="18" charset="0"/>
            </a:endParaRPr>
          </a:p>
        </p:txBody>
      </p:sp>
      <p:sp>
        <p:nvSpPr>
          <p:cNvPr id="325635" name="文本框 325634"/>
          <p:cNvSpPr txBox="1"/>
          <p:nvPr/>
        </p:nvSpPr>
        <p:spPr>
          <a:xfrm>
            <a:off x="533400" y="1600200"/>
            <a:ext cx="8229600" cy="2173288"/>
          </a:xfrm>
          <a:prstGeom prst="rect">
            <a:avLst/>
          </a:prstGeom>
          <a:noFill/>
          <a:ln w="9525">
            <a:noFill/>
          </a:ln>
        </p:spPr>
        <p:txBody>
          <a:bodyPr>
            <a:spAutoFit/>
          </a:bodyPr>
          <a:p>
            <a:pPr algn="just">
              <a:lnSpc>
                <a:spcPct val="130000"/>
              </a:lnSpc>
              <a:spcBef>
                <a:spcPct val="50000"/>
              </a:spcBef>
            </a:pPr>
            <a:r>
              <a:rPr lang="en-US" altLang="zh-CN" b="1" dirty="0">
                <a:latin typeface="Times New Roman" panose="02020603050405020304" pitchFamily="18" charset="0"/>
              </a:rPr>
              <a:t>        </a:t>
            </a:r>
            <a:r>
              <a:rPr lang="en-US" altLang="zh-CN" b="1">
                <a:latin typeface="Times New Roman" panose="02020603050405020304" pitchFamily="18" charset="0"/>
              </a:rPr>
              <a:t>1. </a:t>
            </a:r>
            <a:r>
              <a:rPr lang="zh-CN" altLang="en-US" b="1" dirty="0">
                <a:latin typeface="Times New Roman" panose="02020603050405020304" pitchFamily="18" charset="0"/>
              </a:rPr>
              <a:t>数据采集系统的主要技术指标</a:t>
            </a:r>
            <a:endParaRPr lang="zh-CN" altLang="en-US" b="1">
              <a:latin typeface="Times New Roman" panose="02020603050405020304" pitchFamily="18" charset="0"/>
            </a:endParaRPr>
          </a:p>
          <a:p>
            <a:pPr algn="just">
              <a:lnSpc>
                <a:spcPct val="130000"/>
              </a:lnSpc>
              <a:spcBef>
                <a:spcPct val="50000"/>
              </a:spcBef>
            </a:pPr>
            <a:r>
              <a:rPr lang="zh-CN" altLang="en-US" dirty="0">
                <a:latin typeface="Times New Roman" panose="02020603050405020304" pitchFamily="18" charset="0"/>
              </a:rPr>
              <a:t>        </a:t>
            </a:r>
            <a:r>
              <a:rPr lang="zh-CN" altLang="en-US" b="1" dirty="0">
                <a:latin typeface="Times New Roman" panose="02020603050405020304" pitchFamily="18" charset="0"/>
              </a:rPr>
              <a:t>数据采集系统的核心器件是</a:t>
            </a:r>
            <a:r>
              <a:rPr lang="en-US" altLang="zh-CN" b="1">
                <a:latin typeface="Times New Roman" panose="02020603050405020304" pitchFamily="18" charset="0"/>
              </a:rPr>
              <a:t>A/D</a:t>
            </a:r>
            <a:r>
              <a:rPr lang="zh-CN" altLang="en-US" b="1" dirty="0">
                <a:latin typeface="Times New Roman" panose="02020603050405020304" pitchFamily="18" charset="0"/>
              </a:rPr>
              <a:t>转换器。通常在不同的应用场合对数据采集系统有不同</a:t>
            </a:r>
            <a:r>
              <a:rPr lang="zh-CN" altLang="en-US" b="1" dirty="0">
                <a:latin typeface="Times New Roman" panose="02020603050405020304" pitchFamily="18" charset="0"/>
              </a:rPr>
              <a:t>的技术要求，主要有分辨率、采样率、采样方式、精度和输入范围等。 </a:t>
            </a:r>
            <a:endParaRPr lang="zh-CN" altLang="en-US" b="1">
              <a:latin typeface="Times New Roman" panose="02020603050405020304" pitchFamily="18" charset="0"/>
            </a:endParaRPr>
          </a:p>
        </p:txBody>
      </p:sp>
      <p:sp>
        <p:nvSpPr>
          <p:cNvPr id="325636" name="文本框 325635"/>
          <p:cNvSpPr txBox="1"/>
          <p:nvPr/>
        </p:nvSpPr>
        <p:spPr>
          <a:xfrm>
            <a:off x="3200400" y="5943600"/>
            <a:ext cx="3867150" cy="457200"/>
          </a:xfrm>
          <a:prstGeom prst="rect">
            <a:avLst/>
          </a:prstGeom>
          <a:noFill/>
          <a:ln w="9525">
            <a:noFill/>
          </a:ln>
        </p:spPr>
        <p:txBody>
          <a:bodyPr wrap="none" anchor="t" anchorCtr="0">
            <a:spAutoFit/>
          </a:bodyPr>
          <a:p>
            <a:r>
              <a:rPr lang="zh-CN" altLang="en-US" dirty="0">
                <a:latin typeface="Times New Roman" panose="02020603050405020304" pitchFamily="18" charset="0"/>
              </a:rPr>
              <a:t>图 </a:t>
            </a:r>
            <a:r>
              <a:rPr lang="en-US" altLang="zh-CN">
                <a:latin typeface="Times New Roman" panose="02020603050405020304" pitchFamily="18" charset="0"/>
              </a:rPr>
              <a:t>11-32 </a:t>
            </a:r>
            <a:r>
              <a:rPr lang="zh-CN" altLang="en-US" dirty="0">
                <a:latin typeface="Times New Roman" panose="02020603050405020304" pitchFamily="18" charset="0"/>
              </a:rPr>
              <a:t>数据采集系统框图 </a:t>
            </a:r>
            <a:endParaRPr lang="zh-CN" altLang="en-US">
              <a:latin typeface="Times New Roman" panose="02020603050405020304" pitchFamily="18" charset="0"/>
            </a:endParaRPr>
          </a:p>
        </p:txBody>
      </p:sp>
      <p:pic>
        <p:nvPicPr>
          <p:cNvPr id="325637" name="图片 325636" descr="未标题-1 拷贝"/>
          <p:cNvPicPr>
            <a:picLocks noChangeAspect="1"/>
          </p:cNvPicPr>
          <p:nvPr/>
        </p:nvPicPr>
        <p:blipFill>
          <a:blip r:embed="rId1"/>
          <a:stretch>
            <a:fillRect/>
          </a:stretch>
        </p:blipFill>
        <p:spPr>
          <a:xfrm>
            <a:off x="0" y="4038600"/>
            <a:ext cx="8915400" cy="1841500"/>
          </a:xfrm>
          <a:prstGeom prst="rect">
            <a:avLst/>
          </a:prstGeom>
          <a:noFill/>
          <a:ln w="9525">
            <a:noFill/>
          </a:ln>
        </p:spPr>
      </p:pic>
    </p:spTree>
  </p:cSld>
  <p:clrMapOvr>
    <a:masterClrMapping/>
  </p:clrMapOvr>
  <p:transition>
    <p:blinds dir="vert"/>
  </p:transition>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26658" name="文本框 326657"/>
          <p:cNvSpPr txBox="1"/>
          <p:nvPr/>
        </p:nvSpPr>
        <p:spPr>
          <a:xfrm>
            <a:off x="685800" y="990600"/>
            <a:ext cx="7924800" cy="3852863"/>
          </a:xfrm>
          <a:prstGeom prst="rect">
            <a:avLst/>
          </a:prstGeom>
          <a:noFill/>
          <a:ln w="9525">
            <a:noFill/>
          </a:ln>
        </p:spPr>
        <p:txBody>
          <a:bodyPr>
            <a:spAutoFit/>
          </a:bodyPr>
          <a:p>
            <a:pPr algn="just">
              <a:lnSpc>
                <a:spcPct val="140000"/>
              </a:lnSpc>
              <a:spcBef>
                <a:spcPct val="50000"/>
              </a:spcBef>
            </a:pPr>
            <a:r>
              <a:rPr lang="en-US" altLang="zh-CN" dirty="0">
                <a:latin typeface="Times New Roman" panose="02020603050405020304" pitchFamily="18" charset="0"/>
              </a:rPr>
              <a:t>        </a:t>
            </a:r>
            <a:r>
              <a:rPr lang="en-US" altLang="zh-CN" b="1">
                <a:latin typeface="Times New Roman" panose="02020603050405020304" pitchFamily="18" charset="0"/>
              </a:rPr>
              <a:t>1) </a:t>
            </a:r>
            <a:r>
              <a:rPr lang="zh-CN" altLang="en-US" b="1">
                <a:latin typeface="Times New Roman" panose="02020603050405020304" pitchFamily="18" charset="0"/>
              </a:rPr>
              <a:t></a:t>
            </a:r>
            <a:r>
              <a:rPr lang="en-US" altLang="zh-CN" b="1">
                <a:latin typeface="Times New Roman" panose="02020603050405020304" pitchFamily="18" charset="0"/>
              </a:rPr>
              <a:t>A/D</a:t>
            </a:r>
            <a:r>
              <a:rPr lang="zh-CN" altLang="en-US" b="1" dirty="0">
                <a:latin typeface="Times New Roman" panose="02020603050405020304" pitchFamily="18" charset="0"/>
              </a:rPr>
              <a:t>输入电压动态范围</a:t>
            </a:r>
            <a:endParaRPr lang="zh-CN" altLang="en-US" b="1" dirty="0">
              <a:latin typeface="Times New Roman" panose="02020603050405020304" pitchFamily="18" charset="0"/>
            </a:endParaRPr>
          </a:p>
          <a:p>
            <a:pPr algn="just">
              <a:lnSpc>
                <a:spcPct val="140000"/>
              </a:lnSpc>
              <a:spcBef>
                <a:spcPct val="50000"/>
              </a:spcBef>
            </a:pPr>
            <a:r>
              <a:rPr lang="zh-CN" altLang="en-US" b="1" dirty="0">
                <a:latin typeface="Times New Roman" panose="02020603050405020304" pitchFamily="18" charset="0"/>
              </a:rPr>
              <a:t>       不同的</a:t>
            </a:r>
            <a:r>
              <a:rPr lang="en-US" altLang="zh-CN" b="1">
                <a:latin typeface="Times New Roman" panose="02020603050405020304" pitchFamily="18" charset="0"/>
              </a:rPr>
              <a:t>A/D</a:t>
            </a:r>
            <a:r>
              <a:rPr lang="zh-CN" altLang="en-US" b="1" dirty="0">
                <a:latin typeface="Times New Roman" panose="02020603050405020304" pitchFamily="18" charset="0"/>
              </a:rPr>
              <a:t>其输入电压的动态范围不同，一般有 </a:t>
            </a:r>
            <a:r>
              <a:rPr lang="en-US" altLang="zh-CN" b="1">
                <a:latin typeface="Times New Roman" panose="02020603050405020304" pitchFamily="18" charset="0"/>
              </a:rPr>
              <a:t>0~5 V</a:t>
            </a:r>
            <a:r>
              <a:rPr lang="zh-CN" altLang="en-US" b="1">
                <a:latin typeface="Times New Roman" panose="02020603050405020304" pitchFamily="18" charset="0"/>
              </a:rPr>
              <a:t>、 </a:t>
            </a:r>
            <a:r>
              <a:rPr lang="en-US" altLang="zh-CN" b="1">
                <a:latin typeface="Times New Roman" panose="02020603050405020304" pitchFamily="18" charset="0"/>
              </a:rPr>
              <a:t>0~+10 V</a:t>
            </a:r>
            <a:r>
              <a:rPr lang="zh-CN" altLang="en-US" b="1">
                <a:latin typeface="Times New Roman" panose="02020603050405020304" pitchFamily="18" charset="0"/>
              </a:rPr>
              <a:t>、</a:t>
            </a:r>
            <a:r>
              <a:rPr lang="en-US" altLang="zh-CN" b="1">
                <a:latin typeface="Times New Roman" panose="02020603050405020304" pitchFamily="18" charset="0"/>
              </a:rPr>
              <a:t>-5~+5 V</a:t>
            </a:r>
            <a:r>
              <a:rPr lang="zh-CN" altLang="en-US" b="1" dirty="0">
                <a:latin typeface="Times New Roman" panose="02020603050405020304" pitchFamily="18" charset="0"/>
              </a:rPr>
              <a:t>和</a:t>
            </a:r>
            <a:r>
              <a:rPr lang="en-US" altLang="zh-CN" b="1">
                <a:latin typeface="Times New Roman" panose="02020603050405020304" pitchFamily="18" charset="0"/>
              </a:rPr>
              <a:t>-2.5~+2.5 V</a:t>
            </a:r>
            <a:r>
              <a:rPr lang="zh-CN" altLang="en-US" b="1" dirty="0">
                <a:latin typeface="Times New Roman" panose="02020603050405020304" pitchFamily="18" charset="0"/>
              </a:rPr>
              <a:t>等。如果某一</a:t>
            </a:r>
            <a:r>
              <a:rPr lang="en-US" altLang="zh-CN" b="1">
                <a:latin typeface="Times New Roman" panose="02020603050405020304" pitchFamily="18" charset="0"/>
              </a:rPr>
              <a:t>A/D</a:t>
            </a:r>
            <a:r>
              <a:rPr lang="zh-CN" altLang="en-US" b="1" dirty="0">
                <a:latin typeface="Times New Roman" panose="02020603050405020304" pitchFamily="18" charset="0"/>
              </a:rPr>
              <a:t>转换器的输入电压范围是 </a:t>
            </a:r>
            <a:r>
              <a:rPr lang="en-US" altLang="zh-CN" b="1">
                <a:latin typeface="Times New Roman" panose="02020603050405020304" pitchFamily="18" charset="0"/>
              </a:rPr>
              <a:t>0~10 V</a:t>
            </a:r>
            <a:r>
              <a:rPr lang="zh-CN" altLang="en-US" b="1">
                <a:latin typeface="Times New Roman" panose="02020603050405020304" pitchFamily="18" charset="0"/>
              </a:rPr>
              <a:t>，</a:t>
            </a:r>
            <a:r>
              <a:rPr lang="zh-CN" altLang="en-US" b="1" dirty="0">
                <a:latin typeface="Times New Roman" panose="02020603050405020304" pitchFamily="18" charset="0"/>
              </a:rPr>
              <a:t>而输入模拟信号电压范围为 </a:t>
            </a:r>
            <a:r>
              <a:rPr lang="en-US" altLang="zh-CN" b="1">
                <a:latin typeface="Times New Roman" panose="02020603050405020304" pitchFamily="18" charset="0"/>
              </a:rPr>
              <a:t>-5~+5 V</a:t>
            </a:r>
            <a:r>
              <a:rPr lang="zh-CN" altLang="en-US" b="1">
                <a:latin typeface="Times New Roman" panose="02020603050405020304" pitchFamily="18" charset="0"/>
              </a:rPr>
              <a:t>，</a:t>
            </a:r>
            <a:r>
              <a:rPr lang="zh-CN" altLang="en-US" b="1" dirty="0">
                <a:latin typeface="Times New Roman" panose="02020603050405020304" pitchFamily="18" charset="0"/>
              </a:rPr>
              <a:t>为了满足</a:t>
            </a:r>
            <a:r>
              <a:rPr lang="en-US" altLang="zh-CN" b="1">
                <a:latin typeface="Times New Roman" panose="02020603050405020304" pitchFamily="18" charset="0"/>
              </a:rPr>
              <a:t>A/D</a:t>
            </a:r>
            <a:r>
              <a:rPr lang="zh-CN" altLang="en-US" b="1" dirty="0">
                <a:latin typeface="Times New Roman" panose="02020603050405020304" pitchFamily="18" charset="0"/>
              </a:rPr>
              <a:t>输入的要求，应采用运放加法电路使输出模拟量在 </a:t>
            </a:r>
            <a:r>
              <a:rPr lang="en-US" altLang="zh-CN" b="1">
                <a:latin typeface="Times New Roman" panose="02020603050405020304" pitchFamily="18" charset="0"/>
              </a:rPr>
              <a:t>0~10 V</a:t>
            </a:r>
            <a:r>
              <a:rPr lang="zh-CN" altLang="en-US" b="1" dirty="0">
                <a:latin typeface="Times New Roman" panose="02020603050405020304" pitchFamily="18" charset="0"/>
              </a:rPr>
              <a:t>范围内变</a:t>
            </a:r>
            <a:r>
              <a:rPr lang="zh-CN" altLang="en-US" b="1" dirty="0">
                <a:latin typeface="Times New Roman" panose="02020603050405020304" pitchFamily="18" charset="0"/>
              </a:rPr>
              <a:t>化。对微弱的模拟信号常常要经过运放放大后再输入</a:t>
            </a:r>
            <a:r>
              <a:rPr lang="en-US" altLang="zh-CN" b="1">
                <a:latin typeface="Times New Roman" panose="02020603050405020304" pitchFamily="18" charset="0"/>
              </a:rPr>
              <a:t>A/D</a:t>
            </a:r>
            <a:r>
              <a:rPr lang="zh-CN" altLang="en-US" b="1" dirty="0">
                <a:latin typeface="Times New Roman" panose="02020603050405020304" pitchFamily="18" charset="0"/>
              </a:rPr>
              <a:t>转换器。</a:t>
            </a:r>
            <a:endParaRPr lang="zh-CN" altLang="en-US" b="1">
              <a:latin typeface="Times New Roman" panose="02020603050405020304" pitchFamily="18" charset="0"/>
            </a:endParaRPr>
          </a:p>
        </p:txBody>
      </p:sp>
    </p:spTree>
  </p:cSld>
  <p:clrMapOvr>
    <a:masterClrMapping/>
  </p:clrMapOvr>
  <p:transition>
    <p:blinds dir="vert"/>
  </p:transition>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27682" name="文本框 327681"/>
          <p:cNvSpPr txBox="1"/>
          <p:nvPr/>
        </p:nvSpPr>
        <p:spPr>
          <a:xfrm>
            <a:off x="685800" y="838200"/>
            <a:ext cx="7848600" cy="5283200"/>
          </a:xfrm>
          <a:prstGeom prst="rect">
            <a:avLst/>
          </a:prstGeom>
          <a:noFill/>
          <a:ln w="9525">
            <a:noFill/>
          </a:ln>
        </p:spPr>
        <p:txBody>
          <a:bodyPr>
            <a:spAutoFit/>
          </a:bodyPr>
          <a:p>
            <a:pPr algn="just">
              <a:lnSpc>
                <a:spcPct val="165000"/>
              </a:lnSpc>
              <a:spcBef>
                <a:spcPct val="50000"/>
              </a:spcBef>
            </a:pPr>
            <a:r>
              <a:rPr lang="en-US" altLang="zh-CN" dirty="0">
                <a:latin typeface="Times New Roman" panose="02020603050405020304" pitchFamily="18" charset="0"/>
              </a:rPr>
              <a:t>        </a:t>
            </a:r>
            <a:r>
              <a:rPr lang="en-US" altLang="zh-CN" b="1">
                <a:latin typeface="Times New Roman" panose="02020603050405020304" pitchFamily="18" charset="0"/>
              </a:rPr>
              <a:t>2) </a:t>
            </a:r>
            <a:r>
              <a:rPr lang="zh-CN" altLang="en-US" b="1" dirty="0">
                <a:latin typeface="Times New Roman" panose="02020603050405020304" pitchFamily="18" charset="0"/>
              </a:rPr>
              <a:t>采样频率</a:t>
            </a:r>
            <a:endParaRPr lang="zh-CN" altLang="en-US" b="1" dirty="0">
              <a:latin typeface="Times New Roman" panose="02020603050405020304" pitchFamily="18" charset="0"/>
            </a:endParaRPr>
          </a:p>
          <a:p>
            <a:pPr algn="just">
              <a:lnSpc>
                <a:spcPct val="165000"/>
              </a:lnSpc>
              <a:spcBef>
                <a:spcPct val="50000"/>
              </a:spcBef>
            </a:pPr>
            <a:r>
              <a:rPr lang="zh-CN" altLang="en-US" b="1" dirty="0">
                <a:latin typeface="Times New Roman" panose="02020603050405020304" pitchFamily="18" charset="0"/>
              </a:rPr>
              <a:t>        模拟信号转换成数字信号必须经过采样保持电路。为了不失真地采集模拟信号，要求</a:t>
            </a:r>
            <a:r>
              <a:rPr lang="en-US" altLang="zh-CN" b="1">
                <a:latin typeface="Times New Roman" panose="02020603050405020304" pitchFamily="18" charset="0"/>
              </a:rPr>
              <a:t>A/D</a:t>
            </a:r>
            <a:r>
              <a:rPr lang="zh-CN" altLang="en-US" b="1" dirty="0">
                <a:latin typeface="Times New Roman" panose="02020603050405020304" pitchFamily="18" charset="0"/>
              </a:rPr>
              <a:t>的采样频率最低为 </a:t>
            </a:r>
            <a:r>
              <a:rPr lang="en-US" altLang="zh-CN" b="1">
                <a:latin typeface="Times New Roman" panose="02020603050405020304" pitchFamily="18" charset="0"/>
              </a:rPr>
              <a:t>2 </a:t>
            </a:r>
            <a:r>
              <a:rPr lang="zh-CN" altLang="en-US" b="1" dirty="0">
                <a:latin typeface="Times New Roman" panose="02020603050405020304" pitchFamily="18" charset="0"/>
              </a:rPr>
              <a:t>倍的信号频率。在实际应用中，为了保证信号采集质量，选择</a:t>
            </a:r>
            <a:r>
              <a:rPr lang="en-US" altLang="zh-CN" b="1">
                <a:latin typeface="Times New Roman" panose="02020603050405020304" pitchFamily="18" charset="0"/>
              </a:rPr>
              <a:t>A/D</a:t>
            </a:r>
            <a:r>
              <a:rPr lang="zh-CN" altLang="en-US" b="1" dirty="0">
                <a:latin typeface="Times New Roman" panose="02020603050405020304" pitchFamily="18" charset="0"/>
              </a:rPr>
              <a:t>的采样频率通常为信号频率的 </a:t>
            </a:r>
            <a:r>
              <a:rPr lang="en-US" altLang="zh-CN" b="1">
                <a:latin typeface="Times New Roman" panose="02020603050405020304" pitchFamily="18" charset="0"/>
              </a:rPr>
              <a:t>3~4 </a:t>
            </a:r>
            <a:r>
              <a:rPr lang="zh-CN" altLang="en-US" b="1" dirty="0">
                <a:latin typeface="Times New Roman" panose="02020603050405020304" pitchFamily="18" charset="0"/>
              </a:rPr>
              <a:t>倍，工程上有时取 </a:t>
            </a:r>
            <a:r>
              <a:rPr lang="en-US" altLang="zh-CN" b="1">
                <a:latin typeface="Times New Roman" panose="02020603050405020304" pitchFamily="18" charset="0"/>
              </a:rPr>
              <a:t>10 </a:t>
            </a:r>
            <a:r>
              <a:rPr lang="zh-CN" altLang="en-US" b="1" dirty="0">
                <a:latin typeface="Times New Roman" panose="02020603050405020304" pitchFamily="18" charset="0"/>
              </a:rPr>
              <a:t>倍。</a:t>
            </a:r>
            <a:endParaRPr lang="zh-CN" altLang="en-US" b="1" dirty="0">
              <a:latin typeface="Times New Roman" panose="02020603050405020304" pitchFamily="18" charset="0"/>
            </a:endParaRPr>
          </a:p>
          <a:p>
            <a:pPr algn="just">
              <a:lnSpc>
                <a:spcPct val="165000"/>
              </a:lnSpc>
              <a:spcBef>
                <a:spcPct val="50000"/>
              </a:spcBef>
            </a:pPr>
            <a:r>
              <a:rPr lang="zh-CN" altLang="en-US" b="1" dirty="0">
                <a:latin typeface="Times New Roman" panose="02020603050405020304" pitchFamily="18" charset="0"/>
              </a:rPr>
              <a:t>        常用的</a:t>
            </a:r>
            <a:r>
              <a:rPr lang="en-US" altLang="zh-CN" b="1">
                <a:latin typeface="Times New Roman" panose="02020603050405020304" pitchFamily="18" charset="0"/>
              </a:rPr>
              <a:t>A/D</a:t>
            </a:r>
            <a:r>
              <a:rPr lang="zh-CN" altLang="en-US" b="1" dirty="0">
                <a:latin typeface="Times New Roman" panose="02020603050405020304" pitchFamily="18" charset="0"/>
              </a:rPr>
              <a:t>器件</a:t>
            </a:r>
            <a:r>
              <a:rPr lang="en-US" altLang="zh-CN" b="1">
                <a:latin typeface="Times New Roman" panose="02020603050405020304" pitchFamily="18" charset="0"/>
              </a:rPr>
              <a:t>ADC0809</a:t>
            </a:r>
            <a:r>
              <a:rPr lang="zh-CN" altLang="en-US" b="1" dirty="0">
                <a:latin typeface="Times New Roman" panose="02020603050405020304" pitchFamily="18" charset="0"/>
              </a:rPr>
              <a:t>的最高采样频率</a:t>
            </a:r>
            <a:r>
              <a:rPr lang="en-US" altLang="zh-CN" b="1" i="1" err="1">
                <a:latin typeface="Times New Roman" panose="02020603050405020304" pitchFamily="18" charset="0"/>
              </a:rPr>
              <a:t>f</a:t>
            </a:r>
            <a:r>
              <a:rPr lang="en-US" altLang="zh-CN" b="1" baseline="-25000" err="1">
                <a:latin typeface="Times New Roman" panose="02020603050405020304" pitchFamily="18" charset="0"/>
              </a:rPr>
              <a:t>max</a:t>
            </a:r>
            <a:r>
              <a:rPr lang="en-US" altLang="zh-CN" b="1">
                <a:latin typeface="Times New Roman" panose="02020603050405020304" pitchFamily="18" charset="0"/>
              </a:rPr>
              <a:t>=10kHz</a:t>
            </a:r>
            <a:r>
              <a:rPr lang="zh-CN" altLang="en-US" b="1">
                <a:latin typeface="Times New Roman" panose="02020603050405020304" pitchFamily="18" charset="0"/>
              </a:rPr>
              <a:t>。 </a:t>
            </a:r>
            <a:endParaRPr lang="zh-CN" altLang="en-US" b="1">
              <a:latin typeface="Times New Roman" panose="02020603050405020304" pitchFamily="18" charset="0"/>
            </a:endParaRPr>
          </a:p>
        </p:txBody>
      </p:sp>
    </p:spTree>
  </p:cSld>
  <p:clrMapOvr>
    <a:masterClrMapping/>
  </p:clrMapOvr>
  <p:transition>
    <p:blinds dir="vert"/>
  </p:transition>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28706" name="文本框 328705"/>
          <p:cNvSpPr txBox="1"/>
          <p:nvPr/>
        </p:nvSpPr>
        <p:spPr>
          <a:xfrm>
            <a:off x="685800" y="609600"/>
            <a:ext cx="7848600" cy="2319338"/>
          </a:xfrm>
          <a:prstGeom prst="rect">
            <a:avLst/>
          </a:prstGeom>
          <a:noFill/>
          <a:ln w="9525">
            <a:noFill/>
          </a:ln>
        </p:spPr>
        <p:txBody>
          <a:bodyPr>
            <a:spAutoFit/>
          </a:bodyPr>
          <a:p>
            <a:pPr algn="just">
              <a:lnSpc>
                <a:spcPct val="140000"/>
              </a:lnSpc>
              <a:spcBef>
                <a:spcPct val="50000"/>
              </a:spcBef>
            </a:pPr>
            <a:r>
              <a:rPr lang="en-US" altLang="zh-CN" dirty="0">
                <a:latin typeface="Times New Roman" panose="02020603050405020304" pitchFamily="18" charset="0"/>
              </a:rPr>
              <a:t>       </a:t>
            </a:r>
            <a:r>
              <a:rPr lang="en-US" altLang="zh-CN" b="1">
                <a:latin typeface="Times New Roman" panose="02020603050405020304" pitchFamily="18" charset="0"/>
              </a:rPr>
              <a:t>3) </a:t>
            </a:r>
            <a:r>
              <a:rPr lang="zh-CN" altLang="en-US" b="1" dirty="0">
                <a:latin typeface="Times New Roman" panose="02020603050405020304" pitchFamily="18" charset="0"/>
              </a:rPr>
              <a:t>分辨率</a:t>
            </a:r>
            <a:endParaRPr lang="zh-CN" altLang="en-US" b="1" dirty="0">
              <a:latin typeface="Times New Roman" panose="02020603050405020304" pitchFamily="18" charset="0"/>
            </a:endParaRPr>
          </a:p>
          <a:p>
            <a:pPr algn="just">
              <a:lnSpc>
                <a:spcPct val="140000"/>
              </a:lnSpc>
              <a:spcBef>
                <a:spcPct val="50000"/>
              </a:spcBef>
            </a:pPr>
            <a:r>
              <a:rPr lang="zh-CN" altLang="en-US" b="1" dirty="0">
                <a:latin typeface="Times New Roman" panose="02020603050405020304" pitchFamily="18" charset="0"/>
              </a:rPr>
              <a:t>  </a:t>
            </a:r>
            <a:r>
              <a:rPr lang="en-US" altLang="zh-CN" b="1">
                <a:latin typeface="Times New Roman" panose="02020603050405020304" pitchFamily="18" charset="0"/>
              </a:rPr>
              <a:t>A/D</a:t>
            </a:r>
            <a:r>
              <a:rPr lang="zh-CN" altLang="en-US" b="1" dirty="0">
                <a:latin typeface="Times New Roman" panose="02020603050405020304" pitchFamily="18" charset="0"/>
              </a:rPr>
              <a:t>的分辨率一般由</a:t>
            </a:r>
            <a:r>
              <a:rPr lang="en-US" altLang="zh-CN" b="1">
                <a:latin typeface="Times New Roman" panose="02020603050405020304" pitchFamily="18" charset="0"/>
              </a:rPr>
              <a:t>A/D</a:t>
            </a:r>
            <a:r>
              <a:rPr lang="zh-CN" altLang="en-US" b="1" dirty="0">
                <a:latin typeface="Times New Roman" panose="02020603050405020304" pitchFamily="18" charset="0"/>
              </a:rPr>
              <a:t>的位数和输入电压范围来决定。如两个输入电压范围都为 </a:t>
            </a:r>
            <a:r>
              <a:rPr lang="en-US" altLang="zh-CN" b="1">
                <a:latin typeface="Times New Roman" panose="02020603050405020304" pitchFamily="18" charset="0"/>
              </a:rPr>
              <a:t>0~10 V</a:t>
            </a:r>
            <a:r>
              <a:rPr lang="zh-CN" altLang="en-US" b="1">
                <a:latin typeface="Times New Roman" panose="02020603050405020304" pitchFamily="18" charset="0"/>
              </a:rPr>
              <a:t>，</a:t>
            </a:r>
            <a:r>
              <a:rPr lang="zh-CN" altLang="en-US" b="1" dirty="0">
                <a:latin typeface="Times New Roman" panose="02020603050405020304" pitchFamily="18" charset="0"/>
              </a:rPr>
              <a:t>转换位数一个为 </a:t>
            </a:r>
            <a:r>
              <a:rPr lang="en-US" altLang="zh-CN" b="1">
                <a:latin typeface="Times New Roman" panose="02020603050405020304" pitchFamily="18" charset="0"/>
              </a:rPr>
              <a:t>8 </a:t>
            </a:r>
            <a:r>
              <a:rPr lang="zh-CN" altLang="en-US" b="1" dirty="0">
                <a:latin typeface="Times New Roman" panose="02020603050405020304" pitchFamily="18" charset="0"/>
              </a:rPr>
              <a:t>位， 另一个为 </a:t>
            </a:r>
            <a:r>
              <a:rPr lang="en-US" altLang="zh-CN" b="1">
                <a:latin typeface="Times New Roman" panose="02020603050405020304" pitchFamily="18" charset="0"/>
              </a:rPr>
              <a:t>10 </a:t>
            </a:r>
            <a:r>
              <a:rPr lang="zh-CN" altLang="en-US" b="1" dirty="0">
                <a:latin typeface="Times New Roman" panose="02020603050405020304" pitchFamily="18" charset="0"/>
              </a:rPr>
              <a:t>位，则分辨率分别为 </a:t>
            </a:r>
            <a:endParaRPr lang="zh-CN" altLang="en-US" b="1">
              <a:latin typeface="Times New Roman" panose="02020603050405020304" pitchFamily="18" charset="0"/>
            </a:endParaRPr>
          </a:p>
        </p:txBody>
      </p:sp>
      <p:graphicFrame>
        <p:nvGraphicFramePr>
          <p:cNvPr id="328707" name="对象 328706"/>
          <p:cNvGraphicFramePr/>
          <p:nvPr/>
        </p:nvGraphicFramePr>
        <p:xfrm>
          <a:off x="2895600" y="3124200"/>
          <a:ext cx="3810000" cy="1919288"/>
        </p:xfrm>
        <a:graphic>
          <a:graphicData uri="http://schemas.openxmlformats.org/presentationml/2006/ole">
            <mc:AlternateContent xmlns:mc="http://schemas.openxmlformats.org/markup-compatibility/2006">
              <mc:Choice xmlns:v="urn:schemas-microsoft-com:vml" Requires="v">
                <p:oleObj spid="_x0000_s3131" name="" r:id="rId1" imgW="1765300" imgH="889000" progId="Equation.3">
                  <p:embed/>
                </p:oleObj>
              </mc:Choice>
              <mc:Fallback>
                <p:oleObj name="" r:id="rId1" imgW="1765300" imgH="889000" progId="Equation.3">
                  <p:embed/>
                  <p:pic>
                    <p:nvPicPr>
                      <p:cNvPr id="0" name="图片 3130"/>
                      <p:cNvPicPr/>
                      <p:nvPr/>
                    </p:nvPicPr>
                    <p:blipFill>
                      <a:blip r:embed="rId2"/>
                      <a:stretch>
                        <a:fillRect/>
                      </a:stretch>
                    </p:blipFill>
                    <p:spPr>
                      <a:xfrm>
                        <a:off x="2895600" y="3124200"/>
                        <a:ext cx="3810000" cy="1919288"/>
                      </a:xfrm>
                      <a:prstGeom prst="rect">
                        <a:avLst/>
                      </a:prstGeom>
                      <a:noFill/>
                      <a:ln w="38100">
                        <a:noFill/>
                        <a:miter/>
                      </a:ln>
                    </p:spPr>
                  </p:pic>
                </p:oleObj>
              </mc:Fallback>
            </mc:AlternateContent>
          </a:graphicData>
        </a:graphic>
      </p:graphicFrame>
      <p:sp>
        <p:nvSpPr>
          <p:cNvPr id="328708" name="文本框 328707"/>
          <p:cNvSpPr txBox="1"/>
          <p:nvPr/>
        </p:nvSpPr>
        <p:spPr>
          <a:xfrm>
            <a:off x="685800" y="5181600"/>
            <a:ext cx="7924800" cy="1041400"/>
          </a:xfrm>
          <a:prstGeom prst="rect">
            <a:avLst/>
          </a:prstGeom>
          <a:noFill/>
          <a:ln w="9525">
            <a:noFill/>
          </a:ln>
        </p:spPr>
        <p:txBody>
          <a:bodyPr>
            <a:spAutoFit/>
          </a:bodyPr>
          <a:p>
            <a:pPr>
              <a:lnSpc>
                <a:spcPct val="130000"/>
              </a:lnSpc>
              <a:spcBef>
                <a:spcPct val="50000"/>
              </a:spcBef>
            </a:pPr>
            <a:r>
              <a:rPr lang="en-US" altLang="zh-CN" dirty="0">
                <a:latin typeface="Times New Roman" panose="02020603050405020304" pitchFamily="18" charset="0"/>
              </a:rPr>
              <a:t>        </a:t>
            </a:r>
            <a:r>
              <a:rPr lang="zh-CN" altLang="en-US" b="1" dirty="0">
                <a:latin typeface="Times New Roman" panose="02020603050405020304" pitchFamily="18" charset="0"/>
              </a:rPr>
              <a:t>由此可见，如何选择</a:t>
            </a:r>
            <a:r>
              <a:rPr lang="en-US" altLang="zh-CN" b="1">
                <a:latin typeface="Times New Roman" panose="02020603050405020304" pitchFamily="18" charset="0"/>
              </a:rPr>
              <a:t>A/D</a:t>
            </a:r>
            <a:r>
              <a:rPr lang="zh-CN" altLang="en-US" b="1" dirty="0">
                <a:latin typeface="Times New Roman" panose="02020603050405020304" pitchFamily="18" charset="0"/>
              </a:rPr>
              <a:t>的位数，以便满足分辨率的要求，应从这两方面来考虑。 </a:t>
            </a:r>
            <a:endParaRPr lang="zh-CN" altLang="en-US" b="1">
              <a:latin typeface="Times New Roman" panose="02020603050405020304" pitchFamily="18" charset="0"/>
            </a:endParaRPr>
          </a:p>
        </p:txBody>
      </p:sp>
    </p:spTree>
  </p:cSld>
  <p:clrMapOvr>
    <a:masterClrMapping/>
  </p:clrMapOvr>
  <p:transition>
    <p:blinds dir="vert"/>
  </p:transition>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29730" name="文本框 329729"/>
          <p:cNvSpPr txBox="1"/>
          <p:nvPr/>
        </p:nvSpPr>
        <p:spPr>
          <a:xfrm>
            <a:off x="1295400" y="1143000"/>
            <a:ext cx="3914775" cy="457200"/>
          </a:xfrm>
          <a:prstGeom prst="rect">
            <a:avLst/>
          </a:prstGeom>
          <a:noFill/>
          <a:ln w="9525">
            <a:noFill/>
          </a:ln>
        </p:spPr>
        <p:txBody>
          <a:bodyPr wrap="none" anchor="t" anchorCtr="0">
            <a:spAutoFit/>
          </a:bodyPr>
          <a:p>
            <a:r>
              <a:rPr lang="en-US" altLang="zh-CN" b="1">
                <a:latin typeface="Times New Roman" panose="02020603050405020304" pitchFamily="18" charset="0"/>
              </a:rPr>
              <a:t>2. </a:t>
            </a:r>
            <a:r>
              <a:rPr lang="zh-CN" altLang="en-US" b="1" dirty="0">
                <a:latin typeface="Times New Roman" panose="02020603050405020304" pitchFamily="18" charset="0"/>
              </a:rPr>
              <a:t>数据采集系统电路介绍 </a:t>
            </a:r>
            <a:endParaRPr lang="zh-CN" altLang="en-US" b="1">
              <a:latin typeface="Times New Roman" panose="02020603050405020304" pitchFamily="18" charset="0"/>
            </a:endParaRPr>
          </a:p>
        </p:txBody>
      </p:sp>
      <p:sp>
        <p:nvSpPr>
          <p:cNvPr id="329731" name="文本框 329730"/>
          <p:cNvSpPr txBox="1"/>
          <p:nvPr/>
        </p:nvSpPr>
        <p:spPr>
          <a:xfrm>
            <a:off x="609600" y="1981200"/>
            <a:ext cx="8077200" cy="3560763"/>
          </a:xfrm>
          <a:prstGeom prst="rect">
            <a:avLst/>
          </a:prstGeom>
          <a:noFill/>
          <a:ln w="9525">
            <a:noFill/>
          </a:ln>
        </p:spPr>
        <p:txBody>
          <a:bodyPr>
            <a:spAutoFit/>
          </a:bodyPr>
          <a:p>
            <a:pPr algn="just">
              <a:lnSpc>
                <a:spcPct val="150000"/>
              </a:lnSpc>
              <a:spcBef>
                <a:spcPct val="50000"/>
              </a:spcBef>
            </a:pPr>
            <a:r>
              <a:rPr lang="en-US" altLang="zh-CN" dirty="0">
                <a:latin typeface="Times New Roman" panose="02020603050405020304" pitchFamily="18" charset="0"/>
              </a:rPr>
              <a:t>        </a:t>
            </a:r>
            <a:r>
              <a:rPr lang="en-US" altLang="zh-CN" b="1">
                <a:latin typeface="Times New Roman" panose="02020603050405020304" pitchFamily="18" charset="0"/>
              </a:rPr>
              <a:t>1) </a:t>
            </a:r>
            <a:r>
              <a:rPr lang="zh-CN" altLang="en-US" b="1" dirty="0">
                <a:latin typeface="Times New Roman" panose="02020603050405020304" pitchFamily="18" charset="0"/>
              </a:rPr>
              <a:t>数据采集、存储、显示电路</a:t>
            </a:r>
            <a:endParaRPr lang="zh-CN" altLang="en-US" b="1" dirty="0">
              <a:latin typeface="Times New Roman" panose="02020603050405020304" pitchFamily="18" charset="0"/>
            </a:endParaRPr>
          </a:p>
          <a:p>
            <a:pPr algn="just">
              <a:lnSpc>
                <a:spcPct val="150000"/>
              </a:lnSpc>
              <a:spcBef>
                <a:spcPct val="50000"/>
              </a:spcBef>
            </a:pPr>
            <a:r>
              <a:rPr lang="zh-CN" altLang="en-US" b="1" dirty="0">
                <a:latin typeface="Times New Roman" panose="02020603050405020304" pitchFamily="18" charset="0"/>
              </a:rPr>
              <a:t>        数据采集实现电路如图 </a:t>
            </a:r>
            <a:r>
              <a:rPr lang="en-US" altLang="zh-CN" b="1">
                <a:latin typeface="Times New Roman" panose="02020603050405020304" pitchFamily="18" charset="0"/>
              </a:rPr>
              <a:t>11-33 </a:t>
            </a:r>
            <a:r>
              <a:rPr lang="zh-CN" altLang="en-US" b="1" dirty="0">
                <a:latin typeface="Times New Roman" panose="02020603050405020304" pitchFamily="18" charset="0"/>
              </a:rPr>
              <a:t>所示。</a:t>
            </a:r>
            <a:r>
              <a:rPr lang="en-US" altLang="zh-CN" b="1">
                <a:latin typeface="Times New Roman" panose="02020603050405020304" pitchFamily="18" charset="0"/>
              </a:rPr>
              <a:t>ADC0809</a:t>
            </a:r>
            <a:r>
              <a:rPr lang="zh-CN" altLang="en-US" b="1" dirty="0">
                <a:latin typeface="Times New Roman" panose="02020603050405020304" pitchFamily="18" charset="0"/>
              </a:rPr>
              <a:t>是一种常用的 </a:t>
            </a:r>
            <a:r>
              <a:rPr lang="en-US" altLang="zh-CN" b="1">
                <a:latin typeface="Times New Roman" panose="02020603050405020304" pitchFamily="18" charset="0"/>
              </a:rPr>
              <a:t>8 </a:t>
            </a:r>
            <a:r>
              <a:rPr lang="zh-CN" altLang="en-US" b="1" dirty="0">
                <a:latin typeface="Times New Roman" panose="02020603050405020304" pitchFamily="18" charset="0"/>
              </a:rPr>
              <a:t>路输入 </a:t>
            </a:r>
            <a:r>
              <a:rPr lang="en-US" altLang="zh-CN" b="1">
                <a:latin typeface="Times New Roman" panose="02020603050405020304" pitchFamily="18" charset="0"/>
              </a:rPr>
              <a:t>8 </a:t>
            </a:r>
            <a:r>
              <a:rPr lang="zh-CN" altLang="en-US" b="1" dirty="0">
                <a:latin typeface="Times New Roman" panose="02020603050405020304" pitchFamily="18" charset="0"/>
              </a:rPr>
              <a:t>位逐次比较</a:t>
            </a:r>
            <a:r>
              <a:rPr lang="en-US" altLang="zh-CN" b="1">
                <a:latin typeface="Times New Roman" panose="02020603050405020304" pitchFamily="18" charset="0"/>
              </a:rPr>
              <a:t>A/D</a:t>
            </a:r>
            <a:r>
              <a:rPr lang="zh-CN" altLang="en-US" b="1" dirty="0">
                <a:latin typeface="Times New Roman" panose="02020603050405020304" pitchFamily="18" charset="0"/>
              </a:rPr>
              <a:t>转换器，其内部结构和详细工作时序请参阅 </a:t>
            </a:r>
            <a:r>
              <a:rPr lang="en-US" altLang="zh-CN" b="1" dirty="0">
                <a:latin typeface="Times New Roman" panose="02020603050405020304" pitchFamily="18" charset="0"/>
              </a:rPr>
              <a:t>11.2</a:t>
            </a:r>
            <a:r>
              <a:rPr lang="en-US" altLang="zh-CN" b="1">
                <a:latin typeface="Times New Roman" panose="02020603050405020304" pitchFamily="18" charset="0"/>
              </a:rPr>
              <a:t> </a:t>
            </a:r>
            <a:r>
              <a:rPr lang="zh-CN" altLang="en-US" b="1" dirty="0">
                <a:latin typeface="Times New Roman" panose="02020603050405020304" pitchFamily="18" charset="0"/>
              </a:rPr>
              <a:t>节。</a:t>
            </a:r>
            <a:r>
              <a:rPr lang="en-US" altLang="zh-CN" b="1">
                <a:latin typeface="Times New Roman" panose="02020603050405020304" pitchFamily="18" charset="0"/>
              </a:rPr>
              <a:t>ADC0809</a:t>
            </a:r>
            <a:r>
              <a:rPr lang="zh-CN" altLang="en-US" b="1" dirty="0">
                <a:latin typeface="Times New Roman" panose="02020603050405020304" pitchFamily="18" charset="0"/>
              </a:rPr>
              <a:t>的基本参数为：电源电压</a:t>
            </a:r>
            <a:r>
              <a:rPr lang="en-US" altLang="zh-CN" b="1" i="1">
                <a:latin typeface="Times New Roman" panose="02020603050405020304" pitchFamily="18" charset="0"/>
              </a:rPr>
              <a:t>U</a:t>
            </a:r>
            <a:r>
              <a:rPr lang="en-US" altLang="zh-CN" b="1" baseline="-25000">
                <a:latin typeface="Times New Roman" panose="02020603050405020304" pitchFamily="18" charset="0"/>
              </a:rPr>
              <a:t>CC</a:t>
            </a:r>
            <a:r>
              <a:rPr lang="en-US" altLang="zh-CN" b="1">
                <a:latin typeface="Times New Roman" panose="02020603050405020304" pitchFamily="18" charset="0"/>
              </a:rPr>
              <a:t>=+5V</a:t>
            </a:r>
            <a:r>
              <a:rPr lang="zh-CN" altLang="en-US" b="1">
                <a:latin typeface="Times New Roman" panose="02020603050405020304" pitchFamily="18" charset="0"/>
              </a:rPr>
              <a:t>，</a:t>
            </a:r>
            <a:r>
              <a:rPr lang="zh-CN" altLang="en-US" b="1" dirty="0">
                <a:latin typeface="Times New Roman" panose="02020603050405020304" pitchFamily="18" charset="0"/>
              </a:rPr>
              <a:t>输入电压范围为 </a:t>
            </a:r>
            <a:r>
              <a:rPr lang="en-US" altLang="zh-CN" b="1">
                <a:latin typeface="Times New Roman" panose="02020603050405020304" pitchFamily="18" charset="0"/>
              </a:rPr>
              <a:t>0~5V</a:t>
            </a:r>
            <a:r>
              <a:rPr lang="zh-CN" altLang="en-US" b="1">
                <a:latin typeface="Times New Roman" panose="02020603050405020304" pitchFamily="18" charset="0"/>
              </a:rPr>
              <a:t>，</a:t>
            </a:r>
            <a:r>
              <a:rPr lang="zh-CN" altLang="en-US" b="1" dirty="0">
                <a:latin typeface="Times New Roman" panose="02020603050405020304" pitchFamily="18" charset="0"/>
              </a:rPr>
              <a:t>时钟频率</a:t>
            </a:r>
            <a:r>
              <a:rPr lang="en-US" altLang="zh-CN" b="1" i="1">
                <a:latin typeface="Times New Roman" panose="02020603050405020304" pitchFamily="18" charset="0"/>
              </a:rPr>
              <a:t>f</a:t>
            </a:r>
            <a:r>
              <a:rPr lang="en-US" altLang="zh-CN" b="1">
                <a:latin typeface="Times New Roman" panose="02020603050405020304" pitchFamily="18" charset="0"/>
              </a:rPr>
              <a:t>≤640kHz</a:t>
            </a:r>
            <a:r>
              <a:rPr lang="zh-CN" altLang="en-US" b="1">
                <a:latin typeface="Times New Roman" panose="02020603050405020304" pitchFamily="18" charset="0"/>
              </a:rPr>
              <a:t>， </a:t>
            </a:r>
            <a:r>
              <a:rPr lang="zh-CN" altLang="en-US" b="1" dirty="0">
                <a:latin typeface="Times New Roman" panose="02020603050405020304" pitchFamily="18" charset="0"/>
              </a:rPr>
              <a:t>线性误差为</a:t>
            </a:r>
            <a:r>
              <a:rPr lang="en-US" altLang="zh-CN" b="1">
                <a:latin typeface="Times New Roman" panose="02020603050405020304" pitchFamily="18" charset="0"/>
              </a:rPr>
              <a:t>±1LSB</a:t>
            </a:r>
            <a:r>
              <a:rPr lang="zh-CN" altLang="en-US" b="1">
                <a:latin typeface="Times New Roman" panose="02020603050405020304" pitchFamily="18" charset="0"/>
              </a:rPr>
              <a:t>，</a:t>
            </a:r>
            <a:r>
              <a:rPr lang="zh-CN" altLang="en-US" b="1" dirty="0">
                <a:latin typeface="Times New Roman" panose="02020603050405020304" pitchFamily="18" charset="0"/>
              </a:rPr>
              <a:t>转换时间</a:t>
            </a:r>
            <a:r>
              <a:rPr lang="en-US" altLang="zh-CN" b="1" i="1" err="1">
                <a:latin typeface="Times New Roman" panose="02020603050405020304" pitchFamily="18" charset="0"/>
              </a:rPr>
              <a:t>T</a:t>
            </a:r>
            <a:r>
              <a:rPr lang="en-US" altLang="zh-CN" b="1" baseline="-25000" err="1">
                <a:latin typeface="Times New Roman" panose="02020603050405020304" pitchFamily="18" charset="0"/>
              </a:rPr>
              <a:t>c</a:t>
            </a:r>
            <a:r>
              <a:rPr lang="en-US" altLang="zh-CN" b="1">
                <a:latin typeface="Times New Roman" panose="02020603050405020304" pitchFamily="18" charset="0"/>
              </a:rPr>
              <a:t>=100</a:t>
            </a:r>
            <a:r>
              <a:rPr lang="en-US" altLang="zh-CN" b="1" i="1">
                <a:latin typeface="Times New Roman" panose="02020603050405020304" pitchFamily="18" charset="0"/>
              </a:rPr>
              <a:t>μ</a:t>
            </a:r>
            <a:r>
              <a:rPr lang="en-US" altLang="zh-CN" b="1">
                <a:latin typeface="Times New Roman" panose="02020603050405020304" pitchFamily="18" charset="0"/>
              </a:rPr>
              <a:t>s</a:t>
            </a:r>
            <a:r>
              <a:rPr lang="zh-CN" altLang="en-US" b="1">
                <a:latin typeface="Times New Roman" panose="02020603050405020304" pitchFamily="18" charset="0"/>
              </a:rPr>
              <a:t>。 </a:t>
            </a:r>
            <a:endParaRPr lang="zh-CN" altLang="en-US" b="1">
              <a:latin typeface="Times New Roman" panose="02020603050405020304" pitchFamily="18" charset="0"/>
            </a:endParaRPr>
          </a:p>
        </p:txBody>
      </p:sp>
    </p:spTree>
  </p:cSld>
  <p:clrMapOvr>
    <a:masterClrMapping/>
  </p:clrMapOvr>
  <p:transition>
    <p:blinds dir="vert"/>
  </p:transition>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330756" name="组合 330755"/>
          <p:cNvGrpSpPr/>
          <p:nvPr/>
        </p:nvGrpSpPr>
        <p:grpSpPr>
          <a:xfrm>
            <a:off x="900113" y="0"/>
            <a:ext cx="7772400" cy="6381750"/>
            <a:chOff x="567" y="0"/>
            <a:chExt cx="4896" cy="4020"/>
          </a:xfrm>
        </p:grpSpPr>
        <p:pic>
          <p:nvPicPr>
            <p:cNvPr id="330754" name="图片 330753" descr="未标题-1 拷贝"/>
            <p:cNvPicPr>
              <a:picLocks noChangeAspect="1"/>
            </p:cNvPicPr>
            <p:nvPr/>
          </p:nvPicPr>
          <p:blipFill>
            <a:blip r:embed="rId1"/>
            <a:stretch>
              <a:fillRect/>
            </a:stretch>
          </p:blipFill>
          <p:spPr>
            <a:xfrm>
              <a:off x="567" y="0"/>
              <a:ext cx="4896" cy="4020"/>
            </a:xfrm>
            <a:prstGeom prst="rect">
              <a:avLst/>
            </a:prstGeom>
            <a:noFill/>
            <a:ln w="9525">
              <a:noFill/>
            </a:ln>
          </p:spPr>
        </p:pic>
        <p:sp>
          <p:nvSpPr>
            <p:cNvPr id="330755" name="矩形 330754"/>
            <p:cNvSpPr/>
            <p:nvPr/>
          </p:nvSpPr>
          <p:spPr>
            <a:xfrm>
              <a:off x="1837" y="3838"/>
              <a:ext cx="1043" cy="92"/>
            </a:xfrm>
            <a:prstGeom prst="rect">
              <a:avLst/>
            </a:prstGeom>
            <a:solidFill>
              <a:srgbClr val="FFFFFF"/>
            </a:solidFill>
            <a:ln w="9525">
              <a:noFill/>
            </a:ln>
          </p:spPr>
          <p:txBody>
            <a:bodyPr/>
            <a:p>
              <a:endParaRPr lang="zh-CN" altLang="en-US"/>
            </a:p>
          </p:txBody>
        </p:sp>
      </p:grpSp>
      <p:sp>
        <p:nvSpPr>
          <p:cNvPr id="330757" name="矩形 330756"/>
          <p:cNvSpPr/>
          <p:nvPr/>
        </p:nvSpPr>
        <p:spPr>
          <a:xfrm>
            <a:off x="3276600" y="6453188"/>
            <a:ext cx="3382963" cy="404812"/>
          </a:xfrm>
          <a:prstGeom prst="rect">
            <a:avLst/>
          </a:prstGeom>
          <a:noFill/>
          <a:ln w="9525">
            <a:noFill/>
          </a:ln>
        </p:spPr>
        <p:txBody>
          <a:bodyPr wrap="none" anchor="ctr" anchorCtr="0"/>
          <a:p>
            <a:pPr algn="ctr"/>
            <a:r>
              <a:rPr lang="zh-CN" altLang="en-US" dirty="0">
                <a:latin typeface="Times New Roman" panose="02020603050405020304" pitchFamily="18" charset="0"/>
              </a:rPr>
              <a:t>图</a:t>
            </a:r>
            <a:r>
              <a:rPr lang="en-US" altLang="zh-CN">
                <a:latin typeface="Times New Roman" panose="02020603050405020304" pitchFamily="18" charset="0"/>
              </a:rPr>
              <a:t>11-33 </a:t>
            </a:r>
            <a:r>
              <a:rPr lang="zh-CN" altLang="en-US" dirty="0">
                <a:latin typeface="Times New Roman" panose="02020603050405020304" pitchFamily="18" charset="0"/>
              </a:rPr>
              <a:t>数据采集系统</a:t>
            </a:r>
            <a:endParaRPr lang="zh-CN" altLang="en-US">
              <a:latin typeface="Times New Roman" panose="02020603050405020304" pitchFamily="18" charset="0"/>
            </a:endParaRPr>
          </a:p>
        </p:txBody>
      </p:sp>
    </p:spTree>
  </p:cSld>
  <p:clrMapOvr>
    <a:masterClrMapping/>
  </p:clrMapOvr>
  <p:transition>
    <p:blinds dir="vert"/>
  </p:transition>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31778" name="文本框 331777"/>
          <p:cNvSpPr txBox="1"/>
          <p:nvPr/>
        </p:nvSpPr>
        <p:spPr>
          <a:xfrm>
            <a:off x="762000" y="838200"/>
            <a:ext cx="7772400" cy="5021263"/>
          </a:xfrm>
          <a:prstGeom prst="rect">
            <a:avLst/>
          </a:prstGeom>
          <a:noFill/>
          <a:ln w="9525">
            <a:noFill/>
          </a:ln>
        </p:spPr>
        <p:txBody>
          <a:bodyPr>
            <a:spAutoFit/>
          </a:bodyPr>
          <a:p>
            <a:pPr algn="just">
              <a:lnSpc>
                <a:spcPct val="150000"/>
              </a:lnSpc>
              <a:spcBef>
                <a:spcPct val="50000"/>
              </a:spcBef>
            </a:pPr>
            <a:r>
              <a:rPr lang="en-US" altLang="zh-CN" dirty="0">
                <a:latin typeface="Times New Roman" panose="02020603050405020304" pitchFamily="18" charset="0"/>
              </a:rPr>
              <a:t>        </a:t>
            </a:r>
            <a:r>
              <a:rPr lang="zh-CN" altLang="en-US" b="1" dirty="0">
                <a:latin typeface="Times New Roman" panose="02020603050405020304" pitchFamily="18" charset="0"/>
              </a:rPr>
              <a:t>电路工作过程如下：</a:t>
            </a:r>
            <a:endParaRPr lang="zh-CN" altLang="en-US" b="1" dirty="0">
              <a:latin typeface="Times New Roman" panose="02020603050405020304" pitchFamily="18" charset="0"/>
            </a:endParaRPr>
          </a:p>
          <a:p>
            <a:pPr algn="just">
              <a:lnSpc>
                <a:spcPct val="150000"/>
              </a:lnSpc>
              <a:spcBef>
                <a:spcPct val="50000"/>
              </a:spcBef>
            </a:pPr>
            <a:r>
              <a:rPr lang="zh-CN" altLang="en-US" b="1" dirty="0">
                <a:latin typeface="Times New Roman" panose="02020603050405020304" pitchFamily="18" charset="0"/>
              </a:rPr>
              <a:t>        </a:t>
            </a:r>
            <a:r>
              <a:rPr lang="en-US" altLang="zh-CN" b="1">
                <a:latin typeface="Times New Roman" panose="02020603050405020304" pitchFamily="18" charset="0"/>
              </a:rPr>
              <a:t>(1) </a:t>
            </a:r>
            <a:r>
              <a:rPr lang="zh-CN" altLang="en-US" b="1" dirty="0">
                <a:latin typeface="Times New Roman" panose="02020603050405020304" pitchFamily="18" charset="0"/>
              </a:rPr>
              <a:t>输入放大电路</a:t>
            </a:r>
            <a:endParaRPr lang="zh-CN" altLang="en-US" b="1" dirty="0">
              <a:latin typeface="Times New Roman" panose="02020603050405020304" pitchFamily="18" charset="0"/>
            </a:endParaRPr>
          </a:p>
          <a:p>
            <a:pPr algn="just">
              <a:lnSpc>
                <a:spcPct val="150000"/>
              </a:lnSpc>
              <a:spcBef>
                <a:spcPct val="50000"/>
              </a:spcBef>
            </a:pPr>
            <a:r>
              <a:rPr lang="zh-CN" altLang="en-US" b="1" dirty="0">
                <a:latin typeface="Times New Roman" panose="02020603050405020304" pitchFamily="18" charset="0"/>
              </a:rPr>
              <a:t>        输入信号经运放</a:t>
            </a:r>
            <a:r>
              <a:rPr lang="en-US" altLang="zh-CN" b="1">
                <a:latin typeface="Times New Roman" panose="02020603050405020304" pitchFamily="18" charset="0"/>
              </a:rPr>
              <a:t>0P07</a:t>
            </a:r>
            <a:r>
              <a:rPr lang="zh-CN" altLang="en-US" b="1" dirty="0">
                <a:latin typeface="Times New Roman" panose="02020603050405020304" pitchFamily="18" charset="0"/>
              </a:rPr>
              <a:t>同相放大后送入</a:t>
            </a:r>
            <a:r>
              <a:rPr lang="en-US" altLang="zh-CN" b="1">
                <a:latin typeface="Times New Roman" panose="02020603050405020304" pitchFamily="18" charset="0"/>
              </a:rPr>
              <a:t>ADC0809</a:t>
            </a:r>
            <a:r>
              <a:rPr lang="zh-CN" altLang="en-US" b="1">
                <a:latin typeface="Times New Roman" panose="02020603050405020304" pitchFamily="18" charset="0"/>
              </a:rPr>
              <a:t>，</a:t>
            </a:r>
            <a:r>
              <a:rPr lang="zh-CN" altLang="en-US" b="1" dirty="0">
                <a:latin typeface="Times New Roman" panose="02020603050405020304" pitchFamily="18" charset="0"/>
              </a:rPr>
              <a:t>放大器的放大倍数</a:t>
            </a:r>
            <a:r>
              <a:rPr lang="en-US" altLang="zh-CN" b="1" i="1">
                <a:latin typeface="Times New Roman" panose="02020603050405020304" pitchFamily="18" charset="0"/>
              </a:rPr>
              <a:t>A</a:t>
            </a:r>
            <a:r>
              <a:rPr lang="en-US" altLang="zh-CN" b="1" baseline="-25000">
                <a:latin typeface="Times New Roman" panose="02020603050405020304" pitchFamily="18" charset="0"/>
              </a:rPr>
              <a:t>V</a:t>
            </a:r>
            <a:r>
              <a:rPr lang="en-US" altLang="zh-CN" b="1">
                <a:latin typeface="Times New Roman" panose="02020603050405020304" pitchFamily="18" charset="0"/>
              </a:rPr>
              <a:t>=(R1+RF)/R1</a:t>
            </a:r>
            <a:r>
              <a:rPr lang="zh-CN" altLang="en-US" b="1">
                <a:latin typeface="Times New Roman" panose="02020603050405020304" pitchFamily="18" charset="0"/>
              </a:rPr>
              <a:t>，</a:t>
            </a:r>
            <a:r>
              <a:rPr lang="zh-CN" altLang="en-US" b="1" dirty="0">
                <a:latin typeface="Times New Roman" panose="02020603050405020304" pitchFamily="18" charset="0"/>
              </a:rPr>
              <a:t>改变</a:t>
            </a:r>
            <a:r>
              <a:rPr lang="en-US" altLang="zh-CN" b="1">
                <a:latin typeface="Times New Roman" panose="02020603050405020304" pitchFamily="18" charset="0"/>
              </a:rPr>
              <a:t>RF</a:t>
            </a:r>
            <a:r>
              <a:rPr lang="zh-CN" altLang="en-US" b="1">
                <a:latin typeface="Times New Roman" panose="02020603050405020304" pitchFamily="18" charset="0"/>
              </a:rPr>
              <a:t>和</a:t>
            </a:r>
            <a:r>
              <a:rPr lang="en-US" altLang="zh-CN" b="1">
                <a:latin typeface="Times New Roman" panose="02020603050405020304" pitchFamily="18" charset="0"/>
              </a:rPr>
              <a:t>R1</a:t>
            </a:r>
            <a:r>
              <a:rPr lang="zh-CN" altLang="en-US" b="1" dirty="0">
                <a:latin typeface="Times New Roman" panose="02020603050405020304" pitchFamily="18" charset="0"/>
              </a:rPr>
              <a:t>的值可以调节</a:t>
            </a:r>
            <a:r>
              <a:rPr lang="en-US" altLang="zh-CN" b="1" i="1">
                <a:latin typeface="Times New Roman" panose="02020603050405020304" pitchFamily="18" charset="0"/>
              </a:rPr>
              <a:t>A</a:t>
            </a:r>
            <a:r>
              <a:rPr lang="en-US" altLang="zh-CN" b="1" baseline="-25000">
                <a:latin typeface="Times New Roman" panose="02020603050405020304" pitchFamily="18" charset="0"/>
              </a:rPr>
              <a:t>V</a:t>
            </a:r>
            <a:r>
              <a:rPr lang="zh-CN" altLang="en-US" b="1">
                <a:latin typeface="Times New Roman" panose="02020603050405020304" pitchFamily="18" charset="0"/>
              </a:rPr>
              <a:t>，</a:t>
            </a:r>
            <a:r>
              <a:rPr lang="zh-CN" altLang="en-US" b="1" dirty="0">
                <a:latin typeface="Times New Roman" panose="02020603050405020304" pitchFamily="18" charset="0"/>
              </a:rPr>
              <a:t>从而使放大器输出电压</a:t>
            </a:r>
            <a:r>
              <a:rPr lang="en-US" altLang="zh-CN" b="1" i="1" err="1">
                <a:latin typeface="Times New Roman" panose="02020603050405020304" pitchFamily="18" charset="0"/>
              </a:rPr>
              <a:t>U</a:t>
            </a:r>
            <a:r>
              <a:rPr lang="en-US" altLang="zh-CN" b="1" baseline="-25000" err="1">
                <a:latin typeface="Times New Roman" panose="02020603050405020304" pitchFamily="18" charset="0"/>
              </a:rPr>
              <a:t>o</a:t>
            </a:r>
            <a:r>
              <a:rPr lang="zh-CN" altLang="en-US" b="1" dirty="0">
                <a:latin typeface="Times New Roman" panose="02020603050405020304" pitchFamily="18" charset="0"/>
              </a:rPr>
              <a:t>满足</a:t>
            </a:r>
            <a:r>
              <a:rPr lang="en-US" altLang="zh-CN" b="1">
                <a:latin typeface="Times New Roman" panose="02020603050405020304" pitchFamily="18" charset="0"/>
              </a:rPr>
              <a:t>ADC0809</a:t>
            </a:r>
            <a:r>
              <a:rPr lang="zh-CN" altLang="en-US" b="1" dirty="0">
                <a:latin typeface="Times New Roman" panose="02020603050405020304" pitchFamily="18" charset="0"/>
              </a:rPr>
              <a:t>的动态范围。</a:t>
            </a:r>
            <a:endParaRPr lang="zh-CN" altLang="en-US" b="1" dirty="0">
              <a:latin typeface="Times New Roman" panose="02020603050405020304" pitchFamily="18" charset="0"/>
            </a:endParaRPr>
          </a:p>
          <a:p>
            <a:pPr algn="just">
              <a:lnSpc>
                <a:spcPct val="150000"/>
              </a:lnSpc>
              <a:spcBef>
                <a:spcPct val="50000"/>
              </a:spcBef>
            </a:pPr>
            <a:r>
              <a:rPr lang="zh-CN" altLang="en-US" b="1" dirty="0">
                <a:latin typeface="Times New Roman" panose="02020603050405020304" pitchFamily="18" charset="0"/>
              </a:rPr>
              <a:t>        电路中只使用一路模拟信号，由</a:t>
            </a:r>
            <a:r>
              <a:rPr lang="en-US" altLang="zh-CN" b="1">
                <a:latin typeface="Times New Roman" panose="02020603050405020304" pitchFamily="18" charset="0"/>
              </a:rPr>
              <a:t>IN</a:t>
            </a:r>
            <a:r>
              <a:rPr lang="en-US" altLang="zh-CN" b="1" baseline="-25000">
                <a:latin typeface="Times New Roman" panose="02020603050405020304" pitchFamily="18" charset="0"/>
              </a:rPr>
              <a:t>0</a:t>
            </a:r>
            <a:r>
              <a:rPr lang="zh-CN" altLang="en-US" b="1" dirty="0">
                <a:latin typeface="Times New Roman" panose="02020603050405020304" pitchFamily="18" charset="0"/>
              </a:rPr>
              <a:t>输入，因此</a:t>
            </a:r>
            <a:r>
              <a:rPr lang="en-US" altLang="zh-CN" b="1">
                <a:latin typeface="Times New Roman" panose="02020603050405020304" pitchFamily="18" charset="0"/>
              </a:rPr>
              <a:t>ADC0809</a:t>
            </a:r>
            <a:r>
              <a:rPr lang="zh-CN" altLang="en-US" b="1" dirty="0">
                <a:latin typeface="Times New Roman" panose="02020603050405020304" pitchFamily="18" charset="0"/>
              </a:rPr>
              <a:t>的输入信号地址</a:t>
            </a:r>
            <a:r>
              <a:rPr lang="en-US" altLang="zh-CN" b="1">
                <a:latin typeface="Times New Roman" panose="02020603050405020304" pitchFamily="18" charset="0"/>
              </a:rPr>
              <a:t>ADD</a:t>
            </a:r>
            <a:r>
              <a:rPr lang="en-US" altLang="zh-CN" b="1" i="1">
                <a:latin typeface="Times New Roman" panose="02020603050405020304" pitchFamily="18" charset="0"/>
              </a:rPr>
              <a:t>A</a:t>
            </a:r>
            <a:r>
              <a:rPr lang="zh-CN" altLang="en-US" b="1">
                <a:latin typeface="Times New Roman" panose="02020603050405020304" pitchFamily="18" charset="0"/>
              </a:rPr>
              <a:t>、</a:t>
            </a:r>
            <a:r>
              <a:rPr lang="en-US" altLang="zh-CN" b="1">
                <a:latin typeface="Times New Roman" panose="02020603050405020304" pitchFamily="18" charset="0"/>
              </a:rPr>
              <a:t>ADD</a:t>
            </a:r>
            <a:r>
              <a:rPr lang="en-US" altLang="zh-CN" b="1" i="1">
                <a:latin typeface="Times New Roman" panose="02020603050405020304" pitchFamily="18" charset="0"/>
              </a:rPr>
              <a:t>B</a:t>
            </a:r>
            <a:r>
              <a:rPr lang="zh-CN" altLang="en-US" b="1">
                <a:latin typeface="Times New Roman" panose="02020603050405020304" pitchFamily="18" charset="0"/>
              </a:rPr>
              <a:t>、</a:t>
            </a:r>
            <a:r>
              <a:rPr lang="en-US" altLang="zh-CN" b="1">
                <a:latin typeface="Times New Roman" panose="02020603050405020304" pitchFamily="18" charset="0"/>
              </a:rPr>
              <a:t>ADD</a:t>
            </a:r>
            <a:r>
              <a:rPr lang="en-US" altLang="zh-CN" b="1" i="1">
                <a:latin typeface="Times New Roman" panose="02020603050405020304" pitchFamily="18" charset="0"/>
              </a:rPr>
              <a:t>C</a:t>
            </a:r>
            <a:r>
              <a:rPr lang="zh-CN" altLang="en-US" b="1" dirty="0">
                <a:latin typeface="Times New Roman" panose="02020603050405020304" pitchFamily="18" charset="0"/>
              </a:rPr>
              <a:t>接地。 </a:t>
            </a:r>
            <a:endParaRPr lang="zh-CN" altLang="en-US" b="1">
              <a:latin typeface="Times New Roman" panose="02020603050405020304" pitchFamily="18" charset="0"/>
            </a:endParaRPr>
          </a:p>
        </p:txBody>
      </p:sp>
    </p:spTree>
  </p:cSld>
  <p:clrMapOvr>
    <a:masterClrMapping/>
  </p:clrMapOvr>
  <p:transition>
    <p:blinds dir="vert"/>
  </p:transition>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32802" name="文本框 332801"/>
          <p:cNvSpPr txBox="1"/>
          <p:nvPr/>
        </p:nvSpPr>
        <p:spPr>
          <a:xfrm>
            <a:off x="457200" y="381000"/>
            <a:ext cx="8229600" cy="6153150"/>
          </a:xfrm>
          <a:prstGeom prst="rect">
            <a:avLst/>
          </a:prstGeom>
          <a:noFill/>
          <a:ln w="9525">
            <a:noFill/>
          </a:ln>
        </p:spPr>
        <p:txBody>
          <a:bodyPr>
            <a:spAutoFit/>
          </a:bodyPr>
          <a:p>
            <a:pPr algn="just">
              <a:lnSpc>
                <a:spcPct val="130000"/>
              </a:lnSpc>
              <a:spcBef>
                <a:spcPct val="50000"/>
              </a:spcBef>
            </a:pPr>
            <a:r>
              <a:rPr lang="en-US" altLang="zh-CN" dirty="0">
                <a:latin typeface="Times New Roman" panose="02020603050405020304" pitchFamily="18" charset="0"/>
              </a:rPr>
              <a:t>        </a:t>
            </a:r>
            <a:r>
              <a:rPr lang="en-US" altLang="zh-CN" b="1">
                <a:latin typeface="Times New Roman" panose="02020603050405020304" pitchFamily="18" charset="0"/>
              </a:rPr>
              <a:t>(2) </a:t>
            </a:r>
            <a:r>
              <a:rPr lang="zh-CN" altLang="en-US" b="1" dirty="0">
                <a:latin typeface="Times New Roman" panose="02020603050405020304" pitchFamily="18" charset="0"/>
              </a:rPr>
              <a:t>数据采集、存储过程</a:t>
            </a:r>
            <a:endParaRPr lang="zh-CN" altLang="en-US" b="1" dirty="0">
              <a:latin typeface="Times New Roman" panose="02020603050405020304" pitchFamily="18" charset="0"/>
            </a:endParaRPr>
          </a:p>
          <a:p>
            <a:pPr algn="just">
              <a:lnSpc>
                <a:spcPct val="130000"/>
              </a:lnSpc>
              <a:spcBef>
                <a:spcPct val="50000"/>
              </a:spcBef>
            </a:pPr>
            <a:r>
              <a:rPr lang="zh-CN" altLang="en-US" b="1" dirty="0">
                <a:latin typeface="Times New Roman" panose="02020603050405020304" pitchFamily="18" charset="0"/>
              </a:rPr>
              <a:t>        在这一过程中，首先使开关</a:t>
            </a:r>
            <a:r>
              <a:rPr lang="en-US" altLang="zh-CN" b="1">
                <a:latin typeface="Times New Roman" panose="02020603050405020304" pitchFamily="18" charset="0"/>
              </a:rPr>
              <a:t>S2</a:t>
            </a:r>
            <a:r>
              <a:rPr lang="zh-CN" altLang="en-US" b="1" dirty="0">
                <a:latin typeface="Times New Roman" panose="02020603050405020304" pitchFamily="18" charset="0"/>
              </a:rPr>
              <a:t>置高电平</a:t>
            </a:r>
            <a:r>
              <a:rPr lang="en-US" altLang="zh-CN" b="1" i="1">
                <a:latin typeface="Times New Roman" panose="02020603050405020304" pitchFamily="18" charset="0"/>
              </a:rPr>
              <a:t>U</a:t>
            </a:r>
            <a:r>
              <a:rPr lang="en-US" altLang="zh-CN" b="1" baseline="-25000">
                <a:latin typeface="Times New Roman" panose="02020603050405020304" pitchFamily="18" charset="0"/>
              </a:rPr>
              <a:t>CC</a:t>
            </a:r>
            <a:r>
              <a:rPr lang="zh-CN" altLang="en-US" b="1">
                <a:latin typeface="Times New Roman" panose="02020603050405020304" pitchFamily="18" charset="0"/>
              </a:rPr>
              <a:t>，</a:t>
            </a:r>
            <a:r>
              <a:rPr lang="zh-CN" altLang="en-US" b="1" dirty="0">
                <a:latin typeface="Times New Roman" panose="02020603050405020304" pitchFamily="18" charset="0"/>
              </a:rPr>
              <a:t>以便地址计数器时钟通过与门</a:t>
            </a:r>
            <a:r>
              <a:rPr lang="en-US" altLang="zh-CN" b="1">
                <a:latin typeface="Times New Roman" panose="02020603050405020304" pitchFamily="18" charset="0"/>
              </a:rPr>
              <a:t>A8(A74LS08), </a:t>
            </a:r>
            <a:r>
              <a:rPr lang="zh-CN" altLang="en-US" b="1" dirty="0">
                <a:latin typeface="Times New Roman" panose="02020603050405020304" pitchFamily="18" charset="0"/>
              </a:rPr>
              <a:t>然后把开关</a:t>
            </a:r>
            <a:r>
              <a:rPr lang="en-US" altLang="zh-CN" b="1">
                <a:latin typeface="Times New Roman" panose="02020603050405020304" pitchFamily="18" charset="0"/>
              </a:rPr>
              <a:t>S</a:t>
            </a:r>
            <a:r>
              <a:rPr lang="zh-CN" altLang="en-US" b="1">
                <a:latin typeface="Times New Roman" panose="02020603050405020304" pitchFamily="18" charset="0"/>
              </a:rPr>
              <a:t>１由</a:t>
            </a:r>
            <a:r>
              <a:rPr lang="en-US" altLang="zh-CN" b="1" i="1">
                <a:latin typeface="Times New Roman" panose="02020603050405020304" pitchFamily="18" charset="0"/>
              </a:rPr>
              <a:t>U</a:t>
            </a:r>
            <a:r>
              <a:rPr lang="en-US" altLang="zh-CN" b="1" baseline="-25000">
                <a:latin typeface="Times New Roman" panose="02020603050405020304" pitchFamily="18" charset="0"/>
              </a:rPr>
              <a:t>CC</a:t>
            </a:r>
            <a:r>
              <a:rPr lang="zh-CN" altLang="en-US" b="1" dirty="0">
                <a:latin typeface="Times New Roman" panose="02020603050405020304" pitchFamily="18" charset="0"/>
              </a:rPr>
              <a:t>拨到地， 再拨到</a:t>
            </a:r>
            <a:r>
              <a:rPr lang="en-US" altLang="zh-CN" b="1" i="1">
                <a:latin typeface="Times New Roman" panose="02020603050405020304" pitchFamily="18" charset="0"/>
              </a:rPr>
              <a:t>U</a:t>
            </a:r>
            <a:r>
              <a:rPr lang="en-US" altLang="zh-CN" b="1" baseline="-25000">
                <a:latin typeface="Times New Roman" panose="02020603050405020304" pitchFamily="18" charset="0"/>
              </a:rPr>
              <a:t>CC</a:t>
            </a:r>
            <a:r>
              <a:rPr lang="zh-CN" altLang="en-US" b="1">
                <a:latin typeface="Times New Roman" panose="02020603050405020304" pitchFamily="18" charset="0"/>
              </a:rPr>
              <a:t>，</a:t>
            </a:r>
            <a:r>
              <a:rPr lang="zh-CN" altLang="en-US" b="1" dirty="0">
                <a:latin typeface="Times New Roman" panose="02020603050405020304" pitchFamily="18" charset="0"/>
              </a:rPr>
              <a:t>产生一负脉冲，使</a:t>
            </a:r>
            <a:r>
              <a:rPr lang="en-US" altLang="zh-CN" b="1">
                <a:latin typeface="Times New Roman" panose="02020603050405020304" pitchFamily="18" charset="0"/>
              </a:rPr>
              <a:t>D</a:t>
            </a:r>
            <a:r>
              <a:rPr lang="zh-CN" altLang="en-US" b="1" dirty="0">
                <a:latin typeface="Times New Roman" panose="02020603050405020304" pitchFamily="18" charset="0"/>
              </a:rPr>
              <a:t>触发器</a:t>
            </a:r>
            <a:r>
              <a:rPr lang="en-US" altLang="zh-CN" b="1">
                <a:latin typeface="Times New Roman" panose="02020603050405020304" pitchFamily="18" charset="0"/>
              </a:rPr>
              <a:t>A7</a:t>
            </a:r>
            <a:r>
              <a:rPr lang="zh-CN" altLang="en-US" b="1">
                <a:latin typeface="Times New Roman" panose="02020603050405020304" pitchFamily="18" charset="0"/>
              </a:rPr>
              <a:t>的</a:t>
            </a:r>
            <a:r>
              <a:rPr lang="en-US" altLang="zh-CN" b="1" i="1">
                <a:latin typeface="Times New Roman" panose="02020603050405020304" pitchFamily="18" charset="0"/>
              </a:rPr>
              <a:t>Q</a:t>
            </a:r>
            <a:r>
              <a:rPr lang="zh-CN" altLang="en-US" b="1" dirty="0">
                <a:latin typeface="Times New Roman" panose="02020603050405020304" pitchFamily="18" charset="0"/>
              </a:rPr>
              <a:t>置“</a:t>
            </a:r>
            <a:r>
              <a:rPr lang="en-US" altLang="zh-CN" b="1">
                <a:latin typeface="Times New Roman" panose="02020603050405020304" pitchFamily="18" charset="0"/>
              </a:rPr>
              <a:t>1”</a:t>
            </a:r>
            <a:r>
              <a:rPr lang="zh-CN" altLang="en-US" b="1" dirty="0">
                <a:latin typeface="Times New Roman" panose="02020603050405020304" pitchFamily="18" charset="0"/>
              </a:rPr>
              <a:t>，地址计数器清 </a:t>
            </a:r>
            <a:r>
              <a:rPr lang="en-US" altLang="zh-CN" b="1">
                <a:latin typeface="Times New Roman" panose="02020603050405020304" pitchFamily="18" charset="0"/>
              </a:rPr>
              <a:t>0, </a:t>
            </a:r>
            <a:r>
              <a:rPr lang="zh-CN" altLang="en-US" b="1" dirty="0">
                <a:latin typeface="Times New Roman" panose="02020603050405020304" pitchFamily="18" charset="0"/>
              </a:rPr>
              <a:t>采集过程开始。</a:t>
            </a:r>
            <a:endParaRPr lang="zh-CN" altLang="en-US" b="1" dirty="0">
              <a:latin typeface="Times New Roman" panose="02020603050405020304" pitchFamily="18" charset="0"/>
            </a:endParaRPr>
          </a:p>
          <a:p>
            <a:pPr algn="just">
              <a:lnSpc>
                <a:spcPct val="130000"/>
              </a:lnSpc>
              <a:spcBef>
                <a:spcPct val="50000"/>
              </a:spcBef>
            </a:pPr>
            <a:r>
              <a:rPr lang="zh-CN" altLang="en-US" b="1">
                <a:latin typeface="Times New Roman" panose="02020603050405020304" pitchFamily="18" charset="0"/>
              </a:rPr>
              <a:t>        </a:t>
            </a:r>
            <a:r>
              <a:rPr lang="en-US" altLang="zh-CN" b="1">
                <a:latin typeface="Times New Roman" panose="02020603050405020304" pitchFamily="18" charset="0"/>
              </a:rPr>
              <a:t>START</a:t>
            </a:r>
            <a:r>
              <a:rPr lang="zh-CN" altLang="en-US" b="1" dirty="0">
                <a:latin typeface="Times New Roman" panose="02020603050405020304" pitchFamily="18" charset="0"/>
              </a:rPr>
              <a:t>信号由时钟</a:t>
            </a:r>
            <a:r>
              <a:rPr lang="en-US" altLang="zh-CN" b="1" i="1" err="1">
                <a:latin typeface="Times New Roman" panose="02020603050405020304" pitchFamily="18" charset="0"/>
              </a:rPr>
              <a:t>f</a:t>
            </a:r>
            <a:r>
              <a:rPr lang="en-US" altLang="zh-CN" b="1" baseline="-25000" err="1">
                <a:latin typeface="Times New Roman" panose="02020603050405020304" pitchFamily="18" charset="0"/>
              </a:rPr>
              <a:t>CP</a:t>
            </a:r>
            <a:r>
              <a:rPr lang="zh-CN" altLang="en-US" b="1">
                <a:latin typeface="Times New Roman" panose="02020603050405020304" pitchFamily="18" charset="0"/>
              </a:rPr>
              <a:t>和</a:t>
            </a:r>
            <a:r>
              <a:rPr lang="en-US" altLang="zh-CN" b="1">
                <a:latin typeface="Times New Roman" panose="02020603050405020304" pitchFamily="18" charset="0"/>
              </a:rPr>
              <a:t>EOC</a:t>
            </a:r>
            <a:r>
              <a:rPr lang="zh-CN" altLang="en-US" b="1" dirty="0">
                <a:latin typeface="Times New Roman" panose="02020603050405020304" pitchFamily="18" charset="0"/>
              </a:rPr>
              <a:t>转换结束信号相与形成。 当</a:t>
            </a:r>
            <a:r>
              <a:rPr lang="en-US" altLang="zh-CN" b="1">
                <a:latin typeface="Times New Roman" panose="02020603050405020304" pitchFamily="18" charset="0"/>
              </a:rPr>
              <a:t>A/D</a:t>
            </a:r>
            <a:r>
              <a:rPr lang="zh-CN" altLang="en-US" b="1" dirty="0">
                <a:latin typeface="Times New Roman" panose="02020603050405020304" pitchFamily="18" charset="0"/>
              </a:rPr>
              <a:t>转换未开始时，</a:t>
            </a:r>
            <a:r>
              <a:rPr lang="en-US" altLang="zh-CN" b="1">
                <a:latin typeface="Times New Roman" panose="02020603050405020304" pitchFamily="18" charset="0"/>
              </a:rPr>
              <a:t>EOC=1</a:t>
            </a:r>
            <a:r>
              <a:rPr lang="zh-CN" altLang="en-US" b="1">
                <a:latin typeface="Times New Roman" panose="02020603050405020304" pitchFamily="18" charset="0"/>
              </a:rPr>
              <a:t>，</a:t>
            </a:r>
            <a:r>
              <a:rPr lang="en-US" altLang="zh-CN" b="1">
                <a:latin typeface="Times New Roman" panose="02020603050405020304" pitchFamily="18" charset="0"/>
              </a:rPr>
              <a:t>START</a:t>
            </a:r>
            <a:r>
              <a:rPr lang="zh-CN" altLang="en-US" b="1" dirty="0">
                <a:latin typeface="Times New Roman" panose="02020603050405020304" pitchFamily="18" charset="0"/>
              </a:rPr>
              <a:t>的正脉冲宽度为</a:t>
            </a:r>
            <a:r>
              <a:rPr lang="en-US" altLang="zh-CN" b="1" i="1" err="1">
                <a:latin typeface="Times New Roman" panose="02020603050405020304" pitchFamily="18" charset="0"/>
              </a:rPr>
              <a:t>f</a:t>
            </a:r>
            <a:r>
              <a:rPr lang="en-US" altLang="zh-CN" b="1" baseline="-25000" err="1">
                <a:latin typeface="Times New Roman" panose="02020603050405020304" pitchFamily="18" charset="0"/>
              </a:rPr>
              <a:t>CP</a:t>
            </a:r>
            <a:r>
              <a:rPr lang="zh-CN" altLang="en-US" b="1">
                <a:latin typeface="Times New Roman" panose="02020603050405020304" pitchFamily="18" charset="0"/>
              </a:rPr>
              <a:t></a:t>
            </a:r>
            <a:r>
              <a:rPr lang="zh-CN" altLang="en-US" b="1" dirty="0">
                <a:latin typeface="Times New Roman" panose="02020603050405020304" pitchFamily="18" charset="0"/>
              </a:rPr>
              <a:t>的正脉冲宽度。</a:t>
            </a:r>
            <a:r>
              <a:rPr lang="en-US" altLang="zh-CN" b="1">
                <a:latin typeface="Times New Roman" panose="02020603050405020304" pitchFamily="18" charset="0"/>
              </a:rPr>
              <a:t>START</a:t>
            </a:r>
            <a:r>
              <a:rPr lang="zh-CN" altLang="en-US" b="1" dirty="0">
                <a:latin typeface="Times New Roman" panose="02020603050405020304" pitchFamily="18" charset="0"/>
              </a:rPr>
              <a:t>正脉冲的下降沿到达后，</a:t>
            </a:r>
            <a:r>
              <a:rPr lang="en-US" altLang="zh-CN" b="1">
                <a:latin typeface="Times New Roman" panose="02020603050405020304" pitchFamily="18" charset="0"/>
              </a:rPr>
              <a:t>EOC=0</a:t>
            </a:r>
            <a:r>
              <a:rPr lang="zh-CN" altLang="en-US" b="1">
                <a:latin typeface="Times New Roman" panose="02020603050405020304" pitchFamily="18" charset="0"/>
              </a:rPr>
              <a:t>， </a:t>
            </a:r>
            <a:r>
              <a:rPr lang="en-US" altLang="zh-CN" b="1">
                <a:latin typeface="Times New Roman" panose="02020603050405020304" pitchFamily="18" charset="0"/>
              </a:rPr>
              <a:t>A/D</a:t>
            </a:r>
            <a:r>
              <a:rPr lang="zh-CN" altLang="en-US" b="1" dirty="0">
                <a:latin typeface="Times New Roman" panose="02020603050405020304" pitchFamily="18" charset="0"/>
              </a:rPr>
              <a:t>转换器开始转换；当</a:t>
            </a:r>
            <a:r>
              <a:rPr lang="en-US" altLang="zh-CN" b="1">
                <a:latin typeface="Times New Roman" panose="02020603050405020304" pitchFamily="18" charset="0"/>
              </a:rPr>
              <a:t>A/D</a:t>
            </a:r>
            <a:r>
              <a:rPr lang="zh-CN" altLang="en-US" b="1" dirty="0">
                <a:latin typeface="Times New Roman" panose="02020603050405020304" pitchFamily="18" charset="0"/>
              </a:rPr>
              <a:t>转换结束后，</a:t>
            </a:r>
            <a:r>
              <a:rPr lang="en-US" altLang="zh-CN" b="1">
                <a:latin typeface="Times New Roman" panose="02020603050405020304" pitchFamily="18" charset="0"/>
              </a:rPr>
              <a:t>EOC</a:t>
            </a:r>
            <a:r>
              <a:rPr lang="zh-CN" altLang="en-US" b="1" dirty="0">
                <a:latin typeface="Times New Roman" panose="02020603050405020304" pitchFamily="18" charset="0"/>
              </a:rPr>
              <a:t>由</a:t>
            </a:r>
            <a:r>
              <a:rPr lang="en-US" altLang="zh-CN" b="1">
                <a:latin typeface="Times New Roman" panose="02020603050405020304" pitchFamily="18" charset="0"/>
              </a:rPr>
              <a:t>0</a:t>
            </a:r>
            <a:r>
              <a:rPr lang="zh-CN" altLang="en-US" b="1" dirty="0">
                <a:latin typeface="Times New Roman" panose="02020603050405020304" pitchFamily="18" charset="0"/>
              </a:rPr>
              <a:t>变成</a:t>
            </a:r>
            <a:r>
              <a:rPr lang="en-US" altLang="zh-CN" b="1">
                <a:latin typeface="Times New Roman" panose="02020603050405020304" pitchFamily="18" charset="0"/>
              </a:rPr>
              <a:t>1</a:t>
            </a:r>
            <a:r>
              <a:rPr lang="zh-CN" altLang="en-US" b="1" dirty="0">
                <a:latin typeface="Times New Roman" panose="02020603050405020304" pitchFamily="18" charset="0"/>
              </a:rPr>
              <a:t>， </a:t>
            </a:r>
            <a:r>
              <a:rPr lang="en-US" altLang="zh-CN" b="1">
                <a:latin typeface="Times New Roman" panose="02020603050405020304" pitchFamily="18" charset="0"/>
              </a:rPr>
              <a:t>EOC=1 </a:t>
            </a:r>
            <a:r>
              <a:rPr lang="zh-CN" altLang="en-US" b="1" dirty="0">
                <a:latin typeface="Times New Roman" panose="02020603050405020304" pitchFamily="18" charset="0"/>
              </a:rPr>
              <a:t>保持一个</a:t>
            </a:r>
            <a:r>
              <a:rPr lang="en-US" altLang="zh-CN" b="1" i="1" err="1">
                <a:latin typeface="Times New Roman" panose="02020603050405020304" pitchFamily="18" charset="0"/>
              </a:rPr>
              <a:t>f</a:t>
            </a:r>
            <a:r>
              <a:rPr lang="en-US" altLang="zh-CN" b="1" baseline="-25000" err="1">
                <a:latin typeface="Times New Roman" panose="02020603050405020304" pitchFamily="18" charset="0"/>
              </a:rPr>
              <a:t>CP</a:t>
            </a:r>
            <a:r>
              <a:rPr lang="zh-CN" altLang="en-US" b="1" dirty="0">
                <a:latin typeface="Times New Roman" panose="02020603050405020304" pitchFamily="18" charset="0"/>
              </a:rPr>
              <a:t>周期，第二个</a:t>
            </a:r>
            <a:r>
              <a:rPr lang="en-US" altLang="zh-CN" b="1">
                <a:latin typeface="Times New Roman" panose="02020603050405020304" pitchFamily="18" charset="0"/>
              </a:rPr>
              <a:t>START</a:t>
            </a:r>
            <a:r>
              <a:rPr lang="zh-CN" altLang="en-US" b="1" dirty="0">
                <a:latin typeface="Times New Roman" panose="02020603050405020304" pitchFamily="18" charset="0"/>
              </a:rPr>
              <a:t>正脉冲产生，第二次</a:t>
            </a:r>
            <a:r>
              <a:rPr lang="en-US" altLang="zh-CN" b="1">
                <a:latin typeface="Times New Roman" panose="02020603050405020304" pitchFamily="18" charset="0"/>
              </a:rPr>
              <a:t>A/D</a:t>
            </a:r>
            <a:r>
              <a:rPr lang="zh-CN" altLang="en-US" b="1" dirty="0">
                <a:latin typeface="Times New Roman" panose="02020603050405020304" pitchFamily="18" charset="0"/>
              </a:rPr>
              <a:t>转换开始；如此循环，形成不断的采集过程，直到地</a:t>
            </a:r>
            <a:r>
              <a:rPr lang="zh-CN" altLang="en-US" b="1" dirty="0">
                <a:latin typeface="Times New Roman" panose="02020603050405020304" pitchFamily="18" charset="0"/>
              </a:rPr>
              <a:t>址计数器为全“</a:t>
            </a:r>
            <a:r>
              <a:rPr lang="en-US" altLang="zh-CN" b="1">
                <a:latin typeface="Times New Roman" panose="02020603050405020304" pitchFamily="18" charset="0"/>
              </a:rPr>
              <a:t>1”</a:t>
            </a:r>
            <a:r>
              <a:rPr lang="zh-CN" altLang="en-US" b="1" dirty="0">
                <a:latin typeface="Times New Roman" panose="02020603050405020304" pitchFamily="18" charset="0"/>
              </a:rPr>
              <a:t>时结束。 </a:t>
            </a:r>
            <a:endParaRPr lang="zh-CN" altLang="en-US" b="1">
              <a:latin typeface="Times New Roman" panose="02020603050405020304" pitchFamily="18" charset="0"/>
            </a:endParaRPr>
          </a:p>
        </p:txBody>
      </p:sp>
    </p:spTree>
  </p:cSld>
  <p:clrMapOvr>
    <a:masterClrMapping/>
  </p:clrMapOvr>
  <p:transition>
    <p:blinds dir="vert"/>
  </p:transition>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33826" name="文本框 333825"/>
          <p:cNvSpPr txBox="1"/>
          <p:nvPr/>
        </p:nvSpPr>
        <p:spPr>
          <a:xfrm>
            <a:off x="914400" y="1066800"/>
            <a:ext cx="7467600" cy="3560763"/>
          </a:xfrm>
          <a:prstGeom prst="rect">
            <a:avLst/>
          </a:prstGeom>
          <a:noFill/>
          <a:ln w="9525">
            <a:noFill/>
          </a:ln>
        </p:spPr>
        <p:txBody>
          <a:bodyPr>
            <a:spAutoFit/>
          </a:bodyPr>
          <a:p>
            <a:pPr algn="just">
              <a:lnSpc>
                <a:spcPct val="150000"/>
              </a:lnSpc>
              <a:spcBef>
                <a:spcPct val="50000"/>
              </a:spcBef>
            </a:pPr>
            <a:r>
              <a:rPr lang="en-US" altLang="zh-CN">
                <a:latin typeface="Times New Roman" panose="02020603050405020304" pitchFamily="18" charset="0"/>
              </a:rPr>
              <a:t>        </a:t>
            </a:r>
            <a:r>
              <a:rPr lang="en-US" altLang="zh-CN" b="1">
                <a:latin typeface="Times New Roman" panose="02020603050405020304" pitchFamily="18" charset="0"/>
              </a:rPr>
              <a:t>ALE</a:t>
            </a:r>
            <a:r>
              <a:rPr lang="zh-CN" altLang="en-US" b="1" dirty="0">
                <a:latin typeface="Times New Roman" panose="02020603050405020304" pitchFamily="18" charset="0"/>
              </a:rPr>
              <a:t>信号：</a:t>
            </a:r>
            <a:r>
              <a:rPr lang="en-US" altLang="zh-CN" b="1">
                <a:latin typeface="Times New Roman" panose="02020603050405020304" pitchFamily="18" charset="0"/>
              </a:rPr>
              <a:t>ALE</a:t>
            </a:r>
            <a:r>
              <a:rPr lang="zh-CN" altLang="en-US" b="1">
                <a:latin typeface="Times New Roman" panose="02020603050405020304" pitchFamily="18" charset="0"/>
              </a:rPr>
              <a:t>与</a:t>
            </a:r>
            <a:r>
              <a:rPr lang="en-US" altLang="zh-CN" b="1">
                <a:latin typeface="Times New Roman" panose="02020603050405020304" pitchFamily="18" charset="0"/>
              </a:rPr>
              <a:t>START</a:t>
            </a:r>
            <a:r>
              <a:rPr lang="zh-CN" altLang="en-US" b="1" dirty="0">
                <a:latin typeface="Times New Roman" panose="02020603050405020304" pitchFamily="18" charset="0"/>
              </a:rPr>
              <a:t>端接在一起，输入地址在</a:t>
            </a:r>
            <a:r>
              <a:rPr lang="en-US" altLang="zh-CN" b="1">
                <a:latin typeface="Times New Roman" panose="02020603050405020304" pitchFamily="18" charset="0"/>
              </a:rPr>
              <a:t>ALE=START=1</a:t>
            </a:r>
            <a:r>
              <a:rPr lang="zh-CN" altLang="en-US" b="1" dirty="0">
                <a:latin typeface="Times New Roman" panose="02020603050405020304" pitchFamily="18" charset="0"/>
              </a:rPr>
              <a:t>时允许，</a:t>
            </a:r>
            <a:r>
              <a:rPr lang="en-US" altLang="zh-CN" b="1">
                <a:latin typeface="Times New Roman" panose="02020603050405020304" pitchFamily="18" charset="0"/>
              </a:rPr>
              <a:t>ALE=0 </a:t>
            </a:r>
            <a:r>
              <a:rPr lang="zh-CN" altLang="en-US" b="1" dirty="0">
                <a:latin typeface="Times New Roman" panose="02020603050405020304" pitchFamily="18" charset="0"/>
              </a:rPr>
              <a:t>时被禁止。</a:t>
            </a:r>
            <a:endParaRPr lang="zh-CN" altLang="en-US" b="1" dirty="0">
              <a:latin typeface="Times New Roman" panose="02020603050405020304" pitchFamily="18" charset="0"/>
            </a:endParaRPr>
          </a:p>
          <a:p>
            <a:pPr algn="just">
              <a:lnSpc>
                <a:spcPct val="150000"/>
              </a:lnSpc>
              <a:spcBef>
                <a:spcPct val="50000"/>
              </a:spcBef>
            </a:pPr>
            <a:r>
              <a:rPr lang="zh-CN" altLang="en-US" b="1" dirty="0">
                <a:latin typeface="Times New Roman" panose="02020603050405020304" pitchFamily="18" charset="0"/>
              </a:rPr>
              <a:t>  </a:t>
            </a:r>
            <a:r>
              <a:rPr lang="en-US" altLang="zh-CN" b="1">
                <a:latin typeface="Times New Roman" panose="02020603050405020304" pitchFamily="18" charset="0"/>
              </a:rPr>
              <a:t>OE</a:t>
            </a:r>
            <a:r>
              <a:rPr lang="zh-CN" altLang="en-US" b="1" dirty="0">
                <a:latin typeface="Times New Roman" panose="02020603050405020304" pitchFamily="18" charset="0"/>
              </a:rPr>
              <a:t>信号：输出允许端</a:t>
            </a:r>
            <a:r>
              <a:rPr lang="en-US" altLang="zh-CN" b="1">
                <a:latin typeface="Times New Roman" panose="02020603050405020304" pitchFamily="18" charset="0"/>
              </a:rPr>
              <a:t>OE</a:t>
            </a:r>
            <a:r>
              <a:rPr lang="zh-CN" altLang="en-US" b="1">
                <a:latin typeface="Times New Roman" panose="02020603050405020304" pitchFamily="18" charset="0"/>
              </a:rPr>
              <a:t>由</a:t>
            </a:r>
            <a:r>
              <a:rPr lang="en-US" altLang="zh-CN" b="1">
                <a:latin typeface="Times New Roman" panose="02020603050405020304" pitchFamily="18" charset="0"/>
              </a:rPr>
              <a:t>EOC</a:t>
            </a:r>
            <a:r>
              <a:rPr lang="zh-CN" altLang="en-US" b="1">
                <a:latin typeface="Times New Roman" panose="02020603050405020304" pitchFamily="18" charset="0"/>
              </a:rPr>
              <a:t>和</a:t>
            </a:r>
            <a:r>
              <a:rPr lang="en-US" altLang="zh-CN" b="1">
                <a:latin typeface="Times New Roman" panose="02020603050405020304" pitchFamily="18" charset="0"/>
              </a:rPr>
              <a:t>D</a:t>
            </a:r>
            <a:r>
              <a:rPr lang="zh-CN" altLang="en-US" b="1" dirty="0">
                <a:latin typeface="Times New Roman" panose="02020603050405020304" pitchFamily="18" charset="0"/>
              </a:rPr>
              <a:t>触发器的</a:t>
            </a:r>
            <a:r>
              <a:rPr lang="en-US" altLang="zh-CN" b="1" i="1">
                <a:latin typeface="Times New Roman" panose="02020603050405020304" pitchFamily="18" charset="0"/>
              </a:rPr>
              <a:t>Q</a:t>
            </a:r>
            <a:r>
              <a:rPr lang="zh-CN" altLang="en-US" b="1" dirty="0">
                <a:latin typeface="Times New Roman" panose="02020603050405020304" pitchFamily="18" charset="0"/>
              </a:rPr>
              <a:t>相与提供，在采集过程中</a:t>
            </a:r>
            <a:r>
              <a:rPr lang="en-US" altLang="zh-CN" b="1" i="1">
                <a:latin typeface="Times New Roman" panose="02020603050405020304" pitchFamily="18" charset="0"/>
              </a:rPr>
              <a:t>Q</a:t>
            </a:r>
            <a:r>
              <a:rPr lang="zh-CN" altLang="en-US" b="1" dirty="0">
                <a:latin typeface="Times New Roman" panose="02020603050405020304" pitchFamily="18" charset="0"/>
              </a:rPr>
              <a:t>一直为</a:t>
            </a:r>
            <a:r>
              <a:rPr lang="en-US" altLang="zh-CN" b="1">
                <a:latin typeface="Times New Roman" panose="02020603050405020304" pitchFamily="18" charset="0"/>
              </a:rPr>
              <a:t>1</a:t>
            </a:r>
            <a:r>
              <a:rPr lang="zh-CN" altLang="en-US" b="1" dirty="0">
                <a:latin typeface="Times New Roman" panose="02020603050405020304" pitchFamily="18" charset="0"/>
              </a:rPr>
              <a:t>，则</a:t>
            </a:r>
            <a:r>
              <a:rPr lang="en-US" altLang="zh-CN" b="1">
                <a:latin typeface="Times New Roman" panose="02020603050405020304" pitchFamily="18" charset="0"/>
              </a:rPr>
              <a:t>OE=EOC</a:t>
            </a:r>
            <a:r>
              <a:rPr lang="zh-CN" altLang="en-US" b="1">
                <a:latin typeface="Times New Roman" panose="02020603050405020304" pitchFamily="18" charset="0"/>
              </a:rPr>
              <a:t>，</a:t>
            </a:r>
            <a:r>
              <a:rPr lang="zh-CN" altLang="en-US" b="1" dirty="0">
                <a:latin typeface="Times New Roman" panose="02020603050405020304" pitchFamily="18" charset="0"/>
              </a:rPr>
              <a:t>只有</a:t>
            </a:r>
            <a:r>
              <a:rPr lang="zh-CN" altLang="en-US" b="1" dirty="0">
                <a:latin typeface="Times New Roman" panose="02020603050405020304" pitchFamily="18" charset="0"/>
              </a:rPr>
              <a:t>当转换结束时</a:t>
            </a:r>
            <a:r>
              <a:rPr lang="en-US" altLang="zh-CN" b="1">
                <a:latin typeface="Times New Roman" panose="02020603050405020304" pitchFamily="18" charset="0"/>
              </a:rPr>
              <a:t>EOC=1</a:t>
            </a:r>
            <a:r>
              <a:rPr lang="zh-CN" altLang="en-US" b="1">
                <a:latin typeface="Times New Roman" panose="02020603050405020304" pitchFamily="18" charset="0"/>
              </a:rPr>
              <a:t>，</a:t>
            </a:r>
            <a:r>
              <a:rPr lang="zh-CN" altLang="en-US" b="1" dirty="0">
                <a:latin typeface="Times New Roman" panose="02020603050405020304" pitchFamily="18" charset="0"/>
              </a:rPr>
              <a:t>才有</a:t>
            </a:r>
            <a:r>
              <a:rPr lang="en-US" altLang="zh-CN" b="1">
                <a:latin typeface="Times New Roman" panose="02020603050405020304" pitchFamily="18" charset="0"/>
              </a:rPr>
              <a:t>OE=1</a:t>
            </a:r>
            <a:r>
              <a:rPr lang="zh-CN" altLang="en-US" b="1">
                <a:latin typeface="Times New Roman" panose="02020603050405020304" pitchFamily="18" charset="0"/>
              </a:rPr>
              <a:t>，</a:t>
            </a:r>
            <a:r>
              <a:rPr lang="zh-CN" altLang="en-US" b="1" dirty="0">
                <a:latin typeface="Times New Roman" panose="02020603050405020304" pitchFamily="18" charset="0"/>
              </a:rPr>
              <a:t>即允许数据输出，</a:t>
            </a:r>
            <a:r>
              <a:rPr lang="en-US" altLang="zh-CN" b="1">
                <a:latin typeface="Times New Roman" panose="02020603050405020304" pitchFamily="18" charset="0"/>
              </a:rPr>
              <a:t>8 </a:t>
            </a:r>
            <a:r>
              <a:rPr lang="zh-CN" altLang="en-US" b="1" dirty="0">
                <a:latin typeface="Times New Roman" panose="02020603050405020304" pitchFamily="18" charset="0"/>
              </a:rPr>
              <a:t>位数据此时送入</a:t>
            </a:r>
            <a:r>
              <a:rPr lang="en-US" altLang="zh-CN" b="1">
                <a:latin typeface="Times New Roman" panose="02020603050405020304" pitchFamily="18" charset="0"/>
              </a:rPr>
              <a:t>RAM</a:t>
            </a:r>
            <a:r>
              <a:rPr lang="zh-CN" altLang="en-US" b="1" dirty="0">
                <a:latin typeface="Times New Roman" panose="02020603050405020304" pitchFamily="18" charset="0"/>
              </a:rPr>
              <a:t>存储器。 </a:t>
            </a:r>
            <a:endParaRPr lang="zh-CN" altLang="en-US" b="1">
              <a:latin typeface="Times New Roman" panose="02020603050405020304" pitchFamily="18" charset="0"/>
            </a:endParaRPr>
          </a:p>
        </p:txBody>
      </p:sp>
    </p:spTree>
  </p:cSld>
  <p:clrMapOvr>
    <a:masterClrMapping/>
  </p:clrMapOvr>
  <p:transition>
    <p:blinds dir="vert"/>
  </p:transition>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34850" name="文本框 334849"/>
          <p:cNvSpPr txBox="1"/>
          <p:nvPr/>
        </p:nvSpPr>
        <p:spPr>
          <a:xfrm>
            <a:off x="609600" y="609600"/>
            <a:ext cx="8001000" cy="5568950"/>
          </a:xfrm>
          <a:prstGeom prst="rect">
            <a:avLst/>
          </a:prstGeom>
          <a:noFill/>
          <a:ln w="9525">
            <a:noFill/>
          </a:ln>
        </p:spPr>
        <p:txBody>
          <a:bodyPr>
            <a:spAutoFit/>
          </a:bodyPr>
          <a:p>
            <a:pPr algn="just">
              <a:lnSpc>
                <a:spcPct val="150000"/>
              </a:lnSpc>
              <a:spcBef>
                <a:spcPct val="50000"/>
              </a:spcBef>
            </a:pPr>
            <a:r>
              <a:rPr lang="en-US" altLang="zh-CN">
                <a:latin typeface="Times New Roman" panose="02020603050405020304" pitchFamily="18" charset="0"/>
              </a:rPr>
              <a:t>        </a:t>
            </a:r>
            <a:r>
              <a:rPr lang="en-US" altLang="zh-CN" b="1">
                <a:latin typeface="Times New Roman" panose="02020603050405020304" pitchFamily="18" charset="0"/>
              </a:rPr>
              <a:t>RAM</a:t>
            </a:r>
            <a:r>
              <a:rPr lang="zh-CN" altLang="en-US" b="1" dirty="0">
                <a:latin typeface="Times New Roman" panose="02020603050405020304" pitchFamily="18" charset="0"/>
              </a:rPr>
              <a:t>写入过程：由于</a:t>
            </a:r>
            <a:r>
              <a:rPr lang="en-US" altLang="zh-CN" b="1">
                <a:latin typeface="Times New Roman" panose="02020603050405020304" pitchFamily="18" charset="0"/>
              </a:rPr>
              <a:t>A7∶A</a:t>
            </a:r>
            <a:r>
              <a:rPr lang="zh-CN" altLang="en-US" b="1">
                <a:latin typeface="Times New Roman" panose="02020603050405020304" pitchFamily="18" charset="0"/>
              </a:rPr>
              <a:t>的</a:t>
            </a:r>
            <a:r>
              <a:rPr lang="en-US" altLang="zh-CN" b="1" i="1">
                <a:latin typeface="Times New Roman" panose="02020603050405020304" pitchFamily="18" charset="0"/>
              </a:rPr>
              <a:t>Q</a:t>
            </a:r>
            <a:r>
              <a:rPr lang="en-US" altLang="zh-CN" b="1">
                <a:latin typeface="Times New Roman" panose="02020603050405020304" pitchFamily="18" charset="0"/>
              </a:rPr>
              <a:t>=1</a:t>
            </a:r>
            <a:r>
              <a:rPr lang="zh-CN" altLang="en-US" b="1">
                <a:latin typeface="Times New Roman" panose="02020603050405020304" pitchFamily="18" charset="0"/>
              </a:rPr>
              <a:t>，</a:t>
            </a:r>
            <a:r>
              <a:rPr lang="zh-CN" altLang="en-US" b="1" dirty="0">
                <a:latin typeface="Times New Roman" panose="02020603050405020304" pitchFamily="18" charset="0"/>
              </a:rPr>
              <a:t>开关</a:t>
            </a:r>
            <a:r>
              <a:rPr lang="en-US" altLang="zh-CN" b="1">
                <a:latin typeface="Times New Roman" panose="02020603050405020304" pitchFamily="18" charset="0"/>
              </a:rPr>
              <a:t>S2=1</a:t>
            </a:r>
            <a:r>
              <a:rPr lang="zh-CN" altLang="en-US" b="1">
                <a:latin typeface="Times New Roman" panose="02020603050405020304" pitchFamily="18" charset="0"/>
              </a:rPr>
              <a:t>，</a:t>
            </a:r>
            <a:r>
              <a:rPr lang="en-US" altLang="zh-CN" b="1">
                <a:latin typeface="Times New Roman" panose="02020603050405020304" pitchFamily="18" charset="0"/>
              </a:rPr>
              <a:t>RAM</a:t>
            </a:r>
            <a:r>
              <a:rPr lang="zh-CN" altLang="en-US" b="1" dirty="0">
                <a:latin typeface="Times New Roman" panose="02020603050405020304" pitchFamily="18" charset="0"/>
              </a:rPr>
              <a:t>地址计数器的时钟</a:t>
            </a:r>
            <a:r>
              <a:rPr lang="en-US" altLang="zh-CN" b="1">
                <a:latin typeface="Times New Roman" panose="02020603050405020304" pitchFamily="18" charset="0"/>
              </a:rPr>
              <a:t>CLK</a:t>
            </a:r>
            <a:r>
              <a:rPr lang="zh-CN" altLang="en-US" b="1">
                <a:latin typeface="Times New Roman" panose="02020603050405020304" pitchFamily="18" charset="0"/>
              </a:rPr>
              <a:t>和</a:t>
            </a:r>
            <a:r>
              <a:rPr lang="en-US" altLang="zh-CN" b="1">
                <a:latin typeface="Times New Roman" panose="02020603050405020304" pitchFamily="18" charset="0"/>
              </a:rPr>
              <a:t>RAM</a:t>
            </a:r>
            <a:r>
              <a:rPr lang="zh-CN" altLang="en-US" b="1" dirty="0">
                <a:latin typeface="Times New Roman" panose="02020603050405020304" pitchFamily="18" charset="0"/>
              </a:rPr>
              <a:t>写控制端</a:t>
            </a:r>
            <a:r>
              <a:rPr lang="en-US" altLang="zh-CN" b="1">
                <a:latin typeface="Times New Roman" panose="02020603050405020304" pitchFamily="18" charset="0"/>
              </a:rPr>
              <a:t>WE</a:t>
            </a:r>
            <a:r>
              <a:rPr lang="zh-CN" altLang="en-US" b="1" dirty="0">
                <a:latin typeface="Times New Roman" panose="02020603050405020304" pitchFamily="18" charset="0"/>
              </a:rPr>
              <a:t>在采集过程中等于</a:t>
            </a:r>
            <a:r>
              <a:rPr lang="en-US" altLang="zh-CN" b="1">
                <a:latin typeface="Times New Roman" panose="02020603050405020304" pitchFamily="18" charset="0"/>
              </a:rPr>
              <a:t>START</a:t>
            </a:r>
            <a:r>
              <a:rPr lang="zh-CN" altLang="en-US" b="1">
                <a:latin typeface="Times New Roman" panose="02020603050405020304" pitchFamily="18" charset="0"/>
              </a:rPr>
              <a:t>，</a:t>
            </a:r>
            <a:r>
              <a:rPr lang="zh-CN" altLang="en-US" b="1" dirty="0">
                <a:latin typeface="Times New Roman" panose="02020603050405020304" pitchFamily="18" charset="0"/>
              </a:rPr>
              <a:t>第一次</a:t>
            </a:r>
            <a:r>
              <a:rPr lang="en-US" altLang="zh-CN" b="1">
                <a:latin typeface="Times New Roman" panose="02020603050405020304" pitchFamily="18" charset="0"/>
              </a:rPr>
              <a:t>START</a:t>
            </a:r>
            <a:r>
              <a:rPr lang="zh-CN" altLang="en-US" b="1" dirty="0">
                <a:latin typeface="Times New Roman" panose="02020603050405020304" pitchFamily="18" charset="0"/>
              </a:rPr>
              <a:t>正脉冲期间，数据写入</a:t>
            </a:r>
            <a:r>
              <a:rPr lang="en-US" altLang="zh-CN" b="1">
                <a:latin typeface="Times New Roman" panose="02020603050405020304" pitchFamily="18" charset="0"/>
              </a:rPr>
              <a:t>RAM</a:t>
            </a:r>
            <a:r>
              <a:rPr lang="zh-CN" altLang="en-US" b="1" dirty="0">
                <a:latin typeface="Times New Roman" panose="02020603050405020304" pitchFamily="18" charset="0"/>
              </a:rPr>
              <a:t>的</a:t>
            </a:r>
            <a:r>
              <a:rPr lang="en-US" altLang="zh-CN" b="1">
                <a:latin typeface="Times New Roman" panose="02020603050405020304" pitchFamily="18" charset="0"/>
              </a:rPr>
              <a:t>0</a:t>
            </a:r>
            <a:r>
              <a:rPr lang="zh-CN" altLang="en-US" b="1" dirty="0">
                <a:latin typeface="Times New Roman" panose="02020603050405020304" pitchFamily="18" charset="0"/>
              </a:rPr>
              <a:t>单元</a:t>
            </a:r>
            <a:r>
              <a:rPr lang="en-US" altLang="zh-CN" b="1">
                <a:latin typeface="Times New Roman" panose="02020603050405020304" pitchFamily="18" charset="0"/>
              </a:rPr>
              <a:t>(</a:t>
            </a:r>
            <a:r>
              <a:rPr lang="zh-CN" altLang="en-US" b="1" dirty="0">
                <a:latin typeface="Times New Roman" panose="02020603050405020304" pitchFamily="18" charset="0"/>
              </a:rPr>
              <a:t>注意第一次</a:t>
            </a:r>
            <a:r>
              <a:rPr lang="en-US" altLang="zh-CN" b="1">
                <a:latin typeface="Times New Roman" panose="02020603050405020304" pitchFamily="18" charset="0"/>
              </a:rPr>
              <a:t>0</a:t>
            </a:r>
            <a:r>
              <a:rPr lang="zh-CN" altLang="en-US" b="1" dirty="0">
                <a:latin typeface="Times New Roman" panose="02020603050405020304" pitchFamily="18" charset="0"/>
              </a:rPr>
              <a:t>单元内容为不确定值，因此时</a:t>
            </a:r>
            <a:r>
              <a:rPr lang="en-US" altLang="zh-CN" b="1">
                <a:latin typeface="Times New Roman" panose="02020603050405020304" pitchFamily="18" charset="0"/>
              </a:rPr>
              <a:t>A/D</a:t>
            </a:r>
            <a:r>
              <a:rPr lang="zh-CN" altLang="en-US" b="1" dirty="0">
                <a:latin typeface="Times New Roman" panose="02020603050405020304" pitchFamily="18" charset="0"/>
              </a:rPr>
              <a:t>未工作</a:t>
            </a:r>
            <a:r>
              <a:rPr lang="en-US" altLang="zh-CN" b="1">
                <a:latin typeface="Times New Roman" panose="02020603050405020304" pitchFamily="18" charset="0"/>
              </a:rPr>
              <a:t>)</a:t>
            </a:r>
            <a:r>
              <a:rPr lang="zh-CN" altLang="en-US" b="1" dirty="0">
                <a:latin typeface="Times New Roman" panose="02020603050405020304" pitchFamily="18" charset="0"/>
              </a:rPr>
              <a:t>。 当</a:t>
            </a:r>
            <a:r>
              <a:rPr lang="en-US" altLang="zh-CN" b="1">
                <a:latin typeface="Times New Roman" panose="02020603050405020304" pitchFamily="18" charset="0"/>
              </a:rPr>
              <a:t>START</a:t>
            </a:r>
            <a:r>
              <a:rPr lang="zh-CN" altLang="en-US" b="1" dirty="0">
                <a:latin typeface="Times New Roman" panose="02020603050405020304" pitchFamily="18" charset="0"/>
              </a:rPr>
              <a:t>由</a:t>
            </a:r>
            <a:r>
              <a:rPr lang="en-US" altLang="zh-CN" b="1">
                <a:latin typeface="Times New Roman" panose="02020603050405020304" pitchFamily="18" charset="0"/>
              </a:rPr>
              <a:t>1</a:t>
            </a:r>
            <a:r>
              <a:rPr lang="zh-CN" altLang="en-US" b="1" dirty="0">
                <a:latin typeface="Times New Roman" panose="02020603050405020304" pitchFamily="18" charset="0"/>
              </a:rPr>
              <a:t>变</a:t>
            </a:r>
            <a:r>
              <a:rPr lang="en-US" altLang="zh-CN" b="1">
                <a:latin typeface="Times New Roman" panose="02020603050405020304" pitchFamily="18" charset="0"/>
              </a:rPr>
              <a:t>0</a:t>
            </a:r>
            <a:r>
              <a:rPr lang="zh-CN" altLang="en-US" b="1" dirty="0">
                <a:latin typeface="Times New Roman" panose="02020603050405020304" pitchFamily="18" charset="0"/>
              </a:rPr>
              <a:t>时，则</a:t>
            </a:r>
            <a:r>
              <a:rPr lang="en-US" altLang="zh-CN" b="1">
                <a:latin typeface="Times New Roman" panose="02020603050405020304" pitchFamily="18" charset="0"/>
              </a:rPr>
              <a:t>CLK</a:t>
            </a:r>
            <a:r>
              <a:rPr lang="zh-CN" altLang="en-US" b="1" dirty="0">
                <a:latin typeface="Times New Roman" panose="02020603050405020304" pitchFamily="18" charset="0"/>
              </a:rPr>
              <a:t>由</a:t>
            </a:r>
            <a:r>
              <a:rPr lang="en-US" altLang="zh-CN" b="1">
                <a:latin typeface="Times New Roman" panose="02020603050405020304" pitchFamily="18" charset="0"/>
              </a:rPr>
              <a:t>0</a:t>
            </a:r>
            <a:r>
              <a:rPr lang="zh-CN" altLang="en-US" b="1" dirty="0">
                <a:latin typeface="Times New Roman" panose="02020603050405020304" pitchFamily="18" charset="0"/>
              </a:rPr>
              <a:t>变</a:t>
            </a:r>
            <a:r>
              <a:rPr lang="en-US" altLang="zh-CN" b="1">
                <a:latin typeface="Times New Roman" panose="02020603050405020304" pitchFamily="18" charset="0"/>
              </a:rPr>
              <a:t>1</a:t>
            </a:r>
            <a:r>
              <a:rPr lang="zh-CN" altLang="en-US" b="1" dirty="0">
                <a:latin typeface="Times New Roman" panose="02020603050405020304" pitchFamily="18" charset="0"/>
              </a:rPr>
              <a:t>产生上升沿，使</a:t>
            </a:r>
            <a:r>
              <a:rPr lang="en-US" altLang="zh-CN" b="1">
                <a:latin typeface="Times New Roman" panose="02020603050405020304" pitchFamily="18" charset="0"/>
              </a:rPr>
              <a:t>RAM</a:t>
            </a:r>
            <a:r>
              <a:rPr lang="zh-CN" altLang="en-US" b="1" dirty="0">
                <a:latin typeface="Times New Roman" panose="02020603050405020304" pitchFamily="18" charset="0"/>
              </a:rPr>
              <a:t>地址加</a:t>
            </a:r>
            <a:r>
              <a:rPr lang="en-US" altLang="zh-CN" b="1">
                <a:latin typeface="Times New Roman" panose="02020603050405020304" pitchFamily="18" charset="0"/>
              </a:rPr>
              <a:t>1</a:t>
            </a:r>
            <a:r>
              <a:rPr lang="zh-CN" altLang="en-US" b="1" dirty="0">
                <a:latin typeface="Times New Roman" panose="02020603050405020304" pitchFamily="18" charset="0"/>
              </a:rPr>
              <a:t>。计数器地址从</a:t>
            </a:r>
            <a:r>
              <a:rPr lang="en-US" altLang="zh-CN" b="1">
                <a:latin typeface="Times New Roman" panose="02020603050405020304" pitchFamily="18" charset="0"/>
              </a:rPr>
              <a:t>1</a:t>
            </a:r>
            <a:r>
              <a:rPr lang="zh-CN" altLang="en-US" b="1" dirty="0">
                <a:latin typeface="Times New Roman" panose="02020603050405020304" pitchFamily="18" charset="0"/>
              </a:rPr>
              <a:t>计到全“</a:t>
            </a:r>
            <a:r>
              <a:rPr lang="en-US" altLang="zh-CN" b="1">
                <a:latin typeface="Times New Roman" panose="02020603050405020304" pitchFamily="18" charset="0"/>
              </a:rPr>
              <a:t>1”(4095</a:t>
            </a:r>
            <a:r>
              <a:rPr lang="zh-CN" altLang="en-US" b="1" dirty="0">
                <a:latin typeface="Times New Roman" panose="02020603050405020304" pitchFamily="18" charset="0"/>
              </a:rPr>
              <a:t>个单元</a:t>
            </a:r>
            <a:r>
              <a:rPr lang="en-US" altLang="zh-CN" b="1">
                <a:latin typeface="Times New Roman" panose="02020603050405020304" pitchFamily="18" charset="0"/>
              </a:rPr>
              <a:t>)</a:t>
            </a:r>
            <a:r>
              <a:rPr lang="zh-CN" altLang="en-US" b="1" dirty="0">
                <a:latin typeface="Times New Roman" panose="02020603050405020304" pitchFamily="18" charset="0"/>
              </a:rPr>
              <a:t>的地址为有用数据地址。当计数器为全“</a:t>
            </a:r>
            <a:r>
              <a:rPr lang="en-US" altLang="zh-CN" b="1">
                <a:latin typeface="Times New Roman" panose="02020603050405020304" pitchFamily="18" charset="0"/>
              </a:rPr>
              <a:t>1”</a:t>
            </a:r>
            <a:r>
              <a:rPr lang="zh-CN" altLang="en-US" b="1" dirty="0">
                <a:latin typeface="Times New Roman" panose="02020603050405020304" pitchFamily="18" charset="0"/>
              </a:rPr>
              <a:t>时，产生一上升沿送至</a:t>
            </a:r>
            <a:r>
              <a:rPr lang="en-US" altLang="zh-CN" b="1">
                <a:latin typeface="Times New Roman" panose="02020603050405020304" pitchFamily="18" charset="0"/>
              </a:rPr>
              <a:t>D</a:t>
            </a:r>
            <a:r>
              <a:rPr lang="zh-CN" altLang="en-US" b="1" dirty="0">
                <a:latin typeface="Times New Roman" panose="02020603050405020304" pitchFamily="18" charset="0"/>
              </a:rPr>
              <a:t>触发器的</a:t>
            </a:r>
            <a:r>
              <a:rPr lang="en-US" altLang="zh-CN" b="1">
                <a:latin typeface="Times New Roman" panose="02020603050405020304" pitchFamily="18" charset="0"/>
              </a:rPr>
              <a:t>CLK</a:t>
            </a:r>
            <a:r>
              <a:rPr lang="zh-CN" altLang="en-US" b="1" dirty="0">
                <a:latin typeface="Times New Roman" panose="02020603050405020304" pitchFamily="18" charset="0"/>
              </a:rPr>
              <a:t>端，使</a:t>
            </a:r>
            <a:r>
              <a:rPr lang="en-US" altLang="zh-CN" b="1" i="1">
                <a:latin typeface="Times New Roman" panose="02020603050405020304" pitchFamily="18" charset="0"/>
              </a:rPr>
              <a:t>Q</a:t>
            </a:r>
            <a:r>
              <a:rPr lang="en-US" altLang="zh-CN" b="1">
                <a:latin typeface="Times New Roman" panose="02020603050405020304" pitchFamily="18" charset="0"/>
              </a:rPr>
              <a:t>=0</a:t>
            </a:r>
            <a:r>
              <a:rPr lang="zh-CN" altLang="en-US" b="1">
                <a:latin typeface="Times New Roman" panose="02020603050405020304" pitchFamily="18" charset="0"/>
              </a:rPr>
              <a:t>，</a:t>
            </a:r>
            <a:r>
              <a:rPr lang="en-US" altLang="zh-CN" b="1">
                <a:latin typeface="Times New Roman" panose="02020603050405020304" pitchFamily="18" charset="0"/>
              </a:rPr>
              <a:t>OE=0</a:t>
            </a:r>
            <a:r>
              <a:rPr lang="zh-CN" altLang="en-US" b="1">
                <a:latin typeface="Times New Roman" panose="02020603050405020304" pitchFamily="18" charset="0"/>
              </a:rPr>
              <a:t>，</a:t>
            </a:r>
            <a:r>
              <a:rPr lang="zh-CN" altLang="en-US" b="1" dirty="0">
                <a:latin typeface="Times New Roman" panose="02020603050405020304" pitchFamily="18" charset="0"/>
              </a:rPr>
              <a:t>数据禁止输出，同时使</a:t>
            </a:r>
            <a:r>
              <a:rPr lang="en-US" altLang="zh-CN" b="1">
                <a:latin typeface="Times New Roman" panose="02020603050405020304" pitchFamily="18" charset="0"/>
              </a:rPr>
              <a:t>RAM</a:t>
            </a:r>
            <a:r>
              <a:rPr lang="zh-CN" altLang="en-US" b="1">
                <a:latin typeface="Times New Roman" panose="02020603050405020304" pitchFamily="18" charset="0"/>
              </a:rPr>
              <a:t>的</a:t>
            </a:r>
            <a:r>
              <a:rPr lang="en-US" altLang="zh-CN" b="1">
                <a:latin typeface="Times New Roman" panose="02020603050405020304" pitchFamily="18" charset="0"/>
              </a:rPr>
              <a:t>WE=1, </a:t>
            </a:r>
            <a:r>
              <a:rPr lang="zh-CN" altLang="en-US" b="1" dirty="0">
                <a:latin typeface="Times New Roman" panose="02020603050405020304" pitchFamily="18" charset="0"/>
              </a:rPr>
              <a:t>读出信号</a:t>
            </a:r>
            <a:r>
              <a:rPr lang="en-US" altLang="zh-CN" b="1">
                <a:latin typeface="Times New Roman" panose="02020603050405020304" pitchFamily="18" charset="0"/>
              </a:rPr>
              <a:t>RD=0</a:t>
            </a:r>
            <a:r>
              <a:rPr lang="zh-CN" altLang="en-US" b="1">
                <a:latin typeface="Times New Roman" panose="02020603050405020304" pitchFamily="18" charset="0"/>
              </a:rPr>
              <a:t>，</a:t>
            </a:r>
            <a:r>
              <a:rPr lang="zh-CN" altLang="en-US" b="1" dirty="0">
                <a:latin typeface="Times New Roman" panose="02020603050405020304" pitchFamily="18" charset="0"/>
              </a:rPr>
              <a:t>进入</a:t>
            </a:r>
            <a:r>
              <a:rPr lang="en-US" altLang="zh-CN" b="1">
                <a:latin typeface="Times New Roman" panose="02020603050405020304" pitchFamily="18" charset="0"/>
              </a:rPr>
              <a:t>RAM</a:t>
            </a:r>
            <a:r>
              <a:rPr lang="zh-CN" altLang="en-US" b="1" dirty="0">
                <a:latin typeface="Times New Roman" panose="02020603050405020304" pitchFamily="18" charset="0"/>
              </a:rPr>
              <a:t>数据读出过</a:t>
            </a:r>
            <a:r>
              <a:rPr lang="zh-CN" altLang="en-US" b="1" dirty="0">
                <a:latin typeface="Times New Roman" panose="02020603050405020304" pitchFamily="18" charset="0"/>
              </a:rPr>
              <a:t>程。 </a:t>
            </a:r>
            <a:endParaRPr lang="zh-CN" altLang="en-US" b="1">
              <a:latin typeface="Times New Roman" panose="02020603050405020304" pitchFamily="18" charset="0"/>
            </a:endParaRPr>
          </a:p>
        </p:txBody>
      </p:sp>
      <p:sp>
        <p:nvSpPr>
          <p:cNvPr id="334851" name="直接连接符 334850"/>
          <p:cNvSpPr/>
          <p:nvPr/>
        </p:nvSpPr>
        <p:spPr>
          <a:xfrm>
            <a:off x="6172200" y="1371600"/>
            <a:ext cx="381000" cy="0"/>
          </a:xfrm>
          <a:prstGeom prst="line">
            <a:avLst/>
          </a:prstGeom>
          <a:ln w="9525" cap="flat" cmpd="sng">
            <a:solidFill>
              <a:schemeClr val="tx1"/>
            </a:solidFill>
            <a:prstDash val="solid"/>
            <a:headEnd type="none" w="med" len="med"/>
            <a:tailEnd type="none" w="med" len="med"/>
          </a:ln>
        </p:spPr>
      </p:sp>
      <p:sp>
        <p:nvSpPr>
          <p:cNvPr id="334852" name="直接连接符 334851"/>
          <p:cNvSpPr/>
          <p:nvPr/>
        </p:nvSpPr>
        <p:spPr>
          <a:xfrm>
            <a:off x="1295400" y="1905000"/>
            <a:ext cx="914400" cy="0"/>
          </a:xfrm>
          <a:prstGeom prst="line">
            <a:avLst/>
          </a:prstGeom>
          <a:ln w="9525" cap="flat" cmpd="sng">
            <a:solidFill>
              <a:schemeClr val="tx1"/>
            </a:solidFill>
            <a:prstDash val="solid"/>
            <a:headEnd type="none" w="med" len="med"/>
            <a:tailEnd type="none" w="med" len="med"/>
          </a:ln>
        </p:spPr>
      </p:sp>
      <p:sp>
        <p:nvSpPr>
          <p:cNvPr id="334853" name="直接连接符 334852"/>
          <p:cNvSpPr/>
          <p:nvPr/>
        </p:nvSpPr>
        <p:spPr>
          <a:xfrm>
            <a:off x="2667000" y="5210175"/>
            <a:ext cx="381000" cy="0"/>
          </a:xfrm>
          <a:prstGeom prst="line">
            <a:avLst/>
          </a:prstGeom>
          <a:ln w="9525" cap="flat" cmpd="sng">
            <a:solidFill>
              <a:schemeClr val="tx1"/>
            </a:solidFill>
            <a:prstDash val="solid"/>
            <a:headEnd type="none" w="med" len="med"/>
            <a:tailEnd type="none" w="med" len="med"/>
          </a:ln>
        </p:spPr>
      </p:sp>
      <p:sp>
        <p:nvSpPr>
          <p:cNvPr id="334854" name="直接连接符 334853"/>
          <p:cNvSpPr/>
          <p:nvPr/>
        </p:nvSpPr>
        <p:spPr>
          <a:xfrm>
            <a:off x="4910138" y="5229225"/>
            <a:ext cx="381000" cy="0"/>
          </a:xfrm>
          <a:prstGeom prst="line">
            <a:avLst/>
          </a:prstGeom>
          <a:ln w="9525" cap="flat" cmpd="sng">
            <a:solidFill>
              <a:schemeClr val="tx1"/>
            </a:solidFill>
            <a:prstDash val="solid"/>
            <a:headEnd type="none" w="med" len="med"/>
            <a:tailEnd type="none" w="med" len="med"/>
          </a:ln>
        </p:spPr>
      </p:sp>
    </p:spTree>
  </p:cSld>
  <p:clrMapOvr>
    <a:masterClrMapping/>
  </p:clrMapOvr>
  <p:transition>
    <p:blinds dir="vert"/>
  </p:transition>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35874" name="文本框 335873"/>
          <p:cNvSpPr txBox="1"/>
          <p:nvPr/>
        </p:nvSpPr>
        <p:spPr>
          <a:xfrm>
            <a:off x="609600" y="762000"/>
            <a:ext cx="8001000" cy="5046663"/>
          </a:xfrm>
          <a:prstGeom prst="rect">
            <a:avLst/>
          </a:prstGeom>
          <a:noFill/>
          <a:ln w="9525">
            <a:noFill/>
          </a:ln>
        </p:spPr>
        <p:txBody>
          <a:bodyPr>
            <a:spAutoFit/>
          </a:bodyPr>
          <a:p>
            <a:pPr algn="just">
              <a:lnSpc>
                <a:spcPct val="145000"/>
              </a:lnSpc>
              <a:spcBef>
                <a:spcPct val="50000"/>
              </a:spcBef>
            </a:pPr>
            <a:r>
              <a:rPr lang="en-US" altLang="zh-CN" dirty="0">
                <a:latin typeface="Times New Roman" panose="02020603050405020304" pitchFamily="18" charset="0"/>
              </a:rPr>
              <a:t>        </a:t>
            </a:r>
            <a:r>
              <a:rPr lang="zh-CN" altLang="en-US" b="1" dirty="0">
                <a:latin typeface="Times New Roman" panose="02020603050405020304" pitchFamily="18" charset="0"/>
              </a:rPr>
              <a:t>数据读出显示过程：在采集写入结束后电路自动转入读出过程，</a:t>
            </a:r>
            <a:r>
              <a:rPr lang="en-US" altLang="zh-CN" b="1">
                <a:latin typeface="Times New Roman" panose="02020603050405020304" pitchFamily="18" charset="0"/>
              </a:rPr>
              <a:t>RD=0</a:t>
            </a:r>
            <a:r>
              <a:rPr lang="zh-CN" altLang="en-US" b="1">
                <a:latin typeface="Times New Roman" panose="02020603050405020304" pitchFamily="18" charset="0"/>
              </a:rPr>
              <a:t>。</a:t>
            </a:r>
            <a:r>
              <a:rPr lang="zh-CN" altLang="en-US" b="1" dirty="0">
                <a:latin typeface="Times New Roman" panose="02020603050405020304" pitchFamily="18" charset="0"/>
              </a:rPr>
              <a:t>由于与门</a:t>
            </a:r>
            <a:r>
              <a:rPr lang="en-US" altLang="zh-CN" b="1">
                <a:latin typeface="Times New Roman" panose="02020603050405020304" pitchFamily="18" charset="0"/>
              </a:rPr>
              <a:t>A8∶A</a:t>
            </a:r>
            <a:r>
              <a:rPr lang="zh-CN" altLang="en-US" b="1" dirty="0">
                <a:latin typeface="Times New Roman" panose="02020603050405020304" pitchFamily="18" charset="0"/>
              </a:rPr>
              <a:t>的</a:t>
            </a:r>
            <a:r>
              <a:rPr lang="en-US" altLang="zh-CN" b="1">
                <a:latin typeface="Times New Roman" panose="02020603050405020304" pitchFamily="18" charset="0"/>
              </a:rPr>
              <a:t>1</a:t>
            </a:r>
            <a:r>
              <a:rPr lang="zh-CN" altLang="en-US" b="1" dirty="0">
                <a:latin typeface="Times New Roman" panose="02020603050405020304" pitchFamily="18" charset="0"/>
              </a:rPr>
              <a:t>端等于</a:t>
            </a:r>
            <a:r>
              <a:rPr lang="en-US" altLang="zh-CN" b="1">
                <a:latin typeface="Times New Roman" panose="02020603050405020304" pitchFamily="18" charset="0"/>
              </a:rPr>
              <a:t>1(</a:t>
            </a:r>
            <a:r>
              <a:rPr lang="zh-CN" altLang="en-US" b="1" dirty="0">
                <a:latin typeface="Times New Roman" panose="02020603050405020304" pitchFamily="18" charset="0"/>
              </a:rPr>
              <a:t>因</a:t>
            </a:r>
            <a:r>
              <a:rPr lang="en-US" altLang="zh-CN" b="1" i="1">
                <a:latin typeface="Times New Roman" panose="02020603050405020304" pitchFamily="18" charset="0"/>
              </a:rPr>
              <a:t>Q</a:t>
            </a:r>
            <a:r>
              <a:rPr lang="en-US" altLang="zh-CN" b="1">
                <a:latin typeface="Times New Roman" panose="02020603050405020304" pitchFamily="18" charset="0"/>
              </a:rPr>
              <a:t>=0)</a:t>
            </a:r>
            <a:r>
              <a:rPr lang="zh-CN" altLang="en-US" b="1">
                <a:latin typeface="Times New Roman" panose="02020603050405020304" pitchFamily="18" charset="0"/>
              </a:rPr>
              <a:t>，</a:t>
            </a:r>
            <a:r>
              <a:rPr lang="zh-CN" altLang="en-US" b="1" dirty="0">
                <a:latin typeface="Times New Roman" panose="02020603050405020304" pitchFamily="18" charset="0"/>
              </a:rPr>
              <a:t>只要手动开关</a:t>
            </a:r>
            <a:r>
              <a:rPr lang="en-US" altLang="zh-CN" b="1">
                <a:latin typeface="Times New Roman" panose="02020603050405020304" pitchFamily="18" charset="0"/>
              </a:rPr>
              <a:t>S2</a:t>
            </a:r>
            <a:r>
              <a:rPr lang="zh-CN" altLang="en-US" b="1">
                <a:latin typeface="Times New Roman" panose="02020603050405020304" pitchFamily="18" charset="0"/>
              </a:rPr>
              <a:t>由</a:t>
            </a:r>
            <a:r>
              <a:rPr lang="en-US" altLang="zh-CN" b="1" i="1">
                <a:latin typeface="Times New Roman" panose="02020603050405020304" pitchFamily="18" charset="0"/>
              </a:rPr>
              <a:t>U</a:t>
            </a:r>
            <a:r>
              <a:rPr lang="en-US" altLang="zh-CN" b="1" baseline="-25000">
                <a:latin typeface="Times New Roman" panose="02020603050405020304" pitchFamily="18" charset="0"/>
              </a:rPr>
              <a:t>CC</a:t>
            </a:r>
            <a:r>
              <a:rPr lang="en-US" altLang="zh-CN" b="1">
                <a:latin typeface="Times New Roman" panose="02020603050405020304" pitchFamily="18" charset="0"/>
              </a:rPr>
              <a:t>→</a:t>
            </a:r>
            <a:r>
              <a:rPr lang="zh-CN" altLang="en-US" b="1" dirty="0">
                <a:latin typeface="Times New Roman" panose="02020603050405020304" pitchFamily="18" charset="0"/>
              </a:rPr>
              <a:t>地</a:t>
            </a:r>
            <a:r>
              <a:rPr lang="en-US" altLang="zh-CN" b="1">
                <a:latin typeface="Times New Roman" panose="02020603050405020304" pitchFamily="18" charset="0"/>
              </a:rPr>
              <a:t>→</a:t>
            </a:r>
            <a:r>
              <a:rPr lang="en-US" altLang="zh-CN" b="1" i="1">
                <a:latin typeface="Times New Roman" panose="02020603050405020304" pitchFamily="18" charset="0"/>
              </a:rPr>
              <a:t>U</a:t>
            </a:r>
            <a:r>
              <a:rPr lang="en-US" altLang="zh-CN" b="1" baseline="-25000">
                <a:latin typeface="Times New Roman" panose="02020603050405020304" pitchFamily="18" charset="0"/>
              </a:rPr>
              <a:t>CC</a:t>
            </a:r>
            <a:r>
              <a:rPr lang="zh-CN" altLang="en-US" b="1" dirty="0">
                <a:latin typeface="Times New Roman" panose="02020603050405020304" pitchFamily="18" charset="0"/>
              </a:rPr>
              <a:t>一次，地址计数器加</a:t>
            </a:r>
            <a:r>
              <a:rPr lang="en-US" altLang="zh-CN" b="1">
                <a:latin typeface="Times New Roman" panose="02020603050405020304" pitchFamily="18" charset="0"/>
              </a:rPr>
              <a:t>1</a:t>
            </a:r>
            <a:r>
              <a:rPr lang="zh-CN" altLang="en-US" b="1" dirty="0">
                <a:latin typeface="Times New Roman" panose="02020603050405020304" pitchFamily="18" charset="0"/>
              </a:rPr>
              <a:t>，</a:t>
            </a:r>
            <a:r>
              <a:rPr lang="en-US" altLang="zh-CN" b="1">
                <a:latin typeface="Times New Roman" panose="02020603050405020304" pitchFamily="18" charset="0"/>
              </a:rPr>
              <a:t>RAM</a:t>
            </a:r>
            <a:r>
              <a:rPr lang="zh-CN" altLang="en-US" b="1" dirty="0">
                <a:latin typeface="Times New Roman" panose="02020603050405020304" pitchFamily="18" charset="0"/>
              </a:rPr>
              <a:t>数据送入数码管驱动译码器</a:t>
            </a:r>
            <a:r>
              <a:rPr lang="en-US" altLang="zh-CN" b="1">
                <a:latin typeface="Times New Roman" panose="02020603050405020304" pitchFamily="18" charset="0"/>
              </a:rPr>
              <a:t>7448</a:t>
            </a:r>
            <a:r>
              <a:rPr lang="zh-CN" altLang="en-US" b="1" dirty="0">
                <a:latin typeface="Times New Roman" panose="02020603050405020304" pitchFamily="18" charset="0"/>
              </a:rPr>
              <a:t>，显示</a:t>
            </a:r>
            <a:r>
              <a:rPr lang="en-US" altLang="zh-CN" b="1">
                <a:latin typeface="Times New Roman" panose="02020603050405020304" pitchFamily="18" charset="0"/>
              </a:rPr>
              <a:t>RAM</a:t>
            </a:r>
            <a:r>
              <a:rPr lang="zh-CN" altLang="en-US" b="1" dirty="0">
                <a:latin typeface="Times New Roman" panose="02020603050405020304" pitchFamily="18" charset="0"/>
              </a:rPr>
              <a:t>各单元的数据。数据显示为八进制方式，八位数据为全 </a:t>
            </a:r>
            <a:r>
              <a:rPr lang="en-US" altLang="zh-CN" b="1">
                <a:latin typeface="Times New Roman" panose="02020603050405020304" pitchFamily="18" charset="0"/>
              </a:rPr>
              <a:t>1 </a:t>
            </a:r>
            <a:r>
              <a:rPr lang="zh-CN" altLang="en-US" b="1" dirty="0">
                <a:latin typeface="Times New Roman" panose="02020603050405020304" pitchFamily="18" charset="0"/>
              </a:rPr>
              <a:t>时显示 </a:t>
            </a:r>
            <a:r>
              <a:rPr lang="en-US" altLang="zh-CN" b="1">
                <a:latin typeface="Times New Roman" panose="02020603050405020304" pitchFamily="18" charset="0"/>
              </a:rPr>
              <a:t>377</a:t>
            </a:r>
            <a:r>
              <a:rPr lang="zh-CN" altLang="en-US" b="1" dirty="0">
                <a:latin typeface="Times New Roman" panose="02020603050405020304" pitchFamily="18" charset="0"/>
              </a:rPr>
              <a:t>，表示输入信号为 </a:t>
            </a:r>
            <a:r>
              <a:rPr lang="en-US" altLang="zh-CN" b="1">
                <a:latin typeface="Times New Roman" panose="02020603050405020304" pitchFamily="18" charset="0"/>
              </a:rPr>
              <a:t>5V</a:t>
            </a:r>
            <a:r>
              <a:rPr lang="zh-CN" altLang="en-US" b="1">
                <a:latin typeface="Times New Roman" panose="02020603050405020304" pitchFamily="18" charset="0"/>
              </a:rPr>
              <a:t>。</a:t>
            </a:r>
            <a:endParaRPr lang="zh-CN" altLang="en-US" b="1">
              <a:latin typeface="Times New Roman" panose="02020603050405020304" pitchFamily="18" charset="0"/>
            </a:endParaRPr>
          </a:p>
          <a:p>
            <a:pPr algn="just">
              <a:lnSpc>
                <a:spcPct val="145000"/>
              </a:lnSpc>
              <a:spcBef>
                <a:spcPct val="50000"/>
              </a:spcBef>
            </a:pPr>
            <a:r>
              <a:rPr lang="zh-CN" altLang="en-US" b="1" dirty="0">
                <a:latin typeface="Times New Roman" panose="02020603050405020304" pitchFamily="18" charset="0"/>
              </a:rPr>
              <a:t>        该系统只要拨动开关</a:t>
            </a:r>
            <a:r>
              <a:rPr lang="en-US" altLang="zh-CN" b="1">
                <a:latin typeface="Times New Roman" panose="02020603050405020304" pitchFamily="18" charset="0"/>
              </a:rPr>
              <a:t>S2</a:t>
            </a:r>
            <a:r>
              <a:rPr lang="zh-CN" altLang="en-US" b="1">
                <a:latin typeface="Times New Roman" panose="02020603050405020304" pitchFamily="18" charset="0"/>
              </a:rPr>
              <a:t>和</a:t>
            </a:r>
            <a:r>
              <a:rPr lang="en-US" altLang="zh-CN" b="1">
                <a:latin typeface="Times New Roman" panose="02020603050405020304" pitchFamily="18" charset="0"/>
              </a:rPr>
              <a:t>S1</a:t>
            </a:r>
            <a:r>
              <a:rPr lang="zh-CN" altLang="en-US" b="1" dirty="0">
                <a:latin typeface="Times New Roman" panose="02020603050405020304" pitchFamily="18" charset="0"/>
              </a:rPr>
              <a:t>就可开始自动采集存储，采集存储结束后自动转入手动</a:t>
            </a:r>
            <a:r>
              <a:rPr lang="en-US" altLang="zh-CN" b="1">
                <a:latin typeface="Times New Roman" panose="02020603050405020304" pitchFamily="18" charset="0"/>
              </a:rPr>
              <a:t>S2</a:t>
            </a:r>
            <a:r>
              <a:rPr lang="zh-CN" altLang="en-US" b="1" dirty="0">
                <a:latin typeface="Times New Roman" panose="02020603050405020304" pitchFamily="18" charset="0"/>
              </a:rPr>
              <a:t>进行读出显示。 这样可以实现快速采集存储， 慢慢读出已存储的数据以便观测。 </a:t>
            </a:r>
            <a:endParaRPr lang="zh-CN" altLang="en-US" b="1">
              <a:latin typeface="Times New Roman" panose="02020603050405020304" pitchFamily="18" charset="0"/>
            </a:endParaRPr>
          </a:p>
        </p:txBody>
      </p:sp>
    </p:spTree>
  </p:cSld>
  <p:clrMapOvr>
    <a:masterClrMapping/>
  </p:clrMapOvr>
  <p:transition>
    <p:blinds dir="vert"/>
  </p:transition>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36898" name="文本框 336897"/>
          <p:cNvSpPr txBox="1"/>
          <p:nvPr/>
        </p:nvSpPr>
        <p:spPr>
          <a:xfrm>
            <a:off x="990600" y="609600"/>
            <a:ext cx="3829050" cy="457200"/>
          </a:xfrm>
          <a:prstGeom prst="rect">
            <a:avLst/>
          </a:prstGeom>
          <a:noFill/>
          <a:ln w="9525">
            <a:noFill/>
          </a:ln>
        </p:spPr>
        <p:txBody>
          <a:bodyPr wrap="none" anchor="t" anchorCtr="0">
            <a:spAutoFit/>
          </a:bodyPr>
          <a:p>
            <a:r>
              <a:rPr lang="en-US" altLang="zh-CN">
                <a:latin typeface="Times New Roman" panose="02020603050405020304" pitchFamily="18" charset="0"/>
              </a:rPr>
              <a:t>2) </a:t>
            </a:r>
            <a:r>
              <a:rPr lang="zh-CN" altLang="en-US">
                <a:latin typeface="Times New Roman" panose="02020603050405020304" pitchFamily="18" charset="0"/>
              </a:rPr>
              <a:t></a:t>
            </a:r>
            <a:r>
              <a:rPr lang="en-US" altLang="zh-CN">
                <a:latin typeface="Times New Roman" panose="02020603050405020304" pitchFamily="18" charset="0"/>
              </a:rPr>
              <a:t>89C51</a:t>
            </a:r>
            <a:r>
              <a:rPr lang="zh-CN" altLang="en-US" dirty="0">
                <a:latin typeface="Times New Roman" panose="02020603050405020304" pitchFamily="18" charset="0"/>
              </a:rPr>
              <a:t>控制的采集系统 </a:t>
            </a:r>
            <a:endParaRPr lang="zh-CN" altLang="en-US">
              <a:latin typeface="Times New Roman" panose="02020603050405020304" pitchFamily="18" charset="0"/>
            </a:endParaRPr>
          </a:p>
        </p:txBody>
      </p:sp>
      <p:sp>
        <p:nvSpPr>
          <p:cNvPr id="336899" name="文本框 336898"/>
          <p:cNvSpPr txBox="1"/>
          <p:nvPr/>
        </p:nvSpPr>
        <p:spPr>
          <a:xfrm>
            <a:off x="3200400" y="5867400"/>
            <a:ext cx="3460750" cy="457200"/>
          </a:xfrm>
          <a:prstGeom prst="rect">
            <a:avLst/>
          </a:prstGeom>
          <a:noFill/>
          <a:ln w="9525">
            <a:noFill/>
          </a:ln>
        </p:spPr>
        <p:txBody>
          <a:bodyPr wrap="none" anchor="t" anchorCtr="0">
            <a:spAutoFit/>
          </a:bodyPr>
          <a:p>
            <a:r>
              <a:rPr lang="zh-CN" altLang="en-US" dirty="0">
                <a:latin typeface="Times New Roman" panose="02020603050405020304" pitchFamily="18" charset="0"/>
              </a:rPr>
              <a:t>图 </a:t>
            </a:r>
            <a:r>
              <a:rPr lang="en-US" altLang="zh-CN">
                <a:latin typeface="Times New Roman" panose="02020603050405020304" pitchFamily="18" charset="0"/>
              </a:rPr>
              <a:t>11-34 89C51</a:t>
            </a:r>
            <a:r>
              <a:rPr lang="zh-CN" altLang="en-US" dirty="0">
                <a:latin typeface="Times New Roman" panose="02020603050405020304" pitchFamily="18" charset="0"/>
              </a:rPr>
              <a:t>采集框图 </a:t>
            </a:r>
            <a:endParaRPr lang="zh-CN" altLang="en-US">
              <a:latin typeface="Times New Roman" panose="02020603050405020304" pitchFamily="18" charset="0"/>
            </a:endParaRPr>
          </a:p>
        </p:txBody>
      </p:sp>
      <p:pic>
        <p:nvPicPr>
          <p:cNvPr id="336900" name="图片 336899" descr="未标题-1 拷贝"/>
          <p:cNvPicPr>
            <a:picLocks noChangeAspect="1"/>
          </p:cNvPicPr>
          <p:nvPr/>
        </p:nvPicPr>
        <p:blipFill>
          <a:blip r:embed="rId1"/>
          <a:stretch>
            <a:fillRect/>
          </a:stretch>
        </p:blipFill>
        <p:spPr>
          <a:xfrm>
            <a:off x="2057400" y="1219200"/>
            <a:ext cx="5943600" cy="4683125"/>
          </a:xfrm>
          <a:prstGeom prst="rect">
            <a:avLst/>
          </a:prstGeom>
          <a:noFill/>
          <a:ln w="9525">
            <a:noFill/>
          </a:ln>
        </p:spPr>
      </p:pic>
    </p:spTree>
  </p:cSld>
  <p:clrMapOvr>
    <a:masterClrMapping/>
  </p:clrMapOvr>
  <p:transition>
    <p:blinds dir="vert"/>
  </p:transition>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37922" name="文本框 337921"/>
          <p:cNvSpPr txBox="1"/>
          <p:nvPr/>
        </p:nvSpPr>
        <p:spPr>
          <a:xfrm>
            <a:off x="762000" y="914400"/>
            <a:ext cx="7772400" cy="5386388"/>
          </a:xfrm>
          <a:prstGeom prst="rect">
            <a:avLst/>
          </a:prstGeom>
          <a:noFill/>
          <a:ln w="9525">
            <a:noFill/>
          </a:ln>
        </p:spPr>
        <p:txBody>
          <a:bodyPr>
            <a:spAutoFit/>
          </a:bodyPr>
          <a:p>
            <a:pPr algn="just">
              <a:lnSpc>
                <a:spcPct val="140000"/>
              </a:lnSpc>
              <a:spcBef>
                <a:spcPct val="50000"/>
              </a:spcBef>
            </a:pPr>
            <a:r>
              <a:rPr lang="en-US" altLang="zh-CN" dirty="0">
                <a:latin typeface="Times New Roman" panose="02020603050405020304" pitchFamily="18" charset="0"/>
              </a:rPr>
              <a:t>         </a:t>
            </a:r>
            <a:r>
              <a:rPr lang="en-US" altLang="zh-CN" b="1">
                <a:latin typeface="Times New Roman" panose="02020603050405020304" pitchFamily="18" charset="0"/>
              </a:rPr>
              <a:t>89C51</a:t>
            </a:r>
            <a:r>
              <a:rPr lang="zh-CN" altLang="en-US" b="1" dirty="0">
                <a:latin typeface="Times New Roman" panose="02020603050405020304" pitchFamily="18" charset="0"/>
              </a:rPr>
              <a:t>通过地址线</a:t>
            </a:r>
            <a:r>
              <a:rPr lang="en-US" altLang="zh-CN" b="1">
                <a:latin typeface="Times New Roman" panose="02020603050405020304" pitchFamily="18" charset="0"/>
              </a:rPr>
              <a:t>P2.0</a:t>
            </a:r>
            <a:r>
              <a:rPr lang="zh-CN" altLang="en-US" b="1" dirty="0">
                <a:latin typeface="Times New Roman" panose="02020603050405020304" pitchFamily="18" charset="0"/>
              </a:rPr>
              <a:t>和读、写控制线</a:t>
            </a:r>
            <a:r>
              <a:rPr lang="en-US" altLang="zh-CN" b="1">
                <a:latin typeface="Times New Roman" panose="02020603050405020304" pitchFamily="18" charset="0"/>
              </a:rPr>
              <a:t>RD</a:t>
            </a:r>
            <a:r>
              <a:rPr lang="zh-CN" altLang="en-US" b="1">
                <a:latin typeface="Times New Roman" panose="02020603050405020304" pitchFamily="18" charset="0"/>
              </a:rPr>
              <a:t>、</a:t>
            </a:r>
            <a:r>
              <a:rPr lang="en-US" altLang="zh-CN" b="1">
                <a:latin typeface="Times New Roman" panose="02020603050405020304" pitchFamily="18" charset="0"/>
              </a:rPr>
              <a:t>WR</a:t>
            </a:r>
            <a:r>
              <a:rPr lang="zh-CN" altLang="en-US" b="1" dirty="0">
                <a:latin typeface="Times New Roman" panose="02020603050405020304" pitchFamily="18" charset="0"/>
              </a:rPr>
              <a:t>来产生</a:t>
            </a:r>
            <a:r>
              <a:rPr lang="en-US" altLang="zh-CN" b="1">
                <a:latin typeface="Times New Roman" panose="02020603050405020304" pitchFamily="18" charset="0"/>
              </a:rPr>
              <a:t>ADC0809</a:t>
            </a:r>
            <a:r>
              <a:rPr lang="zh-CN" altLang="en-US" b="1">
                <a:latin typeface="Times New Roman" panose="02020603050405020304" pitchFamily="18" charset="0"/>
              </a:rPr>
              <a:t>的</a:t>
            </a:r>
            <a:r>
              <a:rPr lang="en-US" altLang="zh-CN" b="1">
                <a:latin typeface="Times New Roman" panose="02020603050405020304" pitchFamily="18" charset="0"/>
              </a:rPr>
              <a:t>ALE</a:t>
            </a:r>
            <a:r>
              <a:rPr lang="zh-CN" altLang="en-US" b="1" dirty="0">
                <a:latin typeface="Times New Roman" panose="02020603050405020304" pitchFamily="18" charset="0"/>
              </a:rPr>
              <a:t>信号、启动信号</a:t>
            </a:r>
            <a:r>
              <a:rPr lang="en-US" altLang="zh-CN" b="1">
                <a:latin typeface="Times New Roman" panose="02020603050405020304" pitchFamily="18" charset="0"/>
              </a:rPr>
              <a:t>START</a:t>
            </a:r>
            <a:r>
              <a:rPr lang="zh-CN" altLang="en-US" b="1" dirty="0">
                <a:latin typeface="Times New Roman" panose="02020603050405020304" pitchFamily="18" charset="0"/>
              </a:rPr>
              <a:t>和输出允许信号</a:t>
            </a:r>
            <a:r>
              <a:rPr lang="en-US" altLang="zh-CN" b="1">
                <a:latin typeface="Times New Roman" panose="02020603050405020304" pitchFamily="18" charset="0"/>
              </a:rPr>
              <a:t>OE</a:t>
            </a:r>
            <a:r>
              <a:rPr lang="zh-CN" altLang="en-US" b="1">
                <a:latin typeface="Times New Roman" panose="02020603050405020304" pitchFamily="18" charset="0"/>
              </a:rPr>
              <a:t>。 </a:t>
            </a:r>
            <a:r>
              <a:rPr lang="zh-CN" altLang="en-US" b="1" dirty="0">
                <a:latin typeface="Times New Roman" panose="02020603050405020304" pitchFamily="18" charset="0"/>
              </a:rPr>
              <a:t>模拟输入通道地址的译码输入</a:t>
            </a:r>
            <a:r>
              <a:rPr lang="en-US" altLang="zh-CN" b="1">
                <a:latin typeface="Times New Roman" panose="02020603050405020304" pitchFamily="18" charset="0"/>
              </a:rPr>
              <a:t>ADD</a:t>
            </a:r>
            <a:r>
              <a:rPr lang="en-US" altLang="zh-CN" b="1" i="1">
                <a:latin typeface="Times New Roman" panose="02020603050405020304" pitchFamily="18" charset="0"/>
              </a:rPr>
              <a:t>A</a:t>
            </a:r>
            <a:r>
              <a:rPr lang="zh-CN" altLang="en-US" b="1">
                <a:latin typeface="Times New Roman" panose="02020603050405020304" pitchFamily="18" charset="0"/>
              </a:rPr>
              <a:t>、</a:t>
            </a:r>
            <a:r>
              <a:rPr lang="en-US" altLang="zh-CN" b="1">
                <a:latin typeface="Times New Roman" panose="02020603050405020304" pitchFamily="18" charset="0"/>
              </a:rPr>
              <a:t>ADD</a:t>
            </a:r>
            <a:r>
              <a:rPr lang="en-US" altLang="zh-CN" b="1" i="1">
                <a:latin typeface="Times New Roman" panose="02020603050405020304" pitchFamily="18" charset="0"/>
              </a:rPr>
              <a:t>B</a:t>
            </a:r>
            <a:r>
              <a:rPr lang="zh-CN" altLang="en-US" b="1">
                <a:latin typeface="Times New Roman" panose="02020603050405020304" pitchFamily="18" charset="0"/>
              </a:rPr>
              <a:t>、</a:t>
            </a:r>
            <a:r>
              <a:rPr lang="en-US" altLang="zh-CN" b="1">
                <a:latin typeface="Times New Roman" panose="02020603050405020304" pitchFamily="18" charset="0"/>
              </a:rPr>
              <a:t>ADD</a:t>
            </a:r>
            <a:r>
              <a:rPr lang="en-US" altLang="zh-CN" b="1" i="1">
                <a:latin typeface="Times New Roman" panose="02020603050405020304" pitchFamily="18" charset="0"/>
              </a:rPr>
              <a:t>C</a:t>
            </a:r>
            <a:r>
              <a:rPr lang="zh-CN" altLang="en-US" b="1">
                <a:latin typeface="Times New Roman" panose="02020603050405020304" pitchFamily="18" charset="0"/>
              </a:rPr>
              <a:t>由</a:t>
            </a:r>
            <a:r>
              <a:rPr lang="en-US" altLang="zh-CN" b="1">
                <a:latin typeface="Times New Roman" panose="02020603050405020304" pitchFamily="18" charset="0"/>
              </a:rPr>
              <a:t>P0.0~P0.2</a:t>
            </a:r>
            <a:r>
              <a:rPr lang="zh-CN" altLang="en-US" b="1" dirty="0">
                <a:latin typeface="Times New Roman" panose="02020603050405020304" pitchFamily="18" charset="0"/>
              </a:rPr>
              <a:t>提供，因</a:t>
            </a:r>
            <a:r>
              <a:rPr lang="en-US" altLang="zh-CN" b="1">
                <a:latin typeface="Times New Roman" panose="02020603050405020304" pitchFamily="18" charset="0"/>
              </a:rPr>
              <a:t>ADC0809</a:t>
            </a:r>
            <a:r>
              <a:rPr lang="zh-CN" altLang="en-US" b="1" dirty="0">
                <a:latin typeface="Times New Roman" panose="02020603050405020304" pitchFamily="18" charset="0"/>
              </a:rPr>
              <a:t>具有地址锁存功能，</a:t>
            </a:r>
            <a:r>
              <a:rPr lang="en-US" altLang="zh-CN" b="1">
                <a:latin typeface="Times New Roman" panose="02020603050405020304" pitchFamily="18" charset="0"/>
              </a:rPr>
              <a:t>P0.0~P0.2</a:t>
            </a:r>
            <a:r>
              <a:rPr lang="zh-CN" altLang="en-US" b="1" dirty="0">
                <a:latin typeface="Times New Roman" panose="02020603050405020304" pitchFamily="18" charset="0"/>
              </a:rPr>
              <a:t>可直接接入</a:t>
            </a:r>
            <a:r>
              <a:rPr lang="en-US" altLang="zh-CN" b="1">
                <a:latin typeface="Times New Roman" panose="02020603050405020304" pitchFamily="18" charset="0"/>
              </a:rPr>
              <a:t>ABC</a:t>
            </a:r>
            <a:r>
              <a:rPr lang="zh-CN" altLang="en-US" b="1">
                <a:latin typeface="Times New Roman" panose="02020603050405020304" pitchFamily="18" charset="0"/>
              </a:rPr>
              <a:t>。</a:t>
            </a:r>
            <a:r>
              <a:rPr lang="zh-CN" altLang="en-US" b="1" dirty="0">
                <a:latin typeface="Times New Roman" panose="02020603050405020304" pitchFamily="18" charset="0"/>
              </a:rPr>
              <a:t>根据</a:t>
            </a:r>
            <a:r>
              <a:rPr lang="en-US" altLang="zh-CN" b="1">
                <a:latin typeface="Times New Roman" panose="02020603050405020304" pitchFamily="18" charset="0"/>
              </a:rPr>
              <a:t>P2.0</a:t>
            </a:r>
            <a:r>
              <a:rPr lang="zh-CN" altLang="en-US" b="1">
                <a:latin typeface="Times New Roman" panose="02020603050405020304" pitchFamily="18" charset="0"/>
              </a:rPr>
              <a:t>和</a:t>
            </a:r>
            <a:r>
              <a:rPr lang="en-US" altLang="zh-CN" b="1">
                <a:latin typeface="Times New Roman" panose="02020603050405020304" pitchFamily="18" charset="0"/>
              </a:rPr>
              <a:t>P0.0~P0.2</a:t>
            </a:r>
            <a:r>
              <a:rPr lang="zh-CN" altLang="en-US" b="1" dirty="0">
                <a:latin typeface="Times New Roman" panose="02020603050405020304" pitchFamily="18" charset="0"/>
              </a:rPr>
              <a:t>的连接方法，八个输入通道的地址依</a:t>
            </a:r>
            <a:r>
              <a:rPr lang="en-US" altLang="zh-CN" b="1">
                <a:latin typeface="Times New Roman" panose="02020603050405020304" pitchFamily="18" charset="0"/>
              </a:rPr>
              <a:t>IN0~IN7</a:t>
            </a:r>
            <a:r>
              <a:rPr lang="zh-CN" altLang="en-US" b="1" dirty="0">
                <a:latin typeface="Times New Roman" panose="02020603050405020304" pitchFamily="18" charset="0"/>
              </a:rPr>
              <a:t>顺序由送数据的低三位数据组成， 数据范围为</a:t>
            </a:r>
            <a:r>
              <a:rPr lang="en-US" altLang="zh-CN" b="1">
                <a:latin typeface="Times New Roman" panose="02020603050405020304" pitchFamily="18" charset="0"/>
              </a:rPr>
              <a:t>F8H~FFH</a:t>
            </a:r>
            <a:r>
              <a:rPr lang="zh-CN" altLang="en-US" b="1">
                <a:latin typeface="Times New Roman" panose="02020603050405020304" pitchFamily="18" charset="0"/>
              </a:rPr>
              <a:t>。</a:t>
            </a:r>
            <a:endParaRPr lang="zh-CN" altLang="en-US" b="1">
              <a:latin typeface="Times New Roman" panose="02020603050405020304" pitchFamily="18" charset="0"/>
            </a:endParaRPr>
          </a:p>
          <a:p>
            <a:pPr algn="just">
              <a:lnSpc>
                <a:spcPct val="140000"/>
              </a:lnSpc>
              <a:spcBef>
                <a:spcPct val="50000"/>
              </a:spcBef>
            </a:pPr>
            <a:r>
              <a:rPr lang="zh-CN" altLang="en-US" b="1">
                <a:latin typeface="Times New Roman" panose="02020603050405020304" pitchFamily="18" charset="0"/>
              </a:rPr>
              <a:t>        </a:t>
            </a:r>
            <a:r>
              <a:rPr lang="en-US" altLang="zh-CN" b="1">
                <a:latin typeface="Times New Roman" panose="02020603050405020304" pitchFamily="18" charset="0"/>
              </a:rPr>
              <a:t>ADC0809</a:t>
            </a:r>
            <a:r>
              <a:rPr lang="zh-CN" altLang="en-US" b="1" dirty="0">
                <a:latin typeface="Times New Roman" panose="02020603050405020304" pitchFamily="18" charset="0"/>
              </a:rPr>
              <a:t>的时钟可由</a:t>
            </a:r>
            <a:r>
              <a:rPr lang="en-US" altLang="zh-CN" b="1">
                <a:latin typeface="Times New Roman" panose="02020603050405020304" pitchFamily="18" charset="0"/>
              </a:rPr>
              <a:t>89C51</a:t>
            </a:r>
            <a:r>
              <a:rPr lang="zh-CN" altLang="en-US" b="1">
                <a:latin typeface="Times New Roman" panose="02020603050405020304" pitchFamily="18" charset="0"/>
              </a:rPr>
              <a:t>的</a:t>
            </a:r>
            <a:r>
              <a:rPr lang="en-US" altLang="zh-CN" b="1">
                <a:latin typeface="Times New Roman" panose="02020603050405020304" pitchFamily="18" charset="0"/>
              </a:rPr>
              <a:t>ALE</a:t>
            </a:r>
            <a:r>
              <a:rPr lang="zh-CN" altLang="en-US" b="1" dirty="0">
                <a:latin typeface="Times New Roman" panose="02020603050405020304" pitchFamily="18" charset="0"/>
              </a:rPr>
              <a:t>获得。如果</a:t>
            </a:r>
            <a:r>
              <a:rPr lang="en-US" altLang="zh-CN" b="1">
                <a:latin typeface="Times New Roman" panose="02020603050405020304" pitchFamily="18" charset="0"/>
              </a:rPr>
              <a:t>ALE</a:t>
            </a:r>
            <a:r>
              <a:rPr lang="zh-CN" altLang="en-US" b="1" dirty="0">
                <a:latin typeface="Times New Roman" panose="02020603050405020304" pitchFamily="18" charset="0"/>
              </a:rPr>
              <a:t>信号频率过高， 应分频后送入</a:t>
            </a:r>
            <a:r>
              <a:rPr lang="en-US" altLang="zh-CN" b="1">
                <a:latin typeface="Times New Roman" panose="02020603050405020304" pitchFamily="18" charset="0"/>
              </a:rPr>
              <a:t>ADC0809</a:t>
            </a:r>
            <a:r>
              <a:rPr lang="zh-CN" altLang="en-US" b="1">
                <a:latin typeface="Times New Roman" panose="02020603050405020304" pitchFamily="18" charset="0"/>
              </a:rPr>
              <a:t>的</a:t>
            </a:r>
            <a:r>
              <a:rPr lang="en-US" altLang="zh-CN" b="1">
                <a:latin typeface="Times New Roman" panose="02020603050405020304" pitchFamily="18" charset="0"/>
              </a:rPr>
              <a:t>CLK</a:t>
            </a:r>
            <a:r>
              <a:rPr lang="zh-CN" altLang="en-US" b="1" dirty="0">
                <a:latin typeface="Times New Roman" panose="02020603050405020304" pitchFamily="18" charset="0"/>
              </a:rPr>
              <a:t>端。 </a:t>
            </a:r>
            <a:endParaRPr lang="zh-CN" altLang="en-US" b="1">
              <a:latin typeface="Times New Roman" panose="02020603050405020304" pitchFamily="18" charset="0"/>
            </a:endParaRPr>
          </a:p>
        </p:txBody>
      </p:sp>
    </p:spTree>
  </p:cSld>
  <p:clrMapOvr>
    <a:masterClrMapping/>
  </p:clrMapOvr>
  <p:transition>
    <p:blinds dir="vert"/>
  </p:transition>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38946" name="文本框 338945"/>
          <p:cNvSpPr txBox="1"/>
          <p:nvPr/>
        </p:nvSpPr>
        <p:spPr>
          <a:xfrm>
            <a:off x="914400" y="914400"/>
            <a:ext cx="7543800" cy="3013075"/>
          </a:xfrm>
          <a:prstGeom prst="rect">
            <a:avLst/>
          </a:prstGeom>
          <a:noFill/>
          <a:ln w="9525">
            <a:noFill/>
          </a:ln>
        </p:spPr>
        <p:txBody>
          <a:bodyPr>
            <a:spAutoFit/>
          </a:bodyPr>
          <a:p>
            <a:pPr algn="just">
              <a:lnSpc>
                <a:spcPct val="150000"/>
              </a:lnSpc>
              <a:spcBef>
                <a:spcPct val="50000"/>
              </a:spcBef>
            </a:pPr>
            <a:r>
              <a:rPr lang="en-US" altLang="zh-CN">
                <a:latin typeface="Times New Roman" panose="02020603050405020304" pitchFamily="18" charset="0"/>
              </a:rPr>
              <a:t>       </a:t>
            </a:r>
            <a:r>
              <a:rPr lang="en-US" altLang="zh-CN" b="1">
                <a:latin typeface="Times New Roman" panose="02020603050405020304" pitchFamily="18" charset="0"/>
              </a:rPr>
              <a:t>ADC</a:t>
            </a:r>
            <a:r>
              <a:rPr lang="zh-CN" altLang="en-US" b="1" dirty="0">
                <a:latin typeface="Times New Roman" panose="02020603050405020304" pitchFamily="18" charset="0"/>
              </a:rPr>
              <a:t>转换结束后</a:t>
            </a:r>
            <a:r>
              <a:rPr lang="en-US" altLang="zh-CN" b="1">
                <a:latin typeface="Times New Roman" panose="02020603050405020304" pitchFamily="18" charset="0"/>
              </a:rPr>
              <a:t>EOC</a:t>
            </a:r>
            <a:r>
              <a:rPr lang="zh-CN" altLang="en-US" b="1" dirty="0">
                <a:latin typeface="Times New Roman" panose="02020603050405020304" pitchFamily="18" charset="0"/>
              </a:rPr>
              <a:t>变成高电平，</a:t>
            </a:r>
            <a:r>
              <a:rPr lang="en-US" altLang="zh-CN" b="1">
                <a:latin typeface="Times New Roman" panose="02020603050405020304" pitchFamily="18" charset="0"/>
              </a:rPr>
              <a:t>89C51</a:t>
            </a:r>
            <a:r>
              <a:rPr lang="zh-CN" altLang="en-US" b="1" dirty="0">
                <a:latin typeface="Times New Roman" panose="02020603050405020304" pitchFamily="18" charset="0"/>
              </a:rPr>
              <a:t>通过查询</a:t>
            </a:r>
            <a:r>
              <a:rPr lang="en-US" altLang="zh-CN" b="1">
                <a:latin typeface="Times New Roman" panose="02020603050405020304" pitchFamily="18" charset="0"/>
              </a:rPr>
              <a:t>P3.3</a:t>
            </a:r>
            <a:r>
              <a:rPr lang="zh-CN" altLang="en-US" b="1" dirty="0">
                <a:latin typeface="Times New Roman" panose="02020603050405020304" pitchFamily="18" charset="0"/>
              </a:rPr>
              <a:t>端判断转换是否结束。</a:t>
            </a:r>
            <a:r>
              <a:rPr lang="en-US" altLang="zh-CN" b="1">
                <a:latin typeface="Times New Roman" panose="02020603050405020304" pitchFamily="18" charset="0"/>
              </a:rPr>
              <a:t>89C51</a:t>
            </a:r>
            <a:r>
              <a:rPr lang="zh-CN" altLang="en-US" b="1" dirty="0">
                <a:latin typeface="Times New Roman" panose="02020603050405020304" pitchFamily="18" charset="0"/>
              </a:rPr>
              <a:t>也可接成中断源方式， </a:t>
            </a:r>
            <a:r>
              <a:rPr lang="en-US" altLang="zh-CN" b="1">
                <a:latin typeface="Times New Roman" panose="02020603050405020304" pitchFamily="18" charset="0"/>
              </a:rPr>
              <a:t>EOC</a:t>
            </a:r>
            <a:r>
              <a:rPr lang="zh-CN" altLang="en-US" b="1" dirty="0">
                <a:latin typeface="Times New Roman" panose="02020603050405020304" pitchFamily="18" charset="0"/>
              </a:rPr>
              <a:t>接入</a:t>
            </a:r>
            <a:r>
              <a:rPr lang="en-US" altLang="zh-CN" b="1">
                <a:latin typeface="Times New Roman" panose="02020603050405020304" pitchFamily="18" charset="0"/>
              </a:rPr>
              <a:t>P3.3</a:t>
            </a:r>
            <a:r>
              <a:rPr lang="zh-CN" altLang="en-US" b="1">
                <a:latin typeface="Times New Roman" panose="02020603050405020304" pitchFamily="18" charset="0"/>
              </a:rPr>
              <a:t>。</a:t>
            </a:r>
            <a:endParaRPr lang="zh-CN" altLang="en-US" b="1">
              <a:latin typeface="Times New Roman" panose="02020603050405020304" pitchFamily="18" charset="0"/>
            </a:endParaRPr>
          </a:p>
          <a:p>
            <a:pPr algn="just">
              <a:lnSpc>
                <a:spcPct val="150000"/>
              </a:lnSpc>
              <a:spcBef>
                <a:spcPct val="50000"/>
              </a:spcBef>
            </a:pPr>
            <a:r>
              <a:rPr lang="zh-CN" altLang="en-US" b="1" dirty="0">
                <a:latin typeface="Times New Roman" panose="02020603050405020304" pitchFamily="18" charset="0"/>
              </a:rPr>
              <a:t>        当判断</a:t>
            </a:r>
            <a:r>
              <a:rPr lang="en-US" altLang="zh-CN" b="1">
                <a:latin typeface="Times New Roman" panose="02020603050405020304" pitchFamily="18" charset="0"/>
              </a:rPr>
              <a:t>EOC=1</a:t>
            </a:r>
            <a:r>
              <a:rPr lang="zh-CN" altLang="en-US" b="1" dirty="0">
                <a:latin typeface="Times New Roman" panose="02020603050405020304" pitchFamily="18" charset="0"/>
              </a:rPr>
              <a:t>后，执行读操作指令，产生输出允许信号</a:t>
            </a:r>
            <a:r>
              <a:rPr lang="en-US" altLang="zh-CN" b="1">
                <a:latin typeface="Times New Roman" panose="02020603050405020304" pitchFamily="18" charset="0"/>
              </a:rPr>
              <a:t>OE</a:t>
            </a:r>
            <a:r>
              <a:rPr lang="zh-CN" altLang="en-US" b="1">
                <a:latin typeface="Times New Roman" panose="02020603050405020304" pitchFamily="18" charset="0"/>
              </a:rPr>
              <a:t>， </a:t>
            </a:r>
            <a:r>
              <a:rPr lang="zh-CN" altLang="en-US" b="1" dirty="0">
                <a:latin typeface="Times New Roman" panose="02020603050405020304" pitchFamily="18" charset="0"/>
              </a:rPr>
              <a:t>同时</a:t>
            </a:r>
            <a:r>
              <a:rPr lang="en-US" altLang="zh-CN" b="1">
                <a:latin typeface="Times New Roman" panose="02020603050405020304" pitchFamily="18" charset="0"/>
              </a:rPr>
              <a:t>A/D</a:t>
            </a:r>
            <a:r>
              <a:rPr lang="zh-CN" altLang="en-US" b="1" dirty="0">
                <a:latin typeface="Times New Roman" panose="02020603050405020304" pitchFamily="18" charset="0"/>
              </a:rPr>
              <a:t>转换的数据读入</a:t>
            </a:r>
            <a:r>
              <a:rPr lang="en-US" altLang="zh-CN" b="1">
                <a:latin typeface="Times New Roman" panose="02020603050405020304" pitchFamily="18" charset="0"/>
              </a:rPr>
              <a:t>89C51</a:t>
            </a:r>
            <a:r>
              <a:rPr lang="zh-CN" altLang="en-US" b="1" dirty="0">
                <a:latin typeface="Times New Roman" panose="02020603050405020304" pitchFamily="18" charset="0"/>
              </a:rPr>
              <a:t>内存。 </a:t>
            </a:r>
            <a:endParaRPr lang="zh-CN" altLang="en-US" b="1">
              <a:latin typeface="Times New Roman" panose="02020603050405020304" pitchFamily="18" charset="0"/>
            </a:endParaRPr>
          </a:p>
        </p:txBody>
      </p:sp>
      <p:sp>
        <p:nvSpPr>
          <p:cNvPr id="338947" name="动作按钮: 后退或前一项 338946">
            <a:hlinkClick r:id="" action="ppaction://hlinkshowjump?jump=firstslide"/>
          </p:cNvPr>
          <p:cNvSpPr/>
          <p:nvPr/>
        </p:nvSpPr>
        <p:spPr>
          <a:xfrm>
            <a:off x="8382000" y="6400800"/>
            <a:ext cx="762000" cy="457200"/>
          </a:xfrm>
          <a:prstGeom prst="actionButtonBackPrevious">
            <a:avLst/>
          </a:prstGeom>
          <a:solidFill>
            <a:schemeClr val="accent1"/>
          </a:solidFill>
          <a:ln w="9525" cap="flat" cmpd="sng">
            <a:solidFill>
              <a:schemeClr val="tx1"/>
            </a:solidFill>
            <a:prstDash val="solid"/>
            <a:miter/>
            <a:headEnd type="none" w="med" len="med"/>
            <a:tailEnd type="none" w="med" len="med"/>
          </a:ln>
        </p:spPr>
        <p:txBody>
          <a:bodyPr/>
          <a:p>
            <a:endParaRPr lang="zh-CN" altLang="en-US"/>
          </a:p>
        </p:txBody>
      </p:sp>
    </p:spTree>
  </p:cSld>
  <p:clrMapOvr>
    <a:masterClrMapping/>
  </p:clrMapOvr>
  <p:transition>
    <p:blinds dir="vert"/>
  </p:transition>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40994" name="文本框 340993"/>
          <p:cNvSpPr txBox="1"/>
          <p:nvPr/>
        </p:nvSpPr>
        <p:spPr>
          <a:xfrm>
            <a:off x="304800" y="809625"/>
            <a:ext cx="8534400" cy="5243513"/>
          </a:xfrm>
          <a:prstGeom prst="rect">
            <a:avLst/>
          </a:prstGeom>
          <a:noFill/>
          <a:ln w="9525">
            <a:noFill/>
          </a:ln>
        </p:spPr>
        <p:txBody>
          <a:bodyPr>
            <a:spAutoFit/>
          </a:bodyPr>
          <a:p>
            <a:pPr>
              <a:lnSpc>
                <a:spcPct val="158000"/>
              </a:lnSpc>
              <a:spcBef>
                <a:spcPct val="50000"/>
              </a:spcBef>
            </a:pPr>
            <a:r>
              <a:rPr lang="en-US" altLang="zh-CN" sz="2800" b="1">
                <a:latin typeface="Times New Roman" panose="02020603050405020304" pitchFamily="18" charset="0"/>
              </a:rPr>
              <a:t>11.3.5  </a:t>
            </a:r>
            <a:r>
              <a:rPr lang="zh-CN" altLang="en-US" sz="2800" b="1" dirty="0">
                <a:latin typeface="Times New Roman" panose="02020603050405020304" pitchFamily="18" charset="0"/>
              </a:rPr>
              <a:t>单片机与</a:t>
            </a:r>
            <a:r>
              <a:rPr lang="en-US" altLang="zh-CN" sz="2800" b="1">
                <a:latin typeface="Times New Roman" panose="02020603050405020304" pitchFamily="18" charset="0"/>
              </a:rPr>
              <a:t>A/D</a:t>
            </a:r>
            <a:r>
              <a:rPr lang="zh-CN" altLang="en-US" sz="2800" b="1" dirty="0">
                <a:latin typeface="Times New Roman" panose="02020603050405020304" pitchFamily="18" charset="0"/>
              </a:rPr>
              <a:t>转换器</a:t>
            </a:r>
            <a:r>
              <a:rPr lang="en-US" altLang="zh-CN" sz="2800" b="1">
                <a:latin typeface="Times New Roman" panose="02020603050405020304" pitchFamily="18" charset="0"/>
              </a:rPr>
              <a:t>AD574</a:t>
            </a:r>
            <a:r>
              <a:rPr lang="zh-CN" altLang="en-US" sz="2800" b="1" dirty="0">
                <a:latin typeface="Times New Roman" panose="02020603050405020304" pitchFamily="18" charset="0"/>
              </a:rPr>
              <a:t>的接口</a:t>
            </a:r>
            <a:endParaRPr lang="zh-CN" altLang="en-US" sz="2800" b="1" dirty="0">
              <a:latin typeface="Times New Roman" panose="02020603050405020304" pitchFamily="18" charset="0"/>
            </a:endParaRPr>
          </a:p>
          <a:p>
            <a:pPr>
              <a:lnSpc>
                <a:spcPct val="158000"/>
              </a:lnSpc>
              <a:spcBef>
                <a:spcPct val="50000"/>
              </a:spcBef>
            </a:pPr>
            <a:r>
              <a:rPr lang="zh-CN" altLang="en-US" sz="2800" dirty="0">
                <a:latin typeface="Times New Roman" panose="02020603050405020304" pitchFamily="18" charset="0"/>
              </a:rPr>
              <a:t>        </a:t>
            </a:r>
            <a:r>
              <a:rPr lang="en-US" altLang="zh-CN" sz="2800" b="1">
                <a:latin typeface="Times New Roman" panose="02020603050405020304" pitchFamily="18" charset="0"/>
              </a:rPr>
              <a:t>1 </a:t>
            </a:r>
            <a:r>
              <a:rPr lang="zh-CN" altLang="en-US" sz="2800" b="1" dirty="0">
                <a:latin typeface="Times New Roman" panose="02020603050405020304" pitchFamily="18" charset="0"/>
              </a:rPr>
              <a:t>．</a:t>
            </a:r>
            <a:r>
              <a:rPr lang="en-US" altLang="zh-CN" sz="2800" b="1">
                <a:latin typeface="Times New Roman" panose="02020603050405020304" pitchFamily="18" charset="0"/>
              </a:rPr>
              <a:t>AD574</a:t>
            </a:r>
            <a:r>
              <a:rPr lang="zh-CN" altLang="en-US" sz="2800" b="1" dirty="0">
                <a:latin typeface="Times New Roman" panose="02020603050405020304" pitchFamily="18" charset="0"/>
              </a:rPr>
              <a:t>芯片简介</a:t>
            </a:r>
            <a:endParaRPr lang="zh-CN" altLang="en-US" sz="2800" b="1" dirty="0">
              <a:latin typeface="Times New Roman" panose="02020603050405020304" pitchFamily="18" charset="0"/>
            </a:endParaRPr>
          </a:p>
          <a:p>
            <a:pPr>
              <a:lnSpc>
                <a:spcPct val="158000"/>
              </a:lnSpc>
              <a:spcBef>
                <a:spcPct val="50000"/>
              </a:spcBef>
            </a:pPr>
            <a:r>
              <a:rPr lang="zh-CN" altLang="en-US" sz="2800" b="1">
                <a:latin typeface="Times New Roman" panose="02020603050405020304" pitchFamily="18" charset="0"/>
              </a:rPr>
              <a:t>        </a:t>
            </a:r>
            <a:r>
              <a:rPr lang="en-US" altLang="zh-CN" sz="2800" b="1">
                <a:latin typeface="Times New Roman" panose="02020603050405020304" pitchFamily="18" charset="0"/>
              </a:rPr>
              <a:t>AD574</a:t>
            </a:r>
            <a:r>
              <a:rPr lang="zh-CN" altLang="en-US" sz="2800" b="1" dirty="0">
                <a:latin typeface="Times New Roman" panose="02020603050405020304" pitchFamily="18" charset="0"/>
              </a:rPr>
              <a:t>是一种快速的</a:t>
            </a:r>
            <a:r>
              <a:rPr lang="en-US" altLang="zh-CN" sz="2800" b="1">
                <a:latin typeface="Times New Roman" panose="02020603050405020304" pitchFamily="18" charset="0"/>
              </a:rPr>
              <a:t>12</a:t>
            </a:r>
            <a:r>
              <a:rPr lang="zh-CN" altLang="en-US" sz="2800" b="1" dirty="0">
                <a:latin typeface="Times New Roman" panose="02020603050405020304" pitchFamily="18" charset="0"/>
              </a:rPr>
              <a:t>位逐次比较式</a:t>
            </a:r>
            <a:r>
              <a:rPr lang="en-US" altLang="zh-CN" sz="2800" b="1">
                <a:latin typeface="Times New Roman" panose="02020603050405020304" pitchFamily="18" charset="0"/>
              </a:rPr>
              <a:t>A/D</a:t>
            </a:r>
            <a:r>
              <a:rPr lang="zh-CN" altLang="en-US" sz="2800" b="1" dirty="0">
                <a:latin typeface="Times New Roman" panose="02020603050405020304" pitchFamily="18" charset="0"/>
              </a:rPr>
              <a:t>转换芯片，片内有两片双极型电路组成的</a:t>
            </a:r>
            <a:r>
              <a:rPr lang="en-US" altLang="zh-CN" sz="2800" b="1">
                <a:latin typeface="Times New Roman" panose="02020603050405020304" pitchFamily="18" charset="0"/>
              </a:rPr>
              <a:t>28</a:t>
            </a:r>
            <a:r>
              <a:rPr lang="zh-CN" altLang="en-US" sz="2800" b="1" dirty="0">
                <a:latin typeface="Times New Roman" panose="02020603050405020304" pitchFamily="18" charset="0"/>
              </a:rPr>
              <a:t>脚双插直列式芯片，无需外接元器件就可独立完成</a:t>
            </a:r>
            <a:r>
              <a:rPr lang="en-US" altLang="zh-CN" sz="2800" b="1">
                <a:latin typeface="Times New Roman" panose="02020603050405020304" pitchFamily="18" charset="0"/>
              </a:rPr>
              <a:t>A/D</a:t>
            </a:r>
            <a:r>
              <a:rPr lang="zh-CN" altLang="en-US" sz="2800" b="1" dirty="0">
                <a:latin typeface="Times New Roman" panose="02020603050405020304" pitchFamily="18" charset="0"/>
              </a:rPr>
              <a:t>转换功能。内部设有三态数据输出锁存器。一次转换时间为</a:t>
            </a:r>
            <a:r>
              <a:rPr lang="en-US" altLang="zh-CN" sz="2800" b="1">
                <a:latin typeface="Times New Roman" panose="02020603050405020304" pitchFamily="18" charset="0"/>
              </a:rPr>
              <a:t>25 μs</a:t>
            </a:r>
            <a:r>
              <a:rPr lang="zh-CN" altLang="en-US" sz="2800" b="1">
                <a:latin typeface="Times New Roman" panose="02020603050405020304" pitchFamily="18" charset="0"/>
              </a:rPr>
              <a:t>。</a:t>
            </a:r>
            <a:r>
              <a:rPr lang="zh-CN" altLang="en-US" sz="2800" b="1" dirty="0">
                <a:latin typeface="Times New Roman" panose="02020603050405020304" pitchFamily="18" charset="0"/>
              </a:rPr>
              <a:t>芯片引脚如图</a:t>
            </a:r>
            <a:r>
              <a:rPr lang="en-US" altLang="zh-CN" sz="2800" b="1">
                <a:latin typeface="Times New Roman" panose="02020603050405020304" pitchFamily="18" charset="0"/>
              </a:rPr>
              <a:t>11.35</a:t>
            </a:r>
            <a:r>
              <a:rPr lang="zh-CN" altLang="en-US" sz="2800" b="1" dirty="0">
                <a:latin typeface="Times New Roman" panose="02020603050405020304" pitchFamily="18" charset="0"/>
              </a:rPr>
              <a:t>所示。</a:t>
            </a:r>
            <a:endParaRPr lang="zh-CN" altLang="en-US" sz="2800" b="1">
              <a:latin typeface="Times New Roman" panose="02020603050405020304" pitchFamily="18" charset="0"/>
            </a:endParaRPr>
          </a:p>
        </p:txBody>
      </p:sp>
    </p:spTree>
  </p:cSld>
  <p:clrMapOvr>
    <a:masterClrMapping/>
  </p:clrMapOvr>
  <p:transition>
    <p:blinds dir="vert"/>
  </p:transition>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42018" name="图片 342017" descr="Img00097"/>
          <p:cNvPicPr>
            <a:picLocks noChangeAspect="1"/>
          </p:cNvPicPr>
          <p:nvPr/>
        </p:nvPicPr>
        <p:blipFill>
          <a:blip r:embed="rId1"/>
          <a:stretch>
            <a:fillRect/>
          </a:stretch>
        </p:blipFill>
        <p:spPr>
          <a:xfrm>
            <a:off x="2286000" y="457200"/>
            <a:ext cx="5187950" cy="5759450"/>
          </a:xfrm>
          <a:prstGeom prst="rect">
            <a:avLst/>
          </a:prstGeom>
          <a:noFill/>
          <a:ln w="9525">
            <a:noFill/>
          </a:ln>
        </p:spPr>
      </p:pic>
      <p:sp>
        <p:nvSpPr>
          <p:cNvPr id="342019" name="文本框 342018"/>
          <p:cNvSpPr txBox="1"/>
          <p:nvPr/>
        </p:nvSpPr>
        <p:spPr>
          <a:xfrm>
            <a:off x="3425825" y="6096000"/>
            <a:ext cx="3521075" cy="457200"/>
          </a:xfrm>
          <a:prstGeom prst="rect">
            <a:avLst/>
          </a:prstGeom>
          <a:noFill/>
          <a:ln w="9525">
            <a:noFill/>
          </a:ln>
        </p:spPr>
        <p:txBody>
          <a:bodyPr wrap="none" anchor="t" anchorCtr="0">
            <a:spAutoFit/>
          </a:bodyPr>
          <a:p>
            <a:r>
              <a:rPr lang="zh-CN" altLang="en-US" dirty="0">
                <a:latin typeface="Times New Roman" panose="02020603050405020304" pitchFamily="18" charset="0"/>
              </a:rPr>
              <a:t>图</a:t>
            </a:r>
            <a:r>
              <a:rPr lang="en-US" altLang="zh-CN">
                <a:latin typeface="Times New Roman" panose="02020603050405020304" pitchFamily="18" charset="0"/>
              </a:rPr>
              <a:t>11.35  AD574</a:t>
            </a:r>
            <a:r>
              <a:rPr lang="zh-CN" altLang="en-US" dirty="0">
                <a:latin typeface="Times New Roman" panose="02020603050405020304" pitchFamily="18" charset="0"/>
              </a:rPr>
              <a:t>的引脚图 </a:t>
            </a:r>
            <a:endParaRPr lang="zh-CN" altLang="en-US">
              <a:latin typeface="Times New Roman" panose="02020603050405020304" pitchFamily="18" charset="0"/>
            </a:endParaRPr>
          </a:p>
        </p:txBody>
      </p:sp>
    </p:spTree>
  </p:cSld>
  <p:clrMapOvr>
    <a:masterClrMapping/>
  </p:clrMapOvr>
  <p:transition>
    <p:blinds dir="vert"/>
  </p:transition>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43042" name="文本框 343041"/>
          <p:cNvSpPr txBox="1"/>
          <p:nvPr/>
        </p:nvSpPr>
        <p:spPr>
          <a:xfrm>
            <a:off x="381000" y="679450"/>
            <a:ext cx="8458200" cy="5568950"/>
          </a:xfrm>
          <a:prstGeom prst="rect">
            <a:avLst/>
          </a:prstGeom>
          <a:noFill/>
          <a:ln w="9525">
            <a:noFill/>
          </a:ln>
        </p:spPr>
        <p:txBody>
          <a:bodyPr>
            <a:spAutoFit/>
          </a:bodyPr>
          <a:p>
            <a:pPr>
              <a:lnSpc>
                <a:spcPct val="150000"/>
              </a:lnSpc>
              <a:spcBef>
                <a:spcPct val="50000"/>
              </a:spcBef>
            </a:pPr>
            <a:r>
              <a:rPr lang="en-US" altLang="zh-CN">
                <a:latin typeface="Times New Roman" panose="02020603050405020304" pitchFamily="18" charset="0"/>
              </a:rPr>
              <a:t>	</a:t>
            </a:r>
            <a:r>
              <a:rPr lang="en-US" altLang="zh-CN" b="1">
                <a:latin typeface="Times New Roman" panose="02020603050405020304" pitchFamily="18" charset="0"/>
              </a:rPr>
              <a:t>AD574</a:t>
            </a:r>
            <a:r>
              <a:rPr lang="zh-CN" altLang="en-US" b="1" dirty="0">
                <a:latin typeface="Times New Roman" panose="02020603050405020304" pitchFamily="18" charset="0"/>
              </a:rPr>
              <a:t>的引脚定义如下：</a:t>
            </a:r>
            <a:endParaRPr lang="zh-CN" altLang="en-US" b="1" dirty="0">
              <a:latin typeface="Times New Roman" panose="02020603050405020304" pitchFamily="18" charset="0"/>
            </a:endParaRPr>
          </a:p>
          <a:p>
            <a:pPr>
              <a:lnSpc>
                <a:spcPct val="150000"/>
              </a:lnSpc>
              <a:spcBef>
                <a:spcPct val="50000"/>
              </a:spcBef>
            </a:pPr>
            <a:r>
              <a:rPr lang="zh-CN" altLang="en-US" b="1">
                <a:latin typeface="Times New Roman" panose="02020603050405020304" pitchFamily="18" charset="0"/>
              </a:rPr>
              <a:t>	</a:t>
            </a:r>
            <a:r>
              <a:rPr lang="en-US" altLang="zh-CN" b="1">
                <a:latin typeface="Times New Roman" panose="02020603050405020304" pitchFamily="18" charset="0"/>
              </a:rPr>
              <a:t>REOUT</a:t>
            </a:r>
            <a:r>
              <a:rPr lang="zh-CN" altLang="en-US" b="1">
                <a:latin typeface="Times New Roman" panose="02020603050405020304" pitchFamily="18" charset="0"/>
              </a:rPr>
              <a:t>：</a:t>
            </a:r>
            <a:r>
              <a:rPr lang="zh-CN" altLang="en-US" b="1" dirty="0">
                <a:latin typeface="Times New Roman" panose="02020603050405020304" pitchFamily="18" charset="0"/>
              </a:rPr>
              <a:t>内部参考电源输出</a:t>
            </a:r>
            <a:r>
              <a:rPr lang="en-US" altLang="zh-CN" b="1">
                <a:latin typeface="Times New Roman" panose="02020603050405020304" pitchFamily="18" charset="0"/>
              </a:rPr>
              <a:t>(+10 V)</a:t>
            </a:r>
            <a:r>
              <a:rPr lang="zh-CN" altLang="en-US" b="1">
                <a:latin typeface="Times New Roman" panose="02020603050405020304" pitchFamily="18" charset="0"/>
              </a:rPr>
              <a:t>；</a:t>
            </a:r>
            <a:endParaRPr lang="zh-CN" altLang="en-US" b="1">
              <a:latin typeface="Times New Roman" panose="02020603050405020304" pitchFamily="18" charset="0"/>
            </a:endParaRPr>
          </a:p>
          <a:p>
            <a:pPr>
              <a:lnSpc>
                <a:spcPct val="150000"/>
              </a:lnSpc>
              <a:spcBef>
                <a:spcPct val="50000"/>
              </a:spcBef>
            </a:pPr>
            <a:r>
              <a:rPr lang="zh-CN" altLang="en-US" b="1">
                <a:latin typeface="Times New Roman" panose="02020603050405020304" pitchFamily="18" charset="0"/>
              </a:rPr>
              <a:t>	</a:t>
            </a:r>
            <a:r>
              <a:rPr lang="en-US" altLang="zh-CN" b="1">
                <a:latin typeface="Times New Roman" panose="02020603050405020304" pitchFamily="18" charset="0"/>
              </a:rPr>
              <a:t>REFIN</a:t>
            </a:r>
            <a:r>
              <a:rPr lang="zh-CN" altLang="en-US" b="1">
                <a:latin typeface="Times New Roman" panose="02020603050405020304" pitchFamily="18" charset="0"/>
              </a:rPr>
              <a:t>：</a:t>
            </a:r>
            <a:r>
              <a:rPr lang="zh-CN" altLang="en-US" b="1" dirty="0">
                <a:latin typeface="Times New Roman" panose="02020603050405020304" pitchFamily="18" charset="0"/>
              </a:rPr>
              <a:t>参考电压输入；</a:t>
            </a:r>
            <a:endParaRPr lang="zh-CN" altLang="en-US" b="1" dirty="0">
              <a:latin typeface="Times New Roman" panose="02020603050405020304" pitchFamily="18" charset="0"/>
            </a:endParaRPr>
          </a:p>
          <a:p>
            <a:pPr>
              <a:lnSpc>
                <a:spcPct val="150000"/>
              </a:lnSpc>
              <a:spcBef>
                <a:spcPct val="50000"/>
              </a:spcBef>
            </a:pPr>
            <a:r>
              <a:rPr lang="zh-CN" altLang="en-US" b="1">
                <a:latin typeface="Times New Roman" panose="02020603050405020304" pitchFamily="18" charset="0"/>
              </a:rPr>
              <a:t>	</a:t>
            </a:r>
            <a:r>
              <a:rPr lang="en-US" altLang="zh-CN" b="1">
                <a:latin typeface="Times New Roman" panose="02020603050405020304" pitchFamily="18" charset="0"/>
              </a:rPr>
              <a:t>BIP</a:t>
            </a:r>
            <a:r>
              <a:rPr lang="zh-CN" altLang="en-US" b="1">
                <a:latin typeface="Times New Roman" panose="02020603050405020304" pitchFamily="18" charset="0"/>
              </a:rPr>
              <a:t>：</a:t>
            </a:r>
            <a:r>
              <a:rPr lang="zh-CN" altLang="en-US" b="1" dirty="0">
                <a:latin typeface="Times New Roman" panose="02020603050405020304" pitchFamily="18" charset="0"/>
              </a:rPr>
              <a:t>偏置电压输入；</a:t>
            </a:r>
            <a:endParaRPr lang="zh-CN" altLang="en-US" b="1" dirty="0">
              <a:latin typeface="Times New Roman" panose="02020603050405020304" pitchFamily="18" charset="0"/>
            </a:endParaRPr>
          </a:p>
          <a:p>
            <a:pPr>
              <a:lnSpc>
                <a:spcPct val="150000"/>
              </a:lnSpc>
              <a:spcBef>
                <a:spcPct val="50000"/>
              </a:spcBef>
            </a:pPr>
            <a:r>
              <a:rPr lang="zh-CN" altLang="en-US" b="1" dirty="0">
                <a:latin typeface="Times New Roman" panose="02020603050405020304" pitchFamily="18" charset="0"/>
              </a:rPr>
              <a:t>	</a:t>
            </a:r>
            <a:r>
              <a:rPr lang="en-US" altLang="zh-CN" b="1">
                <a:latin typeface="Times New Roman" panose="02020603050405020304" pitchFamily="18" charset="0"/>
              </a:rPr>
              <a:t>10VIN</a:t>
            </a:r>
            <a:r>
              <a:rPr lang="zh-CN" altLang="en-US" b="1">
                <a:latin typeface="Times New Roman" panose="02020603050405020304" pitchFamily="18" charset="0"/>
              </a:rPr>
              <a:t>：</a:t>
            </a:r>
            <a:r>
              <a:rPr lang="en-US" altLang="zh-CN" b="1">
                <a:latin typeface="Times New Roman" panose="02020603050405020304" pitchFamily="18" charset="0"/>
              </a:rPr>
              <a:t>±5 V</a:t>
            </a:r>
            <a:r>
              <a:rPr lang="zh-CN" altLang="en-US" b="1" dirty="0">
                <a:latin typeface="Times New Roman" panose="02020603050405020304" pitchFamily="18" charset="0"/>
              </a:rPr>
              <a:t>或</a:t>
            </a:r>
            <a:r>
              <a:rPr lang="en-US" altLang="zh-CN" b="1">
                <a:latin typeface="Times New Roman" panose="02020603050405020304" pitchFamily="18" charset="0"/>
              </a:rPr>
              <a:t>0~10 V</a:t>
            </a:r>
            <a:r>
              <a:rPr lang="zh-CN" altLang="en-US" b="1" dirty="0">
                <a:latin typeface="Times New Roman" panose="02020603050405020304" pitchFamily="18" charset="0"/>
              </a:rPr>
              <a:t>模拟输入；</a:t>
            </a:r>
            <a:endParaRPr lang="zh-CN" altLang="en-US" b="1" dirty="0">
              <a:latin typeface="Times New Roman" panose="02020603050405020304" pitchFamily="18" charset="0"/>
            </a:endParaRPr>
          </a:p>
          <a:p>
            <a:pPr>
              <a:lnSpc>
                <a:spcPct val="150000"/>
              </a:lnSpc>
              <a:spcBef>
                <a:spcPct val="50000"/>
              </a:spcBef>
            </a:pPr>
            <a:r>
              <a:rPr lang="zh-CN" altLang="en-US" b="1" dirty="0">
                <a:latin typeface="Times New Roman" panose="02020603050405020304" pitchFamily="18" charset="0"/>
              </a:rPr>
              <a:t>	</a:t>
            </a:r>
            <a:r>
              <a:rPr lang="en-US" altLang="zh-CN" b="1">
                <a:latin typeface="Times New Roman" panose="02020603050405020304" pitchFamily="18" charset="0"/>
              </a:rPr>
              <a:t>20VIN</a:t>
            </a:r>
            <a:r>
              <a:rPr lang="zh-CN" altLang="en-US" b="1">
                <a:latin typeface="Times New Roman" panose="02020603050405020304" pitchFamily="18" charset="0"/>
              </a:rPr>
              <a:t>：</a:t>
            </a:r>
            <a:r>
              <a:rPr lang="en-US" altLang="zh-CN" b="1">
                <a:latin typeface="Times New Roman" panose="02020603050405020304" pitchFamily="18" charset="0"/>
              </a:rPr>
              <a:t>±10 V</a:t>
            </a:r>
            <a:r>
              <a:rPr lang="zh-CN" altLang="en-US" b="1" dirty="0">
                <a:latin typeface="Times New Roman" panose="02020603050405020304" pitchFamily="18" charset="0"/>
              </a:rPr>
              <a:t>或</a:t>
            </a:r>
            <a:r>
              <a:rPr lang="en-US" altLang="zh-CN" b="1">
                <a:latin typeface="Times New Roman" panose="02020603050405020304" pitchFamily="18" charset="0"/>
              </a:rPr>
              <a:t>0~20 V</a:t>
            </a:r>
            <a:r>
              <a:rPr lang="zh-CN" altLang="en-US" b="1" dirty="0">
                <a:latin typeface="Times New Roman" panose="02020603050405020304" pitchFamily="18" charset="0"/>
              </a:rPr>
              <a:t>模拟输入；</a:t>
            </a:r>
            <a:endParaRPr lang="zh-CN" altLang="en-US" b="1" dirty="0">
              <a:latin typeface="Times New Roman" panose="02020603050405020304" pitchFamily="18" charset="0"/>
            </a:endParaRPr>
          </a:p>
          <a:p>
            <a:pPr>
              <a:lnSpc>
                <a:spcPct val="150000"/>
              </a:lnSpc>
              <a:spcBef>
                <a:spcPct val="50000"/>
              </a:spcBef>
            </a:pPr>
            <a:r>
              <a:rPr lang="zh-CN" altLang="en-US" b="1">
                <a:latin typeface="Times New Roman" panose="02020603050405020304" pitchFamily="18" charset="0"/>
              </a:rPr>
              <a:t>	</a:t>
            </a:r>
            <a:r>
              <a:rPr lang="en-US" altLang="zh-CN" b="1">
                <a:latin typeface="Times New Roman" panose="02020603050405020304" pitchFamily="18" charset="0"/>
              </a:rPr>
              <a:t>DB0~DB11</a:t>
            </a:r>
            <a:r>
              <a:rPr lang="zh-CN" altLang="en-US" b="1" dirty="0">
                <a:latin typeface="Times New Roman" panose="02020603050405020304" pitchFamily="18" charset="0"/>
              </a:rPr>
              <a:t>数字量输出，高半字节为</a:t>
            </a:r>
            <a:r>
              <a:rPr lang="en-US" altLang="zh-CN" b="1">
                <a:latin typeface="Times New Roman" panose="02020603050405020304" pitchFamily="18" charset="0"/>
              </a:rPr>
              <a:t>DB8~DB11</a:t>
            </a:r>
            <a:r>
              <a:rPr lang="zh-CN" altLang="en-US" b="1">
                <a:latin typeface="Times New Roman" panose="02020603050405020304" pitchFamily="18" charset="0"/>
              </a:rPr>
              <a:t>，</a:t>
            </a:r>
            <a:r>
              <a:rPr lang="zh-CN" altLang="en-US" b="1" dirty="0">
                <a:latin typeface="Times New Roman" panose="02020603050405020304" pitchFamily="18" charset="0"/>
              </a:rPr>
              <a:t>低字节为</a:t>
            </a:r>
            <a:r>
              <a:rPr lang="en-US" altLang="zh-CN" b="1">
                <a:latin typeface="Times New Roman" panose="02020603050405020304" pitchFamily="18" charset="0"/>
              </a:rPr>
              <a:t>DB0~DB7</a:t>
            </a:r>
            <a:r>
              <a:rPr lang="zh-CN" altLang="en-US" b="1">
                <a:latin typeface="Times New Roman" panose="02020603050405020304" pitchFamily="18" charset="0"/>
              </a:rPr>
              <a:t>；</a:t>
            </a:r>
            <a:endParaRPr lang="zh-CN" altLang="en-US" b="1">
              <a:latin typeface="Times New Roman" panose="02020603050405020304" pitchFamily="18" charset="0"/>
            </a:endParaRPr>
          </a:p>
        </p:txBody>
      </p:sp>
    </p:spTree>
  </p:cSld>
  <p:clrMapOvr>
    <a:masterClrMapping/>
  </p:clrMapOvr>
  <p:transition>
    <p:blinds dir="vert"/>
  </p:transition>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344066" name="组合 344065"/>
          <p:cNvGrpSpPr/>
          <p:nvPr/>
        </p:nvGrpSpPr>
        <p:grpSpPr>
          <a:xfrm>
            <a:off x="152400" y="473075"/>
            <a:ext cx="8915400" cy="6080125"/>
            <a:chOff x="96" y="298"/>
            <a:chExt cx="5616" cy="3830"/>
          </a:xfrm>
        </p:grpSpPr>
        <p:grpSp>
          <p:nvGrpSpPr>
            <p:cNvPr id="344067" name="组合 344066"/>
            <p:cNvGrpSpPr/>
            <p:nvPr/>
          </p:nvGrpSpPr>
          <p:grpSpPr>
            <a:xfrm>
              <a:off x="96" y="298"/>
              <a:ext cx="5616" cy="3830"/>
              <a:chOff x="96" y="298"/>
              <a:chExt cx="5616" cy="3830"/>
            </a:xfrm>
          </p:grpSpPr>
          <p:sp>
            <p:nvSpPr>
              <p:cNvPr id="344068" name="文本框 344067"/>
              <p:cNvSpPr txBox="1"/>
              <p:nvPr/>
            </p:nvSpPr>
            <p:spPr>
              <a:xfrm>
                <a:off x="96" y="298"/>
                <a:ext cx="5616" cy="3830"/>
              </a:xfrm>
              <a:prstGeom prst="rect">
                <a:avLst/>
              </a:prstGeom>
              <a:noFill/>
              <a:ln w="9525">
                <a:noFill/>
              </a:ln>
            </p:spPr>
            <p:txBody>
              <a:bodyPr>
                <a:spAutoFit/>
              </a:bodyPr>
              <a:p>
                <a:pPr>
                  <a:lnSpc>
                    <a:spcPct val="120000"/>
                  </a:lnSpc>
                  <a:spcBef>
                    <a:spcPct val="50000"/>
                  </a:spcBef>
                </a:pPr>
                <a:r>
                  <a:rPr lang="en-US" altLang="zh-CN">
                    <a:latin typeface="Times New Roman" panose="02020603050405020304" pitchFamily="18" charset="0"/>
                  </a:rPr>
                  <a:t>        </a:t>
                </a:r>
                <a:r>
                  <a:rPr lang="en-US" altLang="zh-CN" b="1">
                    <a:latin typeface="Times New Roman" panose="02020603050405020304" pitchFamily="18" charset="0"/>
                  </a:rPr>
                  <a:t>STS</a:t>
                </a:r>
                <a:r>
                  <a:rPr lang="zh-CN" altLang="en-US" b="1">
                    <a:latin typeface="Times New Roman" panose="02020603050405020304" pitchFamily="18" charset="0"/>
                  </a:rPr>
                  <a:t>：</a:t>
                </a:r>
                <a:r>
                  <a:rPr lang="zh-CN" altLang="en-US" b="1" dirty="0">
                    <a:latin typeface="Times New Roman" panose="02020603050405020304" pitchFamily="18" charset="0"/>
                  </a:rPr>
                  <a:t>工作状态指示端。</a:t>
                </a:r>
                <a:r>
                  <a:rPr lang="en-US" altLang="zh-CN" b="1">
                    <a:latin typeface="Times New Roman" panose="02020603050405020304" pitchFamily="18" charset="0"/>
                  </a:rPr>
                  <a:t>STS=1</a:t>
                </a:r>
                <a:r>
                  <a:rPr lang="zh-CN" altLang="en-US" b="1" dirty="0">
                    <a:latin typeface="Times New Roman" panose="02020603050405020304" pitchFamily="18" charset="0"/>
                  </a:rPr>
                  <a:t>时表示转换器正处于转换状态，</a:t>
                </a:r>
                <a:r>
                  <a:rPr lang="en-US" altLang="zh-CN" b="1">
                    <a:latin typeface="Times New Roman" panose="02020603050405020304" pitchFamily="18" charset="0"/>
                  </a:rPr>
                  <a:t>STS</a:t>
                </a:r>
                <a:r>
                  <a:rPr lang="zh-CN" altLang="en-US" b="1" dirty="0">
                    <a:latin typeface="Times New Roman" panose="02020603050405020304" pitchFamily="18" charset="0"/>
                  </a:rPr>
                  <a:t>返回到低电平时，表示转换完毕。该信号可处理器作为中断或查询信号用；</a:t>
                </a:r>
                <a:endParaRPr lang="zh-CN" altLang="en-US" b="1" dirty="0">
                  <a:latin typeface="Times New Roman" panose="02020603050405020304" pitchFamily="18" charset="0"/>
                </a:endParaRPr>
              </a:p>
              <a:p>
                <a:pPr>
                  <a:lnSpc>
                    <a:spcPct val="120000"/>
                  </a:lnSpc>
                  <a:spcBef>
                    <a:spcPct val="50000"/>
                  </a:spcBef>
                </a:pPr>
                <a:r>
                  <a:rPr lang="zh-CN" altLang="en-US" b="1" dirty="0">
                    <a:latin typeface="Times New Roman" panose="02020603050405020304" pitchFamily="18" charset="0"/>
                  </a:rPr>
                  <a:t>       </a:t>
                </a:r>
                <a:r>
                  <a:rPr lang="en-US" altLang="zh-CN" b="1">
                    <a:latin typeface="Times New Roman" panose="02020603050405020304" pitchFamily="18" charset="0"/>
                  </a:rPr>
                  <a:t>12/-8</a:t>
                </a:r>
                <a:r>
                  <a:rPr lang="zh-CN" altLang="en-US" b="1" dirty="0">
                    <a:latin typeface="Times New Roman" panose="02020603050405020304" pitchFamily="18" charset="0"/>
                  </a:rPr>
                  <a:t>：变换输出字长选择控制端，在输入为高电平时，变换字长输出为</a:t>
                </a:r>
                <a:r>
                  <a:rPr lang="en-US" altLang="zh-CN" b="1">
                    <a:latin typeface="Times New Roman" panose="02020603050405020304" pitchFamily="18" charset="0"/>
                  </a:rPr>
                  <a:t>12</a:t>
                </a:r>
                <a:r>
                  <a:rPr lang="zh-CN" altLang="en-US" b="1" dirty="0">
                    <a:latin typeface="Times New Roman" panose="02020603050405020304" pitchFamily="18" charset="0"/>
                  </a:rPr>
                  <a:t>位，在低电平时，按</a:t>
                </a:r>
                <a:r>
                  <a:rPr lang="en-US" altLang="zh-CN" b="1">
                    <a:latin typeface="Times New Roman" panose="02020603050405020304" pitchFamily="18" charset="0"/>
                  </a:rPr>
                  <a:t>8</a:t>
                </a:r>
                <a:r>
                  <a:rPr lang="zh-CN" altLang="en-US" b="1" dirty="0">
                    <a:latin typeface="Times New Roman" panose="02020603050405020304" pitchFamily="18" charset="0"/>
                  </a:rPr>
                  <a:t>位输出；</a:t>
                </a:r>
                <a:endParaRPr lang="zh-CN" altLang="en-US" b="1" dirty="0">
                  <a:latin typeface="Times New Roman" panose="02020603050405020304" pitchFamily="18" charset="0"/>
                </a:endParaRPr>
              </a:p>
              <a:p>
                <a:pPr>
                  <a:lnSpc>
                    <a:spcPct val="120000"/>
                  </a:lnSpc>
                  <a:spcBef>
                    <a:spcPct val="50000"/>
                  </a:spcBef>
                </a:pPr>
                <a:r>
                  <a:rPr lang="zh-CN" altLang="en-US" b="1" dirty="0">
                    <a:latin typeface="Times New Roman" panose="02020603050405020304" pitchFamily="18" charset="0"/>
                  </a:rPr>
                  <a:t>       </a:t>
                </a:r>
                <a:r>
                  <a:rPr lang="en-US" altLang="zh-CN" b="1">
                    <a:latin typeface="Times New Roman" panose="02020603050405020304" pitchFamily="18" charset="0"/>
                  </a:rPr>
                  <a:t>CS</a:t>
                </a:r>
                <a:r>
                  <a:rPr lang="zh-CN" altLang="en-US" b="1">
                    <a:latin typeface="Times New Roman" panose="02020603050405020304" pitchFamily="18" charset="0"/>
                  </a:rPr>
                  <a:t>、</a:t>
                </a:r>
                <a:r>
                  <a:rPr lang="en-US" altLang="zh-CN" b="1">
                    <a:latin typeface="Times New Roman" panose="02020603050405020304" pitchFamily="18" charset="0"/>
                  </a:rPr>
                  <a:t>CE</a:t>
                </a:r>
                <a:r>
                  <a:rPr lang="zh-CN" altLang="en-US" b="1">
                    <a:latin typeface="Times New Roman" panose="02020603050405020304" pitchFamily="18" charset="0"/>
                  </a:rPr>
                  <a:t>：</a:t>
                </a:r>
                <a:r>
                  <a:rPr lang="zh-CN" altLang="en-US" b="1" dirty="0">
                    <a:latin typeface="Times New Roman" panose="02020603050405020304" pitchFamily="18" charset="0"/>
                  </a:rPr>
                  <a:t>片选信号。当</a:t>
                </a:r>
                <a:r>
                  <a:rPr lang="en-US" altLang="zh-CN" b="1">
                    <a:latin typeface="Times New Roman" panose="02020603050405020304" pitchFamily="18" charset="0"/>
                  </a:rPr>
                  <a:t>CS=0</a:t>
                </a:r>
                <a:r>
                  <a:rPr lang="zh-CN" altLang="en-US" b="1">
                    <a:latin typeface="Times New Roman" panose="02020603050405020304" pitchFamily="18" charset="0"/>
                  </a:rPr>
                  <a:t>、</a:t>
                </a:r>
                <a:r>
                  <a:rPr lang="en-US" altLang="zh-CN" b="1">
                    <a:latin typeface="Times New Roman" panose="02020603050405020304" pitchFamily="18" charset="0"/>
                  </a:rPr>
                  <a:t>CE=1</a:t>
                </a:r>
                <a:r>
                  <a:rPr lang="zh-CN" altLang="en-US" b="1" dirty="0">
                    <a:latin typeface="Times New Roman" panose="02020603050405020304" pitchFamily="18" charset="0"/>
                  </a:rPr>
                  <a:t>同时满足时，</a:t>
                </a:r>
                <a:r>
                  <a:rPr lang="en-US" altLang="zh-CN" b="1">
                    <a:latin typeface="Times New Roman" panose="02020603050405020304" pitchFamily="18" charset="0"/>
                  </a:rPr>
                  <a:t>AD574</a:t>
                </a:r>
                <a:r>
                  <a:rPr lang="zh-CN" altLang="en-US" b="1" dirty="0">
                    <a:latin typeface="Times New Roman" panose="02020603050405020304" pitchFamily="18" charset="0"/>
                  </a:rPr>
                  <a:t>才能处于工作状态。</a:t>
                </a:r>
                <a:endParaRPr lang="zh-CN" altLang="en-US" b="1" dirty="0">
                  <a:latin typeface="Times New Roman" panose="02020603050405020304" pitchFamily="18" charset="0"/>
                </a:endParaRPr>
              </a:p>
              <a:p>
                <a:pPr>
                  <a:lnSpc>
                    <a:spcPct val="120000"/>
                  </a:lnSpc>
                  <a:spcBef>
                    <a:spcPct val="50000"/>
                  </a:spcBef>
                </a:pPr>
                <a:r>
                  <a:rPr lang="zh-CN" altLang="en-US" b="1">
                    <a:latin typeface="Times New Roman" panose="02020603050405020304" pitchFamily="18" charset="0"/>
                  </a:rPr>
                  <a:t>        </a:t>
                </a:r>
                <a:r>
                  <a:rPr lang="en-US" altLang="zh-CN" b="1">
                    <a:latin typeface="Times New Roman" panose="02020603050405020304" pitchFamily="18" charset="0"/>
                  </a:rPr>
                  <a:t>R/C</a:t>
                </a:r>
                <a:r>
                  <a:rPr lang="zh-CN" altLang="en-US" b="1">
                    <a:latin typeface="Times New Roman" panose="02020603050405020304" pitchFamily="18" charset="0"/>
                  </a:rPr>
                  <a:t>：</a:t>
                </a:r>
                <a:r>
                  <a:rPr lang="zh-CN" altLang="en-US" b="1" dirty="0">
                    <a:latin typeface="Times New Roman" panose="02020603050405020304" pitchFamily="18" charset="0"/>
                  </a:rPr>
                  <a:t>数据读出和数据转换启动控制；</a:t>
                </a:r>
                <a:endParaRPr lang="zh-CN" altLang="en-US" b="1" dirty="0">
                  <a:latin typeface="Times New Roman" panose="02020603050405020304" pitchFamily="18" charset="0"/>
                </a:endParaRPr>
              </a:p>
              <a:p>
                <a:pPr>
                  <a:lnSpc>
                    <a:spcPct val="120000"/>
                  </a:lnSpc>
                  <a:spcBef>
                    <a:spcPct val="50000"/>
                  </a:spcBef>
                </a:pPr>
                <a:r>
                  <a:rPr lang="zh-CN" altLang="en-US" b="1">
                    <a:latin typeface="Times New Roman" panose="02020603050405020304" pitchFamily="18" charset="0"/>
                  </a:rPr>
                  <a:t>        </a:t>
                </a:r>
                <a:r>
                  <a:rPr lang="en-US" altLang="zh-CN" b="1">
                    <a:latin typeface="Times New Roman" panose="02020603050405020304" pitchFamily="18" charset="0"/>
                  </a:rPr>
                  <a:t>A0</a:t>
                </a:r>
                <a:r>
                  <a:rPr lang="zh-CN" altLang="en-US" b="1">
                    <a:latin typeface="Times New Roman" panose="02020603050405020304" pitchFamily="18" charset="0"/>
                  </a:rPr>
                  <a:t>：</a:t>
                </a:r>
                <a:r>
                  <a:rPr lang="zh-CN" altLang="en-US" b="1" dirty="0">
                    <a:latin typeface="Times New Roman" panose="02020603050405020304" pitchFamily="18" charset="0"/>
                  </a:rPr>
                  <a:t>字节地址控制。它有两个作用，在启动</a:t>
                </a:r>
                <a:r>
                  <a:rPr lang="en-US" altLang="zh-CN" b="1">
                    <a:latin typeface="Times New Roman" panose="02020603050405020304" pitchFamily="18" charset="0"/>
                  </a:rPr>
                  <a:t>AD574(R/C=0)</a:t>
                </a:r>
                <a:r>
                  <a:rPr lang="zh-CN" altLang="en-US" b="1" dirty="0">
                    <a:latin typeface="Times New Roman" panose="02020603050405020304" pitchFamily="18" charset="0"/>
                  </a:rPr>
                  <a:t>时，用来控制转换长度。</a:t>
                </a:r>
                <a:r>
                  <a:rPr lang="en-US" altLang="zh-CN" b="1">
                    <a:latin typeface="Times New Roman" panose="02020603050405020304" pitchFamily="18" charset="0"/>
                  </a:rPr>
                  <a:t>A=0</a:t>
                </a:r>
                <a:r>
                  <a:rPr lang="zh-CN" altLang="en-US" b="1" dirty="0">
                    <a:latin typeface="Times New Roman" panose="02020603050405020304" pitchFamily="18" charset="0"/>
                  </a:rPr>
                  <a:t>时，按完整的</a:t>
                </a:r>
                <a:r>
                  <a:rPr lang="en-US" altLang="zh-CN" b="1">
                    <a:latin typeface="Times New Roman" panose="02020603050405020304" pitchFamily="18" charset="0"/>
                  </a:rPr>
                  <a:t>12</a:t>
                </a:r>
                <a:r>
                  <a:rPr lang="zh-CN" altLang="en-US" b="1" dirty="0">
                    <a:latin typeface="Times New Roman" panose="02020603050405020304" pitchFamily="18" charset="0"/>
                  </a:rPr>
                  <a:t>位</a:t>
                </a:r>
                <a:r>
                  <a:rPr lang="en-US" altLang="zh-CN" b="1">
                    <a:latin typeface="Times New Roman" panose="02020603050405020304" pitchFamily="18" charset="0"/>
                  </a:rPr>
                  <a:t>A/D</a:t>
                </a:r>
                <a:r>
                  <a:rPr lang="zh-CN" altLang="en-US" b="1" dirty="0">
                    <a:latin typeface="Times New Roman" panose="02020603050405020304" pitchFamily="18" charset="0"/>
                  </a:rPr>
                  <a:t>转换方式工作，</a:t>
                </a:r>
                <a:r>
                  <a:rPr lang="en-US" altLang="zh-CN" b="1">
                    <a:latin typeface="Times New Roman" panose="02020603050405020304" pitchFamily="18" charset="0"/>
                  </a:rPr>
                  <a:t>A=1</a:t>
                </a:r>
                <a:r>
                  <a:rPr lang="zh-CN" altLang="en-US" b="1" dirty="0">
                    <a:latin typeface="Times New Roman" panose="02020603050405020304" pitchFamily="18" charset="0"/>
                  </a:rPr>
                  <a:t>时，则按</a:t>
                </a:r>
                <a:r>
                  <a:rPr lang="en-US" altLang="zh-CN" b="1">
                    <a:latin typeface="Times New Roman" panose="02020603050405020304" pitchFamily="18" charset="0"/>
                  </a:rPr>
                  <a:t>8</a:t>
                </a:r>
                <a:r>
                  <a:rPr lang="zh-CN" altLang="en-US" b="1" dirty="0">
                    <a:latin typeface="Times New Roman" panose="02020603050405020304" pitchFamily="18" charset="0"/>
                  </a:rPr>
                  <a:t>位</a:t>
                </a:r>
                <a:r>
                  <a:rPr lang="en-US" altLang="zh-CN" b="1">
                    <a:latin typeface="Times New Roman" panose="02020603050405020304" pitchFamily="18" charset="0"/>
                  </a:rPr>
                  <a:t>A/D </a:t>
                </a:r>
                <a:r>
                  <a:rPr lang="zh-CN" altLang="en-US" b="1" dirty="0">
                    <a:latin typeface="Times New Roman" panose="02020603050405020304" pitchFamily="18" charset="0"/>
                  </a:rPr>
                  <a:t>转换方式工作。在</a:t>
                </a:r>
                <a:r>
                  <a:rPr lang="en-US" altLang="zh-CN" b="1">
                    <a:latin typeface="Times New Roman" panose="02020603050405020304" pitchFamily="18" charset="0"/>
                  </a:rPr>
                  <a:t>AD574</a:t>
                </a:r>
                <a:r>
                  <a:rPr lang="zh-CN" altLang="en-US" b="1" dirty="0">
                    <a:latin typeface="Times New Roman" panose="02020603050405020304" pitchFamily="18" charset="0"/>
                  </a:rPr>
                  <a:t>处于数据读出工作状态</a:t>
                </a:r>
                <a:r>
                  <a:rPr lang="en-US" altLang="zh-CN" b="1">
                    <a:latin typeface="Times New Roman" panose="02020603050405020304" pitchFamily="18" charset="0"/>
                  </a:rPr>
                  <a:t>(R/-C=1)</a:t>
                </a:r>
                <a:r>
                  <a:rPr lang="zh-CN" altLang="en-US" b="1" dirty="0">
                    <a:latin typeface="Times New Roman" panose="02020603050405020304" pitchFamily="18" charset="0"/>
                  </a:rPr>
                  <a:t>时，</a:t>
                </a:r>
                <a:r>
                  <a:rPr lang="en-US" altLang="zh-CN" b="1">
                    <a:latin typeface="Times New Roman" panose="02020603050405020304" pitchFamily="18" charset="0"/>
                  </a:rPr>
                  <a:t>A0</a:t>
                </a:r>
                <a:r>
                  <a:rPr lang="zh-CN" altLang="en-US" b="1" dirty="0">
                    <a:latin typeface="Times New Roman" panose="02020603050405020304" pitchFamily="18" charset="0"/>
                  </a:rPr>
                  <a:t>和</a:t>
                </a:r>
                <a:r>
                  <a:rPr lang="en-US" altLang="zh-CN" b="1">
                    <a:latin typeface="Times New Roman" panose="02020603050405020304" pitchFamily="18" charset="0"/>
                  </a:rPr>
                  <a:t>12/8</a:t>
                </a:r>
                <a:r>
                  <a:rPr lang="zh-CN" altLang="en-US" b="1" dirty="0">
                    <a:latin typeface="Times New Roman" panose="02020603050405020304" pitchFamily="18" charset="0"/>
                  </a:rPr>
                  <a:t>成为输出数据格式控制。</a:t>
                </a:r>
                <a:endParaRPr lang="zh-CN" altLang="en-US" b="1">
                  <a:latin typeface="Times New Roman" panose="02020603050405020304" pitchFamily="18" charset="0"/>
                </a:endParaRPr>
              </a:p>
            </p:txBody>
          </p:sp>
          <p:sp>
            <p:nvSpPr>
              <p:cNvPr id="344069" name="直接连接符 344068"/>
              <p:cNvSpPr/>
              <p:nvPr/>
            </p:nvSpPr>
            <p:spPr>
              <a:xfrm>
                <a:off x="488" y="2000"/>
                <a:ext cx="240" cy="0"/>
              </a:xfrm>
              <a:prstGeom prst="line">
                <a:avLst/>
              </a:prstGeom>
              <a:ln w="9525" cap="flat" cmpd="sng">
                <a:solidFill>
                  <a:schemeClr val="tx1"/>
                </a:solidFill>
                <a:prstDash val="solid"/>
                <a:headEnd type="none" w="med" len="med"/>
                <a:tailEnd type="none" w="med" len="med"/>
              </a:ln>
            </p:spPr>
          </p:sp>
          <p:sp>
            <p:nvSpPr>
              <p:cNvPr id="344070" name="直接连接符 344069"/>
              <p:cNvSpPr/>
              <p:nvPr/>
            </p:nvSpPr>
            <p:spPr>
              <a:xfrm>
                <a:off x="728" y="2656"/>
                <a:ext cx="144" cy="0"/>
              </a:xfrm>
              <a:prstGeom prst="line">
                <a:avLst/>
              </a:prstGeom>
              <a:ln w="9525" cap="flat" cmpd="sng">
                <a:solidFill>
                  <a:schemeClr val="tx1"/>
                </a:solidFill>
                <a:prstDash val="solid"/>
                <a:headEnd type="none" w="med" len="med"/>
                <a:tailEnd type="none" w="med" len="med"/>
              </a:ln>
            </p:spPr>
          </p:sp>
          <p:sp>
            <p:nvSpPr>
              <p:cNvPr id="344071" name="直接连接符 344070"/>
              <p:cNvSpPr/>
              <p:nvPr/>
            </p:nvSpPr>
            <p:spPr>
              <a:xfrm>
                <a:off x="2520" y="2000"/>
                <a:ext cx="192" cy="0"/>
              </a:xfrm>
              <a:prstGeom prst="line">
                <a:avLst/>
              </a:prstGeom>
              <a:ln w="9525" cap="flat" cmpd="sng">
                <a:solidFill>
                  <a:schemeClr val="tx1"/>
                </a:solidFill>
                <a:prstDash val="solid"/>
                <a:headEnd type="none" w="med" len="med"/>
                <a:tailEnd type="none" w="med" len="med"/>
              </a:ln>
            </p:spPr>
          </p:sp>
        </p:grpSp>
        <p:sp>
          <p:nvSpPr>
            <p:cNvPr id="344072" name="直接连接符 344071"/>
            <p:cNvSpPr/>
            <p:nvPr/>
          </p:nvSpPr>
          <p:spPr>
            <a:xfrm>
              <a:off x="2272" y="3888"/>
              <a:ext cx="144" cy="0"/>
            </a:xfrm>
            <a:prstGeom prst="line">
              <a:avLst/>
            </a:prstGeom>
            <a:ln w="9525" cap="flat" cmpd="sng">
              <a:solidFill>
                <a:schemeClr val="tx1"/>
              </a:solidFill>
              <a:prstDash val="solid"/>
              <a:headEnd type="none" w="med" len="med"/>
              <a:tailEnd type="none" w="med" len="med"/>
            </a:ln>
          </p:spPr>
        </p:sp>
        <p:sp>
          <p:nvSpPr>
            <p:cNvPr id="344073" name="直接连接符 344072"/>
            <p:cNvSpPr/>
            <p:nvPr/>
          </p:nvSpPr>
          <p:spPr>
            <a:xfrm>
              <a:off x="5032" y="3064"/>
              <a:ext cx="144" cy="0"/>
            </a:xfrm>
            <a:prstGeom prst="line">
              <a:avLst/>
            </a:prstGeom>
            <a:ln w="9525" cap="flat" cmpd="sng">
              <a:solidFill>
                <a:schemeClr val="tx1"/>
              </a:solidFill>
              <a:prstDash val="solid"/>
              <a:headEnd type="none" w="med" len="med"/>
              <a:tailEnd type="none" w="med" len="med"/>
            </a:ln>
          </p:spPr>
        </p:sp>
      </p:grpSp>
    </p:spTree>
  </p:cSld>
  <p:clrMapOvr>
    <a:masterClrMapping/>
  </p:clrMapOvr>
  <p:transition>
    <p:blinds dir="vert"/>
  </p:transition>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45090" name="文本框 345089"/>
          <p:cNvSpPr txBox="1"/>
          <p:nvPr/>
        </p:nvSpPr>
        <p:spPr>
          <a:xfrm>
            <a:off x="2506663" y="762000"/>
            <a:ext cx="4283075" cy="457200"/>
          </a:xfrm>
          <a:prstGeom prst="rect">
            <a:avLst/>
          </a:prstGeom>
          <a:noFill/>
          <a:ln w="9525">
            <a:noFill/>
          </a:ln>
        </p:spPr>
        <p:txBody>
          <a:bodyPr wrap="none" anchor="t" anchorCtr="0">
            <a:spAutoFit/>
          </a:bodyPr>
          <a:p>
            <a:r>
              <a:rPr lang="zh-CN" altLang="en-US" dirty="0">
                <a:latin typeface="Times New Roman" panose="02020603050405020304" pitchFamily="18" charset="0"/>
                <a:ea typeface="黑体" panose="02010609060101010101" pitchFamily="2" charset="-122"/>
              </a:rPr>
              <a:t>表</a:t>
            </a:r>
            <a:r>
              <a:rPr lang="en-US" altLang="zh-CN">
                <a:latin typeface="Times New Roman" panose="02020603050405020304" pitchFamily="18" charset="0"/>
                <a:ea typeface="黑体" panose="02010609060101010101" pitchFamily="2" charset="-122"/>
              </a:rPr>
              <a:t>11.5  AD574</a:t>
            </a:r>
            <a:r>
              <a:rPr lang="zh-CN" altLang="en-US" dirty="0">
                <a:latin typeface="Times New Roman" panose="02020603050405020304" pitchFamily="18" charset="0"/>
                <a:ea typeface="黑体" panose="02010609060101010101" pitchFamily="2" charset="-122"/>
              </a:rPr>
              <a:t>控制信号状态表</a:t>
            </a:r>
            <a:r>
              <a:rPr lang="zh-CN" altLang="en-US" dirty="0">
                <a:latin typeface="Times New Roman" panose="02020603050405020304" pitchFamily="18" charset="0"/>
              </a:rPr>
              <a:t> </a:t>
            </a:r>
            <a:endParaRPr lang="zh-CN" altLang="en-US">
              <a:latin typeface="Times New Roman" panose="02020603050405020304" pitchFamily="18" charset="0"/>
            </a:endParaRPr>
          </a:p>
        </p:txBody>
      </p:sp>
      <p:grpSp>
        <p:nvGrpSpPr>
          <p:cNvPr id="345091" name="组合 345090"/>
          <p:cNvGrpSpPr/>
          <p:nvPr/>
        </p:nvGrpSpPr>
        <p:grpSpPr>
          <a:xfrm>
            <a:off x="1219200" y="1643063"/>
            <a:ext cx="7239000" cy="4300537"/>
            <a:chOff x="768" y="1035"/>
            <a:chExt cx="4560" cy="2709"/>
          </a:xfrm>
        </p:grpSpPr>
        <p:grpSp>
          <p:nvGrpSpPr>
            <p:cNvPr id="345092" name="组合 345091"/>
            <p:cNvGrpSpPr/>
            <p:nvPr/>
          </p:nvGrpSpPr>
          <p:grpSpPr>
            <a:xfrm>
              <a:off x="768" y="1035"/>
              <a:ext cx="4560" cy="2709"/>
              <a:chOff x="-3" y="-3"/>
              <a:chExt cx="2474" cy="2250"/>
            </a:xfrm>
          </p:grpSpPr>
          <p:grpSp>
            <p:nvGrpSpPr>
              <p:cNvPr id="345093" name="组合 345092"/>
              <p:cNvGrpSpPr/>
              <p:nvPr/>
            </p:nvGrpSpPr>
            <p:grpSpPr>
              <a:xfrm>
                <a:off x="0" y="0"/>
                <a:ext cx="2468" cy="2244"/>
                <a:chOff x="0" y="0"/>
                <a:chExt cx="2468" cy="2244"/>
              </a:xfrm>
            </p:grpSpPr>
            <p:grpSp>
              <p:nvGrpSpPr>
                <p:cNvPr id="345094" name="组合 345093"/>
                <p:cNvGrpSpPr/>
                <p:nvPr/>
              </p:nvGrpSpPr>
              <p:grpSpPr>
                <a:xfrm>
                  <a:off x="0" y="0"/>
                  <a:ext cx="358" cy="374"/>
                  <a:chOff x="0" y="0"/>
                  <a:chExt cx="358" cy="374"/>
                </a:xfrm>
              </p:grpSpPr>
              <p:sp>
                <p:nvSpPr>
                  <p:cNvPr id="345095" name="矩形 345094"/>
                  <p:cNvSpPr/>
                  <p:nvPr/>
                </p:nvSpPr>
                <p:spPr>
                  <a:xfrm>
                    <a:off x="43" y="0"/>
                    <a:ext cx="272" cy="374"/>
                  </a:xfrm>
                  <a:prstGeom prst="rect">
                    <a:avLst/>
                  </a:prstGeom>
                  <a:noFill/>
                  <a:ln w="9525">
                    <a:noFill/>
                  </a:ln>
                </p:spPr>
                <p:txBody>
                  <a:bodyPr anchor="ctr" anchorCtr="0"/>
                  <a:p>
                    <a:pPr algn="ctr"/>
                    <a:r>
                      <a:rPr lang="en-US" altLang="zh-CN" sz="1800" b="1">
                        <a:latin typeface="Times New Roman" panose="02020603050405020304" pitchFamily="18" charset="0"/>
                      </a:rPr>
                      <a:t>CE</a:t>
                    </a:r>
                    <a:endParaRPr lang="en-US" altLang="zh-CN" sz="4400" b="1">
                      <a:latin typeface="Times New Roman" panose="02020603050405020304" pitchFamily="18" charset="0"/>
                    </a:endParaRPr>
                  </a:p>
                </p:txBody>
              </p:sp>
              <p:sp>
                <p:nvSpPr>
                  <p:cNvPr id="345096" name="矩形 345095"/>
                  <p:cNvSpPr/>
                  <p:nvPr/>
                </p:nvSpPr>
                <p:spPr>
                  <a:xfrm>
                    <a:off x="0" y="0"/>
                    <a:ext cx="358" cy="374"/>
                  </a:xfrm>
                  <a:prstGeom prst="rect">
                    <a:avLst/>
                  </a:prstGeom>
                  <a:noFill/>
                  <a:ln w="7" cap="flat" cmpd="sng">
                    <a:solidFill>
                      <a:srgbClr val="A0A0A0"/>
                    </a:solidFill>
                    <a:prstDash val="solid"/>
                    <a:miter/>
                    <a:headEnd type="none" w="med" len="med"/>
                    <a:tailEnd type="none" w="med" len="med"/>
                  </a:ln>
                </p:spPr>
                <p:txBody>
                  <a:bodyPr/>
                  <a:p>
                    <a:endParaRPr lang="zh-CN" altLang="en-US"/>
                  </a:p>
                </p:txBody>
              </p:sp>
            </p:grpSp>
            <p:grpSp>
              <p:nvGrpSpPr>
                <p:cNvPr id="345097" name="组合 345096"/>
                <p:cNvGrpSpPr/>
                <p:nvPr/>
              </p:nvGrpSpPr>
              <p:grpSpPr>
                <a:xfrm>
                  <a:off x="358" y="0"/>
                  <a:ext cx="358" cy="374"/>
                  <a:chOff x="358" y="0"/>
                  <a:chExt cx="358" cy="374"/>
                </a:xfrm>
              </p:grpSpPr>
              <p:sp>
                <p:nvSpPr>
                  <p:cNvPr id="345098" name="矩形 345097"/>
                  <p:cNvSpPr/>
                  <p:nvPr/>
                </p:nvSpPr>
                <p:spPr>
                  <a:xfrm>
                    <a:off x="401" y="0"/>
                    <a:ext cx="272" cy="374"/>
                  </a:xfrm>
                  <a:prstGeom prst="rect">
                    <a:avLst/>
                  </a:prstGeom>
                  <a:noFill/>
                  <a:ln w="9525">
                    <a:noFill/>
                  </a:ln>
                </p:spPr>
                <p:txBody>
                  <a:bodyPr anchor="ctr" anchorCtr="0"/>
                  <a:p>
                    <a:pPr algn="ctr"/>
                    <a:r>
                      <a:rPr lang="en-US" altLang="zh-CN" sz="1800" b="1">
                        <a:latin typeface="Times New Roman" panose="02020603050405020304" pitchFamily="18" charset="0"/>
                      </a:rPr>
                      <a:t>CS</a:t>
                    </a:r>
                    <a:endParaRPr lang="en-US" altLang="zh-CN" sz="4400" b="1">
                      <a:latin typeface="Times New Roman" panose="02020603050405020304" pitchFamily="18" charset="0"/>
                    </a:endParaRPr>
                  </a:p>
                </p:txBody>
              </p:sp>
              <p:sp>
                <p:nvSpPr>
                  <p:cNvPr id="345099" name="矩形 345098"/>
                  <p:cNvSpPr/>
                  <p:nvPr/>
                </p:nvSpPr>
                <p:spPr>
                  <a:xfrm>
                    <a:off x="358" y="0"/>
                    <a:ext cx="358" cy="374"/>
                  </a:xfrm>
                  <a:prstGeom prst="rect">
                    <a:avLst/>
                  </a:prstGeom>
                  <a:noFill/>
                  <a:ln w="7" cap="flat" cmpd="sng">
                    <a:solidFill>
                      <a:srgbClr val="A0A0A0"/>
                    </a:solidFill>
                    <a:prstDash val="solid"/>
                    <a:miter/>
                    <a:headEnd type="none" w="med" len="med"/>
                    <a:tailEnd type="none" w="med" len="med"/>
                  </a:ln>
                </p:spPr>
                <p:txBody>
                  <a:bodyPr/>
                  <a:p>
                    <a:endParaRPr lang="zh-CN" altLang="en-US"/>
                  </a:p>
                </p:txBody>
              </p:sp>
            </p:grpSp>
            <p:grpSp>
              <p:nvGrpSpPr>
                <p:cNvPr id="345100" name="组合 345099"/>
                <p:cNvGrpSpPr/>
                <p:nvPr/>
              </p:nvGrpSpPr>
              <p:grpSpPr>
                <a:xfrm>
                  <a:off x="716" y="0"/>
                  <a:ext cx="358" cy="374"/>
                  <a:chOff x="716" y="0"/>
                  <a:chExt cx="358" cy="374"/>
                </a:xfrm>
              </p:grpSpPr>
              <p:sp>
                <p:nvSpPr>
                  <p:cNvPr id="345101" name="矩形 345100"/>
                  <p:cNvSpPr/>
                  <p:nvPr/>
                </p:nvSpPr>
                <p:spPr>
                  <a:xfrm>
                    <a:off x="759" y="0"/>
                    <a:ext cx="272" cy="374"/>
                  </a:xfrm>
                  <a:prstGeom prst="rect">
                    <a:avLst/>
                  </a:prstGeom>
                  <a:noFill/>
                  <a:ln w="9525">
                    <a:noFill/>
                  </a:ln>
                </p:spPr>
                <p:txBody>
                  <a:bodyPr anchor="ctr" anchorCtr="0"/>
                  <a:p>
                    <a:pPr algn="ctr"/>
                    <a:r>
                      <a:rPr lang="en-US" altLang="zh-CN" sz="1800" b="1">
                        <a:latin typeface="Times New Roman" panose="02020603050405020304" pitchFamily="18" charset="0"/>
                      </a:rPr>
                      <a:t>R/ C </a:t>
                    </a:r>
                    <a:endParaRPr lang="en-US" altLang="zh-CN" sz="4400" b="1">
                      <a:latin typeface="Times New Roman" panose="02020603050405020304" pitchFamily="18" charset="0"/>
                    </a:endParaRPr>
                  </a:p>
                </p:txBody>
              </p:sp>
              <p:sp>
                <p:nvSpPr>
                  <p:cNvPr id="345102" name="矩形 345101"/>
                  <p:cNvSpPr/>
                  <p:nvPr/>
                </p:nvSpPr>
                <p:spPr>
                  <a:xfrm>
                    <a:off x="716" y="0"/>
                    <a:ext cx="358" cy="374"/>
                  </a:xfrm>
                  <a:prstGeom prst="rect">
                    <a:avLst/>
                  </a:prstGeom>
                  <a:noFill/>
                  <a:ln w="7" cap="flat" cmpd="sng">
                    <a:solidFill>
                      <a:srgbClr val="A0A0A0"/>
                    </a:solidFill>
                    <a:prstDash val="solid"/>
                    <a:miter/>
                    <a:headEnd type="none" w="med" len="med"/>
                    <a:tailEnd type="none" w="med" len="med"/>
                  </a:ln>
                </p:spPr>
                <p:txBody>
                  <a:bodyPr/>
                  <a:p>
                    <a:endParaRPr lang="zh-CN" altLang="en-US"/>
                  </a:p>
                </p:txBody>
              </p:sp>
            </p:grpSp>
            <p:grpSp>
              <p:nvGrpSpPr>
                <p:cNvPr id="345103" name="组合 345102"/>
                <p:cNvGrpSpPr/>
                <p:nvPr/>
              </p:nvGrpSpPr>
              <p:grpSpPr>
                <a:xfrm>
                  <a:off x="1074" y="0"/>
                  <a:ext cx="358" cy="374"/>
                  <a:chOff x="1074" y="0"/>
                  <a:chExt cx="358" cy="374"/>
                </a:xfrm>
              </p:grpSpPr>
              <p:sp>
                <p:nvSpPr>
                  <p:cNvPr id="345104" name="矩形 345103"/>
                  <p:cNvSpPr/>
                  <p:nvPr/>
                </p:nvSpPr>
                <p:spPr>
                  <a:xfrm>
                    <a:off x="1117" y="0"/>
                    <a:ext cx="272" cy="374"/>
                  </a:xfrm>
                  <a:prstGeom prst="rect">
                    <a:avLst/>
                  </a:prstGeom>
                  <a:noFill/>
                  <a:ln w="9525">
                    <a:noFill/>
                  </a:ln>
                </p:spPr>
                <p:txBody>
                  <a:bodyPr anchor="ctr" anchorCtr="0"/>
                  <a:p>
                    <a:pPr algn="ctr"/>
                    <a:r>
                      <a:rPr lang="en-US" altLang="zh-CN" sz="1800" b="1">
                        <a:latin typeface="Times New Roman" panose="02020603050405020304" pitchFamily="18" charset="0"/>
                      </a:rPr>
                      <a:t>12/ 8</a:t>
                    </a:r>
                    <a:endParaRPr lang="en-US" altLang="zh-CN" sz="4400" b="1">
                      <a:latin typeface="Times New Roman" panose="02020603050405020304" pitchFamily="18" charset="0"/>
                    </a:endParaRPr>
                  </a:p>
                </p:txBody>
              </p:sp>
              <p:sp>
                <p:nvSpPr>
                  <p:cNvPr id="345105" name="矩形 345104"/>
                  <p:cNvSpPr/>
                  <p:nvPr/>
                </p:nvSpPr>
                <p:spPr>
                  <a:xfrm>
                    <a:off x="1074" y="0"/>
                    <a:ext cx="358" cy="374"/>
                  </a:xfrm>
                  <a:prstGeom prst="rect">
                    <a:avLst/>
                  </a:prstGeom>
                  <a:noFill/>
                  <a:ln w="7" cap="flat" cmpd="sng">
                    <a:solidFill>
                      <a:srgbClr val="A0A0A0"/>
                    </a:solidFill>
                    <a:prstDash val="solid"/>
                    <a:miter/>
                    <a:headEnd type="none" w="med" len="med"/>
                    <a:tailEnd type="none" w="med" len="med"/>
                  </a:ln>
                </p:spPr>
                <p:txBody>
                  <a:bodyPr/>
                  <a:p>
                    <a:endParaRPr lang="zh-CN" altLang="en-US"/>
                  </a:p>
                </p:txBody>
              </p:sp>
            </p:grpSp>
            <p:grpSp>
              <p:nvGrpSpPr>
                <p:cNvPr id="345106" name="组合 345105"/>
                <p:cNvGrpSpPr/>
                <p:nvPr/>
              </p:nvGrpSpPr>
              <p:grpSpPr>
                <a:xfrm>
                  <a:off x="1432" y="0"/>
                  <a:ext cx="358" cy="374"/>
                  <a:chOff x="1432" y="0"/>
                  <a:chExt cx="358" cy="374"/>
                </a:xfrm>
              </p:grpSpPr>
              <p:sp>
                <p:nvSpPr>
                  <p:cNvPr id="345107" name="矩形 345106"/>
                  <p:cNvSpPr/>
                  <p:nvPr/>
                </p:nvSpPr>
                <p:spPr>
                  <a:xfrm>
                    <a:off x="1475" y="0"/>
                    <a:ext cx="272" cy="374"/>
                  </a:xfrm>
                  <a:prstGeom prst="rect">
                    <a:avLst/>
                  </a:prstGeom>
                  <a:noFill/>
                  <a:ln w="9525">
                    <a:noFill/>
                  </a:ln>
                </p:spPr>
                <p:txBody>
                  <a:bodyPr anchor="ctr" anchorCtr="0"/>
                  <a:p>
                    <a:pPr algn="ctr"/>
                    <a:r>
                      <a:rPr lang="en-US" altLang="zh-CN" sz="1800" b="1">
                        <a:latin typeface="Times New Roman" panose="02020603050405020304" pitchFamily="18" charset="0"/>
                      </a:rPr>
                      <a:t>A0</a:t>
                    </a:r>
                    <a:endParaRPr lang="en-US" altLang="zh-CN" sz="4400" b="1">
                      <a:latin typeface="Times New Roman" panose="02020603050405020304" pitchFamily="18" charset="0"/>
                    </a:endParaRPr>
                  </a:p>
                </p:txBody>
              </p:sp>
              <p:sp>
                <p:nvSpPr>
                  <p:cNvPr id="345108" name="矩形 345107"/>
                  <p:cNvSpPr/>
                  <p:nvPr/>
                </p:nvSpPr>
                <p:spPr>
                  <a:xfrm>
                    <a:off x="1432" y="0"/>
                    <a:ext cx="358" cy="374"/>
                  </a:xfrm>
                  <a:prstGeom prst="rect">
                    <a:avLst/>
                  </a:prstGeom>
                  <a:noFill/>
                  <a:ln w="7" cap="flat" cmpd="sng">
                    <a:solidFill>
                      <a:srgbClr val="A0A0A0"/>
                    </a:solidFill>
                    <a:prstDash val="solid"/>
                    <a:miter/>
                    <a:headEnd type="none" w="med" len="med"/>
                    <a:tailEnd type="none" w="med" len="med"/>
                  </a:ln>
                </p:spPr>
                <p:txBody>
                  <a:bodyPr/>
                  <a:p>
                    <a:endParaRPr lang="zh-CN" altLang="en-US"/>
                  </a:p>
                </p:txBody>
              </p:sp>
            </p:grpSp>
            <p:grpSp>
              <p:nvGrpSpPr>
                <p:cNvPr id="345109" name="组合 345108"/>
                <p:cNvGrpSpPr/>
                <p:nvPr/>
              </p:nvGrpSpPr>
              <p:grpSpPr>
                <a:xfrm>
                  <a:off x="1790" y="0"/>
                  <a:ext cx="678" cy="374"/>
                  <a:chOff x="1790" y="0"/>
                  <a:chExt cx="678" cy="374"/>
                </a:xfrm>
              </p:grpSpPr>
              <p:sp>
                <p:nvSpPr>
                  <p:cNvPr id="345110" name="矩形 345109"/>
                  <p:cNvSpPr/>
                  <p:nvPr/>
                </p:nvSpPr>
                <p:spPr>
                  <a:xfrm>
                    <a:off x="1833" y="0"/>
                    <a:ext cx="592" cy="374"/>
                  </a:xfrm>
                  <a:prstGeom prst="rect">
                    <a:avLst/>
                  </a:prstGeom>
                  <a:noFill/>
                  <a:ln w="9525">
                    <a:noFill/>
                  </a:ln>
                </p:spPr>
                <p:txBody>
                  <a:bodyPr anchor="ctr" anchorCtr="0"/>
                  <a:p>
                    <a:pPr algn="ctr"/>
                    <a:r>
                      <a:rPr lang="zh-CN" altLang="en-US" sz="1800" b="1" dirty="0">
                        <a:latin typeface="Times New Roman" panose="02020603050405020304" pitchFamily="18" charset="0"/>
                      </a:rPr>
                      <a:t>功能说明</a:t>
                    </a:r>
                    <a:endParaRPr lang="zh-CN" altLang="en-US" sz="4400" b="1" dirty="0">
                      <a:latin typeface="Times New Roman" panose="02020603050405020304" pitchFamily="18" charset="0"/>
                    </a:endParaRPr>
                  </a:p>
                </p:txBody>
              </p:sp>
              <p:sp>
                <p:nvSpPr>
                  <p:cNvPr id="345111" name="矩形 345110"/>
                  <p:cNvSpPr/>
                  <p:nvPr/>
                </p:nvSpPr>
                <p:spPr>
                  <a:xfrm>
                    <a:off x="1790" y="0"/>
                    <a:ext cx="678" cy="374"/>
                  </a:xfrm>
                  <a:prstGeom prst="rect">
                    <a:avLst/>
                  </a:prstGeom>
                  <a:noFill/>
                  <a:ln w="7" cap="flat" cmpd="sng">
                    <a:solidFill>
                      <a:srgbClr val="A0A0A0"/>
                    </a:solidFill>
                    <a:prstDash val="solid"/>
                    <a:miter/>
                    <a:headEnd type="none" w="med" len="med"/>
                    <a:tailEnd type="none" w="med" len="med"/>
                  </a:ln>
                </p:spPr>
                <p:txBody>
                  <a:bodyPr/>
                  <a:p>
                    <a:endParaRPr lang="zh-CN" altLang="en-US"/>
                  </a:p>
                </p:txBody>
              </p:sp>
            </p:grpSp>
            <p:grpSp>
              <p:nvGrpSpPr>
                <p:cNvPr id="345112" name="组合 345111"/>
                <p:cNvGrpSpPr/>
                <p:nvPr/>
              </p:nvGrpSpPr>
              <p:grpSpPr>
                <a:xfrm>
                  <a:off x="0" y="374"/>
                  <a:ext cx="358" cy="374"/>
                  <a:chOff x="0" y="374"/>
                  <a:chExt cx="358" cy="374"/>
                </a:xfrm>
              </p:grpSpPr>
              <p:sp>
                <p:nvSpPr>
                  <p:cNvPr id="345113" name="矩形 345112"/>
                  <p:cNvSpPr/>
                  <p:nvPr/>
                </p:nvSpPr>
                <p:spPr>
                  <a:xfrm>
                    <a:off x="43" y="374"/>
                    <a:ext cx="272" cy="374"/>
                  </a:xfrm>
                  <a:prstGeom prst="rect">
                    <a:avLst/>
                  </a:prstGeom>
                  <a:noFill/>
                  <a:ln w="9525">
                    <a:noFill/>
                  </a:ln>
                </p:spPr>
                <p:txBody>
                  <a:bodyPr anchor="ctr" anchorCtr="0"/>
                  <a:p>
                    <a:pPr algn="ctr"/>
                    <a:r>
                      <a:rPr lang="en-US" altLang="zh-CN" sz="1800" b="1">
                        <a:latin typeface="Times New Roman" panose="02020603050405020304" pitchFamily="18" charset="0"/>
                      </a:rPr>
                      <a:t>1</a:t>
                    </a:r>
                    <a:endParaRPr lang="en-US" altLang="zh-CN" sz="4400" b="1">
                      <a:latin typeface="Times New Roman" panose="02020603050405020304" pitchFamily="18" charset="0"/>
                    </a:endParaRPr>
                  </a:p>
                </p:txBody>
              </p:sp>
              <p:sp>
                <p:nvSpPr>
                  <p:cNvPr id="345114" name="矩形 345113"/>
                  <p:cNvSpPr/>
                  <p:nvPr/>
                </p:nvSpPr>
                <p:spPr>
                  <a:xfrm>
                    <a:off x="0" y="374"/>
                    <a:ext cx="358" cy="374"/>
                  </a:xfrm>
                  <a:prstGeom prst="rect">
                    <a:avLst/>
                  </a:prstGeom>
                  <a:noFill/>
                  <a:ln w="7" cap="flat" cmpd="sng">
                    <a:solidFill>
                      <a:srgbClr val="A0A0A0"/>
                    </a:solidFill>
                    <a:prstDash val="solid"/>
                    <a:miter/>
                    <a:headEnd type="none" w="med" len="med"/>
                    <a:tailEnd type="none" w="med" len="med"/>
                  </a:ln>
                </p:spPr>
                <p:txBody>
                  <a:bodyPr/>
                  <a:p>
                    <a:endParaRPr lang="zh-CN" altLang="en-US"/>
                  </a:p>
                </p:txBody>
              </p:sp>
            </p:grpSp>
            <p:grpSp>
              <p:nvGrpSpPr>
                <p:cNvPr id="345115" name="组合 345114"/>
                <p:cNvGrpSpPr/>
                <p:nvPr/>
              </p:nvGrpSpPr>
              <p:grpSpPr>
                <a:xfrm>
                  <a:off x="358" y="374"/>
                  <a:ext cx="358" cy="374"/>
                  <a:chOff x="358" y="374"/>
                  <a:chExt cx="358" cy="374"/>
                </a:xfrm>
              </p:grpSpPr>
              <p:sp>
                <p:nvSpPr>
                  <p:cNvPr id="345116" name="矩形 345115"/>
                  <p:cNvSpPr/>
                  <p:nvPr/>
                </p:nvSpPr>
                <p:spPr>
                  <a:xfrm>
                    <a:off x="401" y="374"/>
                    <a:ext cx="272" cy="374"/>
                  </a:xfrm>
                  <a:prstGeom prst="rect">
                    <a:avLst/>
                  </a:prstGeom>
                  <a:noFill/>
                  <a:ln w="9525">
                    <a:noFill/>
                  </a:ln>
                </p:spPr>
                <p:txBody>
                  <a:bodyPr anchor="ctr" anchorCtr="0"/>
                  <a:p>
                    <a:pPr algn="ctr"/>
                    <a:r>
                      <a:rPr lang="en-US" altLang="zh-CN" sz="1800" b="1">
                        <a:latin typeface="Times New Roman" panose="02020603050405020304" pitchFamily="18" charset="0"/>
                      </a:rPr>
                      <a:t>0</a:t>
                    </a:r>
                    <a:endParaRPr lang="en-US" altLang="zh-CN" sz="4400" b="1">
                      <a:latin typeface="Times New Roman" panose="02020603050405020304" pitchFamily="18" charset="0"/>
                    </a:endParaRPr>
                  </a:p>
                </p:txBody>
              </p:sp>
              <p:sp>
                <p:nvSpPr>
                  <p:cNvPr id="345117" name="矩形 345116"/>
                  <p:cNvSpPr/>
                  <p:nvPr/>
                </p:nvSpPr>
                <p:spPr>
                  <a:xfrm>
                    <a:off x="358" y="374"/>
                    <a:ext cx="358" cy="374"/>
                  </a:xfrm>
                  <a:prstGeom prst="rect">
                    <a:avLst/>
                  </a:prstGeom>
                  <a:noFill/>
                  <a:ln w="7" cap="flat" cmpd="sng">
                    <a:solidFill>
                      <a:srgbClr val="A0A0A0"/>
                    </a:solidFill>
                    <a:prstDash val="solid"/>
                    <a:miter/>
                    <a:headEnd type="none" w="med" len="med"/>
                    <a:tailEnd type="none" w="med" len="med"/>
                  </a:ln>
                </p:spPr>
                <p:txBody>
                  <a:bodyPr/>
                  <a:p>
                    <a:endParaRPr lang="zh-CN" altLang="en-US"/>
                  </a:p>
                </p:txBody>
              </p:sp>
            </p:grpSp>
            <p:grpSp>
              <p:nvGrpSpPr>
                <p:cNvPr id="345118" name="组合 345117"/>
                <p:cNvGrpSpPr/>
                <p:nvPr/>
              </p:nvGrpSpPr>
              <p:grpSpPr>
                <a:xfrm>
                  <a:off x="716" y="374"/>
                  <a:ext cx="358" cy="374"/>
                  <a:chOff x="716" y="374"/>
                  <a:chExt cx="358" cy="374"/>
                </a:xfrm>
              </p:grpSpPr>
              <p:sp>
                <p:nvSpPr>
                  <p:cNvPr id="345119" name="矩形 345118"/>
                  <p:cNvSpPr/>
                  <p:nvPr/>
                </p:nvSpPr>
                <p:spPr>
                  <a:xfrm>
                    <a:off x="759" y="374"/>
                    <a:ext cx="272" cy="374"/>
                  </a:xfrm>
                  <a:prstGeom prst="rect">
                    <a:avLst/>
                  </a:prstGeom>
                  <a:noFill/>
                  <a:ln w="9525">
                    <a:noFill/>
                  </a:ln>
                </p:spPr>
                <p:txBody>
                  <a:bodyPr anchor="ctr" anchorCtr="0"/>
                  <a:p>
                    <a:pPr algn="ctr"/>
                    <a:r>
                      <a:rPr lang="en-US" altLang="zh-CN" sz="1800" b="1">
                        <a:latin typeface="Times New Roman" panose="02020603050405020304" pitchFamily="18" charset="0"/>
                      </a:rPr>
                      <a:t>0</a:t>
                    </a:r>
                    <a:endParaRPr lang="en-US" altLang="zh-CN" sz="4400" b="1">
                      <a:latin typeface="Times New Roman" panose="02020603050405020304" pitchFamily="18" charset="0"/>
                    </a:endParaRPr>
                  </a:p>
                </p:txBody>
              </p:sp>
              <p:sp>
                <p:nvSpPr>
                  <p:cNvPr id="345120" name="矩形 345119"/>
                  <p:cNvSpPr/>
                  <p:nvPr/>
                </p:nvSpPr>
                <p:spPr>
                  <a:xfrm>
                    <a:off x="716" y="374"/>
                    <a:ext cx="358" cy="374"/>
                  </a:xfrm>
                  <a:prstGeom prst="rect">
                    <a:avLst/>
                  </a:prstGeom>
                  <a:noFill/>
                  <a:ln w="7" cap="flat" cmpd="sng">
                    <a:solidFill>
                      <a:srgbClr val="A0A0A0"/>
                    </a:solidFill>
                    <a:prstDash val="solid"/>
                    <a:miter/>
                    <a:headEnd type="none" w="med" len="med"/>
                    <a:tailEnd type="none" w="med" len="med"/>
                  </a:ln>
                </p:spPr>
                <p:txBody>
                  <a:bodyPr/>
                  <a:p>
                    <a:endParaRPr lang="zh-CN" altLang="en-US"/>
                  </a:p>
                </p:txBody>
              </p:sp>
            </p:grpSp>
            <p:grpSp>
              <p:nvGrpSpPr>
                <p:cNvPr id="345121" name="组合 345120"/>
                <p:cNvGrpSpPr/>
                <p:nvPr/>
              </p:nvGrpSpPr>
              <p:grpSpPr>
                <a:xfrm>
                  <a:off x="1074" y="374"/>
                  <a:ext cx="358" cy="374"/>
                  <a:chOff x="1074" y="374"/>
                  <a:chExt cx="358" cy="374"/>
                </a:xfrm>
              </p:grpSpPr>
              <p:sp>
                <p:nvSpPr>
                  <p:cNvPr id="345122" name="矩形 345121"/>
                  <p:cNvSpPr/>
                  <p:nvPr/>
                </p:nvSpPr>
                <p:spPr>
                  <a:xfrm>
                    <a:off x="1117" y="374"/>
                    <a:ext cx="272" cy="374"/>
                  </a:xfrm>
                  <a:prstGeom prst="rect">
                    <a:avLst/>
                  </a:prstGeom>
                  <a:noFill/>
                  <a:ln w="9525">
                    <a:noFill/>
                  </a:ln>
                </p:spPr>
                <p:txBody>
                  <a:bodyPr anchor="ctr" anchorCtr="0"/>
                  <a:p>
                    <a:pPr algn="ctr"/>
                    <a:r>
                      <a:rPr lang="en-US" altLang="zh-CN" sz="1800" b="1">
                        <a:latin typeface="Times New Roman" panose="02020603050405020304" pitchFamily="18" charset="0"/>
                      </a:rPr>
                      <a:t>×</a:t>
                    </a:r>
                    <a:endParaRPr lang="en-US" altLang="zh-CN" sz="4400" b="1">
                      <a:latin typeface="Times New Roman" panose="02020603050405020304" pitchFamily="18" charset="0"/>
                    </a:endParaRPr>
                  </a:p>
                </p:txBody>
              </p:sp>
              <p:sp>
                <p:nvSpPr>
                  <p:cNvPr id="345123" name="矩形 345122"/>
                  <p:cNvSpPr/>
                  <p:nvPr/>
                </p:nvSpPr>
                <p:spPr>
                  <a:xfrm>
                    <a:off x="1074" y="374"/>
                    <a:ext cx="358" cy="374"/>
                  </a:xfrm>
                  <a:prstGeom prst="rect">
                    <a:avLst/>
                  </a:prstGeom>
                  <a:noFill/>
                  <a:ln w="7" cap="flat" cmpd="sng">
                    <a:solidFill>
                      <a:srgbClr val="A0A0A0"/>
                    </a:solidFill>
                    <a:prstDash val="solid"/>
                    <a:miter/>
                    <a:headEnd type="none" w="med" len="med"/>
                    <a:tailEnd type="none" w="med" len="med"/>
                  </a:ln>
                </p:spPr>
                <p:txBody>
                  <a:bodyPr/>
                  <a:p>
                    <a:endParaRPr lang="zh-CN" altLang="en-US"/>
                  </a:p>
                </p:txBody>
              </p:sp>
            </p:grpSp>
            <p:grpSp>
              <p:nvGrpSpPr>
                <p:cNvPr id="345124" name="组合 345123"/>
                <p:cNvGrpSpPr/>
                <p:nvPr/>
              </p:nvGrpSpPr>
              <p:grpSpPr>
                <a:xfrm>
                  <a:off x="1432" y="374"/>
                  <a:ext cx="358" cy="374"/>
                  <a:chOff x="1432" y="374"/>
                  <a:chExt cx="358" cy="374"/>
                </a:xfrm>
              </p:grpSpPr>
              <p:sp>
                <p:nvSpPr>
                  <p:cNvPr id="345125" name="矩形 345124"/>
                  <p:cNvSpPr/>
                  <p:nvPr/>
                </p:nvSpPr>
                <p:spPr>
                  <a:xfrm>
                    <a:off x="1475" y="374"/>
                    <a:ext cx="272" cy="374"/>
                  </a:xfrm>
                  <a:prstGeom prst="rect">
                    <a:avLst/>
                  </a:prstGeom>
                  <a:noFill/>
                  <a:ln w="9525">
                    <a:noFill/>
                  </a:ln>
                </p:spPr>
                <p:txBody>
                  <a:bodyPr anchor="ctr" anchorCtr="0"/>
                  <a:p>
                    <a:pPr algn="ctr"/>
                    <a:r>
                      <a:rPr lang="en-US" altLang="zh-CN" sz="1800" b="1">
                        <a:latin typeface="Times New Roman" panose="02020603050405020304" pitchFamily="18" charset="0"/>
                      </a:rPr>
                      <a:t>0</a:t>
                    </a:r>
                    <a:endParaRPr lang="en-US" altLang="zh-CN" sz="4400" b="1">
                      <a:latin typeface="Times New Roman" panose="02020603050405020304" pitchFamily="18" charset="0"/>
                    </a:endParaRPr>
                  </a:p>
                </p:txBody>
              </p:sp>
              <p:sp>
                <p:nvSpPr>
                  <p:cNvPr id="345126" name="矩形 345125"/>
                  <p:cNvSpPr/>
                  <p:nvPr/>
                </p:nvSpPr>
                <p:spPr>
                  <a:xfrm>
                    <a:off x="1432" y="374"/>
                    <a:ext cx="358" cy="374"/>
                  </a:xfrm>
                  <a:prstGeom prst="rect">
                    <a:avLst/>
                  </a:prstGeom>
                  <a:noFill/>
                  <a:ln w="7" cap="flat" cmpd="sng">
                    <a:solidFill>
                      <a:srgbClr val="A0A0A0"/>
                    </a:solidFill>
                    <a:prstDash val="solid"/>
                    <a:miter/>
                    <a:headEnd type="none" w="med" len="med"/>
                    <a:tailEnd type="none" w="med" len="med"/>
                  </a:ln>
                </p:spPr>
                <p:txBody>
                  <a:bodyPr/>
                  <a:p>
                    <a:endParaRPr lang="zh-CN" altLang="en-US"/>
                  </a:p>
                </p:txBody>
              </p:sp>
            </p:grpSp>
            <p:grpSp>
              <p:nvGrpSpPr>
                <p:cNvPr id="345127" name="组合 345126"/>
                <p:cNvGrpSpPr/>
                <p:nvPr/>
              </p:nvGrpSpPr>
              <p:grpSpPr>
                <a:xfrm>
                  <a:off x="1790" y="374"/>
                  <a:ext cx="678" cy="374"/>
                  <a:chOff x="1790" y="374"/>
                  <a:chExt cx="678" cy="374"/>
                </a:xfrm>
              </p:grpSpPr>
              <p:sp>
                <p:nvSpPr>
                  <p:cNvPr id="345128" name="矩形 345127"/>
                  <p:cNvSpPr/>
                  <p:nvPr/>
                </p:nvSpPr>
                <p:spPr>
                  <a:xfrm>
                    <a:off x="1833" y="374"/>
                    <a:ext cx="592" cy="374"/>
                  </a:xfrm>
                  <a:prstGeom prst="rect">
                    <a:avLst/>
                  </a:prstGeom>
                  <a:noFill/>
                  <a:ln w="9525">
                    <a:noFill/>
                  </a:ln>
                </p:spPr>
                <p:txBody>
                  <a:bodyPr anchor="ctr" anchorCtr="0"/>
                  <a:p>
                    <a:pPr algn="just"/>
                    <a:r>
                      <a:rPr lang="en-US" altLang="zh-CN" sz="1800" b="1">
                        <a:latin typeface="Times New Roman" panose="02020603050405020304" pitchFamily="18" charset="0"/>
                      </a:rPr>
                      <a:t>12</a:t>
                    </a:r>
                    <a:r>
                      <a:rPr lang="zh-CN" altLang="en-US" sz="1800" b="1" dirty="0">
                        <a:latin typeface="Times New Roman" panose="02020603050405020304" pitchFamily="18" charset="0"/>
                      </a:rPr>
                      <a:t>位转换</a:t>
                    </a:r>
                    <a:endParaRPr lang="zh-CN" altLang="en-US" sz="4400" b="1" dirty="0">
                      <a:latin typeface="Times New Roman" panose="02020603050405020304" pitchFamily="18" charset="0"/>
                    </a:endParaRPr>
                  </a:p>
                </p:txBody>
              </p:sp>
              <p:sp>
                <p:nvSpPr>
                  <p:cNvPr id="345129" name="矩形 345128"/>
                  <p:cNvSpPr/>
                  <p:nvPr/>
                </p:nvSpPr>
                <p:spPr>
                  <a:xfrm>
                    <a:off x="1790" y="374"/>
                    <a:ext cx="678" cy="374"/>
                  </a:xfrm>
                  <a:prstGeom prst="rect">
                    <a:avLst/>
                  </a:prstGeom>
                  <a:noFill/>
                  <a:ln w="7" cap="flat" cmpd="sng">
                    <a:solidFill>
                      <a:srgbClr val="A0A0A0"/>
                    </a:solidFill>
                    <a:prstDash val="solid"/>
                    <a:miter/>
                    <a:headEnd type="none" w="med" len="med"/>
                    <a:tailEnd type="none" w="med" len="med"/>
                  </a:ln>
                </p:spPr>
                <p:txBody>
                  <a:bodyPr/>
                  <a:p>
                    <a:endParaRPr lang="zh-CN" altLang="en-US"/>
                  </a:p>
                </p:txBody>
              </p:sp>
            </p:grpSp>
            <p:grpSp>
              <p:nvGrpSpPr>
                <p:cNvPr id="345130" name="组合 345129"/>
                <p:cNvGrpSpPr/>
                <p:nvPr/>
              </p:nvGrpSpPr>
              <p:grpSpPr>
                <a:xfrm>
                  <a:off x="0" y="748"/>
                  <a:ext cx="358" cy="374"/>
                  <a:chOff x="0" y="748"/>
                  <a:chExt cx="358" cy="374"/>
                </a:xfrm>
              </p:grpSpPr>
              <p:sp>
                <p:nvSpPr>
                  <p:cNvPr id="345131" name="矩形 345130"/>
                  <p:cNvSpPr/>
                  <p:nvPr/>
                </p:nvSpPr>
                <p:spPr>
                  <a:xfrm>
                    <a:off x="43" y="748"/>
                    <a:ext cx="272" cy="374"/>
                  </a:xfrm>
                  <a:prstGeom prst="rect">
                    <a:avLst/>
                  </a:prstGeom>
                  <a:noFill/>
                  <a:ln w="9525">
                    <a:noFill/>
                  </a:ln>
                </p:spPr>
                <p:txBody>
                  <a:bodyPr anchor="ctr" anchorCtr="0"/>
                  <a:p>
                    <a:pPr algn="ctr"/>
                    <a:r>
                      <a:rPr lang="en-US" altLang="zh-CN" sz="1800" b="1">
                        <a:latin typeface="Times New Roman" panose="02020603050405020304" pitchFamily="18" charset="0"/>
                      </a:rPr>
                      <a:t>1</a:t>
                    </a:r>
                    <a:endParaRPr lang="en-US" altLang="zh-CN" sz="4400" b="1">
                      <a:latin typeface="Times New Roman" panose="02020603050405020304" pitchFamily="18" charset="0"/>
                    </a:endParaRPr>
                  </a:p>
                </p:txBody>
              </p:sp>
              <p:sp>
                <p:nvSpPr>
                  <p:cNvPr id="345132" name="矩形 345131"/>
                  <p:cNvSpPr/>
                  <p:nvPr/>
                </p:nvSpPr>
                <p:spPr>
                  <a:xfrm>
                    <a:off x="0" y="748"/>
                    <a:ext cx="358" cy="374"/>
                  </a:xfrm>
                  <a:prstGeom prst="rect">
                    <a:avLst/>
                  </a:prstGeom>
                  <a:noFill/>
                  <a:ln w="7" cap="flat" cmpd="sng">
                    <a:solidFill>
                      <a:srgbClr val="A0A0A0"/>
                    </a:solidFill>
                    <a:prstDash val="solid"/>
                    <a:miter/>
                    <a:headEnd type="none" w="med" len="med"/>
                    <a:tailEnd type="none" w="med" len="med"/>
                  </a:ln>
                </p:spPr>
                <p:txBody>
                  <a:bodyPr/>
                  <a:p>
                    <a:endParaRPr lang="zh-CN" altLang="en-US"/>
                  </a:p>
                </p:txBody>
              </p:sp>
            </p:grpSp>
            <p:grpSp>
              <p:nvGrpSpPr>
                <p:cNvPr id="345133" name="组合 345132"/>
                <p:cNvGrpSpPr/>
                <p:nvPr/>
              </p:nvGrpSpPr>
              <p:grpSpPr>
                <a:xfrm>
                  <a:off x="358" y="748"/>
                  <a:ext cx="358" cy="374"/>
                  <a:chOff x="358" y="748"/>
                  <a:chExt cx="358" cy="374"/>
                </a:xfrm>
              </p:grpSpPr>
              <p:sp>
                <p:nvSpPr>
                  <p:cNvPr id="345134" name="矩形 345133"/>
                  <p:cNvSpPr/>
                  <p:nvPr/>
                </p:nvSpPr>
                <p:spPr>
                  <a:xfrm>
                    <a:off x="401" y="748"/>
                    <a:ext cx="272" cy="374"/>
                  </a:xfrm>
                  <a:prstGeom prst="rect">
                    <a:avLst/>
                  </a:prstGeom>
                  <a:noFill/>
                  <a:ln w="9525">
                    <a:noFill/>
                  </a:ln>
                </p:spPr>
                <p:txBody>
                  <a:bodyPr anchor="ctr" anchorCtr="0"/>
                  <a:p>
                    <a:pPr algn="ctr"/>
                    <a:r>
                      <a:rPr lang="en-US" altLang="zh-CN" sz="1800" b="1">
                        <a:latin typeface="Times New Roman" panose="02020603050405020304" pitchFamily="18" charset="0"/>
                      </a:rPr>
                      <a:t>0</a:t>
                    </a:r>
                    <a:endParaRPr lang="en-US" altLang="zh-CN" sz="4400" b="1">
                      <a:latin typeface="Times New Roman" panose="02020603050405020304" pitchFamily="18" charset="0"/>
                    </a:endParaRPr>
                  </a:p>
                </p:txBody>
              </p:sp>
              <p:sp>
                <p:nvSpPr>
                  <p:cNvPr id="345135" name="矩形 345134"/>
                  <p:cNvSpPr/>
                  <p:nvPr/>
                </p:nvSpPr>
                <p:spPr>
                  <a:xfrm>
                    <a:off x="358" y="748"/>
                    <a:ext cx="358" cy="374"/>
                  </a:xfrm>
                  <a:prstGeom prst="rect">
                    <a:avLst/>
                  </a:prstGeom>
                  <a:noFill/>
                  <a:ln w="7" cap="flat" cmpd="sng">
                    <a:solidFill>
                      <a:srgbClr val="A0A0A0"/>
                    </a:solidFill>
                    <a:prstDash val="solid"/>
                    <a:miter/>
                    <a:headEnd type="none" w="med" len="med"/>
                    <a:tailEnd type="none" w="med" len="med"/>
                  </a:ln>
                </p:spPr>
                <p:txBody>
                  <a:bodyPr/>
                  <a:p>
                    <a:endParaRPr lang="zh-CN" altLang="en-US"/>
                  </a:p>
                </p:txBody>
              </p:sp>
            </p:grpSp>
            <p:grpSp>
              <p:nvGrpSpPr>
                <p:cNvPr id="345136" name="组合 345135"/>
                <p:cNvGrpSpPr/>
                <p:nvPr/>
              </p:nvGrpSpPr>
              <p:grpSpPr>
                <a:xfrm>
                  <a:off x="716" y="748"/>
                  <a:ext cx="358" cy="374"/>
                  <a:chOff x="716" y="748"/>
                  <a:chExt cx="358" cy="374"/>
                </a:xfrm>
              </p:grpSpPr>
              <p:sp>
                <p:nvSpPr>
                  <p:cNvPr id="345137" name="矩形 345136"/>
                  <p:cNvSpPr/>
                  <p:nvPr/>
                </p:nvSpPr>
                <p:spPr>
                  <a:xfrm>
                    <a:off x="759" y="748"/>
                    <a:ext cx="272" cy="374"/>
                  </a:xfrm>
                  <a:prstGeom prst="rect">
                    <a:avLst/>
                  </a:prstGeom>
                  <a:noFill/>
                  <a:ln w="9525">
                    <a:noFill/>
                  </a:ln>
                </p:spPr>
                <p:txBody>
                  <a:bodyPr anchor="ctr" anchorCtr="0"/>
                  <a:p>
                    <a:pPr algn="ctr"/>
                    <a:r>
                      <a:rPr lang="en-US" altLang="zh-CN" sz="1800" b="1">
                        <a:latin typeface="Times New Roman" panose="02020603050405020304" pitchFamily="18" charset="0"/>
                      </a:rPr>
                      <a:t>0</a:t>
                    </a:r>
                    <a:endParaRPr lang="en-US" altLang="zh-CN" sz="4400" b="1">
                      <a:latin typeface="Times New Roman" panose="02020603050405020304" pitchFamily="18" charset="0"/>
                    </a:endParaRPr>
                  </a:p>
                </p:txBody>
              </p:sp>
              <p:sp>
                <p:nvSpPr>
                  <p:cNvPr id="345138" name="矩形 345137"/>
                  <p:cNvSpPr/>
                  <p:nvPr/>
                </p:nvSpPr>
                <p:spPr>
                  <a:xfrm>
                    <a:off x="716" y="748"/>
                    <a:ext cx="358" cy="374"/>
                  </a:xfrm>
                  <a:prstGeom prst="rect">
                    <a:avLst/>
                  </a:prstGeom>
                  <a:noFill/>
                  <a:ln w="7" cap="flat" cmpd="sng">
                    <a:solidFill>
                      <a:srgbClr val="A0A0A0"/>
                    </a:solidFill>
                    <a:prstDash val="solid"/>
                    <a:miter/>
                    <a:headEnd type="none" w="med" len="med"/>
                    <a:tailEnd type="none" w="med" len="med"/>
                  </a:ln>
                </p:spPr>
                <p:txBody>
                  <a:bodyPr/>
                  <a:p>
                    <a:endParaRPr lang="zh-CN" altLang="en-US"/>
                  </a:p>
                </p:txBody>
              </p:sp>
            </p:grpSp>
            <p:grpSp>
              <p:nvGrpSpPr>
                <p:cNvPr id="345139" name="组合 345138"/>
                <p:cNvGrpSpPr/>
                <p:nvPr/>
              </p:nvGrpSpPr>
              <p:grpSpPr>
                <a:xfrm>
                  <a:off x="1074" y="748"/>
                  <a:ext cx="358" cy="374"/>
                  <a:chOff x="1074" y="748"/>
                  <a:chExt cx="358" cy="374"/>
                </a:xfrm>
              </p:grpSpPr>
              <p:sp>
                <p:nvSpPr>
                  <p:cNvPr id="345140" name="矩形 345139"/>
                  <p:cNvSpPr/>
                  <p:nvPr/>
                </p:nvSpPr>
                <p:spPr>
                  <a:xfrm>
                    <a:off x="1117" y="748"/>
                    <a:ext cx="272" cy="374"/>
                  </a:xfrm>
                  <a:prstGeom prst="rect">
                    <a:avLst/>
                  </a:prstGeom>
                  <a:noFill/>
                  <a:ln w="9525">
                    <a:noFill/>
                  </a:ln>
                </p:spPr>
                <p:txBody>
                  <a:bodyPr anchor="ctr" anchorCtr="0"/>
                  <a:p>
                    <a:pPr algn="ctr"/>
                    <a:r>
                      <a:rPr lang="en-US" altLang="zh-CN" sz="1800" b="1">
                        <a:latin typeface="Times New Roman" panose="02020603050405020304" pitchFamily="18" charset="0"/>
                      </a:rPr>
                      <a:t>×</a:t>
                    </a:r>
                    <a:endParaRPr lang="en-US" altLang="zh-CN" sz="4400" b="1">
                      <a:latin typeface="Times New Roman" panose="02020603050405020304" pitchFamily="18" charset="0"/>
                    </a:endParaRPr>
                  </a:p>
                </p:txBody>
              </p:sp>
              <p:sp>
                <p:nvSpPr>
                  <p:cNvPr id="345141" name="矩形 345140"/>
                  <p:cNvSpPr/>
                  <p:nvPr/>
                </p:nvSpPr>
                <p:spPr>
                  <a:xfrm>
                    <a:off x="1074" y="748"/>
                    <a:ext cx="358" cy="374"/>
                  </a:xfrm>
                  <a:prstGeom prst="rect">
                    <a:avLst/>
                  </a:prstGeom>
                  <a:noFill/>
                  <a:ln w="7" cap="flat" cmpd="sng">
                    <a:solidFill>
                      <a:srgbClr val="A0A0A0"/>
                    </a:solidFill>
                    <a:prstDash val="solid"/>
                    <a:miter/>
                    <a:headEnd type="none" w="med" len="med"/>
                    <a:tailEnd type="none" w="med" len="med"/>
                  </a:ln>
                </p:spPr>
                <p:txBody>
                  <a:bodyPr/>
                  <a:p>
                    <a:endParaRPr lang="zh-CN" altLang="en-US"/>
                  </a:p>
                </p:txBody>
              </p:sp>
            </p:grpSp>
            <p:grpSp>
              <p:nvGrpSpPr>
                <p:cNvPr id="345142" name="组合 345141"/>
                <p:cNvGrpSpPr/>
                <p:nvPr/>
              </p:nvGrpSpPr>
              <p:grpSpPr>
                <a:xfrm>
                  <a:off x="1432" y="748"/>
                  <a:ext cx="358" cy="374"/>
                  <a:chOff x="1432" y="748"/>
                  <a:chExt cx="358" cy="374"/>
                </a:xfrm>
              </p:grpSpPr>
              <p:sp>
                <p:nvSpPr>
                  <p:cNvPr id="345143" name="矩形 345142"/>
                  <p:cNvSpPr/>
                  <p:nvPr/>
                </p:nvSpPr>
                <p:spPr>
                  <a:xfrm>
                    <a:off x="1475" y="748"/>
                    <a:ext cx="272" cy="374"/>
                  </a:xfrm>
                  <a:prstGeom prst="rect">
                    <a:avLst/>
                  </a:prstGeom>
                  <a:noFill/>
                  <a:ln w="9525">
                    <a:noFill/>
                  </a:ln>
                </p:spPr>
                <p:txBody>
                  <a:bodyPr anchor="ctr" anchorCtr="0"/>
                  <a:p>
                    <a:pPr algn="ctr"/>
                    <a:r>
                      <a:rPr lang="en-US" altLang="zh-CN" sz="1800" b="1">
                        <a:latin typeface="Times New Roman" panose="02020603050405020304" pitchFamily="18" charset="0"/>
                      </a:rPr>
                      <a:t>1</a:t>
                    </a:r>
                    <a:endParaRPr lang="en-US" altLang="zh-CN" sz="4400" b="1">
                      <a:latin typeface="Times New Roman" panose="02020603050405020304" pitchFamily="18" charset="0"/>
                    </a:endParaRPr>
                  </a:p>
                </p:txBody>
              </p:sp>
              <p:sp>
                <p:nvSpPr>
                  <p:cNvPr id="345144" name="矩形 345143"/>
                  <p:cNvSpPr/>
                  <p:nvPr/>
                </p:nvSpPr>
                <p:spPr>
                  <a:xfrm>
                    <a:off x="1432" y="748"/>
                    <a:ext cx="358" cy="374"/>
                  </a:xfrm>
                  <a:prstGeom prst="rect">
                    <a:avLst/>
                  </a:prstGeom>
                  <a:noFill/>
                  <a:ln w="7" cap="flat" cmpd="sng">
                    <a:solidFill>
                      <a:srgbClr val="A0A0A0"/>
                    </a:solidFill>
                    <a:prstDash val="solid"/>
                    <a:miter/>
                    <a:headEnd type="none" w="med" len="med"/>
                    <a:tailEnd type="none" w="med" len="med"/>
                  </a:ln>
                </p:spPr>
                <p:txBody>
                  <a:bodyPr/>
                  <a:p>
                    <a:endParaRPr lang="zh-CN" altLang="en-US"/>
                  </a:p>
                </p:txBody>
              </p:sp>
            </p:grpSp>
            <p:grpSp>
              <p:nvGrpSpPr>
                <p:cNvPr id="345145" name="组合 345144"/>
                <p:cNvGrpSpPr/>
                <p:nvPr/>
              </p:nvGrpSpPr>
              <p:grpSpPr>
                <a:xfrm>
                  <a:off x="1790" y="748"/>
                  <a:ext cx="678" cy="374"/>
                  <a:chOff x="1790" y="748"/>
                  <a:chExt cx="678" cy="374"/>
                </a:xfrm>
              </p:grpSpPr>
              <p:sp>
                <p:nvSpPr>
                  <p:cNvPr id="345146" name="矩形 345145"/>
                  <p:cNvSpPr/>
                  <p:nvPr/>
                </p:nvSpPr>
                <p:spPr>
                  <a:xfrm>
                    <a:off x="1833" y="748"/>
                    <a:ext cx="592" cy="374"/>
                  </a:xfrm>
                  <a:prstGeom prst="rect">
                    <a:avLst/>
                  </a:prstGeom>
                  <a:noFill/>
                  <a:ln w="9525">
                    <a:noFill/>
                  </a:ln>
                </p:spPr>
                <p:txBody>
                  <a:bodyPr anchor="ctr" anchorCtr="0"/>
                  <a:p>
                    <a:pPr algn="just"/>
                    <a:r>
                      <a:rPr lang="en-US" altLang="zh-CN" sz="1800" b="1">
                        <a:latin typeface="Times New Roman" panose="02020603050405020304" pitchFamily="18" charset="0"/>
                      </a:rPr>
                      <a:t>8</a:t>
                    </a:r>
                    <a:r>
                      <a:rPr lang="zh-CN" altLang="en-US" sz="1800" b="1" dirty="0">
                        <a:latin typeface="Times New Roman" panose="02020603050405020304" pitchFamily="18" charset="0"/>
                      </a:rPr>
                      <a:t>位转换</a:t>
                    </a:r>
                    <a:endParaRPr lang="zh-CN" altLang="en-US" sz="4400" b="1" dirty="0">
                      <a:latin typeface="Times New Roman" panose="02020603050405020304" pitchFamily="18" charset="0"/>
                    </a:endParaRPr>
                  </a:p>
                </p:txBody>
              </p:sp>
              <p:sp>
                <p:nvSpPr>
                  <p:cNvPr id="345147" name="矩形 345146"/>
                  <p:cNvSpPr/>
                  <p:nvPr/>
                </p:nvSpPr>
                <p:spPr>
                  <a:xfrm>
                    <a:off x="1790" y="748"/>
                    <a:ext cx="678" cy="374"/>
                  </a:xfrm>
                  <a:prstGeom prst="rect">
                    <a:avLst/>
                  </a:prstGeom>
                  <a:noFill/>
                  <a:ln w="7" cap="flat" cmpd="sng">
                    <a:solidFill>
                      <a:srgbClr val="A0A0A0"/>
                    </a:solidFill>
                    <a:prstDash val="solid"/>
                    <a:miter/>
                    <a:headEnd type="none" w="med" len="med"/>
                    <a:tailEnd type="none" w="med" len="med"/>
                  </a:ln>
                </p:spPr>
                <p:txBody>
                  <a:bodyPr/>
                  <a:p>
                    <a:endParaRPr lang="zh-CN" altLang="en-US"/>
                  </a:p>
                </p:txBody>
              </p:sp>
            </p:grpSp>
            <p:grpSp>
              <p:nvGrpSpPr>
                <p:cNvPr id="345148" name="组合 345147"/>
                <p:cNvGrpSpPr/>
                <p:nvPr/>
              </p:nvGrpSpPr>
              <p:grpSpPr>
                <a:xfrm>
                  <a:off x="0" y="1122"/>
                  <a:ext cx="358" cy="374"/>
                  <a:chOff x="0" y="1122"/>
                  <a:chExt cx="358" cy="374"/>
                </a:xfrm>
              </p:grpSpPr>
              <p:sp>
                <p:nvSpPr>
                  <p:cNvPr id="345149" name="矩形 345148"/>
                  <p:cNvSpPr/>
                  <p:nvPr/>
                </p:nvSpPr>
                <p:spPr>
                  <a:xfrm>
                    <a:off x="43" y="1122"/>
                    <a:ext cx="272" cy="374"/>
                  </a:xfrm>
                  <a:prstGeom prst="rect">
                    <a:avLst/>
                  </a:prstGeom>
                  <a:noFill/>
                  <a:ln w="9525">
                    <a:noFill/>
                  </a:ln>
                </p:spPr>
                <p:txBody>
                  <a:bodyPr anchor="ctr" anchorCtr="0"/>
                  <a:p>
                    <a:pPr algn="ctr"/>
                    <a:r>
                      <a:rPr lang="en-US" altLang="zh-CN" sz="1800" b="1">
                        <a:latin typeface="Times New Roman" panose="02020603050405020304" pitchFamily="18" charset="0"/>
                      </a:rPr>
                      <a:t>1</a:t>
                    </a:r>
                    <a:endParaRPr lang="en-US" altLang="zh-CN" sz="4400" b="1">
                      <a:latin typeface="Times New Roman" panose="02020603050405020304" pitchFamily="18" charset="0"/>
                    </a:endParaRPr>
                  </a:p>
                </p:txBody>
              </p:sp>
              <p:sp>
                <p:nvSpPr>
                  <p:cNvPr id="345150" name="矩形 345149"/>
                  <p:cNvSpPr/>
                  <p:nvPr/>
                </p:nvSpPr>
                <p:spPr>
                  <a:xfrm>
                    <a:off x="0" y="1122"/>
                    <a:ext cx="358" cy="374"/>
                  </a:xfrm>
                  <a:prstGeom prst="rect">
                    <a:avLst/>
                  </a:prstGeom>
                  <a:noFill/>
                  <a:ln w="7" cap="flat" cmpd="sng">
                    <a:solidFill>
                      <a:srgbClr val="A0A0A0"/>
                    </a:solidFill>
                    <a:prstDash val="solid"/>
                    <a:miter/>
                    <a:headEnd type="none" w="med" len="med"/>
                    <a:tailEnd type="none" w="med" len="med"/>
                  </a:ln>
                </p:spPr>
                <p:txBody>
                  <a:bodyPr/>
                  <a:p>
                    <a:endParaRPr lang="zh-CN" altLang="en-US"/>
                  </a:p>
                </p:txBody>
              </p:sp>
            </p:grpSp>
            <p:grpSp>
              <p:nvGrpSpPr>
                <p:cNvPr id="345151" name="组合 345150"/>
                <p:cNvGrpSpPr/>
                <p:nvPr/>
              </p:nvGrpSpPr>
              <p:grpSpPr>
                <a:xfrm>
                  <a:off x="358" y="1122"/>
                  <a:ext cx="358" cy="374"/>
                  <a:chOff x="358" y="1122"/>
                  <a:chExt cx="358" cy="374"/>
                </a:xfrm>
              </p:grpSpPr>
              <p:sp>
                <p:nvSpPr>
                  <p:cNvPr id="345152" name="矩形 345151"/>
                  <p:cNvSpPr/>
                  <p:nvPr/>
                </p:nvSpPr>
                <p:spPr>
                  <a:xfrm>
                    <a:off x="401" y="1122"/>
                    <a:ext cx="272" cy="374"/>
                  </a:xfrm>
                  <a:prstGeom prst="rect">
                    <a:avLst/>
                  </a:prstGeom>
                  <a:noFill/>
                  <a:ln w="9525">
                    <a:noFill/>
                  </a:ln>
                </p:spPr>
                <p:txBody>
                  <a:bodyPr anchor="ctr" anchorCtr="0"/>
                  <a:p>
                    <a:pPr algn="ctr"/>
                    <a:r>
                      <a:rPr lang="en-US" altLang="zh-CN" sz="1800" b="1">
                        <a:latin typeface="Times New Roman" panose="02020603050405020304" pitchFamily="18" charset="0"/>
                      </a:rPr>
                      <a:t>0</a:t>
                    </a:r>
                    <a:endParaRPr lang="en-US" altLang="zh-CN" sz="4400" b="1">
                      <a:latin typeface="Times New Roman" panose="02020603050405020304" pitchFamily="18" charset="0"/>
                    </a:endParaRPr>
                  </a:p>
                </p:txBody>
              </p:sp>
              <p:sp>
                <p:nvSpPr>
                  <p:cNvPr id="345153" name="矩形 345152"/>
                  <p:cNvSpPr/>
                  <p:nvPr/>
                </p:nvSpPr>
                <p:spPr>
                  <a:xfrm>
                    <a:off x="358" y="1122"/>
                    <a:ext cx="358" cy="374"/>
                  </a:xfrm>
                  <a:prstGeom prst="rect">
                    <a:avLst/>
                  </a:prstGeom>
                  <a:noFill/>
                  <a:ln w="7" cap="flat" cmpd="sng">
                    <a:solidFill>
                      <a:srgbClr val="A0A0A0"/>
                    </a:solidFill>
                    <a:prstDash val="solid"/>
                    <a:miter/>
                    <a:headEnd type="none" w="med" len="med"/>
                    <a:tailEnd type="none" w="med" len="med"/>
                  </a:ln>
                </p:spPr>
                <p:txBody>
                  <a:bodyPr/>
                  <a:p>
                    <a:endParaRPr lang="zh-CN" altLang="en-US"/>
                  </a:p>
                </p:txBody>
              </p:sp>
            </p:grpSp>
            <p:grpSp>
              <p:nvGrpSpPr>
                <p:cNvPr id="345154" name="组合 345153"/>
                <p:cNvGrpSpPr/>
                <p:nvPr/>
              </p:nvGrpSpPr>
              <p:grpSpPr>
                <a:xfrm>
                  <a:off x="716" y="1122"/>
                  <a:ext cx="358" cy="374"/>
                  <a:chOff x="716" y="1122"/>
                  <a:chExt cx="358" cy="374"/>
                </a:xfrm>
              </p:grpSpPr>
              <p:sp>
                <p:nvSpPr>
                  <p:cNvPr id="345155" name="矩形 345154"/>
                  <p:cNvSpPr/>
                  <p:nvPr/>
                </p:nvSpPr>
                <p:spPr>
                  <a:xfrm>
                    <a:off x="759" y="1122"/>
                    <a:ext cx="272" cy="374"/>
                  </a:xfrm>
                  <a:prstGeom prst="rect">
                    <a:avLst/>
                  </a:prstGeom>
                  <a:noFill/>
                  <a:ln w="9525">
                    <a:noFill/>
                  </a:ln>
                </p:spPr>
                <p:txBody>
                  <a:bodyPr anchor="ctr" anchorCtr="0"/>
                  <a:p>
                    <a:pPr algn="ctr"/>
                    <a:r>
                      <a:rPr lang="en-US" altLang="zh-CN" sz="1800" b="1">
                        <a:latin typeface="Times New Roman" panose="02020603050405020304" pitchFamily="18" charset="0"/>
                      </a:rPr>
                      <a:t>1</a:t>
                    </a:r>
                    <a:endParaRPr lang="en-US" altLang="zh-CN" sz="4400" b="1">
                      <a:latin typeface="Times New Roman" panose="02020603050405020304" pitchFamily="18" charset="0"/>
                    </a:endParaRPr>
                  </a:p>
                </p:txBody>
              </p:sp>
              <p:sp>
                <p:nvSpPr>
                  <p:cNvPr id="345156" name="矩形 345155"/>
                  <p:cNvSpPr/>
                  <p:nvPr/>
                </p:nvSpPr>
                <p:spPr>
                  <a:xfrm>
                    <a:off x="716" y="1122"/>
                    <a:ext cx="358" cy="374"/>
                  </a:xfrm>
                  <a:prstGeom prst="rect">
                    <a:avLst/>
                  </a:prstGeom>
                  <a:noFill/>
                  <a:ln w="7" cap="flat" cmpd="sng">
                    <a:solidFill>
                      <a:srgbClr val="A0A0A0"/>
                    </a:solidFill>
                    <a:prstDash val="solid"/>
                    <a:miter/>
                    <a:headEnd type="none" w="med" len="med"/>
                    <a:tailEnd type="none" w="med" len="med"/>
                  </a:ln>
                </p:spPr>
                <p:txBody>
                  <a:bodyPr/>
                  <a:p>
                    <a:endParaRPr lang="zh-CN" altLang="en-US"/>
                  </a:p>
                </p:txBody>
              </p:sp>
            </p:grpSp>
            <p:grpSp>
              <p:nvGrpSpPr>
                <p:cNvPr id="345157" name="组合 345156"/>
                <p:cNvGrpSpPr/>
                <p:nvPr/>
              </p:nvGrpSpPr>
              <p:grpSpPr>
                <a:xfrm>
                  <a:off x="1074" y="1122"/>
                  <a:ext cx="358" cy="374"/>
                  <a:chOff x="1074" y="1122"/>
                  <a:chExt cx="358" cy="374"/>
                </a:xfrm>
              </p:grpSpPr>
              <p:sp>
                <p:nvSpPr>
                  <p:cNvPr id="345158" name="矩形 345157"/>
                  <p:cNvSpPr/>
                  <p:nvPr/>
                </p:nvSpPr>
                <p:spPr>
                  <a:xfrm>
                    <a:off x="1117" y="1122"/>
                    <a:ext cx="272" cy="374"/>
                  </a:xfrm>
                  <a:prstGeom prst="rect">
                    <a:avLst/>
                  </a:prstGeom>
                  <a:noFill/>
                  <a:ln w="9525">
                    <a:noFill/>
                  </a:ln>
                </p:spPr>
                <p:txBody>
                  <a:bodyPr anchor="ctr" anchorCtr="0"/>
                  <a:p>
                    <a:pPr algn="ctr"/>
                    <a:r>
                      <a:rPr lang="en-US" altLang="zh-CN" sz="1800" b="1">
                        <a:latin typeface="Times New Roman" panose="02020603050405020304" pitchFamily="18" charset="0"/>
                      </a:rPr>
                      <a:t>+5V</a:t>
                    </a:r>
                    <a:endParaRPr lang="en-US" altLang="zh-CN" sz="4400" b="1">
                      <a:latin typeface="Times New Roman" panose="02020603050405020304" pitchFamily="18" charset="0"/>
                    </a:endParaRPr>
                  </a:p>
                </p:txBody>
              </p:sp>
              <p:sp>
                <p:nvSpPr>
                  <p:cNvPr id="345159" name="矩形 345158"/>
                  <p:cNvSpPr/>
                  <p:nvPr/>
                </p:nvSpPr>
                <p:spPr>
                  <a:xfrm>
                    <a:off x="1074" y="1122"/>
                    <a:ext cx="358" cy="374"/>
                  </a:xfrm>
                  <a:prstGeom prst="rect">
                    <a:avLst/>
                  </a:prstGeom>
                  <a:noFill/>
                  <a:ln w="7" cap="flat" cmpd="sng">
                    <a:solidFill>
                      <a:srgbClr val="A0A0A0"/>
                    </a:solidFill>
                    <a:prstDash val="solid"/>
                    <a:miter/>
                    <a:headEnd type="none" w="med" len="med"/>
                    <a:tailEnd type="none" w="med" len="med"/>
                  </a:ln>
                </p:spPr>
                <p:txBody>
                  <a:bodyPr/>
                  <a:p>
                    <a:endParaRPr lang="zh-CN" altLang="en-US"/>
                  </a:p>
                </p:txBody>
              </p:sp>
            </p:grpSp>
            <p:grpSp>
              <p:nvGrpSpPr>
                <p:cNvPr id="345160" name="组合 345159"/>
                <p:cNvGrpSpPr/>
                <p:nvPr/>
              </p:nvGrpSpPr>
              <p:grpSpPr>
                <a:xfrm>
                  <a:off x="1432" y="1122"/>
                  <a:ext cx="358" cy="374"/>
                  <a:chOff x="1432" y="1122"/>
                  <a:chExt cx="358" cy="374"/>
                </a:xfrm>
              </p:grpSpPr>
              <p:sp>
                <p:nvSpPr>
                  <p:cNvPr id="345161" name="矩形 345160"/>
                  <p:cNvSpPr/>
                  <p:nvPr/>
                </p:nvSpPr>
                <p:spPr>
                  <a:xfrm>
                    <a:off x="1475" y="1122"/>
                    <a:ext cx="272" cy="374"/>
                  </a:xfrm>
                  <a:prstGeom prst="rect">
                    <a:avLst/>
                  </a:prstGeom>
                  <a:noFill/>
                  <a:ln w="9525">
                    <a:noFill/>
                  </a:ln>
                </p:spPr>
                <p:txBody>
                  <a:bodyPr anchor="ctr" anchorCtr="0"/>
                  <a:p>
                    <a:pPr algn="ctr"/>
                    <a:r>
                      <a:rPr lang="en-US" altLang="zh-CN" sz="1800" b="1">
                        <a:latin typeface="Times New Roman" panose="02020603050405020304" pitchFamily="18" charset="0"/>
                      </a:rPr>
                      <a:t>×</a:t>
                    </a:r>
                    <a:endParaRPr lang="en-US" altLang="zh-CN" sz="4400" b="1">
                      <a:latin typeface="Times New Roman" panose="02020603050405020304" pitchFamily="18" charset="0"/>
                    </a:endParaRPr>
                  </a:p>
                </p:txBody>
              </p:sp>
              <p:sp>
                <p:nvSpPr>
                  <p:cNvPr id="345162" name="矩形 345161"/>
                  <p:cNvSpPr/>
                  <p:nvPr/>
                </p:nvSpPr>
                <p:spPr>
                  <a:xfrm>
                    <a:off x="1432" y="1122"/>
                    <a:ext cx="358" cy="374"/>
                  </a:xfrm>
                  <a:prstGeom prst="rect">
                    <a:avLst/>
                  </a:prstGeom>
                  <a:noFill/>
                  <a:ln w="7" cap="flat" cmpd="sng">
                    <a:solidFill>
                      <a:srgbClr val="A0A0A0"/>
                    </a:solidFill>
                    <a:prstDash val="solid"/>
                    <a:miter/>
                    <a:headEnd type="none" w="med" len="med"/>
                    <a:tailEnd type="none" w="med" len="med"/>
                  </a:ln>
                </p:spPr>
                <p:txBody>
                  <a:bodyPr/>
                  <a:p>
                    <a:endParaRPr lang="zh-CN" altLang="en-US"/>
                  </a:p>
                </p:txBody>
              </p:sp>
            </p:grpSp>
            <p:grpSp>
              <p:nvGrpSpPr>
                <p:cNvPr id="345163" name="组合 345162"/>
                <p:cNvGrpSpPr/>
                <p:nvPr/>
              </p:nvGrpSpPr>
              <p:grpSpPr>
                <a:xfrm>
                  <a:off x="1790" y="1122"/>
                  <a:ext cx="678" cy="374"/>
                  <a:chOff x="1790" y="1122"/>
                  <a:chExt cx="678" cy="374"/>
                </a:xfrm>
              </p:grpSpPr>
              <p:sp>
                <p:nvSpPr>
                  <p:cNvPr id="345164" name="矩形 345163"/>
                  <p:cNvSpPr/>
                  <p:nvPr/>
                </p:nvSpPr>
                <p:spPr>
                  <a:xfrm>
                    <a:off x="1833" y="1122"/>
                    <a:ext cx="592" cy="374"/>
                  </a:xfrm>
                  <a:prstGeom prst="rect">
                    <a:avLst/>
                  </a:prstGeom>
                  <a:noFill/>
                  <a:ln w="9525">
                    <a:noFill/>
                  </a:ln>
                </p:spPr>
                <p:txBody>
                  <a:bodyPr anchor="ctr" anchorCtr="0"/>
                  <a:p>
                    <a:pPr algn="just"/>
                    <a:r>
                      <a:rPr lang="en-US" altLang="zh-CN" sz="1800" b="1">
                        <a:latin typeface="Times New Roman" panose="02020603050405020304" pitchFamily="18" charset="0"/>
                      </a:rPr>
                      <a:t>12</a:t>
                    </a:r>
                    <a:r>
                      <a:rPr lang="zh-CN" altLang="en-US" sz="1800" b="1" dirty="0">
                        <a:latin typeface="Times New Roman" panose="02020603050405020304" pitchFamily="18" charset="0"/>
                      </a:rPr>
                      <a:t>位输出</a:t>
                    </a:r>
                    <a:endParaRPr lang="zh-CN" altLang="en-US" sz="4400" b="1" dirty="0">
                      <a:latin typeface="Times New Roman" panose="02020603050405020304" pitchFamily="18" charset="0"/>
                    </a:endParaRPr>
                  </a:p>
                </p:txBody>
              </p:sp>
              <p:sp>
                <p:nvSpPr>
                  <p:cNvPr id="345165" name="矩形 345164"/>
                  <p:cNvSpPr/>
                  <p:nvPr/>
                </p:nvSpPr>
                <p:spPr>
                  <a:xfrm>
                    <a:off x="1790" y="1122"/>
                    <a:ext cx="678" cy="374"/>
                  </a:xfrm>
                  <a:prstGeom prst="rect">
                    <a:avLst/>
                  </a:prstGeom>
                  <a:noFill/>
                  <a:ln w="7" cap="flat" cmpd="sng">
                    <a:solidFill>
                      <a:srgbClr val="A0A0A0"/>
                    </a:solidFill>
                    <a:prstDash val="solid"/>
                    <a:miter/>
                    <a:headEnd type="none" w="med" len="med"/>
                    <a:tailEnd type="none" w="med" len="med"/>
                  </a:ln>
                </p:spPr>
                <p:txBody>
                  <a:bodyPr/>
                  <a:p>
                    <a:endParaRPr lang="zh-CN" altLang="en-US"/>
                  </a:p>
                </p:txBody>
              </p:sp>
            </p:grpSp>
            <p:grpSp>
              <p:nvGrpSpPr>
                <p:cNvPr id="345166" name="组合 345165"/>
                <p:cNvGrpSpPr/>
                <p:nvPr/>
              </p:nvGrpSpPr>
              <p:grpSpPr>
                <a:xfrm>
                  <a:off x="0" y="1496"/>
                  <a:ext cx="358" cy="374"/>
                  <a:chOff x="0" y="1496"/>
                  <a:chExt cx="358" cy="374"/>
                </a:xfrm>
              </p:grpSpPr>
              <p:sp>
                <p:nvSpPr>
                  <p:cNvPr id="345167" name="矩形 345166"/>
                  <p:cNvSpPr/>
                  <p:nvPr/>
                </p:nvSpPr>
                <p:spPr>
                  <a:xfrm>
                    <a:off x="43" y="1496"/>
                    <a:ext cx="272" cy="374"/>
                  </a:xfrm>
                  <a:prstGeom prst="rect">
                    <a:avLst/>
                  </a:prstGeom>
                  <a:noFill/>
                  <a:ln w="9525">
                    <a:noFill/>
                  </a:ln>
                </p:spPr>
                <p:txBody>
                  <a:bodyPr anchor="ctr" anchorCtr="0"/>
                  <a:p>
                    <a:pPr algn="ctr"/>
                    <a:r>
                      <a:rPr lang="en-US" altLang="zh-CN" sz="1800" b="1">
                        <a:latin typeface="Times New Roman" panose="02020603050405020304" pitchFamily="18" charset="0"/>
                      </a:rPr>
                      <a:t>1</a:t>
                    </a:r>
                    <a:endParaRPr lang="en-US" altLang="zh-CN" sz="4400" b="1">
                      <a:latin typeface="Times New Roman" panose="02020603050405020304" pitchFamily="18" charset="0"/>
                    </a:endParaRPr>
                  </a:p>
                </p:txBody>
              </p:sp>
              <p:sp>
                <p:nvSpPr>
                  <p:cNvPr id="345168" name="矩形 345167"/>
                  <p:cNvSpPr/>
                  <p:nvPr/>
                </p:nvSpPr>
                <p:spPr>
                  <a:xfrm>
                    <a:off x="0" y="1496"/>
                    <a:ext cx="358" cy="374"/>
                  </a:xfrm>
                  <a:prstGeom prst="rect">
                    <a:avLst/>
                  </a:prstGeom>
                  <a:noFill/>
                  <a:ln w="7" cap="flat" cmpd="sng">
                    <a:solidFill>
                      <a:srgbClr val="A0A0A0"/>
                    </a:solidFill>
                    <a:prstDash val="solid"/>
                    <a:miter/>
                    <a:headEnd type="none" w="med" len="med"/>
                    <a:tailEnd type="none" w="med" len="med"/>
                  </a:ln>
                </p:spPr>
                <p:txBody>
                  <a:bodyPr/>
                  <a:p>
                    <a:endParaRPr lang="zh-CN" altLang="en-US"/>
                  </a:p>
                </p:txBody>
              </p:sp>
            </p:grpSp>
            <p:grpSp>
              <p:nvGrpSpPr>
                <p:cNvPr id="345169" name="组合 345168"/>
                <p:cNvGrpSpPr/>
                <p:nvPr/>
              </p:nvGrpSpPr>
              <p:grpSpPr>
                <a:xfrm>
                  <a:off x="358" y="1496"/>
                  <a:ext cx="358" cy="374"/>
                  <a:chOff x="358" y="1496"/>
                  <a:chExt cx="358" cy="374"/>
                </a:xfrm>
              </p:grpSpPr>
              <p:sp>
                <p:nvSpPr>
                  <p:cNvPr id="345170" name="矩形 345169"/>
                  <p:cNvSpPr/>
                  <p:nvPr/>
                </p:nvSpPr>
                <p:spPr>
                  <a:xfrm>
                    <a:off x="401" y="1496"/>
                    <a:ext cx="272" cy="374"/>
                  </a:xfrm>
                  <a:prstGeom prst="rect">
                    <a:avLst/>
                  </a:prstGeom>
                  <a:noFill/>
                  <a:ln w="9525">
                    <a:noFill/>
                  </a:ln>
                </p:spPr>
                <p:txBody>
                  <a:bodyPr anchor="ctr" anchorCtr="0"/>
                  <a:p>
                    <a:pPr algn="ctr"/>
                    <a:r>
                      <a:rPr lang="en-US" altLang="zh-CN" sz="1800" b="1">
                        <a:latin typeface="Times New Roman" panose="02020603050405020304" pitchFamily="18" charset="0"/>
                      </a:rPr>
                      <a:t>0</a:t>
                    </a:r>
                    <a:endParaRPr lang="en-US" altLang="zh-CN" sz="4400" b="1">
                      <a:latin typeface="Times New Roman" panose="02020603050405020304" pitchFamily="18" charset="0"/>
                    </a:endParaRPr>
                  </a:p>
                </p:txBody>
              </p:sp>
              <p:sp>
                <p:nvSpPr>
                  <p:cNvPr id="345171" name="矩形 345170"/>
                  <p:cNvSpPr/>
                  <p:nvPr/>
                </p:nvSpPr>
                <p:spPr>
                  <a:xfrm>
                    <a:off x="358" y="1496"/>
                    <a:ext cx="358" cy="374"/>
                  </a:xfrm>
                  <a:prstGeom prst="rect">
                    <a:avLst/>
                  </a:prstGeom>
                  <a:noFill/>
                  <a:ln w="7" cap="flat" cmpd="sng">
                    <a:solidFill>
                      <a:srgbClr val="A0A0A0"/>
                    </a:solidFill>
                    <a:prstDash val="solid"/>
                    <a:miter/>
                    <a:headEnd type="none" w="med" len="med"/>
                    <a:tailEnd type="none" w="med" len="med"/>
                  </a:ln>
                </p:spPr>
                <p:txBody>
                  <a:bodyPr/>
                  <a:p>
                    <a:endParaRPr lang="zh-CN" altLang="en-US"/>
                  </a:p>
                </p:txBody>
              </p:sp>
            </p:grpSp>
            <p:grpSp>
              <p:nvGrpSpPr>
                <p:cNvPr id="345172" name="组合 345171"/>
                <p:cNvGrpSpPr/>
                <p:nvPr/>
              </p:nvGrpSpPr>
              <p:grpSpPr>
                <a:xfrm>
                  <a:off x="716" y="1496"/>
                  <a:ext cx="358" cy="374"/>
                  <a:chOff x="716" y="1496"/>
                  <a:chExt cx="358" cy="374"/>
                </a:xfrm>
              </p:grpSpPr>
              <p:sp>
                <p:nvSpPr>
                  <p:cNvPr id="345173" name="矩形 345172"/>
                  <p:cNvSpPr/>
                  <p:nvPr/>
                </p:nvSpPr>
                <p:spPr>
                  <a:xfrm>
                    <a:off x="759" y="1496"/>
                    <a:ext cx="272" cy="374"/>
                  </a:xfrm>
                  <a:prstGeom prst="rect">
                    <a:avLst/>
                  </a:prstGeom>
                  <a:noFill/>
                  <a:ln w="9525">
                    <a:noFill/>
                  </a:ln>
                </p:spPr>
                <p:txBody>
                  <a:bodyPr anchor="ctr" anchorCtr="0"/>
                  <a:p>
                    <a:pPr algn="ctr"/>
                    <a:r>
                      <a:rPr lang="en-US" altLang="zh-CN" sz="1800" b="1">
                        <a:latin typeface="Times New Roman" panose="02020603050405020304" pitchFamily="18" charset="0"/>
                      </a:rPr>
                      <a:t>1</a:t>
                    </a:r>
                    <a:endParaRPr lang="en-US" altLang="zh-CN" sz="4400" b="1">
                      <a:latin typeface="Times New Roman" panose="02020603050405020304" pitchFamily="18" charset="0"/>
                    </a:endParaRPr>
                  </a:p>
                </p:txBody>
              </p:sp>
              <p:sp>
                <p:nvSpPr>
                  <p:cNvPr id="345174" name="矩形 345173"/>
                  <p:cNvSpPr/>
                  <p:nvPr/>
                </p:nvSpPr>
                <p:spPr>
                  <a:xfrm>
                    <a:off x="716" y="1496"/>
                    <a:ext cx="358" cy="374"/>
                  </a:xfrm>
                  <a:prstGeom prst="rect">
                    <a:avLst/>
                  </a:prstGeom>
                  <a:noFill/>
                  <a:ln w="7" cap="flat" cmpd="sng">
                    <a:solidFill>
                      <a:srgbClr val="A0A0A0"/>
                    </a:solidFill>
                    <a:prstDash val="solid"/>
                    <a:miter/>
                    <a:headEnd type="none" w="med" len="med"/>
                    <a:tailEnd type="none" w="med" len="med"/>
                  </a:ln>
                </p:spPr>
                <p:txBody>
                  <a:bodyPr/>
                  <a:p>
                    <a:endParaRPr lang="zh-CN" altLang="en-US"/>
                  </a:p>
                </p:txBody>
              </p:sp>
            </p:grpSp>
            <p:grpSp>
              <p:nvGrpSpPr>
                <p:cNvPr id="345175" name="组合 345174"/>
                <p:cNvGrpSpPr/>
                <p:nvPr/>
              </p:nvGrpSpPr>
              <p:grpSpPr>
                <a:xfrm>
                  <a:off x="1074" y="1496"/>
                  <a:ext cx="358" cy="374"/>
                  <a:chOff x="1074" y="1496"/>
                  <a:chExt cx="358" cy="374"/>
                </a:xfrm>
              </p:grpSpPr>
              <p:sp>
                <p:nvSpPr>
                  <p:cNvPr id="345176" name="矩形 345175"/>
                  <p:cNvSpPr/>
                  <p:nvPr/>
                </p:nvSpPr>
                <p:spPr>
                  <a:xfrm>
                    <a:off x="1117" y="1496"/>
                    <a:ext cx="272" cy="374"/>
                  </a:xfrm>
                  <a:prstGeom prst="rect">
                    <a:avLst/>
                  </a:prstGeom>
                  <a:noFill/>
                  <a:ln w="9525">
                    <a:noFill/>
                  </a:ln>
                </p:spPr>
                <p:txBody>
                  <a:bodyPr anchor="ctr" anchorCtr="0"/>
                  <a:p>
                    <a:pPr algn="ctr"/>
                    <a:r>
                      <a:rPr lang="zh-CN" altLang="en-US" sz="1800" b="1" dirty="0">
                        <a:latin typeface="Times New Roman" panose="02020603050405020304" pitchFamily="18" charset="0"/>
                      </a:rPr>
                      <a:t>地</a:t>
                    </a:r>
                    <a:endParaRPr lang="zh-CN" altLang="en-US" sz="4400" b="1" dirty="0">
                      <a:latin typeface="Times New Roman" panose="02020603050405020304" pitchFamily="18" charset="0"/>
                    </a:endParaRPr>
                  </a:p>
                </p:txBody>
              </p:sp>
              <p:sp>
                <p:nvSpPr>
                  <p:cNvPr id="345177" name="矩形 345176"/>
                  <p:cNvSpPr/>
                  <p:nvPr/>
                </p:nvSpPr>
                <p:spPr>
                  <a:xfrm>
                    <a:off x="1074" y="1496"/>
                    <a:ext cx="358" cy="374"/>
                  </a:xfrm>
                  <a:prstGeom prst="rect">
                    <a:avLst/>
                  </a:prstGeom>
                  <a:noFill/>
                  <a:ln w="7" cap="flat" cmpd="sng">
                    <a:solidFill>
                      <a:srgbClr val="A0A0A0"/>
                    </a:solidFill>
                    <a:prstDash val="solid"/>
                    <a:miter/>
                    <a:headEnd type="none" w="med" len="med"/>
                    <a:tailEnd type="none" w="med" len="med"/>
                  </a:ln>
                </p:spPr>
                <p:txBody>
                  <a:bodyPr/>
                  <a:p>
                    <a:endParaRPr lang="zh-CN" altLang="en-US"/>
                  </a:p>
                </p:txBody>
              </p:sp>
            </p:grpSp>
            <p:grpSp>
              <p:nvGrpSpPr>
                <p:cNvPr id="345178" name="组合 345177"/>
                <p:cNvGrpSpPr/>
                <p:nvPr/>
              </p:nvGrpSpPr>
              <p:grpSpPr>
                <a:xfrm>
                  <a:off x="1432" y="1496"/>
                  <a:ext cx="358" cy="374"/>
                  <a:chOff x="1432" y="1496"/>
                  <a:chExt cx="358" cy="374"/>
                </a:xfrm>
              </p:grpSpPr>
              <p:sp>
                <p:nvSpPr>
                  <p:cNvPr id="345179" name="矩形 345178"/>
                  <p:cNvSpPr/>
                  <p:nvPr/>
                </p:nvSpPr>
                <p:spPr>
                  <a:xfrm>
                    <a:off x="1475" y="1496"/>
                    <a:ext cx="272" cy="374"/>
                  </a:xfrm>
                  <a:prstGeom prst="rect">
                    <a:avLst/>
                  </a:prstGeom>
                  <a:noFill/>
                  <a:ln w="9525">
                    <a:noFill/>
                  </a:ln>
                </p:spPr>
                <p:txBody>
                  <a:bodyPr anchor="ctr" anchorCtr="0"/>
                  <a:p>
                    <a:pPr algn="ctr"/>
                    <a:r>
                      <a:rPr lang="en-US" altLang="zh-CN" sz="1800" b="1">
                        <a:latin typeface="Times New Roman" panose="02020603050405020304" pitchFamily="18" charset="0"/>
                      </a:rPr>
                      <a:t>0</a:t>
                    </a:r>
                    <a:endParaRPr lang="en-US" altLang="zh-CN" sz="4400" b="1">
                      <a:latin typeface="Times New Roman" panose="02020603050405020304" pitchFamily="18" charset="0"/>
                    </a:endParaRPr>
                  </a:p>
                </p:txBody>
              </p:sp>
              <p:sp>
                <p:nvSpPr>
                  <p:cNvPr id="345180" name="矩形 345179"/>
                  <p:cNvSpPr/>
                  <p:nvPr/>
                </p:nvSpPr>
                <p:spPr>
                  <a:xfrm>
                    <a:off x="1432" y="1496"/>
                    <a:ext cx="358" cy="374"/>
                  </a:xfrm>
                  <a:prstGeom prst="rect">
                    <a:avLst/>
                  </a:prstGeom>
                  <a:noFill/>
                  <a:ln w="7" cap="flat" cmpd="sng">
                    <a:solidFill>
                      <a:srgbClr val="A0A0A0"/>
                    </a:solidFill>
                    <a:prstDash val="solid"/>
                    <a:miter/>
                    <a:headEnd type="none" w="med" len="med"/>
                    <a:tailEnd type="none" w="med" len="med"/>
                  </a:ln>
                </p:spPr>
                <p:txBody>
                  <a:bodyPr/>
                  <a:p>
                    <a:endParaRPr lang="zh-CN" altLang="en-US"/>
                  </a:p>
                </p:txBody>
              </p:sp>
            </p:grpSp>
            <p:grpSp>
              <p:nvGrpSpPr>
                <p:cNvPr id="345181" name="组合 345180"/>
                <p:cNvGrpSpPr/>
                <p:nvPr/>
              </p:nvGrpSpPr>
              <p:grpSpPr>
                <a:xfrm>
                  <a:off x="1790" y="1496"/>
                  <a:ext cx="678" cy="374"/>
                  <a:chOff x="1790" y="1496"/>
                  <a:chExt cx="678" cy="374"/>
                </a:xfrm>
              </p:grpSpPr>
              <p:sp>
                <p:nvSpPr>
                  <p:cNvPr id="345182" name="矩形 345181"/>
                  <p:cNvSpPr/>
                  <p:nvPr/>
                </p:nvSpPr>
                <p:spPr>
                  <a:xfrm>
                    <a:off x="1833" y="1496"/>
                    <a:ext cx="592" cy="374"/>
                  </a:xfrm>
                  <a:prstGeom prst="rect">
                    <a:avLst/>
                  </a:prstGeom>
                  <a:noFill/>
                  <a:ln w="9525">
                    <a:noFill/>
                  </a:ln>
                </p:spPr>
                <p:txBody>
                  <a:bodyPr anchor="ctr" anchorCtr="0"/>
                  <a:p>
                    <a:pPr algn="just"/>
                    <a:r>
                      <a:rPr lang="zh-CN" altLang="en-US" sz="1800" b="1" dirty="0">
                        <a:latin typeface="Times New Roman" panose="02020603050405020304" pitchFamily="18" charset="0"/>
                      </a:rPr>
                      <a:t>高</a:t>
                    </a:r>
                    <a:r>
                      <a:rPr lang="en-US" altLang="zh-CN" sz="1800" b="1">
                        <a:latin typeface="Times New Roman" panose="02020603050405020304" pitchFamily="18" charset="0"/>
                      </a:rPr>
                      <a:t>8</a:t>
                    </a:r>
                    <a:r>
                      <a:rPr lang="zh-CN" altLang="en-US" sz="1800" b="1" dirty="0">
                        <a:latin typeface="Times New Roman" panose="02020603050405020304" pitchFamily="18" charset="0"/>
                      </a:rPr>
                      <a:t>位输出</a:t>
                    </a:r>
                    <a:endParaRPr lang="zh-CN" altLang="en-US" sz="4400" b="1" dirty="0">
                      <a:latin typeface="Times New Roman" panose="02020603050405020304" pitchFamily="18" charset="0"/>
                    </a:endParaRPr>
                  </a:p>
                </p:txBody>
              </p:sp>
              <p:sp>
                <p:nvSpPr>
                  <p:cNvPr id="345183" name="矩形 345182"/>
                  <p:cNvSpPr/>
                  <p:nvPr/>
                </p:nvSpPr>
                <p:spPr>
                  <a:xfrm>
                    <a:off x="1790" y="1496"/>
                    <a:ext cx="678" cy="374"/>
                  </a:xfrm>
                  <a:prstGeom prst="rect">
                    <a:avLst/>
                  </a:prstGeom>
                  <a:noFill/>
                  <a:ln w="7" cap="flat" cmpd="sng">
                    <a:solidFill>
                      <a:srgbClr val="A0A0A0"/>
                    </a:solidFill>
                    <a:prstDash val="solid"/>
                    <a:miter/>
                    <a:headEnd type="none" w="med" len="med"/>
                    <a:tailEnd type="none" w="med" len="med"/>
                  </a:ln>
                </p:spPr>
                <p:txBody>
                  <a:bodyPr/>
                  <a:p>
                    <a:endParaRPr lang="zh-CN" altLang="en-US"/>
                  </a:p>
                </p:txBody>
              </p:sp>
            </p:grpSp>
            <p:grpSp>
              <p:nvGrpSpPr>
                <p:cNvPr id="345184" name="组合 345183"/>
                <p:cNvGrpSpPr/>
                <p:nvPr/>
              </p:nvGrpSpPr>
              <p:grpSpPr>
                <a:xfrm>
                  <a:off x="0" y="1870"/>
                  <a:ext cx="358" cy="374"/>
                  <a:chOff x="0" y="1870"/>
                  <a:chExt cx="358" cy="374"/>
                </a:xfrm>
              </p:grpSpPr>
              <p:sp>
                <p:nvSpPr>
                  <p:cNvPr id="345185" name="矩形 345184"/>
                  <p:cNvSpPr/>
                  <p:nvPr/>
                </p:nvSpPr>
                <p:spPr>
                  <a:xfrm>
                    <a:off x="43" y="1870"/>
                    <a:ext cx="272" cy="374"/>
                  </a:xfrm>
                  <a:prstGeom prst="rect">
                    <a:avLst/>
                  </a:prstGeom>
                  <a:noFill/>
                  <a:ln w="9525">
                    <a:noFill/>
                  </a:ln>
                </p:spPr>
                <p:txBody>
                  <a:bodyPr anchor="ctr" anchorCtr="0"/>
                  <a:p>
                    <a:pPr algn="ctr"/>
                    <a:r>
                      <a:rPr lang="en-US" altLang="zh-CN" sz="1800" b="1">
                        <a:latin typeface="Times New Roman" panose="02020603050405020304" pitchFamily="18" charset="0"/>
                      </a:rPr>
                      <a:t>1</a:t>
                    </a:r>
                    <a:endParaRPr lang="en-US" altLang="zh-CN" sz="4400" b="1">
                      <a:latin typeface="Times New Roman" panose="02020603050405020304" pitchFamily="18" charset="0"/>
                    </a:endParaRPr>
                  </a:p>
                </p:txBody>
              </p:sp>
              <p:sp>
                <p:nvSpPr>
                  <p:cNvPr id="345186" name="矩形 345185"/>
                  <p:cNvSpPr/>
                  <p:nvPr/>
                </p:nvSpPr>
                <p:spPr>
                  <a:xfrm>
                    <a:off x="0" y="1870"/>
                    <a:ext cx="358" cy="374"/>
                  </a:xfrm>
                  <a:prstGeom prst="rect">
                    <a:avLst/>
                  </a:prstGeom>
                  <a:noFill/>
                  <a:ln w="7" cap="flat" cmpd="sng">
                    <a:solidFill>
                      <a:srgbClr val="A0A0A0"/>
                    </a:solidFill>
                    <a:prstDash val="solid"/>
                    <a:miter/>
                    <a:headEnd type="none" w="med" len="med"/>
                    <a:tailEnd type="none" w="med" len="med"/>
                  </a:ln>
                </p:spPr>
                <p:txBody>
                  <a:bodyPr/>
                  <a:p>
                    <a:endParaRPr lang="zh-CN" altLang="en-US"/>
                  </a:p>
                </p:txBody>
              </p:sp>
            </p:grpSp>
            <p:grpSp>
              <p:nvGrpSpPr>
                <p:cNvPr id="345187" name="组合 345186"/>
                <p:cNvGrpSpPr/>
                <p:nvPr/>
              </p:nvGrpSpPr>
              <p:grpSpPr>
                <a:xfrm>
                  <a:off x="358" y="1870"/>
                  <a:ext cx="358" cy="374"/>
                  <a:chOff x="358" y="1870"/>
                  <a:chExt cx="358" cy="374"/>
                </a:xfrm>
              </p:grpSpPr>
              <p:sp>
                <p:nvSpPr>
                  <p:cNvPr id="345188" name="矩形 345187"/>
                  <p:cNvSpPr/>
                  <p:nvPr/>
                </p:nvSpPr>
                <p:spPr>
                  <a:xfrm>
                    <a:off x="401" y="1870"/>
                    <a:ext cx="272" cy="374"/>
                  </a:xfrm>
                  <a:prstGeom prst="rect">
                    <a:avLst/>
                  </a:prstGeom>
                  <a:noFill/>
                  <a:ln w="9525">
                    <a:noFill/>
                  </a:ln>
                </p:spPr>
                <p:txBody>
                  <a:bodyPr anchor="ctr" anchorCtr="0"/>
                  <a:p>
                    <a:pPr algn="ctr"/>
                    <a:r>
                      <a:rPr lang="en-US" altLang="zh-CN" sz="1800" b="1">
                        <a:latin typeface="Times New Roman" panose="02020603050405020304" pitchFamily="18" charset="0"/>
                      </a:rPr>
                      <a:t>0</a:t>
                    </a:r>
                    <a:endParaRPr lang="en-US" altLang="zh-CN" sz="4400" b="1">
                      <a:latin typeface="Times New Roman" panose="02020603050405020304" pitchFamily="18" charset="0"/>
                    </a:endParaRPr>
                  </a:p>
                </p:txBody>
              </p:sp>
              <p:sp>
                <p:nvSpPr>
                  <p:cNvPr id="345189" name="矩形 345188"/>
                  <p:cNvSpPr/>
                  <p:nvPr/>
                </p:nvSpPr>
                <p:spPr>
                  <a:xfrm>
                    <a:off x="358" y="1870"/>
                    <a:ext cx="358" cy="374"/>
                  </a:xfrm>
                  <a:prstGeom prst="rect">
                    <a:avLst/>
                  </a:prstGeom>
                  <a:noFill/>
                  <a:ln w="7" cap="flat" cmpd="sng">
                    <a:solidFill>
                      <a:srgbClr val="A0A0A0"/>
                    </a:solidFill>
                    <a:prstDash val="solid"/>
                    <a:miter/>
                    <a:headEnd type="none" w="med" len="med"/>
                    <a:tailEnd type="none" w="med" len="med"/>
                  </a:ln>
                </p:spPr>
                <p:txBody>
                  <a:bodyPr/>
                  <a:p>
                    <a:endParaRPr lang="zh-CN" altLang="en-US"/>
                  </a:p>
                </p:txBody>
              </p:sp>
            </p:grpSp>
            <p:grpSp>
              <p:nvGrpSpPr>
                <p:cNvPr id="345190" name="组合 345189"/>
                <p:cNvGrpSpPr/>
                <p:nvPr/>
              </p:nvGrpSpPr>
              <p:grpSpPr>
                <a:xfrm>
                  <a:off x="716" y="1870"/>
                  <a:ext cx="358" cy="374"/>
                  <a:chOff x="716" y="1870"/>
                  <a:chExt cx="358" cy="374"/>
                </a:xfrm>
              </p:grpSpPr>
              <p:sp>
                <p:nvSpPr>
                  <p:cNvPr id="345191" name="矩形 345190"/>
                  <p:cNvSpPr/>
                  <p:nvPr/>
                </p:nvSpPr>
                <p:spPr>
                  <a:xfrm>
                    <a:off x="759" y="1870"/>
                    <a:ext cx="272" cy="374"/>
                  </a:xfrm>
                  <a:prstGeom prst="rect">
                    <a:avLst/>
                  </a:prstGeom>
                  <a:noFill/>
                  <a:ln w="9525">
                    <a:noFill/>
                  </a:ln>
                </p:spPr>
                <p:txBody>
                  <a:bodyPr anchor="ctr" anchorCtr="0"/>
                  <a:p>
                    <a:pPr algn="ctr"/>
                    <a:r>
                      <a:rPr lang="en-US" altLang="zh-CN" sz="1800" b="1">
                        <a:latin typeface="Times New Roman" panose="02020603050405020304" pitchFamily="18" charset="0"/>
                      </a:rPr>
                      <a:t>1</a:t>
                    </a:r>
                    <a:endParaRPr lang="en-US" altLang="zh-CN" sz="4400" b="1">
                      <a:latin typeface="Times New Roman" panose="02020603050405020304" pitchFamily="18" charset="0"/>
                    </a:endParaRPr>
                  </a:p>
                </p:txBody>
              </p:sp>
              <p:sp>
                <p:nvSpPr>
                  <p:cNvPr id="345192" name="矩形 345191"/>
                  <p:cNvSpPr/>
                  <p:nvPr/>
                </p:nvSpPr>
                <p:spPr>
                  <a:xfrm>
                    <a:off x="716" y="1870"/>
                    <a:ext cx="358" cy="374"/>
                  </a:xfrm>
                  <a:prstGeom prst="rect">
                    <a:avLst/>
                  </a:prstGeom>
                  <a:noFill/>
                  <a:ln w="7" cap="flat" cmpd="sng">
                    <a:solidFill>
                      <a:srgbClr val="A0A0A0"/>
                    </a:solidFill>
                    <a:prstDash val="solid"/>
                    <a:miter/>
                    <a:headEnd type="none" w="med" len="med"/>
                    <a:tailEnd type="none" w="med" len="med"/>
                  </a:ln>
                </p:spPr>
                <p:txBody>
                  <a:bodyPr/>
                  <a:p>
                    <a:endParaRPr lang="zh-CN" altLang="en-US"/>
                  </a:p>
                </p:txBody>
              </p:sp>
            </p:grpSp>
            <p:grpSp>
              <p:nvGrpSpPr>
                <p:cNvPr id="345193" name="组合 345192"/>
                <p:cNvGrpSpPr/>
                <p:nvPr/>
              </p:nvGrpSpPr>
              <p:grpSpPr>
                <a:xfrm>
                  <a:off x="1074" y="1870"/>
                  <a:ext cx="358" cy="374"/>
                  <a:chOff x="1074" y="1870"/>
                  <a:chExt cx="358" cy="374"/>
                </a:xfrm>
              </p:grpSpPr>
              <p:sp>
                <p:nvSpPr>
                  <p:cNvPr id="345194" name="矩形 345193"/>
                  <p:cNvSpPr/>
                  <p:nvPr/>
                </p:nvSpPr>
                <p:spPr>
                  <a:xfrm>
                    <a:off x="1117" y="1870"/>
                    <a:ext cx="272" cy="374"/>
                  </a:xfrm>
                  <a:prstGeom prst="rect">
                    <a:avLst/>
                  </a:prstGeom>
                  <a:noFill/>
                  <a:ln w="9525">
                    <a:noFill/>
                  </a:ln>
                </p:spPr>
                <p:txBody>
                  <a:bodyPr anchor="ctr" anchorCtr="0"/>
                  <a:p>
                    <a:pPr algn="ctr"/>
                    <a:r>
                      <a:rPr lang="zh-CN" altLang="en-US" sz="1800" b="1" dirty="0">
                        <a:latin typeface="Times New Roman" panose="02020603050405020304" pitchFamily="18" charset="0"/>
                      </a:rPr>
                      <a:t>地</a:t>
                    </a:r>
                    <a:endParaRPr lang="zh-CN" altLang="en-US" sz="4400" b="1" dirty="0">
                      <a:latin typeface="Times New Roman" panose="02020603050405020304" pitchFamily="18" charset="0"/>
                    </a:endParaRPr>
                  </a:p>
                </p:txBody>
              </p:sp>
              <p:sp>
                <p:nvSpPr>
                  <p:cNvPr id="345195" name="矩形 345194"/>
                  <p:cNvSpPr/>
                  <p:nvPr/>
                </p:nvSpPr>
                <p:spPr>
                  <a:xfrm>
                    <a:off x="1074" y="1870"/>
                    <a:ext cx="358" cy="374"/>
                  </a:xfrm>
                  <a:prstGeom prst="rect">
                    <a:avLst/>
                  </a:prstGeom>
                  <a:noFill/>
                  <a:ln w="7" cap="flat" cmpd="sng">
                    <a:solidFill>
                      <a:srgbClr val="A0A0A0"/>
                    </a:solidFill>
                    <a:prstDash val="solid"/>
                    <a:miter/>
                    <a:headEnd type="none" w="med" len="med"/>
                    <a:tailEnd type="none" w="med" len="med"/>
                  </a:ln>
                </p:spPr>
                <p:txBody>
                  <a:bodyPr/>
                  <a:p>
                    <a:endParaRPr lang="zh-CN" altLang="en-US"/>
                  </a:p>
                </p:txBody>
              </p:sp>
            </p:grpSp>
            <p:grpSp>
              <p:nvGrpSpPr>
                <p:cNvPr id="345196" name="组合 345195"/>
                <p:cNvGrpSpPr/>
                <p:nvPr/>
              </p:nvGrpSpPr>
              <p:grpSpPr>
                <a:xfrm>
                  <a:off x="1432" y="1870"/>
                  <a:ext cx="358" cy="374"/>
                  <a:chOff x="1432" y="1870"/>
                  <a:chExt cx="358" cy="374"/>
                </a:xfrm>
              </p:grpSpPr>
              <p:sp>
                <p:nvSpPr>
                  <p:cNvPr id="345197" name="矩形 345196"/>
                  <p:cNvSpPr/>
                  <p:nvPr/>
                </p:nvSpPr>
                <p:spPr>
                  <a:xfrm>
                    <a:off x="1475" y="1870"/>
                    <a:ext cx="272" cy="374"/>
                  </a:xfrm>
                  <a:prstGeom prst="rect">
                    <a:avLst/>
                  </a:prstGeom>
                  <a:noFill/>
                  <a:ln w="9525">
                    <a:noFill/>
                  </a:ln>
                </p:spPr>
                <p:txBody>
                  <a:bodyPr anchor="ctr" anchorCtr="0"/>
                  <a:p>
                    <a:pPr algn="ctr"/>
                    <a:r>
                      <a:rPr lang="en-US" altLang="zh-CN" sz="1800" b="1">
                        <a:latin typeface="Times New Roman" panose="02020603050405020304" pitchFamily="18" charset="0"/>
                      </a:rPr>
                      <a:t>1</a:t>
                    </a:r>
                    <a:endParaRPr lang="en-US" altLang="zh-CN" sz="4400" b="1">
                      <a:latin typeface="Times New Roman" panose="02020603050405020304" pitchFamily="18" charset="0"/>
                    </a:endParaRPr>
                  </a:p>
                </p:txBody>
              </p:sp>
              <p:sp>
                <p:nvSpPr>
                  <p:cNvPr id="345198" name="矩形 345197"/>
                  <p:cNvSpPr/>
                  <p:nvPr/>
                </p:nvSpPr>
                <p:spPr>
                  <a:xfrm>
                    <a:off x="1432" y="1870"/>
                    <a:ext cx="358" cy="374"/>
                  </a:xfrm>
                  <a:prstGeom prst="rect">
                    <a:avLst/>
                  </a:prstGeom>
                  <a:noFill/>
                  <a:ln w="7" cap="flat" cmpd="sng">
                    <a:solidFill>
                      <a:srgbClr val="A0A0A0"/>
                    </a:solidFill>
                    <a:prstDash val="solid"/>
                    <a:miter/>
                    <a:headEnd type="none" w="med" len="med"/>
                    <a:tailEnd type="none" w="med" len="med"/>
                  </a:ln>
                </p:spPr>
                <p:txBody>
                  <a:bodyPr/>
                  <a:p>
                    <a:endParaRPr lang="zh-CN" altLang="en-US"/>
                  </a:p>
                </p:txBody>
              </p:sp>
            </p:grpSp>
            <p:grpSp>
              <p:nvGrpSpPr>
                <p:cNvPr id="345199" name="组合 345198"/>
                <p:cNvGrpSpPr/>
                <p:nvPr/>
              </p:nvGrpSpPr>
              <p:grpSpPr>
                <a:xfrm>
                  <a:off x="1790" y="1870"/>
                  <a:ext cx="678" cy="374"/>
                  <a:chOff x="1790" y="1870"/>
                  <a:chExt cx="678" cy="374"/>
                </a:xfrm>
              </p:grpSpPr>
              <p:sp>
                <p:nvSpPr>
                  <p:cNvPr id="345200" name="矩形 345199"/>
                  <p:cNvSpPr/>
                  <p:nvPr/>
                </p:nvSpPr>
                <p:spPr>
                  <a:xfrm>
                    <a:off x="1833" y="1870"/>
                    <a:ext cx="592" cy="374"/>
                  </a:xfrm>
                  <a:prstGeom prst="rect">
                    <a:avLst/>
                  </a:prstGeom>
                  <a:noFill/>
                  <a:ln w="9525">
                    <a:noFill/>
                  </a:ln>
                </p:spPr>
                <p:txBody>
                  <a:bodyPr anchor="ctr" anchorCtr="0"/>
                  <a:p>
                    <a:pPr algn="just"/>
                    <a:r>
                      <a:rPr lang="zh-CN" altLang="en-US" sz="1800" b="1" dirty="0">
                        <a:latin typeface="Times New Roman" panose="02020603050405020304" pitchFamily="18" charset="0"/>
                      </a:rPr>
                      <a:t>低</a:t>
                    </a:r>
                    <a:r>
                      <a:rPr lang="en-US" altLang="zh-CN" sz="1800" b="1">
                        <a:latin typeface="Times New Roman" panose="02020603050405020304" pitchFamily="18" charset="0"/>
                      </a:rPr>
                      <a:t>4</a:t>
                    </a:r>
                    <a:r>
                      <a:rPr lang="zh-CN" altLang="en-US" sz="1800" b="1" dirty="0">
                        <a:latin typeface="Times New Roman" panose="02020603050405020304" pitchFamily="18" charset="0"/>
                      </a:rPr>
                      <a:t>位输出</a:t>
                    </a:r>
                    <a:endParaRPr lang="zh-CN" altLang="en-US" sz="4400" b="1" dirty="0">
                      <a:latin typeface="Times New Roman" panose="02020603050405020304" pitchFamily="18" charset="0"/>
                    </a:endParaRPr>
                  </a:p>
                </p:txBody>
              </p:sp>
              <p:sp>
                <p:nvSpPr>
                  <p:cNvPr id="345201" name="矩形 345200"/>
                  <p:cNvSpPr/>
                  <p:nvPr/>
                </p:nvSpPr>
                <p:spPr>
                  <a:xfrm>
                    <a:off x="1790" y="1870"/>
                    <a:ext cx="678" cy="374"/>
                  </a:xfrm>
                  <a:prstGeom prst="rect">
                    <a:avLst/>
                  </a:prstGeom>
                  <a:noFill/>
                  <a:ln w="7" cap="flat" cmpd="sng">
                    <a:solidFill>
                      <a:srgbClr val="A0A0A0"/>
                    </a:solidFill>
                    <a:prstDash val="solid"/>
                    <a:miter/>
                    <a:headEnd type="none" w="med" len="med"/>
                    <a:tailEnd type="none" w="med" len="med"/>
                  </a:ln>
                </p:spPr>
                <p:txBody>
                  <a:bodyPr/>
                  <a:p>
                    <a:endParaRPr lang="zh-CN" altLang="en-US"/>
                  </a:p>
                </p:txBody>
              </p:sp>
            </p:grpSp>
          </p:grpSp>
          <p:sp>
            <p:nvSpPr>
              <p:cNvPr id="345202" name="矩形 345201"/>
              <p:cNvSpPr/>
              <p:nvPr/>
            </p:nvSpPr>
            <p:spPr>
              <a:xfrm>
                <a:off x="-3" y="-3"/>
                <a:ext cx="2474" cy="2250"/>
              </a:xfrm>
              <a:prstGeom prst="rect">
                <a:avLst/>
              </a:prstGeom>
              <a:noFill/>
              <a:ln w="9525" cap="flat" cmpd="sng">
                <a:solidFill>
                  <a:srgbClr val="A0A0A0"/>
                </a:solidFill>
                <a:prstDash val="solid"/>
                <a:miter/>
                <a:headEnd type="none" w="med" len="med"/>
                <a:tailEnd type="none" w="med" len="med"/>
              </a:ln>
            </p:spPr>
            <p:txBody>
              <a:bodyPr/>
              <a:p>
                <a:endParaRPr lang="zh-CN" altLang="en-US"/>
              </a:p>
            </p:txBody>
          </p:sp>
        </p:grpSp>
        <p:sp>
          <p:nvSpPr>
            <p:cNvPr id="345203" name="直接连接符 345202"/>
            <p:cNvSpPr/>
            <p:nvPr/>
          </p:nvSpPr>
          <p:spPr>
            <a:xfrm>
              <a:off x="1672" y="1184"/>
              <a:ext cx="192" cy="0"/>
            </a:xfrm>
            <a:prstGeom prst="line">
              <a:avLst/>
            </a:prstGeom>
            <a:ln w="9525" cap="flat" cmpd="sng">
              <a:solidFill>
                <a:schemeClr val="tx1"/>
              </a:solidFill>
              <a:prstDash val="solid"/>
              <a:headEnd type="none" w="med" len="med"/>
              <a:tailEnd type="none" w="med" len="med"/>
            </a:ln>
          </p:spPr>
        </p:sp>
        <p:sp>
          <p:nvSpPr>
            <p:cNvPr id="345204" name="直接连接符 345203"/>
            <p:cNvSpPr/>
            <p:nvPr/>
          </p:nvSpPr>
          <p:spPr>
            <a:xfrm>
              <a:off x="2480" y="1184"/>
              <a:ext cx="96" cy="0"/>
            </a:xfrm>
            <a:prstGeom prst="line">
              <a:avLst/>
            </a:prstGeom>
            <a:ln w="9525" cap="flat" cmpd="sng">
              <a:solidFill>
                <a:schemeClr val="tx1"/>
              </a:solidFill>
              <a:prstDash val="solid"/>
              <a:headEnd type="none" w="med" len="med"/>
              <a:tailEnd type="none" w="med" len="med"/>
            </a:ln>
          </p:spPr>
        </p:sp>
        <p:sp>
          <p:nvSpPr>
            <p:cNvPr id="345205" name="直接连接符 345204"/>
            <p:cNvSpPr/>
            <p:nvPr/>
          </p:nvSpPr>
          <p:spPr>
            <a:xfrm>
              <a:off x="3136" y="1192"/>
              <a:ext cx="96" cy="0"/>
            </a:xfrm>
            <a:prstGeom prst="line">
              <a:avLst/>
            </a:prstGeom>
            <a:ln w="9525" cap="flat" cmpd="sng">
              <a:solidFill>
                <a:schemeClr val="tx1"/>
              </a:solidFill>
              <a:prstDash val="solid"/>
              <a:headEnd type="none" w="med" len="med"/>
              <a:tailEnd type="none" w="med" len="med"/>
            </a:ln>
          </p:spPr>
        </p:sp>
      </p:grpSp>
    </p:spTree>
  </p:cSld>
  <p:clrMapOvr>
    <a:masterClrMapping/>
  </p:clrMapOvr>
  <p:transition>
    <p:blinds dir="vert"/>
  </p:transition>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46114" name="文本框 346113"/>
          <p:cNvSpPr txBox="1"/>
          <p:nvPr/>
        </p:nvSpPr>
        <p:spPr>
          <a:xfrm>
            <a:off x="0" y="914400"/>
            <a:ext cx="4911725" cy="457200"/>
          </a:xfrm>
          <a:prstGeom prst="rect">
            <a:avLst/>
          </a:prstGeom>
          <a:noFill/>
          <a:ln w="9525">
            <a:noFill/>
          </a:ln>
        </p:spPr>
        <p:txBody>
          <a:bodyPr wrap="none" anchor="t" anchorCtr="0">
            <a:spAutoFit/>
          </a:bodyPr>
          <a:p>
            <a:r>
              <a:rPr lang="en-US" altLang="zh-CN" b="1">
                <a:latin typeface="Times New Roman" panose="02020603050405020304" pitchFamily="18" charset="0"/>
              </a:rPr>
              <a:t>2</a:t>
            </a:r>
            <a:r>
              <a:rPr lang="zh-CN" altLang="en-US" b="1" dirty="0">
                <a:latin typeface="Times New Roman" panose="02020603050405020304" pitchFamily="18" charset="0"/>
              </a:rPr>
              <a:t>．</a:t>
            </a:r>
            <a:r>
              <a:rPr lang="en-US" altLang="zh-CN" b="1">
                <a:latin typeface="Times New Roman" panose="02020603050405020304" pitchFamily="18" charset="0"/>
              </a:rPr>
              <a:t>AD574</a:t>
            </a:r>
            <a:r>
              <a:rPr lang="zh-CN" altLang="en-US" b="1" dirty="0">
                <a:latin typeface="Times New Roman" panose="02020603050405020304" pitchFamily="18" charset="0"/>
              </a:rPr>
              <a:t>模拟输入电路的极性选择</a:t>
            </a:r>
            <a:endParaRPr lang="zh-CN" altLang="en-US" b="1">
              <a:latin typeface="Times New Roman" panose="02020603050405020304" pitchFamily="18" charset="0"/>
            </a:endParaRPr>
          </a:p>
        </p:txBody>
      </p:sp>
      <p:sp>
        <p:nvSpPr>
          <p:cNvPr id="346115" name="文本框 346114"/>
          <p:cNvSpPr txBox="1"/>
          <p:nvPr/>
        </p:nvSpPr>
        <p:spPr>
          <a:xfrm>
            <a:off x="2651125" y="5527675"/>
            <a:ext cx="4435475" cy="457200"/>
          </a:xfrm>
          <a:prstGeom prst="rect">
            <a:avLst/>
          </a:prstGeom>
          <a:noFill/>
          <a:ln w="9525">
            <a:noFill/>
          </a:ln>
        </p:spPr>
        <p:txBody>
          <a:bodyPr wrap="none" anchor="t" anchorCtr="0">
            <a:spAutoFit/>
          </a:bodyPr>
          <a:p>
            <a:r>
              <a:rPr lang="zh-CN" altLang="en-US" b="1" dirty="0">
                <a:latin typeface="Times New Roman" panose="02020603050405020304" pitchFamily="18" charset="0"/>
              </a:rPr>
              <a:t>图</a:t>
            </a:r>
            <a:r>
              <a:rPr lang="en-US" altLang="zh-CN" b="1">
                <a:latin typeface="Times New Roman" panose="02020603050405020304" pitchFamily="18" charset="0"/>
              </a:rPr>
              <a:t>11.36  AD574</a:t>
            </a:r>
            <a:r>
              <a:rPr lang="zh-CN" altLang="en-US" b="1" dirty="0">
                <a:latin typeface="Times New Roman" panose="02020603050405020304" pitchFamily="18" charset="0"/>
              </a:rPr>
              <a:t>的模拟输入电路</a:t>
            </a:r>
            <a:r>
              <a:rPr lang="zh-CN" altLang="en-US" dirty="0">
                <a:latin typeface="Times New Roman" panose="02020603050405020304" pitchFamily="18" charset="0"/>
              </a:rPr>
              <a:t> </a:t>
            </a:r>
            <a:endParaRPr lang="zh-CN" altLang="en-US">
              <a:latin typeface="Times New Roman" panose="02020603050405020304" pitchFamily="18" charset="0"/>
            </a:endParaRPr>
          </a:p>
        </p:txBody>
      </p:sp>
      <p:sp>
        <p:nvSpPr>
          <p:cNvPr id="346116" name="文本框 346115"/>
          <p:cNvSpPr txBox="1"/>
          <p:nvPr/>
        </p:nvSpPr>
        <p:spPr>
          <a:xfrm>
            <a:off x="2557463" y="5943600"/>
            <a:ext cx="4418012" cy="457200"/>
          </a:xfrm>
          <a:prstGeom prst="rect">
            <a:avLst/>
          </a:prstGeom>
          <a:noFill/>
          <a:ln w="9525">
            <a:noFill/>
          </a:ln>
        </p:spPr>
        <p:txBody>
          <a:bodyPr wrap="none" anchor="t" anchorCtr="0">
            <a:spAutoFit/>
          </a:bodyPr>
          <a:p>
            <a:r>
              <a:rPr lang="en-US" altLang="zh-CN" b="1">
                <a:latin typeface="Times New Roman" panose="02020603050405020304" pitchFamily="18" charset="0"/>
              </a:rPr>
              <a:t>(a) </a:t>
            </a:r>
            <a:r>
              <a:rPr lang="zh-CN" altLang="en-US" b="1" dirty="0">
                <a:latin typeface="Times New Roman" panose="02020603050405020304" pitchFamily="18" charset="0"/>
              </a:rPr>
              <a:t>单极性输入；</a:t>
            </a:r>
            <a:r>
              <a:rPr lang="en-US" altLang="zh-CN" b="1">
                <a:latin typeface="Times New Roman" panose="02020603050405020304" pitchFamily="18" charset="0"/>
              </a:rPr>
              <a:t>(b) </a:t>
            </a:r>
            <a:r>
              <a:rPr lang="zh-CN" altLang="en-US" b="1" dirty="0">
                <a:latin typeface="Times New Roman" panose="02020603050405020304" pitchFamily="18" charset="0"/>
              </a:rPr>
              <a:t>双极性输入</a:t>
            </a:r>
            <a:endParaRPr lang="zh-CN" altLang="en-US" b="1">
              <a:latin typeface="Times New Roman" panose="02020603050405020304" pitchFamily="18" charset="0"/>
            </a:endParaRPr>
          </a:p>
        </p:txBody>
      </p:sp>
      <p:pic>
        <p:nvPicPr>
          <p:cNvPr id="346117" name="图片 346116" descr="Img00099"/>
          <p:cNvPicPr>
            <a:picLocks noChangeAspect="1"/>
          </p:cNvPicPr>
          <p:nvPr/>
        </p:nvPicPr>
        <p:blipFill>
          <a:blip r:embed="rId1"/>
          <a:stretch>
            <a:fillRect/>
          </a:stretch>
        </p:blipFill>
        <p:spPr>
          <a:xfrm>
            <a:off x="0" y="1981200"/>
            <a:ext cx="9144000" cy="3376613"/>
          </a:xfrm>
          <a:prstGeom prst="rect">
            <a:avLst/>
          </a:prstGeom>
          <a:noFill/>
          <a:ln w="9525">
            <a:noFill/>
          </a:ln>
        </p:spPr>
      </p:pic>
    </p:spTree>
  </p:cSld>
  <p:clrMapOvr>
    <a:masterClrMapping/>
  </p:clrMapOvr>
  <p:transition>
    <p:blinds dir="vert"/>
  </p:transition>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47138" name="文本框 347137"/>
          <p:cNvSpPr txBox="1"/>
          <p:nvPr/>
        </p:nvSpPr>
        <p:spPr>
          <a:xfrm>
            <a:off x="381000" y="609600"/>
            <a:ext cx="4770438" cy="457200"/>
          </a:xfrm>
          <a:prstGeom prst="rect">
            <a:avLst/>
          </a:prstGeom>
          <a:noFill/>
          <a:ln w="9525">
            <a:noFill/>
          </a:ln>
        </p:spPr>
        <p:txBody>
          <a:bodyPr wrap="none" anchor="t" anchorCtr="0">
            <a:spAutoFit/>
          </a:bodyPr>
          <a:p>
            <a:r>
              <a:rPr lang="en-US" altLang="zh-CN" b="1">
                <a:latin typeface="Times New Roman" panose="02020603050405020304" pitchFamily="18" charset="0"/>
              </a:rPr>
              <a:t>3</a:t>
            </a:r>
            <a:r>
              <a:rPr lang="zh-CN" altLang="en-US" b="1" dirty="0">
                <a:latin typeface="Times New Roman" panose="02020603050405020304" pitchFamily="18" charset="0"/>
              </a:rPr>
              <a:t>．</a:t>
            </a:r>
            <a:r>
              <a:rPr lang="en-US" altLang="zh-CN" b="1">
                <a:latin typeface="Times New Roman" panose="02020603050405020304" pitchFamily="18" charset="0"/>
              </a:rPr>
              <a:t>AD574</a:t>
            </a:r>
            <a:r>
              <a:rPr lang="zh-CN" altLang="en-US" b="1">
                <a:latin typeface="Times New Roman" panose="02020603050405020304" pitchFamily="18" charset="0"/>
              </a:rPr>
              <a:t>与</a:t>
            </a:r>
            <a:r>
              <a:rPr lang="en-US" altLang="zh-CN" b="1">
                <a:latin typeface="Times New Roman" panose="02020603050405020304" pitchFamily="18" charset="0"/>
              </a:rPr>
              <a:t>MCS-51</a:t>
            </a:r>
            <a:r>
              <a:rPr lang="zh-CN" altLang="en-US" b="1" dirty="0">
                <a:latin typeface="Times New Roman" panose="02020603050405020304" pitchFamily="18" charset="0"/>
              </a:rPr>
              <a:t>单片机的接口</a:t>
            </a:r>
            <a:endParaRPr lang="zh-CN" altLang="en-US" b="1">
              <a:latin typeface="Times New Roman" panose="02020603050405020304" pitchFamily="18" charset="0"/>
            </a:endParaRPr>
          </a:p>
        </p:txBody>
      </p:sp>
      <p:sp>
        <p:nvSpPr>
          <p:cNvPr id="347139" name="文本框 347138"/>
          <p:cNvSpPr txBox="1"/>
          <p:nvPr/>
        </p:nvSpPr>
        <p:spPr>
          <a:xfrm>
            <a:off x="1828800" y="6096000"/>
            <a:ext cx="5875338" cy="457200"/>
          </a:xfrm>
          <a:prstGeom prst="rect">
            <a:avLst/>
          </a:prstGeom>
          <a:noFill/>
          <a:ln w="9525">
            <a:noFill/>
          </a:ln>
        </p:spPr>
        <p:txBody>
          <a:bodyPr wrap="none" anchor="t" anchorCtr="0">
            <a:spAutoFit/>
          </a:bodyPr>
          <a:p>
            <a:r>
              <a:rPr lang="zh-CN" altLang="en-US" b="1" dirty="0">
                <a:latin typeface="Times New Roman" panose="02020603050405020304" pitchFamily="18" charset="0"/>
              </a:rPr>
              <a:t>图</a:t>
            </a:r>
            <a:r>
              <a:rPr lang="en-US" altLang="zh-CN" b="1">
                <a:latin typeface="Times New Roman" panose="02020603050405020304" pitchFamily="18" charset="0"/>
              </a:rPr>
              <a:t>11.37  AD574</a:t>
            </a:r>
            <a:r>
              <a:rPr lang="zh-CN" altLang="en-US" b="1">
                <a:latin typeface="Times New Roman" panose="02020603050405020304" pitchFamily="18" charset="0"/>
              </a:rPr>
              <a:t>与</a:t>
            </a:r>
            <a:r>
              <a:rPr lang="en-US" altLang="zh-CN" b="1">
                <a:latin typeface="Times New Roman" panose="02020603050405020304" pitchFamily="18" charset="0"/>
              </a:rPr>
              <a:t>MCS–51</a:t>
            </a:r>
            <a:r>
              <a:rPr lang="zh-CN" altLang="en-US" b="1" dirty="0">
                <a:latin typeface="Times New Roman" panose="02020603050405020304" pitchFamily="18" charset="0"/>
              </a:rPr>
              <a:t>单片机接口电路 </a:t>
            </a:r>
            <a:endParaRPr lang="zh-CN" altLang="en-US" b="1">
              <a:latin typeface="Times New Roman" panose="02020603050405020304" pitchFamily="18" charset="0"/>
            </a:endParaRPr>
          </a:p>
        </p:txBody>
      </p:sp>
      <p:pic>
        <p:nvPicPr>
          <p:cNvPr id="347140" name="图片 347139" descr="Img00100"/>
          <p:cNvPicPr>
            <a:picLocks noChangeAspect="1"/>
          </p:cNvPicPr>
          <p:nvPr/>
        </p:nvPicPr>
        <p:blipFill>
          <a:blip r:embed="rId1"/>
          <a:stretch>
            <a:fillRect/>
          </a:stretch>
        </p:blipFill>
        <p:spPr>
          <a:xfrm>
            <a:off x="762000" y="1066800"/>
            <a:ext cx="8001000" cy="4981575"/>
          </a:xfrm>
          <a:prstGeom prst="rect">
            <a:avLst/>
          </a:prstGeom>
          <a:noFill/>
          <a:ln w="9525">
            <a:noFill/>
          </a:ln>
        </p:spPr>
      </p:pic>
    </p:spTree>
  </p:cSld>
  <p:clrMapOvr>
    <a:masterClrMapping/>
  </p:clrMapOvr>
  <p:transition>
    <p:blinds dir="vert"/>
  </p:transition>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48162" name="文本框 348161"/>
          <p:cNvSpPr txBox="1"/>
          <p:nvPr/>
        </p:nvSpPr>
        <p:spPr>
          <a:xfrm>
            <a:off x="228600" y="685800"/>
            <a:ext cx="8763000" cy="2249488"/>
          </a:xfrm>
          <a:prstGeom prst="rect">
            <a:avLst/>
          </a:prstGeom>
          <a:noFill/>
          <a:ln w="9525">
            <a:noFill/>
          </a:ln>
        </p:spPr>
        <p:txBody>
          <a:bodyPr>
            <a:spAutoFit/>
          </a:bodyPr>
          <a:p>
            <a:pPr>
              <a:lnSpc>
                <a:spcPct val="135000"/>
              </a:lnSpc>
              <a:spcBef>
                <a:spcPct val="50000"/>
              </a:spcBef>
            </a:pPr>
            <a:r>
              <a:rPr lang="en-US" altLang="zh-CN" b="1" dirty="0">
                <a:latin typeface="Times New Roman" panose="02020603050405020304" pitchFamily="18" charset="0"/>
              </a:rPr>
              <a:t>        </a:t>
            </a:r>
            <a:r>
              <a:rPr lang="en-US" altLang="zh-CN" b="1">
                <a:latin typeface="Times New Roman" panose="02020603050405020304" pitchFamily="18" charset="0"/>
              </a:rPr>
              <a:t>4</a:t>
            </a:r>
            <a:r>
              <a:rPr lang="zh-CN" altLang="en-US" b="1" dirty="0">
                <a:latin typeface="Times New Roman" panose="02020603050405020304" pitchFamily="18" charset="0"/>
              </a:rPr>
              <a:t>．转换程序设计举例</a:t>
            </a:r>
            <a:endParaRPr lang="zh-CN" altLang="en-US" b="1" dirty="0">
              <a:latin typeface="Times New Roman" panose="02020603050405020304" pitchFamily="18" charset="0"/>
            </a:endParaRPr>
          </a:p>
          <a:p>
            <a:pPr>
              <a:lnSpc>
                <a:spcPct val="135000"/>
              </a:lnSpc>
              <a:spcBef>
                <a:spcPct val="50000"/>
              </a:spcBef>
            </a:pPr>
            <a:r>
              <a:rPr lang="zh-CN" altLang="en-US" dirty="0">
                <a:latin typeface="Times New Roman" panose="02020603050405020304" pitchFamily="18" charset="0"/>
              </a:rPr>
              <a:t>       </a:t>
            </a:r>
            <a:r>
              <a:rPr lang="zh-CN" altLang="en-US" b="1" dirty="0">
                <a:latin typeface="Times New Roman" panose="02020603050405020304" pitchFamily="18" charset="0"/>
              </a:rPr>
              <a:t>设要求</a:t>
            </a:r>
            <a:r>
              <a:rPr lang="en-US" altLang="zh-CN" b="1">
                <a:latin typeface="Times New Roman" panose="02020603050405020304" pitchFamily="18" charset="0"/>
              </a:rPr>
              <a:t>AD574</a:t>
            </a:r>
            <a:r>
              <a:rPr lang="zh-CN" altLang="en-US" b="1" dirty="0">
                <a:latin typeface="Times New Roman" panose="02020603050405020304" pitchFamily="18" charset="0"/>
              </a:rPr>
              <a:t>进行</a:t>
            </a:r>
            <a:r>
              <a:rPr lang="en-US" altLang="zh-CN" b="1">
                <a:latin typeface="Times New Roman" panose="02020603050405020304" pitchFamily="18" charset="0"/>
              </a:rPr>
              <a:t>12</a:t>
            </a:r>
            <a:r>
              <a:rPr lang="zh-CN" altLang="en-US" b="1" dirty="0">
                <a:latin typeface="Times New Roman" panose="02020603050405020304" pitchFamily="18" charset="0"/>
              </a:rPr>
              <a:t>位转换，单片机对转换结果读入，高</a:t>
            </a:r>
            <a:r>
              <a:rPr lang="en-US" altLang="zh-CN" b="1">
                <a:latin typeface="Times New Roman" panose="02020603050405020304" pitchFamily="18" charset="0"/>
              </a:rPr>
              <a:t>8</a:t>
            </a:r>
            <a:r>
              <a:rPr lang="zh-CN" altLang="en-US" b="1" dirty="0">
                <a:latin typeface="Times New Roman" panose="02020603050405020304" pitchFamily="18" charset="0"/>
              </a:rPr>
              <a:t>位和低</a:t>
            </a:r>
            <a:r>
              <a:rPr lang="en-US" altLang="zh-CN" b="1">
                <a:latin typeface="Times New Roman" panose="02020603050405020304" pitchFamily="18" charset="0"/>
              </a:rPr>
              <a:t>4</a:t>
            </a:r>
            <a:r>
              <a:rPr lang="zh-CN" altLang="en-US" b="1" dirty="0">
                <a:latin typeface="Times New Roman" panose="02020603050405020304" pitchFamily="18" charset="0"/>
              </a:rPr>
              <a:t>位分别存于片内</a:t>
            </a:r>
            <a:r>
              <a:rPr lang="en-US" altLang="zh-CN" b="1">
                <a:latin typeface="Times New Roman" panose="02020603050405020304" pitchFamily="18" charset="0"/>
              </a:rPr>
              <a:t>RAM</a:t>
            </a:r>
            <a:r>
              <a:rPr lang="zh-CN" altLang="en-US" b="1" dirty="0">
                <a:latin typeface="Times New Roman" panose="02020603050405020304" pitchFamily="18" charset="0"/>
              </a:rPr>
              <a:t>的</a:t>
            </a:r>
            <a:r>
              <a:rPr lang="en-US" altLang="zh-CN" b="1">
                <a:latin typeface="Times New Roman" panose="02020603050405020304" pitchFamily="18" charset="0"/>
              </a:rPr>
              <a:t>31H</a:t>
            </a:r>
            <a:r>
              <a:rPr lang="zh-CN" altLang="en-US" b="1" dirty="0">
                <a:latin typeface="Times New Roman" panose="02020603050405020304" pitchFamily="18" charset="0"/>
              </a:rPr>
              <a:t>和</a:t>
            </a:r>
            <a:r>
              <a:rPr lang="en-US" altLang="zh-CN" b="1">
                <a:latin typeface="Times New Roman" panose="02020603050405020304" pitchFamily="18" charset="0"/>
              </a:rPr>
              <a:t>30H</a:t>
            </a:r>
            <a:r>
              <a:rPr lang="zh-CN" altLang="en-US" b="1" dirty="0">
                <a:latin typeface="Times New Roman" panose="02020603050405020304" pitchFamily="18" charset="0"/>
              </a:rPr>
              <a:t>单元，其转换子程序如下</a:t>
            </a:r>
            <a:r>
              <a:rPr lang="en-US" altLang="zh-CN" b="1">
                <a:latin typeface="Times New Roman" panose="02020603050405020304" pitchFamily="18" charset="0"/>
              </a:rPr>
              <a:t>:</a:t>
            </a:r>
            <a:endParaRPr lang="en-US" altLang="zh-CN" b="1">
              <a:latin typeface="Times New Roman" panose="02020603050405020304" pitchFamily="18" charset="0"/>
            </a:endParaRPr>
          </a:p>
        </p:txBody>
      </p:sp>
      <p:grpSp>
        <p:nvGrpSpPr>
          <p:cNvPr id="348163" name="组合 348162"/>
          <p:cNvGrpSpPr/>
          <p:nvPr/>
        </p:nvGrpSpPr>
        <p:grpSpPr>
          <a:xfrm>
            <a:off x="228600" y="3352800"/>
            <a:ext cx="9220200" cy="2497138"/>
            <a:chOff x="144" y="2112"/>
            <a:chExt cx="5808" cy="1573"/>
          </a:xfrm>
        </p:grpSpPr>
        <p:sp>
          <p:nvSpPr>
            <p:cNvPr id="348164" name="文本框 348163"/>
            <p:cNvSpPr txBox="1"/>
            <p:nvPr/>
          </p:nvSpPr>
          <p:spPr>
            <a:xfrm>
              <a:off x="144" y="2112"/>
              <a:ext cx="5808" cy="1573"/>
            </a:xfrm>
            <a:prstGeom prst="rect">
              <a:avLst/>
            </a:prstGeom>
            <a:noFill/>
            <a:ln w="9525">
              <a:noFill/>
            </a:ln>
          </p:spPr>
          <p:txBody>
            <a:bodyPr>
              <a:spAutoFit/>
            </a:bodyPr>
            <a:p>
              <a:pPr>
                <a:lnSpc>
                  <a:spcPct val="158000"/>
                </a:lnSpc>
              </a:pPr>
              <a:r>
                <a:rPr lang="en-US" altLang="zh-CN" sz="2000" b="1">
                  <a:latin typeface="Times New Roman" panose="02020603050405020304" pitchFamily="18" charset="0"/>
                </a:rPr>
                <a:t>ADTRANS</a:t>
              </a:r>
              <a:r>
                <a:rPr lang="zh-CN" altLang="en-US" sz="2000" b="1">
                  <a:latin typeface="Times New Roman" panose="02020603050405020304" pitchFamily="18" charset="0"/>
                </a:rPr>
                <a:t>：</a:t>
              </a:r>
              <a:r>
                <a:rPr lang="en-US" altLang="zh-CN" sz="2000" b="1">
                  <a:latin typeface="Times New Roman" panose="02020603050405020304" pitchFamily="18" charset="0"/>
                </a:rPr>
                <a:t>MOV R0</a:t>
              </a:r>
              <a:r>
                <a:rPr lang="zh-CN" altLang="en-US" sz="2000" b="1">
                  <a:latin typeface="Times New Roman" panose="02020603050405020304" pitchFamily="18" charset="0"/>
                </a:rPr>
                <a:t>，</a:t>
              </a:r>
              <a:r>
                <a:rPr lang="en-US" altLang="zh-CN" sz="2000" b="1">
                  <a:latin typeface="Times New Roman" panose="02020603050405020304" pitchFamily="18" charset="0"/>
                </a:rPr>
                <a:t>#7CH  	</a:t>
              </a:r>
              <a:r>
                <a:rPr lang="zh-CN" altLang="en-US" sz="2000" b="1">
                  <a:latin typeface="Times New Roman" panose="02020603050405020304" pitchFamily="18" charset="0"/>
                </a:rPr>
                <a:t>；</a:t>
              </a:r>
              <a:r>
                <a:rPr lang="en-US" altLang="zh-CN" sz="2000" b="1">
                  <a:latin typeface="Times New Roman" panose="02020603050405020304" pitchFamily="18" charset="0"/>
                </a:rPr>
                <a:t>7CH</a:t>
              </a:r>
              <a:r>
                <a:rPr lang="zh-CN" altLang="en-US" sz="2000" b="1" dirty="0">
                  <a:latin typeface="Times New Roman" panose="02020603050405020304" pitchFamily="18" charset="0"/>
                </a:rPr>
                <a:t>地址使</a:t>
              </a:r>
              <a:r>
                <a:rPr lang="en-US" altLang="zh-CN" sz="2000" b="1">
                  <a:latin typeface="Times New Roman" panose="02020603050405020304" pitchFamily="18" charset="0"/>
                </a:rPr>
                <a:t>AD574</a:t>
              </a:r>
              <a:r>
                <a:rPr lang="zh-CN" altLang="en-US" sz="2000" b="1">
                  <a:latin typeface="Times New Roman" panose="02020603050405020304" pitchFamily="18" charset="0"/>
                </a:rPr>
                <a:t>的</a:t>
              </a:r>
              <a:r>
                <a:rPr lang="en-US" altLang="zh-CN" sz="2000" b="1">
                  <a:latin typeface="Times New Roman" panose="02020603050405020304" pitchFamily="18" charset="0"/>
                </a:rPr>
                <a:t>CS=0</a:t>
              </a:r>
              <a:r>
                <a:rPr lang="zh-CN" altLang="en-US" sz="2000" b="1">
                  <a:latin typeface="Times New Roman" panose="02020603050405020304" pitchFamily="18" charset="0"/>
                </a:rPr>
                <a:t>、</a:t>
              </a:r>
              <a:r>
                <a:rPr lang="en-US" altLang="zh-CN" sz="2000" b="1">
                  <a:latin typeface="Times New Roman" panose="02020603050405020304" pitchFamily="18" charset="0"/>
                </a:rPr>
                <a:t>A0=0</a:t>
              </a:r>
              <a:r>
                <a:rPr lang="zh-CN" altLang="en-US" sz="2000" b="1">
                  <a:latin typeface="Times New Roman" panose="02020603050405020304" pitchFamily="18" charset="0"/>
                </a:rPr>
                <a:t>、</a:t>
              </a:r>
              <a:r>
                <a:rPr lang="en-US" altLang="zh-CN" sz="2000" b="1">
                  <a:latin typeface="Times New Roman" panose="02020603050405020304" pitchFamily="18" charset="0"/>
                </a:rPr>
                <a:t>R/C=0                                          </a:t>
              </a:r>
              <a:endParaRPr lang="en-US" altLang="zh-CN" sz="2000" b="1">
                <a:latin typeface="Times New Roman" panose="02020603050405020304" pitchFamily="18" charset="0"/>
              </a:endParaRPr>
            </a:p>
            <a:p>
              <a:pPr>
                <a:lnSpc>
                  <a:spcPct val="158000"/>
                </a:lnSpc>
              </a:pPr>
              <a:r>
                <a:rPr lang="en-US" altLang="zh-CN" sz="2000" b="1">
                  <a:latin typeface="Times New Roman" panose="02020603050405020304" pitchFamily="18" charset="0"/>
                </a:rPr>
                <a:t>           MOV R1</a:t>
              </a:r>
              <a:r>
                <a:rPr lang="zh-CN" altLang="en-US" sz="2000" b="1">
                  <a:latin typeface="Times New Roman" panose="02020603050405020304" pitchFamily="18" charset="0"/>
                </a:rPr>
                <a:t>，</a:t>
              </a:r>
              <a:r>
                <a:rPr lang="en-US" altLang="zh-CN" sz="2000" b="1">
                  <a:latin typeface="Times New Roman" panose="02020603050405020304" pitchFamily="18" charset="0"/>
                </a:rPr>
                <a:t>#31H    		</a:t>
              </a:r>
              <a:r>
                <a:rPr lang="zh-CN" altLang="en-US" sz="2000" b="1">
                  <a:latin typeface="Times New Roman" panose="02020603050405020304" pitchFamily="18" charset="0"/>
                </a:rPr>
                <a:t>；</a:t>
              </a:r>
              <a:r>
                <a:rPr lang="en-US" altLang="zh-CN" sz="2000" b="1">
                  <a:latin typeface="Times New Roman" panose="02020603050405020304" pitchFamily="18" charset="0"/>
                </a:rPr>
                <a:t>R1</a:t>
              </a:r>
              <a:r>
                <a:rPr lang="zh-CN" altLang="en-US" sz="2000" b="1" dirty="0">
                  <a:latin typeface="Times New Roman" panose="02020603050405020304" pitchFamily="18" charset="0"/>
                </a:rPr>
                <a:t>指向转换结果的送存单元地址</a:t>
              </a:r>
              <a:endParaRPr lang="zh-CN" altLang="en-US" sz="2000" b="1" dirty="0">
                <a:latin typeface="Times New Roman" panose="02020603050405020304" pitchFamily="18" charset="0"/>
              </a:endParaRPr>
            </a:p>
            <a:p>
              <a:pPr>
                <a:lnSpc>
                  <a:spcPct val="158000"/>
                </a:lnSpc>
              </a:pPr>
              <a:r>
                <a:rPr lang="zh-CN" altLang="en-US" sz="2000" b="1" dirty="0">
                  <a:latin typeface="Times New Roman" panose="02020603050405020304" pitchFamily="18" charset="0"/>
                </a:rPr>
                <a:t>            </a:t>
              </a:r>
              <a:r>
                <a:rPr lang="en-US" altLang="zh-CN" sz="2000" b="1">
                  <a:latin typeface="Times New Roman" panose="02020603050405020304" pitchFamily="18" charset="0"/>
                </a:rPr>
                <a:t>MOVX @R0</a:t>
              </a:r>
              <a:r>
                <a:rPr lang="zh-CN" altLang="en-US" sz="2000" b="1">
                  <a:latin typeface="Times New Roman" panose="02020603050405020304" pitchFamily="18" charset="0"/>
                </a:rPr>
                <a:t>，</a:t>
              </a:r>
              <a:r>
                <a:rPr lang="en-US" altLang="zh-CN" sz="2000" b="1">
                  <a:latin typeface="Times New Roman" panose="02020603050405020304" pitchFamily="18" charset="0"/>
                </a:rPr>
                <a:t>A     	</a:t>
              </a:r>
              <a:r>
                <a:rPr lang="zh-CN" altLang="en-US" sz="2000" b="1">
                  <a:latin typeface="Times New Roman" panose="02020603050405020304" pitchFamily="18" charset="0"/>
                </a:rPr>
                <a:t>；</a:t>
              </a:r>
              <a:r>
                <a:rPr lang="zh-CN" altLang="en-US" sz="2000" b="1" dirty="0">
                  <a:latin typeface="Times New Roman" panose="02020603050405020304" pitchFamily="18" charset="0"/>
                </a:rPr>
                <a:t>产生有效的</a:t>
              </a:r>
              <a:r>
                <a:rPr lang="en-US" altLang="zh-CN" sz="2000" b="1">
                  <a:latin typeface="Times New Roman" panose="02020603050405020304" pitchFamily="18" charset="0"/>
                </a:rPr>
                <a:t>WR</a:t>
              </a:r>
              <a:r>
                <a:rPr lang="zh-CN" altLang="en-US" sz="2000" b="1" dirty="0">
                  <a:latin typeface="Times New Roman" panose="02020603050405020304" pitchFamily="18" charset="0"/>
                </a:rPr>
                <a:t>信号，启动</a:t>
              </a:r>
              <a:r>
                <a:rPr lang="en-US" altLang="zh-CN" sz="2000" b="1">
                  <a:latin typeface="Times New Roman" panose="02020603050405020304" pitchFamily="18" charset="0"/>
                </a:rPr>
                <a:t>AD574</a:t>
              </a:r>
              <a:r>
                <a:rPr lang="zh-CN" altLang="en-US" sz="2000" b="1" dirty="0">
                  <a:latin typeface="Times New Roman" panose="02020603050405020304" pitchFamily="18" charset="0"/>
                </a:rPr>
                <a:t>为</a:t>
              </a:r>
              <a:endParaRPr lang="zh-CN" altLang="en-US" sz="2000" b="1" dirty="0">
                <a:latin typeface="Times New Roman" panose="02020603050405020304" pitchFamily="18" charset="0"/>
              </a:endParaRPr>
            </a:p>
            <a:p>
              <a:pPr>
                <a:lnSpc>
                  <a:spcPct val="158000"/>
                </a:lnSpc>
              </a:pPr>
              <a:r>
                <a:rPr lang="zh-CN" altLang="en-US" sz="2000" b="1" dirty="0">
                  <a:latin typeface="Times New Roman" panose="02020603050405020304" pitchFamily="18" charset="0"/>
                </a:rPr>
                <a:t>				</a:t>
              </a:r>
              <a:r>
                <a:rPr lang="en-US" altLang="zh-CN" sz="2000" b="1">
                  <a:latin typeface="Times New Roman" panose="02020603050405020304" pitchFamily="18" charset="0"/>
                </a:rPr>
                <a:t>12</a:t>
              </a:r>
              <a:r>
                <a:rPr lang="zh-CN" altLang="en-US" sz="2000" b="1" dirty="0">
                  <a:latin typeface="Times New Roman" panose="02020603050405020304" pitchFamily="18" charset="0"/>
                </a:rPr>
                <a:t>位工作方式</a:t>
              </a:r>
              <a:endParaRPr lang="zh-CN" altLang="en-US" sz="2000" b="1" dirty="0">
                <a:latin typeface="Times New Roman" panose="02020603050405020304" pitchFamily="18" charset="0"/>
              </a:endParaRPr>
            </a:p>
            <a:p>
              <a:pPr>
                <a:lnSpc>
                  <a:spcPct val="158000"/>
                </a:lnSpc>
              </a:pPr>
              <a:r>
                <a:rPr lang="zh-CN" altLang="en-US" sz="2000" b="1" dirty="0">
                  <a:latin typeface="Times New Roman" panose="02020603050405020304" pitchFamily="18" charset="0"/>
                </a:rPr>
                <a:t>            </a:t>
              </a:r>
              <a:r>
                <a:rPr lang="en-US" altLang="zh-CN" sz="2000" b="1">
                  <a:latin typeface="Times New Roman" panose="02020603050405020304" pitchFamily="18" charset="0"/>
                </a:rPr>
                <a:t>MOV A</a:t>
              </a:r>
              <a:r>
                <a:rPr lang="zh-CN" altLang="en-US" sz="2000" b="1">
                  <a:latin typeface="Times New Roman" panose="02020603050405020304" pitchFamily="18" charset="0"/>
                </a:rPr>
                <a:t>，</a:t>
              </a:r>
              <a:r>
                <a:rPr lang="en-US" altLang="zh-CN" sz="2000" b="1">
                  <a:latin typeface="Times New Roman" panose="02020603050405020304" pitchFamily="18" charset="0"/>
                </a:rPr>
                <a:t>P1       		</a:t>
              </a:r>
              <a:r>
                <a:rPr lang="zh-CN" altLang="en-US" sz="2000" b="1">
                  <a:latin typeface="Times New Roman" panose="02020603050405020304" pitchFamily="18" charset="0"/>
                </a:rPr>
                <a:t>；读</a:t>
              </a:r>
              <a:r>
                <a:rPr lang="en-US" altLang="zh-CN" sz="2000" b="1">
                  <a:latin typeface="Times New Roman" panose="02020603050405020304" pitchFamily="18" charset="0"/>
                </a:rPr>
                <a:t>P1</a:t>
              </a:r>
              <a:r>
                <a:rPr lang="zh-CN" altLang="en-US" sz="2000" b="1" dirty="0">
                  <a:latin typeface="Times New Roman" panose="02020603050405020304" pitchFamily="18" charset="0"/>
                </a:rPr>
                <a:t>口，检测</a:t>
              </a:r>
              <a:r>
                <a:rPr lang="en-US" altLang="zh-CN" sz="2000" b="1">
                  <a:latin typeface="Times New Roman" panose="02020603050405020304" pitchFamily="18" charset="0"/>
                </a:rPr>
                <a:t>STS</a:t>
              </a:r>
              <a:r>
                <a:rPr lang="zh-CN" altLang="en-US" sz="2000" b="1" dirty="0">
                  <a:latin typeface="Times New Roman" panose="02020603050405020304" pitchFamily="18" charset="0"/>
                </a:rPr>
                <a:t>的状态</a:t>
              </a:r>
              <a:endParaRPr lang="zh-CN" altLang="en-US" sz="2000" b="1">
                <a:latin typeface="Times New Roman" panose="02020603050405020304" pitchFamily="18" charset="0"/>
              </a:endParaRPr>
            </a:p>
          </p:txBody>
        </p:sp>
        <p:sp>
          <p:nvSpPr>
            <p:cNvPr id="348165" name="直接连接符 348164"/>
            <p:cNvSpPr/>
            <p:nvPr/>
          </p:nvSpPr>
          <p:spPr>
            <a:xfrm>
              <a:off x="4080" y="2256"/>
              <a:ext cx="192" cy="0"/>
            </a:xfrm>
            <a:prstGeom prst="line">
              <a:avLst/>
            </a:prstGeom>
            <a:ln w="9525" cap="flat" cmpd="sng">
              <a:solidFill>
                <a:schemeClr val="tx1"/>
              </a:solidFill>
              <a:prstDash val="solid"/>
              <a:headEnd type="none" w="med" len="med"/>
              <a:tailEnd type="none" w="med" len="med"/>
            </a:ln>
          </p:spPr>
        </p:sp>
        <p:sp>
          <p:nvSpPr>
            <p:cNvPr id="348166" name="直接连接符 348165"/>
            <p:cNvSpPr/>
            <p:nvPr/>
          </p:nvSpPr>
          <p:spPr>
            <a:xfrm>
              <a:off x="5264" y="2248"/>
              <a:ext cx="144" cy="0"/>
            </a:xfrm>
            <a:prstGeom prst="line">
              <a:avLst/>
            </a:prstGeom>
            <a:ln w="9525" cap="flat" cmpd="sng">
              <a:solidFill>
                <a:schemeClr val="tx1"/>
              </a:solidFill>
              <a:prstDash val="solid"/>
              <a:headEnd type="none" w="med" len="med"/>
              <a:tailEnd type="none" w="med" len="med"/>
            </a:ln>
          </p:spPr>
        </p:sp>
        <p:sp>
          <p:nvSpPr>
            <p:cNvPr id="348167" name="直接连接符 348166"/>
            <p:cNvSpPr/>
            <p:nvPr/>
          </p:nvSpPr>
          <p:spPr>
            <a:xfrm>
              <a:off x="3472" y="2864"/>
              <a:ext cx="192" cy="0"/>
            </a:xfrm>
            <a:prstGeom prst="line">
              <a:avLst/>
            </a:prstGeom>
            <a:ln w="9525" cap="flat" cmpd="sng">
              <a:solidFill>
                <a:schemeClr val="tx1"/>
              </a:solidFill>
              <a:prstDash val="solid"/>
              <a:headEnd type="none" w="med" len="med"/>
              <a:tailEnd type="none" w="med" len="med"/>
            </a:ln>
          </p:spPr>
        </p:sp>
      </p:grpSp>
    </p:spTree>
  </p:cSld>
  <p:clrMapOvr>
    <a:masterClrMapping/>
  </p:clrMapOvr>
  <p:transition>
    <p:blinds dir="vert"/>
  </p:transition>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349186" name="组合 349185"/>
          <p:cNvGrpSpPr/>
          <p:nvPr/>
        </p:nvGrpSpPr>
        <p:grpSpPr>
          <a:xfrm>
            <a:off x="368300" y="614363"/>
            <a:ext cx="8713788" cy="5848350"/>
            <a:chOff x="232" y="387"/>
            <a:chExt cx="5489" cy="3684"/>
          </a:xfrm>
        </p:grpSpPr>
        <p:sp>
          <p:nvSpPr>
            <p:cNvPr id="349187" name="文本框 349186"/>
            <p:cNvSpPr txBox="1"/>
            <p:nvPr/>
          </p:nvSpPr>
          <p:spPr>
            <a:xfrm>
              <a:off x="232" y="387"/>
              <a:ext cx="5489" cy="3684"/>
            </a:xfrm>
            <a:prstGeom prst="rect">
              <a:avLst/>
            </a:prstGeom>
            <a:noFill/>
            <a:ln w="9525">
              <a:noFill/>
            </a:ln>
          </p:spPr>
          <p:txBody>
            <a:bodyPr wrap="none" anchor="t" anchorCtr="0">
              <a:spAutoFit/>
            </a:bodyPr>
            <a:p>
              <a:pPr>
                <a:lnSpc>
                  <a:spcPct val="135000"/>
                </a:lnSpc>
              </a:pPr>
              <a:r>
                <a:rPr lang="en-US" altLang="zh-CN" sz="2000" b="1">
                  <a:latin typeface="Times New Roman" panose="02020603050405020304" pitchFamily="18" charset="0"/>
                </a:rPr>
                <a:t>WAIT</a:t>
              </a:r>
              <a:r>
                <a:rPr lang="zh-CN" altLang="en-US" sz="2000" b="1">
                  <a:latin typeface="Times New Roman" panose="02020603050405020304" pitchFamily="18" charset="0"/>
                </a:rPr>
                <a:t>：</a:t>
              </a:r>
              <a:r>
                <a:rPr lang="en-US" altLang="zh-CN" sz="2000" b="1">
                  <a:latin typeface="Times New Roman" panose="02020603050405020304" pitchFamily="18" charset="0"/>
                </a:rPr>
                <a:t>ANL A</a:t>
              </a:r>
              <a:r>
                <a:rPr lang="zh-CN" altLang="en-US" sz="2000" b="1">
                  <a:latin typeface="Times New Roman" panose="02020603050405020304" pitchFamily="18" charset="0"/>
                </a:rPr>
                <a:t>，</a:t>
              </a:r>
              <a:r>
                <a:rPr lang="en-US" altLang="zh-CN" sz="2000" b="1">
                  <a:latin typeface="Times New Roman" panose="02020603050405020304" pitchFamily="18" charset="0"/>
                </a:rPr>
                <a:t>#01H </a:t>
              </a:r>
              <a:endParaRPr lang="en-US" altLang="zh-CN" sz="2000" b="1">
                <a:latin typeface="Times New Roman" panose="02020603050405020304" pitchFamily="18" charset="0"/>
              </a:endParaRPr>
            </a:p>
            <a:p>
              <a:pPr>
                <a:lnSpc>
                  <a:spcPct val="135000"/>
                </a:lnSpc>
              </a:pPr>
              <a:r>
                <a:rPr lang="en-US" altLang="zh-CN" sz="2000" b="1">
                  <a:latin typeface="Times New Roman" panose="02020603050405020304" pitchFamily="18" charset="0"/>
                </a:rPr>
                <a:t>              JNZ WAIT         	</a:t>
              </a:r>
              <a:r>
                <a:rPr lang="zh-CN" altLang="en-US" sz="2000" b="1">
                  <a:latin typeface="Times New Roman" panose="02020603050405020304" pitchFamily="18" charset="0"/>
                </a:rPr>
                <a:t>；</a:t>
              </a:r>
              <a:r>
                <a:rPr lang="zh-CN" altLang="en-US" sz="2000" b="1" dirty="0">
                  <a:latin typeface="Times New Roman" panose="02020603050405020304" pitchFamily="18" charset="0"/>
                </a:rPr>
                <a:t>转换未结束，等待，转换结束则进行如下操作</a:t>
              </a:r>
              <a:endParaRPr lang="zh-CN" altLang="en-US" sz="2000" b="1" dirty="0">
                <a:latin typeface="Times New Roman" panose="02020603050405020304" pitchFamily="18" charset="0"/>
              </a:endParaRPr>
            </a:p>
            <a:p>
              <a:pPr>
                <a:lnSpc>
                  <a:spcPct val="135000"/>
                </a:lnSpc>
              </a:pPr>
              <a:r>
                <a:rPr lang="zh-CN" altLang="en-US" sz="2000" b="1">
                  <a:latin typeface="Times New Roman" panose="02020603050405020304" pitchFamily="18" charset="0"/>
                </a:rPr>
                <a:t>	</a:t>
              </a:r>
              <a:r>
                <a:rPr lang="en-US" altLang="zh-CN" sz="2000" b="1">
                  <a:latin typeface="Times New Roman" panose="02020603050405020304" pitchFamily="18" charset="0"/>
                </a:rPr>
                <a:t>INC R0            	</a:t>
              </a:r>
              <a:r>
                <a:rPr lang="zh-CN" altLang="en-US" sz="2000" b="1">
                  <a:latin typeface="Times New Roman" panose="02020603050405020304" pitchFamily="18" charset="0"/>
                </a:rPr>
                <a:t>；使</a:t>
              </a:r>
              <a:r>
                <a:rPr lang="en-US" altLang="zh-CN" sz="2000" b="1">
                  <a:latin typeface="Times New Roman" panose="02020603050405020304" pitchFamily="18" charset="0"/>
                </a:rPr>
                <a:t>CS=0</a:t>
              </a:r>
              <a:r>
                <a:rPr lang="zh-CN" altLang="en-US" sz="2000" b="1">
                  <a:latin typeface="Times New Roman" panose="02020603050405020304" pitchFamily="18" charset="0"/>
                </a:rPr>
                <a:t>、</a:t>
              </a:r>
              <a:r>
                <a:rPr lang="en-US" altLang="zh-CN" sz="2000" b="1">
                  <a:latin typeface="Times New Roman" panose="02020603050405020304" pitchFamily="18" charset="0"/>
                </a:rPr>
                <a:t>A0=0</a:t>
              </a:r>
              <a:r>
                <a:rPr lang="zh-CN" altLang="en-US" sz="2000" b="1">
                  <a:latin typeface="Times New Roman" panose="02020603050405020304" pitchFamily="18" charset="0"/>
                </a:rPr>
                <a:t>、</a:t>
              </a:r>
              <a:r>
                <a:rPr lang="en-US" altLang="zh-CN" sz="2000" b="1">
                  <a:latin typeface="Times New Roman" panose="02020603050405020304" pitchFamily="18" charset="0"/>
                </a:rPr>
                <a:t>R/C=1</a:t>
              </a:r>
              <a:r>
                <a:rPr lang="zh-CN" altLang="en-US" sz="2000" b="1">
                  <a:latin typeface="Times New Roman" panose="02020603050405020304" pitchFamily="18" charset="0"/>
                </a:rPr>
                <a:t>，</a:t>
              </a:r>
              <a:r>
                <a:rPr lang="zh-CN" altLang="en-US" sz="2000" b="1" dirty="0">
                  <a:latin typeface="Times New Roman" panose="02020603050405020304" pitchFamily="18" charset="0"/>
                </a:rPr>
                <a:t>为按双字节读取转换</a:t>
              </a:r>
              <a:endParaRPr lang="zh-CN" altLang="en-US" sz="2000" b="1" dirty="0">
                <a:latin typeface="Times New Roman" panose="02020603050405020304" pitchFamily="18" charset="0"/>
              </a:endParaRPr>
            </a:p>
            <a:p>
              <a:pPr>
                <a:lnSpc>
                  <a:spcPct val="135000"/>
                </a:lnSpc>
              </a:pPr>
              <a:r>
                <a:rPr lang="zh-CN" altLang="en-US" sz="2000" b="1" dirty="0">
                  <a:latin typeface="Times New Roman" panose="02020603050405020304" pitchFamily="18" charset="0"/>
                </a:rPr>
                <a:t>			结果，并读高</a:t>
              </a:r>
              <a:endParaRPr lang="zh-CN" altLang="en-US" sz="2000" b="1" dirty="0">
                <a:latin typeface="Times New Roman" panose="02020603050405020304" pitchFamily="18" charset="0"/>
              </a:endParaRPr>
            </a:p>
            <a:p>
              <a:pPr>
                <a:lnSpc>
                  <a:spcPct val="135000"/>
                </a:lnSpc>
              </a:pPr>
              <a:r>
                <a:rPr lang="zh-CN" altLang="en-US" sz="2000" b="1" dirty="0">
                  <a:latin typeface="Times New Roman" panose="02020603050405020304" pitchFamily="18" charset="0"/>
                </a:rPr>
                <a:t>			；字节</a:t>
              </a:r>
              <a:endParaRPr lang="zh-CN" altLang="en-US" sz="2000" b="1" dirty="0">
                <a:latin typeface="Times New Roman" panose="02020603050405020304" pitchFamily="18" charset="0"/>
              </a:endParaRPr>
            </a:p>
            <a:p>
              <a:pPr>
                <a:lnSpc>
                  <a:spcPct val="135000"/>
                </a:lnSpc>
              </a:pPr>
              <a:r>
                <a:rPr lang="zh-CN" altLang="en-US" sz="2000" b="1" dirty="0">
                  <a:latin typeface="Times New Roman" panose="02020603050405020304" pitchFamily="18" charset="0"/>
                </a:rPr>
                <a:t>            </a:t>
              </a:r>
              <a:r>
                <a:rPr lang="en-US" altLang="zh-CN" sz="2000" b="1">
                  <a:latin typeface="Times New Roman" panose="02020603050405020304" pitchFamily="18" charset="0"/>
                </a:rPr>
                <a:t>MOVX A</a:t>
              </a:r>
              <a:r>
                <a:rPr lang="zh-CN" altLang="en-US" sz="2000" b="1">
                  <a:latin typeface="Times New Roman" panose="02020603050405020304" pitchFamily="18" charset="0"/>
                </a:rPr>
                <a:t>，</a:t>
              </a:r>
              <a:r>
                <a:rPr lang="en-US" altLang="zh-CN" sz="2000" b="1">
                  <a:latin typeface="Times New Roman" panose="02020603050405020304" pitchFamily="18" charset="0"/>
                </a:rPr>
                <a:t>@R0   </a:t>
              </a:r>
              <a:r>
                <a:rPr lang="zh-CN" altLang="en-US" sz="2000" b="1">
                  <a:latin typeface="Times New Roman" panose="02020603050405020304" pitchFamily="18" charset="0"/>
                </a:rPr>
                <a:t>；</a:t>
              </a:r>
              <a:r>
                <a:rPr lang="zh-CN" altLang="en-US" sz="2000" b="1" dirty="0">
                  <a:latin typeface="Times New Roman" panose="02020603050405020304" pitchFamily="18" charset="0"/>
                </a:rPr>
                <a:t>读取高</a:t>
              </a:r>
              <a:r>
                <a:rPr lang="en-US" altLang="zh-CN" sz="2000" b="1">
                  <a:latin typeface="Times New Roman" panose="02020603050405020304" pitchFamily="18" charset="0"/>
                </a:rPr>
                <a:t>8</a:t>
              </a:r>
              <a:r>
                <a:rPr lang="zh-CN" altLang="en-US" sz="2000" b="1" dirty="0">
                  <a:latin typeface="Times New Roman" panose="02020603050405020304" pitchFamily="18" charset="0"/>
                </a:rPr>
                <a:t>位转换结果</a:t>
              </a:r>
              <a:endParaRPr lang="zh-CN" altLang="en-US" sz="2000" b="1" dirty="0">
                <a:latin typeface="Times New Roman" panose="02020603050405020304" pitchFamily="18" charset="0"/>
              </a:endParaRPr>
            </a:p>
            <a:p>
              <a:pPr>
                <a:lnSpc>
                  <a:spcPct val="135000"/>
                </a:lnSpc>
              </a:pPr>
              <a:r>
                <a:rPr lang="zh-CN" altLang="en-US" sz="2000" b="1" dirty="0">
                  <a:latin typeface="Times New Roman" panose="02020603050405020304" pitchFamily="18" charset="0"/>
                </a:rPr>
                <a:t>            </a:t>
              </a:r>
              <a:r>
                <a:rPr lang="en-US" altLang="zh-CN" sz="2000" b="1">
                  <a:latin typeface="Times New Roman" panose="02020603050405020304" pitchFamily="18" charset="0"/>
                </a:rPr>
                <a:t>MOV @R1</a:t>
              </a:r>
              <a:r>
                <a:rPr lang="zh-CN" altLang="en-US" sz="2000" b="1">
                  <a:latin typeface="Times New Roman" panose="02020603050405020304" pitchFamily="18" charset="0"/>
                </a:rPr>
                <a:t>，</a:t>
              </a:r>
              <a:r>
                <a:rPr lang="en-US" altLang="zh-CN" sz="2000" b="1">
                  <a:latin typeface="Times New Roman" panose="02020603050405020304" pitchFamily="18" charset="0"/>
                </a:rPr>
                <a:t>A     	</a:t>
              </a:r>
              <a:r>
                <a:rPr lang="zh-CN" altLang="en-US" sz="2000" b="1">
                  <a:latin typeface="Times New Roman" panose="02020603050405020304" pitchFamily="18" charset="0"/>
                </a:rPr>
                <a:t>；</a:t>
              </a:r>
              <a:r>
                <a:rPr lang="zh-CN" altLang="en-US" sz="2000" b="1" dirty="0">
                  <a:latin typeface="Times New Roman" panose="02020603050405020304" pitchFamily="18" charset="0"/>
                </a:rPr>
                <a:t>送存高</a:t>
              </a:r>
              <a:r>
                <a:rPr lang="en-US" altLang="zh-CN" sz="2000" b="1">
                  <a:latin typeface="Times New Roman" panose="02020603050405020304" pitchFamily="18" charset="0"/>
                </a:rPr>
                <a:t>8</a:t>
              </a:r>
              <a:r>
                <a:rPr lang="zh-CN" altLang="en-US" sz="2000" b="1" dirty="0">
                  <a:latin typeface="Times New Roman" panose="02020603050405020304" pitchFamily="18" charset="0"/>
                </a:rPr>
                <a:t>位转换结果</a:t>
              </a:r>
              <a:endParaRPr lang="zh-CN" altLang="en-US" sz="2000" b="1" dirty="0">
                <a:latin typeface="Times New Roman" panose="02020603050405020304" pitchFamily="18" charset="0"/>
              </a:endParaRPr>
            </a:p>
            <a:p>
              <a:pPr>
                <a:lnSpc>
                  <a:spcPct val="135000"/>
                </a:lnSpc>
              </a:pPr>
              <a:r>
                <a:rPr lang="zh-CN" altLang="en-US" sz="2000" b="1" dirty="0">
                  <a:latin typeface="Times New Roman" panose="02020603050405020304" pitchFamily="18" charset="0"/>
                </a:rPr>
                <a:t>            </a:t>
              </a:r>
              <a:r>
                <a:rPr lang="en-US" altLang="zh-CN" sz="2000" b="1">
                  <a:latin typeface="Times New Roman" panose="02020603050405020304" pitchFamily="18" charset="0"/>
                </a:rPr>
                <a:t>DEC R1           	</a:t>
              </a:r>
              <a:r>
                <a:rPr lang="zh-CN" altLang="en-US" sz="2000" b="1">
                  <a:latin typeface="Times New Roman" panose="02020603050405020304" pitchFamily="18" charset="0"/>
                </a:rPr>
                <a:t>；</a:t>
              </a:r>
              <a:r>
                <a:rPr lang="en-US" altLang="zh-CN" sz="2000" b="1">
                  <a:latin typeface="Times New Roman" panose="02020603050405020304" pitchFamily="18" charset="0"/>
                </a:rPr>
                <a:t>R1</a:t>
              </a:r>
              <a:r>
                <a:rPr lang="zh-CN" altLang="en-US" sz="2000" b="1" dirty="0">
                  <a:latin typeface="Times New Roman" panose="02020603050405020304" pitchFamily="18" charset="0"/>
                </a:rPr>
                <a:t>指向低</a:t>
              </a:r>
              <a:r>
                <a:rPr lang="en-US" altLang="zh-CN" sz="2000" b="1">
                  <a:latin typeface="Times New Roman" panose="02020603050405020304" pitchFamily="18" charset="0"/>
                </a:rPr>
                <a:t>4</a:t>
              </a:r>
              <a:r>
                <a:rPr lang="zh-CN" altLang="en-US" sz="2000" b="1" dirty="0">
                  <a:latin typeface="Times New Roman" panose="02020603050405020304" pitchFamily="18" charset="0"/>
                </a:rPr>
                <a:t>位转换结果存放单元地址</a:t>
              </a:r>
              <a:endParaRPr lang="zh-CN" altLang="en-US" sz="2000" b="1" dirty="0">
                <a:latin typeface="Times New Roman" panose="02020603050405020304" pitchFamily="18" charset="0"/>
              </a:endParaRPr>
            </a:p>
            <a:p>
              <a:pPr>
                <a:lnSpc>
                  <a:spcPct val="135000"/>
                </a:lnSpc>
              </a:pPr>
              <a:r>
                <a:rPr lang="zh-CN" altLang="en-US" sz="2000" b="1" dirty="0">
                  <a:latin typeface="Times New Roman" panose="02020603050405020304" pitchFamily="18" charset="0"/>
                </a:rPr>
                <a:t>            </a:t>
              </a:r>
              <a:r>
                <a:rPr lang="en-US" altLang="zh-CN" sz="2000" b="1">
                  <a:latin typeface="Times New Roman" panose="02020603050405020304" pitchFamily="18" charset="0"/>
                </a:rPr>
                <a:t>INC R0</a:t>
              </a:r>
              <a:endParaRPr lang="en-US" altLang="zh-CN" sz="2000" b="1">
                <a:latin typeface="Times New Roman" panose="02020603050405020304" pitchFamily="18" charset="0"/>
              </a:endParaRPr>
            </a:p>
            <a:p>
              <a:pPr>
                <a:lnSpc>
                  <a:spcPct val="135000"/>
                </a:lnSpc>
              </a:pPr>
              <a:r>
                <a:rPr lang="en-US" altLang="zh-CN" sz="2000" b="1">
                  <a:latin typeface="Times New Roman" panose="02020603050405020304" pitchFamily="18" charset="0"/>
                </a:rPr>
                <a:t>            INC R0            	</a:t>
              </a:r>
              <a:r>
                <a:rPr lang="zh-CN" altLang="en-US" sz="2000" b="1">
                  <a:latin typeface="Times New Roman" panose="02020603050405020304" pitchFamily="18" charset="0"/>
                </a:rPr>
                <a:t>；</a:t>
              </a:r>
              <a:r>
                <a:rPr lang="en-US" altLang="zh-CN" sz="2000" b="1">
                  <a:latin typeface="Times New Roman" panose="02020603050405020304" pitchFamily="18" charset="0"/>
                </a:rPr>
                <a:t>(R0)=7FH</a:t>
              </a:r>
              <a:r>
                <a:rPr lang="zh-CN" altLang="en-US" sz="2000" b="1">
                  <a:latin typeface="Times New Roman" panose="02020603050405020304" pitchFamily="18" charset="0"/>
                </a:rPr>
                <a:t>，使</a:t>
              </a:r>
              <a:r>
                <a:rPr lang="en-US" altLang="zh-CN" sz="2000" b="1">
                  <a:latin typeface="Times New Roman" panose="02020603050405020304" pitchFamily="18" charset="0"/>
                </a:rPr>
                <a:t>CS=0</a:t>
              </a:r>
              <a:r>
                <a:rPr lang="zh-CN" altLang="en-US" sz="2000" b="1">
                  <a:latin typeface="Times New Roman" panose="02020603050405020304" pitchFamily="18" charset="0"/>
                </a:rPr>
                <a:t>、</a:t>
              </a:r>
              <a:r>
                <a:rPr lang="en-US" altLang="zh-CN" sz="2000" b="1">
                  <a:latin typeface="Times New Roman" panose="02020603050405020304" pitchFamily="18" charset="0"/>
                </a:rPr>
                <a:t>A0=1</a:t>
              </a:r>
              <a:r>
                <a:rPr lang="zh-CN" altLang="en-US" sz="2000" b="1">
                  <a:latin typeface="Times New Roman" panose="02020603050405020304" pitchFamily="18" charset="0"/>
                </a:rPr>
                <a:t>、</a:t>
              </a:r>
              <a:r>
                <a:rPr lang="en-US" altLang="zh-CN" sz="2000" b="1">
                  <a:latin typeface="Times New Roman" panose="02020603050405020304" pitchFamily="18" charset="0"/>
                </a:rPr>
                <a:t>R/C=1</a:t>
              </a:r>
              <a:r>
                <a:rPr lang="zh-CN" altLang="en-US" sz="2000" b="1">
                  <a:latin typeface="Times New Roman" panose="02020603050405020304" pitchFamily="18" charset="0"/>
                </a:rPr>
                <a:t>，</a:t>
              </a:r>
              <a:r>
                <a:rPr lang="zh-CN" altLang="en-US" sz="2000" b="1" dirty="0">
                  <a:latin typeface="Times New Roman" panose="02020603050405020304" pitchFamily="18" charset="0"/>
                </a:rPr>
                <a:t>为读低字节</a:t>
              </a:r>
              <a:endParaRPr lang="zh-CN" altLang="en-US" sz="2000" b="1" dirty="0">
                <a:latin typeface="Times New Roman" panose="02020603050405020304" pitchFamily="18" charset="0"/>
              </a:endParaRPr>
            </a:p>
            <a:p>
              <a:pPr>
                <a:lnSpc>
                  <a:spcPct val="135000"/>
                </a:lnSpc>
              </a:pPr>
              <a:r>
                <a:rPr lang="zh-CN" altLang="en-US" sz="2000" b="1" dirty="0">
                  <a:latin typeface="Times New Roman" panose="02020603050405020304" pitchFamily="18" charset="0"/>
                </a:rPr>
                <a:t>            </a:t>
              </a:r>
              <a:r>
                <a:rPr lang="en-US" altLang="zh-CN" sz="2000" b="1">
                  <a:latin typeface="Times New Roman" panose="02020603050405020304" pitchFamily="18" charset="0"/>
                </a:rPr>
                <a:t>MOVX A</a:t>
              </a:r>
              <a:r>
                <a:rPr lang="zh-CN" altLang="en-US" sz="2000" b="1">
                  <a:latin typeface="Times New Roman" panose="02020603050405020304" pitchFamily="18" charset="0"/>
                </a:rPr>
                <a:t>，</a:t>
              </a:r>
              <a:r>
                <a:rPr lang="en-US" altLang="zh-CN" sz="2000" b="1">
                  <a:latin typeface="Times New Roman" panose="02020603050405020304" pitchFamily="18" charset="0"/>
                </a:rPr>
                <a:t>@R0   </a:t>
              </a:r>
              <a:r>
                <a:rPr lang="zh-CN" altLang="en-US" sz="2000" b="1">
                  <a:latin typeface="Times New Roman" panose="02020603050405020304" pitchFamily="18" charset="0"/>
                </a:rPr>
                <a:t>；</a:t>
              </a:r>
              <a:r>
                <a:rPr lang="zh-CN" altLang="en-US" sz="2000" b="1" dirty="0">
                  <a:latin typeface="Times New Roman" panose="02020603050405020304" pitchFamily="18" charset="0"/>
                </a:rPr>
                <a:t>读取低</a:t>
              </a:r>
              <a:r>
                <a:rPr lang="en-US" altLang="zh-CN" sz="2000" b="1">
                  <a:latin typeface="Times New Roman" panose="02020603050405020304" pitchFamily="18" charset="0"/>
                </a:rPr>
                <a:t>4</a:t>
              </a:r>
              <a:r>
                <a:rPr lang="zh-CN" altLang="en-US" sz="2000" b="1" dirty="0">
                  <a:latin typeface="Times New Roman" panose="02020603050405020304" pitchFamily="18" charset="0"/>
                </a:rPr>
                <a:t>位转换结果</a:t>
              </a:r>
              <a:endParaRPr lang="zh-CN" altLang="en-US" sz="2000" b="1" dirty="0">
                <a:latin typeface="Times New Roman" panose="02020603050405020304" pitchFamily="18" charset="0"/>
              </a:endParaRPr>
            </a:p>
            <a:p>
              <a:pPr>
                <a:lnSpc>
                  <a:spcPct val="135000"/>
                </a:lnSpc>
              </a:pPr>
              <a:r>
                <a:rPr lang="zh-CN" altLang="en-US" sz="2000" b="1" dirty="0">
                  <a:latin typeface="Times New Roman" panose="02020603050405020304" pitchFamily="18" charset="0"/>
                </a:rPr>
                <a:t>            </a:t>
              </a:r>
              <a:r>
                <a:rPr lang="en-US" altLang="zh-CN" sz="2000" b="1">
                  <a:latin typeface="Times New Roman" panose="02020603050405020304" pitchFamily="18" charset="0"/>
                </a:rPr>
                <a:t>ANL A</a:t>
              </a:r>
              <a:r>
                <a:rPr lang="zh-CN" altLang="en-US" sz="2000" b="1">
                  <a:latin typeface="Times New Roman" panose="02020603050405020304" pitchFamily="18" charset="0"/>
                </a:rPr>
                <a:t>，</a:t>
              </a:r>
              <a:r>
                <a:rPr lang="en-US" altLang="zh-CN" sz="2000" b="1">
                  <a:latin typeface="Times New Roman" panose="02020603050405020304" pitchFamily="18" charset="0"/>
                </a:rPr>
                <a:t>#0FH      </a:t>
              </a:r>
              <a:r>
                <a:rPr lang="zh-CN" altLang="en-US" sz="2000" b="1">
                  <a:latin typeface="Times New Roman" panose="02020603050405020304" pitchFamily="18" charset="0"/>
                </a:rPr>
                <a:t>；</a:t>
              </a:r>
              <a:r>
                <a:rPr lang="zh-CN" altLang="en-US" sz="2000" b="1" dirty="0">
                  <a:latin typeface="Times New Roman" panose="02020603050405020304" pitchFamily="18" charset="0"/>
                </a:rPr>
                <a:t>只取低</a:t>
              </a:r>
              <a:r>
                <a:rPr lang="en-US" altLang="zh-CN" sz="2000" b="1">
                  <a:latin typeface="Times New Roman" panose="02020603050405020304" pitchFamily="18" charset="0"/>
                </a:rPr>
                <a:t>4</a:t>
              </a:r>
              <a:r>
                <a:rPr lang="zh-CN" altLang="en-US" sz="2000" b="1" dirty="0">
                  <a:latin typeface="Times New Roman" panose="02020603050405020304" pitchFamily="18" charset="0"/>
                </a:rPr>
                <a:t>位结果</a:t>
              </a:r>
              <a:endParaRPr lang="zh-CN" altLang="en-US" sz="2000" b="1" dirty="0">
                <a:latin typeface="Times New Roman" panose="02020603050405020304" pitchFamily="18" charset="0"/>
              </a:endParaRPr>
            </a:p>
            <a:p>
              <a:pPr>
                <a:lnSpc>
                  <a:spcPct val="135000"/>
                </a:lnSpc>
              </a:pPr>
              <a:r>
                <a:rPr lang="zh-CN" altLang="en-US" sz="2000" b="1" dirty="0">
                  <a:latin typeface="Times New Roman" panose="02020603050405020304" pitchFamily="18" charset="0"/>
                </a:rPr>
                <a:t>            </a:t>
              </a:r>
              <a:r>
                <a:rPr lang="en-US" altLang="zh-CN" sz="2000" b="1">
                  <a:latin typeface="Times New Roman" panose="02020603050405020304" pitchFamily="18" charset="0"/>
                </a:rPr>
                <a:t>MOV @R1</a:t>
              </a:r>
              <a:r>
                <a:rPr lang="zh-CN" altLang="en-US" sz="2000" b="1">
                  <a:latin typeface="Times New Roman" panose="02020603050405020304" pitchFamily="18" charset="0"/>
                </a:rPr>
                <a:t>，</a:t>
              </a:r>
              <a:r>
                <a:rPr lang="en-US" altLang="zh-CN" sz="2000" b="1">
                  <a:latin typeface="Times New Roman" panose="02020603050405020304" pitchFamily="18" charset="0"/>
                </a:rPr>
                <a:t>A     	</a:t>
              </a:r>
              <a:r>
                <a:rPr lang="zh-CN" altLang="en-US" sz="2000" b="1">
                  <a:latin typeface="Times New Roman" panose="02020603050405020304" pitchFamily="18" charset="0"/>
                </a:rPr>
                <a:t>；</a:t>
              </a:r>
              <a:r>
                <a:rPr lang="zh-CN" altLang="en-US" sz="2000" b="1" dirty="0">
                  <a:latin typeface="Times New Roman" panose="02020603050405020304" pitchFamily="18" charset="0"/>
                </a:rPr>
                <a:t>送存低</a:t>
              </a:r>
              <a:r>
                <a:rPr lang="en-US" altLang="zh-CN" sz="2000" b="1">
                  <a:latin typeface="Times New Roman" panose="02020603050405020304" pitchFamily="18" charset="0"/>
                </a:rPr>
                <a:t>4</a:t>
              </a:r>
              <a:r>
                <a:rPr lang="zh-CN" altLang="en-US" sz="2000" b="1" dirty="0">
                  <a:latin typeface="Times New Roman" panose="02020603050405020304" pitchFamily="18" charset="0"/>
                </a:rPr>
                <a:t>位结果</a:t>
              </a:r>
              <a:endParaRPr lang="zh-CN" altLang="en-US" sz="2000" b="1" dirty="0">
                <a:latin typeface="Times New Roman" panose="02020603050405020304" pitchFamily="18" charset="0"/>
              </a:endParaRPr>
            </a:p>
            <a:p>
              <a:pPr>
                <a:lnSpc>
                  <a:spcPct val="135000"/>
                </a:lnSpc>
              </a:pPr>
              <a:r>
                <a:rPr lang="zh-CN" altLang="en-US" sz="2000" b="1" dirty="0">
                  <a:latin typeface="Times New Roman" panose="02020603050405020304" pitchFamily="18" charset="0"/>
                </a:rPr>
                <a:t>            </a:t>
              </a:r>
              <a:r>
                <a:rPr lang="en-US" altLang="zh-CN" sz="2000" b="1">
                  <a:latin typeface="Times New Roman" panose="02020603050405020304" pitchFamily="18" charset="0"/>
                </a:rPr>
                <a:t>RET</a:t>
              </a:r>
              <a:endParaRPr lang="en-US" altLang="zh-CN" sz="2000" b="1">
                <a:latin typeface="Times New Roman" panose="02020603050405020304" pitchFamily="18" charset="0"/>
              </a:endParaRPr>
            </a:p>
          </p:txBody>
        </p:sp>
        <p:sp>
          <p:nvSpPr>
            <p:cNvPr id="349188" name="直接连接符 349187"/>
            <p:cNvSpPr/>
            <p:nvPr/>
          </p:nvSpPr>
          <p:spPr>
            <a:xfrm>
              <a:off x="2352" y="1008"/>
              <a:ext cx="144" cy="0"/>
            </a:xfrm>
            <a:prstGeom prst="line">
              <a:avLst/>
            </a:prstGeom>
            <a:ln w="9525" cap="flat" cmpd="sng">
              <a:solidFill>
                <a:schemeClr val="tx1"/>
              </a:solidFill>
              <a:prstDash val="solid"/>
              <a:headEnd type="none" w="med" len="med"/>
              <a:tailEnd type="none" w="med" len="med"/>
            </a:ln>
          </p:spPr>
        </p:sp>
        <p:sp>
          <p:nvSpPr>
            <p:cNvPr id="349189" name="直接连接符 349188"/>
            <p:cNvSpPr/>
            <p:nvPr/>
          </p:nvSpPr>
          <p:spPr>
            <a:xfrm>
              <a:off x="3520" y="1016"/>
              <a:ext cx="144" cy="0"/>
            </a:xfrm>
            <a:prstGeom prst="line">
              <a:avLst/>
            </a:prstGeom>
            <a:ln w="9525" cap="flat" cmpd="sng">
              <a:solidFill>
                <a:schemeClr val="tx1"/>
              </a:solidFill>
              <a:prstDash val="solid"/>
              <a:headEnd type="none" w="med" len="med"/>
              <a:tailEnd type="none" w="med" len="med"/>
            </a:ln>
          </p:spPr>
        </p:sp>
        <p:sp>
          <p:nvSpPr>
            <p:cNvPr id="349190" name="直接连接符 349189"/>
            <p:cNvSpPr/>
            <p:nvPr/>
          </p:nvSpPr>
          <p:spPr>
            <a:xfrm>
              <a:off x="3168" y="2832"/>
              <a:ext cx="192" cy="0"/>
            </a:xfrm>
            <a:prstGeom prst="line">
              <a:avLst/>
            </a:prstGeom>
            <a:ln w="9525" cap="flat" cmpd="sng">
              <a:solidFill>
                <a:schemeClr val="tx1"/>
              </a:solidFill>
              <a:prstDash val="solid"/>
              <a:headEnd type="none" w="med" len="med"/>
              <a:tailEnd type="none" w="med" len="med"/>
            </a:ln>
          </p:spPr>
        </p:sp>
        <p:sp>
          <p:nvSpPr>
            <p:cNvPr id="349191" name="直接连接符 349190"/>
            <p:cNvSpPr/>
            <p:nvPr/>
          </p:nvSpPr>
          <p:spPr>
            <a:xfrm>
              <a:off x="4352" y="2832"/>
              <a:ext cx="144" cy="0"/>
            </a:xfrm>
            <a:prstGeom prst="line">
              <a:avLst/>
            </a:prstGeom>
            <a:ln w="9525" cap="flat" cmpd="sng">
              <a:solidFill>
                <a:schemeClr val="tx1"/>
              </a:solidFill>
              <a:prstDash val="solid"/>
              <a:headEnd type="none" w="med" len="med"/>
              <a:tailEnd type="none" w="med" len="med"/>
            </a:ln>
          </p:spPr>
        </p:sp>
      </p:grpSp>
      <p:sp>
        <p:nvSpPr>
          <p:cNvPr id="349192" name="动作按钮: 后退或前一项 349191">
            <a:hlinkClick r:id="" action="ppaction://hlinkshowjump?jump=firstslide"/>
          </p:cNvPr>
          <p:cNvSpPr/>
          <p:nvPr/>
        </p:nvSpPr>
        <p:spPr>
          <a:xfrm>
            <a:off x="8458200" y="6477000"/>
            <a:ext cx="685800" cy="381000"/>
          </a:xfrm>
          <a:prstGeom prst="actionButtonBackPrevious">
            <a:avLst/>
          </a:prstGeom>
          <a:solidFill>
            <a:schemeClr val="accent1"/>
          </a:solidFill>
          <a:ln w="9525" cap="flat" cmpd="sng">
            <a:solidFill>
              <a:schemeClr val="tx1"/>
            </a:solidFill>
            <a:prstDash val="solid"/>
            <a:miter/>
            <a:headEnd type="none" w="med" len="med"/>
            <a:tailEnd type="none" w="med" len="med"/>
          </a:ln>
        </p:spPr>
        <p:txBody>
          <a:bodyPr/>
          <a:p>
            <a:endParaRPr lang="zh-CN" altLang="en-US"/>
          </a:p>
        </p:txBody>
      </p:sp>
    </p:spTree>
  </p:cSld>
  <p:clrMapOvr>
    <a:masterClrMapping/>
  </p:clrMapOvr>
  <p:transition>
    <p:blinds dir="vert"/>
  </p:transition>
</p:sld>
</file>

<file path=ppt/theme/theme1.xml><?xml version="1.0" encoding="utf-8"?>
<a:theme xmlns:a="http://schemas.openxmlformats.org/drawingml/2006/main" name="默认设计模板">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7"/>
      </a:accent6>
      <a:hlink>
        <a:srgbClr val="6600CC"/>
      </a:hlink>
      <a:folHlink>
        <a:srgbClr val="660066"/>
      </a:folHlink>
    </a:clrScheme>
    <a:fontScheme name="">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raClrSchemeLst>
    <a:extraClrScheme>
      <a:clrScheme name="">
        <a:dk1>
          <a:srgbClr val="FFFFFF"/>
        </a:dk1>
        <a:lt1>
          <a:srgbClr val="0000FF"/>
        </a:lt1>
        <a:dk2>
          <a:srgbClr val="FFFF00"/>
        </a:dk2>
        <a:lt2>
          <a:srgbClr val="000000"/>
        </a:lt2>
        <a:accent1>
          <a:srgbClr val="FF9900"/>
        </a:accent1>
        <a:accent2>
          <a:srgbClr val="00FFFF"/>
        </a:accent2>
        <a:accent3>
          <a:srgbClr val="AAAAFF"/>
        </a:accent3>
        <a:accent4>
          <a:srgbClr val="DCDCDC"/>
        </a:accent4>
        <a:accent5>
          <a:srgbClr val="FFCAAA"/>
        </a:accent5>
        <a:accent6>
          <a:srgbClr val="00E5E5"/>
        </a:accent6>
        <a:hlink>
          <a:srgbClr val="FF0000"/>
        </a:hlink>
        <a:folHlink>
          <a:srgbClr val="969696"/>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7"/>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27272"/>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2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9"/>
        </a:accent5>
        <a:accent6>
          <a:srgbClr val="0000E5"/>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BE5"/>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9E5B7"/>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25856</Words>
  <Application>WPS 演示</Application>
  <PresentationFormat>在屏幕上显示</PresentationFormat>
  <Paragraphs>732</Paragraphs>
  <Slides>161</Slides>
  <Notes>0</Notes>
  <HiddenSlides>0</HiddenSlides>
  <MMClips>0</MMClips>
  <ScaleCrop>false</ScaleCrop>
  <HeadingPairs>
    <vt:vector size="8" baseType="variant">
      <vt:variant>
        <vt:lpstr>已用的字体</vt:lpstr>
      </vt:variant>
      <vt:variant>
        <vt:i4>9</vt:i4>
      </vt:variant>
      <vt:variant>
        <vt:lpstr>主题</vt:lpstr>
      </vt:variant>
      <vt:variant>
        <vt:i4>1</vt:i4>
      </vt:variant>
      <vt:variant>
        <vt:lpstr>嵌入 OLE 服务器</vt:lpstr>
      </vt:variant>
      <vt:variant>
        <vt:i4>66</vt:i4>
      </vt:variant>
      <vt:variant>
        <vt:lpstr>幻灯片标题</vt:lpstr>
      </vt:variant>
      <vt:variant>
        <vt:i4>161</vt:i4>
      </vt:variant>
    </vt:vector>
  </HeadingPairs>
  <TitlesOfParts>
    <vt:vector size="237" baseType="lpstr">
      <vt:lpstr>Arial</vt:lpstr>
      <vt:lpstr>宋体</vt:lpstr>
      <vt:lpstr>Wingdings</vt:lpstr>
      <vt:lpstr>Times New Roman</vt:lpstr>
      <vt:lpstr>Courier New</vt:lpstr>
      <vt:lpstr>黑体</vt:lpstr>
      <vt:lpstr>微软雅黑</vt:lpstr>
      <vt:lpstr>Arial Unicode MS</vt:lpstr>
      <vt:lpstr>Calibri</vt:lpstr>
      <vt:lpstr>默认设计模板</vt:lpstr>
      <vt:lpstr>Visio.Drawing.4</vt:lpstr>
      <vt:lpstr>Visio.Drawing.4</vt:lpstr>
      <vt:lpstr>Visio.Drawing.4</vt:lpstr>
      <vt:lpstr>Equation.3</vt:lpstr>
      <vt:lpstr>Equation.3</vt:lpstr>
      <vt:lpstr>Equation.3</vt:lpstr>
      <vt:lpstr>Visio.Drawing.4</vt:lpstr>
      <vt:lpstr>Equation.3</vt:lpstr>
      <vt:lpstr>Equation.3</vt:lpstr>
      <vt:lpstr>Equation.3</vt:lpstr>
      <vt:lpstr>Paint.Picture</vt:lpstr>
      <vt:lpstr>Equation.3</vt:lpstr>
      <vt:lpstr>Equation.3</vt:lpstr>
      <vt:lpstr>Equation.3</vt:lpstr>
      <vt:lpstr>Equation.3</vt:lpstr>
      <vt:lpstr>Equation.3</vt:lpstr>
      <vt:lpstr>Visio.Drawing.4</vt:lpstr>
      <vt:lpstr>Visio.Drawing.4</vt:lpstr>
      <vt:lpstr>Equation.3</vt:lpstr>
      <vt:lpstr>Visio.Drawing.4</vt:lpstr>
      <vt:lpstr>Visio.Drawing.4</vt:lpstr>
      <vt:lpstr>Visio.Drawing.4</vt:lpstr>
      <vt:lpstr>Equation.3</vt:lpstr>
      <vt:lpstr>Equation.3</vt:lpstr>
      <vt:lpstr>Equation.3</vt:lpstr>
      <vt:lpstr>Equation.3</vt:lpstr>
      <vt:lpstr>Visio.Drawing.4</vt:lpstr>
      <vt:lpstr>Visio.Drawing.4</vt:lpstr>
      <vt:lpstr>Paint.Picture</vt:lpstr>
      <vt:lpstr>Visio.Drawing.4</vt:lpstr>
      <vt:lpstr>Paint.Picture</vt:lpstr>
      <vt:lpstr>Paint.Picture</vt:lpstr>
      <vt:lpstr>Equation.3</vt:lpstr>
      <vt:lpstr>Visio.Drawing.4</vt:lpstr>
      <vt:lpstr>Equation.3</vt:lpstr>
      <vt:lpstr>Visio.Drawing.4</vt:lpstr>
      <vt:lpstr>Visio.Drawing.4</vt:lpstr>
      <vt:lpstr>Visio.Drawing.4</vt:lpstr>
      <vt:lpstr>Visio.Drawing.4</vt:lpstr>
      <vt:lpstr>Visio.Drawing.4</vt:lpstr>
      <vt:lpstr>Visio.Drawing.4</vt:lpstr>
      <vt:lpstr>Equation.3</vt:lpstr>
      <vt:lpstr>Visio.Drawing.4</vt:lpstr>
      <vt:lpstr>Equation.3</vt:lpstr>
      <vt:lpstr>Visio.Drawing.4</vt:lpstr>
      <vt:lpstr>Equation.3</vt:lpstr>
      <vt:lpstr>Equation.3</vt:lpstr>
      <vt:lpstr>Equation.3</vt:lpstr>
      <vt:lpstr>Equation.3</vt:lpstr>
      <vt:lpstr>Visio.Drawing.4</vt:lpstr>
      <vt:lpstr>Equation.3</vt:lpstr>
      <vt:lpstr>Equation.3</vt:lpstr>
      <vt:lpstr>Equation.3</vt:lpstr>
      <vt:lpstr>Equation.3</vt:lpstr>
      <vt:lpstr>Visio.Drawing.4</vt:lpstr>
      <vt:lpstr>Visio.Drawing.4</vt:lpstr>
      <vt:lpstr>Visio.Drawing.4</vt:lpstr>
      <vt:lpstr>Equation.3</vt:lpstr>
      <vt:lpstr>Equation.3</vt:lpstr>
      <vt:lpstr>Equation.3</vt:lpstr>
      <vt:lpstr>Visio.Drawing.4</vt:lpstr>
      <vt:lpstr>Visio.Drawing.4</vt:lpstr>
      <vt:lpstr>Equation.3</vt:lpstr>
      <vt:lpstr>Equation.3</vt:lpstr>
      <vt:lpstr>Equation.3</vt:lpstr>
      <vt:lpstr>Visio.Drawing.4</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西安火炬电脑公司</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mwz2</dc:creator>
  <cp:lastModifiedBy>WPS_1640354101</cp:lastModifiedBy>
  <cp:revision>57</cp:revision>
  <dcterms:created xsi:type="dcterms:W3CDTF">2003-07-16T08:49:18Z</dcterms:created>
  <dcterms:modified xsi:type="dcterms:W3CDTF">2024-05-31T11:46:41Z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987CA3DDB5E44B5D96F356C26B8FA723_13</vt:lpwstr>
  </property>
  <property fmtid="{D5CDD505-2E9C-101B-9397-08002B2CF9AE}" pid="3" name="KSOProductBuildVer">
    <vt:lpwstr>2052-12.1.0.16729</vt:lpwstr>
  </property>
</Properties>
</file>