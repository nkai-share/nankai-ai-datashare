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256" r:id="rId3"/>
    <p:sldId id="257" r:id="rId4"/>
    <p:sldId id="302" r:id="rId5"/>
    <p:sldId id="303" r:id="rId6"/>
    <p:sldId id="301" r:id="rId7"/>
    <p:sldId id="304" r:id="rId8"/>
    <p:sldId id="305" r:id="rId9"/>
    <p:sldId id="258" r:id="rId10"/>
    <p:sldId id="259" r:id="rId11"/>
    <p:sldId id="261" r:id="rId12"/>
    <p:sldId id="260" r:id="rId13"/>
    <p:sldId id="262" r:id="rId14"/>
    <p:sldId id="263" r:id="rId15"/>
    <p:sldId id="264" r:id="rId16"/>
    <p:sldId id="265" r:id="rId17"/>
    <p:sldId id="306" r:id="rId18"/>
    <p:sldId id="311" r:id="rId19"/>
    <p:sldId id="266" r:id="rId20"/>
    <p:sldId id="267" r:id="rId21"/>
    <p:sldId id="268" r:id="rId22"/>
    <p:sldId id="312" r:id="rId23"/>
    <p:sldId id="269" r:id="rId24"/>
    <p:sldId id="270" r:id="rId25"/>
    <p:sldId id="271" r:id="rId26"/>
    <p:sldId id="273" r:id="rId27"/>
    <p:sldId id="274" r:id="rId28"/>
    <p:sldId id="275" r:id="rId29"/>
    <p:sldId id="272" r:id="rId30"/>
    <p:sldId id="276" r:id="rId31"/>
    <p:sldId id="278" r:id="rId32"/>
    <p:sldId id="279" r:id="rId33"/>
    <p:sldId id="277" r:id="rId34"/>
    <p:sldId id="280" r:id="rId35"/>
    <p:sldId id="281" r:id="rId36"/>
    <p:sldId id="282" r:id="rId37"/>
    <p:sldId id="283" r:id="rId38"/>
    <p:sldId id="284" r:id="rId39"/>
    <p:sldId id="285" r:id="rId40"/>
    <p:sldId id="287" r:id="rId41"/>
    <p:sldId id="288" r:id="rId42"/>
    <p:sldId id="307" r:id="rId43"/>
    <p:sldId id="308" r:id="rId44"/>
    <p:sldId id="309" r:id="rId45"/>
    <p:sldId id="310" r:id="rId46"/>
    <p:sldId id="289" r:id="rId47"/>
    <p:sldId id="290" r:id="rId48"/>
    <p:sldId id="291" r:id="rId49"/>
    <p:sldId id="286" r:id="rId50"/>
    <p:sldId id="293" r:id="rId51"/>
    <p:sldId id="294" r:id="rId52"/>
    <p:sldId id="295" r:id="rId53"/>
    <p:sldId id="296" r:id="rId54"/>
    <p:sldId id="292" r:id="rId55"/>
    <p:sldId id="297" r:id="rId56"/>
    <p:sldId id="299" r:id="rId57"/>
    <p:sldId id="300" r:id="rId58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6" userDrawn="1">
          <p15:clr>
            <a:srgbClr val="A4A3A4"/>
          </p15:clr>
        </p15:guide>
        <p15:guide id="2" pos="3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990000"/>
    <a:srgbClr val="FFFFCC"/>
    <a:srgbClr val="009900"/>
    <a:srgbClr val="CC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18" d="100"/>
          <a:sy n="118" d="100"/>
        </p:scale>
        <p:origin x="836" y="76"/>
      </p:cViewPr>
      <p:guideLst>
        <p:guide orient="horz" pos="2736"/>
        <p:guide pos="3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21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4.xml"/><Relationship Id="rId59" Type="http://schemas.openxmlformats.org/officeDocument/2006/relationships/notesMaster" Target="notesMasters/notesMaster1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png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wmf"/><Relationship Id="rId1" Type="http://schemas.openxmlformats.org/officeDocument/2006/relationships/image" Target="../media/image38.png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43.png"/><Relationship Id="rId3" Type="http://schemas.openxmlformats.org/officeDocument/2006/relationships/image" Target="../media/image46.wmf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image" Target="../media/image47.png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9.wmf"/><Relationship Id="rId1" Type="http://schemas.openxmlformats.org/officeDocument/2006/relationships/image" Target="../media/image48.png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1.wmf"/><Relationship Id="rId1" Type="http://schemas.openxmlformats.org/officeDocument/2006/relationships/image" Target="../media/image50.png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image" Target="../media/image54.png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image" Target="../media/image54.png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png"/><Relationship Id="rId1" Type="http://schemas.openxmlformats.org/officeDocument/2006/relationships/image" Target="../media/image43.png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image" Target="../media/image59.png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image" Target="../media/image59.png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0.wmf"/><Relationship Id="rId1" Type="http://schemas.openxmlformats.org/officeDocument/2006/relationships/image" Target="../media/image59.png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image" Target="../media/image61.png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image" Target="../media/image6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8A5C40-9BDD-4200-BC20-7027BB669F85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单击以编辑母版文本样式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4979D24-1274-404B-A6B4-8CC9DE3A5846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FF64A8-F703-4ECF-9AA2-52B99BC1DFE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FF64A8-F703-4ECF-9AA2-52B99BC1DFE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FF64A8-F703-4ECF-9AA2-52B99BC1DFE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FF64A8-F703-4ECF-9AA2-52B99BC1DFE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FF64A8-F703-4ECF-9AA2-52B99BC1DFE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FF64A8-F703-4ECF-9AA2-52B99BC1DFE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FF64A8-F703-4ECF-9AA2-52B99BC1DFE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FF64A8-F703-4ECF-9AA2-52B99BC1DFE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FF64A8-F703-4ECF-9AA2-52B99BC1DFE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FF64A8-F703-4ECF-9AA2-52B99BC1DFE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FF64A8-F703-4ECF-9AA2-52B99BC1DFE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zh-CN" dirty="0"/>
              <a:t>单击以编辑</a:t>
            </a:r>
            <a:r>
              <a:rPr lang="zh-CN" altLang="en-US" dirty="0"/>
              <a:t>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单击以编辑母版文本样式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50000"/>
              </a:spcBef>
              <a:defRPr sz="1400"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50000"/>
              </a:spcBef>
              <a:defRPr sz="1400">
                <a:latin typeface="Times New Roman" panose="0202060305040502030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BFF64A8-F703-4ECF-9AA2-52B99BC1DFE0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" Target="slide8.xml"/><Relationship Id="rId8" Type="http://schemas.openxmlformats.org/officeDocument/2006/relationships/slide" Target="slide56.xml"/><Relationship Id="rId7" Type="http://schemas.openxmlformats.org/officeDocument/2006/relationships/slide" Target="slide7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3" Type="http://schemas.openxmlformats.org/officeDocument/2006/relationships/slide" Target="slide3.xml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.wmf"/><Relationship Id="rId10" Type="http://schemas.openxmlformats.org/officeDocument/2006/relationships/hyperlink" Target="&#23553;&#39029;1.ppt" TargetMode="Externa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6" Type="http://schemas.openxmlformats.org/officeDocument/2006/relationships/slide" Target="slide1.xml"/><Relationship Id="rId5" Type="http://schemas.openxmlformats.org/officeDocument/2006/relationships/slide" Target="slide15.xml"/><Relationship Id="rId4" Type="http://schemas.openxmlformats.org/officeDocument/2006/relationships/slide" Target="slide13.xml"/><Relationship Id="rId3" Type="http://schemas.openxmlformats.org/officeDocument/2006/relationships/slide" Target="slide10.xml"/><Relationship Id="rId2" Type="http://schemas.openxmlformats.org/officeDocument/2006/relationships/image" Target="../media/image4.png"/><Relationship Id="rId1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slide" Target="slide23.xml"/><Relationship Id="rId2" Type="http://schemas.openxmlformats.org/officeDocument/2006/relationships/image" Target="../media/image4.png"/><Relationship Id="rId1" Type="http://schemas.openxmlformats.org/officeDocument/2006/relationships/slide" Target="slide27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slide" Target="slide32.xml"/><Relationship Id="rId2" Type="http://schemas.openxmlformats.org/officeDocument/2006/relationships/image" Target="../media/image4.png"/><Relationship Id="rId1" Type="http://schemas.openxmlformats.org/officeDocument/2006/relationships/slide" Target="slide3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slide" Target="slide1.xml"/><Relationship Id="rId4" Type="http://schemas.openxmlformats.org/officeDocument/2006/relationships/slide" Target="slide36.xml"/><Relationship Id="rId3" Type="http://schemas.openxmlformats.org/officeDocument/2006/relationships/slide" Target="slide35.xml"/><Relationship Id="rId2" Type="http://schemas.openxmlformats.org/officeDocument/2006/relationships/image" Target="../media/image4.png"/><Relationship Id="rId1" Type="http://schemas.openxmlformats.org/officeDocument/2006/relationships/slide" Target="slide34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slide" Target="slide1.xml"/><Relationship Id="rId4" Type="http://schemas.openxmlformats.org/officeDocument/2006/relationships/slide" Target="slide40.xml"/><Relationship Id="rId3" Type="http://schemas.openxmlformats.org/officeDocument/2006/relationships/slide" Target="slide39.xml"/><Relationship Id="rId2" Type="http://schemas.openxmlformats.org/officeDocument/2006/relationships/image" Target="../media/image4.png"/><Relationship Id="rId1" Type="http://schemas.openxmlformats.org/officeDocument/2006/relationships/slide" Target="slide3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slide" Target="slide55.xml"/><Relationship Id="rId2" Type="http://schemas.openxmlformats.org/officeDocument/2006/relationships/image" Target="../media/image4.png"/><Relationship Id="rId1" Type="http://schemas.openxmlformats.org/officeDocument/2006/relationships/slide" Target="slide5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slide" Target="slide2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8.png"/><Relationship Id="rId1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slide" Target="slide2.xml"/><Relationship Id="rId2" Type="http://schemas.openxmlformats.org/officeDocument/2006/relationships/image" Target="../media/image8.png"/><Relationship Id="rId1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png"/><Relationship Id="rId3" Type="http://schemas.openxmlformats.org/officeDocument/2006/relationships/oleObject" Target="../embeddings/oleObject5.bin"/><Relationship Id="rId2" Type="http://schemas.openxmlformats.org/officeDocument/2006/relationships/image" Target="../media/image7.png"/><Relationship Id="rId1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slide" Target="slide2.xml"/><Relationship Id="rId4" Type="http://schemas.openxmlformats.org/officeDocument/2006/relationships/image" Target="../media/image13.png"/><Relationship Id="rId3" Type="http://schemas.openxmlformats.org/officeDocument/2006/relationships/oleObject" Target="../embeddings/oleObject8.bin"/><Relationship Id="rId2" Type="http://schemas.openxmlformats.org/officeDocument/2006/relationships/image" Target="../media/image12.png"/><Relationship Id="rId1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oleObject" Target="../embeddings/oleObject9.bin"/><Relationship Id="rId2" Type="http://schemas.openxmlformats.org/officeDocument/2006/relationships/image" Target="../media/image7.png"/><Relationship Id="rId1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slide" Target="slide2.xml"/><Relationship Id="rId2" Type="http://schemas.openxmlformats.org/officeDocument/2006/relationships/image" Target="../media/image15.png"/><Relationship Id="rId1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oleObject" Target="../embeddings/oleObject11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slide" Target="slide2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2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slide" Target="slide2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3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1.vml"/><Relationship Id="rId8" Type="http://schemas.openxmlformats.org/officeDocument/2006/relationships/slideLayout" Target="../slideLayouts/slideLayout7.xml"/><Relationship Id="rId7" Type="http://schemas.openxmlformats.org/officeDocument/2006/relationships/slide" Target="slide2.xml"/><Relationship Id="rId6" Type="http://schemas.openxmlformats.org/officeDocument/2006/relationships/image" Target="../media/image7.png"/><Relationship Id="rId5" Type="http://schemas.openxmlformats.org/officeDocument/2006/relationships/slide" Target="slide1.xml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9.png"/><Relationship Id="rId1" Type="http://schemas.openxmlformats.org/officeDocument/2006/relationships/oleObject" Target="../embeddings/oleObject14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slide" Target="slide23.xml"/><Relationship Id="rId2" Type="http://schemas.openxmlformats.org/officeDocument/2006/relationships/image" Target="../media/image4.png"/><Relationship Id="rId1" Type="http://schemas.openxmlformats.org/officeDocument/2006/relationships/slide" Target="slide27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slide" Target="slide3.xml"/><Relationship Id="rId2" Type="http://schemas.openxmlformats.org/officeDocument/2006/relationships/image" Target="../media/image22.png"/><Relationship Id="rId1" Type="http://schemas.openxmlformats.org/officeDocument/2006/relationships/oleObject" Target="../embeddings/oleObject1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slide" Target="slide3.xml"/><Relationship Id="rId4" Type="http://schemas.openxmlformats.org/officeDocument/2006/relationships/image" Target="../media/image24.png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3.png"/><Relationship Id="rId1" Type="http://schemas.openxmlformats.org/officeDocument/2006/relationships/oleObject" Target="../embeddings/oleObject17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6.png"/><Relationship Id="rId3" Type="http://schemas.openxmlformats.org/officeDocument/2006/relationships/oleObject" Target="../embeddings/oleObject20.bin"/><Relationship Id="rId2" Type="http://schemas.openxmlformats.org/officeDocument/2006/relationships/image" Target="../media/image25.png"/><Relationship Id="rId14" Type="http://schemas.openxmlformats.org/officeDocument/2006/relationships/vmlDrawing" Target="../drawings/vmlDrawing14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openxmlformats.org/officeDocument/2006/relationships/slide" Target="slide3.xml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19.bin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slide" Target="slide3.xml"/><Relationship Id="rId2" Type="http://schemas.openxmlformats.org/officeDocument/2006/relationships/image" Target="../media/image30.png"/><Relationship Id="rId1" Type="http://schemas.openxmlformats.org/officeDocument/2006/relationships/oleObject" Target="../embeddings/oleObject2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slide" Target="slide3.xml"/><Relationship Id="rId4" Type="http://schemas.openxmlformats.org/officeDocument/2006/relationships/image" Target="../media/image32.png"/><Relationship Id="rId3" Type="http://schemas.openxmlformats.org/officeDocument/2006/relationships/oleObject" Target="../embeddings/oleObject26.bin"/><Relationship Id="rId2" Type="http://schemas.openxmlformats.org/officeDocument/2006/relationships/image" Target="../media/image31.png"/><Relationship Id="rId1" Type="http://schemas.openxmlformats.org/officeDocument/2006/relationships/oleObject" Target="../embeddings/oleObject2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slide" Target="slide3.xml"/><Relationship Id="rId4" Type="http://schemas.openxmlformats.org/officeDocument/2006/relationships/image" Target="../media/image34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33.wmf"/><Relationship Id="rId1" Type="http://schemas.openxmlformats.org/officeDocument/2006/relationships/oleObject" Target="../embeddings/oleObject27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8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slide" Target="slide3.xml"/><Relationship Id="rId5" Type="http://schemas.openxmlformats.org/officeDocument/2006/relationships/image" Target="../media/image36.png"/><Relationship Id="rId4" Type="http://schemas.openxmlformats.org/officeDocument/2006/relationships/oleObject" Target="../embeddings/oleObject30.bin"/><Relationship Id="rId3" Type="http://schemas.openxmlformats.org/officeDocument/2006/relationships/image" Target="../media/image1.jpeg"/><Relationship Id="rId2" Type="http://schemas.openxmlformats.org/officeDocument/2006/relationships/image" Target="../media/image35.png"/><Relationship Id="rId1" Type="http://schemas.openxmlformats.org/officeDocument/2006/relationships/oleObject" Target="../embeddings/oleObject29.bin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slide" Target="slide32.xml"/><Relationship Id="rId2" Type="http://schemas.openxmlformats.org/officeDocument/2006/relationships/image" Target="../media/image4.png"/><Relationship Id="rId1" Type="http://schemas.openxmlformats.org/officeDocument/2006/relationships/slide" Target="slide31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7.png"/><Relationship Id="rId3" Type="http://schemas.openxmlformats.org/officeDocument/2006/relationships/oleObject" Target="../embeddings/oleObject31.bin"/><Relationship Id="rId2" Type="http://schemas.openxmlformats.org/officeDocument/2006/relationships/image" Target="../media/image7.png"/><Relationship Id="rId1" Type="http://schemas.openxmlformats.org/officeDocument/2006/relationships/slide" Target="slide4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slide" Target="slide4.xml"/><Relationship Id="rId7" Type="http://schemas.openxmlformats.org/officeDocument/2006/relationships/image" Target="../media/image40.png"/><Relationship Id="rId6" Type="http://schemas.openxmlformats.org/officeDocument/2006/relationships/oleObject" Target="../embeddings/oleObject34.bin"/><Relationship Id="rId5" Type="http://schemas.openxmlformats.org/officeDocument/2006/relationships/image" Target="../media/image1.jpeg"/><Relationship Id="rId4" Type="http://schemas.openxmlformats.org/officeDocument/2006/relationships/image" Target="../media/image39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8.png"/><Relationship Id="rId11" Type="http://schemas.openxmlformats.org/officeDocument/2006/relationships/vmlDrawing" Target="../drawings/vmlDrawing20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32.bin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slide" Target="slide1.xml"/><Relationship Id="rId4" Type="http://schemas.openxmlformats.org/officeDocument/2006/relationships/slide" Target="slide36.xml"/><Relationship Id="rId3" Type="http://schemas.openxmlformats.org/officeDocument/2006/relationships/slide" Target="slide35.xml"/><Relationship Id="rId2" Type="http://schemas.openxmlformats.org/officeDocument/2006/relationships/image" Target="../media/image4.png"/><Relationship Id="rId1" Type="http://schemas.openxmlformats.org/officeDocument/2006/relationships/slide" Target="slide34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1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3.png"/><Relationship Id="rId6" Type="http://schemas.openxmlformats.org/officeDocument/2006/relationships/oleObject" Target="../embeddings/oleObject37.bin"/><Relationship Id="rId5" Type="http://schemas.openxmlformats.org/officeDocument/2006/relationships/slide" Target="slide5.xml"/><Relationship Id="rId4" Type="http://schemas.openxmlformats.org/officeDocument/2006/relationships/image" Target="../media/image42.png"/><Relationship Id="rId3" Type="http://schemas.openxmlformats.org/officeDocument/2006/relationships/oleObject" Target="../embeddings/oleObject36.bin"/><Relationship Id="rId2" Type="http://schemas.openxmlformats.org/officeDocument/2006/relationships/image" Target="../media/image41.png"/><Relationship Id="rId1" Type="http://schemas.openxmlformats.org/officeDocument/2006/relationships/oleObject" Target="../embeddings/oleObject35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.bin"/><Relationship Id="rId8" Type="http://schemas.openxmlformats.org/officeDocument/2006/relationships/slide" Target="slide5.xml"/><Relationship Id="rId7" Type="http://schemas.openxmlformats.org/officeDocument/2006/relationships/image" Target="../media/image46.wmf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5.png"/><Relationship Id="rId4" Type="http://schemas.openxmlformats.org/officeDocument/2006/relationships/oleObject" Target="../embeddings/oleObject39.bin"/><Relationship Id="rId3" Type="http://schemas.openxmlformats.org/officeDocument/2006/relationships/image" Target="../media/image1.jpeg"/><Relationship Id="rId2" Type="http://schemas.openxmlformats.org/officeDocument/2006/relationships/image" Target="../media/image44.png"/><Relationship Id="rId12" Type="http://schemas.openxmlformats.org/officeDocument/2006/relationships/vmlDrawing" Target="../drawings/vmlDrawing22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3.png"/><Relationship Id="rId1" Type="http://schemas.openxmlformats.org/officeDocument/2006/relationships/oleObject" Target="../embeddings/oleObject38.bin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oleObject" Target="../embeddings/oleObject42.bin"/><Relationship Id="rId1" Type="http://schemas.openxmlformats.org/officeDocument/2006/relationships/slide" Target="slide5.xml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slide" Target="slide1.xml"/><Relationship Id="rId4" Type="http://schemas.openxmlformats.org/officeDocument/2006/relationships/slide" Target="slide40.xml"/><Relationship Id="rId3" Type="http://schemas.openxmlformats.org/officeDocument/2006/relationships/slide" Target="slide39.xml"/><Relationship Id="rId2" Type="http://schemas.openxmlformats.org/officeDocument/2006/relationships/image" Target="../media/image4.png"/><Relationship Id="rId1" Type="http://schemas.openxmlformats.org/officeDocument/2006/relationships/slide" Target="slide38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oleObject" Target="../embeddings/oleObject44.bin"/><Relationship Id="rId4" Type="http://schemas.openxmlformats.org/officeDocument/2006/relationships/slide" Target="slide6.xml"/><Relationship Id="rId3" Type="http://schemas.openxmlformats.org/officeDocument/2006/relationships/image" Target="../media/image47.png"/><Relationship Id="rId2" Type="http://schemas.openxmlformats.org/officeDocument/2006/relationships/oleObject" Target="../embeddings/oleObject43.bin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oleObject" Target="../embeddings/oleObject48.bin"/><Relationship Id="rId7" Type="http://schemas.openxmlformats.org/officeDocument/2006/relationships/slide" Target="slide6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46.bin"/><Relationship Id="rId3" Type="http://schemas.openxmlformats.org/officeDocument/2006/relationships/image" Target="../media/image48.png"/><Relationship Id="rId2" Type="http://schemas.openxmlformats.org/officeDocument/2006/relationships/oleObject" Target="../embeddings/oleObject45.bin"/><Relationship Id="rId11" Type="http://schemas.openxmlformats.org/officeDocument/2006/relationships/vmlDrawing" Target="../drawings/vmlDrawing25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3.png"/><Relationship Id="rId7" Type="http://schemas.openxmlformats.org/officeDocument/2006/relationships/oleObject" Target="../embeddings/oleObject51.bin"/><Relationship Id="rId6" Type="http://schemas.openxmlformats.org/officeDocument/2006/relationships/slide" Target="slide6.x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0.bin"/><Relationship Id="rId3" Type="http://schemas.openxmlformats.org/officeDocument/2006/relationships/image" Target="../media/image50.png"/><Relationship Id="rId2" Type="http://schemas.openxmlformats.org/officeDocument/2006/relationships/oleObject" Target="../embeddings/oleObject49.bin"/><Relationship Id="rId10" Type="http://schemas.openxmlformats.org/officeDocument/2006/relationships/vmlDrawing" Target="../drawings/vmlDrawing26.vml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2.wmf"/><Relationship Id="rId1" Type="http://schemas.openxmlformats.org/officeDocument/2006/relationships/oleObject" Target="../embeddings/oleObject52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wmf"/><Relationship Id="rId1" Type="http://schemas.openxmlformats.org/officeDocument/2006/relationships/oleObject" Target="../embeddings/oleObject53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9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oleObject" Target="../embeddings/oleObject55.bin"/><Relationship Id="rId4" Type="http://schemas.openxmlformats.org/officeDocument/2006/relationships/slide" Target="slide6.xml"/><Relationship Id="rId3" Type="http://schemas.openxmlformats.org/officeDocument/2006/relationships/image" Target="../media/image54.png"/><Relationship Id="rId2" Type="http://schemas.openxmlformats.org/officeDocument/2006/relationships/oleObject" Target="../embeddings/oleObject54.bin"/><Relationship Id="rId1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0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oleObject" Target="../embeddings/oleObject57.bin"/><Relationship Id="rId4" Type="http://schemas.openxmlformats.org/officeDocument/2006/relationships/slide" Target="slide6.xml"/><Relationship Id="rId3" Type="http://schemas.openxmlformats.org/officeDocument/2006/relationships/image" Target="../media/image54.png"/><Relationship Id="rId2" Type="http://schemas.openxmlformats.org/officeDocument/2006/relationships/oleObject" Target="../embeddings/oleObject56.bin"/><Relationship Id="rId1" Type="http://schemas.openxmlformats.org/officeDocument/2006/relationships/image" Target="../media/image1.jpe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3.png"/><Relationship Id="rId7" Type="http://schemas.openxmlformats.org/officeDocument/2006/relationships/oleObject" Target="../embeddings/oleObject60.bin"/><Relationship Id="rId6" Type="http://schemas.openxmlformats.org/officeDocument/2006/relationships/slide" Target="slide6.xml"/><Relationship Id="rId5" Type="http://schemas.openxmlformats.org/officeDocument/2006/relationships/image" Target="../media/image56.png"/><Relationship Id="rId4" Type="http://schemas.openxmlformats.org/officeDocument/2006/relationships/oleObject" Target="../embeddings/oleObject59.bin"/><Relationship Id="rId3" Type="http://schemas.openxmlformats.org/officeDocument/2006/relationships/image" Target="../media/image55.png"/><Relationship Id="rId2" Type="http://schemas.openxmlformats.org/officeDocument/2006/relationships/oleObject" Target="../embeddings/oleObject58.bin"/><Relationship Id="rId10" Type="http://schemas.openxmlformats.org/officeDocument/2006/relationships/vmlDrawing" Target="../drawings/vmlDrawing31.vml"/><Relationship Id="rId1" Type="http://schemas.openxmlformats.org/officeDocument/2006/relationships/image" Target="../media/image1.jpe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wmf"/><Relationship Id="rId8" Type="http://schemas.openxmlformats.org/officeDocument/2006/relationships/oleObject" Target="../embeddings/oleObject64.bin"/><Relationship Id="rId7" Type="http://schemas.openxmlformats.org/officeDocument/2006/relationships/oleObject" Target="../embeddings/oleObject63.bin"/><Relationship Id="rId6" Type="http://schemas.openxmlformats.org/officeDocument/2006/relationships/image" Target="../media/image57.png"/><Relationship Id="rId5" Type="http://schemas.openxmlformats.org/officeDocument/2006/relationships/oleObject" Target="../embeddings/oleObject62.bin"/><Relationship Id="rId4" Type="http://schemas.openxmlformats.org/officeDocument/2006/relationships/image" Target="../media/image1.jpeg"/><Relationship Id="rId3" Type="http://schemas.openxmlformats.org/officeDocument/2006/relationships/image" Target="../media/image43.png"/><Relationship Id="rId2" Type="http://schemas.openxmlformats.org/officeDocument/2006/relationships/oleObject" Target="../embeddings/oleObject61.bin"/><Relationship Id="rId11" Type="http://schemas.openxmlformats.org/officeDocument/2006/relationships/vmlDrawing" Target="../drawings/vmlDrawing32.vml"/><Relationship Id="rId10" Type="http://schemas.openxmlformats.org/officeDocument/2006/relationships/slideLayout" Target="../slideLayouts/slideLayout7.xml"/><Relationship Id="rId1" Type="http://schemas.openxmlformats.org/officeDocument/2006/relationships/slide" Target="slide6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3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3.png"/><Relationship Id="rId6" Type="http://schemas.openxmlformats.org/officeDocument/2006/relationships/oleObject" Target="../embeddings/oleObject67.bin"/><Relationship Id="rId5" Type="http://schemas.openxmlformats.org/officeDocument/2006/relationships/slide" Target="slide6.xml"/><Relationship Id="rId4" Type="http://schemas.openxmlformats.org/officeDocument/2006/relationships/oleObject" Target="../embeddings/oleObject66.bin"/><Relationship Id="rId3" Type="http://schemas.openxmlformats.org/officeDocument/2006/relationships/image" Target="../media/image59.png"/><Relationship Id="rId2" Type="http://schemas.openxmlformats.org/officeDocument/2006/relationships/oleObject" Target="../embeddings/oleObject65.bin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4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3.png"/><Relationship Id="rId6" Type="http://schemas.openxmlformats.org/officeDocument/2006/relationships/oleObject" Target="../embeddings/oleObject70.bin"/><Relationship Id="rId5" Type="http://schemas.openxmlformats.org/officeDocument/2006/relationships/slide" Target="slide6.xml"/><Relationship Id="rId4" Type="http://schemas.openxmlformats.org/officeDocument/2006/relationships/oleObject" Target="../embeddings/oleObject69.bin"/><Relationship Id="rId3" Type="http://schemas.openxmlformats.org/officeDocument/2006/relationships/image" Target="../media/image59.png"/><Relationship Id="rId2" Type="http://schemas.openxmlformats.org/officeDocument/2006/relationships/oleObject" Target="../embeddings/oleObject68.bin"/><Relationship Id="rId1" Type="http://schemas.openxmlformats.org/officeDocument/2006/relationships/image" Target="../media/image1.jpeg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3.png"/><Relationship Id="rId7" Type="http://schemas.openxmlformats.org/officeDocument/2006/relationships/oleObject" Target="../embeddings/oleObject73.bin"/><Relationship Id="rId6" Type="http://schemas.openxmlformats.org/officeDocument/2006/relationships/slide" Target="slide6.xml"/><Relationship Id="rId5" Type="http://schemas.openxmlformats.org/officeDocument/2006/relationships/image" Target="../media/image60.wmf"/><Relationship Id="rId4" Type="http://schemas.openxmlformats.org/officeDocument/2006/relationships/oleObject" Target="../embeddings/oleObject72.bin"/><Relationship Id="rId3" Type="http://schemas.openxmlformats.org/officeDocument/2006/relationships/image" Target="../media/image59.png"/><Relationship Id="rId2" Type="http://schemas.openxmlformats.org/officeDocument/2006/relationships/oleObject" Target="../embeddings/oleObject71.bin"/><Relationship Id="rId10" Type="http://schemas.openxmlformats.org/officeDocument/2006/relationships/vmlDrawing" Target="../drawings/vmlDrawing35.vml"/><Relationship Id="rId1" Type="http://schemas.openxmlformats.org/officeDocument/2006/relationships/image" Target="../media/image1.jpe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oleObject" Target="../embeddings/oleObject74.bin"/><Relationship Id="rId1" Type="http://schemas.openxmlformats.org/officeDocument/2006/relationships/slide" Target="slide6.xml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slide" Target="slide1.xml"/><Relationship Id="rId3" Type="http://schemas.openxmlformats.org/officeDocument/2006/relationships/slide" Target="slide55.xml"/><Relationship Id="rId2" Type="http://schemas.openxmlformats.org/officeDocument/2006/relationships/image" Target="../media/image4.png"/><Relationship Id="rId1" Type="http://schemas.openxmlformats.org/officeDocument/2006/relationships/slide" Target="slide54.xml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7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oleObject" Target="../embeddings/oleObject76.bin"/><Relationship Id="rId3" Type="http://schemas.openxmlformats.org/officeDocument/2006/relationships/slide" Target="slide7.xml"/><Relationship Id="rId2" Type="http://schemas.openxmlformats.org/officeDocument/2006/relationships/image" Target="../media/image61.png"/><Relationship Id="rId1" Type="http://schemas.openxmlformats.org/officeDocument/2006/relationships/oleObject" Target="../embeddings/oleObject75.bin"/></Relationships>
</file>

<file path=ppt/slides/_rels/slide5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8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oleObject" Target="../embeddings/oleObject78.bin"/><Relationship Id="rId3" Type="http://schemas.openxmlformats.org/officeDocument/2006/relationships/slide" Target="slide7.xml"/><Relationship Id="rId2" Type="http://schemas.openxmlformats.org/officeDocument/2006/relationships/image" Target="../media/image62.png"/><Relationship Id="rId1" Type="http://schemas.openxmlformats.org/officeDocument/2006/relationships/oleObject" Target="../embeddings/oleObject77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2" name="Rectangle 4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990600"/>
          </a:xfrm>
          <a:gradFill rotWithShape="0">
            <a:gsLst>
              <a:gs pos="0">
                <a:srgbClr val="767676"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767676">
                  <a:alpha val="100000"/>
                </a:srgbClr>
              </a:gs>
            </a:gsLst>
            <a:lin ang="5400000" scaled="1"/>
            <a:tileRect/>
          </a:gradFill>
          <a:ln/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anchor="ctr" anchorCtr="0">
            <a:flatTx/>
          </a:bodyPr>
          <a:p>
            <a:pPr eaLnBrk="1" hangingPunct="1"/>
            <a:r>
              <a:rPr lang="zh-CN" altLang="en-US" sz="5400" b="1" dirty="0">
                <a:solidFill>
                  <a:srgbClr val="990000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第</a:t>
            </a:r>
            <a:r>
              <a:rPr lang="zh-CN" altLang="en-US" sz="5400" b="1" dirty="0">
                <a:solidFill>
                  <a:srgbClr val="990000"/>
                </a:solidFill>
                <a:ea typeface="隶书" panose="02010509060101010101" pitchFamily="49" charset="-122"/>
              </a:rPr>
              <a:t>二章  逻辑门电路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7173" name="Picture 5" descr="D:\image\ball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622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4" name="Picture 6" descr="D:\image\ball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5" y="298767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5" name="Picture 7" descr="D:\image\ball.gif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5" y="359727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6" name="Picture 8" descr="D:\image\ball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5" y="420687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1508125" y="2316163"/>
            <a:ext cx="5807075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§2-1  </a:t>
            </a:r>
            <a:r>
              <a:rPr kumimoji="1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典型</a:t>
            </a:r>
            <a:r>
              <a:rPr kumimoji="1" lang="en-US" altLang="zh-CN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TTL</a:t>
            </a:r>
            <a:r>
              <a:rPr kumimoji="1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与非门工作原理</a:t>
            </a:r>
            <a:endParaRPr kumimoji="1" lang="zh-CN" altLang="en-US" sz="32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1508125" y="2925763"/>
            <a:ext cx="50038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§2-2  </a:t>
            </a:r>
            <a:r>
              <a:rPr kumimoji="1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其它类型</a:t>
            </a:r>
            <a:r>
              <a:rPr kumimoji="1" lang="en-US" altLang="zh-CN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TTL</a:t>
            </a:r>
            <a:r>
              <a:rPr kumimoji="1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门电路</a:t>
            </a:r>
            <a:endParaRPr kumimoji="1" lang="zh-CN" altLang="en-US" sz="32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1508125" y="3535363"/>
            <a:ext cx="421481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§2-3  ECL</a:t>
            </a:r>
            <a:r>
              <a:rPr kumimoji="1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集成逻辑门</a:t>
            </a:r>
            <a:endParaRPr kumimoji="1" lang="zh-CN" altLang="en-US" sz="32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1508125" y="4144963"/>
            <a:ext cx="394176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§2-4  I</a:t>
            </a:r>
            <a:r>
              <a:rPr kumimoji="1" lang="en-US" altLang="zh-CN" sz="3200" b="1" kern="1200" cap="none" spc="0" normalizeH="0" baseline="3000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L</a:t>
            </a:r>
            <a:r>
              <a:rPr kumimoji="1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集成逻辑门</a:t>
            </a:r>
            <a:endParaRPr kumimoji="1" lang="zh-CN" altLang="en-US" sz="32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181" name="Picture 13" descr="D:\image\ball.gif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816475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1489075" y="4754563"/>
            <a:ext cx="4303713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§2-5  MOS</a:t>
            </a:r>
            <a:r>
              <a:rPr kumimoji="1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集成逻辑门</a:t>
            </a:r>
            <a:endParaRPr kumimoji="1" lang="zh-CN" altLang="en-US" sz="32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183" name="Picture 15" descr="D:\image\ball.gif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4102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84" name="Text Box 16"/>
          <p:cNvSpPr txBox="1">
            <a:spLocks noChangeArrowheads="1"/>
          </p:cNvSpPr>
          <p:nvPr/>
        </p:nvSpPr>
        <p:spPr bwMode="auto">
          <a:xfrm>
            <a:off x="1527175" y="5364163"/>
            <a:ext cx="2968625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en-US" altLang="zh-CN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§2-6  </a:t>
            </a:r>
            <a:r>
              <a:rPr kumimoji="1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接口问题</a:t>
            </a:r>
            <a:endParaRPr kumimoji="1" lang="zh-CN" altLang="en-US" sz="32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185" name="Picture 17" descr="D:\image\ball.gif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019800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1490663" y="5897563"/>
            <a:ext cx="100330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小结</a:t>
            </a:r>
            <a:endParaRPr kumimoji="1" lang="zh-CN" altLang="en-US" sz="32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7187" name="Picture 19" descr="D:\image\ball.gif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5" y="1814513"/>
            <a:ext cx="457200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88" name="Text Box 20"/>
          <p:cNvSpPr txBox="1">
            <a:spLocks noChangeArrowheads="1"/>
          </p:cNvSpPr>
          <p:nvPr/>
        </p:nvSpPr>
        <p:spPr bwMode="auto">
          <a:xfrm>
            <a:off x="1606550" y="1752600"/>
            <a:ext cx="1822450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32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内容概述</a:t>
            </a:r>
            <a:endParaRPr kumimoji="1" lang="zh-CN" altLang="en-US" sz="32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115" name="Picture 21" descr="E:\电子教案\MEETING.WMF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5029200"/>
            <a:ext cx="2514600" cy="1447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7177" grpId="0"/>
      <p:bldP spid="7178" grpId="0"/>
      <p:bldP spid="7179" grpId="0"/>
      <p:bldP spid="7180" grpId="0"/>
      <p:bldP spid="7182" grpId="0"/>
      <p:bldP spid="7184" grpId="0"/>
      <p:bldP spid="7186" grpId="0"/>
      <p:bldP spid="718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Rectangle 3076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838200"/>
          </a:xfr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vert="horz" wrap="square" lIns="91440" tIns="45720" rIns="91440" bIns="45720" numCol="1" anchor="ctr" anchorCtr="0" compatLnSpc="1">
            <a:flatTx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j-cs"/>
              </a:rPr>
              <a:t>§2-1  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j-cs"/>
              </a:rPr>
              <a:t>典型</a:t>
            </a:r>
            <a:r>
              <a:rPr kumimoji="1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j-cs"/>
              </a:rPr>
              <a:t>TTL</a:t>
            </a:r>
            <a:r>
              <a:rPr kumimoji="1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j-cs"/>
              </a:rPr>
              <a:t>与非门工作原理</a:t>
            </a:r>
            <a:endParaRPr kumimoji="1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隶书" panose="02010509060101010101" pitchFamily="49" charset="-122"/>
              <a:cs typeface="+mj-cs"/>
            </a:endParaRPr>
          </a:p>
        </p:txBody>
      </p:sp>
      <p:sp>
        <p:nvSpPr>
          <p:cNvPr id="8197" name="Text Box 3077"/>
          <p:cNvSpPr txBox="1"/>
          <p:nvPr/>
        </p:nvSpPr>
        <p:spPr>
          <a:xfrm>
            <a:off x="1295400" y="2209800"/>
            <a:ext cx="31242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</a:rPr>
              <a:t>TTL</a:t>
            </a:r>
            <a:r>
              <a:rPr lang="zh-CN" altLang="en-US" sz="3600" b="1" dirty="0">
                <a:solidFill>
                  <a:schemeClr val="tx2"/>
                </a:solidFill>
              </a:rPr>
              <a:t>与非门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sp>
        <p:nvSpPr>
          <p:cNvPr id="8198" name="Text Box 3078"/>
          <p:cNvSpPr txBox="1"/>
          <p:nvPr/>
        </p:nvSpPr>
        <p:spPr>
          <a:xfrm>
            <a:off x="1447800" y="3108325"/>
            <a:ext cx="46482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</a:rPr>
              <a:t>TTL</a:t>
            </a:r>
            <a:r>
              <a:rPr lang="zh-CN" altLang="en-US" sz="3600" b="1" dirty="0">
                <a:solidFill>
                  <a:schemeClr val="tx2"/>
                </a:solidFill>
              </a:rPr>
              <a:t>与非门工作原理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sp>
        <p:nvSpPr>
          <p:cNvPr id="8199" name="Text Box 3079"/>
          <p:cNvSpPr txBox="1"/>
          <p:nvPr/>
        </p:nvSpPr>
        <p:spPr>
          <a:xfrm>
            <a:off x="1371600" y="4022725"/>
            <a:ext cx="52578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</a:rPr>
              <a:t>TTL</a:t>
            </a:r>
            <a:r>
              <a:rPr lang="zh-CN" altLang="en-US" sz="3600" b="1" dirty="0">
                <a:solidFill>
                  <a:schemeClr val="tx2"/>
                </a:solidFill>
              </a:rPr>
              <a:t>与非门的工作速度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sp>
        <p:nvSpPr>
          <p:cNvPr id="8200" name="Text Box 3080"/>
          <p:cNvSpPr txBox="1"/>
          <p:nvPr/>
        </p:nvSpPr>
        <p:spPr>
          <a:xfrm>
            <a:off x="1447800" y="4937125"/>
            <a:ext cx="69342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chemeClr val="tx2"/>
                </a:solidFill>
              </a:rPr>
              <a:t>TTL</a:t>
            </a:r>
            <a:r>
              <a:rPr lang="zh-CN" altLang="en-US" sz="3600" b="1" dirty="0">
                <a:solidFill>
                  <a:schemeClr val="tx2"/>
                </a:solidFill>
              </a:rPr>
              <a:t>与非门的外特性及主要参数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pic>
        <p:nvPicPr>
          <p:cNvPr id="8201" name="Picture 3081" descr="D:\image\ball5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860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2" name="Picture 3082" descr="D:\image\ball5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004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3" name="Picture 3083" descr="D:\image\ball5.gif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148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4" name="Picture 3084" descr="D:\image\ball5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0292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31" name="Picture 3086" descr="E:\电子教案\wb00677_.gif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1400" y="5943600"/>
            <a:ext cx="6858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nimBg="1"/>
      <p:bldP spid="8197" grpId="0"/>
      <p:bldP spid="8198" grpId="0"/>
      <p:bldP spid="8199" grpId="0"/>
      <p:bldP spid="820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1026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>
            <a:flatTx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§2-2  </a:t>
            </a:r>
            <a:r>
              <a: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其它类型</a:t>
            </a:r>
            <a:r>
              <a:rPr kumimoji="1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TTL</a:t>
            </a:r>
            <a:r>
              <a: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门电路</a:t>
            </a: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5300" name="Text Box 1028"/>
          <p:cNvSpPr txBox="1"/>
          <p:nvPr/>
        </p:nvSpPr>
        <p:spPr>
          <a:xfrm>
            <a:off x="1676400" y="4267200"/>
            <a:ext cx="46482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chemeClr val="tx2"/>
                </a:solidFill>
              </a:rPr>
              <a:t>三态逻辑门（</a:t>
            </a:r>
            <a:r>
              <a:rPr lang="en-US" altLang="zh-CN" sz="3600" b="1" dirty="0">
                <a:solidFill>
                  <a:schemeClr val="tx2"/>
                </a:solidFill>
              </a:rPr>
              <a:t>TSL</a:t>
            </a:r>
            <a:r>
              <a:rPr lang="zh-CN" altLang="en-US" sz="3600" b="1" dirty="0">
                <a:solidFill>
                  <a:schemeClr val="tx2"/>
                </a:solidFill>
              </a:rPr>
              <a:t>）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pic>
        <p:nvPicPr>
          <p:cNvPr id="55302" name="Picture 1030" descr="D:\image\ball5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434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5301" name="Picture 1029" descr="D:\image\ball5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480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304" name="Text Box 1032"/>
          <p:cNvSpPr txBox="1"/>
          <p:nvPr/>
        </p:nvSpPr>
        <p:spPr>
          <a:xfrm>
            <a:off x="1828800" y="2971800"/>
            <a:ext cx="6861175" cy="64135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集电极开路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TTL</a:t>
            </a:r>
            <a:r>
              <a:rPr lang="en-US" altLang="zh-CN" sz="3600" b="1" dirty="0">
                <a:ea typeface="黑体" panose="02010609060101010101" pitchFamily="2" charset="-122"/>
              </a:rPr>
              <a:t>“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与非</a:t>
            </a:r>
            <a:r>
              <a:rPr lang="zh-CN" altLang="en-US" sz="3600" b="1" dirty="0">
                <a:ea typeface="黑体" panose="02010609060101010101" pitchFamily="2" charset="-122"/>
              </a:rPr>
              <a:t>”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门（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OC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门）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6151" name="Picture 1034" descr="E:\电子教案\wb00677_.gif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600" y="5867400"/>
            <a:ext cx="6858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animBg="1"/>
      <p:bldP spid="55300" grpId="0"/>
      <p:bldP spid="5530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1026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>
            <a:flatTx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§2-3  ECL</a:t>
            </a:r>
            <a:r>
              <a: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集成逻辑门</a:t>
            </a: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7347" name="Text Box 1027"/>
          <p:cNvSpPr txBox="1"/>
          <p:nvPr/>
        </p:nvSpPr>
        <p:spPr>
          <a:xfrm>
            <a:off x="2209800" y="2895600"/>
            <a:ext cx="48768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ECL</a:t>
            </a:r>
            <a:r>
              <a:rPr lang="en-US" altLang="zh-CN" sz="3600" b="1" dirty="0">
                <a:ea typeface="黑体" panose="02010609060101010101" pitchFamily="2" charset="-122"/>
              </a:rPr>
              <a:t>“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或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/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或非</a:t>
            </a:r>
            <a:r>
              <a:rPr lang="zh-CN" altLang="en-US" sz="3600" b="1" dirty="0">
                <a:ea typeface="黑体" panose="02010609060101010101" pitchFamily="2" charset="-122"/>
              </a:rPr>
              <a:t>”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门电路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7348" name="Text Box 1028"/>
          <p:cNvSpPr txBox="1"/>
          <p:nvPr/>
        </p:nvSpPr>
        <p:spPr>
          <a:xfrm>
            <a:off x="2209800" y="4060825"/>
            <a:ext cx="46482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ECL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门的主要优缺点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57349" name="Picture 1029" descr="D:\image\ball5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9718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350" name="Picture 1030" descr="D:\image\ball5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1529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5" name="Picture 1032" descr="E:\电子教案\wb00677_.gif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5867400"/>
            <a:ext cx="6858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nimBg="1"/>
      <p:bldP spid="57347" grpId="0"/>
      <p:bldP spid="573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6" name="Rectangle 1028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>
            <a:flatTx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§2-4  I</a:t>
            </a:r>
            <a:r>
              <a:rPr kumimoji="1" lang="en-US" altLang="zh-CN" sz="5400" b="1" i="0" u="none" strike="noStrike" kern="1200" cap="none" spc="0" normalizeH="0" baseline="3000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2</a:t>
            </a:r>
            <a:r>
              <a:rPr kumimoji="1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L</a:t>
            </a:r>
            <a:r>
              <a:rPr kumimoji="1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集成逻辑门</a:t>
            </a:r>
            <a:endParaRPr kumimoji="1" lang="zh-CN" altLang="en-US" sz="5400" b="1" i="0" u="none" strike="noStrike" kern="1200" cap="none" spc="0" normalizeH="0" baseline="0" noProof="0">
              <a:ln>
                <a:noFill/>
              </a:ln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4277" name="Text Box 1029"/>
          <p:cNvSpPr txBox="1"/>
          <p:nvPr/>
        </p:nvSpPr>
        <p:spPr>
          <a:xfrm>
            <a:off x="1676400" y="2895600"/>
            <a:ext cx="48768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3600" b="1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2 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L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基本单元电路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278" name="Text Box 1030"/>
          <p:cNvSpPr txBox="1"/>
          <p:nvPr/>
        </p:nvSpPr>
        <p:spPr>
          <a:xfrm>
            <a:off x="2286000" y="3657600"/>
            <a:ext cx="23622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3600" b="1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2 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L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门电路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54279" name="Picture 1031" descr="D:\image\ball5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9718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80" name="Picture 1032" descr="D:\image\ball5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749675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82" name="Text Box 1034"/>
          <p:cNvSpPr txBox="1"/>
          <p:nvPr/>
        </p:nvSpPr>
        <p:spPr>
          <a:xfrm>
            <a:off x="2286000" y="4495800"/>
            <a:ext cx="37338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3600" b="1" baseline="30000" dirty="0">
                <a:latin typeface="黑体" panose="02010609060101010101" pitchFamily="2" charset="-122"/>
                <a:ea typeface="黑体" panose="02010609060101010101" pitchFamily="2" charset="-122"/>
              </a:rPr>
              <a:t>2 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L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的主要优缺点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54283" name="Picture 1035" descr="D:\image\ball5.gif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56565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01" name="Picture 1036" descr="E:\电子教案\wb00677_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5791200"/>
            <a:ext cx="6858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animBg="1"/>
      <p:bldP spid="54277" grpId="0"/>
      <p:bldP spid="54278" grpId="0"/>
      <p:bldP spid="542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10668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>
            <a:flatTx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§2-5  MOS</a:t>
            </a:r>
            <a:r>
              <a: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集成逻辑门</a:t>
            </a: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8371" name="Text Box 3"/>
          <p:cNvSpPr txBox="1"/>
          <p:nvPr/>
        </p:nvSpPr>
        <p:spPr>
          <a:xfrm>
            <a:off x="2514600" y="2759075"/>
            <a:ext cx="37338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NMOS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反相器</a:t>
            </a:r>
            <a:endParaRPr lang="zh-CN" altLang="en-US" sz="4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8372" name="Text Box 4"/>
          <p:cNvSpPr txBox="1"/>
          <p:nvPr/>
        </p:nvSpPr>
        <p:spPr>
          <a:xfrm>
            <a:off x="2133600" y="3521075"/>
            <a:ext cx="4525963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NMOS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门电路</a:t>
            </a:r>
            <a:endParaRPr lang="zh-CN" altLang="en-US" sz="4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8373" name="Picture 5" descr="D:\image\ball5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895600"/>
            <a:ext cx="9906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374" name="Picture 6" descr="D:\image\ball5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673475"/>
            <a:ext cx="990600" cy="57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6" name="Text Box 8"/>
          <p:cNvSpPr txBox="1"/>
          <p:nvPr/>
        </p:nvSpPr>
        <p:spPr>
          <a:xfrm>
            <a:off x="2286000" y="4343400"/>
            <a:ext cx="4186238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CMOS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门电路</a:t>
            </a:r>
            <a:endParaRPr lang="zh-CN" altLang="en-US" sz="4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8377" name="Picture 9" descr="D:\image\ball5.gif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489450"/>
            <a:ext cx="9906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5" name="Picture 10" descr="E:\电子教案\wb00677_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5867400"/>
            <a:ext cx="6858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nimBg="1"/>
      <p:bldP spid="58371" grpId="0"/>
      <p:bldP spid="58372" grpId="0"/>
      <p:bldP spid="583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1026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>
            <a:flatTx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§2-6  </a:t>
            </a:r>
            <a:r>
              <a:rPr kumimoji="1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接口问题</a:t>
            </a:r>
            <a:endParaRPr kumimoji="1" lang="zh-CN" altLang="en-US" sz="5400" b="1" i="0" u="none" strike="noStrike" kern="1200" cap="none" spc="0" normalizeH="0" baseline="0" noProof="0">
              <a:ln>
                <a:noFill/>
              </a:ln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59395" name="Text Box 1027"/>
          <p:cNvSpPr txBox="1"/>
          <p:nvPr/>
        </p:nvSpPr>
        <p:spPr>
          <a:xfrm>
            <a:off x="2590800" y="2819400"/>
            <a:ext cx="4343400" cy="8239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zh-CN" altLang="en-US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与</a:t>
            </a:r>
            <a:r>
              <a:rPr lang="en-US" altLang="zh-CN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CMOS</a:t>
            </a:r>
            <a:r>
              <a:rPr lang="zh-CN" altLang="en-US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接口</a:t>
            </a:r>
            <a:endParaRPr lang="zh-CN" altLang="en-US" sz="4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9396" name="Text Box 1028"/>
          <p:cNvSpPr txBox="1"/>
          <p:nvPr/>
        </p:nvSpPr>
        <p:spPr>
          <a:xfrm>
            <a:off x="2590800" y="3946525"/>
            <a:ext cx="4648200" cy="8239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CMOS </a:t>
            </a:r>
            <a:r>
              <a:rPr lang="zh-CN" altLang="en-US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与</a:t>
            </a:r>
            <a:r>
              <a:rPr lang="en-US" altLang="zh-CN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zh-CN" altLang="en-US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接口</a:t>
            </a:r>
            <a:endParaRPr lang="zh-CN" altLang="en-US" sz="4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9397" name="Picture 1029" descr="D:\image\ball5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9718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9398" name="Picture 1030" descr="D:\image\ball5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130675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7" name="Picture 1032" descr="E:\电子教案\wb00677_.gif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0" y="5715000"/>
            <a:ext cx="6858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 animBg="1"/>
      <p:bldP spid="59395" grpId="0"/>
      <p:bldP spid="5939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4" name="Text Box 4"/>
          <p:cNvSpPr txBox="1"/>
          <p:nvPr/>
        </p:nvSpPr>
        <p:spPr>
          <a:xfrm>
            <a:off x="441325" y="457200"/>
            <a:ext cx="2073275" cy="579438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990000"/>
                </a:solidFill>
                <a:ea typeface="隶书" panose="02010509060101010101" pitchFamily="49" charset="-122"/>
              </a:rPr>
              <a:t>内容概述</a:t>
            </a:r>
            <a:endParaRPr lang="zh-CN" altLang="en-US" b="1" dirty="0">
              <a:solidFill>
                <a:srgbClr val="990000"/>
              </a:solidFill>
              <a:ea typeface="隶书" panose="02010509060101010101" pitchFamily="49" charset="-122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533400" y="1489075"/>
            <a:ext cx="685800" cy="2549525"/>
            <a:chOff x="240" y="576"/>
            <a:chExt cx="432" cy="1606"/>
          </a:xfrm>
        </p:grpSpPr>
        <p:sp>
          <p:nvSpPr>
            <p:cNvPr id="11290" name="Oval 6"/>
            <p:cNvSpPr/>
            <p:nvPr/>
          </p:nvSpPr>
          <p:spPr>
            <a:xfrm>
              <a:off x="240" y="576"/>
              <a:ext cx="432" cy="1606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11291" name="Text Box 7"/>
            <p:cNvSpPr txBox="1"/>
            <p:nvPr/>
          </p:nvSpPr>
          <p:spPr>
            <a:xfrm>
              <a:off x="282" y="661"/>
              <a:ext cx="342" cy="14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CC3300"/>
                  </a:solidFill>
                </a:rPr>
                <a:t>集</a:t>
              </a:r>
              <a:endParaRPr lang="zh-CN" altLang="en-US" sz="2800" b="1" dirty="0">
                <a:solidFill>
                  <a:srgbClr val="CC3300"/>
                </a:solidFill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CC3300"/>
                  </a:solidFill>
                </a:rPr>
                <a:t>成</a:t>
              </a:r>
              <a:endParaRPr lang="zh-CN" altLang="en-US" sz="2800" b="1" dirty="0">
                <a:solidFill>
                  <a:srgbClr val="CC3300"/>
                </a:solidFill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CC3300"/>
                  </a:solidFill>
                </a:rPr>
                <a:t>逻</a:t>
              </a:r>
              <a:endParaRPr lang="zh-CN" altLang="en-US" sz="2800" b="1" dirty="0">
                <a:solidFill>
                  <a:srgbClr val="CC3300"/>
                </a:solidFill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CC3300"/>
                  </a:solidFill>
                </a:rPr>
                <a:t>辑</a:t>
              </a:r>
              <a:endParaRPr lang="zh-CN" altLang="en-US" sz="2800" b="1" dirty="0">
                <a:solidFill>
                  <a:srgbClr val="CC3300"/>
                </a:solidFill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CC3300"/>
                  </a:solidFill>
                </a:rPr>
                <a:t>门</a:t>
              </a:r>
              <a:endParaRPr lang="zh-CN" altLang="en-US" sz="2800" b="1" dirty="0"/>
            </a:p>
          </p:txBody>
        </p:sp>
      </p:grpSp>
      <p:sp>
        <p:nvSpPr>
          <p:cNvPr id="10250" name="Text Box 10"/>
          <p:cNvSpPr txBox="1"/>
          <p:nvPr/>
        </p:nvSpPr>
        <p:spPr>
          <a:xfrm>
            <a:off x="4038600" y="1447800"/>
            <a:ext cx="3124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双极型集成逻辑门</a:t>
            </a:r>
            <a:endParaRPr lang="zh-CN" altLang="en-US" sz="2800" b="1" dirty="0"/>
          </a:p>
        </p:txBody>
      </p:sp>
      <p:sp>
        <p:nvSpPr>
          <p:cNvPr id="10251" name="Text Box 11"/>
          <p:cNvSpPr txBox="1"/>
          <p:nvPr/>
        </p:nvSpPr>
        <p:spPr>
          <a:xfrm>
            <a:off x="4114800" y="2286000"/>
            <a:ext cx="2819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MOS</a:t>
            </a:r>
            <a:r>
              <a:rPr lang="zh-CN" altLang="en-US" sz="2400" b="1" dirty="0"/>
              <a:t>集成逻辑门</a:t>
            </a:r>
            <a:endParaRPr lang="zh-CN" altLang="en-US" sz="2400" b="1" dirty="0"/>
          </a:p>
        </p:txBody>
      </p:sp>
      <p:sp>
        <p:nvSpPr>
          <p:cNvPr id="10271" name="Rectangle 31"/>
          <p:cNvSpPr/>
          <p:nvPr/>
        </p:nvSpPr>
        <p:spPr>
          <a:xfrm>
            <a:off x="304800" y="1295400"/>
            <a:ext cx="8458200" cy="32766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0272" name="Text Box 32"/>
          <p:cNvSpPr txBox="1"/>
          <p:nvPr/>
        </p:nvSpPr>
        <p:spPr>
          <a:xfrm>
            <a:off x="1447800" y="1981200"/>
            <a:ext cx="20256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按器件类型分</a:t>
            </a:r>
            <a:endParaRPr lang="zh-CN" altLang="en-US" sz="2400" dirty="0"/>
          </a:p>
        </p:txBody>
      </p:sp>
      <p:sp>
        <p:nvSpPr>
          <p:cNvPr id="10273" name="AutoShape 33"/>
          <p:cNvSpPr/>
          <p:nvPr/>
        </p:nvSpPr>
        <p:spPr>
          <a:xfrm>
            <a:off x="3581400" y="1676400"/>
            <a:ext cx="457200" cy="990600"/>
          </a:xfrm>
          <a:prstGeom prst="leftBrace">
            <a:avLst>
              <a:gd name="adj1" fmla="val 18055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3" name="Group 49"/>
          <p:cNvGrpSpPr/>
          <p:nvPr/>
        </p:nvGrpSpPr>
        <p:grpSpPr>
          <a:xfrm>
            <a:off x="6705600" y="990600"/>
            <a:ext cx="2438400" cy="1447800"/>
            <a:chOff x="4224" y="624"/>
            <a:chExt cx="1536" cy="912"/>
          </a:xfrm>
        </p:grpSpPr>
        <p:sp>
          <p:nvSpPr>
            <p:cNvPr id="11288" name="AutoShape 37"/>
            <p:cNvSpPr/>
            <p:nvPr/>
          </p:nvSpPr>
          <p:spPr>
            <a:xfrm>
              <a:off x="4224" y="624"/>
              <a:ext cx="1248" cy="912"/>
            </a:xfrm>
            <a:prstGeom prst="wedgeEllipseCallout">
              <a:avLst>
                <a:gd name="adj1" fmla="val -69870"/>
                <a:gd name="adj2" fmla="val 54935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11289" name="Text Box 38"/>
            <p:cNvSpPr txBox="1"/>
            <p:nvPr/>
          </p:nvSpPr>
          <p:spPr>
            <a:xfrm>
              <a:off x="4512" y="720"/>
              <a:ext cx="1248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PMOS</a:t>
              </a:r>
              <a:endParaRPr lang="en-US" altLang="zh-CN" sz="2400" b="1" dirty="0">
                <a:solidFill>
                  <a:srgbClr val="CC3300"/>
                </a:solidFill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NMOS</a:t>
              </a:r>
              <a:endParaRPr lang="en-US" altLang="zh-CN" sz="2400" b="1" dirty="0">
                <a:solidFill>
                  <a:srgbClr val="CC3300"/>
                </a:solidFill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CMOS</a:t>
              </a:r>
              <a:endParaRPr lang="en-US" altLang="zh-CN" sz="2400" b="1" dirty="0"/>
            </a:p>
          </p:txBody>
        </p:sp>
      </p:grpSp>
      <p:sp>
        <p:nvSpPr>
          <p:cNvPr id="10279" name="Text Box 39"/>
          <p:cNvSpPr txBox="1"/>
          <p:nvPr/>
        </p:nvSpPr>
        <p:spPr>
          <a:xfrm>
            <a:off x="1447800" y="3200400"/>
            <a:ext cx="17113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按集成度分</a:t>
            </a:r>
            <a:endParaRPr lang="zh-CN" altLang="en-US" sz="2400" dirty="0"/>
          </a:p>
        </p:txBody>
      </p:sp>
      <p:sp>
        <p:nvSpPr>
          <p:cNvPr id="10280" name="AutoShape 40"/>
          <p:cNvSpPr/>
          <p:nvPr/>
        </p:nvSpPr>
        <p:spPr>
          <a:xfrm>
            <a:off x="3429000" y="2971800"/>
            <a:ext cx="533400" cy="1219200"/>
          </a:xfrm>
          <a:prstGeom prst="leftBrace">
            <a:avLst>
              <a:gd name="adj1" fmla="val 19047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0281" name="Text Box 41"/>
          <p:cNvSpPr txBox="1"/>
          <p:nvPr/>
        </p:nvSpPr>
        <p:spPr>
          <a:xfrm>
            <a:off x="4005263" y="2743200"/>
            <a:ext cx="35512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SSI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100</a:t>
            </a:r>
            <a:r>
              <a:rPr lang="zh-CN" altLang="en-US" sz="2400" b="1" dirty="0"/>
              <a:t>以下</a:t>
            </a:r>
            <a:r>
              <a:rPr lang="zh-CN" altLang="en-US" sz="2400" b="1" dirty="0">
                <a:latin typeface="宋体" panose="02010600030101010101" pitchFamily="2" charset="-122"/>
              </a:rPr>
              <a:t>个等效门）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0282" name="Text Box 42"/>
          <p:cNvSpPr txBox="1"/>
          <p:nvPr/>
        </p:nvSpPr>
        <p:spPr>
          <a:xfrm>
            <a:off x="3962400" y="3124200"/>
            <a:ext cx="33099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MSI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〈</a:t>
            </a:r>
            <a:r>
              <a:rPr lang="en-US" altLang="zh-CN" sz="2400" b="1" dirty="0">
                <a:latin typeface="宋体" panose="02010600030101010101" pitchFamily="2" charset="-122"/>
              </a:rPr>
              <a:t>10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个等效门）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0283" name="Text Box 43"/>
          <p:cNvSpPr txBox="1"/>
          <p:nvPr/>
        </p:nvSpPr>
        <p:spPr>
          <a:xfrm>
            <a:off x="3962400" y="3505200"/>
            <a:ext cx="330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LSI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〈</a:t>
            </a:r>
            <a:r>
              <a:rPr lang="en-US" altLang="zh-CN" sz="2400" b="1" dirty="0">
                <a:latin typeface="宋体" panose="02010600030101010101" pitchFamily="2" charset="-122"/>
              </a:rPr>
              <a:t>10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个等效门）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0284" name="Text Box 44"/>
          <p:cNvSpPr txBox="1"/>
          <p:nvPr/>
        </p:nvSpPr>
        <p:spPr>
          <a:xfrm>
            <a:off x="3962400" y="3962400"/>
            <a:ext cx="39401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VLSI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&gt;</a:t>
            </a:r>
            <a:r>
              <a:rPr lang="en-US" altLang="zh-CN" sz="2400" b="1" dirty="0">
                <a:latin typeface="宋体" panose="02010600030101010101" pitchFamily="2" charset="-122"/>
              </a:rPr>
              <a:t>10</a:t>
            </a:r>
            <a:r>
              <a:rPr lang="en-US" altLang="zh-CN" sz="2400" b="1" baseline="30000" dirty="0"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个以上等效门）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4" name="Group 50"/>
          <p:cNvGrpSpPr/>
          <p:nvPr/>
        </p:nvGrpSpPr>
        <p:grpSpPr>
          <a:xfrm>
            <a:off x="2971800" y="4800600"/>
            <a:ext cx="1981200" cy="685800"/>
            <a:chOff x="1872" y="3024"/>
            <a:chExt cx="1248" cy="432"/>
          </a:xfrm>
        </p:grpSpPr>
        <p:sp>
          <p:nvSpPr>
            <p:cNvPr id="11286" name="Oval 45"/>
            <p:cNvSpPr/>
            <p:nvPr/>
          </p:nvSpPr>
          <p:spPr>
            <a:xfrm>
              <a:off x="1872" y="3024"/>
              <a:ext cx="1248" cy="432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11287" name="Text Box 46"/>
            <p:cNvSpPr txBox="1"/>
            <p:nvPr/>
          </p:nvSpPr>
          <p:spPr>
            <a:xfrm>
              <a:off x="2064" y="3120"/>
              <a:ext cx="8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本章内容</a:t>
              </a:r>
              <a:endParaRPr lang="zh-CN" altLang="en-US" sz="2400" b="1" dirty="0"/>
            </a:p>
          </p:txBody>
        </p:sp>
      </p:grpSp>
      <p:sp>
        <p:nvSpPr>
          <p:cNvPr id="10288" name="Text Box 48"/>
          <p:cNvSpPr txBox="1"/>
          <p:nvPr/>
        </p:nvSpPr>
        <p:spPr>
          <a:xfrm>
            <a:off x="762000" y="5715000"/>
            <a:ext cx="7162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基本逻辑门的基本结构、工作原理以及外部特性</a:t>
            </a:r>
            <a:endParaRPr lang="zh-CN" altLang="en-US" sz="2400" dirty="0"/>
          </a:p>
        </p:txBody>
      </p:sp>
      <p:pic>
        <p:nvPicPr>
          <p:cNvPr id="11282" name="Picture 52" descr="E:\电子教案\wb00677_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5867400"/>
            <a:ext cx="685800" cy="4572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" name="Group 35"/>
          <p:cNvGrpSpPr/>
          <p:nvPr/>
        </p:nvGrpSpPr>
        <p:grpSpPr>
          <a:xfrm>
            <a:off x="6858000" y="0"/>
            <a:ext cx="2209800" cy="1447800"/>
            <a:chOff x="4320" y="0"/>
            <a:chExt cx="1392" cy="912"/>
          </a:xfrm>
        </p:grpSpPr>
        <p:sp>
          <p:nvSpPr>
            <p:cNvPr id="11284" name="AutoShape 34"/>
            <p:cNvSpPr/>
            <p:nvPr/>
          </p:nvSpPr>
          <p:spPr>
            <a:xfrm>
              <a:off x="4320" y="0"/>
              <a:ext cx="1248" cy="912"/>
            </a:xfrm>
            <a:prstGeom prst="wedgeEllipseCallout">
              <a:avLst>
                <a:gd name="adj1" fmla="val -69870"/>
                <a:gd name="adj2" fmla="val 54935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11285" name="Text Box 20"/>
            <p:cNvSpPr txBox="1"/>
            <p:nvPr/>
          </p:nvSpPr>
          <p:spPr>
            <a:xfrm>
              <a:off x="4464" y="202"/>
              <a:ext cx="124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TTL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ECL</a:t>
              </a:r>
              <a:endParaRPr lang="en-US" altLang="zh-CN" sz="2400" b="1" dirty="0">
                <a:solidFill>
                  <a:srgbClr val="CC3300"/>
                </a:solidFill>
              </a:endParaRP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I</a:t>
              </a:r>
              <a:r>
                <a:rPr lang="en-US" altLang="zh-CN" sz="2400" b="1" baseline="30000" dirty="0">
                  <a:solidFill>
                    <a:srgbClr val="CC3300"/>
                  </a:solidFill>
                </a:rPr>
                <a:t>2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L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HTL</a:t>
              </a:r>
              <a:endParaRPr lang="en-US" altLang="zh-CN" sz="2400" b="1" dirty="0"/>
            </a:p>
          </p:txBody>
        </p:sp>
      </p:grp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nimBg="1"/>
      <p:bldP spid="10250" grpId="0"/>
      <p:bldP spid="10251" grpId="0"/>
      <p:bldP spid="10271" grpId="0" animBg="1"/>
      <p:bldP spid="10272" grpId="0"/>
      <p:bldP spid="10273" grpId="0" animBg="1"/>
      <p:bldP spid="10279" grpId="0"/>
      <p:bldP spid="10280" grpId="0" animBg="1"/>
      <p:bldP spid="10281" grpId="0"/>
      <p:bldP spid="10282" grpId="0"/>
      <p:bldP spid="10283" grpId="0"/>
      <p:bldP spid="10284" grpId="0"/>
      <p:bldP spid="1028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228600" y="1447800"/>
          <a:ext cx="8915400" cy="448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400425" imgH="2524125" progId="Paint.Picture">
                  <p:embed/>
                </p:oleObj>
              </mc:Choice>
              <mc:Fallback>
                <p:oleObj name="" r:id="rId1" imgW="3400425" imgH="2524125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" y="1447800"/>
                        <a:ext cx="8915400" cy="4484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 Box 4"/>
          <p:cNvSpPr txBox="1"/>
          <p:nvPr/>
        </p:nvSpPr>
        <p:spPr>
          <a:xfrm>
            <a:off x="822325" y="244475"/>
            <a:ext cx="318135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zh-CN" altLang="en-US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与非门电路</a:t>
            </a:r>
            <a:endParaRPr lang="zh-CN" altLang="en-US" sz="3600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1278" name="Rectangle 14"/>
          <p:cNvSpPr/>
          <p:nvPr/>
        </p:nvSpPr>
        <p:spPr>
          <a:xfrm>
            <a:off x="1752600" y="1447800"/>
            <a:ext cx="2971800" cy="3733800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2" name="Group 21"/>
          <p:cNvGrpSpPr/>
          <p:nvPr/>
        </p:nvGrpSpPr>
        <p:grpSpPr>
          <a:xfrm>
            <a:off x="304800" y="381000"/>
            <a:ext cx="3352800" cy="1828800"/>
            <a:chOff x="192" y="240"/>
            <a:chExt cx="2112" cy="1152"/>
          </a:xfrm>
        </p:grpSpPr>
        <p:sp>
          <p:nvSpPr>
            <p:cNvPr id="12304" name="AutoShape 15"/>
            <p:cNvSpPr/>
            <p:nvPr/>
          </p:nvSpPr>
          <p:spPr>
            <a:xfrm>
              <a:off x="192" y="240"/>
              <a:ext cx="2112" cy="1152"/>
            </a:xfrm>
            <a:prstGeom prst="wedgeRoundRectCallout">
              <a:avLst>
                <a:gd name="adj1" fmla="val 26801"/>
                <a:gd name="adj2" fmla="val 71616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12305" name="Text Box 17"/>
            <p:cNvSpPr txBox="1"/>
            <p:nvPr/>
          </p:nvSpPr>
          <p:spPr>
            <a:xfrm>
              <a:off x="192" y="336"/>
              <a:ext cx="2064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输入级由多发射极晶体管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1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和基极电组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1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组成，它实现了输入变量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A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B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C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的与运算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11286" name="Rectangle 22"/>
          <p:cNvSpPr/>
          <p:nvPr/>
        </p:nvSpPr>
        <p:spPr>
          <a:xfrm>
            <a:off x="4800600" y="1447800"/>
            <a:ext cx="1295400" cy="3733800"/>
          </a:xfrm>
          <a:prstGeom prst="rect">
            <a:avLst/>
          </a:prstGeom>
          <a:noFill/>
          <a:ln w="3810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1290" name="Rectangle 26"/>
          <p:cNvSpPr/>
          <p:nvPr/>
        </p:nvSpPr>
        <p:spPr>
          <a:xfrm>
            <a:off x="6172200" y="1447800"/>
            <a:ext cx="2667000" cy="3733800"/>
          </a:xfrm>
          <a:prstGeom prst="rect">
            <a:avLst/>
          </a:prstGeom>
          <a:noFill/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3" name="Group 28"/>
          <p:cNvGrpSpPr/>
          <p:nvPr/>
        </p:nvGrpSpPr>
        <p:grpSpPr>
          <a:xfrm>
            <a:off x="685800" y="4876800"/>
            <a:ext cx="5410200" cy="1524000"/>
            <a:chOff x="480" y="3072"/>
            <a:chExt cx="3408" cy="960"/>
          </a:xfrm>
        </p:grpSpPr>
        <p:sp>
          <p:nvSpPr>
            <p:cNvPr id="12302" name="AutoShape 27"/>
            <p:cNvSpPr/>
            <p:nvPr/>
          </p:nvSpPr>
          <p:spPr>
            <a:xfrm>
              <a:off x="480" y="3072"/>
              <a:ext cx="3360" cy="960"/>
            </a:xfrm>
            <a:prstGeom prst="wedgeRoundRectCallout">
              <a:avLst>
                <a:gd name="adj1" fmla="val 64972"/>
                <a:gd name="adj2" fmla="val -66667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12303" name="Text Box 13"/>
            <p:cNvSpPr txBox="1"/>
            <p:nvPr/>
          </p:nvSpPr>
          <p:spPr>
            <a:xfrm>
              <a:off x="576" y="3140"/>
              <a:ext cx="3312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输出级：由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3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4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5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和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4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5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组成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其中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3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4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构成复合管，与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5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组成推拉式输出结构。具有较强的负载能力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pic>
        <p:nvPicPr>
          <p:cNvPr id="12297" name="Picture 36" descr="E:\电子教案\wb01508_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60198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8" name="Text Box 37">
            <a:hlinkClick r:id="rId3" action="ppaction://hlinksldjump"/>
          </p:cNvPr>
          <p:cNvSpPr txBox="1"/>
          <p:nvPr/>
        </p:nvSpPr>
        <p:spPr>
          <a:xfrm>
            <a:off x="7848600" y="60198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  <p:grpSp>
        <p:nvGrpSpPr>
          <p:cNvPr id="4" name="Group 39"/>
          <p:cNvGrpSpPr/>
          <p:nvPr/>
        </p:nvGrpSpPr>
        <p:grpSpPr>
          <a:xfrm>
            <a:off x="4495800" y="0"/>
            <a:ext cx="4572000" cy="2133600"/>
            <a:chOff x="2832" y="0"/>
            <a:chExt cx="2880" cy="1344"/>
          </a:xfrm>
        </p:grpSpPr>
        <p:sp>
          <p:nvSpPr>
            <p:cNvPr id="12300" name="AutoShape 23"/>
            <p:cNvSpPr/>
            <p:nvPr/>
          </p:nvSpPr>
          <p:spPr>
            <a:xfrm>
              <a:off x="2832" y="0"/>
              <a:ext cx="2880" cy="1344"/>
            </a:xfrm>
            <a:prstGeom prst="wedgeRoundRectCallout">
              <a:avLst>
                <a:gd name="adj1" fmla="val -35833"/>
                <a:gd name="adj2" fmla="val 89361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12301" name="Text Box 12"/>
            <p:cNvSpPr txBox="1"/>
            <p:nvPr/>
          </p:nvSpPr>
          <p:spPr>
            <a:xfrm>
              <a:off x="2976" y="192"/>
              <a:ext cx="2544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中间级是放大级，由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2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2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和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3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组成，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2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的集电极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2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和发射极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E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2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可以分提供两个相位相反的电压信号</a:t>
              </a:r>
              <a:endParaRPr lang="zh-CN" altLang="en-US" sz="2400" dirty="0">
                <a:solidFill>
                  <a:srgbClr val="CC3300"/>
                </a:solidFill>
              </a:endParaRPr>
            </a:p>
          </p:txBody>
        </p:sp>
      </p:grp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nimBg="1"/>
      <p:bldP spid="11278" grpId="0" animBg="1"/>
      <p:bldP spid="11286" grpId="0" animBg="1"/>
      <p:bldP spid="1129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3810000" y="990600"/>
          <a:ext cx="5140325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400425" imgH="2524125" progId="Paint.Picture">
                  <p:embed/>
                </p:oleObj>
              </mc:Choice>
              <mc:Fallback>
                <p:oleObj name="" r:id="rId1" imgW="3400425" imgH="252412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0" y="990600"/>
                        <a:ext cx="5140325" cy="556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8"/>
          <p:cNvGrpSpPr/>
          <p:nvPr/>
        </p:nvGrpSpPr>
        <p:grpSpPr>
          <a:xfrm>
            <a:off x="5029200" y="1524000"/>
            <a:ext cx="2971800" cy="1371600"/>
            <a:chOff x="3168" y="960"/>
            <a:chExt cx="1872" cy="864"/>
          </a:xfrm>
        </p:grpSpPr>
        <p:grpSp>
          <p:nvGrpSpPr>
            <p:cNvPr id="13341" name="Group 47"/>
            <p:cNvGrpSpPr/>
            <p:nvPr/>
          </p:nvGrpSpPr>
          <p:grpSpPr>
            <a:xfrm>
              <a:off x="3168" y="960"/>
              <a:ext cx="384" cy="864"/>
              <a:chOff x="3168" y="960"/>
              <a:chExt cx="384" cy="864"/>
            </a:xfrm>
          </p:grpSpPr>
          <p:grpSp>
            <p:nvGrpSpPr>
              <p:cNvPr id="13343" name="Group 18"/>
              <p:cNvGrpSpPr/>
              <p:nvPr/>
            </p:nvGrpSpPr>
            <p:grpSpPr>
              <a:xfrm>
                <a:off x="3168" y="1056"/>
                <a:ext cx="384" cy="768"/>
                <a:chOff x="3168" y="1152"/>
                <a:chExt cx="288" cy="624"/>
              </a:xfrm>
            </p:grpSpPr>
            <p:sp>
              <p:nvSpPr>
                <p:cNvPr id="13345" name="Line 14"/>
                <p:cNvSpPr/>
                <p:nvPr/>
              </p:nvSpPr>
              <p:spPr>
                <a:xfrm>
                  <a:off x="3456" y="1152"/>
                  <a:ext cx="0" cy="624"/>
                </a:xfrm>
                <a:prstGeom prst="line">
                  <a:avLst/>
                </a:prstGeom>
                <a:ln w="57150" cap="flat" cmpd="sng">
                  <a:solidFill>
                    <a:srgbClr val="CC33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46" name="Line 17"/>
                <p:cNvSpPr/>
                <p:nvPr/>
              </p:nvSpPr>
              <p:spPr>
                <a:xfrm flipH="1">
                  <a:off x="3168" y="1776"/>
                  <a:ext cx="288" cy="0"/>
                </a:xfrm>
                <a:prstGeom prst="line">
                  <a:avLst/>
                </a:prstGeom>
                <a:ln w="57150" cap="flat" cmpd="sng">
                  <a:solidFill>
                    <a:srgbClr val="CC33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3344" name="Line 32"/>
              <p:cNvSpPr/>
              <p:nvPr/>
            </p:nvSpPr>
            <p:spPr>
              <a:xfrm flipV="1">
                <a:off x="3552" y="960"/>
                <a:ext cx="0" cy="144"/>
              </a:xfrm>
              <a:prstGeom prst="line">
                <a:avLst/>
              </a:prstGeom>
              <a:ln w="57150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3342" name="Line 33"/>
            <p:cNvSpPr/>
            <p:nvPr/>
          </p:nvSpPr>
          <p:spPr>
            <a:xfrm>
              <a:off x="3552" y="960"/>
              <a:ext cx="1488" cy="0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317" name="Text Box 5"/>
          <p:cNvSpPr txBox="1"/>
          <p:nvPr/>
        </p:nvSpPr>
        <p:spPr>
          <a:xfrm>
            <a:off x="381000" y="214313"/>
            <a:ext cx="41021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zh-CN" altLang="en-US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与非门工作原理</a:t>
            </a:r>
            <a:endParaRPr lang="zh-CN" altLang="en-US" sz="3600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318" name="Rectangle 6"/>
          <p:cNvSpPr/>
          <p:nvPr/>
        </p:nvSpPr>
        <p:spPr>
          <a:xfrm>
            <a:off x="381000" y="1143000"/>
            <a:ext cx="3276600" cy="54102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3319" name="Text Box 7"/>
          <p:cNvSpPr txBox="1"/>
          <p:nvPr/>
        </p:nvSpPr>
        <p:spPr>
          <a:xfrm>
            <a:off x="609600" y="1112838"/>
            <a:ext cx="30480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>
                <a:latin typeface="宋体" panose="02010600030101010101" pitchFamily="2" charset="-122"/>
              </a:rPr>
              <a:t>输入端至少有一个接低电平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3320" name="Text Box 8"/>
          <p:cNvSpPr txBox="1"/>
          <p:nvPr/>
        </p:nvSpPr>
        <p:spPr>
          <a:xfrm>
            <a:off x="4038600" y="30480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0 .3V</a:t>
            </a:r>
            <a:endParaRPr lang="en-US" altLang="zh-CN" sz="2400" b="1" dirty="0"/>
          </a:p>
        </p:txBody>
      </p:sp>
      <p:sp>
        <p:nvSpPr>
          <p:cNvPr id="13321" name="Text Box 9"/>
          <p:cNvSpPr txBox="1"/>
          <p:nvPr/>
        </p:nvSpPr>
        <p:spPr>
          <a:xfrm>
            <a:off x="4038600" y="33528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 .6V</a:t>
            </a:r>
            <a:endParaRPr lang="en-US" altLang="zh-CN" sz="2400" b="1" dirty="0"/>
          </a:p>
        </p:txBody>
      </p:sp>
      <p:sp>
        <p:nvSpPr>
          <p:cNvPr id="13322" name="Text Box 10"/>
          <p:cNvSpPr txBox="1"/>
          <p:nvPr/>
        </p:nvSpPr>
        <p:spPr>
          <a:xfrm>
            <a:off x="4038600" y="36576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 .6V</a:t>
            </a:r>
            <a:endParaRPr lang="en-US" altLang="zh-CN" sz="2400" b="1" dirty="0"/>
          </a:p>
        </p:txBody>
      </p:sp>
      <p:sp>
        <p:nvSpPr>
          <p:cNvPr id="13331" name="Text Box 19"/>
          <p:cNvSpPr txBox="1"/>
          <p:nvPr/>
        </p:nvSpPr>
        <p:spPr>
          <a:xfrm>
            <a:off x="5999163" y="2590800"/>
            <a:ext cx="554037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1V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3" name="Text Box 31"/>
          <p:cNvSpPr txBox="1"/>
          <p:nvPr/>
        </p:nvSpPr>
        <p:spPr>
          <a:xfrm>
            <a:off x="8153400" y="28956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9900"/>
                </a:solidFill>
              </a:rPr>
              <a:t>3 .6V</a:t>
            </a:r>
            <a:endParaRPr lang="en-US" altLang="zh-CN" sz="2400" b="1" dirty="0">
              <a:solidFill>
                <a:srgbClr val="009900"/>
              </a:solidFill>
            </a:endParaRPr>
          </a:p>
        </p:txBody>
      </p:sp>
      <p:grpSp>
        <p:nvGrpSpPr>
          <p:cNvPr id="5" name="Group 49"/>
          <p:cNvGrpSpPr/>
          <p:nvPr/>
        </p:nvGrpSpPr>
        <p:grpSpPr>
          <a:xfrm>
            <a:off x="7162800" y="1752600"/>
            <a:ext cx="1371600" cy="1676400"/>
            <a:chOff x="4512" y="1104"/>
            <a:chExt cx="864" cy="1056"/>
          </a:xfrm>
        </p:grpSpPr>
        <p:sp>
          <p:nvSpPr>
            <p:cNvPr id="13333" name="Line 35"/>
            <p:cNvSpPr/>
            <p:nvPr/>
          </p:nvSpPr>
          <p:spPr>
            <a:xfrm>
              <a:off x="4512" y="1104"/>
              <a:ext cx="432" cy="0"/>
            </a:xfrm>
            <a:prstGeom prst="line">
              <a:avLst/>
            </a:prstGeom>
            <a:ln w="571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3334" name="Group 37"/>
            <p:cNvGrpSpPr/>
            <p:nvPr/>
          </p:nvGrpSpPr>
          <p:grpSpPr>
            <a:xfrm>
              <a:off x="4512" y="1104"/>
              <a:ext cx="864" cy="1056"/>
              <a:chOff x="4512" y="1104"/>
              <a:chExt cx="864" cy="1056"/>
            </a:xfrm>
          </p:grpSpPr>
          <p:grpSp>
            <p:nvGrpSpPr>
              <p:cNvPr id="13335" name="Group 30"/>
              <p:cNvGrpSpPr/>
              <p:nvPr/>
            </p:nvGrpSpPr>
            <p:grpSpPr>
              <a:xfrm>
                <a:off x="4512" y="1104"/>
                <a:ext cx="864" cy="1056"/>
                <a:chOff x="4512" y="1152"/>
                <a:chExt cx="672" cy="1056"/>
              </a:xfrm>
            </p:grpSpPr>
            <p:sp>
              <p:nvSpPr>
                <p:cNvPr id="13337" name="Line 23"/>
                <p:cNvSpPr/>
                <p:nvPr/>
              </p:nvSpPr>
              <p:spPr>
                <a:xfrm>
                  <a:off x="4512" y="1152"/>
                  <a:ext cx="0" cy="912"/>
                </a:xfrm>
                <a:prstGeom prst="line">
                  <a:avLst/>
                </a:prstGeom>
                <a:ln w="57150" cap="flat" cmpd="sng">
                  <a:solidFill>
                    <a:srgbClr val="339966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38" name="Line 24"/>
                <p:cNvSpPr/>
                <p:nvPr/>
              </p:nvSpPr>
              <p:spPr>
                <a:xfrm>
                  <a:off x="4512" y="2064"/>
                  <a:ext cx="240" cy="144"/>
                </a:xfrm>
                <a:prstGeom prst="line">
                  <a:avLst/>
                </a:prstGeom>
                <a:ln w="57150" cap="flat" cmpd="sng">
                  <a:solidFill>
                    <a:srgbClr val="339966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39" name="Line 26"/>
                <p:cNvSpPr/>
                <p:nvPr/>
              </p:nvSpPr>
              <p:spPr>
                <a:xfrm>
                  <a:off x="4752" y="2208"/>
                  <a:ext cx="336" cy="0"/>
                </a:xfrm>
                <a:prstGeom prst="line">
                  <a:avLst/>
                </a:prstGeom>
                <a:ln w="57150" cap="flat" cmpd="sng">
                  <a:solidFill>
                    <a:srgbClr val="339966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340" name="Line 29"/>
                <p:cNvSpPr/>
                <p:nvPr/>
              </p:nvSpPr>
              <p:spPr>
                <a:xfrm>
                  <a:off x="5088" y="2208"/>
                  <a:ext cx="96" cy="0"/>
                </a:xfrm>
                <a:prstGeom prst="line">
                  <a:avLst/>
                </a:prstGeom>
                <a:ln w="57150" cap="flat" cmpd="sng">
                  <a:solidFill>
                    <a:srgbClr val="339966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3336" name="Line 36"/>
              <p:cNvSpPr/>
              <p:nvPr/>
            </p:nvSpPr>
            <p:spPr>
              <a:xfrm>
                <a:off x="5184" y="1152"/>
                <a:ext cx="0" cy="1008"/>
              </a:xfrm>
              <a:prstGeom prst="line">
                <a:avLst/>
              </a:prstGeom>
              <a:ln w="57150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3351" name="Text Box 39"/>
          <p:cNvSpPr txBox="1"/>
          <p:nvPr/>
        </p:nvSpPr>
        <p:spPr>
          <a:xfrm>
            <a:off x="533400" y="1876425"/>
            <a:ext cx="3124200" cy="15525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管</a:t>
            </a:r>
            <a:r>
              <a:rPr lang="en-US" altLang="zh-CN" sz="2400" b="1" dirty="0">
                <a:latin typeface="宋体" panose="02010600030101010101" pitchFamily="2" charset="-122"/>
              </a:rPr>
              <a:t>:A</a:t>
            </a:r>
            <a:r>
              <a:rPr lang="zh-CN" altLang="en-US" sz="2400" b="1" dirty="0">
                <a:latin typeface="宋体" panose="02010600030101010101" pitchFamily="2" charset="-122"/>
              </a:rPr>
              <a:t>端发射结导通，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b1</a:t>
            </a:r>
            <a:r>
              <a:rPr lang="en-US" altLang="zh-CN" sz="2400" b="1" dirty="0">
                <a:latin typeface="宋体" panose="02010600030101010101" pitchFamily="2" charset="-122"/>
              </a:rPr>
              <a:t> = 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A</a:t>
            </a:r>
            <a:r>
              <a:rPr lang="en-US" altLang="zh-CN" sz="2400" b="1" dirty="0">
                <a:latin typeface="宋体" panose="02010600030101010101" pitchFamily="2" charset="-122"/>
              </a:rPr>
              <a:t> + 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be1</a:t>
            </a:r>
            <a:r>
              <a:rPr lang="en-US" altLang="zh-CN" sz="2400" b="1" dirty="0">
                <a:latin typeface="宋体" panose="02010600030101010101" pitchFamily="2" charset="-122"/>
              </a:rPr>
              <a:t> = 1V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其它发射结均因反偏而截止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13353" name="Object 41"/>
          <p:cNvGraphicFramePr>
            <a:graphicFrameLocks noChangeAspect="1"/>
          </p:cNvGraphicFramePr>
          <p:nvPr/>
        </p:nvGraphicFramePr>
        <p:xfrm>
          <a:off x="533400" y="5522913"/>
          <a:ext cx="25908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447800" imgH="228600" progId="Equation.3">
                  <p:embed/>
                </p:oleObj>
              </mc:Choice>
              <mc:Fallback>
                <p:oleObj name="" r:id="rId3" imgW="1447800" imgH="2286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" y="5522913"/>
                        <a:ext cx="2590800" cy="496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56" name="Text Box 44"/>
          <p:cNvSpPr txBox="1"/>
          <p:nvPr/>
        </p:nvSpPr>
        <p:spPr>
          <a:xfrm>
            <a:off x="609600" y="6019800"/>
            <a:ext cx="2317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 5-0.7-0.7=3.6V</a:t>
            </a:r>
            <a:endParaRPr lang="en-US" altLang="zh-CN" sz="2400" b="1" dirty="0"/>
          </a:p>
        </p:txBody>
      </p:sp>
      <p:sp>
        <p:nvSpPr>
          <p:cNvPr id="13357" name="Text Box 45"/>
          <p:cNvSpPr txBox="1"/>
          <p:nvPr/>
        </p:nvSpPr>
        <p:spPr>
          <a:xfrm>
            <a:off x="533400" y="3368675"/>
            <a:ext cx="29718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b1</a:t>
            </a:r>
            <a:r>
              <a:rPr lang="en-US" altLang="zh-CN" sz="2400" b="1" dirty="0">
                <a:latin typeface="宋体" panose="02010600030101010101" pitchFamily="2" charset="-122"/>
              </a:rPr>
              <a:t> =1V,</a:t>
            </a:r>
            <a:r>
              <a:rPr lang="zh-CN" altLang="en-US" sz="2400" b="1" dirty="0">
                <a:latin typeface="宋体" panose="02010600030101010101" pitchFamily="2" charset="-122"/>
              </a:rPr>
              <a:t>所以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宋体" panose="02010600030101010101" pitchFamily="2" charset="-122"/>
              </a:rPr>
              <a:t>截止</a:t>
            </a:r>
            <a:r>
              <a:rPr lang="en-US" altLang="zh-CN" sz="2400" b="1" dirty="0">
                <a:latin typeface="宋体" panose="02010600030101010101" pitchFamily="2" charset="-122"/>
              </a:rPr>
              <a:t>, 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C2</a:t>
            </a:r>
            <a:r>
              <a:rPr lang="en-US" altLang="zh-CN" sz="2400" b="1" dirty="0">
                <a:latin typeface="宋体" panose="02010600030101010101" pitchFamily="2" charset="-122"/>
              </a:rPr>
              <a:t>≈Vcc=5V, </a:t>
            </a:r>
            <a:endParaRPr lang="en-US" altLang="zh-CN" sz="2400" dirty="0"/>
          </a:p>
        </p:txBody>
      </p:sp>
      <p:sp>
        <p:nvSpPr>
          <p:cNvPr id="13358" name="Text Box 46"/>
          <p:cNvSpPr txBox="1"/>
          <p:nvPr/>
        </p:nvSpPr>
        <p:spPr>
          <a:xfrm>
            <a:off x="533400" y="4298950"/>
            <a:ext cx="304800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3</a:t>
            </a:r>
            <a:r>
              <a:rPr lang="zh-CN" altLang="en-US" sz="2400" b="1" baseline="-25000" dirty="0">
                <a:latin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宋体" panose="02010600030101010101" pitchFamily="2" charset="-122"/>
              </a:rPr>
              <a:t>微饱和状态。 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4</a:t>
            </a:r>
            <a:r>
              <a:rPr lang="zh-CN" altLang="en-US" sz="2400" b="1" baseline="-25000" dirty="0">
                <a:latin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宋体" panose="02010600030101010101" pitchFamily="2" charset="-122"/>
              </a:rPr>
              <a:t>放大状态。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电路输出高电平为：</a:t>
            </a:r>
            <a:endParaRPr lang="zh-CN" altLang="en-US" sz="2400" dirty="0"/>
          </a:p>
        </p:txBody>
      </p:sp>
      <p:sp>
        <p:nvSpPr>
          <p:cNvPr id="13362" name="Text Box 50"/>
          <p:cNvSpPr txBox="1"/>
          <p:nvPr/>
        </p:nvSpPr>
        <p:spPr>
          <a:xfrm>
            <a:off x="6400800" y="2667000"/>
            <a:ext cx="55403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9900"/>
                </a:solidFill>
              </a:rPr>
              <a:t>5V</a:t>
            </a:r>
            <a:endParaRPr lang="en-US" altLang="zh-CN" sz="2400" b="1" dirty="0">
              <a:solidFill>
                <a:srgbClr val="009900"/>
              </a:solidFill>
            </a:endParaRPr>
          </a:p>
        </p:txBody>
      </p:sp>
      <p:pic>
        <p:nvPicPr>
          <p:cNvPr id="4" name="Picture 54" descr="E:\电子教案\wb01508_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048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32" name="Text Box 55">
            <a:hlinkClick r:id="rId5" action="ppaction://hlinksldjump"/>
          </p:cNvPr>
          <p:cNvSpPr txBox="1"/>
          <p:nvPr/>
        </p:nvSpPr>
        <p:spPr>
          <a:xfrm>
            <a:off x="7924800" y="3048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18" grpId="0" animBg="1"/>
      <p:bldP spid="13319" grpId="0"/>
      <p:bldP spid="13320" grpId="0"/>
      <p:bldP spid="13321" grpId="0"/>
      <p:bldP spid="13322" grpId="0"/>
      <p:bldP spid="13331" grpId="0"/>
      <p:bldP spid="3" grpId="0"/>
      <p:bldP spid="13351" grpId="0"/>
      <p:bldP spid="13356" grpId="0"/>
      <p:bldP spid="13357" grpId="0"/>
      <p:bldP spid="13358" grpId="0"/>
      <p:bldP spid="133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2464" name="Object 0"/>
          <p:cNvGraphicFramePr>
            <a:graphicFrameLocks noChangeAspect="1"/>
          </p:cNvGraphicFramePr>
          <p:nvPr/>
        </p:nvGraphicFramePr>
        <p:xfrm>
          <a:off x="3806825" y="990600"/>
          <a:ext cx="5140325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3400425" imgH="2524125" progId="Paint.Picture">
                  <p:embed/>
                </p:oleObj>
              </mc:Choice>
              <mc:Fallback>
                <p:oleObj name="" r:id="rId1" imgW="3400425" imgH="2524125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06825" y="990600"/>
                        <a:ext cx="5140325" cy="556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2" name="Rectangle 24"/>
          <p:cNvSpPr/>
          <p:nvPr/>
        </p:nvSpPr>
        <p:spPr>
          <a:xfrm>
            <a:off x="377825" y="990600"/>
            <a:ext cx="3276600" cy="55626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2313" name="Text Box 25"/>
          <p:cNvSpPr txBox="1"/>
          <p:nvPr/>
        </p:nvSpPr>
        <p:spPr>
          <a:xfrm>
            <a:off x="606425" y="9906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>
                <a:latin typeface="宋体" panose="02010600030101010101" pitchFamily="2" charset="-122"/>
              </a:rPr>
              <a:t>输入端全为高电平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2315" name="Text Box 27"/>
          <p:cNvSpPr txBox="1"/>
          <p:nvPr/>
        </p:nvSpPr>
        <p:spPr>
          <a:xfrm>
            <a:off x="4035425" y="33528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 .6V</a:t>
            </a:r>
            <a:endParaRPr lang="en-US" altLang="zh-CN" sz="2400" b="1" dirty="0"/>
          </a:p>
        </p:txBody>
      </p:sp>
      <p:sp>
        <p:nvSpPr>
          <p:cNvPr id="12316" name="Text Box 28"/>
          <p:cNvSpPr txBox="1"/>
          <p:nvPr/>
        </p:nvSpPr>
        <p:spPr>
          <a:xfrm>
            <a:off x="4035425" y="36576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 .6V</a:t>
            </a:r>
            <a:endParaRPr lang="en-US" altLang="zh-CN" sz="2400" b="1" dirty="0"/>
          </a:p>
        </p:txBody>
      </p:sp>
      <p:sp>
        <p:nvSpPr>
          <p:cNvPr id="12317" name="Text Box 29"/>
          <p:cNvSpPr txBox="1"/>
          <p:nvPr/>
        </p:nvSpPr>
        <p:spPr>
          <a:xfrm>
            <a:off x="5999163" y="2590800"/>
            <a:ext cx="782637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2.1V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12318" name="Text Box 30"/>
          <p:cNvSpPr txBox="1"/>
          <p:nvPr/>
        </p:nvSpPr>
        <p:spPr>
          <a:xfrm>
            <a:off x="8001000" y="28956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0 .3V</a:t>
            </a:r>
            <a:endParaRPr lang="en-US" altLang="zh-CN" sz="2400" b="1" dirty="0"/>
          </a:p>
        </p:txBody>
      </p:sp>
      <p:sp>
        <p:nvSpPr>
          <p:cNvPr id="12328" name="Text Box 40"/>
          <p:cNvSpPr txBox="1"/>
          <p:nvPr/>
        </p:nvSpPr>
        <p:spPr>
          <a:xfrm>
            <a:off x="530225" y="1371600"/>
            <a:ext cx="31242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rgbClr val="CC3300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宋体" panose="02010600030101010101" pitchFamily="2" charset="-122"/>
              </a:rPr>
              <a:t>:V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b1</a:t>
            </a:r>
            <a:r>
              <a:rPr lang="en-US" altLang="zh-CN" sz="2400" b="1" dirty="0">
                <a:latin typeface="宋体" panose="02010600030101010101" pitchFamily="2" charset="-122"/>
              </a:rPr>
              <a:t>= 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bc1</a:t>
            </a:r>
            <a:r>
              <a:rPr lang="en-US" altLang="zh-CN" sz="2400" b="1" dirty="0">
                <a:latin typeface="宋体" panose="02010600030101010101" pitchFamily="2" charset="-122"/>
              </a:rPr>
              <a:t>+V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be2</a:t>
            </a:r>
            <a:r>
              <a:rPr lang="en-US" altLang="zh-CN" sz="2400" b="1" dirty="0">
                <a:latin typeface="宋体" panose="02010600030101010101" pitchFamily="2" charset="-122"/>
              </a:rPr>
              <a:t>+V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be5 </a:t>
            </a:r>
            <a:r>
              <a:rPr lang="en-US" altLang="zh-CN" sz="2400" b="1" dirty="0">
                <a:latin typeface="宋体" panose="02010600030101010101" pitchFamily="2" charset="-122"/>
              </a:rPr>
              <a:t>= 0.7V×3 = 2.1V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2331" name="Text Box 43"/>
          <p:cNvSpPr txBox="1"/>
          <p:nvPr/>
        </p:nvSpPr>
        <p:spPr>
          <a:xfrm>
            <a:off x="533400" y="5486400"/>
            <a:ext cx="29718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因此输出为逻辑低电平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OL</a:t>
            </a:r>
            <a:r>
              <a:rPr lang="en-US" altLang="zh-CN" sz="2400" b="1" dirty="0">
                <a:latin typeface="宋体" panose="02010600030101010101" pitchFamily="2" charset="-122"/>
              </a:rPr>
              <a:t> = 0.3V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2334" name="Text Box 46"/>
          <p:cNvSpPr txBox="1"/>
          <p:nvPr/>
        </p:nvSpPr>
        <p:spPr>
          <a:xfrm>
            <a:off x="4038600" y="30480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 .6V</a:t>
            </a:r>
            <a:endParaRPr lang="en-US" altLang="zh-CN" sz="2400" b="1" dirty="0"/>
          </a:p>
        </p:txBody>
      </p:sp>
      <p:grpSp>
        <p:nvGrpSpPr>
          <p:cNvPr id="2" name="Group 56"/>
          <p:cNvGrpSpPr/>
          <p:nvPr/>
        </p:nvGrpSpPr>
        <p:grpSpPr>
          <a:xfrm>
            <a:off x="5867400" y="1447800"/>
            <a:ext cx="1981200" cy="3581400"/>
            <a:chOff x="3696" y="912"/>
            <a:chExt cx="1248" cy="2256"/>
          </a:xfrm>
        </p:grpSpPr>
        <p:sp>
          <p:nvSpPr>
            <p:cNvPr id="14356" name="Line 53"/>
            <p:cNvSpPr/>
            <p:nvPr/>
          </p:nvSpPr>
          <p:spPr>
            <a:xfrm>
              <a:off x="4656" y="2352"/>
              <a:ext cx="288" cy="432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4357" name="Group 55"/>
            <p:cNvGrpSpPr/>
            <p:nvPr/>
          </p:nvGrpSpPr>
          <p:grpSpPr>
            <a:xfrm>
              <a:off x="3696" y="912"/>
              <a:ext cx="1248" cy="2256"/>
              <a:chOff x="3696" y="912"/>
              <a:chExt cx="1248" cy="2256"/>
            </a:xfrm>
          </p:grpSpPr>
          <p:sp>
            <p:nvSpPr>
              <p:cNvPr id="14358" name="Line 47"/>
              <p:cNvSpPr/>
              <p:nvPr/>
            </p:nvSpPr>
            <p:spPr>
              <a:xfrm flipH="1">
                <a:off x="3696" y="912"/>
                <a:ext cx="1248" cy="0"/>
              </a:xfrm>
              <a:prstGeom prst="line">
                <a:avLst/>
              </a:prstGeom>
              <a:ln w="57150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359" name="Line 49"/>
              <p:cNvSpPr/>
              <p:nvPr/>
            </p:nvSpPr>
            <p:spPr>
              <a:xfrm>
                <a:off x="3696" y="912"/>
                <a:ext cx="0" cy="864"/>
              </a:xfrm>
              <a:prstGeom prst="line">
                <a:avLst/>
              </a:prstGeom>
              <a:ln w="57150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360" name="Line 50"/>
              <p:cNvSpPr/>
              <p:nvPr/>
            </p:nvSpPr>
            <p:spPr>
              <a:xfrm>
                <a:off x="3696" y="1776"/>
                <a:ext cx="336" cy="240"/>
              </a:xfrm>
              <a:prstGeom prst="line">
                <a:avLst/>
              </a:prstGeom>
              <a:ln w="57150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361" name="Line 51"/>
              <p:cNvSpPr/>
              <p:nvPr/>
            </p:nvSpPr>
            <p:spPr>
              <a:xfrm>
                <a:off x="4032" y="2016"/>
                <a:ext cx="240" cy="336"/>
              </a:xfrm>
              <a:prstGeom prst="line">
                <a:avLst/>
              </a:prstGeom>
              <a:ln w="57150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362" name="Line 52"/>
              <p:cNvSpPr/>
              <p:nvPr/>
            </p:nvSpPr>
            <p:spPr>
              <a:xfrm>
                <a:off x="4272" y="2352"/>
                <a:ext cx="384" cy="0"/>
              </a:xfrm>
              <a:prstGeom prst="line">
                <a:avLst/>
              </a:prstGeom>
              <a:ln w="57150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4363" name="Line 54"/>
              <p:cNvSpPr/>
              <p:nvPr/>
            </p:nvSpPr>
            <p:spPr>
              <a:xfrm>
                <a:off x="4944" y="2784"/>
                <a:ext cx="0" cy="384"/>
              </a:xfrm>
              <a:prstGeom prst="line">
                <a:avLst/>
              </a:prstGeom>
              <a:ln w="57150" cap="flat" cmpd="sng">
                <a:solidFill>
                  <a:srgbClr val="CC33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  <p:sp>
        <p:nvSpPr>
          <p:cNvPr id="12345" name="Text Box 57"/>
          <p:cNvSpPr txBox="1"/>
          <p:nvPr/>
        </p:nvSpPr>
        <p:spPr>
          <a:xfrm>
            <a:off x="338138" y="2073275"/>
            <a:ext cx="3319462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发射结反偏而集电</a:t>
            </a:r>
            <a:r>
              <a:rPr lang="zh-CN" altLang="en-US" sz="2400" dirty="0">
                <a:latin typeface="宋体" panose="02010600030101010101" pitchFamily="2" charset="-122"/>
              </a:rPr>
              <a:t>极</a:t>
            </a:r>
            <a:r>
              <a:rPr lang="zh-CN" altLang="en-US" sz="2400" b="1" dirty="0">
                <a:latin typeface="宋体" panose="02010600030101010101" pitchFamily="2" charset="-122"/>
              </a:rPr>
              <a:t>正偏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r>
              <a:rPr lang="zh-CN" altLang="en-US" sz="2400" b="1" dirty="0">
                <a:latin typeface="宋体" panose="02010600030101010101" pitchFamily="2" charset="-122"/>
              </a:rPr>
              <a:t>处于倒置放大状态</a:t>
            </a:r>
            <a:endParaRPr lang="zh-CN" altLang="en-US" sz="2400" dirty="0"/>
          </a:p>
        </p:txBody>
      </p:sp>
      <p:sp>
        <p:nvSpPr>
          <p:cNvPr id="12346" name="Text Box 58"/>
          <p:cNvSpPr txBox="1"/>
          <p:nvPr/>
        </p:nvSpPr>
        <p:spPr>
          <a:xfrm>
            <a:off x="533400" y="2895600"/>
            <a:ext cx="1968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rgbClr val="CC33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：饱和状态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2347" name="Text Box 59"/>
          <p:cNvSpPr txBox="1"/>
          <p:nvPr/>
        </p:nvSpPr>
        <p:spPr>
          <a:xfrm>
            <a:off x="533400" y="3324225"/>
            <a:ext cx="3048000" cy="15525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rgbClr val="CC33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c2</a:t>
            </a:r>
            <a:r>
              <a:rPr lang="en-US" altLang="zh-CN" sz="2400" b="1" dirty="0">
                <a:latin typeface="宋体" panose="02010600030101010101" pitchFamily="2" charset="-122"/>
              </a:rPr>
              <a:t> = 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ces2</a:t>
            </a:r>
            <a:r>
              <a:rPr lang="en-US" altLang="zh-CN" sz="2400" b="1" dirty="0">
                <a:latin typeface="宋体" panose="02010600030101010101" pitchFamily="2" charset="-122"/>
              </a:rPr>
              <a:t> + 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be5</a:t>
            </a:r>
            <a:r>
              <a:rPr lang="en-US" altLang="zh-CN" sz="2400" b="1" dirty="0">
                <a:latin typeface="宋体" panose="02010600030101010101" pitchFamily="2" charset="-122"/>
              </a:rPr>
              <a:t>≈1V</a:t>
            </a:r>
            <a:r>
              <a:rPr lang="zh-CN" altLang="en-US" sz="2400" b="1" dirty="0">
                <a:latin typeface="宋体" panose="02010600030101010101" pitchFamily="2" charset="-122"/>
              </a:rPr>
              <a:t>，使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导通，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e3</a:t>
            </a:r>
            <a:r>
              <a:rPr lang="en-US" altLang="zh-CN" sz="2400" b="1" dirty="0">
                <a:latin typeface="宋体" panose="02010600030101010101" pitchFamily="2" charset="-122"/>
              </a:rPr>
              <a:t> = 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c2</a:t>
            </a:r>
            <a:r>
              <a:rPr lang="en-US" altLang="zh-CN" sz="2400" b="1" dirty="0">
                <a:latin typeface="宋体" panose="02010600030101010101" pitchFamily="2" charset="-122"/>
              </a:rPr>
              <a:t>-V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be3</a:t>
            </a:r>
            <a:r>
              <a:rPr lang="en-US" altLang="zh-CN" sz="2400" b="1" dirty="0">
                <a:latin typeface="宋体" panose="02010600030101010101" pitchFamily="2" charset="-122"/>
              </a:rPr>
              <a:t> = 1-0.7≈0.3V</a:t>
            </a:r>
            <a:r>
              <a:rPr lang="zh-CN" altLang="en-US" sz="2400" b="1" dirty="0">
                <a:latin typeface="宋体" panose="02010600030101010101" pitchFamily="2" charset="-122"/>
              </a:rPr>
              <a:t>，使</a:t>
            </a:r>
            <a:r>
              <a: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rgbClr val="CC33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截止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2348" name="Text Box 60"/>
          <p:cNvSpPr txBox="1"/>
          <p:nvPr/>
        </p:nvSpPr>
        <p:spPr>
          <a:xfrm>
            <a:off x="622300" y="4953000"/>
            <a:ext cx="2578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rgbClr val="CC3300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宋体" panose="02010600030101010101" pitchFamily="2" charset="-122"/>
              </a:rPr>
              <a:t>：深饱和状态，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pic>
        <p:nvPicPr>
          <p:cNvPr id="14353" name="Picture 63" descr="E:\电子教案\wb01508_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048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54" name="Text Box 64">
            <a:hlinkClick r:id="rId3" action="ppaction://hlinksldjump"/>
          </p:cNvPr>
          <p:cNvSpPr txBox="1"/>
          <p:nvPr/>
        </p:nvSpPr>
        <p:spPr>
          <a:xfrm>
            <a:off x="7924800" y="3048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  <p:sp>
        <p:nvSpPr>
          <p:cNvPr id="14355" name="Text Box 65"/>
          <p:cNvSpPr txBox="1"/>
          <p:nvPr/>
        </p:nvSpPr>
        <p:spPr>
          <a:xfrm>
            <a:off x="546100" y="214313"/>
            <a:ext cx="41021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zh-CN" altLang="en-US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与非门工作原理</a:t>
            </a:r>
            <a:endParaRPr lang="zh-CN" altLang="en-US" sz="3600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2" grpId="0" animBg="1"/>
      <p:bldP spid="12313" grpId="0"/>
      <p:bldP spid="12315" grpId="0"/>
      <p:bldP spid="12316" grpId="0"/>
      <p:bldP spid="12317" grpId="0"/>
      <p:bldP spid="12318" grpId="0"/>
      <p:bldP spid="12328" grpId="0"/>
      <p:bldP spid="12331" grpId="0"/>
      <p:bldP spid="12334" grpId="0"/>
      <p:bldP spid="12345" grpId="0"/>
      <p:bldP spid="12346" grpId="0"/>
      <p:bldP spid="12347" grpId="0"/>
      <p:bldP spid="123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2" name="Picture 39" descr="E:\电子教案\wb01508_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048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3" name="Text Box 40">
            <a:hlinkClick r:id="rId1" action="ppaction://hlinksldjump"/>
          </p:cNvPr>
          <p:cNvSpPr txBox="1"/>
          <p:nvPr/>
        </p:nvSpPr>
        <p:spPr>
          <a:xfrm>
            <a:off x="7924800" y="3048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  <p:graphicFrame>
        <p:nvGraphicFramePr>
          <p:cNvPr id="15364" name="Object 0"/>
          <p:cNvGraphicFramePr>
            <a:graphicFrameLocks noChangeAspect="1"/>
          </p:cNvGraphicFramePr>
          <p:nvPr/>
        </p:nvGraphicFramePr>
        <p:xfrm>
          <a:off x="3733800" y="838200"/>
          <a:ext cx="5140325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3400425" imgH="2524125" progId="Paint.Picture">
                  <p:embed/>
                </p:oleObj>
              </mc:Choice>
              <mc:Fallback>
                <p:oleObj name="" r:id="rId3" imgW="3400425" imgH="2524125" progId="Paint.Picture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33800" y="838200"/>
                        <a:ext cx="5140325" cy="556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4"/>
          <p:cNvSpPr/>
          <p:nvPr/>
        </p:nvSpPr>
        <p:spPr>
          <a:xfrm>
            <a:off x="377825" y="990600"/>
            <a:ext cx="3276600" cy="55626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4341" name="Text Box 5"/>
          <p:cNvSpPr txBox="1"/>
          <p:nvPr/>
        </p:nvSpPr>
        <p:spPr>
          <a:xfrm>
            <a:off x="533400" y="1295400"/>
            <a:ext cx="30480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>
                <a:latin typeface="宋体" panose="02010600030101010101" pitchFamily="2" charset="-122"/>
              </a:rPr>
              <a:t>输入端全为高电平，输出为低电平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4363" name="Text Box 27"/>
          <p:cNvSpPr txBox="1"/>
          <p:nvPr/>
        </p:nvSpPr>
        <p:spPr>
          <a:xfrm>
            <a:off x="533400" y="2209800"/>
            <a:ext cx="304800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输入至少有一个为低电平时，输出为高电平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4364" name="Text Box 28"/>
          <p:cNvSpPr txBox="1"/>
          <p:nvPr/>
        </p:nvSpPr>
        <p:spPr>
          <a:xfrm>
            <a:off x="533400" y="3429000"/>
            <a:ext cx="289560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由</a:t>
            </a:r>
            <a:r>
              <a:rPr lang="zh-CN" altLang="en-US" sz="2400" b="1" dirty="0">
                <a:latin typeface="宋体" panose="02010600030101010101" pitchFamily="2" charset="-122"/>
              </a:rPr>
              <a:t>此可见电路的输出和输入之间满足与非逻辑关系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63489" name="Object 1"/>
          <p:cNvGraphicFramePr>
            <a:graphicFrameLocks noChangeAspect="1"/>
          </p:cNvGraphicFramePr>
          <p:nvPr/>
        </p:nvGraphicFramePr>
        <p:xfrm>
          <a:off x="685800" y="4724400"/>
          <a:ext cx="18288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596900" imgH="215900" progId="Equation.3">
                  <p:embed/>
                </p:oleObj>
              </mc:Choice>
              <mc:Fallback>
                <p:oleObj name="" r:id="rId5" imgW="596900" imgH="2159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800" y="4724400"/>
                        <a:ext cx="1828800" cy="657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2"/>
          <p:cNvGrpSpPr/>
          <p:nvPr/>
        </p:nvGrpSpPr>
        <p:grpSpPr>
          <a:xfrm>
            <a:off x="4800600" y="0"/>
            <a:ext cx="3124200" cy="2057400"/>
            <a:chOff x="2592" y="192"/>
            <a:chExt cx="1968" cy="1296"/>
          </a:xfrm>
        </p:grpSpPr>
        <p:sp>
          <p:nvSpPr>
            <p:cNvPr id="15375" name="AutoShape 30"/>
            <p:cNvSpPr/>
            <p:nvPr/>
          </p:nvSpPr>
          <p:spPr>
            <a:xfrm>
              <a:off x="2592" y="192"/>
              <a:ext cx="1968" cy="1296"/>
            </a:xfrm>
            <a:prstGeom prst="wedgeRoundRectCallout">
              <a:avLst>
                <a:gd name="adj1" fmla="val -94361"/>
                <a:gd name="adj2" fmla="val 29245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15376" name="Text Box 31"/>
            <p:cNvSpPr txBox="1"/>
            <p:nvPr/>
          </p:nvSpPr>
          <p:spPr>
            <a:xfrm>
              <a:off x="2784" y="280"/>
              <a:ext cx="1567" cy="1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1</a:t>
              </a:r>
              <a:r>
                <a:rPr lang="zh-CN" altLang="en-US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：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倒置放大状态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2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：饱和状态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3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：导通状态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4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：截止状态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5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：深饱和状态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Group 33"/>
          <p:cNvGrpSpPr/>
          <p:nvPr/>
        </p:nvGrpSpPr>
        <p:grpSpPr>
          <a:xfrm>
            <a:off x="4876800" y="1219200"/>
            <a:ext cx="3124200" cy="2057400"/>
            <a:chOff x="2592" y="192"/>
            <a:chExt cx="1968" cy="1296"/>
          </a:xfrm>
        </p:grpSpPr>
        <p:sp>
          <p:nvSpPr>
            <p:cNvPr id="15373" name="AutoShape 34"/>
            <p:cNvSpPr/>
            <p:nvPr/>
          </p:nvSpPr>
          <p:spPr>
            <a:xfrm>
              <a:off x="2592" y="192"/>
              <a:ext cx="1968" cy="1296"/>
            </a:xfrm>
            <a:prstGeom prst="wedgeRoundRectCallout">
              <a:avLst>
                <a:gd name="adj1" fmla="val -94361"/>
                <a:gd name="adj2" fmla="val 29245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15374" name="Text Box 35"/>
            <p:cNvSpPr txBox="1"/>
            <p:nvPr/>
          </p:nvSpPr>
          <p:spPr>
            <a:xfrm>
              <a:off x="2784" y="395"/>
              <a:ext cx="1434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2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：截止状态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3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：微饱和状态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4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：放大状态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5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：截止状态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5372" name="Text Box 38"/>
          <p:cNvSpPr txBox="1"/>
          <p:nvPr/>
        </p:nvSpPr>
        <p:spPr>
          <a:xfrm>
            <a:off x="546100" y="152400"/>
            <a:ext cx="41021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zh-CN" altLang="en-US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与非门工作原理</a:t>
            </a:r>
            <a:endParaRPr lang="zh-CN" altLang="en-US" sz="3600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/>
      <p:bldP spid="14363" grpId="0"/>
      <p:bldP spid="1436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4" name="Text Box 4"/>
          <p:cNvSpPr txBox="1"/>
          <p:nvPr/>
        </p:nvSpPr>
        <p:spPr>
          <a:xfrm>
            <a:off x="520700" y="266700"/>
            <a:ext cx="3670300" cy="579438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与非门工作速度</a:t>
            </a:r>
            <a:endParaRPr lang="zh-CN" altLang="en-US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365" name="Text Box 5"/>
          <p:cNvSpPr txBox="1"/>
          <p:nvPr/>
        </p:nvSpPr>
        <p:spPr>
          <a:xfrm>
            <a:off x="381000" y="1143000"/>
            <a:ext cx="7467600" cy="15525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存在问题：</a:t>
            </a:r>
            <a:r>
              <a:rPr lang="en-US" altLang="zh-CN" sz="2400" b="1" dirty="0"/>
              <a:t>TTL</a:t>
            </a:r>
            <a:r>
              <a:rPr lang="zh-CN" altLang="en-US" sz="2400" b="1" dirty="0"/>
              <a:t>门电路工作速度</a:t>
            </a:r>
            <a:r>
              <a:rPr lang="zh-CN" altLang="en-US" sz="2400" b="1" dirty="0">
                <a:latin typeface="宋体" panose="02010600030101010101" pitchFamily="2" charset="-122"/>
              </a:rPr>
              <a:t>相对于</a:t>
            </a:r>
            <a:r>
              <a:rPr lang="en-US" altLang="zh-CN" sz="2400" b="1" dirty="0">
                <a:latin typeface="宋体" panose="02010600030101010101" pitchFamily="2" charset="-122"/>
              </a:rPr>
              <a:t>MOS</a:t>
            </a:r>
            <a:r>
              <a:rPr lang="zh-CN" altLang="en-US" sz="2400" b="1" dirty="0">
                <a:latin typeface="宋体" panose="02010600030101010101" pitchFamily="2" charset="-122"/>
              </a:rPr>
              <a:t>较快，但由于当输出为低电平时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宋体" panose="02010600030101010101" pitchFamily="2" charset="-122"/>
              </a:rPr>
              <a:t>工作在深度饱和状态，当输出由低转为高电平，由于在基区和集电区有存储电荷不能马上消散，而影响工作速度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15366" name="Text Box 6"/>
          <p:cNvSpPr txBox="1"/>
          <p:nvPr/>
        </p:nvSpPr>
        <p:spPr>
          <a:xfrm>
            <a:off x="533400" y="2690813"/>
            <a:ext cx="3260725" cy="579437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改进型</a:t>
            </a:r>
            <a:r>
              <a:rPr lang="en-US" altLang="zh-CN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与非门</a:t>
            </a:r>
            <a:endParaRPr lang="zh-CN" altLang="en-US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367" name="Text Box 7"/>
          <p:cNvSpPr txBox="1"/>
          <p:nvPr/>
        </p:nvSpPr>
        <p:spPr>
          <a:xfrm>
            <a:off x="381000" y="3444875"/>
            <a:ext cx="3048000" cy="26479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</a:t>
            </a:r>
            <a:r>
              <a:rPr lang="zh-CN" altLang="en-US" sz="2400" b="1" dirty="0"/>
              <a:t>可能工作在饱和状态下的晶体管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3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5</a:t>
            </a:r>
            <a:r>
              <a:rPr lang="zh-CN" altLang="en-US" sz="2400" b="1" dirty="0"/>
              <a:t>都用带有肖特基势垒二极管（</a:t>
            </a:r>
            <a:r>
              <a:rPr lang="en-US" altLang="zh-CN" sz="2400" b="1" dirty="0"/>
              <a:t>SBD</a:t>
            </a:r>
            <a:r>
              <a:rPr lang="zh-CN" altLang="en-US" sz="2400" b="1" dirty="0"/>
              <a:t>）的三极管代替，以限制其饱和深度，提高工作速度</a:t>
            </a:r>
            <a:endParaRPr lang="zh-CN" altLang="en-US" sz="2400" dirty="0"/>
          </a:p>
        </p:txBody>
      </p:sp>
      <p:graphicFrame>
        <p:nvGraphicFramePr>
          <p:cNvPr id="64512" name="Object 0"/>
          <p:cNvGraphicFramePr>
            <a:graphicFrameLocks noChangeAspect="1"/>
          </p:cNvGraphicFramePr>
          <p:nvPr/>
        </p:nvGraphicFramePr>
        <p:xfrm>
          <a:off x="3810000" y="2590800"/>
          <a:ext cx="4800600" cy="384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2724150" imgH="2028825" progId="Paint.Picture">
                  <p:embed/>
                </p:oleObj>
              </mc:Choice>
              <mc:Fallback>
                <p:oleObj name="" r:id="rId1" imgW="2724150" imgH="2028825" progId="Paint.Picture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0" y="2590800"/>
                        <a:ext cx="4800600" cy="3844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10"/>
          <p:cNvSpPr/>
          <p:nvPr/>
        </p:nvSpPr>
        <p:spPr>
          <a:xfrm>
            <a:off x="5943600" y="3962400"/>
            <a:ext cx="609600" cy="762000"/>
          </a:xfrm>
          <a:prstGeom prst="rect">
            <a:avLst/>
          </a:prstGeom>
          <a:noFill/>
          <a:ln w="3810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2" name="Group 14"/>
          <p:cNvGrpSpPr/>
          <p:nvPr/>
        </p:nvGrpSpPr>
        <p:grpSpPr>
          <a:xfrm>
            <a:off x="2438400" y="4495800"/>
            <a:ext cx="2209800" cy="1600200"/>
            <a:chOff x="1248" y="2928"/>
            <a:chExt cx="1392" cy="1008"/>
          </a:xfrm>
        </p:grpSpPr>
        <p:sp>
          <p:nvSpPr>
            <p:cNvPr id="16395" name="AutoShape 11"/>
            <p:cNvSpPr/>
            <p:nvPr/>
          </p:nvSpPr>
          <p:spPr>
            <a:xfrm>
              <a:off x="1248" y="2928"/>
              <a:ext cx="1392" cy="1008"/>
            </a:xfrm>
            <a:prstGeom prst="wedgeRoundRectCallout">
              <a:avLst>
                <a:gd name="adj1" fmla="val 111852"/>
                <a:gd name="adj2" fmla="val -54463"/>
                <a:gd name="adj3" fmla="val 16667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graphicFrame>
          <p:nvGraphicFramePr>
            <p:cNvPr id="16396" name="Object 1"/>
            <p:cNvGraphicFramePr>
              <a:graphicFrameLocks noChangeAspect="1"/>
            </p:cNvGraphicFramePr>
            <p:nvPr/>
          </p:nvGraphicFramePr>
          <p:xfrm>
            <a:off x="1344" y="2976"/>
            <a:ext cx="1200" cy="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3" imgW="1619250" imgH="885825" progId="Paint.Picture">
                    <p:embed/>
                  </p:oleObj>
                </mc:Choice>
                <mc:Fallback>
                  <p:oleObj name="" r:id="rId3" imgW="1619250" imgH="885825" progId="Paint.Picture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44" y="2976"/>
                          <a:ext cx="1200" cy="91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6393" name="Picture 17" descr="E:\电子教案\wb01508_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0" y="3048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94" name="Text Box 18">
            <a:hlinkClick r:id="rId5" action="ppaction://hlinksldjump"/>
          </p:cNvPr>
          <p:cNvSpPr txBox="1"/>
          <p:nvPr/>
        </p:nvSpPr>
        <p:spPr>
          <a:xfrm>
            <a:off x="7620000" y="3048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/>
      <p:bldP spid="15365" grpId="0"/>
      <p:bldP spid="15366" grpId="0" animBg="1"/>
      <p:bldP spid="15367" grpId="0"/>
      <p:bldP spid="1537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10" name="Picture 18" descr="E:\电子教案\wb01508_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60198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1" name="Text Box 19">
            <a:hlinkClick r:id="rId1" action="ppaction://hlinksldjump"/>
          </p:cNvPr>
          <p:cNvSpPr txBox="1"/>
          <p:nvPr/>
        </p:nvSpPr>
        <p:spPr>
          <a:xfrm>
            <a:off x="7696200" y="60198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  <p:sp>
        <p:nvSpPr>
          <p:cNvPr id="17412" name="Text Box 4"/>
          <p:cNvSpPr txBox="1"/>
          <p:nvPr/>
        </p:nvSpPr>
        <p:spPr>
          <a:xfrm>
            <a:off x="609600" y="481013"/>
            <a:ext cx="3260725" cy="579437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改进型</a:t>
            </a:r>
            <a:r>
              <a:rPr lang="en-US" altLang="zh-CN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与非门</a:t>
            </a:r>
            <a:endParaRPr lang="zh-CN" altLang="en-US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3886200" y="990600"/>
          <a:ext cx="4800600" cy="384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2724150" imgH="2028825" progId="Paint.Picture">
                  <p:embed/>
                </p:oleObj>
              </mc:Choice>
              <mc:Fallback>
                <p:oleObj name="" r:id="rId3" imgW="2724150" imgH="2028825" progId="Paint.Picture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86200" y="990600"/>
                        <a:ext cx="4800600" cy="3844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6"/>
          <p:cNvSpPr/>
          <p:nvPr/>
        </p:nvSpPr>
        <p:spPr>
          <a:xfrm>
            <a:off x="5867400" y="3200400"/>
            <a:ext cx="1447800" cy="1524000"/>
          </a:xfrm>
          <a:prstGeom prst="rect">
            <a:avLst/>
          </a:prstGeom>
          <a:noFill/>
          <a:ln w="3810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16391" name="Text Box 7"/>
          <p:cNvSpPr txBox="1"/>
          <p:nvPr/>
        </p:nvSpPr>
        <p:spPr>
          <a:xfrm>
            <a:off x="381000" y="1295400"/>
            <a:ext cx="2936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  </a:t>
            </a:r>
            <a:r>
              <a:rPr lang="zh-CN" altLang="en-US" sz="2400" b="1" dirty="0">
                <a:sym typeface="Symbol" panose="05050102010706020507" pitchFamily="18" charset="2"/>
              </a:rPr>
              <a:t>增加</a:t>
            </a:r>
            <a:r>
              <a:rPr lang="zh-CN" altLang="en-US" sz="2400" b="1" dirty="0"/>
              <a:t>有源泄放电路</a:t>
            </a:r>
            <a:endParaRPr lang="zh-CN" altLang="en-US" sz="2400" dirty="0"/>
          </a:p>
        </p:txBody>
      </p:sp>
      <p:sp>
        <p:nvSpPr>
          <p:cNvPr id="16392" name="Text Box 8"/>
          <p:cNvSpPr txBox="1"/>
          <p:nvPr/>
        </p:nvSpPr>
        <p:spPr>
          <a:xfrm>
            <a:off x="406400" y="1828800"/>
            <a:ext cx="24892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ea typeface="黑体" panose="02010609060101010101" pitchFamily="2" charset="-122"/>
              </a:rPr>
              <a:t>1</a:t>
            </a:r>
            <a:r>
              <a:rPr lang="zh-CN" altLang="en-US" sz="2400" b="1" dirty="0">
                <a:ea typeface="黑体" panose="02010609060101010101" pitchFamily="2" charset="-122"/>
              </a:rPr>
              <a:t>、提高工作速度</a:t>
            </a:r>
            <a:endParaRPr lang="zh-CN" altLang="en-US" sz="2400" b="1" dirty="0">
              <a:ea typeface="黑体" panose="02010609060101010101" pitchFamily="2" charset="-122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5943600" y="4800600"/>
            <a:ext cx="2819400" cy="1630363"/>
            <a:chOff x="3792" y="3293"/>
            <a:chExt cx="1776" cy="1027"/>
          </a:xfrm>
        </p:grpSpPr>
        <p:sp>
          <p:nvSpPr>
            <p:cNvPr id="17422" name="AutoShape 9"/>
            <p:cNvSpPr/>
            <p:nvPr/>
          </p:nvSpPr>
          <p:spPr>
            <a:xfrm>
              <a:off x="3792" y="3312"/>
              <a:ext cx="1776" cy="1008"/>
            </a:xfrm>
            <a:prstGeom prst="wedgeRoundRectCallout">
              <a:avLst>
                <a:gd name="adj1" fmla="val -44593"/>
                <a:gd name="adj2" fmla="val -78176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17423" name="Text Box 10"/>
            <p:cNvSpPr txBox="1"/>
            <p:nvPr/>
          </p:nvSpPr>
          <p:spPr>
            <a:xfrm>
              <a:off x="3840" y="3293"/>
              <a:ext cx="1680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由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6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6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和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3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构成的有源泄放电路来代替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2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射极电阻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R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3</a:t>
              </a:r>
              <a:endParaRPr lang="en-US" altLang="zh-CN" sz="2400" baseline="-25000" dirty="0">
                <a:solidFill>
                  <a:srgbClr val="CC3300"/>
                </a:solidFill>
              </a:endParaRPr>
            </a:p>
          </p:txBody>
        </p:sp>
      </p:grpSp>
      <p:sp>
        <p:nvSpPr>
          <p:cNvPr id="16396" name="Text Box 12"/>
          <p:cNvSpPr txBox="1"/>
          <p:nvPr/>
        </p:nvSpPr>
        <p:spPr>
          <a:xfrm>
            <a:off x="381000" y="2286000"/>
            <a:ext cx="35814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zh-CN" altLang="en-US" sz="2400" b="1" dirty="0"/>
              <a:t>减少了电路的开启时间</a:t>
            </a:r>
            <a:endParaRPr lang="zh-CN" altLang="en-US" sz="2400" dirty="0"/>
          </a:p>
        </p:txBody>
      </p:sp>
      <p:sp>
        <p:nvSpPr>
          <p:cNvPr id="16397" name="Text Box 13"/>
          <p:cNvSpPr txBox="1"/>
          <p:nvPr/>
        </p:nvSpPr>
        <p:spPr>
          <a:xfrm>
            <a:off x="381000" y="2743200"/>
            <a:ext cx="2952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缩短了电路关闭时间</a:t>
            </a:r>
            <a:endParaRPr lang="zh-CN" altLang="en-US" sz="2400" b="1" dirty="0"/>
          </a:p>
        </p:txBody>
      </p:sp>
      <p:sp>
        <p:nvSpPr>
          <p:cNvPr id="16398" name="Text Box 14"/>
          <p:cNvSpPr txBox="1"/>
          <p:nvPr/>
        </p:nvSpPr>
        <p:spPr>
          <a:xfrm>
            <a:off x="457200" y="3276600"/>
            <a:ext cx="27971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zh-CN" altLang="en-US" sz="2400" b="1" dirty="0">
                <a:ea typeface="黑体" panose="02010609060101010101" pitchFamily="2" charset="-122"/>
              </a:rPr>
              <a:t>提高抗干扰能力</a:t>
            </a:r>
            <a:endParaRPr lang="zh-CN" altLang="en-US" sz="2400" b="1" dirty="0">
              <a:ea typeface="黑体" panose="02010609060101010101" pitchFamily="2" charset="-122"/>
            </a:endParaRPr>
          </a:p>
        </p:txBody>
      </p:sp>
      <p:sp>
        <p:nvSpPr>
          <p:cNvPr id="16399" name="Text Box 15"/>
          <p:cNvSpPr txBox="1"/>
          <p:nvPr/>
        </p:nvSpPr>
        <p:spPr>
          <a:xfrm>
            <a:off x="457200" y="3703638"/>
            <a:ext cx="3200400" cy="22828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T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5</a:t>
            </a:r>
            <a:r>
              <a:rPr lang="zh-CN" altLang="en-US" sz="2400" b="1" dirty="0"/>
              <a:t>同时导通，因此电压传输特性曲线过渡区变窄，曲线变陡，输入低电平噪声容限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NL</a:t>
            </a:r>
            <a:r>
              <a:rPr lang="zh-CN" altLang="en-US" sz="2400" b="1" dirty="0"/>
              <a:t>提高了</a:t>
            </a:r>
            <a:r>
              <a:rPr lang="en-US" altLang="zh-CN" sz="2400" b="1" dirty="0"/>
              <a:t>0.7V</a:t>
            </a:r>
            <a:r>
              <a:rPr lang="zh-CN" altLang="en-US" sz="2400" b="1" dirty="0"/>
              <a:t>左右</a:t>
            </a:r>
            <a:endParaRPr lang="zh-CN" altLang="en-US" sz="24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animBg="1"/>
      <p:bldP spid="16391" grpId="0"/>
      <p:bldP spid="16392" grpId="0"/>
      <p:bldP spid="16396" grpId="0"/>
      <p:bldP spid="16397" grpId="0"/>
      <p:bldP spid="16398" grpId="0"/>
      <p:bldP spid="1639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2" name="Text Box 4"/>
          <p:cNvSpPr txBox="1"/>
          <p:nvPr/>
        </p:nvSpPr>
        <p:spPr>
          <a:xfrm>
            <a:off x="1752600" y="533400"/>
            <a:ext cx="6491288" cy="579438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en-US" altLang="zh-CN" b="1" dirty="0">
                <a:solidFill>
                  <a:srgbClr val="990000"/>
                </a:solidFill>
                <a:ea typeface="隶书" panose="02010509060101010101" pitchFamily="49" charset="-122"/>
              </a:rPr>
              <a:t>“</a:t>
            </a: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</a:t>
            </a:r>
            <a:r>
              <a:rPr lang="zh-CN" altLang="en-US" b="1" dirty="0">
                <a:solidFill>
                  <a:srgbClr val="990000"/>
                </a:solidFill>
                <a:ea typeface="隶书" panose="02010509060101010101" pitchFamily="49" charset="-122"/>
              </a:rPr>
              <a:t>”</a:t>
            </a: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门的外特性及主要参数</a:t>
            </a:r>
            <a:endParaRPr lang="zh-CN" altLang="en-US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7413" name="Text Box 5"/>
          <p:cNvSpPr txBox="1"/>
          <p:nvPr/>
        </p:nvSpPr>
        <p:spPr>
          <a:xfrm>
            <a:off x="601663" y="1295400"/>
            <a:ext cx="2370137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>
                <a:latin typeface="宋体" panose="02010600030101010101" pitchFamily="2" charset="-122"/>
              </a:rPr>
              <a:t>电压传输特性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762000" y="2895600"/>
          <a:ext cx="80010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5991225" imgH="2352675" progId="Paint.Picture">
                  <p:embed/>
                </p:oleObj>
              </mc:Choice>
              <mc:Fallback>
                <p:oleObj name="" r:id="rId1" imgW="5991225" imgH="2352675" progId="Paint.Picture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2000" y="2895600"/>
                        <a:ext cx="8001000" cy="335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/>
          <p:nvPr/>
        </p:nvSpPr>
        <p:spPr>
          <a:xfrm>
            <a:off x="838200" y="1844675"/>
            <a:ext cx="78486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TTL</a:t>
            </a:r>
            <a:r>
              <a:rPr lang="en-US" altLang="zh-CN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与非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门输入电压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与输出电压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O</a:t>
            </a:r>
            <a:r>
              <a:rPr lang="zh-CN" altLang="en-US" sz="2400" b="1" dirty="0">
                <a:latin typeface="宋体" panose="02010600030101010101" pitchFamily="2" charset="-122"/>
              </a:rPr>
              <a:t>之间的关系曲线，即 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O </a:t>
            </a:r>
            <a:r>
              <a:rPr lang="en-US" altLang="zh-CN" sz="2400" b="1" dirty="0">
                <a:latin typeface="宋体" panose="02010600030101010101" pitchFamily="2" charset="-122"/>
              </a:rPr>
              <a:t>= f</a:t>
            </a:r>
            <a:r>
              <a:rPr lang="zh-CN" altLang="en-US" sz="2400" b="1" dirty="0"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7416" name="Line 8"/>
          <p:cNvSpPr/>
          <p:nvPr/>
        </p:nvSpPr>
        <p:spPr>
          <a:xfrm>
            <a:off x="5181600" y="3581400"/>
            <a:ext cx="381000" cy="0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11"/>
          <p:cNvGrpSpPr/>
          <p:nvPr/>
        </p:nvGrpSpPr>
        <p:grpSpPr>
          <a:xfrm>
            <a:off x="5257800" y="1981200"/>
            <a:ext cx="3886200" cy="1295400"/>
            <a:chOff x="2112" y="1440"/>
            <a:chExt cx="2448" cy="816"/>
          </a:xfrm>
        </p:grpSpPr>
        <p:sp>
          <p:nvSpPr>
            <p:cNvPr id="18454" name="AutoShape 9"/>
            <p:cNvSpPr/>
            <p:nvPr/>
          </p:nvSpPr>
          <p:spPr>
            <a:xfrm>
              <a:off x="2112" y="1440"/>
              <a:ext cx="2448" cy="816"/>
            </a:xfrm>
            <a:prstGeom prst="wedgeRoundRectCallout">
              <a:avLst>
                <a:gd name="adj1" fmla="val -46690"/>
                <a:gd name="adj2" fmla="val 69977"/>
                <a:gd name="adj3" fmla="val 16667"/>
              </a:avLst>
            </a:prstGeom>
            <a:gradFill rotWithShape="0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18455" name="Text Box 10"/>
            <p:cNvSpPr txBox="1"/>
            <p:nvPr/>
          </p:nvSpPr>
          <p:spPr>
            <a:xfrm>
              <a:off x="2208" y="1440"/>
              <a:ext cx="2352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截止区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当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I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≤0.6V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，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b1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≤1.3V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时，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2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5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截止，输出高电平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OH 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= 3.6V</a:t>
              </a:r>
              <a:endPara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7420" name="Line 12"/>
          <p:cNvSpPr/>
          <p:nvPr/>
        </p:nvSpPr>
        <p:spPr>
          <a:xfrm>
            <a:off x="5562600" y="3581400"/>
            <a:ext cx="838200" cy="838200"/>
          </a:xfrm>
          <a:prstGeom prst="line">
            <a:avLst/>
          </a:prstGeom>
          <a:ln w="38100" cap="flat" cmpd="sng">
            <a:solidFill>
              <a:srgbClr val="00800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" name="Group 17"/>
          <p:cNvGrpSpPr/>
          <p:nvPr/>
        </p:nvGrpSpPr>
        <p:grpSpPr>
          <a:xfrm>
            <a:off x="5257800" y="1828800"/>
            <a:ext cx="3886200" cy="1917700"/>
            <a:chOff x="3792" y="1344"/>
            <a:chExt cx="2448" cy="1208"/>
          </a:xfrm>
        </p:grpSpPr>
        <p:sp>
          <p:nvSpPr>
            <p:cNvPr id="18452" name="AutoShape 15"/>
            <p:cNvSpPr/>
            <p:nvPr/>
          </p:nvSpPr>
          <p:spPr>
            <a:xfrm>
              <a:off x="3792" y="1344"/>
              <a:ext cx="2448" cy="1200"/>
            </a:xfrm>
            <a:prstGeom prst="wedgeRoundRectCallout">
              <a:avLst>
                <a:gd name="adj1" fmla="val -29981"/>
                <a:gd name="adj2" fmla="val 64583"/>
                <a:gd name="adj3" fmla="val 16667"/>
              </a:avLst>
            </a:prstGeom>
            <a:gradFill rotWithShape="0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18453" name="Text Box 16"/>
            <p:cNvSpPr txBox="1"/>
            <p:nvPr/>
          </p:nvSpPr>
          <p:spPr>
            <a:xfrm>
              <a:off x="3888" y="1344"/>
              <a:ext cx="2352" cy="120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线性区当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0.6V≤V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I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≤1.3V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，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0.7V≤V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 b2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＜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1.4V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时，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2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导通，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5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仍截止，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C2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随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b2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升高而下降，经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3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4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两级射随器使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O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下降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7427" name="Line 19"/>
          <p:cNvSpPr/>
          <p:nvPr/>
        </p:nvSpPr>
        <p:spPr>
          <a:xfrm>
            <a:off x="6400800" y="4419600"/>
            <a:ext cx="0" cy="45720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" name="Group 22"/>
          <p:cNvGrpSpPr/>
          <p:nvPr/>
        </p:nvGrpSpPr>
        <p:grpSpPr>
          <a:xfrm>
            <a:off x="4267200" y="4648200"/>
            <a:ext cx="1524000" cy="838200"/>
            <a:chOff x="2688" y="2976"/>
            <a:chExt cx="960" cy="528"/>
          </a:xfrm>
        </p:grpSpPr>
        <p:sp>
          <p:nvSpPr>
            <p:cNvPr id="18450" name="AutoShape 20"/>
            <p:cNvSpPr/>
            <p:nvPr/>
          </p:nvSpPr>
          <p:spPr>
            <a:xfrm>
              <a:off x="2688" y="2976"/>
              <a:ext cx="960" cy="528"/>
            </a:xfrm>
            <a:prstGeom prst="wedgeRoundRectCallout">
              <a:avLst>
                <a:gd name="adj1" fmla="val 88231"/>
                <a:gd name="adj2" fmla="val -59847"/>
                <a:gd name="adj3" fmla="val 16667"/>
              </a:avLst>
            </a:prstGeom>
            <a:gradFill rotWithShape="0">
              <a:gsLst>
                <a:gs pos="0">
                  <a:srgbClr val="767600"/>
                </a:gs>
                <a:gs pos="100000">
                  <a:srgbClr val="FFFF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18451" name="Text Box 21"/>
            <p:cNvSpPr txBox="1"/>
            <p:nvPr/>
          </p:nvSpPr>
          <p:spPr>
            <a:xfrm>
              <a:off x="2832" y="3072"/>
              <a:ext cx="6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转折区</a:t>
              </a:r>
              <a:endParaRPr lang="zh-CN" altLang="en-US" sz="2400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5" name="Group 23"/>
          <p:cNvGrpSpPr/>
          <p:nvPr/>
        </p:nvGrpSpPr>
        <p:grpSpPr>
          <a:xfrm>
            <a:off x="4572000" y="5029200"/>
            <a:ext cx="1524000" cy="838200"/>
            <a:chOff x="2688" y="2976"/>
            <a:chExt cx="960" cy="528"/>
          </a:xfrm>
        </p:grpSpPr>
        <p:sp>
          <p:nvSpPr>
            <p:cNvPr id="18448" name="AutoShape 24"/>
            <p:cNvSpPr/>
            <p:nvPr/>
          </p:nvSpPr>
          <p:spPr>
            <a:xfrm>
              <a:off x="2688" y="2976"/>
              <a:ext cx="960" cy="528"/>
            </a:xfrm>
            <a:prstGeom prst="wedgeRoundRectCallout">
              <a:avLst>
                <a:gd name="adj1" fmla="val 88231"/>
                <a:gd name="adj2" fmla="val -59847"/>
                <a:gd name="adj3" fmla="val 16667"/>
              </a:avLst>
            </a:prstGeom>
            <a:gradFill rotWithShape="0">
              <a:gsLst>
                <a:gs pos="0">
                  <a:srgbClr val="767600"/>
                </a:gs>
                <a:gs pos="100000">
                  <a:srgbClr val="FFFF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18449" name="Text Box 25"/>
            <p:cNvSpPr txBox="1"/>
            <p:nvPr/>
          </p:nvSpPr>
          <p:spPr>
            <a:xfrm>
              <a:off x="2836" y="3072"/>
              <a:ext cx="6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饱和区</a:t>
              </a:r>
              <a:endParaRPr lang="zh-CN" altLang="en-US" sz="2400" dirty="0">
                <a:solidFill>
                  <a:srgbClr val="CC3300"/>
                </a:solidFill>
              </a:endParaRPr>
            </a:p>
          </p:txBody>
        </p:sp>
      </p:grpSp>
      <p:sp>
        <p:nvSpPr>
          <p:cNvPr id="17434" name="Line 26"/>
          <p:cNvSpPr/>
          <p:nvPr/>
        </p:nvSpPr>
        <p:spPr>
          <a:xfrm>
            <a:off x="6400800" y="4876800"/>
            <a:ext cx="457200" cy="0"/>
          </a:xfrm>
          <a:prstGeom prst="line">
            <a:avLst/>
          </a:prstGeom>
          <a:ln w="381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8446" name="Picture 29" descr="E:\电子教案\wb01508_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62484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47" name="Text Box 30">
            <a:hlinkClick r:id="rId3" action="ppaction://hlinksldjump"/>
          </p:cNvPr>
          <p:cNvSpPr txBox="1"/>
          <p:nvPr/>
        </p:nvSpPr>
        <p:spPr>
          <a:xfrm>
            <a:off x="7772400" y="62484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nimBg="1"/>
      <p:bldP spid="17413" grpId="0"/>
      <p:bldP spid="174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0418" name="Object 1026"/>
          <p:cNvGraphicFramePr>
            <a:graphicFrameLocks noChangeAspect="1"/>
          </p:cNvGraphicFramePr>
          <p:nvPr/>
        </p:nvGraphicFramePr>
        <p:xfrm>
          <a:off x="762000" y="3352800"/>
          <a:ext cx="80010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5991225" imgH="2352675" progId="Paint.Picture">
                  <p:embed/>
                </p:oleObj>
              </mc:Choice>
              <mc:Fallback>
                <p:oleObj name="" r:id="rId1" imgW="5991225" imgH="2352675" progId="Paint.Picture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2000" y="3352800"/>
                        <a:ext cx="8001000" cy="335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3" name="Line 1031"/>
          <p:cNvSpPr/>
          <p:nvPr/>
        </p:nvSpPr>
        <p:spPr>
          <a:xfrm>
            <a:off x="5181600" y="4572000"/>
            <a:ext cx="914400" cy="0"/>
          </a:xfrm>
          <a:prstGeom prst="line">
            <a:avLst/>
          </a:prstGeom>
          <a:ln w="38100" cap="flat" cmpd="sng">
            <a:solidFill>
              <a:srgbClr val="9900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60424" name="Line 1032"/>
          <p:cNvSpPr/>
          <p:nvPr/>
        </p:nvSpPr>
        <p:spPr>
          <a:xfrm>
            <a:off x="6096000" y="4572000"/>
            <a:ext cx="0" cy="1066800"/>
          </a:xfrm>
          <a:prstGeom prst="line">
            <a:avLst/>
          </a:prstGeom>
          <a:ln w="38100" cap="flat" cmpd="sng">
            <a:solidFill>
              <a:srgbClr val="9900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60425" name="Text Box 1033"/>
          <p:cNvSpPr txBox="1"/>
          <p:nvPr/>
        </p:nvSpPr>
        <p:spPr>
          <a:xfrm>
            <a:off x="5638800" y="5638800"/>
            <a:ext cx="63976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990000"/>
                </a:solidFill>
              </a:rPr>
              <a:t>V</a:t>
            </a:r>
            <a:r>
              <a:rPr lang="en-US" altLang="zh-CN" sz="2400" baseline="-25000" dirty="0">
                <a:solidFill>
                  <a:srgbClr val="990000"/>
                </a:solidFill>
              </a:rPr>
              <a:t>off</a:t>
            </a:r>
            <a:endParaRPr lang="en-US" altLang="zh-CN" sz="2400" dirty="0">
              <a:solidFill>
                <a:srgbClr val="990000"/>
              </a:solidFill>
            </a:endParaRPr>
          </a:p>
        </p:txBody>
      </p:sp>
      <p:sp>
        <p:nvSpPr>
          <p:cNvPr id="60426" name="Text Box 1034"/>
          <p:cNvSpPr txBox="1"/>
          <p:nvPr/>
        </p:nvSpPr>
        <p:spPr>
          <a:xfrm>
            <a:off x="4368800" y="4343400"/>
            <a:ext cx="660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/>
              <a:t>V</a:t>
            </a:r>
            <a:r>
              <a:rPr lang="en-US" altLang="zh-CN" sz="2400" baseline="-25000" dirty="0"/>
              <a:t>SH</a:t>
            </a:r>
            <a:endParaRPr lang="en-US" altLang="zh-CN" sz="2400" dirty="0"/>
          </a:p>
        </p:txBody>
      </p:sp>
      <p:sp>
        <p:nvSpPr>
          <p:cNvPr id="60427" name="Line 1035"/>
          <p:cNvSpPr/>
          <p:nvPr/>
        </p:nvSpPr>
        <p:spPr>
          <a:xfrm>
            <a:off x="5181600" y="5334000"/>
            <a:ext cx="1219200" cy="0"/>
          </a:xfrm>
          <a:prstGeom prst="line">
            <a:avLst/>
          </a:prstGeom>
          <a:ln w="38100" cap="flat" cmpd="sng">
            <a:solidFill>
              <a:srgbClr val="00FF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60428" name="Line 1036"/>
          <p:cNvSpPr/>
          <p:nvPr/>
        </p:nvSpPr>
        <p:spPr>
          <a:xfrm>
            <a:off x="6324600" y="5334000"/>
            <a:ext cx="0" cy="228600"/>
          </a:xfrm>
          <a:prstGeom prst="line">
            <a:avLst/>
          </a:prstGeom>
          <a:ln w="38100" cap="flat" cmpd="sng">
            <a:solidFill>
              <a:srgbClr val="00FF00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60429" name="Text Box 1037"/>
          <p:cNvSpPr txBox="1"/>
          <p:nvPr/>
        </p:nvSpPr>
        <p:spPr>
          <a:xfrm>
            <a:off x="6253163" y="5638800"/>
            <a:ext cx="604837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solidFill>
                  <a:srgbClr val="00FF00"/>
                </a:solidFill>
              </a:rPr>
              <a:t>V</a:t>
            </a:r>
            <a:r>
              <a:rPr lang="en-US" altLang="zh-CN" sz="2400" baseline="-25000" dirty="0">
                <a:solidFill>
                  <a:srgbClr val="00FF00"/>
                </a:solidFill>
              </a:rPr>
              <a:t>on</a:t>
            </a:r>
            <a:endParaRPr lang="en-US" altLang="zh-CN" sz="2400" dirty="0">
              <a:solidFill>
                <a:srgbClr val="00FF00"/>
              </a:solidFill>
            </a:endParaRPr>
          </a:p>
        </p:txBody>
      </p:sp>
      <p:sp>
        <p:nvSpPr>
          <p:cNvPr id="60430" name="Text Box 1038"/>
          <p:cNvSpPr txBox="1"/>
          <p:nvPr/>
        </p:nvSpPr>
        <p:spPr>
          <a:xfrm>
            <a:off x="4467225" y="5105400"/>
            <a:ext cx="6381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/>
              <a:t>V</a:t>
            </a:r>
            <a:r>
              <a:rPr lang="en-US" altLang="zh-CN" sz="2400" baseline="-25000" dirty="0"/>
              <a:t>SL</a:t>
            </a:r>
            <a:endParaRPr lang="en-US" altLang="zh-CN" sz="2400" dirty="0"/>
          </a:p>
        </p:txBody>
      </p:sp>
      <p:sp>
        <p:nvSpPr>
          <p:cNvPr id="19467" name="Text Box 1039"/>
          <p:cNvSpPr txBox="1"/>
          <p:nvPr/>
        </p:nvSpPr>
        <p:spPr>
          <a:xfrm>
            <a:off x="4953000" y="152400"/>
            <a:ext cx="3733800" cy="10668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dist="35921" dir="2699999" algn="ctr" rotWithShape="0">
              <a:srgbClr val="808080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en-US" altLang="zh-CN" b="1" dirty="0">
                <a:solidFill>
                  <a:srgbClr val="990000"/>
                </a:solidFill>
                <a:ea typeface="隶书" panose="02010509060101010101" pitchFamily="49" charset="-122"/>
              </a:rPr>
              <a:t>“</a:t>
            </a: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</a:t>
            </a:r>
            <a:r>
              <a:rPr lang="zh-CN" altLang="en-US" b="1" dirty="0">
                <a:solidFill>
                  <a:srgbClr val="990000"/>
                </a:solidFill>
                <a:ea typeface="隶书" panose="02010509060101010101" pitchFamily="49" charset="-122"/>
              </a:rPr>
              <a:t>”</a:t>
            </a: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门的外特性及主要参数</a:t>
            </a:r>
            <a:endParaRPr lang="zh-CN" altLang="en-US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0432" name="Text Box 1040"/>
          <p:cNvSpPr txBox="1"/>
          <p:nvPr/>
        </p:nvSpPr>
        <p:spPr>
          <a:xfrm>
            <a:off x="595313" y="1295400"/>
            <a:ext cx="1809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/>
          </a:p>
        </p:txBody>
      </p:sp>
      <p:sp>
        <p:nvSpPr>
          <p:cNvPr id="60433" name="Text Box 1041"/>
          <p:cNvSpPr txBox="1"/>
          <p:nvPr/>
        </p:nvSpPr>
        <p:spPr>
          <a:xfrm>
            <a:off x="457200" y="914400"/>
            <a:ext cx="206216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>
                <a:latin typeface="宋体" panose="02010600030101010101" pitchFamily="2" charset="-122"/>
              </a:rPr>
              <a:t>抗干扰能力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60434" name="Text Box 1042"/>
          <p:cNvSpPr txBox="1"/>
          <p:nvPr/>
        </p:nvSpPr>
        <p:spPr>
          <a:xfrm>
            <a:off x="457200" y="1524000"/>
            <a:ext cx="23050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关门电平</a:t>
            </a:r>
            <a:r>
              <a:rPr lang="en-US" altLang="zh-CN" sz="2400" b="1" dirty="0"/>
              <a:t>V </a:t>
            </a:r>
            <a:r>
              <a:rPr lang="en-US" altLang="zh-CN" sz="2400" b="1" baseline="-25000" dirty="0"/>
              <a:t>OFF</a:t>
            </a:r>
            <a:r>
              <a:rPr lang="zh-CN" altLang="en-US" sz="2400" b="1" baseline="-25000" dirty="0"/>
              <a:t>：</a:t>
            </a:r>
            <a:endParaRPr lang="zh-CN" altLang="en-US" sz="2400" b="1" dirty="0"/>
          </a:p>
        </p:txBody>
      </p:sp>
      <p:sp>
        <p:nvSpPr>
          <p:cNvPr id="60435" name="Text Box 1043"/>
          <p:cNvSpPr txBox="1"/>
          <p:nvPr/>
        </p:nvSpPr>
        <p:spPr>
          <a:xfrm>
            <a:off x="2619375" y="1600200"/>
            <a:ext cx="64484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保证输出为标准高电平</a:t>
            </a:r>
            <a:r>
              <a:rPr lang="en-US" altLang="zh-CN" sz="2400" b="1" dirty="0">
                <a:solidFill>
                  <a:srgbClr val="990000"/>
                </a:solidFill>
              </a:rPr>
              <a:t>V</a:t>
            </a:r>
            <a:r>
              <a:rPr lang="en-US" altLang="zh-CN" sz="2400" b="1" baseline="-25000" dirty="0">
                <a:solidFill>
                  <a:srgbClr val="990000"/>
                </a:solidFill>
              </a:rPr>
              <a:t>SH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990000"/>
                </a:solidFill>
              </a:rPr>
              <a:t>最大</a:t>
            </a:r>
            <a:r>
              <a:rPr lang="zh-CN" altLang="en-US" sz="2400" b="1" dirty="0"/>
              <a:t>输入</a:t>
            </a:r>
            <a:r>
              <a:rPr lang="zh-CN" altLang="en-US" sz="2400" b="1" dirty="0">
                <a:solidFill>
                  <a:srgbClr val="990000"/>
                </a:solidFill>
              </a:rPr>
              <a:t>低</a:t>
            </a:r>
            <a:r>
              <a:rPr lang="zh-CN" altLang="en-US" sz="2400" b="1" dirty="0"/>
              <a:t>电平值</a:t>
            </a:r>
            <a:endParaRPr lang="zh-CN" altLang="en-US" sz="2400" b="1" dirty="0"/>
          </a:p>
        </p:txBody>
      </p:sp>
      <p:sp>
        <p:nvSpPr>
          <p:cNvPr id="60436" name="Text Box 1044"/>
          <p:cNvSpPr txBox="1"/>
          <p:nvPr/>
        </p:nvSpPr>
        <p:spPr>
          <a:xfrm>
            <a:off x="671513" y="2590800"/>
            <a:ext cx="1809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b="1" dirty="0"/>
          </a:p>
        </p:txBody>
      </p:sp>
      <p:sp>
        <p:nvSpPr>
          <p:cNvPr id="60437" name="Text Box 1045"/>
          <p:cNvSpPr txBox="1"/>
          <p:nvPr/>
        </p:nvSpPr>
        <p:spPr>
          <a:xfrm>
            <a:off x="457200" y="1981200"/>
            <a:ext cx="22034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开门电平</a:t>
            </a:r>
            <a:r>
              <a:rPr lang="en-US" altLang="zh-CN" sz="2400" b="1" dirty="0"/>
              <a:t>V </a:t>
            </a:r>
            <a:r>
              <a:rPr lang="en-US" altLang="zh-CN" sz="2400" b="1" baseline="-25000" dirty="0"/>
              <a:t>ON</a:t>
            </a:r>
            <a:r>
              <a:rPr lang="zh-CN" altLang="en-US" sz="2400" b="1" baseline="-25000" dirty="0"/>
              <a:t>：</a:t>
            </a:r>
            <a:endParaRPr lang="zh-CN" altLang="en-US" sz="2400" b="1" dirty="0"/>
          </a:p>
        </p:txBody>
      </p:sp>
      <p:sp>
        <p:nvSpPr>
          <p:cNvPr id="60438" name="Text Box 1046"/>
          <p:cNvSpPr txBox="1"/>
          <p:nvPr/>
        </p:nvSpPr>
        <p:spPr>
          <a:xfrm>
            <a:off x="2590800" y="2057400"/>
            <a:ext cx="643096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保证输出为标准低电平</a:t>
            </a:r>
            <a:r>
              <a:rPr lang="en-US" altLang="zh-CN" sz="2400" b="1" dirty="0">
                <a:solidFill>
                  <a:srgbClr val="990000"/>
                </a:solidFill>
              </a:rPr>
              <a:t>V</a:t>
            </a:r>
            <a:r>
              <a:rPr lang="en-US" altLang="zh-CN" sz="2400" b="1" baseline="-25000" dirty="0">
                <a:solidFill>
                  <a:srgbClr val="990000"/>
                </a:solidFill>
              </a:rPr>
              <a:t>SL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990000"/>
                </a:solidFill>
              </a:rPr>
              <a:t>最小</a:t>
            </a:r>
            <a:r>
              <a:rPr lang="zh-CN" altLang="en-US" sz="2400" b="1" dirty="0"/>
              <a:t>输入高电平值</a:t>
            </a:r>
            <a:endParaRPr lang="zh-CN" altLang="en-US" sz="2400" b="1" dirty="0"/>
          </a:p>
        </p:txBody>
      </p:sp>
      <p:sp>
        <p:nvSpPr>
          <p:cNvPr id="60439" name="Text Box 1047"/>
          <p:cNvSpPr txBox="1"/>
          <p:nvPr/>
        </p:nvSpPr>
        <p:spPr>
          <a:xfrm>
            <a:off x="457200" y="2514600"/>
            <a:ext cx="309721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低电平噪声容限</a:t>
            </a:r>
            <a:r>
              <a:rPr lang="en-US" altLang="zh-CN" sz="2400" b="1" dirty="0"/>
              <a:t>V </a:t>
            </a:r>
            <a:r>
              <a:rPr lang="en-US" altLang="zh-CN" sz="2400" b="1" baseline="-25000" dirty="0"/>
              <a:t>NL</a:t>
            </a:r>
            <a:r>
              <a:rPr lang="zh-CN" altLang="en-US" sz="2400" b="1" baseline="-25000" dirty="0"/>
              <a:t>：</a:t>
            </a:r>
            <a:endParaRPr lang="zh-CN" altLang="en-US" sz="2400" b="1" dirty="0"/>
          </a:p>
        </p:txBody>
      </p:sp>
      <p:sp>
        <p:nvSpPr>
          <p:cNvPr id="60441" name="Text Box 1049"/>
          <p:cNvSpPr txBox="1"/>
          <p:nvPr/>
        </p:nvSpPr>
        <p:spPr>
          <a:xfrm>
            <a:off x="3597275" y="2514600"/>
            <a:ext cx="237648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V </a:t>
            </a:r>
            <a:r>
              <a:rPr lang="en-US" altLang="zh-CN" sz="2400" b="1" baseline="-25000" dirty="0"/>
              <a:t>NL= </a:t>
            </a:r>
            <a:r>
              <a:rPr lang="en-US" altLang="zh-CN" sz="2400" b="1" dirty="0"/>
              <a:t>V </a:t>
            </a:r>
            <a:r>
              <a:rPr lang="en-US" altLang="zh-CN" sz="2400" b="1" baseline="-25000" dirty="0"/>
              <a:t>OFF  </a:t>
            </a:r>
            <a:r>
              <a:rPr lang="en-US" altLang="zh-CN" sz="2400" b="1" dirty="0"/>
              <a:t>- V</a:t>
            </a:r>
            <a:r>
              <a:rPr lang="en-US" altLang="zh-CN" sz="2400" b="1" baseline="-25000" dirty="0"/>
              <a:t>SL</a:t>
            </a:r>
            <a:endParaRPr lang="en-US" altLang="zh-CN" sz="2400" b="1" baseline="-25000" dirty="0"/>
          </a:p>
        </p:txBody>
      </p:sp>
      <p:sp>
        <p:nvSpPr>
          <p:cNvPr id="60442" name="Text Box 1050"/>
          <p:cNvSpPr txBox="1"/>
          <p:nvPr/>
        </p:nvSpPr>
        <p:spPr>
          <a:xfrm>
            <a:off x="460375" y="2971800"/>
            <a:ext cx="3121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高电平噪声容限</a:t>
            </a:r>
            <a:r>
              <a:rPr lang="en-US" altLang="zh-CN" sz="2400" b="1" dirty="0"/>
              <a:t>V </a:t>
            </a:r>
            <a:r>
              <a:rPr lang="en-US" altLang="zh-CN" sz="2400" b="1" baseline="-25000" dirty="0"/>
              <a:t>NH</a:t>
            </a:r>
            <a:r>
              <a:rPr lang="zh-CN" altLang="en-US" sz="2400" b="1" baseline="-25000" dirty="0"/>
              <a:t>：</a:t>
            </a:r>
            <a:endParaRPr lang="zh-CN" altLang="en-US" sz="2400" b="1" dirty="0"/>
          </a:p>
        </p:txBody>
      </p:sp>
      <p:sp>
        <p:nvSpPr>
          <p:cNvPr id="60443" name="Text Box 1051"/>
          <p:cNvSpPr txBox="1"/>
          <p:nvPr/>
        </p:nvSpPr>
        <p:spPr>
          <a:xfrm>
            <a:off x="3654425" y="2971800"/>
            <a:ext cx="232251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V </a:t>
            </a:r>
            <a:r>
              <a:rPr lang="en-US" altLang="zh-CN" sz="2400" b="1" baseline="-25000" dirty="0"/>
              <a:t>NH= </a:t>
            </a:r>
            <a:r>
              <a:rPr lang="en-US" altLang="zh-CN" sz="2400" b="1" dirty="0"/>
              <a:t>V </a:t>
            </a:r>
            <a:r>
              <a:rPr lang="en-US" altLang="zh-CN" sz="2400" b="1" baseline="-25000" dirty="0"/>
              <a:t>SH  </a:t>
            </a:r>
            <a:r>
              <a:rPr lang="en-US" altLang="zh-CN" sz="2400" b="1" dirty="0"/>
              <a:t>- V</a:t>
            </a:r>
            <a:r>
              <a:rPr lang="en-US" altLang="zh-CN" sz="2400" b="1" baseline="-25000" dirty="0"/>
              <a:t>ON</a:t>
            </a:r>
            <a:endParaRPr lang="en-US" altLang="zh-CN" sz="2400" b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0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0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5" grpId="0"/>
      <p:bldP spid="60426" grpId="0"/>
      <p:bldP spid="60429" grpId="0"/>
      <p:bldP spid="60430" grpId="0"/>
      <p:bldP spid="60432" grpId="0"/>
      <p:bldP spid="60433" grpId="0"/>
      <p:bldP spid="60434" grpId="0"/>
      <p:bldP spid="60435" grpId="0"/>
      <p:bldP spid="60436" grpId="0"/>
      <p:bldP spid="60437" grpId="0"/>
      <p:bldP spid="60438" grpId="0"/>
      <p:bldP spid="60439" grpId="0"/>
      <p:bldP spid="60441" grpId="0"/>
      <p:bldP spid="60442" grpId="0"/>
      <p:bldP spid="604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8400" y="333375"/>
            <a:ext cx="5327650" cy="2532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323850" y="3068638"/>
            <a:ext cx="8712200" cy="37861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2667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当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上升到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TTL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与非门的关门电平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OFF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后，所对应的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称作关门电阻，用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OFF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表示。标准系列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TTL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门电路的关门电平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OFF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=0.8V</a:t>
            </a:r>
            <a:r>
              <a:rPr kumimoji="1" lang="zh-CN" altLang="zh-CN" sz="2400" b="1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，可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计算出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OFF 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=0.91KΩ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。所以两个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TTL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门电路通过一个电阻串接时，电阻的阻值不应超过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0.91 KΩ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。一般常选用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OFF 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≤0.7 KΩ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当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随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的增大而上升到输入高电平的最小值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IH(min)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时，与非门由截止转为饱和状态，此时对应的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称为开门电阻，用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ON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表示。由于此时的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已导通，所以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ON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不能用前面公式确定。可由试验方法确定，或由输入负载特性曲线得到。对于标准系列的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TTL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门电路，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ON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约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2.5KΩ</a:t>
            </a:r>
            <a:r>
              <a:rPr kumimoji="1" lang="zh-CN" altLang="zh-CN" sz="105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。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一般常选用</a:t>
            </a:r>
            <a:r>
              <a:rPr kumimoji="1" lang="en-US" altLang="zh-CN" sz="2400" b="1" i="1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400" b="1" i="0" u="none" strike="noStrike" kern="1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ON </a:t>
            </a:r>
            <a:r>
              <a:rPr kumimoji="1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≥3KΩ</a:t>
            </a:r>
            <a:r>
              <a:rPr kumimoji="1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4" name="矩形 3"/>
          <p:cNvSpPr/>
          <p:nvPr/>
        </p:nvSpPr>
        <p:spPr>
          <a:xfrm>
            <a:off x="323850" y="549275"/>
            <a:ext cx="2592388" cy="558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rgbClr val="CC3300"/>
                </a:solidFill>
              </a:rPr>
              <a:t>输入负载特性</a:t>
            </a:r>
            <a:endParaRPr lang="zh-CN" altLang="en-US" sz="2800" b="1" dirty="0">
              <a:solidFill>
                <a:srgbClr val="CC33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ext Box 2"/>
          <p:cNvSpPr txBox="1"/>
          <p:nvPr/>
        </p:nvSpPr>
        <p:spPr>
          <a:xfrm>
            <a:off x="942975" y="533400"/>
            <a:ext cx="6600825" cy="579438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en-US" altLang="zh-CN" b="1" dirty="0">
                <a:solidFill>
                  <a:srgbClr val="990000"/>
                </a:solidFill>
                <a:ea typeface="隶书" panose="02010509060101010101" pitchFamily="49" charset="-122"/>
              </a:rPr>
              <a:t>“</a:t>
            </a: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</a:t>
            </a:r>
            <a:r>
              <a:rPr lang="zh-CN" altLang="en-US" b="1" dirty="0">
                <a:solidFill>
                  <a:srgbClr val="990000"/>
                </a:solidFill>
                <a:ea typeface="隶书" panose="02010509060101010101" pitchFamily="49" charset="-122"/>
              </a:rPr>
              <a:t>”</a:t>
            </a: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门的外特性及主要参数</a:t>
            </a:r>
            <a:endParaRPr lang="zh-CN" altLang="en-US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8435" name="Text Box 3"/>
          <p:cNvSpPr txBox="1"/>
          <p:nvPr/>
        </p:nvSpPr>
        <p:spPr>
          <a:xfrm>
            <a:off x="762000" y="1295400"/>
            <a:ext cx="17541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>
                <a:latin typeface="宋体" panose="02010600030101010101" pitchFamily="2" charset="-122"/>
              </a:rPr>
              <a:t>输入特性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18436" name="Text Box 4"/>
          <p:cNvSpPr txBox="1"/>
          <p:nvPr/>
        </p:nvSpPr>
        <p:spPr>
          <a:xfrm>
            <a:off x="762000" y="1981200"/>
            <a:ext cx="782161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输入电流与输入电压之间的关系曲线，即</a:t>
            </a:r>
            <a:r>
              <a:rPr lang="en-US" altLang="zh-CN" sz="2400" b="1" dirty="0"/>
              <a:t>I</a:t>
            </a:r>
            <a:r>
              <a:rPr lang="en-US" altLang="zh-CN" sz="2400" b="1" baseline="-25000" dirty="0"/>
              <a:t>I </a:t>
            </a:r>
            <a:r>
              <a:rPr lang="en-US" altLang="zh-CN" sz="2400" b="1" dirty="0"/>
              <a:t>= f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I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grpSp>
        <p:nvGrpSpPr>
          <p:cNvPr id="2" name="Group 7"/>
          <p:cNvGrpSpPr/>
          <p:nvPr/>
        </p:nvGrpSpPr>
        <p:grpSpPr>
          <a:xfrm>
            <a:off x="5791200" y="304800"/>
            <a:ext cx="2667000" cy="1524000"/>
            <a:chOff x="3648" y="192"/>
            <a:chExt cx="1680" cy="960"/>
          </a:xfrm>
        </p:grpSpPr>
        <p:sp>
          <p:nvSpPr>
            <p:cNvPr id="21520" name="AutoShape 5"/>
            <p:cNvSpPr/>
            <p:nvPr/>
          </p:nvSpPr>
          <p:spPr>
            <a:xfrm>
              <a:off x="3648" y="192"/>
              <a:ext cx="1680" cy="960"/>
            </a:xfrm>
            <a:prstGeom prst="wedgeRoundRectCallout">
              <a:avLst>
                <a:gd name="adj1" fmla="val -23569"/>
                <a:gd name="adj2" fmla="val 63023"/>
                <a:gd name="adj3" fmla="val 16667"/>
              </a:avLst>
            </a:prstGeom>
            <a:gradFill rotWithShape="0">
              <a:gsLst>
                <a:gs pos="0">
                  <a:srgbClr val="767600"/>
                </a:gs>
                <a:gs pos="100000">
                  <a:srgbClr val="FFFF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21521" name="Text Box 6"/>
            <p:cNvSpPr txBox="1"/>
            <p:nvPr/>
          </p:nvSpPr>
          <p:spPr>
            <a:xfrm>
              <a:off x="3648" y="288"/>
              <a:ext cx="1680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假定输入电流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I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流入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1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发射极时方向为正，反之为负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18440" name="Text Box 8"/>
          <p:cNvSpPr txBox="1"/>
          <p:nvPr/>
        </p:nvSpPr>
        <p:spPr>
          <a:xfrm>
            <a:off x="762000" y="2514600"/>
            <a:ext cx="6578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1. </a:t>
            </a:r>
            <a:r>
              <a:rPr lang="zh-CN" altLang="en-US" sz="2400" b="1" dirty="0"/>
              <a:t>输入短路电流</a:t>
            </a:r>
            <a:r>
              <a:rPr lang="en-US" altLang="zh-CN" sz="2400" b="1" dirty="0"/>
              <a:t>I</a:t>
            </a:r>
            <a:r>
              <a:rPr lang="en-US" altLang="zh-CN" sz="2400" b="1" baseline="-25000" dirty="0"/>
              <a:t>SD</a:t>
            </a:r>
            <a:r>
              <a:rPr lang="zh-CN" altLang="en-US" sz="2400" b="1" dirty="0"/>
              <a:t>（也叫输入低电平电流</a:t>
            </a:r>
            <a:r>
              <a:rPr lang="en-US" altLang="zh-CN" sz="2400" b="1" dirty="0"/>
              <a:t>I</a:t>
            </a:r>
            <a:r>
              <a:rPr lang="en-US" altLang="zh-CN" sz="2400" b="1" baseline="-25000" dirty="0"/>
              <a:t>IL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  <p:sp>
        <p:nvSpPr>
          <p:cNvPr id="18441" name="Text Box 9"/>
          <p:cNvSpPr txBox="1"/>
          <p:nvPr/>
        </p:nvSpPr>
        <p:spPr>
          <a:xfrm>
            <a:off x="942975" y="3048000"/>
            <a:ext cx="46958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当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IL</a:t>
            </a:r>
            <a:r>
              <a:rPr lang="en-US" altLang="zh-CN" sz="2400" b="1" dirty="0"/>
              <a:t> = 0V</a:t>
            </a:r>
            <a:r>
              <a:rPr lang="zh-CN" altLang="en-US" sz="2400" b="1" dirty="0"/>
              <a:t>时由输入端流出的电流</a:t>
            </a:r>
            <a:endParaRPr lang="zh-CN" altLang="en-US" sz="2400" b="1" dirty="0"/>
          </a:p>
        </p:txBody>
      </p:sp>
      <p:graphicFrame>
        <p:nvGraphicFramePr>
          <p:cNvPr id="18442" name="Object 10"/>
          <p:cNvGraphicFramePr>
            <a:graphicFrameLocks noChangeAspect="1"/>
          </p:cNvGraphicFramePr>
          <p:nvPr/>
        </p:nvGraphicFramePr>
        <p:xfrm>
          <a:off x="1295400" y="3581400"/>
          <a:ext cx="5715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2286000" imgH="431800" progId="Equation.3">
                  <p:embed/>
                </p:oleObj>
              </mc:Choice>
              <mc:Fallback>
                <p:oleObj name="" r:id="rId1" imgW="2286000" imgH="4318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5400" y="3581400"/>
                        <a:ext cx="57150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/>
          <p:cNvGrpSpPr/>
          <p:nvPr/>
        </p:nvGrpSpPr>
        <p:grpSpPr>
          <a:xfrm>
            <a:off x="1371600" y="2514600"/>
            <a:ext cx="4191000" cy="1143000"/>
            <a:chOff x="1248" y="2736"/>
            <a:chExt cx="2640" cy="720"/>
          </a:xfrm>
        </p:grpSpPr>
        <p:sp>
          <p:nvSpPr>
            <p:cNvPr id="21518" name="AutoShape 12"/>
            <p:cNvSpPr/>
            <p:nvPr/>
          </p:nvSpPr>
          <p:spPr>
            <a:xfrm>
              <a:off x="1296" y="2736"/>
              <a:ext cx="2592" cy="720"/>
            </a:xfrm>
            <a:prstGeom prst="wedgeRoundRectCallout">
              <a:avLst>
                <a:gd name="adj1" fmla="val -45602"/>
                <a:gd name="adj2" fmla="val 71389"/>
                <a:gd name="adj3" fmla="val 16667"/>
              </a:avLst>
            </a:prstGeom>
            <a:gradFill rotWithShape="0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21519" name="Text Box 11"/>
            <p:cNvSpPr txBox="1"/>
            <p:nvPr/>
          </p:nvSpPr>
          <p:spPr>
            <a:xfrm>
              <a:off x="1248" y="2842"/>
              <a:ext cx="2597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前级驱动门导通时，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IL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将灌入前级门，称为灌电流负载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18446" name="Text Box 14"/>
          <p:cNvSpPr txBox="1"/>
          <p:nvPr/>
        </p:nvSpPr>
        <p:spPr>
          <a:xfrm>
            <a:off x="762000" y="4648200"/>
            <a:ext cx="530066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2. </a:t>
            </a:r>
            <a:r>
              <a:rPr lang="zh-CN" altLang="en-US" sz="2400" b="1" dirty="0"/>
              <a:t>输入漏电流</a:t>
            </a:r>
            <a:r>
              <a:rPr lang="en-US" altLang="zh-CN" sz="2400" b="1" dirty="0"/>
              <a:t>I</a:t>
            </a:r>
            <a:r>
              <a:rPr lang="en-US" altLang="zh-CN" sz="2400" b="1" baseline="-25000" dirty="0"/>
              <a:t>IH</a:t>
            </a:r>
            <a:r>
              <a:rPr lang="zh-CN" altLang="en-US" sz="2400" b="1" dirty="0"/>
              <a:t>（输入高电平电流）</a:t>
            </a:r>
            <a:endParaRPr lang="zh-CN" altLang="en-US" sz="2400" b="1" dirty="0"/>
          </a:p>
        </p:txBody>
      </p:sp>
      <p:sp>
        <p:nvSpPr>
          <p:cNvPr id="18447" name="Text Box 15"/>
          <p:cNvSpPr txBox="1"/>
          <p:nvPr/>
        </p:nvSpPr>
        <p:spPr>
          <a:xfrm>
            <a:off x="838200" y="5227638"/>
            <a:ext cx="76200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指一个输入端接高电平，其余输入端接低电平，经该输入端流入的电流。约</a:t>
            </a:r>
            <a:r>
              <a:rPr lang="en-US" altLang="zh-CN" sz="2400" b="1" dirty="0"/>
              <a:t>10</a:t>
            </a:r>
            <a:r>
              <a:rPr lang="en-US" altLang="zh-CN" sz="2400" b="1" dirty="0">
                <a:latin typeface="宋体" panose="02010600030101010101" pitchFamily="2" charset="-122"/>
              </a:rPr>
              <a:t>μA</a:t>
            </a:r>
            <a:r>
              <a:rPr lang="zh-CN" altLang="en-US" sz="2400" b="1" dirty="0"/>
              <a:t>左右</a:t>
            </a:r>
            <a:endParaRPr lang="zh-CN" altLang="en-US" sz="2400" b="1" dirty="0"/>
          </a:p>
        </p:txBody>
      </p:sp>
      <p:pic>
        <p:nvPicPr>
          <p:cNvPr id="21516" name="Picture 18" descr="E:\电子教案\wb01508_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61722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7" name="Text Box 19">
            <a:hlinkClick r:id="rId3" action="ppaction://hlinksldjump"/>
          </p:cNvPr>
          <p:cNvSpPr txBox="1"/>
          <p:nvPr/>
        </p:nvSpPr>
        <p:spPr>
          <a:xfrm>
            <a:off x="7467600" y="61722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/>
      <p:bldP spid="18436" grpId="0"/>
      <p:bldP spid="18440" grpId="0"/>
      <p:bldP spid="18441" grpId="0"/>
      <p:bldP spid="18446" grpId="0"/>
      <p:bldP spid="184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61" name="Text Box 5"/>
          <p:cNvSpPr txBox="1"/>
          <p:nvPr/>
        </p:nvSpPr>
        <p:spPr>
          <a:xfrm>
            <a:off x="849313" y="1252538"/>
            <a:ext cx="3871912" cy="604837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  </a:t>
            </a:r>
            <a:r>
              <a:rPr lang="zh-CN" altLang="en-US" sz="2400" b="1" dirty="0">
                <a:latin typeface="宋体" panose="02010600030101010101" pitchFamily="2" charset="-122"/>
              </a:rPr>
              <a:t>扇入系数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和扇出系数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O</a:t>
            </a:r>
            <a:endParaRPr lang="en-US" altLang="zh-CN" sz="2400" b="1" baseline="-25000" dirty="0">
              <a:latin typeface="宋体" panose="02010600030101010101" pitchFamily="2" charset="-122"/>
            </a:endParaRPr>
          </a:p>
        </p:txBody>
      </p:sp>
      <p:sp>
        <p:nvSpPr>
          <p:cNvPr id="19462" name="Text Box 6"/>
          <p:cNvSpPr txBox="1"/>
          <p:nvPr/>
        </p:nvSpPr>
        <p:spPr>
          <a:xfrm>
            <a:off x="1219200" y="1868488"/>
            <a:ext cx="5480050" cy="53022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1. </a:t>
            </a:r>
            <a:r>
              <a:rPr lang="zh-CN" altLang="en-US" sz="2400" b="1" dirty="0">
                <a:latin typeface="宋体" panose="02010600030101010101" pitchFamily="2" charset="-122"/>
              </a:rPr>
              <a:t>扇入系数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是指合格的输入端的个数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9463" name="Text Box 7"/>
          <p:cNvSpPr txBox="1"/>
          <p:nvPr/>
        </p:nvSpPr>
        <p:spPr>
          <a:xfrm>
            <a:off x="1143000" y="2259013"/>
            <a:ext cx="6969125" cy="9683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2. </a:t>
            </a:r>
            <a:r>
              <a:rPr lang="zh-CN" altLang="en-US" sz="2400" b="1" dirty="0">
                <a:latin typeface="宋体" panose="02010600030101010101" pitchFamily="2" charset="-122"/>
              </a:rPr>
              <a:t>扇出系数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O</a:t>
            </a:r>
            <a:r>
              <a:rPr lang="zh-CN" altLang="en-US" sz="2400" b="1" dirty="0">
                <a:latin typeface="宋体" panose="02010600030101010101" pitchFamily="2" charset="-122"/>
              </a:rPr>
              <a:t>是指在灌电流（输出低电平）状态下驱动同类门的个数。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2209800" y="3276600"/>
          <a:ext cx="35814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927100" imgH="228600" progId="Equation.3">
                  <p:embed/>
                </p:oleObj>
              </mc:Choice>
              <mc:Fallback>
                <p:oleObj name="" r:id="rId1" imgW="927100" imgH="2286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9800" y="3276600"/>
                        <a:ext cx="3581400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Text Box 9"/>
          <p:cNvSpPr txBox="1"/>
          <p:nvPr/>
        </p:nvSpPr>
        <p:spPr>
          <a:xfrm>
            <a:off x="1471613" y="3732213"/>
            <a:ext cx="6376987" cy="14065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其中</a:t>
            </a:r>
            <a:r>
              <a:rPr lang="en-US" altLang="zh-CN" sz="2400" b="1" dirty="0">
                <a:latin typeface="宋体" panose="02010600030101010101" pitchFamily="2" charset="-122"/>
              </a:rPr>
              <a:t>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OLmax</a:t>
            </a:r>
            <a:r>
              <a:rPr lang="zh-CN" altLang="en-US" sz="2400" b="1" dirty="0">
                <a:latin typeface="宋体" panose="02010600030101010101" pitchFamily="2" charset="-122"/>
              </a:rPr>
              <a:t>为最大允许灌电流，</a:t>
            </a:r>
            <a:r>
              <a:rPr lang="en-US" altLang="zh-CN" sz="2400" b="1" dirty="0">
                <a:latin typeface="宋体" panose="02010600030101010101" pitchFamily="2" charset="-122"/>
              </a:rPr>
              <a:t>,I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IL</a:t>
            </a:r>
            <a:r>
              <a:rPr lang="zh-CN" altLang="en-US" sz="2400" b="1" dirty="0">
                <a:latin typeface="宋体" panose="02010600030101010101" pitchFamily="2" charset="-122"/>
              </a:rPr>
              <a:t>是一个负载门灌入本级的电流（≈</a:t>
            </a:r>
            <a:r>
              <a:rPr lang="en-US" altLang="zh-CN" sz="2400" b="1" dirty="0">
                <a:latin typeface="宋体" panose="02010600030101010101" pitchFamily="2" charset="-122"/>
              </a:rPr>
              <a:t>1.4mA</a:t>
            </a:r>
            <a:r>
              <a:rPr lang="zh-CN" altLang="en-US" sz="2400" b="1" dirty="0">
                <a:latin typeface="宋体" panose="02010600030101010101" pitchFamily="2" charset="-122"/>
              </a:rPr>
              <a:t>）。</a:t>
            </a:r>
            <a:r>
              <a:rPr lang="en-US" altLang="zh-CN" sz="2400" b="1" dirty="0">
                <a:latin typeface="宋体" panose="02010600030101010101" pitchFamily="2" charset="-122"/>
              </a:rPr>
              <a:t>No</a:t>
            </a:r>
            <a:r>
              <a:rPr lang="zh-CN" altLang="en-US" sz="2400" b="1" dirty="0">
                <a:latin typeface="宋体" panose="02010600030101010101" pitchFamily="2" charset="-122"/>
              </a:rPr>
              <a:t>越大，说明门的负载能力越强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pic>
        <p:nvPicPr>
          <p:cNvPr id="22535" name="Picture 14" descr="E:\电子教案\wb01508_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59436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6" name="Text Box 15">
            <a:hlinkClick r:id="rId3" action="ppaction://hlinksldjump"/>
          </p:cNvPr>
          <p:cNvSpPr txBox="1"/>
          <p:nvPr/>
        </p:nvSpPr>
        <p:spPr>
          <a:xfrm>
            <a:off x="6781800" y="59436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  <p:sp>
        <p:nvSpPr>
          <p:cNvPr id="22537" name="Text Box 16"/>
          <p:cNvSpPr txBox="1"/>
          <p:nvPr/>
        </p:nvSpPr>
        <p:spPr>
          <a:xfrm>
            <a:off x="1371600" y="533400"/>
            <a:ext cx="6400800" cy="579438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en-US" altLang="zh-CN" b="1" dirty="0">
                <a:solidFill>
                  <a:srgbClr val="990000"/>
                </a:solidFill>
                <a:ea typeface="隶书" panose="02010509060101010101" pitchFamily="49" charset="-122"/>
              </a:rPr>
              <a:t>“</a:t>
            </a: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</a:t>
            </a:r>
            <a:r>
              <a:rPr lang="zh-CN" altLang="en-US" b="1" dirty="0">
                <a:solidFill>
                  <a:srgbClr val="990000"/>
                </a:solidFill>
                <a:ea typeface="隶书" panose="02010509060101010101" pitchFamily="49" charset="-122"/>
              </a:rPr>
              <a:t>”</a:t>
            </a: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门的外特性及主要参数</a:t>
            </a:r>
            <a:endParaRPr lang="zh-CN" altLang="en-US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  <p:bldP spid="19462" grpId="0"/>
      <p:bldP spid="19463" grpId="0"/>
      <p:bldP spid="194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7"/>
          <p:cNvGrpSpPr/>
          <p:nvPr/>
        </p:nvGrpSpPr>
        <p:grpSpPr>
          <a:xfrm>
            <a:off x="838200" y="1752600"/>
            <a:ext cx="7924800" cy="4572000"/>
            <a:chOff x="528" y="1104"/>
            <a:chExt cx="4992" cy="2880"/>
          </a:xfrm>
        </p:grpSpPr>
        <p:graphicFrame>
          <p:nvGraphicFramePr>
            <p:cNvPr id="23574" name="Object 5"/>
            <p:cNvGraphicFramePr>
              <a:graphicFrameLocks noChangeAspect="1"/>
            </p:cNvGraphicFramePr>
            <p:nvPr/>
          </p:nvGraphicFramePr>
          <p:xfrm>
            <a:off x="2688" y="1667"/>
            <a:ext cx="2832" cy="2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" imgW="2800350" imgH="2247900" progId="Paint.Picture">
                    <p:embed/>
                  </p:oleObj>
                </mc:Choice>
                <mc:Fallback>
                  <p:oleObj name="" r:id="rId1" imgW="2800350" imgH="2247900" progId="Paint.Picture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688" y="1667"/>
                          <a:ext cx="2832" cy="23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5" name="Rectangle 12"/>
            <p:cNvSpPr/>
            <p:nvPr/>
          </p:nvSpPr>
          <p:spPr>
            <a:xfrm>
              <a:off x="528" y="1104"/>
              <a:ext cx="4992" cy="288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</p:grpSp>
      <p:sp>
        <p:nvSpPr>
          <p:cNvPr id="20482" name="Text Box 2"/>
          <p:cNvSpPr txBox="1"/>
          <p:nvPr/>
        </p:nvSpPr>
        <p:spPr>
          <a:xfrm>
            <a:off x="768350" y="1143000"/>
            <a:ext cx="3328988" cy="604838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>
                <a:latin typeface="宋体" panose="02010600030101010101" pitchFamily="2" charset="-122"/>
              </a:rPr>
              <a:t>平均传输延迟时间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pd</a:t>
            </a:r>
            <a:endParaRPr lang="en-US" altLang="zh-CN" sz="2400" b="1" baseline="-25000" dirty="0">
              <a:latin typeface="宋体" panose="02010600030101010101" pitchFamily="2" charset="-122"/>
            </a:endParaRPr>
          </a:p>
        </p:txBody>
      </p:sp>
      <p:sp>
        <p:nvSpPr>
          <p:cNvPr id="20483" name="Text Box 3"/>
          <p:cNvSpPr txBox="1"/>
          <p:nvPr/>
        </p:nvSpPr>
        <p:spPr>
          <a:xfrm>
            <a:off x="838200" y="1752600"/>
            <a:ext cx="7040563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导通延迟时间</a:t>
            </a:r>
            <a:r>
              <a: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rgbClr val="CC3300"/>
                </a:solidFill>
                <a:latin typeface="宋体" panose="02010600030101010101" pitchFamily="2" charset="-122"/>
              </a:rPr>
              <a:t>PH</a:t>
            </a:r>
            <a:r>
              <a:rPr lang="zh-CN" altLang="en-US" sz="2400" b="1" baseline="-25000" dirty="0">
                <a:latin typeface="宋体" panose="02010600030101010101" pitchFamily="2" charset="-122"/>
              </a:rPr>
              <a:t>：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L</a:t>
            </a:r>
            <a:r>
              <a:rPr lang="zh-CN" altLang="en-US" sz="2400" b="1" dirty="0">
                <a:latin typeface="宋体" panose="02010600030101010101" pitchFamily="2" charset="-122"/>
              </a:rPr>
              <a:t>输入波形上升沿的</a:t>
            </a:r>
            <a:r>
              <a:rPr lang="en-US" altLang="zh-CN" sz="2400" b="1" dirty="0">
                <a:latin typeface="宋体" panose="02010600030101010101" pitchFamily="2" charset="-122"/>
              </a:rPr>
              <a:t>50%</a:t>
            </a:r>
            <a:r>
              <a:rPr lang="zh-CN" altLang="en-US" sz="2400" b="1" dirty="0">
                <a:latin typeface="宋体" panose="02010600030101010101" pitchFamily="2" charset="-122"/>
              </a:rPr>
              <a:t>幅值处到输出波形下降沿</a:t>
            </a:r>
            <a:r>
              <a:rPr lang="en-US" altLang="zh-CN" sz="2400" b="1" dirty="0">
                <a:latin typeface="宋体" panose="02010600030101010101" pitchFamily="2" charset="-122"/>
              </a:rPr>
              <a:t>50% </a:t>
            </a:r>
            <a:r>
              <a:rPr lang="zh-CN" altLang="en-US" sz="2400" b="1" dirty="0">
                <a:latin typeface="宋体" panose="02010600030101010101" pitchFamily="2" charset="-122"/>
              </a:rPr>
              <a:t>幅值处所需要的时间，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20487" name="Line 7"/>
          <p:cNvSpPr/>
          <p:nvPr/>
        </p:nvSpPr>
        <p:spPr>
          <a:xfrm>
            <a:off x="3200400" y="2590800"/>
            <a:ext cx="2514600" cy="2209800"/>
          </a:xfrm>
          <a:prstGeom prst="line">
            <a:avLst/>
          </a:prstGeom>
          <a:ln w="7620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488" name="Text Box 8"/>
          <p:cNvSpPr txBox="1"/>
          <p:nvPr/>
        </p:nvSpPr>
        <p:spPr>
          <a:xfrm>
            <a:off x="838200" y="2654300"/>
            <a:ext cx="3352800" cy="19177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截止延迟时间</a:t>
            </a:r>
            <a:r>
              <a:rPr lang="en-US" altLang="zh-CN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宋体" panose="02010600030101010101" pitchFamily="2" charset="-122"/>
              </a:rPr>
              <a:t>PLH</a:t>
            </a:r>
            <a:r>
              <a:rPr lang="zh-CN" altLang="en-US" sz="2400" b="1" baseline="-25000" dirty="0">
                <a:latin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宋体" panose="02010600030101010101" pitchFamily="2" charset="-122"/>
              </a:rPr>
              <a:t>从输入波形下降沿</a:t>
            </a:r>
            <a:r>
              <a:rPr lang="en-US" altLang="zh-CN" sz="2400" b="1" dirty="0">
                <a:latin typeface="宋体" panose="02010600030101010101" pitchFamily="2" charset="-122"/>
              </a:rPr>
              <a:t>50% </a:t>
            </a:r>
            <a:r>
              <a:rPr lang="zh-CN" altLang="en-US" sz="2400" b="1" dirty="0">
                <a:latin typeface="宋体" panose="02010600030101010101" pitchFamily="2" charset="-122"/>
              </a:rPr>
              <a:t>幅值处到输出波形上升沿</a:t>
            </a:r>
            <a:r>
              <a:rPr lang="en-US" altLang="zh-CN" sz="2400" b="1" dirty="0">
                <a:latin typeface="宋体" panose="02010600030101010101" pitchFamily="2" charset="-122"/>
              </a:rPr>
              <a:t>50% </a:t>
            </a:r>
            <a:r>
              <a:rPr lang="zh-CN" altLang="en-US" sz="2400" b="1" dirty="0">
                <a:latin typeface="宋体" panose="02010600030101010101" pitchFamily="2" charset="-122"/>
              </a:rPr>
              <a:t>幅值处所需要的时间，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20489" name="Line 9"/>
          <p:cNvSpPr/>
          <p:nvPr/>
        </p:nvSpPr>
        <p:spPr>
          <a:xfrm>
            <a:off x="2057400" y="2971800"/>
            <a:ext cx="5105400" cy="1981200"/>
          </a:xfrm>
          <a:prstGeom prst="line">
            <a:avLst/>
          </a:prstGeom>
          <a:ln w="7620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490" name="Text Box 10"/>
          <p:cNvSpPr txBox="1"/>
          <p:nvPr/>
        </p:nvSpPr>
        <p:spPr>
          <a:xfrm>
            <a:off x="849313" y="4572000"/>
            <a:ext cx="3189287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平均传输延迟时间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pd</a:t>
            </a:r>
            <a:r>
              <a:rPr lang="zh-CN" altLang="en-US" sz="2400" b="1" baseline="-25000" dirty="0">
                <a:latin typeface="宋体" panose="02010600030101010101" pitchFamily="2" charset="-122"/>
              </a:rPr>
              <a:t>：</a:t>
            </a:r>
            <a:endParaRPr lang="zh-CN" altLang="en-US" sz="2400" b="1" baseline="-25000" dirty="0">
              <a:latin typeface="宋体" panose="02010600030101010101" pitchFamily="2" charset="-122"/>
            </a:endParaRPr>
          </a:p>
        </p:txBody>
      </p:sp>
      <p:graphicFrame>
        <p:nvGraphicFramePr>
          <p:cNvPr id="20491" name="Object 11"/>
          <p:cNvGraphicFramePr>
            <a:graphicFrameLocks noChangeAspect="1"/>
          </p:cNvGraphicFramePr>
          <p:nvPr/>
        </p:nvGraphicFramePr>
        <p:xfrm>
          <a:off x="990600" y="4953000"/>
          <a:ext cx="304800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1091565" imgH="393700" progId="Equation.3">
                  <p:embed/>
                </p:oleObj>
              </mc:Choice>
              <mc:Fallback>
                <p:oleObj name="" r:id="rId3" imgW="1091565" imgH="3937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4953000"/>
                        <a:ext cx="3048000" cy="1093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6"/>
          <p:cNvGrpSpPr/>
          <p:nvPr/>
        </p:nvGrpSpPr>
        <p:grpSpPr>
          <a:xfrm>
            <a:off x="4038600" y="4495800"/>
            <a:ext cx="3505200" cy="1752600"/>
            <a:chOff x="2352" y="1584"/>
            <a:chExt cx="2208" cy="1104"/>
          </a:xfrm>
        </p:grpSpPr>
        <p:sp>
          <p:nvSpPr>
            <p:cNvPr id="23572" name="AutoShape 13"/>
            <p:cNvSpPr/>
            <p:nvPr/>
          </p:nvSpPr>
          <p:spPr>
            <a:xfrm>
              <a:off x="2352" y="1584"/>
              <a:ext cx="2208" cy="1104"/>
            </a:xfrm>
            <a:prstGeom prst="wedgeRoundRectCallout">
              <a:avLst>
                <a:gd name="adj1" fmla="val -64222"/>
                <a:gd name="adj2" fmla="val 7519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23573" name="Text Box 15"/>
            <p:cNvSpPr txBox="1"/>
            <p:nvPr/>
          </p:nvSpPr>
          <p:spPr>
            <a:xfrm>
              <a:off x="2400" y="1728"/>
              <a:ext cx="2064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通常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PLH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＞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PHL</a:t>
              </a:r>
              <a:r>
                <a:rPr lang="zh-CN" altLang="en-US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，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pd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越小，电路的开关速度越高。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一般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宋体" panose="02010600030101010101" pitchFamily="2" charset="-122"/>
                </a:rPr>
                <a:t>pd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 = 10ns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～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40ns</a:t>
              </a:r>
              <a:endParaRPr lang="en-US" altLang="zh-CN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Group 20"/>
          <p:cNvGrpSpPr/>
          <p:nvPr/>
        </p:nvGrpSpPr>
        <p:grpSpPr>
          <a:xfrm>
            <a:off x="6553200" y="2286000"/>
            <a:ext cx="1981200" cy="838200"/>
            <a:chOff x="4128" y="1440"/>
            <a:chExt cx="1248" cy="528"/>
          </a:xfrm>
        </p:grpSpPr>
        <p:sp>
          <p:nvSpPr>
            <p:cNvPr id="23570" name="AutoShape 18"/>
            <p:cNvSpPr/>
            <p:nvPr/>
          </p:nvSpPr>
          <p:spPr>
            <a:xfrm>
              <a:off x="4128" y="1440"/>
              <a:ext cx="1248" cy="528"/>
            </a:xfrm>
            <a:prstGeom prst="wedgeEllipseCallout">
              <a:avLst>
                <a:gd name="adj1" fmla="val -44472"/>
                <a:gd name="adj2" fmla="val 6628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23571" name="Text Box 19"/>
            <p:cNvSpPr txBox="1"/>
            <p:nvPr/>
          </p:nvSpPr>
          <p:spPr>
            <a:xfrm>
              <a:off x="4224" y="1584"/>
              <a:ext cx="11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输入信号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I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5715000" y="3429000"/>
            <a:ext cx="1981200" cy="838200"/>
            <a:chOff x="4128" y="1440"/>
            <a:chExt cx="1248" cy="528"/>
          </a:xfrm>
        </p:grpSpPr>
        <p:sp>
          <p:nvSpPr>
            <p:cNvPr id="23568" name="AutoShape 22"/>
            <p:cNvSpPr/>
            <p:nvPr/>
          </p:nvSpPr>
          <p:spPr>
            <a:xfrm>
              <a:off x="4128" y="1440"/>
              <a:ext cx="1248" cy="528"/>
            </a:xfrm>
            <a:prstGeom prst="wedgeEllipseCallout">
              <a:avLst>
                <a:gd name="adj1" fmla="val -44472"/>
                <a:gd name="adj2" fmla="val 6628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23569" name="Text Box 23"/>
            <p:cNvSpPr txBox="1"/>
            <p:nvPr/>
          </p:nvSpPr>
          <p:spPr>
            <a:xfrm>
              <a:off x="4224" y="1584"/>
              <a:ext cx="11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输出信号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0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23565" name="Text Box 26"/>
          <p:cNvSpPr txBox="1"/>
          <p:nvPr/>
        </p:nvSpPr>
        <p:spPr>
          <a:xfrm>
            <a:off x="1371600" y="533400"/>
            <a:ext cx="6324600" cy="579438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en-US" altLang="zh-CN" b="1" dirty="0">
                <a:solidFill>
                  <a:srgbClr val="990000"/>
                </a:solidFill>
                <a:ea typeface="隶书" panose="02010509060101010101" pitchFamily="49" charset="-122"/>
              </a:rPr>
              <a:t>“</a:t>
            </a: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</a:t>
            </a:r>
            <a:r>
              <a:rPr lang="zh-CN" altLang="en-US" b="1" dirty="0">
                <a:solidFill>
                  <a:srgbClr val="990000"/>
                </a:solidFill>
                <a:ea typeface="隶书" panose="02010509060101010101" pitchFamily="49" charset="-122"/>
              </a:rPr>
              <a:t>”</a:t>
            </a:r>
            <a:r>
              <a:rPr lang="zh-CN" altLang="en-US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门的外特性及主要参数</a:t>
            </a:r>
            <a:endParaRPr lang="zh-CN" altLang="en-US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23566" name="Picture 28" descr="E:\电子教案\wb01508_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63246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67" name="Text Box 29">
            <a:hlinkClick r:id="rId7" action="ppaction://hlinksldjump"/>
          </p:cNvPr>
          <p:cNvSpPr txBox="1"/>
          <p:nvPr/>
        </p:nvSpPr>
        <p:spPr>
          <a:xfrm>
            <a:off x="7772400" y="63246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/>
      <p:bldP spid="20488" grpId="0"/>
      <p:bldP spid="2049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260350"/>
            <a:ext cx="7920038" cy="53959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9" name="文本框 2"/>
          <p:cNvSpPr txBox="1"/>
          <p:nvPr/>
        </p:nvSpPr>
        <p:spPr>
          <a:xfrm>
            <a:off x="1908175" y="5949950"/>
            <a:ext cx="4824413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Times New Roman" panose="02020603050405020304" charset="0"/>
              </a:rPr>
              <a:t>A</a:t>
            </a:r>
            <a:r>
              <a:rPr lang="zh-CN" altLang="en-US" dirty="0">
                <a:latin typeface="Times New Roman" panose="02020603050405020304" charset="0"/>
              </a:rPr>
              <a:t>、</a:t>
            </a:r>
            <a:r>
              <a:rPr lang="en-US" altLang="zh-CN" dirty="0">
                <a:latin typeface="Times New Roman" panose="02020603050405020304" charset="0"/>
              </a:rPr>
              <a:t>B</a:t>
            </a:r>
            <a:r>
              <a:rPr lang="zh-CN" altLang="en-US" dirty="0">
                <a:latin typeface="Times New Roman" panose="02020603050405020304" charset="0"/>
              </a:rPr>
              <a:t>均输入高电平，</a:t>
            </a:r>
            <a:r>
              <a:rPr lang="en-US" altLang="zh-CN" dirty="0">
                <a:latin typeface="Times New Roman" panose="02020603050405020304" charset="0"/>
              </a:rPr>
              <a:t>Y</a:t>
            </a:r>
            <a:r>
              <a:rPr lang="zh-CN" altLang="en-US" dirty="0">
                <a:latin typeface="Times New Roman" panose="02020603050405020304" charset="0"/>
              </a:rPr>
              <a:t>为？</a:t>
            </a:r>
            <a:endParaRPr lang="en-US" altLang="zh-CN" dirty="0">
              <a:latin typeface="Times New Roman" panose="02020603050405020304" charset="0"/>
            </a:endParaRPr>
          </a:p>
          <a:p>
            <a:r>
              <a:rPr lang="en-US" altLang="zh-CN" dirty="0">
                <a:latin typeface="Times New Roman" panose="02020603050405020304" charset="0"/>
              </a:rPr>
              <a:t>A</a:t>
            </a:r>
            <a:r>
              <a:rPr lang="zh-CN" altLang="en-US" dirty="0">
                <a:latin typeface="Times New Roman" panose="02020603050405020304" charset="0"/>
              </a:rPr>
              <a:t>、</a:t>
            </a:r>
            <a:r>
              <a:rPr lang="en-US" altLang="zh-CN" dirty="0">
                <a:latin typeface="Times New Roman" panose="02020603050405020304" charset="0"/>
              </a:rPr>
              <a:t>B</a:t>
            </a:r>
            <a:r>
              <a:rPr lang="zh-CN" altLang="en-US" dirty="0">
                <a:latin typeface="Times New Roman" panose="02020603050405020304" charset="0"/>
              </a:rPr>
              <a:t>有一个为低电平，</a:t>
            </a:r>
            <a:r>
              <a:rPr lang="en-US" altLang="zh-CN" dirty="0">
                <a:latin typeface="Times New Roman" panose="02020603050405020304" charset="0"/>
              </a:rPr>
              <a:t>Y</a:t>
            </a:r>
            <a:r>
              <a:rPr lang="zh-CN" altLang="en-US" dirty="0">
                <a:latin typeface="Times New Roman" panose="02020603050405020304" charset="0"/>
              </a:rPr>
              <a:t>为？</a:t>
            </a:r>
            <a:endParaRPr lang="zh-CN" altLang="en-US" dirty="0"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>
            <a:flatTx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§2-2  </a:t>
            </a:r>
            <a:r>
              <a: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其它类型</a:t>
            </a:r>
            <a:r>
              <a:rPr kumimoji="1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TTL</a:t>
            </a:r>
            <a:r>
              <a: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门电路</a:t>
            </a: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20" name="Text Box 16"/>
          <p:cNvSpPr txBox="1"/>
          <p:nvPr/>
        </p:nvSpPr>
        <p:spPr>
          <a:xfrm>
            <a:off x="1600200" y="4251325"/>
            <a:ext cx="46482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3600" b="1" dirty="0">
                <a:solidFill>
                  <a:schemeClr val="tx2"/>
                </a:solidFill>
              </a:rPr>
              <a:t>三态逻辑门（</a:t>
            </a:r>
            <a:r>
              <a:rPr lang="en-US" altLang="zh-CN" sz="3600" b="1" dirty="0">
                <a:solidFill>
                  <a:schemeClr val="tx2"/>
                </a:solidFill>
              </a:rPr>
              <a:t>TSL</a:t>
            </a:r>
            <a:r>
              <a:rPr lang="zh-CN" altLang="en-US" sz="3600" b="1" dirty="0">
                <a:solidFill>
                  <a:schemeClr val="tx2"/>
                </a:solidFill>
              </a:rPr>
              <a:t>）</a:t>
            </a:r>
            <a:endParaRPr lang="zh-CN" altLang="en-US" sz="3600" b="1" dirty="0">
              <a:solidFill>
                <a:schemeClr val="tx2"/>
              </a:solidFill>
            </a:endParaRPr>
          </a:p>
        </p:txBody>
      </p:sp>
      <p:pic>
        <p:nvPicPr>
          <p:cNvPr id="21521" name="Picture 17" descr="D:\image\ball5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434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19"/>
          <p:cNvGrpSpPr/>
          <p:nvPr/>
        </p:nvGrpSpPr>
        <p:grpSpPr>
          <a:xfrm>
            <a:off x="609600" y="2971800"/>
            <a:ext cx="8140700" cy="647700"/>
            <a:chOff x="384" y="1872"/>
            <a:chExt cx="5128" cy="408"/>
          </a:xfrm>
        </p:grpSpPr>
        <p:pic>
          <p:nvPicPr>
            <p:cNvPr id="25607" name="Picture 20" descr="D:\image\ball5.gif">
              <a:hlinkClick r:id="rId3" action="ppaction://hlinksldjump"/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" y="1920"/>
              <a:ext cx="480" cy="3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5608" name="Text Box 21"/>
            <p:cNvSpPr txBox="1"/>
            <p:nvPr/>
          </p:nvSpPr>
          <p:spPr>
            <a:xfrm>
              <a:off x="1200" y="1872"/>
              <a:ext cx="431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36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集电极开路</a:t>
              </a:r>
              <a:r>
                <a:rPr lang="en-US" altLang="zh-CN" sz="36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TTL</a:t>
              </a:r>
              <a:r>
                <a:rPr lang="en-US" altLang="zh-CN" sz="3600" b="1" dirty="0">
                  <a:ea typeface="黑体" panose="02010609060101010101" pitchFamily="2" charset="-122"/>
                </a:rPr>
                <a:t>“</a:t>
              </a:r>
              <a:r>
                <a:rPr lang="zh-CN" altLang="en-US" sz="36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与非</a:t>
              </a:r>
              <a:r>
                <a:rPr lang="zh-CN" altLang="en-US" sz="3600" b="1" dirty="0">
                  <a:ea typeface="黑体" panose="02010609060101010101" pitchFamily="2" charset="-122"/>
                </a:rPr>
                <a:t>”</a:t>
              </a:r>
              <a:r>
                <a:rPr lang="zh-CN" altLang="en-US" sz="36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门（</a:t>
              </a:r>
              <a:r>
                <a:rPr lang="en-US" altLang="zh-CN" sz="36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OC</a:t>
              </a:r>
              <a:r>
                <a:rPr lang="zh-CN" altLang="en-US" sz="36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门）</a:t>
              </a:r>
              <a:endPara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pic>
        <p:nvPicPr>
          <p:cNvPr id="25606" name="Picture 22" descr="E:\电子教案\wb00677_.gif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5867400"/>
            <a:ext cx="6858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9" grpId="0" animBg="1"/>
      <p:bldP spid="215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3505200" y="1922463"/>
          <a:ext cx="5029200" cy="409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2676525" imgH="2181225" progId="Paint.Picture">
                  <p:embed/>
                </p:oleObj>
              </mc:Choice>
              <mc:Fallback>
                <p:oleObj name="" r:id="rId1" imgW="2676525" imgH="2181225" progId="Paint.Picture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5200" y="1922463"/>
                        <a:ext cx="5029200" cy="4097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4"/>
          <p:cNvSpPr txBox="1"/>
          <p:nvPr/>
        </p:nvSpPr>
        <p:spPr>
          <a:xfrm>
            <a:off x="1447800" y="381000"/>
            <a:ext cx="6869113" cy="750888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集电极开路</a:t>
            </a:r>
            <a:r>
              <a:rPr lang="en-US" altLang="zh-CN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en-US" altLang="zh-CN" sz="3600" b="1" dirty="0">
                <a:solidFill>
                  <a:srgbClr val="990000"/>
                </a:solidFill>
                <a:ea typeface="隶书" panose="02010509060101010101" pitchFamily="49" charset="-122"/>
              </a:rPr>
              <a:t>“</a:t>
            </a:r>
            <a:r>
              <a:rPr lang="zh-CN" altLang="en-US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</a:t>
            </a:r>
            <a:r>
              <a:rPr lang="zh-CN" altLang="en-US" sz="3600" b="1" dirty="0">
                <a:solidFill>
                  <a:srgbClr val="990000"/>
                </a:solidFill>
                <a:ea typeface="隶书" panose="02010509060101010101" pitchFamily="49" charset="-122"/>
              </a:rPr>
              <a:t>”</a:t>
            </a:r>
            <a:r>
              <a:rPr lang="zh-CN" altLang="en-US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门（</a:t>
            </a:r>
            <a:r>
              <a:rPr lang="en-US" altLang="zh-CN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OC</a:t>
            </a:r>
            <a:r>
              <a:rPr lang="zh-CN" altLang="en-US" sz="36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门）</a:t>
            </a:r>
            <a:endParaRPr lang="zh-CN" altLang="en-US" sz="3600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2534" name="Text Box 6"/>
          <p:cNvSpPr txBox="1"/>
          <p:nvPr/>
        </p:nvSpPr>
        <p:spPr>
          <a:xfrm>
            <a:off x="5638800" y="3979863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22535" name="Text Box 7"/>
          <p:cNvSpPr txBox="1"/>
          <p:nvPr/>
        </p:nvSpPr>
        <p:spPr>
          <a:xfrm>
            <a:off x="6705600" y="3827463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22542" name="Line 14"/>
          <p:cNvSpPr/>
          <p:nvPr/>
        </p:nvSpPr>
        <p:spPr>
          <a:xfrm flipV="1">
            <a:off x="6096000" y="2074863"/>
            <a:ext cx="0" cy="34290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</p:sp>
      <p:grpSp>
        <p:nvGrpSpPr>
          <p:cNvPr id="2" name="Group 18"/>
          <p:cNvGrpSpPr/>
          <p:nvPr/>
        </p:nvGrpSpPr>
        <p:grpSpPr>
          <a:xfrm>
            <a:off x="5867400" y="2532063"/>
            <a:ext cx="762000" cy="2590800"/>
            <a:chOff x="3552" y="1536"/>
            <a:chExt cx="480" cy="1632"/>
          </a:xfrm>
        </p:grpSpPr>
        <p:sp>
          <p:nvSpPr>
            <p:cNvPr id="26649" name="Line 15"/>
            <p:cNvSpPr/>
            <p:nvPr/>
          </p:nvSpPr>
          <p:spPr>
            <a:xfrm>
              <a:off x="3552" y="1536"/>
              <a:ext cx="0" cy="816"/>
            </a:xfrm>
            <a:prstGeom prst="line">
              <a:avLst/>
            </a:prstGeom>
            <a:ln w="7620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0" name="Line 16"/>
            <p:cNvSpPr/>
            <p:nvPr/>
          </p:nvSpPr>
          <p:spPr>
            <a:xfrm>
              <a:off x="3552" y="2352"/>
              <a:ext cx="480" cy="0"/>
            </a:xfrm>
            <a:prstGeom prst="line">
              <a:avLst/>
            </a:prstGeom>
            <a:ln w="7620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1" name="Line 17"/>
            <p:cNvSpPr/>
            <p:nvPr/>
          </p:nvSpPr>
          <p:spPr>
            <a:xfrm>
              <a:off x="4032" y="2352"/>
              <a:ext cx="0" cy="816"/>
            </a:xfrm>
            <a:prstGeom prst="line">
              <a:avLst/>
            </a:prstGeom>
            <a:ln w="76200" cap="flat" cmpd="sng">
              <a:solidFill>
                <a:srgbClr val="008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27"/>
          <p:cNvGrpSpPr/>
          <p:nvPr/>
        </p:nvGrpSpPr>
        <p:grpSpPr>
          <a:xfrm>
            <a:off x="2590800" y="4038600"/>
            <a:ext cx="2438400" cy="914400"/>
            <a:chOff x="1584" y="2688"/>
            <a:chExt cx="1536" cy="576"/>
          </a:xfrm>
        </p:grpSpPr>
        <p:sp>
          <p:nvSpPr>
            <p:cNvPr id="26647" name="AutoShape 19"/>
            <p:cNvSpPr/>
            <p:nvPr/>
          </p:nvSpPr>
          <p:spPr>
            <a:xfrm>
              <a:off x="1584" y="2688"/>
              <a:ext cx="1488" cy="576"/>
            </a:xfrm>
            <a:prstGeom prst="wedgeRoundRectCallout">
              <a:avLst>
                <a:gd name="adj1" fmla="val 45903"/>
                <a:gd name="adj2" fmla="val -99653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26648" name="Text Box 20"/>
            <p:cNvSpPr txBox="1"/>
            <p:nvPr/>
          </p:nvSpPr>
          <p:spPr>
            <a:xfrm>
              <a:off x="1628" y="2736"/>
              <a:ext cx="149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该与非门输出高电平，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5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截止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4" name="Group 25"/>
          <p:cNvGrpSpPr/>
          <p:nvPr/>
        </p:nvGrpSpPr>
        <p:grpSpPr>
          <a:xfrm>
            <a:off x="6629400" y="4572000"/>
            <a:ext cx="2598738" cy="1066800"/>
            <a:chOff x="4171" y="2832"/>
            <a:chExt cx="1637" cy="672"/>
          </a:xfrm>
        </p:grpSpPr>
        <p:sp>
          <p:nvSpPr>
            <p:cNvPr id="26645" name="AutoShape 22"/>
            <p:cNvSpPr/>
            <p:nvPr/>
          </p:nvSpPr>
          <p:spPr>
            <a:xfrm>
              <a:off x="4176" y="2832"/>
              <a:ext cx="1584" cy="672"/>
            </a:xfrm>
            <a:prstGeom prst="wedgeRoundRectCallout">
              <a:avLst>
                <a:gd name="adj1" fmla="val -56315"/>
                <a:gd name="adj2" fmla="val -80208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26646" name="Text Box 24"/>
            <p:cNvSpPr txBox="1"/>
            <p:nvPr/>
          </p:nvSpPr>
          <p:spPr>
            <a:xfrm>
              <a:off x="4171" y="2928"/>
              <a:ext cx="1637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该与非门输出低电平，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5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导通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5" name="Group 36"/>
          <p:cNvGrpSpPr/>
          <p:nvPr/>
        </p:nvGrpSpPr>
        <p:grpSpPr>
          <a:xfrm>
            <a:off x="838200" y="1371600"/>
            <a:ext cx="7696200" cy="4724400"/>
            <a:chOff x="528" y="1008"/>
            <a:chExt cx="4848" cy="2976"/>
          </a:xfrm>
        </p:grpSpPr>
        <p:sp>
          <p:nvSpPr>
            <p:cNvPr id="26643" name="Rectangle 26"/>
            <p:cNvSpPr/>
            <p:nvPr/>
          </p:nvSpPr>
          <p:spPr>
            <a:xfrm>
              <a:off x="528" y="1008"/>
              <a:ext cx="4848" cy="2976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6644" name="Text Box 28"/>
            <p:cNvSpPr txBox="1"/>
            <p:nvPr/>
          </p:nvSpPr>
          <p:spPr>
            <a:xfrm>
              <a:off x="624" y="1008"/>
              <a:ext cx="2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</a:t>
              </a:r>
              <a:r>
                <a:rPr lang="en-US" altLang="zh-CN" sz="2400" b="1" dirty="0">
                  <a:sym typeface="Symbol" panose="05050102010706020507" pitchFamily="18" charset="2"/>
                </a:rPr>
                <a:t>   </a:t>
              </a:r>
              <a:r>
                <a:rPr lang="en-US" altLang="zh-CN" sz="2400" b="1" dirty="0"/>
                <a:t>TTL</a:t>
              </a:r>
              <a:r>
                <a:rPr lang="zh-CN" altLang="en-US" sz="2400" b="1" dirty="0"/>
                <a:t>门输出端并联问题</a:t>
              </a:r>
              <a:endParaRPr lang="zh-CN" altLang="en-US" sz="2400" b="1" dirty="0"/>
            </a:p>
          </p:txBody>
        </p:sp>
      </p:grpSp>
      <p:sp>
        <p:nvSpPr>
          <p:cNvPr id="22557" name="Text Box 29"/>
          <p:cNvSpPr txBox="1"/>
          <p:nvPr/>
        </p:nvSpPr>
        <p:spPr>
          <a:xfrm>
            <a:off x="838200" y="2027238"/>
            <a:ext cx="243840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当将两个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TTL</a:t>
            </a:r>
            <a:r>
              <a:rPr lang="en-US" altLang="zh-CN" sz="2400" b="1" dirty="0">
                <a:ea typeface="幼圆" panose="02010509060101010101" pitchFamily="49" charset="-122"/>
              </a:rPr>
              <a:t>“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与非</a:t>
            </a:r>
            <a:r>
              <a:rPr lang="zh-CN" altLang="en-US" sz="2400" b="1" dirty="0">
                <a:ea typeface="幼圆" panose="02010509060101010101" pitchFamily="49" charset="-122"/>
              </a:rPr>
              <a:t>”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门输出端直接并联时：</a:t>
            </a:r>
            <a:endParaRPr lang="zh-CN" altLang="en-US" sz="24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6" name="Group 32"/>
          <p:cNvGrpSpPr/>
          <p:nvPr/>
        </p:nvGrpSpPr>
        <p:grpSpPr>
          <a:xfrm>
            <a:off x="6553200" y="1066800"/>
            <a:ext cx="2590800" cy="1524000"/>
            <a:chOff x="4128" y="864"/>
            <a:chExt cx="1632" cy="960"/>
          </a:xfrm>
        </p:grpSpPr>
        <p:sp>
          <p:nvSpPr>
            <p:cNvPr id="26641" name="AutoShape 30"/>
            <p:cNvSpPr/>
            <p:nvPr/>
          </p:nvSpPr>
          <p:spPr>
            <a:xfrm>
              <a:off x="4128" y="864"/>
              <a:ext cx="1632" cy="960"/>
            </a:xfrm>
            <a:prstGeom prst="wedgeRoundRectCallout">
              <a:avLst>
                <a:gd name="adj1" fmla="val -78370"/>
                <a:gd name="adj2" fmla="val 112500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26642" name="Text Box 31"/>
            <p:cNvSpPr txBox="1"/>
            <p:nvPr/>
          </p:nvSpPr>
          <p:spPr>
            <a:xfrm>
              <a:off x="4176" y="1008"/>
              <a:ext cx="1536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cc</a:t>
              </a:r>
              <a:r>
                <a:rPr lang="en-US" altLang="zh-CN" sz="24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→R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5</a:t>
              </a:r>
              <a:r>
                <a:rPr lang="en-US" altLang="zh-CN" sz="24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→</a:t>
              </a:r>
              <a:r>
                <a:rPr lang="zh-CN" altLang="en-US" sz="24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门</a:t>
              </a:r>
              <a:r>
                <a:rPr lang="en-US" altLang="zh-CN" sz="24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1</a:t>
              </a:r>
              <a:r>
                <a:rPr lang="zh-CN" altLang="en-US" sz="24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的</a:t>
              </a:r>
              <a:r>
                <a:rPr lang="en-US" altLang="zh-CN" sz="24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4</a:t>
              </a:r>
              <a:r>
                <a:rPr lang="en-US" altLang="zh-CN" sz="24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→</a:t>
              </a:r>
              <a:r>
                <a:rPr lang="zh-CN" altLang="en-US" sz="24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门</a:t>
              </a:r>
              <a:r>
                <a:rPr lang="en-US" altLang="zh-CN" sz="24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2</a:t>
              </a:r>
              <a:r>
                <a:rPr lang="zh-CN" altLang="en-US" sz="24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的</a:t>
              </a:r>
              <a:r>
                <a:rPr lang="en-US" altLang="zh-CN" sz="24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5</a:t>
              </a:r>
              <a:r>
                <a:rPr lang="zh-CN" altLang="en-US" sz="2400" b="1" dirty="0">
                  <a:solidFill>
                    <a:srgbClr val="CC33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产生一个很大的电流</a:t>
              </a:r>
              <a:endParaRPr lang="zh-CN" altLang="en-US" sz="2400" b="1" dirty="0">
                <a:solidFill>
                  <a:srgbClr val="CC3300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22561" name="Text Box 33"/>
          <p:cNvSpPr txBox="1"/>
          <p:nvPr/>
        </p:nvSpPr>
        <p:spPr>
          <a:xfrm>
            <a:off x="838200" y="3187700"/>
            <a:ext cx="2590800" cy="19177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产生一个大电流</a:t>
            </a:r>
            <a:endParaRPr lang="zh-CN" altLang="en-US" sz="24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、抬高门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输出低电平</a:t>
            </a:r>
            <a:endParaRPr lang="zh-CN" altLang="en-US" sz="24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、会因功耗过大损坏门器件</a:t>
            </a:r>
            <a:endParaRPr lang="zh-CN" altLang="en-US" sz="24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2562" name="Text Box 34"/>
          <p:cNvSpPr txBox="1"/>
          <p:nvPr/>
        </p:nvSpPr>
        <p:spPr>
          <a:xfrm>
            <a:off x="838200" y="5105400"/>
            <a:ext cx="2178050" cy="82232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33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注：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TTL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输出端</a:t>
            </a:r>
            <a:endParaRPr lang="zh-CN" altLang="en-US" sz="24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不能直接并联</a:t>
            </a:r>
            <a:endParaRPr lang="zh-CN" altLang="en-US" sz="24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26639" name="Picture 39" descr="wb01508_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62484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40" name="Text Box 40">
            <a:hlinkClick r:id="rId3" action="ppaction://hlinksldjump"/>
          </p:cNvPr>
          <p:cNvSpPr txBox="1"/>
          <p:nvPr/>
        </p:nvSpPr>
        <p:spPr>
          <a:xfrm>
            <a:off x="7543800" y="62484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animBg="1"/>
      <p:bldP spid="22534" grpId="0"/>
      <p:bldP spid="22535" grpId="0"/>
      <p:bldP spid="22557" grpId="0"/>
      <p:bldP spid="22561" grpId="0"/>
      <p:bldP spid="2256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6"/>
          <p:cNvGrpSpPr/>
          <p:nvPr/>
        </p:nvGrpSpPr>
        <p:grpSpPr>
          <a:xfrm>
            <a:off x="3352800" y="1630363"/>
            <a:ext cx="5043488" cy="4313237"/>
            <a:chOff x="2055" y="912"/>
            <a:chExt cx="3177" cy="2717"/>
          </a:xfrm>
        </p:grpSpPr>
        <p:graphicFrame>
          <p:nvGraphicFramePr>
            <p:cNvPr id="27704" name="Object 6"/>
            <p:cNvGraphicFramePr>
              <a:graphicFrameLocks noChangeAspect="1"/>
            </p:cNvGraphicFramePr>
            <p:nvPr/>
          </p:nvGraphicFramePr>
          <p:xfrm>
            <a:off x="2055" y="912"/>
            <a:ext cx="3177" cy="2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" imgW="2619375" imgH="2028825" progId="Paint.Picture">
                    <p:embed/>
                  </p:oleObj>
                </mc:Choice>
                <mc:Fallback>
                  <p:oleObj name="" r:id="rId1" imgW="2619375" imgH="2028825" progId="Paint.Picture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55" y="912"/>
                          <a:ext cx="3177" cy="26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705" name="Text Box 17"/>
            <p:cNvSpPr txBox="1"/>
            <p:nvPr/>
          </p:nvSpPr>
          <p:spPr>
            <a:xfrm>
              <a:off x="2544" y="3379"/>
              <a:ext cx="146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/>
                <a:t>TTL</a:t>
              </a:r>
              <a:r>
                <a:rPr lang="zh-CN" altLang="en-US" sz="2000" b="1" dirty="0"/>
                <a:t>与非门电路</a:t>
              </a:r>
              <a:endParaRPr lang="zh-CN" altLang="en-US" sz="2400" b="1" dirty="0"/>
            </a:p>
          </p:txBody>
        </p:sp>
      </p:grpSp>
      <p:sp>
        <p:nvSpPr>
          <p:cNvPr id="27651" name="Text Box 4"/>
          <p:cNvSpPr txBox="1"/>
          <p:nvPr/>
        </p:nvSpPr>
        <p:spPr>
          <a:xfrm>
            <a:off x="914400" y="304800"/>
            <a:ext cx="7467600" cy="823913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集电极开路</a:t>
            </a:r>
            <a:r>
              <a:rPr lang="en-US" altLang="zh-CN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en-US" altLang="zh-CN" sz="4000" b="1" dirty="0">
                <a:solidFill>
                  <a:srgbClr val="990000"/>
                </a:solidFill>
                <a:ea typeface="隶书" panose="02010509060101010101" pitchFamily="49" charset="-122"/>
              </a:rPr>
              <a:t>“</a:t>
            </a:r>
            <a:r>
              <a:rPr lang="zh-CN" altLang="en-US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</a:t>
            </a:r>
            <a:r>
              <a:rPr lang="zh-CN" altLang="en-US" sz="4000" b="1" dirty="0">
                <a:solidFill>
                  <a:srgbClr val="990000"/>
                </a:solidFill>
                <a:ea typeface="隶书" panose="02010509060101010101" pitchFamily="49" charset="-122"/>
              </a:rPr>
              <a:t>”</a:t>
            </a:r>
            <a:r>
              <a:rPr lang="zh-CN" altLang="en-US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门（</a:t>
            </a:r>
            <a:r>
              <a:rPr lang="en-US" altLang="zh-CN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OC</a:t>
            </a:r>
            <a:r>
              <a:rPr lang="zh-CN" altLang="en-US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门）</a:t>
            </a:r>
            <a:endParaRPr lang="zh-CN" altLang="en-US" sz="4000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3" name="Group 16"/>
          <p:cNvGrpSpPr/>
          <p:nvPr/>
        </p:nvGrpSpPr>
        <p:grpSpPr>
          <a:xfrm>
            <a:off x="6248400" y="2286000"/>
            <a:ext cx="1371600" cy="1752600"/>
            <a:chOff x="3984" y="1440"/>
            <a:chExt cx="864" cy="1104"/>
          </a:xfrm>
        </p:grpSpPr>
        <p:sp>
          <p:nvSpPr>
            <p:cNvPr id="27697" name="Line 7"/>
            <p:cNvSpPr/>
            <p:nvPr/>
          </p:nvSpPr>
          <p:spPr>
            <a:xfrm>
              <a:off x="3984" y="1440"/>
              <a:ext cx="864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8" name="Line 8"/>
            <p:cNvSpPr/>
            <p:nvPr/>
          </p:nvSpPr>
          <p:spPr>
            <a:xfrm>
              <a:off x="3984" y="1440"/>
              <a:ext cx="0" cy="1104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99" name="Line 9"/>
            <p:cNvSpPr/>
            <p:nvPr/>
          </p:nvSpPr>
          <p:spPr>
            <a:xfrm>
              <a:off x="3984" y="2544"/>
              <a:ext cx="384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0" name="Line 10"/>
            <p:cNvSpPr/>
            <p:nvPr/>
          </p:nvSpPr>
          <p:spPr>
            <a:xfrm>
              <a:off x="4848" y="1440"/>
              <a:ext cx="0" cy="816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1" name="Line 11"/>
            <p:cNvSpPr/>
            <p:nvPr/>
          </p:nvSpPr>
          <p:spPr>
            <a:xfrm flipH="1">
              <a:off x="4608" y="2256"/>
              <a:ext cx="240" cy="144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2" name="Line 14"/>
            <p:cNvSpPr/>
            <p:nvPr/>
          </p:nvSpPr>
          <p:spPr>
            <a:xfrm>
              <a:off x="4512" y="2400"/>
              <a:ext cx="144" cy="0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703" name="Line 15"/>
            <p:cNvSpPr/>
            <p:nvPr/>
          </p:nvSpPr>
          <p:spPr>
            <a:xfrm flipV="1">
              <a:off x="4368" y="2400"/>
              <a:ext cx="144" cy="144"/>
            </a:xfrm>
            <a:prstGeom prst="line">
              <a:avLst/>
            </a:prstGeom>
            <a:ln w="5715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3574" name="Text Box 22"/>
          <p:cNvSpPr txBox="1"/>
          <p:nvPr/>
        </p:nvSpPr>
        <p:spPr>
          <a:xfrm>
            <a:off x="6400800" y="2209800"/>
            <a:ext cx="850900" cy="155575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9600" b="1" dirty="0">
                <a:solidFill>
                  <a:srgbClr val="CC3300"/>
                </a:solidFill>
                <a:sym typeface="Symbol" panose="05050102010706020507" pitchFamily="18" charset="2"/>
              </a:rPr>
              <a:t></a:t>
            </a:r>
            <a:endParaRPr lang="en-US" altLang="zh-CN" sz="9600" b="1" dirty="0">
              <a:solidFill>
                <a:srgbClr val="CC3300"/>
              </a:solidFill>
            </a:endParaRPr>
          </a:p>
        </p:txBody>
      </p:sp>
      <p:grpSp>
        <p:nvGrpSpPr>
          <p:cNvPr id="4" name="Group 25"/>
          <p:cNvGrpSpPr/>
          <p:nvPr/>
        </p:nvGrpSpPr>
        <p:grpSpPr>
          <a:xfrm>
            <a:off x="762000" y="1371600"/>
            <a:ext cx="7772400" cy="4876800"/>
            <a:chOff x="480" y="864"/>
            <a:chExt cx="4896" cy="3072"/>
          </a:xfrm>
        </p:grpSpPr>
        <p:sp>
          <p:nvSpPr>
            <p:cNvPr id="27695" name="Rectangle 5"/>
            <p:cNvSpPr/>
            <p:nvPr/>
          </p:nvSpPr>
          <p:spPr>
            <a:xfrm>
              <a:off x="480" y="864"/>
              <a:ext cx="4896" cy="307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96" name="Text Box 24"/>
            <p:cNvSpPr txBox="1"/>
            <p:nvPr/>
          </p:nvSpPr>
          <p:spPr>
            <a:xfrm>
              <a:off x="561" y="1056"/>
              <a:ext cx="12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</a:t>
              </a:r>
              <a:r>
                <a:rPr lang="en-US" altLang="zh-CN" sz="2400" b="1" dirty="0"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OC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门的结构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23579" name="Object 27"/>
          <p:cNvGraphicFramePr>
            <a:graphicFrameLocks noChangeAspect="1"/>
          </p:cNvGraphicFramePr>
          <p:nvPr/>
        </p:nvGraphicFramePr>
        <p:xfrm>
          <a:off x="3352800" y="1600200"/>
          <a:ext cx="5043488" cy="427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2619375" imgH="2028825" progId="Paint.Picture">
                  <p:embed/>
                </p:oleObj>
              </mc:Choice>
              <mc:Fallback>
                <p:oleObj name="" r:id="rId3" imgW="2619375" imgH="2028825" progId="Paint.Picture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52800" y="1600200"/>
                        <a:ext cx="5043488" cy="427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67"/>
          <p:cNvGrpSpPr/>
          <p:nvPr/>
        </p:nvGrpSpPr>
        <p:grpSpPr>
          <a:xfrm>
            <a:off x="7239000" y="2057400"/>
            <a:ext cx="838200" cy="1676400"/>
            <a:chOff x="4560" y="1296"/>
            <a:chExt cx="528" cy="1056"/>
          </a:xfrm>
        </p:grpSpPr>
        <p:grpSp>
          <p:nvGrpSpPr>
            <p:cNvPr id="27687" name="Group 36"/>
            <p:cNvGrpSpPr/>
            <p:nvPr/>
          </p:nvGrpSpPr>
          <p:grpSpPr>
            <a:xfrm>
              <a:off x="4567" y="1536"/>
              <a:ext cx="473" cy="816"/>
              <a:chOff x="1008" y="2208"/>
              <a:chExt cx="473" cy="816"/>
            </a:xfrm>
          </p:grpSpPr>
          <p:sp>
            <p:nvSpPr>
              <p:cNvPr id="27691" name="Rectangle 28"/>
              <p:cNvSpPr/>
              <p:nvPr/>
            </p:nvSpPr>
            <p:spPr>
              <a:xfrm>
                <a:off x="1008" y="2448"/>
                <a:ext cx="96" cy="33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  <p:sp>
            <p:nvSpPr>
              <p:cNvPr id="27692" name="Line 29"/>
              <p:cNvSpPr/>
              <p:nvPr/>
            </p:nvSpPr>
            <p:spPr>
              <a:xfrm>
                <a:off x="1056" y="2784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93" name="Line 30"/>
              <p:cNvSpPr/>
              <p:nvPr/>
            </p:nvSpPr>
            <p:spPr>
              <a:xfrm>
                <a:off x="1056" y="2208"/>
                <a:ext cx="0" cy="24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94" name="Text Box 31"/>
              <p:cNvSpPr txBox="1"/>
              <p:nvPr/>
            </p:nvSpPr>
            <p:spPr>
              <a:xfrm>
                <a:off x="1143" y="2448"/>
                <a:ext cx="338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CC3300"/>
                    </a:solidFill>
                  </a:rPr>
                  <a:t>R</a:t>
                </a:r>
                <a:r>
                  <a:rPr lang="en-US" altLang="zh-CN" sz="2400" b="1" baseline="-25000" dirty="0">
                    <a:solidFill>
                      <a:srgbClr val="CC3300"/>
                    </a:solidFill>
                  </a:rPr>
                  <a:t>L</a:t>
                </a:r>
                <a:endParaRPr lang="en-US" altLang="zh-CN" sz="2400" dirty="0"/>
              </a:p>
            </p:txBody>
          </p:sp>
        </p:grpSp>
        <p:grpSp>
          <p:nvGrpSpPr>
            <p:cNvPr id="27688" name="Group 35"/>
            <p:cNvGrpSpPr/>
            <p:nvPr/>
          </p:nvGrpSpPr>
          <p:grpSpPr>
            <a:xfrm>
              <a:off x="4560" y="1296"/>
              <a:ext cx="528" cy="288"/>
              <a:chOff x="1008" y="1968"/>
              <a:chExt cx="528" cy="288"/>
            </a:xfrm>
          </p:grpSpPr>
          <p:sp>
            <p:nvSpPr>
              <p:cNvPr id="27689" name="Oval 32"/>
              <p:cNvSpPr/>
              <p:nvPr/>
            </p:nvSpPr>
            <p:spPr>
              <a:xfrm>
                <a:off x="1008" y="2160"/>
                <a:ext cx="96" cy="48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  <p:sp>
            <p:nvSpPr>
              <p:cNvPr id="27690" name="Text Box 33"/>
              <p:cNvSpPr txBox="1"/>
              <p:nvPr/>
            </p:nvSpPr>
            <p:spPr>
              <a:xfrm>
                <a:off x="1191" y="1968"/>
                <a:ext cx="345" cy="288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CC3300"/>
                    </a:solidFill>
                  </a:rPr>
                  <a:t>V</a:t>
                </a:r>
                <a:r>
                  <a:rPr lang="en-US" altLang="zh-CN" sz="2400" b="1" baseline="-25000" dirty="0">
                    <a:solidFill>
                      <a:srgbClr val="CC3300"/>
                    </a:solidFill>
                  </a:rPr>
                  <a:t>C</a:t>
                </a:r>
                <a:endParaRPr lang="en-US" altLang="zh-CN" sz="2400" dirty="0"/>
              </a:p>
            </p:txBody>
          </p:sp>
        </p:grpSp>
      </p:grpSp>
      <p:grpSp>
        <p:nvGrpSpPr>
          <p:cNvPr id="8" name="Group 39"/>
          <p:cNvGrpSpPr/>
          <p:nvPr/>
        </p:nvGrpSpPr>
        <p:grpSpPr>
          <a:xfrm>
            <a:off x="4191000" y="5029200"/>
            <a:ext cx="4013200" cy="1219200"/>
            <a:chOff x="2640" y="3168"/>
            <a:chExt cx="2528" cy="768"/>
          </a:xfrm>
        </p:grpSpPr>
        <p:sp>
          <p:nvSpPr>
            <p:cNvPr id="27685" name="Text Box 37"/>
            <p:cNvSpPr txBox="1"/>
            <p:nvPr/>
          </p:nvSpPr>
          <p:spPr>
            <a:xfrm>
              <a:off x="2640" y="3648"/>
              <a:ext cx="25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集电极开路与非门（</a:t>
              </a:r>
              <a:r>
                <a:rPr lang="en-US" altLang="zh-CN" sz="2400" b="1" dirty="0"/>
                <a:t>OC</a:t>
              </a:r>
              <a:r>
                <a:rPr lang="zh-CN" altLang="en-US" sz="2400" b="1" dirty="0"/>
                <a:t>门）</a:t>
              </a:r>
              <a:endParaRPr lang="zh-CN" altLang="en-US" sz="2400" b="1" dirty="0"/>
            </a:p>
          </p:txBody>
        </p:sp>
        <p:sp>
          <p:nvSpPr>
            <p:cNvPr id="27686" name="Line 38"/>
            <p:cNvSpPr/>
            <p:nvPr/>
          </p:nvSpPr>
          <p:spPr>
            <a:xfrm>
              <a:off x="3504" y="3168"/>
              <a:ext cx="0" cy="432"/>
            </a:xfrm>
            <a:prstGeom prst="line">
              <a:avLst/>
            </a:prstGeom>
            <a:ln w="7620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3592" name="Text Box 40"/>
          <p:cNvSpPr txBox="1"/>
          <p:nvPr/>
        </p:nvSpPr>
        <p:spPr>
          <a:xfrm>
            <a:off x="762000" y="2209800"/>
            <a:ext cx="266700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当输入端全为高电平时，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5</a:t>
            </a:r>
            <a:r>
              <a:rPr lang="zh-CN" altLang="en-US" sz="2400" b="1" dirty="0"/>
              <a:t>导通，输出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为低电平；</a:t>
            </a:r>
            <a:endParaRPr lang="zh-CN" altLang="en-US" sz="2400" b="1" dirty="0"/>
          </a:p>
        </p:txBody>
      </p:sp>
      <p:sp>
        <p:nvSpPr>
          <p:cNvPr id="23593" name="Text Box 41"/>
          <p:cNvSpPr txBox="1"/>
          <p:nvPr/>
        </p:nvSpPr>
        <p:spPr>
          <a:xfrm>
            <a:off x="762000" y="3340100"/>
            <a:ext cx="2590800" cy="19177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输入端有一个为低电平时，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5</a:t>
            </a:r>
            <a:r>
              <a:rPr lang="zh-CN" altLang="en-US" sz="2400" b="1" dirty="0"/>
              <a:t>截止，输出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高电平接近电源电压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C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23594" name="Text Box 42"/>
          <p:cNvSpPr txBox="1"/>
          <p:nvPr/>
        </p:nvSpPr>
        <p:spPr>
          <a:xfrm>
            <a:off x="609600" y="5257800"/>
            <a:ext cx="2459038" cy="884238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ym typeface="Symbol" panose="05050102010706020507" pitchFamily="18" charset="2"/>
              </a:rPr>
              <a:t>  </a:t>
            </a:r>
            <a:r>
              <a:rPr lang="en-US" altLang="zh-CN" sz="2400" b="1" dirty="0"/>
              <a:t>OC</a:t>
            </a:r>
            <a:r>
              <a:rPr lang="zh-CN" altLang="en-US" sz="2400" b="1" dirty="0"/>
              <a:t>门完成“与非”逻辑功能</a:t>
            </a:r>
            <a:endParaRPr lang="zh-CN" altLang="en-US" sz="2400" b="1" dirty="0"/>
          </a:p>
        </p:txBody>
      </p:sp>
      <p:sp>
        <p:nvSpPr>
          <p:cNvPr id="23595" name="AutoShape 43"/>
          <p:cNvSpPr/>
          <p:nvPr/>
        </p:nvSpPr>
        <p:spPr>
          <a:xfrm>
            <a:off x="1905000" y="2133600"/>
            <a:ext cx="3276600" cy="3200400"/>
          </a:xfrm>
          <a:prstGeom prst="wedgeRoundRectCallout">
            <a:avLst>
              <a:gd name="adj1" fmla="val -60514"/>
              <a:gd name="adj2" fmla="val 51986"/>
              <a:gd name="adj3" fmla="val 16667"/>
            </a:avLst>
          </a:prstGeom>
          <a:gradFill rotWithShape="0">
            <a:gsLst>
              <a:gs pos="0">
                <a:srgbClr val="767647"/>
              </a:gs>
              <a:gs pos="100000">
                <a:srgbClr val="FFFF99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/>
          </a:p>
        </p:txBody>
      </p:sp>
      <p:sp>
        <p:nvSpPr>
          <p:cNvPr id="23596" name="Text Box 44"/>
          <p:cNvSpPr txBox="1"/>
          <p:nvPr/>
        </p:nvSpPr>
        <p:spPr>
          <a:xfrm>
            <a:off x="2211388" y="2209800"/>
            <a:ext cx="1701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3300"/>
                </a:solidFill>
              </a:rPr>
              <a:t>逻辑符号：</a:t>
            </a:r>
            <a:endParaRPr lang="zh-CN" altLang="en-US" sz="2400" b="1" dirty="0">
              <a:solidFill>
                <a:srgbClr val="CC3300"/>
              </a:solidFill>
            </a:endParaRPr>
          </a:p>
        </p:txBody>
      </p:sp>
      <p:grpSp>
        <p:nvGrpSpPr>
          <p:cNvPr id="9" name="Group 64"/>
          <p:cNvGrpSpPr/>
          <p:nvPr/>
        </p:nvGrpSpPr>
        <p:grpSpPr>
          <a:xfrm>
            <a:off x="3657600" y="3048000"/>
            <a:ext cx="228600" cy="152400"/>
            <a:chOff x="2496" y="3984"/>
            <a:chExt cx="96" cy="96"/>
          </a:xfrm>
        </p:grpSpPr>
        <p:sp>
          <p:nvSpPr>
            <p:cNvPr id="27683" name="AutoShape 61"/>
            <p:cNvSpPr/>
            <p:nvPr/>
          </p:nvSpPr>
          <p:spPr>
            <a:xfrm>
              <a:off x="2496" y="3984"/>
              <a:ext cx="96" cy="96"/>
            </a:xfrm>
            <a:prstGeom prst="diamond">
              <a:avLst/>
            </a:prstGeom>
            <a:noFill/>
            <a:ln w="38100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7684" name="Line 63"/>
            <p:cNvSpPr/>
            <p:nvPr/>
          </p:nvSpPr>
          <p:spPr>
            <a:xfrm>
              <a:off x="2496" y="4080"/>
              <a:ext cx="96" cy="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3618" name="Text Box 66"/>
          <p:cNvSpPr txBox="1"/>
          <p:nvPr/>
        </p:nvSpPr>
        <p:spPr>
          <a:xfrm>
            <a:off x="2057400" y="3810000"/>
            <a:ext cx="3149600" cy="118745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3300"/>
                </a:solidFill>
              </a:rPr>
              <a:t>输出逻辑电平：</a:t>
            </a:r>
            <a:endParaRPr lang="zh-CN" altLang="en-US" sz="2400" b="1" dirty="0">
              <a:solidFill>
                <a:srgbClr val="CC33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3300"/>
                </a:solidFill>
              </a:rPr>
              <a:t>低电平</a:t>
            </a:r>
            <a:r>
              <a:rPr lang="en-US" altLang="zh-CN" sz="2400" b="1" dirty="0">
                <a:solidFill>
                  <a:srgbClr val="CC3300"/>
                </a:solidFill>
              </a:rPr>
              <a:t>0.3V</a:t>
            </a:r>
            <a:endParaRPr lang="en-US" altLang="zh-CN" sz="2400" b="1" dirty="0">
              <a:solidFill>
                <a:srgbClr val="CC3300"/>
              </a:solidFill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3300"/>
                </a:solidFill>
              </a:rPr>
              <a:t>高电平为</a:t>
            </a:r>
            <a:r>
              <a:rPr lang="en-US" altLang="zh-CN" sz="2400" b="1" dirty="0">
                <a:solidFill>
                  <a:srgbClr val="CC3300"/>
                </a:solidFill>
              </a:rPr>
              <a:t>V</a:t>
            </a:r>
            <a:r>
              <a:rPr lang="en-US" altLang="zh-CN" sz="2400" b="1" baseline="-25000" dirty="0">
                <a:solidFill>
                  <a:srgbClr val="CC3300"/>
                </a:solidFill>
              </a:rPr>
              <a:t>C</a:t>
            </a:r>
            <a:r>
              <a:rPr lang="zh-CN" altLang="en-US" sz="2400" b="1" dirty="0">
                <a:solidFill>
                  <a:srgbClr val="CC3300"/>
                </a:solidFill>
              </a:rPr>
              <a:t>（</a:t>
            </a:r>
            <a:r>
              <a:rPr lang="en-US" altLang="zh-CN" sz="2400" b="1" dirty="0">
                <a:solidFill>
                  <a:srgbClr val="CC3300"/>
                </a:solidFill>
              </a:rPr>
              <a:t>5-30V</a:t>
            </a:r>
            <a:r>
              <a:rPr lang="zh-CN" altLang="en-US" sz="2400" b="1" dirty="0">
                <a:solidFill>
                  <a:srgbClr val="CC3300"/>
                </a:solidFill>
              </a:rPr>
              <a:t>）</a:t>
            </a:r>
            <a:endParaRPr lang="zh-CN" altLang="en-US" sz="2400" b="1" dirty="0">
              <a:solidFill>
                <a:srgbClr val="CC3300"/>
              </a:solidFill>
            </a:endParaRPr>
          </a:p>
        </p:txBody>
      </p:sp>
      <p:grpSp>
        <p:nvGrpSpPr>
          <p:cNvPr id="10" name="Group 70"/>
          <p:cNvGrpSpPr/>
          <p:nvPr/>
        </p:nvGrpSpPr>
        <p:grpSpPr>
          <a:xfrm>
            <a:off x="2133600" y="2590800"/>
            <a:ext cx="2801938" cy="990600"/>
            <a:chOff x="1344" y="1632"/>
            <a:chExt cx="1765" cy="624"/>
          </a:xfrm>
        </p:grpSpPr>
        <p:sp>
          <p:nvSpPr>
            <p:cNvPr id="27668" name="Rectangle 45"/>
            <p:cNvSpPr/>
            <p:nvPr/>
          </p:nvSpPr>
          <p:spPr>
            <a:xfrm>
              <a:off x="2016" y="1680"/>
              <a:ext cx="480" cy="57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grpSp>
          <p:nvGrpSpPr>
            <p:cNvPr id="27669" name="Group 50"/>
            <p:cNvGrpSpPr/>
            <p:nvPr/>
          </p:nvGrpSpPr>
          <p:grpSpPr>
            <a:xfrm>
              <a:off x="1632" y="1776"/>
              <a:ext cx="384" cy="96"/>
              <a:chOff x="1344" y="4032"/>
              <a:chExt cx="384" cy="96"/>
            </a:xfrm>
          </p:grpSpPr>
          <p:sp>
            <p:nvSpPr>
              <p:cNvPr id="27681" name="Line 46"/>
              <p:cNvSpPr/>
              <p:nvPr/>
            </p:nvSpPr>
            <p:spPr>
              <a:xfrm>
                <a:off x="1440" y="4080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82" name="Oval 49"/>
              <p:cNvSpPr/>
              <p:nvPr/>
            </p:nvSpPr>
            <p:spPr>
              <a:xfrm flipV="1">
                <a:off x="1344" y="4032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</p:grpSp>
        <p:grpSp>
          <p:nvGrpSpPr>
            <p:cNvPr id="27670" name="Group 51"/>
            <p:cNvGrpSpPr/>
            <p:nvPr/>
          </p:nvGrpSpPr>
          <p:grpSpPr>
            <a:xfrm>
              <a:off x="1632" y="2064"/>
              <a:ext cx="384" cy="96"/>
              <a:chOff x="1344" y="4032"/>
              <a:chExt cx="384" cy="96"/>
            </a:xfrm>
          </p:grpSpPr>
          <p:sp>
            <p:nvSpPr>
              <p:cNvPr id="27679" name="Line 52"/>
              <p:cNvSpPr/>
              <p:nvPr/>
            </p:nvSpPr>
            <p:spPr>
              <a:xfrm>
                <a:off x="1440" y="4080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80" name="Oval 53"/>
              <p:cNvSpPr/>
              <p:nvPr/>
            </p:nvSpPr>
            <p:spPr>
              <a:xfrm flipV="1">
                <a:off x="1344" y="4032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</p:grpSp>
        <p:grpSp>
          <p:nvGrpSpPr>
            <p:cNvPr id="27671" name="Group 54"/>
            <p:cNvGrpSpPr/>
            <p:nvPr/>
          </p:nvGrpSpPr>
          <p:grpSpPr>
            <a:xfrm flipH="1">
              <a:off x="2592" y="1920"/>
              <a:ext cx="384" cy="96"/>
              <a:chOff x="1344" y="4032"/>
              <a:chExt cx="384" cy="96"/>
            </a:xfrm>
          </p:grpSpPr>
          <p:sp>
            <p:nvSpPr>
              <p:cNvPr id="27677" name="Line 55"/>
              <p:cNvSpPr/>
              <p:nvPr/>
            </p:nvSpPr>
            <p:spPr>
              <a:xfrm>
                <a:off x="1440" y="4080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678" name="Oval 56"/>
              <p:cNvSpPr/>
              <p:nvPr/>
            </p:nvSpPr>
            <p:spPr>
              <a:xfrm flipV="1">
                <a:off x="1344" y="4032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</p:grpSp>
        <p:sp>
          <p:nvSpPr>
            <p:cNvPr id="27672" name="Text Box 57"/>
            <p:cNvSpPr txBox="1"/>
            <p:nvPr/>
          </p:nvSpPr>
          <p:spPr>
            <a:xfrm>
              <a:off x="1344" y="1632"/>
              <a:ext cx="25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A</a:t>
              </a:r>
              <a:endParaRPr lang="en-US" altLang="zh-CN" sz="2400" b="1" dirty="0"/>
            </a:p>
          </p:txBody>
        </p:sp>
        <p:sp>
          <p:nvSpPr>
            <p:cNvPr id="27673" name="Text Box 58"/>
            <p:cNvSpPr txBox="1"/>
            <p:nvPr/>
          </p:nvSpPr>
          <p:spPr>
            <a:xfrm>
              <a:off x="1349" y="1920"/>
              <a:ext cx="24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B</a:t>
              </a:r>
              <a:endParaRPr lang="en-US" altLang="zh-CN" sz="2400" b="1" dirty="0"/>
            </a:p>
          </p:txBody>
        </p:sp>
        <p:sp>
          <p:nvSpPr>
            <p:cNvPr id="27674" name="Text Box 59"/>
            <p:cNvSpPr txBox="1"/>
            <p:nvPr/>
          </p:nvSpPr>
          <p:spPr>
            <a:xfrm>
              <a:off x="2878" y="1824"/>
              <a:ext cx="23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F</a:t>
              </a:r>
              <a:endParaRPr lang="en-US" altLang="zh-CN" sz="2400" b="1" dirty="0"/>
            </a:p>
          </p:txBody>
        </p:sp>
        <p:sp>
          <p:nvSpPr>
            <p:cNvPr id="27675" name="Text Box 60"/>
            <p:cNvSpPr txBox="1"/>
            <p:nvPr/>
          </p:nvSpPr>
          <p:spPr>
            <a:xfrm>
              <a:off x="2064" y="1680"/>
              <a:ext cx="2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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27676" name="Oval 69"/>
            <p:cNvSpPr/>
            <p:nvPr/>
          </p:nvSpPr>
          <p:spPr>
            <a:xfrm>
              <a:off x="2496" y="1920"/>
              <a:ext cx="96" cy="96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pic>
        <p:nvPicPr>
          <p:cNvPr id="27666" name="Picture 73" descr="E:\电子教案\wb01508_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62484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67" name="Text Box 74">
            <a:hlinkClick r:id="rId5" action="ppaction://hlinksldjump"/>
          </p:cNvPr>
          <p:cNvSpPr txBox="1"/>
          <p:nvPr/>
        </p:nvSpPr>
        <p:spPr>
          <a:xfrm>
            <a:off x="7543800" y="62484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3" dur="500"/>
                                        <p:tgtEl>
                                          <p:spTgt spid="2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500"/>
                                        <p:tgtEl>
                                          <p:spTgt spid="2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4" grpId="0"/>
      <p:bldP spid="23592" grpId="0"/>
      <p:bldP spid="23593" grpId="0"/>
      <p:bldP spid="23594" grpId="0"/>
      <p:bldP spid="23595" grpId="0" animBg="1"/>
      <p:bldP spid="23596" grpId="0"/>
      <p:bldP spid="236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3"/>
          <p:cNvGrpSpPr/>
          <p:nvPr/>
        </p:nvGrpSpPr>
        <p:grpSpPr>
          <a:xfrm>
            <a:off x="838200" y="1371600"/>
            <a:ext cx="7772400" cy="4876800"/>
            <a:chOff x="528" y="864"/>
            <a:chExt cx="4896" cy="3072"/>
          </a:xfrm>
        </p:grpSpPr>
        <p:sp>
          <p:nvSpPr>
            <p:cNvPr id="28713" name="Rectangle 6"/>
            <p:cNvSpPr/>
            <p:nvPr/>
          </p:nvSpPr>
          <p:spPr>
            <a:xfrm>
              <a:off x="528" y="864"/>
              <a:ext cx="4896" cy="307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8714" name="Text Box 7"/>
            <p:cNvSpPr txBox="1"/>
            <p:nvPr/>
          </p:nvSpPr>
          <p:spPr>
            <a:xfrm>
              <a:off x="655" y="912"/>
              <a:ext cx="212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</a:t>
              </a:r>
              <a:r>
                <a:rPr lang="en-US" altLang="zh-CN" sz="2400" b="1" dirty="0">
                  <a:sym typeface="Symbol" panose="05050102010706020507" pitchFamily="18" charset="2"/>
                </a:rPr>
                <a:t> </a:t>
              </a:r>
              <a:r>
                <a:rPr lang="en-US" altLang="zh-CN" sz="2400" b="1" dirty="0"/>
                <a:t>OC</a:t>
              </a:r>
              <a:r>
                <a:rPr lang="zh-CN" altLang="en-US" sz="2400" b="1" dirty="0"/>
                <a:t>门实现“线与”逻辑</a:t>
              </a:r>
              <a:endParaRPr lang="zh-CN" altLang="en-US" sz="2400" dirty="0"/>
            </a:p>
          </p:txBody>
        </p:sp>
      </p:grpSp>
      <p:grpSp>
        <p:nvGrpSpPr>
          <p:cNvPr id="3" name="Group 37"/>
          <p:cNvGrpSpPr/>
          <p:nvPr/>
        </p:nvGrpSpPr>
        <p:grpSpPr>
          <a:xfrm>
            <a:off x="3048000" y="1905000"/>
            <a:ext cx="5486400" cy="4267200"/>
            <a:chOff x="1920" y="1200"/>
            <a:chExt cx="3456" cy="2688"/>
          </a:xfrm>
        </p:grpSpPr>
        <p:sp>
          <p:nvSpPr>
            <p:cNvPr id="28711" name="Rectangle 36"/>
            <p:cNvSpPr/>
            <p:nvPr/>
          </p:nvSpPr>
          <p:spPr>
            <a:xfrm>
              <a:off x="4896" y="1200"/>
              <a:ext cx="480" cy="26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graphicFrame>
          <p:nvGraphicFramePr>
            <p:cNvPr id="28712" name="Object 8"/>
            <p:cNvGraphicFramePr>
              <a:graphicFrameLocks noChangeAspect="1"/>
            </p:cNvGraphicFramePr>
            <p:nvPr/>
          </p:nvGraphicFramePr>
          <p:xfrm>
            <a:off x="1920" y="1200"/>
            <a:ext cx="3024" cy="2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3305175" imgH="2762250" progId="Paint.Picture">
                    <p:embed/>
                  </p:oleObj>
                </mc:Choice>
                <mc:Fallback>
                  <p:oleObj name="" r:id="rId1" imgW="3305175" imgH="2762250" progId="Paint.Picture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920" y="1200"/>
                          <a:ext cx="3024" cy="26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8"/>
          <p:cNvGrpSpPr/>
          <p:nvPr/>
        </p:nvGrpSpPr>
        <p:grpSpPr>
          <a:xfrm>
            <a:off x="4419600" y="3200400"/>
            <a:ext cx="1436688" cy="990600"/>
            <a:chOff x="3264" y="1920"/>
            <a:chExt cx="905" cy="624"/>
          </a:xfrm>
        </p:grpSpPr>
        <p:sp>
          <p:nvSpPr>
            <p:cNvPr id="28704" name="Line 11"/>
            <p:cNvSpPr/>
            <p:nvPr/>
          </p:nvSpPr>
          <p:spPr>
            <a:xfrm>
              <a:off x="3264" y="2544"/>
              <a:ext cx="336" cy="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5" name="Line 12"/>
            <p:cNvSpPr/>
            <p:nvPr/>
          </p:nvSpPr>
          <p:spPr>
            <a:xfrm>
              <a:off x="3264" y="1920"/>
              <a:ext cx="336" cy="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6" name="Line 13"/>
            <p:cNvSpPr/>
            <p:nvPr/>
          </p:nvSpPr>
          <p:spPr>
            <a:xfrm>
              <a:off x="3600" y="1920"/>
              <a:ext cx="0" cy="624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7" name="Line 14"/>
            <p:cNvSpPr/>
            <p:nvPr/>
          </p:nvSpPr>
          <p:spPr>
            <a:xfrm>
              <a:off x="3600" y="2208"/>
              <a:ext cx="240" cy="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08" name="Oval 15"/>
            <p:cNvSpPr/>
            <p:nvPr/>
          </p:nvSpPr>
          <p:spPr>
            <a:xfrm>
              <a:off x="3552" y="2160"/>
              <a:ext cx="96" cy="96"/>
            </a:xfrm>
            <a:prstGeom prst="ellipse">
              <a:avLst/>
            </a:prstGeom>
            <a:solidFill>
              <a:schemeClr val="tx2"/>
            </a:solidFill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8709" name="Oval 16"/>
            <p:cNvSpPr/>
            <p:nvPr/>
          </p:nvSpPr>
          <p:spPr>
            <a:xfrm>
              <a:off x="3840" y="2160"/>
              <a:ext cx="96" cy="96"/>
            </a:xfrm>
            <a:prstGeom prst="ellipse">
              <a:avLst/>
            </a:prstGeom>
            <a:noFill/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8710" name="Text Box 17"/>
            <p:cNvSpPr txBox="1"/>
            <p:nvPr/>
          </p:nvSpPr>
          <p:spPr>
            <a:xfrm>
              <a:off x="3924" y="2052"/>
              <a:ext cx="245" cy="312"/>
            </a:xfrm>
            <a:prstGeom prst="rect">
              <a:avLst/>
            </a:prstGeom>
            <a:noFill/>
            <a:ln w="38100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/>
                <a:t>F</a:t>
              </a:r>
              <a:endParaRPr lang="en-US" altLang="zh-CN" sz="2400" dirty="0"/>
            </a:p>
          </p:txBody>
        </p:sp>
      </p:grpSp>
      <p:sp>
        <p:nvSpPr>
          <p:cNvPr id="25619" name="Rectangle 19"/>
          <p:cNvSpPr/>
          <p:nvPr/>
        </p:nvSpPr>
        <p:spPr>
          <a:xfrm>
            <a:off x="4648200" y="3352800"/>
            <a:ext cx="609600" cy="685800"/>
          </a:xfrm>
          <a:prstGeom prst="rect">
            <a:avLst/>
          </a:prstGeom>
          <a:noFill/>
          <a:ln w="57150" cap="flat" cmpd="sng">
            <a:solidFill>
              <a:srgbClr val="009900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aphicFrame>
        <p:nvGraphicFramePr>
          <p:cNvPr id="25622" name="Object 22"/>
          <p:cNvGraphicFramePr>
            <a:graphicFrameLocks noChangeAspect="1"/>
          </p:cNvGraphicFramePr>
          <p:nvPr/>
        </p:nvGraphicFramePr>
        <p:xfrm>
          <a:off x="6248400" y="2819400"/>
          <a:ext cx="2286000" cy="177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314450" imgH="1019175" progId="Paint.Picture">
                  <p:embed/>
                </p:oleObj>
              </mc:Choice>
              <mc:Fallback>
                <p:oleObj name="" r:id="rId3" imgW="1314450" imgH="101917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48400" y="2819400"/>
                        <a:ext cx="2286000" cy="177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4"/>
          <p:cNvGrpSpPr/>
          <p:nvPr/>
        </p:nvGrpSpPr>
        <p:grpSpPr>
          <a:xfrm>
            <a:off x="5105400" y="1981200"/>
            <a:ext cx="838200" cy="1752600"/>
            <a:chOff x="3216" y="1248"/>
            <a:chExt cx="528" cy="1104"/>
          </a:xfrm>
        </p:grpSpPr>
        <p:grpSp>
          <p:nvGrpSpPr>
            <p:cNvPr id="28694" name="Group 25"/>
            <p:cNvGrpSpPr/>
            <p:nvPr/>
          </p:nvGrpSpPr>
          <p:grpSpPr>
            <a:xfrm>
              <a:off x="3216" y="1248"/>
              <a:ext cx="528" cy="1056"/>
              <a:chOff x="4560" y="1296"/>
              <a:chExt cx="528" cy="1056"/>
            </a:xfrm>
          </p:grpSpPr>
          <p:grpSp>
            <p:nvGrpSpPr>
              <p:cNvPr id="28696" name="Group 26"/>
              <p:cNvGrpSpPr/>
              <p:nvPr/>
            </p:nvGrpSpPr>
            <p:grpSpPr>
              <a:xfrm>
                <a:off x="4567" y="1536"/>
                <a:ext cx="473" cy="816"/>
                <a:chOff x="1008" y="2208"/>
                <a:chExt cx="473" cy="816"/>
              </a:xfrm>
            </p:grpSpPr>
            <p:sp>
              <p:nvSpPr>
                <p:cNvPr id="28700" name="Rectangle 27"/>
                <p:cNvSpPr/>
                <p:nvPr/>
              </p:nvSpPr>
              <p:spPr>
                <a:xfrm>
                  <a:off x="1008" y="2448"/>
                  <a:ext cx="96" cy="33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2400" dirty="0"/>
                </a:p>
              </p:txBody>
            </p:sp>
            <p:sp>
              <p:nvSpPr>
                <p:cNvPr id="28701" name="Line 28"/>
                <p:cNvSpPr/>
                <p:nvPr/>
              </p:nvSpPr>
              <p:spPr>
                <a:xfrm>
                  <a:off x="1056" y="2784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02" name="Line 29"/>
                <p:cNvSpPr/>
                <p:nvPr/>
              </p:nvSpPr>
              <p:spPr>
                <a:xfrm>
                  <a:off x="1056" y="2208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03" name="Text Box 30"/>
                <p:cNvSpPr txBox="1"/>
                <p:nvPr/>
              </p:nvSpPr>
              <p:spPr>
                <a:xfrm>
                  <a:off x="1143" y="2448"/>
                  <a:ext cx="338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lIns="90000" tIns="46800" rIns="90000" bIns="46800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rgbClr val="CC3300"/>
                      </a:solidFill>
                    </a:rPr>
                    <a:t>R</a:t>
                  </a:r>
                  <a:r>
                    <a:rPr lang="en-US" altLang="zh-CN" sz="2400" b="1" baseline="-25000" dirty="0">
                      <a:solidFill>
                        <a:srgbClr val="CC3300"/>
                      </a:solidFill>
                    </a:rPr>
                    <a:t>L</a:t>
                  </a:r>
                  <a:endParaRPr lang="en-US" altLang="zh-CN" sz="2400" dirty="0"/>
                </a:p>
              </p:txBody>
            </p:sp>
          </p:grpSp>
          <p:grpSp>
            <p:nvGrpSpPr>
              <p:cNvPr id="28697" name="Group 31"/>
              <p:cNvGrpSpPr/>
              <p:nvPr/>
            </p:nvGrpSpPr>
            <p:grpSpPr>
              <a:xfrm>
                <a:off x="4560" y="1296"/>
                <a:ext cx="528" cy="288"/>
                <a:chOff x="1008" y="1968"/>
                <a:chExt cx="528" cy="288"/>
              </a:xfrm>
            </p:grpSpPr>
            <p:sp>
              <p:nvSpPr>
                <p:cNvPr id="28698" name="Oval 32"/>
                <p:cNvSpPr/>
                <p:nvPr/>
              </p:nvSpPr>
              <p:spPr>
                <a:xfrm>
                  <a:off x="1008" y="2160"/>
                  <a:ext cx="96" cy="48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2400" dirty="0"/>
                </a:p>
              </p:txBody>
            </p:sp>
            <p:sp>
              <p:nvSpPr>
                <p:cNvPr id="28699" name="Text Box 33"/>
                <p:cNvSpPr txBox="1"/>
                <p:nvPr/>
              </p:nvSpPr>
              <p:spPr>
                <a:xfrm>
                  <a:off x="1191" y="1968"/>
                  <a:ext cx="345" cy="288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lIns="90000" tIns="46800" rIns="90000" bIns="46800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>
                      <a:solidFill>
                        <a:srgbClr val="CC3300"/>
                      </a:solidFill>
                    </a:rPr>
                    <a:t>V</a:t>
                  </a:r>
                  <a:r>
                    <a:rPr lang="en-US" altLang="zh-CN" sz="2400" b="1" baseline="-25000" dirty="0">
                      <a:solidFill>
                        <a:srgbClr val="CC3300"/>
                      </a:solidFill>
                    </a:rPr>
                    <a:t>C</a:t>
                  </a:r>
                  <a:endParaRPr lang="en-US" altLang="zh-CN" sz="2400" dirty="0"/>
                </a:p>
              </p:txBody>
            </p:sp>
          </p:grpSp>
        </p:grpSp>
        <p:sp>
          <p:nvSpPr>
            <p:cNvPr id="28695" name="Oval 34"/>
            <p:cNvSpPr/>
            <p:nvPr/>
          </p:nvSpPr>
          <p:spPr>
            <a:xfrm>
              <a:off x="3216" y="2256"/>
              <a:ext cx="96" cy="9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grpSp>
        <p:nvGrpSpPr>
          <p:cNvPr id="9" name="Group 35"/>
          <p:cNvGrpSpPr/>
          <p:nvPr/>
        </p:nvGrpSpPr>
        <p:grpSpPr>
          <a:xfrm>
            <a:off x="5029200" y="2286000"/>
            <a:ext cx="2286000" cy="762000"/>
            <a:chOff x="6720" y="1584"/>
            <a:chExt cx="1440" cy="480"/>
          </a:xfrm>
        </p:grpSpPr>
        <p:sp>
          <p:nvSpPr>
            <p:cNvPr id="28692" name="AutoShape 20"/>
            <p:cNvSpPr/>
            <p:nvPr/>
          </p:nvSpPr>
          <p:spPr>
            <a:xfrm>
              <a:off x="6768" y="1584"/>
              <a:ext cx="1392" cy="480"/>
            </a:xfrm>
            <a:prstGeom prst="wedgeRoundRectCallout">
              <a:avLst>
                <a:gd name="adj1" fmla="val -55819"/>
                <a:gd name="adj2" fmla="val 117500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28693" name="Text Box 21"/>
            <p:cNvSpPr txBox="1"/>
            <p:nvPr/>
          </p:nvSpPr>
          <p:spPr>
            <a:xfrm>
              <a:off x="6720" y="1680"/>
              <a:ext cx="13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相当于“与门”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10" name="Group 42"/>
          <p:cNvGrpSpPr/>
          <p:nvPr/>
        </p:nvGrpSpPr>
        <p:grpSpPr>
          <a:xfrm>
            <a:off x="6553200" y="4419600"/>
            <a:ext cx="2286000" cy="1066800"/>
            <a:chOff x="4128" y="2880"/>
            <a:chExt cx="1440" cy="672"/>
          </a:xfrm>
        </p:grpSpPr>
        <p:sp>
          <p:nvSpPr>
            <p:cNvPr id="28690" name="AutoShape 40"/>
            <p:cNvSpPr/>
            <p:nvPr/>
          </p:nvSpPr>
          <p:spPr>
            <a:xfrm>
              <a:off x="4128" y="2880"/>
              <a:ext cx="1440" cy="672"/>
            </a:xfrm>
            <a:prstGeom prst="wedgeEllipseCallout">
              <a:avLst>
                <a:gd name="adj1" fmla="val -27569"/>
                <a:gd name="adj2" fmla="val -61162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28691" name="Text Box 41"/>
            <p:cNvSpPr txBox="1"/>
            <p:nvPr/>
          </p:nvSpPr>
          <p:spPr>
            <a:xfrm>
              <a:off x="4154" y="3072"/>
              <a:ext cx="127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逻辑等效符号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graphicFrame>
        <p:nvGraphicFramePr>
          <p:cNvPr id="25645" name="Object 45"/>
          <p:cNvGraphicFramePr>
            <a:graphicFrameLocks noChangeAspect="1"/>
          </p:cNvGraphicFramePr>
          <p:nvPr/>
        </p:nvGraphicFramePr>
        <p:xfrm>
          <a:off x="990600" y="1905000"/>
          <a:ext cx="1709738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5" imgW="634365" imgH="215900" progId="Equation.3">
                  <p:embed/>
                </p:oleObj>
              </mc:Choice>
              <mc:Fallback>
                <p:oleObj name="" r:id="rId5" imgW="634365" imgH="2159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0600" y="1905000"/>
                        <a:ext cx="1709738" cy="579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6" name="Object 46"/>
          <p:cNvGraphicFramePr>
            <a:graphicFrameLocks noChangeAspect="1"/>
          </p:cNvGraphicFramePr>
          <p:nvPr/>
        </p:nvGraphicFramePr>
        <p:xfrm>
          <a:off x="914400" y="2295525"/>
          <a:ext cx="184943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7" imgW="685800" imgH="279400" progId="Equation.3">
                  <p:embed/>
                </p:oleObj>
              </mc:Choice>
              <mc:Fallback>
                <p:oleObj name="" r:id="rId7" imgW="685800" imgH="2794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4400" y="2295525"/>
                        <a:ext cx="1849438" cy="752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7" name="Object 47"/>
          <p:cNvGraphicFramePr>
            <a:graphicFrameLocks noChangeAspect="1"/>
          </p:cNvGraphicFramePr>
          <p:nvPr/>
        </p:nvGraphicFramePr>
        <p:xfrm>
          <a:off x="914400" y="2895600"/>
          <a:ext cx="19812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9" imgW="723900" imgH="279400" progId="Equation.3">
                  <p:embed/>
                </p:oleObj>
              </mc:Choice>
              <mc:Fallback>
                <p:oleObj name="" r:id="rId9" imgW="723900" imgH="2794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4400" y="2895600"/>
                        <a:ext cx="1981200" cy="766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8" name="Text Box 48"/>
          <p:cNvSpPr txBox="1"/>
          <p:nvPr/>
        </p:nvSpPr>
        <p:spPr>
          <a:xfrm>
            <a:off x="914400" y="3627438"/>
            <a:ext cx="183515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  <a:sym typeface="Symbol" panose="05050102010706020507" pitchFamily="18" charset="2"/>
              </a:rPr>
              <a:t>   </a:t>
            </a:r>
            <a:r>
              <a:rPr lang="zh-CN" altLang="en-US" sz="2400" b="1" dirty="0"/>
              <a:t>负载电阻</a:t>
            </a:r>
            <a:r>
              <a:rPr lang="en-US" altLang="zh-CN" sz="2400" b="1" dirty="0"/>
              <a:t>R</a:t>
            </a:r>
            <a:r>
              <a:rPr lang="en-US" altLang="zh-CN" sz="2400" b="1" baseline="-25000" dirty="0"/>
              <a:t>L</a:t>
            </a:r>
            <a:r>
              <a:rPr lang="zh-CN" altLang="en-US" sz="2400" b="1" dirty="0"/>
              <a:t>的选择</a:t>
            </a:r>
            <a:endParaRPr lang="zh-CN" altLang="en-US" sz="2400" b="1" dirty="0"/>
          </a:p>
        </p:txBody>
      </p:sp>
      <p:sp>
        <p:nvSpPr>
          <p:cNvPr id="25649" name="Text Box 49"/>
          <p:cNvSpPr txBox="1"/>
          <p:nvPr/>
        </p:nvSpPr>
        <p:spPr>
          <a:xfrm>
            <a:off x="914400" y="4648200"/>
            <a:ext cx="1857375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（自看作考试内容）</a:t>
            </a:r>
            <a:endParaRPr lang="zh-CN" altLang="en-US" sz="2400" b="1" dirty="0"/>
          </a:p>
        </p:txBody>
      </p:sp>
      <p:sp>
        <p:nvSpPr>
          <p:cNvPr id="28687" name="Text Box 52"/>
          <p:cNvSpPr txBox="1"/>
          <p:nvPr/>
        </p:nvSpPr>
        <p:spPr>
          <a:xfrm>
            <a:off x="914400" y="304800"/>
            <a:ext cx="7467600" cy="823913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集电极开路</a:t>
            </a:r>
            <a:r>
              <a:rPr lang="en-US" altLang="zh-CN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en-US" altLang="zh-CN" sz="4000" b="1" dirty="0">
                <a:solidFill>
                  <a:srgbClr val="990000"/>
                </a:solidFill>
                <a:ea typeface="隶书" panose="02010509060101010101" pitchFamily="49" charset="-122"/>
              </a:rPr>
              <a:t>“</a:t>
            </a:r>
            <a:r>
              <a:rPr lang="zh-CN" altLang="en-US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</a:t>
            </a:r>
            <a:r>
              <a:rPr lang="zh-CN" altLang="en-US" sz="4000" b="1" dirty="0">
                <a:solidFill>
                  <a:srgbClr val="990000"/>
                </a:solidFill>
                <a:ea typeface="隶书" panose="02010509060101010101" pitchFamily="49" charset="-122"/>
              </a:rPr>
              <a:t>”</a:t>
            </a:r>
            <a:r>
              <a:rPr lang="zh-CN" altLang="en-US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门（</a:t>
            </a:r>
            <a:r>
              <a:rPr lang="en-US" altLang="zh-CN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OC</a:t>
            </a:r>
            <a:r>
              <a:rPr lang="zh-CN" altLang="en-US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门）</a:t>
            </a:r>
            <a:endParaRPr lang="zh-CN" altLang="en-US" sz="4000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28688" name="Picture 53" descr="E:\电子教案\wb01508_.gif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67600" y="62484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89" name="Text Box 54">
            <a:hlinkClick r:id="rId11" action="ppaction://hlinksldjump"/>
          </p:cNvPr>
          <p:cNvSpPr txBox="1"/>
          <p:nvPr/>
        </p:nvSpPr>
        <p:spPr>
          <a:xfrm>
            <a:off x="7620000" y="62484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9" grpId="0" animBg="1"/>
      <p:bldP spid="25648" grpId="0"/>
      <p:bldP spid="2564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Text Box 28"/>
          <p:cNvSpPr txBox="1"/>
          <p:nvPr/>
        </p:nvSpPr>
        <p:spPr>
          <a:xfrm>
            <a:off x="914400" y="304800"/>
            <a:ext cx="7467600" cy="823913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集电极开路</a:t>
            </a:r>
            <a:r>
              <a:rPr lang="en-US" altLang="zh-CN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TTL</a:t>
            </a:r>
            <a:r>
              <a:rPr lang="en-US" altLang="zh-CN" sz="4000" b="1" dirty="0">
                <a:solidFill>
                  <a:srgbClr val="990000"/>
                </a:solidFill>
                <a:ea typeface="隶书" panose="02010509060101010101" pitchFamily="49" charset="-122"/>
              </a:rPr>
              <a:t>“</a:t>
            </a:r>
            <a:r>
              <a:rPr lang="zh-CN" altLang="en-US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与非</a:t>
            </a:r>
            <a:r>
              <a:rPr lang="zh-CN" altLang="en-US" sz="4000" b="1" dirty="0">
                <a:solidFill>
                  <a:srgbClr val="990000"/>
                </a:solidFill>
                <a:ea typeface="隶书" panose="02010509060101010101" pitchFamily="49" charset="-122"/>
              </a:rPr>
              <a:t>”</a:t>
            </a:r>
            <a:r>
              <a:rPr lang="zh-CN" altLang="en-US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门（</a:t>
            </a:r>
            <a:r>
              <a:rPr lang="en-US" altLang="zh-CN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OC</a:t>
            </a:r>
            <a:r>
              <a:rPr lang="zh-CN" altLang="en-US" sz="40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门）</a:t>
            </a:r>
            <a:endParaRPr lang="zh-CN" altLang="en-US" sz="4000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838200" y="1371600"/>
            <a:ext cx="7772400" cy="4876800"/>
            <a:chOff x="528" y="864"/>
            <a:chExt cx="4896" cy="3072"/>
          </a:xfrm>
        </p:grpSpPr>
        <p:sp>
          <p:nvSpPr>
            <p:cNvPr id="29717" name="Rectangle 6"/>
            <p:cNvSpPr/>
            <p:nvPr/>
          </p:nvSpPr>
          <p:spPr>
            <a:xfrm>
              <a:off x="528" y="864"/>
              <a:ext cx="4896" cy="3072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29718" name="Text Box 7"/>
            <p:cNvSpPr txBox="1"/>
            <p:nvPr/>
          </p:nvSpPr>
          <p:spPr>
            <a:xfrm>
              <a:off x="590" y="912"/>
              <a:ext cx="225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</a:t>
              </a:r>
              <a:r>
                <a:rPr lang="en-US" altLang="zh-CN" sz="2400" b="1" dirty="0">
                  <a:sym typeface="Symbol" panose="05050102010706020507" pitchFamily="18" charset="2"/>
                </a:rPr>
                <a:t> </a:t>
              </a:r>
              <a:r>
                <a:rPr lang="en-US" altLang="zh-CN" sz="2400" b="1" dirty="0"/>
                <a:t>OC</a:t>
              </a:r>
              <a:r>
                <a:rPr lang="zh-CN" altLang="en-US" sz="2400" b="1" dirty="0"/>
                <a:t>门应用</a:t>
              </a:r>
              <a:r>
                <a:rPr lang="en-US" altLang="zh-CN" sz="2400" b="1" dirty="0"/>
                <a:t>--</a:t>
              </a:r>
              <a:r>
                <a:rPr lang="zh-CN" altLang="en-US" sz="2400" b="1" dirty="0"/>
                <a:t>电平转换器</a:t>
              </a:r>
              <a:endParaRPr lang="zh-CN" altLang="en-US" sz="2400" dirty="0"/>
            </a:p>
          </p:txBody>
        </p:sp>
      </p:grpSp>
      <p:sp>
        <p:nvSpPr>
          <p:cNvPr id="26633" name="Text Box 9"/>
          <p:cNvSpPr txBox="1"/>
          <p:nvPr/>
        </p:nvSpPr>
        <p:spPr>
          <a:xfrm>
            <a:off x="1066800" y="1936750"/>
            <a:ext cx="754380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OC</a:t>
            </a:r>
            <a:r>
              <a:rPr lang="zh-CN" altLang="en-US" sz="2400" b="1" dirty="0"/>
              <a:t>门需外接电阻，所以电源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C</a:t>
            </a:r>
            <a:r>
              <a:rPr lang="zh-CN" altLang="en-US" sz="2400" b="1" dirty="0"/>
              <a:t>可以选</a:t>
            </a:r>
            <a:r>
              <a:rPr lang="en-US" altLang="zh-CN" sz="2400" b="1" dirty="0"/>
              <a:t>5V—30V</a:t>
            </a:r>
            <a:r>
              <a:rPr lang="zh-CN" altLang="en-US" sz="2400" b="1" dirty="0"/>
              <a:t>，因此</a:t>
            </a:r>
            <a:r>
              <a:rPr lang="en-US" altLang="zh-CN" sz="2400" b="1" dirty="0"/>
              <a:t>OC</a:t>
            </a:r>
            <a:r>
              <a:rPr lang="zh-CN" altLang="en-US" sz="2400" b="1" dirty="0"/>
              <a:t>门作为</a:t>
            </a:r>
            <a:r>
              <a:rPr lang="en-US" altLang="zh-CN" sz="2400" b="1" dirty="0"/>
              <a:t>TTL</a:t>
            </a:r>
            <a:r>
              <a:rPr lang="zh-CN" altLang="en-US" sz="2400" b="1" dirty="0"/>
              <a:t>电路可以和其它不同类型不同电平的逻辑电路进行连接</a:t>
            </a:r>
            <a:endParaRPr lang="zh-CN" altLang="en-US" sz="2400" b="1" dirty="0"/>
          </a:p>
        </p:txBody>
      </p:sp>
      <p:grpSp>
        <p:nvGrpSpPr>
          <p:cNvPr id="3" name="Group 25"/>
          <p:cNvGrpSpPr/>
          <p:nvPr/>
        </p:nvGrpSpPr>
        <p:grpSpPr>
          <a:xfrm>
            <a:off x="1066800" y="3276600"/>
            <a:ext cx="7391400" cy="2895600"/>
            <a:chOff x="672" y="2064"/>
            <a:chExt cx="4656" cy="1824"/>
          </a:xfrm>
        </p:grpSpPr>
        <p:graphicFrame>
          <p:nvGraphicFramePr>
            <p:cNvPr id="29715" name="Object 8"/>
            <p:cNvGraphicFramePr>
              <a:graphicFrameLocks noChangeAspect="1"/>
            </p:cNvGraphicFramePr>
            <p:nvPr/>
          </p:nvGraphicFramePr>
          <p:xfrm>
            <a:off x="672" y="2064"/>
            <a:ext cx="4608" cy="1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1" imgW="5362575" imgH="1943100" progId="Paint.Picture">
                    <p:embed/>
                  </p:oleObj>
                </mc:Choice>
                <mc:Fallback>
                  <p:oleObj name="" r:id="rId1" imgW="5362575" imgH="1943100" progId="Paint.Picture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72" y="2064"/>
                          <a:ext cx="4608" cy="18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6" name="Rectangle 17"/>
            <p:cNvSpPr/>
            <p:nvPr/>
          </p:nvSpPr>
          <p:spPr>
            <a:xfrm>
              <a:off x="720" y="2064"/>
              <a:ext cx="4608" cy="1824"/>
            </a:xfrm>
            <a:prstGeom prst="rect">
              <a:avLst/>
            </a:prstGeom>
            <a:noFill/>
            <a:ln w="38100" cap="flat" cmpd="sng">
              <a:solidFill>
                <a:srgbClr val="3399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grpSp>
        <p:nvGrpSpPr>
          <p:cNvPr id="4" name="Group 22"/>
          <p:cNvGrpSpPr/>
          <p:nvPr/>
        </p:nvGrpSpPr>
        <p:grpSpPr>
          <a:xfrm>
            <a:off x="3962400" y="2209800"/>
            <a:ext cx="2362200" cy="1219200"/>
            <a:chOff x="1056" y="2736"/>
            <a:chExt cx="1488" cy="768"/>
          </a:xfrm>
        </p:grpSpPr>
        <p:sp>
          <p:nvSpPr>
            <p:cNvPr id="29713" name="AutoShape 20"/>
            <p:cNvSpPr/>
            <p:nvPr/>
          </p:nvSpPr>
          <p:spPr>
            <a:xfrm>
              <a:off x="1056" y="2736"/>
              <a:ext cx="1488" cy="768"/>
            </a:xfrm>
            <a:prstGeom prst="wedgeRoundRectCallout">
              <a:avLst>
                <a:gd name="adj1" fmla="val -43278"/>
                <a:gd name="adj2" fmla="val 84505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29714" name="Text Box 21"/>
            <p:cNvSpPr txBox="1"/>
            <p:nvPr/>
          </p:nvSpPr>
          <p:spPr>
            <a:xfrm>
              <a:off x="1104" y="2842"/>
              <a:ext cx="1392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TTL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电路驱动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CMOS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电路图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26647" name="Rectangle 23"/>
          <p:cNvSpPr/>
          <p:nvPr/>
        </p:nvSpPr>
        <p:spPr>
          <a:xfrm>
            <a:off x="1371600" y="3429000"/>
            <a:ext cx="2514600" cy="17526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6648" name="Rectangle 24"/>
          <p:cNvSpPr/>
          <p:nvPr/>
        </p:nvSpPr>
        <p:spPr>
          <a:xfrm>
            <a:off x="4800600" y="3429000"/>
            <a:ext cx="3048000" cy="17526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5" name="Group 16"/>
          <p:cNvGrpSpPr/>
          <p:nvPr/>
        </p:nvGrpSpPr>
        <p:grpSpPr>
          <a:xfrm>
            <a:off x="5486400" y="838200"/>
            <a:ext cx="3657600" cy="2133600"/>
            <a:chOff x="3456" y="528"/>
            <a:chExt cx="2304" cy="1344"/>
          </a:xfrm>
        </p:grpSpPr>
        <p:sp>
          <p:nvSpPr>
            <p:cNvPr id="29711" name="AutoShape 14"/>
            <p:cNvSpPr/>
            <p:nvPr/>
          </p:nvSpPr>
          <p:spPr>
            <a:xfrm>
              <a:off x="3456" y="528"/>
              <a:ext cx="2304" cy="1344"/>
            </a:xfrm>
            <a:prstGeom prst="wedgeRoundRectCallout">
              <a:avLst>
                <a:gd name="adj1" fmla="val -45657"/>
                <a:gd name="adj2" fmla="val 69718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29712" name="Text Box 15"/>
            <p:cNvSpPr txBox="1"/>
            <p:nvPr/>
          </p:nvSpPr>
          <p:spPr>
            <a:xfrm>
              <a:off x="3538" y="576"/>
              <a:ext cx="2174" cy="120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CMOS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电路的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DD 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= 5V—18V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，特别是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DD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&gt;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CC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时，必须选用集电极开路（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OC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门）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TTL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电路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6" name="Group 12"/>
          <p:cNvGrpSpPr/>
          <p:nvPr/>
        </p:nvGrpSpPr>
        <p:grpSpPr>
          <a:xfrm>
            <a:off x="1905000" y="1371600"/>
            <a:ext cx="3657600" cy="1600200"/>
            <a:chOff x="1200" y="864"/>
            <a:chExt cx="2304" cy="1008"/>
          </a:xfrm>
        </p:grpSpPr>
        <p:sp>
          <p:nvSpPr>
            <p:cNvPr id="29709" name="AutoShape 10"/>
            <p:cNvSpPr/>
            <p:nvPr/>
          </p:nvSpPr>
          <p:spPr>
            <a:xfrm>
              <a:off x="1200" y="864"/>
              <a:ext cx="2304" cy="1008"/>
            </a:xfrm>
            <a:prstGeom prst="wedgeRoundRectCallout">
              <a:avLst>
                <a:gd name="adj1" fmla="val -45657"/>
                <a:gd name="adj2" fmla="val 76292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29710" name="Text Box 11"/>
            <p:cNvSpPr txBox="1"/>
            <p:nvPr/>
          </p:nvSpPr>
          <p:spPr>
            <a:xfrm>
              <a:off x="1248" y="1008"/>
              <a:ext cx="2174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CMOS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电源电压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DD  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= 5V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时，一般的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TTL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门可以直接驱动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CMOS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门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pic>
        <p:nvPicPr>
          <p:cNvPr id="29707" name="Picture 29" descr="E:\电子教案\wb01508_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62484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08" name="Text Box 30">
            <a:hlinkClick r:id="rId3" action="ppaction://hlinksldjump"/>
          </p:cNvPr>
          <p:cNvSpPr txBox="1"/>
          <p:nvPr/>
        </p:nvSpPr>
        <p:spPr>
          <a:xfrm>
            <a:off x="7620000" y="62484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3" grpId="0"/>
      <p:bldP spid="26647" grpId="0" animBg="1"/>
      <p:bldP spid="2664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2" name="Text Box 4"/>
          <p:cNvSpPr txBox="1"/>
          <p:nvPr/>
        </p:nvSpPr>
        <p:spPr>
          <a:xfrm>
            <a:off x="762000" y="228600"/>
            <a:ext cx="4267200" cy="823913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rgbClr val="990000"/>
                </a:solidFill>
                <a:latin typeface="幼圆" panose="02010509060101010101" pitchFamily="49" charset="-122"/>
                <a:ea typeface="隶书" panose="02010509060101010101" pitchFamily="49" charset="-122"/>
              </a:rPr>
              <a:t>三态逻辑门（</a:t>
            </a:r>
            <a:r>
              <a:rPr lang="en-US" altLang="zh-CN" sz="4000" b="1" dirty="0">
                <a:solidFill>
                  <a:srgbClr val="990000"/>
                </a:solidFill>
                <a:latin typeface="幼圆" panose="02010509060101010101" pitchFamily="49" charset="-122"/>
                <a:ea typeface="隶书" panose="02010509060101010101" pitchFamily="49" charset="-122"/>
              </a:rPr>
              <a:t>TSL</a:t>
            </a:r>
            <a:r>
              <a:rPr lang="zh-CN" altLang="en-US" sz="4000" b="1" dirty="0">
                <a:solidFill>
                  <a:srgbClr val="990000"/>
                </a:solidFill>
                <a:latin typeface="幼圆" panose="02010509060101010101" pitchFamily="49" charset="-122"/>
                <a:ea typeface="隶书" panose="02010509060101010101" pitchFamily="49" charset="-122"/>
              </a:rPr>
              <a:t>）</a:t>
            </a:r>
            <a:endParaRPr lang="zh-CN" altLang="en-US" sz="4000" b="1" dirty="0">
              <a:solidFill>
                <a:srgbClr val="990000"/>
              </a:solidFill>
              <a:latin typeface="黑体" panose="02010609060101010101" pitchFamily="2" charset="-122"/>
              <a:ea typeface="隶书" panose="02010509060101010101" pitchFamily="49" charset="-122"/>
            </a:endParaRPr>
          </a:p>
        </p:txBody>
      </p:sp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685800" y="3124200"/>
          <a:ext cx="79248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4438650" imgH="2362200" progId="Paint.Picture">
                  <p:embed/>
                </p:oleObj>
              </mc:Choice>
              <mc:Fallback>
                <p:oleObj name="" r:id="rId1" imgW="4438650" imgH="2362200" progId="Paint.Picture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800" y="3124200"/>
                        <a:ext cx="7924800" cy="327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4"/>
          <p:cNvGrpSpPr/>
          <p:nvPr/>
        </p:nvGrpSpPr>
        <p:grpSpPr>
          <a:xfrm>
            <a:off x="609600" y="1219200"/>
            <a:ext cx="8153400" cy="5181600"/>
            <a:chOff x="384" y="768"/>
            <a:chExt cx="5136" cy="3264"/>
          </a:xfrm>
        </p:grpSpPr>
        <p:sp>
          <p:nvSpPr>
            <p:cNvPr id="30772" name="Rectangle 5"/>
            <p:cNvSpPr/>
            <p:nvPr/>
          </p:nvSpPr>
          <p:spPr>
            <a:xfrm>
              <a:off x="384" y="768"/>
              <a:ext cx="5136" cy="3264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0773" name="Text Box 9"/>
            <p:cNvSpPr txBox="1"/>
            <p:nvPr/>
          </p:nvSpPr>
          <p:spPr>
            <a:xfrm>
              <a:off x="480" y="825"/>
              <a:ext cx="167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CC3300"/>
                  </a:solidFill>
                  <a:sym typeface="Symbol" panose="05050102010706020507" pitchFamily="18" charset="2"/>
                </a:rPr>
                <a:t> </a:t>
              </a:r>
              <a:r>
                <a:rPr lang="en-US" altLang="zh-CN" sz="2400" dirty="0">
                  <a:sym typeface="Symbol" panose="05050102010706020507" pitchFamily="18" charset="2"/>
                </a:rPr>
                <a:t> </a:t>
              </a:r>
              <a:r>
                <a:rPr lang="zh-CN" altLang="en-US" sz="2400" b="1" dirty="0">
                  <a:solidFill>
                    <a:schemeClr val="accent2"/>
                  </a:solidFill>
                </a:rPr>
                <a:t>三态门</a:t>
              </a:r>
              <a:r>
                <a:rPr lang="zh-CN" altLang="en-US" sz="2400" b="1" dirty="0"/>
                <a:t>工作原理</a:t>
              </a:r>
              <a:endParaRPr lang="zh-CN" altLang="en-US" sz="2400" dirty="0"/>
            </a:p>
          </p:txBody>
        </p:sp>
      </p:grpSp>
      <p:grpSp>
        <p:nvGrpSpPr>
          <p:cNvPr id="3" name="Group 36"/>
          <p:cNvGrpSpPr/>
          <p:nvPr/>
        </p:nvGrpSpPr>
        <p:grpSpPr>
          <a:xfrm>
            <a:off x="1371600" y="-28575"/>
            <a:ext cx="5638800" cy="1552575"/>
            <a:chOff x="1152" y="-191"/>
            <a:chExt cx="3552" cy="978"/>
          </a:xfrm>
        </p:grpSpPr>
        <p:sp>
          <p:nvSpPr>
            <p:cNvPr id="30770" name="AutoShape 10"/>
            <p:cNvSpPr/>
            <p:nvPr/>
          </p:nvSpPr>
          <p:spPr>
            <a:xfrm>
              <a:off x="1152" y="-144"/>
              <a:ext cx="3552" cy="816"/>
            </a:xfrm>
            <a:prstGeom prst="wedgeRoundRectCallout">
              <a:avLst>
                <a:gd name="adj1" fmla="val -43750"/>
                <a:gd name="adj2" fmla="val 60537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0771" name="Text Box 11"/>
            <p:cNvSpPr txBox="1"/>
            <p:nvPr/>
          </p:nvSpPr>
          <p:spPr>
            <a:xfrm>
              <a:off x="1392" y="-191"/>
              <a:ext cx="3053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除具有</a:t>
              </a:r>
              <a:r>
                <a:rPr lang="en-US" altLang="zh-CN" sz="2400" b="1" dirty="0"/>
                <a:t>TTL“</a:t>
              </a:r>
              <a:r>
                <a:rPr lang="zh-CN" altLang="en-US" sz="2400" b="1" dirty="0"/>
                <a:t>与非”门输出高、低电平状态外，还有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第三种输出状态</a:t>
              </a:r>
              <a:r>
                <a:rPr lang="zh-CN" altLang="en-US" sz="2400" b="1" dirty="0"/>
                <a:t> </a:t>
              </a:r>
              <a:r>
                <a:rPr lang="en-US" altLang="zh-CN" sz="2400" b="1" dirty="0"/>
                <a:t>— 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高阻状态</a:t>
              </a:r>
              <a:r>
                <a:rPr lang="zh-CN" altLang="en-US" sz="2400" b="1" dirty="0"/>
                <a:t>，又称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禁止态或失效态</a:t>
              </a:r>
              <a:endParaRPr lang="zh-CN" altLang="en-US" sz="2400" b="1" dirty="0"/>
            </a:p>
          </p:txBody>
        </p:sp>
      </p:grpSp>
      <p:sp>
        <p:nvSpPr>
          <p:cNvPr id="27660" name="Rectangle 12"/>
          <p:cNvSpPr/>
          <p:nvPr/>
        </p:nvSpPr>
        <p:spPr>
          <a:xfrm>
            <a:off x="762000" y="3124200"/>
            <a:ext cx="3352800" cy="2819400"/>
          </a:xfrm>
          <a:prstGeom prst="rect">
            <a:avLst/>
          </a:prstGeom>
          <a:noFill/>
          <a:ln w="3810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7661" name="Rectangle 13"/>
          <p:cNvSpPr/>
          <p:nvPr/>
        </p:nvSpPr>
        <p:spPr>
          <a:xfrm>
            <a:off x="4648200" y="3124200"/>
            <a:ext cx="3505200" cy="2895600"/>
          </a:xfrm>
          <a:prstGeom prst="rect">
            <a:avLst/>
          </a:prstGeom>
          <a:noFill/>
          <a:ln w="3810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4" name="Group 16"/>
          <p:cNvGrpSpPr/>
          <p:nvPr/>
        </p:nvGrpSpPr>
        <p:grpSpPr>
          <a:xfrm>
            <a:off x="3962400" y="3886200"/>
            <a:ext cx="838200" cy="609600"/>
            <a:chOff x="3072" y="1392"/>
            <a:chExt cx="528" cy="432"/>
          </a:xfrm>
        </p:grpSpPr>
        <p:graphicFrame>
          <p:nvGraphicFramePr>
            <p:cNvPr id="30768" name="Object 14"/>
            <p:cNvGraphicFramePr>
              <a:graphicFrameLocks noChangeAspect="1"/>
            </p:cNvGraphicFramePr>
            <p:nvPr/>
          </p:nvGraphicFramePr>
          <p:xfrm>
            <a:off x="3120" y="1440"/>
            <a:ext cx="384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3" imgW="342900" imgH="314325" progId="Paint.Picture">
                    <p:embed/>
                  </p:oleObj>
                </mc:Choice>
                <mc:Fallback>
                  <p:oleObj name="" r:id="rId3" imgW="342900" imgH="314325" progId="Paint.Picture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20" y="1440"/>
                          <a:ext cx="384" cy="308"/>
                        </a:xfrm>
                        <a:prstGeom prst="rect">
                          <a:avLst/>
                        </a:prstGeom>
                        <a:solidFill>
                          <a:srgbClr val="FF99CC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9" name="Rectangle 15"/>
            <p:cNvSpPr/>
            <p:nvPr/>
          </p:nvSpPr>
          <p:spPr>
            <a:xfrm>
              <a:off x="3072" y="1392"/>
              <a:ext cx="528" cy="432"/>
            </a:xfrm>
            <a:prstGeom prst="rect">
              <a:avLst/>
            </a:prstGeom>
            <a:noFill/>
            <a:ln w="381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grpSp>
        <p:nvGrpSpPr>
          <p:cNvPr id="5" name="Group 20"/>
          <p:cNvGrpSpPr/>
          <p:nvPr/>
        </p:nvGrpSpPr>
        <p:grpSpPr>
          <a:xfrm>
            <a:off x="1600200" y="5638800"/>
            <a:ext cx="2667000" cy="1066800"/>
            <a:chOff x="816" y="3168"/>
            <a:chExt cx="1680" cy="672"/>
          </a:xfrm>
        </p:grpSpPr>
        <p:sp>
          <p:nvSpPr>
            <p:cNvPr id="30766" name="AutoShape 18"/>
            <p:cNvSpPr/>
            <p:nvPr/>
          </p:nvSpPr>
          <p:spPr>
            <a:xfrm>
              <a:off x="816" y="3168"/>
              <a:ext cx="1680" cy="672"/>
            </a:xfrm>
            <a:prstGeom prst="wedgeRoundRectCallout">
              <a:avLst>
                <a:gd name="adj1" fmla="val -42319"/>
                <a:gd name="adj2" fmla="val -111458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0767" name="Text Box 19"/>
            <p:cNvSpPr txBox="1"/>
            <p:nvPr/>
          </p:nvSpPr>
          <p:spPr>
            <a:xfrm>
              <a:off x="912" y="3264"/>
              <a:ext cx="1545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非门，是三态门的状态控制部分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6" name="Group 55"/>
          <p:cNvGrpSpPr/>
          <p:nvPr/>
        </p:nvGrpSpPr>
        <p:grpSpPr>
          <a:xfrm>
            <a:off x="990600" y="2895600"/>
            <a:ext cx="1447800" cy="1066800"/>
            <a:chOff x="624" y="1824"/>
            <a:chExt cx="912" cy="672"/>
          </a:xfrm>
        </p:grpSpPr>
        <p:grpSp>
          <p:nvGrpSpPr>
            <p:cNvPr id="30762" name="Group 24"/>
            <p:cNvGrpSpPr/>
            <p:nvPr/>
          </p:nvGrpSpPr>
          <p:grpSpPr>
            <a:xfrm>
              <a:off x="624" y="1824"/>
              <a:ext cx="912" cy="672"/>
              <a:chOff x="624" y="1824"/>
              <a:chExt cx="912" cy="672"/>
            </a:xfrm>
          </p:grpSpPr>
          <p:sp>
            <p:nvSpPr>
              <p:cNvPr id="30764" name="AutoShape 21"/>
              <p:cNvSpPr/>
              <p:nvPr/>
            </p:nvSpPr>
            <p:spPr>
              <a:xfrm>
                <a:off x="624" y="1824"/>
                <a:ext cx="912" cy="672"/>
              </a:xfrm>
              <a:prstGeom prst="wedgeEllipseCallout">
                <a:avLst>
                  <a:gd name="adj1" fmla="val -44736"/>
                  <a:gd name="adj2" fmla="val 69940"/>
                </a:avLst>
              </a:prstGeom>
              <a:gradFill rotWithShape="0">
                <a:gsLst>
                  <a:gs pos="0">
                    <a:srgbClr val="767647"/>
                  </a:gs>
                  <a:gs pos="50000">
                    <a:srgbClr val="FFFF99"/>
                  </a:gs>
                  <a:gs pos="100000">
                    <a:srgbClr val="767647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/>
              </a:p>
            </p:txBody>
          </p:sp>
          <p:sp>
            <p:nvSpPr>
              <p:cNvPr id="30765" name="Line 23"/>
              <p:cNvSpPr/>
              <p:nvPr/>
            </p:nvSpPr>
            <p:spPr>
              <a:xfrm>
                <a:off x="672" y="2064"/>
                <a:ext cx="144" cy="0"/>
              </a:xfrm>
              <a:prstGeom prst="line">
                <a:avLst/>
              </a:prstGeom>
              <a:ln w="38100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763" name="Text Box 22"/>
            <p:cNvSpPr txBox="1"/>
            <p:nvPr/>
          </p:nvSpPr>
          <p:spPr>
            <a:xfrm>
              <a:off x="624" y="2016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E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使能端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8" name="Group 25"/>
          <p:cNvGrpSpPr/>
          <p:nvPr/>
        </p:nvGrpSpPr>
        <p:grpSpPr>
          <a:xfrm>
            <a:off x="5257800" y="5791200"/>
            <a:ext cx="2667000" cy="1066800"/>
            <a:chOff x="816" y="3168"/>
            <a:chExt cx="1680" cy="672"/>
          </a:xfrm>
        </p:grpSpPr>
        <p:sp>
          <p:nvSpPr>
            <p:cNvPr id="30760" name="AutoShape 26"/>
            <p:cNvSpPr/>
            <p:nvPr/>
          </p:nvSpPr>
          <p:spPr>
            <a:xfrm>
              <a:off x="816" y="3168"/>
              <a:ext cx="1680" cy="672"/>
            </a:xfrm>
            <a:prstGeom prst="wedgeRoundRectCallout">
              <a:avLst>
                <a:gd name="adj1" fmla="val -42319"/>
                <a:gd name="adj2" fmla="val -111458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0761" name="Text Box 27"/>
            <p:cNvSpPr txBox="1"/>
            <p:nvPr/>
          </p:nvSpPr>
          <p:spPr>
            <a:xfrm>
              <a:off x="912" y="3379"/>
              <a:ext cx="154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六管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TTL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与非门</a:t>
              </a:r>
              <a:endParaRPr lang="zh-CN" altLang="en-US" sz="2400" dirty="0"/>
            </a:p>
          </p:txBody>
        </p:sp>
      </p:grpSp>
      <p:grpSp>
        <p:nvGrpSpPr>
          <p:cNvPr id="9" name="Group 56"/>
          <p:cNvGrpSpPr/>
          <p:nvPr/>
        </p:nvGrpSpPr>
        <p:grpSpPr>
          <a:xfrm>
            <a:off x="4114800" y="2743200"/>
            <a:ext cx="1828800" cy="838200"/>
            <a:chOff x="2592" y="1728"/>
            <a:chExt cx="1152" cy="528"/>
          </a:xfrm>
        </p:grpSpPr>
        <p:sp>
          <p:nvSpPr>
            <p:cNvPr id="30758" name="AutoShape 28"/>
            <p:cNvSpPr/>
            <p:nvPr/>
          </p:nvSpPr>
          <p:spPr>
            <a:xfrm>
              <a:off x="2592" y="1728"/>
              <a:ext cx="1152" cy="528"/>
            </a:xfrm>
            <a:prstGeom prst="wedgeEllipseCallout">
              <a:avLst>
                <a:gd name="adj1" fmla="val -43750"/>
                <a:gd name="adj2" fmla="val 86366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0759" name="Text Box 29"/>
            <p:cNvSpPr txBox="1"/>
            <p:nvPr/>
          </p:nvSpPr>
          <p:spPr>
            <a:xfrm>
              <a:off x="2732" y="1824"/>
              <a:ext cx="8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增加部分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10" name="Group 57"/>
          <p:cNvGrpSpPr/>
          <p:nvPr/>
        </p:nvGrpSpPr>
        <p:grpSpPr>
          <a:xfrm>
            <a:off x="990600" y="1752600"/>
            <a:ext cx="7467600" cy="822325"/>
            <a:chOff x="624" y="1104"/>
            <a:chExt cx="4704" cy="518"/>
          </a:xfrm>
        </p:grpSpPr>
        <p:grpSp>
          <p:nvGrpSpPr>
            <p:cNvPr id="30754" name="Group 33"/>
            <p:cNvGrpSpPr/>
            <p:nvPr/>
          </p:nvGrpSpPr>
          <p:grpSpPr>
            <a:xfrm>
              <a:off x="624" y="1104"/>
              <a:ext cx="4704" cy="518"/>
              <a:chOff x="624" y="1200"/>
              <a:chExt cx="4704" cy="518"/>
            </a:xfrm>
          </p:grpSpPr>
          <p:sp>
            <p:nvSpPr>
              <p:cNvPr id="30756" name="Text Box 30"/>
              <p:cNvSpPr txBox="1"/>
              <p:nvPr/>
            </p:nvSpPr>
            <p:spPr>
              <a:xfrm>
                <a:off x="624" y="1200"/>
                <a:ext cx="4704" cy="5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当 </a:t>
                </a:r>
                <a:r>
                  <a:rPr lang="en-US" altLang="zh-CN" sz="2400" b="1" dirty="0"/>
                  <a:t>E=  0</a:t>
                </a:r>
                <a:r>
                  <a:rPr lang="zh-CN" altLang="en-US" sz="2400" b="1" dirty="0"/>
                  <a:t>时，</a:t>
                </a:r>
                <a:r>
                  <a:rPr lang="en-US" altLang="zh-CN" sz="2400" b="1" dirty="0"/>
                  <a:t>T</a:t>
                </a:r>
                <a:r>
                  <a:rPr lang="en-US" altLang="zh-CN" sz="2400" b="1" baseline="-25000" dirty="0"/>
                  <a:t>4</a:t>
                </a:r>
                <a:r>
                  <a:rPr lang="zh-CN" altLang="en-US" sz="2400" b="1" dirty="0"/>
                  <a:t>输出高电平</a:t>
                </a:r>
                <a:r>
                  <a:rPr lang="en-US" altLang="zh-CN" sz="2400" b="1" dirty="0"/>
                  <a:t>V</a:t>
                </a:r>
                <a:r>
                  <a:rPr lang="en-US" altLang="zh-CN" sz="2400" b="1" baseline="-25000" dirty="0"/>
                  <a:t>C </a:t>
                </a:r>
                <a:r>
                  <a:rPr lang="en-US" altLang="zh-CN" sz="2400" b="1" dirty="0"/>
                  <a:t>= 1</a:t>
                </a:r>
                <a:r>
                  <a:rPr lang="zh-CN" altLang="en-US" sz="2400" b="1" dirty="0"/>
                  <a:t>，</a:t>
                </a:r>
                <a:r>
                  <a:rPr lang="en-US" altLang="zh-CN" sz="2400" b="1" dirty="0"/>
                  <a:t>D</a:t>
                </a:r>
                <a:r>
                  <a:rPr lang="en-US" altLang="zh-CN" sz="2400" b="1" baseline="-25000" dirty="0"/>
                  <a:t>2</a:t>
                </a:r>
                <a:r>
                  <a:rPr lang="zh-CN" altLang="en-US" sz="2400" b="1" dirty="0"/>
                  <a:t>截止，此时后面电路执行正常与非功能</a:t>
                </a:r>
                <a:r>
                  <a:rPr lang="en-US" altLang="zh-CN" sz="2400" b="1" dirty="0"/>
                  <a:t>F=AB</a:t>
                </a:r>
                <a:endParaRPr lang="en-US" altLang="zh-CN" sz="2400" b="1" dirty="0"/>
              </a:p>
            </p:txBody>
          </p:sp>
          <p:sp>
            <p:nvSpPr>
              <p:cNvPr id="30757" name="Line 32"/>
              <p:cNvSpPr/>
              <p:nvPr/>
            </p:nvSpPr>
            <p:spPr>
              <a:xfrm>
                <a:off x="912" y="1248"/>
                <a:ext cx="14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755" name="Line 35"/>
            <p:cNvSpPr/>
            <p:nvPr/>
          </p:nvSpPr>
          <p:spPr>
            <a:xfrm>
              <a:off x="2832" y="1392"/>
              <a:ext cx="2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7685" name="Text Box 37"/>
          <p:cNvSpPr txBox="1"/>
          <p:nvPr/>
        </p:nvSpPr>
        <p:spPr>
          <a:xfrm>
            <a:off x="762000" y="42672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27686" name="Text Box 38"/>
          <p:cNvSpPr txBox="1"/>
          <p:nvPr/>
        </p:nvSpPr>
        <p:spPr>
          <a:xfrm>
            <a:off x="4114800" y="45720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grpSp>
        <p:nvGrpSpPr>
          <p:cNvPr id="12" name="Group 44"/>
          <p:cNvGrpSpPr/>
          <p:nvPr/>
        </p:nvGrpSpPr>
        <p:grpSpPr>
          <a:xfrm>
            <a:off x="5257800" y="3886200"/>
            <a:ext cx="782638" cy="457200"/>
            <a:chOff x="3312" y="2448"/>
            <a:chExt cx="493" cy="288"/>
          </a:xfrm>
        </p:grpSpPr>
        <p:sp>
          <p:nvSpPr>
            <p:cNvPr id="30752" name="Text Box 39"/>
            <p:cNvSpPr txBox="1"/>
            <p:nvPr/>
          </p:nvSpPr>
          <p:spPr>
            <a:xfrm>
              <a:off x="3456" y="2448"/>
              <a:ext cx="34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1V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30753" name="Oval 41"/>
            <p:cNvSpPr/>
            <p:nvPr/>
          </p:nvSpPr>
          <p:spPr>
            <a:xfrm>
              <a:off x="3312" y="2544"/>
              <a:ext cx="96" cy="48"/>
            </a:xfrm>
            <a:prstGeom prst="ellipse">
              <a:avLst/>
            </a:prstGeom>
            <a:solidFill>
              <a:srgbClr val="CC3300"/>
            </a:solidFill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grpSp>
        <p:nvGrpSpPr>
          <p:cNvPr id="13" name="Group 43"/>
          <p:cNvGrpSpPr/>
          <p:nvPr/>
        </p:nvGrpSpPr>
        <p:grpSpPr>
          <a:xfrm>
            <a:off x="6248400" y="3810000"/>
            <a:ext cx="706438" cy="457200"/>
            <a:chOff x="3936" y="2400"/>
            <a:chExt cx="445" cy="288"/>
          </a:xfrm>
        </p:grpSpPr>
        <p:sp>
          <p:nvSpPr>
            <p:cNvPr id="30750" name="Text Box 40"/>
            <p:cNvSpPr txBox="1"/>
            <p:nvPr/>
          </p:nvSpPr>
          <p:spPr>
            <a:xfrm>
              <a:off x="4032" y="2400"/>
              <a:ext cx="34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1V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  <p:sp>
          <p:nvSpPr>
            <p:cNvPr id="30751" name="Oval 42"/>
            <p:cNvSpPr/>
            <p:nvPr/>
          </p:nvSpPr>
          <p:spPr>
            <a:xfrm>
              <a:off x="3936" y="2448"/>
              <a:ext cx="96" cy="48"/>
            </a:xfrm>
            <a:prstGeom prst="ellipse">
              <a:avLst/>
            </a:prstGeom>
            <a:solidFill>
              <a:srgbClr val="CC3300"/>
            </a:solidFill>
            <a:ln w="9525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sp>
        <p:nvSpPr>
          <p:cNvPr id="27697" name="Text Box 49"/>
          <p:cNvSpPr txBox="1"/>
          <p:nvPr/>
        </p:nvSpPr>
        <p:spPr>
          <a:xfrm>
            <a:off x="2667000" y="2514600"/>
            <a:ext cx="390048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输出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端处于高阻状态记为</a:t>
            </a:r>
            <a:r>
              <a:rPr lang="en-US" altLang="zh-CN" sz="2400" b="1" dirty="0"/>
              <a:t>Z</a:t>
            </a:r>
            <a:endParaRPr lang="en-US" altLang="zh-CN" sz="2400" b="1" dirty="0"/>
          </a:p>
        </p:txBody>
      </p:sp>
      <p:grpSp>
        <p:nvGrpSpPr>
          <p:cNvPr id="14" name="Group 52"/>
          <p:cNvGrpSpPr/>
          <p:nvPr/>
        </p:nvGrpSpPr>
        <p:grpSpPr>
          <a:xfrm>
            <a:off x="7010400" y="2819400"/>
            <a:ext cx="2362200" cy="914400"/>
            <a:chOff x="4416" y="1776"/>
            <a:chExt cx="1488" cy="576"/>
          </a:xfrm>
        </p:grpSpPr>
        <p:sp>
          <p:nvSpPr>
            <p:cNvPr id="30748" name="AutoShape 50"/>
            <p:cNvSpPr/>
            <p:nvPr/>
          </p:nvSpPr>
          <p:spPr>
            <a:xfrm>
              <a:off x="4416" y="1776"/>
              <a:ext cx="1344" cy="576"/>
            </a:xfrm>
            <a:prstGeom prst="wedgeRoundRectCallout">
              <a:avLst>
                <a:gd name="adj1" fmla="val -56324"/>
                <a:gd name="adj2" fmla="val 79690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0749" name="Text Box 51"/>
            <p:cNvSpPr txBox="1"/>
            <p:nvPr/>
          </p:nvSpPr>
          <p:spPr>
            <a:xfrm>
              <a:off x="4464" y="1824"/>
              <a:ext cx="1440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6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7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 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9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 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10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均截止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27701" name="Text Box 53"/>
          <p:cNvSpPr txBox="1"/>
          <p:nvPr/>
        </p:nvSpPr>
        <p:spPr>
          <a:xfrm>
            <a:off x="7658100" y="4191000"/>
            <a:ext cx="3841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accent2"/>
                </a:solidFill>
              </a:rPr>
              <a:t>Z</a:t>
            </a:r>
            <a:endParaRPr lang="en-US" altLang="zh-CN" sz="2400" b="1" dirty="0">
              <a:solidFill>
                <a:schemeClr val="accent2"/>
              </a:solidFill>
            </a:endParaRPr>
          </a:p>
        </p:txBody>
      </p:sp>
      <p:grpSp>
        <p:nvGrpSpPr>
          <p:cNvPr id="15" name="Group 60"/>
          <p:cNvGrpSpPr/>
          <p:nvPr/>
        </p:nvGrpSpPr>
        <p:grpSpPr>
          <a:xfrm>
            <a:off x="990600" y="2438400"/>
            <a:ext cx="1676400" cy="563563"/>
            <a:chOff x="624" y="1536"/>
            <a:chExt cx="1056" cy="355"/>
          </a:xfrm>
        </p:grpSpPr>
        <p:grpSp>
          <p:nvGrpSpPr>
            <p:cNvPr id="30744" name="Group 46"/>
            <p:cNvGrpSpPr/>
            <p:nvPr/>
          </p:nvGrpSpPr>
          <p:grpSpPr>
            <a:xfrm>
              <a:off x="624" y="1536"/>
              <a:ext cx="1056" cy="355"/>
              <a:chOff x="624" y="1248"/>
              <a:chExt cx="4704" cy="355"/>
            </a:xfrm>
          </p:grpSpPr>
          <p:sp>
            <p:nvSpPr>
              <p:cNvPr id="30746" name="Text Box 47"/>
              <p:cNvSpPr txBox="1"/>
              <p:nvPr/>
            </p:nvSpPr>
            <p:spPr>
              <a:xfrm>
                <a:off x="624" y="1315"/>
                <a:ext cx="470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当 </a:t>
                </a:r>
                <a:r>
                  <a:rPr lang="en-US" altLang="zh-CN" sz="2400" b="1" dirty="0"/>
                  <a:t>E=  1</a:t>
                </a:r>
                <a:r>
                  <a:rPr lang="zh-CN" altLang="en-US" sz="2400" b="1" dirty="0"/>
                  <a:t>时，</a:t>
                </a:r>
                <a:endParaRPr lang="zh-CN" altLang="en-US" sz="2400" b="1" dirty="0"/>
              </a:p>
            </p:txBody>
          </p:sp>
          <p:sp>
            <p:nvSpPr>
              <p:cNvPr id="30747" name="Line 48"/>
              <p:cNvSpPr/>
              <p:nvPr/>
            </p:nvSpPr>
            <p:spPr>
              <a:xfrm>
                <a:off x="912" y="1248"/>
                <a:ext cx="14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0745" name="Line 59"/>
            <p:cNvSpPr/>
            <p:nvPr/>
          </p:nvSpPr>
          <p:spPr>
            <a:xfrm>
              <a:off x="912" y="1632"/>
              <a:ext cx="1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30742" name="Picture 63" descr="E:\电子教案\wb01508_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3810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3" name="Text Box 64">
            <a:hlinkClick r:id="rId5" action="ppaction://hlinksldjump"/>
          </p:cNvPr>
          <p:cNvSpPr txBox="1"/>
          <p:nvPr/>
        </p:nvSpPr>
        <p:spPr>
          <a:xfrm>
            <a:off x="7772400" y="3810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7" dur="500"/>
                                        <p:tgtEl>
                                          <p:spTgt spid="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7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7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animBg="1"/>
      <p:bldP spid="27660" grpId="0" animBg="1"/>
      <p:bldP spid="27661" grpId="0" animBg="1"/>
      <p:bldP spid="27685" grpId="0"/>
      <p:bldP spid="27686" grpId="0"/>
      <p:bldP spid="27697" grpId="0"/>
      <p:bldP spid="2770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4615" name="Object 39"/>
          <p:cNvGraphicFramePr>
            <a:graphicFrameLocks noChangeAspect="1"/>
          </p:cNvGraphicFramePr>
          <p:nvPr/>
        </p:nvGraphicFramePr>
        <p:xfrm>
          <a:off x="3810000" y="609600"/>
          <a:ext cx="3733800" cy="191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1473200" imgH="812800" progId="Equation.3">
                  <p:embed/>
                </p:oleObj>
              </mc:Choice>
              <mc:Fallback>
                <p:oleObj name="" r:id="rId1" imgW="1473200" imgH="8128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0" y="609600"/>
                        <a:ext cx="3733800" cy="1916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6" name="Object 40"/>
          <p:cNvGraphicFramePr>
            <a:graphicFrameLocks noChangeAspect="1"/>
          </p:cNvGraphicFramePr>
          <p:nvPr/>
        </p:nvGraphicFramePr>
        <p:xfrm>
          <a:off x="3886200" y="2581275"/>
          <a:ext cx="3429000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3" imgW="1435100" imgH="812800" progId="Equation.3">
                  <p:embed/>
                </p:oleObj>
              </mc:Choice>
              <mc:Fallback>
                <p:oleObj name="" r:id="rId3" imgW="1435100" imgH="8128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86200" y="2581275"/>
                        <a:ext cx="3429000" cy="1938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4"/>
          <p:cNvGrpSpPr/>
          <p:nvPr/>
        </p:nvGrpSpPr>
        <p:grpSpPr>
          <a:xfrm>
            <a:off x="685800" y="533400"/>
            <a:ext cx="838200" cy="4038600"/>
            <a:chOff x="432" y="1536"/>
            <a:chExt cx="528" cy="2544"/>
          </a:xfrm>
        </p:grpSpPr>
        <p:sp>
          <p:nvSpPr>
            <p:cNvPr id="31806" name="Oval 41"/>
            <p:cNvSpPr/>
            <p:nvPr/>
          </p:nvSpPr>
          <p:spPr>
            <a:xfrm>
              <a:off x="432" y="1536"/>
              <a:ext cx="528" cy="2544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1807" name="Text Box 42"/>
            <p:cNvSpPr txBox="1"/>
            <p:nvPr/>
          </p:nvSpPr>
          <p:spPr>
            <a:xfrm>
              <a:off x="528" y="1626"/>
              <a:ext cx="308" cy="23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使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能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端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的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两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种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控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制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方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式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24619" name="Rectangle 43"/>
          <p:cNvSpPr/>
          <p:nvPr/>
        </p:nvSpPr>
        <p:spPr>
          <a:xfrm>
            <a:off x="533400" y="457200"/>
            <a:ext cx="8229600" cy="41148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24621" name="Text Box 45"/>
          <p:cNvSpPr txBox="1"/>
          <p:nvPr/>
        </p:nvSpPr>
        <p:spPr>
          <a:xfrm>
            <a:off x="1892300" y="1295400"/>
            <a:ext cx="17208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低电平使能</a:t>
            </a:r>
            <a:endParaRPr lang="zh-CN" altLang="en-US" sz="2400" b="1" dirty="0"/>
          </a:p>
        </p:txBody>
      </p:sp>
      <p:sp>
        <p:nvSpPr>
          <p:cNvPr id="24623" name="Text Box 47"/>
          <p:cNvSpPr txBox="1"/>
          <p:nvPr/>
        </p:nvSpPr>
        <p:spPr>
          <a:xfrm>
            <a:off x="1968500" y="3200400"/>
            <a:ext cx="17208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高电平使能</a:t>
            </a:r>
            <a:endParaRPr lang="zh-CN" altLang="en-US" sz="2400" b="1" dirty="0"/>
          </a:p>
        </p:txBody>
      </p:sp>
      <p:grpSp>
        <p:nvGrpSpPr>
          <p:cNvPr id="3" name="Group 78"/>
          <p:cNvGrpSpPr/>
          <p:nvPr/>
        </p:nvGrpSpPr>
        <p:grpSpPr>
          <a:xfrm>
            <a:off x="228600" y="5257800"/>
            <a:ext cx="2740025" cy="838200"/>
            <a:chOff x="578" y="768"/>
            <a:chExt cx="1726" cy="528"/>
          </a:xfrm>
        </p:grpSpPr>
        <p:sp>
          <p:nvSpPr>
            <p:cNvPr id="31804" name="Oval 79"/>
            <p:cNvSpPr/>
            <p:nvPr/>
          </p:nvSpPr>
          <p:spPr>
            <a:xfrm>
              <a:off x="624" y="768"/>
              <a:ext cx="1680" cy="528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1805" name="Text Box 80"/>
            <p:cNvSpPr txBox="1"/>
            <p:nvPr/>
          </p:nvSpPr>
          <p:spPr>
            <a:xfrm>
              <a:off x="578" y="864"/>
              <a:ext cx="165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三态门的逻辑符号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24657" name="AutoShape 81"/>
          <p:cNvSpPr/>
          <p:nvPr/>
        </p:nvSpPr>
        <p:spPr>
          <a:xfrm flipV="1">
            <a:off x="4419600" y="5562600"/>
            <a:ext cx="304800" cy="304800"/>
          </a:xfrm>
          <a:prstGeom prst="triangle">
            <a:avLst>
              <a:gd name="adj" fmla="val 58852"/>
            </a:avLst>
          </a:prstGeom>
          <a:noFill/>
          <a:ln w="3810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4" name="Group 82"/>
          <p:cNvGrpSpPr/>
          <p:nvPr/>
        </p:nvGrpSpPr>
        <p:grpSpPr>
          <a:xfrm>
            <a:off x="6019800" y="5029200"/>
            <a:ext cx="2822575" cy="1295400"/>
            <a:chOff x="3792" y="384"/>
            <a:chExt cx="1778" cy="816"/>
          </a:xfrm>
        </p:grpSpPr>
        <p:sp>
          <p:nvSpPr>
            <p:cNvPr id="31783" name="Text Box 83"/>
            <p:cNvSpPr txBox="1"/>
            <p:nvPr/>
          </p:nvSpPr>
          <p:spPr>
            <a:xfrm>
              <a:off x="3794" y="624"/>
              <a:ext cx="25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A</a:t>
              </a:r>
              <a:endParaRPr lang="en-US" altLang="zh-CN" sz="2400" b="1" dirty="0"/>
            </a:p>
          </p:txBody>
        </p:sp>
        <p:sp>
          <p:nvSpPr>
            <p:cNvPr id="31784" name="Text Box 84"/>
            <p:cNvSpPr txBox="1"/>
            <p:nvPr/>
          </p:nvSpPr>
          <p:spPr>
            <a:xfrm>
              <a:off x="3792" y="864"/>
              <a:ext cx="24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B</a:t>
              </a:r>
              <a:endParaRPr lang="en-US" altLang="zh-CN" sz="2400" b="1" dirty="0"/>
            </a:p>
          </p:txBody>
        </p:sp>
        <p:sp>
          <p:nvSpPr>
            <p:cNvPr id="31785" name="Text Box 85"/>
            <p:cNvSpPr txBox="1"/>
            <p:nvPr/>
          </p:nvSpPr>
          <p:spPr>
            <a:xfrm>
              <a:off x="5339" y="624"/>
              <a:ext cx="23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F</a:t>
              </a:r>
              <a:endParaRPr lang="en-US" altLang="zh-CN" sz="2400" b="1" dirty="0"/>
            </a:p>
          </p:txBody>
        </p:sp>
        <p:grpSp>
          <p:nvGrpSpPr>
            <p:cNvPr id="31786" name="Group 86"/>
            <p:cNvGrpSpPr/>
            <p:nvPr/>
          </p:nvGrpSpPr>
          <p:grpSpPr>
            <a:xfrm>
              <a:off x="3799" y="384"/>
              <a:ext cx="1579" cy="816"/>
              <a:chOff x="3799" y="384"/>
              <a:chExt cx="1579" cy="816"/>
            </a:xfrm>
          </p:grpSpPr>
          <p:sp>
            <p:nvSpPr>
              <p:cNvPr id="31787" name="AutoShape 87"/>
              <p:cNvSpPr/>
              <p:nvPr/>
            </p:nvSpPr>
            <p:spPr>
              <a:xfrm flipV="1">
                <a:off x="4656" y="720"/>
                <a:ext cx="192" cy="192"/>
              </a:xfrm>
              <a:prstGeom prst="triangle">
                <a:avLst>
                  <a:gd name="adj" fmla="val 58852"/>
                </a:avLst>
              </a:prstGeom>
              <a:noFill/>
              <a:ln w="38100" cap="flat" cmpd="sng">
                <a:solidFill>
                  <a:srgbClr val="CC33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  <p:sp>
            <p:nvSpPr>
              <p:cNvPr id="31788" name="Rectangle 88"/>
              <p:cNvSpPr/>
              <p:nvPr/>
            </p:nvSpPr>
            <p:spPr>
              <a:xfrm>
                <a:off x="4418" y="384"/>
                <a:ext cx="480" cy="81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  <p:grpSp>
            <p:nvGrpSpPr>
              <p:cNvPr id="31789" name="Group 89"/>
              <p:cNvGrpSpPr/>
              <p:nvPr/>
            </p:nvGrpSpPr>
            <p:grpSpPr>
              <a:xfrm>
                <a:off x="4034" y="720"/>
                <a:ext cx="384" cy="96"/>
                <a:chOff x="1344" y="4032"/>
                <a:chExt cx="384" cy="96"/>
              </a:xfrm>
            </p:grpSpPr>
            <p:sp>
              <p:nvSpPr>
                <p:cNvPr id="31802" name="Line 90"/>
                <p:cNvSpPr/>
                <p:nvPr/>
              </p:nvSpPr>
              <p:spPr>
                <a:xfrm>
                  <a:off x="1440" y="4080"/>
                  <a:ext cx="28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803" name="Oval 91"/>
                <p:cNvSpPr/>
                <p:nvPr/>
              </p:nvSpPr>
              <p:spPr>
                <a:xfrm flipV="1">
                  <a:off x="1344" y="4032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2400" dirty="0"/>
                </a:p>
              </p:txBody>
            </p:sp>
          </p:grpSp>
          <p:grpSp>
            <p:nvGrpSpPr>
              <p:cNvPr id="31790" name="Group 92"/>
              <p:cNvGrpSpPr/>
              <p:nvPr/>
            </p:nvGrpSpPr>
            <p:grpSpPr>
              <a:xfrm>
                <a:off x="4034" y="960"/>
                <a:ext cx="384" cy="96"/>
                <a:chOff x="1344" y="4032"/>
                <a:chExt cx="384" cy="96"/>
              </a:xfrm>
            </p:grpSpPr>
            <p:sp>
              <p:nvSpPr>
                <p:cNvPr id="31800" name="Line 93"/>
                <p:cNvSpPr/>
                <p:nvPr/>
              </p:nvSpPr>
              <p:spPr>
                <a:xfrm>
                  <a:off x="1440" y="4080"/>
                  <a:ext cx="28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801" name="Oval 94"/>
                <p:cNvSpPr/>
                <p:nvPr/>
              </p:nvSpPr>
              <p:spPr>
                <a:xfrm flipV="1">
                  <a:off x="1344" y="4032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2400" dirty="0"/>
                </a:p>
              </p:txBody>
            </p:sp>
          </p:grpSp>
          <p:grpSp>
            <p:nvGrpSpPr>
              <p:cNvPr id="31791" name="Group 95"/>
              <p:cNvGrpSpPr/>
              <p:nvPr/>
            </p:nvGrpSpPr>
            <p:grpSpPr>
              <a:xfrm flipH="1">
                <a:off x="4994" y="720"/>
                <a:ext cx="384" cy="96"/>
                <a:chOff x="1344" y="4032"/>
                <a:chExt cx="384" cy="96"/>
              </a:xfrm>
            </p:grpSpPr>
            <p:sp>
              <p:nvSpPr>
                <p:cNvPr id="31798" name="Line 96"/>
                <p:cNvSpPr/>
                <p:nvPr/>
              </p:nvSpPr>
              <p:spPr>
                <a:xfrm>
                  <a:off x="1440" y="4080"/>
                  <a:ext cx="28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99" name="Oval 97"/>
                <p:cNvSpPr/>
                <p:nvPr/>
              </p:nvSpPr>
              <p:spPr>
                <a:xfrm flipV="1">
                  <a:off x="1344" y="4032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2400" dirty="0"/>
                </a:p>
              </p:txBody>
            </p:sp>
          </p:grpSp>
          <p:sp>
            <p:nvSpPr>
              <p:cNvPr id="31792" name="Text Box 98"/>
              <p:cNvSpPr txBox="1"/>
              <p:nvPr/>
            </p:nvSpPr>
            <p:spPr>
              <a:xfrm>
                <a:off x="4466" y="384"/>
                <a:ext cx="26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CC3300"/>
                    </a:solidFill>
                    <a:sym typeface="Symbol" panose="05050102010706020507" pitchFamily="18" charset="2"/>
                  </a:rPr>
                  <a:t></a:t>
                </a:r>
                <a:endParaRPr lang="en-US" altLang="zh-CN" sz="2400" b="1" dirty="0">
                  <a:solidFill>
                    <a:srgbClr val="CC3300"/>
                  </a:solidFill>
                </a:endParaRPr>
              </a:p>
            </p:txBody>
          </p:sp>
          <p:grpSp>
            <p:nvGrpSpPr>
              <p:cNvPr id="31793" name="Group 99"/>
              <p:cNvGrpSpPr/>
              <p:nvPr/>
            </p:nvGrpSpPr>
            <p:grpSpPr>
              <a:xfrm>
                <a:off x="4034" y="480"/>
                <a:ext cx="384" cy="96"/>
                <a:chOff x="1344" y="4032"/>
                <a:chExt cx="384" cy="96"/>
              </a:xfrm>
            </p:grpSpPr>
            <p:sp>
              <p:nvSpPr>
                <p:cNvPr id="31796" name="Line 100"/>
                <p:cNvSpPr/>
                <p:nvPr/>
              </p:nvSpPr>
              <p:spPr>
                <a:xfrm>
                  <a:off x="1440" y="4080"/>
                  <a:ext cx="28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97" name="Oval 101"/>
                <p:cNvSpPr/>
                <p:nvPr/>
              </p:nvSpPr>
              <p:spPr>
                <a:xfrm flipV="1">
                  <a:off x="1344" y="4032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2400" dirty="0"/>
                </a:p>
              </p:txBody>
            </p:sp>
          </p:grpSp>
          <p:sp>
            <p:nvSpPr>
              <p:cNvPr id="31794" name="Text Box 102"/>
              <p:cNvSpPr txBox="1"/>
              <p:nvPr/>
            </p:nvSpPr>
            <p:spPr>
              <a:xfrm>
                <a:off x="3799" y="384"/>
                <a:ext cx="24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/>
                  <a:t>E</a:t>
                </a:r>
                <a:endParaRPr lang="en-US" altLang="zh-CN" sz="2400" b="1" dirty="0"/>
              </a:p>
            </p:txBody>
          </p:sp>
          <p:sp>
            <p:nvSpPr>
              <p:cNvPr id="31795" name="Oval 103"/>
              <p:cNvSpPr/>
              <p:nvPr/>
            </p:nvSpPr>
            <p:spPr>
              <a:xfrm>
                <a:off x="4898" y="720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</p:grpSp>
      </p:grpSp>
      <p:grpSp>
        <p:nvGrpSpPr>
          <p:cNvPr id="10" name="Group 104"/>
          <p:cNvGrpSpPr/>
          <p:nvPr/>
        </p:nvGrpSpPr>
        <p:grpSpPr>
          <a:xfrm>
            <a:off x="2971800" y="5029200"/>
            <a:ext cx="2898775" cy="1295400"/>
            <a:chOff x="1872" y="384"/>
            <a:chExt cx="1826" cy="816"/>
          </a:xfrm>
        </p:grpSpPr>
        <p:sp>
          <p:nvSpPr>
            <p:cNvPr id="31760" name="Text Box 105"/>
            <p:cNvSpPr txBox="1"/>
            <p:nvPr/>
          </p:nvSpPr>
          <p:spPr>
            <a:xfrm>
              <a:off x="3467" y="624"/>
              <a:ext cx="23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F</a:t>
              </a:r>
              <a:endParaRPr lang="en-US" altLang="zh-CN" sz="2400" b="1" dirty="0"/>
            </a:p>
          </p:txBody>
        </p:sp>
        <p:grpSp>
          <p:nvGrpSpPr>
            <p:cNvPr id="31761" name="Group 106"/>
            <p:cNvGrpSpPr/>
            <p:nvPr/>
          </p:nvGrpSpPr>
          <p:grpSpPr>
            <a:xfrm>
              <a:off x="1872" y="384"/>
              <a:ext cx="1634" cy="816"/>
              <a:chOff x="1872" y="384"/>
              <a:chExt cx="1634" cy="816"/>
            </a:xfrm>
          </p:grpSpPr>
          <p:sp>
            <p:nvSpPr>
              <p:cNvPr id="31762" name="Rectangle 107"/>
              <p:cNvSpPr/>
              <p:nvPr/>
            </p:nvSpPr>
            <p:spPr>
              <a:xfrm>
                <a:off x="2546" y="384"/>
                <a:ext cx="480" cy="81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  <p:grpSp>
            <p:nvGrpSpPr>
              <p:cNvPr id="31763" name="Group 108"/>
              <p:cNvGrpSpPr/>
              <p:nvPr/>
            </p:nvGrpSpPr>
            <p:grpSpPr>
              <a:xfrm>
                <a:off x="2162" y="720"/>
                <a:ext cx="384" cy="96"/>
                <a:chOff x="1344" y="4032"/>
                <a:chExt cx="384" cy="96"/>
              </a:xfrm>
            </p:grpSpPr>
            <p:sp>
              <p:nvSpPr>
                <p:cNvPr id="31781" name="Line 109"/>
                <p:cNvSpPr/>
                <p:nvPr/>
              </p:nvSpPr>
              <p:spPr>
                <a:xfrm>
                  <a:off x="1440" y="4080"/>
                  <a:ext cx="28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82" name="Oval 110"/>
                <p:cNvSpPr/>
                <p:nvPr/>
              </p:nvSpPr>
              <p:spPr>
                <a:xfrm flipV="1">
                  <a:off x="1344" y="4032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2400" dirty="0"/>
                </a:p>
              </p:txBody>
            </p:sp>
          </p:grpSp>
          <p:grpSp>
            <p:nvGrpSpPr>
              <p:cNvPr id="31764" name="Group 111"/>
              <p:cNvGrpSpPr/>
              <p:nvPr/>
            </p:nvGrpSpPr>
            <p:grpSpPr>
              <a:xfrm>
                <a:off x="2162" y="960"/>
                <a:ext cx="384" cy="96"/>
                <a:chOff x="1344" y="4032"/>
                <a:chExt cx="384" cy="96"/>
              </a:xfrm>
            </p:grpSpPr>
            <p:sp>
              <p:nvSpPr>
                <p:cNvPr id="31779" name="Line 112"/>
                <p:cNvSpPr/>
                <p:nvPr/>
              </p:nvSpPr>
              <p:spPr>
                <a:xfrm>
                  <a:off x="1440" y="4080"/>
                  <a:ext cx="28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80" name="Oval 113"/>
                <p:cNvSpPr/>
                <p:nvPr/>
              </p:nvSpPr>
              <p:spPr>
                <a:xfrm flipV="1">
                  <a:off x="1344" y="4032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2400" dirty="0"/>
                </a:p>
              </p:txBody>
            </p:sp>
          </p:grpSp>
          <p:grpSp>
            <p:nvGrpSpPr>
              <p:cNvPr id="31765" name="Group 114"/>
              <p:cNvGrpSpPr/>
              <p:nvPr/>
            </p:nvGrpSpPr>
            <p:grpSpPr>
              <a:xfrm flipH="1">
                <a:off x="3122" y="720"/>
                <a:ext cx="384" cy="96"/>
                <a:chOff x="1344" y="4032"/>
                <a:chExt cx="384" cy="96"/>
              </a:xfrm>
            </p:grpSpPr>
            <p:sp>
              <p:nvSpPr>
                <p:cNvPr id="31777" name="Line 115"/>
                <p:cNvSpPr/>
                <p:nvPr/>
              </p:nvSpPr>
              <p:spPr>
                <a:xfrm>
                  <a:off x="1440" y="4080"/>
                  <a:ext cx="28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78" name="Oval 116"/>
                <p:cNvSpPr/>
                <p:nvPr/>
              </p:nvSpPr>
              <p:spPr>
                <a:xfrm flipV="1">
                  <a:off x="1344" y="4032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2400" dirty="0"/>
                </a:p>
              </p:txBody>
            </p:sp>
          </p:grpSp>
          <p:sp>
            <p:nvSpPr>
              <p:cNvPr id="31766" name="Text Box 117"/>
              <p:cNvSpPr txBox="1"/>
              <p:nvPr/>
            </p:nvSpPr>
            <p:spPr>
              <a:xfrm>
                <a:off x="1922" y="624"/>
                <a:ext cx="253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/>
                  <a:t>A</a:t>
                </a:r>
                <a:endParaRPr lang="en-US" altLang="zh-CN" sz="2400" b="1" dirty="0"/>
              </a:p>
            </p:txBody>
          </p:sp>
          <p:sp>
            <p:nvSpPr>
              <p:cNvPr id="31767" name="Text Box 118"/>
              <p:cNvSpPr txBox="1"/>
              <p:nvPr/>
            </p:nvSpPr>
            <p:spPr>
              <a:xfrm>
                <a:off x="1920" y="864"/>
                <a:ext cx="24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/>
                  <a:t>B</a:t>
                </a:r>
                <a:endParaRPr lang="en-US" altLang="zh-CN" sz="2400" b="1" dirty="0"/>
              </a:p>
            </p:txBody>
          </p:sp>
          <p:sp>
            <p:nvSpPr>
              <p:cNvPr id="31768" name="Text Box 119"/>
              <p:cNvSpPr txBox="1"/>
              <p:nvPr/>
            </p:nvSpPr>
            <p:spPr>
              <a:xfrm>
                <a:off x="2594" y="384"/>
                <a:ext cx="26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solidFill>
                      <a:srgbClr val="CC3300"/>
                    </a:solidFill>
                    <a:sym typeface="Symbol" panose="05050102010706020507" pitchFamily="18" charset="2"/>
                  </a:rPr>
                  <a:t></a:t>
                </a:r>
                <a:endParaRPr lang="en-US" altLang="zh-CN" sz="2400" b="1" dirty="0">
                  <a:solidFill>
                    <a:srgbClr val="CC3300"/>
                  </a:solidFill>
                </a:endParaRPr>
              </a:p>
            </p:txBody>
          </p:sp>
          <p:grpSp>
            <p:nvGrpSpPr>
              <p:cNvPr id="31769" name="Group 120"/>
              <p:cNvGrpSpPr/>
              <p:nvPr/>
            </p:nvGrpSpPr>
            <p:grpSpPr>
              <a:xfrm>
                <a:off x="2064" y="480"/>
                <a:ext cx="384" cy="96"/>
                <a:chOff x="1344" y="4032"/>
                <a:chExt cx="384" cy="96"/>
              </a:xfrm>
            </p:grpSpPr>
            <p:sp>
              <p:nvSpPr>
                <p:cNvPr id="31775" name="Line 121"/>
                <p:cNvSpPr/>
                <p:nvPr/>
              </p:nvSpPr>
              <p:spPr>
                <a:xfrm>
                  <a:off x="1440" y="4080"/>
                  <a:ext cx="28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776" name="Oval 122"/>
                <p:cNvSpPr/>
                <p:nvPr/>
              </p:nvSpPr>
              <p:spPr>
                <a:xfrm flipV="1">
                  <a:off x="1344" y="4032"/>
                  <a:ext cx="96" cy="96"/>
                </a:xfrm>
                <a:prstGeom prst="ellipse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90000" tIns="46800" rIns="9000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>
                    <a:spcBef>
                      <a:spcPct val="0"/>
                    </a:spcBef>
                    <a:buNone/>
                  </a:pPr>
                  <a:endParaRPr lang="zh-CN" altLang="en-US" sz="2400" dirty="0"/>
                </a:p>
              </p:txBody>
            </p:sp>
          </p:grpSp>
          <p:grpSp>
            <p:nvGrpSpPr>
              <p:cNvPr id="31770" name="Group 123"/>
              <p:cNvGrpSpPr/>
              <p:nvPr/>
            </p:nvGrpSpPr>
            <p:grpSpPr>
              <a:xfrm>
                <a:off x="1872" y="384"/>
                <a:ext cx="242" cy="288"/>
                <a:chOff x="629" y="1632"/>
                <a:chExt cx="242" cy="288"/>
              </a:xfrm>
            </p:grpSpPr>
            <p:sp>
              <p:nvSpPr>
                <p:cNvPr id="31773" name="Text Box 124"/>
                <p:cNvSpPr txBox="1"/>
                <p:nvPr/>
              </p:nvSpPr>
              <p:spPr>
                <a:xfrm>
                  <a:off x="629" y="1632"/>
                  <a:ext cx="24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90000" tIns="46800" rIns="90000" bIns="46800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400" b="1" dirty="0"/>
                    <a:t>E</a:t>
                  </a:r>
                  <a:endParaRPr lang="en-US" altLang="zh-CN" sz="2400" b="1" dirty="0"/>
                </a:p>
              </p:txBody>
            </p:sp>
            <p:sp>
              <p:nvSpPr>
                <p:cNvPr id="31774" name="Line 125"/>
                <p:cNvSpPr/>
                <p:nvPr/>
              </p:nvSpPr>
              <p:spPr>
                <a:xfrm>
                  <a:off x="672" y="1680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1771" name="Oval 126"/>
              <p:cNvSpPr/>
              <p:nvPr/>
            </p:nvSpPr>
            <p:spPr>
              <a:xfrm>
                <a:off x="3026" y="720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  <p:sp>
            <p:nvSpPr>
              <p:cNvPr id="31772" name="Oval 127"/>
              <p:cNvSpPr/>
              <p:nvPr/>
            </p:nvSpPr>
            <p:spPr>
              <a:xfrm>
                <a:off x="2448" y="480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en-US" sz="2400" dirty="0"/>
              </a:p>
            </p:txBody>
          </p:sp>
        </p:grpSp>
      </p:grpSp>
      <p:sp>
        <p:nvSpPr>
          <p:cNvPr id="24704" name="Line 128"/>
          <p:cNvSpPr/>
          <p:nvPr/>
        </p:nvSpPr>
        <p:spPr>
          <a:xfrm>
            <a:off x="3124200" y="1828800"/>
            <a:ext cx="1066800" cy="3048000"/>
          </a:xfrm>
          <a:prstGeom prst="line">
            <a:avLst/>
          </a:prstGeom>
          <a:ln w="7620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705" name="Line 129"/>
          <p:cNvSpPr/>
          <p:nvPr/>
        </p:nvSpPr>
        <p:spPr>
          <a:xfrm>
            <a:off x="3200400" y="3733800"/>
            <a:ext cx="3886200" cy="1066800"/>
          </a:xfrm>
          <a:prstGeom prst="line">
            <a:avLst/>
          </a:prstGeom>
          <a:ln w="76200" cap="flat" cmpd="sng">
            <a:solidFill>
              <a:srgbClr val="009900"/>
            </a:solidFill>
            <a:prstDash val="solid"/>
            <a:headEnd type="none" w="med" len="med"/>
            <a:tailEnd type="triangle" w="med" len="med"/>
          </a:ln>
        </p:spPr>
      </p:sp>
      <p:pic>
        <p:nvPicPr>
          <p:cNvPr id="31758" name="Picture 132" descr="E:\电子教案\wb01508_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3246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9" name="Text Box 133">
            <a:hlinkClick r:id="rId5" action="ppaction://hlinksldjump"/>
          </p:cNvPr>
          <p:cNvSpPr txBox="1"/>
          <p:nvPr/>
        </p:nvSpPr>
        <p:spPr>
          <a:xfrm>
            <a:off x="685800" y="63246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2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19" grpId="0" animBg="1"/>
      <p:bldP spid="24621" grpId="0"/>
      <p:bldP spid="24623" grpId="0"/>
      <p:bldP spid="2465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5" name="Text Box 3"/>
          <p:cNvSpPr txBox="1"/>
          <p:nvPr/>
        </p:nvSpPr>
        <p:spPr>
          <a:xfrm>
            <a:off x="457200" y="1143000"/>
            <a:ext cx="233203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zh-CN" altLang="en-US" sz="2400" b="1" dirty="0"/>
              <a:t>三态门的应用</a:t>
            </a:r>
            <a:endParaRPr lang="zh-CN" altLang="en-US" sz="2400" b="1" dirty="0"/>
          </a:p>
        </p:txBody>
      </p:sp>
      <p:sp>
        <p:nvSpPr>
          <p:cNvPr id="28677" name="Text Box 5"/>
          <p:cNvSpPr txBox="1"/>
          <p:nvPr/>
        </p:nvSpPr>
        <p:spPr>
          <a:xfrm>
            <a:off x="457200" y="1676400"/>
            <a:ext cx="44640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三态门广泛用于数据总线结构</a:t>
            </a:r>
            <a:endParaRPr lang="zh-CN" altLang="en-US" sz="2400" b="1" dirty="0"/>
          </a:p>
        </p:txBody>
      </p:sp>
      <p:grpSp>
        <p:nvGrpSpPr>
          <p:cNvPr id="2" name="Group 15"/>
          <p:cNvGrpSpPr/>
          <p:nvPr/>
        </p:nvGrpSpPr>
        <p:grpSpPr>
          <a:xfrm>
            <a:off x="3276600" y="2438400"/>
            <a:ext cx="5562600" cy="3657600"/>
            <a:chOff x="2064" y="1536"/>
            <a:chExt cx="3504" cy="2304"/>
          </a:xfrm>
        </p:grpSpPr>
        <p:graphicFrame>
          <p:nvGraphicFramePr>
            <p:cNvPr id="32795" name="Object 6"/>
            <p:cNvGraphicFramePr>
              <a:graphicFrameLocks noChangeAspect="1"/>
            </p:cNvGraphicFramePr>
            <p:nvPr/>
          </p:nvGraphicFramePr>
          <p:xfrm>
            <a:off x="2160" y="1616"/>
            <a:ext cx="3360" cy="2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1" imgW="3162300" imgH="1981200" progId="Paint.Picture">
                    <p:embed/>
                  </p:oleObj>
                </mc:Choice>
                <mc:Fallback>
                  <p:oleObj name="" r:id="rId1" imgW="3162300" imgH="1981200" progId="Paint.Picture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160" y="1616"/>
                          <a:ext cx="3360" cy="21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6" name="Rectangle 7"/>
            <p:cNvSpPr/>
            <p:nvPr/>
          </p:nvSpPr>
          <p:spPr>
            <a:xfrm>
              <a:off x="2064" y="1536"/>
              <a:ext cx="3504" cy="2304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sp>
        <p:nvSpPr>
          <p:cNvPr id="28680" name="Line 8"/>
          <p:cNvSpPr/>
          <p:nvPr/>
        </p:nvSpPr>
        <p:spPr>
          <a:xfrm>
            <a:off x="4114800" y="2819400"/>
            <a:ext cx="3886200" cy="0"/>
          </a:xfrm>
          <a:prstGeom prst="line">
            <a:avLst/>
          </a:prstGeom>
          <a:ln w="762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5" name="Text Box 13"/>
          <p:cNvSpPr txBox="1"/>
          <p:nvPr/>
        </p:nvSpPr>
        <p:spPr>
          <a:xfrm>
            <a:off x="381000" y="2133600"/>
            <a:ext cx="2971800" cy="15525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任何时刻只能有一个控制端有效，即只有一个门处于数据传输，其它门处于禁止状态</a:t>
            </a:r>
            <a:endParaRPr lang="zh-CN" altLang="en-US" sz="2400" b="1" dirty="0"/>
          </a:p>
        </p:txBody>
      </p:sp>
      <p:sp>
        <p:nvSpPr>
          <p:cNvPr id="28686" name="Text Box 14"/>
          <p:cNvSpPr txBox="1"/>
          <p:nvPr/>
        </p:nvSpPr>
        <p:spPr>
          <a:xfrm>
            <a:off x="457200" y="3733800"/>
            <a:ext cx="179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双向传输</a:t>
            </a:r>
            <a:endParaRPr lang="zh-CN" altLang="en-US" sz="2400" b="1" dirty="0"/>
          </a:p>
        </p:txBody>
      </p:sp>
      <p:grpSp>
        <p:nvGrpSpPr>
          <p:cNvPr id="3" name="Group 18"/>
          <p:cNvGrpSpPr/>
          <p:nvPr/>
        </p:nvGrpSpPr>
        <p:grpSpPr>
          <a:xfrm>
            <a:off x="3276600" y="2438400"/>
            <a:ext cx="5638800" cy="3733800"/>
            <a:chOff x="2064" y="1536"/>
            <a:chExt cx="3552" cy="2352"/>
          </a:xfrm>
        </p:grpSpPr>
        <p:sp>
          <p:nvSpPr>
            <p:cNvPr id="32793" name="Rectangle 16" descr="蓝色砂纸"/>
            <p:cNvSpPr/>
            <p:nvPr/>
          </p:nvSpPr>
          <p:spPr>
            <a:xfrm>
              <a:off x="2064" y="1536"/>
              <a:ext cx="3552" cy="2352"/>
            </a:xfrm>
            <a:prstGeom prst="rect">
              <a:avLst/>
            </a:prstGeom>
            <a:blipFill rotWithShape="0">
              <a:blip r:embed="rId3"/>
            </a:blipFill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graphicFrame>
          <p:nvGraphicFramePr>
            <p:cNvPr id="32794" name="Object 17"/>
            <p:cNvGraphicFramePr>
              <a:graphicFrameLocks noChangeAspect="1"/>
            </p:cNvGraphicFramePr>
            <p:nvPr/>
          </p:nvGraphicFramePr>
          <p:xfrm>
            <a:off x="2112" y="1584"/>
            <a:ext cx="3456" cy="2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4" imgW="2857500" imgH="2247900" progId="Paint.Picture">
                    <p:embed/>
                  </p:oleObj>
                </mc:Choice>
                <mc:Fallback>
                  <p:oleObj name="" r:id="rId4" imgW="2857500" imgH="2247900" progId="Paint.Picture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12" y="1584"/>
                          <a:ext cx="3456" cy="2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91" name="Text Box 19"/>
          <p:cNvSpPr txBox="1"/>
          <p:nvPr/>
        </p:nvSpPr>
        <p:spPr>
          <a:xfrm>
            <a:off x="381000" y="4114800"/>
            <a:ext cx="274320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当</a:t>
            </a:r>
            <a:r>
              <a:rPr lang="en-US" altLang="zh-CN" sz="2400" b="1" dirty="0"/>
              <a:t>E=0</a:t>
            </a:r>
            <a:r>
              <a:rPr lang="zh-CN" altLang="en-US" sz="2400" b="1" dirty="0"/>
              <a:t>时，门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工作，门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禁止，数据从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送到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；</a:t>
            </a:r>
            <a:endParaRPr lang="zh-CN" altLang="en-US" sz="2400" b="1" dirty="0"/>
          </a:p>
        </p:txBody>
      </p:sp>
      <p:sp>
        <p:nvSpPr>
          <p:cNvPr id="28692" name="Text Box 20"/>
          <p:cNvSpPr txBox="1"/>
          <p:nvPr/>
        </p:nvSpPr>
        <p:spPr>
          <a:xfrm>
            <a:off x="433388" y="5181600"/>
            <a:ext cx="2843212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E=1</a:t>
            </a:r>
            <a:r>
              <a:rPr lang="zh-CN" altLang="en-US" sz="2400" b="1" dirty="0"/>
              <a:t>时，门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禁止，门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工作，数据从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送到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grpSp>
        <p:nvGrpSpPr>
          <p:cNvPr id="4" name="Group 24"/>
          <p:cNvGrpSpPr/>
          <p:nvPr/>
        </p:nvGrpSpPr>
        <p:grpSpPr>
          <a:xfrm>
            <a:off x="4953000" y="2819400"/>
            <a:ext cx="2133600" cy="304800"/>
            <a:chOff x="3120" y="1776"/>
            <a:chExt cx="1344" cy="192"/>
          </a:xfrm>
        </p:grpSpPr>
        <p:sp>
          <p:nvSpPr>
            <p:cNvPr id="32790" name="Line 21"/>
            <p:cNvSpPr/>
            <p:nvPr/>
          </p:nvSpPr>
          <p:spPr>
            <a:xfrm>
              <a:off x="3120" y="1776"/>
              <a:ext cx="672" cy="0"/>
            </a:xfrm>
            <a:prstGeom prst="line">
              <a:avLst/>
            </a:prstGeom>
            <a:ln w="762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1" name="Line 22"/>
            <p:cNvSpPr/>
            <p:nvPr/>
          </p:nvSpPr>
          <p:spPr>
            <a:xfrm>
              <a:off x="3792" y="1776"/>
              <a:ext cx="0" cy="192"/>
            </a:xfrm>
            <a:prstGeom prst="line">
              <a:avLst/>
            </a:prstGeom>
            <a:ln w="762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92" name="Line 23"/>
            <p:cNvSpPr/>
            <p:nvPr/>
          </p:nvSpPr>
          <p:spPr>
            <a:xfrm>
              <a:off x="3792" y="1968"/>
              <a:ext cx="672" cy="0"/>
            </a:xfrm>
            <a:prstGeom prst="line">
              <a:avLst/>
            </a:prstGeom>
            <a:ln w="7620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" name="Group 32"/>
          <p:cNvGrpSpPr/>
          <p:nvPr/>
        </p:nvGrpSpPr>
        <p:grpSpPr>
          <a:xfrm>
            <a:off x="5181600" y="3124200"/>
            <a:ext cx="1905000" cy="1905000"/>
            <a:chOff x="3264" y="1968"/>
            <a:chExt cx="1200" cy="1200"/>
          </a:xfrm>
        </p:grpSpPr>
        <p:sp>
          <p:nvSpPr>
            <p:cNvPr id="32787" name="Line 29"/>
            <p:cNvSpPr/>
            <p:nvPr/>
          </p:nvSpPr>
          <p:spPr>
            <a:xfrm>
              <a:off x="4464" y="2160"/>
              <a:ext cx="0" cy="1008"/>
            </a:xfrm>
            <a:prstGeom prst="line">
              <a:avLst/>
            </a:prstGeom>
            <a:ln w="762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8" name="Line 30"/>
            <p:cNvSpPr/>
            <p:nvPr/>
          </p:nvSpPr>
          <p:spPr>
            <a:xfrm flipH="1">
              <a:off x="3264" y="3168"/>
              <a:ext cx="1200" cy="0"/>
            </a:xfrm>
            <a:prstGeom prst="line">
              <a:avLst/>
            </a:prstGeom>
            <a:ln w="762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9" name="Line 31"/>
            <p:cNvSpPr/>
            <p:nvPr/>
          </p:nvSpPr>
          <p:spPr>
            <a:xfrm flipV="1">
              <a:off x="3264" y="1968"/>
              <a:ext cx="0" cy="1200"/>
            </a:xfrm>
            <a:prstGeom prst="line">
              <a:avLst/>
            </a:prstGeom>
            <a:ln w="76200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</p:grpSp>
      <p:pic>
        <p:nvPicPr>
          <p:cNvPr id="32781" name="Picture 35" descr="E:\电子教案\wb01508_.gif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62484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82" name="Text Box 36">
            <a:hlinkClick r:id="rId6" action="ppaction://hlinksldjump"/>
          </p:cNvPr>
          <p:cNvSpPr txBox="1"/>
          <p:nvPr/>
        </p:nvSpPr>
        <p:spPr>
          <a:xfrm>
            <a:off x="7924800" y="62484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  <p:sp>
        <p:nvSpPr>
          <p:cNvPr id="32783" name="Text Box 37"/>
          <p:cNvSpPr txBox="1"/>
          <p:nvPr/>
        </p:nvSpPr>
        <p:spPr>
          <a:xfrm>
            <a:off x="762000" y="228600"/>
            <a:ext cx="4267200" cy="823913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rgbClr val="808080"/>
            </a:outer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rgbClr val="990000"/>
                </a:solidFill>
                <a:latin typeface="幼圆" panose="02010509060101010101" pitchFamily="49" charset="-122"/>
                <a:ea typeface="隶书" panose="02010509060101010101" pitchFamily="49" charset="-122"/>
              </a:rPr>
              <a:t>三态逻辑门（</a:t>
            </a:r>
            <a:r>
              <a:rPr lang="en-US" altLang="zh-CN" sz="4000" b="1" dirty="0">
                <a:solidFill>
                  <a:srgbClr val="990000"/>
                </a:solidFill>
                <a:latin typeface="幼圆" panose="02010509060101010101" pitchFamily="49" charset="-122"/>
                <a:ea typeface="隶书" panose="02010509060101010101" pitchFamily="49" charset="-122"/>
              </a:rPr>
              <a:t>TSL</a:t>
            </a:r>
            <a:r>
              <a:rPr lang="zh-CN" altLang="en-US" sz="4000" b="1" dirty="0">
                <a:solidFill>
                  <a:srgbClr val="990000"/>
                </a:solidFill>
                <a:latin typeface="幼圆" panose="02010509060101010101" pitchFamily="49" charset="-122"/>
                <a:ea typeface="隶书" panose="02010509060101010101" pitchFamily="49" charset="-122"/>
              </a:rPr>
              <a:t>）</a:t>
            </a:r>
            <a:endParaRPr lang="zh-CN" altLang="en-US" sz="4000" b="1" dirty="0">
              <a:solidFill>
                <a:srgbClr val="990000"/>
              </a:solidFill>
              <a:latin typeface="黑体" panose="02010609060101010101" pitchFamily="2" charset="-122"/>
              <a:ea typeface="隶书" panose="02010509060101010101" pitchFamily="49" charset="-122"/>
            </a:endParaRPr>
          </a:p>
        </p:txBody>
      </p:sp>
      <p:grpSp>
        <p:nvGrpSpPr>
          <p:cNvPr id="6" name="Group 11"/>
          <p:cNvGrpSpPr/>
          <p:nvPr/>
        </p:nvGrpSpPr>
        <p:grpSpPr>
          <a:xfrm>
            <a:off x="5867400" y="1828800"/>
            <a:ext cx="1524000" cy="762000"/>
            <a:chOff x="3696" y="1152"/>
            <a:chExt cx="960" cy="480"/>
          </a:xfrm>
        </p:grpSpPr>
        <p:sp>
          <p:nvSpPr>
            <p:cNvPr id="32785" name="AutoShape 9"/>
            <p:cNvSpPr/>
            <p:nvPr/>
          </p:nvSpPr>
          <p:spPr>
            <a:xfrm>
              <a:off x="3696" y="1152"/>
              <a:ext cx="960" cy="480"/>
            </a:xfrm>
            <a:prstGeom prst="wedgeRoundRectCallout">
              <a:avLst>
                <a:gd name="adj1" fmla="val -43750"/>
                <a:gd name="adj2" fmla="val 83958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2786" name="Text Box 10"/>
            <p:cNvSpPr txBox="1"/>
            <p:nvPr/>
          </p:nvSpPr>
          <p:spPr>
            <a:xfrm>
              <a:off x="3840" y="1248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总线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/>
      <p:bldP spid="28677" grpId="0"/>
      <p:bldP spid="28685" grpId="0"/>
      <p:bldP spid="28686" grpId="0"/>
      <p:bldP spid="28691" grpId="0"/>
      <p:bldP spid="2869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5" name="Rectangle 15"/>
          <p:cNvSpPr>
            <a:spLocks noChangeArrowheads="1"/>
          </p:cNvSpPr>
          <p:nvPr/>
        </p:nvSpPr>
        <p:spPr bwMode="auto">
          <a:xfrm>
            <a:off x="685800" y="685800"/>
            <a:ext cx="7772400" cy="9144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>
            <a:flatTx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§2-3  ECL</a:t>
            </a:r>
            <a:r>
              <a:rPr kumimoji="1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集成逻辑门</a:t>
            </a:r>
            <a:endParaRPr kumimoji="1" lang="zh-CN" altLang="en-US" sz="5400" b="1" i="0" u="none" strike="noStrike" kern="1200" cap="none" spc="0" normalizeH="0" baseline="0" noProof="0">
              <a:ln>
                <a:noFill/>
              </a:ln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30736" name="Text Box 16"/>
          <p:cNvSpPr txBox="1"/>
          <p:nvPr/>
        </p:nvSpPr>
        <p:spPr>
          <a:xfrm>
            <a:off x="2362200" y="2835275"/>
            <a:ext cx="54864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ECL</a:t>
            </a:r>
            <a:r>
              <a:rPr lang="en-US" altLang="zh-CN" sz="4400" b="1" dirty="0">
                <a:ea typeface="隶书" panose="02010509060101010101" pitchFamily="49" charset="-122"/>
              </a:rPr>
              <a:t>“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或</a:t>
            </a:r>
            <a:r>
              <a:rPr lang="en-US" altLang="zh-CN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/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或非</a:t>
            </a:r>
            <a:r>
              <a:rPr lang="zh-CN" altLang="en-US" sz="4400" b="1" dirty="0">
                <a:ea typeface="隶书" panose="02010509060101010101" pitchFamily="49" charset="-122"/>
              </a:rPr>
              <a:t>”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门电路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0737" name="Text Box 17"/>
          <p:cNvSpPr txBox="1"/>
          <p:nvPr/>
        </p:nvSpPr>
        <p:spPr>
          <a:xfrm>
            <a:off x="2286000" y="4000500"/>
            <a:ext cx="54102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ECL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门的主要优缺点</a:t>
            </a:r>
            <a:endParaRPr lang="zh-CN" altLang="en-US" sz="4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0738" name="Picture 18" descr="D:\image\ball5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9718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39" name="Picture 19" descr="D:\image\ball5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1529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9" name="Picture 21" descr="E:\电子教案\wb00677_.gif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5943600"/>
            <a:ext cx="6858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35" grpId="0" animBg="1"/>
      <p:bldP spid="30736" grpId="0"/>
      <p:bldP spid="3073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818" name="Picture 25" descr="E:\电子教案\wb01508_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62484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19" name="Text Box 26">
            <a:hlinkClick r:id="rId1" action="ppaction://hlinksldjump"/>
          </p:cNvPr>
          <p:cNvSpPr txBox="1"/>
          <p:nvPr/>
        </p:nvSpPr>
        <p:spPr>
          <a:xfrm>
            <a:off x="7620000" y="62484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  <p:sp>
        <p:nvSpPr>
          <p:cNvPr id="31748" name="Text Box 4"/>
          <p:cNvSpPr txBox="1"/>
          <p:nvPr/>
        </p:nvSpPr>
        <p:spPr>
          <a:xfrm>
            <a:off x="1371600" y="228600"/>
            <a:ext cx="6553200" cy="969963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48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ECL</a:t>
            </a:r>
            <a:r>
              <a:rPr lang="en-US" altLang="zh-CN" sz="4800" b="1" dirty="0">
                <a:solidFill>
                  <a:srgbClr val="990000"/>
                </a:solidFill>
                <a:ea typeface="隶书" panose="02010509060101010101" pitchFamily="49" charset="-122"/>
              </a:rPr>
              <a:t>“</a:t>
            </a:r>
            <a:r>
              <a:rPr lang="zh-CN" altLang="en-US" sz="48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或</a:t>
            </a:r>
            <a:r>
              <a:rPr lang="en-US" altLang="zh-CN" sz="48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</a:t>
            </a:r>
            <a:r>
              <a:rPr lang="zh-CN" altLang="en-US" sz="48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或非</a:t>
            </a:r>
            <a:r>
              <a:rPr lang="zh-CN" altLang="en-US" sz="4800" b="1" dirty="0">
                <a:solidFill>
                  <a:srgbClr val="990000"/>
                </a:solidFill>
                <a:ea typeface="隶书" panose="02010509060101010101" pitchFamily="49" charset="-122"/>
              </a:rPr>
              <a:t>”</a:t>
            </a:r>
            <a:r>
              <a:rPr lang="zh-CN" altLang="en-US" sz="48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门电路</a:t>
            </a:r>
            <a:endParaRPr lang="zh-CN" altLang="en-US" sz="4800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685800" y="1524000"/>
          <a:ext cx="792480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3276600" imgH="2933700" progId="Paint.Picture">
                  <p:embed/>
                </p:oleObj>
              </mc:Choice>
              <mc:Fallback>
                <p:oleObj name="" r:id="rId3" imgW="3276600" imgH="2933700" progId="Paint.Picture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1524000"/>
                        <a:ext cx="7924800" cy="472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Rectangle 6"/>
          <p:cNvSpPr/>
          <p:nvPr/>
        </p:nvSpPr>
        <p:spPr>
          <a:xfrm>
            <a:off x="5334000" y="1600200"/>
            <a:ext cx="1295400" cy="3352800"/>
          </a:xfrm>
          <a:prstGeom prst="rect">
            <a:avLst/>
          </a:prstGeom>
          <a:noFill/>
          <a:ln w="5715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1754" name="Rectangle 10"/>
          <p:cNvSpPr/>
          <p:nvPr/>
        </p:nvSpPr>
        <p:spPr>
          <a:xfrm>
            <a:off x="685800" y="1447800"/>
            <a:ext cx="4343400" cy="4267200"/>
          </a:xfrm>
          <a:prstGeom prst="rect">
            <a:avLst/>
          </a:prstGeom>
          <a:noFill/>
          <a:ln w="3810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2" name="Group 13"/>
          <p:cNvGrpSpPr/>
          <p:nvPr/>
        </p:nvGrpSpPr>
        <p:grpSpPr>
          <a:xfrm>
            <a:off x="1143000" y="5867400"/>
            <a:ext cx="1524000" cy="685800"/>
            <a:chOff x="768" y="3648"/>
            <a:chExt cx="960" cy="432"/>
          </a:xfrm>
        </p:grpSpPr>
        <p:sp>
          <p:nvSpPr>
            <p:cNvPr id="34836" name="AutoShape 11"/>
            <p:cNvSpPr/>
            <p:nvPr/>
          </p:nvSpPr>
          <p:spPr>
            <a:xfrm>
              <a:off x="768" y="3648"/>
              <a:ext cx="960" cy="432"/>
            </a:xfrm>
            <a:prstGeom prst="wedgeRoundRectCallout">
              <a:avLst>
                <a:gd name="adj1" fmla="val -51773"/>
                <a:gd name="adj2" fmla="val -71991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4837" name="Text Box 12"/>
            <p:cNvSpPr txBox="1"/>
            <p:nvPr/>
          </p:nvSpPr>
          <p:spPr>
            <a:xfrm>
              <a:off x="912" y="3696"/>
              <a:ext cx="6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输入级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31758" name="Rectangle 14"/>
          <p:cNvSpPr/>
          <p:nvPr/>
        </p:nvSpPr>
        <p:spPr>
          <a:xfrm>
            <a:off x="6705600" y="1524000"/>
            <a:ext cx="1295400" cy="3429000"/>
          </a:xfrm>
          <a:prstGeom prst="rect">
            <a:avLst/>
          </a:prstGeom>
          <a:noFill/>
          <a:ln w="571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3" name="Group 17"/>
          <p:cNvGrpSpPr/>
          <p:nvPr/>
        </p:nvGrpSpPr>
        <p:grpSpPr>
          <a:xfrm>
            <a:off x="7620000" y="2438400"/>
            <a:ext cx="1104900" cy="533400"/>
            <a:chOff x="4800" y="1536"/>
            <a:chExt cx="696" cy="336"/>
          </a:xfrm>
        </p:grpSpPr>
        <p:sp>
          <p:nvSpPr>
            <p:cNvPr id="34834" name="AutoShape 15"/>
            <p:cNvSpPr/>
            <p:nvPr/>
          </p:nvSpPr>
          <p:spPr>
            <a:xfrm>
              <a:off x="4848" y="1536"/>
              <a:ext cx="624" cy="336"/>
            </a:xfrm>
            <a:prstGeom prst="wedgeRoundRectCallout">
              <a:avLst>
                <a:gd name="adj1" fmla="val -43750"/>
                <a:gd name="adj2" fmla="val 70000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4835" name="Text Box 16"/>
            <p:cNvSpPr txBox="1"/>
            <p:nvPr/>
          </p:nvSpPr>
          <p:spPr>
            <a:xfrm>
              <a:off x="4800" y="1536"/>
              <a:ext cx="6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输出级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34827" name="Text Box 20"/>
          <p:cNvSpPr txBox="1"/>
          <p:nvPr/>
        </p:nvSpPr>
        <p:spPr>
          <a:xfrm>
            <a:off x="442913" y="990600"/>
            <a:ext cx="1809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/>
          </a:p>
        </p:txBody>
      </p:sp>
      <p:grpSp>
        <p:nvGrpSpPr>
          <p:cNvPr id="4" name="Group 22"/>
          <p:cNvGrpSpPr/>
          <p:nvPr/>
        </p:nvGrpSpPr>
        <p:grpSpPr>
          <a:xfrm>
            <a:off x="304800" y="663575"/>
            <a:ext cx="2743200" cy="1281113"/>
            <a:chOff x="192" y="528"/>
            <a:chExt cx="1728" cy="576"/>
          </a:xfrm>
        </p:grpSpPr>
        <p:sp>
          <p:nvSpPr>
            <p:cNvPr id="34832" name="AutoShape 19"/>
            <p:cNvSpPr/>
            <p:nvPr/>
          </p:nvSpPr>
          <p:spPr>
            <a:xfrm>
              <a:off x="192" y="528"/>
              <a:ext cx="1728" cy="576"/>
            </a:xfrm>
            <a:prstGeom prst="wedgeRoundRectCallout">
              <a:avLst>
                <a:gd name="adj1" fmla="val 53764"/>
                <a:gd name="adj2" fmla="val 101042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4833" name="Text Box 21"/>
            <p:cNvSpPr txBox="1"/>
            <p:nvPr/>
          </p:nvSpPr>
          <p:spPr>
            <a:xfrm>
              <a:off x="192" y="567"/>
              <a:ext cx="1667" cy="53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同时实现或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/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或非逻辑功能，为非饱和型电路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5" name="Group 9"/>
          <p:cNvGrpSpPr/>
          <p:nvPr/>
        </p:nvGrpSpPr>
        <p:grpSpPr>
          <a:xfrm>
            <a:off x="5181600" y="5105400"/>
            <a:ext cx="2971800" cy="1447800"/>
            <a:chOff x="3552" y="3312"/>
            <a:chExt cx="1872" cy="912"/>
          </a:xfrm>
        </p:grpSpPr>
        <p:sp>
          <p:nvSpPr>
            <p:cNvPr id="34830" name="AutoShape 7"/>
            <p:cNvSpPr/>
            <p:nvPr/>
          </p:nvSpPr>
          <p:spPr>
            <a:xfrm>
              <a:off x="3552" y="3312"/>
              <a:ext cx="1872" cy="912"/>
            </a:xfrm>
            <a:prstGeom prst="wedgeRoundRectCallout">
              <a:avLst>
                <a:gd name="adj1" fmla="val -40009"/>
                <a:gd name="adj2" fmla="val -74231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4831" name="Text Box 8"/>
            <p:cNvSpPr txBox="1"/>
            <p:nvPr/>
          </p:nvSpPr>
          <p:spPr>
            <a:xfrm>
              <a:off x="3648" y="3428"/>
              <a:ext cx="1680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基准电源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--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为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4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管提供参考电压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BB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。选定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BB 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= 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-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1.2V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</p:grp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animBg="1"/>
      <p:bldP spid="31750" grpId="0" animBg="1"/>
      <p:bldP spid="31754" grpId="0" animBg="1"/>
      <p:bldP spid="3175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702" name="Rectangle 6"/>
          <p:cNvSpPr/>
          <p:nvPr/>
        </p:nvSpPr>
        <p:spPr>
          <a:xfrm>
            <a:off x="685800" y="1371600"/>
            <a:ext cx="7924800" cy="25146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2" name="Group 9"/>
          <p:cNvGrpSpPr/>
          <p:nvPr/>
        </p:nvGrpSpPr>
        <p:grpSpPr>
          <a:xfrm>
            <a:off x="838200" y="1524000"/>
            <a:ext cx="609600" cy="1905000"/>
            <a:chOff x="624" y="960"/>
            <a:chExt cx="384" cy="1200"/>
          </a:xfrm>
        </p:grpSpPr>
        <p:sp>
          <p:nvSpPr>
            <p:cNvPr id="35870" name="Oval 7"/>
            <p:cNvSpPr/>
            <p:nvPr/>
          </p:nvSpPr>
          <p:spPr>
            <a:xfrm>
              <a:off x="624" y="960"/>
              <a:ext cx="384" cy="1200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5871" name="Text Box 8"/>
            <p:cNvSpPr txBox="1"/>
            <p:nvPr/>
          </p:nvSpPr>
          <p:spPr>
            <a:xfrm>
              <a:off x="672" y="1056"/>
              <a:ext cx="308" cy="9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逻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辑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符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号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graphicFrame>
        <p:nvGraphicFramePr>
          <p:cNvPr id="65536" name="Object 2048"/>
          <p:cNvGraphicFramePr>
            <a:graphicFrameLocks noChangeAspect="1"/>
          </p:cNvGraphicFramePr>
          <p:nvPr/>
        </p:nvGraphicFramePr>
        <p:xfrm>
          <a:off x="1600200" y="1524000"/>
          <a:ext cx="27432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1666875" imgH="1000125" progId="Paint.Picture">
                  <p:embed/>
                </p:oleObj>
              </mc:Choice>
              <mc:Fallback>
                <p:oleObj name="" r:id="rId1" imgW="1666875" imgH="1000125" progId="Paint.Picture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0200" y="1524000"/>
                        <a:ext cx="2743200" cy="1981200"/>
                      </a:xfrm>
                      <a:prstGeom prst="rect">
                        <a:avLst/>
                      </a:prstGeom>
                      <a:solidFill>
                        <a:srgbClr val="FFFFCC">
                          <a:alpha val="50195"/>
                        </a:srgb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/>
          <p:cNvGrpSpPr/>
          <p:nvPr/>
        </p:nvGrpSpPr>
        <p:grpSpPr>
          <a:xfrm>
            <a:off x="4343400" y="1558925"/>
            <a:ext cx="609600" cy="2174875"/>
            <a:chOff x="624" y="960"/>
            <a:chExt cx="384" cy="1200"/>
          </a:xfrm>
        </p:grpSpPr>
        <p:sp>
          <p:nvSpPr>
            <p:cNvPr id="35868" name="Oval 14"/>
            <p:cNvSpPr/>
            <p:nvPr/>
          </p:nvSpPr>
          <p:spPr>
            <a:xfrm>
              <a:off x="624" y="960"/>
              <a:ext cx="384" cy="1200"/>
            </a:xfrm>
            <a:prstGeom prst="ellipse">
              <a:avLst/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5869" name="Text Box 15"/>
            <p:cNvSpPr txBox="1"/>
            <p:nvPr/>
          </p:nvSpPr>
          <p:spPr>
            <a:xfrm>
              <a:off x="672" y="1015"/>
              <a:ext cx="308" cy="10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逻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辑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表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达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式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graphicFrame>
        <p:nvGraphicFramePr>
          <p:cNvPr id="65537" name="Object 2049"/>
          <p:cNvGraphicFramePr>
            <a:graphicFrameLocks noChangeAspect="1"/>
          </p:cNvGraphicFramePr>
          <p:nvPr/>
        </p:nvGraphicFramePr>
        <p:xfrm>
          <a:off x="5257800" y="1828800"/>
          <a:ext cx="2819400" cy="152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3" imgW="862965" imgH="431800" progId="Equation.3">
                  <p:embed/>
                </p:oleObj>
              </mc:Choice>
              <mc:Fallback>
                <p:oleObj name="" r:id="rId3" imgW="862965" imgH="4318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57800" y="1828800"/>
                        <a:ext cx="2819400" cy="1522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9"/>
          <p:cNvGrpSpPr/>
          <p:nvPr/>
        </p:nvGrpSpPr>
        <p:grpSpPr>
          <a:xfrm>
            <a:off x="685800" y="4038600"/>
            <a:ext cx="3733800" cy="2286000"/>
            <a:chOff x="432" y="2544"/>
            <a:chExt cx="2352" cy="1440"/>
          </a:xfrm>
        </p:grpSpPr>
        <p:sp>
          <p:nvSpPr>
            <p:cNvPr id="35866" name="Rectangle 18"/>
            <p:cNvSpPr/>
            <p:nvPr/>
          </p:nvSpPr>
          <p:spPr>
            <a:xfrm>
              <a:off x="432" y="2544"/>
              <a:ext cx="2352" cy="144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5867" name="Text Box 19"/>
            <p:cNvSpPr txBox="1"/>
            <p:nvPr/>
          </p:nvSpPr>
          <p:spPr>
            <a:xfrm>
              <a:off x="561" y="2592"/>
              <a:ext cx="63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</a:t>
              </a:r>
              <a:r>
                <a:rPr lang="zh-CN" altLang="en-US" sz="2400" b="1" dirty="0">
                  <a:sym typeface="Symbol" panose="05050102010706020507" pitchFamily="18" charset="2"/>
                </a:rPr>
                <a:t>优点</a:t>
              </a:r>
              <a:endParaRPr lang="zh-CN" altLang="en-US" sz="2400" dirty="0"/>
            </a:p>
          </p:txBody>
        </p:sp>
      </p:grpSp>
      <p:sp>
        <p:nvSpPr>
          <p:cNvPr id="29716" name="Text Box 20"/>
          <p:cNvSpPr txBox="1"/>
          <p:nvPr/>
        </p:nvSpPr>
        <p:spPr>
          <a:xfrm>
            <a:off x="914400" y="4648200"/>
            <a:ext cx="21812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、开关速度高</a:t>
            </a:r>
            <a:endParaRPr lang="zh-CN" altLang="en-US" sz="2400" b="1" dirty="0"/>
          </a:p>
        </p:txBody>
      </p:sp>
      <p:sp>
        <p:nvSpPr>
          <p:cNvPr id="29717" name="Text Box 21"/>
          <p:cNvSpPr txBox="1"/>
          <p:nvPr/>
        </p:nvSpPr>
        <p:spPr>
          <a:xfrm>
            <a:off x="942975" y="5105400"/>
            <a:ext cx="21812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zh-CN" altLang="en-US" sz="2400" b="1" dirty="0">
                <a:solidFill>
                  <a:schemeClr val="accent2"/>
                </a:solidFill>
              </a:rPr>
              <a:t>逻辑功能强</a:t>
            </a:r>
            <a:endParaRPr lang="zh-CN" altLang="en-US" sz="2400" b="1" dirty="0"/>
          </a:p>
        </p:txBody>
      </p:sp>
      <p:sp>
        <p:nvSpPr>
          <p:cNvPr id="29718" name="Text Box 22"/>
          <p:cNvSpPr txBox="1"/>
          <p:nvPr/>
        </p:nvSpPr>
        <p:spPr>
          <a:xfrm>
            <a:off x="942975" y="5562600"/>
            <a:ext cx="21812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</a:t>
            </a:r>
            <a:r>
              <a:rPr lang="zh-CN" altLang="en-US" sz="2400" b="1" dirty="0"/>
              <a:t>、负载能力强</a:t>
            </a:r>
            <a:endParaRPr lang="zh-CN" altLang="en-US" sz="2400" b="1" dirty="0"/>
          </a:p>
        </p:txBody>
      </p:sp>
      <p:grpSp>
        <p:nvGrpSpPr>
          <p:cNvPr id="5" name="Group 38"/>
          <p:cNvGrpSpPr/>
          <p:nvPr/>
        </p:nvGrpSpPr>
        <p:grpSpPr>
          <a:xfrm>
            <a:off x="685800" y="1219200"/>
            <a:ext cx="8077200" cy="2667000"/>
            <a:chOff x="432" y="768"/>
            <a:chExt cx="5088" cy="1680"/>
          </a:xfrm>
        </p:grpSpPr>
        <p:sp>
          <p:nvSpPr>
            <p:cNvPr id="35864" name="Rectangle 30" descr="蓝色砂纸"/>
            <p:cNvSpPr/>
            <p:nvPr/>
          </p:nvSpPr>
          <p:spPr>
            <a:xfrm>
              <a:off x="432" y="768"/>
              <a:ext cx="5088" cy="1680"/>
            </a:xfrm>
            <a:prstGeom prst="rect">
              <a:avLst/>
            </a:prstGeom>
            <a:blipFill rotWithShape="0">
              <a:blip r:embed="rId5"/>
            </a:blipFill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graphicFrame>
          <p:nvGraphicFramePr>
            <p:cNvPr id="35865" name="Object 2050"/>
            <p:cNvGraphicFramePr>
              <a:graphicFrameLocks noChangeAspect="1"/>
            </p:cNvGraphicFramePr>
            <p:nvPr/>
          </p:nvGraphicFramePr>
          <p:xfrm>
            <a:off x="816" y="864"/>
            <a:ext cx="4272" cy="1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6" imgW="2657475" imgH="1781175" progId="Paint.Picture">
                    <p:embed/>
                  </p:oleObj>
                </mc:Choice>
                <mc:Fallback>
                  <p:oleObj name="" r:id="rId6" imgW="2657475" imgH="1781175" progId="Paint.Picture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16" y="864"/>
                          <a:ext cx="4272" cy="15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1"/>
          <p:cNvGrpSpPr/>
          <p:nvPr/>
        </p:nvGrpSpPr>
        <p:grpSpPr>
          <a:xfrm>
            <a:off x="4572000" y="3962400"/>
            <a:ext cx="4191000" cy="2362200"/>
            <a:chOff x="432" y="2544"/>
            <a:chExt cx="2352" cy="1440"/>
          </a:xfrm>
        </p:grpSpPr>
        <p:sp>
          <p:nvSpPr>
            <p:cNvPr id="35862" name="Rectangle 32"/>
            <p:cNvSpPr/>
            <p:nvPr/>
          </p:nvSpPr>
          <p:spPr>
            <a:xfrm>
              <a:off x="432" y="2544"/>
              <a:ext cx="2352" cy="144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5863" name="Text Box 33"/>
            <p:cNvSpPr txBox="1"/>
            <p:nvPr/>
          </p:nvSpPr>
          <p:spPr>
            <a:xfrm>
              <a:off x="596" y="2596"/>
              <a:ext cx="569" cy="2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</a:t>
              </a:r>
              <a:r>
                <a:rPr lang="zh-CN" altLang="en-US" sz="2400" b="1" dirty="0">
                  <a:sym typeface="Symbol" panose="05050102010706020507" pitchFamily="18" charset="2"/>
                </a:rPr>
                <a:t>缺点</a:t>
              </a:r>
              <a:endParaRPr lang="zh-CN" altLang="en-US" sz="2400" dirty="0"/>
            </a:p>
          </p:txBody>
        </p:sp>
      </p:grpSp>
      <p:sp>
        <p:nvSpPr>
          <p:cNvPr id="29731" name="Text Box 35"/>
          <p:cNvSpPr txBox="1"/>
          <p:nvPr/>
        </p:nvSpPr>
        <p:spPr>
          <a:xfrm>
            <a:off x="4648200" y="4419600"/>
            <a:ext cx="18732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、功耗较大</a:t>
            </a:r>
            <a:endParaRPr lang="zh-CN" altLang="en-US" sz="2400" b="1" dirty="0"/>
          </a:p>
        </p:txBody>
      </p:sp>
      <p:sp>
        <p:nvSpPr>
          <p:cNvPr id="29732" name="Text Box 36"/>
          <p:cNvSpPr txBox="1"/>
          <p:nvPr/>
        </p:nvSpPr>
        <p:spPr>
          <a:xfrm>
            <a:off x="4645025" y="4800600"/>
            <a:ext cx="27971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、抗干扰能力差：</a:t>
            </a:r>
            <a:endParaRPr lang="zh-CN" altLang="en-US" sz="2400" b="1" dirty="0"/>
          </a:p>
        </p:txBody>
      </p:sp>
      <p:sp>
        <p:nvSpPr>
          <p:cNvPr id="29733" name="Text Box 37"/>
          <p:cNvSpPr txBox="1"/>
          <p:nvPr/>
        </p:nvSpPr>
        <p:spPr>
          <a:xfrm>
            <a:off x="4724400" y="5319713"/>
            <a:ext cx="38100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逻辑摆幅为</a:t>
            </a:r>
            <a:r>
              <a:rPr lang="en-US" altLang="zh-CN" sz="2400" b="1" dirty="0"/>
              <a:t>0.8V</a:t>
            </a:r>
            <a:r>
              <a:rPr lang="zh-CN" altLang="en-US" sz="2400" b="1" dirty="0"/>
              <a:t>左右，噪声容限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N</a:t>
            </a:r>
            <a:r>
              <a:rPr lang="zh-CN" altLang="en-US" sz="2400" b="1" dirty="0"/>
              <a:t>一般约</a:t>
            </a:r>
            <a:r>
              <a:rPr lang="en-US" altLang="zh-CN" sz="2400" b="1" dirty="0"/>
              <a:t>300mV</a:t>
            </a:r>
            <a:endParaRPr lang="en-US" altLang="zh-CN" sz="2400" b="1" dirty="0"/>
          </a:p>
        </p:txBody>
      </p:sp>
      <p:grpSp>
        <p:nvGrpSpPr>
          <p:cNvPr id="7" name="Group 25"/>
          <p:cNvGrpSpPr/>
          <p:nvPr/>
        </p:nvGrpSpPr>
        <p:grpSpPr>
          <a:xfrm>
            <a:off x="1905000" y="3581400"/>
            <a:ext cx="4038600" cy="1371600"/>
            <a:chOff x="1392" y="2400"/>
            <a:chExt cx="2544" cy="864"/>
          </a:xfrm>
        </p:grpSpPr>
        <p:sp>
          <p:nvSpPr>
            <p:cNvPr id="35860" name="AutoShape 23"/>
            <p:cNvSpPr/>
            <p:nvPr/>
          </p:nvSpPr>
          <p:spPr>
            <a:xfrm>
              <a:off x="1392" y="2400"/>
              <a:ext cx="2544" cy="864"/>
            </a:xfrm>
            <a:prstGeom prst="wedgeRoundRectCallout">
              <a:avLst>
                <a:gd name="adj1" fmla="val -44574"/>
                <a:gd name="adj2" fmla="val 70023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5861" name="Text Box 24"/>
            <p:cNvSpPr txBox="1"/>
            <p:nvPr/>
          </p:nvSpPr>
          <p:spPr>
            <a:xfrm>
              <a:off x="1488" y="2496"/>
              <a:ext cx="2256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互补输出端“或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/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或非” ，且采用射极开路形式，实现输出变量的“线或”操作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35857" name="Text Box 42"/>
          <p:cNvSpPr txBox="1"/>
          <p:nvPr/>
        </p:nvSpPr>
        <p:spPr>
          <a:xfrm>
            <a:off x="1371600" y="76200"/>
            <a:ext cx="6553200" cy="895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44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ECL</a:t>
            </a:r>
            <a:r>
              <a:rPr lang="en-US" altLang="zh-CN" sz="4400" b="1" dirty="0">
                <a:solidFill>
                  <a:srgbClr val="990000"/>
                </a:solidFill>
                <a:ea typeface="隶书" panose="02010509060101010101" pitchFamily="49" charset="-122"/>
              </a:rPr>
              <a:t>“</a:t>
            </a:r>
            <a:r>
              <a:rPr lang="zh-CN" altLang="en-US" sz="44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或</a:t>
            </a:r>
            <a:r>
              <a:rPr lang="en-US" altLang="zh-CN" sz="44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/</a:t>
            </a:r>
            <a:r>
              <a:rPr lang="zh-CN" altLang="en-US" sz="44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或非</a:t>
            </a:r>
            <a:r>
              <a:rPr lang="zh-CN" altLang="en-US" sz="4400" b="1" dirty="0">
                <a:solidFill>
                  <a:srgbClr val="990000"/>
                </a:solidFill>
                <a:ea typeface="隶书" panose="02010509060101010101" pitchFamily="49" charset="-122"/>
              </a:rPr>
              <a:t>”</a:t>
            </a:r>
            <a:r>
              <a:rPr lang="zh-CN" altLang="en-US" sz="4400" b="1" dirty="0">
                <a:solidFill>
                  <a:srgbClr val="99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门电路</a:t>
            </a:r>
            <a:endParaRPr lang="zh-CN" altLang="en-US" sz="4400" b="1" dirty="0">
              <a:solidFill>
                <a:srgbClr val="99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5858" name="Picture 43" descr="E:\电子教案\wb01508_.gif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0" y="6324600"/>
            <a:ext cx="1143000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59" name="Text Box 44">
            <a:hlinkClick r:id="rId8" action="ppaction://hlinksldjump"/>
          </p:cNvPr>
          <p:cNvSpPr txBox="1"/>
          <p:nvPr/>
        </p:nvSpPr>
        <p:spPr>
          <a:xfrm>
            <a:off x="7772400" y="6324600"/>
            <a:ext cx="85566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animBg="1"/>
      <p:bldP spid="29716" grpId="0"/>
      <p:bldP spid="29717" grpId="0"/>
      <p:bldP spid="29718" grpId="0"/>
      <p:bldP spid="29731" grpId="0"/>
      <p:bldP spid="29732" grpId="0"/>
      <p:bldP spid="2973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81" name="Rectangle 13"/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>
            <a:flatTx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§2-4  I</a:t>
            </a:r>
            <a:r>
              <a:rPr kumimoji="1" lang="en-US" altLang="zh-CN" sz="5400" b="1" i="0" u="none" strike="noStrike" kern="1200" cap="none" spc="0" normalizeH="0" baseline="3000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2</a:t>
            </a:r>
            <a:r>
              <a:rPr kumimoji="1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L</a:t>
            </a:r>
            <a:r>
              <a:rPr kumimoji="1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集成逻辑门</a:t>
            </a:r>
            <a:endParaRPr kumimoji="1" lang="zh-CN" altLang="en-US" sz="5400" b="1" i="0" u="none" strike="noStrike" kern="1200" cap="none" spc="0" normalizeH="0" baseline="0" noProof="0">
              <a:ln>
                <a:noFill/>
              </a:ln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32782" name="Text Box 14"/>
          <p:cNvSpPr txBox="1"/>
          <p:nvPr/>
        </p:nvSpPr>
        <p:spPr>
          <a:xfrm>
            <a:off x="2057400" y="2438400"/>
            <a:ext cx="5486400" cy="8239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I</a:t>
            </a:r>
            <a:r>
              <a:rPr lang="en-US" altLang="zh-CN" sz="4800" b="1" baseline="30000" dirty="0">
                <a:latin typeface="隶书" panose="02010509060101010101" pitchFamily="49" charset="-122"/>
                <a:ea typeface="隶书" panose="02010509060101010101" pitchFamily="49" charset="-122"/>
              </a:rPr>
              <a:t>2 </a:t>
            </a:r>
            <a:r>
              <a:rPr lang="en-US" altLang="zh-CN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L</a:t>
            </a:r>
            <a:r>
              <a:rPr lang="zh-CN" altLang="en-US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基本单元电路</a:t>
            </a:r>
            <a:endParaRPr lang="zh-CN" altLang="en-US" sz="4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2783" name="Text Box 15"/>
          <p:cNvSpPr txBox="1"/>
          <p:nvPr/>
        </p:nvSpPr>
        <p:spPr>
          <a:xfrm>
            <a:off x="1828800" y="3443288"/>
            <a:ext cx="4114800" cy="8239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I</a:t>
            </a:r>
            <a:r>
              <a:rPr lang="en-US" altLang="zh-CN" sz="4800" b="1" baseline="30000" dirty="0">
                <a:latin typeface="隶书" panose="02010509060101010101" pitchFamily="49" charset="-122"/>
                <a:ea typeface="隶书" panose="02010509060101010101" pitchFamily="49" charset="-122"/>
              </a:rPr>
              <a:t>2 </a:t>
            </a:r>
            <a:r>
              <a:rPr lang="en-US" altLang="zh-CN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L</a:t>
            </a:r>
            <a:r>
              <a:rPr lang="zh-CN" altLang="en-US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门电路</a:t>
            </a:r>
            <a:endParaRPr lang="zh-CN" altLang="en-US" sz="4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2784" name="Picture 16" descr="D:\image\ball5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52713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85" name="Picture 17" descr="D:\image\ball5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627438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87" name="Text Box 19"/>
          <p:cNvSpPr txBox="1"/>
          <p:nvPr/>
        </p:nvSpPr>
        <p:spPr>
          <a:xfrm>
            <a:off x="2286000" y="4419600"/>
            <a:ext cx="5029200" cy="8239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I</a:t>
            </a:r>
            <a:r>
              <a:rPr lang="en-US" altLang="zh-CN" sz="4800" b="1" baseline="30000" dirty="0">
                <a:latin typeface="隶书" panose="02010509060101010101" pitchFamily="49" charset="-122"/>
                <a:ea typeface="隶书" panose="02010509060101010101" pitchFamily="49" charset="-122"/>
              </a:rPr>
              <a:t>2 </a:t>
            </a:r>
            <a:r>
              <a:rPr lang="en-US" altLang="zh-CN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L</a:t>
            </a:r>
            <a:r>
              <a:rPr lang="zh-CN" altLang="en-US" sz="4800" b="1" dirty="0">
                <a:latin typeface="隶书" panose="02010509060101010101" pitchFamily="49" charset="-122"/>
                <a:ea typeface="隶书" panose="02010509060101010101" pitchFamily="49" charset="-122"/>
              </a:rPr>
              <a:t>的主要优缺点</a:t>
            </a:r>
            <a:endParaRPr lang="zh-CN" altLang="en-US" sz="4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2788" name="Picture 20" descr="D:\image\ball5.gif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56565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73" name="Picture 21" descr="E:\电子教案\wb00677_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5943600"/>
            <a:ext cx="6858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1" grpId="0" animBg="1"/>
      <p:bldP spid="32782" grpId="0"/>
      <p:bldP spid="32783" grpId="0"/>
      <p:bldP spid="3278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6" name="Text Box 4"/>
          <p:cNvSpPr txBox="1"/>
          <p:nvPr/>
        </p:nvSpPr>
        <p:spPr>
          <a:xfrm>
            <a:off x="1371600" y="304800"/>
            <a:ext cx="65532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I</a:t>
            </a:r>
            <a:r>
              <a:rPr lang="en-US" altLang="zh-CN" sz="4400" b="1" baseline="30000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2 </a:t>
            </a: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L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基本单元电路</a:t>
            </a:r>
            <a:endParaRPr lang="zh-CN" altLang="en-US" sz="44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3797" name="Text Box 5"/>
          <p:cNvSpPr txBox="1"/>
          <p:nvPr/>
        </p:nvSpPr>
        <p:spPr>
          <a:xfrm>
            <a:off x="762000" y="1295400"/>
            <a:ext cx="2043113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r>
              <a:rPr lang="zh-CN" altLang="en-US" sz="2400" b="1" dirty="0"/>
              <a:t>电路的组成</a:t>
            </a:r>
            <a:endParaRPr lang="zh-CN" altLang="en-US" sz="2400" b="1" dirty="0"/>
          </a:p>
        </p:txBody>
      </p:sp>
      <p:graphicFrame>
        <p:nvGraphicFramePr>
          <p:cNvPr id="66560" name="Object 0"/>
          <p:cNvGraphicFramePr>
            <a:graphicFrameLocks noChangeAspect="1"/>
          </p:cNvGraphicFramePr>
          <p:nvPr/>
        </p:nvGraphicFramePr>
        <p:xfrm>
          <a:off x="3810000" y="1371600"/>
          <a:ext cx="5029200" cy="371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3219450" imgH="2600325" progId="Paint.Picture">
                  <p:embed/>
                </p:oleObj>
              </mc:Choice>
              <mc:Fallback>
                <p:oleObj name="" r:id="rId1" imgW="3219450" imgH="2600325" progId="Paint.Picture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0" y="1371600"/>
                        <a:ext cx="5029200" cy="3717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Rectangle 7"/>
          <p:cNvSpPr/>
          <p:nvPr/>
        </p:nvSpPr>
        <p:spPr>
          <a:xfrm>
            <a:off x="4800600" y="2286000"/>
            <a:ext cx="609600" cy="762000"/>
          </a:xfrm>
          <a:prstGeom prst="rect">
            <a:avLst/>
          </a:prstGeom>
          <a:noFill/>
          <a:ln w="3810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2" name="Group 10"/>
          <p:cNvGrpSpPr/>
          <p:nvPr/>
        </p:nvGrpSpPr>
        <p:grpSpPr>
          <a:xfrm>
            <a:off x="5029200" y="1219200"/>
            <a:ext cx="2743200" cy="838200"/>
            <a:chOff x="3264" y="768"/>
            <a:chExt cx="1728" cy="528"/>
          </a:xfrm>
        </p:grpSpPr>
        <p:sp>
          <p:nvSpPr>
            <p:cNvPr id="37923" name="AutoShape 8"/>
            <p:cNvSpPr/>
            <p:nvPr/>
          </p:nvSpPr>
          <p:spPr>
            <a:xfrm>
              <a:off x="3264" y="768"/>
              <a:ext cx="1728" cy="528"/>
            </a:xfrm>
            <a:prstGeom prst="wedgeRoundRectCallout">
              <a:avLst>
                <a:gd name="adj1" fmla="val -46005"/>
                <a:gd name="adj2" fmla="val 64583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7924" name="Text Box 9"/>
            <p:cNvSpPr txBox="1"/>
            <p:nvPr/>
          </p:nvSpPr>
          <p:spPr>
            <a:xfrm>
              <a:off x="3360" y="768"/>
              <a:ext cx="1597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射极加正电压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V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E</a:t>
              </a:r>
              <a:r>
                <a:rPr lang="zh-CN" altLang="en-US" sz="2400" b="1" baseline="-25000" dirty="0">
                  <a:solidFill>
                    <a:srgbClr val="CC3300"/>
                  </a:solidFill>
                </a:rPr>
                <a:t>，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构成恒流源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0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4267200" y="2590800"/>
            <a:ext cx="457200" cy="533400"/>
            <a:chOff x="2688" y="1632"/>
            <a:chExt cx="288" cy="336"/>
          </a:xfrm>
        </p:grpSpPr>
        <p:sp>
          <p:nvSpPr>
            <p:cNvPr id="37921" name="Line 11"/>
            <p:cNvSpPr/>
            <p:nvPr/>
          </p:nvSpPr>
          <p:spPr>
            <a:xfrm>
              <a:off x="2976" y="1632"/>
              <a:ext cx="0" cy="336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22" name="Text Box 12"/>
            <p:cNvSpPr txBox="1"/>
            <p:nvPr/>
          </p:nvSpPr>
          <p:spPr>
            <a:xfrm>
              <a:off x="2688" y="1680"/>
              <a:ext cx="25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I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0</a:t>
              </a:r>
              <a:endParaRPr lang="en-US" altLang="zh-CN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33806" name="Rectangle 14"/>
          <p:cNvSpPr/>
          <p:nvPr/>
        </p:nvSpPr>
        <p:spPr>
          <a:xfrm>
            <a:off x="5791200" y="2514600"/>
            <a:ext cx="838200" cy="1066800"/>
          </a:xfrm>
          <a:prstGeom prst="rect">
            <a:avLst/>
          </a:prstGeom>
          <a:noFill/>
          <a:ln w="381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4" name="Group 17"/>
          <p:cNvGrpSpPr/>
          <p:nvPr/>
        </p:nvGrpSpPr>
        <p:grpSpPr>
          <a:xfrm>
            <a:off x="6248400" y="3962400"/>
            <a:ext cx="2590800" cy="1219200"/>
            <a:chOff x="3696" y="2496"/>
            <a:chExt cx="1632" cy="768"/>
          </a:xfrm>
        </p:grpSpPr>
        <p:sp>
          <p:nvSpPr>
            <p:cNvPr id="37919" name="AutoShape 15"/>
            <p:cNvSpPr/>
            <p:nvPr/>
          </p:nvSpPr>
          <p:spPr>
            <a:xfrm>
              <a:off x="3696" y="2496"/>
              <a:ext cx="1632" cy="768"/>
            </a:xfrm>
            <a:prstGeom prst="wedgeRoundRectCallout">
              <a:avLst>
                <a:gd name="adj1" fmla="val -56495"/>
                <a:gd name="adj2" fmla="val -86329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7920" name="Text Box 16"/>
            <p:cNvSpPr txBox="1"/>
            <p:nvPr/>
          </p:nvSpPr>
          <p:spPr>
            <a:xfrm>
              <a:off x="3744" y="2496"/>
              <a:ext cx="1553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多集电极晶体管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2</a:t>
              </a:r>
              <a:r>
                <a:rPr lang="zh-CN" altLang="en-US" sz="2400" b="1" baseline="-25000" dirty="0">
                  <a:solidFill>
                    <a:srgbClr val="CC3300"/>
                  </a:solidFill>
                </a:rPr>
                <a:t>，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1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2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3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之间相互隔离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sp>
        <p:nvSpPr>
          <p:cNvPr id="33810" name="Text Box 18"/>
          <p:cNvSpPr txBox="1"/>
          <p:nvPr/>
        </p:nvSpPr>
        <p:spPr>
          <a:xfrm>
            <a:off x="768350" y="1828800"/>
            <a:ext cx="296545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T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的驱动电流是由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射极注入的，故有注入逻辑</a:t>
            </a:r>
            <a:endParaRPr lang="zh-CN" altLang="en-US" sz="2400" b="1" dirty="0"/>
          </a:p>
        </p:txBody>
      </p:sp>
      <p:sp>
        <p:nvSpPr>
          <p:cNvPr id="33811" name="Text Box 19"/>
          <p:cNvSpPr txBox="1"/>
          <p:nvPr/>
        </p:nvSpPr>
        <p:spPr>
          <a:xfrm>
            <a:off x="762000" y="3048000"/>
            <a:ext cx="1665288" cy="519113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sym typeface="Symbol" panose="05050102010706020507" pitchFamily="18" charset="2"/>
              </a:rPr>
              <a:t>工作原理</a:t>
            </a:r>
            <a:endParaRPr lang="zh-CN" altLang="en-US" sz="2400" b="1" dirty="0"/>
          </a:p>
        </p:txBody>
      </p:sp>
      <p:sp>
        <p:nvSpPr>
          <p:cNvPr id="33813" name="Text Box 21"/>
          <p:cNvSpPr txBox="1"/>
          <p:nvPr/>
        </p:nvSpPr>
        <p:spPr>
          <a:xfrm>
            <a:off x="838200" y="3505200"/>
            <a:ext cx="2667000" cy="19177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、当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A </a:t>
            </a:r>
            <a:r>
              <a:rPr lang="en-US" altLang="zh-CN" sz="2400" b="1" dirty="0"/>
              <a:t>= 0.1V</a:t>
            </a:r>
            <a:r>
              <a:rPr lang="zh-CN" altLang="en-US" sz="2400" b="1" dirty="0"/>
              <a:t>低电平时，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截止，</a:t>
            </a:r>
            <a:r>
              <a:rPr lang="en-US" altLang="zh-CN" sz="2400" b="1" dirty="0"/>
              <a:t>I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从输入端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流出，</a:t>
            </a:r>
            <a:r>
              <a:rPr lang="en-US" altLang="zh-CN" sz="2400" b="1" dirty="0"/>
              <a:t>C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C</a:t>
            </a:r>
            <a:r>
              <a:rPr lang="en-US" altLang="zh-CN" sz="2400" b="1" baseline="-25000" dirty="0"/>
              <a:t>3</a:t>
            </a:r>
            <a:r>
              <a:rPr lang="zh-CN" altLang="en-US" sz="2400" b="1" dirty="0"/>
              <a:t>输出高电平</a:t>
            </a:r>
            <a:endParaRPr lang="zh-CN" altLang="en-US" sz="2400" dirty="0"/>
          </a:p>
        </p:txBody>
      </p:sp>
      <p:sp>
        <p:nvSpPr>
          <p:cNvPr id="33815" name="Text Box 23"/>
          <p:cNvSpPr txBox="1"/>
          <p:nvPr/>
        </p:nvSpPr>
        <p:spPr>
          <a:xfrm>
            <a:off x="838200" y="5334000"/>
            <a:ext cx="70866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、当</a:t>
            </a:r>
            <a:r>
              <a:rPr lang="en-US" altLang="zh-CN" sz="2400" b="1" dirty="0"/>
              <a:t>A</a:t>
            </a:r>
            <a:r>
              <a:rPr lang="zh-CN" altLang="en-US" sz="2400" b="1" dirty="0">
                <a:solidFill>
                  <a:srgbClr val="CC3300"/>
                </a:solidFill>
              </a:rPr>
              <a:t>开路（相当于输入高电平</a:t>
            </a:r>
            <a:r>
              <a:rPr lang="zh-CN" altLang="en-US" sz="2400" b="1" dirty="0"/>
              <a:t>）时，</a:t>
            </a:r>
            <a:r>
              <a:rPr lang="en-US" altLang="zh-CN" sz="2400" b="1" dirty="0"/>
              <a:t>I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流入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的基极，</a:t>
            </a:r>
            <a:endParaRPr lang="zh-CN" altLang="en-US" sz="2400" b="1" dirty="0"/>
          </a:p>
        </p:txBody>
      </p:sp>
      <p:grpSp>
        <p:nvGrpSpPr>
          <p:cNvPr id="5" name="Group 27"/>
          <p:cNvGrpSpPr/>
          <p:nvPr/>
        </p:nvGrpSpPr>
        <p:grpSpPr>
          <a:xfrm>
            <a:off x="4724400" y="3048000"/>
            <a:ext cx="1143000" cy="1295400"/>
            <a:chOff x="2976" y="1920"/>
            <a:chExt cx="720" cy="816"/>
          </a:xfrm>
        </p:grpSpPr>
        <p:sp>
          <p:nvSpPr>
            <p:cNvPr id="37916" name="Line 24"/>
            <p:cNvSpPr/>
            <p:nvPr/>
          </p:nvSpPr>
          <p:spPr>
            <a:xfrm>
              <a:off x="2976" y="1920"/>
              <a:ext cx="0" cy="384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7" name="Line 25"/>
            <p:cNvSpPr/>
            <p:nvPr/>
          </p:nvSpPr>
          <p:spPr>
            <a:xfrm>
              <a:off x="2976" y="2304"/>
              <a:ext cx="720" cy="0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8" name="Line 26"/>
            <p:cNvSpPr/>
            <p:nvPr/>
          </p:nvSpPr>
          <p:spPr>
            <a:xfrm>
              <a:off x="3696" y="2304"/>
              <a:ext cx="0" cy="432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3820" name="Text Box 28"/>
          <p:cNvSpPr txBox="1"/>
          <p:nvPr/>
        </p:nvSpPr>
        <p:spPr>
          <a:xfrm>
            <a:off x="1676400" y="5715000"/>
            <a:ext cx="545623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T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饱和导通，</a:t>
            </a:r>
            <a:r>
              <a:rPr lang="en-US" altLang="zh-CN" sz="2400" b="1" dirty="0"/>
              <a:t>C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C</a:t>
            </a:r>
            <a:r>
              <a:rPr lang="en-US" altLang="zh-CN" sz="2400" b="1" baseline="-25000" dirty="0"/>
              <a:t>3</a:t>
            </a:r>
            <a:r>
              <a:rPr lang="zh-CN" altLang="en-US" sz="2400" b="1" dirty="0"/>
              <a:t>输出低电平。</a:t>
            </a:r>
            <a:endParaRPr lang="zh-CN" altLang="en-US" sz="2400" dirty="0"/>
          </a:p>
        </p:txBody>
      </p:sp>
      <p:grpSp>
        <p:nvGrpSpPr>
          <p:cNvPr id="6" name="Group 41"/>
          <p:cNvGrpSpPr/>
          <p:nvPr/>
        </p:nvGrpSpPr>
        <p:grpSpPr>
          <a:xfrm>
            <a:off x="6172200" y="1066800"/>
            <a:ext cx="2971800" cy="1263650"/>
            <a:chOff x="3888" y="672"/>
            <a:chExt cx="1872" cy="796"/>
          </a:xfrm>
        </p:grpSpPr>
        <p:sp>
          <p:nvSpPr>
            <p:cNvPr id="37914" name="AutoShape 29"/>
            <p:cNvSpPr/>
            <p:nvPr/>
          </p:nvSpPr>
          <p:spPr>
            <a:xfrm>
              <a:off x="3888" y="672"/>
              <a:ext cx="1872" cy="768"/>
            </a:xfrm>
            <a:prstGeom prst="wedgeRoundRectCallout">
              <a:avLst>
                <a:gd name="adj1" fmla="val 3847"/>
                <a:gd name="adj2" fmla="val 67449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7915" name="Text Box 30"/>
            <p:cNvSpPr txBox="1"/>
            <p:nvPr/>
          </p:nvSpPr>
          <p:spPr>
            <a:xfrm>
              <a:off x="3936" y="720"/>
              <a:ext cx="1627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逻辑符号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A--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输入</a:t>
              </a:r>
              <a:endParaRPr lang="zh-CN" altLang="en-US" sz="2400" b="1" dirty="0">
                <a:solidFill>
                  <a:srgbClr val="CC3300"/>
                </a:solidFill>
              </a:endParaRPr>
            </a:p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1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、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2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和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C</a:t>
              </a:r>
              <a:r>
                <a:rPr lang="en-US" altLang="zh-CN" sz="2400" b="1" baseline="-25000" dirty="0">
                  <a:solidFill>
                    <a:srgbClr val="CC3300"/>
                  </a:solidFill>
                </a:rPr>
                <a:t>3</a:t>
              </a:r>
              <a:r>
                <a:rPr lang="en-US" altLang="zh-CN" sz="2400" b="1" dirty="0">
                  <a:solidFill>
                    <a:srgbClr val="CC3300"/>
                  </a:solidFill>
                </a:rPr>
                <a:t>--</a:t>
              </a:r>
              <a:r>
                <a:rPr lang="zh-CN" altLang="en-US" sz="2400" b="1" dirty="0">
                  <a:solidFill>
                    <a:srgbClr val="CC3300"/>
                  </a:solidFill>
                </a:rPr>
                <a:t>输出</a:t>
              </a:r>
              <a:endParaRPr lang="zh-CN" altLang="en-US" sz="2400" b="1" baseline="-25000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7" name="Group 38"/>
          <p:cNvGrpSpPr/>
          <p:nvPr/>
        </p:nvGrpSpPr>
        <p:grpSpPr>
          <a:xfrm>
            <a:off x="1600200" y="1371600"/>
            <a:ext cx="2743200" cy="1524000"/>
            <a:chOff x="1008" y="864"/>
            <a:chExt cx="1728" cy="960"/>
          </a:xfrm>
        </p:grpSpPr>
        <p:sp>
          <p:nvSpPr>
            <p:cNvPr id="37912" name="AutoShape 32"/>
            <p:cNvSpPr/>
            <p:nvPr/>
          </p:nvSpPr>
          <p:spPr>
            <a:xfrm>
              <a:off x="1008" y="864"/>
              <a:ext cx="1728" cy="960"/>
            </a:xfrm>
            <a:prstGeom prst="wedgeRoundRectCallout">
              <a:avLst>
                <a:gd name="adj1" fmla="val -60477"/>
                <a:gd name="adj2" fmla="val 70315"/>
                <a:gd name="adj3" fmla="val 16667"/>
              </a:avLst>
            </a:prstGeom>
            <a:gradFill rotWithShape="0">
              <a:gsLst>
                <a:gs pos="0">
                  <a:srgbClr val="767647"/>
                </a:gs>
                <a:gs pos="100000">
                  <a:srgbClr val="FFFF99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7913" name="Text Box 34"/>
            <p:cNvSpPr txBox="1"/>
            <p:nvPr/>
          </p:nvSpPr>
          <p:spPr>
            <a:xfrm>
              <a:off x="1008" y="980"/>
              <a:ext cx="1680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电路的任何一个输出与输入之间都是“非”逻辑关系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8" name="Group 43"/>
          <p:cNvGrpSpPr/>
          <p:nvPr/>
        </p:nvGrpSpPr>
        <p:grpSpPr>
          <a:xfrm>
            <a:off x="1066800" y="4419600"/>
            <a:ext cx="3200400" cy="1828800"/>
            <a:chOff x="672" y="2784"/>
            <a:chExt cx="2016" cy="1152"/>
          </a:xfrm>
        </p:grpSpPr>
        <p:sp>
          <p:nvSpPr>
            <p:cNvPr id="37909" name="AutoShape 36"/>
            <p:cNvSpPr/>
            <p:nvPr/>
          </p:nvSpPr>
          <p:spPr>
            <a:xfrm>
              <a:off x="672" y="2784"/>
              <a:ext cx="2016" cy="1152"/>
            </a:xfrm>
            <a:prstGeom prst="wedgeRoundRectCallout">
              <a:avLst>
                <a:gd name="adj1" fmla="val 68153"/>
                <a:gd name="adj2" fmla="val -50694"/>
                <a:gd name="adj3" fmla="val 16667"/>
              </a:avLst>
            </a:prstGeom>
            <a:solidFill>
              <a:srgbClr val="FFFFFF"/>
            </a:solidFill>
            <a:ln w="9525" cap="flat" cmpd="sng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7910" name="Text Box 37"/>
            <p:cNvSpPr txBox="1"/>
            <p:nvPr/>
          </p:nvSpPr>
          <p:spPr>
            <a:xfrm>
              <a:off x="846" y="2832"/>
              <a:ext cx="14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dirty="0">
                  <a:solidFill>
                    <a:srgbClr val="CC3300"/>
                  </a:solidFill>
                </a:rPr>
                <a:t>电路可简化为：</a:t>
              </a:r>
              <a:endParaRPr lang="zh-CN" altLang="en-US" sz="2400" dirty="0"/>
            </a:p>
          </p:txBody>
        </p:sp>
        <p:graphicFrame>
          <p:nvGraphicFramePr>
            <p:cNvPr id="37911" name="Object 2"/>
            <p:cNvGraphicFramePr>
              <a:graphicFrameLocks noChangeAspect="1"/>
            </p:cNvGraphicFramePr>
            <p:nvPr/>
          </p:nvGraphicFramePr>
          <p:xfrm>
            <a:off x="720" y="3168"/>
            <a:ext cx="1872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3" imgW="2466975" imgH="762000" progId="Paint.Picture">
                    <p:embed/>
                  </p:oleObj>
                </mc:Choice>
                <mc:Fallback>
                  <p:oleObj name="" r:id="rId3" imgW="2466975" imgH="762000" progId="Paint.Picture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20" y="3168"/>
                          <a:ext cx="1872" cy="6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907" name="Object 1">
            <a:hlinkClick r:id="rId5" action="ppaction://hlinksldjump"/>
          </p:cNvPr>
          <p:cNvGraphicFramePr>
            <a:graphicFrameLocks noChangeAspect="1"/>
          </p:cNvGraphicFramePr>
          <p:nvPr/>
        </p:nvGraphicFramePr>
        <p:xfrm>
          <a:off x="7391400" y="6172200"/>
          <a:ext cx="12192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6" imgW="-9525" imgH="-9525" progId="MS_ClipArt_Gallery.2">
                  <p:embed/>
                </p:oleObj>
              </mc:Choice>
              <mc:Fallback>
                <p:oleObj name="" r:id="rId6" imgW="-9525" imgH="-9525" progId="MS_ClipArt_Gallery.2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91400" y="6172200"/>
                        <a:ext cx="1219200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8" name="Text Box 45">
            <a:hlinkClick r:id="rId5" action="ppaction://hlinksldjump"/>
          </p:cNvPr>
          <p:cNvSpPr txBox="1"/>
          <p:nvPr/>
        </p:nvSpPr>
        <p:spPr>
          <a:xfrm>
            <a:off x="7439025" y="61722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3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nimBg="1"/>
      <p:bldP spid="33797" grpId="0"/>
      <p:bldP spid="33799" grpId="0" animBg="1"/>
      <p:bldP spid="33806" grpId="0" animBg="1"/>
      <p:bldP spid="33810" grpId="0"/>
      <p:bldP spid="33811" grpId="0"/>
      <p:bldP spid="33813" grpId="0"/>
      <p:bldP spid="33815" grpId="0"/>
      <p:bldP spid="338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20" name="Text Box 4"/>
          <p:cNvSpPr txBox="1"/>
          <p:nvPr/>
        </p:nvSpPr>
        <p:spPr>
          <a:xfrm>
            <a:off x="1676400" y="304800"/>
            <a:ext cx="51054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I</a:t>
            </a:r>
            <a:r>
              <a:rPr lang="en-US" altLang="zh-CN" sz="4400" b="1" baseline="30000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2 </a:t>
            </a: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L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门电路</a:t>
            </a:r>
            <a:endParaRPr lang="zh-CN" altLang="en-US" sz="44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12"/>
          <p:cNvGrpSpPr/>
          <p:nvPr/>
        </p:nvGrpSpPr>
        <p:grpSpPr>
          <a:xfrm>
            <a:off x="914400" y="1295400"/>
            <a:ext cx="7543800" cy="4953000"/>
            <a:chOff x="576" y="816"/>
            <a:chExt cx="4752" cy="3120"/>
          </a:xfrm>
        </p:grpSpPr>
        <p:sp>
          <p:nvSpPr>
            <p:cNvPr id="38936" name="Rectangle 5"/>
            <p:cNvSpPr/>
            <p:nvPr/>
          </p:nvSpPr>
          <p:spPr>
            <a:xfrm>
              <a:off x="576" y="816"/>
              <a:ext cx="4752" cy="312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8937" name="Text Box 6"/>
            <p:cNvSpPr txBox="1"/>
            <p:nvPr/>
          </p:nvSpPr>
          <p:spPr>
            <a:xfrm>
              <a:off x="624" y="864"/>
              <a:ext cx="100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en-US" altLang="zh-CN" sz="2800" b="1" dirty="0">
                  <a:sym typeface="Symbol" panose="05050102010706020507" pitchFamily="18" charset="2"/>
                </a:rPr>
                <a:t>“</a:t>
              </a:r>
              <a:r>
                <a:rPr lang="zh-CN" altLang="en-US" sz="2800" b="1" dirty="0">
                  <a:sym typeface="Symbol" panose="05050102010706020507" pitchFamily="18" charset="2"/>
                </a:rPr>
                <a:t>与”门</a:t>
              </a:r>
              <a:endParaRPr lang="zh-CN" altLang="en-US" sz="2400" dirty="0"/>
            </a:p>
          </p:txBody>
        </p:sp>
      </p:grpSp>
      <p:graphicFrame>
        <p:nvGraphicFramePr>
          <p:cNvPr id="67584" name="Object 0"/>
          <p:cNvGraphicFramePr>
            <a:graphicFrameLocks noChangeAspect="1"/>
          </p:cNvGraphicFramePr>
          <p:nvPr/>
        </p:nvGraphicFramePr>
        <p:xfrm>
          <a:off x="1066800" y="1981200"/>
          <a:ext cx="70866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6296025" imgH="2266950" progId="Paint.Picture">
                  <p:embed/>
                </p:oleObj>
              </mc:Choice>
              <mc:Fallback>
                <p:oleObj name="" r:id="rId1" imgW="6296025" imgH="2266950" progId="Paint.Picture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6800" y="1981200"/>
                        <a:ext cx="7086600" cy="342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5" name="Rectangle 9"/>
          <p:cNvSpPr/>
          <p:nvPr/>
        </p:nvSpPr>
        <p:spPr>
          <a:xfrm>
            <a:off x="3048000" y="2590800"/>
            <a:ext cx="228600" cy="381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3" name="Group 13"/>
          <p:cNvGrpSpPr/>
          <p:nvPr/>
        </p:nvGrpSpPr>
        <p:grpSpPr>
          <a:xfrm>
            <a:off x="3505200" y="3276600"/>
            <a:ext cx="838200" cy="762000"/>
            <a:chOff x="2208" y="2064"/>
            <a:chExt cx="528" cy="480"/>
          </a:xfrm>
        </p:grpSpPr>
        <p:sp>
          <p:nvSpPr>
            <p:cNvPr id="38934" name="AutoShape 10"/>
            <p:cNvSpPr/>
            <p:nvPr/>
          </p:nvSpPr>
          <p:spPr>
            <a:xfrm>
              <a:off x="2208" y="2064"/>
              <a:ext cx="528" cy="480"/>
            </a:xfrm>
            <a:prstGeom prst="wedgeRectCallout">
              <a:avLst>
                <a:gd name="adj1" fmla="val -90343"/>
                <a:gd name="adj2" fmla="val -99167"/>
              </a:avLst>
            </a:prstGeom>
            <a:gradFill rotWithShape="0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8935" name="Text Box 11"/>
            <p:cNvSpPr txBox="1"/>
            <p:nvPr/>
          </p:nvSpPr>
          <p:spPr>
            <a:xfrm>
              <a:off x="2208" y="2160"/>
              <a:ext cx="5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CC3300"/>
                  </a:solidFill>
                </a:rPr>
                <a:t>线与</a:t>
              </a:r>
              <a:endParaRPr lang="zh-CN" altLang="en-US" sz="2400" b="1" dirty="0">
                <a:solidFill>
                  <a:srgbClr val="CC3300"/>
                </a:solidFill>
              </a:endParaRPr>
            </a:p>
          </p:txBody>
        </p:sp>
      </p:grpSp>
      <p:grpSp>
        <p:nvGrpSpPr>
          <p:cNvPr id="4" name="Group 16"/>
          <p:cNvGrpSpPr/>
          <p:nvPr/>
        </p:nvGrpSpPr>
        <p:grpSpPr>
          <a:xfrm>
            <a:off x="1022350" y="5638800"/>
            <a:ext cx="2825750" cy="457200"/>
            <a:chOff x="644" y="3552"/>
            <a:chExt cx="1780" cy="288"/>
          </a:xfrm>
        </p:grpSpPr>
        <p:sp>
          <p:nvSpPr>
            <p:cNvPr id="38932" name="Text Box 14"/>
            <p:cNvSpPr txBox="1"/>
            <p:nvPr/>
          </p:nvSpPr>
          <p:spPr>
            <a:xfrm>
              <a:off x="644" y="3552"/>
              <a:ext cx="10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逻辑功能：</a:t>
              </a:r>
              <a:endParaRPr lang="zh-CN" altLang="en-US" sz="2400" b="1" dirty="0"/>
            </a:p>
          </p:txBody>
        </p:sp>
        <p:sp>
          <p:nvSpPr>
            <p:cNvPr id="38933" name="Text Box 15"/>
            <p:cNvSpPr txBox="1"/>
            <p:nvPr/>
          </p:nvSpPr>
          <p:spPr>
            <a:xfrm>
              <a:off x="1728" y="3552"/>
              <a:ext cx="6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F=A</a:t>
              </a:r>
              <a:r>
                <a:rPr lang="en-US" altLang="zh-CN" sz="2400" b="1" dirty="0">
                  <a:sym typeface="Symbol" panose="05050102010706020507" pitchFamily="18" charset="2"/>
                </a:rPr>
                <a:t>B</a:t>
              </a:r>
              <a:endParaRPr lang="en-US" altLang="zh-CN" sz="2400" b="1" dirty="0"/>
            </a:p>
          </p:txBody>
        </p:sp>
      </p:grpSp>
      <p:grpSp>
        <p:nvGrpSpPr>
          <p:cNvPr id="5" name="Group 20"/>
          <p:cNvGrpSpPr/>
          <p:nvPr/>
        </p:nvGrpSpPr>
        <p:grpSpPr>
          <a:xfrm>
            <a:off x="914400" y="1295400"/>
            <a:ext cx="7543800" cy="4953000"/>
            <a:chOff x="562" y="816"/>
            <a:chExt cx="4752" cy="3120"/>
          </a:xfrm>
        </p:grpSpPr>
        <p:sp>
          <p:nvSpPr>
            <p:cNvPr id="38930" name="Rectangle 18" descr="蓝色砂纸"/>
            <p:cNvSpPr/>
            <p:nvPr/>
          </p:nvSpPr>
          <p:spPr>
            <a:xfrm>
              <a:off x="562" y="816"/>
              <a:ext cx="4752" cy="3120"/>
            </a:xfrm>
            <a:prstGeom prst="rect">
              <a:avLst/>
            </a:prstGeom>
            <a:blipFill rotWithShape="0">
              <a:blip r:embed="rId3"/>
            </a:blipFill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8931" name="Text Box 19" descr="蓝色砂纸"/>
            <p:cNvSpPr txBox="1"/>
            <p:nvPr/>
          </p:nvSpPr>
          <p:spPr>
            <a:xfrm>
              <a:off x="655" y="864"/>
              <a:ext cx="1457" cy="327"/>
            </a:xfrm>
            <a:prstGeom prst="rect">
              <a:avLst/>
            </a:prstGeom>
            <a:blipFill rotWithShape="0">
              <a:blip r:embed="rId3"/>
            </a:blipFill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en-US" altLang="zh-CN" sz="2800" b="1" dirty="0">
                  <a:sym typeface="Symbol" panose="05050102010706020507" pitchFamily="18" charset="2"/>
                </a:rPr>
                <a:t>“</a:t>
              </a:r>
              <a:r>
                <a:rPr lang="zh-CN" altLang="en-US" sz="2800" b="1" dirty="0">
                  <a:sym typeface="Symbol" panose="05050102010706020507" pitchFamily="18" charset="2"/>
                </a:rPr>
                <a:t>与或非”门</a:t>
              </a:r>
              <a:endParaRPr lang="zh-CN" altLang="en-US" sz="2400" dirty="0"/>
            </a:p>
          </p:txBody>
        </p:sp>
      </p:grpSp>
      <p:graphicFrame>
        <p:nvGraphicFramePr>
          <p:cNvPr id="67585" name="Object 1"/>
          <p:cNvGraphicFramePr>
            <a:graphicFrameLocks noChangeAspect="1"/>
          </p:cNvGraphicFramePr>
          <p:nvPr/>
        </p:nvGraphicFramePr>
        <p:xfrm>
          <a:off x="1066800" y="1879600"/>
          <a:ext cx="7162800" cy="368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4" imgW="3657600" imgH="2562225" progId="Paint.Picture">
                  <p:embed/>
                </p:oleObj>
              </mc:Choice>
              <mc:Fallback>
                <p:oleObj name="" r:id="rId4" imgW="3657600" imgH="2562225" progId="Paint.Picture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6800" y="1879600"/>
                        <a:ext cx="7162800" cy="368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8" name="Rectangle 22"/>
          <p:cNvSpPr/>
          <p:nvPr/>
        </p:nvSpPr>
        <p:spPr>
          <a:xfrm>
            <a:off x="2133600" y="1828800"/>
            <a:ext cx="457200" cy="381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6" name="Group 25"/>
          <p:cNvGrpSpPr/>
          <p:nvPr/>
        </p:nvGrpSpPr>
        <p:grpSpPr>
          <a:xfrm>
            <a:off x="2971800" y="1219200"/>
            <a:ext cx="2286000" cy="990600"/>
            <a:chOff x="1872" y="768"/>
            <a:chExt cx="1440" cy="624"/>
          </a:xfrm>
        </p:grpSpPr>
        <p:sp>
          <p:nvSpPr>
            <p:cNvPr id="38928" name="AutoShape 23"/>
            <p:cNvSpPr/>
            <p:nvPr/>
          </p:nvSpPr>
          <p:spPr>
            <a:xfrm>
              <a:off x="1872" y="768"/>
              <a:ext cx="1440" cy="624"/>
            </a:xfrm>
            <a:prstGeom prst="wedgeRoundRectCallout">
              <a:avLst>
                <a:gd name="adj1" fmla="val -65556"/>
                <a:gd name="adj2" fmla="val 35097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rgbClr val="FFFF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8929" name="Text Box 24"/>
            <p:cNvSpPr txBox="1"/>
            <p:nvPr/>
          </p:nvSpPr>
          <p:spPr>
            <a:xfrm>
              <a:off x="1968" y="775"/>
              <a:ext cx="1240" cy="524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rgbClr val="FFFF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V</a:t>
              </a:r>
              <a:r>
                <a:rPr lang="en-US" altLang="zh-CN" sz="2400" b="1" baseline="-25000" dirty="0"/>
                <a:t>E</a:t>
              </a:r>
              <a:r>
                <a:rPr lang="zh-CN" altLang="en-US" sz="2400" b="1" dirty="0"/>
                <a:t>用输入变量来代替</a:t>
              </a:r>
              <a:endParaRPr lang="zh-CN" altLang="en-US" sz="2400" b="1" dirty="0"/>
            </a:p>
          </p:txBody>
        </p:sp>
      </p:grpSp>
      <p:sp>
        <p:nvSpPr>
          <p:cNvPr id="34842" name="Text Box 26"/>
          <p:cNvSpPr txBox="1"/>
          <p:nvPr/>
        </p:nvSpPr>
        <p:spPr>
          <a:xfrm>
            <a:off x="946150" y="5715000"/>
            <a:ext cx="17208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逻辑功能：</a:t>
            </a:r>
            <a:endParaRPr lang="zh-CN" altLang="en-US" sz="2400" b="1" dirty="0"/>
          </a:p>
        </p:txBody>
      </p:sp>
      <p:graphicFrame>
        <p:nvGraphicFramePr>
          <p:cNvPr id="67586" name="Object 2"/>
          <p:cNvGraphicFramePr>
            <a:graphicFrameLocks noChangeAspect="1"/>
          </p:cNvGraphicFramePr>
          <p:nvPr/>
        </p:nvGraphicFramePr>
        <p:xfrm>
          <a:off x="2590800" y="5657850"/>
          <a:ext cx="40386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6" imgW="1497965" imgH="215900" progId="Equation.3">
                  <p:embed/>
                </p:oleObj>
              </mc:Choice>
              <mc:Fallback>
                <p:oleObj name="" r:id="rId6" imgW="1497965" imgH="2159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90800" y="5657850"/>
                        <a:ext cx="4038600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6" name="Object 3">
            <a:hlinkClick r:id="rId8" action="ppaction://hlinksldjump"/>
          </p:cNvPr>
          <p:cNvGraphicFramePr>
            <a:graphicFrameLocks noChangeAspect="1"/>
          </p:cNvGraphicFramePr>
          <p:nvPr/>
        </p:nvGraphicFramePr>
        <p:xfrm>
          <a:off x="7239000" y="62690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9" imgW="-9525" imgH="-9525" progId="MS_ClipArt_Gallery.2">
                  <p:embed/>
                </p:oleObj>
              </mc:Choice>
              <mc:Fallback>
                <p:oleObj name="" r:id="rId9" imgW="-9525" imgH="-9525" progId="MS_ClipArt_Gallery.2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39000" y="62690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7" name="Text Box 29">
            <a:hlinkClick r:id="rId8" action="ppaction://hlinksldjump"/>
          </p:cNvPr>
          <p:cNvSpPr txBox="1"/>
          <p:nvPr/>
        </p:nvSpPr>
        <p:spPr>
          <a:xfrm>
            <a:off x="7286625" y="6269038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4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animBg="1"/>
      <p:bldP spid="34825" grpId="0" animBg="1"/>
      <p:bldP spid="34838" grpId="0" animBg="1"/>
      <p:bldP spid="3484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4" name="Text Box 4"/>
          <p:cNvSpPr txBox="1"/>
          <p:nvPr/>
        </p:nvSpPr>
        <p:spPr>
          <a:xfrm>
            <a:off x="1676400" y="304800"/>
            <a:ext cx="5105400" cy="64135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I</a:t>
            </a:r>
            <a:r>
              <a:rPr lang="en-US" altLang="zh-CN" sz="3600" b="1" baseline="30000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2 </a:t>
            </a:r>
            <a:r>
              <a:rPr lang="en-US" altLang="zh-CN" sz="36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L</a:t>
            </a:r>
            <a:r>
              <a:rPr lang="zh-CN" altLang="en-US" sz="36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的主要优缺点</a:t>
            </a:r>
            <a:endParaRPr lang="zh-CN" altLang="en-US" sz="36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25"/>
          <p:cNvGrpSpPr/>
          <p:nvPr/>
        </p:nvGrpSpPr>
        <p:grpSpPr>
          <a:xfrm>
            <a:off x="914400" y="1447800"/>
            <a:ext cx="3429000" cy="4724400"/>
            <a:chOff x="576" y="912"/>
            <a:chExt cx="2160" cy="2976"/>
          </a:xfrm>
        </p:grpSpPr>
        <p:sp>
          <p:nvSpPr>
            <p:cNvPr id="39959" name="Rectangle 6"/>
            <p:cNvSpPr/>
            <p:nvPr/>
          </p:nvSpPr>
          <p:spPr>
            <a:xfrm>
              <a:off x="576" y="912"/>
              <a:ext cx="2160" cy="2976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9960" name="Text Box 9"/>
            <p:cNvSpPr txBox="1"/>
            <p:nvPr/>
          </p:nvSpPr>
          <p:spPr>
            <a:xfrm>
              <a:off x="768" y="1008"/>
              <a:ext cx="7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zh-CN" altLang="en-US" sz="2800" b="1" dirty="0">
                  <a:sym typeface="Symbol" panose="05050102010706020507" pitchFamily="18" charset="2"/>
                </a:rPr>
                <a:t>优点</a:t>
              </a:r>
              <a:endParaRPr lang="zh-CN" altLang="en-US" sz="2800" b="1" dirty="0">
                <a:solidFill>
                  <a:srgbClr val="CC3300"/>
                </a:solidFill>
                <a:sym typeface="Symbol" panose="05050102010706020507" pitchFamily="18" charset="2"/>
              </a:endParaRPr>
            </a:p>
          </p:txBody>
        </p:sp>
      </p:grpSp>
      <p:sp>
        <p:nvSpPr>
          <p:cNvPr id="35850" name="Text Box 10"/>
          <p:cNvSpPr txBox="1"/>
          <p:nvPr/>
        </p:nvSpPr>
        <p:spPr>
          <a:xfrm>
            <a:off x="1143000" y="2057400"/>
            <a:ext cx="18700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1. </a:t>
            </a:r>
            <a:r>
              <a:rPr lang="zh-CN" altLang="en-US" sz="2400" b="1" dirty="0"/>
              <a:t>集成度高</a:t>
            </a:r>
            <a:endParaRPr lang="zh-CN" altLang="en-US" sz="2400" dirty="0"/>
          </a:p>
        </p:txBody>
      </p:sp>
      <p:sp>
        <p:nvSpPr>
          <p:cNvPr id="35851" name="Text Box 11"/>
          <p:cNvSpPr txBox="1"/>
          <p:nvPr/>
        </p:nvSpPr>
        <p:spPr>
          <a:xfrm>
            <a:off x="1143000" y="2514600"/>
            <a:ext cx="1562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2. </a:t>
            </a:r>
            <a:r>
              <a:rPr lang="zh-CN" altLang="en-US" sz="2400" b="1" dirty="0"/>
              <a:t>功耗小</a:t>
            </a:r>
            <a:endParaRPr lang="zh-CN" altLang="en-US" sz="2400" b="1" dirty="0"/>
          </a:p>
        </p:txBody>
      </p:sp>
      <p:sp>
        <p:nvSpPr>
          <p:cNvPr id="35852" name="Text Box 12"/>
          <p:cNvSpPr txBox="1"/>
          <p:nvPr/>
        </p:nvSpPr>
        <p:spPr>
          <a:xfrm>
            <a:off x="1143000" y="2971800"/>
            <a:ext cx="2794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3. </a:t>
            </a:r>
            <a:r>
              <a:rPr lang="zh-CN" altLang="en-US" sz="2400" b="1" dirty="0"/>
              <a:t>电源电压范围宽</a:t>
            </a:r>
            <a:endParaRPr lang="zh-CN" altLang="en-US" sz="2400" b="1" dirty="0"/>
          </a:p>
        </p:txBody>
      </p:sp>
      <p:sp>
        <p:nvSpPr>
          <p:cNvPr id="35853" name="Text Box 13"/>
          <p:cNvSpPr txBox="1"/>
          <p:nvPr/>
        </p:nvSpPr>
        <p:spPr>
          <a:xfrm>
            <a:off x="1066800" y="4191000"/>
            <a:ext cx="2678113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4. </a:t>
            </a:r>
            <a:r>
              <a: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rPr>
              <a:t>品质因素</a:t>
            </a:r>
            <a:r>
              <a:rPr lang="zh-CN" altLang="en-US" sz="2400" b="1" dirty="0">
                <a:latin typeface="宋体" panose="02010600030101010101" pitchFamily="2" charset="-122"/>
              </a:rPr>
              <a:t>最佳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5854" name="Text Box 14"/>
          <p:cNvSpPr txBox="1"/>
          <p:nvPr/>
        </p:nvSpPr>
        <p:spPr>
          <a:xfrm>
            <a:off x="1143000" y="5486400"/>
            <a:ext cx="2486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5. </a:t>
            </a:r>
            <a:r>
              <a:rPr lang="zh-CN" altLang="en-US" sz="2400" b="1" dirty="0"/>
              <a:t>生产工艺简单</a:t>
            </a:r>
            <a:endParaRPr lang="zh-CN" altLang="en-US" sz="2400" b="1" dirty="0"/>
          </a:p>
        </p:txBody>
      </p:sp>
      <p:sp>
        <p:nvSpPr>
          <p:cNvPr id="35855" name="Text Box 15"/>
          <p:cNvSpPr txBox="1"/>
          <p:nvPr/>
        </p:nvSpPr>
        <p:spPr>
          <a:xfrm>
            <a:off x="1055688" y="3475038"/>
            <a:ext cx="3059112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电流在</a:t>
            </a:r>
            <a:r>
              <a:rPr lang="en-US" altLang="zh-CN" sz="2400" b="1" dirty="0"/>
              <a:t>1nA</a:t>
            </a:r>
            <a:r>
              <a:rPr lang="zh-CN" altLang="en-US" sz="2400" b="1" dirty="0">
                <a:latin typeface="宋体" panose="02010600030101010101" pitchFamily="2" charset="-122"/>
              </a:rPr>
              <a:t>～</a:t>
            </a:r>
            <a:r>
              <a:rPr lang="en-US" altLang="zh-CN" sz="2400" b="1" dirty="0"/>
              <a:t>1mA</a:t>
            </a:r>
            <a:r>
              <a:rPr lang="zh-CN" altLang="en-US" sz="2400" b="1" dirty="0"/>
              <a:t>范围内均能正常工作</a:t>
            </a:r>
            <a:endParaRPr lang="zh-CN" altLang="en-US" sz="2400" b="1" dirty="0"/>
          </a:p>
        </p:txBody>
      </p:sp>
      <p:sp>
        <p:nvSpPr>
          <p:cNvPr id="35863" name="Text Box 23"/>
          <p:cNvSpPr txBox="1"/>
          <p:nvPr/>
        </p:nvSpPr>
        <p:spPr>
          <a:xfrm>
            <a:off x="1219200" y="4648200"/>
            <a:ext cx="2786063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I</a:t>
            </a:r>
            <a:r>
              <a:rPr lang="en-US" altLang="zh-CN" sz="2400" b="1" baseline="30000" dirty="0"/>
              <a:t>2</a:t>
            </a:r>
            <a:r>
              <a:rPr lang="en-US" altLang="zh-CN" sz="2400" b="1" dirty="0"/>
              <a:t>L</a:t>
            </a:r>
            <a:r>
              <a:rPr lang="zh-CN" altLang="en-US" sz="2400" b="1" dirty="0"/>
              <a:t>的品质因数只有（</a:t>
            </a:r>
            <a:r>
              <a:rPr lang="en-US" altLang="zh-CN" sz="2400" b="1" dirty="0"/>
              <a:t>0.1</a:t>
            </a:r>
            <a:r>
              <a:rPr lang="zh-CN" altLang="en-US" sz="2400" b="1" dirty="0">
                <a:latin typeface="宋体" panose="02010600030101010101" pitchFamily="2" charset="-122"/>
              </a:rPr>
              <a:t>～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pJ/</a:t>
            </a:r>
            <a:r>
              <a:rPr lang="zh-CN" altLang="en-US" sz="2400" b="1" dirty="0"/>
              <a:t>门</a:t>
            </a:r>
            <a:endParaRPr lang="zh-CN" altLang="en-US" sz="2400" b="1" dirty="0"/>
          </a:p>
        </p:txBody>
      </p:sp>
      <p:grpSp>
        <p:nvGrpSpPr>
          <p:cNvPr id="3" name="Group 32"/>
          <p:cNvGrpSpPr/>
          <p:nvPr/>
        </p:nvGrpSpPr>
        <p:grpSpPr>
          <a:xfrm>
            <a:off x="4495800" y="1447800"/>
            <a:ext cx="3505200" cy="4724400"/>
            <a:chOff x="2832" y="912"/>
            <a:chExt cx="2208" cy="2976"/>
          </a:xfrm>
        </p:grpSpPr>
        <p:sp>
          <p:nvSpPr>
            <p:cNvPr id="39957" name="Rectangle 7"/>
            <p:cNvSpPr/>
            <p:nvPr/>
          </p:nvSpPr>
          <p:spPr>
            <a:xfrm>
              <a:off x="2832" y="912"/>
              <a:ext cx="2208" cy="2976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39958" name="Text Box 26"/>
            <p:cNvSpPr txBox="1"/>
            <p:nvPr/>
          </p:nvSpPr>
          <p:spPr>
            <a:xfrm>
              <a:off x="2928" y="960"/>
              <a:ext cx="78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zh-CN" altLang="en-US" sz="2800" b="1" dirty="0">
                  <a:sym typeface="Symbol" panose="05050102010706020507" pitchFamily="18" charset="2"/>
                </a:rPr>
                <a:t>缺点</a:t>
              </a:r>
              <a:endParaRPr lang="zh-CN" altLang="en-US" sz="2800" b="1" dirty="0">
                <a:sym typeface="Symbol" panose="05050102010706020507" pitchFamily="18" charset="2"/>
              </a:endParaRPr>
            </a:p>
          </p:txBody>
        </p:sp>
      </p:grpSp>
      <p:sp>
        <p:nvSpPr>
          <p:cNvPr id="35867" name="Text Box 27"/>
          <p:cNvSpPr txBox="1"/>
          <p:nvPr/>
        </p:nvSpPr>
        <p:spPr>
          <a:xfrm>
            <a:off x="4648200" y="1981200"/>
            <a:ext cx="21780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1. </a:t>
            </a:r>
            <a:r>
              <a:rPr lang="zh-CN" altLang="en-US" sz="2400" b="1" dirty="0"/>
              <a:t>开关速度低</a:t>
            </a:r>
            <a:endParaRPr lang="zh-CN" altLang="en-US" sz="2400" b="1" dirty="0"/>
          </a:p>
        </p:txBody>
      </p:sp>
      <p:sp>
        <p:nvSpPr>
          <p:cNvPr id="35868" name="Text Box 28"/>
          <p:cNvSpPr txBox="1"/>
          <p:nvPr/>
        </p:nvSpPr>
        <p:spPr>
          <a:xfrm>
            <a:off x="4648200" y="2362200"/>
            <a:ext cx="21780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2. </a:t>
            </a:r>
            <a:r>
              <a:rPr lang="zh-CN" altLang="en-US" sz="2400" b="1" dirty="0"/>
              <a:t>噪声容限低</a:t>
            </a:r>
            <a:endParaRPr lang="zh-CN" altLang="en-US" sz="2400" b="1" dirty="0"/>
          </a:p>
        </p:txBody>
      </p:sp>
      <p:sp>
        <p:nvSpPr>
          <p:cNvPr id="35869" name="Text Box 29"/>
          <p:cNvSpPr txBox="1"/>
          <p:nvPr/>
        </p:nvSpPr>
        <p:spPr>
          <a:xfrm>
            <a:off x="4495800" y="2743200"/>
            <a:ext cx="3505200" cy="15525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I</a:t>
            </a:r>
            <a:r>
              <a:rPr lang="en-US" altLang="zh-CN" sz="2400" b="1" baseline="30000" dirty="0"/>
              <a:t>2</a:t>
            </a:r>
            <a:r>
              <a:rPr lang="en-US" altLang="zh-CN" sz="2400" b="1" dirty="0"/>
              <a:t>L</a:t>
            </a:r>
            <a:r>
              <a:rPr lang="zh-CN" altLang="en-US" sz="2400" b="1" dirty="0"/>
              <a:t>的逻辑摆幅仅</a:t>
            </a:r>
            <a:r>
              <a:rPr lang="en-US" altLang="zh-CN" sz="2400" b="1" dirty="0"/>
              <a:t>700mV</a:t>
            </a:r>
            <a:r>
              <a:rPr lang="zh-CN" altLang="en-US" sz="2400" b="1" dirty="0"/>
              <a:t>左右，比</a:t>
            </a:r>
            <a:r>
              <a:rPr lang="en-US" altLang="zh-CN" sz="2400" b="1" dirty="0"/>
              <a:t>ECL</a:t>
            </a:r>
            <a:r>
              <a:rPr lang="zh-CN" altLang="en-US" sz="2400" b="1" dirty="0"/>
              <a:t>还低，但其内部噪声小，因此电路能正常工作</a:t>
            </a:r>
            <a:endParaRPr lang="zh-CN" altLang="en-US" sz="2400" b="1" dirty="0"/>
          </a:p>
        </p:txBody>
      </p:sp>
      <p:sp>
        <p:nvSpPr>
          <p:cNvPr id="35870" name="Text Box 30"/>
          <p:cNvSpPr txBox="1"/>
          <p:nvPr/>
        </p:nvSpPr>
        <p:spPr>
          <a:xfrm>
            <a:off x="4572000" y="4191000"/>
            <a:ext cx="3429000" cy="19177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3. </a:t>
            </a:r>
            <a:r>
              <a:rPr lang="zh-CN" altLang="en-US" sz="2400" b="1" dirty="0"/>
              <a:t>多块一起使用时，由于各管子输入特性的离散性，基极电流分配会出现不均的现象，严重时电路无法正常工作</a:t>
            </a:r>
            <a:endParaRPr lang="zh-CN" altLang="en-US" sz="2400" b="1" dirty="0"/>
          </a:p>
        </p:txBody>
      </p:sp>
      <p:graphicFrame>
        <p:nvGraphicFramePr>
          <p:cNvPr id="39952" name="Object 1024">
            <a:hlinkClick r:id="rId1" action="ppaction://hlinksldjump"/>
          </p:cNvPr>
          <p:cNvGraphicFramePr>
            <a:graphicFrameLocks noChangeAspect="1"/>
          </p:cNvGraphicFramePr>
          <p:nvPr/>
        </p:nvGraphicFramePr>
        <p:xfrm>
          <a:off x="7467600" y="6172200"/>
          <a:ext cx="12192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2" imgW="-9525" imgH="-9525" progId="MS_ClipArt_Gallery.2">
                  <p:embed/>
                </p:oleObj>
              </mc:Choice>
              <mc:Fallback>
                <p:oleObj name="" r:id="rId2" imgW="-9525" imgH="-9525" progId="MS_ClipArt_Gallery.2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67600" y="6172200"/>
                        <a:ext cx="1219200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3" name="Text Box 34">
            <a:hlinkClick r:id="rId1" action="ppaction://hlinksldjump"/>
          </p:cNvPr>
          <p:cNvSpPr txBox="1"/>
          <p:nvPr/>
        </p:nvSpPr>
        <p:spPr>
          <a:xfrm>
            <a:off x="7515225" y="61722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  <p:grpSp>
        <p:nvGrpSpPr>
          <p:cNvPr id="4" name="Group 24"/>
          <p:cNvGrpSpPr/>
          <p:nvPr/>
        </p:nvGrpSpPr>
        <p:grpSpPr>
          <a:xfrm>
            <a:off x="2362200" y="2743200"/>
            <a:ext cx="5181600" cy="1447800"/>
            <a:chOff x="1488" y="1728"/>
            <a:chExt cx="3264" cy="912"/>
          </a:xfrm>
        </p:grpSpPr>
        <p:sp>
          <p:nvSpPr>
            <p:cNvPr id="39955" name="AutoShape 19"/>
            <p:cNvSpPr/>
            <p:nvPr/>
          </p:nvSpPr>
          <p:spPr>
            <a:xfrm>
              <a:off x="1488" y="1728"/>
              <a:ext cx="3264" cy="912"/>
            </a:xfrm>
            <a:prstGeom prst="wedgeRoundRectCallout">
              <a:avLst>
                <a:gd name="adj1" fmla="val -54597"/>
                <a:gd name="adj2" fmla="val 60088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39956" name="Text Box 21"/>
            <p:cNvSpPr txBox="1"/>
            <p:nvPr/>
          </p:nvSpPr>
          <p:spPr>
            <a:xfrm>
              <a:off x="1632" y="1796"/>
              <a:ext cx="3072" cy="74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M=P</a:t>
              </a:r>
              <a:r>
                <a:rPr lang="zh-CN" altLang="en-US" sz="2400" b="1" dirty="0"/>
                <a:t>（功率）</a:t>
              </a:r>
              <a:r>
                <a:rPr lang="en-US" altLang="zh-CN" sz="2400" b="1" dirty="0"/>
                <a:t>·t</a:t>
              </a:r>
              <a:r>
                <a:rPr lang="en-US" altLang="zh-CN" sz="2400" b="1" baseline="-25000" dirty="0"/>
                <a:t>pd</a:t>
              </a:r>
              <a:r>
                <a:rPr lang="zh-CN" altLang="en-US" sz="2400" b="1" dirty="0"/>
                <a:t>（速度），它表示门电路性能的优劣，单位是皮焦</a:t>
              </a:r>
              <a:r>
                <a:rPr lang="en-US" altLang="zh-CN" sz="2400" b="1" dirty="0"/>
                <a:t>(pJ)</a:t>
              </a:r>
              <a:r>
                <a:rPr lang="zh-CN" altLang="en-US" sz="2400" b="1" dirty="0"/>
                <a:t>。</a:t>
              </a:r>
              <a:endParaRPr lang="zh-CN" altLang="en-US" sz="2400" b="1" baseline="-25000" dirty="0"/>
            </a:p>
          </p:txBody>
        </p:sp>
      </p:grp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nimBg="1"/>
      <p:bldP spid="35850" grpId="0"/>
      <p:bldP spid="35851" grpId="0"/>
      <p:bldP spid="35852" grpId="0"/>
      <p:bldP spid="35853" grpId="0"/>
      <p:bldP spid="35854" grpId="0"/>
      <p:bldP spid="35855" grpId="0"/>
      <p:bldP spid="35863" grpId="0"/>
      <p:bldP spid="35867" grpId="0"/>
      <p:bldP spid="35868" grpId="0"/>
      <p:bldP spid="35869" grpId="0"/>
      <p:bldP spid="3587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685800" y="838200"/>
            <a:ext cx="7772400" cy="8382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>
            <a:flatTx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5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§2-5  MOS</a:t>
            </a:r>
            <a:r>
              <a:rPr kumimoji="1" lang="zh-CN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集成逻辑门</a:t>
            </a:r>
            <a:endParaRPr kumimoji="1" lang="zh-CN" altLang="en-US" sz="5400" b="1" i="0" u="none" strike="noStrike" kern="1200" cap="none" spc="0" normalizeH="0" baseline="0" noProof="0">
              <a:ln>
                <a:noFill/>
              </a:ln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36878" name="Text Box 14"/>
          <p:cNvSpPr txBox="1"/>
          <p:nvPr/>
        </p:nvSpPr>
        <p:spPr>
          <a:xfrm>
            <a:off x="2438400" y="2835275"/>
            <a:ext cx="34290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NMOS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反相器</a:t>
            </a:r>
            <a:endParaRPr lang="zh-CN" altLang="en-US" sz="4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6879" name="Text Box 15"/>
          <p:cNvSpPr txBox="1"/>
          <p:nvPr/>
        </p:nvSpPr>
        <p:spPr>
          <a:xfrm>
            <a:off x="2590800" y="3597275"/>
            <a:ext cx="30480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NMOS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门电路</a:t>
            </a:r>
            <a:endParaRPr lang="zh-CN" altLang="en-US" sz="4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6880" name="Picture 16" descr="D:\image\ball5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9718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81" name="Picture 17" descr="D:\image\ball5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749675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83" name="Text Box 19"/>
          <p:cNvSpPr txBox="1"/>
          <p:nvPr/>
        </p:nvSpPr>
        <p:spPr>
          <a:xfrm>
            <a:off x="2133600" y="4435475"/>
            <a:ext cx="3962400" cy="762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CMOS</a:t>
            </a:r>
            <a:r>
              <a:rPr lang="zh-CN" altLang="en-US" sz="4400" b="1" dirty="0">
                <a:latin typeface="隶书" panose="02010509060101010101" pitchFamily="49" charset="-122"/>
                <a:ea typeface="隶书" panose="02010509060101010101" pitchFamily="49" charset="-122"/>
              </a:rPr>
              <a:t>门电路</a:t>
            </a:r>
            <a:endParaRPr lang="zh-CN" altLang="en-US" sz="4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36884" name="Picture 20" descr="D:\image\ball5.gif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56565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69" name="Picture 21" descr="E:\电子教案\wb00677_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0" y="5867400"/>
            <a:ext cx="6858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7" grpId="0" animBg="1"/>
      <p:bldP spid="36878" grpId="0"/>
      <p:bldP spid="36879" grpId="0"/>
      <p:bldP spid="3688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2" name="Text Box 4"/>
          <p:cNvSpPr txBox="1"/>
          <p:nvPr/>
        </p:nvSpPr>
        <p:spPr>
          <a:xfrm>
            <a:off x="1676400" y="304800"/>
            <a:ext cx="51054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NMOS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反相器</a:t>
            </a:r>
            <a:endParaRPr lang="zh-CN" altLang="en-US" sz="44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457200" y="1219200"/>
            <a:ext cx="8458200" cy="2286000"/>
            <a:chOff x="288" y="768"/>
            <a:chExt cx="5328" cy="1440"/>
          </a:xfrm>
        </p:grpSpPr>
        <p:sp>
          <p:nvSpPr>
            <p:cNvPr id="42009" name="Text Box 5"/>
            <p:cNvSpPr txBox="1"/>
            <p:nvPr/>
          </p:nvSpPr>
          <p:spPr>
            <a:xfrm>
              <a:off x="384" y="864"/>
              <a:ext cx="219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en-US" altLang="zh-CN" sz="2800" b="1" dirty="0">
                  <a:sym typeface="Symbol" panose="05050102010706020507" pitchFamily="18" charset="2"/>
                </a:rPr>
                <a:t>MOS</a:t>
              </a:r>
              <a:r>
                <a:rPr lang="zh-CN" altLang="en-US" sz="2800" b="1" dirty="0">
                  <a:sym typeface="Symbol" panose="05050102010706020507" pitchFamily="18" charset="2"/>
                </a:rPr>
                <a:t>管的开关特性</a:t>
              </a:r>
              <a:endParaRPr lang="zh-CN" altLang="en-US" sz="2400" dirty="0"/>
            </a:p>
          </p:txBody>
        </p:sp>
        <p:sp>
          <p:nvSpPr>
            <p:cNvPr id="42010" name="Rectangle 6"/>
            <p:cNvSpPr/>
            <p:nvPr/>
          </p:nvSpPr>
          <p:spPr>
            <a:xfrm>
              <a:off x="288" y="768"/>
              <a:ext cx="5328" cy="144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sp>
        <p:nvSpPr>
          <p:cNvPr id="37895" name="Text Box 7"/>
          <p:cNvSpPr txBox="1"/>
          <p:nvPr/>
        </p:nvSpPr>
        <p:spPr>
          <a:xfrm>
            <a:off x="581025" y="1905000"/>
            <a:ext cx="84867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数字逻辑电路中的</a:t>
            </a:r>
            <a:r>
              <a:rPr lang="en-US" altLang="zh-CN" sz="2400" b="1" dirty="0">
                <a:latin typeface="宋体" panose="02010600030101010101" pitchFamily="2" charset="-122"/>
              </a:rPr>
              <a:t>MOS</a:t>
            </a:r>
            <a:r>
              <a:rPr lang="zh-CN" altLang="en-US" sz="2400" b="1" dirty="0">
                <a:latin typeface="宋体" panose="02010600030101010101" pitchFamily="2" charset="-122"/>
              </a:rPr>
              <a:t>管均是增强型</a:t>
            </a:r>
            <a:r>
              <a:rPr lang="en-US" altLang="zh-CN" sz="2400" b="1" dirty="0">
                <a:latin typeface="宋体" panose="02010600030101010101" pitchFamily="2" charset="-122"/>
              </a:rPr>
              <a:t>MOS</a:t>
            </a:r>
            <a:r>
              <a:rPr lang="zh-CN" altLang="en-US" sz="2400" b="1" dirty="0">
                <a:latin typeface="宋体" panose="02010600030101010101" pitchFamily="2" charset="-122"/>
              </a:rPr>
              <a:t>管，它具有以下特点：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7896" name="Text Box 8"/>
          <p:cNvSpPr txBox="1"/>
          <p:nvPr/>
        </p:nvSpPr>
        <p:spPr>
          <a:xfrm>
            <a:off x="476250" y="2438400"/>
            <a:ext cx="839628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当</a:t>
            </a:r>
            <a:r>
              <a:rPr lang="en-US" altLang="zh-CN" sz="2400" b="1" dirty="0"/>
              <a:t>|U</a:t>
            </a:r>
            <a:r>
              <a:rPr lang="en-US" altLang="zh-CN" sz="2400" b="1" baseline="-25000" dirty="0"/>
              <a:t>GS</a:t>
            </a:r>
            <a:r>
              <a:rPr lang="en-US" altLang="zh-CN" sz="2400" b="1" dirty="0"/>
              <a:t>|&gt;|U</a:t>
            </a:r>
            <a:r>
              <a:rPr lang="en-US" altLang="zh-CN" sz="2400" b="1" baseline="-25000" dirty="0"/>
              <a:t>T</a:t>
            </a:r>
            <a:r>
              <a:rPr lang="en-US" altLang="zh-CN" sz="2400" b="1" dirty="0"/>
              <a:t>| </a:t>
            </a:r>
            <a:r>
              <a:rPr lang="zh-CN" altLang="zh-CN" sz="2400" b="1" dirty="0"/>
              <a:t>时，管子导通，导通电阻很小，相当于开关闭合</a:t>
            </a:r>
            <a:r>
              <a:rPr lang="zh-CN" altLang="en-US" sz="2400" b="1" dirty="0"/>
              <a:t> </a:t>
            </a:r>
            <a:endParaRPr lang="zh-CN" altLang="en-US" sz="2400" b="1" dirty="0"/>
          </a:p>
        </p:txBody>
      </p:sp>
      <p:sp>
        <p:nvSpPr>
          <p:cNvPr id="37897" name="Text Box 9"/>
          <p:cNvSpPr txBox="1"/>
          <p:nvPr/>
        </p:nvSpPr>
        <p:spPr>
          <a:xfrm>
            <a:off x="457200" y="2971800"/>
            <a:ext cx="616426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当</a:t>
            </a:r>
            <a:r>
              <a:rPr lang="en-US" altLang="zh-CN" sz="2400" b="1" dirty="0"/>
              <a:t>|U</a:t>
            </a:r>
            <a:r>
              <a:rPr lang="en-US" altLang="zh-CN" sz="2400" b="1" baseline="-25000" dirty="0"/>
              <a:t>GS</a:t>
            </a:r>
            <a:r>
              <a:rPr lang="en-US" altLang="zh-CN" sz="2400" b="1" dirty="0"/>
              <a:t>|&lt;|U</a:t>
            </a:r>
            <a:r>
              <a:rPr lang="en-US" altLang="zh-CN" sz="2400" b="1" baseline="-25000" dirty="0"/>
              <a:t>T</a:t>
            </a:r>
            <a:r>
              <a:rPr lang="en-US" altLang="zh-CN" sz="2400" b="1" dirty="0"/>
              <a:t>| </a:t>
            </a:r>
            <a:r>
              <a:rPr lang="zh-CN" altLang="zh-CN" sz="2400" b="1" dirty="0"/>
              <a:t>时，管子截止，相当于开关断开</a:t>
            </a:r>
            <a:endParaRPr lang="zh-CN" altLang="en-US" sz="2400" b="1" dirty="0"/>
          </a:p>
        </p:txBody>
      </p:sp>
      <p:grpSp>
        <p:nvGrpSpPr>
          <p:cNvPr id="3" name="Group 18"/>
          <p:cNvGrpSpPr/>
          <p:nvPr/>
        </p:nvGrpSpPr>
        <p:grpSpPr>
          <a:xfrm>
            <a:off x="457200" y="1219200"/>
            <a:ext cx="8458200" cy="4953000"/>
            <a:chOff x="288" y="768"/>
            <a:chExt cx="5328" cy="3264"/>
          </a:xfrm>
        </p:grpSpPr>
        <p:sp>
          <p:nvSpPr>
            <p:cNvPr id="42007" name="Rectangle 10" descr="蓝色砂纸"/>
            <p:cNvSpPr/>
            <p:nvPr/>
          </p:nvSpPr>
          <p:spPr>
            <a:xfrm>
              <a:off x="288" y="768"/>
              <a:ext cx="5328" cy="3264"/>
            </a:xfrm>
            <a:prstGeom prst="rect">
              <a:avLst/>
            </a:prstGeom>
            <a:blipFill rotWithShape="0">
              <a:blip r:embed="rId1"/>
            </a:blipFill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2008" name="Text Box 11"/>
            <p:cNvSpPr txBox="1"/>
            <p:nvPr/>
          </p:nvSpPr>
          <p:spPr>
            <a:xfrm>
              <a:off x="338" y="809"/>
              <a:ext cx="1674" cy="3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en-US" altLang="zh-CN" sz="2800" dirty="0">
                  <a:sym typeface="Symbol" panose="05050102010706020507" pitchFamily="18" charset="2"/>
                </a:rPr>
                <a:t>N</a:t>
              </a:r>
              <a:r>
                <a:rPr lang="en-US" altLang="zh-CN" sz="2800" b="1" dirty="0">
                  <a:sym typeface="Symbol" panose="05050102010706020507" pitchFamily="18" charset="2"/>
                </a:rPr>
                <a:t>MOS</a:t>
              </a:r>
              <a:r>
                <a:rPr lang="zh-CN" altLang="en-US" sz="2800" b="1" dirty="0">
                  <a:sym typeface="Symbol" panose="05050102010706020507" pitchFamily="18" charset="2"/>
                </a:rPr>
                <a:t>反相器</a:t>
              </a:r>
              <a:endParaRPr lang="zh-CN" altLang="en-US" sz="2400" dirty="0"/>
            </a:p>
          </p:txBody>
        </p:sp>
      </p:grpSp>
      <p:graphicFrame>
        <p:nvGraphicFramePr>
          <p:cNvPr id="69632" name="Object 0"/>
          <p:cNvGraphicFramePr>
            <a:graphicFrameLocks noChangeAspect="1"/>
          </p:cNvGraphicFramePr>
          <p:nvPr/>
        </p:nvGraphicFramePr>
        <p:xfrm>
          <a:off x="4419600" y="1295400"/>
          <a:ext cx="4343400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2" imgW="1971675" imgH="2447925" progId="Paint.Picture">
                  <p:embed/>
                </p:oleObj>
              </mc:Choice>
              <mc:Fallback>
                <p:oleObj name="" r:id="rId2" imgW="1971675" imgH="2447925" progId="Paint.Picture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19600" y="1295400"/>
                        <a:ext cx="4343400" cy="426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2" name="Text Box 14"/>
          <p:cNvSpPr txBox="1"/>
          <p:nvPr/>
        </p:nvSpPr>
        <p:spPr>
          <a:xfrm>
            <a:off x="533400" y="1752600"/>
            <a:ext cx="34671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设电源电压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DD </a:t>
            </a:r>
            <a:r>
              <a:rPr lang="en-US" altLang="zh-CN" sz="2400" b="1" dirty="0"/>
              <a:t>= 10V</a:t>
            </a:r>
            <a:r>
              <a:rPr lang="zh-CN" altLang="en-US" sz="2400" b="1" dirty="0"/>
              <a:t>，开启电压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T1</a:t>
            </a:r>
            <a:r>
              <a:rPr lang="en-US" altLang="zh-CN" sz="2400" b="1" dirty="0"/>
              <a:t> = V</a:t>
            </a:r>
            <a:r>
              <a:rPr lang="en-US" altLang="zh-CN" sz="2400" b="1" baseline="-25000" dirty="0"/>
              <a:t>T2</a:t>
            </a:r>
            <a:r>
              <a:rPr lang="en-US" altLang="zh-CN" sz="2400" b="1" dirty="0"/>
              <a:t> = 2V</a:t>
            </a:r>
            <a:endParaRPr lang="en-US" altLang="zh-CN" sz="2400" b="1" dirty="0"/>
          </a:p>
        </p:txBody>
      </p:sp>
      <p:sp>
        <p:nvSpPr>
          <p:cNvPr id="37907" name="Text Box 19"/>
          <p:cNvSpPr txBox="1"/>
          <p:nvPr/>
        </p:nvSpPr>
        <p:spPr>
          <a:xfrm>
            <a:off x="533400" y="2514600"/>
            <a:ext cx="3810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输入高电平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IH</a:t>
            </a:r>
            <a:r>
              <a:rPr lang="en-US" altLang="zh-CN" sz="2400" b="1" dirty="0"/>
              <a:t> = 8V</a:t>
            </a:r>
            <a:endParaRPr lang="en-US" altLang="zh-CN" sz="2400" b="1" dirty="0"/>
          </a:p>
        </p:txBody>
      </p:sp>
      <p:sp>
        <p:nvSpPr>
          <p:cNvPr id="37908" name="Text Box 20"/>
          <p:cNvSpPr txBox="1"/>
          <p:nvPr/>
        </p:nvSpPr>
        <p:spPr>
          <a:xfrm>
            <a:off x="533400" y="3810000"/>
            <a:ext cx="37338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输入低电平</a:t>
            </a:r>
            <a:r>
              <a:rPr lang="en-US" altLang="zh-CN" sz="2400" b="1" dirty="0"/>
              <a:t>V </a:t>
            </a:r>
            <a:r>
              <a:rPr lang="en-US" altLang="zh-CN" sz="2400" b="1" baseline="-25000" dirty="0"/>
              <a:t>IL</a:t>
            </a:r>
            <a:r>
              <a:rPr lang="en-US" altLang="zh-CN" sz="2400" b="1" dirty="0"/>
              <a:t> = 0.3V</a:t>
            </a:r>
            <a:r>
              <a:rPr lang="zh-CN" altLang="en-US" sz="2400" b="1" dirty="0"/>
              <a:t>时，</a:t>
            </a:r>
            <a:endParaRPr lang="zh-CN" altLang="en-US" sz="2400" b="1" dirty="0"/>
          </a:p>
        </p:txBody>
      </p:sp>
      <p:sp>
        <p:nvSpPr>
          <p:cNvPr id="37909" name="Text Box 21"/>
          <p:cNvSpPr txBox="1"/>
          <p:nvPr/>
        </p:nvSpPr>
        <p:spPr>
          <a:xfrm>
            <a:off x="550863" y="5562600"/>
            <a:ext cx="3487737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CC3300"/>
                </a:solidFill>
                <a:sym typeface="Symbol" panose="05050102010706020507" pitchFamily="18" charset="2"/>
              </a:rPr>
              <a:t>  </a:t>
            </a:r>
            <a:r>
              <a:rPr lang="zh-CN" altLang="en-US" sz="2400" b="1" dirty="0"/>
              <a:t>电路执行逻辑非功能</a:t>
            </a:r>
            <a:endParaRPr lang="zh-CN" altLang="en-US" sz="2400" b="1" dirty="0"/>
          </a:p>
        </p:txBody>
      </p:sp>
      <p:sp>
        <p:nvSpPr>
          <p:cNvPr id="37912" name="Line 24"/>
          <p:cNvSpPr/>
          <p:nvPr/>
        </p:nvSpPr>
        <p:spPr>
          <a:xfrm flipH="1">
            <a:off x="6629400" y="4343400"/>
            <a:ext cx="685800" cy="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7913" name="Text Box 25"/>
          <p:cNvSpPr txBox="1"/>
          <p:nvPr/>
        </p:nvSpPr>
        <p:spPr>
          <a:xfrm>
            <a:off x="7281863" y="4114800"/>
            <a:ext cx="1104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工作管</a:t>
            </a:r>
            <a:endParaRPr lang="zh-CN" altLang="en-US" sz="2400" b="1" dirty="0"/>
          </a:p>
        </p:txBody>
      </p:sp>
      <p:sp>
        <p:nvSpPr>
          <p:cNvPr id="37914" name="Line 26"/>
          <p:cNvSpPr/>
          <p:nvPr/>
        </p:nvSpPr>
        <p:spPr>
          <a:xfrm flipH="1">
            <a:off x="6629400" y="2514600"/>
            <a:ext cx="685800" cy="0"/>
          </a:xfrm>
          <a:prstGeom prst="line">
            <a:avLst/>
          </a:prstGeom>
          <a:ln w="57150" cap="flat" cmpd="sng">
            <a:solidFill>
              <a:srgbClr val="3399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7915" name="Text Box 27"/>
          <p:cNvSpPr txBox="1"/>
          <p:nvPr/>
        </p:nvSpPr>
        <p:spPr>
          <a:xfrm>
            <a:off x="7281863" y="2286000"/>
            <a:ext cx="1104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负载管</a:t>
            </a:r>
            <a:endParaRPr lang="zh-CN" altLang="en-US" sz="2400" b="1" dirty="0"/>
          </a:p>
        </p:txBody>
      </p:sp>
      <p:sp>
        <p:nvSpPr>
          <p:cNvPr id="37916" name="Text Box 28"/>
          <p:cNvSpPr txBox="1"/>
          <p:nvPr/>
        </p:nvSpPr>
        <p:spPr>
          <a:xfrm>
            <a:off x="533400" y="2895600"/>
            <a:ext cx="35814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T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均导通，输出为低电平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OL</a:t>
            </a:r>
            <a:r>
              <a:rPr lang="en-US" altLang="zh-CN" sz="2400" b="1" dirty="0"/>
              <a:t>  </a:t>
            </a:r>
            <a:r>
              <a:rPr lang="en-US" altLang="zh-CN" sz="2400" b="1" dirty="0">
                <a:latin typeface="宋体" panose="02010600030101010101" pitchFamily="2" charset="-122"/>
              </a:rPr>
              <a:t>≈</a:t>
            </a:r>
            <a:r>
              <a:rPr lang="en-US" altLang="zh-CN" sz="2400" b="1" dirty="0"/>
              <a:t>0.3V</a:t>
            </a:r>
            <a:endParaRPr lang="en-US" altLang="zh-CN" sz="2400" dirty="0"/>
          </a:p>
        </p:txBody>
      </p:sp>
      <p:sp>
        <p:nvSpPr>
          <p:cNvPr id="37917" name="Text Box 29"/>
          <p:cNvSpPr txBox="1"/>
          <p:nvPr/>
        </p:nvSpPr>
        <p:spPr>
          <a:xfrm>
            <a:off x="533400" y="4603750"/>
            <a:ext cx="381000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T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截止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导通，电路输出高电平</a:t>
            </a:r>
            <a:r>
              <a:rPr lang="en-US" altLang="zh-CN" sz="2400" b="1" dirty="0"/>
              <a:t>V</a:t>
            </a:r>
            <a:r>
              <a:rPr lang="en-US" altLang="zh-CN" sz="2400" b="1" baseline="-25000" dirty="0"/>
              <a:t>OH</a:t>
            </a:r>
            <a:r>
              <a:rPr lang="en-US" altLang="zh-CN" sz="2400" b="1" dirty="0"/>
              <a:t> = V</a:t>
            </a:r>
            <a:r>
              <a:rPr lang="en-US" altLang="zh-CN" sz="2400" b="1" baseline="-25000" dirty="0"/>
              <a:t>DD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latin typeface="宋体" panose="02010600030101010101" pitchFamily="2" charset="-122"/>
              </a:rPr>
              <a:t>-</a:t>
            </a:r>
            <a:r>
              <a:rPr lang="en-US" altLang="zh-CN" sz="2400" b="1" dirty="0"/>
              <a:t> V</a:t>
            </a:r>
            <a:r>
              <a:rPr lang="en-US" altLang="zh-CN" sz="2400" b="1" baseline="-25000" dirty="0"/>
              <a:t>T2</a:t>
            </a:r>
            <a:r>
              <a:rPr lang="en-US" altLang="zh-CN" sz="2400" b="1" dirty="0"/>
              <a:t> = 8V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37918" name="Rectangle 30"/>
          <p:cNvSpPr/>
          <p:nvPr/>
        </p:nvSpPr>
        <p:spPr>
          <a:xfrm>
            <a:off x="5334000" y="3429000"/>
            <a:ext cx="1295400" cy="1295400"/>
          </a:xfrm>
          <a:prstGeom prst="rect">
            <a:avLst/>
          </a:prstGeom>
          <a:noFill/>
          <a:ln w="3810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7919" name="Rectangle 31"/>
          <p:cNvSpPr/>
          <p:nvPr/>
        </p:nvSpPr>
        <p:spPr>
          <a:xfrm>
            <a:off x="5105400" y="1752600"/>
            <a:ext cx="1371600" cy="1371600"/>
          </a:xfrm>
          <a:prstGeom prst="rect">
            <a:avLst/>
          </a:prstGeom>
          <a:noFill/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aphicFrame>
        <p:nvGraphicFramePr>
          <p:cNvPr id="42005" name="Object 1">
            <a:hlinkClick r:id="rId4" action="ppaction://hlinksldjump"/>
          </p:cNvPr>
          <p:cNvGraphicFramePr>
            <a:graphicFrameLocks noChangeAspect="1"/>
          </p:cNvGraphicFramePr>
          <p:nvPr/>
        </p:nvGraphicFramePr>
        <p:xfrm>
          <a:off x="7696200" y="61928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5" imgW="-9525" imgH="-9525" progId="MS_ClipArt_Gallery.2">
                  <p:embed/>
                </p:oleObj>
              </mc:Choice>
              <mc:Fallback>
                <p:oleObj name="" r:id="rId5" imgW="-9525" imgH="-9525" progId="MS_ClipArt_Gallery.2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96200" y="61928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6" name="Text Box 33">
            <a:hlinkClick r:id="rId4" action="ppaction://hlinksldjump"/>
          </p:cNvPr>
          <p:cNvSpPr txBox="1"/>
          <p:nvPr/>
        </p:nvSpPr>
        <p:spPr>
          <a:xfrm>
            <a:off x="7743825" y="61722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7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7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/>
      <p:bldP spid="37895" grpId="0"/>
      <p:bldP spid="37896" grpId="0"/>
      <p:bldP spid="37897" grpId="0"/>
      <p:bldP spid="37902" grpId="0"/>
      <p:bldP spid="37907" grpId="0"/>
      <p:bldP spid="37908" grpId="0"/>
      <p:bldP spid="37909" grpId="0"/>
      <p:bldP spid="37913" grpId="0"/>
      <p:bldP spid="37915" grpId="0"/>
      <p:bldP spid="37916" grpId="0"/>
      <p:bldP spid="37917" grpId="0"/>
      <p:bldP spid="37918" grpId="0" animBg="1"/>
      <p:bldP spid="379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Text Box 4"/>
          <p:cNvSpPr txBox="1"/>
          <p:nvPr/>
        </p:nvSpPr>
        <p:spPr>
          <a:xfrm>
            <a:off x="1676400" y="304800"/>
            <a:ext cx="51054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NMOS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门电路</a:t>
            </a:r>
            <a:endParaRPr lang="zh-CN" altLang="en-US" sz="44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457200" y="1219200"/>
            <a:ext cx="8458200" cy="5181600"/>
            <a:chOff x="288" y="768"/>
            <a:chExt cx="5328" cy="3264"/>
          </a:xfrm>
        </p:grpSpPr>
        <p:sp>
          <p:nvSpPr>
            <p:cNvPr id="43045" name="Rectangle 7" descr="蓝色砂纸"/>
            <p:cNvSpPr/>
            <p:nvPr/>
          </p:nvSpPr>
          <p:spPr>
            <a:xfrm>
              <a:off x="288" y="768"/>
              <a:ext cx="5328" cy="3264"/>
            </a:xfrm>
            <a:prstGeom prst="rect">
              <a:avLst/>
            </a:prstGeom>
            <a:blipFill rotWithShape="0">
              <a:blip r:embed="rId1"/>
            </a:blipFill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3046" name="Text Box 8"/>
            <p:cNvSpPr txBox="1"/>
            <p:nvPr/>
          </p:nvSpPr>
          <p:spPr>
            <a:xfrm>
              <a:off x="335" y="816"/>
              <a:ext cx="167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en-US" altLang="zh-CN" sz="2800" dirty="0">
                  <a:sym typeface="Symbol" panose="05050102010706020507" pitchFamily="18" charset="2"/>
                </a:rPr>
                <a:t>N</a:t>
              </a:r>
              <a:r>
                <a:rPr lang="en-US" altLang="zh-CN" sz="2800" b="1" dirty="0">
                  <a:sym typeface="Symbol" panose="05050102010706020507" pitchFamily="18" charset="2"/>
                </a:rPr>
                <a:t>MOS</a:t>
              </a:r>
              <a:r>
                <a:rPr lang="zh-CN" altLang="en-US" sz="2800" b="1" dirty="0">
                  <a:sym typeface="Symbol" panose="05050102010706020507" pitchFamily="18" charset="2"/>
                </a:rPr>
                <a:t>与非门</a:t>
              </a:r>
              <a:endParaRPr lang="zh-CN" altLang="en-US" sz="2400" dirty="0"/>
            </a:p>
          </p:txBody>
        </p:sp>
      </p:grpSp>
      <p:graphicFrame>
        <p:nvGraphicFramePr>
          <p:cNvPr id="70656" name="Object 0"/>
          <p:cNvGraphicFramePr>
            <a:graphicFrameLocks noChangeAspect="1"/>
          </p:cNvGraphicFramePr>
          <p:nvPr/>
        </p:nvGraphicFramePr>
        <p:xfrm>
          <a:off x="5827713" y="1381125"/>
          <a:ext cx="2782887" cy="494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2" imgW="1704975" imgH="3028950" progId="Paint.Picture">
                  <p:embed/>
                </p:oleObj>
              </mc:Choice>
              <mc:Fallback>
                <p:oleObj name="" r:id="rId2" imgW="1704975" imgH="3028950" progId="Paint.Picture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27713" y="1381125"/>
                        <a:ext cx="2782887" cy="494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7" name="Rectangle 11"/>
          <p:cNvSpPr/>
          <p:nvPr/>
        </p:nvSpPr>
        <p:spPr>
          <a:xfrm>
            <a:off x="6438900" y="3352800"/>
            <a:ext cx="1219200" cy="2209800"/>
          </a:xfrm>
          <a:prstGeom prst="rect">
            <a:avLst/>
          </a:prstGeom>
          <a:noFill/>
          <a:ln w="3810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9948" name="Line 12"/>
          <p:cNvSpPr/>
          <p:nvPr/>
        </p:nvSpPr>
        <p:spPr>
          <a:xfrm flipH="1">
            <a:off x="7658100" y="4419600"/>
            <a:ext cx="381000" cy="0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949" name="Text Box 13"/>
          <p:cNvSpPr txBox="1"/>
          <p:nvPr/>
        </p:nvSpPr>
        <p:spPr>
          <a:xfrm>
            <a:off x="8039100" y="4008438"/>
            <a:ext cx="1104900" cy="82232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工作管</a:t>
            </a:r>
            <a:endParaRPr lang="zh-CN" altLang="en-US" sz="24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串联</a:t>
            </a:r>
            <a:endParaRPr lang="zh-CN" altLang="en-US" sz="2400" b="1" dirty="0"/>
          </a:p>
        </p:txBody>
      </p:sp>
      <p:sp>
        <p:nvSpPr>
          <p:cNvPr id="39950" name="Rectangle 14"/>
          <p:cNvSpPr/>
          <p:nvPr/>
        </p:nvSpPr>
        <p:spPr>
          <a:xfrm>
            <a:off x="6134100" y="1828800"/>
            <a:ext cx="1524000" cy="1295400"/>
          </a:xfrm>
          <a:prstGeom prst="rect">
            <a:avLst/>
          </a:prstGeom>
          <a:noFill/>
          <a:ln w="38100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9952" name="Line 16"/>
          <p:cNvSpPr/>
          <p:nvPr/>
        </p:nvSpPr>
        <p:spPr>
          <a:xfrm flipH="1">
            <a:off x="7658100" y="2438400"/>
            <a:ext cx="381000" cy="0"/>
          </a:xfrm>
          <a:prstGeom prst="line">
            <a:avLst/>
          </a:prstGeom>
          <a:ln w="38100" cap="flat" cmpd="sng">
            <a:solidFill>
              <a:srgbClr val="0099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953" name="Text Box 17"/>
          <p:cNvSpPr txBox="1"/>
          <p:nvPr/>
        </p:nvSpPr>
        <p:spPr>
          <a:xfrm>
            <a:off x="8039100" y="2209800"/>
            <a:ext cx="1104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负载管</a:t>
            </a:r>
            <a:endParaRPr lang="zh-CN" altLang="en-US" sz="2400" b="1" dirty="0"/>
          </a:p>
        </p:txBody>
      </p:sp>
      <p:sp>
        <p:nvSpPr>
          <p:cNvPr id="39954" name="Text Box 18"/>
          <p:cNvSpPr txBox="1"/>
          <p:nvPr/>
        </p:nvSpPr>
        <p:spPr>
          <a:xfrm>
            <a:off x="452438" y="1752600"/>
            <a:ext cx="1714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工作原理：</a:t>
            </a:r>
            <a:endParaRPr lang="zh-CN" altLang="en-US" sz="2400" b="1" dirty="0"/>
          </a:p>
        </p:txBody>
      </p:sp>
      <p:sp>
        <p:nvSpPr>
          <p:cNvPr id="39956" name="Text Box 20"/>
          <p:cNvSpPr txBox="1"/>
          <p:nvPr/>
        </p:nvSpPr>
        <p:spPr>
          <a:xfrm>
            <a:off x="838200" y="2743200"/>
            <a:ext cx="38131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T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2</a:t>
            </a:r>
            <a:r>
              <a:rPr lang="zh-CN" altLang="en-US" sz="2400" b="1" dirty="0"/>
              <a:t>都导通，输出低电平</a:t>
            </a:r>
            <a:endParaRPr lang="zh-CN" altLang="en-US" sz="2400" b="1" dirty="0"/>
          </a:p>
        </p:txBody>
      </p:sp>
      <p:sp>
        <p:nvSpPr>
          <p:cNvPr id="39957" name="Text Box 21"/>
          <p:cNvSpPr txBox="1"/>
          <p:nvPr/>
        </p:nvSpPr>
        <p:spPr>
          <a:xfrm>
            <a:off x="457200" y="3276600"/>
            <a:ext cx="46450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、当输出端有一个为低电平时，</a:t>
            </a:r>
            <a:endParaRPr lang="zh-CN" altLang="en-US" sz="2400" b="1" dirty="0"/>
          </a:p>
        </p:txBody>
      </p:sp>
      <p:sp>
        <p:nvSpPr>
          <p:cNvPr id="39958" name="Text Box 22"/>
          <p:cNvSpPr txBox="1"/>
          <p:nvPr/>
        </p:nvSpPr>
        <p:spPr>
          <a:xfrm>
            <a:off x="914400" y="3673475"/>
            <a:ext cx="42672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与低电平相连的驱动管就截止，输出高电平</a:t>
            </a:r>
            <a:endParaRPr lang="zh-CN" altLang="en-US" sz="2400" b="1" dirty="0"/>
          </a:p>
        </p:txBody>
      </p:sp>
      <p:sp>
        <p:nvSpPr>
          <p:cNvPr id="39959" name="Text Box 23"/>
          <p:cNvSpPr txBox="1"/>
          <p:nvPr/>
        </p:nvSpPr>
        <p:spPr>
          <a:xfrm>
            <a:off x="457200" y="4572000"/>
            <a:ext cx="333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电路 “与非”逻辑功能：</a:t>
            </a:r>
            <a:endParaRPr lang="zh-CN" altLang="en-US" sz="2400" b="1" dirty="0"/>
          </a:p>
        </p:txBody>
      </p:sp>
      <p:graphicFrame>
        <p:nvGraphicFramePr>
          <p:cNvPr id="70657" name="Object 1"/>
          <p:cNvGraphicFramePr>
            <a:graphicFrameLocks noChangeAspect="1"/>
          </p:cNvGraphicFramePr>
          <p:nvPr/>
        </p:nvGraphicFramePr>
        <p:xfrm>
          <a:off x="3733800" y="4419600"/>
          <a:ext cx="17526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4" imgW="596900" imgH="203200" progId="Equation.3">
                  <p:embed/>
                </p:oleObj>
              </mc:Choice>
              <mc:Fallback>
                <p:oleObj name="" r:id="rId4" imgW="596900" imgH="2032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33800" y="4419600"/>
                        <a:ext cx="1752600" cy="592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1" name="Text Box 25"/>
          <p:cNvSpPr txBox="1"/>
          <p:nvPr/>
        </p:nvSpPr>
        <p:spPr>
          <a:xfrm>
            <a:off x="581025" y="5029200"/>
            <a:ext cx="7905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3300"/>
                </a:solidFill>
              </a:rPr>
              <a:t>注：</a:t>
            </a:r>
            <a:endParaRPr lang="zh-CN" altLang="en-US" sz="2400" b="1" dirty="0">
              <a:solidFill>
                <a:srgbClr val="CC3300"/>
              </a:solidFill>
            </a:endParaRPr>
          </a:p>
        </p:txBody>
      </p:sp>
      <p:sp>
        <p:nvSpPr>
          <p:cNvPr id="39962" name="Text Box 26"/>
          <p:cNvSpPr txBox="1"/>
          <p:nvPr/>
        </p:nvSpPr>
        <p:spPr>
          <a:xfrm>
            <a:off x="1143000" y="5029200"/>
            <a:ext cx="419100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增加扇入，只增加串联驱动管的个数，但扇入不宜过多，一般不超过</a:t>
            </a:r>
            <a:r>
              <a:rPr lang="en-US" altLang="zh-CN" sz="2400" b="1" dirty="0"/>
              <a:t>3</a:t>
            </a:r>
            <a:endParaRPr lang="en-US" altLang="zh-CN" sz="2400" b="1" dirty="0"/>
          </a:p>
        </p:txBody>
      </p:sp>
      <p:sp>
        <p:nvSpPr>
          <p:cNvPr id="39963" name="Text Box 27"/>
          <p:cNvSpPr txBox="1"/>
          <p:nvPr/>
        </p:nvSpPr>
        <p:spPr>
          <a:xfrm>
            <a:off x="6057900" y="36576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39964" name="Text Box 28"/>
          <p:cNvSpPr txBox="1"/>
          <p:nvPr/>
        </p:nvSpPr>
        <p:spPr>
          <a:xfrm>
            <a:off x="6057900" y="48006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39965" name="Line 29"/>
          <p:cNvSpPr/>
          <p:nvPr/>
        </p:nvSpPr>
        <p:spPr>
          <a:xfrm flipH="1">
            <a:off x="7658100" y="3886200"/>
            <a:ext cx="304800" cy="0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966" name="Line 30"/>
          <p:cNvSpPr/>
          <p:nvPr/>
        </p:nvSpPr>
        <p:spPr>
          <a:xfrm flipH="1">
            <a:off x="7658100" y="5029200"/>
            <a:ext cx="304800" cy="0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967" name="Text Box 31"/>
          <p:cNvSpPr txBox="1"/>
          <p:nvPr/>
        </p:nvSpPr>
        <p:spPr>
          <a:xfrm>
            <a:off x="7950200" y="3657600"/>
            <a:ext cx="482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通</a:t>
            </a:r>
            <a:endParaRPr lang="zh-CN" altLang="en-US" sz="2400" b="1" dirty="0"/>
          </a:p>
        </p:txBody>
      </p:sp>
      <p:sp>
        <p:nvSpPr>
          <p:cNvPr id="39968" name="Text Box 32"/>
          <p:cNvSpPr txBox="1"/>
          <p:nvPr/>
        </p:nvSpPr>
        <p:spPr>
          <a:xfrm>
            <a:off x="7962900" y="4724400"/>
            <a:ext cx="482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通</a:t>
            </a:r>
            <a:endParaRPr lang="zh-CN" altLang="en-US" sz="2400" b="1" dirty="0"/>
          </a:p>
        </p:txBody>
      </p:sp>
      <p:sp>
        <p:nvSpPr>
          <p:cNvPr id="39971" name="Text Box 35"/>
          <p:cNvSpPr txBox="1"/>
          <p:nvPr/>
        </p:nvSpPr>
        <p:spPr>
          <a:xfrm>
            <a:off x="7810500" y="27432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39973" name="Text Box 37"/>
          <p:cNvSpPr txBox="1"/>
          <p:nvPr/>
        </p:nvSpPr>
        <p:spPr>
          <a:xfrm>
            <a:off x="457200" y="2286000"/>
            <a:ext cx="5018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、当两个输入端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均为高电平时</a:t>
            </a:r>
            <a:endParaRPr lang="zh-CN" altLang="en-US" sz="2400" b="1" dirty="0"/>
          </a:p>
        </p:txBody>
      </p:sp>
      <p:graphicFrame>
        <p:nvGraphicFramePr>
          <p:cNvPr id="70658" name="Object 2"/>
          <p:cNvGraphicFramePr>
            <a:graphicFrameLocks noChangeAspect="1"/>
          </p:cNvGraphicFramePr>
          <p:nvPr/>
        </p:nvGraphicFramePr>
        <p:xfrm>
          <a:off x="5827713" y="1381125"/>
          <a:ext cx="2782887" cy="494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6" imgW="1704975" imgH="3028950" progId="Paint.Picture">
                  <p:embed/>
                </p:oleObj>
              </mc:Choice>
              <mc:Fallback>
                <p:oleObj name="" r:id="rId6" imgW="1704975" imgH="3028950" progId="Paint.Picture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27713" y="1381125"/>
                        <a:ext cx="2782887" cy="494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75" name="Text Box 39"/>
          <p:cNvSpPr txBox="1"/>
          <p:nvPr/>
        </p:nvSpPr>
        <p:spPr>
          <a:xfrm>
            <a:off x="6296025" y="36576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39976" name="Text Box 40"/>
          <p:cNvSpPr txBox="1"/>
          <p:nvPr/>
        </p:nvSpPr>
        <p:spPr>
          <a:xfrm>
            <a:off x="6257925" y="47244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39977" name="Line 41"/>
          <p:cNvSpPr/>
          <p:nvPr/>
        </p:nvSpPr>
        <p:spPr>
          <a:xfrm flipH="1">
            <a:off x="7543800" y="3733800"/>
            <a:ext cx="304800" cy="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978" name="Line 42"/>
          <p:cNvSpPr/>
          <p:nvPr/>
        </p:nvSpPr>
        <p:spPr>
          <a:xfrm flipH="1">
            <a:off x="7620000" y="4953000"/>
            <a:ext cx="304800" cy="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9979" name="Text Box 43"/>
          <p:cNvSpPr txBox="1"/>
          <p:nvPr/>
        </p:nvSpPr>
        <p:spPr>
          <a:xfrm>
            <a:off x="7924800" y="3505200"/>
            <a:ext cx="4857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/>
              <a:t>止</a:t>
            </a:r>
            <a:endParaRPr lang="zh-CN" altLang="en-US" sz="2400" dirty="0"/>
          </a:p>
        </p:txBody>
      </p:sp>
      <p:sp>
        <p:nvSpPr>
          <p:cNvPr id="39980" name="Text Box 44"/>
          <p:cNvSpPr txBox="1"/>
          <p:nvPr/>
        </p:nvSpPr>
        <p:spPr>
          <a:xfrm>
            <a:off x="7848600" y="4724400"/>
            <a:ext cx="4857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/>
              <a:t>通</a:t>
            </a:r>
            <a:endParaRPr lang="zh-CN" altLang="en-US" sz="2400" dirty="0"/>
          </a:p>
        </p:txBody>
      </p:sp>
      <p:sp>
        <p:nvSpPr>
          <p:cNvPr id="39981" name="Text Box 45"/>
          <p:cNvSpPr txBox="1"/>
          <p:nvPr/>
        </p:nvSpPr>
        <p:spPr>
          <a:xfrm>
            <a:off x="7896225" y="27432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graphicFrame>
        <p:nvGraphicFramePr>
          <p:cNvPr id="43043" name="Object 3">
            <a:hlinkClick r:id="rId7" action="ppaction://hlinksldjump"/>
          </p:cNvPr>
          <p:cNvGraphicFramePr>
            <a:graphicFrameLocks noChangeAspect="1"/>
          </p:cNvGraphicFramePr>
          <p:nvPr/>
        </p:nvGraphicFramePr>
        <p:xfrm>
          <a:off x="7696200" y="63452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8" imgW="-9525" imgH="-9525" progId="MS_ClipArt_Gallery.2">
                  <p:embed/>
                </p:oleObj>
              </mc:Choice>
              <mc:Fallback>
                <p:oleObj name="" r:id="rId8" imgW="-9525" imgH="-9525" progId="MS_ClipArt_Gallery.2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96200" y="63452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44" name="Text Box 47">
            <a:hlinkClick r:id="rId7" action="ppaction://hlinksldjump"/>
          </p:cNvPr>
          <p:cNvSpPr txBox="1"/>
          <p:nvPr/>
        </p:nvSpPr>
        <p:spPr>
          <a:xfrm>
            <a:off x="7743825" y="63246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9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9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9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9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9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9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9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9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9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9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9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9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9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9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9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9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9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9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9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9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9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9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9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9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70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3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3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7" grpId="0" animBg="1"/>
      <p:bldP spid="39949" grpId="0"/>
      <p:bldP spid="39950" grpId="0" animBg="1"/>
      <p:bldP spid="39953" grpId="0"/>
      <p:bldP spid="39954" grpId="0"/>
      <p:bldP spid="39956" grpId="0"/>
      <p:bldP spid="39957" grpId="0"/>
      <p:bldP spid="39958" grpId="0"/>
      <p:bldP spid="39959" grpId="0"/>
      <p:bldP spid="39961" grpId="0"/>
      <p:bldP spid="39962" grpId="0"/>
      <p:bldP spid="39963" grpId="0"/>
      <p:bldP spid="39964" grpId="0"/>
      <p:bldP spid="39967" grpId="0"/>
      <p:bldP spid="39968" grpId="0"/>
      <p:bldP spid="39971" grpId="0"/>
      <p:bldP spid="39973" grpId="0"/>
      <p:bldP spid="39975" grpId="0"/>
      <p:bldP spid="39976" grpId="0"/>
      <p:bldP spid="39979" grpId="0"/>
      <p:bldP spid="39980" grpId="0"/>
      <p:bldP spid="3998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4" name="Text Box 4"/>
          <p:cNvSpPr txBox="1"/>
          <p:nvPr/>
        </p:nvSpPr>
        <p:spPr>
          <a:xfrm>
            <a:off x="1676400" y="304800"/>
            <a:ext cx="51054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CMOS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电路</a:t>
            </a:r>
            <a:endParaRPr lang="zh-CN" altLang="en-US" sz="44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381000" y="1219200"/>
            <a:ext cx="8458200" cy="5105400"/>
            <a:chOff x="288" y="768"/>
            <a:chExt cx="5328" cy="3264"/>
          </a:xfrm>
        </p:grpSpPr>
        <p:sp>
          <p:nvSpPr>
            <p:cNvPr id="44081" name="Rectangle 6" descr="蓝色砂纸"/>
            <p:cNvSpPr/>
            <p:nvPr/>
          </p:nvSpPr>
          <p:spPr>
            <a:xfrm>
              <a:off x="288" y="768"/>
              <a:ext cx="5328" cy="3264"/>
            </a:xfrm>
            <a:prstGeom prst="rect">
              <a:avLst/>
            </a:prstGeom>
            <a:blipFill rotWithShape="0">
              <a:blip r:embed="rId1"/>
            </a:blipFill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44082" name="Text Box 7"/>
            <p:cNvSpPr txBox="1"/>
            <p:nvPr/>
          </p:nvSpPr>
          <p:spPr>
            <a:xfrm>
              <a:off x="344" y="814"/>
              <a:ext cx="1661" cy="3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en-US" altLang="zh-CN" sz="2800" dirty="0">
                  <a:sym typeface="Symbol" panose="05050102010706020507" pitchFamily="18" charset="2"/>
                </a:rPr>
                <a:t>C</a:t>
              </a:r>
              <a:r>
                <a:rPr lang="en-US" altLang="zh-CN" sz="2800" b="1" dirty="0">
                  <a:sym typeface="Symbol" panose="05050102010706020507" pitchFamily="18" charset="2"/>
                </a:rPr>
                <a:t>MOS</a:t>
              </a:r>
              <a:r>
                <a:rPr lang="zh-CN" altLang="en-US" sz="2800" b="1" dirty="0">
                  <a:sym typeface="Symbol" panose="05050102010706020507" pitchFamily="18" charset="2"/>
                </a:rPr>
                <a:t>反相器</a:t>
              </a:r>
              <a:endParaRPr lang="zh-CN" altLang="en-US" sz="2400" dirty="0"/>
            </a:p>
          </p:txBody>
        </p:sp>
      </p:grpSp>
      <p:graphicFrame>
        <p:nvGraphicFramePr>
          <p:cNvPr id="71680" name="Object 0"/>
          <p:cNvGraphicFramePr>
            <a:graphicFrameLocks noChangeAspect="1"/>
          </p:cNvGraphicFramePr>
          <p:nvPr/>
        </p:nvGraphicFramePr>
        <p:xfrm>
          <a:off x="5257800" y="1524000"/>
          <a:ext cx="28956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2" imgW="1514475" imgH="2552700" progId="Paint.Picture">
                  <p:embed/>
                </p:oleObj>
              </mc:Choice>
              <mc:Fallback>
                <p:oleObj name="" r:id="rId2" imgW="1514475" imgH="2552700" progId="Paint.Picture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57800" y="1524000"/>
                        <a:ext cx="2895600" cy="457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Rectangle 9"/>
          <p:cNvSpPr/>
          <p:nvPr/>
        </p:nvSpPr>
        <p:spPr>
          <a:xfrm>
            <a:off x="6096000" y="3810000"/>
            <a:ext cx="1295400" cy="1219200"/>
          </a:xfrm>
          <a:prstGeom prst="rect">
            <a:avLst/>
          </a:prstGeom>
          <a:noFill/>
          <a:ln w="3810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40971" name="Line 11"/>
          <p:cNvSpPr/>
          <p:nvPr/>
        </p:nvSpPr>
        <p:spPr>
          <a:xfrm flipH="1">
            <a:off x="7391400" y="4343400"/>
            <a:ext cx="381000" cy="0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972" name="Rectangle 12"/>
          <p:cNvSpPr/>
          <p:nvPr/>
        </p:nvSpPr>
        <p:spPr>
          <a:xfrm>
            <a:off x="6096000" y="2209800"/>
            <a:ext cx="1295400" cy="1219200"/>
          </a:xfrm>
          <a:prstGeom prst="rect">
            <a:avLst/>
          </a:prstGeom>
          <a:noFill/>
          <a:ln w="3810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40973" name="Line 13"/>
          <p:cNvSpPr/>
          <p:nvPr/>
        </p:nvSpPr>
        <p:spPr>
          <a:xfrm flipH="1">
            <a:off x="7391400" y="2743200"/>
            <a:ext cx="381000" cy="0"/>
          </a:xfrm>
          <a:prstGeom prst="line">
            <a:avLst/>
          </a:prstGeom>
          <a:ln w="3810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974" name="Text Box 14"/>
          <p:cNvSpPr txBox="1"/>
          <p:nvPr/>
        </p:nvSpPr>
        <p:spPr>
          <a:xfrm>
            <a:off x="7696200" y="2514600"/>
            <a:ext cx="10604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PMOS</a:t>
            </a:r>
            <a:endParaRPr lang="en-US" altLang="zh-CN" sz="2400" b="1" dirty="0"/>
          </a:p>
        </p:txBody>
      </p:sp>
      <p:sp>
        <p:nvSpPr>
          <p:cNvPr id="40976" name="Text Box 16"/>
          <p:cNvSpPr txBox="1"/>
          <p:nvPr/>
        </p:nvSpPr>
        <p:spPr>
          <a:xfrm>
            <a:off x="7772400" y="41148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NMOS</a:t>
            </a:r>
            <a:endParaRPr lang="en-US" altLang="zh-CN" sz="2400" b="1" dirty="0"/>
          </a:p>
        </p:txBody>
      </p:sp>
      <p:grpSp>
        <p:nvGrpSpPr>
          <p:cNvPr id="3" name="Group 22"/>
          <p:cNvGrpSpPr/>
          <p:nvPr/>
        </p:nvGrpSpPr>
        <p:grpSpPr>
          <a:xfrm>
            <a:off x="5715000" y="2514600"/>
            <a:ext cx="533400" cy="2209800"/>
            <a:chOff x="3600" y="1584"/>
            <a:chExt cx="336" cy="1392"/>
          </a:xfrm>
        </p:grpSpPr>
        <p:grpSp>
          <p:nvGrpSpPr>
            <p:cNvPr id="44076" name="Group 20"/>
            <p:cNvGrpSpPr/>
            <p:nvPr/>
          </p:nvGrpSpPr>
          <p:grpSpPr>
            <a:xfrm>
              <a:off x="3744" y="1584"/>
              <a:ext cx="192" cy="1392"/>
              <a:chOff x="3744" y="1584"/>
              <a:chExt cx="192" cy="1392"/>
            </a:xfrm>
          </p:grpSpPr>
          <p:sp>
            <p:nvSpPr>
              <p:cNvPr id="44078" name="Line 17"/>
              <p:cNvSpPr/>
              <p:nvPr/>
            </p:nvSpPr>
            <p:spPr>
              <a:xfrm>
                <a:off x="3744" y="1584"/>
                <a:ext cx="0" cy="1392"/>
              </a:xfrm>
              <a:prstGeom prst="line">
                <a:avLst/>
              </a:prstGeom>
              <a:ln w="38100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79" name="Line 18"/>
              <p:cNvSpPr/>
              <p:nvPr/>
            </p:nvSpPr>
            <p:spPr>
              <a:xfrm>
                <a:off x="3744" y="1584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80" name="Line 19"/>
              <p:cNvSpPr/>
              <p:nvPr/>
            </p:nvSpPr>
            <p:spPr>
              <a:xfrm>
                <a:off x="3744" y="2976"/>
                <a:ext cx="192" cy="0"/>
              </a:xfrm>
              <a:prstGeom prst="line">
                <a:avLst/>
              </a:prstGeom>
              <a:ln w="38100" cap="flat" cmpd="sng">
                <a:solidFill>
                  <a:srgbClr val="CC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4077" name="Line 21"/>
            <p:cNvSpPr/>
            <p:nvPr/>
          </p:nvSpPr>
          <p:spPr>
            <a:xfrm flipH="1">
              <a:off x="3600" y="2304"/>
              <a:ext cx="144" cy="0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25"/>
          <p:cNvGrpSpPr/>
          <p:nvPr/>
        </p:nvGrpSpPr>
        <p:grpSpPr>
          <a:xfrm>
            <a:off x="6858000" y="3276600"/>
            <a:ext cx="457200" cy="685800"/>
            <a:chOff x="4320" y="2064"/>
            <a:chExt cx="288" cy="432"/>
          </a:xfrm>
        </p:grpSpPr>
        <p:sp>
          <p:nvSpPr>
            <p:cNvPr id="44074" name="Line 23"/>
            <p:cNvSpPr/>
            <p:nvPr/>
          </p:nvSpPr>
          <p:spPr>
            <a:xfrm>
              <a:off x="4320" y="2064"/>
              <a:ext cx="0" cy="432"/>
            </a:xfrm>
            <a:prstGeom prst="line">
              <a:avLst/>
            </a:prstGeom>
            <a:ln w="571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5" name="Line 24"/>
            <p:cNvSpPr/>
            <p:nvPr/>
          </p:nvSpPr>
          <p:spPr>
            <a:xfrm>
              <a:off x="4320" y="2256"/>
              <a:ext cx="288" cy="0"/>
            </a:xfrm>
            <a:prstGeom prst="line">
              <a:avLst/>
            </a:prstGeom>
            <a:ln w="571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28"/>
          <p:cNvGrpSpPr/>
          <p:nvPr/>
        </p:nvGrpSpPr>
        <p:grpSpPr>
          <a:xfrm>
            <a:off x="5029200" y="2133600"/>
            <a:ext cx="2057400" cy="2209800"/>
            <a:chOff x="3168" y="1344"/>
            <a:chExt cx="1296" cy="1392"/>
          </a:xfrm>
        </p:grpSpPr>
        <p:sp>
          <p:nvSpPr>
            <p:cNvPr id="44072" name="Line 26"/>
            <p:cNvSpPr/>
            <p:nvPr/>
          </p:nvSpPr>
          <p:spPr>
            <a:xfrm>
              <a:off x="3168" y="1344"/>
              <a:ext cx="1296" cy="336"/>
            </a:xfrm>
            <a:prstGeom prst="line">
              <a:avLst/>
            </a:prstGeom>
            <a:ln w="38100" cap="flat" cmpd="sng">
              <a:solidFill>
                <a:srgbClr val="33CCCC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73" name="Line 27"/>
            <p:cNvSpPr/>
            <p:nvPr/>
          </p:nvSpPr>
          <p:spPr>
            <a:xfrm>
              <a:off x="3168" y="1344"/>
              <a:ext cx="1200" cy="1392"/>
            </a:xfrm>
            <a:prstGeom prst="line">
              <a:avLst/>
            </a:prstGeom>
            <a:ln w="38100" cap="flat" cmpd="sng">
              <a:solidFill>
                <a:srgbClr val="33CCCC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" name="Group 31"/>
          <p:cNvGrpSpPr/>
          <p:nvPr/>
        </p:nvGrpSpPr>
        <p:grpSpPr>
          <a:xfrm>
            <a:off x="609600" y="2895600"/>
            <a:ext cx="4800600" cy="1981200"/>
            <a:chOff x="384" y="1776"/>
            <a:chExt cx="3024" cy="1248"/>
          </a:xfrm>
        </p:grpSpPr>
        <p:sp>
          <p:nvSpPr>
            <p:cNvPr id="44070" name="AutoShape 29"/>
            <p:cNvSpPr/>
            <p:nvPr/>
          </p:nvSpPr>
          <p:spPr>
            <a:xfrm>
              <a:off x="384" y="1776"/>
              <a:ext cx="3024" cy="1248"/>
            </a:xfrm>
            <a:prstGeom prst="wedgeRoundRectCallout">
              <a:avLst>
                <a:gd name="adj1" fmla="val 42625"/>
                <a:gd name="adj2" fmla="val -86699"/>
                <a:gd name="adj3" fmla="val 16667"/>
              </a:avLst>
            </a:prstGeom>
            <a:solidFill>
              <a:srgbClr val="FFCC00"/>
            </a:solidFill>
            <a:ln w="38100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44071" name="Text Box 30"/>
            <p:cNvSpPr txBox="1"/>
            <p:nvPr/>
          </p:nvSpPr>
          <p:spPr>
            <a:xfrm>
              <a:off x="480" y="1920"/>
              <a:ext cx="2832" cy="978"/>
            </a:xfrm>
            <a:prstGeom prst="rect">
              <a:avLst/>
            </a:prstGeom>
            <a:solidFill>
              <a:srgbClr val="FFCC00"/>
            </a:solidFill>
            <a:ln w="38100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衬底与漏源间的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PN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结始终处于反偏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，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NMOS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管的衬底总是接到电路的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最低电位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，</a:t>
              </a:r>
              <a:r>
                <a:rPr lang="en-US" altLang="zh-CN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PMOS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管的衬底总是接到电路的</a:t>
              </a:r>
              <a:r>
                <a:rPr lang="zh-CN" altLang="en-US" sz="24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最高电位</a:t>
              </a:r>
              <a:endPara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8" name="Group 34"/>
          <p:cNvGrpSpPr/>
          <p:nvPr/>
        </p:nvGrpSpPr>
        <p:grpSpPr>
          <a:xfrm>
            <a:off x="4267200" y="4724400"/>
            <a:ext cx="1676400" cy="1066800"/>
            <a:chOff x="2640" y="2976"/>
            <a:chExt cx="1056" cy="672"/>
          </a:xfrm>
        </p:grpSpPr>
        <p:sp>
          <p:nvSpPr>
            <p:cNvPr id="44068" name="AutoShape 32"/>
            <p:cNvSpPr/>
            <p:nvPr/>
          </p:nvSpPr>
          <p:spPr>
            <a:xfrm>
              <a:off x="2640" y="2976"/>
              <a:ext cx="1056" cy="672"/>
            </a:xfrm>
            <a:prstGeom prst="wedgeRoundRectCallout">
              <a:avLst>
                <a:gd name="adj1" fmla="val 42046"/>
                <a:gd name="adj2" fmla="val -150444"/>
                <a:gd name="adj3" fmla="val 16667"/>
              </a:avLst>
            </a:prstGeom>
            <a:solidFill>
              <a:srgbClr val="FFCC00"/>
            </a:solidFill>
            <a:ln w="38100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44069" name="Text Box 33"/>
            <p:cNvSpPr txBox="1"/>
            <p:nvPr/>
          </p:nvSpPr>
          <p:spPr>
            <a:xfrm>
              <a:off x="2688" y="3024"/>
              <a:ext cx="960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柵极相连做输入端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9" name="Group 37"/>
          <p:cNvGrpSpPr/>
          <p:nvPr/>
        </p:nvGrpSpPr>
        <p:grpSpPr>
          <a:xfrm>
            <a:off x="7608888" y="3276600"/>
            <a:ext cx="1535112" cy="1143000"/>
            <a:chOff x="4793" y="2064"/>
            <a:chExt cx="967" cy="720"/>
          </a:xfrm>
        </p:grpSpPr>
        <p:sp>
          <p:nvSpPr>
            <p:cNvPr id="44066" name="AutoShape 35"/>
            <p:cNvSpPr/>
            <p:nvPr/>
          </p:nvSpPr>
          <p:spPr>
            <a:xfrm>
              <a:off x="4800" y="2064"/>
              <a:ext cx="960" cy="720"/>
            </a:xfrm>
            <a:prstGeom prst="wedgeRoundRectCallout">
              <a:avLst>
                <a:gd name="adj1" fmla="val -82398"/>
                <a:gd name="adj2" fmla="val -21389"/>
                <a:gd name="adj3" fmla="val 16667"/>
              </a:avLst>
            </a:prstGeom>
            <a:solidFill>
              <a:srgbClr val="FFCC00"/>
            </a:solidFill>
            <a:ln w="38100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44067" name="Text Box 36"/>
            <p:cNvSpPr txBox="1"/>
            <p:nvPr/>
          </p:nvSpPr>
          <p:spPr>
            <a:xfrm>
              <a:off x="4793" y="2160"/>
              <a:ext cx="967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漏极相连做输出端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0" name="Group 40"/>
          <p:cNvGrpSpPr/>
          <p:nvPr/>
        </p:nvGrpSpPr>
        <p:grpSpPr>
          <a:xfrm>
            <a:off x="2362200" y="1447800"/>
            <a:ext cx="4062413" cy="1905000"/>
            <a:chOff x="1536" y="864"/>
            <a:chExt cx="2559" cy="1200"/>
          </a:xfrm>
        </p:grpSpPr>
        <p:sp>
          <p:nvSpPr>
            <p:cNvPr id="44064" name="AutoShape 38"/>
            <p:cNvSpPr/>
            <p:nvPr/>
          </p:nvSpPr>
          <p:spPr>
            <a:xfrm>
              <a:off x="1536" y="864"/>
              <a:ext cx="2544" cy="1200"/>
            </a:xfrm>
            <a:prstGeom prst="wedgeRoundRectCallout">
              <a:avLst>
                <a:gd name="adj1" fmla="val 59199"/>
                <a:gd name="adj2" fmla="val -27500"/>
                <a:gd name="adj3" fmla="val 16667"/>
              </a:avLst>
            </a:prstGeom>
            <a:solidFill>
              <a:srgbClr val="FFCC00"/>
            </a:solidFill>
            <a:ln w="38100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44065" name="Text Box 39"/>
            <p:cNvSpPr txBox="1"/>
            <p:nvPr/>
          </p:nvSpPr>
          <p:spPr>
            <a:xfrm>
              <a:off x="1584" y="960"/>
              <a:ext cx="2511" cy="97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电源电压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V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DD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＞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V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T1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+|V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T2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|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，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V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DD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适用范围较大可在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3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～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18V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， 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V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T1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--NMOS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的开启电压</a:t>
              </a:r>
              <a:endParaRPr lang="zh-CN" altLang="en-US" sz="2400" b="1" dirty="0">
                <a:latin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V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T2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--PMOS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的开启电压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1001" name="Text Box 41"/>
          <p:cNvSpPr txBox="1"/>
          <p:nvPr/>
        </p:nvSpPr>
        <p:spPr>
          <a:xfrm>
            <a:off x="381000" y="1752600"/>
            <a:ext cx="1714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工作原理：</a:t>
            </a:r>
            <a:endParaRPr lang="zh-CN" altLang="en-US" sz="2400" b="1" dirty="0"/>
          </a:p>
        </p:txBody>
      </p:sp>
      <p:sp>
        <p:nvSpPr>
          <p:cNvPr id="41003" name="Text Box 43"/>
          <p:cNvSpPr txBox="1"/>
          <p:nvPr/>
        </p:nvSpPr>
        <p:spPr>
          <a:xfrm>
            <a:off x="593725" y="2133600"/>
            <a:ext cx="3825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、输入为低电平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IL </a:t>
            </a:r>
            <a:r>
              <a:rPr lang="en-US" altLang="zh-CN" sz="2400" b="1" dirty="0">
                <a:latin typeface="宋体" panose="02010600030101010101" pitchFamily="2" charset="-122"/>
              </a:rPr>
              <a:t>= 0V</a:t>
            </a:r>
            <a:r>
              <a:rPr lang="zh-CN" altLang="en-US" sz="2400" b="1" dirty="0">
                <a:latin typeface="宋体" panose="02010600030101010101" pitchFamily="2" charset="-122"/>
              </a:rPr>
              <a:t>时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1004" name="Text Box 44"/>
          <p:cNvSpPr txBox="1"/>
          <p:nvPr/>
        </p:nvSpPr>
        <p:spPr>
          <a:xfrm>
            <a:off x="609600" y="2514600"/>
            <a:ext cx="1301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GS1</a:t>
            </a:r>
            <a:r>
              <a:rPr lang="zh-CN" altLang="en-US" sz="2400" b="1" dirty="0">
                <a:latin typeface="宋体" panose="02010600030101010101" pitchFamily="2" charset="-122"/>
              </a:rPr>
              <a:t>＜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T1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41005" name="Text Box 45"/>
          <p:cNvSpPr txBox="1"/>
          <p:nvPr/>
        </p:nvSpPr>
        <p:spPr>
          <a:xfrm>
            <a:off x="2743200" y="2590800"/>
            <a:ext cx="16541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管截止；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1006" name="Text Box 46"/>
          <p:cNvSpPr txBox="1"/>
          <p:nvPr/>
        </p:nvSpPr>
        <p:spPr>
          <a:xfrm>
            <a:off x="457200" y="2971800"/>
            <a:ext cx="1860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|V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GS2</a:t>
            </a:r>
            <a:r>
              <a:rPr lang="en-US" altLang="zh-CN" sz="2400" b="1" dirty="0">
                <a:latin typeface="宋体" panose="02010600030101010101" pitchFamily="2" charset="-122"/>
              </a:rPr>
              <a:t>| </a:t>
            </a:r>
            <a:r>
              <a:rPr lang="zh-CN" altLang="en-US" sz="2400" b="1" dirty="0">
                <a:latin typeface="宋体" panose="02010600030101010101" pitchFamily="2" charset="-122"/>
              </a:rPr>
              <a:t>＞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T2 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41007" name="Text Box 47"/>
          <p:cNvSpPr txBox="1"/>
          <p:nvPr/>
        </p:nvSpPr>
        <p:spPr>
          <a:xfrm>
            <a:off x="533400" y="3384550"/>
            <a:ext cx="457200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电路中电流近似为零（忽略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的截止漏电流）</a:t>
            </a:r>
            <a:r>
              <a:rPr lang="en-US" altLang="zh-CN" sz="2400" b="1" dirty="0">
                <a:latin typeface="宋体" panose="02010600030101010101" pitchFamily="2" charset="-122"/>
              </a:rPr>
              <a:t>,V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DD</a:t>
            </a:r>
            <a:r>
              <a:rPr lang="zh-CN" altLang="en-US" sz="2400" b="1" dirty="0">
                <a:latin typeface="宋体" panose="02010600030101010101" pitchFamily="2" charset="-122"/>
              </a:rPr>
              <a:t>主要降落在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上，输出为高电平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OH</a:t>
            </a:r>
            <a:r>
              <a:rPr lang="en-US" altLang="zh-CN" sz="2400" b="1" dirty="0">
                <a:latin typeface="宋体" panose="02010600030101010101" pitchFamily="2" charset="-122"/>
              </a:rPr>
              <a:t>≈V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DD</a:t>
            </a:r>
            <a:endParaRPr lang="en-US" altLang="zh-CN" sz="2400" b="1" baseline="-25000" dirty="0">
              <a:latin typeface="宋体" panose="02010600030101010101" pitchFamily="2" charset="-122"/>
            </a:endParaRPr>
          </a:p>
        </p:txBody>
      </p:sp>
      <p:sp>
        <p:nvSpPr>
          <p:cNvPr id="41008" name="Line 48"/>
          <p:cNvSpPr/>
          <p:nvPr/>
        </p:nvSpPr>
        <p:spPr>
          <a:xfrm>
            <a:off x="2057400" y="2819400"/>
            <a:ext cx="457200" cy="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009" name="Line 49"/>
          <p:cNvSpPr/>
          <p:nvPr/>
        </p:nvSpPr>
        <p:spPr>
          <a:xfrm>
            <a:off x="2209800" y="3200400"/>
            <a:ext cx="457200" cy="0"/>
          </a:xfrm>
          <a:prstGeom prst="line">
            <a:avLst/>
          </a:prstGeom>
          <a:ln w="57150" cap="flat" cmpd="sng">
            <a:solidFill>
              <a:srgbClr val="CC33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012" name="Text Box 52"/>
          <p:cNvSpPr txBox="1"/>
          <p:nvPr/>
        </p:nvSpPr>
        <p:spPr>
          <a:xfrm>
            <a:off x="2771775" y="2971800"/>
            <a:ext cx="10382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导通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1014" name="Text Box 54"/>
          <p:cNvSpPr txBox="1"/>
          <p:nvPr/>
        </p:nvSpPr>
        <p:spPr>
          <a:xfrm>
            <a:off x="533400" y="4572000"/>
            <a:ext cx="434340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、输入为高电平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IH</a:t>
            </a:r>
            <a:r>
              <a:rPr lang="en-US" altLang="zh-CN" sz="2400" b="1" dirty="0">
                <a:latin typeface="宋体" panose="02010600030101010101" pitchFamily="2" charset="-122"/>
              </a:rPr>
              <a:t> = 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DD</a:t>
            </a:r>
            <a:r>
              <a:rPr lang="zh-CN" altLang="en-US" sz="2400" b="1" dirty="0">
                <a:latin typeface="宋体" panose="02010600030101010101" pitchFamily="2" charset="-122"/>
              </a:rPr>
              <a:t>时，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通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止，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DD</a:t>
            </a:r>
            <a:r>
              <a:rPr lang="zh-CN" altLang="en-US" sz="2400" b="1" dirty="0">
                <a:latin typeface="宋体" panose="02010600030101010101" pitchFamily="2" charset="-122"/>
              </a:rPr>
              <a:t>主要降在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上，输出为低电平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OL</a:t>
            </a:r>
            <a:r>
              <a:rPr lang="en-US" altLang="zh-CN" sz="2400" b="1" dirty="0">
                <a:latin typeface="宋体" panose="02010600030101010101" pitchFamily="2" charset="-122"/>
              </a:rPr>
              <a:t>≈0V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  <a:endParaRPr lang="zh-CN" altLang="en-US" sz="2400" b="1" dirty="0"/>
          </a:p>
        </p:txBody>
      </p:sp>
      <p:sp>
        <p:nvSpPr>
          <p:cNvPr id="41015" name="Text Box 55"/>
          <p:cNvSpPr txBox="1"/>
          <p:nvPr/>
        </p:nvSpPr>
        <p:spPr>
          <a:xfrm>
            <a:off x="527050" y="5791200"/>
            <a:ext cx="26416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实现逻辑</a:t>
            </a:r>
            <a:r>
              <a:rPr lang="zh-CN" altLang="en-US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非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功能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71681" name="Object 1"/>
          <p:cNvGraphicFramePr>
            <a:graphicFrameLocks noChangeAspect="1"/>
          </p:cNvGraphicFramePr>
          <p:nvPr/>
        </p:nvGraphicFramePr>
        <p:xfrm>
          <a:off x="3352800" y="5715000"/>
          <a:ext cx="9588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4" imgW="393700" imgH="203200" progId="Equation.3">
                  <p:embed/>
                </p:oleObj>
              </mc:Choice>
              <mc:Fallback>
                <p:oleObj name="" r:id="rId4" imgW="393700" imgH="2032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52800" y="5715000"/>
                        <a:ext cx="958850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2" name="Object 2">
            <a:hlinkClick r:id="rId6" action="ppaction://hlinksldjump"/>
          </p:cNvPr>
          <p:cNvGraphicFramePr>
            <a:graphicFrameLocks noChangeAspect="1"/>
          </p:cNvGraphicFramePr>
          <p:nvPr/>
        </p:nvGraphicFramePr>
        <p:xfrm>
          <a:off x="7696200" y="63452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7" imgW="-9525" imgH="-9525" progId="MS_ClipArt_Gallery.2">
                  <p:embed/>
                </p:oleObj>
              </mc:Choice>
              <mc:Fallback>
                <p:oleObj name="" r:id="rId7" imgW="-9525" imgH="-9525" progId="MS_ClipArt_Gallery.2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96200" y="63452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3" name="Text Box 58">
            <a:hlinkClick r:id="rId6" action="ppaction://hlinksldjump"/>
          </p:cNvPr>
          <p:cNvSpPr txBox="1"/>
          <p:nvPr/>
        </p:nvSpPr>
        <p:spPr>
          <a:xfrm>
            <a:off x="7743825" y="63246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1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1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1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1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animBg="1"/>
      <p:bldP spid="40969" grpId="0" animBg="1"/>
      <p:bldP spid="40972" grpId="0" animBg="1"/>
      <p:bldP spid="40974" grpId="0"/>
      <p:bldP spid="40976" grpId="0"/>
      <p:bldP spid="41001" grpId="0"/>
      <p:bldP spid="41003" grpId="0"/>
      <p:bldP spid="41004" grpId="0"/>
      <p:bldP spid="41005" grpId="0"/>
      <p:bldP spid="41006" grpId="0"/>
      <p:bldP spid="41007" grpId="0"/>
      <p:bldP spid="41012" grpId="0"/>
      <p:bldP spid="41014" grpId="0"/>
      <p:bldP spid="410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Text Box 1028"/>
          <p:cNvSpPr txBox="1"/>
          <p:nvPr/>
        </p:nvSpPr>
        <p:spPr>
          <a:xfrm>
            <a:off x="609600" y="838200"/>
            <a:ext cx="8077200" cy="4911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65000"/>
              </a:lnSpc>
              <a:spcBef>
                <a:spcPct val="50000"/>
              </a:spcBef>
              <a:buNone/>
            </a:pPr>
            <a:r>
              <a:rPr lang="en-US" altLang="zh-CN" sz="2400" b="1" dirty="0"/>
              <a:t>        . CMOS</a:t>
            </a:r>
            <a:r>
              <a:rPr lang="zh-CN" altLang="en-US" sz="2400" b="1" dirty="0"/>
              <a:t>反相器的主要特性</a:t>
            </a:r>
            <a:r>
              <a:rPr lang="zh-CN" altLang="en-US" sz="2400" dirty="0"/>
              <a:t></a:t>
            </a:r>
            <a:endParaRPr lang="zh-CN" altLang="en-US" sz="2400" dirty="0"/>
          </a:p>
          <a:p>
            <a:pPr marL="0" lvl="0" indent="0" algn="just">
              <a:lnSpc>
                <a:spcPct val="165000"/>
              </a:lnSpc>
              <a:spcBef>
                <a:spcPct val="50000"/>
              </a:spcBef>
              <a:buNone/>
            </a:pPr>
            <a:r>
              <a:rPr lang="zh-CN" altLang="en-US" sz="2400" dirty="0"/>
              <a:t>   </a:t>
            </a:r>
            <a:r>
              <a:rPr lang="en-US" altLang="zh-CN" sz="2400" dirty="0"/>
              <a:t>CMOS</a:t>
            </a:r>
            <a:r>
              <a:rPr lang="zh-CN" altLang="en-US" sz="2400" dirty="0"/>
              <a:t>反相器的电压传输特性如图所示。该特性曲线大致分为</a:t>
            </a:r>
            <a:r>
              <a:rPr lang="en-US" altLang="zh-CN" sz="2400" dirty="0"/>
              <a:t>AB</a:t>
            </a:r>
            <a:r>
              <a:rPr lang="zh-CN" altLang="en-US" sz="2400" dirty="0"/>
              <a:t>、 </a:t>
            </a:r>
            <a:r>
              <a:rPr lang="en-US" altLang="zh-CN" sz="2400" dirty="0"/>
              <a:t>BC</a:t>
            </a:r>
            <a:r>
              <a:rPr lang="zh-CN" altLang="en-US" sz="2400" dirty="0"/>
              <a:t>、 </a:t>
            </a:r>
            <a:r>
              <a:rPr lang="en-US" altLang="zh-CN" sz="2400" dirty="0"/>
              <a:t>CD</a:t>
            </a:r>
            <a:r>
              <a:rPr lang="zh-CN" altLang="en-US" sz="2400" dirty="0"/>
              <a:t>三个阶段。 </a:t>
            </a:r>
            <a:endParaRPr lang="zh-CN" altLang="en-US" sz="2400" dirty="0"/>
          </a:p>
          <a:p>
            <a:pPr marL="0" lvl="0" indent="0" algn="just">
              <a:lnSpc>
                <a:spcPct val="165000"/>
              </a:lnSpc>
              <a:spcBef>
                <a:spcPct val="50000"/>
              </a:spcBef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AB</a:t>
            </a:r>
            <a:r>
              <a:rPr lang="zh-CN" altLang="en-US" sz="2400" dirty="0"/>
              <a:t>段：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＜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TN</a:t>
            </a:r>
            <a:r>
              <a:rPr lang="zh-CN" altLang="en-US" sz="2400" dirty="0"/>
              <a:t>输入低电平时，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GS1</a:t>
            </a:r>
            <a:r>
              <a:rPr lang="zh-CN" altLang="en-US" sz="2400" dirty="0"/>
              <a:t>＜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TN</a:t>
            </a:r>
            <a:r>
              <a:rPr lang="en-US" altLang="zh-CN" sz="2400" dirty="0"/>
              <a:t>, |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GS2</a:t>
            </a:r>
            <a:r>
              <a:rPr lang="en-US" altLang="zh-CN" sz="2400" dirty="0"/>
              <a:t>|</a:t>
            </a:r>
            <a:r>
              <a:rPr lang="zh-CN" altLang="en-US" sz="2400" dirty="0"/>
              <a:t>＞</a:t>
            </a:r>
            <a:r>
              <a:rPr lang="en-US" altLang="zh-CN" sz="2400" dirty="0"/>
              <a:t>|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TP</a:t>
            </a:r>
            <a:r>
              <a:rPr lang="en-US" altLang="zh-CN" sz="2400" dirty="0"/>
              <a:t>|</a:t>
            </a:r>
            <a:r>
              <a:rPr lang="zh-CN" altLang="en-US" sz="2400" dirty="0"/>
              <a:t>， 故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截止，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导通，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O</a:t>
            </a:r>
            <a:r>
              <a:rPr lang="en-US" altLang="zh-CN" sz="2400" dirty="0"/>
              <a:t>=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OH</a:t>
            </a:r>
            <a:r>
              <a:rPr lang="en-US" altLang="zh-CN" sz="2400" dirty="0"/>
              <a:t>≈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DD</a:t>
            </a:r>
            <a:r>
              <a:rPr lang="zh-CN" altLang="en-US" sz="2400" dirty="0"/>
              <a:t>，输出高电平。    </a:t>
            </a:r>
            <a:endParaRPr lang="zh-CN" altLang="en-US" sz="2400" dirty="0"/>
          </a:p>
          <a:p>
            <a:pPr marL="0" lvl="0" indent="0" algn="just">
              <a:lnSpc>
                <a:spcPct val="165000"/>
              </a:lnSpc>
              <a:spcBef>
                <a:spcPct val="50000"/>
              </a:spcBef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CD</a:t>
            </a:r>
            <a:r>
              <a:rPr lang="zh-CN" altLang="en-US" sz="2400" dirty="0"/>
              <a:t>段：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＞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DD</a:t>
            </a:r>
            <a:r>
              <a:rPr lang="en-US" altLang="zh-CN" sz="2400" dirty="0"/>
              <a:t>-|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TP</a:t>
            </a:r>
            <a:r>
              <a:rPr lang="en-US" altLang="zh-CN" sz="2400" dirty="0"/>
              <a:t>|</a:t>
            </a:r>
            <a:r>
              <a:rPr lang="zh-CN" altLang="en-US" sz="2400" dirty="0"/>
              <a:t>输入为高电平，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导通，而</a:t>
            </a:r>
            <a:r>
              <a:rPr lang="en-US" altLang="zh-CN" sz="2400" dirty="0"/>
              <a:t>|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GS2</a:t>
            </a:r>
            <a:r>
              <a:rPr lang="en-US" altLang="zh-CN" sz="2400" dirty="0"/>
              <a:t>|</a:t>
            </a:r>
            <a:r>
              <a:rPr lang="zh-CN" altLang="en-US" sz="2400" dirty="0"/>
              <a:t>＜</a:t>
            </a:r>
            <a:r>
              <a:rPr lang="en-US" altLang="zh-CN" sz="2400" dirty="0"/>
              <a:t>|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TP</a:t>
            </a:r>
            <a:r>
              <a:rPr lang="en-US" altLang="zh-CN" sz="2400" dirty="0"/>
              <a:t>|</a:t>
            </a:r>
            <a:r>
              <a:rPr lang="zh-CN" altLang="en-US" sz="2400" dirty="0"/>
              <a:t>，故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截止，所以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O</a:t>
            </a:r>
            <a:r>
              <a:rPr lang="en-US" altLang="zh-CN" sz="2400" dirty="0"/>
              <a:t>=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OL</a:t>
            </a:r>
            <a:r>
              <a:rPr lang="en-US" altLang="zh-CN" sz="2400" dirty="0"/>
              <a:t>≈0</a:t>
            </a:r>
            <a:r>
              <a:rPr lang="zh-CN" altLang="en-US" sz="2400" dirty="0"/>
              <a:t>，输出低电平。 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Text Box 2"/>
          <p:cNvSpPr txBox="1"/>
          <p:nvPr/>
        </p:nvSpPr>
        <p:spPr>
          <a:xfrm>
            <a:off x="2286000" y="5943600"/>
            <a:ext cx="51895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sz="2400" dirty="0"/>
              <a:t>图 </a:t>
            </a:r>
            <a:r>
              <a:rPr lang="en-US" altLang="zh-CN" sz="2400" dirty="0"/>
              <a:t>3-21 CMOS</a:t>
            </a:r>
            <a:r>
              <a:rPr lang="zh-CN" altLang="en-US" sz="2400" dirty="0"/>
              <a:t>反相器的电压传输特性 </a:t>
            </a:r>
            <a:endParaRPr lang="zh-CN" altLang="en-US" sz="2400" dirty="0"/>
          </a:p>
        </p:txBody>
      </p:sp>
      <p:graphicFrame>
        <p:nvGraphicFramePr>
          <p:cNvPr id="46083" name="Object 2"/>
          <p:cNvGraphicFramePr>
            <a:graphicFrameLocks noChangeAspect="1"/>
          </p:cNvGraphicFramePr>
          <p:nvPr/>
        </p:nvGraphicFramePr>
        <p:xfrm>
          <a:off x="1447800" y="1066800"/>
          <a:ext cx="6248400" cy="499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" imgW="1882140" imgH="1508760" progId="Visio.Drawing.4">
                  <p:embed/>
                </p:oleObj>
              </mc:Choice>
              <mc:Fallback>
                <p:oleObj name="" r:id="rId1" imgW="1882140" imgH="1508760" progId="Visio.Drawing.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47800" y="1066800"/>
                        <a:ext cx="6248400" cy="4991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Text Box 4"/>
          <p:cNvSpPr txBox="1"/>
          <p:nvPr/>
        </p:nvSpPr>
        <p:spPr>
          <a:xfrm>
            <a:off x="762000" y="735013"/>
            <a:ext cx="7772400" cy="294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30000"/>
              </a:lnSpc>
              <a:spcBef>
                <a:spcPct val="50000"/>
              </a:spcBef>
              <a:buNone/>
            </a:pPr>
            <a:r>
              <a:rPr lang="en-US" altLang="zh-CN" sz="2400" i="1" dirty="0"/>
              <a:t>        BC</a:t>
            </a:r>
            <a:r>
              <a:rPr lang="zh-CN" altLang="en-US" sz="2400" dirty="0"/>
              <a:t>段：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TN</a:t>
            </a:r>
            <a:r>
              <a:rPr lang="zh-CN" altLang="en-US" sz="2400" dirty="0"/>
              <a:t>＜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＜</a:t>
            </a:r>
            <a:r>
              <a:rPr lang="en-US" altLang="zh-CN" sz="2400" dirty="0"/>
              <a:t>(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DD</a:t>
            </a:r>
            <a:r>
              <a:rPr lang="en-US" altLang="zh-CN" sz="2400" dirty="0"/>
              <a:t>-|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TP</a:t>
            </a:r>
            <a:r>
              <a:rPr lang="en-US" altLang="zh-CN" sz="2400" dirty="0"/>
              <a:t>|)</a:t>
            </a:r>
            <a:r>
              <a:rPr lang="zh-CN" altLang="en-US" sz="2400" dirty="0"/>
              <a:t>，此时由于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GS1</a:t>
            </a:r>
            <a:r>
              <a:rPr lang="zh-CN" altLang="en-US" sz="2400" dirty="0"/>
              <a:t>＞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TN</a:t>
            </a:r>
            <a:r>
              <a:rPr lang="zh-CN" altLang="en-US" sz="2400" dirty="0"/>
              <a:t>，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GS2</a:t>
            </a:r>
            <a:r>
              <a:rPr lang="zh-CN" altLang="en-US" sz="2400" dirty="0"/>
              <a:t>＞</a:t>
            </a:r>
            <a:r>
              <a:rPr lang="en-US" altLang="zh-CN" sz="2400" dirty="0"/>
              <a:t>|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TP</a:t>
            </a:r>
            <a:r>
              <a:rPr lang="en-US" altLang="zh-CN" sz="2400" dirty="0"/>
              <a:t>|</a:t>
            </a:r>
            <a:r>
              <a:rPr lang="zh-CN" altLang="en-US" sz="2400" dirty="0"/>
              <a:t>，故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、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均导通。若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、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的参数对称，则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=1/2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DD</a:t>
            </a:r>
            <a:r>
              <a:rPr lang="zh-CN" altLang="en-US" sz="2400" dirty="0"/>
              <a:t>时两管导通内阻相等，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O</a:t>
            </a:r>
            <a:r>
              <a:rPr lang="en-US" altLang="zh-CN" sz="2400" dirty="0"/>
              <a:t>=1/2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DD</a:t>
            </a:r>
            <a:r>
              <a:rPr lang="zh-CN" altLang="en-US" sz="2400" dirty="0"/>
              <a:t>。因此，</a:t>
            </a:r>
            <a:r>
              <a:rPr lang="en-US" altLang="zh-CN" sz="2400" dirty="0"/>
              <a:t>CMOS</a:t>
            </a:r>
            <a:r>
              <a:rPr lang="zh-CN" altLang="en-US" sz="2400" dirty="0"/>
              <a:t>反相器的阈值电压为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T</a:t>
            </a:r>
            <a:r>
              <a:rPr lang="en-US" altLang="zh-CN" sz="2400" dirty="0"/>
              <a:t>≈1/2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DD</a:t>
            </a:r>
            <a:r>
              <a:rPr lang="zh-CN" altLang="en-US" sz="2400" dirty="0"/>
              <a:t>。</a:t>
            </a:r>
            <a:r>
              <a:rPr lang="en-US" altLang="zh-CN" sz="2400" i="1" dirty="0"/>
              <a:t>BC</a:t>
            </a:r>
            <a:r>
              <a:rPr lang="zh-CN" altLang="en-US" sz="2400" dirty="0"/>
              <a:t>段特性曲线很陡，可见</a:t>
            </a:r>
            <a:r>
              <a:rPr lang="en-US" altLang="zh-CN" sz="2400" dirty="0"/>
              <a:t>CMOS</a:t>
            </a:r>
            <a:r>
              <a:rPr lang="zh-CN" altLang="en-US" sz="2400" dirty="0"/>
              <a:t>反相器的传输特性接近理想开关特性， 因而其噪声容限大，抗干扰能力强。</a:t>
            </a:r>
            <a:endParaRPr lang="zh-CN" altLang="en-US" sz="2400" dirty="0"/>
          </a:p>
        </p:txBody>
      </p:sp>
      <p:sp>
        <p:nvSpPr>
          <p:cNvPr id="47107" name="Text Box 5"/>
          <p:cNvSpPr txBox="1"/>
          <p:nvPr/>
        </p:nvSpPr>
        <p:spPr>
          <a:xfrm>
            <a:off x="762000" y="3859213"/>
            <a:ext cx="7924800" cy="2465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>
              <a:lnSpc>
                <a:spcPct val="130000"/>
              </a:lnSpc>
              <a:spcBef>
                <a:spcPct val="50000"/>
              </a:spcBef>
              <a:buNone/>
            </a:pPr>
            <a:r>
              <a:rPr lang="en-US" altLang="zh-CN" sz="2400" dirty="0"/>
              <a:t>       CMOS</a:t>
            </a:r>
            <a:r>
              <a:rPr lang="zh-CN" altLang="en-US" sz="2400" dirty="0"/>
              <a:t>反相器的电流传输特性如图所示，在</a:t>
            </a:r>
            <a:r>
              <a:rPr lang="en-US" altLang="zh-CN" sz="2400" dirty="0"/>
              <a:t>AB</a:t>
            </a:r>
            <a:r>
              <a:rPr lang="zh-CN" altLang="en-US" sz="2400" dirty="0"/>
              <a:t>段由于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截止，阻抗很高，所以流过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的漏电流几乎为</a:t>
            </a:r>
            <a:r>
              <a:rPr lang="en-US" altLang="zh-CN" sz="2400" dirty="0"/>
              <a:t>0</a:t>
            </a:r>
            <a:r>
              <a:rPr lang="zh-CN" altLang="en-US" sz="2400" dirty="0"/>
              <a:t>。 在</a:t>
            </a:r>
            <a:r>
              <a:rPr lang="en-US" altLang="zh-CN" sz="2400" dirty="0"/>
              <a:t>CD</a:t>
            </a:r>
            <a:r>
              <a:rPr lang="zh-CN" altLang="en-US" sz="2400" dirty="0"/>
              <a:t>段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截止，阻抗很高，所以流过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的漏电流也几乎为</a:t>
            </a:r>
            <a:r>
              <a:rPr lang="en-US" altLang="zh-CN" sz="2400" dirty="0"/>
              <a:t>0</a:t>
            </a:r>
            <a:r>
              <a:rPr lang="zh-CN" altLang="en-US" sz="2400" dirty="0"/>
              <a:t>。只有在</a:t>
            </a:r>
            <a:r>
              <a:rPr lang="en-US" altLang="zh-CN" sz="2400" dirty="0"/>
              <a:t>BC</a:t>
            </a:r>
            <a:r>
              <a:rPr lang="zh-CN" altLang="en-US" sz="2400" dirty="0"/>
              <a:t>段，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均导通时才有电流</a:t>
            </a:r>
            <a:r>
              <a:rPr lang="en-US" altLang="zh-CN" sz="2400" i="1" dirty="0"/>
              <a:t>i</a:t>
            </a:r>
            <a:r>
              <a:rPr lang="en-US" altLang="zh-CN" sz="2400" baseline="-25000" dirty="0"/>
              <a:t>D</a:t>
            </a:r>
            <a:r>
              <a:rPr lang="zh-CN" altLang="en-US" sz="2400" dirty="0"/>
              <a:t>流过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和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，并且在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=1/2</a:t>
            </a:r>
            <a:r>
              <a:rPr lang="en-US" altLang="zh-CN" sz="2400" i="1" dirty="0"/>
              <a:t>U</a:t>
            </a:r>
            <a:r>
              <a:rPr lang="en-US" altLang="zh-CN" sz="2400" baseline="-25000" dirty="0"/>
              <a:t>DD</a:t>
            </a:r>
            <a:r>
              <a:rPr lang="zh-CN" altLang="en-US" sz="2400" dirty="0"/>
              <a:t>附近，</a:t>
            </a:r>
            <a:r>
              <a:rPr lang="en-US" altLang="zh-CN" sz="2400" i="1" dirty="0"/>
              <a:t>i</a:t>
            </a:r>
            <a:r>
              <a:rPr lang="en-US" altLang="zh-CN" sz="2400" baseline="-25000" dirty="0"/>
              <a:t>D</a:t>
            </a:r>
            <a:r>
              <a:rPr lang="zh-CN" altLang="en-US" sz="2400" dirty="0"/>
              <a:t>最大。 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Text Box 5"/>
          <p:cNvSpPr txBox="1"/>
          <p:nvPr/>
        </p:nvSpPr>
        <p:spPr>
          <a:xfrm>
            <a:off x="2133600" y="5715000"/>
            <a:ext cx="5349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 </a:t>
            </a:r>
            <a:r>
              <a:rPr lang="zh-CN" altLang="en-US" sz="2400" dirty="0"/>
              <a:t>图 </a:t>
            </a:r>
            <a:r>
              <a:rPr lang="en-US" altLang="zh-CN" sz="2400" dirty="0"/>
              <a:t>3-22  CMOS</a:t>
            </a:r>
            <a:r>
              <a:rPr lang="zh-CN" altLang="en-US" sz="2400" dirty="0"/>
              <a:t>反相器的电流传输特性</a:t>
            </a:r>
            <a:endParaRPr lang="zh-CN" altLang="en-US" sz="2400" dirty="0"/>
          </a:p>
        </p:txBody>
      </p:sp>
      <p:graphicFrame>
        <p:nvGraphicFramePr>
          <p:cNvPr id="48131" name="Object 2"/>
          <p:cNvGraphicFramePr>
            <a:graphicFrameLocks noChangeAspect="1"/>
          </p:cNvGraphicFramePr>
          <p:nvPr/>
        </p:nvGraphicFramePr>
        <p:xfrm>
          <a:off x="1524000" y="1066800"/>
          <a:ext cx="6096000" cy="439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1684020" imgH="1219200" progId="Visio.Drawing.4">
                  <p:embed/>
                </p:oleObj>
              </mc:Choice>
              <mc:Fallback>
                <p:oleObj name="" r:id="rId1" imgW="1684020" imgH="1219200" progId="Visio.Drawing.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0" y="1066800"/>
                        <a:ext cx="6096000" cy="439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5"/>
          <p:cNvGrpSpPr/>
          <p:nvPr/>
        </p:nvGrpSpPr>
        <p:grpSpPr>
          <a:xfrm>
            <a:off x="381000" y="1066800"/>
            <a:ext cx="8458200" cy="5181600"/>
            <a:chOff x="240" y="816"/>
            <a:chExt cx="5328" cy="3264"/>
          </a:xfrm>
        </p:grpSpPr>
        <p:sp>
          <p:nvSpPr>
            <p:cNvPr id="49180" name="Rectangle 6" descr="蓝色砂纸"/>
            <p:cNvSpPr/>
            <p:nvPr/>
          </p:nvSpPr>
          <p:spPr>
            <a:xfrm>
              <a:off x="240" y="816"/>
              <a:ext cx="5328" cy="3264"/>
            </a:xfrm>
            <a:prstGeom prst="rect">
              <a:avLst/>
            </a:prstGeom>
            <a:blipFill rotWithShape="0">
              <a:blip r:embed="rId1"/>
            </a:blipFill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49181" name="Text Box 7"/>
            <p:cNvSpPr txBox="1"/>
            <p:nvPr/>
          </p:nvSpPr>
          <p:spPr>
            <a:xfrm>
              <a:off x="300" y="864"/>
              <a:ext cx="24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en-US" altLang="zh-CN" sz="2800" dirty="0">
                  <a:sym typeface="Symbol" panose="05050102010706020507" pitchFamily="18" charset="2"/>
                </a:rPr>
                <a:t>C</a:t>
              </a:r>
              <a:r>
                <a:rPr lang="en-US" altLang="zh-CN" sz="2800" b="1" dirty="0">
                  <a:sym typeface="Symbol" panose="05050102010706020507" pitchFamily="18" charset="2"/>
                </a:rPr>
                <a:t>MOS</a:t>
              </a:r>
              <a:r>
                <a:rPr lang="zh-CN" altLang="en-US" sz="2800" b="1" dirty="0">
                  <a:sym typeface="Symbol" panose="05050102010706020507" pitchFamily="18" charset="2"/>
                </a:rPr>
                <a:t>传输门（</a:t>
              </a:r>
              <a:r>
                <a:rPr lang="en-US" altLang="zh-CN" sz="2800" b="1" dirty="0">
                  <a:sym typeface="Symbol" panose="05050102010706020507" pitchFamily="18" charset="2"/>
                </a:rPr>
                <a:t>TG</a:t>
              </a:r>
              <a:r>
                <a:rPr lang="zh-CN" altLang="en-US" sz="2800" b="1" dirty="0">
                  <a:sym typeface="Symbol" panose="05050102010706020507" pitchFamily="18" charset="2"/>
                </a:rPr>
                <a:t>）</a:t>
              </a:r>
              <a:endParaRPr lang="zh-CN" altLang="en-US" sz="2400" dirty="0"/>
            </a:p>
          </p:txBody>
        </p:sp>
      </p:grpSp>
      <p:graphicFrame>
        <p:nvGraphicFramePr>
          <p:cNvPr id="72704" name="Object 0"/>
          <p:cNvGraphicFramePr>
            <a:graphicFrameLocks noChangeAspect="1"/>
          </p:cNvGraphicFramePr>
          <p:nvPr/>
        </p:nvGraphicFramePr>
        <p:xfrm>
          <a:off x="3810000" y="1676400"/>
          <a:ext cx="49530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2" imgW="3914775" imgH="2505075" progId="Paint.Picture">
                  <p:embed/>
                </p:oleObj>
              </mc:Choice>
              <mc:Fallback>
                <p:oleObj name="" r:id="rId2" imgW="3914775" imgH="2505075" progId="Paint.Picture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0" y="1676400"/>
                        <a:ext cx="4953000" cy="419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2"/>
          <p:cNvGrpSpPr/>
          <p:nvPr/>
        </p:nvGrpSpPr>
        <p:grpSpPr>
          <a:xfrm>
            <a:off x="4800600" y="1981200"/>
            <a:ext cx="1752600" cy="2286000"/>
            <a:chOff x="3024" y="1392"/>
            <a:chExt cx="1104" cy="1440"/>
          </a:xfrm>
        </p:grpSpPr>
        <p:sp>
          <p:nvSpPr>
            <p:cNvPr id="49178" name="Line 10"/>
            <p:cNvSpPr/>
            <p:nvPr/>
          </p:nvSpPr>
          <p:spPr>
            <a:xfrm flipH="1" flipV="1">
              <a:off x="3024" y="1392"/>
              <a:ext cx="1104" cy="1152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179" name="Line 11"/>
            <p:cNvSpPr/>
            <p:nvPr/>
          </p:nvSpPr>
          <p:spPr>
            <a:xfrm flipH="1">
              <a:off x="3360" y="2544"/>
              <a:ext cx="768" cy="288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4" name="Group 18"/>
          <p:cNvGrpSpPr/>
          <p:nvPr/>
        </p:nvGrpSpPr>
        <p:grpSpPr>
          <a:xfrm>
            <a:off x="6781800" y="3886200"/>
            <a:ext cx="2362200" cy="1676400"/>
            <a:chOff x="4272" y="2592"/>
            <a:chExt cx="1488" cy="1056"/>
          </a:xfrm>
        </p:grpSpPr>
        <p:sp>
          <p:nvSpPr>
            <p:cNvPr id="49174" name="AutoShape 13"/>
            <p:cNvSpPr/>
            <p:nvPr/>
          </p:nvSpPr>
          <p:spPr>
            <a:xfrm>
              <a:off x="4272" y="2592"/>
              <a:ext cx="1488" cy="1056"/>
            </a:xfrm>
            <a:prstGeom prst="wedgeRoundRectCallout">
              <a:avLst>
                <a:gd name="adj1" fmla="val -60551"/>
                <a:gd name="adj2" fmla="val -55870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grpSp>
          <p:nvGrpSpPr>
            <p:cNvPr id="49175" name="Group 17"/>
            <p:cNvGrpSpPr/>
            <p:nvPr/>
          </p:nvGrpSpPr>
          <p:grpSpPr>
            <a:xfrm>
              <a:off x="4313" y="2784"/>
              <a:ext cx="1447" cy="748"/>
              <a:chOff x="4313" y="2784"/>
              <a:chExt cx="1447" cy="748"/>
            </a:xfrm>
          </p:grpSpPr>
          <p:sp>
            <p:nvSpPr>
              <p:cNvPr id="49176" name="Text Box 15"/>
              <p:cNvSpPr txBox="1"/>
              <p:nvPr/>
            </p:nvSpPr>
            <p:spPr>
              <a:xfrm>
                <a:off x="4313" y="2784"/>
                <a:ext cx="1447" cy="748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栅极控制电压为互补信号，如</a:t>
                </a:r>
                <a:r>
                  <a:rPr lang="en-US" altLang="zh-CN" sz="2400" b="1" dirty="0"/>
                  <a:t>C=0</a:t>
                </a:r>
                <a:r>
                  <a:rPr lang="zh-CN" altLang="en-US" sz="2400" b="1" dirty="0"/>
                  <a:t>，</a:t>
                </a:r>
                <a:r>
                  <a:rPr lang="en-US" altLang="zh-CN" sz="2400" b="1" dirty="0"/>
                  <a:t>C=V</a:t>
                </a:r>
                <a:r>
                  <a:rPr lang="en-US" altLang="zh-CN" sz="2400" b="1" baseline="-25000" dirty="0"/>
                  <a:t>DD</a:t>
                </a:r>
                <a:endParaRPr lang="en-US" altLang="zh-CN" sz="2400" b="1" dirty="0"/>
              </a:p>
            </p:txBody>
          </p:sp>
          <p:sp>
            <p:nvSpPr>
              <p:cNvPr id="49177" name="Line 16"/>
              <p:cNvSpPr/>
              <p:nvPr/>
            </p:nvSpPr>
            <p:spPr>
              <a:xfrm>
                <a:off x="5136" y="3312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42003" name="Text Box 19"/>
          <p:cNvSpPr txBox="1"/>
          <p:nvPr/>
        </p:nvSpPr>
        <p:spPr>
          <a:xfrm>
            <a:off x="419100" y="1600200"/>
            <a:ext cx="1714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工作原理：</a:t>
            </a:r>
            <a:endParaRPr lang="zh-CN" altLang="en-US" sz="2400" b="1" dirty="0"/>
          </a:p>
        </p:txBody>
      </p:sp>
      <p:grpSp>
        <p:nvGrpSpPr>
          <p:cNvPr id="6" name="Group 35"/>
          <p:cNvGrpSpPr/>
          <p:nvPr/>
        </p:nvGrpSpPr>
        <p:grpSpPr>
          <a:xfrm>
            <a:off x="381000" y="2057400"/>
            <a:ext cx="3124200" cy="457200"/>
            <a:chOff x="240" y="1440"/>
            <a:chExt cx="1968" cy="288"/>
          </a:xfrm>
        </p:grpSpPr>
        <p:sp>
          <p:nvSpPr>
            <p:cNvPr id="49172" name="Text Box 20"/>
            <p:cNvSpPr txBox="1"/>
            <p:nvPr/>
          </p:nvSpPr>
          <p:spPr>
            <a:xfrm>
              <a:off x="240" y="1440"/>
              <a:ext cx="19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当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C = 0V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， 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C= V</a:t>
              </a:r>
              <a:r>
                <a:rPr lang="en-US" altLang="zh-CN" sz="2400" b="1" baseline="-25000" dirty="0">
                  <a:latin typeface="宋体" panose="02010600030101010101" pitchFamily="2" charset="-122"/>
                </a:rPr>
                <a:t>DD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时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49173" name="Line 21"/>
            <p:cNvSpPr/>
            <p:nvPr/>
          </p:nvSpPr>
          <p:spPr>
            <a:xfrm>
              <a:off x="1344" y="1488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2007" name="Text Box 23"/>
          <p:cNvSpPr txBox="1"/>
          <p:nvPr/>
        </p:nvSpPr>
        <p:spPr>
          <a:xfrm>
            <a:off x="533400" y="2438400"/>
            <a:ext cx="2971800" cy="26479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</a:rPr>
              <a:t>均截止，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由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～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DD</a:t>
            </a:r>
            <a:r>
              <a:rPr lang="zh-CN" altLang="en-US" sz="2400" b="1" dirty="0">
                <a:latin typeface="宋体" panose="02010600030101010101" pitchFamily="2" charset="-122"/>
              </a:rPr>
              <a:t>变化时，传输门呈现高阻状态，相当于开关断开， </a:t>
            </a:r>
            <a:r>
              <a:rPr lang="en-US" altLang="zh-CN" sz="2400" b="1" dirty="0">
                <a:latin typeface="宋体" panose="02010600030101010101" pitchFamily="2" charset="-122"/>
              </a:rPr>
              <a:t>C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L</a:t>
            </a:r>
            <a:r>
              <a:rPr lang="zh-CN" altLang="en-US" sz="2400" b="1" dirty="0">
                <a:latin typeface="宋体" panose="02010600030101010101" pitchFamily="2" charset="-122"/>
              </a:rPr>
              <a:t>上的电平保持不变，这种状态称为传输门保存信息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7" name="Group 34"/>
          <p:cNvGrpSpPr/>
          <p:nvPr/>
        </p:nvGrpSpPr>
        <p:grpSpPr>
          <a:xfrm>
            <a:off x="381000" y="1984375"/>
            <a:ext cx="3352800" cy="4038600"/>
            <a:chOff x="288" y="1392"/>
            <a:chExt cx="2112" cy="2544"/>
          </a:xfrm>
        </p:grpSpPr>
        <p:sp>
          <p:nvSpPr>
            <p:cNvPr id="49168" name="Rectangle 26" descr="蓝色砂纸"/>
            <p:cNvSpPr/>
            <p:nvPr/>
          </p:nvSpPr>
          <p:spPr>
            <a:xfrm>
              <a:off x="336" y="1392"/>
              <a:ext cx="2016" cy="2544"/>
            </a:xfrm>
            <a:prstGeom prst="rect">
              <a:avLst/>
            </a:prstGeom>
            <a:blipFill rotWithShape="0">
              <a:blip r:embed="rId1"/>
            </a:blipFill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grpSp>
          <p:nvGrpSpPr>
            <p:cNvPr id="49169" name="Group 32"/>
            <p:cNvGrpSpPr/>
            <p:nvPr/>
          </p:nvGrpSpPr>
          <p:grpSpPr>
            <a:xfrm>
              <a:off x="288" y="1392"/>
              <a:ext cx="2112" cy="288"/>
              <a:chOff x="288" y="1392"/>
              <a:chExt cx="2112" cy="288"/>
            </a:xfrm>
          </p:grpSpPr>
          <p:sp>
            <p:nvSpPr>
              <p:cNvPr id="49170" name="Text Box 28"/>
              <p:cNvSpPr txBox="1"/>
              <p:nvPr/>
            </p:nvSpPr>
            <p:spPr>
              <a:xfrm>
                <a:off x="288" y="1392"/>
                <a:ext cx="211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latin typeface="宋体" panose="02010600030101010101" pitchFamily="2" charset="-122"/>
                  </a:rPr>
                  <a:t>当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C = V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DD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， 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C= 0V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时，</a:t>
                </a:r>
                <a:endParaRPr lang="zh-CN" altLang="en-US" sz="2400" b="1" dirty="0"/>
              </a:p>
            </p:txBody>
          </p:sp>
          <p:sp>
            <p:nvSpPr>
              <p:cNvPr id="49171" name="Line 29"/>
              <p:cNvSpPr/>
              <p:nvPr/>
            </p:nvSpPr>
            <p:spPr>
              <a:xfrm>
                <a:off x="1440" y="1440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42014" name="Text Box 30"/>
          <p:cNvSpPr txBox="1"/>
          <p:nvPr/>
        </p:nvSpPr>
        <p:spPr>
          <a:xfrm>
            <a:off x="533400" y="3067050"/>
            <a:ext cx="28956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在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T</a:t>
            </a:r>
            <a:r>
              <a:rPr lang="zh-CN" altLang="en-US" sz="2400" b="1" dirty="0">
                <a:latin typeface="宋体" panose="02010600030101010101" pitchFamily="2" charset="-122"/>
              </a:rPr>
              <a:t>～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DD</a:t>
            </a:r>
            <a:r>
              <a:rPr lang="zh-CN" altLang="en-US" sz="2400" b="1" dirty="0">
                <a:latin typeface="宋体" panose="02010600030101010101" pitchFamily="2" charset="-122"/>
              </a:rPr>
              <a:t>范围变化时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</a:rPr>
              <a:t>导通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2015" name="Text Box 31"/>
          <p:cNvSpPr txBox="1"/>
          <p:nvPr/>
        </p:nvSpPr>
        <p:spPr>
          <a:xfrm>
            <a:off x="533400" y="3813175"/>
            <a:ext cx="3124200" cy="22828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即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在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～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DD</a:t>
            </a:r>
            <a:r>
              <a:rPr lang="zh-CN" altLang="en-US" sz="2400" b="1" dirty="0">
                <a:latin typeface="宋体" panose="02010600030101010101" pitchFamily="2" charset="-122"/>
              </a:rPr>
              <a:t>范围变化时，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</a:rPr>
              <a:t>中至少有一只管子导通，使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O</a:t>
            </a:r>
            <a:r>
              <a:rPr lang="en-US" altLang="zh-CN" sz="2400" b="1" dirty="0">
                <a:latin typeface="宋体" panose="02010600030101010101" pitchFamily="2" charset="-122"/>
              </a:rPr>
              <a:t>=V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，这相当于开关接通，这种状态称为传输门传输信息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2017" name="Text Box 33"/>
          <p:cNvSpPr txBox="1"/>
          <p:nvPr/>
        </p:nvSpPr>
        <p:spPr>
          <a:xfrm>
            <a:off x="533400" y="2365375"/>
            <a:ext cx="31242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由</a:t>
            </a:r>
            <a:r>
              <a:rPr lang="en-US" altLang="zh-CN" sz="2400" b="1" dirty="0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～（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DD</a:t>
            </a:r>
            <a:r>
              <a:rPr lang="en-US" altLang="zh-CN" sz="2400" b="1" dirty="0">
                <a:latin typeface="宋体" panose="02010600030101010101" pitchFamily="2" charset="-122"/>
              </a:rPr>
              <a:t>-V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T</a:t>
            </a:r>
            <a:r>
              <a:rPr lang="zh-CN" altLang="en-US" sz="2400" b="1" dirty="0">
                <a:latin typeface="宋体" panose="02010600030101010101" pitchFamily="2" charset="-122"/>
              </a:rPr>
              <a:t>）范围变化时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导通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9165" name="Object 1">
            <a:hlinkClick r:id="rId4" action="ppaction://hlinksldjump"/>
          </p:cNvPr>
          <p:cNvGraphicFramePr>
            <a:graphicFrameLocks noChangeAspect="1"/>
          </p:cNvGraphicFramePr>
          <p:nvPr/>
        </p:nvGraphicFramePr>
        <p:xfrm>
          <a:off x="7572375" y="62690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5" imgW="-9525" imgH="-9525" progId="MS_ClipArt_Gallery.2">
                  <p:embed/>
                </p:oleObj>
              </mc:Choice>
              <mc:Fallback>
                <p:oleObj name="" r:id="rId5" imgW="-9525" imgH="-9525" progId="MS_ClipArt_Gallery.2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72375" y="62690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6" name="Text Box 37">
            <a:hlinkClick r:id="rId4" action="ppaction://hlinksldjump"/>
          </p:cNvPr>
          <p:cNvSpPr txBox="1"/>
          <p:nvPr/>
        </p:nvSpPr>
        <p:spPr>
          <a:xfrm>
            <a:off x="7620000" y="62484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  <p:sp>
        <p:nvSpPr>
          <p:cNvPr id="49167" name="Text Box 38"/>
          <p:cNvSpPr txBox="1"/>
          <p:nvPr/>
        </p:nvSpPr>
        <p:spPr>
          <a:xfrm>
            <a:off x="1676400" y="136525"/>
            <a:ext cx="5105400" cy="701675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0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CMOS</a:t>
            </a:r>
            <a:r>
              <a:rPr lang="zh-CN" altLang="en-US" sz="40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电路</a:t>
            </a:r>
            <a:endParaRPr lang="zh-CN" altLang="en-US" sz="40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3" grpId="0"/>
      <p:bldP spid="42007" grpId="0"/>
      <p:bldP spid="42014" grpId="0"/>
      <p:bldP spid="42015" grpId="0"/>
      <p:bldP spid="4201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0178" name="Group 3"/>
          <p:cNvGrpSpPr/>
          <p:nvPr/>
        </p:nvGrpSpPr>
        <p:grpSpPr>
          <a:xfrm>
            <a:off x="381000" y="1295400"/>
            <a:ext cx="8458200" cy="5181600"/>
            <a:chOff x="240" y="816"/>
            <a:chExt cx="5328" cy="3264"/>
          </a:xfrm>
        </p:grpSpPr>
        <p:sp>
          <p:nvSpPr>
            <p:cNvPr id="50204" name="Rectangle 4" descr="蓝色砂纸"/>
            <p:cNvSpPr/>
            <p:nvPr/>
          </p:nvSpPr>
          <p:spPr>
            <a:xfrm>
              <a:off x="240" y="816"/>
              <a:ext cx="5328" cy="3264"/>
            </a:xfrm>
            <a:prstGeom prst="rect">
              <a:avLst/>
            </a:prstGeom>
            <a:blipFill rotWithShape="0">
              <a:blip r:embed="rId1"/>
            </a:blipFill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0205" name="Text Box 5"/>
            <p:cNvSpPr txBox="1"/>
            <p:nvPr/>
          </p:nvSpPr>
          <p:spPr>
            <a:xfrm>
              <a:off x="300" y="864"/>
              <a:ext cx="24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en-US" altLang="zh-CN" sz="2800" dirty="0">
                  <a:sym typeface="Symbol" panose="05050102010706020507" pitchFamily="18" charset="2"/>
                </a:rPr>
                <a:t>C</a:t>
              </a:r>
              <a:r>
                <a:rPr lang="en-US" altLang="zh-CN" sz="2800" b="1" dirty="0">
                  <a:sym typeface="Symbol" panose="05050102010706020507" pitchFamily="18" charset="2"/>
                </a:rPr>
                <a:t>MOS</a:t>
              </a:r>
              <a:r>
                <a:rPr lang="zh-CN" altLang="en-US" sz="2800" b="1" dirty="0">
                  <a:sym typeface="Symbol" panose="05050102010706020507" pitchFamily="18" charset="2"/>
                </a:rPr>
                <a:t>传输门（</a:t>
              </a:r>
              <a:r>
                <a:rPr lang="en-US" altLang="zh-CN" sz="2800" b="1" dirty="0">
                  <a:sym typeface="Symbol" panose="05050102010706020507" pitchFamily="18" charset="2"/>
                </a:rPr>
                <a:t>TG</a:t>
              </a:r>
              <a:r>
                <a:rPr lang="zh-CN" altLang="en-US" sz="2800" b="1" dirty="0">
                  <a:sym typeface="Symbol" panose="05050102010706020507" pitchFamily="18" charset="2"/>
                </a:rPr>
                <a:t>）</a:t>
              </a:r>
              <a:endParaRPr lang="zh-CN" altLang="en-US" sz="2400" dirty="0"/>
            </a:p>
          </p:txBody>
        </p:sp>
      </p:grpSp>
      <p:graphicFrame>
        <p:nvGraphicFramePr>
          <p:cNvPr id="50179" name="Object 0"/>
          <p:cNvGraphicFramePr>
            <a:graphicFrameLocks noChangeAspect="1"/>
          </p:cNvGraphicFramePr>
          <p:nvPr/>
        </p:nvGraphicFramePr>
        <p:xfrm>
          <a:off x="3810000" y="1905000"/>
          <a:ext cx="49530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2" imgW="3914775" imgH="2505075" progId="Paint.Picture">
                  <p:embed/>
                </p:oleObj>
              </mc:Choice>
              <mc:Fallback>
                <p:oleObj name="" r:id="rId2" imgW="3914775" imgH="2505075" progId="Paint.Picture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0" y="1905000"/>
                        <a:ext cx="4953000" cy="388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0" name="Text Box 7"/>
          <p:cNvSpPr txBox="1"/>
          <p:nvPr/>
        </p:nvSpPr>
        <p:spPr>
          <a:xfrm>
            <a:off x="419100" y="1828800"/>
            <a:ext cx="1714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工作原理：</a:t>
            </a:r>
            <a:endParaRPr lang="zh-CN" altLang="en-US" sz="2400" b="1" dirty="0"/>
          </a:p>
        </p:txBody>
      </p:sp>
      <p:sp>
        <p:nvSpPr>
          <p:cNvPr id="43016" name="Text Box 8"/>
          <p:cNvSpPr txBox="1"/>
          <p:nvPr/>
        </p:nvSpPr>
        <p:spPr>
          <a:xfrm>
            <a:off x="457200" y="2255838"/>
            <a:ext cx="3276600" cy="15525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、当</a:t>
            </a:r>
            <a:r>
              <a:rPr lang="en-US" altLang="zh-CN" sz="2400" b="1" dirty="0">
                <a:latin typeface="宋体" panose="02010600030101010101" pitchFamily="2" charset="-122"/>
              </a:rPr>
              <a:t>C </a:t>
            </a:r>
            <a:r>
              <a:rPr lang="zh-CN" altLang="en-US" sz="2400" b="1" dirty="0">
                <a:latin typeface="宋体" panose="02010600030101010101" pitchFamily="2" charset="-122"/>
              </a:rPr>
              <a:t>为低电平时， 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</a:rPr>
              <a:t>截止传输门相当于开关断开，传输门保存信息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3017" name="Text Box 9"/>
          <p:cNvSpPr txBox="1"/>
          <p:nvPr/>
        </p:nvSpPr>
        <p:spPr>
          <a:xfrm>
            <a:off x="457200" y="3721100"/>
            <a:ext cx="3276600" cy="19177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、当</a:t>
            </a:r>
            <a:r>
              <a:rPr lang="en-US" altLang="zh-CN" sz="2400" b="1" dirty="0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为高电平时， 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</a:rPr>
              <a:t>中至少有一只管子导通，使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O</a:t>
            </a:r>
            <a:r>
              <a:rPr lang="en-US" altLang="zh-CN" sz="2400" b="1" dirty="0">
                <a:latin typeface="宋体" panose="02010600030101010101" pitchFamily="2" charset="-122"/>
              </a:rPr>
              <a:t>=V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I</a:t>
            </a:r>
            <a:r>
              <a:rPr lang="zh-CN" altLang="en-US" sz="2400" b="1" dirty="0">
                <a:latin typeface="宋体" panose="02010600030101010101" pitchFamily="2" charset="-122"/>
              </a:rPr>
              <a:t>，这相当于开关接通，传输门传输信息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3018" name="Text Box 10"/>
          <p:cNvSpPr txBox="1"/>
          <p:nvPr/>
        </p:nvSpPr>
        <p:spPr>
          <a:xfrm>
            <a:off x="533400" y="55626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由此可见传输门相当</a:t>
            </a:r>
            <a:endParaRPr lang="zh-CN" altLang="en-US" sz="2400" b="1" dirty="0"/>
          </a:p>
        </p:txBody>
      </p:sp>
      <p:sp>
        <p:nvSpPr>
          <p:cNvPr id="43019" name="Text Box 11"/>
          <p:cNvSpPr txBox="1"/>
          <p:nvPr/>
        </p:nvSpPr>
        <p:spPr>
          <a:xfrm>
            <a:off x="457200" y="5943600"/>
            <a:ext cx="54038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于一个理想的开关，且是一个双向开关</a:t>
            </a:r>
            <a:endParaRPr lang="zh-CN" altLang="en-US" sz="2400" b="1" dirty="0"/>
          </a:p>
        </p:txBody>
      </p:sp>
      <p:sp>
        <p:nvSpPr>
          <p:cNvPr id="43020" name="Rectangle 12"/>
          <p:cNvSpPr/>
          <p:nvPr/>
        </p:nvSpPr>
        <p:spPr>
          <a:xfrm>
            <a:off x="7239000" y="2971800"/>
            <a:ext cx="685800" cy="533400"/>
          </a:xfrm>
          <a:prstGeom prst="rect">
            <a:avLst/>
          </a:prstGeom>
          <a:noFill/>
          <a:ln w="9525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3" name="Group 15"/>
          <p:cNvGrpSpPr/>
          <p:nvPr/>
        </p:nvGrpSpPr>
        <p:grpSpPr>
          <a:xfrm>
            <a:off x="7156450" y="1219200"/>
            <a:ext cx="1606550" cy="609600"/>
            <a:chOff x="4508" y="768"/>
            <a:chExt cx="1012" cy="384"/>
          </a:xfrm>
        </p:grpSpPr>
        <p:sp>
          <p:nvSpPr>
            <p:cNvPr id="50202" name="AutoShape 13"/>
            <p:cNvSpPr/>
            <p:nvPr/>
          </p:nvSpPr>
          <p:spPr>
            <a:xfrm>
              <a:off x="4512" y="768"/>
              <a:ext cx="1008" cy="384"/>
            </a:xfrm>
            <a:prstGeom prst="wedgeRoundRectCallout">
              <a:avLst>
                <a:gd name="adj1" fmla="val -39880"/>
                <a:gd name="adj2" fmla="val 231509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0203" name="Text Box 14"/>
            <p:cNvSpPr txBox="1"/>
            <p:nvPr/>
          </p:nvSpPr>
          <p:spPr>
            <a:xfrm>
              <a:off x="4508" y="816"/>
              <a:ext cx="890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逻辑符号</a:t>
              </a:r>
              <a:endParaRPr lang="zh-CN" altLang="en-US" sz="2400" b="1" dirty="0"/>
            </a:p>
          </p:txBody>
        </p:sp>
      </p:grpSp>
      <p:grpSp>
        <p:nvGrpSpPr>
          <p:cNvPr id="4" name="Group 26"/>
          <p:cNvGrpSpPr/>
          <p:nvPr/>
        </p:nvGrpSpPr>
        <p:grpSpPr>
          <a:xfrm>
            <a:off x="6394450" y="3505200"/>
            <a:ext cx="796925" cy="685800"/>
            <a:chOff x="4028" y="2208"/>
            <a:chExt cx="502" cy="432"/>
          </a:xfrm>
        </p:grpSpPr>
        <p:sp>
          <p:nvSpPr>
            <p:cNvPr id="50200" name="AutoShape 16"/>
            <p:cNvSpPr/>
            <p:nvPr/>
          </p:nvSpPr>
          <p:spPr>
            <a:xfrm>
              <a:off x="4032" y="2208"/>
              <a:ext cx="480" cy="432"/>
            </a:xfrm>
            <a:prstGeom prst="wedgeEllipseCallout">
              <a:avLst>
                <a:gd name="adj1" fmla="val 23542"/>
                <a:gd name="adj2" fmla="val -88889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0201" name="Text Box 17"/>
            <p:cNvSpPr txBox="1"/>
            <p:nvPr/>
          </p:nvSpPr>
          <p:spPr>
            <a:xfrm>
              <a:off x="4028" y="2256"/>
              <a:ext cx="502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输入</a:t>
              </a:r>
              <a:endParaRPr lang="zh-CN" altLang="en-US" sz="2400" b="1" dirty="0"/>
            </a:p>
          </p:txBody>
        </p:sp>
      </p:grpSp>
      <p:grpSp>
        <p:nvGrpSpPr>
          <p:cNvPr id="5" name="Group 27"/>
          <p:cNvGrpSpPr/>
          <p:nvPr/>
        </p:nvGrpSpPr>
        <p:grpSpPr>
          <a:xfrm>
            <a:off x="8305800" y="3200400"/>
            <a:ext cx="844550" cy="762000"/>
            <a:chOff x="5232" y="2016"/>
            <a:chExt cx="532" cy="480"/>
          </a:xfrm>
        </p:grpSpPr>
        <p:sp>
          <p:nvSpPr>
            <p:cNvPr id="50198" name="AutoShape 18"/>
            <p:cNvSpPr/>
            <p:nvPr/>
          </p:nvSpPr>
          <p:spPr>
            <a:xfrm>
              <a:off x="5232" y="2016"/>
              <a:ext cx="528" cy="480"/>
            </a:xfrm>
            <a:prstGeom prst="wedgeEllipseCallout">
              <a:avLst>
                <a:gd name="adj1" fmla="val -53787"/>
                <a:gd name="adj2" fmla="val -52292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0199" name="Text Box 19"/>
            <p:cNvSpPr txBox="1"/>
            <p:nvPr/>
          </p:nvSpPr>
          <p:spPr>
            <a:xfrm>
              <a:off x="5262" y="2112"/>
              <a:ext cx="502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输出</a:t>
              </a:r>
              <a:endParaRPr lang="zh-CN" altLang="en-US" sz="2400" b="1" dirty="0"/>
            </a:p>
          </p:txBody>
        </p:sp>
      </p:grpSp>
      <p:grpSp>
        <p:nvGrpSpPr>
          <p:cNvPr id="6" name="Group 22"/>
          <p:cNvGrpSpPr/>
          <p:nvPr/>
        </p:nvGrpSpPr>
        <p:grpSpPr>
          <a:xfrm>
            <a:off x="7620000" y="2667000"/>
            <a:ext cx="838200" cy="1676400"/>
            <a:chOff x="4800" y="1680"/>
            <a:chExt cx="528" cy="1056"/>
          </a:xfrm>
        </p:grpSpPr>
        <p:sp>
          <p:nvSpPr>
            <p:cNvPr id="50196" name="Line 20"/>
            <p:cNvSpPr/>
            <p:nvPr/>
          </p:nvSpPr>
          <p:spPr>
            <a:xfrm>
              <a:off x="4800" y="1680"/>
              <a:ext cx="528" cy="1056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0197" name="Line 21"/>
            <p:cNvSpPr/>
            <p:nvPr/>
          </p:nvSpPr>
          <p:spPr>
            <a:xfrm>
              <a:off x="4800" y="2400"/>
              <a:ext cx="528" cy="336"/>
            </a:xfrm>
            <a:prstGeom prst="line">
              <a:avLst/>
            </a:prstGeom>
            <a:ln w="3810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" name="Group 25"/>
          <p:cNvGrpSpPr/>
          <p:nvPr/>
        </p:nvGrpSpPr>
        <p:grpSpPr>
          <a:xfrm>
            <a:off x="7986713" y="4648200"/>
            <a:ext cx="1157287" cy="914400"/>
            <a:chOff x="5031" y="2928"/>
            <a:chExt cx="729" cy="576"/>
          </a:xfrm>
        </p:grpSpPr>
        <p:sp>
          <p:nvSpPr>
            <p:cNvPr id="50194" name="AutoShape 23"/>
            <p:cNvSpPr/>
            <p:nvPr/>
          </p:nvSpPr>
          <p:spPr>
            <a:xfrm>
              <a:off x="5040" y="2928"/>
              <a:ext cx="720" cy="576"/>
            </a:xfrm>
            <a:prstGeom prst="wedgeRoundRectCallout">
              <a:avLst>
                <a:gd name="adj1" fmla="val -24028"/>
                <a:gd name="adj2" fmla="val -95833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0195" name="Text Box 24"/>
            <p:cNvSpPr txBox="1"/>
            <p:nvPr/>
          </p:nvSpPr>
          <p:spPr>
            <a:xfrm>
              <a:off x="5031" y="2976"/>
              <a:ext cx="729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门控制信号</a:t>
              </a:r>
              <a:endParaRPr lang="zh-CN" altLang="en-US" sz="2400" b="1" dirty="0"/>
            </a:p>
          </p:txBody>
        </p:sp>
      </p:grpSp>
      <p:graphicFrame>
        <p:nvGraphicFramePr>
          <p:cNvPr id="50191" name="Object 1">
            <a:hlinkClick r:id="rId4" action="ppaction://hlinksldjump"/>
          </p:cNvPr>
          <p:cNvGraphicFramePr>
            <a:graphicFrameLocks noChangeAspect="1"/>
          </p:cNvGraphicFramePr>
          <p:nvPr/>
        </p:nvGraphicFramePr>
        <p:xfrm>
          <a:off x="7419975" y="58880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5" imgW="-9525" imgH="-9525" progId="MS_ClipArt_Gallery.2">
                  <p:embed/>
                </p:oleObj>
              </mc:Choice>
              <mc:Fallback>
                <p:oleObj name="" r:id="rId5" imgW="-9525" imgH="-9525" progId="MS_ClipArt_Gallery.2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19975" y="58880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2" name="Text Box 29">
            <a:hlinkClick r:id="rId4" action="ppaction://hlinksldjump"/>
          </p:cNvPr>
          <p:cNvSpPr txBox="1"/>
          <p:nvPr/>
        </p:nvSpPr>
        <p:spPr>
          <a:xfrm>
            <a:off x="7467600" y="58674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  <p:sp>
        <p:nvSpPr>
          <p:cNvPr id="50193" name="Text Box 30"/>
          <p:cNvSpPr txBox="1"/>
          <p:nvPr/>
        </p:nvSpPr>
        <p:spPr>
          <a:xfrm>
            <a:off x="1676400" y="304800"/>
            <a:ext cx="51054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CMOS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电路</a:t>
            </a:r>
            <a:endParaRPr lang="zh-CN" altLang="en-US" sz="44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3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6" grpId="0"/>
      <p:bldP spid="43017" grpId="0"/>
      <p:bldP spid="43018" grpId="0"/>
      <p:bldP spid="43019" grpId="0"/>
      <p:bldP spid="430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6"/>
          <p:cNvGrpSpPr/>
          <p:nvPr/>
        </p:nvGrpSpPr>
        <p:grpSpPr>
          <a:xfrm>
            <a:off x="381000" y="1295400"/>
            <a:ext cx="8458200" cy="4724400"/>
            <a:chOff x="240" y="816"/>
            <a:chExt cx="5328" cy="3264"/>
          </a:xfrm>
        </p:grpSpPr>
        <p:sp>
          <p:nvSpPr>
            <p:cNvPr id="51234" name="Rectangle 4" descr="蓝色砂纸"/>
            <p:cNvSpPr/>
            <p:nvPr/>
          </p:nvSpPr>
          <p:spPr>
            <a:xfrm>
              <a:off x="240" y="816"/>
              <a:ext cx="5328" cy="3264"/>
            </a:xfrm>
            <a:prstGeom prst="rect">
              <a:avLst/>
            </a:prstGeom>
            <a:blipFill rotWithShape="0">
              <a:blip r:embed="rId1"/>
            </a:blipFill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b="1" dirty="0"/>
            </a:p>
          </p:txBody>
        </p:sp>
        <p:sp>
          <p:nvSpPr>
            <p:cNvPr id="51235" name="Text Box 5"/>
            <p:cNvSpPr txBox="1"/>
            <p:nvPr/>
          </p:nvSpPr>
          <p:spPr>
            <a:xfrm>
              <a:off x="282" y="849"/>
              <a:ext cx="1905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en-US" altLang="zh-CN" sz="2800" b="1" dirty="0">
                  <a:sym typeface="Symbol" panose="05050102010706020507" pitchFamily="18" charset="2"/>
                </a:rPr>
                <a:t>CMOS</a:t>
              </a:r>
              <a:r>
                <a:rPr lang="zh-CN" altLang="en-US" sz="2800" b="1" dirty="0">
                  <a:solidFill>
                    <a:schemeClr val="accent2"/>
                  </a:solidFill>
                  <a:sym typeface="Symbol" panose="05050102010706020507" pitchFamily="18" charset="2"/>
                </a:rPr>
                <a:t>模拟开关</a:t>
              </a:r>
              <a:endParaRPr lang="zh-CN" altLang="en-US" sz="2400" b="1" dirty="0"/>
            </a:p>
          </p:txBody>
        </p:sp>
      </p:grpSp>
      <p:grpSp>
        <p:nvGrpSpPr>
          <p:cNvPr id="3" name="Group 31"/>
          <p:cNvGrpSpPr/>
          <p:nvPr/>
        </p:nvGrpSpPr>
        <p:grpSpPr>
          <a:xfrm>
            <a:off x="3733800" y="1524000"/>
            <a:ext cx="2971800" cy="4343400"/>
            <a:chOff x="2352" y="960"/>
            <a:chExt cx="1872" cy="2736"/>
          </a:xfrm>
        </p:grpSpPr>
        <p:graphicFrame>
          <p:nvGraphicFramePr>
            <p:cNvPr id="51232" name="Object 2"/>
            <p:cNvGraphicFramePr>
              <a:graphicFrameLocks noChangeAspect="1"/>
            </p:cNvGraphicFramePr>
            <p:nvPr/>
          </p:nvGraphicFramePr>
          <p:xfrm>
            <a:off x="2352" y="960"/>
            <a:ext cx="1872" cy="2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2" imgW="2314575" imgH="2428875" progId="Paint.Picture">
                    <p:embed/>
                  </p:oleObj>
                </mc:Choice>
                <mc:Fallback>
                  <p:oleObj name="" r:id="rId2" imgW="2314575" imgH="2428875" progId="Paint.Picture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352" y="960"/>
                          <a:ext cx="1872" cy="24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33" name="Text Box 9"/>
            <p:cNvSpPr txBox="1"/>
            <p:nvPr/>
          </p:nvSpPr>
          <p:spPr>
            <a:xfrm>
              <a:off x="3071" y="3408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电路图</a:t>
              </a:r>
              <a:endParaRPr lang="zh-CN" altLang="en-US" sz="2400" b="1" dirty="0"/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685800" y="2209800"/>
            <a:ext cx="2895600" cy="1905000"/>
            <a:chOff x="576" y="1392"/>
            <a:chExt cx="1824" cy="1200"/>
          </a:xfrm>
        </p:grpSpPr>
        <p:sp>
          <p:nvSpPr>
            <p:cNvPr id="51230" name="AutoShape 13"/>
            <p:cNvSpPr/>
            <p:nvPr/>
          </p:nvSpPr>
          <p:spPr>
            <a:xfrm>
              <a:off x="576" y="1392"/>
              <a:ext cx="1824" cy="1200"/>
            </a:xfrm>
            <a:prstGeom prst="wedgeRoundRectCallout">
              <a:avLst>
                <a:gd name="adj1" fmla="val 6634"/>
                <a:gd name="adj2" fmla="val -73667"/>
                <a:gd name="adj3" fmla="val 16667"/>
              </a:avLst>
            </a:prstGeom>
            <a:solidFill>
              <a:srgbClr val="FFCC00"/>
            </a:solidFill>
            <a:ln w="9525">
              <a:noFill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1231" name="Text Box 14"/>
            <p:cNvSpPr txBox="1"/>
            <p:nvPr/>
          </p:nvSpPr>
          <p:spPr>
            <a:xfrm>
              <a:off x="624" y="1488"/>
              <a:ext cx="1680" cy="97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控制模拟信号传输的一种电子开关，</a:t>
              </a:r>
              <a:endParaRPr lang="zh-CN" altLang="en-US" sz="2400" b="1" dirty="0">
                <a:latin typeface="宋体" panose="02010600030101010101" pitchFamily="2" charset="-122"/>
              </a:endParaRPr>
            </a:p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通与断是由数字信号控制的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5" name="Group 40"/>
          <p:cNvGrpSpPr/>
          <p:nvPr/>
        </p:nvGrpSpPr>
        <p:grpSpPr>
          <a:xfrm>
            <a:off x="1066800" y="3200400"/>
            <a:ext cx="5486400" cy="3276600"/>
            <a:chOff x="672" y="2016"/>
            <a:chExt cx="3456" cy="2064"/>
          </a:xfrm>
        </p:grpSpPr>
        <p:sp>
          <p:nvSpPr>
            <p:cNvPr id="51223" name="Rectangle 11"/>
            <p:cNvSpPr/>
            <p:nvPr/>
          </p:nvSpPr>
          <p:spPr>
            <a:xfrm>
              <a:off x="3168" y="2016"/>
              <a:ext cx="960" cy="1200"/>
            </a:xfrm>
            <a:prstGeom prst="rect">
              <a:avLst/>
            </a:prstGeom>
            <a:noFill/>
            <a:ln w="38100" cap="flat" cmpd="sng">
              <a:solidFill>
                <a:srgbClr val="00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1224" name="Line 17"/>
            <p:cNvSpPr/>
            <p:nvPr/>
          </p:nvSpPr>
          <p:spPr>
            <a:xfrm flipH="1">
              <a:off x="2880" y="2880"/>
              <a:ext cx="288" cy="240"/>
            </a:xfrm>
            <a:prstGeom prst="line">
              <a:avLst/>
            </a:prstGeom>
            <a:ln w="57150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1225" name="Group 38"/>
            <p:cNvGrpSpPr/>
            <p:nvPr/>
          </p:nvGrpSpPr>
          <p:grpSpPr>
            <a:xfrm>
              <a:off x="672" y="3120"/>
              <a:ext cx="2064" cy="960"/>
              <a:chOff x="912" y="2976"/>
              <a:chExt cx="2064" cy="960"/>
            </a:xfrm>
          </p:grpSpPr>
          <p:sp>
            <p:nvSpPr>
              <p:cNvPr id="51226" name="AutoShape 19"/>
              <p:cNvSpPr/>
              <p:nvPr/>
            </p:nvSpPr>
            <p:spPr>
              <a:xfrm>
                <a:off x="912" y="2976"/>
                <a:ext cx="2064" cy="960"/>
              </a:xfrm>
              <a:prstGeom prst="wedgeRoundRectCallout">
                <a:avLst>
                  <a:gd name="adj1" fmla="val 58333"/>
                  <a:gd name="adj2" fmla="val -56773"/>
                  <a:gd name="adj3" fmla="val 16667"/>
                </a:avLst>
              </a:prstGeom>
              <a:solidFill>
                <a:srgbClr val="FFCC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/>
              </a:p>
            </p:txBody>
          </p:sp>
          <p:grpSp>
            <p:nvGrpSpPr>
              <p:cNvPr id="51227" name="Group 22"/>
              <p:cNvGrpSpPr/>
              <p:nvPr/>
            </p:nvGrpSpPr>
            <p:grpSpPr>
              <a:xfrm>
                <a:off x="1056" y="3120"/>
                <a:ext cx="1876" cy="748"/>
                <a:chOff x="-1784" y="3034"/>
                <a:chExt cx="2024" cy="748"/>
              </a:xfrm>
            </p:grpSpPr>
            <p:sp>
              <p:nvSpPr>
                <p:cNvPr id="51228" name="Text Box 20"/>
                <p:cNvSpPr txBox="1"/>
                <p:nvPr/>
              </p:nvSpPr>
              <p:spPr>
                <a:xfrm>
                  <a:off x="-1784" y="3034"/>
                  <a:ext cx="2024" cy="748"/>
                </a:xfrm>
                <a:prstGeom prst="rect">
                  <a:avLst/>
                </a:prstGeom>
                <a:solidFill>
                  <a:srgbClr val="FFCC00"/>
                </a:solidFill>
                <a:ln w="9525">
                  <a:noFill/>
                </a:ln>
              </p:spPr>
              <p:txBody>
                <a:bodyPr lIns="90000" tIns="46800" rIns="90000" bIns="46800" anchor="ctr" anchorCtr="0">
                  <a:spAutoFit/>
                </a:bodyPr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3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8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kumimoji="1" sz="24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zh-CN" altLang="en-US" sz="2400" b="1" dirty="0">
                      <a:latin typeface="宋体" panose="02010600030101010101" pitchFamily="2" charset="-122"/>
                    </a:rPr>
                    <a:t>反相器的输入和输出提供传输门两个反相控制信号（</a:t>
                  </a:r>
                  <a:r>
                    <a:rPr lang="en-US" altLang="zh-CN" sz="2400" b="1" dirty="0">
                      <a:latin typeface="宋体" panose="02010600030101010101" pitchFamily="2" charset="-122"/>
                    </a:rPr>
                    <a:t>C</a:t>
                  </a:r>
                  <a:r>
                    <a:rPr lang="zh-CN" altLang="en-US" sz="2400" b="1" dirty="0">
                      <a:latin typeface="宋体" panose="02010600030101010101" pitchFamily="2" charset="-122"/>
                    </a:rPr>
                    <a:t>和</a:t>
                  </a:r>
                  <a:r>
                    <a:rPr lang="en-US" altLang="zh-CN" sz="2400" b="1" dirty="0">
                      <a:latin typeface="宋体" panose="02010600030101010101" pitchFamily="2" charset="-122"/>
                    </a:rPr>
                    <a:t>C</a:t>
                  </a:r>
                  <a:r>
                    <a:rPr lang="zh-CN" altLang="en-US" sz="2400" b="1" dirty="0">
                      <a:latin typeface="宋体" panose="02010600030101010101" pitchFamily="2" charset="-122"/>
                    </a:rPr>
                    <a:t>）</a:t>
                  </a:r>
                  <a:endParaRPr lang="zh-CN" altLang="en-US" sz="2400" b="1" dirty="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51229" name="Line 21"/>
                <p:cNvSpPr/>
                <p:nvPr/>
              </p:nvSpPr>
              <p:spPr>
                <a:xfrm>
                  <a:off x="-288" y="3552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8" name="Group 39"/>
          <p:cNvGrpSpPr/>
          <p:nvPr/>
        </p:nvGrpSpPr>
        <p:grpSpPr>
          <a:xfrm>
            <a:off x="3048000" y="1600200"/>
            <a:ext cx="2895600" cy="2743200"/>
            <a:chOff x="1920" y="1008"/>
            <a:chExt cx="1824" cy="1728"/>
          </a:xfrm>
        </p:grpSpPr>
        <p:sp>
          <p:nvSpPr>
            <p:cNvPr id="51218" name="Rectangle 12"/>
            <p:cNvSpPr/>
            <p:nvPr/>
          </p:nvSpPr>
          <p:spPr>
            <a:xfrm>
              <a:off x="2784" y="1008"/>
              <a:ext cx="960" cy="960"/>
            </a:xfrm>
            <a:prstGeom prst="rect">
              <a:avLst/>
            </a:prstGeom>
            <a:noFill/>
            <a:ln w="38100" cap="flat" cmpd="sng">
              <a:solidFill>
                <a:srgbClr val="CC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1219" name="Line 18"/>
            <p:cNvSpPr/>
            <p:nvPr/>
          </p:nvSpPr>
          <p:spPr>
            <a:xfrm flipH="1">
              <a:off x="2496" y="1872"/>
              <a:ext cx="288" cy="240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1220" name="Group 33"/>
            <p:cNvGrpSpPr/>
            <p:nvPr/>
          </p:nvGrpSpPr>
          <p:grpSpPr>
            <a:xfrm>
              <a:off x="1920" y="2160"/>
              <a:ext cx="912" cy="576"/>
              <a:chOff x="1968" y="2208"/>
              <a:chExt cx="912" cy="576"/>
            </a:xfrm>
          </p:grpSpPr>
          <p:sp>
            <p:nvSpPr>
              <p:cNvPr id="51221" name="AutoShape 24"/>
              <p:cNvSpPr/>
              <p:nvPr/>
            </p:nvSpPr>
            <p:spPr>
              <a:xfrm>
                <a:off x="1968" y="2208"/>
                <a:ext cx="912" cy="576"/>
              </a:xfrm>
              <a:prstGeom prst="wedgeRoundRectCallout">
                <a:avLst>
                  <a:gd name="adj1" fmla="val 12829"/>
                  <a:gd name="adj2" fmla="val -65278"/>
                  <a:gd name="adj3" fmla="val 16667"/>
                </a:avLst>
              </a:prstGeom>
              <a:solidFill>
                <a:srgbClr val="FFCC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/>
              </a:p>
            </p:txBody>
          </p:sp>
          <p:sp>
            <p:nvSpPr>
              <p:cNvPr id="51222" name="Text Box 25"/>
              <p:cNvSpPr txBox="1"/>
              <p:nvPr/>
            </p:nvSpPr>
            <p:spPr>
              <a:xfrm>
                <a:off x="2062" y="2352"/>
                <a:ext cx="696" cy="288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传输门</a:t>
                </a:r>
                <a:endParaRPr lang="zh-CN" altLang="en-US" sz="2400" b="1" dirty="0"/>
              </a:p>
            </p:txBody>
          </p:sp>
        </p:grpSp>
      </p:grpSp>
      <p:sp>
        <p:nvSpPr>
          <p:cNvPr id="44058" name="Text Box 26"/>
          <p:cNvSpPr txBox="1"/>
          <p:nvPr/>
        </p:nvSpPr>
        <p:spPr>
          <a:xfrm>
            <a:off x="501650" y="2057400"/>
            <a:ext cx="1860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、电路结构</a:t>
            </a:r>
            <a:endParaRPr lang="zh-CN" altLang="en-US" sz="2400" b="1" dirty="0"/>
          </a:p>
        </p:txBody>
      </p:sp>
      <p:sp>
        <p:nvSpPr>
          <p:cNvPr id="44059" name="Text Box 27"/>
          <p:cNvSpPr txBox="1"/>
          <p:nvPr/>
        </p:nvSpPr>
        <p:spPr>
          <a:xfrm>
            <a:off x="501650" y="2667000"/>
            <a:ext cx="1860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、逻辑符号</a:t>
            </a:r>
            <a:endParaRPr lang="zh-CN" altLang="en-US" sz="2400" b="1" dirty="0"/>
          </a:p>
        </p:txBody>
      </p:sp>
      <p:sp>
        <p:nvSpPr>
          <p:cNvPr id="44060" name="Line 28"/>
          <p:cNvSpPr/>
          <p:nvPr/>
        </p:nvSpPr>
        <p:spPr>
          <a:xfrm>
            <a:off x="2438400" y="2819400"/>
            <a:ext cx="4267200" cy="990600"/>
          </a:xfrm>
          <a:prstGeom prst="line">
            <a:avLst/>
          </a:prstGeom>
          <a:ln w="76200" cap="flat" cmpd="sng">
            <a:solidFill>
              <a:srgbClr val="00FF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0" name="Group 34"/>
          <p:cNvGrpSpPr/>
          <p:nvPr/>
        </p:nvGrpSpPr>
        <p:grpSpPr>
          <a:xfrm>
            <a:off x="6705600" y="1524000"/>
            <a:ext cx="2124075" cy="4343400"/>
            <a:chOff x="4224" y="960"/>
            <a:chExt cx="1338" cy="2736"/>
          </a:xfrm>
        </p:grpSpPr>
        <p:grpSp>
          <p:nvGrpSpPr>
            <p:cNvPr id="51214" name="Group 32"/>
            <p:cNvGrpSpPr/>
            <p:nvPr/>
          </p:nvGrpSpPr>
          <p:grpSpPr>
            <a:xfrm>
              <a:off x="4224" y="960"/>
              <a:ext cx="1338" cy="2736"/>
              <a:chOff x="4224" y="960"/>
              <a:chExt cx="1338" cy="2736"/>
            </a:xfrm>
          </p:grpSpPr>
          <p:graphicFrame>
            <p:nvGraphicFramePr>
              <p:cNvPr id="51216" name="Object 1"/>
              <p:cNvGraphicFramePr>
                <a:graphicFrameLocks noChangeAspect="1"/>
              </p:cNvGraphicFramePr>
              <p:nvPr/>
            </p:nvGraphicFramePr>
            <p:xfrm>
              <a:off x="4224" y="960"/>
              <a:ext cx="1338" cy="24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32" name="" r:id="rId4" imgW="1895475" imgH="1485900" progId="Paint.Picture">
                      <p:embed/>
                    </p:oleObj>
                  </mc:Choice>
                  <mc:Fallback>
                    <p:oleObj name="" r:id="rId4" imgW="1895475" imgH="1485900" progId="Paint.Picture">
                      <p:embed/>
                      <p:pic>
                        <p:nvPicPr>
                          <p:cNvPr id="0" name="图片 3131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224" y="960"/>
                            <a:ext cx="1338" cy="24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217" name="Text Box 10"/>
              <p:cNvSpPr txBox="1"/>
              <p:nvPr/>
            </p:nvSpPr>
            <p:spPr>
              <a:xfrm>
                <a:off x="4512" y="3408"/>
                <a:ext cx="88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dirty="0"/>
                  <a:t>逻辑符号</a:t>
                </a:r>
                <a:endParaRPr lang="zh-CN" altLang="en-US" sz="2400" dirty="0"/>
              </a:p>
            </p:txBody>
          </p:sp>
        </p:grpSp>
        <p:sp>
          <p:nvSpPr>
            <p:cNvPr id="51215" name="Rectangle 29"/>
            <p:cNvSpPr/>
            <p:nvPr/>
          </p:nvSpPr>
          <p:spPr>
            <a:xfrm>
              <a:off x="4224" y="1104"/>
              <a:ext cx="1296" cy="2208"/>
            </a:xfrm>
            <a:prstGeom prst="rect">
              <a:avLst/>
            </a:prstGeom>
            <a:noFill/>
            <a:ln w="38100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</p:grpSp>
      <p:graphicFrame>
        <p:nvGraphicFramePr>
          <p:cNvPr id="51211" name="Object 0">
            <a:hlinkClick r:id="rId6" action="ppaction://hlinksldjump"/>
          </p:cNvPr>
          <p:cNvGraphicFramePr>
            <a:graphicFrameLocks noChangeAspect="1"/>
          </p:cNvGraphicFramePr>
          <p:nvPr/>
        </p:nvGraphicFramePr>
        <p:xfrm>
          <a:off x="7620000" y="61928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7" imgW="-9525" imgH="-9525" progId="MS_ClipArt_Gallery.2">
                  <p:embed/>
                </p:oleObj>
              </mc:Choice>
              <mc:Fallback>
                <p:oleObj name="" r:id="rId7" imgW="-9525" imgH="-9525" progId="MS_ClipArt_Gallery.2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20000" y="61928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2" name="Text Box 36">
            <a:hlinkClick r:id="rId6" action="ppaction://hlinksldjump"/>
          </p:cNvPr>
          <p:cNvSpPr txBox="1"/>
          <p:nvPr/>
        </p:nvSpPr>
        <p:spPr>
          <a:xfrm>
            <a:off x="7667625" y="61722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  <p:sp>
        <p:nvSpPr>
          <p:cNvPr id="51213" name="Text Box 37"/>
          <p:cNvSpPr txBox="1"/>
          <p:nvPr/>
        </p:nvSpPr>
        <p:spPr>
          <a:xfrm>
            <a:off x="1676400" y="304800"/>
            <a:ext cx="51054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CMOS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电路</a:t>
            </a:r>
            <a:endParaRPr lang="zh-CN" altLang="en-US" sz="44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58" grpId="0"/>
      <p:bldP spid="4405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Text Box 89"/>
          <p:cNvSpPr txBox="1"/>
          <p:nvPr/>
        </p:nvSpPr>
        <p:spPr>
          <a:xfrm>
            <a:off x="1676400" y="304800"/>
            <a:ext cx="51054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CMOS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电路</a:t>
            </a:r>
            <a:endParaRPr lang="zh-CN" altLang="en-US" sz="44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52227" name="Object 87">
            <a:hlinkClick r:id="rId1" action="ppaction://hlinksldjump"/>
          </p:cNvPr>
          <p:cNvGraphicFramePr>
            <a:graphicFrameLocks noChangeAspect="1"/>
          </p:cNvGraphicFramePr>
          <p:nvPr/>
        </p:nvGraphicFramePr>
        <p:xfrm>
          <a:off x="7620000" y="62690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2" imgW="-9525" imgH="-9525" progId="MS_ClipArt_Gallery.2">
                  <p:embed/>
                </p:oleObj>
              </mc:Choice>
              <mc:Fallback>
                <p:oleObj name="" r:id="rId2" imgW="-9525" imgH="-9525" progId="MS_ClipArt_Gallery.2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0" y="62690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8" name="Text Box 88">
            <a:hlinkClick r:id="rId1" action="ppaction://hlinksldjump"/>
          </p:cNvPr>
          <p:cNvSpPr txBox="1"/>
          <p:nvPr/>
        </p:nvSpPr>
        <p:spPr>
          <a:xfrm>
            <a:off x="7667625" y="62484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  <p:grpSp>
        <p:nvGrpSpPr>
          <p:cNvPr id="2" name="Group 8"/>
          <p:cNvGrpSpPr/>
          <p:nvPr/>
        </p:nvGrpSpPr>
        <p:grpSpPr>
          <a:xfrm>
            <a:off x="304800" y="1295400"/>
            <a:ext cx="8458200" cy="4953000"/>
            <a:chOff x="240" y="816"/>
            <a:chExt cx="5328" cy="3264"/>
          </a:xfrm>
        </p:grpSpPr>
        <p:sp>
          <p:nvSpPr>
            <p:cNvPr id="52296" name="Rectangle 9" descr="蓝色砂纸"/>
            <p:cNvSpPr/>
            <p:nvPr/>
          </p:nvSpPr>
          <p:spPr>
            <a:xfrm>
              <a:off x="240" y="816"/>
              <a:ext cx="5328" cy="3264"/>
            </a:xfrm>
            <a:prstGeom prst="rect">
              <a:avLst/>
            </a:prstGeom>
            <a:blipFill rotWithShape="0">
              <a:blip r:embed="rId4"/>
            </a:blipFill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b="1" dirty="0"/>
            </a:p>
          </p:txBody>
        </p:sp>
        <p:sp>
          <p:nvSpPr>
            <p:cNvPr id="52297" name="Text Box 10"/>
            <p:cNvSpPr txBox="1"/>
            <p:nvPr/>
          </p:nvSpPr>
          <p:spPr>
            <a:xfrm>
              <a:off x="398" y="857"/>
              <a:ext cx="1674" cy="3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en-US" altLang="zh-CN" sz="2800" b="1" dirty="0">
                  <a:sym typeface="Symbol" panose="05050102010706020507" pitchFamily="18" charset="2"/>
                </a:rPr>
                <a:t>CMOS</a:t>
              </a:r>
              <a:r>
                <a:rPr lang="zh-CN" altLang="en-US" sz="2800" b="1" dirty="0">
                  <a:sym typeface="Symbol" panose="05050102010706020507" pitchFamily="18" charset="2"/>
                </a:rPr>
                <a:t>门电路</a:t>
              </a:r>
              <a:endParaRPr lang="zh-CN" altLang="en-US" sz="2400" b="1" dirty="0"/>
            </a:p>
          </p:txBody>
        </p:sp>
      </p:grpSp>
      <p:graphicFrame>
        <p:nvGraphicFramePr>
          <p:cNvPr id="38923" name="Object 11"/>
          <p:cNvGraphicFramePr>
            <a:graphicFrameLocks noChangeAspect="1"/>
          </p:cNvGraphicFramePr>
          <p:nvPr/>
        </p:nvGraphicFramePr>
        <p:xfrm>
          <a:off x="4724400" y="1447800"/>
          <a:ext cx="4000500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5" imgW="2362200" imgH="2762250" progId="Paint.Picture">
                  <p:embed/>
                </p:oleObj>
              </mc:Choice>
              <mc:Fallback>
                <p:oleObj name="" r:id="rId5" imgW="2362200" imgH="2762250" progId="Paint.Picture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24400" y="1447800"/>
                        <a:ext cx="4000500" cy="449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4" name="Text Box 12"/>
          <p:cNvSpPr txBox="1"/>
          <p:nvPr/>
        </p:nvSpPr>
        <p:spPr>
          <a:xfrm>
            <a:off x="436563" y="1905000"/>
            <a:ext cx="1773237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、与非门</a:t>
            </a:r>
            <a:endParaRPr lang="zh-CN" altLang="en-US" sz="2400" b="1" dirty="0"/>
          </a:p>
        </p:txBody>
      </p:sp>
      <p:sp>
        <p:nvSpPr>
          <p:cNvPr id="38925" name="Text Box 13"/>
          <p:cNvSpPr txBox="1"/>
          <p:nvPr/>
        </p:nvSpPr>
        <p:spPr>
          <a:xfrm>
            <a:off x="542925" y="2438400"/>
            <a:ext cx="4181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二输入</a:t>
            </a:r>
            <a:r>
              <a:rPr lang="zh-CN" altLang="en-US" sz="2400" b="1" dirty="0"/>
              <a:t>“</a:t>
            </a:r>
            <a:r>
              <a:rPr lang="zh-CN" altLang="en-US" sz="2400" b="1" dirty="0">
                <a:latin typeface="宋体" panose="02010600030101010101" pitchFamily="2" charset="-122"/>
              </a:rPr>
              <a:t>与非</a:t>
            </a:r>
            <a:r>
              <a:rPr lang="zh-CN" altLang="en-US" sz="2400" b="1" dirty="0"/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门电路结构如图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pSp>
        <p:nvGrpSpPr>
          <p:cNvPr id="3" name="Group 27"/>
          <p:cNvGrpSpPr/>
          <p:nvPr/>
        </p:nvGrpSpPr>
        <p:grpSpPr>
          <a:xfrm>
            <a:off x="5486400" y="2819400"/>
            <a:ext cx="1676400" cy="2133600"/>
            <a:chOff x="3456" y="1776"/>
            <a:chExt cx="1056" cy="1344"/>
          </a:xfrm>
        </p:grpSpPr>
        <p:sp>
          <p:nvSpPr>
            <p:cNvPr id="52293" name="Line 23"/>
            <p:cNvSpPr/>
            <p:nvPr/>
          </p:nvSpPr>
          <p:spPr>
            <a:xfrm>
              <a:off x="3456" y="3120"/>
              <a:ext cx="1056" cy="0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4" name="Line 24"/>
            <p:cNvSpPr/>
            <p:nvPr/>
          </p:nvSpPr>
          <p:spPr>
            <a:xfrm flipV="1">
              <a:off x="3552" y="1776"/>
              <a:ext cx="0" cy="1344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95" name="Line 26"/>
            <p:cNvSpPr/>
            <p:nvPr/>
          </p:nvSpPr>
          <p:spPr>
            <a:xfrm>
              <a:off x="3552" y="1776"/>
              <a:ext cx="288" cy="0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61"/>
          <p:cNvGrpSpPr/>
          <p:nvPr/>
        </p:nvGrpSpPr>
        <p:grpSpPr>
          <a:xfrm>
            <a:off x="2209800" y="2819400"/>
            <a:ext cx="4953000" cy="3124200"/>
            <a:chOff x="1392" y="1776"/>
            <a:chExt cx="3120" cy="1968"/>
          </a:xfrm>
        </p:grpSpPr>
        <p:grpSp>
          <p:nvGrpSpPr>
            <p:cNvPr id="52286" name="Group 22"/>
            <p:cNvGrpSpPr/>
            <p:nvPr/>
          </p:nvGrpSpPr>
          <p:grpSpPr>
            <a:xfrm>
              <a:off x="3504" y="1776"/>
              <a:ext cx="1008" cy="720"/>
              <a:chOff x="3504" y="1776"/>
              <a:chExt cx="1008" cy="720"/>
            </a:xfrm>
          </p:grpSpPr>
          <p:sp>
            <p:nvSpPr>
              <p:cNvPr id="52290" name="Line 19"/>
              <p:cNvSpPr/>
              <p:nvPr/>
            </p:nvSpPr>
            <p:spPr>
              <a:xfrm>
                <a:off x="3504" y="2496"/>
                <a:ext cx="1008" cy="0"/>
              </a:xfrm>
              <a:prstGeom prst="line">
                <a:avLst/>
              </a:prstGeom>
              <a:ln w="57150" cap="flat" cmpd="sng">
                <a:solidFill>
                  <a:srgbClr val="00FF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91" name="Line 20"/>
              <p:cNvSpPr/>
              <p:nvPr/>
            </p:nvSpPr>
            <p:spPr>
              <a:xfrm flipV="1">
                <a:off x="4272" y="1776"/>
                <a:ext cx="0" cy="720"/>
              </a:xfrm>
              <a:prstGeom prst="line">
                <a:avLst/>
              </a:prstGeom>
              <a:ln w="57150" cap="flat" cmpd="sng">
                <a:solidFill>
                  <a:srgbClr val="00FF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92" name="Line 21"/>
              <p:cNvSpPr/>
              <p:nvPr/>
            </p:nvSpPr>
            <p:spPr>
              <a:xfrm>
                <a:off x="4272" y="1776"/>
                <a:ext cx="192" cy="0"/>
              </a:xfrm>
              <a:prstGeom prst="line">
                <a:avLst/>
              </a:prstGeom>
              <a:ln w="57150" cap="flat" cmpd="sng">
                <a:solidFill>
                  <a:srgbClr val="00FF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2287" name="Group 53"/>
            <p:cNvGrpSpPr/>
            <p:nvPr/>
          </p:nvGrpSpPr>
          <p:grpSpPr>
            <a:xfrm>
              <a:off x="1392" y="2832"/>
              <a:ext cx="2208" cy="912"/>
              <a:chOff x="1392" y="2832"/>
              <a:chExt cx="2208" cy="912"/>
            </a:xfrm>
          </p:grpSpPr>
          <p:sp>
            <p:nvSpPr>
              <p:cNvPr id="52288" name="AutoShape 28"/>
              <p:cNvSpPr/>
              <p:nvPr/>
            </p:nvSpPr>
            <p:spPr>
              <a:xfrm>
                <a:off x="1440" y="2832"/>
                <a:ext cx="2160" cy="912"/>
              </a:xfrm>
              <a:prstGeom prst="wedgeRoundRectCallout">
                <a:avLst>
                  <a:gd name="adj1" fmla="val 41111"/>
                  <a:gd name="adj2" fmla="val -81361"/>
                  <a:gd name="adj3" fmla="val 16667"/>
                </a:avLst>
              </a:prstGeom>
              <a:solidFill>
                <a:srgbClr val="FFCC00"/>
              </a:solidFill>
              <a:ln w="9525" cap="flat" cmpd="sng">
                <a:solidFill>
                  <a:srgbClr val="CCFF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/>
              </a:p>
            </p:txBody>
          </p:sp>
          <p:sp>
            <p:nvSpPr>
              <p:cNvPr id="52289" name="Text Box 30"/>
              <p:cNvSpPr txBox="1"/>
              <p:nvPr/>
            </p:nvSpPr>
            <p:spPr>
              <a:xfrm>
                <a:off x="1392" y="2948"/>
                <a:ext cx="2064" cy="748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每个输入端与一 个 </a:t>
                </a:r>
                <a:r>
                  <a:rPr lang="en-US" altLang="zh-CN" sz="2400" b="1" dirty="0"/>
                  <a:t>NMOS</a:t>
                </a:r>
                <a:r>
                  <a:rPr lang="zh-CN" altLang="en-US" sz="2400" b="1" dirty="0"/>
                  <a:t>管和一个</a:t>
                </a:r>
                <a:r>
                  <a:rPr lang="en-US" altLang="zh-CN" sz="2400" b="1" dirty="0"/>
                  <a:t>PMOS</a:t>
                </a:r>
                <a:r>
                  <a:rPr lang="zh-CN" altLang="en-US" sz="2400" b="1" dirty="0"/>
                  <a:t>管的栅极相连</a:t>
                </a:r>
                <a:endParaRPr lang="zh-CN" altLang="en-US" sz="2400" b="1" dirty="0"/>
              </a:p>
            </p:txBody>
          </p:sp>
        </p:grpSp>
      </p:grpSp>
      <p:sp>
        <p:nvSpPr>
          <p:cNvPr id="38943" name="Rectangle 31"/>
          <p:cNvSpPr/>
          <p:nvPr/>
        </p:nvSpPr>
        <p:spPr>
          <a:xfrm>
            <a:off x="5867400" y="1752600"/>
            <a:ext cx="2133600" cy="1219200"/>
          </a:xfrm>
          <a:prstGeom prst="rect">
            <a:avLst/>
          </a:prstGeom>
          <a:noFill/>
          <a:ln w="5715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8945" name="Rectangle 33"/>
          <p:cNvSpPr/>
          <p:nvPr/>
        </p:nvSpPr>
        <p:spPr>
          <a:xfrm>
            <a:off x="7086600" y="3048000"/>
            <a:ext cx="914400" cy="2133600"/>
          </a:xfrm>
          <a:prstGeom prst="rect">
            <a:avLst/>
          </a:prstGeom>
          <a:noFill/>
          <a:ln w="57150" cap="flat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38946" name="Text Box 34"/>
          <p:cNvSpPr txBox="1"/>
          <p:nvPr/>
        </p:nvSpPr>
        <p:spPr>
          <a:xfrm>
            <a:off x="533400" y="2895600"/>
            <a:ext cx="38862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当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为高电平时</a:t>
            </a:r>
            <a:r>
              <a:rPr lang="en-US" altLang="zh-CN" sz="2400" b="1" dirty="0">
                <a:latin typeface="宋体" panose="02010600030101010101" pitchFamily="2" charset="-122"/>
              </a:rPr>
              <a:t>: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38953" name="Text Box 41"/>
          <p:cNvSpPr txBox="1"/>
          <p:nvPr/>
        </p:nvSpPr>
        <p:spPr>
          <a:xfrm>
            <a:off x="4800600" y="35052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grpSp>
        <p:nvGrpSpPr>
          <p:cNvPr id="7" name="Group 54"/>
          <p:cNvGrpSpPr/>
          <p:nvPr/>
        </p:nvGrpSpPr>
        <p:grpSpPr>
          <a:xfrm>
            <a:off x="2819400" y="838200"/>
            <a:ext cx="3048000" cy="1600200"/>
            <a:chOff x="1776" y="528"/>
            <a:chExt cx="1920" cy="1008"/>
          </a:xfrm>
        </p:grpSpPr>
        <p:sp>
          <p:nvSpPr>
            <p:cNvPr id="52282" name="Line 16"/>
            <p:cNvSpPr/>
            <p:nvPr/>
          </p:nvSpPr>
          <p:spPr>
            <a:xfrm>
              <a:off x="3072" y="1248"/>
              <a:ext cx="624" cy="288"/>
            </a:xfrm>
            <a:prstGeom prst="line">
              <a:avLst/>
            </a:prstGeom>
            <a:ln w="7620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2283" name="Group 37"/>
            <p:cNvGrpSpPr/>
            <p:nvPr/>
          </p:nvGrpSpPr>
          <p:grpSpPr>
            <a:xfrm>
              <a:off x="1776" y="528"/>
              <a:ext cx="1296" cy="672"/>
              <a:chOff x="1776" y="528"/>
              <a:chExt cx="1296" cy="672"/>
            </a:xfrm>
          </p:grpSpPr>
          <p:sp>
            <p:nvSpPr>
              <p:cNvPr id="52284" name="AutoShape 35"/>
              <p:cNvSpPr/>
              <p:nvPr/>
            </p:nvSpPr>
            <p:spPr>
              <a:xfrm>
                <a:off x="1776" y="528"/>
                <a:ext cx="1248" cy="672"/>
              </a:xfrm>
              <a:prstGeom prst="wedgeRoundRectCallout">
                <a:avLst>
                  <a:gd name="adj1" fmla="val 56491"/>
                  <a:gd name="adj2" fmla="val 62352"/>
                  <a:gd name="adj3" fmla="val 16667"/>
                </a:avLst>
              </a:prstGeom>
              <a:solidFill>
                <a:srgbClr val="FFCC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/>
              </a:p>
            </p:txBody>
          </p:sp>
          <p:sp>
            <p:nvSpPr>
              <p:cNvPr id="52285" name="Text Box 36"/>
              <p:cNvSpPr txBox="1"/>
              <p:nvPr/>
            </p:nvSpPr>
            <p:spPr>
              <a:xfrm>
                <a:off x="1776" y="624"/>
                <a:ext cx="1296" cy="518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latin typeface="宋体" panose="02010600030101010101" pitchFamily="2" charset="-122"/>
                  </a:rPr>
                  <a:t>两个并联的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PMOS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管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3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、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4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9" name="Group 55"/>
          <p:cNvGrpSpPr/>
          <p:nvPr/>
        </p:nvGrpSpPr>
        <p:grpSpPr>
          <a:xfrm>
            <a:off x="6019800" y="4495800"/>
            <a:ext cx="2362200" cy="2057400"/>
            <a:chOff x="3696" y="2832"/>
            <a:chExt cx="1488" cy="1296"/>
          </a:xfrm>
        </p:grpSpPr>
        <p:sp>
          <p:nvSpPr>
            <p:cNvPr id="52278" name="Line 18"/>
            <p:cNvSpPr/>
            <p:nvPr/>
          </p:nvSpPr>
          <p:spPr>
            <a:xfrm flipV="1">
              <a:off x="3888" y="2832"/>
              <a:ext cx="480" cy="576"/>
            </a:xfrm>
            <a:prstGeom prst="line">
              <a:avLst/>
            </a:prstGeom>
            <a:ln w="76200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2279" name="Group 40"/>
            <p:cNvGrpSpPr/>
            <p:nvPr/>
          </p:nvGrpSpPr>
          <p:grpSpPr>
            <a:xfrm>
              <a:off x="3696" y="3552"/>
              <a:ext cx="1488" cy="576"/>
              <a:chOff x="3552" y="3648"/>
              <a:chExt cx="1488" cy="576"/>
            </a:xfrm>
          </p:grpSpPr>
          <p:sp>
            <p:nvSpPr>
              <p:cNvPr id="52280" name="AutoShape 38"/>
              <p:cNvSpPr/>
              <p:nvPr/>
            </p:nvSpPr>
            <p:spPr>
              <a:xfrm>
                <a:off x="3552" y="3648"/>
                <a:ext cx="1488" cy="576"/>
              </a:xfrm>
              <a:prstGeom prst="wedgeRoundRectCallout">
                <a:avLst>
                  <a:gd name="adj1" fmla="val -35486"/>
                  <a:gd name="adj2" fmla="val -81944"/>
                  <a:gd name="adj3" fmla="val 16667"/>
                </a:avLst>
              </a:prstGeom>
              <a:solidFill>
                <a:srgbClr val="FFCC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90000" tIns="46800" rIns="9000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endParaRPr lang="zh-CN" altLang="zh-CN" sz="2400" dirty="0"/>
              </a:p>
            </p:txBody>
          </p:sp>
          <p:sp>
            <p:nvSpPr>
              <p:cNvPr id="52281" name="Text Box 17"/>
              <p:cNvSpPr txBox="1"/>
              <p:nvPr/>
            </p:nvSpPr>
            <p:spPr>
              <a:xfrm>
                <a:off x="3744" y="3696"/>
                <a:ext cx="1152" cy="518"/>
              </a:xfrm>
              <a:prstGeom prst="rect">
                <a:avLst/>
              </a:prstGeom>
              <a:solidFill>
                <a:srgbClr val="FFCC00"/>
              </a:solidFill>
              <a:ln w="9525">
                <a:noFill/>
              </a:ln>
            </p:spPr>
            <p:txBody>
              <a:bodyPr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>
                    <a:latin typeface="宋体" panose="02010600030101010101" pitchFamily="2" charset="-122"/>
                  </a:rPr>
                  <a:t>两个串联的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NMOS T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1</a:t>
                </a:r>
                <a:r>
                  <a:rPr lang="zh-CN" altLang="en-US" sz="2400" b="1" dirty="0">
                    <a:latin typeface="宋体" panose="02010600030101010101" pitchFamily="2" charset="-122"/>
                  </a:rPr>
                  <a:t>、</a:t>
                </a:r>
                <a:r>
                  <a:rPr lang="en-US" altLang="zh-CN" sz="2400" b="1" dirty="0">
                    <a:latin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2</a:t>
                </a:r>
                <a:endParaRPr lang="en-US" altLang="zh-CN" sz="2400" dirty="0"/>
              </a:p>
            </p:txBody>
          </p:sp>
        </p:grpSp>
      </p:grpSp>
      <p:grpSp>
        <p:nvGrpSpPr>
          <p:cNvPr id="11" name="Group 57"/>
          <p:cNvGrpSpPr/>
          <p:nvPr/>
        </p:nvGrpSpPr>
        <p:grpSpPr>
          <a:xfrm>
            <a:off x="7848600" y="3352800"/>
            <a:ext cx="939800" cy="457200"/>
            <a:chOff x="4944" y="2112"/>
            <a:chExt cx="592" cy="288"/>
          </a:xfrm>
        </p:grpSpPr>
        <p:sp>
          <p:nvSpPr>
            <p:cNvPr id="52276" name="Line 43"/>
            <p:cNvSpPr/>
            <p:nvPr/>
          </p:nvSpPr>
          <p:spPr>
            <a:xfrm flipH="1">
              <a:off x="4944" y="2208"/>
              <a:ext cx="288" cy="0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77" name="Text Box 44"/>
            <p:cNvSpPr txBox="1"/>
            <p:nvPr/>
          </p:nvSpPr>
          <p:spPr>
            <a:xfrm>
              <a:off x="5232" y="2112"/>
              <a:ext cx="3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通</a:t>
              </a:r>
              <a:endParaRPr lang="zh-CN" altLang="en-US" sz="2400" b="1" dirty="0"/>
            </a:p>
          </p:txBody>
        </p:sp>
      </p:grpSp>
      <p:grpSp>
        <p:nvGrpSpPr>
          <p:cNvPr id="12" name="Group 58"/>
          <p:cNvGrpSpPr/>
          <p:nvPr/>
        </p:nvGrpSpPr>
        <p:grpSpPr>
          <a:xfrm>
            <a:off x="7848600" y="4495800"/>
            <a:ext cx="939800" cy="457200"/>
            <a:chOff x="4944" y="2832"/>
            <a:chExt cx="592" cy="288"/>
          </a:xfrm>
        </p:grpSpPr>
        <p:sp>
          <p:nvSpPr>
            <p:cNvPr id="52274" name="Line 45"/>
            <p:cNvSpPr/>
            <p:nvPr/>
          </p:nvSpPr>
          <p:spPr>
            <a:xfrm flipH="1">
              <a:off x="4944" y="2928"/>
              <a:ext cx="288" cy="0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75" name="Text Box 46"/>
            <p:cNvSpPr txBox="1"/>
            <p:nvPr/>
          </p:nvSpPr>
          <p:spPr>
            <a:xfrm>
              <a:off x="5232" y="2832"/>
              <a:ext cx="3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通</a:t>
              </a:r>
              <a:endParaRPr lang="zh-CN" altLang="en-US" sz="2400" b="1" dirty="0"/>
            </a:p>
          </p:txBody>
        </p:sp>
      </p:grpSp>
      <p:grpSp>
        <p:nvGrpSpPr>
          <p:cNvPr id="13" name="Group 59"/>
          <p:cNvGrpSpPr/>
          <p:nvPr/>
        </p:nvGrpSpPr>
        <p:grpSpPr>
          <a:xfrm>
            <a:off x="6629400" y="1371600"/>
            <a:ext cx="914400" cy="990600"/>
            <a:chOff x="4176" y="864"/>
            <a:chExt cx="576" cy="624"/>
          </a:xfrm>
        </p:grpSpPr>
        <p:sp>
          <p:nvSpPr>
            <p:cNvPr id="52272" name="Line 47"/>
            <p:cNvSpPr/>
            <p:nvPr/>
          </p:nvSpPr>
          <p:spPr>
            <a:xfrm flipH="1">
              <a:off x="4176" y="1008"/>
              <a:ext cx="288" cy="480"/>
            </a:xfrm>
            <a:prstGeom prst="line">
              <a:avLst/>
            </a:prstGeom>
            <a:ln w="57150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73" name="Text Box 49"/>
            <p:cNvSpPr txBox="1"/>
            <p:nvPr/>
          </p:nvSpPr>
          <p:spPr>
            <a:xfrm>
              <a:off x="4448" y="864"/>
              <a:ext cx="3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止</a:t>
              </a:r>
              <a:endParaRPr lang="zh-CN" altLang="en-US" sz="2400" b="1" dirty="0"/>
            </a:p>
          </p:txBody>
        </p:sp>
      </p:grpSp>
      <p:grpSp>
        <p:nvGrpSpPr>
          <p:cNvPr id="14" name="Group 60"/>
          <p:cNvGrpSpPr/>
          <p:nvPr/>
        </p:nvGrpSpPr>
        <p:grpSpPr>
          <a:xfrm>
            <a:off x="7696200" y="1600200"/>
            <a:ext cx="914400" cy="990600"/>
            <a:chOff x="4848" y="1008"/>
            <a:chExt cx="576" cy="624"/>
          </a:xfrm>
        </p:grpSpPr>
        <p:sp>
          <p:nvSpPr>
            <p:cNvPr id="52270" name="Line 50"/>
            <p:cNvSpPr/>
            <p:nvPr/>
          </p:nvSpPr>
          <p:spPr>
            <a:xfrm flipH="1">
              <a:off x="4848" y="1152"/>
              <a:ext cx="288" cy="480"/>
            </a:xfrm>
            <a:prstGeom prst="line">
              <a:avLst/>
            </a:prstGeom>
            <a:ln w="57150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71" name="Text Box 51"/>
            <p:cNvSpPr txBox="1"/>
            <p:nvPr/>
          </p:nvSpPr>
          <p:spPr>
            <a:xfrm>
              <a:off x="5120" y="1008"/>
              <a:ext cx="3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止</a:t>
              </a:r>
              <a:endParaRPr lang="zh-CN" altLang="en-US" sz="2400" b="1" dirty="0"/>
            </a:p>
          </p:txBody>
        </p:sp>
      </p:grpSp>
      <p:sp>
        <p:nvSpPr>
          <p:cNvPr id="38964" name="Text Box 52"/>
          <p:cNvSpPr txBox="1"/>
          <p:nvPr/>
        </p:nvSpPr>
        <p:spPr>
          <a:xfrm>
            <a:off x="8062913" y="25908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38974" name="Text Box 62"/>
          <p:cNvSpPr txBox="1"/>
          <p:nvPr/>
        </p:nvSpPr>
        <p:spPr>
          <a:xfrm>
            <a:off x="4800600" y="49530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graphicFrame>
        <p:nvGraphicFramePr>
          <p:cNvPr id="38975" name="Object 63"/>
          <p:cNvGraphicFramePr>
            <a:graphicFrameLocks noChangeAspect="1"/>
          </p:cNvGraphicFramePr>
          <p:nvPr/>
        </p:nvGraphicFramePr>
        <p:xfrm>
          <a:off x="4724400" y="1447800"/>
          <a:ext cx="4000500" cy="457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7" imgW="2362200" imgH="2762250" progId="Paint.Picture">
                  <p:embed/>
                </p:oleObj>
              </mc:Choice>
              <mc:Fallback>
                <p:oleObj name="" r:id="rId7" imgW="2362200" imgH="2762250" progId="Paint.Picture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24400" y="1447800"/>
                        <a:ext cx="4000500" cy="4576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76" name="Text Box 64"/>
          <p:cNvSpPr txBox="1"/>
          <p:nvPr/>
        </p:nvSpPr>
        <p:spPr>
          <a:xfrm>
            <a:off x="5105400" y="3433763"/>
            <a:ext cx="395288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9900"/>
                </a:solidFill>
              </a:rPr>
              <a:t>0</a:t>
            </a:r>
            <a:endParaRPr lang="en-US" altLang="zh-CN" sz="2400" b="1" dirty="0">
              <a:solidFill>
                <a:srgbClr val="009900"/>
              </a:solidFill>
            </a:endParaRPr>
          </a:p>
        </p:txBody>
      </p:sp>
      <p:sp>
        <p:nvSpPr>
          <p:cNvPr id="38977" name="Text Box 65"/>
          <p:cNvSpPr txBox="1"/>
          <p:nvPr/>
        </p:nvSpPr>
        <p:spPr>
          <a:xfrm>
            <a:off x="5105400" y="4500563"/>
            <a:ext cx="395288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grpSp>
        <p:nvGrpSpPr>
          <p:cNvPr id="15" name="Group 66"/>
          <p:cNvGrpSpPr/>
          <p:nvPr/>
        </p:nvGrpSpPr>
        <p:grpSpPr>
          <a:xfrm>
            <a:off x="7848600" y="4424363"/>
            <a:ext cx="939800" cy="457200"/>
            <a:chOff x="4944" y="2112"/>
            <a:chExt cx="592" cy="288"/>
          </a:xfrm>
        </p:grpSpPr>
        <p:sp>
          <p:nvSpPr>
            <p:cNvPr id="52268" name="Line 67"/>
            <p:cNvSpPr/>
            <p:nvPr/>
          </p:nvSpPr>
          <p:spPr>
            <a:xfrm flipH="1">
              <a:off x="4944" y="2208"/>
              <a:ext cx="288" cy="0"/>
            </a:xfrm>
            <a:prstGeom prst="line">
              <a:avLst/>
            </a:prstGeom>
            <a:ln w="57150" cap="flat" cmpd="sng">
              <a:solidFill>
                <a:srgbClr val="CC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69" name="Text Box 68"/>
            <p:cNvSpPr txBox="1"/>
            <p:nvPr/>
          </p:nvSpPr>
          <p:spPr>
            <a:xfrm>
              <a:off x="5232" y="2112"/>
              <a:ext cx="3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通</a:t>
              </a:r>
              <a:endParaRPr lang="zh-CN" altLang="en-US" sz="2400" b="1" dirty="0"/>
            </a:p>
          </p:txBody>
        </p:sp>
      </p:grpSp>
      <p:grpSp>
        <p:nvGrpSpPr>
          <p:cNvPr id="16" name="Group 69"/>
          <p:cNvGrpSpPr/>
          <p:nvPr/>
        </p:nvGrpSpPr>
        <p:grpSpPr>
          <a:xfrm>
            <a:off x="7823200" y="3505200"/>
            <a:ext cx="944563" cy="466725"/>
            <a:chOff x="4944" y="2109"/>
            <a:chExt cx="595" cy="294"/>
          </a:xfrm>
        </p:grpSpPr>
        <p:sp>
          <p:nvSpPr>
            <p:cNvPr id="52266" name="Line 70"/>
            <p:cNvSpPr/>
            <p:nvPr/>
          </p:nvSpPr>
          <p:spPr>
            <a:xfrm flipH="1">
              <a:off x="4944" y="2208"/>
              <a:ext cx="288" cy="0"/>
            </a:xfrm>
            <a:prstGeom prst="line">
              <a:avLst/>
            </a:prstGeom>
            <a:ln w="57150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67" name="Text Box 71"/>
            <p:cNvSpPr txBox="1"/>
            <p:nvPr/>
          </p:nvSpPr>
          <p:spPr>
            <a:xfrm>
              <a:off x="5229" y="2109"/>
              <a:ext cx="310" cy="294"/>
            </a:xfrm>
            <a:prstGeom prst="rect">
              <a:avLst/>
            </a:prstGeom>
            <a:noFill/>
            <a:ln w="9525" cap="flat" cmpd="sng">
              <a:solidFill>
                <a:srgbClr val="00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止</a:t>
              </a:r>
              <a:endParaRPr lang="zh-CN" altLang="en-US" sz="2400" b="1" dirty="0"/>
            </a:p>
          </p:txBody>
        </p:sp>
      </p:grpSp>
      <p:grpSp>
        <p:nvGrpSpPr>
          <p:cNvPr id="17" name="Group 75"/>
          <p:cNvGrpSpPr/>
          <p:nvPr/>
        </p:nvGrpSpPr>
        <p:grpSpPr>
          <a:xfrm>
            <a:off x="7772400" y="1528763"/>
            <a:ext cx="914400" cy="990600"/>
            <a:chOff x="4176" y="864"/>
            <a:chExt cx="576" cy="624"/>
          </a:xfrm>
        </p:grpSpPr>
        <p:sp>
          <p:nvSpPr>
            <p:cNvPr id="52264" name="Line 76"/>
            <p:cNvSpPr/>
            <p:nvPr/>
          </p:nvSpPr>
          <p:spPr>
            <a:xfrm flipH="1">
              <a:off x="4176" y="1008"/>
              <a:ext cx="288" cy="480"/>
            </a:xfrm>
            <a:prstGeom prst="line">
              <a:avLst/>
            </a:prstGeom>
            <a:ln w="57150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65" name="Text Box 77"/>
            <p:cNvSpPr txBox="1"/>
            <p:nvPr/>
          </p:nvSpPr>
          <p:spPr>
            <a:xfrm>
              <a:off x="4448" y="864"/>
              <a:ext cx="3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通</a:t>
              </a:r>
              <a:endParaRPr lang="zh-CN" altLang="en-US" sz="2400" b="1" dirty="0"/>
            </a:p>
          </p:txBody>
        </p:sp>
      </p:grpSp>
      <p:sp>
        <p:nvSpPr>
          <p:cNvPr id="38990" name="Text Box 78"/>
          <p:cNvSpPr txBox="1"/>
          <p:nvPr/>
        </p:nvSpPr>
        <p:spPr>
          <a:xfrm>
            <a:off x="7848600" y="2595563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grpSp>
        <p:nvGrpSpPr>
          <p:cNvPr id="18" name="Group 80"/>
          <p:cNvGrpSpPr/>
          <p:nvPr/>
        </p:nvGrpSpPr>
        <p:grpSpPr>
          <a:xfrm>
            <a:off x="6629400" y="1452563"/>
            <a:ext cx="914400" cy="1062037"/>
            <a:chOff x="4176" y="915"/>
            <a:chExt cx="576" cy="669"/>
          </a:xfrm>
        </p:grpSpPr>
        <p:grpSp>
          <p:nvGrpSpPr>
            <p:cNvPr id="52260" name="Group 72"/>
            <p:cNvGrpSpPr/>
            <p:nvPr/>
          </p:nvGrpSpPr>
          <p:grpSpPr>
            <a:xfrm>
              <a:off x="4176" y="915"/>
              <a:ext cx="576" cy="624"/>
              <a:chOff x="4176" y="864"/>
              <a:chExt cx="576" cy="624"/>
            </a:xfrm>
          </p:grpSpPr>
          <p:sp>
            <p:nvSpPr>
              <p:cNvPr id="52262" name="Line 73"/>
              <p:cNvSpPr/>
              <p:nvPr/>
            </p:nvSpPr>
            <p:spPr>
              <a:xfrm flipH="1">
                <a:off x="4176" y="1008"/>
                <a:ext cx="288" cy="480"/>
              </a:xfrm>
              <a:prstGeom prst="line">
                <a:avLst/>
              </a:prstGeom>
              <a:ln w="57150">
                <a:noFill/>
              </a:ln>
            </p:spPr>
          </p:sp>
          <p:sp>
            <p:nvSpPr>
              <p:cNvPr id="52263" name="Text Box 74"/>
              <p:cNvSpPr txBox="1"/>
              <p:nvPr/>
            </p:nvSpPr>
            <p:spPr>
              <a:xfrm>
                <a:off x="4448" y="864"/>
                <a:ext cx="30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zh-CN" altLang="en-US" sz="2400" b="1" dirty="0"/>
                  <a:t>止</a:t>
                </a:r>
                <a:endParaRPr lang="zh-CN" altLang="en-US" sz="2400" b="1" dirty="0"/>
              </a:p>
            </p:txBody>
          </p:sp>
        </p:grpSp>
        <p:sp>
          <p:nvSpPr>
            <p:cNvPr id="52261" name="Line 79"/>
            <p:cNvSpPr/>
            <p:nvPr/>
          </p:nvSpPr>
          <p:spPr>
            <a:xfrm flipH="1">
              <a:off x="4176" y="1152"/>
              <a:ext cx="336" cy="432"/>
            </a:xfrm>
            <a:prstGeom prst="line">
              <a:avLst/>
            </a:prstGeom>
            <a:ln w="57150" cap="flat" cmpd="sng">
              <a:solidFill>
                <a:srgbClr val="0099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8993" name="Text Box 81"/>
          <p:cNvSpPr txBox="1"/>
          <p:nvPr/>
        </p:nvSpPr>
        <p:spPr>
          <a:xfrm>
            <a:off x="533400" y="3810000"/>
            <a:ext cx="37338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当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有一个或一个以上为低电平时</a:t>
            </a:r>
            <a:r>
              <a:rPr lang="en-US" altLang="zh-CN" sz="2400" b="1" dirty="0">
                <a:latin typeface="宋体" panose="02010600030101010101" pitchFamily="2" charset="-122"/>
              </a:rPr>
              <a:t>: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38995" name="Text Box 83"/>
          <p:cNvSpPr txBox="1"/>
          <p:nvPr/>
        </p:nvSpPr>
        <p:spPr>
          <a:xfrm>
            <a:off x="558800" y="4648200"/>
            <a:ext cx="23368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电路输出高电平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8996" name="Text Box 84"/>
          <p:cNvSpPr txBox="1"/>
          <p:nvPr/>
        </p:nvSpPr>
        <p:spPr>
          <a:xfrm>
            <a:off x="596900" y="3352800"/>
            <a:ext cx="16891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输出低电平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38997" name="Text Box 85"/>
          <p:cNvSpPr txBox="1"/>
          <p:nvPr/>
        </p:nvSpPr>
        <p:spPr>
          <a:xfrm>
            <a:off x="528638" y="5105400"/>
            <a:ext cx="4119562" cy="579438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b="1" dirty="0">
                <a:sym typeface="Symbol" panose="05050102010706020507" pitchFamily="18" charset="2"/>
              </a:rPr>
              <a:t>  </a:t>
            </a:r>
            <a:r>
              <a:rPr lang="zh-CN" altLang="en-US" sz="2400" b="1" dirty="0">
                <a:sym typeface="Symbol" panose="05050102010706020507" pitchFamily="18" charset="2"/>
              </a:rPr>
              <a:t>电路实现“与非”逻辑功能</a:t>
            </a:r>
            <a:endParaRPr lang="zh-CN" altLang="en-US" sz="2400" dirty="0"/>
          </a:p>
        </p:txBody>
      </p:sp>
      <p:graphicFrame>
        <p:nvGraphicFramePr>
          <p:cNvPr id="38998" name="Object 86"/>
          <p:cNvGraphicFramePr>
            <a:graphicFrameLocks noChangeAspect="1"/>
          </p:cNvGraphicFramePr>
          <p:nvPr/>
        </p:nvGraphicFramePr>
        <p:xfrm>
          <a:off x="1676400" y="5683250"/>
          <a:ext cx="1371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8" imgW="494665" imgH="203200" progId="Equation.3">
                  <p:embed/>
                </p:oleObj>
              </mc:Choice>
              <mc:Fallback>
                <p:oleObj name="" r:id="rId8" imgW="494665" imgH="2032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76400" y="5683250"/>
                        <a:ext cx="137160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8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8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8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8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8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8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8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8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8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8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8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8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4" grpId="0"/>
      <p:bldP spid="38925" grpId="0"/>
      <p:bldP spid="38943" grpId="0" animBg="1"/>
      <p:bldP spid="38945" grpId="0" animBg="1"/>
      <p:bldP spid="38946" grpId="0"/>
      <p:bldP spid="38953" grpId="0"/>
      <p:bldP spid="38964" grpId="0"/>
      <p:bldP spid="38974" grpId="0"/>
      <p:bldP spid="38976" grpId="0"/>
      <p:bldP spid="38977" grpId="0"/>
      <p:bldP spid="38990" grpId="0"/>
      <p:bldP spid="38993" grpId="0"/>
      <p:bldP spid="38995" grpId="0"/>
      <p:bldP spid="38996" grpId="0"/>
      <p:bldP spid="3899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Text Box 55"/>
          <p:cNvSpPr txBox="1"/>
          <p:nvPr/>
        </p:nvSpPr>
        <p:spPr>
          <a:xfrm>
            <a:off x="1676400" y="304800"/>
            <a:ext cx="51054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CMOS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电路</a:t>
            </a:r>
            <a:endParaRPr lang="zh-CN" altLang="en-US" sz="44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304800" y="1143000"/>
            <a:ext cx="8458200" cy="5181600"/>
            <a:chOff x="240" y="816"/>
            <a:chExt cx="5328" cy="3264"/>
          </a:xfrm>
        </p:grpSpPr>
        <p:sp>
          <p:nvSpPr>
            <p:cNvPr id="53289" name="Rectangle 6" descr="蓝色砂纸"/>
            <p:cNvSpPr/>
            <p:nvPr/>
          </p:nvSpPr>
          <p:spPr>
            <a:xfrm>
              <a:off x="240" y="816"/>
              <a:ext cx="5328" cy="3264"/>
            </a:xfrm>
            <a:prstGeom prst="rect">
              <a:avLst/>
            </a:prstGeom>
            <a:blipFill rotWithShape="0">
              <a:blip r:embed="rId1"/>
            </a:blipFill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b="1" dirty="0"/>
            </a:p>
          </p:txBody>
        </p:sp>
        <p:sp>
          <p:nvSpPr>
            <p:cNvPr id="53290" name="Text Box 7"/>
            <p:cNvSpPr txBox="1"/>
            <p:nvPr/>
          </p:nvSpPr>
          <p:spPr>
            <a:xfrm>
              <a:off x="398" y="864"/>
              <a:ext cx="1674" cy="327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en-US" altLang="zh-CN" sz="2800" b="1" dirty="0">
                  <a:sym typeface="Symbol" panose="05050102010706020507" pitchFamily="18" charset="2"/>
                </a:rPr>
                <a:t>CMOS</a:t>
              </a:r>
              <a:r>
                <a:rPr lang="zh-CN" altLang="en-US" sz="2800" b="1" dirty="0">
                  <a:sym typeface="Symbol" panose="05050102010706020507" pitchFamily="18" charset="2"/>
                </a:rPr>
                <a:t>门电路</a:t>
              </a:r>
              <a:endParaRPr lang="zh-CN" altLang="en-US" sz="2400" b="1" dirty="0"/>
            </a:p>
          </p:txBody>
        </p:sp>
      </p:grpSp>
      <p:sp>
        <p:nvSpPr>
          <p:cNvPr id="46088" name="Text Box 8"/>
          <p:cNvSpPr txBox="1"/>
          <p:nvPr/>
        </p:nvSpPr>
        <p:spPr>
          <a:xfrm>
            <a:off x="415925" y="1752600"/>
            <a:ext cx="18700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、“异或”门</a:t>
            </a:r>
            <a:endParaRPr lang="zh-CN" altLang="en-US" sz="2400" b="1" dirty="0"/>
          </a:p>
        </p:txBody>
      </p:sp>
      <p:graphicFrame>
        <p:nvGraphicFramePr>
          <p:cNvPr id="46089" name="Object 9"/>
          <p:cNvGraphicFramePr>
            <a:graphicFrameLocks noChangeAspect="1"/>
          </p:cNvGraphicFramePr>
          <p:nvPr/>
        </p:nvGraphicFramePr>
        <p:xfrm>
          <a:off x="3429000" y="1295400"/>
          <a:ext cx="52578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2" imgW="3810000" imgH="3076575" progId="Paint.Picture">
                  <p:embed/>
                </p:oleObj>
              </mc:Choice>
              <mc:Fallback>
                <p:oleObj name="" r:id="rId2" imgW="3810000" imgH="3076575" progId="Paint.Picture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29000" y="1295400"/>
                        <a:ext cx="5257800" cy="495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6"/>
          <p:cNvGrpSpPr/>
          <p:nvPr/>
        </p:nvGrpSpPr>
        <p:grpSpPr>
          <a:xfrm>
            <a:off x="5562600" y="381000"/>
            <a:ext cx="3284538" cy="990600"/>
            <a:chOff x="3504" y="336"/>
            <a:chExt cx="2069" cy="624"/>
          </a:xfrm>
        </p:grpSpPr>
        <p:sp>
          <p:nvSpPr>
            <p:cNvPr id="53287" name="AutoShape 14"/>
            <p:cNvSpPr/>
            <p:nvPr/>
          </p:nvSpPr>
          <p:spPr>
            <a:xfrm>
              <a:off x="3504" y="336"/>
              <a:ext cx="2064" cy="624"/>
            </a:xfrm>
            <a:prstGeom prst="wedgeRoundRectCallout">
              <a:avLst>
                <a:gd name="adj1" fmla="val -19769"/>
                <a:gd name="adj2" fmla="val 70032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3288" name="Text Box 15"/>
            <p:cNvSpPr txBox="1"/>
            <p:nvPr/>
          </p:nvSpPr>
          <p:spPr>
            <a:xfrm>
              <a:off x="3600" y="384"/>
              <a:ext cx="1973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宋体" panose="02010600030101010101" pitchFamily="2" charset="-122"/>
                </a:rPr>
                <a:t>由三个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CMOS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反相器和一个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CMOS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传输门组成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Group 20"/>
          <p:cNvGrpSpPr/>
          <p:nvPr/>
        </p:nvGrpSpPr>
        <p:grpSpPr>
          <a:xfrm>
            <a:off x="5181600" y="5562600"/>
            <a:ext cx="2286000" cy="838200"/>
            <a:chOff x="3504" y="3552"/>
            <a:chExt cx="1440" cy="528"/>
          </a:xfrm>
        </p:grpSpPr>
        <p:sp>
          <p:nvSpPr>
            <p:cNvPr id="53284" name="AutoShape 17"/>
            <p:cNvSpPr/>
            <p:nvPr/>
          </p:nvSpPr>
          <p:spPr>
            <a:xfrm>
              <a:off x="3504" y="3552"/>
              <a:ext cx="1440" cy="528"/>
            </a:xfrm>
            <a:prstGeom prst="wedgeRoundRectCallout">
              <a:avLst>
                <a:gd name="adj1" fmla="val -48681"/>
                <a:gd name="adj2" fmla="val -65343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3285" name="Text Box 18"/>
            <p:cNvSpPr txBox="1"/>
            <p:nvPr/>
          </p:nvSpPr>
          <p:spPr>
            <a:xfrm>
              <a:off x="3648" y="3552"/>
              <a:ext cx="1203" cy="51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传输门的控制信号</a:t>
              </a:r>
              <a:r>
                <a:rPr lang="en-US" altLang="zh-CN" sz="2400" b="1" dirty="0"/>
                <a:t>A</a:t>
              </a:r>
              <a:r>
                <a:rPr lang="zh-CN" altLang="en-US" sz="2400" b="1" dirty="0"/>
                <a:t>、</a:t>
              </a:r>
              <a:r>
                <a:rPr lang="en-US" altLang="zh-CN" sz="2400" b="1" dirty="0"/>
                <a:t>A</a:t>
              </a:r>
              <a:endParaRPr lang="en-US" altLang="zh-CN" sz="2400" b="1" dirty="0"/>
            </a:p>
          </p:txBody>
        </p:sp>
        <p:sp>
          <p:nvSpPr>
            <p:cNvPr id="53286" name="Line 19"/>
            <p:cNvSpPr/>
            <p:nvPr/>
          </p:nvSpPr>
          <p:spPr>
            <a:xfrm>
              <a:off x="4608" y="3840"/>
              <a:ext cx="1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6101" name="Text Box 21"/>
          <p:cNvSpPr txBox="1"/>
          <p:nvPr/>
        </p:nvSpPr>
        <p:spPr>
          <a:xfrm>
            <a:off x="457200" y="2514600"/>
            <a:ext cx="21685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当</a:t>
            </a:r>
            <a:r>
              <a:rPr lang="en-US" altLang="zh-CN" sz="2400" b="1" dirty="0">
                <a:latin typeface="宋体" panose="02010600030101010101" pitchFamily="2" charset="-122"/>
              </a:rPr>
              <a:t>A = B = 0</a:t>
            </a:r>
            <a:r>
              <a:rPr lang="zh-CN" altLang="en-US" sz="2400" b="1" dirty="0">
                <a:latin typeface="宋体" panose="02010600030101010101" pitchFamily="2" charset="-122"/>
              </a:rPr>
              <a:t>时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6102" name="Text Box 22"/>
          <p:cNvSpPr txBox="1"/>
          <p:nvPr/>
        </p:nvSpPr>
        <p:spPr>
          <a:xfrm>
            <a:off x="3643313" y="22860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6103" name="Text Box 23"/>
          <p:cNvSpPr txBox="1"/>
          <p:nvPr/>
        </p:nvSpPr>
        <p:spPr>
          <a:xfrm>
            <a:off x="3581400" y="46482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6104" name="Text Box 24"/>
          <p:cNvSpPr txBox="1"/>
          <p:nvPr/>
        </p:nvSpPr>
        <p:spPr>
          <a:xfrm>
            <a:off x="5305425" y="22860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6106" name="Text Box 26"/>
          <p:cNvSpPr txBox="1"/>
          <p:nvPr/>
        </p:nvSpPr>
        <p:spPr>
          <a:xfrm>
            <a:off x="6753225" y="34290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6107" name="Text Box 27"/>
          <p:cNvSpPr txBox="1"/>
          <p:nvPr/>
        </p:nvSpPr>
        <p:spPr>
          <a:xfrm>
            <a:off x="8048625" y="34290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grpSp>
        <p:nvGrpSpPr>
          <p:cNvPr id="5" name="Group 31"/>
          <p:cNvGrpSpPr/>
          <p:nvPr/>
        </p:nvGrpSpPr>
        <p:grpSpPr>
          <a:xfrm>
            <a:off x="501650" y="2911475"/>
            <a:ext cx="2774950" cy="822325"/>
            <a:chOff x="316" y="1757"/>
            <a:chExt cx="1748" cy="518"/>
          </a:xfrm>
        </p:grpSpPr>
        <p:sp>
          <p:nvSpPr>
            <p:cNvPr id="53281" name="Text Box 28"/>
            <p:cNvSpPr txBox="1"/>
            <p:nvPr/>
          </p:nvSpPr>
          <p:spPr>
            <a:xfrm>
              <a:off x="316" y="1757"/>
              <a:ext cx="174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TG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断开，则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C=B=1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，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F=C=0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。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  <p:sp>
          <p:nvSpPr>
            <p:cNvPr id="53282" name="Line 29"/>
            <p:cNvSpPr/>
            <p:nvPr/>
          </p:nvSpPr>
          <p:spPr>
            <a:xfrm>
              <a:off x="528" y="2064"/>
              <a:ext cx="1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3" name="Line 30"/>
            <p:cNvSpPr/>
            <p:nvPr/>
          </p:nvSpPr>
          <p:spPr>
            <a:xfrm>
              <a:off x="1488" y="1824"/>
              <a:ext cx="1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36"/>
          <p:cNvGrpSpPr/>
          <p:nvPr/>
        </p:nvGrpSpPr>
        <p:grpSpPr>
          <a:xfrm>
            <a:off x="5181600" y="5562600"/>
            <a:ext cx="1447800" cy="838200"/>
            <a:chOff x="3264" y="3504"/>
            <a:chExt cx="912" cy="528"/>
          </a:xfrm>
        </p:grpSpPr>
        <p:sp>
          <p:nvSpPr>
            <p:cNvPr id="53279" name="AutoShape 33"/>
            <p:cNvSpPr/>
            <p:nvPr/>
          </p:nvSpPr>
          <p:spPr>
            <a:xfrm>
              <a:off x="3264" y="3504"/>
              <a:ext cx="912" cy="528"/>
            </a:xfrm>
            <a:prstGeom prst="wedgeRoundRectCallout">
              <a:avLst>
                <a:gd name="adj1" fmla="val -47917"/>
                <a:gd name="adj2" fmla="val -65343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3280" name="Text Box 34"/>
            <p:cNvSpPr txBox="1"/>
            <p:nvPr/>
          </p:nvSpPr>
          <p:spPr>
            <a:xfrm>
              <a:off x="3312" y="3619"/>
              <a:ext cx="864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TG</a:t>
              </a:r>
              <a:r>
                <a:rPr lang="zh-CN" altLang="en-US" sz="2400" b="1" dirty="0"/>
                <a:t>断开</a:t>
              </a:r>
              <a:endParaRPr lang="zh-CN" altLang="en-US" sz="2400" b="1" dirty="0"/>
            </a:p>
          </p:txBody>
        </p:sp>
      </p:grpSp>
      <p:sp>
        <p:nvSpPr>
          <p:cNvPr id="46117" name="Text Box 37"/>
          <p:cNvSpPr txBox="1"/>
          <p:nvPr/>
        </p:nvSpPr>
        <p:spPr>
          <a:xfrm>
            <a:off x="457200" y="3581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当</a:t>
            </a:r>
            <a:r>
              <a:rPr lang="en-US" altLang="zh-CN" sz="2400" b="1" dirty="0">
                <a:latin typeface="宋体" panose="02010600030101010101" pitchFamily="2" charset="-122"/>
              </a:rPr>
              <a:t>A = B = 1</a:t>
            </a:r>
            <a:r>
              <a:rPr lang="zh-CN" altLang="en-US" sz="2400" b="1" dirty="0">
                <a:latin typeface="宋体" panose="02010600030101010101" pitchFamily="2" charset="-122"/>
              </a:rPr>
              <a:t>时，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46118" name="Object 38"/>
          <p:cNvGraphicFramePr>
            <a:graphicFrameLocks noChangeAspect="1"/>
          </p:cNvGraphicFramePr>
          <p:nvPr/>
        </p:nvGraphicFramePr>
        <p:xfrm>
          <a:off x="3581400" y="1295400"/>
          <a:ext cx="52578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4" imgW="3810000" imgH="3076575" progId="Paint.Picture">
                  <p:embed/>
                </p:oleObj>
              </mc:Choice>
              <mc:Fallback>
                <p:oleObj name="" r:id="rId4" imgW="3810000" imgH="3076575" progId="Paint.Picture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81400" y="1295400"/>
                        <a:ext cx="5257800" cy="495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19" name="Text Box 39"/>
          <p:cNvSpPr txBox="1"/>
          <p:nvPr/>
        </p:nvSpPr>
        <p:spPr>
          <a:xfrm>
            <a:off x="4038600" y="22860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6121" name="Text Box 41"/>
          <p:cNvSpPr txBox="1"/>
          <p:nvPr/>
        </p:nvSpPr>
        <p:spPr>
          <a:xfrm>
            <a:off x="4038600" y="48006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grpSp>
        <p:nvGrpSpPr>
          <p:cNvPr id="7" name="Group 45"/>
          <p:cNvGrpSpPr/>
          <p:nvPr/>
        </p:nvGrpSpPr>
        <p:grpSpPr>
          <a:xfrm>
            <a:off x="4240213" y="5410200"/>
            <a:ext cx="1095375" cy="685800"/>
            <a:chOff x="2671" y="3504"/>
            <a:chExt cx="690" cy="432"/>
          </a:xfrm>
        </p:grpSpPr>
        <p:sp>
          <p:nvSpPr>
            <p:cNvPr id="53277" name="AutoShape 42"/>
            <p:cNvSpPr/>
            <p:nvPr/>
          </p:nvSpPr>
          <p:spPr>
            <a:xfrm>
              <a:off x="2688" y="3504"/>
              <a:ext cx="624" cy="432"/>
            </a:xfrm>
            <a:prstGeom prst="wedgeRoundRectCallout">
              <a:avLst>
                <a:gd name="adj1" fmla="val 70032"/>
                <a:gd name="adj2" fmla="val -60185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3278" name="Text Box 44"/>
            <p:cNvSpPr txBox="1"/>
            <p:nvPr/>
          </p:nvSpPr>
          <p:spPr>
            <a:xfrm>
              <a:off x="2671" y="3600"/>
              <a:ext cx="690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dirty="0">
                  <a:latin typeface="宋体" panose="02010600030101010101" pitchFamily="2" charset="-122"/>
                </a:rPr>
                <a:t>TG</a:t>
              </a:r>
              <a:r>
                <a:rPr lang="zh-CN" altLang="en-US" sz="2400" dirty="0">
                  <a:latin typeface="宋体" panose="02010600030101010101" pitchFamily="2" charset="-122"/>
                </a:rPr>
                <a:t>接通</a:t>
              </a:r>
              <a:endParaRPr lang="zh-CN" altLang="en-US" sz="2400" dirty="0">
                <a:latin typeface="宋体" panose="02010600030101010101" pitchFamily="2" charset="-122"/>
              </a:endParaRPr>
            </a:p>
          </p:txBody>
        </p:sp>
      </p:grpSp>
      <p:sp>
        <p:nvSpPr>
          <p:cNvPr id="46126" name="Text Box 46"/>
          <p:cNvSpPr txBox="1"/>
          <p:nvPr/>
        </p:nvSpPr>
        <p:spPr>
          <a:xfrm>
            <a:off x="6172200" y="51816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6127" name="Text Box 47"/>
          <p:cNvSpPr txBox="1"/>
          <p:nvPr/>
        </p:nvSpPr>
        <p:spPr>
          <a:xfrm>
            <a:off x="6934200" y="33528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6128" name="Text Box 48"/>
          <p:cNvSpPr txBox="1"/>
          <p:nvPr/>
        </p:nvSpPr>
        <p:spPr>
          <a:xfrm>
            <a:off x="8229600" y="34290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6129" name="Text Box 49"/>
          <p:cNvSpPr txBox="1"/>
          <p:nvPr/>
        </p:nvSpPr>
        <p:spPr>
          <a:xfrm>
            <a:off x="457200" y="3962400"/>
            <a:ext cx="281940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TG</a:t>
            </a:r>
            <a:r>
              <a:rPr lang="zh-CN" altLang="en-US" sz="2400" b="1" dirty="0">
                <a:latin typeface="宋体" panose="02010600030101010101" pitchFamily="2" charset="-122"/>
              </a:rPr>
              <a:t>接通，</a:t>
            </a:r>
            <a:r>
              <a:rPr lang="en-US" altLang="zh-CN" sz="2400" b="1" dirty="0">
                <a:latin typeface="宋体" panose="02010600030101010101" pitchFamily="2" charset="-122"/>
              </a:rPr>
              <a:t>C = B = 1</a:t>
            </a:r>
            <a:r>
              <a:rPr lang="zh-CN" altLang="en-US" sz="2400" b="1" dirty="0">
                <a:latin typeface="宋体" panose="02010600030101010101" pitchFamily="2" charset="-122"/>
              </a:rPr>
              <a:t>，反相器</a:t>
            </a: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的两只</a:t>
            </a:r>
            <a:r>
              <a:rPr lang="en-US" altLang="zh-CN" sz="2400" b="1" dirty="0">
                <a:latin typeface="宋体" panose="02010600030101010101" pitchFamily="2" charset="-122"/>
              </a:rPr>
              <a:t>MOS</a:t>
            </a:r>
            <a:r>
              <a:rPr lang="zh-CN" altLang="en-US" sz="2400" b="1" dirty="0">
                <a:latin typeface="宋体" panose="02010600030101010101" pitchFamily="2" charset="-122"/>
              </a:rPr>
              <a:t>管都截止，输出</a:t>
            </a:r>
            <a:r>
              <a:rPr lang="en-US" altLang="zh-CN" sz="2400" b="1" dirty="0">
                <a:latin typeface="宋体" panose="02010600030101010101" pitchFamily="2" charset="-122"/>
              </a:rPr>
              <a:t>F=0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  <a:endParaRPr lang="zh-CN" altLang="en-US" sz="2400" b="1" dirty="0"/>
          </a:p>
        </p:txBody>
      </p:sp>
      <p:sp>
        <p:nvSpPr>
          <p:cNvPr id="46130" name="Text Box 50"/>
          <p:cNvSpPr txBox="1"/>
          <p:nvPr/>
        </p:nvSpPr>
        <p:spPr>
          <a:xfrm>
            <a:off x="369888" y="2133600"/>
            <a:ext cx="252571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输入端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相同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6132" name="Text Box 52"/>
          <p:cNvSpPr txBox="1"/>
          <p:nvPr/>
        </p:nvSpPr>
        <p:spPr>
          <a:xfrm>
            <a:off x="457200" y="5257800"/>
            <a:ext cx="29718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得：输入端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相同，    输出 </a:t>
            </a:r>
            <a:r>
              <a:rPr lang="en-US" altLang="zh-CN" sz="2400" b="1" dirty="0">
                <a:latin typeface="宋体" panose="02010600030101010101" pitchFamily="2" charset="-122"/>
              </a:rPr>
              <a:t>F=0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3275" name="Object 53">
            <a:hlinkClick r:id="rId5" action="ppaction://hlinksldjump"/>
          </p:cNvPr>
          <p:cNvGraphicFramePr>
            <a:graphicFrameLocks noChangeAspect="1"/>
          </p:cNvGraphicFramePr>
          <p:nvPr/>
        </p:nvGraphicFramePr>
        <p:xfrm>
          <a:off x="7696200" y="62690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6" imgW="-9525" imgH="-9525" progId="MS_ClipArt_Gallery.2">
                  <p:embed/>
                </p:oleObj>
              </mc:Choice>
              <mc:Fallback>
                <p:oleObj name="" r:id="rId6" imgW="-9525" imgH="-9525" progId="MS_ClipArt_Gallery.2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696200" y="62690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6" name="Text Box 54">
            <a:hlinkClick r:id="rId5" action="ppaction://hlinksldjump"/>
          </p:cNvPr>
          <p:cNvSpPr txBox="1"/>
          <p:nvPr/>
        </p:nvSpPr>
        <p:spPr>
          <a:xfrm>
            <a:off x="7743825" y="62484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6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6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6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6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8" grpId="0"/>
      <p:bldP spid="46101" grpId="0"/>
      <p:bldP spid="46102" grpId="0"/>
      <p:bldP spid="46103" grpId="0"/>
      <p:bldP spid="46104" grpId="0"/>
      <p:bldP spid="46106" grpId="0"/>
      <p:bldP spid="46107" grpId="0"/>
      <p:bldP spid="46117" grpId="0"/>
      <p:bldP spid="46119" grpId="0"/>
      <p:bldP spid="46121" grpId="0"/>
      <p:bldP spid="46126" grpId="0"/>
      <p:bldP spid="46127" grpId="0"/>
      <p:bldP spid="46128" grpId="0"/>
      <p:bldP spid="46129" grpId="0"/>
      <p:bldP spid="46130" grpId="0"/>
      <p:bldP spid="4613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5"/>
          <p:cNvGrpSpPr/>
          <p:nvPr/>
        </p:nvGrpSpPr>
        <p:grpSpPr>
          <a:xfrm>
            <a:off x="304800" y="1143000"/>
            <a:ext cx="8458200" cy="5181600"/>
            <a:chOff x="240" y="816"/>
            <a:chExt cx="5328" cy="3264"/>
          </a:xfrm>
        </p:grpSpPr>
        <p:sp>
          <p:nvSpPr>
            <p:cNvPr id="54303" name="Rectangle 6" descr="蓝色砂纸"/>
            <p:cNvSpPr/>
            <p:nvPr/>
          </p:nvSpPr>
          <p:spPr>
            <a:xfrm>
              <a:off x="240" y="816"/>
              <a:ext cx="5328" cy="3264"/>
            </a:xfrm>
            <a:prstGeom prst="rect">
              <a:avLst/>
            </a:prstGeom>
            <a:blipFill rotWithShape="0">
              <a:blip r:embed="rId1"/>
            </a:blipFill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b="1" dirty="0"/>
            </a:p>
          </p:txBody>
        </p:sp>
        <p:sp>
          <p:nvSpPr>
            <p:cNvPr id="54304" name="Text Box 7"/>
            <p:cNvSpPr txBox="1"/>
            <p:nvPr/>
          </p:nvSpPr>
          <p:spPr>
            <a:xfrm>
              <a:off x="398" y="864"/>
              <a:ext cx="1674" cy="327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en-US" altLang="zh-CN" sz="2800" b="1" dirty="0">
                  <a:sym typeface="Symbol" panose="05050102010706020507" pitchFamily="18" charset="2"/>
                </a:rPr>
                <a:t>CMOS</a:t>
              </a:r>
              <a:r>
                <a:rPr lang="zh-CN" altLang="en-US" sz="2800" b="1" dirty="0">
                  <a:sym typeface="Symbol" panose="05050102010706020507" pitchFamily="18" charset="2"/>
                </a:rPr>
                <a:t>门电路</a:t>
              </a:r>
              <a:endParaRPr lang="zh-CN" altLang="en-US" sz="2400" b="1" dirty="0"/>
            </a:p>
          </p:txBody>
        </p:sp>
      </p:grpSp>
      <p:sp>
        <p:nvSpPr>
          <p:cNvPr id="47112" name="Text Box 8"/>
          <p:cNvSpPr txBox="1"/>
          <p:nvPr/>
        </p:nvSpPr>
        <p:spPr>
          <a:xfrm>
            <a:off x="415925" y="1752600"/>
            <a:ext cx="18700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、“异或”门</a:t>
            </a:r>
            <a:endParaRPr lang="zh-CN" altLang="en-US" sz="2400" b="1" dirty="0"/>
          </a:p>
        </p:txBody>
      </p:sp>
      <p:graphicFrame>
        <p:nvGraphicFramePr>
          <p:cNvPr id="47113" name="Object 9"/>
          <p:cNvGraphicFramePr>
            <a:graphicFrameLocks noChangeAspect="1"/>
          </p:cNvGraphicFramePr>
          <p:nvPr/>
        </p:nvGraphicFramePr>
        <p:xfrm>
          <a:off x="3429000" y="1219200"/>
          <a:ext cx="52578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2" imgW="3810000" imgH="3076575" progId="Paint.Picture">
                  <p:embed/>
                </p:oleObj>
              </mc:Choice>
              <mc:Fallback>
                <p:oleObj name="" r:id="rId2" imgW="3810000" imgH="3076575" progId="Paint.Picture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29000" y="1219200"/>
                        <a:ext cx="5257800" cy="495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4" name="Text Box 10"/>
          <p:cNvSpPr txBox="1"/>
          <p:nvPr/>
        </p:nvSpPr>
        <p:spPr>
          <a:xfrm>
            <a:off x="369888" y="2209800"/>
            <a:ext cx="252571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输入端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不同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7115" name="Text Box 11"/>
          <p:cNvSpPr txBox="1"/>
          <p:nvPr/>
        </p:nvSpPr>
        <p:spPr>
          <a:xfrm>
            <a:off x="425450" y="2667000"/>
            <a:ext cx="2622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当</a:t>
            </a:r>
            <a:r>
              <a:rPr lang="en-US" altLang="zh-CN" sz="2400" b="1" dirty="0">
                <a:latin typeface="宋体" panose="02010600030101010101" pitchFamily="2" charset="-122"/>
              </a:rPr>
              <a:t>A = 1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B = 0</a:t>
            </a:r>
            <a:r>
              <a:rPr lang="zh-CN" altLang="en-US" sz="2400" b="1" dirty="0">
                <a:latin typeface="宋体" panose="02010600030101010101" pitchFamily="2" charset="-122"/>
              </a:rPr>
              <a:t>时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7116" name="Text Box 12"/>
          <p:cNvSpPr txBox="1"/>
          <p:nvPr/>
        </p:nvSpPr>
        <p:spPr>
          <a:xfrm>
            <a:off x="3733800" y="22098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7117" name="Text Box 13"/>
          <p:cNvSpPr txBox="1"/>
          <p:nvPr/>
        </p:nvSpPr>
        <p:spPr>
          <a:xfrm>
            <a:off x="3733800" y="46482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grpSp>
        <p:nvGrpSpPr>
          <p:cNvPr id="3" name="Group 16"/>
          <p:cNvGrpSpPr/>
          <p:nvPr/>
        </p:nvGrpSpPr>
        <p:grpSpPr>
          <a:xfrm>
            <a:off x="4800600" y="5562600"/>
            <a:ext cx="1371600" cy="685800"/>
            <a:chOff x="3120" y="3648"/>
            <a:chExt cx="864" cy="432"/>
          </a:xfrm>
        </p:grpSpPr>
        <p:sp>
          <p:nvSpPr>
            <p:cNvPr id="54301" name="AutoShape 14"/>
            <p:cNvSpPr/>
            <p:nvPr/>
          </p:nvSpPr>
          <p:spPr>
            <a:xfrm>
              <a:off x="3120" y="3648"/>
              <a:ext cx="864" cy="432"/>
            </a:xfrm>
            <a:prstGeom prst="wedgeRoundRectCallout">
              <a:avLst>
                <a:gd name="adj1" fmla="val -6597"/>
                <a:gd name="adj2" fmla="val -81944"/>
                <a:gd name="adj3" fmla="val 16667"/>
              </a:avLst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4302" name="Text Box 15"/>
            <p:cNvSpPr txBox="1"/>
            <p:nvPr/>
          </p:nvSpPr>
          <p:spPr>
            <a:xfrm>
              <a:off x="3216" y="3744"/>
              <a:ext cx="68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TG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导通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7122" name="Text Box 18"/>
          <p:cNvSpPr txBox="1"/>
          <p:nvPr/>
        </p:nvSpPr>
        <p:spPr>
          <a:xfrm>
            <a:off x="5991225" y="47244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7123" name="Text Box 19"/>
          <p:cNvSpPr txBox="1"/>
          <p:nvPr/>
        </p:nvSpPr>
        <p:spPr>
          <a:xfrm>
            <a:off x="6781800" y="32004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7124" name="Text Box 20"/>
          <p:cNvSpPr txBox="1"/>
          <p:nvPr/>
        </p:nvSpPr>
        <p:spPr>
          <a:xfrm>
            <a:off x="7972425" y="39624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7125" name="Text Box 21"/>
          <p:cNvSpPr txBox="1"/>
          <p:nvPr/>
        </p:nvSpPr>
        <p:spPr>
          <a:xfrm>
            <a:off x="533400" y="32004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输出</a:t>
            </a:r>
            <a:r>
              <a:rPr lang="en-US" altLang="zh-CN" sz="2400" b="1" dirty="0"/>
              <a:t>F=1</a:t>
            </a:r>
            <a:endParaRPr lang="en-US" altLang="zh-CN" sz="2400" b="1" dirty="0"/>
          </a:p>
        </p:txBody>
      </p:sp>
      <p:graphicFrame>
        <p:nvGraphicFramePr>
          <p:cNvPr id="47126" name="Object 22"/>
          <p:cNvGraphicFramePr>
            <a:graphicFrameLocks noChangeAspect="1"/>
          </p:cNvGraphicFramePr>
          <p:nvPr/>
        </p:nvGraphicFramePr>
        <p:xfrm>
          <a:off x="3429000" y="1295400"/>
          <a:ext cx="52578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4" imgW="3810000" imgH="3076575" progId="Paint.Picture">
                  <p:embed/>
                </p:oleObj>
              </mc:Choice>
              <mc:Fallback>
                <p:oleObj name="" r:id="rId4" imgW="3810000" imgH="3076575" progId="Paint.Picture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29000" y="1295400"/>
                        <a:ext cx="5257800" cy="495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7" name="Text Box 23"/>
          <p:cNvSpPr txBox="1"/>
          <p:nvPr/>
        </p:nvSpPr>
        <p:spPr>
          <a:xfrm>
            <a:off x="425450" y="3733800"/>
            <a:ext cx="2622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当</a:t>
            </a:r>
            <a:r>
              <a:rPr lang="en-US" altLang="zh-CN" sz="2400" b="1" dirty="0">
                <a:latin typeface="宋体" panose="02010600030101010101" pitchFamily="2" charset="-122"/>
              </a:rPr>
              <a:t>A = 0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B = 1</a:t>
            </a:r>
            <a:r>
              <a:rPr lang="zh-CN" altLang="en-US" sz="2400" b="1" dirty="0">
                <a:latin typeface="宋体" panose="02010600030101010101" pitchFamily="2" charset="-122"/>
              </a:rPr>
              <a:t>时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7128" name="Text Box 24"/>
          <p:cNvSpPr txBox="1"/>
          <p:nvPr/>
        </p:nvSpPr>
        <p:spPr>
          <a:xfrm>
            <a:off x="3886200" y="22860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7129" name="Text Box 25"/>
          <p:cNvSpPr txBox="1"/>
          <p:nvPr/>
        </p:nvSpPr>
        <p:spPr>
          <a:xfrm>
            <a:off x="3886200" y="46482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grpSp>
        <p:nvGrpSpPr>
          <p:cNvPr id="4" name="Group 28"/>
          <p:cNvGrpSpPr/>
          <p:nvPr/>
        </p:nvGrpSpPr>
        <p:grpSpPr>
          <a:xfrm>
            <a:off x="4114800" y="5486400"/>
            <a:ext cx="1295400" cy="685800"/>
            <a:chOff x="2688" y="3600"/>
            <a:chExt cx="816" cy="432"/>
          </a:xfrm>
        </p:grpSpPr>
        <p:sp>
          <p:nvSpPr>
            <p:cNvPr id="54299" name="AutoShape 26"/>
            <p:cNvSpPr/>
            <p:nvPr/>
          </p:nvSpPr>
          <p:spPr>
            <a:xfrm>
              <a:off x="2688" y="3600"/>
              <a:ext cx="816" cy="432"/>
            </a:xfrm>
            <a:prstGeom prst="wedgeRoundRectCallout">
              <a:avLst>
                <a:gd name="adj1" fmla="val 62620"/>
                <a:gd name="adj2" fmla="val -64352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4300" name="Text Box 27"/>
            <p:cNvSpPr txBox="1"/>
            <p:nvPr/>
          </p:nvSpPr>
          <p:spPr>
            <a:xfrm>
              <a:off x="2736" y="3696"/>
              <a:ext cx="694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宋体" panose="02010600030101010101" pitchFamily="2" charset="-122"/>
                </a:rPr>
                <a:t>TG</a:t>
              </a:r>
              <a:r>
                <a:rPr lang="zh-CN" altLang="en-US" sz="2400" b="1" dirty="0">
                  <a:latin typeface="宋体" panose="02010600030101010101" pitchFamily="2" charset="-122"/>
                </a:rPr>
                <a:t>断开</a:t>
              </a:r>
              <a:endParaRPr lang="zh-CN" altLang="en-US" sz="2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7134" name="Text Box 30"/>
          <p:cNvSpPr txBox="1"/>
          <p:nvPr/>
        </p:nvSpPr>
        <p:spPr>
          <a:xfrm>
            <a:off x="5410200" y="22098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7135" name="Text Box 31"/>
          <p:cNvSpPr txBox="1"/>
          <p:nvPr/>
        </p:nvSpPr>
        <p:spPr>
          <a:xfrm>
            <a:off x="6934200" y="33528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0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7136" name="Text Box 32"/>
          <p:cNvSpPr txBox="1"/>
          <p:nvPr/>
        </p:nvSpPr>
        <p:spPr>
          <a:xfrm>
            <a:off x="8305800" y="33528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CC3300"/>
                </a:solidFill>
              </a:rPr>
              <a:t>1</a:t>
            </a:r>
            <a:endParaRPr lang="en-US" altLang="zh-CN" sz="2400" b="1" dirty="0">
              <a:solidFill>
                <a:srgbClr val="CC3300"/>
              </a:solidFill>
            </a:endParaRPr>
          </a:p>
        </p:txBody>
      </p:sp>
      <p:sp>
        <p:nvSpPr>
          <p:cNvPr id="47138" name="Text Box 34"/>
          <p:cNvSpPr txBox="1"/>
          <p:nvPr/>
        </p:nvSpPr>
        <p:spPr>
          <a:xfrm>
            <a:off x="457200" y="42672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输出</a:t>
            </a:r>
            <a:r>
              <a:rPr lang="en-US" altLang="zh-CN" sz="2400" b="1" dirty="0"/>
              <a:t>F=1</a:t>
            </a:r>
            <a:endParaRPr lang="en-US" altLang="zh-CN" sz="2400" b="1" dirty="0"/>
          </a:p>
        </p:txBody>
      </p:sp>
      <p:sp>
        <p:nvSpPr>
          <p:cNvPr id="47139" name="Text Box 35"/>
          <p:cNvSpPr txBox="1"/>
          <p:nvPr/>
        </p:nvSpPr>
        <p:spPr>
          <a:xfrm>
            <a:off x="381000" y="4816475"/>
            <a:ext cx="29718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得：输入端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不同，    输出 </a:t>
            </a:r>
            <a:r>
              <a:rPr lang="en-US" altLang="zh-CN" sz="2400" b="1" dirty="0">
                <a:latin typeface="宋体" panose="02010600030101010101" pitchFamily="2" charset="-122"/>
              </a:rPr>
              <a:t>F=1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4296" name="Object 36">
            <a:hlinkClick r:id="rId5" action="ppaction://hlinksldjump"/>
          </p:cNvPr>
          <p:cNvGraphicFramePr>
            <a:graphicFrameLocks noChangeAspect="1"/>
          </p:cNvGraphicFramePr>
          <p:nvPr/>
        </p:nvGraphicFramePr>
        <p:xfrm>
          <a:off x="7572375" y="62690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6" imgW="-9525" imgH="-9525" progId="MS_ClipArt_Gallery.2">
                  <p:embed/>
                </p:oleObj>
              </mc:Choice>
              <mc:Fallback>
                <p:oleObj name="" r:id="rId6" imgW="-9525" imgH="-9525" progId="MS_ClipArt_Gallery.2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72375" y="62690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7" name="Text Box 37">
            <a:hlinkClick r:id="rId5" action="ppaction://hlinksldjump"/>
          </p:cNvPr>
          <p:cNvSpPr txBox="1"/>
          <p:nvPr/>
        </p:nvSpPr>
        <p:spPr>
          <a:xfrm>
            <a:off x="7620000" y="62484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  <p:sp>
        <p:nvSpPr>
          <p:cNvPr id="54298" name="Text Box 38"/>
          <p:cNvSpPr txBox="1"/>
          <p:nvPr/>
        </p:nvSpPr>
        <p:spPr>
          <a:xfrm>
            <a:off x="1676400" y="152400"/>
            <a:ext cx="51054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CMOS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电路</a:t>
            </a:r>
            <a:endParaRPr lang="zh-CN" altLang="en-US" sz="44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7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7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7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7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7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2" grpId="0"/>
      <p:bldP spid="47114" grpId="0"/>
      <p:bldP spid="47115" grpId="0"/>
      <p:bldP spid="47116" grpId="0"/>
      <p:bldP spid="47117" grpId="0"/>
      <p:bldP spid="47122" grpId="0"/>
      <p:bldP spid="47123" grpId="0"/>
      <p:bldP spid="47124" grpId="0"/>
      <p:bldP spid="47125" grpId="0"/>
      <p:bldP spid="47127" grpId="0"/>
      <p:bldP spid="47128" grpId="0"/>
      <p:bldP spid="47129" grpId="0"/>
      <p:bldP spid="47134" grpId="0"/>
      <p:bldP spid="47135" grpId="0"/>
      <p:bldP spid="47136" grpId="0"/>
      <p:bldP spid="47138" grpId="0"/>
      <p:bldP spid="4713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5298" name="Group 5"/>
          <p:cNvGrpSpPr/>
          <p:nvPr/>
        </p:nvGrpSpPr>
        <p:grpSpPr>
          <a:xfrm>
            <a:off x="304800" y="1295400"/>
            <a:ext cx="8458200" cy="4800600"/>
            <a:chOff x="240" y="816"/>
            <a:chExt cx="5328" cy="3264"/>
          </a:xfrm>
        </p:grpSpPr>
        <p:sp>
          <p:nvSpPr>
            <p:cNvPr id="55310" name="Rectangle 6" descr="蓝色砂纸"/>
            <p:cNvSpPr/>
            <p:nvPr/>
          </p:nvSpPr>
          <p:spPr>
            <a:xfrm>
              <a:off x="240" y="816"/>
              <a:ext cx="5328" cy="3264"/>
            </a:xfrm>
            <a:prstGeom prst="rect">
              <a:avLst/>
            </a:prstGeom>
            <a:blipFill rotWithShape="0">
              <a:blip r:embed="rId1"/>
            </a:blipFill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b="1" dirty="0"/>
            </a:p>
          </p:txBody>
        </p:sp>
        <p:sp>
          <p:nvSpPr>
            <p:cNvPr id="55311" name="Text Box 7"/>
            <p:cNvSpPr txBox="1"/>
            <p:nvPr/>
          </p:nvSpPr>
          <p:spPr>
            <a:xfrm>
              <a:off x="398" y="851"/>
              <a:ext cx="1674" cy="352"/>
            </a:xfrm>
            <a:prstGeom prst="rect">
              <a:avLst/>
            </a:prstGeom>
            <a:noFill/>
            <a:ln w="57150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CC3300"/>
                  </a:solidFill>
                  <a:sym typeface="Symbol" panose="05050102010706020507" pitchFamily="18" charset="2"/>
                </a:rPr>
                <a:t>  </a:t>
              </a:r>
              <a:r>
                <a:rPr lang="en-US" altLang="zh-CN" sz="2800" b="1" dirty="0">
                  <a:sym typeface="Symbol" panose="05050102010706020507" pitchFamily="18" charset="2"/>
                </a:rPr>
                <a:t>CMOS</a:t>
              </a:r>
              <a:r>
                <a:rPr lang="zh-CN" altLang="en-US" sz="2800" b="1" dirty="0">
                  <a:sym typeface="Symbol" panose="05050102010706020507" pitchFamily="18" charset="2"/>
                </a:rPr>
                <a:t>门电路</a:t>
              </a:r>
              <a:endParaRPr lang="zh-CN" altLang="en-US" sz="2400" b="1" dirty="0"/>
            </a:p>
          </p:txBody>
        </p:sp>
      </p:grpSp>
      <p:sp>
        <p:nvSpPr>
          <p:cNvPr id="55299" name="Text Box 8"/>
          <p:cNvSpPr txBox="1"/>
          <p:nvPr/>
        </p:nvSpPr>
        <p:spPr>
          <a:xfrm>
            <a:off x="415925" y="1905000"/>
            <a:ext cx="18700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、“异或”门</a:t>
            </a:r>
            <a:endParaRPr lang="zh-CN" altLang="en-US" sz="2400" b="1" dirty="0"/>
          </a:p>
        </p:txBody>
      </p:sp>
      <p:sp>
        <p:nvSpPr>
          <p:cNvPr id="48137" name="Text Box 9"/>
          <p:cNvSpPr txBox="1"/>
          <p:nvPr/>
        </p:nvSpPr>
        <p:spPr>
          <a:xfrm>
            <a:off x="369888" y="2362200"/>
            <a:ext cx="252571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输入端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不同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8138" name="Text Box 10"/>
          <p:cNvSpPr txBox="1"/>
          <p:nvPr/>
        </p:nvSpPr>
        <p:spPr>
          <a:xfrm>
            <a:off x="533400" y="28956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输出</a:t>
            </a:r>
            <a:r>
              <a:rPr lang="en-US" altLang="zh-CN" sz="2400" b="1" dirty="0"/>
              <a:t>F=1</a:t>
            </a:r>
            <a:endParaRPr lang="en-US" altLang="zh-CN" sz="2400" b="1" dirty="0"/>
          </a:p>
        </p:txBody>
      </p:sp>
      <p:sp>
        <p:nvSpPr>
          <p:cNvPr id="48139" name="Text Box 11"/>
          <p:cNvSpPr txBox="1"/>
          <p:nvPr/>
        </p:nvSpPr>
        <p:spPr>
          <a:xfrm>
            <a:off x="381000" y="3352800"/>
            <a:ext cx="2525713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 </a:t>
            </a:r>
            <a:r>
              <a:rPr lang="zh-CN" altLang="en-US" sz="2400" b="1" dirty="0">
                <a:latin typeface="宋体" panose="02010600030101010101" pitchFamily="2" charset="-122"/>
              </a:rPr>
              <a:t>输入端</a:t>
            </a: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相同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8140" name="Text Box 12"/>
          <p:cNvSpPr txBox="1"/>
          <p:nvPr/>
        </p:nvSpPr>
        <p:spPr>
          <a:xfrm>
            <a:off x="587375" y="3886200"/>
            <a:ext cx="13938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输出 </a:t>
            </a:r>
            <a:r>
              <a:rPr lang="en-US" altLang="zh-CN" sz="2400" b="1" dirty="0">
                <a:latin typeface="宋体" panose="02010600030101010101" pitchFamily="2" charset="-122"/>
              </a:rPr>
              <a:t>F=0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5304" name="Object 0"/>
          <p:cNvGraphicFramePr>
            <a:graphicFrameLocks noChangeAspect="1"/>
          </p:cNvGraphicFramePr>
          <p:nvPr/>
        </p:nvGraphicFramePr>
        <p:xfrm>
          <a:off x="3429000" y="1447800"/>
          <a:ext cx="5257800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2" imgW="3810000" imgH="3076575" progId="Paint.Picture">
                  <p:embed/>
                </p:oleObj>
              </mc:Choice>
              <mc:Fallback>
                <p:oleObj name="" r:id="rId2" imgW="3810000" imgH="3076575" progId="Paint.Picture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29000" y="1447800"/>
                        <a:ext cx="5257800" cy="449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2" name="Text Box 14"/>
          <p:cNvSpPr txBox="1"/>
          <p:nvPr/>
        </p:nvSpPr>
        <p:spPr>
          <a:xfrm>
            <a:off x="304800" y="4298950"/>
            <a:ext cx="3048000" cy="11874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由此可知：该电路实现的是“异或”的逻辑功能</a:t>
            </a:r>
            <a:endParaRPr lang="zh-CN" altLang="en-US" sz="2400" b="1" dirty="0"/>
          </a:p>
        </p:txBody>
      </p:sp>
      <p:graphicFrame>
        <p:nvGraphicFramePr>
          <p:cNvPr id="75777" name="Object 1"/>
          <p:cNvGraphicFramePr>
            <a:graphicFrameLocks noChangeAspect="1"/>
          </p:cNvGraphicFramePr>
          <p:nvPr/>
        </p:nvGraphicFramePr>
        <p:xfrm>
          <a:off x="304800" y="5486400"/>
          <a:ext cx="30480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4" imgW="1371600" imgH="215900" progId="Equation.3">
                  <p:embed/>
                </p:oleObj>
              </mc:Choice>
              <mc:Fallback>
                <p:oleObj name="" r:id="rId4" imgW="1371600" imgH="2159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800" y="5486400"/>
                        <a:ext cx="3048000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2">
            <a:hlinkClick r:id="rId6" action="ppaction://hlinksldjump"/>
          </p:cNvPr>
          <p:cNvGraphicFramePr>
            <a:graphicFrameLocks noChangeAspect="1"/>
          </p:cNvGraphicFramePr>
          <p:nvPr/>
        </p:nvGraphicFramePr>
        <p:xfrm>
          <a:off x="7620000" y="61928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7" imgW="-9525" imgH="-9525" progId="MS_ClipArt_Gallery.2">
                  <p:embed/>
                </p:oleObj>
              </mc:Choice>
              <mc:Fallback>
                <p:oleObj name="" r:id="rId7" imgW="-9525" imgH="-9525" progId="MS_ClipArt_Gallery.2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20000" y="61928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8" name="Text Box 17">
            <a:hlinkClick r:id="rId6" action="ppaction://hlinksldjump"/>
          </p:cNvPr>
          <p:cNvSpPr txBox="1"/>
          <p:nvPr/>
        </p:nvSpPr>
        <p:spPr>
          <a:xfrm>
            <a:off x="7667625" y="61722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  <p:sp>
        <p:nvSpPr>
          <p:cNvPr id="55309" name="Text Box 18"/>
          <p:cNvSpPr txBox="1"/>
          <p:nvPr/>
        </p:nvSpPr>
        <p:spPr>
          <a:xfrm>
            <a:off x="1676400" y="304800"/>
            <a:ext cx="5105400" cy="701675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0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CMOS</a:t>
            </a:r>
            <a:r>
              <a:rPr lang="zh-CN" altLang="en-US" sz="40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电路</a:t>
            </a:r>
            <a:endParaRPr lang="zh-CN" altLang="en-US" sz="40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5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7" grpId="0"/>
      <p:bldP spid="48138" grpId="0"/>
      <p:bldP spid="48139" grpId="0"/>
      <p:bldP spid="48140" grpId="0"/>
      <p:bldP spid="4814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6" name="Text Box 4"/>
          <p:cNvSpPr txBox="1"/>
          <p:nvPr/>
        </p:nvSpPr>
        <p:spPr>
          <a:xfrm>
            <a:off x="1676400" y="304800"/>
            <a:ext cx="5105400" cy="701675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0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CMOS</a:t>
            </a:r>
            <a:r>
              <a:rPr lang="zh-CN" altLang="en-US" sz="40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电路的特点</a:t>
            </a:r>
            <a:endParaRPr lang="zh-CN" altLang="en-US" sz="40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9157" name="Rectangle 5"/>
          <p:cNvSpPr/>
          <p:nvPr/>
        </p:nvSpPr>
        <p:spPr>
          <a:xfrm>
            <a:off x="838200" y="1295400"/>
            <a:ext cx="7543800" cy="4876800"/>
          </a:xfrm>
          <a:prstGeom prst="rect">
            <a:avLst/>
          </a:prstGeom>
          <a:noFill/>
          <a:ln w="57150" cap="flat" cmpd="thinThick">
            <a:solidFill>
              <a:srgbClr val="33CC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sp>
        <p:nvSpPr>
          <p:cNvPr id="49158" name="Text Box 6"/>
          <p:cNvSpPr txBox="1"/>
          <p:nvPr/>
        </p:nvSpPr>
        <p:spPr>
          <a:xfrm>
            <a:off x="990600" y="1341438"/>
            <a:ext cx="70866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990000"/>
                </a:solidFill>
                <a:latin typeface="宋体" panose="02010600030101010101" pitchFamily="2" charset="-122"/>
              </a:rPr>
              <a:t>功耗小</a:t>
            </a:r>
            <a:r>
              <a:rPr lang="zh-CN" altLang="en-US" sz="2400" b="1" dirty="0"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latin typeface="宋体" panose="02010600030101010101" pitchFamily="2" charset="-122"/>
              </a:rPr>
              <a:t>CMOS</a:t>
            </a:r>
            <a:r>
              <a:rPr lang="zh-CN" altLang="en-US" sz="2400" b="1" dirty="0">
                <a:latin typeface="宋体" panose="02010600030101010101" pitchFamily="2" charset="-122"/>
              </a:rPr>
              <a:t>门工作时，总是一管导通另一管截止，因而几乎不由电源吸取电流其功耗极小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9159" name="Text Box 7"/>
          <p:cNvSpPr txBox="1"/>
          <p:nvPr/>
        </p:nvSpPr>
        <p:spPr>
          <a:xfrm>
            <a:off x="969963" y="2103438"/>
            <a:ext cx="7107237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CMOS</a:t>
            </a:r>
            <a:r>
              <a:rPr lang="zh-CN" altLang="en-US" sz="2400" b="1" dirty="0">
                <a:latin typeface="宋体" panose="02010600030101010101" pitchFamily="2" charset="-122"/>
              </a:rPr>
              <a:t>集成电路功耗低内部发热量小，</a:t>
            </a:r>
            <a:r>
              <a:rPr lang="zh-CN" altLang="en-US" sz="2400" b="1" dirty="0">
                <a:solidFill>
                  <a:srgbClr val="990000"/>
                </a:solidFill>
                <a:latin typeface="宋体" panose="02010600030101010101" pitchFamily="2" charset="-122"/>
              </a:rPr>
              <a:t>集成度可大大提高</a:t>
            </a:r>
            <a:endParaRPr lang="zh-CN" altLang="en-US" sz="2400" b="1" dirty="0">
              <a:solidFill>
                <a:srgbClr val="990000"/>
              </a:solidFill>
              <a:latin typeface="宋体" panose="02010600030101010101" pitchFamily="2" charset="-122"/>
            </a:endParaRPr>
          </a:p>
        </p:txBody>
      </p:sp>
      <p:sp>
        <p:nvSpPr>
          <p:cNvPr id="49160" name="Text Box 8"/>
          <p:cNvSpPr txBox="1"/>
          <p:nvPr/>
        </p:nvSpPr>
        <p:spPr>
          <a:xfrm>
            <a:off x="762000" y="2895600"/>
            <a:ext cx="75438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3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990000"/>
                </a:solidFill>
                <a:latin typeface="宋体" panose="02010600030101010101" pitchFamily="2" charset="-122"/>
              </a:rPr>
              <a:t>抗幅射能力强</a:t>
            </a:r>
            <a:r>
              <a:rPr lang="zh-CN" altLang="en-US" sz="2400" b="1" dirty="0">
                <a:latin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宋体" panose="02010600030101010101" pitchFamily="2" charset="-122"/>
              </a:rPr>
              <a:t>MOS</a:t>
            </a:r>
            <a:r>
              <a:rPr lang="zh-CN" altLang="en-US" sz="2400" b="1" dirty="0">
                <a:latin typeface="宋体" panose="02010600030101010101" pitchFamily="2" charset="-122"/>
              </a:rPr>
              <a:t>管是多数载流子工作，射线辐 射对多数载流子浓度影响不大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9161" name="Text Box 9"/>
          <p:cNvSpPr txBox="1"/>
          <p:nvPr/>
        </p:nvSpPr>
        <p:spPr>
          <a:xfrm>
            <a:off x="990600" y="3627438"/>
            <a:ext cx="70612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990000"/>
                </a:solidFill>
                <a:latin typeface="宋体" panose="02010600030101010101" pitchFamily="2" charset="-122"/>
              </a:rPr>
              <a:t>电压范围宽</a:t>
            </a:r>
            <a:r>
              <a:rPr lang="zh-CN" altLang="en-US" sz="2400" b="1" dirty="0">
                <a:latin typeface="宋体" panose="02010600030101010101" pitchFamily="2" charset="-122"/>
              </a:rPr>
              <a:t>：</a:t>
            </a:r>
            <a:r>
              <a:rPr lang="en-US" altLang="zh-CN" sz="2400" b="1" dirty="0">
                <a:latin typeface="宋体" panose="02010600030101010101" pitchFamily="2" charset="-122"/>
              </a:rPr>
              <a:t>CMOS</a:t>
            </a:r>
            <a:r>
              <a:rPr lang="zh-CN" altLang="en-US" sz="2400" b="1" dirty="0">
                <a:latin typeface="宋体" panose="02010600030101010101" pitchFamily="2" charset="-122"/>
              </a:rPr>
              <a:t>门电路输出高电平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OH </a:t>
            </a:r>
            <a:r>
              <a:rPr lang="en-US" altLang="zh-CN" sz="2400" b="1" dirty="0">
                <a:latin typeface="宋体" panose="02010600030101010101" pitchFamily="2" charset="-122"/>
              </a:rPr>
              <a:t>≈ 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DD</a:t>
            </a:r>
            <a:r>
              <a:rPr lang="zh-CN" altLang="en-US" sz="2400" b="1" dirty="0">
                <a:latin typeface="宋体" panose="02010600030101010101" pitchFamily="2" charset="-122"/>
              </a:rPr>
              <a:t>，低电平</a:t>
            </a:r>
            <a:r>
              <a:rPr lang="en-US" altLang="zh-CN" sz="2400" b="1" dirty="0">
                <a:latin typeface="宋体" panose="02010600030101010101" pitchFamily="2" charset="-122"/>
              </a:rPr>
              <a:t>V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OL </a:t>
            </a:r>
            <a:r>
              <a:rPr lang="en-US" altLang="zh-CN" sz="2400" b="1" dirty="0">
                <a:latin typeface="宋体" panose="02010600030101010101" pitchFamily="2" charset="-122"/>
              </a:rPr>
              <a:t>≈ 0V</a:t>
            </a:r>
            <a:r>
              <a:rPr lang="zh-CN" altLang="en-US" sz="2400" b="1" dirty="0">
                <a:latin typeface="宋体" panose="02010600030101010101" pitchFamily="2" charset="-122"/>
              </a:rPr>
              <a:t>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49162" name="Text Box 10"/>
          <p:cNvSpPr txBox="1"/>
          <p:nvPr/>
        </p:nvSpPr>
        <p:spPr>
          <a:xfrm>
            <a:off x="982663" y="4435475"/>
            <a:ext cx="7018337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rgbClr val="990000"/>
                </a:solidFill>
                <a:latin typeface="宋体" panose="02010600030101010101" pitchFamily="2" charset="-122"/>
              </a:rPr>
              <a:t>输出驱动电流比较大</a:t>
            </a:r>
            <a:r>
              <a:rPr lang="zh-CN" altLang="en-US" sz="2400" b="1" dirty="0">
                <a:latin typeface="宋体" panose="02010600030101010101" pitchFamily="2" charset="-122"/>
              </a:rPr>
              <a:t>：扇出能力较大，一般可以大于</a:t>
            </a:r>
            <a:r>
              <a:rPr lang="en-US" altLang="zh-CN" sz="2400" b="1" dirty="0">
                <a:latin typeface="宋体" panose="02010600030101010101" pitchFamily="2" charset="-122"/>
              </a:rPr>
              <a:t>50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49163" name="Text Box 11"/>
          <p:cNvSpPr txBox="1"/>
          <p:nvPr/>
        </p:nvSpPr>
        <p:spPr>
          <a:xfrm>
            <a:off x="990600" y="5181600"/>
            <a:ext cx="6934200" cy="8223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6</a:t>
            </a:r>
            <a:r>
              <a:rPr lang="zh-CN" altLang="en-US" sz="2400" b="1" dirty="0">
                <a:latin typeface="宋体" panose="02010600030101010101" pitchFamily="2" charset="-122"/>
              </a:rPr>
              <a:t>、在使用和存放时应注意静电屏蔽，焊接时电烙铁应接地良好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graphicFrame>
        <p:nvGraphicFramePr>
          <p:cNvPr id="56330" name="Object 12">
            <a:hlinkClick r:id="rId1" action="ppaction://hlinksldjump"/>
          </p:cNvPr>
          <p:cNvGraphicFramePr>
            <a:graphicFrameLocks noChangeAspect="1"/>
          </p:cNvGraphicFramePr>
          <p:nvPr/>
        </p:nvGraphicFramePr>
        <p:xfrm>
          <a:off x="7239000" y="61928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2" imgW="-9525" imgH="-9525" progId="MS_ClipArt_Gallery.2">
                  <p:embed/>
                </p:oleObj>
              </mc:Choice>
              <mc:Fallback>
                <p:oleObj name="" r:id="rId2" imgW="-9525" imgH="-9525" progId="MS_ClipArt_Gallery.2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39000" y="61928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1" name="Text Box 13">
            <a:hlinkClick r:id="rId1" action="ppaction://hlinksldjump"/>
          </p:cNvPr>
          <p:cNvSpPr txBox="1"/>
          <p:nvPr/>
        </p:nvSpPr>
        <p:spPr>
          <a:xfrm>
            <a:off x="7286625" y="61722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animBg="1"/>
      <p:bldP spid="49157" grpId="0" animBg="1"/>
      <p:bldP spid="49158" grpId="0"/>
      <p:bldP spid="49159" grpId="0"/>
      <p:bldP spid="49160" grpId="0"/>
      <p:bldP spid="49161" grpId="0"/>
      <p:bldP spid="49162" grpId="0"/>
      <p:bldP spid="4916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84" name="Rectangle 28"/>
          <p:cNvSpPr>
            <a:spLocks noChangeArrowheads="1"/>
          </p:cNvSpPr>
          <p:nvPr/>
        </p:nvSpPr>
        <p:spPr bwMode="auto">
          <a:xfrm>
            <a:off x="685800" y="685800"/>
            <a:ext cx="7772400" cy="1066800"/>
          </a:xfrm>
          <a:prstGeom prst="rect">
            <a:avLst/>
          </a:prstGeom>
          <a:gradFill rotWithShape="0">
            <a:gsLst>
              <a:gs pos="0">
                <a:srgbClr val="FFFFFF">
                  <a:gamma/>
                  <a:shade val="46275"/>
                  <a:invGamma/>
                </a:srgbClr>
              </a:gs>
              <a:gs pos="5000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  <a:effectLst/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 anchor="ctr">
            <a:flatTx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60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§2-6  </a:t>
            </a:r>
            <a:r>
              <a:rPr kumimoji="1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幼圆" panose="02010509060101010101" pitchFamily="49" charset="-122"/>
                <a:ea typeface="隶书" panose="02010509060101010101" pitchFamily="49" charset="-122"/>
                <a:cs typeface="+mn-cs"/>
              </a:rPr>
              <a:t>接口问题</a:t>
            </a:r>
            <a:endParaRPr kumimoji="1" lang="zh-CN" altLang="en-US" sz="6000" b="1" i="0" u="none" strike="noStrike" kern="1200" cap="none" spc="0" normalizeH="0" baseline="0" noProof="0">
              <a:ln>
                <a:noFill/>
              </a:ln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45085" name="Text Box 29"/>
          <p:cNvSpPr txBox="1"/>
          <p:nvPr/>
        </p:nvSpPr>
        <p:spPr>
          <a:xfrm>
            <a:off x="2514600" y="2895600"/>
            <a:ext cx="35814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TTL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与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CMOS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接口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5086" name="Text Box 30"/>
          <p:cNvSpPr txBox="1"/>
          <p:nvPr/>
        </p:nvSpPr>
        <p:spPr>
          <a:xfrm>
            <a:off x="2667000" y="4038600"/>
            <a:ext cx="3581400" cy="6413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CMOS 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与</a:t>
            </a:r>
            <a:r>
              <a:rPr lang="en-US" altLang="zh-CN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TTL</a:t>
            </a:r>
            <a:r>
              <a:rPr lang="zh-CN" altLang="en-US" sz="3600" b="1" dirty="0">
                <a:latin typeface="黑体" panose="02010609060101010101" pitchFamily="2" charset="-122"/>
                <a:ea typeface="黑体" panose="02010609060101010101" pitchFamily="2" charset="-122"/>
              </a:rPr>
              <a:t>接口</a:t>
            </a:r>
            <a:endParaRPr lang="zh-CN" altLang="en-US" sz="36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45087" name="Picture 31" descr="D:\image\ball5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971800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088" name="Picture 32" descr="D:\image\ball5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130675"/>
            <a:ext cx="76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7351" name="Picture 34" descr="E:\电子教案\wb00677_.gif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5943600"/>
            <a:ext cx="6858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84" grpId="0" animBg="1"/>
      <p:bldP spid="45085" grpId="0"/>
      <p:bldP spid="4508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80" name="Text Box 4"/>
          <p:cNvSpPr txBox="1"/>
          <p:nvPr/>
        </p:nvSpPr>
        <p:spPr>
          <a:xfrm>
            <a:off x="1676400" y="304800"/>
            <a:ext cx="51054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TTL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与</a:t>
            </a: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CMOS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接口</a:t>
            </a:r>
            <a:endParaRPr lang="zh-CN" altLang="en-US" sz="44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3429000" y="1676400"/>
          <a:ext cx="4724400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" imgW="2409825" imgH="1971675" progId="Paint.Picture">
                  <p:embed/>
                </p:oleObj>
              </mc:Choice>
              <mc:Fallback>
                <p:oleObj name="" r:id="rId1" imgW="2409825" imgH="1971675" progId="Paint.Picture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29000" y="1676400"/>
                        <a:ext cx="4724400" cy="426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/>
          <p:nvPr/>
        </p:nvGrpSpPr>
        <p:grpSpPr>
          <a:xfrm>
            <a:off x="914400" y="1295400"/>
            <a:ext cx="7391400" cy="4953000"/>
            <a:chOff x="576" y="816"/>
            <a:chExt cx="4656" cy="3216"/>
          </a:xfrm>
        </p:grpSpPr>
        <p:sp>
          <p:nvSpPr>
            <p:cNvPr id="58381" name="Rectangle 5"/>
            <p:cNvSpPr/>
            <p:nvPr/>
          </p:nvSpPr>
          <p:spPr>
            <a:xfrm>
              <a:off x="576" y="816"/>
              <a:ext cx="4656" cy="3216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8382" name="Text Box 7"/>
            <p:cNvSpPr txBox="1"/>
            <p:nvPr/>
          </p:nvSpPr>
          <p:spPr>
            <a:xfrm>
              <a:off x="624" y="849"/>
              <a:ext cx="1488" cy="100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en-US" altLang="zh-CN" sz="2400" b="1" dirty="0"/>
                <a:t>CMOS</a:t>
              </a:r>
              <a:r>
                <a:rPr lang="zh-CN" altLang="en-US" sz="2400" b="1" dirty="0"/>
                <a:t>同</a:t>
              </a:r>
              <a:r>
                <a:rPr lang="en-US" altLang="zh-CN" sz="2400" b="1" dirty="0"/>
                <a:t>TTL</a:t>
              </a:r>
              <a:r>
                <a:rPr lang="zh-CN" altLang="en-US" sz="2400" b="1" dirty="0"/>
                <a:t>电源电压相同都为</a:t>
              </a:r>
              <a:r>
                <a:rPr lang="en-US" altLang="zh-CN" sz="2400" b="1" dirty="0"/>
                <a:t>5V</a:t>
              </a:r>
              <a:r>
                <a:rPr lang="zh-CN" altLang="en-US" sz="2400" b="1" dirty="0"/>
                <a:t>，则两种门可直接连接</a:t>
              </a:r>
              <a:endParaRPr lang="zh-CN" altLang="en-US" sz="2400" b="1" dirty="0"/>
            </a:p>
          </p:txBody>
        </p:sp>
      </p:grpSp>
      <p:sp>
        <p:nvSpPr>
          <p:cNvPr id="50184" name="Rectangle 8"/>
          <p:cNvSpPr/>
          <p:nvPr/>
        </p:nvSpPr>
        <p:spPr>
          <a:xfrm>
            <a:off x="5181600" y="2286000"/>
            <a:ext cx="685800" cy="1066800"/>
          </a:xfrm>
          <a:prstGeom prst="rect">
            <a:avLst/>
          </a:prstGeom>
          <a:noFill/>
          <a:ln w="3810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3" name="Group 11"/>
          <p:cNvGrpSpPr/>
          <p:nvPr/>
        </p:nvGrpSpPr>
        <p:grpSpPr>
          <a:xfrm>
            <a:off x="5791200" y="1066800"/>
            <a:ext cx="2895600" cy="1371600"/>
            <a:chOff x="3648" y="672"/>
            <a:chExt cx="1824" cy="864"/>
          </a:xfrm>
        </p:grpSpPr>
        <p:sp>
          <p:nvSpPr>
            <p:cNvPr id="58379" name="AutoShape 9"/>
            <p:cNvSpPr/>
            <p:nvPr/>
          </p:nvSpPr>
          <p:spPr>
            <a:xfrm>
              <a:off x="3696" y="672"/>
              <a:ext cx="1776" cy="864"/>
            </a:xfrm>
            <a:prstGeom prst="wedgeRoundRectCallout">
              <a:avLst>
                <a:gd name="adj1" fmla="val -51296"/>
                <a:gd name="adj2" fmla="val 72569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8380" name="Text Box 10"/>
            <p:cNvSpPr txBox="1"/>
            <p:nvPr/>
          </p:nvSpPr>
          <p:spPr>
            <a:xfrm>
              <a:off x="3648" y="768"/>
              <a:ext cx="1816" cy="74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提高</a:t>
              </a:r>
              <a:r>
                <a:rPr lang="en-US" altLang="zh-CN" sz="2400" b="1" dirty="0"/>
                <a:t>TTL</a:t>
              </a:r>
              <a:r>
                <a:rPr lang="zh-CN" altLang="en-US" sz="2400" b="1" dirty="0"/>
                <a:t>门电路的输出高电平，阻值由几百到几千欧姆</a:t>
              </a:r>
              <a:endParaRPr lang="zh-CN" altLang="en-US" sz="2400" b="1" dirty="0"/>
            </a:p>
          </p:txBody>
        </p:sp>
      </p:grpSp>
      <p:sp>
        <p:nvSpPr>
          <p:cNvPr id="50188" name="Text Box 12"/>
          <p:cNvSpPr txBox="1"/>
          <p:nvPr/>
        </p:nvSpPr>
        <p:spPr>
          <a:xfrm>
            <a:off x="990600" y="2819400"/>
            <a:ext cx="7905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CC3300"/>
                </a:solidFill>
              </a:rPr>
              <a:t>注：</a:t>
            </a:r>
            <a:endParaRPr lang="zh-CN" altLang="en-US" sz="2400" b="1" dirty="0">
              <a:solidFill>
                <a:srgbClr val="CC3300"/>
              </a:solidFill>
            </a:endParaRPr>
          </a:p>
        </p:txBody>
      </p:sp>
      <p:sp>
        <p:nvSpPr>
          <p:cNvPr id="50189" name="Text Box 13"/>
          <p:cNvSpPr txBox="1"/>
          <p:nvPr/>
        </p:nvSpPr>
        <p:spPr>
          <a:xfrm>
            <a:off x="990600" y="3276600"/>
            <a:ext cx="2438400" cy="301307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TTL</a:t>
            </a:r>
            <a:r>
              <a:rPr lang="zh-CN" altLang="en-US" sz="2400" b="1" dirty="0"/>
              <a:t>门电路高电平典型值只有</a:t>
            </a:r>
            <a:r>
              <a:rPr lang="en-US" altLang="zh-CN" sz="2400" b="1" dirty="0"/>
              <a:t>3.4V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CMOS</a:t>
            </a:r>
            <a:r>
              <a:rPr lang="zh-CN" altLang="en-US" sz="2400" b="1" dirty="0"/>
              <a:t>电路的输入高电平要求高于</a:t>
            </a:r>
            <a:r>
              <a:rPr lang="en-US" altLang="zh-CN" sz="2400" b="1" dirty="0"/>
              <a:t>3.5V</a:t>
            </a:r>
            <a:r>
              <a:rPr lang="zh-CN" altLang="en-US" sz="2400" b="1" dirty="0"/>
              <a:t>。因此在</a:t>
            </a:r>
            <a:r>
              <a:rPr lang="en-US" altLang="zh-CN" sz="2400" b="1" dirty="0"/>
              <a:t>TTL</a:t>
            </a:r>
            <a:r>
              <a:rPr lang="zh-CN" altLang="en-US" sz="2400" b="1" dirty="0"/>
              <a:t>门电路输出端与电源之间接一电阻</a:t>
            </a:r>
            <a:r>
              <a:rPr lang="en-US" altLang="zh-CN" sz="2400" b="1" dirty="0"/>
              <a:t>R</a:t>
            </a:r>
            <a:r>
              <a:rPr lang="en-US" altLang="zh-CN" sz="2400" b="1" baseline="-25000" dirty="0"/>
              <a:t>x</a:t>
            </a:r>
            <a:endParaRPr lang="en-US" altLang="zh-CN" sz="2400" b="1" baseline="-25000" dirty="0"/>
          </a:p>
        </p:txBody>
      </p:sp>
      <p:graphicFrame>
        <p:nvGraphicFramePr>
          <p:cNvPr id="58377" name="Object 15">
            <a:hlinkClick r:id="rId3" action="ppaction://hlinksldjump"/>
          </p:cNvPr>
          <p:cNvGraphicFramePr>
            <a:graphicFrameLocks noChangeAspect="1"/>
          </p:cNvGraphicFramePr>
          <p:nvPr/>
        </p:nvGraphicFramePr>
        <p:xfrm>
          <a:off x="7162800" y="62690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4" imgW="-9525" imgH="-9525" progId="MS_ClipArt_Gallery.2">
                  <p:embed/>
                </p:oleObj>
              </mc:Choice>
              <mc:Fallback>
                <p:oleObj name="" r:id="rId4" imgW="-9525" imgH="-9525" progId="MS_ClipArt_Gallery.2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62800" y="62690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8" name="Text Box 16">
            <a:hlinkClick r:id="rId3" action="ppaction://hlinksldjump"/>
          </p:cNvPr>
          <p:cNvSpPr txBox="1"/>
          <p:nvPr/>
        </p:nvSpPr>
        <p:spPr>
          <a:xfrm>
            <a:off x="7210425" y="62484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0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animBg="1"/>
      <p:bldP spid="50184" grpId="0" animBg="1"/>
      <p:bldP spid="50188" grpId="0"/>
      <p:bldP spid="5018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8" name="Text Box 4"/>
          <p:cNvSpPr txBox="1"/>
          <p:nvPr/>
        </p:nvSpPr>
        <p:spPr>
          <a:xfrm>
            <a:off x="1676400" y="304800"/>
            <a:ext cx="5105400" cy="762000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CMOS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与</a:t>
            </a:r>
            <a:r>
              <a:rPr lang="en-US" altLang="zh-CN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TTL</a:t>
            </a:r>
            <a:r>
              <a:rPr lang="zh-CN" altLang="en-US" sz="44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接口</a:t>
            </a:r>
            <a:endParaRPr lang="zh-CN" altLang="en-US" sz="44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76800" name="Object 0"/>
          <p:cNvGraphicFramePr>
            <a:graphicFrameLocks noChangeAspect="1"/>
          </p:cNvGraphicFramePr>
          <p:nvPr/>
        </p:nvGraphicFramePr>
        <p:xfrm>
          <a:off x="3962400" y="1676400"/>
          <a:ext cx="4267200" cy="412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" imgW="2200275" imgH="1524000" progId="Paint.Picture">
                  <p:embed/>
                </p:oleObj>
              </mc:Choice>
              <mc:Fallback>
                <p:oleObj name="" r:id="rId1" imgW="2200275" imgH="1524000" progId="Paint.Picture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62400" y="1676400"/>
                        <a:ext cx="4267200" cy="412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1" name="Text Box 7"/>
          <p:cNvSpPr txBox="1"/>
          <p:nvPr/>
        </p:nvSpPr>
        <p:spPr>
          <a:xfrm>
            <a:off x="762000" y="2179638"/>
            <a:ext cx="3124200" cy="19177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CMOS</a:t>
            </a:r>
            <a:r>
              <a:rPr lang="zh-CN" altLang="en-US" sz="2400" b="1" dirty="0"/>
              <a:t>门的驱动能力不适应</a:t>
            </a:r>
            <a:r>
              <a:rPr lang="en-US" altLang="zh-CN" sz="2400" b="1" dirty="0"/>
              <a:t>TTL</a:t>
            </a:r>
            <a:r>
              <a:rPr lang="zh-CN" altLang="en-US" sz="2400" b="1" dirty="0"/>
              <a:t>门的要求，可采用专用的</a:t>
            </a:r>
            <a:r>
              <a:rPr lang="en-US" altLang="zh-CN" sz="2400" b="1" dirty="0"/>
              <a:t>CMOS—TTL</a:t>
            </a:r>
            <a:r>
              <a:rPr lang="zh-CN" altLang="en-US" sz="2400" b="1" dirty="0"/>
              <a:t>电平转换器</a:t>
            </a:r>
            <a:endParaRPr lang="zh-CN" altLang="en-US" sz="2400" b="1" dirty="0"/>
          </a:p>
        </p:txBody>
      </p:sp>
      <p:grpSp>
        <p:nvGrpSpPr>
          <p:cNvPr id="2" name="Group 13"/>
          <p:cNvGrpSpPr/>
          <p:nvPr/>
        </p:nvGrpSpPr>
        <p:grpSpPr>
          <a:xfrm>
            <a:off x="703263" y="1447800"/>
            <a:ext cx="7754937" cy="4648200"/>
            <a:chOff x="443" y="912"/>
            <a:chExt cx="4885" cy="2928"/>
          </a:xfrm>
        </p:grpSpPr>
        <p:sp>
          <p:nvSpPr>
            <p:cNvPr id="59404" name="Rectangle 5"/>
            <p:cNvSpPr/>
            <p:nvPr/>
          </p:nvSpPr>
          <p:spPr>
            <a:xfrm>
              <a:off x="480" y="912"/>
              <a:ext cx="4848" cy="2928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59405" name="Text Box 8"/>
            <p:cNvSpPr txBox="1"/>
            <p:nvPr/>
          </p:nvSpPr>
          <p:spPr>
            <a:xfrm>
              <a:off x="443" y="1056"/>
              <a:ext cx="20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当用</a:t>
              </a:r>
              <a:r>
                <a:rPr lang="en-US" altLang="zh-CN" sz="2400" b="1" dirty="0"/>
                <a:t>CMOS</a:t>
              </a:r>
              <a:r>
                <a:rPr lang="zh-CN" altLang="en-US" sz="2400" b="1" dirty="0"/>
                <a:t>驱动</a:t>
              </a:r>
              <a:r>
                <a:rPr lang="en-US" altLang="zh-CN" sz="2400" b="1" dirty="0"/>
                <a:t>TTL</a:t>
              </a:r>
              <a:r>
                <a:rPr lang="zh-CN" altLang="en-US" sz="2400" b="1" dirty="0"/>
                <a:t>时</a:t>
              </a:r>
              <a:endParaRPr lang="zh-CN" altLang="en-US" sz="2400" b="1" dirty="0"/>
            </a:p>
          </p:txBody>
        </p:sp>
      </p:grpSp>
      <p:sp>
        <p:nvSpPr>
          <p:cNvPr id="52233" name="Rectangle 9"/>
          <p:cNvSpPr/>
          <p:nvPr/>
        </p:nvSpPr>
        <p:spPr>
          <a:xfrm>
            <a:off x="5410200" y="2743200"/>
            <a:ext cx="990600" cy="2133600"/>
          </a:xfrm>
          <a:prstGeom prst="rect">
            <a:avLst/>
          </a:prstGeom>
          <a:noFill/>
          <a:ln w="38100" cap="flat" cmpd="sng">
            <a:solidFill>
              <a:srgbClr val="CC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2400" dirty="0"/>
          </a:p>
        </p:txBody>
      </p:sp>
      <p:grpSp>
        <p:nvGrpSpPr>
          <p:cNvPr id="3" name="Group 12"/>
          <p:cNvGrpSpPr/>
          <p:nvPr/>
        </p:nvGrpSpPr>
        <p:grpSpPr>
          <a:xfrm>
            <a:off x="5867400" y="1676400"/>
            <a:ext cx="1371600" cy="838200"/>
            <a:chOff x="3696" y="1056"/>
            <a:chExt cx="864" cy="528"/>
          </a:xfrm>
        </p:grpSpPr>
        <p:sp>
          <p:nvSpPr>
            <p:cNvPr id="59402" name="AutoShape 10"/>
            <p:cNvSpPr/>
            <p:nvPr/>
          </p:nvSpPr>
          <p:spPr>
            <a:xfrm>
              <a:off x="3696" y="1056"/>
              <a:ext cx="864" cy="528"/>
            </a:xfrm>
            <a:prstGeom prst="wedgeRoundRectCallout">
              <a:avLst>
                <a:gd name="adj1" fmla="val -43750"/>
                <a:gd name="adj2" fmla="val 70000"/>
                <a:gd name="adj3" fmla="val 16667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2400" dirty="0"/>
            </a:p>
          </p:txBody>
        </p:sp>
        <p:sp>
          <p:nvSpPr>
            <p:cNvPr id="59403" name="Text Box 11"/>
            <p:cNvSpPr txBox="1"/>
            <p:nvPr/>
          </p:nvSpPr>
          <p:spPr>
            <a:xfrm>
              <a:off x="3792" y="1152"/>
              <a:ext cx="696" cy="288"/>
            </a:xfrm>
            <a:prstGeom prst="rect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转换器</a:t>
              </a:r>
              <a:endParaRPr lang="zh-CN" altLang="en-US" sz="2400" b="1" dirty="0"/>
            </a:p>
          </p:txBody>
        </p:sp>
      </p:grpSp>
      <p:graphicFrame>
        <p:nvGraphicFramePr>
          <p:cNvPr id="59400" name="Object 1">
            <a:hlinkClick r:id="rId3" action="ppaction://hlinksldjump"/>
          </p:cNvPr>
          <p:cNvGraphicFramePr>
            <a:graphicFrameLocks noChangeAspect="1"/>
          </p:cNvGraphicFramePr>
          <p:nvPr/>
        </p:nvGraphicFramePr>
        <p:xfrm>
          <a:off x="7162800" y="6269038"/>
          <a:ext cx="12192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4" imgW="-9525" imgH="-9525" progId="MS_ClipArt_Gallery.2">
                  <p:embed/>
                </p:oleObj>
              </mc:Choice>
              <mc:Fallback>
                <p:oleObj name="" r:id="rId4" imgW="-9525" imgH="-9525" progId="MS_ClipArt_Gallery.2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62800" y="6269038"/>
                        <a:ext cx="1219200" cy="512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1" name="Text Box 15">
            <a:hlinkClick r:id="rId3" action="ppaction://hlinksldjump"/>
          </p:cNvPr>
          <p:cNvSpPr txBox="1"/>
          <p:nvPr/>
        </p:nvSpPr>
        <p:spPr>
          <a:xfrm>
            <a:off x="7210425" y="6248400"/>
            <a:ext cx="1095375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u="sng" dirty="0">
                <a:solidFill>
                  <a:schemeClr val="accent2"/>
                </a:solidFill>
              </a:rPr>
              <a:t>返回</a:t>
            </a:r>
            <a:endParaRPr lang="zh-CN" altLang="en-US" sz="2400" b="1" dirty="0"/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animBg="1"/>
      <p:bldP spid="52231" grpId="0"/>
      <p:bldP spid="5223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2" name="Text Box 4"/>
          <p:cNvSpPr txBox="1"/>
          <p:nvPr/>
        </p:nvSpPr>
        <p:spPr>
          <a:xfrm>
            <a:off x="1676400" y="76200"/>
            <a:ext cx="5105400" cy="823913"/>
          </a:xfrm>
          <a:prstGeom prst="rect">
            <a:avLst/>
          </a:prstGeom>
          <a:gradFill rotWithShape="0">
            <a:gsLst>
              <a:gs pos="0">
                <a:srgbClr val="767676"/>
              </a:gs>
              <a:gs pos="50000">
                <a:srgbClr val="FFFFFF"/>
              </a:gs>
              <a:gs pos="100000">
                <a:srgbClr val="767676"/>
              </a:gs>
            </a:gsLst>
            <a:lin ang="5400000" scaled="1"/>
            <a:tileRect/>
          </a:gra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PerspectiveBottom">
              <a:rot lat="0" lon="0" rev="0"/>
            </a:camera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rgbClr val="FFFFFF"/>
            </a:extrusionClr>
          </a:sp3d>
        </p:spPr>
        <p:txBody>
          <a:bodyPr>
            <a:spAutoFit/>
            <a:flatTx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800" b="1" dirty="0">
                <a:solidFill>
                  <a:srgbClr val="990000"/>
                </a:solidFill>
                <a:latin typeface="黑体" panose="02010609060101010101" pitchFamily="2" charset="-122"/>
                <a:ea typeface="隶书" panose="02010509060101010101" pitchFamily="49" charset="-122"/>
              </a:rPr>
              <a:t>小   结</a:t>
            </a:r>
            <a:endParaRPr lang="zh-CN" altLang="en-US" sz="4800" b="1" dirty="0">
              <a:solidFill>
                <a:srgbClr val="990000"/>
              </a:solidFill>
              <a:latin typeface="幼圆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2" name="Group 10"/>
          <p:cNvGrpSpPr/>
          <p:nvPr/>
        </p:nvGrpSpPr>
        <p:grpSpPr>
          <a:xfrm>
            <a:off x="914400" y="1143000"/>
            <a:ext cx="7315200" cy="5257800"/>
            <a:chOff x="576" y="720"/>
            <a:chExt cx="4608" cy="3120"/>
          </a:xfrm>
        </p:grpSpPr>
        <p:sp>
          <p:nvSpPr>
            <p:cNvPr id="60424" name="Rectangle 5"/>
            <p:cNvSpPr/>
            <p:nvPr/>
          </p:nvSpPr>
          <p:spPr>
            <a:xfrm>
              <a:off x="576" y="720"/>
              <a:ext cx="4608" cy="3120"/>
            </a:xfrm>
            <a:prstGeom prst="rect">
              <a:avLst/>
            </a:prstGeom>
            <a:noFill/>
            <a:ln w="57150" cap="flat" cmpd="thinThick">
              <a:solidFill>
                <a:srgbClr val="33CC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2400" dirty="0"/>
            </a:p>
          </p:txBody>
        </p:sp>
        <p:sp>
          <p:nvSpPr>
            <p:cNvPr id="60425" name="Text Box 6"/>
            <p:cNvSpPr txBox="1"/>
            <p:nvPr/>
          </p:nvSpPr>
          <p:spPr>
            <a:xfrm>
              <a:off x="768" y="783"/>
              <a:ext cx="4272" cy="4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本章主要介绍了有关逻辑电路的基本概念和</a:t>
              </a:r>
              <a:r>
                <a:rPr lang="en-US" altLang="zh-CN" sz="2400" b="1" dirty="0"/>
                <a:t>TTL</a:t>
              </a:r>
              <a:r>
                <a:rPr lang="zh-CN" altLang="en-US" sz="2400" b="1" dirty="0"/>
                <a:t>、</a:t>
              </a:r>
              <a:r>
                <a:rPr lang="en-US" altLang="zh-CN" sz="2400" b="1" dirty="0"/>
                <a:t>ECL</a:t>
              </a:r>
              <a:r>
                <a:rPr lang="zh-CN" altLang="en-US" sz="2400" b="1" dirty="0"/>
                <a:t>、</a:t>
              </a:r>
              <a:r>
                <a:rPr lang="en-US" altLang="zh-CN" sz="2400" b="1" dirty="0"/>
                <a:t>MOS</a:t>
              </a:r>
              <a:r>
                <a:rPr lang="zh-CN" altLang="en-US" sz="2400" b="1" dirty="0"/>
                <a:t>等集成逻辑门</a:t>
              </a:r>
              <a:endParaRPr lang="zh-CN" altLang="en-US" sz="2400" b="1" dirty="0"/>
            </a:p>
          </p:txBody>
        </p:sp>
      </p:grpSp>
      <p:sp>
        <p:nvSpPr>
          <p:cNvPr id="53255" name="Text Box 7"/>
          <p:cNvSpPr txBox="1"/>
          <p:nvPr/>
        </p:nvSpPr>
        <p:spPr>
          <a:xfrm>
            <a:off x="1066800" y="1905000"/>
            <a:ext cx="7010400" cy="1614488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  </a:t>
            </a:r>
            <a:r>
              <a:rPr lang="en-US" altLang="zh-CN" sz="2400" b="1" dirty="0"/>
              <a:t>TTL</a:t>
            </a:r>
            <a:r>
              <a:rPr lang="zh-CN" altLang="en-US" sz="2400" b="1" dirty="0"/>
              <a:t>电路输入级采用多发射极晶体管，输出级采用推拉式结构，所以工作速度较快，负载能力较强，是目前使用最广泛的一种集成逻辑门。应掌握好</a:t>
            </a:r>
            <a:r>
              <a:rPr lang="en-US" altLang="zh-CN" sz="2400" b="1" dirty="0"/>
              <a:t>TTL</a:t>
            </a:r>
            <a:r>
              <a:rPr lang="zh-CN" altLang="en-US" sz="2400" b="1" dirty="0"/>
              <a:t>门电气特性和参数。</a:t>
            </a:r>
            <a:endParaRPr lang="zh-CN" altLang="en-US" sz="2400" b="1" dirty="0"/>
          </a:p>
        </p:txBody>
      </p:sp>
      <p:sp>
        <p:nvSpPr>
          <p:cNvPr id="53256" name="Text Box 8"/>
          <p:cNvSpPr txBox="1"/>
          <p:nvPr/>
        </p:nvSpPr>
        <p:spPr>
          <a:xfrm>
            <a:off x="1066800" y="3322638"/>
            <a:ext cx="6931025" cy="124936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</a:t>
            </a:r>
            <a:r>
              <a:rPr lang="en-US" altLang="zh-CN" sz="2400" b="1" dirty="0"/>
              <a:t> ECL</a:t>
            </a:r>
            <a:r>
              <a:rPr lang="zh-CN" altLang="en-US" sz="2400" b="1" dirty="0"/>
              <a:t>门是目前速度最高的一种非饱和型电路。其缺点是功耗大，抗干扰能力差。一般只在要求速度特别高的场合</a:t>
            </a:r>
            <a:endParaRPr lang="zh-CN" altLang="en-US" sz="2400" b="1" dirty="0"/>
          </a:p>
        </p:txBody>
      </p:sp>
      <p:sp>
        <p:nvSpPr>
          <p:cNvPr id="53257" name="Text Box 9"/>
          <p:cNvSpPr txBox="1"/>
          <p:nvPr/>
        </p:nvSpPr>
        <p:spPr>
          <a:xfrm>
            <a:off x="1066800" y="4421188"/>
            <a:ext cx="6934200" cy="1979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CC3300"/>
                </a:solidFill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olidFill>
                  <a:srgbClr val="CC3300"/>
                </a:solidFill>
              </a:rPr>
              <a:t> </a:t>
            </a:r>
            <a:r>
              <a:rPr lang="en-US" altLang="zh-CN" sz="2400" b="1" dirty="0"/>
              <a:t>MOS</a:t>
            </a:r>
            <a:r>
              <a:rPr lang="zh-CN" altLang="en-US" sz="2400" b="1" dirty="0"/>
              <a:t>电路属于单极型电路，</a:t>
            </a:r>
            <a:r>
              <a:rPr lang="en-US" altLang="zh-CN" sz="2400" b="1" dirty="0"/>
              <a:t>CMOS</a:t>
            </a:r>
            <a:r>
              <a:rPr lang="zh-CN" altLang="en-US" sz="2400" b="1" dirty="0"/>
              <a:t>电路是重点，具有高速度、功耗低、扇出大、电源电压范围宽、抗干扰能力强、集成度高等一系列特点，使之在整个数字集成电路中占据主导地位的趋势日益明显。</a:t>
            </a:r>
            <a:endParaRPr lang="zh-CN" altLang="en-US" sz="2400" b="1" dirty="0"/>
          </a:p>
        </p:txBody>
      </p:sp>
      <p:pic>
        <p:nvPicPr>
          <p:cNvPr id="60423" name="Picture 12" descr="E:\电子教案\wb00677_.gif">
            <a:hlinkClick r:id="rId1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6400800"/>
            <a:ext cx="685800" cy="457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animBg="1"/>
      <p:bldP spid="53255" grpId="0"/>
      <p:bldP spid="53256" grpId="0"/>
      <p:bldP spid="53257" grpId="0"/>
    </p:bldLst>
  </p:timing>
</p:sld>
</file>

<file path=ppt/theme/theme1.xml><?xml version="1.0" encoding="utf-8"?>
<a:theme xmlns:a="http://schemas.openxmlformats.org/drawingml/2006/main" name="空演示文稿">
  <a:themeElements>
    <a:clrScheme name="空演示文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空演示文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0000" tIns="46800" rIns="90000" bIns="46800" numCol="1" anchor="ctr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空演示文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空演示文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空演示文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Office\Templates\空演示文稿.pot</Template>
  <TotalTime>0</TotalTime>
  <Words>7658</Words>
  <Application>WPS 演示</Application>
  <PresentationFormat>全屏显示(4:3)</PresentationFormat>
  <Paragraphs>1068</Paragraphs>
  <Slides>56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78</vt:i4>
      </vt:variant>
      <vt:variant>
        <vt:lpstr>幻灯片标题</vt:lpstr>
      </vt:variant>
      <vt:variant>
        <vt:i4>56</vt:i4>
      </vt:variant>
    </vt:vector>
  </HeadingPairs>
  <TitlesOfParts>
    <vt:vector size="145" baseType="lpstr">
      <vt:lpstr>Arial</vt:lpstr>
      <vt:lpstr>宋体</vt:lpstr>
      <vt:lpstr>Wingdings</vt:lpstr>
      <vt:lpstr>Times New Roman</vt:lpstr>
      <vt:lpstr>隶书</vt:lpstr>
      <vt:lpstr>幼圆</vt:lpstr>
      <vt:lpstr>黑体</vt:lpstr>
      <vt:lpstr>Symbol</vt:lpstr>
      <vt:lpstr>微软雅黑</vt:lpstr>
      <vt:lpstr>Arial Unicode MS</vt:lpstr>
      <vt:lpstr>空演示文稿</vt:lpstr>
      <vt:lpstr>Paint.Picture</vt:lpstr>
      <vt:lpstr>Paint.Picture</vt:lpstr>
      <vt:lpstr>Paint.Picture</vt:lpstr>
      <vt:lpstr>Equation.3</vt:lpstr>
      <vt:lpstr>Equation.3</vt:lpstr>
      <vt:lpstr>Paint.Picture</vt:lpstr>
      <vt:lpstr>Equation.3</vt:lpstr>
      <vt:lpstr>Paint.Picture</vt:lpstr>
      <vt:lpstr>Paint.Picture</vt:lpstr>
      <vt:lpstr>Paint.Picture</vt:lpstr>
      <vt:lpstr>Paint.Picture</vt:lpstr>
      <vt:lpstr>Paint.Picture</vt:lpstr>
      <vt:lpstr>Paint.Picture</vt:lpstr>
      <vt:lpstr>Equation.3</vt:lpstr>
      <vt:lpstr>Equation.3</vt:lpstr>
      <vt:lpstr>Equation.3</vt:lpstr>
      <vt:lpstr>Paint.Picture</vt:lpstr>
      <vt:lpstr>Paint.Picture</vt:lpstr>
      <vt:lpstr>Paint.Picture</vt:lpstr>
      <vt:lpstr>Equation.3</vt:lpstr>
      <vt:lpstr>Equation.3</vt:lpstr>
      <vt:lpstr>Paint.Picture</vt:lpstr>
      <vt:lpstr>Equation.3</vt:lpstr>
      <vt:lpstr>Paint.Picture</vt:lpstr>
      <vt:lpstr>Paint.Picture</vt:lpstr>
      <vt:lpstr>Paint.Picture</vt:lpstr>
      <vt:lpstr>Equation.3</vt:lpstr>
      <vt:lpstr>Paint.Picture</vt:lpstr>
      <vt:lpstr>Paint.Picture</vt:lpstr>
      <vt:lpstr>Paint.Picture</vt:lpstr>
      <vt:lpstr>MS_ClipArt_Gallery.2</vt:lpstr>
      <vt:lpstr>Paint.Picture</vt:lpstr>
      <vt:lpstr>Paint.Picture</vt:lpstr>
      <vt:lpstr>Paint.Picture</vt:lpstr>
      <vt:lpstr>Equation.3</vt:lpstr>
      <vt:lpstr>MS_ClipArt_Gallery.2</vt:lpstr>
      <vt:lpstr>MS_ClipArt_Gallery.2</vt:lpstr>
      <vt:lpstr>Paint.Picture</vt:lpstr>
      <vt:lpstr>MS_ClipArt_Gallery.2</vt:lpstr>
      <vt:lpstr>Paint.Picture</vt:lpstr>
      <vt:lpstr>Equation.3</vt:lpstr>
      <vt:lpstr>Paint.Picture</vt:lpstr>
      <vt:lpstr>MS_ClipArt_Gallery.2</vt:lpstr>
      <vt:lpstr>Paint.Picture</vt:lpstr>
      <vt:lpstr>Paint.Picture</vt:lpstr>
      <vt:lpstr>Equation.3</vt:lpstr>
      <vt:lpstr>MS_ClipArt_Gallery.2</vt:lpstr>
      <vt:lpstr>Visio.Drawing.4</vt:lpstr>
      <vt:lpstr>Visio.Drawing.4</vt:lpstr>
      <vt:lpstr>Paint.Picture</vt:lpstr>
      <vt:lpstr>MS_ClipArt_Gallery.2</vt:lpstr>
      <vt:lpstr>Paint.Picture</vt:lpstr>
      <vt:lpstr>MS_ClipArt_Gallery.2</vt:lpstr>
      <vt:lpstr>Paint.Picture</vt:lpstr>
      <vt:lpstr>Paint.Picture</vt:lpstr>
      <vt:lpstr>Equation.3</vt:lpstr>
      <vt:lpstr>MS_ClipArt_Gallery.2</vt:lpstr>
      <vt:lpstr>MS_ClipArt_Gallery.2</vt:lpstr>
      <vt:lpstr>Paint.Picture</vt:lpstr>
      <vt:lpstr>Paint.Picture</vt:lpstr>
      <vt:lpstr>Equation.3</vt:lpstr>
      <vt:lpstr>Paint.Picture</vt:lpstr>
      <vt:lpstr>Paint.Picture</vt:lpstr>
      <vt:lpstr>MS_ClipArt_Gallery.2</vt:lpstr>
      <vt:lpstr>Paint.Picture</vt:lpstr>
      <vt:lpstr>Paint.Picture</vt:lpstr>
      <vt:lpstr>Paint.Picture</vt:lpstr>
      <vt:lpstr>MS_ClipArt_Gallery.2</vt:lpstr>
      <vt:lpstr>Paint.Picture</vt:lpstr>
      <vt:lpstr>Equation.3</vt:lpstr>
      <vt:lpstr>MS_ClipArt_Gallery.2</vt:lpstr>
      <vt:lpstr>MS_ClipArt_Gallery.2</vt:lpstr>
      <vt:lpstr>Paint.Picture</vt:lpstr>
      <vt:lpstr>MS_ClipArt_Gallery.2</vt:lpstr>
      <vt:lpstr>Paint.Picture</vt:lpstr>
      <vt:lpstr>MS_ClipArt_Gallery.2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逻辑门电路</dc:title>
  <dc:creator>d7</dc:creator>
  <cp:lastModifiedBy>WPS_1640354101</cp:lastModifiedBy>
  <cp:revision>49</cp:revision>
  <dcterms:created xsi:type="dcterms:W3CDTF">1999-06-27T07:55:31Z</dcterms:created>
  <dcterms:modified xsi:type="dcterms:W3CDTF">2024-03-12T07:03:10Z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E202131068F64D169635B5E17FFE6E1B_13</vt:lpwstr>
  </property>
  <property fmtid="{D5CDD505-2E9C-101B-9397-08002B2CF9AE}" pid="3" name="KSOProductBuildVer">
    <vt:lpwstr>2052-12.1.0.16388</vt:lpwstr>
  </property>
</Properties>
</file>