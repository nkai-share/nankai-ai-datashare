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gif" ContentType="image/gi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0" r:id="rId6"/>
    <p:sldId id="261" r:id="rId7"/>
    <p:sldId id="262" r:id="rId8"/>
    <p:sldId id="263" r:id="rId9"/>
    <p:sldId id="264" r:id="rId10"/>
    <p:sldId id="266" r:id="rId11"/>
    <p:sldId id="265" r:id="rId12"/>
    <p:sldId id="267" r:id="rId13"/>
    <p:sldId id="268" r:id="rId14"/>
    <p:sldId id="269" r:id="rId15"/>
    <p:sldId id="270" r:id="rId16"/>
    <p:sldId id="271" r:id="rId17"/>
    <p:sldId id="272" r:id="rId18"/>
    <p:sldId id="274" r:id="rId19"/>
    <p:sldId id="273" r:id="rId20"/>
    <p:sldId id="276" r:id="rId21"/>
    <p:sldId id="275" r:id="rId22"/>
    <p:sldId id="278" r:id="rId23"/>
    <p:sldId id="277" r:id="rId24"/>
    <p:sldId id="280" r:id="rId25"/>
    <p:sldId id="279" r:id="rId26"/>
    <p:sldId id="282" r:id="rId27"/>
    <p:sldId id="281" r:id="rId28"/>
    <p:sldId id="284" r:id="rId29"/>
    <p:sldId id="283" r:id="rId30"/>
    <p:sldId id="285" r:id="rId31"/>
    <p:sldId id="287" r:id="rId32"/>
    <p:sldId id="286" r:id="rId33"/>
    <p:sldId id="289" r:id="rId34"/>
    <p:sldId id="288" r:id="rId35"/>
    <p:sldId id="291" r:id="rId36"/>
    <p:sldId id="290" r:id="rId37"/>
    <p:sldId id="293" r:id="rId38"/>
    <p:sldId id="292" r:id="rId39"/>
    <p:sldId id="295" r:id="rId40"/>
    <p:sldId id="294" r:id="rId41"/>
    <p:sldId id="297" r:id="rId42"/>
    <p:sldId id="296" r:id="rId43"/>
    <p:sldId id="299" r:id="rId44"/>
    <p:sldId id="298" r:id="rId45"/>
    <p:sldId id="301" r:id="rId46"/>
    <p:sldId id="300" r:id="rId47"/>
    <p:sldId id="303" r:id="rId48"/>
    <p:sldId id="302" r:id="rId49"/>
    <p:sldId id="305" r:id="rId50"/>
    <p:sldId id="304" r:id="rId51"/>
    <p:sldId id="307" r:id="rId52"/>
    <p:sldId id="306" r:id="rId53"/>
    <p:sldId id="309" r:id="rId54"/>
    <p:sldId id="308" r:id="rId55"/>
    <p:sldId id="311" r:id="rId56"/>
    <p:sldId id="310" r:id="rId57"/>
    <p:sldId id="359" r:id="rId58"/>
    <p:sldId id="313" r:id="rId59"/>
    <p:sldId id="312" r:id="rId60"/>
    <p:sldId id="315" r:id="rId61"/>
    <p:sldId id="358" r:id="rId62"/>
    <p:sldId id="314" r:id="rId63"/>
    <p:sldId id="317" r:id="rId64"/>
    <p:sldId id="316" r:id="rId65"/>
    <p:sldId id="319" r:id="rId66"/>
    <p:sldId id="318" r:id="rId67"/>
    <p:sldId id="320" r:id="rId68"/>
    <p:sldId id="322" r:id="rId69"/>
    <p:sldId id="321" r:id="rId70"/>
    <p:sldId id="324" r:id="rId71"/>
    <p:sldId id="323" r:id="rId72"/>
    <p:sldId id="326" r:id="rId73"/>
    <p:sldId id="325" r:id="rId74"/>
    <p:sldId id="360" r:id="rId75"/>
    <p:sldId id="328" r:id="rId76"/>
    <p:sldId id="327" r:id="rId77"/>
    <p:sldId id="330" r:id="rId78"/>
    <p:sldId id="329" r:id="rId79"/>
    <p:sldId id="332" r:id="rId80"/>
    <p:sldId id="331" r:id="rId81"/>
    <p:sldId id="334" r:id="rId82"/>
    <p:sldId id="333" r:id="rId83"/>
    <p:sldId id="335" r:id="rId84"/>
    <p:sldId id="336" r:id="rId85"/>
    <p:sldId id="337" r:id="rId86"/>
    <p:sldId id="338" r:id="rId87"/>
    <p:sldId id="339" r:id="rId88"/>
    <p:sldId id="341" r:id="rId89"/>
    <p:sldId id="340" r:id="rId90"/>
    <p:sldId id="343" r:id="rId91"/>
    <p:sldId id="342" r:id="rId92"/>
    <p:sldId id="345" r:id="rId93"/>
    <p:sldId id="344" r:id="rId94"/>
    <p:sldId id="361" r:id="rId95"/>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8"/>
  </p:normalViewPr>
  <p:slideViewPr>
    <p:cSldViewPr showGuides="1">
      <p:cViewPr varScale="1">
        <p:scale>
          <a:sx n="63" d="100"/>
          <a:sy n="63" d="100"/>
        </p:scale>
        <p:origin x="138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7198"/>
    </p:cViewPr>
  </p:sorterViewPr>
  <p:gridSpacing cx="72008" cy="72008"/>
</p:viewPr>
</file>

<file path=ppt/_rels/presentation.xml.rels><?xml version="1.0" encoding="UTF-8" standalone="yes"?>
<Relationships xmlns="http://schemas.openxmlformats.org/package/2006/relationships"><Relationship Id="rId98" Type="http://schemas.openxmlformats.org/officeDocument/2006/relationships/tableStyles" Target="tableStyles.xml"/><Relationship Id="rId97" Type="http://schemas.openxmlformats.org/officeDocument/2006/relationships/viewProps" Target="viewProps.xml"/><Relationship Id="rId96" Type="http://schemas.openxmlformats.org/officeDocument/2006/relationships/presProps" Target="presProps.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1.wmf"/><Relationship Id="rId1" Type="http://schemas.openxmlformats.org/officeDocument/2006/relationships/image" Target="../media/image35.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3.wmf"/><Relationship Id="rId1" Type="http://schemas.openxmlformats.org/officeDocument/2006/relationships/image" Target="../media/image44.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78.w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80.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81.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EB4045-1439-4E7D-BC52-AD6B92B6D67E}"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heck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EB4045-1439-4E7D-BC52-AD6B92B6D67E}"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heck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EB4045-1439-4E7D-BC52-AD6B92B6D67E}"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heck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85800" y="1981200"/>
            <a:ext cx="3810000" cy="41148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981200"/>
            <a:ext cx="3810000" cy="41148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EB4045-1439-4E7D-BC52-AD6B92B6D67E}"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heck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EB4045-1439-4E7D-BC52-AD6B92B6D67E}"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heck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EB4045-1439-4E7D-BC52-AD6B92B6D67E}"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heck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EB4045-1439-4E7D-BC52-AD6B92B6D67E}"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heck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EB4045-1439-4E7D-BC52-AD6B92B6D67E}"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heck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EB4045-1439-4E7D-BC52-AD6B92B6D67E}"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heck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EB4045-1439-4E7D-BC52-AD6B92B6D67E}"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heck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85800" y="609600"/>
            <a:ext cx="5676900" cy="5486400"/>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EB4045-1439-4E7D-BC52-AD6B92B6D67E}"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hecke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5.GIF"/><Relationship Id="rId15" Type="http://schemas.openxmlformats.org/officeDocument/2006/relationships/image" Target="../media/image4.jpeg"/><Relationship Id="rId14" Type="http://schemas.openxmlformats.org/officeDocument/2006/relationships/image" Target="../media/image3.jpeg"/><Relationship Id="rId13" Type="http://schemas.openxmlformats.org/officeDocument/2006/relationships/image" Target="../media/image2.jpeg"/><Relationship Id="rId12" Type="http://schemas.openxmlformats.org/officeDocument/2006/relationships/image" Target="../media/image1.GIF"/><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685800" y="609600"/>
            <a:ext cx="77724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3"/>
          <p:cNvSpPr>
            <a:spLocks noGrp="1"/>
          </p:cNvSpPr>
          <p:nvPr>
            <p:ph type="body" idx="1"/>
          </p:nvPr>
        </p:nvSpPr>
        <p:spPr>
          <a:xfrm>
            <a:off x="685800" y="1981200"/>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00EB4045-1439-4E7D-BC52-AD6B92B6D67E}"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031" name="Picture 7" descr="GIF-395"/>
          <p:cNvPicPr>
            <a:picLocks noChangeAspect="1"/>
          </p:cNvPicPr>
          <p:nvPr userDrawn="1"/>
        </p:nvPicPr>
        <p:blipFill>
          <a:blip r:embed="rId12"/>
          <a:stretch>
            <a:fillRect/>
          </a:stretch>
        </p:blipFill>
        <p:spPr>
          <a:xfrm>
            <a:off x="-1587" y="382588"/>
            <a:ext cx="5335587" cy="74612"/>
          </a:xfrm>
          <a:prstGeom prst="rect">
            <a:avLst/>
          </a:prstGeom>
          <a:noFill/>
          <a:ln w="9525">
            <a:noFill/>
          </a:ln>
        </p:spPr>
      </p:pic>
      <p:pic>
        <p:nvPicPr>
          <p:cNvPr id="1032" name="Picture 8" descr="BJ2034"/>
          <p:cNvPicPr>
            <a:picLocks noChangeAspect="1"/>
          </p:cNvPicPr>
          <p:nvPr userDrawn="1"/>
        </p:nvPicPr>
        <p:blipFill>
          <a:blip r:embed="rId13"/>
          <a:stretch>
            <a:fillRect/>
          </a:stretch>
        </p:blipFill>
        <p:spPr>
          <a:xfrm>
            <a:off x="0" y="6048375"/>
            <a:ext cx="4419600" cy="809625"/>
          </a:xfrm>
          <a:prstGeom prst="rect">
            <a:avLst/>
          </a:prstGeom>
          <a:noFill/>
          <a:ln w="9525">
            <a:noFill/>
          </a:ln>
        </p:spPr>
      </p:pic>
      <p:pic>
        <p:nvPicPr>
          <p:cNvPr id="1033" name="Picture 11" descr="BJ2036"/>
          <p:cNvPicPr>
            <a:picLocks noChangeAspect="1"/>
          </p:cNvPicPr>
          <p:nvPr userDrawn="1"/>
        </p:nvPicPr>
        <p:blipFill>
          <a:blip r:embed="rId14"/>
          <a:stretch>
            <a:fillRect/>
          </a:stretch>
        </p:blipFill>
        <p:spPr>
          <a:xfrm>
            <a:off x="4572000" y="6019800"/>
            <a:ext cx="4572000" cy="838200"/>
          </a:xfrm>
          <a:prstGeom prst="rect">
            <a:avLst/>
          </a:prstGeom>
          <a:noFill/>
          <a:ln w="9525">
            <a:noFill/>
          </a:ln>
        </p:spPr>
      </p:pic>
      <p:pic>
        <p:nvPicPr>
          <p:cNvPr id="1034" name="Picture 12" descr="BJ2039"/>
          <p:cNvPicPr>
            <a:picLocks noChangeAspect="1"/>
          </p:cNvPicPr>
          <p:nvPr userDrawn="1"/>
        </p:nvPicPr>
        <p:blipFill>
          <a:blip r:embed="rId15"/>
          <a:stretch>
            <a:fillRect/>
          </a:stretch>
        </p:blipFill>
        <p:spPr>
          <a:xfrm>
            <a:off x="7696200" y="0"/>
            <a:ext cx="1447800" cy="965200"/>
          </a:xfrm>
          <a:prstGeom prst="rect">
            <a:avLst/>
          </a:prstGeom>
          <a:noFill/>
          <a:ln w="9525">
            <a:noFill/>
          </a:ln>
        </p:spPr>
      </p:pic>
      <p:pic>
        <p:nvPicPr>
          <p:cNvPr id="1035" name="Picture 13" descr="GIF181"/>
          <p:cNvPicPr>
            <a:picLocks noChangeAspect="1"/>
          </p:cNvPicPr>
          <p:nvPr userDrawn="1"/>
        </p:nvPicPr>
        <p:blipFill>
          <a:blip r:embed="rId16"/>
          <a:stretch>
            <a:fillRect/>
          </a:stretch>
        </p:blipFill>
        <p:spPr>
          <a:xfrm>
            <a:off x="0" y="0"/>
            <a:ext cx="342900" cy="422275"/>
          </a:xfrm>
          <a:prstGeom prst="rect">
            <a:avLst/>
          </a:prstGeom>
          <a:noFill/>
          <a:ln w="9525">
            <a:noFill/>
          </a:ln>
        </p:spPr>
      </p:pic>
      <p:sp>
        <p:nvSpPr>
          <p:cNvPr id="1036" name="Text Box 14"/>
          <p:cNvSpPr txBox="1">
            <a:spLocks noChangeArrowheads="1"/>
          </p:cNvSpPr>
          <p:nvPr/>
        </p:nvSpPr>
        <p:spPr bwMode="auto">
          <a:xfrm>
            <a:off x="419100" y="0"/>
            <a:ext cx="4832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chemeClr val="tx1"/>
                </a:solidFill>
                <a:effectLst/>
                <a:uLnTx/>
                <a:uFillTx/>
                <a:latin typeface="华文行楷" panose="02010800040101010101" pitchFamily="2" charset="-122"/>
                <a:ea typeface="华文行楷" panose="02010800040101010101" pitchFamily="2" charset="-122"/>
                <a:cs typeface="+mn-cs"/>
              </a:rPr>
              <a:t>*</a:t>
            </a:r>
            <a:r>
              <a:rPr kumimoji="1" lang="zh-CN" altLang="en-US" sz="2400" b="0" i="0" u="none" strike="noStrike" kern="1200" cap="none" spc="0" normalizeH="0" baseline="0" noProof="0">
                <a:ln>
                  <a:noFill/>
                </a:ln>
                <a:solidFill>
                  <a:schemeClr val="tx1"/>
                </a:solidFill>
                <a:effectLst/>
                <a:uLnTx/>
                <a:uFillTx/>
                <a:latin typeface="华文行楷" panose="02010800040101010101" pitchFamily="2" charset="-122"/>
                <a:ea typeface="华文行楷" panose="02010800040101010101" pitchFamily="2" charset="-122"/>
                <a:cs typeface="+mn-cs"/>
              </a:rPr>
              <a:t>第</a:t>
            </a:r>
            <a:r>
              <a:rPr kumimoji="1" lang="en-US" altLang="zh-CN" sz="2400" b="0" i="0" u="none" strike="noStrike" kern="1200" cap="none" spc="0" normalizeH="0" baseline="0" noProof="0">
                <a:ln>
                  <a:noFill/>
                </a:ln>
                <a:solidFill>
                  <a:schemeClr val="tx1"/>
                </a:solidFill>
                <a:effectLst/>
                <a:uLnTx/>
                <a:uFillTx/>
                <a:latin typeface="华文行楷" panose="02010800040101010101" pitchFamily="2" charset="-122"/>
                <a:ea typeface="华文行楷" panose="02010800040101010101" pitchFamily="2" charset="-122"/>
                <a:cs typeface="+mn-cs"/>
              </a:rPr>
              <a:t>7</a:t>
            </a:r>
            <a:r>
              <a:rPr kumimoji="1" lang="zh-CN" altLang="en-US" sz="2400" b="0" i="0" u="none" strike="noStrike" kern="1200" cap="none" spc="0" normalizeH="0" baseline="0" noProof="0">
                <a:ln>
                  <a:noFill/>
                </a:ln>
                <a:solidFill>
                  <a:schemeClr val="tx1"/>
                </a:solidFill>
                <a:effectLst/>
                <a:uLnTx/>
                <a:uFillTx/>
                <a:latin typeface="华文行楷" panose="02010800040101010101" pitchFamily="2" charset="-122"/>
                <a:ea typeface="华文行楷" panose="02010800040101010101" pitchFamily="2" charset="-122"/>
                <a:cs typeface="+mn-cs"/>
              </a:rPr>
              <a:t>章 脉冲信号的产生与变换电路 </a:t>
            </a:r>
            <a:endParaRPr kumimoji="1" lang="zh-CN" altLang="en-US" sz="2400" b="0" i="0" u="none" strike="noStrike" kern="1200" cap="none" spc="0" normalizeH="0" baseline="0" noProof="0">
              <a:ln>
                <a:noFill/>
              </a:ln>
              <a:solidFill>
                <a:schemeClr val="tx1"/>
              </a:solidFill>
              <a:effectLst/>
              <a:uLnTx/>
              <a:uFillTx/>
              <a:latin typeface="华文行楷" panose="02010800040101010101" pitchFamily="2" charset="-122"/>
              <a:ea typeface="华文行楷"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checker/>
  </p:transition>
  <p:hf sldNum="0" hdr="0" ftr="0" dt="0"/>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slide" Target="slide76.xml"/><Relationship Id="rId5" Type="http://schemas.openxmlformats.org/officeDocument/2006/relationships/slide" Target="slide58.xml"/><Relationship Id="rId4" Type="http://schemas.openxmlformats.org/officeDocument/2006/relationships/slide" Target="slide21.xml"/><Relationship Id="rId3" Type="http://schemas.openxmlformats.org/officeDocument/2006/relationships/slide" Target="slide2.xml"/><Relationship Id="rId2" Type="http://schemas.openxmlformats.org/officeDocument/2006/relationships/image" Target="../media/image6.GIF"/><Relationship Id="rId1" Type="http://schemas.openxmlformats.org/officeDocument/2006/relationships/hyperlink" Target="&#23553;&#38754;&#21450;&#30446;&#24405;.ppt" TargetMode="External"/></Relationships>
</file>

<file path=ppt/slides/_rels/slide2.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8.wmf"/><Relationship Id="rId3" Type="http://schemas.openxmlformats.org/officeDocument/2006/relationships/oleObject" Target="../embeddings/oleObject2.bin"/><Relationship Id="rId2" Type="http://schemas.openxmlformats.org/officeDocument/2006/relationships/image" Target="../media/image7.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9.wmf"/><Relationship Id="rId1"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10.wmf"/><Relationship Id="rId1"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1.wmf"/><Relationship Id="rId1"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7" Type="http://schemas.openxmlformats.org/officeDocument/2006/relationships/vmlDrawing" Target="../drawings/vmlDrawing5.vml"/><Relationship Id="rId6"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0.wmf"/><Relationship Id="rId3" Type="http://schemas.openxmlformats.org/officeDocument/2006/relationships/oleObject" Target="../embeddings/oleObject7.bin"/><Relationship Id="rId2" Type="http://schemas.openxmlformats.org/officeDocument/2006/relationships/image" Target="../media/image12.wmf"/><Relationship Id="rId1"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4.wmf"/><Relationship Id="rId1" Type="http://schemas.openxmlformats.org/officeDocument/2006/relationships/oleObject" Target="../embeddings/oleObject8.bin"/></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7.xml"/><Relationship Id="rId4" Type="http://schemas.openxmlformats.org/officeDocument/2006/relationships/image" Target="../media/image16.wmf"/><Relationship Id="rId3" Type="http://schemas.openxmlformats.org/officeDocument/2006/relationships/oleObject" Target="../embeddings/oleObject10.bin"/><Relationship Id="rId2" Type="http://schemas.openxmlformats.org/officeDocument/2006/relationships/image" Target="../media/image15.wmf"/><Relationship Id="rId1" Type="http://schemas.openxmlformats.org/officeDocument/2006/relationships/oleObject" Target="../embeddings/oleObject9.bin"/></Relationships>
</file>

<file path=ppt/slides/_rels/slide13.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7.xml"/><Relationship Id="rId4" Type="http://schemas.openxmlformats.org/officeDocument/2006/relationships/image" Target="../media/image18.wmf"/><Relationship Id="rId3" Type="http://schemas.openxmlformats.org/officeDocument/2006/relationships/oleObject" Target="../embeddings/oleObject12.bin"/><Relationship Id="rId2" Type="http://schemas.openxmlformats.org/officeDocument/2006/relationships/image" Target="../media/image17.wmf"/><Relationship Id="rId1" Type="http://schemas.openxmlformats.org/officeDocument/2006/relationships/oleObject" Target="../embeddings/oleObject11.bin"/></Relationships>
</file>

<file path=ppt/slides/_rels/slide14.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7.xml"/><Relationship Id="rId6" Type="http://schemas.openxmlformats.org/officeDocument/2006/relationships/image" Target="../media/image21.wmf"/><Relationship Id="rId5" Type="http://schemas.openxmlformats.org/officeDocument/2006/relationships/oleObject" Target="../embeddings/oleObject15.bin"/><Relationship Id="rId4" Type="http://schemas.openxmlformats.org/officeDocument/2006/relationships/image" Target="../media/image20.wmf"/><Relationship Id="rId3" Type="http://schemas.openxmlformats.org/officeDocument/2006/relationships/oleObject" Target="../embeddings/oleObject14.bin"/><Relationship Id="rId2" Type="http://schemas.openxmlformats.org/officeDocument/2006/relationships/image" Target="../media/image19.wmf"/><Relationship Id="rId1" Type="http://schemas.openxmlformats.org/officeDocument/2006/relationships/oleObject" Target="../embeddings/oleObject13.bin"/></Relationships>
</file>

<file path=ppt/slides/_rels/slide15.xml.rels><?xml version="1.0" encoding="UTF-8" standalone="yes"?>
<Relationships xmlns="http://schemas.openxmlformats.org/package/2006/relationships"><Relationship Id="rId7" Type="http://schemas.openxmlformats.org/officeDocument/2006/relationships/vmlDrawing" Target="../drawings/vmlDrawing10.vml"/><Relationship Id="rId6"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wmf"/><Relationship Id="rId2" Type="http://schemas.openxmlformats.org/officeDocument/2006/relationships/oleObject" Target="../embeddings/oleObject16.bin"/><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26.wmf"/><Relationship Id="rId1" Type="http://schemas.openxmlformats.org/officeDocument/2006/relationships/oleObject" Target="../embeddings/oleObject17.bin"/></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27.wmf"/><Relationship Id="rId1" Type="http://schemas.openxmlformats.org/officeDocument/2006/relationships/oleObject" Target="../embeddings/oleObject18.bin"/></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28.wmf"/><Relationship Id="rId1" Type="http://schemas.openxmlformats.org/officeDocument/2006/relationships/oleObject" Target="../embeddings/oleObject19.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7.xml"/><Relationship Id="rId2" Type="http://schemas.openxmlformats.org/officeDocument/2006/relationships/image" Target="../media/image29.wmf"/><Relationship Id="rId1" Type="http://schemas.openxmlformats.org/officeDocument/2006/relationships/oleObject" Target="../embeddings/oleObject20.bin"/></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7.xml"/><Relationship Id="rId2" Type="http://schemas.openxmlformats.org/officeDocument/2006/relationships/image" Target="../media/image30.wmf"/><Relationship Id="rId1" Type="http://schemas.openxmlformats.org/officeDocument/2006/relationships/oleObject" Target="../embeddings/oleObject21.bin"/></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31.wmf"/><Relationship Id="rId1" Type="http://schemas.openxmlformats.org/officeDocument/2006/relationships/oleObject" Target="../embeddings/oleObject22.bin"/></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7.xml"/><Relationship Id="rId2" Type="http://schemas.openxmlformats.org/officeDocument/2006/relationships/image" Target="../media/image32.wmf"/><Relationship Id="rId1" Type="http://schemas.openxmlformats.org/officeDocument/2006/relationships/oleObject" Target="../embeddings/oleObject23.bin"/></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7.xml"/><Relationship Id="rId2" Type="http://schemas.openxmlformats.org/officeDocument/2006/relationships/image" Target="../media/image33.wmf"/><Relationship Id="rId1" Type="http://schemas.openxmlformats.org/officeDocument/2006/relationships/oleObject" Target="../embeddings/oleObject24.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7.xml"/><Relationship Id="rId2" Type="http://schemas.openxmlformats.org/officeDocument/2006/relationships/image" Target="../media/image34.wmf"/><Relationship Id="rId1" Type="http://schemas.openxmlformats.org/officeDocument/2006/relationships/oleObject" Target="../embeddings/oleObject25.bin"/></Relationships>
</file>

<file path=ppt/slides/_rels/slide26.xml.rels><?xml version="1.0" encoding="UTF-8" standalone="yes"?>
<Relationships xmlns="http://schemas.openxmlformats.org/package/2006/relationships"><Relationship Id="rId8" Type="http://schemas.openxmlformats.org/officeDocument/2006/relationships/vmlDrawing" Target="../drawings/vmlDrawing20.vml"/><Relationship Id="rId7" Type="http://schemas.openxmlformats.org/officeDocument/2006/relationships/slideLayout" Target="../slideLayouts/slideLayout7.xml"/><Relationship Id="rId6" Type="http://schemas.openxmlformats.org/officeDocument/2006/relationships/image" Target="../media/image34.wmf"/><Relationship Id="rId5" Type="http://schemas.openxmlformats.org/officeDocument/2006/relationships/oleObject" Target="../embeddings/oleObject28.bin"/><Relationship Id="rId4" Type="http://schemas.openxmlformats.org/officeDocument/2006/relationships/image" Target="../media/image31.wmf"/><Relationship Id="rId3" Type="http://schemas.openxmlformats.org/officeDocument/2006/relationships/oleObject" Target="../embeddings/oleObject27.bin"/><Relationship Id="rId2" Type="http://schemas.openxmlformats.org/officeDocument/2006/relationships/image" Target="../media/image35.wmf"/><Relationship Id="rId1" Type="http://schemas.openxmlformats.org/officeDocument/2006/relationships/oleObject" Target="../embeddings/oleObject26.bin"/></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7.xml"/><Relationship Id="rId2" Type="http://schemas.openxmlformats.org/officeDocument/2006/relationships/image" Target="../media/image36.wmf"/><Relationship Id="rId1" Type="http://schemas.openxmlformats.org/officeDocument/2006/relationships/oleObject" Target="../embeddings/oleObject29.bin"/></Relationships>
</file>

<file path=ppt/slides/_rels/slide28.xml.rels><?xml version="1.0" encoding="UTF-8" standalone="yes"?>
<Relationships xmlns="http://schemas.openxmlformats.org/package/2006/relationships"><Relationship Id="rId8" Type="http://schemas.openxmlformats.org/officeDocument/2006/relationships/vmlDrawing" Target="../drawings/vmlDrawing22.vml"/><Relationship Id="rId7" Type="http://schemas.openxmlformats.org/officeDocument/2006/relationships/slideLayout" Target="../slideLayouts/slideLayout7.xml"/><Relationship Id="rId6" Type="http://schemas.openxmlformats.org/officeDocument/2006/relationships/image" Target="../media/image39.wmf"/><Relationship Id="rId5" Type="http://schemas.openxmlformats.org/officeDocument/2006/relationships/oleObject" Target="../embeddings/oleObject32.bin"/><Relationship Id="rId4" Type="http://schemas.openxmlformats.org/officeDocument/2006/relationships/image" Target="../media/image38.wmf"/><Relationship Id="rId3" Type="http://schemas.openxmlformats.org/officeDocument/2006/relationships/oleObject" Target="../embeddings/oleObject31.bin"/><Relationship Id="rId2" Type="http://schemas.openxmlformats.org/officeDocument/2006/relationships/image" Target="../media/image37.wmf"/><Relationship Id="rId1" Type="http://schemas.openxmlformats.org/officeDocument/2006/relationships/oleObject" Target="../embeddings/oleObject30.bin"/></Relationships>
</file>

<file path=ppt/slides/_rels/slide29.xml.rels><?xml version="1.0" encoding="UTF-8" standalone="yes"?>
<Relationships xmlns="http://schemas.openxmlformats.org/package/2006/relationships"><Relationship Id="rId6" Type="http://schemas.openxmlformats.org/officeDocument/2006/relationships/vmlDrawing" Target="../drawings/vmlDrawing23.vml"/><Relationship Id="rId5" Type="http://schemas.openxmlformats.org/officeDocument/2006/relationships/slideLayout" Target="../slideLayouts/slideLayout7.xml"/><Relationship Id="rId4" Type="http://schemas.openxmlformats.org/officeDocument/2006/relationships/image" Target="../media/image41.wmf"/><Relationship Id="rId3" Type="http://schemas.openxmlformats.org/officeDocument/2006/relationships/oleObject" Target="../embeddings/oleObject34.bin"/><Relationship Id="rId2" Type="http://schemas.openxmlformats.org/officeDocument/2006/relationships/image" Target="../media/image40.wmf"/><Relationship Id="rId1" Type="http://schemas.openxmlformats.org/officeDocument/2006/relationships/oleObject" Target="../embeddings/oleObject33.bin"/></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7.xml"/><Relationship Id="rId2" Type="http://schemas.openxmlformats.org/officeDocument/2006/relationships/image" Target="../media/image42.wmf"/><Relationship Id="rId1" Type="http://schemas.openxmlformats.org/officeDocument/2006/relationships/oleObject" Target="../embeddings/oleObject35.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7.xml"/><Relationship Id="rId2" Type="http://schemas.openxmlformats.org/officeDocument/2006/relationships/image" Target="../media/image43.wmf"/><Relationship Id="rId1" Type="http://schemas.openxmlformats.org/officeDocument/2006/relationships/oleObject" Target="../embeddings/oleObject36.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vmlDrawing" Target="../drawings/vmlDrawing26.vml"/><Relationship Id="rId7" Type="http://schemas.openxmlformats.org/officeDocument/2006/relationships/slideLayout" Target="../slideLayouts/slideLayout7.xml"/><Relationship Id="rId6" Type="http://schemas.openxmlformats.org/officeDocument/2006/relationships/image" Target="../media/image45.wmf"/><Relationship Id="rId5" Type="http://schemas.openxmlformats.org/officeDocument/2006/relationships/oleObject" Target="../embeddings/oleObject39.bin"/><Relationship Id="rId4" Type="http://schemas.openxmlformats.org/officeDocument/2006/relationships/image" Target="../media/image43.wmf"/><Relationship Id="rId3" Type="http://schemas.openxmlformats.org/officeDocument/2006/relationships/oleObject" Target="../embeddings/oleObject38.bin"/><Relationship Id="rId2" Type="http://schemas.openxmlformats.org/officeDocument/2006/relationships/image" Target="../media/image44.wmf"/><Relationship Id="rId1" Type="http://schemas.openxmlformats.org/officeDocument/2006/relationships/oleObject" Target="../embeddings/oleObject37.bin"/></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27.vml"/><Relationship Id="rId3" Type="http://schemas.openxmlformats.org/officeDocument/2006/relationships/slideLayout" Target="../slideLayouts/slideLayout7.xml"/><Relationship Id="rId2" Type="http://schemas.openxmlformats.org/officeDocument/2006/relationships/image" Target="../media/image45.wmf"/><Relationship Id="rId1" Type="http://schemas.openxmlformats.org/officeDocument/2006/relationships/oleObject" Target="../embeddings/oleObject40.bin"/></Relationships>
</file>

<file path=ppt/slides/_rels/slide37.xml.rels><?xml version="1.0" encoding="UTF-8" standalone="yes"?>
<Relationships xmlns="http://schemas.openxmlformats.org/package/2006/relationships"><Relationship Id="rId6" Type="http://schemas.openxmlformats.org/officeDocument/2006/relationships/vmlDrawing" Target="../drawings/vmlDrawing28.vml"/><Relationship Id="rId5" Type="http://schemas.openxmlformats.org/officeDocument/2006/relationships/slideLayout" Target="../slideLayouts/slideLayout7.xml"/><Relationship Id="rId4" Type="http://schemas.openxmlformats.org/officeDocument/2006/relationships/image" Target="../media/image47.wmf"/><Relationship Id="rId3" Type="http://schemas.openxmlformats.org/officeDocument/2006/relationships/oleObject" Target="../embeddings/oleObject42.bin"/><Relationship Id="rId2" Type="http://schemas.openxmlformats.org/officeDocument/2006/relationships/image" Target="../media/image46.wmf"/><Relationship Id="rId1" Type="http://schemas.openxmlformats.org/officeDocument/2006/relationships/oleObject" Target="../embeddings/oleObject41.bin"/></Relationships>
</file>

<file path=ppt/slides/_rels/slide38.xml.rels><?xml version="1.0" encoding="UTF-8" standalone="yes"?>
<Relationships xmlns="http://schemas.openxmlformats.org/package/2006/relationships"><Relationship Id="rId6" Type="http://schemas.openxmlformats.org/officeDocument/2006/relationships/vmlDrawing" Target="../drawings/vmlDrawing29.vml"/><Relationship Id="rId5" Type="http://schemas.openxmlformats.org/officeDocument/2006/relationships/slideLayout" Target="../slideLayouts/slideLayout7.xml"/><Relationship Id="rId4" Type="http://schemas.openxmlformats.org/officeDocument/2006/relationships/image" Target="../media/image49.wmf"/><Relationship Id="rId3" Type="http://schemas.openxmlformats.org/officeDocument/2006/relationships/oleObject" Target="../embeddings/oleObject44.bin"/><Relationship Id="rId2" Type="http://schemas.openxmlformats.org/officeDocument/2006/relationships/image" Target="../media/image48.wmf"/><Relationship Id="rId1" Type="http://schemas.openxmlformats.org/officeDocument/2006/relationships/oleObject" Target="../embeddings/oleObject43.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30.vml"/><Relationship Id="rId5" Type="http://schemas.openxmlformats.org/officeDocument/2006/relationships/slideLayout" Target="../slideLayouts/slideLayout7.xml"/><Relationship Id="rId4" Type="http://schemas.openxmlformats.org/officeDocument/2006/relationships/image" Target="../media/image51.wmf"/><Relationship Id="rId3" Type="http://schemas.openxmlformats.org/officeDocument/2006/relationships/oleObject" Target="../embeddings/oleObject46.bin"/><Relationship Id="rId2" Type="http://schemas.openxmlformats.org/officeDocument/2006/relationships/image" Target="../media/image50.wmf"/><Relationship Id="rId1" Type="http://schemas.openxmlformats.org/officeDocument/2006/relationships/oleObject" Target="../embeddings/oleObject45.bin"/></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31.vml"/><Relationship Id="rId3" Type="http://schemas.openxmlformats.org/officeDocument/2006/relationships/slideLayout" Target="../slideLayouts/slideLayout7.xml"/><Relationship Id="rId2" Type="http://schemas.openxmlformats.org/officeDocument/2006/relationships/image" Target="../media/image52.wmf"/><Relationship Id="rId1" Type="http://schemas.openxmlformats.org/officeDocument/2006/relationships/oleObject" Target="../embeddings/oleObject47.bin"/></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32.vml"/><Relationship Id="rId3" Type="http://schemas.openxmlformats.org/officeDocument/2006/relationships/slideLayout" Target="../slideLayouts/slideLayout7.xml"/><Relationship Id="rId2" Type="http://schemas.openxmlformats.org/officeDocument/2006/relationships/image" Target="../media/image54.wmf"/><Relationship Id="rId1" Type="http://schemas.openxmlformats.org/officeDocument/2006/relationships/oleObject" Target="../embeddings/oleObject48.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33.vml"/><Relationship Id="rId3" Type="http://schemas.openxmlformats.org/officeDocument/2006/relationships/slideLayout" Target="../slideLayouts/slideLayout7.xml"/><Relationship Id="rId2" Type="http://schemas.openxmlformats.org/officeDocument/2006/relationships/image" Target="../media/image55.wmf"/><Relationship Id="rId1" Type="http://schemas.openxmlformats.org/officeDocument/2006/relationships/oleObject" Target="../embeddings/oleObject49.bin"/></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34.vml"/><Relationship Id="rId3" Type="http://schemas.openxmlformats.org/officeDocument/2006/relationships/slideLayout" Target="../slideLayouts/slideLayout7.xml"/><Relationship Id="rId2" Type="http://schemas.openxmlformats.org/officeDocument/2006/relationships/image" Target="../media/image56.wmf"/><Relationship Id="rId1" Type="http://schemas.openxmlformats.org/officeDocument/2006/relationships/oleObject" Target="../embeddings/oleObject50.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35.vml"/><Relationship Id="rId3" Type="http://schemas.openxmlformats.org/officeDocument/2006/relationships/slideLayout" Target="../slideLayouts/slideLayout7.xml"/><Relationship Id="rId2" Type="http://schemas.openxmlformats.org/officeDocument/2006/relationships/image" Target="../media/image57.wmf"/><Relationship Id="rId1" Type="http://schemas.openxmlformats.org/officeDocument/2006/relationships/oleObject" Target="../embeddings/oleObject51.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4" Type="http://schemas.openxmlformats.org/officeDocument/2006/relationships/vmlDrawing" Target="../drawings/vmlDrawing36.vml"/><Relationship Id="rId3" Type="http://schemas.openxmlformats.org/officeDocument/2006/relationships/slideLayout" Target="../slideLayouts/slideLayout7.xml"/><Relationship Id="rId2" Type="http://schemas.openxmlformats.org/officeDocument/2006/relationships/image" Target="../media/image58.wmf"/><Relationship Id="rId1" Type="http://schemas.openxmlformats.org/officeDocument/2006/relationships/oleObject" Target="../embeddings/oleObject52.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37.vml"/><Relationship Id="rId3" Type="http://schemas.openxmlformats.org/officeDocument/2006/relationships/slideLayout" Target="../slideLayouts/slideLayout7.xml"/><Relationship Id="rId2" Type="http://schemas.openxmlformats.org/officeDocument/2006/relationships/image" Target="../media/image59.wmf"/><Relationship Id="rId1" Type="http://schemas.openxmlformats.org/officeDocument/2006/relationships/oleObject" Target="../embeddings/oleObject53.bin"/></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38.vml"/><Relationship Id="rId3" Type="http://schemas.openxmlformats.org/officeDocument/2006/relationships/slideLayout" Target="../slideLayouts/slideLayout7.xml"/><Relationship Id="rId2" Type="http://schemas.openxmlformats.org/officeDocument/2006/relationships/image" Target="../media/image60.wmf"/><Relationship Id="rId1" Type="http://schemas.openxmlformats.org/officeDocument/2006/relationships/oleObject" Target="../embeddings/oleObject54.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39.vml"/><Relationship Id="rId3" Type="http://schemas.openxmlformats.org/officeDocument/2006/relationships/slideLayout" Target="../slideLayouts/slideLayout7.xml"/><Relationship Id="rId2" Type="http://schemas.openxmlformats.org/officeDocument/2006/relationships/image" Target="../media/image61.wmf"/><Relationship Id="rId1" Type="http://schemas.openxmlformats.org/officeDocument/2006/relationships/oleObject" Target="../embeddings/oleObject55.bin"/></Relationships>
</file>

<file path=ppt/slides/_rels/slide61.xml.rels><?xml version="1.0" encoding="UTF-8" standalone="yes"?>
<Relationships xmlns="http://schemas.openxmlformats.org/package/2006/relationships"><Relationship Id="rId6" Type="http://schemas.openxmlformats.org/officeDocument/2006/relationships/vmlDrawing" Target="../drawings/vmlDrawing40.vml"/><Relationship Id="rId5" Type="http://schemas.openxmlformats.org/officeDocument/2006/relationships/slideLayout" Target="../slideLayouts/slideLayout7.xml"/><Relationship Id="rId4" Type="http://schemas.openxmlformats.org/officeDocument/2006/relationships/image" Target="../media/image63.wmf"/><Relationship Id="rId3" Type="http://schemas.openxmlformats.org/officeDocument/2006/relationships/oleObject" Target="../embeddings/oleObject57.bin"/><Relationship Id="rId2" Type="http://schemas.openxmlformats.org/officeDocument/2006/relationships/image" Target="../media/image62.wmf"/><Relationship Id="rId1" Type="http://schemas.openxmlformats.org/officeDocument/2006/relationships/oleObject" Target="../embeddings/oleObject56.bin"/></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41.vml"/><Relationship Id="rId3" Type="http://schemas.openxmlformats.org/officeDocument/2006/relationships/slideLayout" Target="../slideLayouts/slideLayout7.xml"/><Relationship Id="rId2" Type="http://schemas.openxmlformats.org/officeDocument/2006/relationships/image" Target="../media/image64.wmf"/><Relationship Id="rId1" Type="http://schemas.openxmlformats.org/officeDocument/2006/relationships/oleObject" Target="../embeddings/oleObject58.bin"/></Relationships>
</file>

<file path=ppt/slides/_rels/slide63.xml.rels><?xml version="1.0" encoding="UTF-8" standalone="yes"?>
<Relationships xmlns="http://schemas.openxmlformats.org/package/2006/relationships"><Relationship Id="rId4" Type="http://schemas.openxmlformats.org/officeDocument/2006/relationships/vmlDrawing" Target="../drawings/vmlDrawing42.vml"/><Relationship Id="rId3" Type="http://schemas.openxmlformats.org/officeDocument/2006/relationships/slideLayout" Target="../slideLayouts/slideLayout7.xml"/><Relationship Id="rId2" Type="http://schemas.openxmlformats.org/officeDocument/2006/relationships/image" Target="../media/image65.wmf"/><Relationship Id="rId1" Type="http://schemas.openxmlformats.org/officeDocument/2006/relationships/oleObject" Target="../embeddings/oleObject59.bin"/></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43.vml"/><Relationship Id="rId3" Type="http://schemas.openxmlformats.org/officeDocument/2006/relationships/slideLayout" Target="../slideLayouts/slideLayout7.xml"/><Relationship Id="rId2" Type="http://schemas.openxmlformats.org/officeDocument/2006/relationships/image" Target="../media/image66.wmf"/><Relationship Id="rId1" Type="http://schemas.openxmlformats.org/officeDocument/2006/relationships/oleObject" Target="../embeddings/oleObject60.bin"/></Relationships>
</file>

<file path=ppt/slides/_rels/slide65.xml.rels><?xml version="1.0" encoding="UTF-8" standalone="yes"?>
<Relationships xmlns="http://schemas.openxmlformats.org/package/2006/relationships"><Relationship Id="rId4" Type="http://schemas.openxmlformats.org/officeDocument/2006/relationships/vmlDrawing" Target="../drawings/vmlDrawing44.vml"/><Relationship Id="rId3" Type="http://schemas.openxmlformats.org/officeDocument/2006/relationships/slideLayout" Target="../slideLayouts/slideLayout7.xml"/><Relationship Id="rId2" Type="http://schemas.openxmlformats.org/officeDocument/2006/relationships/image" Target="../media/image67.wmf"/><Relationship Id="rId1" Type="http://schemas.openxmlformats.org/officeDocument/2006/relationships/oleObject" Target="../embeddings/oleObject61.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4" Type="http://schemas.openxmlformats.org/officeDocument/2006/relationships/vmlDrawing" Target="../drawings/vmlDrawing45.vml"/><Relationship Id="rId3" Type="http://schemas.openxmlformats.org/officeDocument/2006/relationships/slideLayout" Target="../slideLayouts/slideLayout7.xml"/><Relationship Id="rId2" Type="http://schemas.openxmlformats.org/officeDocument/2006/relationships/image" Target="../media/image68.wmf"/><Relationship Id="rId1" Type="http://schemas.openxmlformats.org/officeDocument/2006/relationships/oleObject" Target="../embeddings/oleObject62.bin"/></Relationships>
</file>

<file path=ppt/slides/_rels/slide68.xml.rels><?xml version="1.0" encoding="UTF-8" standalone="yes"?>
<Relationships xmlns="http://schemas.openxmlformats.org/package/2006/relationships"><Relationship Id="rId4" Type="http://schemas.openxmlformats.org/officeDocument/2006/relationships/vmlDrawing" Target="../drawings/vmlDrawing46.vml"/><Relationship Id="rId3" Type="http://schemas.openxmlformats.org/officeDocument/2006/relationships/slideLayout" Target="../slideLayouts/slideLayout7.xml"/><Relationship Id="rId2" Type="http://schemas.openxmlformats.org/officeDocument/2006/relationships/image" Target="../media/image69.wmf"/><Relationship Id="rId1" Type="http://schemas.openxmlformats.org/officeDocument/2006/relationships/oleObject" Target="../embeddings/oleObject63.bin"/></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4" Type="http://schemas.openxmlformats.org/officeDocument/2006/relationships/vmlDrawing" Target="../drawings/vmlDrawing47.vml"/><Relationship Id="rId3" Type="http://schemas.openxmlformats.org/officeDocument/2006/relationships/slideLayout" Target="../slideLayouts/slideLayout7.xml"/><Relationship Id="rId2" Type="http://schemas.openxmlformats.org/officeDocument/2006/relationships/image" Target="../media/image70.wmf"/><Relationship Id="rId1" Type="http://schemas.openxmlformats.org/officeDocument/2006/relationships/oleObject" Target="../embeddings/oleObject64.bin"/></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4" Type="http://schemas.openxmlformats.org/officeDocument/2006/relationships/vmlDrawing" Target="../drawings/vmlDrawing48.vml"/><Relationship Id="rId3" Type="http://schemas.openxmlformats.org/officeDocument/2006/relationships/slideLayout" Target="../slideLayouts/slideLayout7.xml"/><Relationship Id="rId2" Type="http://schemas.openxmlformats.org/officeDocument/2006/relationships/image" Target="../media/image71.wmf"/><Relationship Id="rId1" Type="http://schemas.openxmlformats.org/officeDocument/2006/relationships/oleObject" Target="../embeddings/oleObject65.bin"/></Relationships>
</file>

<file path=ppt/slides/_rels/slide73.xml.rels><?xml version="1.0" encoding="UTF-8" standalone="yes"?>
<Relationships xmlns="http://schemas.openxmlformats.org/package/2006/relationships"><Relationship Id="rId4" Type="http://schemas.openxmlformats.org/officeDocument/2006/relationships/vmlDrawing" Target="../drawings/vmlDrawing49.vml"/><Relationship Id="rId3" Type="http://schemas.openxmlformats.org/officeDocument/2006/relationships/slideLayout" Target="../slideLayouts/slideLayout7.xml"/><Relationship Id="rId2" Type="http://schemas.openxmlformats.org/officeDocument/2006/relationships/image" Target="../media/image72.wmf"/><Relationship Id="rId1" Type="http://schemas.openxmlformats.org/officeDocument/2006/relationships/oleObject" Target="../embeddings/oleObject66.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4" Type="http://schemas.openxmlformats.org/officeDocument/2006/relationships/vmlDrawing" Target="../drawings/vmlDrawing50.vml"/><Relationship Id="rId3" Type="http://schemas.openxmlformats.org/officeDocument/2006/relationships/slideLayout" Target="../slideLayouts/slideLayout7.xml"/><Relationship Id="rId2" Type="http://schemas.openxmlformats.org/officeDocument/2006/relationships/image" Target="../media/image73.wmf"/><Relationship Id="rId1" Type="http://schemas.openxmlformats.org/officeDocument/2006/relationships/oleObject" Target="../embeddings/oleObject67.bin"/></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4" Type="http://schemas.openxmlformats.org/officeDocument/2006/relationships/vmlDrawing" Target="../drawings/vmlDrawing51.vml"/><Relationship Id="rId3" Type="http://schemas.openxmlformats.org/officeDocument/2006/relationships/slideLayout" Target="../slideLayouts/slideLayout7.xml"/><Relationship Id="rId2" Type="http://schemas.openxmlformats.org/officeDocument/2006/relationships/image" Target="../media/image74.wmf"/><Relationship Id="rId1" Type="http://schemas.openxmlformats.org/officeDocument/2006/relationships/oleObject" Target="../embeddings/oleObject68.bin"/></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5.jpeg"/></Relationships>
</file>

<file path=ppt/slides/_rels/slide82.xml.rels><?xml version="1.0" encoding="UTF-8" standalone="yes"?>
<Relationships xmlns="http://schemas.openxmlformats.org/package/2006/relationships"><Relationship Id="rId4" Type="http://schemas.openxmlformats.org/officeDocument/2006/relationships/vmlDrawing" Target="../drawings/vmlDrawing52.vml"/><Relationship Id="rId3" Type="http://schemas.openxmlformats.org/officeDocument/2006/relationships/slideLayout" Target="../slideLayouts/slideLayout7.xml"/><Relationship Id="rId2" Type="http://schemas.openxmlformats.org/officeDocument/2006/relationships/image" Target="../media/image76.wmf"/><Relationship Id="rId1" Type="http://schemas.openxmlformats.org/officeDocument/2006/relationships/oleObject" Target="../embeddings/oleObject69.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4" Type="http://schemas.openxmlformats.org/officeDocument/2006/relationships/vmlDrawing" Target="../drawings/vmlDrawing53.vml"/><Relationship Id="rId3" Type="http://schemas.openxmlformats.org/officeDocument/2006/relationships/slideLayout" Target="../slideLayouts/slideLayout7.xml"/><Relationship Id="rId2" Type="http://schemas.openxmlformats.org/officeDocument/2006/relationships/image" Target="../media/image77.wmf"/><Relationship Id="rId1" Type="http://schemas.openxmlformats.org/officeDocument/2006/relationships/oleObject" Target="../embeddings/oleObject70.bin"/></Relationships>
</file>

<file path=ppt/slides/_rels/slide86.xml.rels><?xml version="1.0" encoding="UTF-8" standalone="yes"?>
<Relationships xmlns="http://schemas.openxmlformats.org/package/2006/relationships"><Relationship Id="rId4" Type="http://schemas.openxmlformats.org/officeDocument/2006/relationships/vmlDrawing" Target="../drawings/vmlDrawing54.vml"/><Relationship Id="rId3" Type="http://schemas.openxmlformats.org/officeDocument/2006/relationships/slideLayout" Target="../slideLayouts/slideLayout7.xml"/><Relationship Id="rId2" Type="http://schemas.openxmlformats.org/officeDocument/2006/relationships/image" Target="../media/image78.wmf"/><Relationship Id="rId1" Type="http://schemas.openxmlformats.org/officeDocument/2006/relationships/oleObject" Target="../embeddings/oleObject71.bin"/></Relationships>
</file>

<file path=ppt/slides/_rels/slide87.xml.rels><?xml version="1.0" encoding="UTF-8" standalone="yes"?>
<Relationships xmlns="http://schemas.openxmlformats.org/package/2006/relationships"><Relationship Id="rId4" Type="http://schemas.openxmlformats.org/officeDocument/2006/relationships/vmlDrawing" Target="../drawings/vmlDrawing55.vml"/><Relationship Id="rId3" Type="http://schemas.openxmlformats.org/officeDocument/2006/relationships/slideLayout" Target="../slideLayouts/slideLayout7.xml"/><Relationship Id="rId2" Type="http://schemas.openxmlformats.org/officeDocument/2006/relationships/image" Target="../media/image79.wmf"/><Relationship Id="rId1" Type="http://schemas.openxmlformats.org/officeDocument/2006/relationships/oleObject" Target="../embeddings/oleObject72.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4" Type="http://schemas.openxmlformats.org/officeDocument/2006/relationships/vmlDrawing" Target="../drawings/vmlDrawing56.vml"/><Relationship Id="rId3" Type="http://schemas.openxmlformats.org/officeDocument/2006/relationships/slideLayout" Target="../slideLayouts/slideLayout7.xml"/><Relationship Id="rId2" Type="http://schemas.openxmlformats.org/officeDocument/2006/relationships/image" Target="../media/image80.wmf"/><Relationship Id="rId1" Type="http://schemas.openxmlformats.org/officeDocument/2006/relationships/oleObject" Target="../embeddings/oleObject73.bin"/></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4" Type="http://schemas.openxmlformats.org/officeDocument/2006/relationships/vmlDrawing" Target="../drawings/vmlDrawing57.vml"/><Relationship Id="rId3" Type="http://schemas.openxmlformats.org/officeDocument/2006/relationships/slideLayout" Target="../slideLayouts/slideLayout7.xml"/><Relationship Id="rId2" Type="http://schemas.openxmlformats.org/officeDocument/2006/relationships/image" Target="../media/image81.wmf"/><Relationship Id="rId1" Type="http://schemas.openxmlformats.org/officeDocument/2006/relationships/oleObject" Target="../embeddings/oleObject7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0" name="Text Box 5"/>
          <p:cNvSpPr txBox="1"/>
          <p:nvPr/>
        </p:nvSpPr>
        <p:spPr>
          <a:xfrm>
            <a:off x="989013" y="1143000"/>
            <a:ext cx="7154862"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3600" dirty="0">
                <a:latin typeface="华文行楷" panose="02010800040101010101" pitchFamily="2" charset="-122"/>
                <a:ea typeface="华文行楷" panose="02010800040101010101" pitchFamily="2" charset="-122"/>
              </a:rPr>
              <a:t>*</a:t>
            </a:r>
            <a:r>
              <a:rPr lang="zh-CN" altLang="en-US" sz="3600" dirty="0">
                <a:latin typeface="华文行楷" panose="02010800040101010101" pitchFamily="2" charset="-122"/>
                <a:ea typeface="华文行楷" panose="02010800040101010101" pitchFamily="2" charset="-122"/>
              </a:rPr>
              <a:t>第</a:t>
            </a:r>
            <a:r>
              <a:rPr lang="en-US" altLang="zh-CN" sz="3600" dirty="0">
                <a:latin typeface="华文行楷" panose="02010800040101010101" pitchFamily="2" charset="-122"/>
                <a:ea typeface="华文行楷" panose="02010800040101010101" pitchFamily="2" charset="-122"/>
              </a:rPr>
              <a:t>7</a:t>
            </a:r>
            <a:r>
              <a:rPr lang="zh-CN" altLang="en-US" sz="3600" dirty="0">
                <a:latin typeface="华文行楷" panose="02010800040101010101" pitchFamily="2" charset="-122"/>
                <a:ea typeface="华文行楷" panose="02010800040101010101" pitchFamily="2" charset="-122"/>
              </a:rPr>
              <a:t>章 脉冲信号的产生与变换电路 </a:t>
            </a:r>
            <a:endParaRPr lang="zh-CN" altLang="en-US" sz="3600" dirty="0">
              <a:latin typeface="华文行楷" panose="02010800040101010101" pitchFamily="2" charset="-122"/>
              <a:ea typeface="华文行楷" panose="02010800040101010101" pitchFamily="2" charset="-122"/>
            </a:endParaRPr>
          </a:p>
        </p:txBody>
      </p:sp>
      <p:pic>
        <p:nvPicPr>
          <p:cNvPr id="2051" name="Picture 6" descr="GIF014">
            <a:hlinkClick r:id="rId1" action="ppaction://hlinkpres?slideindex=1&amp;slidetitle="/>
          </p:cNvPr>
          <p:cNvPicPr>
            <a:picLocks noChangeAspect="1"/>
          </p:cNvPicPr>
          <p:nvPr/>
        </p:nvPicPr>
        <p:blipFill>
          <a:blip r:embed="rId2"/>
          <a:stretch>
            <a:fillRect/>
          </a:stretch>
        </p:blipFill>
        <p:spPr>
          <a:xfrm>
            <a:off x="8229600" y="6376988"/>
            <a:ext cx="914400" cy="481012"/>
          </a:xfrm>
          <a:prstGeom prst="rect">
            <a:avLst/>
          </a:prstGeom>
          <a:noFill/>
          <a:ln w="9525">
            <a:noFill/>
          </a:ln>
        </p:spPr>
      </p:pic>
      <p:sp>
        <p:nvSpPr>
          <p:cNvPr id="2052" name="Text Box 7"/>
          <p:cNvSpPr txBox="1"/>
          <p:nvPr/>
        </p:nvSpPr>
        <p:spPr>
          <a:xfrm>
            <a:off x="3289300" y="2209800"/>
            <a:ext cx="2622550" cy="30130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200000"/>
              </a:lnSpc>
              <a:spcBef>
                <a:spcPct val="0"/>
              </a:spcBef>
              <a:buNone/>
            </a:pPr>
            <a:r>
              <a:rPr lang="en-US" altLang="zh-CN" sz="2400" b="1" dirty="0">
                <a:hlinkClick r:id="rId3" action="ppaction://hlinksldjump"/>
              </a:rPr>
              <a:t>7.1   </a:t>
            </a:r>
            <a:r>
              <a:rPr lang="zh-CN" altLang="en-US" sz="2400" b="1" dirty="0">
                <a:hlinkClick r:id="rId3" action="ppaction://hlinksldjump"/>
              </a:rPr>
              <a:t>多谐振荡器</a:t>
            </a:r>
            <a:endParaRPr lang="zh-CN" altLang="en-US" sz="2400" b="1" dirty="0"/>
          </a:p>
          <a:p>
            <a:pPr marL="0" lvl="0" indent="0" eaLnBrk="1" hangingPunct="1">
              <a:lnSpc>
                <a:spcPct val="200000"/>
              </a:lnSpc>
              <a:spcBef>
                <a:spcPct val="0"/>
              </a:spcBef>
              <a:buNone/>
            </a:pPr>
            <a:r>
              <a:rPr lang="en-US" altLang="zh-CN" sz="2400" b="1" dirty="0">
                <a:hlinkClick r:id="rId4" action="ppaction://hlinksldjump"/>
              </a:rPr>
              <a:t>7.2   </a:t>
            </a:r>
            <a:r>
              <a:rPr lang="zh-CN" altLang="en-US" sz="2400" b="1" dirty="0">
                <a:hlinkClick r:id="rId4" action="ppaction://hlinksldjump"/>
              </a:rPr>
              <a:t>单稳态触发器</a:t>
            </a:r>
            <a:endParaRPr lang="zh-CN" altLang="en-US" sz="2400" b="1" dirty="0"/>
          </a:p>
          <a:p>
            <a:pPr marL="0" lvl="0" indent="0" eaLnBrk="1" hangingPunct="1">
              <a:lnSpc>
                <a:spcPct val="200000"/>
              </a:lnSpc>
              <a:spcBef>
                <a:spcPct val="0"/>
              </a:spcBef>
              <a:buNone/>
            </a:pPr>
            <a:r>
              <a:rPr lang="en-US" altLang="zh-CN" sz="2400" b="1" dirty="0">
                <a:hlinkClick r:id="rId5" action="ppaction://hlinksldjump"/>
              </a:rPr>
              <a:t>7.3   </a:t>
            </a:r>
            <a:r>
              <a:rPr lang="zh-CN" altLang="en-US" sz="2400" b="1" dirty="0">
                <a:hlinkClick r:id="rId5" action="ppaction://hlinksldjump"/>
              </a:rPr>
              <a:t>施密特触发器</a:t>
            </a:r>
            <a:endParaRPr lang="zh-CN" altLang="en-US" sz="2400" b="1" dirty="0"/>
          </a:p>
          <a:p>
            <a:pPr marL="0" lvl="0" indent="0" eaLnBrk="1" hangingPunct="1">
              <a:lnSpc>
                <a:spcPct val="200000"/>
              </a:lnSpc>
              <a:spcBef>
                <a:spcPct val="0"/>
              </a:spcBef>
              <a:buNone/>
            </a:pPr>
            <a:r>
              <a:rPr lang="en-US" altLang="zh-CN" sz="2400" b="1" dirty="0">
                <a:hlinkClick r:id="rId6" action="ppaction://hlinksldjump"/>
              </a:rPr>
              <a:t>7.4   555</a:t>
            </a:r>
            <a:r>
              <a:rPr lang="zh-CN" altLang="en-US" sz="2400" b="1" dirty="0">
                <a:hlinkClick r:id="rId6" action="ppaction://hlinksldjump"/>
              </a:rPr>
              <a:t>定时器</a:t>
            </a:r>
            <a:endParaRPr lang="zh-CN" altLang="en-US" sz="2400" b="1" dirty="0"/>
          </a:p>
        </p:txBody>
      </p:sp>
    </p:spTree>
  </p:cSld>
  <p:clrMapOvr>
    <a:masterClrMapping/>
  </p:clrMapOvr>
  <p:transition>
    <p:check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Text Box 4"/>
          <p:cNvSpPr txBox="1"/>
          <p:nvPr/>
        </p:nvSpPr>
        <p:spPr>
          <a:xfrm>
            <a:off x="2897188" y="914400"/>
            <a:ext cx="33337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t>7.1 </a:t>
            </a:r>
            <a:r>
              <a:rPr lang="zh-CN" altLang="en-US" b="1" dirty="0"/>
              <a:t>多 谐 振 荡 器 </a:t>
            </a:r>
            <a:endParaRPr lang="zh-CN" altLang="en-US" b="1" dirty="0"/>
          </a:p>
        </p:txBody>
      </p:sp>
      <p:sp>
        <p:nvSpPr>
          <p:cNvPr id="3075" name="Text Box 5"/>
          <p:cNvSpPr txBox="1"/>
          <p:nvPr/>
        </p:nvSpPr>
        <p:spPr>
          <a:xfrm>
            <a:off x="212725" y="1819275"/>
            <a:ext cx="29400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t>7.1.1  </a:t>
            </a:r>
            <a:r>
              <a:rPr lang="zh-CN" altLang="en-US" sz="2800" b="1" dirty="0"/>
              <a:t>环形振荡器 </a:t>
            </a:r>
            <a:endParaRPr lang="zh-CN" altLang="en-US" sz="2800" b="1" dirty="0"/>
          </a:p>
        </p:txBody>
      </p:sp>
      <p:sp>
        <p:nvSpPr>
          <p:cNvPr id="3076" name="Text Box 6"/>
          <p:cNvSpPr txBox="1"/>
          <p:nvPr/>
        </p:nvSpPr>
        <p:spPr>
          <a:xfrm>
            <a:off x="219075" y="4767263"/>
            <a:ext cx="3867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dirty="0"/>
              <a:t>图 </a:t>
            </a:r>
            <a:r>
              <a:rPr lang="en-US" altLang="zh-CN" sz="2400" dirty="0"/>
              <a:t>7-1 </a:t>
            </a:r>
            <a:r>
              <a:rPr lang="zh-CN" altLang="en-US" sz="2400" dirty="0"/>
              <a:t>最简单的环形振荡器 </a:t>
            </a:r>
            <a:endParaRPr lang="zh-CN" altLang="en-US" sz="2400" dirty="0"/>
          </a:p>
        </p:txBody>
      </p:sp>
      <p:graphicFrame>
        <p:nvGraphicFramePr>
          <p:cNvPr id="3077" name="Object 7"/>
          <p:cNvGraphicFramePr>
            <a:graphicFrameLocks noChangeAspect="1"/>
          </p:cNvGraphicFramePr>
          <p:nvPr/>
        </p:nvGraphicFramePr>
        <p:xfrm>
          <a:off x="-611187" y="2770188"/>
          <a:ext cx="5183187" cy="1800225"/>
        </p:xfrm>
        <a:graphic>
          <a:graphicData uri="http://schemas.openxmlformats.org/presentationml/2006/ole">
            <mc:AlternateContent xmlns:mc="http://schemas.openxmlformats.org/markup-compatibility/2006">
              <mc:Choice xmlns:v="urn:schemas-microsoft-com:vml" Requires="v">
                <p:oleObj spid="_x0000_s3081" name="" r:id="rId1" imgW="2118360" imgH="739140" progId="Visio.Drawing.4">
                  <p:embed/>
                </p:oleObj>
              </mc:Choice>
              <mc:Fallback>
                <p:oleObj name="" r:id="rId1" imgW="2118360" imgH="739140" progId="Visio.Drawing.4">
                  <p:embed/>
                  <p:pic>
                    <p:nvPicPr>
                      <p:cNvPr id="0" name="图片 3080"/>
                      <p:cNvPicPr/>
                      <p:nvPr/>
                    </p:nvPicPr>
                    <p:blipFill>
                      <a:blip r:embed="rId2"/>
                      <a:stretch>
                        <a:fillRect/>
                      </a:stretch>
                    </p:blipFill>
                    <p:spPr>
                      <a:xfrm>
                        <a:off x="-611187" y="2770188"/>
                        <a:ext cx="5183187" cy="1800225"/>
                      </a:xfrm>
                      <a:prstGeom prst="rect">
                        <a:avLst/>
                      </a:prstGeom>
                      <a:noFill/>
                      <a:ln w="38100">
                        <a:noFill/>
                        <a:miter/>
                      </a:ln>
                    </p:spPr>
                  </p:pic>
                </p:oleObj>
              </mc:Fallback>
            </mc:AlternateContent>
          </a:graphicData>
        </a:graphic>
      </p:graphicFrame>
      <p:graphicFrame>
        <p:nvGraphicFramePr>
          <p:cNvPr id="3078" name="Object 5"/>
          <p:cNvGraphicFramePr>
            <a:graphicFrameLocks noChangeAspect="1"/>
          </p:cNvGraphicFramePr>
          <p:nvPr/>
        </p:nvGraphicFramePr>
        <p:xfrm>
          <a:off x="4094163" y="1541463"/>
          <a:ext cx="4475162" cy="4010025"/>
        </p:xfrm>
        <a:graphic>
          <a:graphicData uri="http://schemas.openxmlformats.org/presentationml/2006/ole">
            <mc:AlternateContent xmlns:mc="http://schemas.openxmlformats.org/markup-compatibility/2006">
              <mc:Choice xmlns:v="urn:schemas-microsoft-com:vml" Requires="v">
                <p:oleObj spid="_x0000_s2" name="" r:id="rId3" imgW="2080260" imgH="1866900" progId="Visio.Drawing.4">
                  <p:embed/>
                </p:oleObj>
              </mc:Choice>
              <mc:Fallback>
                <p:oleObj name="" r:id="rId3" imgW="2080260" imgH="1866900" progId="Visio.Drawing.4">
                  <p:embed/>
                  <p:pic>
                    <p:nvPicPr>
                      <p:cNvPr id="0" name="图片 1"/>
                      <p:cNvPicPr/>
                      <p:nvPr/>
                    </p:nvPicPr>
                    <p:blipFill>
                      <a:blip r:embed="rId4"/>
                      <a:stretch>
                        <a:fillRect/>
                      </a:stretch>
                    </p:blipFill>
                    <p:spPr>
                      <a:xfrm>
                        <a:off x="4094163" y="1541463"/>
                        <a:ext cx="4475162" cy="4010025"/>
                      </a:xfrm>
                      <a:prstGeom prst="rect">
                        <a:avLst/>
                      </a:prstGeom>
                      <a:noFill/>
                      <a:ln w="38100">
                        <a:noFill/>
                        <a:miter/>
                      </a:ln>
                    </p:spPr>
                  </p:pic>
                </p:oleObj>
              </mc:Fallback>
            </mc:AlternateContent>
          </a:graphicData>
        </a:graphic>
      </p:graphicFrame>
      <p:sp>
        <p:nvSpPr>
          <p:cNvPr id="3079" name="Text Box 4"/>
          <p:cNvSpPr txBox="1"/>
          <p:nvPr/>
        </p:nvSpPr>
        <p:spPr>
          <a:xfrm>
            <a:off x="5292725" y="5316538"/>
            <a:ext cx="2419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a:t>
            </a:r>
            <a:r>
              <a:rPr lang="en-US" altLang="zh-CN" sz="2400" b="1" dirty="0"/>
              <a:t>7 - 2 </a:t>
            </a:r>
            <a:r>
              <a:rPr lang="zh-CN" altLang="en-US" sz="2400" b="1" dirty="0"/>
              <a:t>工作波形 </a:t>
            </a:r>
            <a:endParaRPr lang="zh-CN" altLang="en-US" sz="2400" b="1" dirty="0"/>
          </a:p>
        </p:txBody>
      </p:sp>
    </p:spTree>
  </p:cSld>
  <p:clrMapOvr>
    <a:masterClrMapping/>
  </p:clrMapOvr>
  <p:transition>
    <p:check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Text Box 4"/>
          <p:cNvSpPr txBox="1"/>
          <p:nvPr/>
        </p:nvSpPr>
        <p:spPr>
          <a:xfrm>
            <a:off x="228600" y="609600"/>
            <a:ext cx="8686800" cy="52784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just" eaLnBrk="1" hangingPunct="1">
              <a:lnSpc>
                <a:spcPct val="158000"/>
              </a:lnSpc>
              <a:spcBef>
                <a:spcPct val="50000"/>
              </a:spcBef>
              <a:buNone/>
            </a:pPr>
            <a:r>
              <a:rPr lang="en-US" altLang="zh-CN" sz="2400" dirty="0"/>
              <a:t>         </a:t>
            </a:r>
            <a:r>
              <a:rPr lang="zh-CN" altLang="en-US" sz="2400" b="1" dirty="0"/>
              <a:t>假定由于某种原因（如电源波动或外来干扰）</a:t>
            </a:r>
            <a:r>
              <a:rPr lang="en-US" altLang="zh-CN" sz="2400" b="1" dirty="0"/>
              <a:t>u</a:t>
            </a:r>
            <a:r>
              <a:rPr lang="en-US" altLang="zh-CN" sz="2400" b="1" baseline="-25000" dirty="0"/>
              <a:t>I1</a:t>
            </a:r>
            <a:r>
              <a:rPr lang="zh-CN" altLang="en-US" sz="2400" b="1" dirty="0"/>
              <a:t>产生一个微小正跳变，则经过</a:t>
            </a:r>
            <a:r>
              <a:rPr lang="en-US" altLang="zh-CN" sz="2400" b="1" dirty="0"/>
              <a:t>G</a:t>
            </a:r>
            <a:r>
              <a:rPr lang="en-US" altLang="zh-CN" sz="2400" b="1" baseline="-25000" dirty="0"/>
              <a:t>1</a:t>
            </a:r>
            <a:r>
              <a:rPr lang="zh-CN" altLang="en-US" sz="2400" b="1" dirty="0"/>
              <a:t>门的传输时延</a:t>
            </a:r>
            <a:r>
              <a:rPr lang="en-US" altLang="zh-CN" sz="2400" b="1" dirty="0"/>
              <a:t>t</a:t>
            </a:r>
            <a:r>
              <a:rPr lang="en-US" altLang="zh-CN" sz="2400" b="1" baseline="-25000" dirty="0"/>
              <a:t>pd</a:t>
            </a:r>
            <a:r>
              <a:rPr lang="zh-CN" altLang="en-US" sz="2400" b="1" dirty="0"/>
              <a:t>后，</a:t>
            </a:r>
            <a:r>
              <a:rPr lang="en-US" altLang="zh-CN" sz="2400" b="1" dirty="0"/>
              <a:t>u</a:t>
            </a:r>
            <a:r>
              <a:rPr lang="en-US" altLang="zh-CN" sz="2400" b="1" baseline="-25000" dirty="0"/>
              <a:t>I2</a:t>
            </a:r>
            <a:r>
              <a:rPr lang="zh-CN" altLang="en-US" sz="2400" b="1" dirty="0"/>
              <a:t>会产生一个更大幅度的负跳变；再经过</a:t>
            </a:r>
            <a:r>
              <a:rPr lang="en-US" altLang="zh-CN" sz="2400" b="1" dirty="0"/>
              <a:t>G</a:t>
            </a:r>
            <a:r>
              <a:rPr lang="en-US" altLang="zh-CN" sz="2400" b="1" baseline="-25000" dirty="0"/>
              <a:t>2</a:t>
            </a:r>
            <a:r>
              <a:rPr lang="zh-CN" altLang="en-US" sz="2400" b="1" dirty="0"/>
              <a:t>门的传输时延</a:t>
            </a:r>
            <a:r>
              <a:rPr lang="en-US" altLang="zh-CN" sz="2400" b="1" dirty="0"/>
              <a:t>t</a:t>
            </a:r>
            <a:r>
              <a:rPr lang="en-US" altLang="zh-CN" sz="2400" b="1" baseline="-25000" dirty="0"/>
              <a:t>pd</a:t>
            </a:r>
            <a:r>
              <a:rPr lang="zh-CN" altLang="en-US" sz="2400" b="1" dirty="0"/>
              <a:t>后，</a:t>
            </a:r>
            <a:r>
              <a:rPr lang="en-US" altLang="zh-CN" sz="2400" b="1" dirty="0"/>
              <a:t>u</a:t>
            </a:r>
            <a:r>
              <a:rPr lang="en-US" altLang="zh-CN" sz="2400" b="1" baseline="-25000" dirty="0"/>
              <a:t>I3</a:t>
            </a:r>
            <a:r>
              <a:rPr lang="zh-CN" altLang="en-US" sz="2400" b="1" dirty="0"/>
              <a:t>将会产生一个更大幅度的正跳变；然后又经过</a:t>
            </a:r>
            <a:r>
              <a:rPr lang="en-US" altLang="zh-CN" sz="2400" b="1" dirty="0"/>
              <a:t>G</a:t>
            </a:r>
            <a:r>
              <a:rPr lang="en-US" altLang="zh-CN" sz="2400" b="1" baseline="-25000" dirty="0"/>
              <a:t>3</a:t>
            </a:r>
            <a:r>
              <a:rPr lang="zh-CN" altLang="en-US" sz="2400" b="1" dirty="0"/>
              <a:t>门的传输时延</a:t>
            </a:r>
            <a:r>
              <a:rPr lang="en-US" altLang="zh-CN" sz="2400" b="1" dirty="0"/>
              <a:t>t</a:t>
            </a:r>
            <a:r>
              <a:rPr lang="en-US" altLang="zh-CN" sz="2400" b="1" baseline="-25000" dirty="0"/>
              <a:t>pd</a:t>
            </a:r>
            <a:r>
              <a:rPr lang="zh-CN" altLang="en-US" sz="2400" b="1" dirty="0"/>
              <a:t>后，在输出端</a:t>
            </a:r>
            <a:r>
              <a:rPr lang="en-US" altLang="zh-CN" sz="2400" b="1" dirty="0"/>
              <a:t>u</a:t>
            </a:r>
            <a:r>
              <a:rPr lang="en-US" altLang="zh-CN" sz="2400" b="1" baseline="-25000" dirty="0"/>
              <a:t>o</a:t>
            </a:r>
            <a:r>
              <a:rPr lang="zh-CN" altLang="en-US" sz="2400" b="1" dirty="0"/>
              <a:t>产生一个更大幅度的负跳变，并反馈到</a:t>
            </a:r>
            <a:r>
              <a:rPr lang="en-US" altLang="zh-CN" sz="2400" b="1" dirty="0"/>
              <a:t>G</a:t>
            </a:r>
            <a:r>
              <a:rPr lang="en-US" altLang="zh-CN" sz="2400" b="1" baseline="-25000" dirty="0"/>
              <a:t>1</a:t>
            </a:r>
            <a:r>
              <a:rPr lang="zh-CN" altLang="en-US" sz="2400" b="1" dirty="0"/>
              <a:t>门的输入端。也就是说，自从</a:t>
            </a:r>
            <a:r>
              <a:rPr lang="en-US" altLang="zh-CN" sz="2400" b="1" dirty="0"/>
              <a:t>u</a:t>
            </a:r>
            <a:r>
              <a:rPr lang="en-US" altLang="zh-CN" sz="2400" b="1" baseline="-25000" dirty="0"/>
              <a:t>I1</a:t>
            </a:r>
            <a:r>
              <a:rPr lang="en-US" altLang="zh-CN" sz="2400" b="1" dirty="0"/>
              <a:t>(u</a:t>
            </a:r>
            <a:r>
              <a:rPr lang="en-US" altLang="zh-CN" sz="2400" b="1" baseline="-25000" dirty="0"/>
              <a:t>o</a:t>
            </a:r>
            <a:r>
              <a:rPr lang="en-US" altLang="zh-CN" sz="2400" b="1" dirty="0"/>
              <a:t>)</a:t>
            </a:r>
            <a:r>
              <a:rPr lang="zh-CN" altLang="en-US" sz="2400" b="1" dirty="0"/>
              <a:t>产生正跳变起，经过</a:t>
            </a:r>
            <a:r>
              <a:rPr lang="en-US" altLang="zh-CN" sz="2400" b="1" dirty="0"/>
              <a:t>3t</a:t>
            </a:r>
            <a:r>
              <a:rPr lang="en-US" altLang="zh-CN" sz="2400" b="1" baseline="-25000" dirty="0"/>
              <a:t>pd</a:t>
            </a:r>
            <a:r>
              <a:rPr lang="zh-CN" altLang="en-US" sz="2400" b="1" dirty="0"/>
              <a:t>的传输延迟时间后，</a:t>
            </a:r>
            <a:r>
              <a:rPr lang="en-US" altLang="zh-CN" sz="2400" b="1" dirty="0"/>
              <a:t>u</a:t>
            </a:r>
            <a:r>
              <a:rPr lang="en-US" altLang="zh-CN" sz="2400" b="1" baseline="-25000" dirty="0"/>
              <a:t>I1</a:t>
            </a:r>
            <a:r>
              <a:rPr lang="en-US" altLang="zh-CN" sz="2400" b="1" dirty="0"/>
              <a:t>(u</a:t>
            </a:r>
            <a:r>
              <a:rPr lang="en-US" altLang="zh-CN" sz="2400" b="1" baseline="-25000" dirty="0"/>
              <a:t>o</a:t>
            </a:r>
            <a:r>
              <a:rPr lang="en-US" altLang="zh-CN" sz="2400" b="1" dirty="0"/>
              <a:t>)</a:t>
            </a:r>
            <a:r>
              <a:rPr lang="zh-CN" altLang="en-US" sz="2400" b="1" dirty="0"/>
              <a:t>将产生一个更大幅度的负跳变。以此类推，再经过</a:t>
            </a:r>
            <a:r>
              <a:rPr lang="en-US" altLang="zh-CN" sz="2400" b="1" dirty="0"/>
              <a:t>3t</a:t>
            </a:r>
            <a:r>
              <a:rPr lang="en-US" altLang="zh-CN" sz="2400" b="1" baseline="-25000" dirty="0"/>
              <a:t>pd</a:t>
            </a:r>
            <a:r>
              <a:rPr lang="zh-CN" altLang="en-US" sz="2400" b="1" dirty="0"/>
              <a:t>时间后，</a:t>
            </a:r>
            <a:r>
              <a:rPr lang="en-US" altLang="zh-CN" sz="2400" b="1" dirty="0"/>
              <a:t>u</a:t>
            </a:r>
            <a:r>
              <a:rPr lang="en-US" altLang="zh-CN" sz="2400" b="1" baseline="-25000" dirty="0"/>
              <a:t>I1</a:t>
            </a:r>
            <a:r>
              <a:rPr lang="en-US" altLang="zh-CN" sz="2400" b="1" dirty="0"/>
              <a:t>(u</a:t>
            </a:r>
            <a:r>
              <a:rPr lang="en-US" altLang="zh-CN" sz="2400" b="1" baseline="-25000" dirty="0"/>
              <a:t>o</a:t>
            </a:r>
            <a:r>
              <a:rPr lang="en-US" altLang="zh-CN" sz="2400" b="1" dirty="0"/>
              <a:t>)</a:t>
            </a:r>
            <a:r>
              <a:rPr lang="zh-CN" altLang="en-US" sz="2400" b="1" dirty="0"/>
              <a:t>又会产生一个正跳变，如此周而复始，便产生了自激振荡。 </a:t>
            </a:r>
            <a:endParaRPr lang="zh-CN" altLang="en-US" sz="2400" b="1" dirty="0"/>
          </a:p>
        </p:txBody>
      </p:sp>
    </p:spTree>
  </p:cSld>
  <p:clrMapOvr>
    <a:masterClrMapping/>
  </p:clrMapOvr>
  <p:transition>
    <p:check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Text Box 4"/>
          <p:cNvSpPr txBox="1"/>
          <p:nvPr/>
        </p:nvSpPr>
        <p:spPr>
          <a:xfrm>
            <a:off x="228600" y="860425"/>
            <a:ext cx="8686800" cy="2720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just" eaLnBrk="1" hangingPunct="1">
              <a:lnSpc>
                <a:spcPct val="180000"/>
              </a:lnSpc>
              <a:spcBef>
                <a:spcPct val="50000"/>
              </a:spcBef>
              <a:buNone/>
            </a:pPr>
            <a:r>
              <a:rPr lang="en-US" altLang="zh-CN" sz="2400" dirty="0"/>
              <a:t>        </a:t>
            </a:r>
            <a:r>
              <a:rPr lang="zh-CN" altLang="en-US" sz="2400" b="1" dirty="0"/>
              <a:t>图</a:t>
            </a:r>
            <a:r>
              <a:rPr lang="en-US" altLang="zh-CN" sz="2400" b="1" dirty="0"/>
              <a:t>7 - 2</a:t>
            </a:r>
            <a:r>
              <a:rPr lang="zh-CN" altLang="en-US" sz="2400" b="1" dirty="0"/>
              <a:t>是图</a:t>
            </a:r>
            <a:r>
              <a:rPr lang="en-US" altLang="zh-CN" sz="2400" b="1" dirty="0"/>
              <a:t>7 - 1</a:t>
            </a:r>
            <a:r>
              <a:rPr lang="zh-CN" altLang="en-US" sz="2400" b="1" dirty="0"/>
              <a:t>电路的工作波形，不难得出其振荡周期</a:t>
            </a:r>
            <a:r>
              <a:rPr lang="en-US" altLang="zh-CN" sz="2400" b="1" dirty="0"/>
              <a:t>T = 6t</a:t>
            </a:r>
            <a:r>
              <a:rPr lang="en-US" altLang="zh-CN" sz="2400" b="1" baseline="-25000" dirty="0"/>
              <a:t>pd</a:t>
            </a:r>
            <a:r>
              <a:rPr lang="zh-CN" altLang="en-US" sz="2400" b="1" dirty="0"/>
              <a:t>。 同理，由</a:t>
            </a:r>
            <a:r>
              <a:rPr lang="en-US" altLang="zh-CN" sz="2400" b="1" dirty="0"/>
              <a:t>N</a:t>
            </a:r>
            <a:r>
              <a:rPr lang="zh-CN" altLang="en-US" sz="2400" b="1" dirty="0"/>
              <a:t>个（</a:t>
            </a:r>
            <a:r>
              <a:rPr lang="en-US" altLang="zh-CN" sz="2400" b="1" dirty="0"/>
              <a:t>N</a:t>
            </a:r>
            <a:r>
              <a:rPr lang="zh-CN" altLang="en-US" sz="2400" b="1" dirty="0"/>
              <a:t>为不小于</a:t>
            </a:r>
            <a:r>
              <a:rPr lang="en-US" altLang="zh-CN" sz="2400" b="1" dirty="0"/>
              <a:t>3</a:t>
            </a:r>
            <a:r>
              <a:rPr lang="zh-CN" altLang="en-US" sz="2400" b="1" dirty="0"/>
              <a:t>的奇数）非门首尾依次相连构成的环形电路都能产生自激振荡，若忽略各个门之间传输时延</a:t>
            </a:r>
            <a:r>
              <a:rPr lang="en-US" altLang="zh-CN" sz="2400" b="1" dirty="0"/>
              <a:t>t</a:t>
            </a:r>
            <a:r>
              <a:rPr lang="en-US" altLang="zh-CN" sz="2400" b="1" baseline="-25000" dirty="0"/>
              <a:t>pd</a:t>
            </a:r>
            <a:r>
              <a:rPr lang="zh-CN" altLang="en-US" sz="2400" b="1" dirty="0"/>
              <a:t>的差别，则其振荡周期为 </a:t>
            </a:r>
            <a:endParaRPr lang="zh-CN" altLang="en-US" sz="2400" b="1" dirty="0"/>
          </a:p>
        </p:txBody>
      </p:sp>
      <p:graphicFrame>
        <p:nvGraphicFramePr>
          <p:cNvPr id="5123" name="Object 5"/>
          <p:cNvGraphicFramePr>
            <a:graphicFrameLocks noChangeAspect="1"/>
          </p:cNvGraphicFramePr>
          <p:nvPr/>
        </p:nvGraphicFramePr>
        <p:xfrm>
          <a:off x="3578225" y="4038600"/>
          <a:ext cx="1985963" cy="739775"/>
        </p:xfrm>
        <a:graphic>
          <a:graphicData uri="http://schemas.openxmlformats.org/presentationml/2006/ole">
            <mc:AlternateContent xmlns:mc="http://schemas.openxmlformats.org/markup-compatibility/2006">
              <mc:Choice xmlns:v="urn:schemas-microsoft-com:vml" Requires="v">
                <p:oleObj spid="_x0000_s3080" name="" r:id="rId1" imgW="647700" imgH="241300" progId="Equation.3">
                  <p:embed/>
                </p:oleObj>
              </mc:Choice>
              <mc:Fallback>
                <p:oleObj name="" r:id="rId1" imgW="647700" imgH="241300" progId="Equation.3">
                  <p:embed/>
                  <p:pic>
                    <p:nvPicPr>
                      <p:cNvPr id="0" name="图片 3079"/>
                      <p:cNvPicPr/>
                      <p:nvPr/>
                    </p:nvPicPr>
                    <p:blipFill>
                      <a:blip r:embed="rId2"/>
                      <a:stretch>
                        <a:fillRect/>
                      </a:stretch>
                    </p:blipFill>
                    <p:spPr>
                      <a:xfrm>
                        <a:off x="3578225" y="4038600"/>
                        <a:ext cx="1985963" cy="739775"/>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Text Box 4"/>
          <p:cNvSpPr txBox="1"/>
          <p:nvPr/>
        </p:nvSpPr>
        <p:spPr>
          <a:xfrm>
            <a:off x="762000" y="762000"/>
            <a:ext cx="45497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dirty="0"/>
              <a:t>2</a:t>
            </a:r>
            <a:r>
              <a:rPr lang="zh-CN" altLang="en-US" sz="2400" b="1" dirty="0"/>
              <a:t>．带</a:t>
            </a:r>
            <a:r>
              <a:rPr lang="en-US" altLang="zh-CN" sz="2400" b="1" dirty="0"/>
              <a:t>RC</a:t>
            </a:r>
            <a:r>
              <a:rPr lang="zh-CN" altLang="en-US" sz="2400" b="1" dirty="0"/>
              <a:t>延迟电路的环形振荡器 </a:t>
            </a:r>
            <a:endParaRPr lang="zh-CN" altLang="en-US" sz="2400" b="1" dirty="0"/>
          </a:p>
        </p:txBody>
      </p:sp>
      <p:sp>
        <p:nvSpPr>
          <p:cNvPr id="6147" name="Text Box 5"/>
          <p:cNvSpPr txBox="1"/>
          <p:nvPr/>
        </p:nvSpPr>
        <p:spPr>
          <a:xfrm>
            <a:off x="1619250" y="4327525"/>
            <a:ext cx="5545138" cy="4619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 </a:t>
            </a:r>
            <a:r>
              <a:rPr lang="en-US" altLang="zh-CN" sz="2400" b="1" dirty="0"/>
              <a:t>7-3 </a:t>
            </a:r>
            <a:r>
              <a:rPr lang="zh-CN" altLang="en-US" sz="2400" b="1" dirty="0"/>
              <a:t>带</a:t>
            </a:r>
            <a:r>
              <a:rPr lang="en-US" altLang="zh-CN" sz="2400" b="1" dirty="0"/>
              <a:t>RC</a:t>
            </a:r>
            <a:r>
              <a:rPr lang="zh-CN" altLang="en-US" sz="2400" b="1" dirty="0"/>
              <a:t>延迟电路的</a:t>
            </a:r>
            <a:r>
              <a:rPr lang="en-US" altLang="zh-CN" sz="2400" b="1" dirty="0"/>
              <a:t>TTL</a:t>
            </a:r>
            <a:r>
              <a:rPr lang="zh-CN" altLang="en-US" sz="2400" b="1" dirty="0"/>
              <a:t>环形振荡器</a:t>
            </a:r>
            <a:r>
              <a:rPr lang="zh-CN" altLang="en-US" sz="2400" dirty="0"/>
              <a:t> </a:t>
            </a:r>
            <a:endParaRPr lang="zh-CN" altLang="en-US" sz="2400" dirty="0"/>
          </a:p>
        </p:txBody>
      </p:sp>
      <p:graphicFrame>
        <p:nvGraphicFramePr>
          <p:cNvPr id="6148" name="Object 6"/>
          <p:cNvGraphicFramePr>
            <a:graphicFrameLocks noChangeAspect="1"/>
          </p:cNvGraphicFramePr>
          <p:nvPr/>
        </p:nvGraphicFramePr>
        <p:xfrm>
          <a:off x="528638" y="1484313"/>
          <a:ext cx="6985000" cy="2544762"/>
        </p:xfrm>
        <a:graphic>
          <a:graphicData uri="http://schemas.openxmlformats.org/presentationml/2006/ole">
            <mc:AlternateContent xmlns:mc="http://schemas.openxmlformats.org/markup-compatibility/2006">
              <mc:Choice xmlns:v="urn:schemas-microsoft-com:vml" Requires="v">
                <p:oleObj spid="_x0000_s3082" name="" r:id="rId1" imgW="2819400" imgH="1028700" progId="Visio.Drawing.4">
                  <p:embed/>
                </p:oleObj>
              </mc:Choice>
              <mc:Fallback>
                <p:oleObj name="" r:id="rId1" imgW="2819400" imgH="1028700" progId="Visio.Drawing.4">
                  <p:embed/>
                  <p:pic>
                    <p:nvPicPr>
                      <p:cNvPr id="0" name="图片 3081"/>
                      <p:cNvPicPr/>
                      <p:nvPr/>
                    </p:nvPicPr>
                    <p:blipFill>
                      <a:blip r:embed="rId2"/>
                      <a:stretch>
                        <a:fillRect/>
                      </a:stretch>
                    </p:blipFill>
                    <p:spPr>
                      <a:xfrm>
                        <a:off x="528638" y="1484313"/>
                        <a:ext cx="6985000" cy="2544762"/>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ext Box 4"/>
          <p:cNvSpPr txBox="1"/>
          <p:nvPr/>
        </p:nvSpPr>
        <p:spPr>
          <a:xfrm>
            <a:off x="228600" y="993775"/>
            <a:ext cx="8686800" cy="46926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just" eaLnBrk="1" hangingPunct="1">
              <a:lnSpc>
                <a:spcPct val="180000"/>
              </a:lnSpc>
              <a:spcBef>
                <a:spcPct val="50000"/>
              </a:spcBef>
              <a:buNone/>
            </a:pPr>
            <a:r>
              <a:rPr lang="en-US" altLang="zh-CN" sz="2400" dirty="0"/>
              <a:t>         </a:t>
            </a:r>
            <a:r>
              <a:rPr lang="en-US" altLang="zh-CN" sz="2400" b="1" dirty="0"/>
              <a:t>RC</a:t>
            </a:r>
            <a:r>
              <a:rPr lang="zh-CN" altLang="en-US" sz="2400" b="1" dirty="0"/>
              <a:t>延迟电路的加入不仅增大了传输延迟时间， 降低了振荡频率，而且可以通过改变</a:t>
            </a:r>
            <a:r>
              <a:rPr lang="en-US" altLang="zh-CN" sz="2400" b="1" dirty="0"/>
              <a:t>R</a:t>
            </a:r>
            <a:r>
              <a:rPr lang="zh-CN" altLang="en-US" sz="2400" b="1" dirty="0"/>
              <a:t>、</a:t>
            </a:r>
            <a:r>
              <a:rPr lang="en-US" altLang="zh-CN" sz="2400" b="1" dirty="0"/>
              <a:t>C</a:t>
            </a:r>
            <a:r>
              <a:rPr lang="zh-CN" altLang="en-US" sz="2400" b="1" dirty="0"/>
              <a:t>的大小实现对振荡频率的调节。 由于</a:t>
            </a:r>
            <a:r>
              <a:rPr lang="en-US" altLang="zh-CN" sz="2400" b="1" dirty="0"/>
              <a:t>RC</a:t>
            </a:r>
            <a:r>
              <a:rPr lang="zh-CN" altLang="en-US" sz="2400" b="1" dirty="0"/>
              <a:t>延迟电路的延迟时间远大于门电路的传输时延</a:t>
            </a:r>
            <a:r>
              <a:rPr lang="en-US" altLang="zh-CN" sz="2400" b="1" dirty="0"/>
              <a:t>t</a:t>
            </a:r>
            <a:r>
              <a:rPr lang="en-US" altLang="zh-CN" sz="2400" b="1" baseline="-25000" dirty="0"/>
              <a:t>pd</a:t>
            </a:r>
            <a:r>
              <a:rPr lang="zh-CN" altLang="en-US" sz="2400" b="1" dirty="0"/>
              <a:t>，所以在分析电路时通常不考虑</a:t>
            </a:r>
            <a:r>
              <a:rPr lang="en-US" altLang="zh-CN" sz="2400" b="1" dirty="0"/>
              <a:t>t</a:t>
            </a:r>
            <a:r>
              <a:rPr lang="en-US" altLang="zh-CN" sz="2400" b="1" baseline="-25000" dirty="0"/>
              <a:t>pd</a:t>
            </a:r>
            <a:r>
              <a:rPr lang="zh-CN" altLang="en-US" sz="2400" b="1" dirty="0"/>
              <a:t>的影响。另外，为了防止</a:t>
            </a:r>
            <a:r>
              <a:rPr lang="en-US" altLang="zh-CN" sz="2400" b="1" dirty="0"/>
              <a:t>u</a:t>
            </a:r>
            <a:r>
              <a:rPr lang="en-US" altLang="zh-CN" sz="2400" b="1" baseline="-25000" dirty="0"/>
              <a:t>4</a:t>
            </a:r>
            <a:r>
              <a:rPr lang="zh-CN" altLang="en-US" sz="2400" b="1" dirty="0"/>
              <a:t>为负电平时流过</a:t>
            </a:r>
            <a:r>
              <a:rPr lang="en-US" altLang="zh-CN" sz="2400" b="1" dirty="0"/>
              <a:t>G</a:t>
            </a:r>
            <a:r>
              <a:rPr lang="en-US" altLang="zh-CN" sz="2400" b="1" baseline="-25000" dirty="0"/>
              <a:t>3</a:t>
            </a:r>
            <a:r>
              <a:rPr lang="zh-CN" altLang="en-US" sz="2400" b="1" dirty="0"/>
              <a:t>门输入端箝位二极管的电流过大（不应超过</a:t>
            </a:r>
            <a:r>
              <a:rPr lang="en-US" altLang="zh-CN" sz="2400" b="1" dirty="0"/>
              <a:t>20 mA</a:t>
            </a:r>
            <a:r>
              <a:rPr lang="zh-CN" altLang="en-US" sz="2400" b="1" dirty="0"/>
              <a:t>）， 通常在</a:t>
            </a:r>
            <a:r>
              <a:rPr lang="en-US" altLang="zh-CN" sz="2400" b="1" dirty="0"/>
              <a:t>G</a:t>
            </a:r>
            <a:r>
              <a:rPr lang="en-US" altLang="zh-CN" sz="2400" b="1" baseline="-25000" dirty="0"/>
              <a:t>3</a:t>
            </a:r>
            <a:r>
              <a:rPr lang="zh-CN" altLang="en-US" sz="2400" b="1" dirty="0"/>
              <a:t>门的输入端串联一个</a:t>
            </a:r>
            <a:r>
              <a:rPr lang="en-US" altLang="zh-CN" sz="2400" b="1" dirty="0"/>
              <a:t>100 Ω</a:t>
            </a:r>
            <a:r>
              <a:rPr lang="zh-CN" altLang="en-US" sz="2400" b="1" dirty="0"/>
              <a:t>左右的限流电阻</a:t>
            </a:r>
            <a:r>
              <a:rPr lang="en-US" altLang="zh-CN" sz="2400" b="1" dirty="0"/>
              <a:t>R</a:t>
            </a:r>
            <a:r>
              <a:rPr lang="en-US" altLang="zh-CN" sz="2400" b="1" baseline="-25000" dirty="0"/>
              <a:t>S</a:t>
            </a:r>
            <a:r>
              <a:rPr lang="zh-CN" altLang="en-US" sz="2400" b="1" dirty="0"/>
              <a:t>。 </a:t>
            </a:r>
            <a:endParaRPr lang="zh-CN" altLang="en-US" sz="2400" b="1" dirty="0"/>
          </a:p>
        </p:txBody>
      </p:sp>
    </p:spTree>
  </p:cSld>
  <p:clrMapOvr>
    <a:masterClrMapping/>
  </p:clrMapOvr>
  <p:transition>
    <p:check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ext Box 4"/>
          <p:cNvSpPr txBox="1"/>
          <p:nvPr/>
        </p:nvSpPr>
        <p:spPr>
          <a:xfrm>
            <a:off x="152400" y="457200"/>
            <a:ext cx="8763000" cy="59705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just" eaLnBrk="1" hangingPunct="1">
              <a:lnSpc>
                <a:spcPct val="120000"/>
              </a:lnSpc>
              <a:spcBef>
                <a:spcPct val="50000"/>
              </a:spcBef>
              <a:buNone/>
            </a:pPr>
            <a:r>
              <a:rPr lang="en-US" altLang="zh-CN" sz="2400" dirty="0"/>
              <a:t>       </a:t>
            </a:r>
            <a:r>
              <a:rPr lang="en-US" altLang="zh-CN" sz="2400" b="1" dirty="0"/>
              <a:t>1</a:t>
            </a:r>
            <a:r>
              <a:rPr lang="zh-CN" altLang="en-US" sz="2400" b="1" dirty="0"/>
              <a:t>） 工作过程</a:t>
            </a:r>
            <a:endParaRPr lang="zh-CN" altLang="en-US" sz="2400" b="1" dirty="0"/>
          </a:p>
          <a:p>
            <a:pPr marL="0" lvl="0" indent="0" algn="just" eaLnBrk="1" hangingPunct="1">
              <a:lnSpc>
                <a:spcPct val="120000"/>
              </a:lnSpc>
              <a:spcBef>
                <a:spcPct val="50000"/>
              </a:spcBef>
              <a:buNone/>
            </a:pPr>
            <a:r>
              <a:rPr lang="zh-CN" altLang="en-US" sz="2400" b="1" dirty="0"/>
              <a:t>       假设在</a:t>
            </a:r>
            <a:r>
              <a:rPr lang="en-US" altLang="zh-CN" sz="2400" b="1" dirty="0"/>
              <a:t>t = 0</a:t>
            </a:r>
            <a:r>
              <a:rPr lang="zh-CN" altLang="en-US" sz="2400" b="1" dirty="0"/>
              <a:t>时接通电源，电路的初始状态为</a:t>
            </a:r>
            <a:r>
              <a:rPr lang="en-US" altLang="zh-CN" sz="2400" b="1" dirty="0"/>
              <a:t>u</a:t>
            </a:r>
            <a:r>
              <a:rPr lang="en-US" altLang="zh-CN" sz="2400" b="1" baseline="-25000" dirty="0"/>
              <a:t>1</a:t>
            </a:r>
            <a:r>
              <a:rPr lang="en-US" altLang="zh-CN" sz="2400" b="1" dirty="0"/>
              <a:t> =u</a:t>
            </a:r>
            <a:r>
              <a:rPr lang="en-US" altLang="zh-CN" sz="2400" b="1" baseline="-25000" dirty="0"/>
              <a:t>o</a:t>
            </a:r>
            <a:r>
              <a:rPr lang="en-US" altLang="zh-CN" sz="2400" b="1" dirty="0"/>
              <a:t> = U</a:t>
            </a:r>
            <a:r>
              <a:rPr lang="en-US" altLang="zh-CN" sz="2400" b="1" baseline="-25000" dirty="0"/>
              <a:t>OH</a:t>
            </a:r>
            <a:r>
              <a:rPr lang="en-US" altLang="zh-CN" sz="2400" b="1" dirty="0"/>
              <a:t>, </a:t>
            </a:r>
            <a:r>
              <a:rPr lang="zh-CN" altLang="en-US" sz="2400" b="1" dirty="0"/>
              <a:t>则</a:t>
            </a:r>
            <a:r>
              <a:rPr lang="en-US" altLang="zh-CN" sz="2400" b="1" dirty="0"/>
              <a:t>G</a:t>
            </a:r>
            <a:r>
              <a:rPr lang="en-US" altLang="zh-CN" sz="2400" b="1" baseline="-25000" dirty="0"/>
              <a:t>1</a:t>
            </a:r>
            <a:r>
              <a:rPr lang="zh-CN" altLang="en-US" sz="2400" b="1" dirty="0"/>
              <a:t>门的输出</a:t>
            </a:r>
            <a:r>
              <a:rPr lang="en-US" altLang="zh-CN" sz="2400" b="1" dirty="0"/>
              <a:t>u</a:t>
            </a:r>
            <a:r>
              <a:rPr lang="en-US" altLang="zh-CN" sz="2400" b="1" baseline="-25000" dirty="0"/>
              <a:t>2</a:t>
            </a:r>
            <a:r>
              <a:rPr lang="en-US" altLang="zh-CN" sz="2400" b="1" dirty="0"/>
              <a:t> = U</a:t>
            </a:r>
            <a:r>
              <a:rPr lang="en-US" altLang="zh-CN" sz="2400" b="1" baseline="-25000" dirty="0"/>
              <a:t>OL</a:t>
            </a:r>
            <a:r>
              <a:rPr lang="zh-CN" altLang="en-US" sz="2400" b="1" dirty="0"/>
              <a:t>， 由于此时电容尚未充电， 而且电容上的电压是不会发生突变的， 所以</a:t>
            </a:r>
            <a:r>
              <a:rPr lang="en-US" altLang="zh-CN" sz="2400" b="1" dirty="0"/>
              <a:t>G</a:t>
            </a:r>
            <a:r>
              <a:rPr lang="en-US" altLang="zh-CN" sz="2400" b="1" baseline="-25000" dirty="0"/>
              <a:t>3</a:t>
            </a:r>
            <a:r>
              <a:rPr lang="zh-CN" altLang="en-US" sz="2400" b="1" dirty="0"/>
              <a:t>门的输入</a:t>
            </a:r>
            <a:r>
              <a:rPr lang="en-US" altLang="zh-CN" sz="2400" b="1" dirty="0"/>
              <a:t>u</a:t>
            </a:r>
            <a:r>
              <a:rPr lang="en-US" altLang="zh-CN" sz="2400" b="1" baseline="-25000" dirty="0"/>
              <a:t>4</a:t>
            </a:r>
            <a:r>
              <a:rPr lang="en-US" altLang="zh-CN" sz="2400" b="1" dirty="0"/>
              <a:t> =u</a:t>
            </a:r>
            <a:r>
              <a:rPr lang="en-US" altLang="zh-CN" sz="2400" b="1" baseline="-25000" dirty="0"/>
              <a:t>2</a:t>
            </a:r>
            <a:r>
              <a:rPr lang="en-US" altLang="zh-CN" sz="2400" b="1" dirty="0"/>
              <a:t> = U</a:t>
            </a:r>
            <a:r>
              <a:rPr lang="en-US" altLang="zh-CN" sz="2400" b="1" baseline="-25000" dirty="0"/>
              <a:t>OL</a:t>
            </a:r>
            <a:r>
              <a:rPr lang="zh-CN" altLang="en-US" sz="2400" b="1" dirty="0"/>
              <a:t>， 从而使得</a:t>
            </a:r>
            <a:r>
              <a:rPr lang="en-US" altLang="zh-CN" sz="2400" b="1" dirty="0"/>
              <a:t>G</a:t>
            </a:r>
            <a:r>
              <a:rPr lang="en-US" altLang="zh-CN" sz="2400" b="1" baseline="-25000" dirty="0"/>
              <a:t>3</a:t>
            </a:r>
            <a:r>
              <a:rPr lang="zh-CN" altLang="en-US" sz="2400" b="1" dirty="0"/>
              <a:t>门的输出</a:t>
            </a:r>
            <a:r>
              <a:rPr lang="en-US" altLang="zh-CN" sz="2400" b="1" dirty="0"/>
              <a:t>u</a:t>
            </a:r>
            <a:r>
              <a:rPr lang="en-US" altLang="zh-CN" sz="2400" b="1" baseline="-25000" dirty="0"/>
              <a:t>o</a:t>
            </a:r>
            <a:r>
              <a:rPr lang="zh-CN" altLang="en-US" sz="2400" b="1" dirty="0"/>
              <a:t>维持在高电平。这就是电路的第一个状态。但这个状态是不稳定的，这是因为</a:t>
            </a:r>
            <a:r>
              <a:rPr lang="en-US" altLang="zh-CN" sz="2400" b="1" dirty="0"/>
              <a:t>: </a:t>
            </a:r>
            <a:r>
              <a:rPr lang="zh-CN" altLang="en-US" sz="2400" b="1" dirty="0"/>
              <a:t>对于</a:t>
            </a:r>
            <a:r>
              <a:rPr lang="en-US" altLang="zh-CN" sz="2400" b="1" dirty="0"/>
              <a:t>G</a:t>
            </a:r>
            <a:r>
              <a:rPr lang="en-US" altLang="zh-CN" sz="2400" b="1" baseline="-25000" dirty="0"/>
              <a:t>2</a:t>
            </a:r>
            <a:r>
              <a:rPr lang="zh-CN" altLang="en-US" sz="2400" b="1" dirty="0"/>
              <a:t>而言，其输入</a:t>
            </a:r>
            <a:r>
              <a:rPr lang="en-US" altLang="zh-CN" sz="2400" b="1" dirty="0"/>
              <a:t>u</a:t>
            </a:r>
            <a:r>
              <a:rPr lang="en-US" altLang="zh-CN" sz="2400" b="1" baseline="-25000" dirty="0"/>
              <a:t>2</a:t>
            </a:r>
            <a:r>
              <a:rPr lang="zh-CN" altLang="en-US" sz="2400" b="1" dirty="0"/>
              <a:t>为低电平， 而其输出</a:t>
            </a:r>
            <a:r>
              <a:rPr lang="en-US" altLang="zh-CN" sz="2400" b="1" dirty="0"/>
              <a:t>u</a:t>
            </a:r>
            <a:r>
              <a:rPr lang="en-US" altLang="zh-CN" sz="2400" b="1" baseline="-25000" dirty="0"/>
              <a:t>3</a:t>
            </a:r>
            <a:r>
              <a:rPr lang="zh-CN" altLang="en-US" sz="2400" b="1" dirty="0"/>
              <a:t>必为高电平，则</a:t>
            </a:r>
            <a:r>
              <a:rPr lang="en-US" altLang="zh-CN" sz="2400" b="1" dirty="0"/>
              <a:t>u</a:t>
            </a:r>
            <a:r>
              <a:rPr lang="en-US" altLang="zh-CN" sz="2400" b="1" baseline="-25000" dirty="0"/>
              <a:t>3</a:t>
            </a:r>
            <a:r>
              <a:rPr lang="zh-CN" altLang="en-US" sz="2400" b="1" dirty="0"/>
              <a:t>就会通过电阻</a:t>
            </a:r>
            <a:r>
              <a:rPr lang="en-US" altLang="zh-CN" sz="2400" b="1" dirty="0"/>
              <a:t>R</a:t>
            </a:r>
            <a:r>
              <a:rPr lang="zh-CN" altLang="en-US" sz="2400" b="1" dirty="0"/>
              <a:t>对电容</a:t>
            </a:r>
            <a:r>
              <a:rPr lang="en-US" altLang="zh-CN" sz="2400" b="1" dirty="0"/>
              <a:t>C</a:t>
            </a:r>
            <a:r>
              <a:rPr lang="zh-CN" altLang="en-US" sz="2400" b="1" dirty="0"/>
              <a:t>充电，同时</a:t>
            </a:r>
            <a:r>
              <a:rPr lang="en-US" altLang="zh-CN" sz="2400" b="1" dirty="0"/>
              <a:t>G</a:t>
            </a:r>
            <a:r>
              <a:rPr lang="en-US" altLang="zh-CN" sz="2400" b="1" baseline="-25000" dirty="0"/>
              <a:t>3</a:t>
            </a:r>
            <a:r>
              <a:rPr lang="zh-CN" altLang="en-US" sz="2400" b="1" dirty="0"/>
              <a:t>门的输入级也会通过电阻</a:t>
            </a:r>
            <a:r>
              <a:rPr lang="en-US" altLang="zh-CN" sz="2400" b="1" dirty="0"/>
              <a:t>Rs</a:t>
            </a:r>
            <a:r>
              <a:rPr lang="zh-CN" altLang="en-US" sz="2400" b="1" dirty="0"/>
              <a:t>对电容</a:t>
            </a:r>
            <a:r>
              <a:rPr lang="en-US" altLang="zh-CN" sz="2400" b="1" dirty="0"/>
              <a:t>C</a:t>
            </a:r>
            <a:r>
              <a:rPr lang="zh-CN" altLang="en-US" sz="2400" b="1" dirty="0"/>
              <a:t>充电，如图</a:t>
            </a:r>
            <a:r>
              <a:rPr lang="en-US" altLang="zh-CN" sz="2400" b="1" dirty="0"/>
              <a:t>7 - 4</a:t>
            </a:r>
            <a:r>
              <a:rPr lang="zh-CN" altLang="en-US" sz="2400" b="1" dirty="0"/>
              <a:t>（</a:t>
            </a:r>
            <a:r>
              <a:rPr lang="en-US" altLang="zh-CN" sz="2400" b="1" i="1" dirty="0"/>
              <a:t>a</a:t>
            </a:r>
            <a:r>
              <a:rPr lang="zh-CN" altLang="en-US" sz="2400" b="1" dirty="0"/>
              <a:t>）所示。 随着充电的进行，</a:t>
            </a:r>
            <a:r>
              <a:rPr lang="en-US" altLang="zh-CN" sz="2400" b="1" dirty="0"/>
              <a:t>u</a:t>
            </a:r>
            <a:r>
              <a:rPr lang="en-US" altLang="zh-CN" sz="2400" b="1" baseline="-25000" dirty="0"/>
              <a:t>4</a:t>
            </a:r>
            <a:r>
              <a:rPr lang="zh-CN" altLang="en-US" sz="2400" b="1" dirty="0"/>
              <a:t>将按照指数规律逐渐上升，当</a:t>
            </a:r>
            <a:r>
              <a:rPr lang="en-US" altLang="zh-CN" sz="2400" b="1" dirty="0"/>
              <a:t>u</a:t>
            </a:r>
            <a:r>
              <a:rPr lang="en-US" altLang="zh-CN" sz="2400" b="1" baseline="-25000" dirty="0"/>
              <a:t>4</a:t>
            </a:r>
            <a:r>
              <a:rPr lang="zh-CN" altLang="en-US" sz="2400" b="1" dirty="0"/>
              <a:t>上升到</a:t>
            </a:r>
            <a:r>
              <a:rPr lang="en-US" altLang="zh-CN" sz="2400" b="1" dirty="0"/>
              <a:t>G</a:t>
            </a:r>
            <a:r>
              <a:rPr lang="en-US" altLang="zh-CN" sz="2400" b="1" baseline="-25000" dirty="0"/>
              <a:t>3</a:t>
            </a:r>
            <a:r>
              <a:rPr lang="zh-CN" altLang="en-US" sz="2400" b="1" dirty="0"/>
              <a:t>门的阈值电平</a:t>
            </a:r>
            <a:r>
              <a:rPr lang="en-US" altLang="zh-CN" sz="2400" b="1" dirty="0"/>
              <a:t>U</a:t>
            </a:r>
            <a:r>
              <a:rPr lang="en-US" altLang="zh-CN" sz="2400" b="1" baseline="-25000" dirty="0"/>
              <a:t>TH</a:t>
            </a:r>
            <a:r>
              <a:rPr lang="zh-CN" altLang="en-US" sz="2400" b="1" dirty="0"/>
              <a:t>时，电路的状态发生翻转：</a:t>
            </a:r>
            <a:r>
              <a:rPr lang="en-US" altLang="zh-CN" sz="2400" b="1" dirty="0"/>
              <a:t>u</a:t>
            </a:r>
            <a:r>
              <a:rPr lang="en-US" altLang="zh-CN" sz="2400" b="1" baseline="-25000" dirty="0"/>
              <a:t>1</a:t>
            </a:r>
            <a:r>
              <a:rPr lang="en-US" altLang="zh-CN" sz="2400" b="1" dirty="0"/>
              <a:t> =u</a:t>
            </a:r>
            <a:r>
              <a:rPr lang="en-US" altLang="zh-CN" sz="2400" b="1" baseline="-25000" dirty="0"/>
              <a:t>o</a:t>
            </a:r>
            <a:r>
              <a:rPr lang="en-US" altLang="zh-CN" sz="2400" b="1" dirty="0"/>
              <a:t> =U</a:t>
            </a:r>
            <a:r>
              <a:rPr lang="en-US" altLang="zh-CN" sz="2400" b="1" baseline="-25000" dirty="0"/>
              <a:t>OL</a:t>
            </a:r>
            <a:r>
              <a:rPr lang="en-US" altLang="zh-CN" sz="2400" b="1" dirty="0"/>
              <a:t>→u</a:t>
            </a:r>
            <a:r>
              <a:rPr lang="en-US" altLang="zh-CN" sz="2400" b="1" baseline="-25000" dirty="0"/>
              <a:t>2</a:t>
            </a:r>
            <a:r>
              <a:rPr lang="en-US" altLang="zh-CN" sz="2400" b="1" dirty="0"/>
              <a:t> = U</a:t>
            </a:r>
            <a:r>
              <a:rPr lang="en-US" altLang="zh-CN" sz="2400" b="1" baseline="-25000" dirty="0"/>
              <a:t>OH</a:t>
            </a:r>
            <a:r>
              <a:rPr lang="en-US" altLang="zh-CN" sz="2400" b="1" dirty="0"/>
              <a:t>→u</a:t>
            </a:r>
            <a:r>
              <a:rPr lang="en-US" altLang="zh-CN" sz="2400" b="1" baseline="-25000" dirty="0"/>
              <a:t>3</a:t>
            </a:r>
            <a:r>
              <a:rPr lang="en-US" altLang="zh-CN" sz="2400" b="1" dirty="0"/>
              <a:t> =U</a:t>
            </a:r>
            <a:r>
              <a:rPr lang="en-US" altLang="zh-CN" sz="2400" b="1" baseline="-25000" dirty="0"/>
              <a:t>OL</a:t>
            </a:r>
            <a:r>
              <a:rPr lang="zh-CN" altLang="en-US" sz="2400" b="1" dirty="0"/>
              <a:t>，由于电容上的电压不会发生突变，</a:t>
            </a:r>
            <a:r>
              <a:rPr lang="en-US" altLang="zh-CN" sz="2400" b="1" dirty="0"/>
              <a:t>u</a:t>
            </a:r>
            <a:r>
              <a:rPr lang="en-US" altLang="zh-CN" sz="2400" b="1" baseline="-25000" dirty="0"/>
              <a:t>4</a:t>
            </a:r>
            <a:r>
              <a:rPr lang="zh-CN" altLang="en-US" sz="2400" b="1" dirty="0"/>
              <a:t>将随</a:t>
            </a:r>
            <a:r>
              <a:rPr lang="en-US" altLang="zh-CN" sz="2400" b="1" dirty="0"/>
              <a:t>u</a:t>
            </a:r>
            <a:r>
              <a:rPr lang="en-US" altLang="zh-CN" sz="2400" b="1" baseline="-25000" dirty="0"/>
              <a:t>2</a:t>
            </a:r>
            <a:r>
              <a:rPr lang="zh-CN" altLang="en-US" sz="2400" b="1" dirty="0"/>
              <a:t>产生一个正跳变，幅度升高到</a:t>
            </a:r>
            <a:r>
              <a:rPr lang="en-US" altLang="zh-CN" sz="2400" b="1" dirty="0"/>
              <a:t>U</a:t>
            </a:r>
            <a:r>
              <a:rPr lang="en-US" altLang="zh-CN" sz="2400" b="1" baseline="-25000" dirty="0"/>
              <a:t>TH</a:t>
            </a:r>
            <a:r>
              <a:rPr lang="en-US" altLang="zh-CN" sz="2400" b="1" dirty="0"/>
              <a:t>+(U</a:t>
            </a:r>
            <a:r>
              <a:rPr lang="en-US" altLang="zh-CN" sz="2400" b="1" baseline="-25000" dirty="0"/>
              <a:t>OH</a:t>
            </a:r>
            <a:r>
              <a:rPr lang="en-US" altLang="zh-CN" sz="2400" b="1" dirty="0"/>
              <a:t>-U</a:t>
            </a:r>
            <a:r>
              <a:rPr lang="en-US" altLang="zh-CN" sz="2400" b="1" baseline="-25000" dirty="0"/>
              <a:t>OL</a:t>
            </a:r>
            <a:r>
              <a:rPr lang="en-US" altLang="zh-CN" sz="2400" b="1" dirty="0"/>
              <a:t>)</a:t>
            </a:r>
            <a:r>
              <a:rPr lang="zh-CN" altLang="en-US" sz="2400" b="1" dirty="0"/>
              <a:t>，从而使</a:t>
            </a:r>
            <a:r>
              <a:rPr lang="en-US" altLang="zh-CN" sz="2400" b="1" dirty="0"/>
              <a:t>G</a:t>
            </a:r>
            <a:r>
              <a:rPr lang="en-US" altLang="zh-CN" sz="2400" b="1" baseline="-25000" dirty="0"/>
              <a:t>3</a:t>
            </a:r>
            <a:r>
              <a:rPr lang="zh-CN" altLang="en-US" sz="2400" b="1" dirty="0"/>
              <a:t>门的输出</a:t>
            </a:r>
            <a:r>
              <a:rPr lang="en-US" altLang="zh-CN" sz="2400" b="1" dirty="0"/>
              <a:t>u</a:t>
            </a:r>
            <a:r>
              <a:rPr lang="en-US" altLang="zh-CN" sz="2400" b="1" baseline="-25000" dirty="0"/>
              <a:t>o</a:t>
            </a:r>
            <a:r>
              <a:rPr lang="zh-CN" altLang="en-US" sz="2400" b="1" dirty="0"/>
              <a:t>维持在低电平。这就是电路的第二个状态。 </a:t>
            </a:r>
            <a:endParaRPr lang="zh-CN" altLang="en-US" sz="2400" b="1" dirty="0"/>
          </a:p>
        </p:txBody>
      </p:sp>
    </p:spTree>
  </p:cSld>
  <p:clrMapOvr>
    <a:masterClrMapping/>
  </p:clrMapOvr>
  <p:transition>
    <p:check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ext Box 4"/>
          <p:cNvSpPr txBox="1"/>
          <p:nvPr/>
        </p:nvSpPr>
        <p:spPr>
          <a:xfrm>
            <a:off x="304800" y="708025"/>
            <a:ext cx="8610600" cy="47021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just" eaLnBrk="1" hangingPunct="1">
              <a:lnSpc>
                <a:spcPct val="158000"/>
              </a:lnSpc>
              <a:spcBef>
                <a:spcPct val="50000"/>
              </a:spcBef>
              <a:buNone/>
            </a:pPr>
            <a:r>
              <a:rPr lang="zh-CN" altLang="en-US" sz="2400" b="1" dirty="0"/>
              <a:t>同样，电路的第二个状态也是不稳定的，电容</a:t>
            </a:r>
            <a:r>
              <a:rPr lang="en-US" altLang="zh-CN" sz="2400" b="1" dirty="0"/>
              <a:t>C</a:t>
            </a:r>
            <a:r>
              <a:rPr lang="zh-CN" altLang="en-US" sz="2400" b="1" dirty="0"/>
              <a:t>将通过电阻</a:t>
            </a:r>
            <a:r>
              <a:rPr lang="en-US" altLang="zh-CN" sz="2400" b="1" dirty="0"/>
              <a:t>R</a:t>
            </a:r>
            <a:r>
              <a:rPr lang="zh-CN" altLang="en-US" sz="2400" b="1" dirty="0"/>
              <a:t>放电， 如图</a:t>
            </a:r>
            <a:r>
              <a:rPr lang="en-US" altLang="zh-CN" sz="2400" b="1" dirty="0"/>
              <a:t>7 - 4</a:t>
            </a:r>
            <a:r>
              <a:rPr lang="zh-CN" altLang="en-US" sz="2400" b="1" dirty="0"/>
              <a:t>（</a:t>
            </a:r>
            <a:r>
              <a:rPr lang="en-US" altLang="zh-CN" sz="2400" b="1" dirty="0"/>
              <a:t>b</a:t>
            </a:r>
            <a:r>
              <a:rPr lang="zh-CN" altLang="en-US" sz="2400" b="1" dirty="0"/>
              <a:t>）所示。随着放电的进行，</a:t>
            </a:r>
            <a:r>
              <a:rPr lang="en-US" altLang="zh-CN" sz="2400" b="1" dirty="0"/>
              <a:t>u</a:t>
            </a:r>
            <a:r>
              <a:rPr lang="en-US" altLang="zh-CN" sz="2400" b="1" baseline="-25000" dirty="0"/>
              <a:t>4</a:t>
            </a:r>
            <a:r>
              <a:rPr lang="zh-CN" altLang="en-US" sz="2400" b="1" dirty="0"/>
              <a:t>将按照指数规律逐渐下降，当</a:t>
            </a:r>
            <a:r>
              <a:rPr lang="en-US" altLang="zh-CN" sz="2400" b="1" dirty="0"/>
              <a:t>u</a:t>
            </a:r>
            <a:r>
              <a:rPr lang="en-US" altLang="zh-CN" sz="2400" b="1" baseline="-25000" dirty="0"/>
              <a:t>4</a:t>
            </a:r>
            <a:r>
              <a:rPr lang="zh-CN" altLang="en-US" sz="2400" b="1" dirty="0"/>
              <a:t>下降到</a:t>
            </a:r>
            <a:r>
              <a:rPr lang="en-US" altLang="zh-CN" sz="2400" b="1" dirty="0"/>
              <a:t>G</a:t>
            </a:r>
            <a:r>
              <a:rPr lang="en-US" altLang="zh-CN" sz="2400" b="1" baseline="-25000" dirty="0"/>
              <a:t>3</a:t>
            </a:r>
            <a:r>
              <a:rPr lang="zh-CN" altLang="en-US" sz="2400" b="1" dirty="0"/>
              <a:t>门的阈值电平</a:t>
            </a:r>
            <a:r>
              <a:rPr lang="en-US" altLang="zh-CN" sz="2400" b="1" dirty="0"/>
              <a:t>U</a:t>
            </a:r>
            <a:r>
              <a:rPr lang="en-US" altLang="zh-CN" sz="2400" b="1" baseline="-25000" dirty="0"/>
              <a:t>TH</a:t>
            </a:r>
            <a:r>
              <a:rPr lang="zh-CN" altLang="en-US" sz="2400" b="1" dirty="0"/>
              <a:t>时，电路的状态发生翻转：</a:t>
            </a:r>
            <a:r>
              <a:rPr lang="en-US" altLang="zh-CN" sz="2400" b="1" dirty="0"/>
              <a:t>u</a:t>
            </a:r>
            <a:r>
              <a:rPr lang="en-US" altLang="zh-CN" sz="2400" b="1" baseline="-25000" dirty="0"/>
              <a:t>1</a:t>
            </a:r>
            <a:r>
              <a:rPr lang="en-US" altLang="zh-CN" sz="2400" b="1" dirty="0"/>
              <a:t> = u</a:t>
            </a:r>
            <a:r>
              <a:rPr lang="en-US" altLang="zh-CN" sz="2400" b="1" baseline="-25000" dirty="0"/>
              <a:t>o</a:t>
            </a:r>
            <a:r>
              <a:rPr lang="en-US" altLang="zh-CN" sz="2400" b="1" dirty="0"/>
              <a:t> = U</a:t>
            </a:r>
            <a:r>
              <a:rPr lang="en-US" altLang="zh-CN" sz="2400" b="1" baseline="-25000" dirty="0"/>
              <a:t>OH</a:t>
            </a:r>
            <a:r>
              <a:rPr lang="en-US" altLang="zh-CN" sz="2400" b="1" dirty="0"/>
              <a:t> → u</a:t>
            </a:r>
            <a:r>
              <a:rPr lang="en-US" altLang="zh-CN" sz="2400" b="1" baseline="-25000" dirty="0"/>
              <a:t>2</a:t>
            </a:r>
            <a:r>
              <a:rPr lang="en-US" altLang="zh-CN" sz="2400" b="1" dirty="0"/>
              <a:t> = U</a:t>
            </a:r>
            <a:r>
              <a:rPr lang="en-US" altLang="zh-CN" sz="2400" b="1" baseline="-25000" dirty="0"/>
              <a:t>OL</a:t>
            </a:r>
            <a:r>
              <a:rPr lang="en-US" altLang="zh-CN" sz="2400" b="1" dirty="0"/>
              <a:t> →  u</a:t>
            </a:r>
            <a:r>
              <a:rPr lang="en-US" altLang="zh-CN" sz="2400" b="1" baseline="-25000" dirty="0"/>
              <a:t>3</a:t>
            </a:r>
            <a:r>
              <a:rPr lang="en-US" altLang="zh-CN" sz="2400" b="1" dirty="0"/>
              <a:t> = U</a:t>
            </a:r>
            <a:r>
              <a:rPr lang="en-US" altLang="zh-CN" sz="2400" b="1" baseline="-25000" dirty="0"/>
              <a:t>OH</a:t>
            </a:r>
            <a:r>
              <a:rPr lang="zh-CN" altLang="en-US" sz="2400" b="1" dirty="0"/>
              <a:t>，</a:t>
            </a:r>
            <a:r>
              <a:rPr lang="en-US" altLang="zh-CN" sz="2400" b="1" dirty="0"/>
              <a:t>u</a:t>
            </a:r>
            <a:r>
              <a:rPr lang="en-US" altLang="zh-CN" sz="2400" b="1" baseline="-25000" dirty="0"/>
              <a:t>4</a:t>
            </a:r>
            <a:r>
              <a:rPr lang="zh-CN" altLang="en-US" sz="2400" b="1" dirty="0"/>
              <a:t>将随</a:t>
            </a:r>
            <a:r>
              <a:rPr lang="en-US" altLang="zh-CN" sz="2400" b="1" dirty="0"/>
              <a:t>u</a:t>
            </a:r>
            <a:r>
              <a:rPr lang="en-US" altLang="zh-CN" sz="2400" b="1" baseline="-25000" dirty="0"/>
              <a:t>2</a:t>
            </a:r>
            <a:r>
              <a:rPr lang="zh-CN" altLang="en-US" sz="2400" b="1" dirty="0"/>
              <a:t>产生一个负跳变，幅度下降到</a:t>
            </a:r>
            <a:r>
              <a:rPr lang="en-US" altLang="zh-CN" sz="2400" b="1" dirty="0"/>
              <a:t>U</a:t>
            </a:r>
            <a:r>
              <a:rPr lang="en-US" altLang="zh-CN" sz="2400" b="1" baseline="-25000" dirty="0"/>
              <a:t>TH</a:t>
            </a:r>
            <a:r>
              <a:rPr lang="en-US" altLang="zh-CN" sz="2400" b="1" dirty="0"/>
              <a:t>-(U</a:t>
            </a:r>
            <a:r>
              <a:rPr lang="en-US" altLang="zh-CN" sz="2400" b="1" baseline="-25000" dirty="0"/>
              <a:t>OH</a:t>
            </a:r>
            <a:r>
              <a:rPr lang="en-US" altLang="zh-CN" sz="2400" b="1" dirty="0"/>
              <a:t>-U</a:t>
            </a:r>
            <a:r>
              <a:rPr lang="en-US" altLang="zh-CN" sz="2400" b="1" baseline="-25000" dirty="0"/>
              <a:t>OL</a:t>
            </a:r>
            <a:r>
              <a:rPr lang="en-US" altLang="zh-CN" sz="2400" b="1" dirty="0"/>
              <a:t>)</a:t>
            </a:r>
            <a:r>
              <a:rPr lang="zh-CN" altLang="en-US" sz="2400" b="1" dirty="0"/>
              <a:t>，从而使</a:t>
            </a:r>
            <a:r>
              <a:rPr lang="en-US" altLang="zh-CN" sz="2400" b="1" dirty="0"/>
              <a:t>G</a:t>
            </a:r>
            <a:r>
              <a:rPr lang="en-US" altLang="zh-CN" sz="2400" b="1" baseline="-25000" dirty="0"/>
              <a:t>3</a:t>
            </a:r>
            <a:r>
              <a:rPr lang="zh-CN" altLang="en-US" sz="2400" b="1" dirty="0"/>
              <a:t>门的输出</a:t>
            </a:r>
            <a:r>
              <a:rPr lang="en-US" altLang="zh-CN" sz="2400" b="1" dirty="0"/>
              <a:t>u</a:t>
            </a:r>
            <a:r>
              <a:rPr lang="en-US" altLang="zh-CN" sz="2400" b="1" baseline="-25000" dirty="0"/>
              <a:t>o</a:t>
            </a:r>
            <a:r>
              <a:rPr lang="zh-CN" altLang="en-US" sz="2400" b="1" dirty="0"/>
              <a:t>维持在高电平。即电路又返回到第一个状态。此后，电路又重复上述过程，不停地在两个暂稳态之间转换，形成了连续振荡，这样就在</a:t>
            </a:r>
            <a:r>
              <a:rPr lang="en-US" altLang="zh-CN" sz="2400" b="1" dirty="0"/>
              <a:t>G</a:t>
            </a:r>
            <a:r>
              <a:rPr lang="en-US" altLang="zh-CN" sz="2400" b="1" baseline="-25000" dirty="0"/>
              <a:t>3</a:t>
            </a:r>
            <a:r>
              <a:rPr lang="zh-CN" altLang="en-US" sz="2400" b="1" dirty="0"/>
              <a:t>门的输出端产生了矩形脉冲信号。 </a:t>
            </a:r>
            <a:endParaRPr lang="zh-CN" altLang="en-US" sz="2400" b="1" dirty="0"/>
          </a:p>
        </p:txBody>
      </p:sp>
    </p:spTree>
  </p:cSld>
  <p:clrMapOvr>
    <a:masterClrMapping/>
  </p:clrMapOvr>
  <p:transition>
    <p:check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4"/>
          <p:cNvSpPr txBox="1"/>
          <p:nvPr/>
        </p:nvSpPr>
        <p:spPr>
          <a:xfrm>
            <a:off x="1981200" y="5334000"/>
            <a:ext cx="5848350"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400" dirty="0"/>
              <a:t>图 </a:t>
            </a:r>
            <a:r>
              <a:rPr lang="en-US" altLang="zh-CN" sz="2400" dirty="0"/>
              <a:t>7-4 </a:t>
            </a:r>
            <a:r>
              <a:rPr lang="zh-CN" altLang="en-US" sz="2400" dirty="0"/>
              <a:t>图</a:t>
            </a:r>
            <a:r>
              <a:rPr lang="en-US" altLang="zh-CN" sz="2400" dirty="0"/>
              <a:t>7 - 3</a:t>
            </a:r>
            <a:r>
              <a:rPr lang="zh-CN" altLang="en-US" sz="2400" dirty="0"/>
              <a:t>电路中电容</a:t>
            </a:r>
            <a:r>
              <a:rPr lang="en-US" altLang="zh-CN" sz="2400" dirty="0"/>
              <a:t>C</a:t>
            </a:r>
            <a:r>
              <a:rPr lang="zh-CN" altLang="en-US" sz="2400" dirty="0"/>
              <a:t>充放电等效电路 </a:t>
            </a:r>
            <a:endParaRPr lang="zh-CN" altLang="en-US" sz="2400" dirty="0"/>
          </a:p>
          <a:p>
            <a:pPr marL="0" lvl="0" indent="0" algn="ctr" eaLnBrk="1" hangingPunct="1">
              <a:spcBef>
                <a:spcPct val="0"/>
              </a:spcBef>
              <a:buNone/>
            </a:pPr>
            <a:r>
              <a:rPr lang="en-US" altLang="zh-CN" sz="2400" dirty="0"/>
              <a:t>(a) </a:t>
            </a:r>
            <a:r>
              <a:rPr lang="zh-CN" altLang="en-US" sz="2400" dirty="0"/>
              <a:t>充电等效电路； </a:t>
            </a:r>
            <a:r>
              <a:rPr lang="en-US" altLang="zh-CN" sz="2400" dirty="0"/>
              <a:t>(b) </a:t>
            </a:r>
            <a:r>
              <a:rPr lang="zh-CN" altLang="en-US" sz="2400" dirty="0"/>
              <a:t>放电等效电路</a:t>
            </a:r>
            <a:endParaRPr lang="zh-CN" altLang="en-US" sz="2400" dirty="0"/>
          </a:p>
        </p:txBody>
      </p:sp>
      <p:graphicFrame>
        <p:nvGraphicFramePr>
          <p:cNvPr id="10243" name="Object 5"/>
          <p:cNvGraphicFramePr>
            <a:graphicFrameLocks noChangeAspect="1"/>
          </p:cNvGraphicFramePr>
          <p:nvPr/>
        </p:nvGraphicFramePr>
        <p:xfrm>
          <a:off x="0" y="1905000"/>
          <a:ext cx="9144000" cy="2730500"/>
        </p:xfrm>
        <a:graphic>
          <a:graphicData uri="http://schemas.openxmlformats.org/presentationml/2006/ole">
            <mc:AlternateContent xmlns:mc="http://schemas.openxmlformats.org/markup-compatibility/2006">
              <mc:Choice xmlns:v="urn:schemas-microsoft-com:vml" Requires="v">
                <p:oleObj spid="_x0000_s3077" name="" r:id="rId1" imgW="5158740" imgH="1539240" progId="Visio.Drawing.4">
                  <p:embed/>
                </p:oleObj>
              </mc:Choice>
              <mc:Fallback>
                <p:oleObj name="" r:id="rId1" imgW="5158740" imgH="1539240" progId="Visio.Drawing.4">
                  <p:embed/>
                  <p:pic>
                    <p:nvPicPr>
                      <p:cNvPr id="0" name="图片 3076"/>
                      <p:cNvPicPr/>
                      <p:nvPr/>
                    </p:nvPicPr>
                    <p:blipFill>
                      <a:blip r:embed="rId2"/>
                      <a:stretch>
                        <a:fillRect/>
                      </a:stretch>
                    </p:blipFill>
                    <p:spPr>
                      <a:xfrm>
                        <a:off x="0" y="1905000"/>
                        <a:ext cx="9144000" cy="2730500"/>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ext Box 4"/>
          <p:cNvSpPr txBox="1"/>
          <p:nvPr/>
        </p:nvSpPr>
        <p:spPr>
          <a:xfrm>
            <a:off x="457200" y="457200"/>
            <a:ext cx="2927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2</a:t>
            </a:r>
            <a:r>
              <a:rPr lang="zh-CN" altLang="en-US" sz="2400" dirty="0"/>
              <a:t>） 振荡周期的计算 </a:t>
            </a:r>
            <a:endParaRPr lang="zh-CN" altLang="en-US" sz="2400" dirty="0"/>
          </a:p>
        </p:txBody>
      </p:sp>
      <p:sp>
        <p:nvSpPr>
          <p:cNvPr id="11267" name="Text Box 5"/>
          <p:cNvSpPr txBox="1"/>
          <p:nvPr/>
        </p:nvSpPr>
        <p:spPr>
          <a:xfrm>
            <a:off x="4643438" y="5589588"/>
            <a:ext cx="4121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dirty="0"/>
              <a:t>图 </a:t>
            </a:r>
            <a:r>
              <a:rPr lang="en-US" altLang="zh-CN" sz="2400" dirty="0"/>
              <a:t>7-5 </a:t>
            </a:r>
            <a:r>
              <a:rPr lang="zh-CN" altLang="en-US" sz="2400" dirty="0"/>
              <a:t>图</a:t>
            </a:r>
            <a:r>
              <a:rPr lang="en-US" altLang="zh-CN" sz="2400" dirty="0"/>
              <a:t>7 - 3</a:t>
            </a:r>
            <a:r>
              <a:rPr lang="zh-CN" altLang="en-US" sz="2400" dirty="0"/>
              <a:t>电路的工作波形 </a:t>
            </a:r>
            <a:endParaRPr lang="zh-CN" altLang="en-US" sz="2400" dirty="0"/>
          </a:p>
        </p:txBody>
      </p:sp>
      <p:graphicFrame>
        <p:nvGraphicFramePr>
          <p:cNvPr id="11268" name="Object 6"/>
          <p:cNvGraphicFramePr>
            <a:graphicFrameLocks noChangeAspect="1"/>
          </p:cNvGraphicFramePr>
          <p:nvPr/>
        </p:nvGraphicFramePr>
        <p:xfrm>
          <a:off x="3795713" y="914400"/>
          <a:ext cx="5351462" cy="4567238"/>
        </p:xfrm>
        <a:graphic>
          <a:graphicData uri="http://schemas.openxmlformats.org/presentationml/2006/ole">
            <mc:AlternateContent xmlns:mc="http://schemas.openxmlformats.org/markup-compatibility/2006">
              <mc:Choice xmlns:v="urn:schemas-microsoft-com:vml" Requires="v">
                <p:oleObj spid="_x0000_s3076" name="" r:id="rId1" imgW="3162300" imgH="2697480" progId="Visio.Drawing.4">
                  <p:embed/>
                </p:oleObj>
              </mc:Choice>
              <mc:Fallback>
                <p:oleObj name="" r:id="rId1" imgW="3162300" imgH="2697480" progId="Visio.Drawing.4">
                  <p:embed/>
                  <p:pic>
                    <p:nvPicPr>
                      <p:cNvPr id="0" name="图片 3075"/>
                      <p:cNvPicPr/>
                      <p:nvPr/>
                    </p:nvPicPr>
                    <p:blipFill>
                      <a:blip r:embed="rId2"/>
                      <a:stretch>
                        <a:fillRect/>
                      </a:stretch>
                    </p:blipFill>
                    <p:spPr>
                      <a:xfrm>
                        <a:off x="3795713" y="914400"/>
                        <a:ext cx="5351462" cy="4567238"/>
                      </a:xfrm>
                      <a:prstGeom prst="rect">
                        <a:avLst/>
                      </a:prstGeom>
                      <a:noFill/>
                      <a:ln w="38100">
                        <a:noFill/>
                        <a:miter/>
                      </a:ln>
                    </p:spPr>
                  </p:pic>
                </p:oleObj>
              </mc:Fallback>
            </mc:AlternateContent>
          </a:graphicData>
        </a:graphic>
      </p:graphicFrame>
      <p:graphicFrame>
        <p:nvGraphicFramePr>
          <p:cNvPr id="11269" name="Object 6"/>
          <p:cNvGraphicFramePr>
            <a:graphicFrameLocks noChangeAspect="1"/>
          </p:cNvGraphicFramePr>
          <p:nvPr/>
        </p:nvGraphicFramePr>
        <p:xfrm>
          <a:off x="-468312" y="2420938"/>
          <a:ext cx="4743450" cy="1728787"/>
        </p:xfrm>
        <a:graphic>
          <a:graphicData uri="http://schemas.openxmlformats.org/presentationml/2006/ole">
            <mc:AlternateContent xmlns:mc="http://schemas.openxmlformats.org/markup-compatibility/2006">
              <mc:Choice xmlns:v="urn:schemas-microsoft-com:vml" Requires="v">
                <p:oleObj spid="_x0000_s3078" name="" r:id="rId3" imgW="2819400" imgH="1028700" progId="Visio.Drawing.4">
                  <p:embed/>
                </p:oleObj>
              </mc:Choice>
              <mc:Fallback>
                <p:oleObj name="" r:id="rId3" imgW="2819400" imgH="1028700" progId="Visio.Drawing.4">
                  <p:embed/>
                  <p:pic>
                    <p:nvPicPr>
                      <p:cNvPr id="0" name="图片 3077"/>
                      <p:cNvPicPr/>
                      <p:nvPr/>
                    </p:nvPicPr>
                    <p:blipFill>
                      <a:blip r:embed="rId4"/>
                      <a:stretch>
                        <a:fillRect/>
                      </a:stretch>
                    </p:blipFill>
                    <p:spPr>
                      <a:xfrm>
                        <a:off x="-468312" y="2420938"/>
                        <a:ext cx="4743450" cy="1728787"/>
                      </a:xfrm>
                      <a:prstGeom prst="rect">
                        <a:avLst/>
                      </a:prstGeom>
                      <a:noFill/>
                      <a:ln w="38100">
                        <a:noFill/>
                        <a:miter/>
                      </a:ln>
                    </p:spPr>
                  </p:pic>
                </p:oleObj>
              </mc:Fallback>
            </mc:AlternateContent>
          </a:graphicData>
        </a:graphic>
      </p:graphicFrame>
      <p:pic>
        <p:nvPicPr>
          <p:cNvPr id="11270" name="图片 1"/>
          <p:cNvPicPr>
            <a:picLocks noChangeAspect="1"/>
          </p:cNvPicPr>
          <p:nvPr/>
        </p:nvPicPr>
        <p:blipFill>
          <a:blip r:embed="rId5"/>
          <a:stretch>
            <a:fillRect/>
          </a:stretch>
        </p:blipFill>
        <p:spPr>
          <a:xfrm>
            <a:off x="-104775" y="4437063"/>
            <a:ext cx="4379913" cy="517525"/>
          </a:xfrm>
          <a:prstGeom prst="rect">
            <a:avLst/>
          </a:prstGeom>
          <a:noFill/>
          <a:ln w="9525">
            <a:noFill/>
          </a:ln>
        </p:spPr>
      </p:pic>
    </p:spTree>
  </p:cSld>
  <p:clrMapOvr>
    <a:masterClrMapping/>
  </p:clrMapOvr>
  <p:transition>
    <p:check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ext Box 4"/>
          <p:cNvSpPr txBox="1"/>
          <p:nvPr/>
        </p:nvSpPr>
        <p:spPr>
          <a:xfrm>
            <a:off x="228600" y="609600"/>
            <a:ext cx="8610600" cy="40243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just" eaLnBrk="1" hangingPunct="1">
              <a:lnSpc>
                <a:spcPct val="138000"/>
              </a:lnSpc>
              <a:spcBef>
                <a:spcPct val="50000"/>
              </a:spcBef>
              <a:buNone/>
            </a:pPr>
            <a:r>
              <a:rPr lang="en-US" altLang="zh-CN" sz="2400" dirty="0"/>
              <a:t>           </a:t>
            </a:r>
            <a:r>
              <a:rPr lang="en-US" altLang="zh-CN" sz="2400" b="1" dirty="0"/>
              <a:t>(1) T</a:t>
            </a:r>
            <a:r>
              <a:rPr lang="en-US" altLang="zh-CN" sz="2400" b="1" baseline="-25000" dirty="0"/>
              <a:t>1</a:t>
            </a:r>
            <a:r>
              <a:rPr lang="zh-CN" altLang="en-US" sz="2400" b="1" dirty="0"/>
              <a:t>的计算： </a:t>
            </a:r>
            <a:endParaRPr lang="zh-CN" altLang="en-US" sz="2400" b="1" dirty="0"/>
          </a:p>
          <a:p>
            <a:pPr marL="0" lvl="0" indent="0" algn="just" eaLnBrk="1" hangingPunct="1">
              <a:lnSpc>
                <a:spcPct val="138000"/>
              </a:lnSpc>
              <a:spcBef>
                <a:spcPct val="50000"/>
              </a:spcBef>
              <a:buNone/>
            </a:pPr>
            <a:r>
              <a:rPr lang="zh-CN" altLang="en-US" sz="2400" b="1" dirty="0"/>
              <a:t>           对应于</a:t>
            </a:r>
            <a:r>
              <a:rPr lang="en-US" altLang="zh-CN" sz="2400" b="1" dirty="0"/>
              <a:t>T</a:t>
            </a:r>
            <a:r>
              <a:rPr lang="en-US" altLang="zh-CN" sz="2400" b="1" baseline="-25000" dirty="0"/>
              <a:t>1</a:t>
            </a:r>
            <a:r>
              <a:rPr lang="zh-CN" altLang="en-US" sz="2400" b="1" dirty="0"/>
              <a:t>段有</a:t>
            </a:r>
            <a:endParaRPr lang="zh-CN" altLang="en-US" sz="2400" b="1" dirty="0"/>
          </a:p>
          <a:p>
            <a:pPr marL="0" lvl="0" indent="0" algn="ctr" eaLnBrk="1" hangingPunct="1">
              <a:lnSpc>
                <a:spcPct val="138000"/>
              </a:lnSpc>
              <a:spcBef>
                <a:spcPct val="50000"/>
              </a:spcBef>
              <a:buNone/>
            </a:pPr>
            <a:r>
              <a:rPr lang="en-US" altLang="zh-CN" sz="2400" b="1" i="1" dirty="0"/>
              <a:t>τ</a:t>
            </a:r>
            <a:r>
              <a:rPr lang="en-US" altLang="zh-CN" sz="2400" b="1" baseline="-25000" dirty="0"/>
              <a:t>1</a:t>
            </a:r>
            <a:r>
              <a:rPr lang="en-US" altLang="zh-CN" sz="2400" b="1" dirty="0"/>
              <a:t> = R</a:t>
            </a:r>
            <a:r>
              <a:rPr lang="en-US" altLang="zh-CN" sz="2400" b="1" baseline="-25000" dirty="0"/>
              <a:t>E</a:t>
            </a:r>
            <a:r>
              <a:rPr lang="en-US" altLang="zh-CN" sz="2400" b="1" dirty="0"/>
              <a:t>C       </a:t>
            </a:r>
            <a:endParaRPr lang="en-US" altLang="zh-CN" sz="2400" b="1" dirty="0"/>
          </a:p>
          <a:p>
            <a:pPr marL="0" lvl="0" indent="0" algn="ctr" eaLnBrk="1" hangingPunct="1">
              <a:lnSpc>
                <a:spcPct val="138000"/>
              </a:lnSpc>
              <a:spcBef>
                <a:spcPct val="50000"/>
              </a:spcBef>
              <a:buNone/>
            </a:pPr>
            <a:r>
              <a:rPr lang="en-US" altLang="zh-CN" sz="2400" b="1" dirty="0"/>
              <a:t>                  u</a:t>
            </a:r>
            <a:r>
              <a:rPr lang="en-US" altLang="zh-CN" sz="2400" b="1" baseline="-25000" dirty="0"/>
              <a:t>4</a:t>
            </a:r>
            <a:r>
              <a:rPr lang="en-US" altLang="zh-CN" sz="2400" b="1" dirty="0"/>
              <a:t>(0</a:t>
            </a:r>
            <a:r>
              <a:rPr lang="en-US" altLang="zh-CN" sz="2400" b="1" baseline="30000" dirty="0"/>
              <a:t>+</a:t>
            </a:r>
            <a:r>
              <a:rPr lang="en-US" altLang="zh-CN" sz="2400" b="1" dirty="0"/>
              <a:t>) = U</a:t>
            </a:r>
            <a:r>
              <a:rPr lang="en-US" altLang="zh-CN" sz="2400" b="1" baseline="-25000" dirty="0"/>
              <a:t>TH</a:t>
            </a:r>
            <a:r>
              <a:rPr lang="en-US" altLang="zh-CN" sz="2400" b="1" dirty="0"/>
              <a:t>-(U</a:t>
            </a:r>
            <a:r>
              <a:rPr lang="en-US" altLang="zh-CN" sz="2400" b="1" baseline="-25000" dirty="0"/>
              <a:t>OH</a:t>
            </a:r>
            <a:r>
              <a:rPr lang="en-US" altLang="zh-CN" sz="2400" b="1" dirty="0"/>
              <a:t>-U</a:t>
            </a:r>
            <a:r>
              <a:rPr lang="en-US" altLang="zh-CN" sz="2400" b="1" baseline="-25000" dirty="0"/>
              <a:t>OL</a:t>
            </a:r>
            <a:r>
              <a:rPr lang="en-US" altLang="zh-CN" sz="2400" b="1" dirty="0"/>
              <a:t>)</a:t>
            </a:r>
            <a:endParaRPr lang="en-US" altLang="zh-CN" sz="2400" b="1" dirty="0"/>
          </a:p>
          <a:p>
            <a:pPr marL="0" lvl="0" indent="0" algn="ctr" eaLnBrk="1" hangingPunct="1">
              <a:lnSpc>
                <a:spcPct val="138000"/>
              </a:lnSpc>
              <a:spcBef>
                <a:spcPct val="50000"/>
              </a:spcBef>
              <a:buNone/>
            </a:pPr>
            <a:r>
              <a:rPr lang="en-US" altLang="zh-CN" sz="2400" b="1" dirty="0"/>
              <a:t>       u</a:t>
            </a:r>
            <a:r>
              <a:rPr lang="en-US" altLang="zh-CN" sz="2400" b="1" baseline="-25000" dirty="0"/>
              <a:t>4</a:t>
            </a:r>
            <a:r>
              <a:rPr lang="en-US" altLang="zh-CN" sz="2400" b="1" dirty="0"/>
              <a:t>(∞) = U</a:t>
            </a:r>
            <a:r>
              <a:rPr lang="en-US" altLang="zh-CN" sz="2400" b="1" baseline="-25000" dirty="0"/>
              <a:t>E</a:t>
            </a:r>
            <a:r>
              <a:rPr lang="en-US" altLang="zh-CN" sz="2400" b="1" dirty="0"/>
              <a:t></a:t>
            </a:r>
            <a:endParaRPr lang="en-US" altLang="zh-CN" sz="2400" b="1" dirty="0"/>
          </a:p>
          <a:p>
            <a:pPr marL="0" lvl="0" indent="0" eaLnBrk="1" hangingPunct="1">
              <a:lnSpc>
                <a:spcPct val="138000"/>
              </a:lnSpc>
              <a:spcBef>
                <a:spcPct val="50000"/>
              </a:spcBef>
              <a:buNone/>
            </a:pPr>
            <a:r>
              <a:rPr lang="en-US" altLang="zh-CN" sz="2400" b="1" dirty="0"/>
              <a:t>  </a:t>
            </a:r>
            <a:r>
              <a:rPr lang="zh-CN" altLang="en-US" sz="2400" b="1" dirty="0"/>
              <a:t>根据</a:t>
            </a:r>
            <a:r>
              <a:rPr lang="en-US" altLang="zh-CN" sz="2400" b="1" dirty="0"/>
              <a:t>RC</a:t>
            </a:r>
            <a:r>
              <a:rPr lang="zh-CN" altLang="en-US" sz="2400" b="1" dirty="0"/>
              <a:t>电路暂态响应的公式， 得 </a:t>
            </a:r>
            <a:endParaRPr lang="zh-CN" altLang="en-US" sz="2400" b="1" dirty="0"/>
          </a:p>
        </p:txBody>
      </p:sp>
      <p:graphicFrame>
        <p:nvGraphicFramePr>
          <p:cNvPr id="12291" name="Object 5"/>
          <p:cNvGraphicFramePr>
            <a:graphicFrameLocks noChangeAspect="1"/>
          </p:cNvGraphicFramePr>
          <p:nvPr/>
        </p:nvGraphicFramePr>
        <p:xfrm>
          <a:off x="1981200" y="4953000"/>
          <a:ext cx="5943600" cy="1122363"/>
        </p:xfrm>
        <a:graphic>
          <a:graphicData uri="http://schemas.openxmlformats.org/presentationml/2006/ole">
            <mc:AlternateContent xmlns:mc="http://schemas.openxmlformats.org/markup-compatibility/2006">
              <mc:Choice xmlns:v="urn:schemas-microsoft-com:vml" Requires="v">
                <p:oleObj spid="_x0000_s3077" name="" r:id="rId1" imgW="2286000" imgH="431800" progId="Equation.3">
                  <p:embed/>
                </p:oleObj>
              </mc:Choice>
              <mc:Fallback>
                <p:oleObj name="" r:id="rId1" imgW="2286000" imgH="431800" progId="Equation.3">
                  <p:embed/>
                  <p:pic>
                    <p:nvPicPr>
                      <p:cNvPr id="0" name="图片 3076"/>
                      <p:cNvPicPr/>
                      <p:nvPr/>
                    </p:nvPicPr>
                    <p:blipFill>
                      <a:blip r:embed="rId2"/>
                      <a:stretch>
                        <a:fillRect/>
                      </a:stretch>
                    </p:blipFill>
                    <p:spPr>
                      <a:xfrm>
                        <a:off x="1981200" y="4953000"/>
                        <a:ext cx="5943600" cy="1122363"/>
                      </a:xfrm>
                      <a:prstGeom prst="rect">
                        <a:avLst/>
                      </a:prstGeom>
                      <a:noFill/>
                      <a:ln w="38100">
                        <a:noFill/>
                        <a:miter/>
                      </a:ln>
                    </p:spPr>
                  </p:pic>
                </p:oleObj>
              </mc:Fallback>
            </mc:AlternateContent>
          </a:graphicData>
        </a:graphic>
      </p:graphicFrame>
      <p:sp>
        <p:nvSpPr>
          <p:cNvPr id="12292" name="Rectangle 6"/>
          <p:cNvSpPr/>
          <p:nvPr/>
        </p:nvSpPr>
        <p:spPr>
          <a:xfrm>
            <a:off x="8001000" y="5659438"/>
            <a:ext cx="10271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 </a:t>
            </a:r>
            <a:r>
              <a:rPr lang="en-US" altLang="zh-CN" sz="2400" dirty="0">
                <a:latin typeface="Courier New" panose="02070309020205020404" pitchFamily="49" charset="0"/>
              </a:rPr>
              <a:t>–</a:t>
            </a:r>
            <a:r>
              <a:rPr lang="en-US" altLang="zh-CN" sz="2400" dirty="0"/>
              <a:t> 2)</a:t>
            </a:r>
            <a:endParaRPr lang="en-US" altLang="zh-CN" sz="2400" dirty="0"/>
          </a:p>
        </p:txBody>
      </p:sp>
    </p:spTree>
  </p:cSld>
  <p:clrMapOvr>
    <a:masterClrMapping/>
  </p:clrMapOvr>
  <p:transition>
    <p:check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ext Box 4"/>
          <p:cNvSpPr txBox="1"/>
          <p:nvPr/>
        </p:nvSpPr>
        <p:spPr>
          <a:xfrm>
            <a:off x="228600" y="609600"/>
            <a:ext cx="8839200" cy="12446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8000"/>
              </a:lnSpc>
              <a:spcBef>
                <a:spcPct val="50000"/>
              </a:spcBef>
              <a:buNone/>
            </a:pPr>
            <a:r>
              <a:rPr lang="en-US" altLang="zh-CN" sz="2400" dirty="0"/>
              <a:t>        </a:t>
            </a:r>
            <a:r>
              <a:rPr lang="zh-CN" altLang="en-US" sz="2400" b="1" dirty="0"/>
              <a:t>其中</a:t>
            </a:r>
            <a:r>
              <a:rPr lang="en-US" altLang="zh-CN" sz="2400" b="1" dirty="0"/>
              <a:t>, R</a:t>
            </a:r>
            <a:r>
              <a:rPr lang="en-US" altLang="zh-CN" sz="2400" b="1" baseline="-25000" dirty="0"/>
              <a:t>E</a:t>
            </a:r>
            <a:r>
              <a:rPr lang="zh-CN" altLang="en-US" sz="2400" b="1" dirty="0"/>
              <a:t>和</a:t>
            </a:r>
            <a:r>
              <a:rPr lang="en-US" altLang="zh-CN" sz="2400" b="1" dirty="0"/>
              <a:t>U</a:t>
            </a:r>
            <a:r>
              <a:rPr lang="en-US" altLang="zh-CN" sz="2400" b="1" baseline="-25000" dirty="0"/>
              <a:t>E</a:t>
            </a:r>
            <a:r>
              <a:rPr lang="zh-CN" altLang="en-US" sz="2400" b="1" dirty="0"/>
              <a:t>是根据戴维南定理求得的等效电阻和等效电压源， 它们分别为 </a:t>
            </a:r>
            <a:endParaRPr lang="zh-CN" altLang="en-US" sz="2400" b="1" dirty="0"/>
          </a:p>
        </p:txBody>
      </p:sp>
      <p:graphicFrame>
        <p:nvGraphicFramePr>
          <p:cNvPr id="13315" name="Object 5"/>
          <p:cNvGraphicFramePr>
            <a:graphicFrameLocks noChangeAspect="1"/>
          </p:cNvGraphicFramePr>
          <p:nvPr/>
        </p:nvGraphicFramePr>
        <p:xfrm>
          <a:off x="2081213" y="2363788"/>
          <a:ext cx="4983162" cy="1065212"/>
        </p:xfrm>
        <a:graphic>
          <a:graphicData uri="http://schemas.openxmlformats.org/presentationml/2006/ole">
            <mc:AlternateContent xmlns:mc="http://schemas.openxmlformats.org/markup-compatibility/2006">
              <mc:Choice xmlns:v="urn:schemas-microsoft-com:vml" Requires="v">
                <p:oleObj spid="_x0000_s3078" name="" r:id="rId1" imgW="2018665" imgH="431800" progId="Equation.DSMT4">
                  <p:embed/>
                </p:oleObj>
              </mc:Choice>
              <mc:Fallback>
                <p:oleObj name="" r:id="rId1" imgW="2018665" imgH="431800" progId="Equation.DSMT4">
                  <p:embed/>
                  <p:pic>
                    <p:nvPicPr>
                      <p:cNvPr id="0" name="图片 3077"/>
                      <p:cNvPicPr/>
                      <p:nvPr/>
                    </p:nvPicPr>
                    <p:blipFill>
                      <a:blip r:embed="rId2"/>
                      <a:stretch>
                        <a:fillRect/>
                      </a:stretch>
                    </p:blipFill>
                    <p:spPr>
                      <a:xfrm>
                        <a:off x="2081213" y="2363788"/>
                        <a:ext cx="4983162" cy="1065212"/>
                      </a:xfrm>
                      <a:prstGeom prst="rect">
                        <a:avLst/>
                      </a:prstGeom>
                      <a:noFill/>
                      <a:ln w="38100">
                        <a:noFill/>
                        <a:miter/>
                      </a:ln>
                    </p:spPr>
                  </p:pic>
                </p:oleObj>
              </mc:Fallback>
            </mc:AlternateContent>
          </a:graphicData>
        </a:graphic>
      </p:graphicFrame>
      <p:graphicFrame>
        <p:nvGraphicFramePr>
          <p:cNvPr id="13316" name="Object 6"/>
          <p:cNvGraphicFramePr>
            <a:graphicFrameLocks noChangeAspect="1"/>
          </p:cNvGraphicFramePr>
          <p:nvPr/>
        </p:nvGraphicFramePr>
        <p:xfrm>
          <a:off x="0" y="4343400"/>
          <a:ext cx="9144000" cy="1065213"/>
        </p:xfrm>
        <a:graphic>
          <a:graphicData uri="http://schemas.openxmlformats.org/presentationml/2006/ole">
            <mc:AlternateContent xmlns:mc="http://schemas.openxmlformats.org/markup-compatibility/2006">
              <mc:Choice xmlns:v="urn:schemas-microsoft-com:vml" Requires="v">
                <p:oleObj spid="_x0000_s3076" name="" r:id="rId3" imgW="4140200" imgH="482600" progId="Equation.3">
                  <p:embed/>
                </p:oleObj>
              </mc:Choice>
              <mc:Fallback>
                <p:oleObj name="" r:id="rId3" imgW="4140200" imgH="482600" progId="Equation.3">
                  <p:embed/>
                  <p:pic>
                    <p:nvPicPr>
                      <p:cNvPr id="0" name="图片 3075"/>
                      <p:cNvPicPr/>
                      <p:nvPr/>
                    </p:nvPicPr>
                    <p:blipFill>
                      <a:blip r:embed="rId4"/>
                      <a:stretch>
                        <a:fillRect/>
                      </a:stretch>
                    </p:blipFill>
                    <p:spPr>
                      <a:xfrm>
                        <a:off x="0" y="4343400"/>
                        <a:ext cx="9144000" cy="1065213"/>
                      </a:xfrm>
                      <a:prstGeom prst="rect">
                        <a:avLst/>
                      </a:prstGeom>
                      <a:noFill/>
                      <a:ln w="38100">
                        <a:noFill/>
                        <a:miter/>
                      </a:ln>
                    </p:spPr>
                  </p:pic>
                </p:oleObj>
              </mc:Fallback>
            </mc:AlternateContent>
          </a:graphicData>
        </a:graphic>
      </p:graphicFrame>
      <p:sp>
        <p:nvSpPr>
          <p:cNvPr id="13317" name="Rectangle 7"/>
          <p:cNvSpPr/>
          <p:nvPr/>
        </p:nvSpPr>
        <p:spPr>
          <a:xfrm>
            <a:off x="7772400" y="2667000"/>
            <a:ext cx="10271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 </a:t>
            </a:r>
            <a:r>
              <a:rPr lang="en-US" altLang="zh-CN" sz="2400" dirty="0">
                <a:latin typeface="Courier New" panose="02070309020205020404" pitchFamily="49" charset="0"/>
              </a:rPr>
              <a:t>–</a:t>
            </a:r>
            <a:r>
              <a:rPr lang="en-US" altLang="zh-CN" sz="2400" dirty="0"/>
              <a:t> 3)</a:t>
            </a:r>
            <a:endParaRPr lang="en-US" altLang="zh-CN" sz="2400" dirty="0"/>
          </a:p>
        </p:txBody>
      </p:sp>
      <p:sp>
        <p:nvSpPr>
          <p:cNvPr id="13318" name="Rectangle 8"/>
          <p:cNvSpPr/>
          <p:nvPr/>
        </p:nvSpPr>
        <p:spPr>
          <a:xfrm>
            <a:off x="7848600" y="5715000"/>
            <a:ext cx="10271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 </a:t>
            </a:r>
            <a:r>
              <a:rPr lang="en-US" altLang="zh-CN" sz="2400" dirty="0">
                <a:latin typeface="Courier New" panose="02070309020205020404" pitchFamily="49" charset="0"/>
              </a:rPr>
              <a:t>–</a:t>
            </a:r>
            <a:r>
              <a:rPr lang="en-US" altLang="zh-CN" sz="2400" dirty="0"/>
              <a:t> 4)</a:t>
            </a:r>
            <a:endParaRPr lang="en-US" altLang="zh-CN" sz="2400" dirty="0"/>
          </a:p>
        </p:txBody>
      </p:sp>
    </p:spTree>
  </p:cSld>
  <p:clrMapOvr>
    <a:masterClrMapping/>
  </p:clrMapOvr>
  <p:transition>
    <p:check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ext Box 4"/>
          <p:cNvSpPr txBox="1"/>
          <p:nvPr/>
        </p:nvSpPr>
        <p:spPr>
          <a:xfrm>
            <a:off x="838200" y="533400"/>
            <a:ext cx="2393950" cy="1406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80000"/>
              </a:lnSpc>
              <a:spcBef>
                <a:spcPct val="0"/>
              </a:spcBef>
              <a:buNone/>
            </a:pPr>
            <a:r>
              <a:rPr lang="en-US" altLang="zh-CN" sz="2400" b="1" dirty="0"/>
              <a:t>(2) T</a:t>
            </a:r>
            <a:r>
              <a:rPr lang="en-US" altLang="zh-CN" sz="2400" b="1" baseline="-25000" dirty="0"/>
              <a:t>2</a:t>
            </a:r>
            <a:r>
              <a:rPr lang="zh-CN" altLang="en-US" sz="2400" b="1" dirty="0"/>
              <a:t>的计算： </a:t>
            </a:r>
            <a:endParaRPr lang="zh-CN" altLang="en-US" sz="2400" b="1" dirty="0"/>
          </a:p>
          <a:p>
            <a:pPr marL="0" lvl="0" indent="0" eaLnBrk="1" hangingPunct="1">
              <a:lnSpc>
                <a:spcPct val="180000"/>
              </a:lnSpc>
              <a:spcBef>
                <a:spcPct val="0"/>
              </a:spcBef>
              <a:buNone/>
            </a:pPr>
            <a:r>
              <a:rPr lang="zh-CN" altLang="en-US" sz="2400" b="1" dirty="0"/>
              <a:t>对应于</a:t>
            </a:r>
            <a:r>
              <a:rPr lang="en-US" altLang="zh-CN" sz="2400" b="1" dirty="0"/>
              <a:t>T</a:t>
            </a:r>
            <a:r>
              <a:rPr lang="en-US" altLang="zh-CN" sz="2400" b="1" baseline="-25000" dirty="0"/>
              <a:t>2</a:t>
            </a:r>
            <a:r>
              <a:rPr lang="zh-CN" altLang="en-US" sz="2400" b="1" dirty="0"/>
              <a:t>段有： </a:t>
            </a:r>
            <a:endParaRPr lang="zh-CN" altLang="en-US" sz="2400" b="1" dirty="0"/>
          </a:p>
        </p:txBody>
      </p:sp>
      <p:graphicFrame>
        <p:nvGraphicFramePr>
          <p:cNvPr id="14339" name="Object 5"/>
          <p:cNvGraphicFramePr>
            <a:graphicFrameLocks noChangeAspect="1"/>
          </p:cNvGraphicFramePr>
          <p:nvPr/>
        </p:nvGraphicFramePr>
        <p:xfrm>
          <a:off x="3124200" y="1931988"/>
          <a:ext cx="3797300" cy="1497012"/>
        </p:xfrm>
        <a:graphic>
          <a:graphicData uri="http://schemas.openxmlformats.org/presentationml/2006/ole">
            <mc:AlternateContent xmlns:mc="http://schemas.openxmlformats.org/markup-compatibility/2006">
              <mc:Choice xmlns:v="urn:schemas-microsoft-com:vml" Requires="v">
                <p:oleObj spid="_x0000_s3086" name="" r:id="rId1" imgW="1739900" imgH="685800" progId="Equation.3">
                  <p:embed/>
                </p:oleObj>
              </mc:Choice>
              <mc:Fallback>
                <p:oleObj name="" r:id="rId1" imgW="1739900" imgH="685800" progId="Equation.3">
                  <p:embed/>
                  <p:pic>
                    <p:nvPicPr>
                      <p:cNvPr id="0" name="图片 3085"/>
                      <p:cNvPicPr/>
                      <p:nvPr/>
                    </p:nvPicPr>
                    <p:blipFill>
                      <a:blip r:embed="rId2"/>
                      <a:stretch>
                        <a:fillRect/>
                      </a:stretch>
                    </p:blipFill>
                    <p:spPr>
                      <a:xfrm>
                        <a:off x="3124200" y="1931988"/>
                        <a:ext cx="3797300" cy="1497012"/>
                      </a:xfrm>
                      <a:prstGeom prst="rect">
                        <a:avLst/>
                      </a:prstGeom>
                      <a:noFill/>
                      <a:ln w="38100">
                        <a:noFill/>
                        <a:miter/>
                      </a:ln>
                    </p:spPr>
                  </p:pic>
                </p:oleObj>
              </mc:Fallback>
            </mc:AlternateContent>
          </a:graphicData>
        </a:graphic>
      </p:graphicFrame>
      <p:sp>
        <p:nvSpPr>
          <p:cNvPr id="14340" name="Text Box 6"/>
          <p:cNvSpPr txBox="1"/>
          <p:nvPr/>
        </p:nvSpPr>
        <p:spPr>
          <a:xfrm>
            <a:off x="304800" y="3962400"/>
            <a:ext cx="47402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根据</a:t>
            </a:r>
            <a:r>
              <a:rPr lang="en-US" altLang="zh-CN" sz="2400" b="1" dirty="0"/>
              <a:t>RC</a:t>
            </a:r>
            <a:r>
              <a:rPr lang="zh-CN" altLang="en-US" sz="2400" b="1" dirty="0"/>
              <a:t>电路暂态响应的公式， 得 </a:t>
            </a:r>
            <a:endParaRPr lang="zh-CN" altLang="en-US" sz="2400" b="1" dirty="0"/>
          </a:p>
        </p:txBody>
      </p:sp>
      <p:graphicFrame>
        <p:nvGraphicFramePr>
          <p:cNvPr id="14341" name="Object 7"/>
          <p:cNvGraphicFramePr>
            <a:graphicFrameLocks noChangeAspect="1"/>
          </p:cNvGraphicFramePr>
          <p:nvPr/>
        </p:nvGraphicFramePr>
        <p:xfrm>
          <a:off x="1524000" y="4800600"/>
          <a:ext cx="6248400" cy="1141413"/>
        </p:xfrm>
        <a:graphic>
          <a:graphicData uri="http://schemas.openxmlformats.org/presentationml/2006/ole">
            <mc:AlternateContent xmlns:mc="http://schemas.openxmlformats.org/markup-compatibility/2006">
              <mc:Choice xmlns:v="urn:schemas-microsoft-com:vml" Requires="v">
                <p:oleObj spid="_x0000_s3087" name="" r:id="rId3" imgW="2362200" imgH="431800" progId="Equation.3">
                  <p:embed/>
                </p:oleObj>
              </mc:Choice>
              <mc:Fallback>
                <p:oleObj name="" r:id="rId3" imgW="2362200" imgH="431800" progId="Equation.3">
                  <p:embed/>
                  <p:pic>
                    <p:nvPicPr>
                      <p:cNvPr id="0" name="图片 3086"/>
                      <p:cNvPicPr/>
                      <p:nvPr/>
                    </p:nvPicPr>
                    <p:blipFill>
                      <a:blip r:embed="rId4"/>
                      <a:stretch>
                        <a:fillRect/>
                      </a:stretch>
                    </p:blipFill>
                    <p:spPr>
                      <a:xfrm>
                        <a:off x="1524000" y="4800600"/>
                        <a:ext cx="6248400" cy="1141413"/>
                      </a:xfrm>
                      <a:prstGeom prst="rect">
                        <a:avLst/>
                      </a:prstGeom>
                      <a:noFill/>
                      <a:ln w="38100">
                        <a:noFill/>
                        <a:miter/>
                      </a:ln>
                    </p:spPr>
                  </p:pic>
                </p:oleObj>
              </mc:Fallback>
            </mc:AlternateContent>
          </a:graphicData>
        </a:graphic>
      </p:graphicFrame>
      <p:sp>
        <p:nvSpPr>
          <p:cNvPr id="14342" name="Rectangle 8"/>
          <p:cNvSpPr/>
          <p:nvPr/>
        </p:nvSpPr>
        <p:spPr>
          <a:xfrm>
            <a:off x="8001000" y="5659438"/>
            <a:ext cx="10271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 </a:t>
            </a:r>
            <a:r>
              <a:rPr lang="en-US" altLang="zh-CN" sz="2400" dirty="0">
                <a:latin typeface="Courier New" panose="02070309020205020404" pitchFamily="49" charset="0"/>
              </a:rPr>
              <a:t>–</a:t>
            </a:r>
            <a:r>
              <a:rPr lang="en-US" altLang="zh-CN" sz="2400" dirty="0"/>
              <a:t> 5)</a:t>
            </a:r>
            <a:endParaRPr lang="en-US" altLang="zh-CN" sz="2400" dirty="0"/>
          </a:p>
        </p:txBody>
      </p:sp>
    </p:spTree>
  </p:cSld>
  <p:clrMapOvr>
    <a:masterClrMapping/>
  </p:clrMapOvr>
  <p:transition>
    <p:check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ext Box 4"/>
          <p:cNvSpPr txBox="1"/>
          <p:nvPr/>
        </p:nvSpPr>
        <p:spPr>
          <a:xfrm>
            <a:off x="228600" y="488950"/>
            <a:ext cx="8610600" cy="11874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just" eaLnBrk="1" hangingPunct="1">
              <a:lnSpc>
                <a:spcPct val="150000"/>
              </a:lnSpc>
              <a:spcBef>
                <a:spcPct val="50000"/>
              </a:spcBef>
              <a:buNone/>
            </a:pPr>
            <a:r>
              <a:rPr lang="en-US" altLang="zh-CN" sz="2400" dirty="0"/>
              <a:t>         </a:t>
            </a:r>
            <a:r>
              <a:rPr lang="zh-CN" altLang="en-US" sz="2400" dirty="0"/>
              <a:t>若</a:t>
            </a:r>
            <a:r>
              <a:rPr lang="en-US" altLang="zh-CN" sz="2400" dirty="0"/>
              <a:t>R</a:t>
            </a:r>
            <a:r>
              <a:rPr lang="en-US" altLang="zh-CN" sz="2400" baseline="-25000" dirty="0"/>
              <a:t>1</a:t>
            </a:r>
            <a:r>
              <a:rPr lang="en-US" altLang="zh-CN" sz="2400" dirty="0"/>
              <a:t>+R</a:t>
            </a:r>
            <a:r>
              <a:rPr lang="en-US" altLang="zh-CN" sz="2400" baseline="-25000" dirty="0"/>
              <a:t>S</a:t>
            </a:r>
            <a:r>
              <a:rPr lang="en-US" altLang="zh-CN" sz="2400" dirty="0"/>
              <a:t>&gt;&gt;R</a:t>
            </a:r>
            <a:r>
              <a:rPr lang="zh-CN" altLang="en-US" sz="2400" dirty="0"/>
              <a:t>，则</a:t>
            </a:r>
            <a:r>
              <a:rPr lang="en-US" altLang="zh-CN" sz="2400" dirty="0"/>
              <a:t>R</a:t>
            </a:r>
            <a:r>
              <a:rPr lang="en-US" altLang="zh-CN" sz="2400" baseline="-25000" dirty="0"/>
              <a:t>E</a:t>
            </a:r>
            <a:r>
              <a:rPr lang="en-US" altLang="zh-CN" sz="2400" dirty="0"/>
              <a:t>≈R</a:t>
            </a:r>
            <a:r>
              <a:rPr lang="zh-CN" altLang="en-US" sz="2400" dirty="0"/>
              <a:t>，</a:t>
            </a:r>
            <a:r>
              <a:rPr lang="en-US" altLang="zh-CN" sz="2400" dirty="0"/>
              <a:t>U</a:t>
            </a:r>
            <a:r>
              <a:rPr lang="en-US" altLang="zh-CN" sz="2400" baseline="-25000" dirty="0"/>
              <a:t>E</a:t>
            </a:r>
            <a:r>
              <a:rPr lang="en-US" altLang="zh-CN" sz="2400" dirty="0"/>
              <a:t>≈U</a:t>
            </a:r>
            <a:r>
              <a:rPr lang="en-US" altLang="zh-CN" sz="2400" baseline="-25000" dirty="0"/>
              <a:t>OH</a:t>
            </a:r>
            <a:r>
              <a:rPr lang="zh-CN" altLang="en-US" sz="2400" dirty="0"/>
              <a:t>，公式</a:t>
            </a:r>
            <a:r>
              <a:rPr lang="en-US" altLang="zh-CN" sz="2400" dirty="0"/>
              <a:t>7 - 2</a:t>
            </a:r>
            <a:r>
              <a:rPr lang="zh-CN" altLang="en-US" sz="2400" dirty="0"/>
              <a:t>和</a:t>
            </a:r>
            <a:r>
              <a:rPr lang="en-US" altLang="zh-CN" sz="2400" dirty="0"/>
              <a:t>7-5</a:t>
            </a:r>
            <a:r>
              <a:rPr lang="zh-CN" altLang="en-US" sz="2400" dirty="0"/>
              <a:t>就可化简为 </a:t>
            </a:r>
            <a:endParaRPr lang="zh-CN" altLang="en-US" sz="2400" dirty="0"/>
          </a:p>
        </p:txBody>
      </p:sp>
      <p:graphicFrame>
        <p:nvGraphicFramePr>
          <p:cNvPr id="15363" name="Object 5"/>
          <p:cNvGraphicFramePr>
            <a:graphicFrameLocks noChangeAspect="1"/>
          </p:cNvGraphicFramePr>
          <p:nvPr/>
        </p:nvGraphicFramePr>
        <p:xfrm>
          <a:off x="2359025" y="1524000"/>
          <a:ext cx="4575175" cy="1063625"/>
        </p:xfrm>
        <a:graphic>
          <a:graphicData uri="http://schemas.openxmlformats.org/presentationml/2006/ole">
            <mc:AlternateContent xmlns:mc="http://schemas.openxmlformats.org/markup-compatibility/2006">
              <mc:Choice xmlns:v="urn:schemas-microsoft-com:vml" Requires="v">
                <p:oleObj spid="_x0000_s3084" name="" r:id="rId1" imgW="1854200" imgH="431800" progId="Equation.3">
                  <p:embed/>
                </p:oleObj>
              </mc:Choice>
              <mc:Fallback>
                <p:oleObj name="" r:id="rId1" imgW="1854200" imgH="431800" progId="Equation.3">
                  <p:embed/>
                  <p:pic>
                    <p:nvPicPr>
                      <p:cNvPr id="0" name="图片 3083"/>
                      <p:cNvPicPr/>
                      <p:nvPr/>
                    </p:nvPicPr>
                    <p:blipFill>
                      <a:blip r:embed="rId2"/>
                      <a:stretch>
                        <a:fillRect/>
                      </a:stretch>
                    </p:blipFill>
                    <p:spPr>
                      <a:xfrm>
                        <a:off x="2359025" y="1524000"/>
                        <a:ext cx="4575175" cy="1063625"/>
                      </a:xfrm>
                      <a:prstGeom prst="rect">
                        <a:avLst/>
                      </a:prstGeom>
                      <a:noFill/>
                      <a:ln w="38100">
                        <a:noFill/>
                        <a:miter/>
                      </a:ln>
                    </p:spPr>
                  </p:pic>
                </p:oleObj>
              </mc:Fallback>
            </mc:AlternateContent>
          </a:graphicData>
        </a:graphic>
      </p:graphicFrame>
      <p:graphicFrame>
        <p:nvGraphicFramePr>
          <p:cNvPr id="15364" name="Object 6"/>
          <p:cNvGraphicFramePr>
            <a:graphicFrameLocks noChangeAspect="1"/>
          </p:cNvGraphicFramePr>
          <p:nvPr/>
        </p:nvGraphicFramePr>
        <p:xfrm>
          <a:off x="2360613" y="2897188"/>
          <a:ext cx="4575175" cy="1063625"/>
        </p:xfrm>
        <a:graphic>
          <a:graphicData uri="http://schemas.openxmlformats.org/presentationml/2006/ole">
            <mc:AlternateContent xmlns:mc="http://schemas.openxmlformats.org/markup-compatibility/2006">
              <mc:Choice xmlns:v="urn:schemas-microsoft-com:vml" Requires="v">
                <p:oleObj spid="_x0000_s3085" name="" r:id="rId3" imgW="1854200" imgH="431800" progId="Equation.3">
                  <p:embed/>
                </p:oleObj>
              </mc:Choice>
              <mc:Fallback>
                <p:oleObj name="" r:id="rId3" imgW="1854200" imgH="431800" progId="Equation.3">
                  <p:embed/>
                  <p:pic>
                    <p:nvPicPr>
                      <p:cNvPr id="0" name="图片 3084"/>
                      <p:cNvPicPr/>
                      <p:nvPr/>
                    </p:nvPicPr>
                    <p:blipFill>
                      <a:blip r:embed="rId4"/>
                      <a:stretch>
                        <a:fillRect/>
                      </a:stretch>
                    </p:blipFill>
                    <p:spPr>
                      <a:xfrm>
                        <a:off x="2360613" y="2897188"/>
                        <a:ext cx="4575175" cy="1063625"/>
                      </a:xfrm>
                      <a:prstGeom prst="rect">
                        <a:avLst/>
                      </a:prstGeom>
                      <a:noFill/>
                      <a:ln w="38100">
                        <a:noFill/>
                        <a:miter/>
                      </a:ln>
                    </p:spPr>
                  </p:pic>
                </p:oleObj>
              </mc:Fallback>
            </mc:AlternateContent>
          </a:graphicData>
        </a:graphic>
      </p:graphicFrame>
      <p:sp>
        <p:nvSpPr>
          <p:cNvPr id="15365" name="Text Box 7"/>
          <p:cNvSpPr txBox="1"/>
          <p:nvPr/>
        </p:nvSpPr>
        <p:spPr>
          <a:xfrm>
            <a:off x="228600" y="4191000"/>
            <a:ext cx="4984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则图</a:t>
            </a:r>
            <a:r>
              <a:rPr lang="en-US" altLang="zh-CN" sz="2400" b="1" dirty="0"/>
              <a:t>7 - 3</a:t>
            </a:r>
            <a:r>
              <a:rPr lang="zh-CN" altLang="en-US" sz="2400" b="1" dirty="0"/>
              <a:t>电路的振荡周期</a:t>
            </a:r>
            <a:r>
              <a:rPr lang="en-US" altLang="zh-CN" sz="2400" b="1" dirty="0"/>
              <a:t>T</a:t>
            </a:r>
            <a:r>
              <a:rPr lang="zh-CN" altLang="en-US" sz="2400" b="1" dirty="0"/>
              <a:t>可近似为 </a:t>
            </a:r>
            <a:endParaRPr lang="zh-CN" altLang="en-US" sz="2400" b="1" dirty="0"/>
          </a:p>
        </p:txBody>
      </p:sp>
      <p:graphicFrame>
        <p:nvGraphicFramePr>
          <p:cNvPr id="15366" name="Object 8"/>
          <p:cNvGraphicFramePr>
            <a:graphicFrameLocks noChangeAspect="1"/>
          </p:cNvGraphicFramePr>
          <p:nvPr/>
        </p:nvGraphicFramePr>
        <p:xfrm>
          <a:off x="228600" y="4876800"/>
          <a:ext cx="8839200" cy="1104900"/>
        </p:xfrm>
        <a:graphic>
          <a:graphicData uri="http://schemas.openxmlformats.org/presentationml/2006/ole">
            <mc:AlternateContent xmlns:mc="http://schemas.openxmlformats.org/markup-compatibility/2006">
              <mc:Choice xmlns:v="urn:schemas-microsoft-com:vml" Requires="v">
                <p:oleObj spid="_x0000_s3083" name="" r:id="rId5" imgW="3860800" imgH="482600" progId="Equation.3">
                  <p:embed/>
                </p:oleObj>
              </mc:Choice>
              <mc:Fallback>
                <p:oleObj name="" r:id="rId5" imgW="3860800" imgH="482600" progId="Equation.3">
                  <p:embed/>
                  <p:pic>
                    <p:nvPicPr>
                      <p:cNvPr id="0" name="图片 3082"/>
                      <p:cNvPicPr/>
                      <p:nvPr/>
                    </p:nvPicPr>
                    <p:blipFill>
                      <a:blip r:embed="rId6"/>
                      <a:stretch>
                        <a:fillRect/>
                      </a:stretch>
                    </p:blipFill>
                    <p:spPr>
                      <a:xfrm>
                        <a:off x="228600" y="4876800"/>
                        <a:ext cx="8839200" cy="1104900"/>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ext Box 4"/>
          <p:cNvSpPr txBox="1"/>
          <p:nvPr/>
        </p:nvSpPr>
        <p:spPr>
          <a:xfrm>
            <a:off x="304800" y="762000"/>
            <a:ext cx="3079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dirty="0"/>
              <a:t>7.1.2 </a:t>
            </a:r>
            <a:r>
              <a:rPr lang="zh-CN" altLang="en-US" sz="2400" b="1" dirty="0"/>
              <a:t>石英晶体振荡器 </a:t>
            </a:r>
            <a:endParaRPr lang="zh-CN" altLang="en-US" sz="2400" b="1" dirty="0"/>
          </a:p>
        </p:txBody>
      </p:sp>
      <p:sp>
        <p:nvSpPr>
          <p:cNvPr id="16387" name="Text Box 5"/>
          <p:cNvSpPr txBox="1"/>
          <p:nvPr/>
        </p:nvSpPr>
        <p:spPr>
          <a:xfrm>
            <a:off x="0" y="4781550"/>
            <a:ext cx="5148263" cy="3698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1800" dirty="0"/>
              <a:t>图 </a:t>
            </a:r>
            <a:r>
              <a:rPr lang="en-US" altLang="zh-CN" sz="1800" dirty="0"/>
              <a:t>7-6 </a:t>
            </a:r>
            <a:r>
              <a:rPr lang="zh-CN" altLang="en-US" sz="1800" dirty="0"/>
              <a:t>石英晶体的符号等效电路和阻抗频率特性 </a:t>
            </a:r>
            <a:endParaRPr lang="zh-CN" altLang="en-US" sz="1800" dirty="0"/>
          </a:p>
        </p:txBody>
      </p:sp>
      <p:pic>
        <p:nvPicPr>
          <p:cNvPr id="16388" name="图片 1"/>
          <p:cNvPicPr>
            <a:picLocks noChangeAspect="1"/>
          </p:cNvPicPr>
          <p:nvPr/>
        </p:nvPicPr>
        <p:blipFill>
          <a:blip r:embed="rId1"/>
          <a:srcRect t="2631" r="52039"/>
          <a:stretch>
            <a:fillRect/>
          </a:stretch>
        </p:blipFill>
        <p:spPr>
          <a:xfrm>
            <a:off x="87313" y="1706563"/>
            <a:ext cx="2486025" cy="2332037"/>
          </a:xfrm>
          <a:prstGeom prst="rect">
            <a:avLst/>
          </a:prstGeom>
          <a:noFill/>
          <a:ln w="9525">
            <a:noFill/>
          </a:ln>
        </p:spPr>
      </p:pic>
      <p:graphicFrame>
        <p:nvGraphicFramePr>
          <p:cNvPr id="16389" name="对象 2"/>
          <p:cNvGraphicFramePr>
            <a:graphicFrameLocks noChangeAspect="1"/>
          </p:cNvGraphicFramePr>
          <p:nvPr/>
        </p:nvGraphicFramePr>
        <p:xfrm>
          <a:off x="6516688" y="1820863"/>
          <a:ext cx="1927225" cy="793750"/>
        </p:xfrm>
        <a:graphic>
          <a:graphicData uri="http://schemas.openxmlformats.org/presentationml/2006/ole">
            <mc:AlternateContent xmlns:mc="http://schemas.openxmlformats.org/markup-compatibility/2006">
              <mc:Choice xmlns:v="urn:schemas-microsoft-com:vml" Requires="v">
                <p:oleObj spid="_x0000_s3079" name="" r:id="rId2" imgW="862965" imgH="419100" progId="Equation.DSMT4">
                  <p:embed/>
                </p:oleObj>
              </mc:Choice>
              <mc:Fallback>
                <p:oleObj name="" r:id="rId2" imgW="862965" imgH="419100" progId="Equation.DSMT4">
                  <p:embed/>
                  <p:pic>
                    <p:nvPicPr>
                      <p:cNvPr id="0" name="图片 3078"/>
                      <p:cNvPicPr/>
                      <p:nvPr/>
                    </p:nvPicPr>
                    <p:blipFill>
                      <a:blip r:embed="rId3"/>
                      <a:stretch>
                        <a:fillRect/>
                      </a:stretch>
                    </p:blipFill>
                    <p:spPr>
                      <a:xfrm>
                        <a:off x="6516688" y="1820863"/>
                        <a:ext cx="1927225" cy="793750"/>
                      </a:xfrm>
                      <a:prstGeom prst="rect">
                        <a:avLst/>
                      </a:prstGeom>
                      <a:noFill/>
                      <a:ln w="38100">
                        <a:noFill/>
                        <a:miter/>
                      </a:ln>
                    </p:spPr>
                  </p:pic>
                </p:oleObj>
              </mc:Fallback>
            </mc:AlternateContent>
          </a:graphicData>
        </a:graphic>
      </p:graphicFrame>
      <p:pic>
        <p:nvPicPr>
          <p:cNvPr id="16390" name="图片 3"/>
          <p:cNvPicPr>
            <a:picLocks noChangeAspect="1"/>
          </p:cNvPicPr>
          <p:nvPr/>
        </p:nvPicPr>
        <p:blipFill>
          <a:blip r:embed="rId4"/>
          <a:stretch>
            <a:fillRect/>
          </a:stretch>
        </p:blipFill>
        <p:spPr>
          <a:xfrm>
            <a:off x="6208713" y="3213100"/>
            <a:ext cx="2840037" cy="1008063"/>
          </a:xfrm>
          <a:prstGeom prst="rect">
            <a:avLst/>
          </a:prstGeom>
          <a:noFill/>
          <a:ln w="9525">
            <a:noFill/>
          </a:ln>
        </p:spPr>
      </p:pic>
      <p:sp>
        <p:nvSpPr>
          <p:cNvPr id="5" name="矩形 4"/>
          <p:cNvSpPr/>
          <p:nvPr/>
        </p:nvSpPr>
        <p:spPr>
          <a:xfrm>
            <a:off x="5900738" y="4689475"/>
            <a:ext cx="3148013" cy="461963"/>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1"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1" lang="en-US" altLang="zh-CN" sz="24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&lt;&lt;</a:t>
            </a:r>
            <a:r>
              <a:rPr kumimoji="1" lang="en-US" altLang="zh-CN" sz="2400" b="0" i="1"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1" lang="en-US" altLang="zh-CN" sz="2400" b="0" i="1" u="none" strike="noStrike" kern="1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o</a:t>
            </a:r>
            <a:r>
              <a:rPr kumimoji="1" lang="en-US" altLang="zh-CN" sz="24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2400" b="0" i="1"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f</a:t>
            </a:r>
            <a:r>
              <a:rPr kumimoji="1" lang="en-US" altLang="zh-CN" sz="2400" b="0" i="1" u="none" strike="noStrike" kern="1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s</a:t>
            </a:r>
            <a:r>
              <a:rPr kumimoji="1" lang="zh-CN" altLang="zh-CN" sz="24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1" lang="en-US" altLang="zh-CN" sz="2400" b="0" i="1" u="none" strike="noStrike" kern="1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f</a:t>
            </a:r>
            <a:r>
              <a:rPr kumimoji="1" lang="en-US" altLang="zh-CN" sz="2400" b="0" i="1" u="none" strike="noStrike" kern="1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p</a:t>
            </a:r>
            <a:r>
              <a:rPr kumimoji="1" lang="zh-CN" altLang="zh-CN" sz="24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非常接近</a:t>
            </a:r>
            <a:endPar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6392" name="图片 5"/>
          <p:cNvPicPr>
            <a:picLocks noChangeAspect="1"/>
          </p:cNvPicPr>
          <p:nvPr/>
        </p:nvPicPr>
        <p:blipFill>
          <a:blip r:embed="rId5"/>
          <a:stretch>
            <a:fillRect/>
          </a:stretch>
        </p:blipFill>
        <p:spPr>
          <a:xfrm>
            <a:off x="2522538" y="1341438"/>
            <a:ext cx="3649662" cy="2663825"/>
          </a:xfrm>
          <a:prstGeom prst="rect">
            <a:avLst/>
          </a:prstGeom>
          <a:noFill/>
          <a:ln w="9525">
            <a:noFill/>
          </a:ln>
        </p:spPr>
      </p:pic>
      <p:sp>
        <p:nvSpPr>
          <p:cNvPr id="16393" name="文本框 6"/>
          <p:cNvSpPr txBox="1"/>
          <p:nvPr/>
        </p:nvSpPr>
        <p:spPr>
          <a:xfrm>
            <a:off x="3276600" y="2349500"/>
            <a:ext cx="503238" cy="460375"/>
          </a:xfrm>
          <a:prstGeom prst="rect">
            <a:avLst/>
          </a:prstGeom>
          <a:noFill/>
          <a:ln w="9525">
            <a:noFill/>
          </a:ln>
        </p:spPr>
        <p:txBody>
          <a:bodyPr>
            <a:spAutoFit/>
          </a:bodyPr>
          <a:p>
            <a:r>
              <a:rPr lang="en-US" altLang="zh-CN" dirty="0">
                <a:latin typeface="Times New Roman" panose="02020603050405020304" pitchFamily="18" charset="0"/>
              </a:rPr>
              <a:t>fs</a:t>
            </a:r>
            <a:endParaRPr lang="zh-CN" altLang="en-US" dirty="0">
              <a:latin typeface="Times New Roman" panose="02020603050405020304" pitchFamily="18" charset="0"/>
            </a:endParaRPr>
          </a:p>
        </p:txBody>
      </p:sp>
      <p:sp>
        <p:nvSpPr>
          <p:cNvPr id="16394" name="文本框 7"/>
          <p:cNvSpPr txBox="1"/>
          <p:nvPr/>
        </p:nvSpPr>
        <p:spPr>
          <a:xfrm>
            <a:off x="4124325" y="2286000"/>
            <a:ext cx="447675" cy="461963"/>
          </a:xfrm>
          <a:prstGeom prst="rect">
            <a:avLst/>
          </a:prstGeom>
          <a:noFill/>
          <a:ln w="9525">
            <a:noFill/>
          </a:ln>
        </p:spPr>
        <p:txBody>
          <a:bodyPr>
            <a:spAutoFit/>
          </a:bodyPr>
          <a:p>
            <a:r>
              <a:rPr lang="en-US" altLang="zh-CN" dirty="0">
                <a:latin typeface="Times New Roman" panose="02020603050405020304" pitchFamily="18" charset="0"/>
              </a:rPr>
              <a:t>fp</a:t>
            </a:r>
            <a:endParaRPr lang="zh-CN" altLang="en-US" dirty="0">
              <a:latin typeface="Times New Roman" panose="02020603050405020304" pitchFamily="18" charset="0"/>
            </a:endParaRPr>
          </a:p>
        </p:txBody>
      </p:sp>
    </p:spTree>
  </p:cSld>
  <p:clrMapOvr>
    <a:masterClrMapping/>
  </p:clrMapOvr>
  <p:transition>
    <p:check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ext Box 4"/>
          <p:cNvSpPr txBox="1"/>
          <p:nvPr/>
        </p:nvSpPr>
        <p:spPr>
          <a:xfrm>
            <a:off x="2955925" y="5562600"/>
            <a:ext cx="3333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 </a:t>
            </a:r>
            <a:r>
              <a:rPr lang="en-US" altLang="zh-CN" sz="2400" b="1" dirty="0"/>
              <a:t>7- 7 </a:t>
            </a:r>
            <a:r>
              <a:rPr lang="zh-CN" altLang="en-US" sz="2400" b="1" dirty="0"/>
              <a:t>石英晶体振荡器 </a:t>
            </a:r>
            <a:endParaRPr lang="zh-CN" altLang="en-US" sz="2400" b="1" dirty="0"/>
          </a:p>
        </p:txBody>
      </p:sp>
      <p:graphicFrame>
        <p:nvGraphicFramePr>
          <p:cNvPr id="17411" name="Object 5"/>
          <p:cNvGraphicFramePr>
            <a:graphicFrameLocks noChangeAspect="1"/>
          </p:cNvGraphicFramePr>
          <p:nvPr/>
        </p:nvGraphicFramePr>
        <p:xfrm>
          <a:off x="1714500" y="990600"/>
          <a:ext cx="5715000" cy="4189413"/>
        </p:xfrm>
        <a:graphic>
          <a:graphicData uri="http://schemas.openxmlformats.org/presentationml/2006/ole">
            <mc:AlternateContent xmlns:mc="http://schemas.openxmlformats.org/markup-compatibility/2006">
              <mc:Choice xmlns:v="urn:schemas-microsoft-com:vml" Requires="v">
                <p:oleObj spid="_x0000_s3081" name="" r:id="rId1" imgW="1882140" imgH="1379220" progId="Visio.Drawing.4">
                  <p:embed/>
                </p:oleObj>
              </mc:Choice>
              <mc:Fallback>
                <p:oleObj name="" r:id="rId1" imgW="1882140" imgH="1379220" progId="Visio.Drawing.4">
                  <p:embed/>
                  <p:pic>
                    <p:nvPicPr>
                      <p:cNvPr id="0" name="图片 3080"/>
                      <p:cNvPicPr/>
                      <p:nvPr/>
                    </p:nvPicPr>
                    <p:blipFill>
                      <a:blip r:embed="rId2"/>
                      <a:stretch>
                        <a:fillRect/>
                      </a:stretch>
                    </p:blipFill>
                    <p:spPr>
                      <a:xfrm>
                        <a:off x="1714500" y="990600"/>
                        <a:ext cx="5715000" cy="4189413"/>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ext Box 1028"/>
          <p:cNvSpPr txBox="1"/>
          <p:nvPr/>
        </p:nvSpPr>
        <p:spPr>
          <a:xfrm>
            <a:off x="273050" y="533400"/>
            <a:ext cx="3384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dirty="0"/>
              <a:t>7.1.3 </a:t>
            </a:r>
            <a:r>
              <a:rPr lang="zh-CN" altLang="en-US" sz="2400" b="1" dirty="0"/>
              <a:t>多谐振荡器的应用 </a:t>
            </a:r>
            <a:endParaRPr lang="zh-CN" altLang="en-US" sz="2400" b="1" dirty="0"/>
          </a:p>
        </p:txBody>
      </p:sp>
      <p:sp>
        <p:nvSpPr>
          <p:cNvPr id="18435" name="Text Box 1029"/>
          <p:cNvSpPr txBox="1"/>
          <p:nvPr/>
        </p:nvSpPr>
        <p:spPr>
          <a:xfrm>
            <a:off x="228600" y="1025525"/>
            <a:ext cx="8686800" cy="2743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just" eaLnBrk="1" hangingPunct="1">
              <a:lnSpc>
                <a:spcPct val="135000"/>
              </a:lnSpc>
              <a:spcBef>
                <a:spcPct val="50000"/>
              </a:spcBef>
              <a:buNone/>
            </a:pPr>
            <a:r>
              <a:rPr lang="en-US" altLang="zh-CN" sz="2400" dirty="0"/>
              <a:t>        </a:t>
            </a:r>
            <a:r>
              <a:rPr lang="en-US" altLang="zh-CN" sz="2400" b="1" dirty="0"/>
              <a:t>【</a:t>
            </a:r>
            <a:r>
              <a:rPr lang="zh-CN" altLang="en-US" sz="2400" b="1" dirty="0"/>
              <a:t>例</a:t>
            </a:r>
            <a:r>
              <a:rPr lang="en-US" altLang="zh-CN" sz="2400" b="1" dirty="0"/>
              <a:t>7 - 1】 </a:t>
            </a:r>
            <a:r>
              <a:rPr lang="zh-CN" altLang="en-US" sz="2400" b="1" dirty="0"/>
              <a:t>在图</a:t>
            </a:r>
            <a:r>
              <a:rPr lang="en-US" altLang="zh-CN" sz="2400" b="1" dirty="0"/>
              <a:t>7 - 3</a:t>
            </a:r>
            <a:r>
              <a:rPr lang="zh-CN" altLang="en-US" sz="2400" b="1" dirty="0"/>
              <a:t>所示的电路中，已知</a:t>
            </a:r>
            <a:r>
              <a:rPr lang="en-US" altLang="zh-CN" sz="2400" b="1" dirty="0"/>
              <a:t>U</a:t>
            </a:r>
            <a:r>
              <a:rPr lang="en-US" altLang="zh-CN" sz="2400" b="1" baseline="-25000" dirty="0"/>
              <a:t>OH</a:t>
            </a:r>
            <a:r>
              <a:rPr lang="en-US" altLang="zh-CN" sz="2400" b="1" dirty="0"/>
              <a:t>=3.6 V</a:t>
            </a:r>
            <a:r>
              <a:rPr lang="zh-CN" altLang="en-US" sz="2400" b="1" dirty="0"/>
              <a:t>，</a:t>
            </a:r>
            <a:r>
              <a:rPr lang="en-US" altLang="zh-CN" sz="2400" b="1" dirty="0"/>
              <a:t>U</a:t>
            </a:r>
            <a:r>
              <a:rPr lang="en-US" altLang="zh-CN" sz="2400" b="1" baseline="-25000" dirty="0"/>
              <a:t>OL</a:t>
            </a:r>
            <a:r>
              <a:rPr lang="en-US" altLang="zh-CN" sz="2400" b="1" dirty="0"/>
              <a:t>=0.3 V</a:t>
            </a:r>
            <a:r>
              <a:rPr lang="zh-CN" altLang="en-US" sz="2400" b="1" dirty="0"/>
              <a:t>，</a:t>
            </a:r>
            <a:r>
              <a:rPr lang="en-US" altLang="zh-CN" sz="2400" b="1" dirty="0"/>
              <a:t>U</a:t>
            </a:r>
            <a:r>
              <a:rPr lang="en-US" altLang="zh-CN" sz="2400" b="1" baseline="-25000" dirty="0"/>
              <a:t>TH</a:t>
            </a:r>
            <a:r>
              <a:rPr lang="en-US" altLang="zh-CN" sz="2400" b="1" dirty="0"/>
              <a:t>=1.4 V</a:t>
            </a:r>
            <a:r>
              <a:rPr lang="zh-CN" altLang="en-US" sz="2400" b="1" dirty="0"/>
              <a:t>，并且满足</a:t>
            </a:r>
            <a:r>
              <a:rPr lang="en-US" altLang="zh-CN" sz="2400" b="1" dirty="0"/>
              <a:t>R</a:t>
            </a:r>
            <a:r>
              <a:rPr lang="en-US" altLang="zh-CN" sz="2400" b="1" baseline="-25000" dirty="0"/>
              <a:t>1</a:t>
            </a:r>
            <a:r>
              <a:rPr lang="en-US" altLang="zh-CN" sz="2400" b="1" dirty="0"/>
              <a:t>+R</a:t>
            </a:r>
            <a:r>
              <a:rPr lang="en-US" altLang="zh-CN" sz="2400" b="1" baseline="-25000" dirty="0"/>
              <a:t>S</a:t>
            </a:r>
            <a:r>
              <a:rPr lang="en-US" altLang="zh-CN" sz="2400" b="1" dirty="0"/>
              <a:t>&gt;&gt;R</a:t>
            </a:r>
            <a:r>
              <a:rPr lang="zh-CN" altLang="en-US" sz="2400" b="1" dirty="0"/>
              <a:t>，试写出该电路振荡周期的表达式。 若</a:t>
            </a:r>
            <a:r>
              <a:rPr lang="en-US" altLang="zh-CN" sz="2400" b="1" dirty="0"/>
              <a:t>R=180 Ω</a:t>
            </a:r>
            <a:r>
              <a:rPr lang="zh-CN" altLang="en-US" sz="2400" b="1" dirty="0"/>
              <a:t>，</a:t>
            </a:r>
            <a:r>
              <a:rPr lang="en-US" altLang="zh-CN" sz="2400" b="1" dirty="0"/>
              <a:t>C=3000 pF</a:t>
            </a:r>
            <a:r>
              <a:rPr lang="zh-CN" altLang="en-US" sz="2400" b="1" dirty="0"/>
              <a:t>，则该电路的振荡频率是多少？</a:t>
            </a:r>
            <a:endParaRPr lang="zh-CN" altLang="en-US" sz="2400" b="1" dirty="0"/>
          </a:p>
          <a:p>
            <a:pPr marL="0" lvl="0" indent="0" eaLnBrk="1" hangingPunct="1">
              <a:lnSpc>
                <a:spcPct val="135000"/>
              </a:lnSpc>
              <a:spcBef>
                <a:spcPct val="50000"/>
              </a:spcBef>
              <a:buNone/>
            </a:pPr>
            <a:r>
              <a:rPr lang="zh-CN" altLang="en-US" sz="2400" b="1" dirty="0"/>
              <a:t>        解  根据公式</a:t>
            </a:r>
            <a:r>
              <a:rPr lang="en-US" altLang="zh-CN" sz="2400" b="1" dirty="0"/>
              <a:t>7 - 8</a:t>
            </a:r>
            <a:r>
              <a:rPr lang="zh-CN" altLang="en-US" sz="2400" b="1" dirty="0"/>
              <a:t>，电路的振荡周期为： </a:t>
            </a:r>
            <a:endParaRPr lang="zh-CN" altLang="en-US" sz="2400" b="1" dirty="0"/>
          </a:p>
        </p:txBody>
      </p:sp>
      <p:graphicFrame>
        <p:nvGraphicFramePr>
          <p:cNvPr id="18436" name="Object 1030"/>
          <p:cNvGraphicFramePr>
            <a:graphicFrameLocks noChangeAspect="1"/>
          </p:cNvGraphicFramePr>
          <p:nvPr/>
        </p:nvGraphicFramePr>
        <p:xfrm>
          <a:off x="571500" y="3886200"/>
          <a:ext cx="8153400" cy="2387600"/>
        </p:xfrm>
        <a:graphic>
          <a:graphicData uri="http://schemas.openxmlformats.org/presentationml/2006/ole">
            <mc:AlternateContent xmlns:mc="http://schemas.openxmlformats.org/markup-compatibility/2006">
              <mc:Choice xmlns:v="urn:schemas-microsoft-com:vml" Requires="v">
                <p:oleObj spid="_x0000_s3082" name="" r:id="rId1" imgW="3860800" imgH="1130300" progId="Equation.3">
                  <p:embed/>
                </p:oleObj>
              </mc:Choice>
              <mc:Fallback>
                <p:oleObj name="" r:id="rId1" imgW="3860800" imgH="1130300" progId="Equation.3">
                  <p:embed/>
                  <p:pic>
                    <p:nvPicPr>
                      <p:cNvPr id="0" name="图片 3081"/>
                      <p:cNvPicPr/>
                      <p:nvPr/>
                    </p:nvPicPr>
                    <p:blipFill>
                      <a:blip r:embed="rId2"/>
                      <a:stretch>
                        <a:fillRect/>
                      </a:stretch>
                    </p:blipFill>
                    <p:spPr>
                      <a:xfrm>
                        <a:off x="571500" y="3886200"/>
                        <a:ext cx="8153400" cy="2387600"/>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ext Box 4"/>
          <p:cNvSpPr txBox="1"/>
          <p:nvPr/>
        </p:nvSpPr>
        <p:spPr>
          <a:xfrm>
            <a:off x="533400" y="990600"/>
            <a:ext cx="7575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将</a:t>
            </a:r>
            <a:r>
              <a:rPr lang="en-US" altLang="zh-CN" sz="2400" b="1" dirty="0"/>
              <a:t>R=180 Ω</a:t>
            </a:r>
            <a:r>
              <a:rPr lang="zh-CN" altLang="en-US" sz="2400" b="1" dirty="0"/>
              <a:t>、 </a:t>
            </a:r>
            <a:r>
              <a:rPr lang="en-US" altLang="zh-CN" sz="2400" b="1" dirty="0"/>
              <a:t>C=3000 pF</a:t>
            </a:r>
            <a:r>
              <a:rPr lang="zh-CN" altLang="en-US" sz="2400" b="1" dirty="0"/>
              <a:t>代入，可得电路的振荡频率为 </a:t>
            </a:r>
            <a:endParaRPr lang="zh-CN" altLang="en-US" sz="2400" b="1" dirty="0"/>
          </a:p>
        </p:txBody>
      </p:sp>
      <p:graphicFrame>
        <p:nvGraphicFramePr>
          <p:cNvPr id="19459" name="Object 5"/>
          <p:cNvGraphicFramePr>
            <a:graphicFrameLocks noChangeAspect="1"/>
          </p:cNvGraphicFramePr>
          <p:nvPr/>
        </p:nvGraphicFramePr>
        <p:xfrm>
          <a:off x="2514600" y="1981200"/>
          <a:ext cx="4267200" cy="1733550"/>
        </p:xfrm>
        <a:graphic>
          <a:graphicData uri="http://schemas.openxmlformats.org/presentationml/2006/ole">
            <mc:AlternateContent xmlns:mc="http://schemas.openxmlformats.org/markup-compatibility/2006">
              <mc:Choice xmlns:v="urn:schemas-microsoft-com:vml" Requires="v">
                <p:oleObj spid="_x0000_s3080" name="" r:id="rId1" imgW="2032000" imgH="825500" progId="Equation.3">
                  <p:embed/>
                </p:oleObj>
              </mc:Choice>
              <mc:Fallback>
                <p:oleObj name="" r:id="rId1" imgW="2032000" imgH="825500" progId="Equation.3">
                  <p:embed/>
                  <p:pic>
                    <p:nvPicPr>
                      <p:cNvPr id="0" name="图片 3079"/>
                      <p:cNvPicPr/>
                      <p:nvPr/>
                    </p:nvPicPr>
                    <p:blipFill>
                      <a:blip r:embed="rId2"/>
                      <a:stretch>
                        <a:fillRect/>
                      </a:stretch>
                    </p:blipFill>
                    <p:spPr>
                      <a:xfrm>
                        <a:off x="2514600" y="1981200"/>
                        <a:ext cx="4267200" cy="1733550"/>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ext Box 4"/>
          <p:cNvSpPr txBox="1"/>
          <p:nvPr/>
        </p:nvSpPr>
        <p:spPr>
          <a:xfrm>
            <a:off x="228600" y="533400"/>
            <a:ext cx="8686800" cy="13335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just" eaLnBrk="1" hangingPunct="1">
              <a:lnSpc>
                <a:spcPct val="170000"/>
              </a:lnSpc>
              <a:spcBef>
                <a:spcPct val="50000"/>
              </a:spcBef>
              <a:buNone/>
            </a:pPr>
            <a:r>
              <a:rPr lang="en-US" altLang="zh-CN" sz="2400" dirty="0"/>
              <a:t>       </a:t>
            </a:r>
            <a:r>
              <a:rPr lang="en-US" altLang="zh-CN" sz="2400" b="1" dirty="0"/>
              <a:t>【</a:t>
            </a:r>
            <a:r>
              <a:rPr lang="zh-CN" altLang="en-US" sz="2400" b="1" dirty="0"/>
              <a:t>例</a:t>
            </a:r>
            <a:r>
              <a:rPr lang="en-US" altLang="zh-CN" sz="2400" b="1" dirty="0"/>
              <a:t>7 - 2】</a:t>
            </a:r>
            <a:r>
              <a:rPr lang="zh-CN" altLang="en-US" sz="2400" b="1" dirty="0"/>
              <a:t>作为一个应用实例，图</a:t>
            </a:r>
            <a:r>
              <a:rPr lang="en-US" altLang="zh-CN" sz="2400" b="1" dirty="0"/>
              <a:t>7 - 8</a:t>
            </a:r>
            <a:r>
              <a:rPr lang="zh-CN" altLang="en-US" sz="2400" b="1" dirty="0"/>
              <a:t>（</a:t>
            </a:r>
            <a:r>
              <a:rPr lang="en-US" altLang="zh-CN" sz="2400" b="1" i="1" dirty="0"/>
              <a:t>a</a:t>
            </a:r>
            <a:r>
              <a:rPr lang="zh-CN" altLang="en-US" sz="2400" b="1" dirty="0"/>
              <a:t>）为一个两相时钟产生电路， 图</a:t>
            </a:r>
            <a:r>
              <a:rPr lang="en-US" altLang="zh-CN" sz="2400" b="1" dirty="0"/>
              <a:t>7- 8</a:t>
            </a:r>
            <a:r>
              <a:rPr lang="zh-CN" altLang="en-US" sz="2400" b="1" dirty="0"/>
              <a:t>（</a:t>
            </a:r>
            <a:r>
              <a:rPr lang="en-US" altLang="zh-CN" sz="2400" b="1" i="1" dirty="0"/>
              <a:t>b</a:t>
            </a:r>
            <a:r>
              <a:rPr lang="zh-CN" altLang="en-US" sz="2400" b="1" dirty="0"/>
              <a:t>）为输出时钟信号的波形。 </a:t>
            </a:r>
            <a:endParaRPr lang="zh-CN" altLang="en-US" sz="2400" b="1" dirty="0"/>
          </a:p>
        </p:txBody>
      </p:sp>
      <p:sp>
        <p:nvSpPr>
          <p:cNvPr id="20483" name="Text Box 5"/>
          <p:cNvSpPr txBox="1"/>
          <p:nvPr/>
        </p:nvSpPr>
        <p:spPr>
          <a:xfrm>
            <a:off x="2133600" y="6019800"/>
            <a:ext cx="50609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dirty="0"/>
              <a:t>图 </a:t>
            </a:r>
            <a:r>
              <a:rPr lang="en-US" altLang="zh-CN" sz="2400" dirty="0"/>
              <a:t>7-8 </a:t>
            </a:r>
            <a:r>
              <a:rPr lang="zh-CN" altLang="en-US" sz="2400" dirty="0"/>
              <a:t>两相时钟产生电路  </a:t>
            </a:r>
            <a:r>
              <a:rPr lang="en-US" altLang="zh-CN" sz="2400" dirty="0"/>
              <a:t>(</a:t>
            </a:r>
            <a:r>
              <a:rPr lang="en-US" altLang="zh-CN" sz="2400" i="1" dirty="0"/>
              <a:t>a</a:t>
            </a:r>
            <a:r>
              <a:rPr lang="en-US" altLang="zh-CN" sz="2400" dirty="0"/>
              <a:t>) </a:t>
            </a:r>
            <a:r>
              <a:rPr lang="zh-CN" altLang="en-US" sz="2400" dirty="0"/>
              <a:t>电路； </a:t>
            </a:r>
            <a:endParaRPr lang="zh-CN" altLang="en-US" sz="2400" dirty="0"/>
          </a:p>
        </p:txBody>
      </p:sp>
      <p:graphicFrame>
        <p:nvGraphicFramePr>
          <p:cNvPr id="20484" name="Object 6"/>
          <p:cNvGraphicFramePr>
            <a:graphicFrameLocks noChangeAspect="1"/>
          </p:cNvGraphicFramePr>
          <p:nvPr/>
        </p:nvGraphicFramePr>
        <p:xfrm>
          <a:off x="228600" y="1660525"/>
          <a:ext cx="8763000" cy="4518025"/>
        </p:xfrm>
        <a:graphic>
          <a:graphicData uri="http://schemas.openxmlformats.org/presentationml/2006/ole">
            <mc:AlternateContent xmlns:mc="http://schemas.openxmlformats.org/markup-compatibility/2006">
              <mc:Choice xmlns:v="urn:schemas-microsoft-com:vml" Requires="v">
                <p:oleObj spid="_x0000_s3091" name="" r:id="rId1" imgW="3238500" imgH="1668780" progId="Visio.Drawing.4">
                  <p:embed/>
                </p:oleObj>
              </mc:Choice>
              <mc:Fallback>
                <p:oleObj name="" r:id="rId1" imgW="3238500" imgH="1668780" progId="Visio.Drawing.4">
                  <p:embed/>
                  <p:pic>
                    <p:nvPicPr>
                      <p:cNvPr id="0" name="图片 3090"/>
                      <p:cNvPicPr/>
                      <p:nvPr/>
                    </p:nvPicPr>
                    <p:blipFill>
                      <a:blip r:embed="rId2"/>
                      <a:stretch>
                        <a:fillRect/>
                      </a:stretch>
                    </p:blipFill>
                    <p:spPr>
                      <a:xfrm>
                        <a:off x="228600" y="1660525"/>
                        <a:ext cx="8763000" cy="4518025"/>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ext Box 4"/>
          <p:cNvSpPr txBox="1"/>
          <p:nvPr/>
        </p:nvSpPr>
        <p:spPr>
          <a:xfrm>
            <a:off x="1863725" y="5943600"/>
            <a:ext cx="54419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dirty="0"/>
              <a:t>图 </a:t>
            </a:r>
            <a:r>
              <a:rPr lang="en-US" altLang="zh-CN" sz="2400" dirty="0"/>
              <a:t>7-8 </a:t>
            </a:r>
            <a:r>
              <a:rPr lang="zh-CN" altLang="en-US" sz="2400" dirty="0"/>
              <a:t>两相时钟产生电路   </a:t>
            </a:r>
            <a:r>
              <a:rPr lang="en-US" altLang="zh-CN" sz="2400" dirty="0"/>
              <a:t>(b) </a:t>
            </a:r>
            <a:r>
              <a:rPr lang="zh-CN" altLang="en-US" sz="2400" dirty="0"/>
              <a:t>工作波形 </a:t>
            </a:r>
            <a:endParaRPr lang="zh-CN" altLang="en-US" sz="2400" dirty="0"/>
          </a:p>
        </p:txBody>
      </p:sp>
      <p:sp>
        <p:nvSpPr>
          <p:cNvPr id="21507" name="AutoShape 5">
            <a:hlinkClick r:id="" action="ppaction://hlinkshowjump?jump=firstslide"/>
          </p:cNvPr>
          <p:cNvSpPr/>
          <p:nvPr/>
        </p:nvSpPr>
        <p:spPr>
          <a:xfrm>
            <a:off x="8458200" y="6477000"/>
            <a:ext cx="685800" cy="3810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graphicFrame>
        <p:nvGraphicFramePr>
          <p:cNvPr id="21508" name="Object 6"/>
          <p:cNvGraphicFramePr>
            <a:graphicFrameLocks noChangeAspect="1"/>
          </p:cNvGraphicFramePr>
          <p:nvPr/>
        </p:nvGraphicFramePr>
        <p:xfrm>
          <a:off x="762000" y="498475"/>
          <a:ext cx="7772400" cy="5597525"/>
        </p:xfrm>
        <a:graphic>
          <a:graphicData uri="http://schemas.openxmlformats.org/presentationml/2006/ole">
            <mc:AlternateContent xmlns:mc="http://schemas.openxmlformats.org/markup-compatibility/2006">
              <mc:Choice xmlns:v="urn:schemas-microsoft-com:vml" Requires="v">
                <p:oleObj spid="_x0000_s3090" name="" r:id="rId1" imgW="3291840" imgH="2369820" progId="Visio.Drawing.4">
                  <p:embed/>
                </p:oleObj>
              </mc:Choice>
              <mc:Fallback>
                <p:oleObj name="" r:id="rId1" imgW="3291840" imgH="2369820" progId="Visio.Drawing.4">
                  <p:embed/>
                  <p:pic>
                    <p:nvPicPr>
                      <p:cNvPr id="0" name="图片 3089"/>
                      <p:cNvPicPr/>
                      <p:nvPr/>
                    </p:nvPicPr>
                    <p:blipFill>
                      <a:blip r:embed="rId2"/>
                      <a:stretch>
                        <a:fillRect/>
                      </a:stretch>
                    </p:blipFill>
                    <p:spPr>
                      <a:xfrm>
                        <a:off x="762000" y="498475"/>
                        <a:ext cx="7772400" cy="5597525"/>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ext Box 4"/>
          <p:cNvSpPr txBox="1"/>
          <p:nvPr/>
        </p:nvSpPr>
        <p:spPr>
          <a:xfrm>
            <a:off x="2974975" y="838200"/>
            <a:ext cx="34353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t>7.2  </a:t>
            </a:r>
            <a:r>
              <a:rPr lang="zh-CN" altLang="en-US" b="1" dirty="0"/>
              <a:t>单稳态触发器 </a:t>
            </a:r>
            <a:endParaRPr lang="zh-CN" altLang="en-US" b="1" dirty="0"/>
          </a:p>
        </p:txBody>
      </p:sp>
      <p:sp>
        <p:nvSpPr>
          <p:cNvPr id="22531" name="Text Box 5"/>
          <p:cNvSpPr txBox="1"/>
          <p:nvPr/>
        </p:nvSpPr>
        <p:spPr>
          <a:xfrm>
            <a:off x="212725" y="1676400"/>
            <a:ext cx="4603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dirty="0"/>
              <a:t>7.2.1 </a:t>
            </a:r>
            <a:r>
              <a:rPr lang="zh-CN" altLang="en-US" sz="2400" b="1" dirty="0"/>
              <a:t>门电路构成的单稳态触发器 </a:t>
            </a:r>
            <a:endParaRPr lang="zh-CN" altLang="en-US" sz="2400" b="1" dirty="0"/>
          </a:p>
        </p:txBody>
      </p:sp>
      <p:sp>
        <p:nvSpPr>
          <p:cNvPr id="22532" name="Text Box 6"/>
          <p:cNvSpPr txBox="1"/>
          <p:nvPr/>
        </p:nvSpPr>
        <p:spPr>
          <a:xfrm>
            <a:off x="288925" y="2251075"/>
            <a:ext cx="3825875" cy="11144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40000"/>
              </a:lnSpc>
              <a:spcBef>
                <a:spcPct val="0"/>
              </a:spcBef>
              <a:buNone/>
            </a:pPr>
            <a:r>
              <a:rPr lang="en-US" altLang="zh-CN" sz="2400" b="1" dirty="0"/>
              <a:t>1</a:t>
            </a:r>
            <a:r>
              <a:rPr lang="zh-CN" altLang="en-US" sz="2400" b="1" dirty="0"/>
              <a:t>． 微分型单稳态触发器</a:t>
            </a:r>
            <a:endParaRPr lang="zh-CN" altLang="en-US" sz="2400" b="1" dirty="0"/>
          </a:p>
          <a:p>
            <a:pPr marL="0" lvl="0" indent="0" eaLnBrk="1" hangingPunct="1">
              <a:lnSpc>
                <a:spcPct val="140000"/>
              </a:lnSpc>
              <a:spcBef>
                <a:spcPct val="0"/>
              </a:spcBef>
              <a:buNone/>
            </a:pPr>
            <a:r>
              <a:rPr lang="en-US" altLang="zh-CN" sz="2400" b="1" dirty="0"/>
              <a:t>1</a:t>
            </a:r>
            <a:r>
              <a:rPr lang="zh-CN" altLang="en-US" sz="2400" b="1" dirty="0"/>
              <a:t>） 工作过程</a:t>
            </a:r>
            <a:endParaRPr lang="zh-CN" altLang="en-US" sz="2400" b="1" dirty="0"/>
          </a:p>
        </p:txBody>
      </p:sp>
      <p:sp>
        <p:nvSpPr>
          <p:cNvPr id="22533" name="Text Box 7"/>
          <p:cNvSpPr txBox="1"/>
          <p:nvPr/>
        </p:nvSpPr>
        <p:spPr>
          <a:xfrm>
            <a:off x="2720975" y="5791200"/>
            <a:ext cx="3867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 </a:t>
            </a:r>
            <a:r>
              <a:rPr lang="en-US" altLang="zh-CN" sz="2400" b="1" dirty="0"/>
              <a:t>7-9 </a:t>
            </a:r>
            <a:r>
              <a:rPr lang="zh-CN" altLang="en-US" sz="2400" b="1" dirty="0"/>
              <a:t>微分型单稳态触发器 </a:t>
            </a:r>
            <a:endParaRPr lang="zh-CN" altLang="en-US" sz="2400" b="1" dirty="0"/>
          </a:p>
        </p:txBody>
      </p:sp>
      <p:graphicFrame>
        <p:nvGraphicFramePr>
          <p:cNvPr id="22534" name="Object 8"/>
          <p:cNvGraphicFramePr>
            <a:graphicFrameLocks noChangeAspect="1"/>
          </p:cNvGraphicFramePr>
          <p:nvPr/>
        </p:nvGraphicFramePr>
        <p:xfrm>
          <a:off x="990600" y="3048000"/>
          <a:ext cx="6629400" cy="2640013"/>
        </p:xfrm>
        <a:graphic>
          <a:graphicData uri="http://schemas.openxmlformats.org/presentationml/2006/ole">
            <mc:AlternateContent xmlns:mc="http://schemas.openxmlformats.org/markup-compatibility/2006">
              <mc:Choice xmlns:v="urn:schemas-microsoft-com:vml" Requires="v">
                <p:oleObj spid="_x0000_s3088" name="" r:id="rId1" imgW="2377440" imgH="944880" progId="Visio.Drawing.4">
                  <p:embed/>
                </p:oleObj>
              </mc:Choice>
              <mc:Fallback>
                <p:oleObj name="" r:id="rId1" imgW="2377440" imgH="944880" progId="Visio.Drawing.4">
                  <p:embed/>
                  <p:pic>
                    <p:nvPicPr>
                      <p:cNvPr id="0" name="图片 3087"/>
                      <p:cNvPicPr/>
                      <p:nvPr/>
                    </p:nvPicPr>
                    <p:blipFill>
                      <a:blip r:embed="rId2"/>
                      <a:stretch>
                        <a:fillRect/>
                      </a:stretch>
                    </p:blipFill>
                    <p:spPr>
                      <a:xfrm>
                        <a:off x="990600" y="3048000"/>
                        <a:ext cx="6629400" cy="2640013"/>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ext Box 4"/>
          <p:cNvSpPr txBox="1"/>
          <p:nvPr/>
        </p:nvSpPr>
        <p:spPr>
          <a:xfrm>
            <a:off x="228600" y="650875"/>
            <a:ext cx="8686800" cy="2397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just" eaLnBrk="1" hangingPunct="1">
              <a:lnSpc>
                <a:spcPct val="158000"/>
              </a:lnSpc>
              <a:spcBef>
                <a:spcPct val="0"/>
              </a:spcBef>
              <a:buNone/>
            </a:pPr>
            <a:r>
              <a:rPr lang="en-US" altLang="zh-CN" sz="2400" dirty="0"/>
              <a:t>         </a:t>
            </a:r>
            <a:r>
              <a:rPr lang="zh-CN" altLang="en-US" sz="2400" b="1" dirty="0"/>
              <a:t>电源接通后，在没有外来触发脉冲时（</a:t>
            </a:r>
            <a:r>
              <a:rPr lang="en-US" altLang="zh-CN" sz="2400" b="1" dirty="0"/>
              <a:t>u</a:t>
            </a:r>
            <a:r>
              <a:rPr lang="en-US" altLang="zh-CN" sz="2400" b="1" baseline="-25000" dirty="0"/>
              <a:t>I</a:t>
            </a:r>
            <a:r>
              <a:rPr lang="zh-CN" altLang="en-US" sz="2400" b="1" dirty="0"/>
              <a:t>为高电平）电路处于稳定状态：</a:t>
            </a:r>
            <a:r>
              <a:rPr lang="en-US" altLang="zh-CN" sz="2400" b="1" dirty="0"/>
              <a:t>u</a:t>
            </a:r>
            <a:r>
              <a:rPr lang="en-US" altLang="zh-CN" sz="2400" b="1" baseline="-25000" dirty="0"/>
              <a:t>O1</a:t>
            </a:r>
            <a:r>
              <a:rPr lang="en-US" altLang="zh-CN" sz="2400" b="1" dirty="0"/>
              <a:t>= U</a:t>
            </a:r>
            <a:r>
              <a:rPr lang="en-US" altLang="zh-CN" sz="2400" b="1" baseline="-25000" dirty="0"/>
              <a:t>OL</a:t>
            </a:r>
            <a:r>
              <a:rPr lang="zh-CN" altLang="en-US" sz="2400" b="1" dirty="0"/>
              <a:t>，</a:t>
            </a:r>
            <a:r>
              <a:rPr lang="en-US" altLang="zh-CN" sz="2400" b="1" dirty="0"/>
              <a:t>u</a:t>
            </a:r>
            <a:r>
              <a:rPr lang="en-US" altLang="zh-CN" sz="2400" b="1" baseline="-25000" dirty="0"/>
              <a:t>O</a:t>
            </a:r>
            <a:r>
              <a:rPr lang="en-US" altLang="zh-CN" sz="2400" b="1" dirty="0"/>
              <a:t>=U</a:t>
            </a:r>
            <a:r>
              <a:rPr lang="en-US" altLang="zh-CN" sz="2400" b="1" baseline="-25000" dirty="0"/>
              <a:t>OH</a:t>
            </a:r>
            <a:r>
              <a:rPr lang="zh-CN" altLang="en-US" sz="2400" b="1" dirty="0"/>
              <a:t>。为此，必须保证</a:t>
            </a:r>
            <a:r>
              <a:rPr lang="en-US" altLang="zh-CN" sz="2400" b="1" dirty="0"/>
              <a:t>R</a:t>
            </a:r>
            <a:r>
              <a:rPr lang="en-US" altLang="zh-CN" sz="2400" b="1" baseline="-25000" dirty="0"/>
              <a:t>d</a:t>
            </a:r>
            <a:r>
              <a:rPr lang="en-US" altLang="zh-CN" sz="2400" b="1" dirty="0"/>
              <a:t>&gt;R</a:t>
            </a:r>
            <a:r>
              <a:rPr lang="en-US" altLang="zh-CN" sz="2400" b="1" baseline="-25000" dirty="0"/>
              <a:t>ON</a:t>
            </a:r>
            <a:r>
              <a:rPr lang="zh-CN" altLang="en-US" sz="2400" b="1" dirty="0"/>
              <a:t>（开门电阻），</a:t>
            </a:r>
            <a:r>
              <a:rPr lang="en-US" altLang="zh-CN" sz="2400" b="1" dirty="0"/>
              <a:t>R&lt;R</a:t>
            </a:r>
            <a:r>
              <a:rPr lang="en-US" altLang="zh-CN" sz="2400" b="1" baseline="-25000" dirty="0"/>
              <a:t>OFF</a:t>
            </a:r>
            <a:r>
              <a:rPr lang="en-US" altLang="zh-CN" sz="2400" b="1" dirty="0"/>
              <a:t>(</a:t>
            </a:r>
            <a:r>
              <a:rPr lang="zh-CN" altLang="en-US" sz="2400" b="1" dirty="0"/>
              <a:t>关门电阻</a:t>
            </a:r>
            <a:r>
              <a:rPr lang="en-US" altLang="zh-CN" sz="2400" b="1" dirty="0"/>
              <a:t>)</a:t>
            </a:r>
            <a:r>
              <a:rPr lang="zh-CN" altLang="en-US" sz="2400" b="1" dirty="0"/>
              <a:t>。根据图</a:t>
            </a:r>
            <a:r>
              <a:rPr lang="en-US" altLang="zh-CN" sz="2400" b="1" dirty="0"/>
              <a:t>7 - 10</a:t>
            </a:r>
            <a:r>
              <a:rPr lang="zh-CN" altLang="en-US" sz="2400" b="1" dirty="0"/>
              <a:t>所示的等效电路， 非门</a:t>
            </a:r>
            <a:r>
              <a:rPr lang="en-US" altLang="zh-CN" sz="2400" b="1" dirty="0"/>
              <a:t>G</a:t>
            </a:r>
            <a:r>
              <a:rPr lang="en-US" altLang="zh-CN" sz="2400" b="1" baseline="-25000" dirty="0"/>
              <a:t>2</a:t>
            </a:r>
            <a:r>
              <a:rPr lang="zh-CN" altLang="en-US" sz="2400" b="1" dirty="0"/>
              <a:t>的输入  </a:t>
            </a:r>
            <a:endParaRPr lang="zh-CN" altLang="en-US" sz="2400" b="1" dirty="0"/>
          </a:p>
        </p:txBody>
      </p:sp>
      <p:graphicFrame>
        <p:nvGraphicFramePr>
          <p:cNvPr id="23555" name="Object 5"/>
          <p:cNvGraphicFramePr>
            <a:graphicFrameLocks noChangeAspect="1"/>
          </p:cNvGraphicFramePr>
          <p:nvPr/>
        </p:nvGraphicFramePr>
        <p:xfrm>
          <a:off x="2662238" y="3429000"/>
          <a:ext cx="3971925" cy="1098550"/>
        </p:xfrm>
        <a:graphic>
          <a:graphicData uri="http://schemas.openxmlformats.org/presentationml/2006/ole">
            <mc:AlternateContent xmlns:mc="http://schemas.openxmlformats.org/markup-compatibility/2006">
              <mc:Choice xmlns:v="urn:schemas-microsoft-com:vml" Requires="v">
                <p:oleObj spid="_x0000_s3089" name="" r:id="rId1" imgW="1562100" imgH="431800" progId="Equation.3">
                  <p:embed/>
                </p:oleObj>
              </mc:Choice>
              <mc:Fallback>
                <p:oleObj name="" r:id="rId1" imgW="1562100" imgH="431800" progId="Equation.3">
                  <p:embed/>
                  <p:pic>
                    <p:nvPicPr>
                      <p:cNvPr id="0" name="图片 3088"/>
                      <p:cNvPicPr/>
                      <p:nvPr/>
                    </p:nvPicPr>
                    <p:blipFill>
                      <a:blip r:embed="rId2"/>
                      <a:stretch>
                        <a:fillRect/>
                      </a:stretch>
                    </p:blipFill>
                    <p:spPr>
                      <a:xfrm>
                        <a:off x="2662238" y="3429000"/>
                        <a:ext cx="3971925" cy="1098550"/>
                      </a:xfrm>
                      <a:prstGeom prst="rect">
                        <a:avLst/>
                      </a:prstGeom>
                      <a:noFill/>
                      <a:ln w="38100">
                        <a:noFill/>
                        <a:miter/>
                      </a:ln>
                    </p:spPr>
                  </p:pic>
                </p:oleObj>
              </mc:Fallback>
            </mc:AlternateContent>
          </a:graphicData>
        </a:graphic>
      </p:graphicFrame>
      <p:sp>
        <p:nvSpPr>
          <p:cNvPr id="23556" name="Text Box 6"/>
          <p:cNvSpPr txBox="1"/>
          <p:nvPr/>
        </p:nvSpPr>
        <p:spPr>
          <a:xfrm>
            <a:off x="0" y="5181600"/>
            <a:ext cx="814863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为了讨论方便，假定</a:t>
            </a:r>
            <a:r>
              <a:rPr lang="en-US" altLang="zh-CN" sz="2400" b="1" dirty="0"/>
              <a:t>u</a:t>
            </a:r>
            <a:r>
              <a:rPr lang="en-US" altLang="zh-CN" sz="2400" b="1" baseline="-25000" dirty="0"/>
              <a:t>I2</a:t>
            </a:r>
            <a:r>
              <a:rPr lang="en-US" altLang="zh-CN" sz="2400" b="1" dirty="0"/>
              <a:t> = U</a:t>
            </a:r>
            <a:r>
              <a:rPr lang="en-US" altLang="zh-CN" sz="2400" b="1" baseline="-25000" dirty="0"/>
              <a:t>OL</a:t>
            </a:r>
            <a:r>
              <a:rPr lang="zh-CN" altLang="en-US" sz="2400" b="1" dirty="0"/>
              <a:t>， 则此时电容</a:t>
            </a:r>
            <a:r>
              <a:rPr lang="en-US" altLang="zh-CN" sz="2400" b="1" dirty="0"/>
              <a:t>C</a:t>
            </a:r>
            <a:r>
              <a:rPr lang="zh-CN" altLang="en-US" sz="2400" b="1" dirty="0"/>
              <a:t>上没有电压。 </a:t>
            </a:r>
            <a:endParaRPr lang="zh-CN" altLang="en-US" sz="2400" b="1" dirty="0"/>
          </a:p>
        </p:txBody>
      </p:sp>
    </p:spTree>
  </p:cSld>
  <p:clrMapOvr>
    <a:masterClrMapping/>
  </p:clrMapOvr>
  <p:transition>
    <p:check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ext Box 4"/>
          <p:cNvSpPr txBox="1"/>
          <p:nvPr/>
        </p:nvSpPr>
        <p:spPr>
          <a:xfrm>
            <a:off x="2819400" y="5638800"/>
            <a:ext cx="37909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a:t>
            </a:r>
            <a:r>
              <a:rPr lang="en-US" altLang="zh-CN" sz="2400" b="1" dirty="0"/>
              <a:t>7 - 10 </a:t>
            </a:r>
            <a:r>
              <a:rPr lang="zh-CN" altLang="en-US" sz="2400" b="1" dirty="0"/>
              <a:t>稳态时的部分电路 </a:t>
            </a:r>
            <a:endParaRPr lang="zh-CN" altLang="en-US" sz="2400" b="1" dirty="0"/>
          </a:p>
        </p:txBody>
      </p:sp>
      <p:graphicFrame>
        <p:nvGraphicFramePr>
          <p:cNvPr id="24579" name="Object 5"/>
          <p:cNvGraphicFramePr>
            <a:graphicFrameLocks noChangeAspect="1"/>
          </p:cNvGraphicFramePr>
          <p:nvPr/>
        </p:nvGraphicFramePr>
        <p:xfrm>
          <a:off x="685800" y="685800"/>
          <a:ext cx="6096000" cy="4572000"/>
        </p:xfrm>
        <a:graphic>
          <a:graphicData uri="http://schemas.openxmlformats.org/presentationml/2006/ole">
            <mc:AlternateContent xmlns:mc="http://schemas.openxmlformats.org/markup-compatibility/2006">
              <mc:Choice xmlns:v="urn:schemas-microsoft-com:vml" Requires="v">
                <p:oleObj spid="_x0000_s3092" name="" r:id="rId1" imgW="1615440" imgH="1211580" progId="Visio.Drawing.4">
                  <p:embed/>
                </p:oleObj>
              </mc:Choice>
              <mc:Fallback>
                <p:oleObj name="" r:id="rId1" imgW="1615440" imgH="1211580" progId="Visio.Drawing.4">
                  <p:embed/>
                  <p:pic>
                    <p:nvPicPr>
                      <p:cNvPr id="0" name="图片 3091"/>
                      <p:cNvPicPr/>
                      <p:nvPr/>
                    </p:nvPicPr>
                    <p:blipFill>
                      <a:blip r:embed="rId2"/>
                      <a:stretch>
                        <a:fillRect/>
                      </a:stretch>
                    </p:blipFill>
                    <p:spPr>
                      <a:xfrm>
                        <a:off x="685800" y="685800"/>
                        <a:ext cx="6096000" cy="4572000"/>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ext Box 4"/>
          <p:cNvSpPr txBox="1"/>
          <p:nvPr/>
        </p:nvSpPr>
        <p:spPr>
          <a:xfrm>
            <a:off x="228600" y="533400"/>
            <a:ext cx="8839200" cy="44735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just" eaLnBrk="1" hangingPunct="1">
              <a:lnSpc>
                <a:spcPct val="150000"/>
              </a:lnSpc>
              <a:spcBef>
                <a:spcPct val="50000"/>
              </a:spcBef>
              <a:buNone/>
            </a:pPr>
            <a:r>
              <a:rPr lang="en-US" altLang="zh-CN" sz="2400" dirty="0"/>
              <a:t>        </a:t>
            </a:r>
            <a:r>
              <a:rPr lang="zh-CN" altLang="en-US" sz="2400" b="1" dirty="0"/>
              <a:t>当</a:t>
            </a:r>
            <a:r>
              <a:rPr lang="en-US" altLang="zh-CN" sz="2400" b="1" dirty="0"/>
              <a:t>u</a:t>
            </a:r>
            <a:r>
              <a:rPr lang="en-US" altLang="zh-CN" sz="2400" b="1" baseline="-25000" dirty="0"/>
              <a:t>I</a:t>
            </a:r>
            <a:r>
              <a:rPr lang="zh-CN" altLang="en-US" sz="2400" b="1" dirty="0"/>
              <a:t>端有负向脉冲输入时，由于电容上的电压不能突变，</a:t>
            </a:r>
            <a:r>
              <a:rPr lang="en-US" altLang="zh-CN" sz="2400" b="1" dirty="0"/>
              <a:t>u</a:t>
            </a:r>
            <a:r>
              <a:rPr lang="en-US" altLang="zh-CN" sz="2400" b="1" baseline="-25000" dirty="0"/>
              <a:t>d</a:t>
            </a:r>
            <a:r>
              <a:rPr lang="zh-CN" altLang="en-US" sz="2400" b="1" dirty="0"/>
              <a:t>将随</a:t>
            </a:r>
            <a:r>
              <a:rPr lang="en-US" altLang="zh-CN" sz="2400" b="1" dirty="0"/>
              <a:t>u</a:t>
            </a:r>
            <a:r>
              <a:rPr lang="en-US" altLang="zh-CN" sz="2400" b="1" baseline="-25000" dirty="0"/>
              <a:t>I</a:t>
            </a:r>
            <a:r>
              <a:rPr lang="zh-CN" altLang="en-US" sz="2400" b="1" dirty="0"/>
              <a:t>产生幅度为（</a:t>
            </a:r>
            <a:r>
              <a:rPr lang="en-US" altLang="zh-CN" sz="2400" b="1" dirty="0"/>
              <a:t>U</a:t>
            </a:r>
            <a:r>
              <a:rPr lang="en-US" altLang="zh-CN" sz="2400" b="1" baseline="-25000" dirty="0"/>
              <a:t>OH</a:t>
            </a:r>
            <a:r>
              <a:rPr lang="en-US" altLang="zh-CN" sz="2400" b="1" dirty="0"/>
              <a:t>-U</a:t>
            </a:r>
            <a:r>
              <a:rPr lang="en-US" altLang="zh-CN" sz="2400" b="1" baseline="-25000" dirty="0"/>
              <a:t>OL</a:t>
            </a:r>
            <a:r>
              <a:rPr lang="zh-CN" altLang="en-US" sz="2400" b="1" dirty="0"/>
              <a:t>）的负跳变，使</a:t>
            </a:r>
            <a:r>
              <a:rPr lang="en-US" altLang="zh-CN" sz="2400" b="1" dirty="0"/>
              <a:t>G</a:t>
            </a:r>
            <a:r>
              <a:rPr lang="en-US" altLang="zh-CN" sz="2400" b="1" baseline="-25000" dirty="0"/>
              <a:t>1</a:t>
            </a:r>
            <a:r>
              <a:rPr lang="zh-CN" altLang="en-US" sz="2400" b="1" dirty="0"/>
              <a:t>门的输出</a:t>
            </a:r>
            <a:r>
              <a:rPr lang="en-US" altLang="zh-CN" sz="2400" b="1" dirty="0"/>
              <a:t>u</a:t>
            </a:r>
            <a:r>
              <a:rPr lang="en-US" altLang="zh-CN" sz="2400" b="1" baseline="-25000" dirty="0"/>
              <a:t>O1</a:t>
            </a:r>
            <a:r>
              <a:rPr lang="zh-CN" altLang="en-US" sz="2400" b="1" dirty="0"/>
              <a:t>上跳到高电平</a:t>
            </a:r>
            <a:r>
              <a:rPr lang="en-US" altLang="zh-CN" sz="2400" b="1" dirty="0"/>
              <a:t>U</a:t>
            </a:r>
            <a:r>
              <a:rPr lang="en-US" altLang="zh-CN" sz="2400" b="1" baseline="-25000" dirty="0"/>
              <a:t>OH</a:t>
            </a:r>
            <a:r>
              <a:rPr lang="zh-CN" altLang="en-US" sz="2400" b="1" dirty="0"/>
              <a:t>， 如果不考虑</a:t>
            </a:r>
            <a:r>
              <a:rPr lang="en-US" altLang="zh-CN" sz="2400" b="1" dirty="0"/>
              <a:t>G</a:t>
            </a:r>
            <a:r>
              <a:rPr lang="en-US" altLang="zh-CN" sz="2400" b="1" baseline="-25000" dirty="0"/>
              <a:t>1</a:t>
            </a:r>
            <a:r>
              <a:rPr lang="zh-CN" altLang="en-US" sz="2400" b="1" dirty="0"/>
              <a:t>门的输出电阻，则</a:t>
            </a:r>
            <a:r>
              <a:rPr lang="en-US" altLang="zh-CN" sz="2400" b="1" dirty="0"/>
              <a:t>u</a:t>
            </a:r>
            <a:r>
              <a:rPr lang="en-US" altLang="zh-CN" sz="2400" b="1" baseline="-25000" dirty="0"/>
              <a:t>I2</a:t>
            </a:r>
            <a:r>
              <a:rPr lang="zh-CN" altLang="en-US" sz="2400" b="1" dirty="0"/>
              <a:t>也会产生与</a:t>
            </a:r>
            <a:r>
              <a:rPr lang="en-US" altLang="zh-CN" sz="2400" b="1" dirty="0"/>
              <a:t>u</a:t>
            </a:r>
            <a:r>
              <a:rPr lang="en-US" altLang="zh-CN" sz="2400" b="1" baseline="-25000" dirty="0"/>
              <a:t>O1</a:t>
            </a:r>
            <a:r>
              <a:rPr lang="zh-CN" altLang="en-US" sz="2400" b="1" dirty="0"/>
              <a:t>相等幅度的正跳变，从而使电路的输出</a:t>
            </a:r>
            <a:r>
              <a:rPr lang="en-US" altLang="zh-CN" sz="2400" b="1" dirty="0"/>
              <a:t>u</a:t>
            </a:r>
            <a:r>
              <a:rPr lang="en-US" altLang="zh-CN" sz="2400" b="1" baseline="-25000" dirty="0"/>
              <a:t>O</a:t>
            </a:r>
            <a:r>
              <a:rPr lang="zh-CN" altLang="en-US" sz="2400" b="1" dirty="0"/>
              <a:t>变为低电平，并反馈到</a:t>
            </a:r>
            <a:r>
              <a:rPr lang="en-US" altLang="zh-CN" sz="2400" b="1" dirty="0"/>
              <a:t>G</a:t>
            </a:r>
            <a:r>
              <a:rPr lang="en-US" altLang="zh-CN" sz="2400" b="1" baseline="-25000" dirty="0"/>
              <a:t>1</a:t>
            </a:r>
            <a:r>
              <a:rPr lang="zh-CN" altLang="en-US" sz="2400" b="1" dirty="0"/>
              <a:t>门的输入端以维持这个新的状态。但这个状态是不稳定的，因为</a:t>
            </a:r>
            <a:r>
              <a:rPr lang="en-US" altLang="zh-CN" sz="2400" b="1" dirty="0"/>
              <a:t>G</a:t>
            </a:r>
            <a:r>
              <a:rPr lang="en-US" altLang="zh-CN" sz="2400" b="1" baseline="-25000" dirty="0"/>
              <a:t>1</a:t>
            </a:r>
            <a:r>
              <a:rPr lang="zh-CN" altLang="en-US" sz="2400" b="1" dirty="0"/>
              <a:t>门的输出高电平将对电容</a:t>
            </a:r>
            <a:r>
              <a:rPr lang="en-US" altLang="zh-CN" sz="2400" b="1" dirty="0"/>
              <a:t>C</a:t>
            </a:r>
            <a:r>
              <a:rPr lang="zh-CN" altLang="en-US" sz="2400" b="1" dirty="0"/>
              <a:t>充电，如图</a:t>
            </a:r>
            <a:r>
              <a:rPr lang="en-US" altLang="zh-CN" sz="2400" b="1" dirty="0"/>
              <a:t>7 - 11</a:t>
            </a:r>
            <a:r>
              <a:rPr lang="zh-CN" altLang="en-US" sz="2400" b="1" dirty="0"/>
              <a:t>（</a:t>
            </a:r>
            <a:r>
              <a:rPr lang="en-US" altLang="zh-CN" sz="2400" b="1" dirty="0"/>
              <a:t>a</a:t>
            </a:r>
            <a:r>
              <a:rPr lang="zh-CN" altLang="en-US" sz="2400" b="1" dirty="0"/>
              <a:t>）所示。 随着充电过程的进行，</a:t>
            </a:r>
            <a:r>
              <a:rPr lang="en-US" altLang="zh-CN" sz="2400" b="1" dirty="0"/>
              <a:t>u</a:t>
            </a:r>
            <a:r>
              <a:rPr lang="en-US" altLang="zh-CN" sz="2400" b="1" baseline="-25000" dirty="0"/>
              <a:t>I2</a:t>
            </a:r>
            <a:r>
              <a:rPr lang="zh-CN" altLang="en-US" sz="2400" b="1" dirty="0"/>
              <a:t>逐渐降低，当</a:t>
            </a:r>
            <a:r>
              <a:rPr lang="en-US" altLang="zh-CN" sz="2400" b="1" dirty="0"/>
              <a:t>u</a:t>
            </a:r>
            <a:r>
              <a:rPr lang="en-US" altLang="zh-CN" sz="2400" b="1" baseline="-25000" dirty="0"/>
              <a:t>I2</a:t>
            </a:r>
            <a:r>
              <a:rPr lang="zh-CN" altLang="en-US" sz="2400" b="1" dirty="0"/>
              <a:t>降低到阈值电平</a:t>
            </a:r>
            <a:r>
              <a:rPr lang="en-US" altLang="zh-CN" sz="2400" b="1" dirty="0"/>
              <a:t>U</a:t>
            </a:r>
            <a:r>
              <a:rPr lang="en-US" altLang="zh-CN" sz="2400" b="1" baseline="-25000" dirty="0"/>
              <a:t>TH</a:t>
            </a:r>
            <a:r>
              <a:rPr lang="zh-CN" altLang="en-US" sz="2400" b="1" dirty="0"/>
              <a:t>后，将引发如下正反馈过程： </a:t>
            </a:r>
            <a:endParaRPr lang="zh-CN" altLang="en-US" sz="2400" b="1" dirty="0"/>
          </a:p>
        </p:txBody>
      </p:sp>
      <p:grpSp>
        <p:nvGrpSpPr>
          <p:cNvPr id="25603" name="Group 10"/>
          <p:cNvGrpSpPr/>
          <p:nvPr/>
        </p:nvGrpSpPr>
        <p:grpSpPr>
          <a:xfrm>
            <a:off x="3192463" y="4953000"/>
            <a:ext cx="2909887" cy="914400"/>
            <a:chOff x="2011" y="3120"/>
            <a:chExt cx="1833" cy="576"/>
          </a:xfrm>
        </p:grpSpPr>
        <p:sp>
          <p:nvSpPr>
            <p:cNvPr id="25604" name="Text Box 5"/>
            <p:cNvSpPr txBox="1"/>
            <p:nvPr/>
          </p:nvSpPr>
          <p:spPr>
            <a:xfrm>
              <a:off x="2011" y="3120"/>
              <a:ext cx="1833"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dirty="0"/>
                <a:t>u</a:t>
              </a:r>
              <a:r>
                <a:rPr lang="en-US" altLang="zh-CN" sz="2400" b="1" baseline="-25000" dirty="0"/>
                <a:t>I2</a:t>
              </a:r>
              <a:r>
                <a:rPr lang="en-US" altLang="zh-CN" sz="2400" b="1" dirty="0"/>
                <a:t>↓→u</a:t>
              </a:r>
              <a:r>
                <a:rPr lang="en-US" altLang="zh-CN" sz="2400" b="1" baseline="-25000" dirty="0"/>
                <a:t>O</a:t>
              </a:r>
              <a:r>
                <a:rPr lang="en-US" altLang="zh-CN" sz="2400" b="1" dirty="0"/>
                <a:t>↑→u</a:t>
              </a:r>
              <a:r>
                <a:rPr lang="en-US" altLang="zh-CN" sz="2400" b="1" baseline="-25000" dirty="0"/>
                <a:t>O1</a:t>
              </a:r>
              <a:r>
                <a:rPr lang="en-US" altLang="zh-CN" sz="2400" b="1" dirty="0"/>
                <a:t>↓ </a:t>
              </a:r>
              <a:endParaRPr lang="en-US" altLang="zh-CN" sz="2400" b="1" dirty="0"/>
            </a:p>
          </p:txBody>
        </p:sp>
        <p:sp>
          <p:nvSpPr>
            <p:cNvPr id="25605" name="Line 7"/>
            <p:cNvSpPr/>
            <p:nvPr/>
          </p:nvSpPr>
          <p:spPr>
            <a:xfrm flipV="1">
              <a:off x="2256" y="3456"/>
              <a:ext cx="0" cy="240"/>
            </a:xfrm>
            <a:prstGeom prst="line">
              <a:avLst/>
            </a:prstGeom>
            <a:ln w="9525" cap="flat" cmpd="sng">
              <a:solidFill>
                <a:schemeClr val="tx1"/>
              </a:solidFill>
              <a:prstDash val="solid"/>
              <a:headEnd type="none" w="med" len="med"/>
              <a:tailEnd type="triangle" w="med" len="med"/>
            </a:ln>
          </p:spPr>
        </p:sp>
        <p:sp>
          <p:nvSpPr>
            <p:cNvPr id="25606" name="Line 8"/>
            <p:cNvSpPr/>
            <p:nvPr/>
          </p:nvSpPr>
          <p:spPr>
            <a:xfrm>
              <a:off x="2256" y="3696"/>
              <a:ext cx="1200" cy="0"/>
            </a:xfrm>
            <a:prstGeom prst="line">
              <a:avLst/>
            </a:prstGeom>
            <a:ln w="9525" cap="flat" cmpd="sng">
              <a:solidFill>
                <a:schemeClr val="tx1"/>
              </a:solidFill>
              <a:prstDash val="solid"/>
              <a:headEnd type="none" w="med" len="med"/>
              <a:tailEnd type="none" w="med" len="med"/>
            </a:ln>
          </p:spPr>
        </p:sp>
        <p:sp>
          <p:nvSpPr>
            <p:cNvPr id="25607" name="Line 9"/>
            <p:cNvSpPr/>
            <p:nvPr/>
          </p:nvSpPr>
          <p:spPr>
            <a:xfrm flipV="1">
              <a:off x="3456" y="3456"/>
              <a:ext cx="0" cy="240"/>
            </a:xfrm>
            <a:prstGeom prst="line">
              <a:avLst/>
            </a:prstGeom>
            <a:ln w="9525" cap="flat" cmpd="sng">
              <a:solidFill>
                <a:schemeClr val="tx1"/>
              </a:solidFill>
              <a:prstDash val="solid"/>
              <a:headEnd type="none" w="med" len="med"/>
              <a:tailEnd type="none" w="med" len="med"/>
            </a:ln>
          </p:spPr>
        </p:sp>
      </p:grpSp>
    </p:spTree>
  </p:cSld>
  <p:clrMapOvr>
    <a:masterClrMapping/>
  </p:clrMapOvr>
  <p:transition>
    <p:check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ext Box 4"/>
          <p:cNvSpPr txBox="1"/>
          <p:nvPr/>
        </p:nvSpPr>
        <p:spPr>
          <a:xfrm>
            <a:off x="1954213" y="6084888"/>
            <a:ext cx="5235575"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000" b="1" dirty="0"/>
              <a:t>图 </a:t>
            </a:r>
            <a:r>
              <a:rPr lang="en-US" altLang="zh-CN" sz="2000" b="1" dirty="0"/>
              <a:t>7-11 </a:t>
            </a:r>
            <a:r>
              <a:rPr lang="zh-CN" altLang="en-US" sz="2000" b="1" dirty="0"/>
              <a:t>图</a:t>
            </a:r>
            <a:r>
              <a:rPr lang="en-US" altLang="zh-CN" sz="2000" b="1" dirty="0"/>
              <a:t>7 - 9</a:t>
            </a:r>
            <a:r>
              <a:rPr lang="zh-CN" altLang="en-US" sz="2000" b="1" dirty="0"/>
              <a:t>电路中电容</a:t>
            </a:r>
            <a:r>
              <a:rPr lang="en-US" altLang="zh-CN" sz="2000" b="1" dirty="0"/>
              <a:t>C</a:t>
            </a:r>
            <a:r>
              <a:rPr lang="zh-CN" altLang="en-US" sz="2000" b="1" dirty="0"/>
              <a:t>的充放电等效电路</a:t>
            </a:r>
            <a:endParaRPr lang="zh-CN" altLang="en-US" sz="2000" b="1" dirty="0"/>
          </a:p>
          <a:p>
            <a:pPr marL="0" lvl="0" indent="0" algn="ctr" eaLnBrk="1" hangingPunct="1">
              <a:spcBef>
                <a:spcPct val="0"/>
              </a:spcBef>
              <a:buNone/>
            </a:pPr>
            <a:r>
              <a:rPr lang="en-US" altLang="zh-CN" sz="2000" b="1" dirty="0"/>
              <a:t>(</a:t>
            </a:r>
            <a:r>
              <a:rPr lang="en-US" altLang="zh-CN" sz="2000" b="1" i="1" dirty="0"/>
              <a:t>a</a:t>
            </a:r>
            <a:r>
              <a:rPr lang="en-US" altLang="zh-CN" sz="2000" b="1" dirty="0"/>
              <a:t>) </a:t>
            </a:r>
            <a:r>
              <a:rPr lang="zh-CN" altLang="en-US" sz="2000" b="1" dirty="0"/>
              <a:t>充电等效电路； </a:t>
            </a:r>
            <a:r>
              <a:rPr lang="en-US" altLang="zh-CN" sz="2000" b="1" dirty="0"/>
              <a:t>(</a:t>
            </a:r>
            <a:r>
              <a:rPr lang="en-US" altLang="zh-CN" sz="2000" b="1" i="1" dirty="0"/>
              <a:t>b</a:t>
            </a:r>
            <a:r>
              <a:rPr lang="en-US" altLang="zh-CN" sz="2000" b="1" dirty="0"/>
              <a:t>) </a:t>
            </a:r>
            <a:r>
              <a:rPr lang="zh-CN" altLang="en-US" sz="2000" b="1" dirty="0"/>
              <a:t>放电等效电路  </a:t>
            </a:r>
            <a:endParaRPr lang="zh-CN" altLang="en-US" sz="2000" b="1" dirty="0"/>
          </a:p>
        </p:txBody>
      </p:sp>
      <p:graphicFrame>
        <p:nvGraphicFramePr>
          <p:cNvPr id="26627" name="Object 6"/>
          <p:cNvGraphicFramePr>
            <a:graphicFrameLocks noChangeAspect="1"/>
          </p:cNvGraphicFramePr>
          <p:nvPr/>
        </p:nvGraphicFramePr>
        <p:xfrm>
          <a:off x="2611438" y="152400"/>
          <a:ext cx="3781425" cy="6096000"/>
        </p:xfrm>
        <a:graphic>
          <a:graphicData uri="http://schemas.openxmlformats.org/presentationml/2006/ole">
            <mc:AlternateContent xmlns:mc="http://schemas.openxmlformats.org/markup-compatibility/2006">
              <mc:Choice xmlns:v="urn:schemas-microsoft-com:vml" Requires="v">
                <p:oleObj spid="_x0000_s3102" name="" r:id="rId1" imgW="1958340" imgH="3162300" progId="Visio.Drawing.4">
                  <p:embed/>
                </p:oleObj>
              </mc:Choice>
              <mc:Fallback>
                <p:oleObj name="" r:id="rId1" imgW="1958340" imgH="3162300" progId="Visio.Drawing.4">
                  <p:embed/>
                  <p:pic>
                    <p:nvPicPr>
                      <p:cNvPr id="0" name="图片 3101"/>
                      <p:cNvPicPr/>
                      <p:nvPr/>
                    </p:nvPicPr>
                    <p:blipFill>
                      <a:blip r:embed="rId2"/>
                      <a:stretch>
                        <a:fillRect/>
                      </a:stretch>
                    </p:blipFill>
                    <p:spPr>
                      <a:xfrm>
                        <a:off x="2611438" y="152400"/>
                        <a:ext cx="3781425" cy="6096000"/>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 Box 4"/>
          <p:cNvSpPr txBox="1"/>
          <p:nvPr/>
        </p:nvSpPr>
        <p:spPr>
          <a:xfrm>
            <a:off x="4140200" y="6400800"/>
            <a:ext cx="4349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 </a:t>
            </a:r>
            <a:r>
              <a:rPr lang="en-US" altLang="zh-CN" sz="2400" b="1" dirty="0"/>
              <a:t>7-12  </a:t>
            </a:r>
            <a:r>
              <a:rPr lang="zh-CN" altLang="en-US" sz="2400" b="1" dirty="0"/>
              <a:t>图</a:t>
            </a:r>
            <a:r>
              <a:rPr lang="en-US" altLang="zh-CN" sz="2400" b="1" dirty="0"/>
              <a:t>7 - 9</a:t>
            </a:r>
            <a:r>
              <a:rPr lang="zh-CN" altLang="en-US" sz="2400" b="1" dirty="0"/>
              <a:t>电路的工作波形</a:t>
            </a:r>
            <a:r>
              <a:rPr lang="zh-CN" altLang="en-US" sz="2400" dirty="0"/>
              <a:t> </a:t>
            </a:r>
            <a:endParaRPr lang="zh-CN" altLang="en-US" sz="2400" dirty="0"/>
          </a:p>
        </p:txBody>
      </p:sp>
      <p:graphicFrame>
        <p:nvGraphicFramePr>
          <p:cNvPr id="27651" name="Object 5"/>
          <p:cNvGraphicFramePr>
            <a:graphicFrameLocks noChangeAspect="1"/>
          </p:cNvGraphicFramePr>
          <p:nvPr/>
        </p:nvGraphicFramePr>
        <p:xfrm>
          <a:off x="3287713" y="342900"/>
          <a:ext cx="6053137" cy="6172200"/>
        </p:xfrm>
        <a:graphic>
          <a:graphicData uri="http://schemas.openxmlformats.org/presentationml/2006/ole">
            <mc:AlternateContent xmlns:mc="http://schemas.openxmlformats.org/markup-compatibility/2006">
              <mc:Choice xmlns:v="urn:schemas-microsoft-com:vml" Requires="v">
                <p:oleObj spid="_x0000_s3098" name="" r:id="rId1" imgW="3147060" imgH="3208020" progId="Visio.Drawing.4">
                  <p:embed/>
                </p:oleObj>
              </mc:Choice>
              <mc:Fallback>
                <p:oleObj name="" r:id="rId1" imgW="3147060" imgH="3208020" progId="Visio.Drawing.4">
                  <p:embed/>
                  <p:pic>
                    <p:nvPicPr>
                      <p:cNvPr id="0" name="图片 3097"/>
                      <p:cNvPicPr/>
                      <p:nvPr/>
                    </p:nvPicPr>
                    <p:blipFill>
                      <a:blip r:embed="rId2"/>
                      <a:stretch>
                        <a:fillRect/>
                      </a:stretch>
                    </p:blipFill>
                    <p:spPr>
                      <a:xfrm>
                        <a:off x="3287713" y="342900"/>
                        <a:ext cx="6053137" cy="6172200"/>
                      </a:xfrm>
                      <a:prstGeom prst="rect">
                        <a:avLst/>
                      </a:prstGeom>
                      <a:noFill/>
                      <a:ln w="38100">
                        <a:noFill/>
                        <a:miter/>
                      </a:ln>
                    </p:spPr>
                  </p:pic>
                </p:oleObj>
              </mc:Fallback>
            </mc:AlternateContent>
          </a:graphicData>
        </a:graphic>
      </p:graphicFrame>
      <p:graphicFrame>
        <p:nvGraphicFramePr>
          <p:cNvPr id="27652" name="Object 8"/>
          <p:cNvGraphicFramePr>
            <a:graphicFrameLocks noChangeAspect="1"/>
          </p:cNvGraphicFramePr>
          <p:nvPr/>
        </p:nvGraphicFramePr>
        <p:xfrm>
          <a:off x="-63500" y="1052513"/>
          <a:ext cx="3351213" cy="1335087"/>
        </p:xfrm>
        <a:graphic>
          <a:graphicData uri="http://schemas.openxmlformats.org/presentationml/2006/ole">
            <mc:AlternateContent xmlns:mc="http://schemas.openxmlformats.org/markup-compatibility/2006">
              <mc:Choice xmlns:v="urn:schemas-microsoft-com:vml" Requires="v">
                <p:oleObj spid="_x0000_s3101" name="" r:id="rId3" imgW="2377440" imgH="944880" progId="Visio.Drawing.4">
                  <p:embed/>
                </p:oleObj>
              </mc:Choice>
              <mc:Fallback>
                <p:oleObj name="" r:id="rId3" imgW="2377440" imgH="944880" progId="Visio.Drawing.4">
                  <p:embed/>
                  <p:pic>
                    <p:nvPicPr>
                      <p:cNvPr id="0" name="图片 3100"/>
                      <p:cNvPicPr/>
                      <p:nvPr/>
                    </p:nvPicPr>
                    <p:blipFill>
                      <a:blip r:embed="rId4"/>
                      <a:stretch>
                        <a:fillRect/>
                      </a:stretch>
                    </p:blipFill>
                    <p:spPr>
                      <a:xfrm>
                        <a:off x="-63500" y="1052513"/>
                        <a:ext cx="3351213" cy="1335087"/>
                      </a:xfrm>
                      <a:prstGeom prst="rect">
                        <a:avLst/>
                      </a:prstGeom>
                      <a:noFill/>
                      <a:ln w="38100">
                        <a:noFill/>
                        <a:miter/>
                      </a:ln>
                    </p:spPr>
                  </p:pic>
                </p:oleObj>
              </mc:Fallback>
            </mc:AlternateContent>
          </a:graphicData>
        </a:graphic>
      </p:graphicFrame>
      <p:graphicFrame>
        <p:nvGraphicFramePr>
          <p:cNvPr id="27653" name="Object 6"/>
          <p:cNvGraphicFramePr>
            <a:graphicFrameLocks noChangeAspect="1"/>
          </p:cNvGraphicFramePr>
          <p:nvPr/>
        </p:nvGraphicFramePr>
        <p:xfrm>
          <a:off x="320675" y="2419350"/>
          <a:ext cx="2541588" cy="4095750"/>
        </p:xfrm>
        <a:graphic>
          <a:graphicData uri="http://schemas.openxmlformats.org/presentationml/2006/ole">
            <mc:AlternateContent xmlns:mc="http://schemas.openxmlformats.org/markup-compatibility/2006">
              <mc:Choice xmlns:v="urn:schemas-microsoft-com:vml" Requires="v">
                <p:oleObj spid="_x0000_s3099" name="" r:id="rId5" imgW="1958340" imgH="3162300" progId="Visio.Drawing.4">
                  <p:embed/>
                </p:oleObj>
              </mc:Choice>
              <mc:Fallback>
                <p:oleObj name="" r:id="rId5" imgW="1958340" imgH="3162300" progId="Visio.Drawing.4">
                  <p:embed/>
                  <p:pic>
                    <p:nvPicPr>
                      <p:cNvPr id="0" name="图片 3098"/>
                      <p:cNvPicPr/>
                      <p:nvPr/>
                    </p:nvPicPr>
                    <p:blipFill>
                      <a:blip r:embed="rId6"/>
                      <a:stretch>
                        <a:fillRect/>
                      </a:stretch>
                    </p:blipFill>
                    <p:spPr>
                      <a:xfrm>
                        <a:off x="320675" y="2419350"/>
                        <a:ext cx="2541588" cy="4095750"/>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ext Box 1028"/>
          <p:cNvSpPr txBox="1"/>
          <p:nvPr/>
        </p:nvSpPr>
        <p:spPr>
          <a:xfrm>
            <a:off x="152400" y="533400"/>
            <a:ext cx="8915400" cy="4838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0000"/>
              </a:lnSpc>
              <a:spcBef>
                <a:spcPct val="50000"/>
              </a:spcBef>
              <a:buNone/>
            </a:pPr>
            <a:r>
              <a:rPr lang="en-US" altLang="zh-CN" sz="2400" dirty="0"/>
              <a:t>       </a:t>
            </a:r>
            <a:r>
              <a:rPr lang="en-US" altLang="zh-CN" sz="2400" b="1" dirty="0"/>
              <a:t>2</a:t>
            </a:r>
            <a:r>
              <a:rPr lang="zh-CN" altLang="en-US" sz="2400" b="1" dirty="0"/>
              <a:t>）主要参数的计算                                                                                                                         通常用以下几个参数来定量地描述单稳态触发器的性能： </a:t>
            </a:r>
            <a:endParaRPr lang="zh-CN" altLang="en-US" sz="2400" b="1" dirty="0"/>
          </a:p>
          <a:p>
            <a:pPr marL="0" lvl="0" indent="0" eaLnBrk="1" hangingPunct="1">
              <a:lnSpc>
                <a:spcPct val="150000"/>
              </a:lnSpc>
              <a:spcBef>
                <a:spcPct val="50000"/>
              </a:spcBef>
              <a:buNone/>
            </a:pPr>
            <a:r>
              <a:rPr lang="zh-CN" altLang="en-US" sz="2400" b="1" dirty="0"/>
              <a:t>      </a:t>
            </a:r>
            <a:r>
              <a:rPr lang="en-US" altLang="zh-CN" sz="2400" b="1" dirty="0"/>
              <a:t>(1) </a:t>
            </a:r>
            <a:r>
              <a:rPr lang="zh-CN" altLang="en-US" sz="2400" b="1" dirty="0"/>
              <a:t>输出脉冲宽度</a:t>
            </a:r>
            <a:r>
              <a:rPr lang="en-US" altLang="zh-CN" sz="2400" b="1" dirty="0"/>
              <a:t>T</a:t>
            </a:r>
            <a:r>
              <a:rPr lang="en-US" altLang="zh-CN" sz="2400" b="1" baseline="-25000" dirty="0"/>
              <a:t>w</a:t>
            </a:r>
            <a:r>
              <a:rPr lang="zh-CN" altLang="en-US" sz="2400" b="1" dirty="0"/>
              <a:t>： </a:t>
            </a:r>
            <a:endParaRPr lang="zh-CN" altLang="en-US" sz="2400" b="1" dirty="0"/>
          </a:p>
          <a:p>
            <a:pPr marL="0" lvl="0" indent="0" eaLnBrk="1" hangingPunct="1">
              <a:lnSpc>
                <a:spcPct val="150000"/>
              </a:lnSpc>
              <a:spcBef>
                <a:spcPct val="50000"/>
              </a:spcBef>
              <a:buNone/>
            </a:pPr>
            <a:r>
              <a:rPr lang="zh-CN" altLang="en-US" sz="2400" b="1" dirty="0"/>
              <a:t>      根据以上的分析，输出脉冲宽度</a:t>
            </a:r>
            <a:r>
              <a:rPr lang="en-US" altLang="zh-CN" sz="2400" b="1" dirty="0"/>
              <a:t>T</a:t>
            </a:r>
            <a:r>
              <a:rPr lang="en-US" altLang="zh-CN" sz="2400" b="1" baseline="-25000" dirty="0"/>
              <a:t>w</a:t>
            </a:r>
            <a:r>
              <a:rPr lang="zh-CN" altLang="en-US" sz="2400" b="1" dirty="0"/>
              <a:t>就等于从电容</a:t>
            </a:r>
            <a:r>
              <a:rPr lang="en-US" altLang="zh-CN" sz="2400" b="1" dirty="0"/>
              <a:t>C</a:t>
            </a:r>
            <a:r>
              <a:rPr lang="zh-CN" altLang="en-US" sz="2400" b="1" dirty="0"/>
              <a:t>开始充电到</a:t>
            </a:r>
            <a:r>
              <a:rPr lang="en-US" altLang="zh-CN" sz="2400" b="1" dirty="0"/>
              <a:t>u</a:t>
            </a:r>
            <a:r>
              <a:rPr lang="en-US" altLang="zh-CN" sz="2400" b="1" baseline="-25000" dirty="0"/>
              <a:t>I2</a:t>
            </a:r>
            <a:r>
              <a:rPr lang="zh-CN" altLang="en-US" sz="2400" b="1" dirty="0"/>
              <a:t>降至阈值电平</a:t>
            </a:r>
            <a:r>
              <a:rPr lang="en-US" altLang="zh-CN" sz="2400" b="1" dirty="0"/>
              <a:t>U</a:t>
            </a:r>
            <a:r>
              <a:rPr lang="en-US" altLang="zh-CN" sz="2400" b="1" baseline="-25000" dirty="0"/>
              <a:t>TH</a:t>
            </a:r>
            <a:r>
              <a:rPr lang="zh-CN" altLang="en-US" sz="2400" b="1" dirty="0"/>
              <a:t>的时间</a:t>
            </a:r>
            <a:r>
              <a:rPr lang="en-US" altLang="zh-CN" sz="2400" b="1" dirty="0"/>
              <a:t>T</a:t>
            </a:r>
            <a:r>
              <a:rPr lang="en-US" altLang="zh-CN" sz="2400" b="1" baseline="-25000" dirty="0"/>
              <a:t>1</a:t>
            </a:r>
            <a:r>
              <a:rPr lang="zh-CN" altLang="en-US" sz="2400" b="1" dirty="0"/>
              <a:t>。在图</a:t>
            </a:r>
            <a:r>
              <a:rPr lang="en-US" altLang="zh-CN" sz="2400" b="1" dirty="0"/>
              <a:t>9 - 11</a:t>
            </a:r>
            <a:r>
              <a:rPr lang="zh-CN" altLang="en-US" sz="2400" b="1" dirty="0"/>
              <a:t>（</a:t>
            </a:r>
            <a:r>
              <a:rPr lang="en-US" altLang="zh-CN" sz="2400" b="1" dirty="0"/>
              <a:t>a</a:t>
            </a:r>
            <a:r>
              <a:rPr lang="zh-CN" altLang="en-US" sz="2400" b="1" dirty="0"/>
              <a:t>）所示的电容</a:t>
            </a:r>
            <a:r>
              <a:rPr lang="en-US" altLang="zh-CN" sz="2400" b="1" dirty="0"/>
              <a:t>C</a:t>
            </a:r>
            <a:r>
              <a:rPr lang="zh-CN" altLang="en-US" sz="2400" b="1" dirty="0"/>
              <a:t>充电等效电路中， </a:t>
            </a:r>
            <a:r>
              <a:rPr lang="en-US" altLang="zh-CN" sz="2400" b="1" dirty="0"/>
              <a:t>R</a:t>
            </a:r>
            <a:r>
              <a:rPr lang="en-US" altLang="zh-CN" sz="2400" b="1" baseline="-25000" dirty="0"/>
              <a:t>OH</a:t>
            </a:r>
            <a:r>
              <a:rPr lang="zh-CN" altLang="en-US" sz="2400" b="1" dirty="0"/>
              <a:t>是</a:t>
            </a:r>
            <a:r>
              <a:rPr lang="en-US" altLang="zh-CN" sz="2400" b="1" dirty="0"/>
              <a:t>G</a:t>
            </a:r>
            <a:r>
              <a:rPr lang="en-US" altLang="zh-CN" sz="2400" b="1" baseline="-25000" dirty="0"/>
              <a:t>1</a:t>
            </a:r>
            <a:r>
              <a:rPr lang="zh-CN" altLang="en-US" sz="2400" b="1" dirty="0"/>
              <a:t>门输出高电平时电路的输出电阻，当负载电流较大时，</a:t>
            </a:r>
            <a:r>
              <a:rPr lang="en-US" altLang="zh-CN" sz="2400" b="1" dirty="0"/>
              <a:t>R</a:t>
            </a:r>
            <a:r>
              <a:rPr lang="en-US" altLang="zh-CN" sz="2400" b="1" baseline="-25000" dirty="0"/>
              <a:t>OH</a:t>
            </a:r>
            <a:r>
              <a:rPr lang="en-US" altLang="zh-CN" sz="2400" b="1" dirty="0"/>
              <a:t>≈100 Ω</a:t>
            </a:r>
            <a:r>
              <a:rPr lang="zh-CN" altLang="en-US" sz="2400" b="1" dirty="0"/>
              <a:t>，当负载电流较小时，</a:t>
            </a:r>
            <a:r>
              <a:rPr lang="en-US" altLang="zh-CN" sz="2400" b="1" dirty="0"/>
              <a:t>R</a:t>
            </a:r>
            <a:r>
              <a:rPr lang="en-US" altLang="zh-CN" sz="2400" b="1" baseline="-25000" dirty="0"/>
              <a:t>OH</a:t>
            </a:r>
            <a:r>
              <a:rPr lang="zh-CN" altLang="en-US" sz="2400" b="1" dirty="0"/>
              <a:t>可以忽略。      对应于充电过程有： </a:t>
            </a:r>
            <a:endParaRPr lang="zh-CN" altLang="en-US" sz="2400" b="1" dirty="0"/>
          </a:p>
        </p:txBody>
      </p:sp>
      <p:graphicFrame>
        <p:nvGraphicFramePr>
          <p:cNvPr id="28675" name="Object 1029"/>
          <p:cNvGraphicFramePr>
            <a:graphicFrameLocks noChangeAspect="1"/>
          </p:cNvGraphicFramePr>
          <p:nvPr/>
        </p:nvGraphicFramePr>
        <p:xfrm>
          <a:off x="3048000" y="5334000"/>
          <a:ext cx="2590800" cy="582613"/>
        </p:xfrm>
        <a:graphic>
          <a:graphicData uri="http://schemas.openxmlformats.org/presentationml/2006/ole">
            <mc:AlternateContent xmlns:mc="http://schemas.openxmlformats.org/markup-compatibility/2006">
              <mc:Choice xmlns:v="urn:schemas-microsoft-com:vml" Requires="v">
                <p:oleObj spid="_x0000_s3093" name="" r:id="rId1" imgW="1016000" imgH="228600" progId="Equation.3">
                  <p:embed/>
                </p:oleObj>
              </mc:Choice>
              <mc:Fallback>
                <p:oleObj name="" r:id="rId1" imgW="1016000" imgH="228600" progId="Equation.3">
                  <p:embed/>
                  <p:pic>
                    <p:nvPicPr>
                      <p:cNvPr id="0" name="图片 3092"/>
                      <p:cNvPicPr/>
                      <p:nvPr/>
                    </p:nvPicPr>
                    <p:blipFill>
                      <a:blip r:embed="rId2"/>
                      <a:stretch>
                        <a:fillRect/>
                      </a:stretch>
                    </p:blipFill>
                    <p:spPr>
                      <a:xfrm>
                        <a:off x="3048000" y="5334000"/>
                        <a:ext cx="2590800" cy="582613"/>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9698" name="Object 4"/>
          <p:cNvGraphicFramePr>
            <a:graphicFrameLocks noChangeAspect="1"/>
          </p:cNvGraphicFramePr>
          <p:nvPr/>
        </p:nvGraphicFramePr>
        <p:xfrm>
          <a:off x="1028700" y="685800"/>
          <a:ext cx="7239000" cy="976313"/>
        </p:xfrm>
        <a:graphic>
          <a:graphicData uri="http://schemas.openxmlformats.org/presentationml/2006/ole">
            <mc:AlternateContent xmlns:mc="http://schemas.openxmlformats.org/markup-compatibility/2006">
              <mc:Choice xmlns:v="urn:schemas-microsoft-com:vml" Requires="v">
                <p:oleObj spid="_x0000_s3094" name="" r:id="rId1" imgW="3200400" imgH="431800" progId="Equation.3">
                  <p:embed/>
                </p:oleObj>
              </mc:Choice>
              <mc:Fallback>
                <p:oleObj name="" r:id="rId1" imgW="3200400" imgH="431800" progId="Equation.3">
                  <p:embed/>
                  <p:pic>
                    <p:nvPicPr>
                      <p:cNvPr id="0" name="图片 3093"/>
                      <p:cNvPicPr/>
                      <p:nvPr/>
                    </p:nvPicPr>
                    <p:blipFill>
                      <a:blip r:embed="rId2"/>
                      <a:stretch>
                        <a:fillRect/>
                      </a:stretch>
                    </p:blipFill>
                    <p:spPr>
                      <a:xfrm>
                        <a:off x="1028700" y="685800"/>
                        <a:ext cx="7239000" cy="976313"/>
                      </a:xfrm>
                      <a:prstGeom prst="rect">
                        <a:avLst/>
                      </a:prstGeom>
                      <a:noFill/>
                      <a:ln w="38100">
                        <a:noFill/>
                        <a:miter/>
                      </a:ln>
                    </p:spPr>
                  </p:pic>
                </p:oleObj>
              </mc:Fallback>
            </mc:AlternateContent>
          </a:graphicData>
        </a:graphic>
      </p:graphicFrame>
      <p:graphicFrame>
        <p:nvGraphicFramePr>
          <p:cNvPr id="29699" name="Object 5"/>
          <p:cNvGraphicFramePr>
            <a:graphicFrameLocks noChangeAspect="1"/>
          </p:cNvGraphicFramePr>
          <p:nvPr/>
        </p:nvGraphicFramePr>
        <p:xfrm>
          <a:off x="2571750" y="2133600"/>
          <a:ext cx="4152900" cy="1023938"/>
        </p:xfrm>
        <a:graphic>
          <a:graphicData uri="http://schemas.openxmlformats.org/presentationml/2006/ole">
            <mc:AlternateContent xmlns:mc="http://schemas.openxmlformats.org/markup-compatibility/2006">
              <mc:Choice xmlns:v="urn:schemas-microsoft-com:vml" Requires="v">
                <p:oleObj spid="_x0000_s3100" name="" r:id="rId3" imgW="1752600" imgH="431800" progId="Equation.3">
                  <p:embed/>
                </p:oleObj>
              </mc:Choice>
              <mc:Fallback>
                <p:oleObj name="" r:id="rId3" imgW="1752600" imgH="431800" progId="Equation.3">
                  <p:embed/>
                  <p:pic>
                    <p:nvPicPr>
                      <p:cNvPr id="0" name="图片 3099"/>
                      <p:cNvPicPr/>
                      <p:nvPr/>
                    </p:nvPicPr>
                    <p:blipFill>
                      <a:blip r:embed="rId4"/>
                      <a:stretch>
                        <a:fillRect/>
                      </a:stretch>
                    </p:blipFill>
                    <p:spPr>
                      <a:xfrm>
                        <a:off x="2571750" y="2133600"/>
                        <a:ext cx="4152900" cy="1023938"/>
                      </a:xfrm>
                      <a:prstGeom prst="rect">
                        <a:avLst/>
                      </a:prstGeom>
                      <a:noFill/>
                      <a:ln w="38100">
                        <a:noFill/>
                        <a:miter/>
                      </a:ln>
                    </p:spPr>
                  </p:pic>
                </p:oleObj>
              </mc:Fallback>
            </mc:AlternateContent>
          </a:graphicData>
        </a:graphic>
      </p:graphicFrame>
      <p:sp>
        <p:nvSpPr>
          <p:cNvPr id="29700" name="Text Box 6"/>
          <p:cNvSpPr txBox="1"/>
          <p:nvPr/>
        </p:nvSpPr>
        <p:spPr>
          <a:xfrm>
            <a:off x="336550" y="3429000"/>
            <a:ext cx="43592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根据</a:t>
            </a:r>
            <a:r>
              <a:rPr lang="en-US" altLang="zh-CN" sz="2400" b="1" dirty="0"/>
              <a:t>RC</a:t>
            </a:r>
            <a:r>
              <a:rPr lang="zh-CN" altLang="en-US" sz="2400" b="1" dirty="0"/>
              <a:t>电路暂态响应公式有： </a:t>
            </a:r>
            <a:endParaRPr lang="zh-CN" altLang="en-US" sz="2400" b="1" dirty="0"/>
          </a:p>
        </p:txBody>
      </p:sp>
      <p:graphicFrame>
        <p:nvGraphicFramePr>
          <p:cNvPr id="29701" name="Object 7"/>
          <p:cNvGraphicFramePr>
            <a:graphicFrameLocks noChangeAspect="1"/>
          </p:cNvGraphicFramePr>
          <p:nvPr/>
        </p:nvGraphicFramePr>
        <p:xfrm>
          <a:off x="908050" y="4038600"/>
          <a:ext cx="7480300" cy="2039938"/>
        </p:xfrm>
        <a:graphic>
          <a:graphicData uri="http://schemas.openxmlformats.org/presentationml/2006/ole">
            <mc:AlternateContent xmlns:mc="http://schemas.openxmlformats.org/markup-compatibility/2006">
              <mc:Choice xmlns:v="urn:schemas-microsoft-com:vml" Requires="v">
                <p:oleObj spid="_x0000_s3095" name="" r:id="rId5" imgW="3073400" imgH="838200" progId="Equation.3">
                  <p:embed/>
                </p:oleObj>
              </mc:Choice>
              <mc:Fallback>
                <p:oleObj name="" r:id="rId5" imgW="3073400" imgH="838200" progId="Equation.3">
                  <p:embed/>
                  <p:pic>
                    <p:nvPicPr>
                      <p:cNvPr id="0" name="图片 3094"/>
                      <p:cNvPicPr/>
                      <p:nvPr/>
                    </p:nvPicPr>
                    <p:blipFill>
                      <a:blip r:embed="rId6"/>
                      <a:stretch>
                        <a:fillRect/>
                      </a:stretch>
                    </p:blipFill>
                    <p:spPr>
                      <a:xfrm>
                        <a:off x="908050" y="4038600"/>
                        <a:ext cx="7480300" cy="2039938"/>
                      </a:xfrm>
                      <a:prstGeom prst="rect">
                        <a:avLst/>
                      </a:prstGeom>
                      <a:noFill/>
                      <a:ln w="38100">
                        <a:noFill/>
                        <a:miter/>
                      </a:ln>
                    </p:spPr>
                  </p:pic>
                </p:oleObj>
              </mc:Fallback>
            </mc:AlternateContent>
          </a:graphicData>
        </a:graphic>
      </p:graphicFrame>
      <p:sp>
        <p:nvSpPr>
          <p:cNvPr id="29702" name="Rectangle 8"/>
          <p:cNvSpPr/>
          <p:nvPr/>
        </p:nvSpPr>
        <p:spPr>
          <a:xfrm>
            <a:off x="7715250" y="5943600"/>
            <a:ext cx="1428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dirty="0"/>
              <a:t>（</a:t>
            </a:r>
            <a:r>
              <a:rPr lang="en-US" altLang="zh-CN" sz="2400" dirty="0"/>
              <a:t>7 -10</a:t>
            </a:r>
            <a:r>
              <a:rPr lang="zh-CN" altLang="en-US" sz="2400" dirty="0"/>
              <a:t>）</a:t>
            </a:r>
            <a:endParaRPr lang="zh-CN" altLang="en-US" sz="2400" dirty="0"/>
          </a:p>
        </p:txBody>
      </p:sp>
    </p:spTree>
  </p:cSld>
  <p:clrMapOvr>
    <a:masterClrMapping/>
  </p:clrMapOvr>
  <p:transition>
    <p:check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0722" name="Group 6"/>
          <p:cNvGrpSpPr/>
          <p:nvPr/>
        </p:nvGrpSpPr>
        <p:grpSpPr>
          <a:xfrm>
            <a:off x="0" y="854075"/>
            <a:ext cx="8915400" cy="1050925"/>
            <a:chOff x="0" y="442"/>
            <a:chExt cx="5616" cy="662"/>
          </a:xfrm>
        </p:grpSpPr>
        <p:sp>
          <p:nvSpPr>
            <p:cNvPr id="30725" name="Text Box 4"/>
            <p:cNvSpPr txBox="1"/>
            <p:nvPr/>
          </p:nvSpPr>
          <p:spPr>
            <a:xfrm>
              <a:off x="0" y="586"/>
              <a:ext cx="561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just" eaLnBrk="1" hangingPunct="1">
                <a:spcBef>
                  <a:spcPct val="50000"/>
                </a:spcBef>
                <a:buNone/>
              </a:pPr>
              <a:r>
                <a:rPr lang="en-US" altLang="zh-CN" sz="2400" dirty="0"/>
                <a:t>         </a:t>
              </a:r>
              <a:r>
                <a:rPr lang="zh-CN" altLang="en-US" sz="2400" b="1" dirty="0"/>
                <a:t>若</a:t>
              </a:r>
              <a:r>
                <a:rPr lang="zh-CN" altLang="en-US" sz="2400" dirty="0"/>
                <a:t>       				     ，</a:t>
              </a:r>
              <a:r>
                <a:rPr lang="zh-CN" altLang="en-US" sz="2400" b="1" dirty="0"/>
                <a:t>式（</a:t>
              </a:r>
              <a:r>
                <a:rPr lang="en-US" altLang="zh-CN" sz="2400" b="1" dirty="0"/>
                <a:t>7 -10</a:t>
              </a:r>
              <a:r>
                <a:rPr lang="zh-CN" altLang="en-US" sz="2400" b="1" dirty="0"/>
                <a:t>）可化简为</a:t>
              </a:r>
              <a:r>
                <a:rPr lang="zh-CN" altLang="en-US" sz="2400" dirty="0"/>
                <a:t> </a:t>
              </a:r>
              <a:endParaRPr lang="zh-CN" altLang="en-US" sz="2400" dirty="0"/>
            </a:p>
          </p:txBody>
        </p:sp>
        <p:graphicFrame>
          <p:nvGraphicFramePr>
            <p:cNvPr id="30726" name="Object 5"/>
            <p:cNvGraphicFramePr>
              <a:graphicFrameLocks noChangeAspect="1"/>
            </p:cNvGraphicFramePr>
            <p:nvPr/>
          </p:nvGraphicFramePr>
          <p:xfrm>
            <a:off x="672" y="442"/>
            <a:ext cx="2416" cy="662"/>
          </p:xfrm>
          <a:graphic>
            <a:graphicData uri="http://schemas.openxmlformats.org/presentationml/2006/ole">
              <mc:AlternateContent xmlns:mc="http://schemas.openxmlformats.org/markup-compatibility/2006">
                <mc:Choice xmlns:v="urn:schemas-microsoft-com:vml" Requires="v">
                  <p:oleObj spid="_x0000_s3096" name="" r:id="rId1" imgW="1574800" imgH="431800" progId="Equation.3">
                    <p:embed/>
                  </p:oleObj>
                </mc:Choice>
                <mc:Fallback>
                  <p:oleObj name="" r:id="rId1" imgW="1574800" imgH="431800" progId="Equation.3">
                    <p:embed/>
                    <p:pic>
                      <p:nvPicPr>
                        <p:cNvPr id="0" name="图片 3095"/>
                        <p:cNvPicPr/>
                        <p:nvPr/>
                      </p:nvPicPr>
                      <p:blipFill>
                        <a:blip r:embed="rId2"/>
                        <a:stretch>
                          <a:fillRect/>
                        </a:stretch>
                      </p:blipFill>
                      <p:spPr>
                        <a:xfrm>
                          <a:off x="672" y="442"/>
                          <a:ext cx="2416" cy="662"/>
                        </a:xfrm>
                        <a:prstGeom prst="rect">
                          <a:avLst/>
                        </a:prstGeom>
                        <a:noFill/>
                        <a:ln w="38100">
                          <a:noFill/>
                          <a:miter/>
                        </a:ln>
                      </p:spPr>
                    </p:pic>
                  </p:oleObj>
                </mc:Fallback>
              </mc:AlternateContent>
            </a:graphicData>
          </a:graphic>
        </p:graphicFrame>
      </p:grpSp>
      <p:graphicFrame>
        <p:nvGraphicFramePr>
          <p:cNvPr id="30723" name="Object 7"/>
          <p:cNvGraphicFramePr>
            <a:graphicFrameLocks noChangeAspect="1"/>
          </p:cNvGraphicFramePr>
          <p:nvPr/>
        </p:nvGraphicFramePr>
        <p:xfrm>
          <a:off x="1676400" y="2438400"/>
          <a:ext cx="5943600" cy="990600"/>
        </p:xfrm>
        <a:graphic>
          <a:graphicData uri="http://schemas.openxmlformats.org/presentationml/2006/ole">
            <mc:AlternateContent xmlns:mc="http://schemas.openxmlformats.org/markup-compatibility/2006">
              <mc:Choice xmlns:v="urn:schemas-microsoft-com:vml" Requires="v">
                <p:oleObj spid="_x0000_s3097" name="" r:id="rId3" imgW="2590800" imgH="431800" progId="Equation.3">
                  <p:embed/>
                </p:oleObj>
              </mc:Choice>
              <mc:Fallback>
                <p:oleObj name="" r:id="rId3" imgW="2590800" imgH="431800" progId="Equation.3">
                  <p:embed/>
                  <p:pic>
                    <p:nvPicPr>
                      <p:cNvPr id="0" name="图片 3096"/>
                      <p:cNvPicPr/>
                      <p:nvPr/>
                    </p:nvPicPr>
                    <p:blipFill>
                      <a:blip r:embed="rId4"/>
                      <a:stretch>
                        <a:fillRect/>
                      </a:stretch>
                    </p:blipFill>
                    <p:spPr>
                      <a:xfrm>
                        <a:off x="1676400" y="2438400"/>
                        <a:ext cx="5943600" cy="990600"/>
                      </a:xfrm>
                      <a:prstGeom prst="rect">
                        <a:avLst/>
                      </a:prstGeom>
                      <a:noFill/>
                      <a:ln w="38100">
                        <a:noFill/>
                        <a:miter/>
                      </a:ln>
                    </p:spPr>
                  </p:pic>
                </p:oleObj>
              </mc:Fallback>
            </mc:AlternateContent>
          </a:graphicData>
        </a:graphic>
      </p:graphicFrame>
      <p:sp>
        <p:nvSpPr>
          <p:cNvPr id="30724" name="Text Box 8"/>
          <p:cNvSpPr txBox="1"/>
          <p:nvPr/>
        </p:nvSpPr>
        <p:spPr>
          <a:xfrm>
            <a:off x="152400" y="3698875"/>
            <a:ext cx="8763000" cy="14065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just" eaLnBrk="1" hangingPunct="1">
              <a:lnSpc>
                <a:spcPct val="180000"/>
              </a:lnSpc>
              <a:spcBef>
                <a:spcPct val="50000"/>
              </a:spcBef>
              <a:buNone/>
            </a:pPr>
            <a:r>
              <a:rPr lang="en-US" altLang="zh-CN" sz="2400" dirty="0"/>
              <a:t>         </a:t>
            </a:r>
            <a:r>
              <a:rPr lang="zh-CN" altLang="en-US" sz="2400" b="1" dirty="0"/>
              <a:t>如果触发信号的脉冲宽度小于输出脉冲宽度，电路输入部分的</a:t>
            </a:r>
            <a:r>
              <a:rPr lang="en-US" altLang="zh-CN" sz="2400" b="1" dirty="0"/>
              <a:t>R</a:t>
            </a:r>
            <a:r>
              <a:rPr lang="en-US" altLang="zh-CN" sz="2400" b="1" baseline="-25000" dirty="0"/>
              <a:t>d</a:t>
            </a:r>
            <a:r>
              <a:rPr lang="en-US" altLang="zh-CN" sz="2400" b="1" dirty="0"/>
              <a:t>C</a:t>
            </a:r>
            <a:r>
              <a:rPr lang="en-US" altLang="zh-CN" sz="2400" b="1" baseline="-25000" dirty="0"/>
              <a:t>d</a:t>
            </a:r>
            <a:r>
              <a:rPr lang="zh-CN" altLang="en-US" sz="2400" b="1" dirty="0"/>
              <a:t>微分电路就可以省略掉。 </a:t>
            </a:r>
            <a:endParaRPr lang="zh-CN" altLang="en-US" sz="2400" b="1" dirty="0"/>
          </a:p>
        </p:txBody>
      </p:sp>
    </p:spTree>
  </p:cSld>
  <p:clrMapOvr>
    <a:masterClrMapping/>
  </p:clrMapOvr>
  <p:transition>
    <p:checke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ext Box 1028"/>
          <p:cNvSpPr txBox="1"/>
          <p:nvPr/>
        </p:nvSpPr>
        <p:spPr>
          <a:xfrm>
            <a:off x="685800" y="762000"/>
            <a:ext cx="328136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dirty="0"/>
              <a:t> </a:t>
            </a:r>
            <a:r>
              <a:rPr lang="en-US" altLang="zh-CN" sz="2400" dirty="0"/>
              <a:t>(2) </a:t>
            </a:r>
            <a:r>
              <a:rPr lang="zh-CN" altLang="en-US" sz="2400" dirty="0"/>
              <a:t>输出脉冲幅度</a:t>
            </a:r>
            <a:r>
              <a:rPr lang="en-US" altLang="zh-CN" sz="2400" dirty="0"/>
              <a:t>U</a:t>
            </a:r>
            <a:r>
              <a:rPr lang="en-US" altLang="zh-CN" sz="2400" baseline="-25000" dirty="0"/>
              <a:t>m</a:t>
            </a:r>
            <a:r>
              <a:rPr lang="zh-CN" altLang="en-US" sz="2400" dirty="0"/>
              <a:t>： </a:t>
            </a:r>
            <a:endParaRPr lang="zh-CN" altLang="en-US" sz="2400" dirty="0"/>
          </a:p>
        </p:txBody>
      </p:sp>
      <p:graphicFrame>
        <p:nvGraphicFramePr>
          <p:cNvPr id="31747" name="Object 1029"/>
          <p:cNvGraphicFramePr>
            <a:graphicFrameLocks noChangeAspect="1"/>
          </p:cNvGraphicFramePr>
          <p:nvPr/>
        </p:nvGraphicFramePr>
        <p:xfrm>
          <a:off x="3375025" y="1676400"/>
          <a:ext cx="2546350" cy="573088"/>
        </p:xfrm>
        <a:graphic>
          <a:graphicData uri="http://schemas.openxmlformats.org/presentationml/2006/ole">
            <mc:AlternateContent xmlns:mc="http://schemas.openxmlformats.org/markup-compatibility/2006">
              <mc:Choice xmlns:v="urn:schemas-microsoft-com:vml" Requires="v">
                <p:oleObj spid="_x0000_s3108" name="" r:id="rId1" imgW="1016000" imgH="228600" progId="Equation.3">
                  <p:embed/>
                </p:oleObj>
              </mc:Choice>
              <mc:Fallback>
                <p:oleObj name="" r:id="rId1" imgW="1016000" imgH="228600" progId="Equation.3">
                  <p:embed/>
                  <p:pic>
                    <p:nvPicPr>
                      <p:cNvPr id="0" name="图片 3107"/>
                      <p:cNvPicPr/>
                      <p:nvPr/>
                    </p:nvPicPr>
                    <p:blipFill>
                      <a:blip r:embed="rId2"/>
                      <a:stretch>
                        <a:fillRect/>
                      </a:stretch>
                    </p:blipFill>
                    <p:spPr>
                      <a:xfrm>
                        <a:off x="3375025" y="1676400"/>
                        <a:ext cx="2546350" cy="573088"/>
                      </a:xfrm>
                      <a:prstGeom prst="rect">
                        <a:avLst/>
                      </a:prstGeom>
                      <a:noFill/>
                      <a:ln w="38100">
                        <a:noFill/>
                        <a:miter/>
                      </a:ln>
                    </p:spPr>
                  </p:pic>
                </p:oleObj>
              </mc:Fallback>
            </mc:AlternateContent>
          </a:graphicData>
        </a:graphic>
      </p:graphicFrame>
      <p:sp>
        <p:nvSpPr>
          <p:cNvPr id="31748" name="Text Box 1030"/>
          <p:cNvSpPr txBox="1"/>
          <p:nvPr/>
        </p:nvSpPr>
        <p:spPr>
          <a:xfrm>
            <a:off x="228600" y="2854325"/>
            <a:ext cx="8686800" cy="30130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just" eaLnBrk="1" hangingPunct="1">
              <a:lnSpc>
                <a:spcPct val="150000"/>
              </a:lnSpc>
              <a:spcBef>
                <a:spcPct val="50000"/>
              </a:spcBef>
              <a:buNone/>
            </a:pPr>
            <a:r>
              <a:rPr lang="en-US" altLang="zh-CN" sz="2400" dirty="0"/>
              <a:t>        </a:t>
            </a:r>
            <a:r>
              <a:rPr lang="en-US" altLang="zh-CN" sz="2400" b="1" dirty="0"/>
              <a:t>(3) </a:t>
            </a:r>
            <a:r>
              <a:rPr lang="zh-CN" altLang="en-US" sz="2400" b="1" dirty="0"/>
              <a:t>恢复时间</a:t>
            </a:r>
            <a:r>
              <a:rPr lang="en-US" altLang="zh-CN" sz="2400" b="1" dirty="0"/>
              <a:t>T</a:t>
            </a:r>
            <a:r>
              <a:rPr lang="en-US" altLang="zh-CN" sz="2400" b="1" baseline="-25000" dirty="0"/>
              <a:t>re</a:t>
            </a:r>
            <a:r>
              <a:rPr lang="zh-CN" altLang="en-US" sz="2400" b="1" dirty="0"/>
              <a:t>：在暂稳态结束后，电路还需要一端恢复时间， 以便将电容在暂稳态期间所充的电荷释放掉，使电路恢复到初始的稳定状态。 一般， </a:t>
            </a:r>
            <a:endParaRPr lang="zh-CN" altLang="en-US" sz="2400" b="1" dirty="0"/>
          </a:p>
          <a:p>
            <a:pPr marL="0" lvl="0" indent="0" eaLnBrk="1" hangingPunct="1">
              <a:lnSpc>
                <a:spcPct val="150000"/>
              </a:lnSpc>
              <a:spcBef>
                <a:spcPct val="50000"/>
              </a:spcBef>
              <a:buNone/>
            </a:pPr>
            <a:r>
              <a:rPr lang="zh-CN" altLang="en-US" sz="2400" b="1" dirty="0"/>
              <a:t>                     </a:t>
            </a:r>
            <a:r>
              <a:rPr lang="en-US" altLang="zh-CN" sz="2400" b="1" dirty="0"/>
              <a:t>T</a:t>
            </a:r>
            <a:r>
              <a:rPr lang="en-US" altLang="zh-CN" sz="2400" b="1" baseline="-25000" dirty="0"/>
              <a:t>re</a:t>
            </a:r>
            <a:r>
              <a:rPr lang="en-US" altLang="zh-CN" sz="2400" b="1" dirty="0"/>
              <a:t>≈</a:t>
            </a:r>
            <a:r>
              <a:rPr lang="zh-CN" altLang="en-US" sz="2400" b="1" dirty="0"/>
              <a:t>（</a:t>
            </a:r>
            <a:r>
              <a:rPr lang="en-US" altLang="zh-CN" sz="2400" b="1" dirty="0"/>
              <a:t>3</a:t>
            </a:r>
            <a:r>
              <a:rPr lang="zh-CN" altLang="en-US" sz="2400" b="1" dirty="0"/>
              <a:t>～</a:t>
            </a:r>
            <a:r>
              <a:rPr lang="en-US" altLang="zh-CN" sz="2400" b="1" dirty="0"/>
              <a:t>5</a:t>
            </a:r>
            <a:r>
              <a:rPr lang="zh-CN" altLang="en-US" sz="2400" b="1" dirty="0"/>
              <a:t>）（</a:t>
            </a:r>
            <a:r>
              <a:rPr lang="en-US" altLang="zh-CN" sz="2400" b="1" dirty="0"/>
              <a:t>R+R</a:t>
            </a:r>
            <a:r>
              <a:rPr lang="en-US" altLang="zh-CN" sz="2400" b="1" baseline="-25000" dirty="0"/>
              <a:t>OL</a:t>
            </a:r>
            <a:r>
              <a:rPr lang="zh-CN" altLang="en-US" sz="2400" b="1" dirty="0"/>
              <a:t>）</a:t>
            </a:r>
            <a:r>
              <a:rPr lang="en-US" altLang="zh-CN" sz="2400" b="1" dirty="0"/>
              <a:t>C                         </a:t>
            </a:r>
            <a:r>
              <a:rPr lang="zh-CN" altLang="en-US" sz="2400" b="1" dirty="0"/>
              <a:t>（</a:t>
            </a:r>
            <a:r>
              <a:rPr lang="en-US" altLang="zh-CN" sz="2400" b="1" dirty="0"/>
              <a:t>7 - 13</a:t>
            </a:r>
            <a:r>
              <a:rPr lang="zh-CN" altLang="en-US" sz="2400" b="1" dirty="0"/>
              <a:t>）其中，</a:t>
            </a:r>
            <a:r>
              <a:rPr lang="en-US" altLang="zh-CN" sz="2400" b="1" dirty="0"/>
              <a:t>R</a:t>
            </a:r>
            <a:r>
              <a:rPr lang="en-US" altLang="zh-CN" sz="2400" b="1" baseline="-25000" dirty="0"/>
              <a:t>OL</a:t>
            </a:r>
            <a:r>
              <a:rPr lang="zh-CN" altLang="en-US" sz="2400" b="1" dirty="0"/>
              <a:t>是</a:t>
            </a:r>
            <a:r>
              <a:rPr lang="en-US" altLang="zh-CN" sz="2400" b="1" dirty="0"/>
              <a:t>G</a:t>
            </a:r>
            <a:r>
              <a:rPr lang="en-US" altLang="zh-CN" sz="2400" b="1" baseline="-25000" dirty="0"/>
              <a:t>1</a:t>
            </a:r>
            <a:r>
              <a:rPr lang="zh-CN" altLang="en-US" sz="2400" b="1" dirty="0"/>
              <a:t>门输出低电平时电路的输出电阻。 </a:t>
            </a:r>
            <a:endParaRPr lang="zh-CN" altLang="en-US" sz="2400" b="1" dirty="0"/>
          </a:p>
        </p:txBody>
      </p:sp>
      <p:sp>
        <p:nvSpPr>
          <p:cNvPr id="31749" name="Rectangle 1031"/>
          <p:cNvSpPr/>
          <p:nvPr/>
        </p:nvSpPr>
        <p:spPr>
          <a:xfrm>
            <a:off x="7391400" y="1752600"/>
            <a:ext cx="15049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dirty="0"/>
              <a:t>（</a:t>
            </a:r>
            <a:r>
              <a:rPr lang="en-US" altLang="zh-CN" sz="2400" dirty="0"/>
              <a:t>7 - 12</a:t>
            </a:r>
            <a:r>
              <a:rPr lang="zh-CN" altLang="en-US" sz="2400" dirty="0"/>
              <a:t>）</a:t>
            </a:r>
            <a:endParaRPr lang="zh-CN" altLang="en-US" sz="2400" dirty="0"/>
          </a:p>
        </p:txBody>
      </p:sp>
    </p:spTree>
  </p:cSld>
  <p:clrMapOvr>
    <a:masterClrMapping/>
  </p:clrMapOvr>
  <p:transition>
    <p:checke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ext Box 4"/>
          <p:cNvSpPr txBox="1"/>
          <p:nvPr/>
        </p:nvSpPr>
        <p:spPr>
          <a:xfrm>
            <a:off x="228600" y="609600"/>
            <a:ext cx="8686800" cy="29035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just" eaLnBrk="1" hangingPunct="1">
              <a:lnSpc>
                <a:spcPct val="180000"/>
              </a:lnSpc>
              <a:spcBef>
                <a:spcPct val="50000"/>
              </a:spcBef>
              <a:buNone/>
            </a:pPr>
            <a:r>
              <a:rPr lang="en-US" altLang="zh-CN" sz="2400" dirty="0"/>
              <a:t>        </a:t>
            </a:r>
            <a:r>
              <a:rPr lang="en-US" altLang="zh-CN" sz="2400" b="1" dirty="0"/>
              <a:t>(4) </a:t>
            </a:r>
            <a:r>
              <a:rPr lang="zh-CN" altLang="en-US" sz="2400" b="1" dirty="0"/>
              <a:t>分辨时间</a:t>
            </a:r>
            <a:r>
              <a:rPr lang="en-US" altLang="zh-CN" sz="2400" b="1" dirty="0"/>
              <a:t>T</a:t>
            </a:r>
            <a:r>
              <a:rPr lang="en-US" altLang="zh-CN" sz="2400" b="1" baseline="-25000" dirty="0"/>
              <a:t>d</a:t>
            </a:r>
            <a:r>
              <a:rPr lang="zh-CN" altLang="en-US" sz="2400" b="1" dirty="0"/>
              <a:t>： </a:t>
            </a:r>
            <a:endParaRPr lang="zh-CN" altLang="en-US" sz="2400" b="1" dirty="0"/>
          </a:p>
          <a:p>
            <a:pPr marL="0" lvl="0" indent="0" algn="just" eaLnBrk="1" hangingPunct="1">
              <a:lnSpc>
                <a:spcPct val="180000"/>
              </a:lnSpc>
              <a:spcBef>
                <a:spcPct val="50000"/>
              </a:spcBef>
              <a:buNone/>
            </a:pPr>
            <a:r>
              <a:rPr lang="zh-CN" altLang="en-US" sz="2400" b="1" dirty="0"/>
              <a:t>         是指在保证电路正常工作的前提下， 两个相邻的触发脉冲之间所允许的最小时间间隔。显然，电路的分辨时间应为输出脉冲宽度和恢复时间之和， 即 </a:t>
            </a:r>
            <a:endParaRPr lang="zh-CN" altLang="en-US" sz="2400" b="1" dirty="0"/>
          </a:p>
        </p:txBody>
      </p:sp>
      <p:sp>
        <p:nvSpPr>
          <p:cNvPr id="32771" name="Text Box 5"/>
          <p:cNvSpPr txBox="1"/>
          <p:nvPr/>
        </p:nvSpPr>
        <p:spPr>
          <a:xfrm>
            <a:off x="3749675" y="4038600"/>
            <a:ext cx="188436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dirty="0"/>
              <a:t>T</a:t>
            </a:r>
            <a:r>
              <a:rPr lang="en-US" altLang="zh-CN" sz="2400" b="1" baseline="-25000" dirty="0"/>
              <a:t>d</a:t>
            </a:r>
            <a:r>
              <a:rPr lang="en-US" altLang="zh-CN" sz="2400" b="1" dirty="0"/>
              <a:t>= T</a:t>
            </a:r>
            <a:r>
              <a:rPr lang="en-US" altLang="zh-CN" sz="2400" b="1" baseline="-25000" dirty="0"/>
              <a:t>w</a:t>
            </a:r>
            <a:r>
              <a:rPr lang="en-US" altLang="zh-CN" sz="2400" b="1" dirty="0"/>
              <a:t> + T</a:t>
            </a:r>
            <a:r>
              <a:rPr lang="en-US" altLang="zh-CN" sz="2400" b="1" baseline="-25000" dirty="0"/>
              <a:t>re</a:t>
            </a:r>
            <a:r>
              <a:rPr lang="en-US" altLang="zh-CN" sz="2400" b="1" dirty="0"/>
              <a:t> </a:t>
            </a:r>
            <a:endParaRPr lang="en-US" altLang="zh-CN" sz="2400" b="1" dirty="0"/>
          </a:p>
        </p:txBody>
      </p:sp>
      <p:sp>
        <p:nvSpPr>
          <p:cNvPr id="32772" name="Text Box 6"/>
          <p:cNvSpPr txBox="1"/>
          <p:nvPr/>
        </p:nvSpPr>
        <p:spPr>
          <a:xfrm>
            <a:off x="7604125" y="4079875"/>
            <a:ext cx="946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(7-14)</a:t>
            </a:r>
            <a:endParaRPr lang="en-US" altLang="zh-CN" sz="2400" dirty="0"/>
          </a:p>
        </p:txBody>
      </p:sp>
    </p:spTree>
  </p:cSld>
  <p:clrMapOvr>
    <a:masterClrMapping/>
  </p:clrMapOvr>
  <p:transition>
    <p:checke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ext Box 1028"/>
          <p:cNvSpPr txBox="1"/>
          <p:nvPr/>
        </p:nvSpPr>
        <p:spPr>
          <a:xfrm>
            <a:off x="152400" y="685800"/>
            <a:ext cx="8763000" cy="50022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78000"/>
              </a:lnSpc>
              <a:spcBef>
                <a:spcPct val="50000"/>
              </a:spcBef>
              <a:buNone/>
            </a:pPr>
            <a:r>
              <a:rPr lang="en-US" altLang="zh-CN" sz="2400" dirty="0"/>
              <a:t>         </a:t>
            </a:r>
            <a:r>
              <a:rPr lang="en-US" altLang="zh-CN" sz="2400" b="1" dirty="0"/>
              <a:t>2</a:t>
            </a:r>
            <a:r>
              <a:rPr lang="zh-CN" altLang="en-US" sz="2400" b="1" dirty="0"/>
              <a:t>． 积分型单稳态触发器</a:t>
            </a:r>
            <a:endParaRPr lang="zh-CN" altLang="en-US" sz="2400" dirty="0"/>
          </a:p>
          <a:p>
            <a:pPr marL="0" lvl="0" indent="0" eaLnBrk="1" hangingPunct="1">
              <a:lnSpc>
                <a:spcPct val="178000"/>
              </a:lnSpc>
              <a:spcBef>
                <a:spcPct val="50000"/>
              </a:spcBef>
              <a:buNone/>
            </a:pPr>
            <a:r>
              <a:rPr lang="zh-CN" altLang="en-US" sz="2400" dirty="0"/>
              <a:t>        </a:t>
            </a:r>
            <a:r>
              <a:rPr lang="zh-CN" altLang="en-US" sz="2400" b="1" dirty="0"/>
              <a:t>图</a:t>
            </a:r>
            <a:r>
              <a:rPr lang="en-US" altLang="zh-CN" sz="2400" b="1" dirty="0"/>
              <a:t>7 - 13</a:t>
            </a:r>
            <a:r>
              <a:rPr lang="zh-CN" altLang="en-US" sz="2400" b="1" dirty="0"/>
              <a:t>所示电路是用</a:t>
            </a:r>
            <a:r>
              <a:rPr lang="en-US" altLang="zh-CN" sz="2400" b="1" dirty="0"/>
              <a:t>CMOS</a:t>
            </a:r>
            <a:r>
              <a:rPr lang="zh-CN" altLang="en-US" sz="2400" b="1" dirty="0"/>
              <a:t>门电路和</a:t>
            </a:r>
            <a:r>
              <a:rPr lang="en-US" altLang="zh-CN" sz="2400" b="1" dirty="0"/>
              <a:t>RC</a:t>
            </a:r>
            <a:r>
              <a:rPr lang="zh-CN" altLang="en-US" sz="2400" b="1" dirty="0"/>
              <a:t>积分电路组成的积分型单稳态触发器。</a:t>
            </a:r>
            <a:endParaRPr lang="zh-CN" altLang="en-US" sz="2400" b="1" dirty="0"/>
          </a:p>
          <a:p>
            <a:pPr marL="0" lvl="0" indent="0" eaLnBrk="1" hangingPunct="1">
              <a:lnSpc>
                <a:spcPct val="178000"/>
              </a:lnSpc>
              <a:spcBef>
                <a:spcPct val="50000"/>
              </a:spcBef>
              <a:buNone/>
            </a:pPr>
            <a:r>
              <a:rPr lang="zh-CN" altLang="en-US" sz="2400" b="1" dirty="0"/>
              <a:t>        对于</a:t>
            </a:r>
            <a:r>
              <a:rPr lang="en-US" altLang="zh-CN" sz="2400" b="1" dirty="0"/>
              <a:t>CMOS</a:t>
            </a:r>
            <a:r>
              <a:rPr lang="zh-CN" altLang="en-US" sz="2400" b="1" dirty="0"/>
              <a:t>门电路，通常可以近似地认为</a:t>
            </a:r>
            <a:r>
              <a:rPr lang="en-US" altLang="zh-CN" sz="2400" b="1" dirty="0"/>
              <a:t>U</a:t>
            </a:r>
            <a:r>
              <a:rPr lang="en-US" altLang="zh-CN" sz="2400" b="1" baseline="-25000" dirty="0"/>
              <a:t>OH</a:t>
            </a:r>
            <a:r>
              <a:rPr lang="en-US" altLang="zh-CN" sz="2400" b="1" dirty="0"/>
              <a:t> = U</a:t>
            </a:r>
            <a:r>
              <a:rPr lang="en-US" altLang="zh-CN" sz="2400" b="1" baseline="-25000" dirty="0"/>
              <a:t>CC</a:t>
            </a:r>
            <a:r>
              <a:rPr lang="zh-CN" altLang="en-US" sz="2400" b="1" dirty="0"/>
              <a:t>、</a:t>
            </a:r>
            <a:r>
              <a:rPr lang="en-US" altLang="zh-CN" sz="2400" b="1" dirty="0"/>
              <a:t>U</a:t>
            </a:r>
            <a:r>
              <a:rPr lang="en-US" altLang="zh-CN" sz="2400" b="1" baseline="-25000" dirty="0"/>
              <a:t>OL</a:t>
            </a:r>
            <a:r>
              <a:rPr lang="en-US" altLang="zh-CN" sz="2400" b="1" dirty="0"/>
              <a:t>= 0</a:t>
            </a:r>
            <a:r>
              <a:rPr lang="zh-CN" altLang="en-US" sz="2400" b="1" dirty="0"/>
              <a:t>， 而且</a:t>
            </a:r>
            <a:r>
              <a:rPr lang="en-US" altLang="zh-CN" sz="2400" b="1" dirty="0"/>
              <a:t>U</a:t>
            </a:r>
            <a:r>
              <a:rPr lang="en-US" altLang="zh-CN" sz="2400" b="1" baseline="-25000" dirty="0"/>
              <a:t>TH</a:t>
            </a:r>
            <a:r>
              <a:rPr lang="en-US" altLang="zh-CN" sz="2400" b="1" dirty="0"/>
              <a:t>≈U</a:t>
            </a:r>
            <a:r>
              <a:rPr lang="en-US" altLang="zh-CN" sz="2400" b="1" baseline="-25000" dirty="0"/>
              <a:t>CC</a:t>
            </a:r>
            <a:r>
              <a:rPr lang="en-US" altLang="zh-CN" sz="2400" b="1" dirty="0"/>
              <a:t>/2</a:t>
            </a:r>
            <a:r>
              <a:rPr lang="zh-CN" altLang="en-US" sz="2400" b="1" dirty="0"/>
              <a:t>。在没有外来触发脉冲时（</a:t>
            </a:r>
            <a:r>
              <a:rPr lang="en-US" altLang="zh-CN" sz="2400" b="1" dirty="0"/>
              <a:t>u</a:t>
            </a:r>
            <a:r>
              <a:rPr lang="en-US" altLang="zh-CN" sz="2400" b="1" baseline="-25000" dirty="0"/>
              <a:t>I</a:t>
            </a:r>
            <a:r>
              <a:rPr lang="zh-CN" altLang="en-US" sz="2400" b="1" dirty="0"/>
              <a:t>为低电平）电路处于稳定状态：</a:t>
            </a:r>
            <a:r>
              <a:rPr lang="en-US" altLang="zh-CN" sz="2400" b="1" dirty="0"/>
              <a:t>u</a:t>
            </a:r>
            <a:r>
              <a:rPr lang="en-US" altLang="zh-CN" sz="2400" b="1" baseline="-25000" dirty="0"/>
              <a:t>O1</a:t>
            </a:r>
            <a:r>
              <a:rPr lang="en-US" altLang="zh-CN" sz="2400" b="1" dirty="0"/>
              <a:t>= u</a:t>
            </a:r>
            <a:r>
              <a:rPr lang="en-US" altLang="zh-CN" sz="2400" b="1" baseline="-25000" dirty="0"/>
              <a:t>O</a:t>
            </a:r>
            <a:r>
              <a:rPr lang="en-US" altLang="zh-CN" sz="2400" b="1" dirty="0"/>
              <a:t> = u</a:t>
            </a:r>
            <a:r>
              <a:rPr lang="en-US" altLang="zh-CN" sz="2400" b="1" baseline="-25000" dirty="0"/>
              <a:t>OH</a:t>
            </a:r>
            <a:r>
              <a:rPr lang="zh-CN" altLang="en-US" sz="2400" b="1" dirty="0"/>
              <a:t>，电容</a:t>
            </a:r>
            <a:r>
              <a:rPr lang="en-US" altLang="zh-CN" sz="2400" b="1" dirty="0"/>
              <a:t>C</a:t>
            </a:r>
            <a:r>
              <a:rPr lang="zh-CN" altLang="en-US" sz="2400" b="1" dirty="0"/>
              <a:t>上充有电压，即</a:t>
            </a:r>
            <a:r>
              <a:rPr lang="en-US" altLang="zh-CN" sz="2400" b="1" dirty="0"/>
              <a:t>u</a:t>
            </a:r>
            <a:r>
              <a:rPr lang="en-US" altLang="zh-CN" sz="2400" b="1" baseline="-25000" dirty="0"/>
              <a:t>I2</a:t>
            </a:r>
            <a:r>
              <a:rPr lang="en-US" altLang="zh-CN" sz="2400" b="1" dirty="0"/>
              <a:t> =U</a:t>
            </a:r>
            <a:r>
              <a:rPr lang="en-US" altLang="zh-CN" sz="2400" b="1" baseline="-25000" dirty="0"/>
              <a:t>OH</a:t>
            </a:r>
            <a:r>
              <a:rPr lang="zh-CN" altLang="en-US" sz="2400" b="1" dirty="0"/>
              <a:t>。 </a:t>
            </a:r>
            <a:endParaRPr lang="zh-CN" altLang="en-US" sz="2400" b="1" dirty="0"/>
          </a:p>
        </p:txBody>
      </p:sp>
    </p:spTree>
  </p:cSld>
  <p:clrMapOvr>
    <a:masterClrMapping/>
  </p:clrMapOvr>
  <p:transition>
    <p:checke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Text Box 4"/>
          <p:cNvSpPr txBox="1"/>
          <p:nvPr/>
        </p:nvSpPr>
        <p:spPr>
          <a:xfrm>
            <a:off x="2895600" y="5562600"/>
            <a:ext cx="3943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 </a:t>
            </a:r>
            <a:r>
              <a:rPr lang="en-US" altLang="zh-CN" sz="2400" b="1" dirty="0"/>
              <a:t>7-13 </a:t>
            </a:r>
            <a:r>
              <a:rPr lang="zh-CN" altLang="en-US" sz="2400" b="1" dirty="0"/>
              <a:t>积分型单稳态触发器</a:t>
            </a:r>
            <a:endParaRPr lang="zh-CN" altLang="en-US" sz="2400" b="1" dirty="0"/>
          </a:p>
        </p:txBody>
      </p:sp>
      <p:graphicFrame>
        <p:nvGraphicFramePr>
          <p:cNvPr id="34819" name="Object 5"/>
          <p:cNvGraphicFramePr>
            <a:graphicFrameLocks noChangeAspect="1"/>
          </p:cNvGraphicFramePr>
          <p:nvPr/>
        </p:nvGraphicFramePr>
        <p:xfrm>
          <a:off x="1333500" y="1828800"/>
          <a:ext cx="6477000" cy="2493963"/>
        </p:xfrm>
        <a:graphic>
          <a:graphicData uri="http://schemas.openxmlformats.org/presentationml/2006/ole">
            <mc:AlternateContent xmlns:mc="http://schemas.openxmlformats.org/markup-compatibility/2006">
              <mc:Choice xmlns:v="urn:schemas-microsoft-com:vml" Requires="v">
                <p:oleObj spid="_x0000_s3107" name="" r:id="rId1" imgW="2179320" imgH="838200" progId="Visio.Drawing.4">
                  <p:embed/>
                </p:oleObj>
              </mc:Choice>
              <mc:Fallback>
                <p:oleObj name="" r:id="rId1" imgW="2179320" imgH="838200" progId="Visio.Drawing.4">
                  <p:embed/>
                  <p:pic>
                    <p:nvPicPr>
                      <p:cNvPr id="0" name="图片 3106"/>
                      <p:cNvPicPr/>
                      <p:nvPr/>
                    </p:nvPicPr>
                    <p:blipFill>
                      <a:blip r:embed="rId2"/>
                      <a:stretch>
                        <a:fillRect/>
                      </a:stretch>
                    </p:blipFill>
                    <p:spPr>
                      <a:xfrm>
                        <a:off x="1333500" y="1828800"/>
                        <a:ext cx="6477000" cy="2493963"/>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ext Box 1028"/>
          <p:cNvSpPr txBox="1"/>
          <p:nvPr/>
        </p:nvSpPr>
        <p:spPr>
          <a:xfrm>
            <a:off x="152400" y="708025"/>
            <a:ext cx="8915400" cy="47021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8000"/>
              </a:lnSpc>
              <a:spcBef>
                <a:spcPct val="50000"/>
              </a:spcBef>
              <a:buNone/>
            </a:pPr>
            <a:r>
              <a:rPr lang="en-US" altLang="zh-CN" sz="2400" dirty="0"/>
              <a:t>        </a:t>
            </a:r>
            <a:r>
              <a:rPr lang="zh-CN" altLang="en-US" sz="2400" b="1" dirty="0"/>
              <a:t>当有一个正向脉冲加到电路输入端时，</a:t>
            </a:r>
            <a:r>
              <a:rPr lang="en-US" altLang="zh-CN" sz="2400" b="1" dirty="0"/>
              <a:t>G</a:t>
            </a:r>
            <a:r>
              <a:rPr lang="en-US" altLang="zh-CN" sz="2400" b="1" baseline="-25000" dirty="0"/>
              <a:t>1</a:t>
            </a:r>
            <a:r>
              <a:rPr lang="zh-CN" altLang="en-US" sz="2400" b="1" dirty="0"/>
              <a:t>门的输出</a:t>
            </a:r>
            <a:r>
              <a:rPr lang="en-US" altLang="zh-CN" sz="2400" b="1" dirty="0"/>
              <a:t>u</a:t>
            </a:r>
            <a:r>
              <a:rPr lang="en-US" altLang="zh-CN" sz="2400" b="1" baseline="-25000" dirty="0"/>
              <a:t>O1</a:t>
            </a:r>
            <a:r>
              <a:rPr lang="zh-CN" altLang="en-US" sz="2400" b="1" dirty="0"/>
              <a:t>从高电平下跳到低电平</a:t>
            </a:r>
            <a:r>
              <a:rPr lang="en-US" altLang="zh-CN" sz="2400" b="1" dirty="0"/>
              <a:t>U</a:t>
            </a:r>
            <a:r>
              <a:rPr lang="en-US" altLang="zh-CN" sz="2400" b="1" baseline="-25000" dirty="0"/>
              <a:t>OL</a:t>
            </a:r>
            <a:r>
              <a:rPr lang="zh-CN" altLang="en-US" sz="2400" b="1" dirty="0"/>
              <a:t>，由于电容上的电压不能突变，</a:t>
            </a:r>
            <a:r>
              <a:rPr lang="en-US" altLang="zh-CN" sz="2400" b="1" dirty="0"/>
              <a:t>u</a:t>
            </a:r>
            <a:r>
              <a:rPr lang="en-US" altLang="zh-CN" sz="2400" b="1" baseline="-25000" dirty="0"/>
              <a:t>I2</a:t>
            </a:r>
            <a:r>
              <a:rPr lang="zh-CN" altLang="en-US" sz="2400" b="1" dirty="0"/>
              <a:t>仍为高电平，从而使</a:t>
            </a:r>
            <a:r>
              <a:rPr lang="en-US" altLang="zh-CN" sz="2400" b="1" dirty="0"/>
              <a:t>u</a:t>
            </a:r>
            <a:r>
              <a:rPr lang="en-US" altLang="zh-CN" sz="2400" b="1" baseline="-25000" dirty="0"/>
              <a:t>O</a:t>
            </a:r>
            <a:r>
              <a:rPr lang="zh-CN" altLang="en-US" sz="2400" b="1" dirty="0"/>
              <a:t>变为低电平，电路进入暂稳态。在暂稳态期间，电容</a:t>
            </a:r>
            <a:r>
              <a:rPr lang="en-US" altLang="zh-CN" sz="2400" b="1" dirty="0"/>
              <a:t>C</a:t>
            </a:r>
            <a:r>
              <a:rPr lang="zh-CN" altLang="en-US" sz="2400" b="1" dirty="0"/>
              <a:t>将通过</a:t>
            </a:r>
            <a:r>
              <a:rPr lang="en-US" altLang="zh-CN" sz="2400" b="1" dirty="0"/>
              <a:t>R</a:t>
            </a:r>
            <a:r>
              <a:rPr lang="zh-CN" altLang="en-US" sz="2400" b="1" dirty="0"/>
              <a:t>放电，随着放电过程的进行，</a:t>
            </a:r>
            <a:r>
              <a:rPr lang="en-US" altLang="zh-CN" sz="2400" b="1" dirty="0"/>
              <a:t>u</a:t>
            </a:r>
            <a:r>
              <a:rPr lang="en-US" altLang="zh-CN" sz="2400" b="1" baseline="-25000" dirty="0"/>
              <a:t>I2</a:t>
            </a:r>
            <a:r>
              <a:rPr lang="zh-CN" altLang="en-US" sz="2400" b="1" dirty="0"/>
              <a:t>的电压逐渐下降，当下降到阈值电平</a:t>
            </a:r>
            <a:r>
              <a:rPr lang="en-US" altLang="zh-CN" sz="2400" b="1" dirty="0"/>
              <a:t>U</a:t>
            </a:r>
            <a:r>
              <a:rPr lang="en-US" altLang="zh-CN" sz="2400" b="1" baseline="-25000" dirty="0"/>
              <a:t>TH</a:t>
            </a:r>
            <a:r>
              <a:rPr lang="zh-CN" altLang="en-US" sz="2400" b="1" dirty="0"/>
              <a:t>时，</a:t>
            </a:r>
            <a:r>
              <a:rPr lang="en-US" altLang="zh-CN" sz="2400" b="1" dirty="0"/>
              <a:t>u</a:t>
            </a:r>
            <a:r>
              <a:rPr lang="en-US" altLang="zh-CN" sz="2400" b="1" baseline="-25000" dirty="0"/>
              <a:t>O</a:t>
            </a:r>
            <a:r>
              <a:rPr lang="zh-CN" altLang="en-US" sz="2400" b="1" dirty="0"/>
              <a:t>跳回到高电平；等到触发脉冲消失后（</a:t>
            </a:r>
            <a:r>
              <a:rPr lang="en-US" altLang="zh-CN" sz="2400" b="1" dirty="0"/>
              <a:t>u</a:t>
            </a:r>
            <a:r>
              <a:rPr lang="en-US" altLang="zh-CN" sz="2400" b="1" baseline="-25000" dirty="0"/>
              <a:t>I</a:t>
            </a:r>
            <a:r>
              <a:rPr lang="zh-CN" altLang="en-US" sz="2400" b="1" dirty="0"/>
              <a:t>变为低电平），</a:t>
            </a:r>
            <a:r>
              <a:rPr lang="en-US" altLang="zh-CN" sz="2400" b="1" dirty="0"/>
              <a:t>u</a:t>
            </a:r>
            <a:r>
              <a:rPr lang="en-US" altLang="zh-CN" sz="2400" b="1" baseline="-25000" dirty="0"/>
              <a:t>O1</a:t>
            </a:r>
            <a:r>
              <a:rPr lang="zh-CN" altLang="en-US" sz="2400" b="1" dirty="0"/>
              <a:t>也恢复为高电平，</a:t>
            </a:r>
            <a:r>
              <a:rPr lang="en-US" altLang="zh-CN" sz="2400" b="1" dirty="0"/>
              <a:t>u</a:t>
            </a:r>
            <a:r>
              <a:rPr lang="en-US" altLang="zh-CN" sz="2400" b="1" baseline="-25000" dirty="0"/>
              <a:t>O</a:t>
            </a:r>
            <a:r>
              <a:rPr lang="zh-CN" altLang="en-US" sz="2400" b="1" dirty="0"/>
              <a:t>保持高电平不变，同时</a:t>
            </a:r>
            <a:r>
              <a:rPr lang="en-US" altLang="zh-CN" sz="2400" b="1" dirty="0"/>
              <a:t>u</a:t>
            </a:r>
            <a:r>
              <a:rPr lang="en-US" altLang="zh-CN" sz="2400" b="1" baseline="-25000" dirty="0"/>
              <a:t>O1</a:t>
            </a:r>
            <a:r>
              <a:rPr lang="zh-CN" altLang="en-US" sz="2400" b="1" dirty="0"/>
              <a:t>开始通过电阻</a:t>
            </a:r>
            <a:r>
              <a:rPr lang="en-US" altLang="zh-CN" sz="2400" b="1" dirty="0"/>
              <a:t>R</a:t>
            </a:r>
            <a:r>
              <a:rPr lang="zh-CN" altLang="en-US" sz="2400" b="1" dirty="0"/>
              <a:t>对电容</a:t>
            </a:r>
            <a:r>
              <a:rPr lang="en-US" altLang="zh-CN" sz="2400" b="1" dirty="0"/>
              <a:t>C</a:t>
            </a:r>
            <a:r>
              <a:rPr lang="zh-CN" altLang="en-US" sz="2400" b="1" dirty="0"/>
              <a:t>充电，一直到</a:t>
            </a:r>
            <a:r>
              <a:rPr lang="en-US" altLang="zh-CN" sz="2400" b="1" dirty="0"/>
              <a:t>u</a:t>
            </a:r>
            <a:r>
              <a:rPr lang="en-US" altLang="zh-CN" sz="2400" b="1" baseline="-25000" dirty="0"/>
              <a:t>I2</a:t>
            </a:r>
            <a:r>
              <a:rPr lang="zh-CN" altLang="en-US" sz="2400" b="1" dirty="0"/>
              <a:t>的电压升高到高电平为止，电路又恢复到初始的稳定状态。 </a:t>
            </a:r>
            <a:endParaRPr lang="zh-CN" altLang="en-US" sz="2400" b="1" dirty="0"/>
          </a:p>
        </p:txBody>
      </p:sp>
    </p:spTree>
  </p:cSld>
  <p:clrMapOvr>
    <a:masterClrMapping/>
  </p:clrMapOvr>
  <p:transition>
    <p:checke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ext Box 4"/>
          <p:cNvSpPr txBox="1"/>
          <p:nvPr/>
        </p:nvSpPr>
        <p:spPr>
          <a:xfrm>
            <a:off x="4140200" y="5762625"/>
            <a:ext cx="4349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 </a:t>
            </a:r>
            <a:r>
              <a:rPr lang="en-US" altLang="zh-CN" sz="2400" b="1" dirty="0"/>
              <a:t>7-14   </a:t>
            </a:r>
            <a:r>
              <a:rPr lang="zh-CN" altLang="en-US" sz="2400" b="1" dirty="0"/>
              <a:t>图</a:t>
            </a:r>
            <a:r>
              <a:rPr lang="en-US" altLang="zh-CN" sz="2400" b="1" dirty="0"/>
              <a:t>7-13</a:t>
            </a:r>
            <a:r>
              <a:rPr lang="zh-CN" altLang="en-US" sz="2400" b="1" dirty="0"/>
              <a:t>电路的工作波形</a:t>
            </a:r>
            <a:endParaRPr lang="zh-CN" altLang="en-US" sz="2400" b="1" dirty="0"/>
          </a:p>
        </p:txBody>
      </p:sp>
      <p:graphicFrame>
        <p:nvGraphicFramePr>
          <p:cNvPr id="36867" name="Object 5"/>
          <p:cNvGraphicFramePr>
            <a:graphicFrameLocks noChangeAspect="1"/>
          </p:cNvGraphicFramePr>
          <p:nvPr/>
        </p:nvGraphicFramePr>
        <p:xfrm>
          <a:off x="3492500" y="514350"/>
          <a:ext cx="5486400" cy="5248275"/>
        </p:xfrm>
        <a:graphic>
          <a:graphicData uri="http://schemas.openxmlformats.org/presentationml/2006/ole">
            <mc:AlternateContent xmlns:mc="http://schemas.openxmlformats.org/markup-compatibility/2006">
              <mc:Choice xmlns:v="urn:schemas-microsoft-com:vml" Requires="v">
                <p:oleObj spid="_x0000_s3105" name="" r:id="rId1" imgW="2461260" imgH="2354580" progId="Visio.Drawing.4">
                  <p:embed/>
                </p:oleObj>
              </mc:Choice>
              <mc:Fallback>
                <p:oleObj name="" r:id="rId1" imgW="2461260" imgH="2354580" progId="Visio.Drawing.4">
                  <p:embed/>
                  <p:pic>
                    <p:nvPicPr>
                      <p:cNvPr id="0" name="图片 3104"/>
                      <p:cNvPicPr/>
                      <p:nvPr/>
                    </p:nvPicPr>
                    <p:blipFill>
                      <a:blip r:embed="rId2"/>
                      <a:stretch>
                        <a:fillRect/>
                      </a:stretch>
                    </p:blipFill>
                    <p:spPr>
                      <a:xfrm>
                        <a:off x="3492500" y="514350"/>
                        <a:ext cx="5486400" cy="5248275"/>
                      </a:xfrm>
                      <a:prstGeom prst="rect">
                        <a:avLst/>
                      </a:prstGeom>
                      <a:noFill/>
                      <a:ln w="38100">
                        <a:noFill/>
                        <a:miter/>
                      </a:ln>
                    </p:spPr>
                  </p:pic>
                </p:oleObj>
              </mc:Fallback>
            </mc:AlternateContent>
          </a:graphicData>
        </a:graphic>
      </p:graphicFrame>
      <p:graphicFrame>
        <p:nvGraphicFramePr>
          <p:cNvPr id="36868" name="Object 5"/>
          <p:cNvGraphicFramePr>
            <a:graphicFrameLocks noChangeAspect="1"/>
          </p:cNvGraphicFramePr>
          <p:nvPr/>
        </p:nvGraphicFramePr>
        <p:xfrm>
          <a:off x="-180975" y="911225"/>
          <a:ext cx="3740150" cy="1439863"/>
        </p:xfrm>
        <a:graphic>
          <a:graphicData uri="http://schemas.openxmlformats.org/presentationml/2006/ole">
            <mc:AlternateContent xmlns:mc="http://schemas.openxmlformats.org/markup-compatibility/2006">
              <mc:Choice xmlns:v="urn:schemas-microsoft-com:vml" Requires="v">
                <p:oleObj spid="_x0000_s3103" name="" r:id="rId3" imgW="2179320" imgH="838200" progId="Visio.Drawing.4">
                  <p:embed/>
                </p:oleObj>
              </mc:Choice>
              <mc:Fallback>
                <p:oleObj name="" r:id="rId3" imgW="2179320" imgH="838200" progId="Visio.Drawing.4">
                  <p:embed/>
                  <p:pic>
                    <p:nvPicPr>
                      <p:cNvPr id="0" name="图片 3102"/>
                      <p:cNvPicPr/>
                      <p:nvPr/>
                    </p:nvPicPr>
                    <p:blipFill>
                      <a:blip r:embed="rId4"/>
                      <a:stretch>
                        <a:fillRect/>
                      </a:stretch>
                    </p:blipFill>
                    <p:spPr>
                      <a:xfrm>
                        <a:off x="-180975" y="911225"/>
                        <a:ext cx="3740150" cy="1439863"/>
                      </a:xfrm>
                      <a:prstGeom prst="rect">
                        <a:avLst/>
                      </a:prstGeom>
                      <a:noFill/>
                      <a:ln w="38100">
                        <a:noFill/>
                        <a:miter/>
                      </a:ln>
                    </p:spPr>
                  </p:pic>
                </p:oleObj>
              </mc:Fallback>
            </mc:AlternateContent>
          </a:graphicData>
        </a:graphic>
      </p:graphicFrame>
      <p:graphicFrame>
        <p:nvGraphicFramePr>
          <p:cNvPr id="36869" name="Object 5"/>
          <p:cNvGraphicFramePr>
            <a:graphicFrameLocks noChangeAspect="1"/>
          </p:cNvGraphicFramePr>
          <p:nvPr/>
        </p:nvGraphicFramePr>
        <p:xfrm>
          <a:off x="165100" y="2263775"/>
          <a:ext cx="2847975" cy="3956050"/>
        </p:xfrm>
        <a:graphic>
          <a:graphicData uri="http://schemas.openxmlformats.org/presentationml/2006/ole">
            <mc:AlternateContent xmlns:mc="http://schemas.openxmlformats.org/markup-compatibility/2006">
              <mc:Choice xmlns:v="urn:schemas-microsoft-com:vml" Requires="v">
                <p:oleObj spid="_x0000_s3106" name="" r:id="rId5" imgW="1706880" imgH="2369820" progId="Visio.Drawing.4">
                  <p:embed/>
                </p:oleObj>
              </mc:Choice>
              <mc:Fallback>
                <p:oleObj name="" r:id="rId5" imgW="1706880" imgH="2369820" progId="Visio.Drawing.4">
                  <p:embed/>
                  <p:pic>
                    <p:nvPicPr>
                      <p:cNvPr id="0" name="图片 3105"/>
                      <p:cNvPicPr/>
                      <p:nvPr/>
                    </p:nvPicPr>
                    <p:blipFill>
                      <a:blip r:embed="rId6"/>
                      <a:stretch>
                        <a:fillRect/>
                      </a:stretch>
                    </p:blipFill>
                    <p:spPr>
                      <a:xfrm>
                        <a:off x="165100" y="2263775"/>
                        <a:ext cx="2847975" cy="3956050"/>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Text Box 4"/>
          <p:cNvSpPr txBox="1"/>
          <p:nvPr/>
        </p:nvSpPr>
        <p:spPr>
          <a:xfrm>
            <a:off x="2506663" y="6035675"/>
            <a:ext cx="4468812"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400" b="1" dirty="0"/>
              <a:t>图 </a:t>
            </a:r>
            <a:r>
              <a:rPr lang="en-US" altLang="zh-CN" sz="2400" b="1" dirty="0"/>
              <a:t>7-15 </a:t>
            </a:r>
            <a:r>
              <a:rPr lang="zh-CN" altLang="en-US" sz="2400" b="1" dirty="0"/>
              <a:t>电容</a:t>
            </a:r>
            <a:r>
              <a:rPr lang="en-US" altLang="zh-CN" sz="2400" b="1" dirty="0"/>
              <a:t>C</a:t>
            </a:r>
            <a:r>
              <a:rPr lang="zh-CN" altLang="en-US" sz="2400" b="1" dirty="0"/>
              <a:t>充放电等效电路</a:t>
            </a:r>
            <a:endParaRPr lang="zh-CN" altLang="en-US" sz="2400" b="1" dirty="0"/>
          </a:p>
          <a:p>
            <a:pPr marL="0" lvl="0" indent="0" algn="ctr" eaLnBrk="1" hangingPunct="1">
              <a:spcBef>
                <a:spcPct val="0"/>
              </a:spcBef>
              <a:buNone/>
            </a:pPr>
            <a:r>
              <a:rPr lang="en-US" altLang="zh-CN" sz="2400" b="1" dirty="0"/>
              <a:t>(a) </a:t>
            </a:r>
            <a:r>
              <a:rPr lang="zh-CN" altLang="en-US" sz="2400" b="1" dirty="0"/>
              <a:t>放电电路； </a:t>
            </a:r>
            <a:r>
              <a:rPr lang="en-US" altLang="zh-CN" sz="2400" b="1" dirty="0"/>
              <a:t>(b) </a:t>
            </a:r>
            <a:r>
              <a:rPr lang="zh-CN" altLang="en-US" sz="2400" b="1" dirty="0"/>
              <a:t>充电电路</a:t>
            </a:r>
            <a:endParaRPr lang="zh-CN" altLang="en-US" sz="2400" b="1" dirty="0"/>
          </a:p>
        </p:txBody>
      </p:sp>
      <p:graphicFrame>
        <p:nvGraphicFramePr>
          <p:cNvPr id="37891" name="Object 5"/>
          <p:cNvGraphicFramePr>
            <a:graphicFrameLocks noChangeAspect="1"/>
          </p:cNvGraphicFramePr>
          <p:nvPr/>
        </p:nvGraphicFramePr>
        <p:xfrm>
          <a:off x="2239963" y="457200"/>
          <a:ext cx="4222750" cy="5867400"/>
        </p:xfrm>
        <a:graphic>
          <a:graphicData uri="http://schemas.openxmlformats.org/presentationml/2006/ole">
            <mc:AlternateContent xmlns:mc="http://schemas.openxmlformats.org/markup-compatibility/2006">
              <mc:Choice xmlns:v="urn:schemas-microsoft-com:vml" Requires="v">
                <p:oleObj spid="_x0000_s3104" name="" r:id="rId1" imgW="1706880" imgH="2369820" progId="Visio.Drawing.4">
                  <p:embed/>
                </p:oleObj>
              </mc:Choice>
              <mc:Fallback>
                <p:oleObj name="" r:id="rId1" imgW="1706880" imgH="2369820" progId="Visio.Drawing.4">
                  <p:embed/>
                  <p:pic>
                    <p:nvPicPr>
                      <p:cNvPr id="0" name="图片 3103"/>
                      <p:cNvPicPr/>
                      <p:nvPr/>
                    </p:nvPicPr>
                    <p:blipFill>
                      <a:blip r:embed="rId2"/>
                      <a:stretch>
                        <a:fillRect/>
                      </a:stretch>
                    </p:blipFill>
                    <p:spPr>
                      <a:xfrm>
                        <a:off x="2239963" y="457200"/>
                        <a:ext cx="4222750" cy="5867400"/>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Text Box 4"/>
          <p:cNvSpPr txBox="1"/>
          <p:nvPr/>
        </p:nvSpPr>
        <p:spPr>
          <a:xfrm>
            <a:off x="228600" y="457200"/>
            <a:ext cx="8610600" cy="29733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8000"/>
              </a:lnSpc>
              <a:spcBef>
                <a:spcPct val="50000"/>
              </a:spcBef>
              <a:buNone/>
            </a:pPr>
            <a:r>
              <a:rPr lang="en-US" altLang="zh-CN" sz="2400" dirty="0"/>
              <a:t>        </a:t>
            </a:r>
            <a:r>
              <a:rPr lang="zh-CN" altLang="en-US" sz="2400" b="1" dirty="0"/>
              <a:t>输出脉冲的宽度</a:t>
            </a:r>
            <a:r>
              <a:rPr lang="en-US" altLang="zh-CN" sz="2400" b="1" dirty="0"/>
              <a:t>T</a:t>
            </a:r>
            <a:r>
              <a:rPr lang="en-US" altLang="zh-CN" sz="2400" b="1" baseline="-25000" dirty="0"/>
              <a:t>w</a:t>
            </a:r>
            <a:r>
              <a:rPr lang="zh-CN" altLang="en-US" sz="2400" b="1" dirty="0"/>
              <a:t>等于从电容开始放电到</a:t>
            </a:r>
            <a:r>
              <a:rPr lang="en-US" altLang="zh-CN" sz="2400" b="1" dirty="0"/>
              <a:t>u</a:t>
            </a:r>
            <a:r>
              <a:rPr lang="en-US" altLang="zh-CN" sz="2400" b="1" baseline="-25000" dirty="0"/>
              <a:t>I2</a:t>
            </a:r>
            <a:r>
              <a:rPr lang="zh-CN" altLang="en-US" sz="2400" b="1" dirty="0"/>
              <a:t>下降到阈值电平</a:t>
            </a:r>
            <a:r>
              <a:rPr lang="en-US" altLang="zh-CN" sz="2400" b="1" dirty="0"/>
              <a:t>U</a:t>
            </a:r>
            <a:r>
              <a:rPr lang="en-US" altLang="zh-CN" sz="2400" b="1" baseline="-25000" dirty="0"/>
              <a:t>TH</a:t>
            </a:r>
            <a:r>
              <a:rPr lang="zh-CN" altLang="en-US" sz="2400" b="1" dirty="0"/>
              <a:t>所需要的时间。根据图</a:t>
            </a:r>
            <a:r>
              <a:rPr lang="en-US" altLang="zh-CN" sz="2400" b="1" dirty="0"/>
              <a:t>9-15</a:t>
            </a:r>
            <a:r>
              <a:rPr lang="zh-CN" altLang="en-US" sz="2400" b="1" dirty="0"/>
              <a:t>（</a:t>
            </a:r>
            <a:r>
              <a:rPr lang="en-US" altLang="zh-CN" sz="2400" b="1" i="1" dirty="0"/>
              <a:t>a</a:t>
            </a:r>
            <a:r>
              <a:rPr lang="zh-CN" altLang="en-US" sz="2400" b="1" dirty="0"/>
              <a:t>）所示的放电等效电路有： </a:t>
            </a:r>
            <a:r>
              <a:rPr lang="en-US" altLang="zh-CN" sz="2400" b="1" i="1" dirty="0"/>
              <a:t>τ </a:t>
            </a:r>
            <a:r>
              <a:rPr lang="en-US" altLang="zh-CN" sz="2400" b="1" dirty="0"/>
              <a:t>= (R+R</a:t>
            </a:r>
            <a:r>
              <a:rPr lang="en-US" altLang="zh-CN" sz="2400" b="1" baseline="-25000" dirty="0"/>
              <a:t>N</a:t>
            </a:r>
            <a:r>
              <a:rPr lang="en-US" altLang="zh-CN" sz="2400" b="1" dirty="0"/>
              <a:t>)C</a:t>
            </a:r>
            <a:r>
              <a:rPr lang="zh-CN" altLang="en-US" sz="2400" b="1" dirty="0"/>
              <a:t>、</a:t>
            </a:r>
            <a:r>
              <a:rPr lang="en-US" altLang="zh-CN" sz="2400" b="1" dirty="0"/>
              <a:t>u</a:t>
            </a:r>
            <a:r>
              <a:rPr lang="en-US" altLang="zh-CN" sz="2400" b="1" baseline="-25000" dirty="0"/>
              <a:t>I2</a:t>
            </a:r>
            <a:r>
              <a:rPr lang="en-US" altLang="zh-CN" sz="2400" b="1" dirty="0"/>
              <a:t>(0+) = U</a:t>
            </a:r>
            <a:r>
              <a:rPr lang="en-US" altLang="zh-CN" sz="2400" b="1" baseline="-25000" dirty="0"/>
              <a:t>CC</a:t>
            </a:r>
            <a:r>
              <a:rPr lang="zh-CN" altLang="en-US" sz="2400" b="1" dirty="0"/>
              <a:t>、</a:t>
            </a:r>
            <a:r>
              <a:rPr lang="en-US" altLang="zh-CN" sz="2400" b="1" dirty="0"/>
              <a:t>u</a:t>
            </a:r>
            <a:r>
              <a:rPr lang="en-US" altLang="zh-CN" sz="2400" b="1" baseline="-25000" dirty="0"/>
              <a:t>I2</a:t>
            </a:r>
            <a:r>
              <a:rPr lang="en-US" altLang="zh-CN" sz="2400" b="1" dirty="0"/>
              <a:t>(∞) = 0</a:t>
            </a:r>
            <a:r>
              <a:rPr lang="zh-CN" altLang="en-US" sz="2400" b="1" dirty="0"/>
              <a:t>。</a:t>
            </a:r>
            <a:r>
              <a:rPr lang="en-US" altLang="zh-CN" sz="2400" b="1" dirty="0"/>
              <a:t>R</a:t>
            </a:r>
            <a:r>
              <a:rPr lang="en-US" altLang="zh-CN" sz="2400" b="1" baseline="-25000" dirty="0"/>
              <a:t>N</a:t>
            </a:r>
            <a:r>
              <a:rPr lang="zh-CN" altLang="en-US" sz="2400" b="1" dirty="0"/>
              <a:t>是</a:t>
            </a:r>
            <a:r>
              <a:rPr lang="en-US" altLang="zh-CN" sz="2400" b="1" dirty="0"/>
              <a:t>G</a:t>
            </a:r>
            <a:r>
              <a:rPr lang="en-US" altLang="zh-CN" sz="2400" b="1" baseline="-25000" dirty="0"/>
              <a:t>1</a:t>
            </a:r>
            <a:r>
              <a:rPr lang="zh-CN" altLang="en-US" sz="2400" b="1" dirty="0"/>
              <a:t>门输出低电平时</a:t>
            </a:r>
            <a:r>
              <a:rPr lang="en-US" altLang="zh-CN" sz="2400" b="1" dirty="0"/>
              <a:t>N</a:t>
            </a:r>
            <a:r>
              <a:rPr lang="zh-CN" altLang="en-US" sz="2400" b="1" dirty="0"/>
              <a:t>沟道</a:t>
            </a:r>
            <a:r>
              <a:rPr lang="en-US" altLang="zh-CN" sz="2400" b="1" dirty="0"/>
              <a:t>MOS</a:t>
            </a:r>
            <a:r>
              <a:rPr lang="zh-CN" altLang="en-US" sz="2400" b="1" dirty="0"/>
              <a:t>管的导通电阻，当</a:t>
            </a:r>
            <a:r>
              <a:rPr lang="en-US" altLang="zh-CN" sz="2400" b="1" dirty="0"/>
              <a:t>R</a:t>
            </a:r>
            <a:r>
              <a:rPr lang="en-US" altLang="zh-CN" sz="2400" b="1" baseline="-25000" dirty="0"/>
              <a:t>N</a:t>
            </a:r>
            <a:r>
              <a:rPr lang="en-US" altLang="zh-CN" sz="2400" b="1" dirty="0"/>
              <a:t>&lt;&lt;R</a:t>
            </a:r>
            <a:r>
              <a:rPr lang="zh-CN" altLang="en-US" sz="2400" b="1" dirty="0"/>
              <a:t>时，</a:t>
            </a:r>
            <a:r>
              <a:rPr lang="en-US" altLang="zh-CN" sz="2400" b="1" dirty="0"/>
              <a:t>R</a:t>
            </a:r>
            <a:r>
              <a:rPr lang="en-US" altLang="zh-CN" sz="2400" b="1" baseline="-25000" dirty="0"/>
              <a:t>N</a:t>
            </a:r>
            <a:r>
              <a:rPr lang="zh-CN" altLang="en-US" sz="2400" b="1" dirty="0"/>
              <a:t>可忽略不计， 则输出脉冲的宽度为： </a:t>
            </a:r>
            <a:endParaRPr lang="zh-CN" altLang="en-US" sz="2400" b="1" dirty="0"/>
          </a:p>
        </p:txBody>
      </p:sp>
      <p:graphicFrame>
        <p:nvGraphicFramePr>
          <p:cNvPr id="38915" name="Object 5"/>
          <p:cNvGraphicFramePr>
            <a:graphicFrameLocks noChangeAspect="1"/>
          </p:cNvGraphicFramePr>
          <p:nvPr/>
        </p:nvGraphicFramePr>
        <p:xfrm>
          <a:off x="2133600" y="3429000"/>
          <a:ext cx="5486400" cy="941388"/>
        </p:xfrm>
        <a:graphic>
          <a:graphicData uri="http://schemas.openxmlformats.org/presentationml/2006/ole">
            <mc:AlternateContent xmlns:mc="http://schemas.openxmlformats.org/markup-compatibility/2006">
              <mc:Choice xmlns:v="urn:schemas-microsoft-com:vml" Requires="v">
                <p:oleObj spid="_x0000_s3112" name="" r:id="rId1" imgW="2514600" imgH="431800" progId="Equation.3">
                  <p:embed/>
                </p:oleObj>
              </mc:Choice>
              <mc:Fallback>
                <p:oleObj name="" r:id="rId1" imgW="2514600" imgH="431800" progId="Equation.3">
                  <p:embed/>
                  <p:pic>
                    <p:nvPicPr>
                      <p:cNvPr id="0" name="图片 3111"/>
                      <p:cNvPicPr/>
                      <p:nvPr/>
                    </p:nvPicPr>
                    <p:blipFill>
                      <a:blip r:embed="rId2"/>
                      <a:stretch>
                        <a:fillRect/>
                      </a:stretch>
                    </p:blipFill>
                    <p:spPr>
                      <a:xfrm>
                        <a:off x="2133600" y="3429000"/>
                        <a:ext cx="5486400" cy="941388"/>
                      </a:xfrm>
                      <a:prstGeom prst="rect">
                        <a:avLst/>
                      </a:prstGeom>
                      <a:noFill/>
                      <a:ln w="38100">
                        <a:noFill/>
                        <a:miter/>
                      </a:ln>
                    </p:spPr>
                  </p:pic>
                </p:oleObj>
              </mc:Fallback>
            </mc:AlternateContent>
          </a:graphicData>
        </a:graphic>
      </p:graphicFrame>
      <p:sp>
        <p:nvSpPr>
          <p:cNvPr id="38916" name="Text Box 6"/>
          <p:cNvSpPr txBox="1"/>
          <p:nvPr/>
        </p:nvSpPr>
        <p:spPr>
          <a:xfrm>
            <a:off x="152400" y="4495800"/>
            <a:ext cx="2698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dirty="0"/>
              <a:t> </a:t>
            </a:r>
            <a:r>
              <a:rPr lang="zh-CN" altLang="en-US" sz="2400" b="1" dirty="0"/>
              <a:t>输出脉冲的幅度为</a:t>
            </a:r>
            <a:endParaRPr lang="zh-CN" altLang="en-US" sz="2400" b="1" dirty="0"/>
          </a:p>
        </p:txBody>
      </p:sp>
      <p:sp>
        <p:nvSpPr>
          <p:cNvPr id="38917" name="Text Box 7"/>
          <p:cNvSpPr txBox="1"/>
          <p:nvPr/>
        </p:nvSpPr>
        <p:spPr>
          <a:xfrm>
            <a:off x="8197850" y="3657600"/>
            <a:ext cx="946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(7-15)</a:t>
            </a:r>
            <a:endParaRPr lang="en-US" altLang="zh-CN" sz="2400" dirty="0"/>
          </a:p>
        </p:txBody>
      </p:sp>
      <p:graphicFrame>
        <p:nvGraphicFramePr>
          <p:cNvPr id="38918" name="Object 8"/>
          <p:cNvGraphicFramePr>
            <a:graphicFrameLocks noChangeAspect="1"/>
          </p:cNvGraphicFramePr>
          <p:nvPr/>
        </p:nvGraphicFramePr>
        <p:xfrm>
          <a:off x="2762250" y="5181600"/>
          <a:ext cx="3771900" cy="617538"/>
        </p:xfrm>
        <a:graphic>
          <a:graphicData uri="http://schemas.openxmlformats.org/presentationml/2006/ole">
            <mc:AlternateContent xmlns:mc="http://schemas.openxmlformats.org/markup-compatibility/2006">
              <mc:Choice xmlns:v="urn:schemas-microsoft-com:vml" Requires="v">
                <p:oleObj spid="_x0000_s3109" name="" r:id="rId3" imgW="1397000" imgH="228600" progId="Equation.3">
                  <p:embed/>
                </p:oleObj>
              </mc:Choice>
              <mc:Fallback>
                <p:oleObj name="" r:id="rId3" imgW="1397000" imgH="228600" progId="Equation.3">
                  <p:embed/>
                  <p:pic>
                    <p:nvPicPr>
                      <p:cNvPr id="0" name="图片 3108"/>
                      <p:cNvPicPr/>
                      <p:nvPr/>
                    </p:nvPicPr>
                    <p:blipFill>
                      <a:blip r:embed="rId4"/>
                      <a:stretch>
                        <a:fillRect/>
                      </a:stretch>
                    </p:blipFill>
                    <p:spPr>
                      <a:xfrm>
                        <a:off x="2762250" y="5181600"/>
                        <a:ext cx="3771900" cy="617538"/>
                      </a:xfrm>
                      <a:prstGeom prst="rect">
                        <a:avLst/>
                      </a:prstGeom>
                      <a:noFill/>
                      <a:ln w="38100">
                        <a:noFill/>
                        <a:miter/>
                      </a:ln>
                    </p:spPr>
                  </p:pic>
                </p:oleObj>
              </mc:Fallback>
            </mc:AlternateContent>
          </a:graphicData>
        </a:graphic>
      </p:graphicFrame>
      <p:sp>
        <p:nvSpPr>
          <p:cNvPr id="38919" name="Text Box 9"/>
          <p:cNvSpPr txBox="1"/>
          <p:nvPr/>
        </p:nvSpPr>
        <p:spPr>
          <a:xfrm>
            <a:off x="8197850" y="5257800"/>
            <a:ext cx="946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(7-16)</a:t>
            </a:r>
            <a:endParaRPr lang="en-US" altLang="zh-CN" sz="2400" dirty="0"/>
          </a:p>
        </p:txBody>
      </p:sp>
    </p:spTree>
  </p:cSld>
  <p:clrMapOvr>
    <a:masterClrMapping/>
  </p:clrMapOvr>
  <p:transition>
    <p:checke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ext Box 1028"/>
          <p:cNvSpPr txBox="1"/>
          <p:nvPr/>
        </p:nvSpPr>
        <p:spPr>
          <a:xfrm>
            <a:off x="228600" y="609600"/>
            <a:ext cx="8839200" cy="16256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40000"/>
              </a:lnSpc>
              <a:spcBef>
                <a:spcPct val="50000"/>
              </a:spcBef>
              <a:buNone/>
            </a:pPr>
            <a:r>
              <a:rPr lang="en-US" altLang="zh-CN" sz="2400" dirty="0"/>
              <a:t>        </a:t>
            </a:r>
            <a:r>
              <a:rPr lang="zh-CN" altLang="en-US" sz="2400" b="1" dirty="0"/>
              <a:t>恢复时间</a:t>
            </a:r>
            <a:r>
              <a:rPr lang="en-US" altLang="zh-CN" sz="2400" b="1" dirty="0"/>
              <a:t>T</a:t>
            </a:r>
            <a:r>
              <a:rPr lang="en-US" altLang="zh-CN" sz="2400" b="1" baseline="-25000" dirty="0"/>
              <a:t>re</a:t>
            </a:r>
            <a:r>
              <a:rPr lang="zh-CN" altLang="en-US" sz="2400" b="1" dirty="0"/>
              <a:t>等于</a:t>
            </a:r>
            <a:r>
              <a:rPr lang="en-US" altLang="zh-CN" sz="2400" b="1" dirty="0"/>
              <a:t>u</a:t>
            </a:r>
            <a:r>
              <a:rPr lang="en-US" altLang="zh-CN" sz="2400" b="1" baseline="-25000" dirty="0"/>
              <a:t>O1</a:t>
            </a:r>
            <a:r>
              <a:rPr lang="zh-CN" altLang="en-US" sz="2400" b="1" dirty="0"/>
              <a:t>跳变到高电平后电容充电使</a:t>
            </a:r>
            <a:r>
              <a:rPr lang="en-US" altLang="zh-CN" sz="2400" b="1" dirty="0"/>
              <a:t>u</a:t>
            </a:r>
            <a:r>
              <a:rPr lang="en-US" altLang="zh-CN" sz="2400" b="1" baseline="-25000" dirty="0"/>
              <a:t>I2</a:t>
            </a:r>
            <a:r>
              <a:rPr lang="zh-CN" altLang="en-US" sz="2400" b="1" dirty="0"/>
              <a:t>上升到高电平</a:t>
            </a:r>
            <a:r>
              <a:rPr lang="en-US" altLang="zh-CN" sz="2400" b="1" dirty="0"/>
              <a:t>U</a:t>
            </a:r>
            <a:r>
              <a:rPr lang="en-US" altLang="zh-CN" sz="2400" b="1" baseline="-25000" dirty="0"/>
              <a:t>OH</a:t>
            </a:r>
            <a:r>
              <a:rPr lang="zh-CN" altLang="en-US" sz="2400" b="1" dirty="0"/>
              <a:t>所需要的时间，一般取电容充电时间常数的</a:t>
            </a:r>
            <a:r>
              <a:rPr lang="en-US" altLang="zh-CN" sz="2400" b="1" dirty="0"/>
              <a:t>3</a:t>
            </a:r>
            <a:r>
              <a:rPr lang="zh-CN" altLang="en-US" sz="2400" b="1" dirty="0"/>
              <a:t>～</a:t>
            </a:r>
            <a:r>
              <a:rPr lang="en-US" altLang="zh-CN" sz="2400" b="1" dirty="0"/>
              <a:t>5</a:t>
            </a:r>
            <a:r>
              <a:rPr lang="zh-CN" altLang="en-US" sz="2400" b="1" dirty="0"/>
              <a:t>倍，则恢复时间为</a:t>
            </a:r>
            <a:endParaRPr lang="zh-CN" altLang="en-US" sz="2400" b="1" dirty="0"/>
          </a:p>
        </p:txBody>
      </p:sp>
      <p:graphicFrame>
        <p:nvGraphicFramePr>
          <p:cNvPr id="39939" name="Object 1029"/>
          <p:cNvGraphicFramePr>
            <a:graphicFrameLocks noChangeAspect="1"/>
          </p:cNvGraphicFramePr>
          <p:nvPr/>
        </p:nvGraphicFramePr>
        <p:xfrm>
          <a:off x="2743200" y="2514600"/>
          <a:ext cx="3352800" cy="588963"/>
        </p:xfrm>
        <a:graphic>
          <a:graphicData uri="http://schemas.openxmlformats.org/presentationml/2006/ole">
            <mc:AlternateContent xmlns:mc="http://schemas.openxmlformats.org/markup-compatibility/2006">
              <mc:Choice xmlns:v="urn:schemas-microsoft-com:vml" Requires="v">
                <p:oleObj spid="_x0000_s3111" name="" r:id="rId1" imgW="1371600" imgH="241300" progId="Equation.3">
                  <p:embed/>
                </p:oleObj>
              </mc:Choice>
              <mc:Fallback>
                <p:oleObj name="" r:id="rId1" imgW="1371600" imgH="241300" progId="Equation.3">
                  <p:embed/>
                  <p:pic>
                    <p:nvPicPr>
                      <p:cNvPr id="0" name="图片 3110"/>
                      <p:cNvPicPr/>
                      <p:nvPr/>
                    </p:nvPicPr>
                    <p:blipFill>
                      <a:blip r:embed="rId2"/>
                      <a:stretch>
                        <a:fillRect/>
                      </a:stretch>
                    </p:blipFill>
                    <p:spPr>
                      <a:xfrm>
                        <a:off x="2743200" y="2514600"/>
                        <a:ext cx="3352800" cy="588963"/>
                      </a:xfrm>
                      <a:prstGeom prst="rect">
                        <a:avLst/>
                      </a:prstGeom>
                      <a:noFill/>
                      <a:ln w="38100">
                        <a:noFill/>
                        <a:miter/>
                      </a:ln>
                    </p:spPr>
                  </p:pic>
                </p:oleObj>
              </mc:Fallback>
            </mc:AlternateContent>
          </a:graphicData>
        </a:graphic>
      </p:graphicFrame>
      <p:sp>
        <p:nvSpPr>
          <p:cNvPr id="39940" name="Text Box 1030"/>
          <p:cNvSpPr txBox="1"/>
          <p:nvPr/>
        </p:nvSpPr>
        <p:spPr>
          <a:xfrm>
            <a:off x="8197850" y="2514600"/>
            <a:ext cx="946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(7-17)</a:t>
            </a:r>
            <a:endParaRPr lang="en-US" altLang="zh-CN" sz="2400" dirty="0"/>
          </a:p>
        </p:txBody>
      </p:sp>
      <p:sp>
        <p:nvSpPr>
          <p:cNvPr id="39941" name="Text Box 1031"/>
          <p:cNvSpPr txBox="1"/>
          <p:nvPr/>
        </p:nvSpPr>
        <p:spPr>
          <a:xfrm>
            <a:off x="152400" y="3429000"/>
            <a:ext cx="82232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其中，</a:t>
            </a:r>
            <a:r>
              <a:rPr lang="en-US" altLang="zh-CN" sz="2400" b="1" dirty="0"/>
              <a:t>R</a:t>
            </a:r>
            <a:r>
              <a:rPr lang="en-US" altLang="zh-CN" sz="2400" b="1" baseline="-25000" dirty="0"/>
              <a:t>P</a:t>
            </a:r>
            <a:r>
              <a:rPr lang="zh-CN" altLang="en-US" sz="2400" b="1" dirty="0"/>
              <a:t>是</a:t>
            </a:r>
            <a:r>
              <a:rPr lang="en-US" altLang="zh-CN" sz="2400" b="1" dirty="0"/>
              <a:t>G</a:t>
            </a:r>
            <a:r>
              <a:rPr lang="en-US" altLang="zh-CN" sz="2400" b="1" baseline="-25000" dirty="0"/>
              <a:t>1</a:t>
            </a:r>
            <a:r>
              <a:rPr lang="zh-CN" altLang="en-US" sz="2400" b="1" dirty="0"/>
              <a:t>门输出高电平时</a:t>
            </a:r>
            <a:r>
              <a:rPr lang="en-US" altLang="zh-CN" sz="2400" b="1" dirty="0"/>
              <a:t>P</a:t>
            </a:r>
            <a:r>
              <a:rPr lang="zh-CN" altLang="en-US" sz="2400" b="1" dirty="0"/>
              <a:t>沟道</a:t>
            </a:r>
            <a:r>
              <a:rPr lang="en-US" altLang="zh-CN" sz="2400" b="1" dirty="0"/>
              <a:t>MOS</a:t>
            </a:r>
            <a:r>
              <a:rPr lang="zh-CN" altLang="en-US" sz="2400" b="1" dirty="0"/>
              <a:t>管的导通电阻。 </a:t>
            </a:r>
            <a:endParaRPr lang="zh-CN" altLang="en-US" sz="2400" b="1" dirty="0"/>
          </a:p>
        </p:txBody>
      </p:sp>
      <p:sp>
        <p:nvSpPr>
          <p:cNvPr id="39942" name="Text Box 1032"/>
          <p:cNvSpPr txBox="1"/>
          <p:nvPr/>
        </p:nvSpPr>
        <p:spPr>
          <a:xfrm>
            <a:off x="762000" y="4495800"/>
            <a:ext cx="81089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电路的分辨时间应为触发脉冲宽度和恢复时间之和，即</a:t>
            </a:r>
            <a:endParaRPr lang="zh-CN" altLang="en-US" sz="2400" b="1" dirty="0"/>
          </a:p>
        </p:txBody>
      </p:sp>
      <p:graphicFrame>
        <p:nvGraphicFramePr>
          <p:cNvPr id="39943" name="Object 1033"/>
          <p:cNvGraphicFramePr>
            <a:graphicFrameLocks noChangeAspect="1"/>
          </p:cNvGraphicFramePr>
          <p:nvPr/>
        </p:nvGraphicFramePr>
        <p:xfrm>
          <a:off x="3352800" y="5302250"/>
          <a:ext cx="2438400" cy="708025"/>
        </p:xfrm>
        <a:graphic>
          <a:graphicData uri="http://schemas.openxmlformats.org/presentationml/2006/ole">
            <mc:AlternateContent xmlns:mc="http://schemas.openxmlformats.org/markup-compatibility/2006">
              <mc:Choice xmlns:v="urn:schemas-microsoft-com:vml" Requires="v">
                <p:oleObj spid="_x0000_s3114" name="" r:id="rId3" imgW="787400" imgH="228600" progId="Equation.3">
                  <p:embed/>
                </p:oleObj>
              </mc:Choice>
              <mc:Fallback>
                <p:oleObj name="" r:id="rId3" imgW="787400" imgH="228600" progId="Equation.3">
                  <p:embed/>
                  <p:pic>
                    <p:nvPicPr>
                      <p:cNvPr id="0" name="图片 3113"/>
                      <p:cNvPicPr/>
                      <p:nvPr/>
                    </p:nvPicPr>
                    <p:blipFill>
                      <a:blip r:embed="rId4"/>
                      <a:stretch>
                        <a:fillRect/>
                      </a:stretch>
                    </p:blipFill>
                    <p:spPr>
                      <a:xfrm>
                        <a:off x="3352800" y="5302250"/>
                        <a:ext cx="2438400" cy="708025"/>
                      </a:xfrm>
                      <a:prstGeom prst="rect">
                        <a:avLst/>
                      </a:prstGeom>
                      <a:noFill/>
                      <a:ln w="38100">
                        <a:noFill/>
                        <a:miter/>
                      </a:ln>
                    </p:spPr>
                  </p:pic>
                </p:oleObj>
              </mc:Fallback>
            </mc:AlternateContent>
          </a:graphicData>
        </a:graphic>
      </p:graphicFrame>
      <p:sp>
        <p:nvSpPr>
          <p:cNvPr id="39944" name="Text Box 1034"/>
          <p:cNvSpPr txBox="1"/>
          <p:nvPr/>
        </p:nvSpPr>
        <p:spPr>
          <a:xfrm>
            <a:off x="8197850" y="5486400"/>
            <a:ext cx="946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(7-18)</a:t>
            </a:r>
            <a:endParaRPr lang="en-US" altLang="zh-CN" sz="2400" dirty="0"/>
          </a:p>
        </p:txBody>
      </p:sp>
    </p:spTree>
  </p:cSld>
  <p:clrMapOvr>
    <a:masterClrMapping/>
  </p:clrMapOvr>
  <p:transition>
    <p:checke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ext Box 4"/>
          <p:cNvSpPr txBox="1"/>
          <p:nvPr/>
        </p:nvSpPr>
        <p:spPr>
          <a:xfrm>
            <a:off x="228600" y="708025"/>
            <a:ext cx="8686800" cy="47021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8000"/>
              </a:lnSpc>
              <a:spcBef>
                <a:spcPct val="50000"/>
              </a:spcBef>
              <a:buNone/>
            </a:pPr>
            <a:r>
              <a:rPr lang="en-US" altLang="zh-CN" sz="2400" dirty="0"/>
              <a:t>        </a:t>
            </a:r>
            <a:r>
              <a:rPr lang="zh-CN" altLang="en-US" sz="2400" b="1" dirty="0"/>
              <a:t>与微分型单稳态触发器相比， 积分型单稳态触发器的抗干扰能力较强。因为数字电路中的干扰多为尖峰脉冲的形式（幅度较大而宽度极窄），而当触发脉冲的宽度小于输出脉冲宽度时， 电路不会产生足够宽度的输出脉冲。 从另一个角度来说， 为了使积分型单稳态触发器正常工作， 必须保证触发脉冲的宽度大于输出脉冲的宽度。另外，由于电路中不存在正反馈过程， 所以使输出脉冲的上升沿波形较差，为此可以在电路的输出端再加一级非门以改善输出波形。 </a:t>
            </a:r>
            <a:endParaRPr lang="zh-CN" altLang="en-US" sz="2400" b="1" dirty="0"/>
          </a:p>
        </p:txBody>
      </p:sp>
    </p:spTree>
  </p:cSld>
  <p:clrMapOvr>
    <a:masterClrMapping/>
  </p:clrMapOvr>
  <p:transition>
    <p:checke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Text Box 1028"/>
          <p:cNvSpPr txBox="1"/>
          <p:nvPr/>
        </p:nvSpPr>
        <p:spPr>
          <a:xfrm>
            <a:off x="228600" y="762000"/>
            <a:ext cx="8686800" cy="48593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7000"/>
              </a:lnSpc>
              <a:spcBef>
                <a:spcPct val="50000"/>
              </a:spcBef>
              <a:buNone/>
            </a:pPr>
            <a:r>
              <a:rPr lang="en-US" altLang="zh-CN" sz="2400" b="1" dirty="0"/>
              <a:t>7.2.2  </a:t>
            </a:r>
            <a:r>
              <a:rPr lang="zh-CN" altLang="en-US" sz="2400" b="1" dirty="0"/>
              <a:t>集成单稳态触发器</a:t>
            </a:r>
            <a:endParaRPr lang="zh-CN" altLang="en-US" sz="2400" b="1" dirty="0"/>
          </a:p>
          <a:p>
            <a:pPr marL="0" lvl="0" indent="0" eaLnBrk="1" hangingPunct="1">
              <a:lnSpc>
                <a:spcPct val="157000"/>
              </a:lnSpc>
              <a:spcBef>
                <a:spcPct val="50000"/>
              </a:spcBef>
              <a:buNone/>
            </a:pPr>
            <a:r>
              <a:rPr lang="zh-CN" altLang="en-US" sz="2400" dirty="0"/>
              <a:t>        </a:t>
            </a:r>
            <a:r>
              <a:rPr lang="zh-CN" altLang="en-US" sz="2400" b="1" dirty="0"/>
              <a:t>目前在</a:t>
            </a:r>
            <a:r>
              <a:rPr lang="en-US" altLang="zh-CN" sz="2400" b="1" dirty="0"/>
              <a:t>TTL</a:t>
            </a:r>
            <a:r>
              <a:rPr lang="zh-CN" altLang="en-US" sz="2400" b="1" dirty="0"/>
              <a:t>和</a:t>
            </a:r>
            <a:r>
              <a:rPr lang="en-US" altLang="zh-CN" sz="2400" b="1" dirty="0"/>
              <a:t>COMS</a:t>
            </a:r>
            <a:r>
              <a:rPr lang="zh-CN" altLang="en-US" sz="2400" b="1" dirty="0"/>
              <a:t>集成电路产品中都有单片集成的单稳态触发器。这种集成单稳态触发器除了少数用于定时的电阻、电容需要外接以外，其它电路都集成在一个芯片上，而且电路还附加了上升沿与下降沿触发控制功能，有的还带有清零功能， 具有温度稳定性好、使用方便等优点，在数字系统中得到了广泛的应用。下面我们对集成单稳态触发器中的典型产品</a:t>
            </a:r>
            <a:r>
              <a:rPr lang="en-US" altLang="zh-CN" sz="2400" b="1" dirty="0"/>
              <a:t>74121</a:t>
            </a:r>
            <a:r>
              <a:rPr lang="zh-CN" altLang="en-US" sz="2400" b="1" dirty="0"/>
              <a:t>的功能和使用方法作简要的介绍。 </a:t>
            </a:r>
            <a:endParaRPr lang="zh-CN" altLang="en-US" sz="2400" b="1" dirty="0"/>
          </a:p>
        </p:txBody>
      </p:sp>
    </p:spTree>
  </p:cSld>
  <p:clrMapOvr>
    <a:masterClrMapping/>
  </p:clrMapOvr>
  <p:transition>
    <p:checke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3010" name="Group 7"/>
          <p:cNvGrpSpPr/>
          <p:nvPr/>
        </p:nvGrpSpPr>
        <p:grpSpPr>
          <a:xfrm>
            <a:off x="228600" y="457200"/>
            <a:ext cx="8686800" cy="5678488"/>
            <a:chOff x="144" y="288"/>
            <a:chExt cx="5472" cy="3577"/>
          </a:xfrm>
        </p:grpSpPr>
        <p:sp>
          <p:nvSpPr>
            <p:cNvPr id="43011" name="Text Box 4"/>
            <p:cNvSpPr txBox="1"/>
            <p:nvPr/>
          </p:nvSpPr>
          <p:spPr>
            <a:xfrm>
              <a:off x="144" y="288"/>
              <a:ext cx="5472" cy="357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70000"/>
                </a:lnSpc>
                <a:spcBef>
                  <a:spcPct val="50000"/>
                </a:spcBef>
                <a:buNone/>
              </a:pPr>
              <a:r>
                <a:rPr lang="en-US" altLang="zh-CN" sz="2400" dirty="0"/>
                <a:t>        </a:t>
              </a:r>
              <a:r>
                <a:rPr lang="en-US" altLang="zh-CN" sz="2400" b="1" dirty="0"/>
                <a:t>74121</a:t>
              </a:r>
              <a:r>
                <a:rPr lang="zh-CN" altLang="en-US" sz="2400" b="1" dirty="0"/>
                <a:t>是一种典型的</a:t>
              </a:r>
              <a:r>
                <a:rPr lang="en-US" altLang="zh-CN" sz="2400" b="1" dirty="0"/>
                <a:t>TTL</a:t>
              </a:r>
              <a:r>
                <a:rPr lang="zh-CN" altLang="en-US" sz="2400" b="1" dirty="0"/>
                <a:t>集成单稳态触发器，其引脚图如图</a:t>
              </a:r>
              <a:r>
                <a:rPr lang="en-US" altLang="zh-CN" sz="2400" b="1" dirty="0"/>
                <a:t>7-16</a:t>
              </a:r>
              <a:r>
                <a:rPr lang="zh-CN" altLang="en-US" sz="2400" b="1" dirty="0"/>
                <a:t>所示</a:t>
              </a:r>
              <a:r>
                <a:rPr lang="en-US" altLang="zh-CN" sz="2400" b="1" dirty="0"/>
                <a:t>(</a:t>
              </a:r>
              <a:r>
                <a:rPr lang="zh-CN" altLang="en-US" sz="2400" b="1" dirty="0"/>
                <a:t>其中，</a:t>
              </a:r>
              <a:r>
                <a:rPr lang="en-US" altLang="zh-CN" sz="2400" b="1" dirty="0"/>
                <a:t>14</a:t>
              </a:r>
              <a:r>
                <a:rPr lang="zh-CN" altLang="en-US" sz="2400" b="1" dirty="0"/>
                <a:t>脚</a:t>
              </a:r>
              <a:r>
                <a:rPr lang="en-US" altLang="zh-CN" sz="2400" b="1" dirty="0"/>
                <a:t>U</a:t>
              </a:r>
              <a:r>
                <a:rPr lang="en-US" altLang="zh-CN" sz="2400" b="1" baseline="-25000" dirty="0"/>
                <a:t>CC</a:t>
              </a:r>
              <a:r>
                <a:rPr lang="zh-CN" altLang="en-US" sz="2400" b="1" dirty="0"/>
                <a:t>在集成电路产品手册中常写作</a:t>
              </a:r>
              <a:r>
                <a:rPr lang="en-US" altLang="zh-CN" sz="2400" b="1" dirty="0"/>
                <a:t>U</a:t>
              </a:r>
              <a:r>
                <a:rPr lang="en-US" altLang="zh-CN" sz="2400" b="1" baseline="-25000" dirty="0"/>
                <a:t>CC</a:t>
              </a:r>
              <a:r>
                <a:rPr lang="zh-CN" altLang="en-US" sz="2400" b="1" dirty="0"/>
                <a:t>，下同</a:t>
              </a:r>
              <a:r>
                <a:rPr lang="en-US" altLang="zh-CN" sz="2400" b="1" dirty="0"/>
                <a:t>)</a:t>
              </a:r>
              <a:r>
                <a:rPr lang="zh-CN" altLang="en-US" sz="2400" b="1" dirty="0"/>
                <a:t>，表</a:t>
              </a:r>
              <a:r>
                <a:rPr lang="en-US" altLang="zh-CN" sz="2400" b="1" dirty="0"/>
                <a:t>9-1</a:t>
              </a:r>
              <a:r>
                <a:rPr lang="zh-CN" altLang="en-US" sz="2400" b="1" dirty="0"/>
                <a:t>是它的功能表。</a:t>
              </a:r>
              <a:r>
                <a:rPr lang="en-US" altLang="zh-CN" sz="2400" b="1" dirty="0"/>
                <a:t>74121</a:t>
              </a:r>
              <a:r>
                <a:rPr lang="zh-CN" altLang="en-US" sz="2400" b="1" dirty="0"/>
                <a:t>是以微分型单稳态触发电路为核心，再加上输入控制电路和输出缓冲电路构成的。输入控制电路主要用于实现上升沿触发或下降沿触发的控制， 输出缓冲电路则是为了提高单稳态触发器的负载能力。另外芯片内部还有一个</a:t>
              </a:r>
              <a:r>
                <a:rPr lang="en-US" altLang="zh-CN" sz="2400" b="1" dirty="0"/>
                <a:t>2 kΩ</a:t>
              </a:r>
              <a:r>
                <a:rPr lang="zh-CN" altLang="en-US" sz="2400" b="1" dirty="0"/>
                <a:t>的内部定时电阻可供使用。在稳定状态下，单稳态触发器的输出</a:t>
              </a:r>
              <a:r>
                <a:rPr lang="en-US" altLang="zh-CN" sz="2400" b="1" i="1" dirty="0"/>
                <a:t>Q</a:t>
              </a:r>
              <a:r>
                <a:rPr lang="en-US" altLang="zh-CN" sz="2400" b="1" dirty="0"/>
                <a:t> = 0</a:t>
              </a:r>
              <a:r>
                <a:rPr lang="zh-CN" altLang="en-US" sz="2400" b="1" dirty="0"/>
                <a:t>、   	 ； 当有触发脉冲作用时，电路进入暂稳态，</a:t>
              </a:r>
              <a:r>
                <a:rPr lang="en-US" altLang="zh-CN" sz="2400" b="1" i="1" dirty="0"/>
                <a:t>Q</a:t>
              </a:r>
              <a:r>
                <a:rPr lang="en-US" altLang="zh-CN" sz="2400" b="1" dirty="0"/>
                <a:t> = 1</a:t>
              </a:r>
              <a:r>
                <a:rPr lang="zh-CN" altLang="en-US" sz="2400" b="1" dirty="0"/>
                <a:t>、 	     。 </a:t>
              </a:r>
              <a:endParaRPr lang="zh-CN" altLang="en-US" sz="2400" b="1" dirty="0"/>
            </a:p>
          </p:txBody>
        </p:sp>
        <p:graphicFrame>
          <p:nvGraphicFramePr>
            <p:cNvPr id="43012" name="Object 5"/>
            <p:cNvGraphicFramePr>
              <a:graphicFrameLocks noChangeAspect="1"/>
            </p:cNvGraphicFramePr>
            <p:nvPr/>
          </p:nvGraphicFramePr>
          <p:xfrm>
            <a:off x="1948" y="3120"/>
            <a:ext cx="548" cy="359"/>
          </p:xfrm>
          <a:graphic>
            <a:graphicData uri="http://schemas.openxmlformats.org/presentationml/2006/ole">
              <mc:AlternateContent xmlns:mc="http://schemas.openxmlformats.org/markup-compatibility/2006">
                <mc:Choice xmlns:v="urn:schemas-microsoft-com:vml" Requires="v">
                  <p:oleObj spid="_x0000_s3110" name="" r:id="rId1" imgW="368300" imgH="241300" progId="Equation.3">
                    <p:embed/>
                  </p:oleObj>
                </mc:Choice>
                <mc:Fallback>
                  <p:oleObj name="" r:id="rId1" imgW="368300" imgH="241300" progId="Equation.3">
                    <p:embed/>
                    <p:pic>
                      <p:nvPicPr>
                        <p:cNvPr id="0" name="图片 3109"/>
                        <p:cNvPicPr/>
                        <p:nvPr/>
                      </p:nvPicPr>
                      <p:blipFill>
                        <a:blip r:embed="rId2"/>
                        <a:stretch>
                          <a:fillRect/>
                        </a:stretch>
                      </p:blipFill>
                      <p:spPr>
                        <a:xfrm>
                          <a:off x="1948" y="3120"/>
                          <a:ext cx="548" cy="359"/>
                        </a:xfrm>
                        <a:prstGeom prst="rect">
                          <a:avLst/>
                        </a:prstGeom>
                        <a:noFill/>
                        <a:ln w="38100">
                          <a:noFill/>
                          <a:miter/>
                        </a:ln>
                      </p:spPr>
                    </p:pic>
                  </p:oleObj>
                </mc:Fallback>
              </mc:AlternateContent>
            </a:graphicData>
          </a:graphic>
        </p:graphicFrame>
        <p:graphicFrame>
          <p:nvGraphicFramePr>
            <p:cNvPr id="43013" name="Object 6"/>
            <p:cNvGraphicFramePr>
              <a:graphicFrameLocks noChangeAspect="1"/>
            </p:cNvGraphicFramePr>
            <p:nvPr/>
          </p:nvGraphicFramePr>
          <p:xfrm>
            <a:off x="1527" y="3504"/>
            <a:ext cx="567" cy="359"/>
          </p:xfrm>
          <a:graphic>
            <a:graphicData uri="http://schemas.openxmlformats.org/presentationml/2006/ole">
              <mc:AlternateContent xmlns:mc="http://schemas.openxmlformats.org/markup-compatibility/2006">
                <mc:Choice xmlns:v="urn:schemas-microsoft-com:vml" Requires="v">
                  <p:oleObj spid="_x0000_s3113" name="" r:id="rId3" imgW="381000" imgH="241300" progId="Equation.3">
                    <p:embed/>
                  </p:oleObj>
                </mc:Choice>
                <mc:Fallback>
                  <p:oleObj name="" r:id="rId3" imgW="381000" imgH="241300" progId="Equation.3">
                    <p:embed/>
                    <p:pic>
                      <p:nvPicPr>
                        <p:cNvPr id="0" name="图片 3112"/>
                        <p:cNvPicPr/>
                        <p:nvPr/>
                      </p:nvPicPr>
                      <p:blipFill>
                        <a:blip r:embed="rId4"/>
                        <a:stretch>
                          <a:fillRect/>
                        </a:stretch>
                      </p:blipFill>
                      <p:spPr>
                        <a:xfrm>
                          <a:off x="1527" y="3504"/>
                          <a:ext cx="567" cy="359"/>
                        </a:xfrm>
                        <a:prstGeom prst="rect">
                          <a:avLst/>
                        </a:prstGeom>
                        <a:noFill/>
                        <a:ln w="38100">
                          <a:noFill/>
                          <a:miter/>
                        </a:ln>
                      </p:spPr>
                    </p:pic>
                  </p:oleObj>
                </mc:Fallback>
              </mc:AlternateContent>
            </a:graphicData>
          </a:graphic>
        </p:graphicFrame>
      </p:grpSp>
    </p:spTree>
  </p:cSld>
  <p:clrMapOvr>
    <a:masterClrMapping/>
  </p:clrMapOvr>
  <p:transition>
    <p:checke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Text Box 4"/>
          <p:cNvSpPr txBox="1"/>
          <p:nvPr/>
        </p:nvSpPr>
        <p:spPr>
          <a:xfrm>
            <a:off x="2981325" y="5715000"/>
            <a:ext cx="3181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 </a:t>
            </a:r>
            <a:r>
              <a:rPr lang="en-US" altLang="zh-CN" sz="2400" b="1" dirty="0"/>
              <a:t>7-16 74121</a:t>
            </a:r>
            <a:r>
              <a:rPr lang="zh-CN" altLang="en-US" sz="2400" b="1" dirty="0"/>
              <a:t>的引脚图</a:t>
            </a:r>
            <a:endParaRPr lang="zh-CN" altLang="en-US" sz="2400" b="1" dirty="0"/>
          </a:p>
        </p:txBody>
      </p:sp>
      <p:graphicFrame>
        <p:nvGraphicFramePr>
          <p:cNvPr id="44035" name="Object 5"/>
          <p:cNvGraphicFramePr>
            <a:graphicFrameLocks noChangeAspect="1"/>
          </p:cNvGraphicFramePr>
          <p:nvPr/>
        </p:nvGraphicFramePr>
        <p:xfrm>
          <a:off x="2209800" y="914400"/>
          <a:ext cx="5257800" cy="4619625"/>
        </p:xfrm>
        <a:graphic>
          <a:graphicData uri="http://schemas.openxmlformats.org/presentationml/2006/ole">
            <mc:AlternateContent xmlns:mc="http://schemas.openxmlformats.org/markup-compatibility/2006">
              <mc:Choice xmlns:v="urn:schemas-microsoft-com:vml" Requires="v">
                <p:oleObj spid="_x0000_s3121" name="" r:id="rId1" imgW="1790700" imgH="1577340" progId="Visio.Drawing.4">
                  <p:embed/>
                </p:oleObj>
              </mc:Choice>
              <mc:Fallback>
                <p:oleObj name="" r:id="rId1" imgW="1790700" imgH="1577340" progId="Visio.Drawing.4">
                  <p:embed/>
                  <p:pic>
                    <p:nvPicPr>
                      <p:cNvPr id="0" name="图片 3120"/>
                      <p:cNvPicPr/>
                      <p:nvPr/>
                    </p:nvPicPr>
                    <p:blipFill>
                      <a:blip r:embed="rId2"/>
                      <a:stretch>
                        <a:fillRect/>
                      </a:stretch>
                    </p:blipFill>
                    <p:spPr>
                      <a:xfrm>
                        <a:off x="2209800" y="914400"/>
                        <a:ext cx="5257800" cy="4619625"/>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Text Box 4"/>
          <p:cNvSpPr txBox="1"/>
          <p:nvPr/>
        </p:nvSpPr>
        <p:spPr>
          <a:xfrm>
            <a:off x="2895600" y="533400"/>
            <a:ext cx="3105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表</a:t>
            </a:r>
            <a:r>
              <a:rPr lang="en-US" altLang="zh-CN" sz="2400" b="1" dirty="0"/>
              <a:t>7-1   74121</a:t>
            </a:r>
            <a:r>
              <a:rPr lang="zh-CN" altLang="en-US" sz="2400" b="1" dirty="0"/>
              <a:t>的功能表</a:t>
            </a:r>
            <a:endParaRPr lang="zh-CN" altLang="en-US" sz="2400" b="1" dirty="0"/>
          </a:p>
        </p:txBody>
      </p:sp>
      <p:pic>
        <p:nvPicPr>
          <p:cNvPr id="45059" name="Picture 5" descr="Img00063"/>
          <p:cNvPicPr>
            <a:picLocks noChangeAspect="1"/>
          </p:cNvPicPr>
          <p:nvPr/>
        </p:nvPicPr>
        <p:blipFill>
          <a:blip r:embed="rId1"/>
          <a:stretch>
            <a:fillRect/>
          </a:stretch>
        </p:blipFill>
        <p:spPr>
          <a:xfrm>
            <a:off x="2819400" y="990600"/>
            <a:ext cx="3381375" cy="5181600"/>
          </a:xfrm>
          <a:prstGeom prst="rect">
            <a:avLst/>
          </a:prstGeom>
          <a:noFill/>
          <a:ln w="9525">
            <a:noFill/>
          </a:ln>
        </p:spPr>
      </p:pic>
    </p:spTree>
  </p:cSld>
  <p:clrMapOvr>
    <a:masterClrMapping/>
  </p:clrMapOvr>
  <p:transition>
    <p:checke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Text Box 1028"/>
          <p:cNvSpPr txBox="1"/>
          <p:nvPr/>
        </p:nvSpPr>
        <p:spPr>
          <a:xfrm>
            <a:off x="152400" y="609600"/>
            <a:ext cx="8839200" cy="53514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38000"/>
              </a:lnSpc>
              <a:spcBef>
                <a:spcPct val="50000"/>
              </a:spcBef>
              <a:buNone/>
            </a:pPr>
            <a:r>
              <a:rPr lang="en-US" altLang="zh-CN" sz="2400" dirty="0"/>
              <a:t>       </a:t>
            </a:r>
            <a:r>
              <a:rPr lang="en-US" altLang="zh-CN" sz="2400" b="1" dirty="0"/>
              <a:t>1</a:t>
            </a:r>
            <a:r>
              <a:rPr lang="zh-CN" altLang="en-US" sz="2400" b="1" dirty="0"/>
              <a:t>． 触发方式</a:t>
            </a:r>
            <a:endParaRPr lang="zh-CN" altLang="en-US" sz="2400" dirty="0"/>
          </a:p>
          <a:p>
            <a:pPr marL="0" lvl="0" indent="0" eaLnBrk="1" hangingPunct="1">
              <a:lnSpc>
                <a:spcPct val="138000"/>
              </a:lnSpc>
              <a:spcBef>
                <a:spcPct val="50000"/>
              </a:spcBef>
              <a:buNone/>
            </a:pPr>
            <a:r>
              <a:rPr lang="zh-CN" altLang="en-US" sz="2400" dirty="0"/>
              <a:t>       </a:t>
            </a:r>
            <a:r>
              <a:rPr lang="zh-CN" altLang="en-US" sz="2400" b="1" dirty="0"/>
              <a:t>由</a:t>
            </a:r>
            <a:r>
              <a:rPr lang="en-US" altLang="zh-CN" sz="2400" b="1" dirty="0"/>
              <a:t>74121</a:t>
            </a:r>
            <a:r>
              <a:rPr lang="zh-CN" altLang="en-US" sz="2400" b="1" dirty="0"/>
              <a:t>的功能表表</a:t>
            </a:r>
            <a:r>
              <a:rPr lang="en-US" altLang="zh-CN" sz="2400" b="1" dirty="0"/>
              <a:t>7-1</a:t>
            </a:r>
            <a:r>
              <a:rPr lang="zh-CN" altLang="en-US" sz="2400" b="1" dirty="0"/>
              <a:t>可知， 触发信号可以加在</a:t>
            </a:r>
            <a:r>
              <a:rPr lang="en-US" altLang="zh-CN" sz="2400" b="1" dirty="0"/>
              <a:t>A</a:t>
            </a:r>
            <a:r>
              <a:rPr lang="en-US" altLang="zh-CN" sz="2400" b="1" baseline="-25000" dirty="0"/>
              <a:t>1</a:t>
            </a:r>
            <a:r>
              <a:rPr lang="zh-CN" altLang="en-US" sz="2400" b="1" dirty="0"/>
              <a:t>、</a:t>
            </a:r>
            <a:r>
              <a:rPr lang="en-US" altLang="zh-CN" sz="2400" b="1" dirty="0"/>
              <a:t>A</a:t>
            </a:r>
            <a:r>
              <a:rPr lang="en-US" altLang="zh-CN" sz="2400" b="1" baseline="-25000" dirty="0"/>
              <a:t>2</a:t>
            </a:r>
            <a:r>
              <a:rPr lang="zh-CN" altLang="en-US" sz="2400" b="1" dirty="0"/>
              <a:t>或</a:t>
            </a:r>
            <a:r>
              <a:rPr lang="en-US" altLang="zh-CN" sz="2400" b="1" dirty="0"/>
              <a:t>B</a:t>
            </a:r>
            <a:r>
              <a:rPr lang="zh-CN" altLang="en-US" sz="2400" b="1" dirty="0"/>
              <a:t>中的任意一端。其中</a:t>
            </a:r>
            <a:r>
              <a:rPr lang="en-US" altLang="zh-CN" sz="2400" b="1" dirty="0"/>
              <a:t>A</a:t>
            </a:r>
            <a:r>
              <a:rPr lang="en-US" altLang="zh-CN" sz="2400" b="1" baseline="-25000" dirty="0"/>
              <a:t>1</a:t>
            </a:r>
            <a:r>
              <a:rPr lang="zh-CN" altLang="en-US" sz="2400" b="1" dirty="0"/>
              <a:t>、</a:t>
            </a:r>
            <a:r>
              <a:rPr lang="en-US" altLang="zh-CN" sz="2400" b="1" dirty="0"/>
              <a:t>A</a:t>
            </a:r>
            <a:r>
              <a:rPr lang="en-US" altLang="zh-CN" sz="2400" b="1" baseline="-25000" dirty="0"/>
              <a:t>2</a:t>
            </a:r>
            <a:r>
              <a:rPr lang="zh-CN" altLang="en-US" sz="2400" b="1" dirty="0"/>
              <a:t>端是下降沿触发， </a:t>
            </a:r>
            <a:r>
              <a:rPr lang="en-US" altLang="zh-CN" sz="2400" b="1" dirty="0"/>
              <a:t>B</a:t>
            </a:r>
            <a:r>
              <a:rPr lang="zh-CN" altLang="en-US" sz="2400" b="1" dirty="0"/>
              <a:t>端是上升沿触发。 触发方式可以概括为以下三种： </a:t>
            </a:r>
            <a:endParaRPr lang="zh-CN" altLang="en-US" sz="2400" b="1" dirty="0"/>
          </a:p>
          <a:p>
            <a:pPr marL="0" lvl="0" indent="0" eaLnBrk="1" hangingPunct="1">
              <a:lnSpc>
                <a:spcPct val="138000"/>
              </a:lnSpc>
              <a:spcBef>
                <a:spcPct val="50000"/>
              </a:spcBef>
              <a:buNone/>
            </a:pPr>
            <a:r>
              <a:rPr lang="zh-CN" altLang="en-US" sz="2400" b="1" dirty="0"/>
              <a:t>        ① 在</a:t>
            </a:r>
            <a:r>
              <a:rPr lang="en-US" altLang="zh-CN" sz="2400" b="1" dirty="0"/>
              <a:t>A</a:t>
            </a:r>
            <a:r>
              <a:rPr lang="en-US" altLang="zh-CN" sz="2400" b="1" baseline="-25000" dirty="0"/>
              <a:t>1</a:t>
            </a:r>
            <a:r>
              <a:rPr lang="zh-CN" altLang="en-US" sz="2400" b="1" dirty="0"/>
              <a:t>或</a:t>
            </a:r>
            <a:r>
              <a:rPr lang="en-US" altLang="zh-CN" sz="2400" b="1" dirty="0"/>
              <a:t>A</a:t>
            </a:r>
            <a:r>
              <a:rPr lang="en-US" altLang="zh-CN" sz="2400" b="1" baseline="-25000" dirty="0"/>
              <a:t>2</a:t>
            </a:r>
            <a:r>
              <a:rPr lang="zh-CN" altLang="en-US" sz="2400" b="1" dirty="0"/>
              <a:t>端用下降沿触发，这时要求另外两个输入端必须为高电平； </a:t>
            </a:r>
            <a:endParaRPr lang="zh-CN" altLang="en-US" sz="2400" b="1" dirty="0"/>
          </a:p>
          <a:p>
            <a:pPr marL="0" lvl="0" indent="0" eaLnBrk="1" hangingPunct="1">
              <a:lnSpc>
                <a:spcPct val="138000"/>
              </a:lnSpc>
              <a:spcBef>
                <a:spcPct val="50000"/>
              </a:spcBef>
              <a:buNone/>
            </a:pPr>
            <a:r>
              <a:rPr lang="zh-CN" altLang="en-US" sz="2400" b="1" dirty="0"/>
              <a:t>        ② </a:t>
            </a:r>
            <a:r>
              <a:rPr lang="en-US" altLang="zh-CN" sz="2400" b="1" dirty="0"/>
              <a:t>A</a:t>
            </a:r>
            <a:r>
              <a:rPr lang="en-US" altLang="zh-CN" sz="2400" b="1" baseline="-25000" dirty="0"/>
              <a:t>1</a:t>
            </a:r>
            <a:r>
              <a:rPr lang="zh-CN" altLang="en-US" sz="2400" b="1" dirty="0"/>
              <a:t>和</a:t>
            </a:r>
            <a:r>
              <a:rPr lang="en-US" altLang="zh-CN" sz="2400" b="1" dirty="0"/>
              <a:t>A</a:t>
            </a:r>
            <a:r>
              <a:rPr lang="en-US" altLang="zh-CN" sz="2400" b="1" baseline="-25000" dirty="0"/>
              <a:t>2</a:t>
            </a:r>
            <a:r>
              <a:rPr lang="zh-CN" altLang="en-US" sz="2400" b="1" dirty="0"/>
              <a:t>端同时用下降沿触发，并且</a:t>
            </a:r>
            <a:r>
              <a:rPr lang="en-US" altLang="zh-CN" sz="2400" b="1" dirty="0"/>
              <a:t>B</a:t>
            </a:r>
            <a:r>
              <a:rPr lang="zh-CN" altLang="en-US" sz="2400" b="1" dirty="0"/>
              <a:t>端为高电平； </a:t>
            </a:r>
            <a:endParaRPr lang="zh-CN" altLang="en-US" sz="2400" b="1" dirty="0"/>
          </a:p>
          <a:p>
            <a:pPr marL="0" lvl="0" indent="0" eaLnBrk="1" hangingPunct="1">
              <a:lnSpc>
                <a:spcPct val="138000"/>
              </a:lnSpc>
              <a:spcBef>
                <a:spcPct val="50000"/>
              </a:spcBef>
              <a:buNone/>
            </a:pPr>
            <a:r>
              <a:rPr lang="zh-CN" altLang="en-US" sz="2400" b="1" dirty="0"/>
              <a:t>        ③ 在</a:t>
            </a:r>
            <a:r>
              <a:rPr lang="en-US" altLang="zh-CN" sz="2400" b="1" dirty="0"/>
              <a:t>B</a:t>
            </a:r>
            <a:r>
              <a:rPr lang="zh-CN" altLang="en-US" sz="2400" b="1" dirty="0"/>
              <a:t>端用上升沿触发，同时</a:t>
            </a:r>
            <a:r>
              <a:rPr lang="en-US" altLang="zh-CN" sz="2400" b="1" dirty="0"/>
              <a:t>A</a:t>
            </a:r>
            <a:r>
              <a:rPr lang="en-US" altLang="zh-CN" sz="2400" b="1" baseline="-25000" dirty="0"/>
              <a:t>1</a:t>
            </a:r>
            <a:r>
              <a:rPr lang="zh-CN" altLang="en-US" sz="2400" b="1" dirty="0"/>
              <a:t>和</a:t>
            </a:r>
            <a:r>
              <a:rPr lang="en-US" altLang="zh-CN" sz="2400" b="1" dirty="0"/>
              <a:t>A</a:t>
            </a:r>
            <a:r>
              <a:rPr lang="en-US" altLang="zh-CN" sz="2400" b="1" baseline="-25000" dirty="0"/>
              <a:t>2</a:t>
            </a:r>
            <a:r>
              <a:rPr lang="zh-CN" altLang="en-US" sz="2400" b="1" dirty="0"/>
              <a:t>中至少有一个是低电平。 图</a:t>
            </a:r>
            <a:r>
              <a:rPr lang="en-US" altLang="zh-CN" sz="2400" b="1" dirty="0"/>
              <a:t>7-17</a:t>
            </a:r>
            <a:r>
              <a:rPr lang="zh-CN" altLang="en-US" sz="2400" b="1" dirty="0"/>
              <a:t>为集成单稳态触发器</a:t>
            </a:r>
            <a:r>
              <a:rPr lang="en-US" altLang="zh-CN" sz="2400" b="1" dirty="0"/>
              <a:t>74121 </a:t>
            </a:r>
            <a:r>
              <a:rPr lang="zh-CN" altLang="en-US" sz="2400" b="1" dirty="0"/>
              <a:t>的工作波形。 </a:t>
            </a:r>
            <a:endParaRPr lang="zh-CN" altLang="en-US" sz="2400" b="1" dirty="0"/>
          </a:p>
        </p:txBody>
      </p:sp>
    </p:spTree>
  </p:cSld>
  <p:clrMapOvr>
    <a:masterClrMapping/>
  </p:clrMapOvr>
  <p:transition>
    <p:checke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Text Box 4"/>
          <p:cNvSpPr txBox="1"/>
          <p:nvPr/>
        </p:nvSpPr>
        <p:spPr>
          <a:xfrm>
            <a:off x="1609725" y="5867400"/>
            <a:ext cx="5924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 </a:t>
            </a:r>
            <a:r>
              <a:rPr lang="en-US" altLang="zh-CN" sz="2400" b="1" dirty="0"/>
              <a:t>7-17 </a:t>
            </a:r>
            <a:r>
              <a:rPr lang="zh-CN" altLang="en-US" sz="2400" b="1" dirty="0"/>
              <a:t>集成单稳态触发器</a:t>
            </a:r>
            <a:r>
              <a:rPr lang="en-US" altLang="zh-CN" sz="2400" b="1" dirty="0"/>
              <a:t>74121</a:t>
            </a:r>
            <a:r>
              <a:rPr lang="zh-CN" altLang="en-US" sz="2400" b="1" dirty="0"/>
              <a:t>的工作波形</a:t>
            </a:r>
            <a:endParaRPr lang="zh-CN" altLang="en-US" sz="2400" b="1" dirty="0"/>
          </a:p>
        </p:txBody>
      </p:sp>
      <p:graphicFrame>
        <p:nvGraphicFramePr>
          <p:cNvPr id="47107" name="Object 5"/>
          <p:cNvGraphicFramePr>
            <a:graphicFrameLocks noChangeAspect="1"/>
          </p:cNvGraphicFramePr>
          <p:nvPr/>
        </p:nvGraphicFramePr>
        <p:xfrm>
          <a:off x="1143000" y="381000"/>
          <a:ext cx="7010400" cy="5583238"/>
        </p:xfrm>
        <a:graphic>
          <a:graphicData uri="http://schemas.openxmlformats.org/presentationml/2006/ole">
            <mc:AlternateContent xmlns:mc="http://schemas.openxmlformats.org/markup-compatibility/2006">
              <mc:Choice xmlns:v="urn:schemas-microsoft-com:vml" Requires="v">
                <p:oleObj spid="_x0000_s3120" name="" r:id="rId1" imgW="2819400" imgH="2247900" progId="Visio.Drawing.4">
                  <p:embed/>
                </p:oleObj>
              </mc:Choice>
              <mc:Fallback>
                <p:oleObj name="" r:id="rId1" imgW="2819400" imgH="2247900" progId="Visio.Drawing.4">
                  <p:embed/>
                  <p:pic>
                    <p:nvPicPr>
                      <p:cNvPr id="0" name="图片 3119"/>
                      <p:cNvPicPr/>
                      <p:nvPr/>
                    </p:nvPicPr>
                    <p:blipFill>
                      <a:blip r:embed="rId2"/>
                      <a:stretch>
                        <a:fillRect/>
                      </a:stretch>
                    </p:blipFill>
                    <p:spPr>
                      <a:xfrm>
                        <a:off x="1143000" y="381000"/>
                        <a:ext cx="7010400" cy="5583238"/>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Text Box 1028"/>
          <p:cNvSpPr txBox="1"/>
          <p:nvPr/>
        </p:nvSpPr>
        <p:spPr>
          <a:xfrm>
            <a:off x="152400" y="685800"/>
            <a:ext cx="8763000" cy="48847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8000"/>
              </a:lnSpc>
              <a:spcBef>
                <a:spcPct val="50000"/>
              </a:spcBef>
              <a:buNone/>
            </a:pPr>
            <a:r>
              <a:rPr lang="en-US" altLang="zh-CN" sz="2400" dirty="0"/>
              <a:t>         </a:t>
            </a:r>
            <a:r>
              <a:rPr lang="en-US" altLang="zh-CN" sz="2400" b="1" dirty="0"/>
              <a:t>2</a:t>
            </a:r>
            <a:r>
              <a:rPr lang="zh-CN" altLang="en-US" sz="2400" b="1" dirty="0"/>
              <a:t>． 定时</a:t>
            </a:r>
            <a:endParaRPr lang="zh-CN" altLang="en-US" sz="2400" dirty="0"/>
          </a:p>
          <a:p>
            <a:pPr marL="0" lvl="0" indent="0" eaLnBrk="1" hangingPunct="1">
              <a:lnSpc>
                <a:spcPct val="158000"/>
              </a:lnSpc>
              <a:spcBef>
                <a:spcPct val="50000"/>
              </a:spcBef>
              <a:buNone/>
            </a:pPr>
            <a:r>
              <a:rPr lang="zh-CN" altLang="en-US" sz="2400" dirty="0"/>
              <a:t>        </a:t>
            </a:r>
            <a:r>
              <a:rPr lang="zh-CN" altLang="en-US" sz="2400" b="1" dirty="0"/>
              <a:t>集成单稳态触发器</a:t>
            </a:r>
            <a:r>
              <a:rPr lang="en-US" altLang="zh-CN" sz="2400" b="1" dirty="0"/>
              <a:t>74121</a:t>
            </a:r>
            <a:r>
              <a:rPr lang="zh-CN" altLang="en-US" sz="2400" b="1" dirty="0"/>
              <a:t>的输出脉冲宽度取决于定时电阻和定时电容的大小。定时电容接在</a:t>
            </a:r>
            <a:r>
              <a:rPr lang="en-US" altLang="zh-CN" sz="2400" b="1" dirty="0"/>
              <a:t>74121</a:t>
            </a:r>
            <a:r>
              <a:rPr lang="zh-CN" altLang="en-US" sz="2400" b="1" dirty="0"/>
              <a:t>的</a:t>
            </a:r>
            <a:r>
              <a:rPr lang="en-US" altLang="zh-CN" sz="2400" b="1" dirty="0"/>
              <a:t>10</a:t>
            </a:r>
            <a:r>
              <a:rPr lang="zh-CN" altLang="en-US" sz="2400" b="1" dirty="0"/>
              <a:t>、</a:t>
            </a:r>
            <a:r>
              <a:rPr lang="en-US" altLang="zh-CN" sz="2400" b="1" dirty="0"/>
              <a:t>11</a:t>
            </a:r>
            <a:r>
              <a:rPr lang="zh-CN" altLang="en-US" sz="2400" b="1" dirty="0"/>
              <a:t>脚之间，如果使用的是电解电容，</a:t>
            </a:r>
            <a:r>
              <a:rPr lang="en-US" altLang="zh-CN" sz="2400" b="1" dirty="0"/>
              <a:t>10</a:t>
            </a:r>
            <a:r>
              <a:rPr lang="zh-CN" altLang="en-US" sz="2400" b="1" dirty="0"/>
              <a:t>脚</a:t>
            </a:r>
            <a:r>
              <a:rPr lang="en-US" altLang="zh-CN" sz="2400" b="1" dirty="0"/>
              <a:t>C</a:t>
            </a:r>
            <a:r>
              <a:rPr lang="en-US" altLang="zh-CN" sz="2400" b="1" baseline="-25000" dirty="0"/>
              <a:t>ext</a:t>
            </a:r>
            <a:r>
              <a:rPr lang="zh-CN" altLang="en-US" sz="2400" b="1" dirty="0"/>
              <a:t>接电容的正极。对于定时电阻，使用者可以有两种选择：一种是使用芯片内部</a:t>
            </a:r>
            <a:r>
              <a:rPr lang="en-US" altLang="zh-CN" sz="2400" b="1" dirty="0"/>
              <a:t>2 kΩ</a:t>
            </a:r>
            <a:r>
              <a:rPr lang="zh-CN" altLang="en-US" sz="2400" b="1" dirty="0"/>
              <a:t>的定时电阻，此时要将</a:t>
            </a:r>
            <a:r>
              <a:rPr lang="en-US" altLang="zh-CN" sz="2400" b="1" dirty="0"/>
              <a:t>9</a:t>
            </a:r>
            <a:r>
              <a:rPr lang="zh-CN" altLang="en-US" sz="2400" b="1" dirty="0"/>
              <a:t>脚</a:t>
            </a:r>
            <a:r>
              <a:rPr lang="en-US" altLang="zh-CN" sz="2400" b="1" dirty="0"/>
              <a:t>R</a:t>
            </a:r>
            <a:r>
              <a:rPr lang="en-US" altLang="zh-CN" sz="2400" b="1" baseline="-25000" dirty="0"/>
              <a:t>int</a:t>
            </a:r>
            <a:r>
              <a:rPr lang="zh-CN" altLang="en-US" sz="2400" b="1" dirty="0"/>
              <a:t>接到电源</a:t>
            </a:r>
            <a:r>
              <a:rPr lang="en-US" altLang="zh-CN" sz="2400" b="1" dirty="0"/>
              <a:t>U</a:t>
            </a:r>
            <a:r>
              <a:rPr lang="en-US" altLang="zh-CN" sz="2400" b="1" baseline="-25000" dirty="0"/>
              <a:t>CC</a:t>
            </a:r>
            <a:r>
              <a:rPr lang="zh-CN" altLang="en-US" sz="2400" b="1" dirty="0"/>
              <a:t>（</a:t>
            </a:r>
            <a:r>
              <a:rPr lang="en-US" altLang="zh-CN" sz="2400" b="1" dirty="0"/>
              <a:t>14</a:t>
            </a:r>
            <a:r>
              <a:rPr lang="zh-CN" altLang="en-US" sz="2400" b="1" dirty="0"/>
              <a:t>脚）上，如图</a:t>
            </a:r>
            <a:r>
              <a:rPr lang="en-US" altLang="zh-CN" sz="2400" b="1" dirty="0"/>
              <a:t>7-18</a:t>
            </a:r>
            <a:r>
              <a:rPr lang="zh-CN" altLang="en-US" sz="2400" b="1" dirty="0"/>
              <a:t>（</a:t>
            </a:r>
            <a:r>
              <a:rPr lang="en-US" altLang="zh-CN" sz="2400" b="1" dirty="0"/>
              <a:t>a</a:t>
            </a:r>
            <a:r>
              <a:rPr lang="zh-CN" altLang="en-US" sz="2400" b="1" dirty="0"/>
              <a:t>）所示；如果要获得较宽的输出脉冲，可采用外部定时电阻，将电阻接在</a:t>
            </a:r>
            <a:r>
              <a:rPr lang="en-US" altLang="zh-CN" sz="2400" b="1" dirty="0"/>
              <a:t>11</a:t>
            </a:r>
            <a:r>
              <a:rPr lang="zh-CN" altLang="en-US" sz="2400" b="1" dirty="0"/>
              <a:t>脚</a:t>
            </a:r>
            <a:r>
              <a:rPr lang="en-US" altLang="zh-CN" sz="2400" b="1" dirty="0"/>
              <a:t>R</a:t>
            </a:r>
            <a:r>
              <a:rPr lang="en-US" altLang="zh-CN" sz="2400" b="1" baseline="-25000" dirty="0"/>
              <a:t>ext</a:t>
            </a:r>
            <a:r>
              <a:rPr lang="en-US" altLang="zh-CN" sz="2400" b="1" dirty="0"/>
              <a:t>/C</a:t>
            </a:r>
            <a:r>
              <a:rPr lang="en-US" altLang="zh-CN" sz="2400" b="1" baseline="-25000" dirty="0"/>
              <a:t>ext</a:t>
            </a:r>
            <a:r>
              <a:rPr lang="zh-CN" altLang="en-US" sz="2400" b="1" dirty="0"/>
              <a:t>和</a:t>
            </a:r>
            <a:r>
              <a:rPr lang="en-US" altLang="zh-CN" sz="2400" b="1" dirty="0"/>
              <a:t>14</a:t>
            </a:r>
            <a:r>
              <a:rPr lang="zh-CN" altLang="en-US" sz="2400" b="1" dirty="0"/>
              <a:t>脚</a:t>
            </a:r>
            <a:r>
              <a:rPr lang="en-US" altLang="zh-CN" sz="2400" b="1" dirty="0"/>
              <a:t>U</a:t>
            </a:r>
            <a:r>
              <a:rPr lang="en-US" altLang="zh-CN" sz="2400" b="1" baseline="-25000" dirty="0"/>
              <a:t>CC</a:t>
            </a:r>
            <a:r>
              <a:rPr lang="zh-CN" altLang="en-US" sz="2400" b="1" dirty="0"/>
              <a:t>之间，如图</a:t>
            </a:r>
            <a:r>
              <a:rPr lang="en-US" altLang="zh-CN" sz="2400" b="1" dirty="0"/>
              <a:t>7-18</a:t>
            </a:r>
            <a:r>
              <a:rPr lang="zh-CN" altLang="en-US" sz="2400" b="1" dirty="0"/>
              <a:t>（</a:t>
            </a:r>
            <a:r>
              <a:rPr lang="en-US" altLang="zh-CN" sz="2400" b="1" dirty="0"/>
              <a:t>b</a:t>
            </a:r>
            <a:r>
              <a:rPr lang="zh-CN" altLang="en-US" sz="2400" b="1" dirty="0"/>
              <a:t>）所示。 </a:t>
            </a:r>
            <a:endParaRPr lang="zh-CN" altLang="en-US" sz="2400" b="1" dirty="0"/>
          </a:p>
        </p:txBody>
      </p:sp>
    </p:spTree>
  </p:cSld>
  <p:clrMapOvr>
    <a:masterClrMapping/>
  </p:clrMapOvr>
  <p:transition>
    <p:checke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ext Box 4"/>
          <p:cNvSpPr txBox="1"/>
          <p:nvPr/>
        </p:nvSpPr>
        <p:spPr>
          <a:xfrm>
            <a:off x="363538" y="5410200"/>
            <a:ext cx="8558212"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400" b="1" dirty="0"/>
              <a:t>图 </a:t>
            </a:r>
            <a:r>
              <a:rPr lang="en-US" altLang="zh-CN" sz="2400" b="1" dirty="0"/>
              <a:t>7-18 74121</a:t>
            </a:r>
            <a:r>
              <a:rPr lang="zh-CN" altLang="en-US" sz="2400" b="1" dirty="0"/>
              <a:t>的外部连接方法</a:t>
            </a:r>
            <a:endParaRPr lang="zh-CN" altLang="en-US" sz="2400" b="1" dirty="0"/>
          </a:p>
          <a:p>
            <a:pPr marL="0" lvl="0" indent="0" algn="ctr" eaLnBrk="1" hangingPunct="1">
              <a:spcBef>
                <a:spcPct val="0"/>
              </a:spcBef>
              <a:buNone/>
            </a:pPr>
            <a:r>
              <a:rPr lang="en-US" altLang="zh-CN" sz="2400" b="1" dirty="0"/>
              <a:t>(a) </a:t>
            </a:r>
            <a:r>
              <a:rPr lang="zh-CN" altLang="en-US" sz="2400" b="1" dirty="0"/>
              <a:t>使用内部电阻</a:t>
            </a:r>
            <a:r>
              <a:rPr lang="en-US" altLang="zh-CN" sz="2400" b="1" dirty="0"/>
              <a:t>(</a:t>
            </a:r>
            <a:r>
              <a:rPr lang="zh-CN" altLang="en-US" sz="2400" b="1" dirty="0"/>
              <a:t>上升沿触发</a:t>
            </a:r>
            <a:r>
              <a:rPr lang="en-US" altLang="zh-CN" sz="2400" b="1" dirty="0"/>
              <a:t>)</a:t>
            </a:r>
            <a:r>
              <a:rPr lang="zh-CN" altLang="en-US" sz="2400" b="1" dirty="0"/>
              <a:t>； </a:t>
            </a:r>
            <a:r>
              <a:rPr lang="en-US" altLang="zh-CN" sz="2400" b="1" dirty="0"/>
              <a:t>(b) </a:t>
            </a:r>
            <a:r>
              <a:rPr lang="zh-CN" altLang="en-US" sz="2400" b="1" dirty="0"/>
              <a:t>使用外接电阻</a:t>
            </a:r>
            <a:r>
              <a:rPr lang="en-US" altLang="zh-CN" sz="2400" b="1" dirty="0"/>
              <a:t>(</a:t>
            </a:r>
            <a:r>
              <a:rPr lang="zh-CN" altLang="en-US" sz="2400" b="1" dirty="0"/>
              <a:t>下降沿触发</a:t>
            </a:r>
            <a:r>
              <a:rPr lang="en-US" altLang="zh-CN" sz="2400" b="1" dirty="0"/>
              <a:t>)</a:t>
            </a:r>
            <a:endParaRPr lang="en-US" altLang="zh-CN" sz="2400" b="1" dirty="0"/>
          </a:p>
        </p:txBody>
      </p:sp>
      <p:graphicFrame>
        <p:nvGraphicFramePr>
          <p:cNvPr id="49155" name="Object 5"/>
          <p:cNvGraphicFramePr>
            <a:graphicFrameLocks noChangeAspect="1"/>
          </p:cNvGraphicFramePr>
          <p:nvPr/>
        </p:nvGraphicFramePr>
        <p:xfrm>
          <a:off x="0" y="1219200"/>
          <a:ext cx="9144000" cy="3465513"/>
        </p:xfrm>
        <a:graphic>
          <a:graphicData uri="http://schemas.openxmlformats.org/presentationml/2006/ole">
            <mc:AlternateContent xmlns:mc="http://schemas.openxmlformats.org/markup-compatibility/2006">
              <mc:Choice xmlns:v="urn:schemas-microsoft-com:vml" Requires="v">
                <p:oleObj spid="_x0000_s3119" name="" r:id="rId1" imgW="4351020" imgH="1645920" progId="Visio.Drawing.4">
                  <p:embed/>
                </p:oleObj>
              </mc:Choice>
              <mc:Fallback>
                <p:oleObj name="" r:id="rId1" imgW="4351020" imgH="1645920" progId="Visio.Drawing.4">
                  <p:embed/>
                  <p:pic>
                    <p:nvPicPr>
                      <p:cNvPr id="0" name="图片 3118"/>
                      <p:cNvPicPr/>
                      <p:nvPr/>
                    </p:nvPicPr>
                    <p:blipFill>
                      <a:blip r:embed="rId2"/>
                      <a:stretch>
                        <a:fillRect/>
                      </a:stretch>
                    </p:blipFill>
                    <p:spPr>
                      <a:xfrm>
                        <a:off x="0" y="1219200"/>
                        <a:ext cx="9144000" cy="3465513"/>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Text Box 1028"/>
          <p:cNvSpPr txBox="1"/>
          <p:nvPr/>
        </p:nvSpPr>
        <p:spPr>
          <a:xfrm>
            <a:off x="441325" y="727075"/>
            <a:ext cx="62039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dirty="0"/>
              <a:t>74121</a:t>
            </a:r>
            <a:r>
              <a:rPr lang="zh-CN" altLang="en-US" sz="2400" b="1" dirty="0"/>
              <a:t>的输出脉冲宽度可以用下式进行计算： </a:t>
            </a:r>
            <a:endParaRPr lang="zh-CN" altLang="en-US" sz="2400" b="1" dirty="0"/>
          </a:p>
        </p:txBody>
      </p:sp>
      <p:graphicFrame>
        <p:nvGraphicFramePr>
          <p:cNvPr id="50179" name="Object 1029"/>
          <p:cNvGraphicFramePr>
            <a:graphicFrameLocks noChangeAspect="1"/>
          </p:cNvGraphicFramePr>
          <p:nvPr/>
        </p:nvGraphicFramePr>
        <p:xfrm>
          <a:off x="3505200" y="1730375"/>
          <a:ext cx="1822450" cy="555625"/>
        </p:xfrm>
        <a:graphic>
          <a:graphicData uri="http://schemas.openxmlformats.org/presentationml/2006/ole">
            <mc:AlternateContent xmlns:mc="http://schemas.openxmlformats.org/markup-compatibility/2006">
              <mc:Choice xmlns:v="urn:schemas-microsoft-com:vml" Requires="v">
                <p:oleObj spid="_x0000_s3122" name="" r:id="rId1" imgW="749300" imgH="228600" progId="Equation.3">
                  <p:embed/>
                </p:oleObj>
              </mc:Choice>
              <mc:Fallback>
                <p:oleObj name="" r:id="rId1" imgW="749300" imgH="228600" progId="Equation.3">
                  <p:embed/>
                  <p:pic>
                    <p:nvPicPr>
                      <p:cNvPr id="0" name="图片 3121"/>
                      <p:cNvPicPr/>
                      <p:nvPr/>
                    </p:nvPicPr>
                    <p:blipFill>
                      <a:blip r:embed="rId2"/>
                      <a:stretch>
                        <a:fillRect/>
                      </a:stretch>
                    </p:blipFill>
                    <p:spPr>
                      <a:xfrm>
                        <a:off x="3505200" y="1730375"/>
                        <a:ext cx="1822450" cy="555625"/>
                      </a:xfrm>
                      <a:prstGeom prst="rect">
                        <a:avLst/>
                      </a:prstGeom>
                      <a:noFill/>
                      <a:ln w="38100">
                        <a:noFill/>
                        <a:miter/>
                      </a:ln>
                    </p:spPr>
                  </p:pic>
                </p:oleObj>
              </mc:Fallback>
            </mc:AlternateContent>
          </a:graphicData>
        </a:graphic>
      </p:graphicFrame>
      <p:sp>
        <p:nvSpPr>
          <p:cNvPr id="50180" name="Text Box 1030"/>
          <p:cNvSpPr txBox="1"/>
          <p:nvPr/>
        </p:nvSpPr>
        <p:spPr>
          <a:xfrm>
            <a:off x="7832725" y="1695450"/>
            <a:ext cx="946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(7-19)</a:t>
            </a:r>
            <a:endParaRPr lang="en-US" altLang="zh-CN" sz="2400" dirty="0"/>
          </a:p>
        </p:txBody>
      </p:sp>
      <p:sp>
        <p:nvSpPr>
          <p:cNvPr id="50181" name="Text Box 1031"/>
          <p:cNvSpPr txBox="1"/>
          <p:nvPr/>
        </p:nvSpPr>
        <p:spPr>
          <a:xfrm>
            <a:off x="304800" y="2819400"/>
            <a:ext cx="8610600" cy="20637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80000"/>
              </a:lnSpc>
              <a:spcBef>
                <a:spcPct val="50000"/>
              </a:spcBef>
              <a:buNone/>
            </a:pPr>
            <a:r>
              <a:rPr lang="en-US" altLang="zh-CN" sz="2400" dirty="0"/>
              <a:t>        </a:t>
            </a:r>
            <a:r>
              <a:rPr lang="zh-CN" altLang="en-US" sz="2400" b="1" dirty="0"/>
              <a:t>其中</a:t>
            </a:r>
            <a:r>
              <a:rPr lang="en-US" altLang="zh-CN" sz="2400" b="1" dirty="0"/>
              <a:t>, </a:t>
            </a:r>
            <a:r>
              <a:rPr lang="zh-CN" altLang="en-US" sz="2400" b="1" dirty="0"/>
              <a:t>定时电阻</a:t>
            </a:r>
            <a:r>
              <a:rPr lang="en-US" altLang="zh-CN" sz="2400" b="1" dirty="0"/>
              <a:t>R</a:t>
            </a:r>
            <a:r>
              <a:rPr lang="zh-CN" altLang="en-US" sz="2400" b="1" dirty="0"/>
              <a:t>的取值范围可以从</a:t>
            </a:r>
            <a:r>
              <a:rPr lang="en-US" altLang="zh-CN" sz="2400" b="1" dirty="0"/>
              <a:t>1.4 kΩ</a:t>
            </a:r>
            <a:r>
              <a:rPr lang="zh-CN" altLang="en-US" sz="2400" b="1" dirty="0"/>
              <a:t>到</a:t>
            </a:r>
            <a:r>
              <a:rPr lang="en-US" altLang="zh-CN" sz="2400" b="1" dirty="0"/>
              <a:t>40 kΩ</a:t>
            </a:r>
            <a:r>
              <a:rPr lang="zh-CN" altLang="en-US" sz="2400" b="1" dirty="0"/>
              <a:t>，定时电容</a:t>
            </a:r>
            <a:r>
              <a:rPr lang="en-US" altLang="zh-CN" sz="2400" b="1" dirty="0"/>
              <a:t>C</a:t>
            </a:r>
            <a:r>
              <a:rPr lang="zh-CN" altLang="en-US" sz="2400" b="1" dirty="0"/>
              <a:t>的取值范围可以从</a:t>
            </a:r>
            <a:r>
              <a:rPr lang="en-US" altLang="zh-CN" sz="2400" b="1" dirty="0"/>
              <a:t>0</a:t>
            </a:r>
            <a:r>
              <a:rPr lang="zh-CN" altLang="en-US" sz="2400" b="1" dirty="0"/>
              <a:t>到</a:t>
            </a:r>
            <a:r>
              <a:rPr lang="en-US" altLang="zh-CN" sz="2400" b="1" dirty="0"/>
              <a:t>1000 μF</a:t>
            </a:r>
            <a:r>
              <a:rPr lang="zh-CN" altLang="en-US" sz="2400" b="1" dirty="0"/>
              <a:t>。通过选择适当的电阻、 电容值， 输出脉冲的宽度可以在</a:t>
            </a:r>
            <a:r>
              <a:rPr lang="en-US" altLang="zh-CN" sz="2400" b="1" dirty="0"/>
              <a:t>30 ns</a:t>
            </a:r>
            <a:r>
              <a:rPr lang="zh-CN" altLang="en-US" sz="2400" b="1" dirty="0"/>
              <a:t>～</a:t>
            </a:r>
            <a:r>
              <a:rPr lang="en-US" altLang="zh-CN" sz="2400" b="1" dirty="0"/>
              <a:t>28 s</a:t>
            </a:r>
            <a:r>
              <a:rPr lang="zh-CN" altLang="en-US" sz="2400" b="1" dirty="0"/>
              <a:t>范围内改变。</a:t>
            </a:r>
            <a:endParaRPr lang="zh-CN" altLang="en-US" sz="2400" b="1" dirty="0"/>
          </a:p>
        </p:txBody>
      </p:sp>
    </p:spTree>
  </p:cSld>
  <p:clrMapOvr>
    <a:masterClrMapping/>
  </p:clrMapOvr>
  <p:transition>
    <p:checke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Text Box 4"/>
          <p:cNvSpPr txBox="1"/>
          <p:nvPr/>
        </p:nvSpPr>
        <p:spPr>
          <a:xfrm>
            <a:off x="228600" y="685800"/>
            <a:ext cx="8686800" cy="48847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8000"/>
              </a:lnSpc>
              <a:spcBef>
                <a:spcPct val="50000"/>
              </a:spcBef>
              <a:buNone/>
            </a:pPr>
            <a:r>
              <a:rPr lang="en-US" altLang="zh-CN" sz="2400" dirty="0"/>
              <a:t>       </a:t>
            </a:r>
            <a:r>
              <a:rPr lang="en-US" altLang="zh-CN" sz="2400" b="1" dirty="0"/>
              <a:t>3</a:t>
            </a:r>
            <a:r>
              <a:rPr lang="zh-CN" altLang="en-US" sz="2400" b="1" dirty="0"/>
              <a:t>． </a:t>
            </a:r>
            <a:r>
              <a:rPr lang="en-US" altLang="zh-CN" sz="2400" b="1" dirty="0"/>
              <a:t>74121</a:t>
            </a:r>
            <a:r>
              <a:rPr lang="zh-CN" altLang="en-US" sz="2400" b="1" dirty="0"/>
              <a:t>具有不可重触发性</a:t>
            </a:r>
            <a:endParaRPr lang="zh-CN" altLang="en-US" sz="2400" dirty="0"/>
          </a:p>
          <a:p>
            <a:pPr marL="0" lvl="0" indent="0" eaLnBrk="1" hangingPunct="1">
              <a:lnSpc>
                <a:spcPct val="158000"/>
              </a:lnSpc>
              <a:spcBef>
                <a:spcPct val="50000"/>
              </a:spcBef>
              <a:buNone/>
            </a:pPr>
            <a:r>
              <a:rPr lang="zh-CN" altLang="en-US" sz="2400" dirty="0"/>
              <a:t>       </a:t>
            </a:r>
            <a:r>
              <a:rPr lang="zh-CN" altLang="en-US" sz="2400" b="1" dirty="0"/>
              <a:t>根据触发特性，集成单稳态触发器可以分为可重触发单稳态触发器和不可重触发单稳态触发器两种。这两种触发器的主要区别是：可重触发单稳态触发器在暂稳态期间，只要有新的触发脉冲作用，电路就会被重新触发，使电路的暂稳态过程延长； 而不可重触发单稳态触发器在暂稳态期间，将不接受新的触发脉冲的作用，只有当其返回到稳态后，才会被触发脉冲重新触发。 </a:t>
            </a:r>
            <a:r>
              <a:rPr lang="en-US" altLang="zh-CN" sz="2400" b="1" dirty="0"/>
              <a:t>74121</a:t>
            </a:r>
            <a:r>
              <a:rPr lang="zh-CN" altLang="en-US" sz="2400" b="1" dirty="0"/>
              <a:t>属于不可重触发单稳态触发器。 </a:t>
            </a:r>
            <a:endParaRPr lang="zh-CN" altLang="en-US" sz="2400" b="1" dirty="0"/>
          </a:p>
        </p:txBody>
      </p:sp>
    </p:spTree>
  </p:cSld>
  <p:clrMapOvr>
    <a:masterClrMapping/>
  </p:clrMapOvr>
  <p:transition>
    <p:checke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Text Box 4"/>
          <p:cNvSpPr txBox="1"/>
          <p:nvPr/>
        </p:nvSpPr>
        <p:spPr>
          <a:xfrm>
            <a:off x="50800" y="6156325"/>
            <a:ext cx="9107488"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000" b="1" dirty="0"/>
              <a:t>图 </a:t>
            </a:r>
            <a:r>
              <a:rPr lang="en-US" altLang="zh-CN" sz="2000" b="1" dirty="0"/>
              <a:t>7-19 </a:t>
            </a:r>
            <a:r>
              <a:rPr lang="zh-CN" altLang="en-US" sz="2000" b="1" dirty="0"/>
              <a:t>两种单稳态触发器的工作波形</a:t>
            </a:r>
            <a:endParaRPr lang="zh-CN" altLang="en-US" sz="2000" b="1" dirty="0"/>
          </a:p>
          <a:p>
            <a:pPr marL="0" lvl="0" indent="0" algn="ctr" eaLnBrk="1" hangingPunct="1">
              <a:spcBef>
                <a:spcPct val="0"/>
              </a:spcBef>
              <a:buNone/>
            </a:pPr>
            <a:r>
              <a:rPr lang="en-US" altLang="zh-CN" sz="2000" b="1" dirty="0"/>
              <a:t>(a) </a:t>
            </a:r>
            <a:r>
              <a:rPr lang="zh-CN" altLang="en-US" sz="2000" b="1" dirty="0"/>
              <a:t>可重触发器稳态触发器的工作波形； </a:t>
            </a:r>
            <a:r>
              <a:rPr lang="en-US" altLang="zh-CN" sz="2000" b="1" dirty="0"/>
              <a:t>(b) </a:t>
            </a:r>
            <a:r>
              <a:rPr lang="zh-CN" altLang="en-US" sz="2000" b="1" dirty="0"/>
              <a:t>不可重触发单稳态触发器的工作波形</a:t>
            </a:r>
            <a:endParaRPr lang="zh-CN" altLang="en-US" sz="2000" b="1" dirty="0"/>
          </a:p>
        </p:txBody>
      </p:sp>
      <p:graphicFrame>
        <p:nvGraphicFramePr>
          <p:cNvPr id="52227" name="Object 5"/>
          <p:cNvGraphicFramePr>
            <a:graphicFrameLocks noChangeAspect="1"/>
          </p:cNvGraphicFramePr>
          <p:nvPr/>
        </p:nvGraphicFramePr>
        <p:xfrm>
          <a:off x="914400" y="365125"/>
          <a:ext cx="7239000" cy="6111875"/>
        </p:xfrm>
        <a:graphic>
          <a:graphicData uri="http://schemas.openxmlformats.org/presentationml/2006/ole">
            <mc:AlternateContent xmlns:mc="http://schemas.openxmlformats.org/markup-compatibility/2006">
              <mc:Choice xmlns:v="urn:schemas-microsoft-com:vml" Requires="v">
                <p:oleObj spid="_x0000_s3117" name="" r:id="rId1" imgW="3360420" imgH="2834640" progId="Visio.Drawing.4">
                  <p:embed/>
                </p:oleObj>
              </mc:Choice>
              <mc:Fallback>
                <p:oleObj name="" r:id="rId1" imgW="3360420" imgH="2834640" progId="Visio.Drawing.4">
                  <p:embed/>
                  <p:pic>
                    <p:nvPicPr>
                      <p:cNvPr id="0" name="图片 3116"/>
                      <p:cNvPicPr/>
                      <p:nvPr/>
                    </p:nvPicPr>
                    <p:blipFill>
                      <a:blip r:embed="rId2"/>
                      <a:stretch>
                        <a:fillRect/>
                      </a:stretch>
                    </p:blipFill>
                    <p:spPr>
                      <a:xfrm>
                        <a:off x="914400" y="365125"/>
                        <a:ext cx="7239000" cy="6111875"/>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Text Box 4"/>
          <p:cNvSpPr txBox="1"/>
          <p:nvPr/>
        </p:nvSpPr>
        <p:spPr>
          <a:xfrm>
            <a:off x="152400" y="533400"/>
            <a:ext cx="8763000" cy="60071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80000"/>
              </a:lnSpc>
              <a:spcBef>
                <a:spcPct val="50000"/>
              </a:spcBef>
              <a:buNone/>
            </a:pPr>
            <a:r>
              <a:rPr lang="en-US" altLang="zh-CN" sz="2400" dirty="0"/>
              <a:t>        </a:t>
            </a:r>
            <a:r>
              <a:rPr lang="zh-CN" altLang="en-US" sz="2400" b="1" dirty="0"/>
              <a:t>集成单稳态触发器除</a:t>
            </a:r>
            <a:r>
              <a:rPr lang="en-US" altLang="zh-CN" sz="2400" b="1" dirty="0"/>
              <a:t>74121</a:t>
            </a:r>
            <a:r>
              <a:rPr lang="zh-CN" altLang="en-US" sz="2400" b="1" dirty="0"/>
              <a:t>以外，还有其它一些产品。 </a:t>
            </a:r>
            <a:r>
              <a:rPr lang="en-US" altLang="zh-CN" sz="2400" b="1" dirty="0"/>
              <a:t>TTL</a:t>
            </a:r>
            <a:r>
              <a:rPr lang="zh-CN" altLang="en-US" sz="2400" b="1" dirty="0"/>
              <a:t>集成单稳态触发器中还有</a:t>
            </a:r>
            <a:r>
              <a:rPr lang="en-US" altLang="zh-CN" sz="2400" b="1" dirty="0"/>
              <a:t>74LS221</a:t>
            </a:r>
            <a:r>
              <a:rPr lang="zh-CN" altLang="en-US" sz="2400" b="1" dirty="0"/>
              <a:t>、</a:t>
            </a:r>
            <a:r>
              <a:rPr lang="en-US" altLang="zh-CN" sz="2400" b="1" dirty="0"/>
              <a:t>74LS122</a:t>
            </a:r>
            <a:r>
              <a:rPr lang="zh-CN" altLang="en-US" sz="2400" b="1" dirty="0"/>
              <a:t>、</a:t>
            </a:r>
            <a:r>
              <a:rPr lang="en-US" altLang="zh-CN" sz="2400" b="1" dirty="0"/>
              <a:t>74LS123</a:t>
            </a:r>
            <a:r>
              <a:rPr lang="zh-CN" altLang="en-US" sz="2400" b="1" dirty="0"/>
              <a:t>等，其中</a:t>
            </a:r>
            <a:r>
              <a:rPr lang="en-US" altLang="zh-CN" sz="2400" b="1" dirty="0"/>
              <a:t>74LS221</a:t>
            </a:r>
            <a:r>
              <a:rPr lang="zh-CN" altLang="en-US" sz="2400" b="1" dirty="0"/>
              <a:t>属于不可重触发单稳态触发器， </a:t>
            </a:r>
            <a:r>
              <a:rPr lang="en-US" altLang="zh-CN" sz="2400" b="1" dirty="0"/>
              <a:t>74LS122</a:t>
            </a:r>
            <a:r>
              <a:rPr lang="zh-CN" altLang="en-US" sz="2400" b="1" dirty="0"/>
              <a:t>、</a:t>
            </a:r>
            <a:r>
              <a:rPr lang="en-US" altLang="zh-CN" sz="2400" b="1" dirty="0"/>
              <a:t>74LS123</a:t>
            </a:r>
            <a:r>
              <a:rPr lang="zh-CN" altLang="en-US" sz="2400" b="1" dirty="0"/>
              <a:t>属于可重触发单稳态触发器， 在</a:t>
            </a:r>
            <a:r>
              <a:rPr lang="en-US" altLang="zh-CN" sz="2400" b="1" dirty="0"/>
              <a:t>74LS221</a:t>
            </a:r>
            <a:r>
              <a:rPr lang="zh-CN" altLang="en-US" sz="2400" b="1" dirty="0"/>
              <a:t>、 </a:t>
            </a:r>
            <a:r>
              <a:rPr lang="en-US" altLang="zh-CN" sz="2400" b="1" dirty="0"/>
              <a:t>74LS123</a:t>
            </a:r>
            <a:r>
              <a:rPr lang="zh-CN" altLang="en-US" sz="2400" b="1" dirty="0"/>
              <a:t>中都有两个单稳态触发器。</a:t>
            </a:r>
            <a:r>
              <a:rPr lang="en-US" altLang="zh-CN" sz="2400" b="1" dirty="0"/>
              <a:t>MC14528</a:t>
            </a:r>
            <a:r>
              <a:rPr lang="zh-CN" altLang="en-US" sz="2400" b="1" dirty="0"/>
              <a:t>是</a:t>
            </a:r>
            <a:r>
              <a:rPr lang="en-US" altLang="zh-CN" sz="2400" b="1" dirty="0"/>
              <a:t>CMOS</a:t>
            </a:r>
            <a:r>
              <a:rPr lang="zh-CN" altLang="en-US" sz="2400" b="1" dirty="0"/>
              <a:t>集成单稳态触发器中的典型产品， 属于可重触发单稳态触发器。另外，有些集成单稳态触发器（如</a:t>
            </a:r>
            <a:r>
              <a:rPr lang="en-US" altLang="zh-CN" sz="2400" b="1" dirty="0"/>
              <a:t>74LS221</a:t>
            </a:r>
            <a:r>
              <a:rPr lang="zh-CN" altLang="en-US" sz="2400" b="1" dirty="0"/>
              <a:t>、</a:t>
            </a:r>
            <a:r>
              <a:rPr lang="en-US" altLang="zh-CN" sz="2400" b="1" dirty="0"/>
              <a:t>74LS122</a:t>
            </a:r>
            <a:r>
              <a:rPr lang="zh-CN" altLang="en-US" sz="2400" b="1" dirty="0"/>
              <a:t>、</a:t>
            </a:r>
            <a:r>
              <a:rPr lang="en-US" altLang="zh-CN" sz="2400" b="1" dirty="0"/>
              <a:t>74LS123</a:t>
            </a:r>
            <a:r>
              <a:rPr lang="zh-CN" altLang="en-US" sz="2400" b="1" dirty="0"/>
              <a:t>、</a:t>
            </a:r>
            <a:r>
              <a:rPr lang="en-US" altLang="zh-CN" sz="2400" b="1" dirty="0"/>
              <a:t>MC14528</a:t>
            </a:r>
            <a:r>
              <a:rPr lang="zh-CN" altLang="en-US" sz="2400" b="1" dirty="0"/>
              <a:t>）上还设有清零端，通过在清零端输入低电平可以立即终止暂稳态过程， 恢复稳定状态。 </a:t>
            </a:r>
            <a:endParaRPr lang="zh-CN" altLang="en-US" sz="2400" b="1" dirty="0"/>
          </a:p>
        </p:txBody>
      </p:sp>
    </p:spTree>
  </p:cSld>
  <p:clrMapOvr>
    <a:masterClrMapping/>
  </p:clrMapOvr>
  <p:transition>
    <p:checke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Text Box 1028"/>
          <p:cNvSpPr txBox="1"/>
          <p:nvPr/>
        </p:nvSpPr>
        <p:spPr>
          <a:xfrm>
            <a:off x="152400" y="723900"/>
            <a:ext cx="8763000" cy="5067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8000"/>
              </a:lnSpc>
              <a:spcBef>
                <a:spcPct val="50000"/>
              </a:spcBef>
              <a:buNone/>
            </a:pPr>
            <a:r>
              <a:rPr lang="en-US" altLang="zh-CN" sz="2400" b="1" dirty="0"/>
              <a:t>7.2.3 </a:t>
            </a:r>
            <a:r>
              <a:rPr lang="zh-CN" altLang="en-US" sz="2400" b="1" dirty="0"/>
              <a:t>单稳态触发器的应用</a:t>
            </a:r>
            <a:r>
              <a:rPr lang="zh-CN" altLang="en-US" sz="2400" dirty="0"/>
              <a:t></a:t>
            </a:r>
            <a:endParaRPr lang="zh-CN" altLang="en-US" sz="2400" dirty="0"/>
          </a:p>
          <a:p>
            <a:pPr marL="0" lvl="0" indent="0" eaLnBrk="1" hangingPunct="1">
              <a:lnSpc>
                <a:spcPct val="158000"/>
              </a:lnSpc>
              <a:spcBef>
                <a:spcPct val="50000"/>
              </a:spcBef>
              <a:buNone/>
            </a:pPr>
            <a:r>
              <a:rPr lang="zh-CN" altLang="en-US" sz="2400" dirty="0"/>
              <a:t>         </a:t>
            </a:r>
            <a:r>
              <a:rPr lang="en-US" altLang="zh-CN" sz="2400" b="1" dirty="0"/>
              <a:t>1</a:t>
            </a:r>
            <a:r>
              <a:rPr lang="zh-CN" altLang="en-US" sz="2400" b="1" dirty="0"/>
              <a:t>． 脉冲定时</a:t>
            </a:r>
            <a:r>
              <a:rPr lang="zh-CN" altLang="en-US" sz="2400" dirty="0"/>
              <a:t></a:t>
            </a:r>
            <a:endParaRPr lang="zh-CN" altLang="en-US" sz="2400" dirty="0"/>
          </a:p>
          <a:p>
            <a:pPr marL="0" lvl="0" indent="0" eaLnBrk="1" hangingPunct="1">
              <a:lnSpc>
                <a:spcPct val="158000"/>
              </a:lnSpc>
              <a:spcBef>
                <a:spcPct val="50000"/>
              </a:spcBef>
              <a:buNone/>
            </a:pPr>
            <a:r>
              <a:rPr lang="zh-CN" altLang="en-US" sz="2400" dirty="0"/>
              <a:t>        </a:t>
            </a:r>
            <a:r>
              <a:rPr lang="zh-CN" altLang="en-US" sz="2400" b="1" dirty="0"/>
              <a:t>由于单稳态触发器能够产生一定宽度</a:t>
            </a:r>
            <a:r>
              <a:rPr lang="en-US" altLang="zh-CN" sz="2400" b="1" dirty="0"/>
              <a:t>T</a:t>
            </a:r>
            <a:r>
              <a:rPr lang="en-US" altLang="zh-CN" sz="2400" b="1" baseline="-25000" dirty="0"/>
              <a:t>w</a:t>
            </a:r>
            <a:r>
              <a:rPr lang="zh-CN" altLang="en-US" sz="2400" b="1" dirty="0"/>
              <a:t>的矩形脉冲，因此在数字系统中常用它来控制其它一些电路在</a:t>
            </a:r>
            <a:r>
              <a:rPr lang="en-US" altLang="zh-CN" sz="2400" b="1" dirty="0"/>
              <a:t>T</a:t>
            </a:r>
            <a:r>
              <a:rPr lang="en-US" altLang="zh-CN" sz="2400" b="1" baseline="-25000" dirty="0"/>
              <a:t>w</a:t>
            </a:r>
            <a:r>
              <a:rPr lang="zh-CN" altLang="en-US" sz="2400" b="1" dirty="0"/>
              <a:t>这段时间内动作或不动作，从而起到定时的作用。例如，在图</a:t>
            </a:r>
            <a:r>
              <a:rPr lang="en-US" altLang="zh-CN" sz="2400" b="1" dirty="0"/>
              <a:t>7-20</a:t>
            </a:r>
            <a:r>
              <a:rPr lang="zh-CN" altLang="en-US" sz="2400" b="1" dirty="0"/>
              <a:t>中，将单稳态触发器的输出脉冲作为与门的一个输入，去控制与门另一个输入端的信号</a:t>
            </a:r>
            <a:r>
              <a:rPr lang="en-US" altLang="zh-CN" sz="2400" b="1" dirty="0"/>
              <a:t>clk</a:t>
            </a:r>
            <a:r>
              <a:rPr lang="zh-CN" altLang="en-US" sz="2400" b="1" dirty="0"/>
              <a:t>能否从与门输出。如果在与门的输出端再加一个计数器并将</a:t>
            </a:r>
            <a:r>
              <a:rPr lang="en-US" altLang="zh-CN" sz="2400" b="1" dirty="0"/>
              <a:t>T</a:t>
            </a:r>
            <a:r>
              <a:rPr lang="en-US" altLang="zh-CN" sz="2400" b="1" baseline="-25000" dirty="0"/>
              <a:t>w</a:t>
            </a:r>
            <a:r>
              <a:rPr lang="zh-CN" altLang="en-US" sz="2400" b="1" dirty="0"/>
              <a:t>调整到</a:t>
            </a:r>
            <a:r>
              <a:rPr lang="en-US" altLang="zh-CN" sz="2400" b="1" dirty="0"/>
              <a:t>1 s</a:t>
            </a:r>
            <a:r>
              <a:rPr lang="zh-CN" altLang="en-US" sz="2400" b="1" dirty="0"/>
              <a:t>，就可以测出信号</a:t>
            </a:r>
            <a:r>
              <a:rPr lang="en-US" altLang="zh-CN" sz="2400" b="1" dirty="0"/>
              <a:t>clk</a:t>
            </a:r>
            <a:r>
              <a:rPr lang="zh-CN" altLang="en-US" sz="2400" b="1" dirty="0"/>
              <a:t>的频率。</a:t>
            </a:r>
            <a:endParaRPr lang="zh-CN" altLang="en-US" sz="2400" b="1" dirty="0"/>
          </a:p>
        </p:txBody>
      </p:sp>
    </p:spTree>
  </p:cSld>
  <p:clrMapOvr>
    <a:masterClrMapping/>
  </p:clrMapOvr>
  <p:transition>
    <p:checke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Text Box 4"/>
          <p:cNvSpPr txBox="1"/>
          <p:nvPr/>
        </p:nvSpPr>
        <p:spPr>
          <a:xfrm>
            <a:off x="1905000" y="5334000"/>
            <a:ext cx="5772150"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400" b="1" dirty="0"/>
              <a:t>图 </a:t>
            </a:r>
            <a:r>
              <a:rPr lang="en-US" altLang="zh-CN" sz="2400" b="1" dirty="0"/>
              <a:t>7-20 </a:t>
            </a:r>
            <a:r>
              <a:rPr lang="zh-CN" altLang="en-US" sz="2400" b="1" dirty="0"/>
              <a:t>单稳态触发器做定时控制的应用</a:t>
            </a:r>
            <a:endParaRPr lang="zh-CN" altLang="en-US" sz="2400" b="1" dirty="0"/>
          </a:p>
          <a:p>
            <a:pPr marL="0" lvl="0" indent="0" algn="ctr" eaLnBrk="1" hangingPunct="1">
              <a:spcBef>
                <a:spcPct val="0"/>
              </a:spcBef>
              <a:buNone/>
            </a:pPr>
            <a:r>
              <a:rPr lang="en-US" altLang="zh-CN" sz="2400" b="1" dirty="0"/>
              <a:t>(a) </a:t>
            </a:r>
            <a:r>
              <a:rPr lang="zh-CN" altLang="en-US" sz="2400" b="1" dirty="0"/>
              <a:t>电路图； </a:t>
            </a:r>
            <a:r>
              <a:rPr lang="en-US" altLang="zh-CN" sz="2400" b="1" dirty="0"/>
              <a:t>(b) </a:t>
            </a:r>
            <a:r>
              <a:rPr lang="zh-CN" altLang="en-US" sz="2400" b="1" dirty="0"/>
              <a:t>波形图</a:t>
            </a:r>
            <a:endParaRPr lang="zh-CN" altLang="en-US" sz="2400" b="1" dirty="0"/>
          </a:p>
        </p:txBody>
      </p:sp>
      <p:graphicFrame>
        <p:nvGraphicFramePr>
          <p:cNvPr id="55299" name="Object 5"/>
          <p:cNvGraphicFramePr>
            <a:graphicFrameLocks noChangeAspect="1"/>
          </p:cNvGraphicFramePr>
          <p:nvPr/>
        </p:nvGraphicFramePr>
        <p:xfrm>
          <a:off x="0" y="914400"/>
          <a:ext cx="9144000" cy="4322763"/>
        </p:xfrm>
        <a:graphic>
          <a:graphicData uri="http://schemas.openxmlformats.org/presentationml/2006/ole">
            <mc:AlternateContent xmlns:mc="http://schemas.openxmlformats.org/markup-compatibility/2006">
              <mc:Choice xmlns:v="urn:schemas-microsoft-com:vml" Requires="v">
                <p:oleObj spid="_x0000_s3118" name="" r:id="rId1" imgW="4709160" imgH="2225040" progId="Visio.Drawing.4">
                  <p:embed/>
                </p:oleObj>
              </mc:Choice>
              <mc:Fallback>
                <p:oleObj name="" r:id="rId1" imgW="4709160" imgH="2225040" progId="Visio.Drawing.4">
                  <p:embed/>
                  <p:pic>
                    <p:nvPicPr>
                      <p:cNvPr id="0" name="图片 3117"/>
                      <p:cNvPicPr/>
                      <p:nvPr/>
                    </p:nvPicPr>
                    <p:blipFill>
                      <a:blip r:embed="rId2"/>
                      <a:stretch>
                        <a:fillRect/>
                      </a:stretch>
                    </p:blipFill>
                    <p:spPr>
                      <a:xfrm>
                        <a:off x="0" y="914400"/>
                        <a:ext cx="9144000" cy="4322763"/>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ext Box 1028"/>
          <p:cNvSpPr txBox="1"/>
          <p:nvPr/>
        </p:nvSpPr>
        <p:spPr>
          <a:xfrm>
            <a:off x="228600" y="762000"/>
            <a:ext cx="8686800" cy="41084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200000"/>
              </a:lnSpc>
              <a:spcBef>
                <a:spcPct val="50000"/>
              </a:spcBef>
              <a:buNone/>
            </a:pPr>
            <a:r>
              <a:rPr lang="en-US" altLang="zh-CN" sz="2400" dirty="0"/>
              <a:t>        </a:t>
            </a:r>
            <a:r>
              <a:rPr lang="en-US" altLang="zh-CN" sz="2400" b="1" dirty="0"/>
              <a:t>2</a:t>
            </a:r>
            <a:r>
              <a:rPr lang="zh-CN" altLang="en-US" sz="2400" b="1" dirty="0"/>
              <a:t>． 脉冲延时</a:t>
            </a:r>
            <a:endParaRPr lang="zh-CN" altLang="en-US" sz="2400" dirty="0"/>
          </a:p>
          <a:p>
            <a:pPr marL="0" lvl="0" indent="0" eaLnBrk="1" hangingPunct="1">
              <a:lnSpc>
                <a:spcPct val="200000"/>
              </a:lnSpc>
              <a:spcBef>
                <a:spcPct val="50000"/>
              </a:spcBef>
              <a:buNone/>
            </a:pPr>
            <a:r>
              <a:rPr lang="zh-CN" altLang="en-US" sz="2400" dirty="0"/>
              <a:t>        </a:t>
            </a:r>
            <a:r>
              <a:rPr lang="zh-CN" altLang="en-US" sz="2400" b="1" dirty="0"/>
              <a:t>在数字系统中，有时要求将某个脉冲宽度为</a:t>
            </a:r>
            <a:r>
              <a:rPr lang="en-US" altLang="zh-CN" sz="2400" b="1" dirty="0"/>
              <a:t>T</a:t>
            </a:r>
            <a:r>
              <a:rPr lang="en-US" altLang="zh-CN" sz="2400" b="1" baseline="-25000" dirty="0"/>
              <a:t>0</a:t>
            </a:r>
            <a:r>
              <a:rPr lang="zh-CN" altLang="en-US" sz="2400" b="1" dirty="0"/>
              <a:t>的信号延迟一段时间</a:t>
            </a:r>
            <a:r>
              <a:rPr lang="en-US" altLang="zh-CN" sz="2400" b="1" dirty="0"/>
              <a:t>T</a:t>
            </a:r>
            <a:r>
              <a:rPr lang="en-US" altLang="zh-CN" sz="2400" b="1" baseline="-25000" dirty="0"/>
              <a:t>1</a:t>
            </a:r>
            <a:r>
              <a:rPr lang="zh-CN" altLang="en-US" sz="2400" b="1" dirty="0"/>
              <a:t>后再输出。利用单稳态触发器可以很方便地实现这种脉冲延时， 其实现电路和波形图如图</a:t>
            </a:r>
            <a:r>
              <a:rPr lang="en-US" altLang="zh-CN" sz="2400" b="1" dirty="0"/>
              <a:t>7-21</a:t>
            </a:r>
            <a:r>
              <a:rPr lang="zh-CN" altLang="en-US" sz="2400" b="1" dirty="0"/>
              <a:t>所示。</a:t>
            </a:r>
            <a:endParaRPr lang="zh-CN" altLang="en-US" sz="2400" b="1" dirty="0"/>
          </a:p>
          <a:p>
            <a:pPr marL="0" lvl="0" indent="0" eaLnBrk="1" hangingPunct="1">
              <a:lnSpc>
                <a:spcPct val="200000"/>
              </a:lnSpc>
              <a:spcBef>
                <a:spcPct val="50000"/>
              </a:spcBef>
              <a:buNone/>
            </a:pPr>
            <a:r>
              <a:rPr lang="zh-CN" altLang="en-US" sz="2400" b="1" dirty="0"/>
              <a:t>         图中，</a:t>
            </a:r>
            <a:r>
              <a:rPr lang="en-US" altLang="zh-CN" sz="2400" b="1" dirty="0"/>
              <a:t>T</a:t>
            </a:r>
            <a:r>
              <a:rPr lang="en-US" altLang="zh-CN" sz="2400" b="1" baseline="-25000" dirty="0"/>
              <a:t>1</a:t>
            </a:r>
            <a:r>
              <a:rPr lang="en-US" altLang="zh-CN" sz="2400" b="1" dirty="0"/>
              <a:t> = T</a:t>
            </a:r>
            <a:r>
              <a:rPr lang="en-US" altLang="zh-CN" sz="2400" b="1" baseline="-25000" dirty="0"/>
              <a:t>W1</a:t>
            </a:r>
            <a:r>
              <a:rPr lang="en-US" altLang="zh-CN" sz="2400" b="1" dirty="0"/>
              <a:t>≈ 0.7R</a:t>
            </a:r>
            <a:r>
              <a:rPr lang="en-US" altLang="zh-CN" sz="2400" b="1" baseline="-25000" dirty="0"/>
              <a:t>1</a:t>
            </a:r>
            <a:r>
              <a:rPr lang="en-US" altLang="zh-CN" sz="2400" b="1" dirty="0"/>
              <a:t>C</a:t>
            </a:r>
            <a:r>
              <a:rPr lang="en-US" altLang="zh-CN" sz="2400" b="1" baseline="-25000" dirty="0"/>
              <a:t>1</a:t>
            </a:r>
            <a:r>
              <a:rPr lang="zh-CN" altLang="en-US" sz="2400" b="1" dirty="0"/>
              <a:t>，</a:t>
            </a:r>
            <a:r>
              <a:rPr lang="en-US" altLang="zh-CN" sz="2400" b="1" dirty="0"/>
              <a:t>T</a:t>
            </a:r>
            <a:r>
              <a:rPr lang="en-US" altLang="zh-CN" sz="2400" b="1" baseline="-25000" dirty="0"/>
              <a:t>0</a:t>
            </a:r>
            <a:r>
              <a:rPr lang="en-US" altLang="zh-CN" sz="2400" b="1" dirty="0"/>
              <a:t> = T</a:t>
            </a:r>
            <a:r>
              <a:rPr lang="en-US" altLang="zh-CN" sz="2400" b="1" baseline="-25000" dirty="0"/>
              <a:t>W2</a:t>
            </a:r>
            <a:r>
              <a:rPr lang="en-US" altLang="zh-CN" sz="2400" b="1" dirty="0"/>
              <a:t> ≈ 0.7R</a:t>
            </a:r>
            <a:r>
              <a:rPr lang="en-US" altLang="zh-CN" sz="2400" b="1" baseline="-25000" dirty="0"/>
              <a:t>2</a:t>
            </a:r>
            <a:r>
              <a:rPr lang="en-US" altLang="zh-CN" sz="2400" b="1" dirty="0"/>
              <a:t>C</a:t>
            </a:r>
            <a:r>
              <a:rPr lang="en-US" altLang="zh-CN" sz="2400" b="1" baseline="-25000" dirty="0"/>
              <a:t>2</a:t>
            </a:r>
            <a:r>
              <a:rPr lang="zh-CN" altLang="en-US" sz="2400" b="1" dirty="0"/>
              <a:t>。  </a:t>
            </a:r>
            <a:endParaRPr lang="zh-CN" altLang="en-US" sz="2400" b="1" dirty="0"/>
          </a:p>
        </p:txBody>
      </p:sp>
    </p:spTree>
  </p:cSld>
  <p:clrMapOvr>
    <a:masterClrMapping/>
  </p:clrMapOvr>
  <p:transition>
    <p:checke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Text Box 4"/>
          <p:cNvSpPr txBox="1"/>
          <p:nvPr/>
        </p:nvSpPr>
        <p:spPr>
          <a:xfrm>
            <a:off x="1952625" y="5486400"/>
            <a:ext cx="5238750"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400" b="1" dirty="0"/>
              <a:t>图 </a:t>
            </a:r>
            <a:r>
              <a:rPr lang="en-US" altLang="zh-CN" sz="2400" b="1" dirty="0"/>
              <a:t>7-21 </a:t>
            </a:r>
            <a:r>
              <a:rPr lang="zh-CN" altLang="en-US" sz="2400" b="1" dirty="0"/>
              <a:t>单稳态触发器脉冲延迟的应用 </a:t>
            </a:r>
            <a:endParaRPr lang="zh-CN" altLang="en-US" sz="2400" b="1" dirty="0"/>
          </a:p>
          <a:p>
            <a:pPr marL="0" lvl="0" indent="0" algn="ctr" eaLnBrk="1" hangingPunct="1">
              <a:spcBef>
                <a:spcPct val="0"/>
              </a:spcBef>
              <a:buNone/>
            </a:pPr>
            <a:r>
              <a:rPr lang="en-US" altLang="zh-CN" sz="2400" b="1" dirty="0"/>
              <a:t>(a) </a:t>
            </a:r>
            <a:r>
              <a:rPr lang="zh-CN" altLang="en-US" sz="2400" b="1" dirty="0"/>
              <a:t>电路图； </a:t>
            </a:r>
            <a:r>
              <a:rPr lang="en-US" altLang="zh-CN" sz="2400" b="1" dirty="0"/>
              <a:t>(b) </a:t>
            </a:r>
            <a:r>
              <a:rPr lang="zh-CN" altLang="en-US" sz="2400" b="1" dirty="0"/>
              <a:t>波形图</a:t>
            </a:r>
            <a:endParaRPr lang="zh-CN" altLang="en-US" sz="2400" b="1" dirty="0"/>
          </a:p>
        </p:txBody>
      </p:sp>
      <p:graphicFrame>
        <p:nvGraphicFramePr>
          <p:cNvPr id="57347" name="Object 5"/>
          <p:cNvGraphicFramePr>
            <a:graphicFrameLocks noChangeAspect="1"/>
          </p:cNvGraphicFramePr>
          <p:nvPr/>
        </p:nvGraphicFramePr>
        <p:xfrm>
          <a:off x="0" y="533400"/>
          <a:ext cx="9144000" cy="4686300"/>
        </p:xfrm>
        <a:graphic>
          <a:graphicData uri="http://schemas.openxmlformats.org/presentationml/2006/ole">
            <mc:AlternateContent xmlns:mc="http://schemas.openxmlformats.org/markup-compatibility/2006">
              <mc:Choice xmlns:v="urn:schemas-microsoft-com:vml" Requires="v">
                <p:oleObj spid="_x0000_s3115" name="" r:id="rId1" imgW="3253740" imgH="1668780" progId="Visio.Drawing.4">
                  <p:embed/>
                </p:oleObj>
              </mc:Choice>
              <mc:Fallback>
                <p:oleObj name="" r:id="rId1" imgW="3253740" imgH="1668780" progId="Visio.Drawing.4">
                  <p:embed/>
                  <p:pic>
                    <p:nvPicPr>
                      <p:cNvPr id="0" name="图片 3114"/>
                      <p:cNvPicPr/>
                      <p:nvPr/>
                    </p:nvPicPr>
                    <p:blipFill>
                      <a:blip r:embed="rId2"/>
                      <a:stretch>
                        <a:fillRect/>
                      </a:stretch>
                    </p:blipFill>
                    <p:spPr>
                      <a:xfrm>
                        <a:off x="0" y="533400"/>
                        <a:ext cx="9144000" cy="4686300"/>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8370" name="Object 2"/>
          <p:cNvGraphicFramePr>
            <a:graphicFrameLocks noChangeAspect="1"/>
          </p:cNvGraphicFramePr>
          <p:nvPr/>
        </p:nvGraphicFramePr>
        <p:xfrm>
          <a:off x="495300" y="685800"/>
          <a:ext cx="8153400" cy="4794250"/>
        </p:xfrm>
        <a:graphic>
          <a:graphicData uri="http://schemas.openxmlformats.org/presentationml/2006/ole">
            <mc:AlternateContent xmlns:mc="http://schemas.openxmlformats.org/markup-compatibility/2006">
              <mc:Choice xmlns:v="urn:schemas-microsoft-com:vml" Requires="v">
                <p:oleObj spid="_x0000_s3116" name="" r:id="rId1" imgW="3108960" imgH="1828800" progId="Visio.Drawing.4">
                  <p:embed/>
                </p:oleObj>
              </mc:Choice>
              <mc:Fallback>
                <p:oleObj name="" r:id="rId1" imgW="3108960" imgH="1828800" progId="Visio.Drawing.4">
                  <p:embed/>
                  <p:pic>
                    <p:nvPicPr>
                      <p:cNvPr id="0" name="图片 3115"/>
                      <p:cNvPicPr/>
                      <p:nvPr/>
                    </p:nvPicPr>
                    <p:blipFill>
                      <a:blip r:embed="rId2"/>
                      <a:stretch>
                        <a:fillRect/>
                      </a:stretch>
                    </p:blipFill>
                    <p:spPr>
                      <a:xfrm>
                        <a:off x="495300" y="685800"/>
                        <a:ext cx="8153400" cy="4794250"/>
                      </a:xfrm>
                      <a:prstGeom prst="rect">
                        <a:avLst/>
                      </a:prstGeom>
                      <a:noFill/>
                      <a:ln w="38100">
                        <a:noFill/>
                        <a:miter/>
                      </a:ln>
                    </p:spPr>
                  </p:pic>
                </p:oleObj>
              </mc:Fallback>
            </mc:AlternateContent>
          </a:graphicData>
        </a:graphic>
      </p:graphicFrame>
      <p:sp>
        <p:nvSpPr>
          <p:cNvPr id="58371" name="Text Box 3"/>
          <p:cNvSpPr txBox="1"/>
          <p:nvPr/>
        </p:nvSpPr>
        <p:spPr>
          <a:xfrm>
            <a:off x="1952625" y="5486400"/>
            <a:ext cx="5238750"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400" b="1" dirty="0"/>
              <a:t>图 </a:t>
            </a:r>
            <a:r>
              <a:rPr lang="en-US" altLang="zh-CN" sz="2400" b="1" dirty="0"/>
              <a:t>7-21 </a:t>
            </a:r>
            <a:r>
              <a:rPr lang="zh-CN" altLang="en-US" sz="2400" b="1" dirty="0"/>
              <a:t>单稳态触发器脉冲延迟的应用 </a:t>
            </a:r>
            <a:endParaRPr lang="zh-CN" altLang="en-US" sz="2400" b="1" dirty="0"/>
          </a:p>
          <a:p>
            <a:pPr marL="0" lvl="0" indent="0" algn="ctr" eaLnBrk="1" hangingPunct="1">
              <a:spcBef>
                <a:spcPct val="0"/>
              </a:spcBef>
              <a:buNone/>
            </a:pPr>
            <a:r>
              <a:rPr lang="en-US" altLang="zh-CN" sz="2400" b="1" dirty="0"/>
              <a:t>(a) </a:t>
            </a:r>
            <a:r>
              <a:rPr lang="zh-CN" altLang="en-US" sz="2400" b="1" dirty="0"/>
              <a:t>电路图； </a:t>
            </a:r>
            <a:r>
              <a:rPr lang="en-US" altLang="zh-CN" sz="2400" b="1" dirty="0"/>
              <a:t>(b) </a:t>
            </a:r>
            <a:r>
              <a:rPr lang="zh-CN" altLang="en-US" sz="2400" b="1" dirty="0"/>
              <a:t>波形图</a:t>
            </a:r>
            <a:endParaRPr lang="zh-CN" altLang="en-US" sz="2400" b="1" dirty="0"/>
          </a:p>
        </p:txBody>
      </p:sp>
    </p:spTree>
  </p:cSld>
  <p:clrMapOvr>
    <a:masterClrMapping/>
  </p:clrMapOvr>
  <p:transition>
    <p:checke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Text Box 1028"/>
          <p:cNvSpPr txBox="1"/>
          <p:nvPr/>
        </p:nvSpPr>
        <p:spPr>
          <a:xfrm>
            <a:off x="228600" y="796925"/>
            <a:ext cx="8686800" cy="43084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8000"/>
              </a:lnSpc>
              <a:spcBef>
                <a:spcPct val="50000"/>
              </a:spcBef>
              <a:buNone/>
            </a:pPr>
            <a:r>
              <a:rPr lang="en-US" altLang="zh-CN" sz="2400" dirty="0"/>
              <a:t>        </a:t>
            </a:r>
            <a:r>
              <a:rPr lang="en-US" altLang="zh-CN" sz="2400" b="1" dirty="0"/>
              <a:t>3</a:t>
            </a:r>
            <a:r>
              <a:rPr lang="zh-CN" altLang="en-US" sz="2400" b="1" dirty="0"/>
              <a:t>． 脉冲整形</a:t>
            </a:r>
            <a:endParaRPr lang="zh-CN" altLang="en-US" sz="2400" dirty="0"/>
          </a:p>
          <a:p>
            <a:pPr marL="0" lvl="0" indent="0" eaLnBrk="1" hangingPunct="1">
              <a:lnSpc>
                <a:spcPct val="158000"/>
              </a:lnSpc>
              <a:spcBef>
                <a:spcPct val="50000"/>
              </a:spcBef>
              <a:buNone/>
            </a:pPr>
            <a:r>
              <a:rPr lang="zh-CN" altLang="en-US" sz="2400" dirty="0"/>
              <a:t>        </a:t>
            </a:r>
            <a:r>
              <a:rPr lang="zh-CN" altLang="en-US" sz="2400" b="1" dirty="0"/>
              <a:t>矩形脉冲在传输过程中可能会发生畸变， 如边沿变缓、 受到噪声干扰等（可参见图</a:t>
            </a:r>
            <a:r>
              <a:rPr lang="en-US" altLang="zh-CN" sz="2400" b="1" dirty="0"/>
              <a:t>7-27</a:t>
            </a:r>
            <a:r>
              <a:rPr lang="zh-CN" altLang="en-US" sz="2400" b="1" dirty="0"/>
              <a:t>），我们可以采用单稳态触发器对其进行整形。只要将待整形的信号作为触发信号输入单稳态触发器，电路的输出端就可获得干净且边沿陡峭的矩形脉冲。 上面介绍的集成单稳态触发器</a:t>
            </a:r>
            <a:r>
              <a:rPr lang="en-US" altLang="zh-CN" sz="2400" b="1" dirty="0"/>
              <a:t>74121</a:t>
            </a:r>
            <a:r>
              <a:rPr lang="zh-CN" altLang="en-US" sz="2400" b="1" dirty="0"/>
              <a:t>对输入脉冲有</a:t>
            </a:r>
            <a:r>
              <a:rPr lang="en-US" altLang="zh-CN" sz="2400" b="1" dirty="0"/>
              <a:t>1.2 V</a:t>
            </a:r>
            <a:r>
              <a:rPr lang="zh-CN" altLang="en-US" sz="2400" b="1" dirty="0"/>
              <a:t>的抗干扰容限， 输入脉冲边沿上升</a:t>
            </a:r>
            <a:r>
              <a:rPr lang="en-US" altLang="zh-CN" sz="2400" b="1" dirty="0"/>
              <a:t>/</a:t>
            </a:r>
            <a:r>
              <a:rPr lang="zh-CN" altLang="en-US" sz="2400" b="1" dirty="0"/>
              <a:t>下降的速率最慢可以为</a:t>
            </a:r>
            <a:r>
              <a:rPr lang="en-US" altLang="zh-CN" sz="2400" b="1" dirty="0"/>
              <a:t>1 V/s</a:t>
            </a:r>
            <a:r>
              <a:rPr lang="zh-CN" altLang="en-US" sz="2400" b="1" dirty="0"/>
              <a:t>。 </a:t>
            </a:r>
            <a:endParaRPr lang="zh-CN" altLang="en-US" sz="2400" b="1" dirty="0"/>
          </a:p>
        </p:txBody>
      </p:sp>
      <p:sp>
        <p:nvSpPr>
          <p:cNvPr id="59395" name="AutoShape 1029">
            <a:hlinkClick r:id="" action="ppaction://hlinkshowjump?jump=firstslide"/>
          </p:cNvPr>
          <p:cNvSpPr/>
          <p:nvPr/>
        </p:nvSpPr>
        <p:spPr>
          <a:xfrm>
            <a:off x="8458200" y="6470650"/>
            <a:ext cx="685800" cy="3810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Tree>
  </p:cSld>
  <p:clrMapOvr>
    <a:masterClrMapping/>
  </p:clrMapOvr>
  <p:transition>
    <p:checke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Text Box 4"/>
          <p:cNvSpPr txBox="1"/>
          <p:nvPr/>
        </p:nvSpPr>
        <p:spPr>
          <a:xfrm>
            <a:off x="2895600" y="914400"/>
            <a:ext cx="33337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t>7.3  </a:t>
            </a:r>
            <a:r>
              <a:rPr lang="zh-CN" altLang="en-US" b="1" dirty="0"/>
              <a:t>施密特触发器</a:t>
            </a:r>
            <a:endParaRPr lang="zh-CN" altLang="en-US" b="1" dirty="0"/>
          </a:p>
        </p:txBody>
      </p:sp>
      <p:sp>
        <p:nvSpPr>
          <p:cNvPr id="60419" name="Text Box 5"/>
          <p:cNvSpPr txBox="1"/>
          <p:nvPr/>
        </p:nvSpPr>
        <p:spPr>
          <a:xfrm>
            <a:off x="304800" y="2057400"/>
            <a:ext cx="8534400" cy="30130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200000"/>
              </a:lnSpc>
              <a:spcBef>
                <a:spcPct val="50000"/>
              </a:spcBef>
              <a:buNone/>
            </a:pPr>
            <a:r>
              <a:rPr lang="en-US" altLang="zh-CN" sz="2400" dirty="0"/>
              <a:t>        </a:t>
            </a:r>
            <a:r>
              <a:rPr lang="zh-CN" altLang="en-US" sz="2400" b="1" dirty="0"/>
              <a:t>施密特触发器是脉冲波形变换中经常使用的一种电路，利用它可以将正弦波、三角波以及其它一些周期性的脉冲波形变换成边沿陡峭的矩形波。另外，它还可以用作脉冲鉴幅器、比较器。 </a:t>
            </a:r>
            <a:endParaRPr lang="zh-CN" altLang="en-US" sz="2400" b="1" dirty="0"/>
          </a:p>
        </p:txBody>
      </p:sp>
    </p:spTree>
  </p:cSld>
  <p:clrMapOvr>
    <a:masterClrMapping/>
  </p:clrMapOvr>
  <p:transition>
    <p:checke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Text Box 4"/>
          <p:cNvSpPr txBox="1"/>
          <p:nvPr/>
        </p:nvSpPr>
        <p:spPr>
          <a:xfrm>
            <a:off x="76200" y="533400"/>
            <a:ext cx="8991600" cy="57880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30000"/>
              </a:lnSpc>
              <a:spcBef>
                <a:spcPct val="50000"/>
              </a:spcBef>
              <a:buNone/>
            </a:pPr>
            <a:r>
              <a:rPr lang="en-US" altLang="zh-CN" sz="2400" dirty="0"/>
              <a:t>        </a:t>
            </a:r>
            <a:r>
              <a:rPr lang="zh-CN" altLang="en-US" sz="2400" b="1" dirty="0"/>
              <a:t>施密特触发器是一种受输入信号电平直接控制的双稳态触发器。它有两个稳定状态，在外加信号的作用下，只要输入信号变化到某一电平时，电路就从一个稳定状态转换到另一个稳定状态， 而且稳定状态的保持也与输入信号的电平密切相关。图</a:t>
            </a:r>
            <a:r>
              <a:rPr lang="en-US" altLang="zh-CN" sz="2400" b="1" dirty="0"/>
              <a:t>7-22</a:t>
            </a:r>
            <a:r>
              <a:rPr lang="zh-CN" altLang="en-US" sz="2400" b="1" dirty="0"/>
              <a:t>是这种电路的工作波形。可以看出， 在输入信号上升的过程中，当其电平增大到</a:t>
            </a:r>
            <a:r>
              <a:rPr lang="en-US" altLang="zh-CN" sz="2400" b="1" dirty="0"/>
              <a:t>U</a:t>
            </a:r>
            <a:r>
              <a:rPr lang="en-US" altLang="zh-CN" sz="2400" b="1" baseline="-25000" dirty="0"/>
              <a:t>T+</a:t>
            </a:r>
            <a:r>
              <a:rPr lang="zh-CN" altLang="en-US" sz="2400" b="1" dirty="0"/>
              <a:t>时，输出由低电平跳变到高电平， 即电路从一个稳态转换到另一个稳态，我们把这一转换时刻的输入信号电平</a:t>
            </a:r>
            <a:r>
              <a:rPr lang="en-US" altLang="zh-CN" sz="2400" b="1" dirty="0"/>
              <a:t>U</a:t>
            </a:r>
            <a:r>
              <a:rPr lang="en-US" altLang="zh-CN" sz="2400" b="1" baseline="-25000" dirty="0"/>
              <a:t>T+</a:t>
            </a:r>
            <a:r>
              <a:rPr lang="zh-CN" altLang="en-US" sz="2400" b="1" dirty="0"/>
              <a:t>称为正向阈值电压； 在输入信号下降的过程中，当其电平减小到</a:t>
            </a:r>
            <a:r>
              <a:rPr lang="en-US" altLang="zh-CN" sz="2400" b="1" dirty="0"/>
              <a:t>U</a:t>
            </a:r>
            <a:r>
              <a:rPr lang="en-US" altLang="zh-CN" sz="2400" b="1" baseline="-25000" dirty="0"/>
              <a:t>T-</a:t>
            </a:r>
            <a:r>
              <a:rPr lang="zh-CN" altLang="en-US" sz="2400" b="1" dirty="0"/>
              <a:t>时， 电路又会自动翻转回原来的状态， 输出由高电平跳变到低电平， 这一时刻的输入信号电压</a:t>
            </a:r>
            <a:r>
              <a:rPr lang="en-US" altLang="zh-CN" sz="2400" b="1" dirty="0"/>
              <a:t>U</a:t>
            </a:r>
            <a:r>
              <a:rPr lang="en-US" altLang="zh-CN" sz="2400" b="1" baseline="-25000" dirty="0"/>
              <a:t>T-</a:t>
            </a:r>
            <a:r>
              <a:rPr lang="zh-CN" altLang="en-US" sz="2400" b="1" dirty="0"/>
              <a:t>称为负向阈值电压。 施密特触发器的正向阈值电压和负向阈值电压是不相等的，我们把两者之差定义为回差电压</a:t>
            </a:r>
            <a:r>
              <a:rPr lang="en-US" altLang="zh-CN" sz="2400" b="1" dirty="0"/>
              <a:t>ΔU</a:t>
            </a:r>
            <a:r>
              <a:rPr lang="en-US" altLang="zh-CN" sz="2400" b="1" baseline="-25000" dirty="0"/>
              <a:t>T</a:t>
            </a:r>
            <a:r>
              <a:rPr lang="zh-CN" altLang="en-US" sz="2400" b="1" dirty="0"/>
              <a:t>，即</a:t>
            </a:r>
            <a:endParaRPr lang="zh-CN" altLang="en-US" sz="2400" b="1" dirty="0"/>
          </a:p>
        </p:txBody>
      </p:sp>
    </p:spTree>
  </p:cSld>
  <p:clrMapOvr>
    <a:masterClrMapping/>
  </p:clrMapOvr>
  <p:transition>
    <p:checke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Text Box 2"/>
          <p:cNvSpPr txBox="1"/>
          <p:nvPr/>
        </p:nvSpPr>
        <p:spPr>
          <a:xfrm>
            <a:off x="2438400" y="5562600"/>
            <a:ext cx="45529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 </a:t>
            </a:r>
            <a:r>
              <a:rPr lang="en-US" altLang="zh-CN" sz="2400" b="1" dirty="0"/>
              <a:t>7-22 </a:t>
            </a:r>
            <a:r>
              <a:rPr lang="zh-CN" altLang="en-US" sz="2400" b="1" dirty="0"/>
              <a:t>施密特触发器的工作波形</a:t>
            </a:r>
            <a:endParaRPr lang="zh-CN" altLang="en-US" sz="2400" b="1" dirty="0"/>
          </a:p>
        </p:txBody>
      </p:sp>
      <p:graphicFrame>
        <p:nvGraphicFramePr>
          <p:cNvPr id="62467" name="Object 3"/>
          <p:cNvGraphicFramePr>
            <a:graphicFrameLocks noChangeAspect="1"/>
          </p:cNvGraphicFramePr>
          <p:nvPr/>
        </p:nvGraphicFramePr>
        <p:xfrm>
          <a:off x="1676400" y="914400"/>
          <a:ext cx="6096000" cy="4437063"/>
        </p:xfrm>
        <a:graphic>
          <a:graphicData uri="http://schemas.openxmlformats.org/presentationml/2006/ole">
            <mc:AlternateContent xmlns:mc="http://schemas.openxmlformats.org/markup-compatibility/2006">
              <mc:Choice xmlns:v="urn:schemas-microsoft-com:vml" Requires="v">
                <p:oleObj spid="_x0000_s3131" name="" r:id="rId1" imgW="2118360" imgH="1539240" progId="Visio.Drawing.4">
                  <p:embed/>
                </p:oleObj>
              </mc:Choice>
              <mc:Fallback>
                <p:oleObj name="" r:id="rId1" imgW="2118360" imgH="1539240" progId="Visio.Drawing.4">
                  <p:embed/>
                  <p:pic>
                    <p:nvPicPr>
                      <p:cNvPr id="0" name="图片 3130"/>
                      <p:cNvPicPr/>
                      <p:nvPr/>
                    </p:nvPicPr>
                    <p:blipFill>
                      <a:blip r:embed="rId2"/>
                      <a:stretch>
                        <a:fillRect/>
                      </a:stretch>
                    </p:blipFill>
                    <p:spPr>
                      <a:xfrm>
                        <a:off x="1676400" y="914400"/>
                        <a:ext cx="6096000" cy="4437063"/>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3490" name="Object 4"/>
          <p:cNvGraphicFramePr>
            <a:graphicFrameLocks noChangeAspect="1"/>
          </p:cNvGraphicFramePr>
          <p:nvPr/>
        </p:nvGraphicFramePr>
        <p:xfrm>
          <a:off x="2819400" y="914400"/>
          <a:ext cx="2971800" cy="593725"/>
        </p:xfrm>
        <a:graphic>
          <a:graphicData uri="http://schemas.openxmlformats.org/presentationml/2006/ole">
            <mc:AlternateContent xmlns:mc="http://schemas.openxmlformats.org/markup-compatibility/2006">
              <mc:Choice xmlns:v="urn:schemas-microsoft-com:vml" Requires="v">
                <p:oleObj spid="_x0000_s3129" name="" r:id="rId1" imgW="1078865" imgH="215900" progId="Equation.3">
                  <p:embed/>
                </p:oleObj>
              </mc:Choice>
              <mc:Fallback>
                <p:oleObj name="" r:id="rId1" imgW="1078865" imgH="215900" progId="Equation.3">
                  <p:embed/>
                  <p:pic>
                    <p:nvPicPr>
                      <p:cNvPr id="0" name="图片 3128"/>
                      <p:cNvPicPr/>
                      <p:nvPr/>
                    </p:nvPicPr>
                    <p:blipFill>
                      <a:blip r:embed="rId2"/>
                      <a:stretch>
                        <a:fillRect/>
                      </a:stretch>
                    </p:blipFill>
                    <p:spPr>
                      <a:xfrm>
                        <a:off x="2819400" y="914400"/>
                        <a:ext cx="2971800" cy="593725"/>
                      </a:xfrm>
                      <a:prstGeom prst="rect">
                        <a:avLst/>
                      </a:prstGeom>
                      <a:noFill/>
                      <a:ln w="38100">
                        <a:noFill/>
                        <a:miter/>
                      </a:ln>
                    </p:spPr>
                  </p:pic>
                </p:oleObj>
              </mc:Fallback>
            </mc:AlternateContent>
          </a:graphicData>
        </a:graphic>
      </p:graphicFrame>
      <p:sp>
        <p:nvSpPr>
          <p:cNvPr id="63491" name="Text Box 5"/>
          <p:cNvSpPr txBox="1"/>
          <p:nvPr/>
        </p:nvSpPr>
        <p:spPr>
          <a:xfrm>
            <a:off x="7832725" y="955675"/>
            <a:ext cx="946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(7-20)</a:t>
            </a:r>
            <a:endParaRPr lang="en-US" altLang="zh-CN" sz="2400" dirty="0"/>
          </a:p>
        </p:txBody>
      </p:sp>
      <p:sp>
        <p:nvSpPr>
          <p:cNvPr id="63492" name="Text Box 6"/>
          <p:cNvSpPr txBox="1"/>
          <p:nvPr/>
        </p:nvSpPr>
        <p:spPr>
          <a:xfrm>
            <a:off x="1828800" y="5399088"/>
            <a:ext cx="5348288"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000" b="1" dirty="0"/>
              <a:t>图 </a:t>
            </a:r>
            <a:r>
              <a:rPr lang="en-US" altLang="zh-CN" sz="2000" b="1" dirty="0"/>
              <a:t>7-23 </a:t>
            </a:r>
            <a:r>
              <a:rPr lang="zh-CN" altLang="en-US" sz="2000" b="1" dirty="0"/>
              <a:t>施密特触发器的传输特性和逻辑符号</a:t>
            </a:r>
            <a:endParaRPr lang="zh-CN" altLang="en-US" sz="2000" b="1" dirty="0"/>
          </a:p>
          <a:p>
            <a:pPr marL="0" lvl="0" indent="0" algn="ctr" eaLnBrk="1" hangingPunct="1">
              <a:spcBef>
                <a:spcPct val="0"/>
              </a:spcBef>
              <a:buNone/>
            </a:pPr>
            <a:r>
              <a:rPr lang="en-US" altLang="zh-CN" sz="2000" b="1" dirty="0"/>
              <a:t>(a) </a:t>
            </a:r>
            <a:r>
              <a:rPr lang="zh-CN" altLang="en-US" sz="2000" b="1" dirty="0"/>
              <a:t>传输特性； </a:t>
            </a:r>
            <a:r>
              <a:rPr lang="en-US" altLang="zh-CN" sz="2000" b="1" dirty="0"/>
              <a:t>(b) </a:t>
            </a:r>
            <a:r>
              <a:rPr lang="zh-CN" altLang="en-US" sz="2000" b="1" dirty="0"/>
              <a:t>逻辑符号</a:t>
            </a:r>
            <a:endParaRPr lang="zh-CN" altLang="en-US" sz="2000" b="1" dirty="0"/>
          </a:p>
        </p:txBody>
      </p:sp>
      <p:graphicFrame>
        <p:nvGraphicFramePr>
          <p:cNvPr id="63493" name="Object 7"/>
          <p:cNvGraphicFramePr>
            <a:graphicFrameLocks noChangeAspect="1"/>
          </p:cNvGraphicFramePr>
          <p:nvPr/>
        </p:nvGraphicFramePr>
        <p:xfrm>
          <a:off x="990600" y="1676400"/>
          <a:ext cx="7162800" cy="3806825"/>
        </p:xfrm>
        <a:graphic>
          <a:graphicData uri="http://schemas.openxmlformats.org/presentationml/2006/ole">
            <mc:AlternateContent xmlns:mc="http://schemas.openxmlformats.org/markup-compatibility/2006">
              <mc:Choice xmlns:v="urn:schemas-microsoft-com:vml" Requires="v">
                <p:oleObj spid="_x0000_s3127" name="" r:id="rId3" imgW="2423160" imgH="1287780" progId="Visio.Drawing.4">
                  <p:embed/>
                </p:oleObj>
              </mc:Choice>
              <mc:Fallback>
                <p:oleObj name="" r:id="rId3" imgW="2423160" imgH="1287780" progId="Visio.Drawing.4">
                  <p:embed/>
                  <p:pic>
                    <p:nvPicPr>
                      <p:cNvPr id="0" name="图片 3126"/>
                      <p:cNvPicPr/>
                      <p:nvPr/>
                    </p:nvPicPr>
                    <p:blipFill>
                      <a:blip r:embed="rId4"/>
                      <a:stretch>
                        <a:fillRect/>
                      </a:stretch>
                    </p:blipFill>
                    <p:spPr>
                      <a:xfrm>
                        <a:off x="990600" y="1676400"/>
                        <a:ext cx="7162800" cy="3806825"/>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Text Box 4"/>
          <p:cNvSpPr txBox="1"/>
          <p:nvPr/>
        </p:nvSpPr>
        <p:spPr>
          <a:xfrm>
            <a:off x="152400" y="457200"/>
            <a:ext cx="8763000" cy="23193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40000"/>
              </a:lnSpc>
              <a:spcBef>
                <a:spcPct val="50000"/>
              </a:spcBef>
              <a:buNone/>
            </a:pPr>
            <a:r>
              <a:rPr lang="en-US" altLang="zh-CN" sz="2400" b="1" dirty="0"/>
              <a:t>7.3.1 </a:t>
            </a:r>
            <a:r>
              <a:rPr lang="zh-CN" altLang="en-US" sz="2400" b="1" dirty="0"/>
              <a:t>门电路构成的施密特触发器</a:t>
            </a:r>
            <a:r>
              <a:rPr lang="zh-CN" altLang="en-US" sz="2400" dirty="0"/>
              <a:t></a:t>
            </a:r>
            <a:endParaRPr lang="zh-CN" altLang="en-US" sz="2400" dirty="0"/>
          </a:p>
          <a:p>
            <a:pPr marL="0" lvl="0" indent="0" eaLnBrk="1" hangingPunct="1">
              <a:lnSpc>
                <a:spcPct val="140000"/>
              </a:lnSpc>
              <a:spcBef>
                <a:spcPct val="50000"/>
              </a:spcBef>
              <a:buNone/>
            </a:pPr>
            <a:r>
              <a:rPr lang="zh-CN" altLang="en-US" sz="2400" dirty="0"/>
              <a:t>       </a:t>
            </a:r>
            <a:r>
              <a:rPr lang="zh-CN" altLang="en-US" sz="2400" b="1" dirty="0"/>
              <a:t>图</a:t>
            </a:r>
            <a:r>
              <a:rPr lang="en-US" altLang="zh-CN" sz="2400" b="1" dirty="0"/>
              <a:t>7-24</a:t>
            </a:r>
            <a:r>
              <a:rPr lang="zh-CN" altLang="en-US" sz="2400" b="1" dirty="0"/>
              <a:t>所示电路是由</a:t>
            </a:r>
            <a:r>
              <a:rPr lang="en-US" altLang="zh-CN" sz="2400" b="1" dirty="0"/>
              <a:t>TTL</a:t>
            </a:r>
            <a:r>
              <a:rPr lang="zh-CN" altLang="en-US" sz="2400" b="1" dirty="0"/>
              <a:t>门电路构成的施密特触发器。 图中， </a:t>
            </a:r>
            <a:r>
              <a:rPr lang="en-US" altLang="zh-CN" sz="2400" b="1" dirty="0"/>
              <a:t>V</a:t>
            </a:r>
            <a:r>
              <a:rPr lang="zh-CN" altLang="en-US" sz="2400" b="1" dirty="0"/>
              <a:t>为电压偏移二极管，</a:t>
            </a:r>
            <a:r>
              <a:rPr lang="en-US" altLang="zh-CN" sz="2400" b="1" dirty="0"/>
              <a:t>R</a:t>
            </a:r>
            <a:r>
              <a:rPr lang="en-US" altLang="zh-CN" sz="2400" b="1" baseline="-25000" dirty="0"/>
              <a:t>1</a:t>
            </a:r>
            <a:r>
              <a:rPr lang="zh-CN" altLang="en-US" sz="2400" b="1" dirty="0"/>
              <a:t>、</a:t>
            </a:r>
            <a:r>
              <a:rPr lang="en-US" altLang="zh-CN" sz="2400" b="1" dirty="0"/>
              <a:t>R</a:t>
            </a:r>
            <a:r>
              <a:rPr lang="en-US" altLang="zh-CN" sz="2400" b="1" baseline="-25000" dirty="0"/>
              <a:t>2</a:t>
            </a:r>
            <a:r>
              <a:rPr lang="zh-CN" altLang="en-US" sz="2400" b="1" dirty="0"/>
              <a:t>为分压电阻，电路的输出通过电阻</a:t>
            </a:r>
            <a:r>
              <a:rPr lang="en-US" altLang="zh-CN" sz="2400" b="1" dirty="0"/>
              <a:t>R</a:t>
            </a:r>
            <a:r>
              <a:rPr lang="en-US" altLang="zh-CN" sz="2400" b="1" baseline="-25000" dirty="0"/>
              <a:t>2</a:t>
            </a:r>
            <a:r>
              <a:rPr lang="zh-CN" altLang="en-US" sz="2400" b="1" dirty="0"/>
              <a:t>进行正反馈。下面我们来分析电路的工作原理。 </a:t>
            </a:r>
            <a:endParaRPr lang="zh-CN" altLang="en-US" sz="2400" b="1" dirty="0"/>
          </a:p>
        </p:txBody>
      </p:sp>
      <p:sp>
        <p:nvSpPr>
          <p:cNvPr id="64515" name="Text Box 5"/>
          <p:cNvSpPr txBox="1"/>
          <p:nvPr/>
        </p:nvSpPr>
        <p:spPr>
          <a:xfrm>
            <a:off x="2032000" y="5867400"/>
            <a:ext cx="5086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a:t>
            </a:r>
            <a:r>
              <a:rPr lang="en-US" altLang="zh-CN" sz="2400" b="1" dirty="0"/>
              <a:t>7-24 </a:t>
            </a:r>
            <a:r>
              <a:rPr lang="zh-CN" altLang="en-US" sz="2400" b="1" dirty="0"/>
              <a:t>用门电路构成的施密特触发器</a:t>
            </a:r>
            <a:endParaRPr lang="zh-CN" altLang="en-US" sz="2400" b="1" dirty="0"/>
          </a:p>
        </p:txBody>
      </p:sp>
      <p:graphicFrame>
        <p:nvGraphicFramePr>
          <p:cNvPr id="64516" name="Object 6"/>
          <p:cNvGraphicFramePr>
            <a:graphicFrameLocks noChangeAspect="1"/>
          </p:cNvGraphicFramePr>
          <p:nvPr/>
        </p:nvGraphicFramePr>
        <p:xfrm>
          <a:off x="304800" y="2819400"/>
          <a:ext cx="7162800" cy="3138488"/>
        </p:xfrm>
        <a:graphic>
          <a:graphicData uri="http://schemas.openxmlformats.org/presentationml/2006/ole">
            <mc:AlternateContent xmlns:mc="http://schemas.openxmlformats.org/markup-compatibility/2006">
              <mc:Choice xmlns:v="urn:schemas-microsoft-com:vml" Requires="v">
                <p:oleObj spid="_x0000_s3130" name="" r:id="rId1" imgW="2583180" imgH="1127760" progId="Visio.Drawing.4">
                  <p:embed/>
                </p:oleObj>
              </mc:Choice>
              <mc:Fallback>
                <p:oleObj name="" r:id="rId1" imgW="2583180" imgH="1127760" progId="Visio.Drawing.4">
                  <p:embed/>
                  <p:pic>
                    <p:nvPicPr>
                      <p:cNvPr id="0" name="图片 3129"/>
                      <p:cNvPicPr/>
                      <p:nvPr/>
                    </p:nvPicPr>
                    <p:blipFill>
                      <a:blip r:embed="rId2"/>
                      <a:stretch>
                        <a:fillRect/>
                      </a:stretch>
                    </p:blipFill>
                    <p:spPr>
                      <a:xfrm>
                        <a:off x="304800" y="2819400"/>
                        <a:ext cx="7162800" cy="3138488"/>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Text Box 4"/>
          <p:cNvSpPr txBox="1"/>
          <p:nvPr/>
        </p:nvSpPr>
        <p:spPr>
          <a:xfrm>
            <a:off x="228600" y="398463"/>
            <a:ext cx="8686800" cy="17351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0000"/>
              </a:lnSpc>
              <a:spcBef>
                <a:spcPct val="50000"/>
              </a:spcBef>
              <a:buNone/>
            </a:pPr>
            <a:r>
              <a:rPr lang="en-US" altLang="zh-CN" sz="2400" dirty="0"/>
              <a:t>       </a:t>
            </a:r>
            <a:r>
              <a:rPr lang="zh-CN" altLang="en-US" sz="2400" b="1" dirty="0"/>
              <a:t>假设在接通电源后，电路输入为低电平</a:t>
            </a:r>
            <a:r>
              <a:rPr lang="en-US" altLang="zh-CN" sz="2400" b="1" dirty="0"/>
              <a:t>u</a:t>
            </a:r>
            <a:r>
              <a:rPr lang="en-US" altLang="zh-CN" sz="2400" b="1" baseline="-25000" dirty="0"/>
              <a:t>I</a:t>
            </a:r>
            <a:r>
              <a:rPr lang="en-US" altLang="zh-CN" sz="2400" b="1" dirty="0"/>
              <a:t>=U</a:t>
            </a:r>
            <a:r>
              <a:rPr lang="en-US" altLang="zh-CN" sz="2400" b="1" baseline="-25000" dirty="0"/>
              <a:t>OL</a:t>
            </a:r>
            <a:r>
              <a:rPr lang="zh-CN" altLang="en-US" sz="2400" b="1" dirty="0"/>
              <a:t>，则电路处于如下状态：</a:t>
            </a:r>
            <a:r>
              <a:rPr lang="en-US" altLang="zh-CN" sz="2400" b="1" dirty="0"/>
              <a:t>u</a:t>
            </a:r>
            <a:r>
              <a:rPr lang="en-US" altLang="zh-CN" sz="2400" b="1" baseline="-25000" dirty="0"/>
              <a:t>O1</a:t>
            </a:r>
            <a:r>
              <a:rPr lang="en-US" altLang="zh-CN" sz="2400" b="1" dirty="0"/>
              <a:t>=U</a:t>
            </a:r>
            <a:r>
              <a:rPr lang="en-US" altLang="zh-CN" sz="2400" b="1" baseline="-25000" dirty="0"/>
              <a:t>OH</a:t>
            </a:r>
            <a:r>
              <a:rPr lang="zh-CN" altLang="en-US" sz="2400" b="1" dirty="0"/>
              <a:t>，</a:t>
            </a:r>
            <a:r>
              <a:rPr lang="en-US" altLang="zh-CN" sz="2400" b="1" dirty="0"/>
              <a:t>u</a:t>
            </a:r>
            <a:r>
              <a:rPr lang="en-US" altLang="zh-CN" sz="2400" b="1" baseline="-25000" dirty="0"/>
              <a:t>O</a:t>
            </a:r>
            <a:r>
              <a:rPr lang="en-US" altLang="zh-CN" sz="2400" b="1" dirty="0"/>
              <a:t>=U</a:t>
            </a:r>
            <a:r>
              <a:rPr lang="en-US" altLang="zh-CN" sz="2400" b="1" baseline="-25000" dirty="0"/>
              <a:t>OL</a:t>
            </a:r>
            <a:r>
              <a:rPr lang="zh-CN" altLang="en-US" sz="2400" b="1" dirty="0"/>
              <a:t>。如果不考虑</a:t>
            </a:r>
            <a:r>
              <a:rPr lang="en-US" altLang="zh-CN" sz="2400" b="1" dirty="0"/>
              <a:t>G</a:t>
            </a:r>
            <a:r>
              <a:rPr lang="en-US" altLang="zh-CN" sz="2400" b="1" baseline="-25000" dirty="0"/>
              <a:t>1</a:t>
            </a:r>
            <a:r>
              <a:rPr lang="zh-CN" altLang="en-US" sz="2400" b="1" dirty="0"/>
              <a:t>门的输入电流，</a:t>
            </a:r>
            <a:r>
              <a:rPr lang="en-US" altLang="zh-CN" sz="2400" b="1" dirty="0"/>
              <a:t>u</a:t>
            </a:r>
            <a:r>
              <a:rPr lang="en-US" altLang="zh-CN" sz="2400" b="1" baseline="-25000" dirty="0"/>
              <a:t>I1</a:t>
            </a:r>
            <a:r>
              <a:rPr lang="zh-CN" altLang="en-US" sz="2400" b="1" dirty="0"/>
              <a:t>的电压为： </a:t>
            </a:r>
            <a:endParaRPr lang="zh-CN" altLang="en-US" sz="2400" b="1" dirty="0"/>
          </a:p>
        </p:txBody>
      </p:sp>
      <p:graphicFrame>
        <p:nvGraphicFramePr>
          <p:cNvPr id="65539" name="Object 5"/>
          <p:cNvGraphicFramePr>
            <a:graphicFrameLocks noChangeAspect="1"/>
          </p:cNvGraphicFramePr>
          <p:nvPr/>
        </p:nvGraphicFramePr>
        <p:xfrm>
          <a:off x="1858963" y="2014538"/>
          <a:ext cx="5424487" cy="1947862"/>
        </p:xfrm>
        <a:graphic>
          <a:graphicData uri="http://schemas.openxmlformats.org/presentationml/2006/ole">
            <mc:AlternateContent xmlns:mc="http://schemas.openxmlformats.org/markup-compatibility/2006">
              <mc:Choice xmlns:v="urn:schemas-microsoft-com:vml" Requires="v">
                <p:oleObj spid="_x0000_s3128" name="" r:id="rId1" imgW="2616200" imgH="939800" progId="Equation.3">
                  <p:embed/>
                </p:oleObj>
              </mc:Choice>
              <mc:Fallback>
                <p:oleObj name="" r:id="rId1" imgW="2616200" imgH="939800" progId="Equation.3">
                  <p:embed/>
                  <p:pic>
                    <p:nvPicPr>
                      <p:cNvPr id="0" name="图片 3127"/>
                      <p:cNvPicPr/>
                      <p:nvPr/>
                    </p:nvPicPr>
                    <p:blipFill>
                      <a:blip r:embed="rId2"/>
                      <a:stretch>
                        <a:fillRect/>
                      </a:stretch>
                    </p:blipFill>
                    <p:spPr>
                      <a:xfrm>
                        <a:off x="1858963" y="2014538"/>
                        <a:ext cx="5424487" cy="1947862"/>
                      </a:xfrm>
                      <a:prstGeom prst="rect">
                        <a:avLst/>
                      </a:prstGeom>
                      <a:noFill/>
                      <a:ln w="38100">
                        <a:noFill/>
                        <a:miter/>
                      </a:ln>
                    </p:spPr>
                  </p:pic>
                </p:oleObj>
              </mc:Fallback>
            </mc:AlternateContent>
          </a:graphicData>
        </a:graphic>
      </p:graphicFrame>
      <p:sp>
        <p:nvSpPr>
          <p:cNvPr id="65540" name="Text Box 6"/>
          <p:cNvSpPr txBox="1"/>
          <p:nvPr/>
        </p:nvSpPr>
        <p:spPr>
          <a:xfrm>
            <a:off x="7848600" y="3276600"/>
            <a:ext cx="946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(7-21)</a:t>
            </a:r>
            <a:endParaRPr lang="en-US" altLang="zh-CN" sz="2400" dirty="0"/>
          </a:p>
        </p:txBody>
      </p:sp>
      <p:sp>
        <p:nvSpPr>
          <p:cNvPr id="65541" name="Text Box 7"/>
          <p:cNvSpPr txBox="1"/>
          <p:nvPr/>
        </p:nvSpPr>
        <p:spPr>
          <a:xfrm>
            <a:off x="228600" y="3952875"/>
            <a:ext cx="8763000" cy="2428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60000"/>
              </a:lnSpc>
              <a:spcBef>
                <a:spcPct val="50000"/>
              </a:spcBef>
              <a:buNone/>
            </a:pPr>
            <a:r>
              <a:rPr lang="zh-CN" altLang="en-US" sz="2400" b="1" dirty="0"/>
              <a:t>其中，</a:t>
            </a:r>
            <a:r>
              <a:rPr lang="en-US" altLang="zh-CN" sz="2400" b="1" dirty="0"/>
              <a:t>U</a:t>
            </a:r>
            <a:r>
              <a:rPr lang="en-US" altLang="zh-CN" sz="2400" b="1" baseline="-25000" dirty="0"/>
              <a:t>D</a:t>
            </a:r>
            <a:r>
              <a:rPr lang="zh-CN" altLang="en-US" sz="2400" b="1" dirty="0"/>
              <a:t>为二极管的导通压降。当</a:t>
            </a:r>
            <a:r>
              <a:rPr lang="en-US" altLang="zh-CN" sz="2400" b="1" dirty="0"/>
              <a:t>u</a:t>
            </a:r>
            <a:r>
              <a:rPr lang="en-US" altLang="zh-CN" sz="2400" b="1" baseline="-25000" dirty="0"/>
              <a:t>I</a:t>
            </a:r>
            <a:r>
              <a:rPr lang="zh-CN" altLang="en-US" sz="2400" b="1" dirty="0"/>
              <a:t>上升到门电路的阈值电压</a:t>
            </a:r>
            <a:r>
              <a:rPr lang="en-US" altLang="zh-CN" sz="2400" b="1" dirty="0"/>
              <a:t>U</a:t>
            </a:r>
            <a:r>
              <a:rPr lang="en-US" altLang="zh-CN" sz="2400" b="1" baseline="-25000" dirty="0"/>
              <a:t>TH</a:t>
            </a:r>
            <a:r>
              <a:rPr lang="zh-CN" altLang="en-US" sz="2400" b="1" dirty="0"/>
              <a:t>时，由于</a:t>
            </a:r>
            <a:r>
              <a:rPr lang="en-US" altLang="zh-CN" sz="2400" b="1" dirty="0"/>
              <a:t>u</a:t>
            </a:r>
            <a:r>
              <a:rPr lang="en-US" altLang="zh-CN" sz="2400" b="1" baseline="-25000" dirty="0"/>
              <a:t>I1</a:t>
            </a:r>
            <a:r>
              <a:rPr lang="zh-CN" altLang="en-US" sz="2400" b="1" dirty="0"/>
              <a:t>的电压还低于</a:t>
            </a:r>
            <a:r>
              <a:rPr lang="en-US" altLang="zh-CN" sz="2400" b="1" dirty="0"/>
              <a:t>U</a:t>
            </a:r>
            <a:r>
              <a:rPr lang="en-US" altLang="zh-CN" sz="2400" b="1" baseline="-25000" dirty="0"/>
              <a:t>TH</a:t>
            </a:r>
            <a:r>
              <a:rPr lang="zh-CN" altLang="en-US" sz="2400" b="1" dirty="0"/>
              <a:t>，电路仍然保持这个状态不变； 随着</a:t>
            </a:r>
            <a:r>
              <a:rPr lang="en-US" altLang="zh-CN" sz="2400" b="1" dirty="0"/>
              <a:t>u</a:t>
            </a:r>
            <a:r>
              <a:rPr lang="en-US" altLang="zh-CN" sz="2400" b="1" baseline="-25000" dirty="0"/>
              <a:t>I</a:t>
            </a:r>
            <a:r>
              <a:rPr lang="zh-CN" altLang="en-US" sz="2400" b="1" dirty="0"/>
              <a:t>的继续升高，当</a:t>
            </a:r>
            <a:r>
              <a:rPr lang="en-US" altLang="zh-CN" sz="2400" b="1" dirty="0"/>
              <a:t>u</a:t>
            </a:r>
            <a:r>
              <a:rPr lang="en-US" altLang="zh-CN" sz="2400" b="1" baseline="-25000" dirty="0"/>
              <a:t>I1</a:t>
            </a:r>
            <a:r>
              <a:rPr lang="zh-CN" altLang="en-US" sz="2400" b="1" dirty="0"/>
              <a:t>也上升到</a:t>
            </a:r>
            <a:r>
              <a:rPr lang="en-US" altLang="zh-CN" sz="2400" b="1" dirty="0"/>
              <a:t>U</a:t>
            </a:r>
            <a:r>
              <a:rPr lang="en-US" altLang="zh-CN" sz="2400" b="1" baseline="-25000" dirty="0"/>
              <a:t>TH</a:t>
            </a:r>
            <a:r>
              <a:rPr lang="zh-CN" altLang="en-US" sz="2400" b="1" dirty="0"/>
              <a:t>时，电路将产生如下正反馈过程： </a:t>
            </a:r>
            <a:endParaRPr lang="zh-CN" altLang="en-US" sz="2400" b="1" dirty="0"/>
          </a:p>
        </p:txBody>
      </p:sp>
    </p:spTree>
  </p:cSld>
  <p:clrMapOvr>
    <a:masterClrMapping/>
  </p:clrMapOvr>
  <p:transition>
    <p:checke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6562" name="Group 1033"/>
          <p:cNvGrpSpPr/>
          <p:nvPr/>
        </p:nvGrpSpPr>
        <p:grpSpPr>
          <a:xfrm>
            <a:off x="2286000" y="838200"/>
            <a:ext cx="3863975" cy="762000"/>
            <a:chOff x="1440" y="528"/>
            <a:chExt cx="2434" cy="480"/>
          </a:xfrm>
        </p:grpSpPr>
        <p:sp>
          <p:nvSpPr>
            <p:cNvPr id="66567" name="Text Box 1028"/>
            <p:cNvSpPr txBox="1"/>
            <p:nvPr/>
          </p:nvSpPr>
          <p:spPr>
            <a:xfrm>
              <a:off x="1440" y="528"/>
              <a:ext cx="2434"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u</a:t>
              </a:r>
              <a:r>
                <a:rPr lang="en-US" altLang="zh-CN" sz="2400" baseline="-25000" dirty="0"/>
                <a:t>I</a:t>
              </a:r>
              <a:r>
                <a:rPr lang="en-US" altLang="zh-CN" sz="2400" dirty="0"/>
                <a:t>↑u</a:t>
              </a:r>
              <a:r>
                <a:rPr lang="en-US" altLang="zh-CN" sz="2400" baseline="-25000" dirty="0"/>
                <a:t>I1</a:t>
              </a:r>
              <a:r>
                <a:rPr lang="en-US" altLang="zh-CN" sz="2400" dirty="0"/>
                <a:t>→↑u</a:t>
              </a:r>
              <a:r>
                <a:rPr lang="en-US" altLang="zh-CN" sz="2400" baseline="-25000" dirty="0"/>
                <a:t>O1</a:t>
              </a:r>
              <a:r>
                <a:rPr lang="en-US" altLang="zh-CN" sz="2400" dirty="0"/>
                <a:t>→↓→u</a:t>
              </a:r>
              <a:r>
                <a:rPr lang="en-US" altLang="zh-CN" sz="2400" baseline="-25000" dirty="0"/>
                <a:t>O</a:t>
              </a:r>
              <a:r>
                <a:rPr lang="en-US" altLang="zh-CN" sz="2400" dirty="0"/>
                <a:t>↑</a:t>
              </a:r>
              <a:endParaRPr lang="en-US" altLang="zh-CN" sz="2400" dirty="0"/>
            </a:p>
          </p:txBody>
        </p:sp>
        <p:sp>
          <p:nvSpPr>
            <p:cNvPr id="66568" name="Line 1030"/>
            <p:cNvSpPr/>
            <p:nvPr/>
          </p:nvSpPr>
          <p:spPr>
            <a:xfrm flipV="1">
              <a:off x="1872" y="816"/>
              <a:ext cx="0" cy="192"/>
            </a:xfrm>
            <a:prstGeom prst="line">
              <a:avLst/>
            </a:prstGeom>
            <a:ln w="9525" cap="flat" cmpd="sng">
              <a:solidFill>
                <a:schemeClr val="tx1"/>
              </a:solidFill>
              <a:prstDash val="solid"/>
              <a:headEnd type="none" w="med" len="med"/>
              <a:tailEnd type="triangle" w="med" len="med"/>
            </a:ln>
          </p:spPr>
        </p:sp>
        <p:sp>
          <p:nvSpPr>
            <p:cNvPr id="66569" name="Line 1031"/>
            <p:cNvSpPr/>
            <p:nvPr/>
          </p:nvSpPr>
          <p:spPr>
            <a:xfrm>
              <a:off x="1872" y="1008"/>
              <a:ext cx="1440" cy="0"/>
            </a:xfrm>
            <a:prstGeom prst="line">
              <a:avLst/>
            </a:prstGeom>
            <a:ln w="9525" cap="flat" cmpd="sng">
              <a:solidFill>
                <a:schemeClr val="tx1"/>
              </a:solidFill>
              <a:prstDash val="solid"/>
              <a:headEnd type="none" w="med" len="med"/>
              <a:tailEnd type="none" w="med" len="med"/>
            </a:ln>
          </p:spPr>
        </p:sp>
        <p:sp>
          <p:nvSpPr>
            <p:cNvPr id="66570" name="Line 1032"/>
            <p:cNvSpPr/>
            <p:nvPr/>
          </p:nvSpPr>
          <p:spPr>
            <a:xfrm flipV="1">
              <a:off x="3312" y="816"/>
              <a:ext cx="0" cy="192"/>
            </a:xfrm>
            <a:prstGeom prst="line">
              <a:avLst/>
            </a:prstGeom>
            <a:ln w="9525" cap="flat" cmpd="sng">
              <a:solidFill>
                <a:schemeClr val="tx1"/>
              </a:solidFill>
              <a:prstDash val="solid"/>
              <a:headEnd type="none" w="med" len="med"/>
              <a:tailEnd type="none" w="med" len="med"/>
            </a:ln>
          </p:spPr>
        </p:sp>
      </p:grpSp>
      <p:sp>
        <p:nvSpPr>
          <p:cNvPr id="66563" name="Text Box 1034"/>
          <p:cNvSpPr txBox="1"/>
          <p:nvPr/>
        </p:nvSpPr>
        <p:spPr>
          <a:xfrm>
            <a:off x="152400" y="1989138"/>
            <a:ext cx="8839200" cy="18208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8000"/>
              </a:lnSpc>
              <a:spcBef>
                <a:spcPct val="50000"/>
              </a:spcBef>
              <a:buNone/>
            </a:pPr>
            <a:r>
              <a:rPr lang="en-US" altLang="zh-CN" sz="2400" dirty="0"/>
              <a:t>       </a:t>
            </a:r>
            <a:r>
              <a:rPr lang="zh-CN" altLang="en-US" sz="2400" b="1" dirty="0"/>
              <a:t>结果使电路的状态迅速翻转为：</a:t>
            </a:r>
            <a:r>
              <a:rPr lang="en-US" altLang="zh-CN" sz="2400" b="1" dirty="0"/>
              <a:t>u</a:t>
            </a:r>
            <a:r>
              <a:rPr lang="en-US" altLang="zh-CN" sz="2400" b="1" baseline="-25000" dirty="0"/>
              <a:t>O1</a:t>
            </a:r>
            <a:r>
              <a:rPr lang="en-US" altLang="zh-CN" sz="2400" b="1" dirty="0"/>
              <a:t>=U</a:t>
            </a:r>
            <a:r>
              <a:rPr lang="en-US" altLang="zh-CN" sz="2400" b="1" baseline="-25000" dirty="0"/>
              <a:t>OL</a:t>
            </a:r>
            <a:r>
              <a:rPr lang="zh-CN" altLang="en-US" sz="2400" b="1" dirty="0"/>
              <a:t>，</a:t>
            </a:r>
            <a:r>
              <a:rPr lang="en-US" altLang="zh-CN" sz="2400" b="1" dirty="0"/>
              <a:t>u</a:t>
            </a:r>
            <a:r>
              <a:rPr lang="en-US" altLang="zh-CN" sz="2400" b="1" baseline="-25000" dirty="0"/>
              <a:t>O</a:t>
            </a:r>
            <a:r>
              <a:rPr lang="en-US" altLang="zh-CN" sz="2400" b="1" dirty="0"/>
              <a:t>=U</a:t>
            </a:r>
            <a:r>
              <a:rPr lang="en-US" altLang="zh-CN" sz="2400" b="1" baseline="-25000" dirty="0"/>
              <a:t>OH</a:t>
            </a:r>
            <a:r>
              <a:rPr lang="zh-CN" altLang="en-US" sz="2400" b="1" dirty="0"/>
              <a:t>，这是电路的另一个稳定状态。那么这一时刻的输入电压</a:t>
            </a:r>
            <a:r>
              <a:rPr lang="en-US" altLang="zh-CN" sz="2400" b="1" dirty="0"/>
              <a:t>u</a:t>
            </a:r>
            <a:r>
              <a:rPr lang="en-US" altLang="zh-CN" sz="2400" b="1" baseline="-25000" dirty="0"/>
              <a:t>I</a:t>
            </a:r>
            <a:r>
              <a:rPr lang="zh-CN" altLang="en-US" sz="2400" b="1" dirty="0"/>
              <a:t>就是电路的正向阈值电压</a:t>
            </a:r>
            <a:r>
              <a:rPr lang="en-US" altLang="zh-CN" sz="2400" b="1" dirty="0"/>
              <a:t>U</a:t>
            </a:r>
            <a:r>
              <a:rPr lang="en-US" altLang="zh-CN" sz="2400" b="1" baseline="-25000" dirty="0"/>
              <a:t>T+</a:t>
            </a:r>
            <a:r>
              <a:rPr lang="zh-CN" altLang="en-US" sz="2400" b="1" dirty="0"/>
              <a:t>，将</a:t>
            </a:r>
            <a:r>
              <a:rPr lang="en-US" altLang="zh-CN" sz="2400" b="1" dirty="0"/>
              <a:t>u</a:t>
            </a:r>
            <a:r>
              <a:rPr lang="en-US" altLang="zh-CN" sz="2400" b="1" baseline="-25000" dirty="0"/>
              <a:t>I</a:t>
            </a:r>
            <a:r>
              <a:rPr lang="en-US" altLang="zh-CN" sz="2400" b="1" dirty="0"/>
              <a:t>=U</a:t>
            </a:r>
            <a:r>
              <a:rPr lang="en-US" altLang="zh-CN" sz="2400" b="1" baseline="-25000" dirty="0"/>
              <a:t>T+</a:t>
            </a:r>
            <a:r>
              <a:rPr lang="zh-CN" altLang="en-US" sz="2400" b="1" dirty="0"/>
              <a:t>，</a:t>
            </a:r>
            <a:r>
              <a:rPr lang="en-US" altLang="zh-CN" sz="2400" b="1" dirty="0"/>
              <a:t>u</a:t>
            </a:r>
            <a:r>
              <a:rPr lang="en-US" altLang="zh-CN" sz="2400" b="1" baseline="-25000" dirty="0"/>
              <a:t>I1</a:t>
            </a:r>
            <a:r>
              <a:rPr lang="en-US" altLang="zh-CN" sz="2400" b="1" dirty="0"/>
              <a:t>=U</a:t>
            </a:r>
            <a:r>
              <a:rPr lang="en-US" altLang="zh-CN" sz="2400" b="1" baseline="-25000" dirty="0"/>
              <a:t>TH</a:t>
            </a:r>
            <a:r>
              <a:rPr lang="zh-CN" altLang="en-US" sz="2400" b="1" dirty="0"/>
              <a:t>带入式</a:t>
            </a:r>
            <a:r>
              <a:rPr lang="en-US" altLang="zh-CN" sz="2400" b="1" dirty="0"/>
              <a:t>7-21</a:t>
            </a:r>
            <a:r>
              <a:rPr lang="zh-CN" altLang="en-US" sz="2400" b="1" dirty="0"/>
              <a:t>可得： </a:t>
            </a:r>
            <a:endParaRPr lang="zh-CN" altLang="en-US" sz="2400" b="1" dirty="0"/>
          </a:p>
        </p:txBody>
      </p:sp>
      <p:graphicFrame>
        <p:nvGraphicFramePr>
          <p:cNvPr id="66564" name="Object 1035"/>
          <p:cNvGraphicFramePr>
            <a:graphicFrameLocks noChangeAspect="1"/>
          </p:cNvGraphicFramePr>
          <p:nvPr/>
        </p:nvGraphicFramePr>
        <p:xfrm>
          <a:off x="2438400" y="4343400"/>
          <a:ext cx="4267200" cy="549275"/>
        </p:xfrm>
        <a:graphic>
          <a:graphicData uri="http://schemas.openxmlformats.org/presentationml/2006/ole">
            <mc:AlternateContent xmlns:mc="http://schemas.openxmlformats.org/markup-compatibility/2006">
              <mc:Choice xmlns:v="urn:schemas-microsoft-com:vml" Requires="v">
                <p:oleObj spid="_x0000_s3126" name="" r:id="rId1" imgW="1675765" imgH="215900" progId="Equation.3">
                  <p:embed/>
                </p:oleObj>
              </mc:Choice>
              <mc:Fallback>
                <p:oleObj name="" r:id="rId1" imgW="1675765" imgH="215900" progId="Equation.3">
                  <p:embed/>
                  <p:pic>
                    <p:nvPicPr>
                      <p:cNvPr id="0" name="图片 3125"/>
                      <p:cNvPicPr/>
                      <p:nvPr/>
                    </p:nvPicPr>
                    <p:blipFill>
                      <a:blip r:embed="rId2"/>
                      <a:stretch>
                        <a:fillRect/>
                      </a:stretch>
                    </p:blipFill>
                    <p:spPr>
                      <a:xfrm>
                        <a:off x="2438400" y="4343400"/>
                        <a:ext cx="4267200" cy="549275"/>
                      </a:xfrm>
                      <a:prstGeom prst="rect">
                        <a:avLst/>
                      </a:prstGeom>
                      <a:noFill/>
                      <a:ln w="38100">
                        <a:noFill/>
                        <a:miter/>
                      </a:ln>
                    </p:spPr>
                  </p:pic>
                </p:oleObj>
              </mc:Fallback>
            </mc:AlternateContent>
          </a:graphicData>
        </a:graphic>
      </p:graphicFrame>
      <p:sp>
        <p:nvSpPr>
          <p:cNvPr id="66565" name="Text Box 1036"/>
          <p:cNvSpPr txBox="1"/>
          <p:nvPr/>
        </p:nvSpPr>
        <p:spPr>
          <a:xfrm>
            <a:off x="228600" y="5486400"/>
            <a:ext cx="66960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当</a:t>
            </a:r>
            <a:r>
              <a:rPr lang="en-US" altLang="zh-CN" sz="2400" b="1" dirty="0"/>
              <a:t>u</a:t>
            </a:r>
            <a:r>
              <a:rPr lang="en-US" altLang="zh-CN" sz="2400" b="1" baseline="-25000" dirty="0"/>
              <a:t>I</a:t>
            </a:r>
            <a:r>
              <a:rPr lang="zh-CN" altLang="en-US" sz="2400" b="1" dirty="0"/>
              <a:t>从</a:t>
            </a:r>
            <a:r>
              <a:rPr lang="en-US" altLang="zh-CN" sz="2400" b="1" dirty="0"/>
              <a:t>U</a:t>
            </a:r>
            <a:r>
              <a:rPr lang="en-US" altLang="zh-CN" sz="2400" b="1" baseline="-25000" dirty="0"/>
              <a:t>T+</a:t>
            </a:r>
            <a:r>
              <a:rPr lang="zh-CN" altLang="en-US" sz="2400" b="1" dirty="0"/>
              <a:t>再升高时，电路的状态不会发生改变。</a:t>
            </a:r>
            <a:endParaRPr lang="zh-CN" altLang="en-US" sz="2400" b="1" dirty="0"/>
          </a:p>
        </p:txBody>
      </p:sp>
      <p:sp>
        <p:nvSpPr>
          <p:cNvPr id="66566" name="Text Box 1037"/>
          <p:cNvSpPr txBox="1"/>
          <p:nvPr/>
        </p:nvSpPr>
        <p:spPr>
          <a:xfrm>
            <a:off x="7604125" y="4419600"/>
            <a:ext cx="946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(7-22)</a:t>
            </a:r>
            <a:endParaRPr lang="en-US" altLang="zh-CN" sz="2400" dirty="0"/>
          </a:p>
        </p:txBody>
      </p:sp>
    </p:spTree>
  </p:cSld>
  <p:clrMapOvr>
    <a:masterClrMapping/>
  </p:clrMapOvr>
  <p:transition>
    <p:checke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Text Box 4"/>
          <p:cNvSpPr txBox="1"/>
          <p:nvPr/>
        </p:nvSpPr>
        <p:spPr>
          <a:xfrm>
            <a:off x="228600" y="617538"/>
            <a:ext cx="8686800" cy="18208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8000"/>
              </a:lnSpc>
              <a:spcBef>
                <a:spcPct val="50000"/>
              </a:spcBef>
              <a:buNone/>
            </a:pPr>
            <a:r>
              <a:rPr lang="en-US" altLang="zh-CN" sz="2400" dirty="0"/>
              <a:t>        </a:t>
            </a:r>
            <a:r>
              <a:rPr lang="zh-CN" altLang="en-US" sz="2400" b="1" dirty="0"/>
              <a:t>当</a:t>
            </a:r>
            <a:r>
              <a:rPr lang="en-US" altLang="zh-CN" sz="2400" b="1" dirty="0"/>
              <a:t>u</a:t>
            </a:r>
            <a:r>
              <a:rPr lang="en-US" altLang="zh-CN" sz="2400" b="1" baseline="-25000" dirty="0"/>
              <a:t>I</a:t>
            </a:r>
            <a:r>
              <a:rPr lang="zh-CN" altLang="en-US" sz="2400" b="1" dirty="0"/>
              <a:t>从高电平下降时，只要下降到</a:t>
            </a:r>
            <a:r>
              <a:rPr lang="en-US" altLang="zh-CN" sz="2400" b="1" dirty="0"/>
              <a:t>u</a:t>
            </a:r>
            <a:r>
              <a:rPr lang="en-US" altLang="zh-CN" sz="2400" b="1" baseline="-25000" dirty="0"/>
              <a:t>I</a:t>
            </a:r>
            <a:r>
              <a:rPr lang="en-US" altLang="zh-CN" sz="2400" b="1" dirty="0"/>
              <a:t>=U</a:t>
            </a:r>
            <a:r>
              <a:rPr lang="en-US" altLang="zh-CN" sz="2400" b="1" baseline="-25000" dirty="0"/>
              <a:t>TH</a:t>
            </a:r>
            <a:r>
              <a:rPr lang="zh-CN" altLang="en-US" sz="2400" b="1" dirty="0"/>
              <a:t>，由于电路中的正反馈作用，电路状态立刻发生翻转，回到初始的稳定状态。可见，电路的负向阈值电压</a:t>
            </a:r>
            <a:r>
              <a:rPr lang="en-US" altLang="zh-CN" sz="2400" b="1" dirty="0"/>
              <a:t>U</a:t>
            </a:r>
            <a:r>
              <a:rPr lang="en-US" altLang="zh-CN" sz="2400" b="1" baseline="-25000" dirty="0"/>
              <a:t>T-</a:t>
            </a:r>
            <a:r>
              <a:rPr lang="en-US" altLang="zh-CN" sz="2400" b="1" dirty="0"/>
              <a:t>=U</a:t>
            </a:r>
            <a:r>
              <a:rPr lang="en-US" altLang="zh-CN" sz="2400" b="1" baseline="-25000" dirty="0"/>
              <a:t>TH</a:t>
            </a:r>
            <a:r>
              <a:rPr lang="zh-CN" altLang="en-US" sz="2400" b="1" dirty="0"/>
              <a:t>。所以该电路的回差电压为</a:t>
            </a:r>
            <a:endParaRPr lang="zh-CN" altLang="en-US" sz="2400" b="1" dirty="0"/>
          </a:p>
        </p:txBody>
      </p:sp>
      <p:graphicFrame>
        <p:nvGraphicFramePr>
          <p:cNvPr id="67587" name="Object 5"/>
          <p:cNvGraphicFramePr>
            <a:graphicFrameLocks noChangeAspect="1"/>
          </p:cNvGraphicFramePr>
          <p:nvPr/>
        </p:nvGraphicFramePr>
        <p:xfrm>
          <a:off x="1600200" y="2874963"/>
          <a:ext cx="5143500" cy="1106487"/>
        </p:xfrm>
        <a:graphic>
          <a:graphicData uri="http://schemas.openxmlformats.org/presentationml/2006/ole">
            <mc:AlternateContent xmlns:mc="http://schemas.openxmlformats.org/markup-compatibility/2006">
              <mc:Choice xmlns:v="urn:schemas-microsoft-com:vml" Requires="v">
                <p:oleObj spid="_x0000_s3123" name="" r:id="rId1" imgW="2006600" imgH="431800" progId="Equation.3">
                  <p:embed/>
                </p:oleObj>
              </mc:Choice>
              <mc:Fallback>
                <p:oleObj name="" r:id="rId1" imgW="2006600" imgH="431800" progId="Equation.3">
                  <p:embed/>
                  <p:pic>
                    <p:nvPicPr>
                      <p:cNvPr id="0" name="图片 3122"/>
                      <p:cNvPicPr/>
                      <p:nvPr/>
                    </p:nvPicPr>
                    <p:blipFill>
                      <a:blip r:embed="rId2"/>
                      <a:stretch>
                        <a:fillRect/>
                      </a:stretch>
                    </p:blipFill>
                    <p:spPr>
                      <a:xfrm>
                        <a:off x="1600200" y="2874963"/>
                        <a:ext cx="5143500" cy="1106487"/>
                      </a:xfrm>
                      <a:prstGeom prst="rect">
                        <a:avLst/>
                      </a:prstGeom>
                      <a:noFill/>
                      <a:ln w="38100">
                        <a:noFill/>
                        <a:miter/>
                      </a:ln>
                    </p:spPr>
                  </p:pic>
                </p:oleObj>
              </mc:Fallback>
            </mc:AlternateContent>
          </a:graphicData>
        </a:graphic>
      </p:graphicFrame>
      <p:sp>
        <p:nvSpPr>
          <p:cNvPr id="67588" name="Text Box 6"/>
          <p:cNvSpPr txBox="1"/>
          <p:nvPr/>
        </p:nvSpPr>
        <p:spPr>
          <a:xfrm>
            <a:off x="7985125" y="3089275"/>
            <a:ext cx="946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(7-23)</a:t>
            </a:r>
            <a:endParaRPr lang="en-US" altLang="zh-CN" sz="2400" dirty="0"/>
          </a:p>
        </p:txBody>
      </p:sp>
      <p:sp>
        <p:nvSpPr>
          <p:cNvPr id="67589" name="Text Box 7"/>
          <p:cNvSpPr txBox="1"/>
          <p:nvPr/>
        </p:nvSpPr>
        <p:spPr>
          <a:xfrm>
            <a:off x="304800" y="4343400"/>
            <a:ext cx="82200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因此，通过改变电阻</a:t>
            </a:r>
            <a:r>
              <a:rPr lang="en-US" altLang="zh-CN" sz="2400" b="1" dirty="0"/>
              <a:t>R</a:t>
            </a:r>
            <a:r>
              <a:rPr lang="en-US" altLang="zh-CN" sz="2400" b="1" baseline="-25000" dirty="0"/>
              <a:t>1</a:t>
            </a:r>
            <a:r>
              <a:rPr lang="zh-CN" altLang="en-US" sz="2400" b="1" dirty="0"/>
              <a:t>和</a:t>
            </a:r>
            <a:r>
              <a:rPr lang="en-US" altLang="zh-CN" sz="2400" b="1" dirty="0"/>
              <a:t>R</a:t>
            </a:r>
            <a:r>
              <a:rPr lang="en-US" altLang="zh-CN" sz="2400" b="1" baseline="-25000" dirty="0"/>
              <a:t>2</a:t>
            </a:r>
            <a:r>
              <a:rPr lang="zh-CN" altLang="en-US" sz="2400" b="1" dirty="0"/>
              <a:t>的比值，可以调整回差电压。</a:t>
            </a:r>
            <a:r>
              <a:rPr lang="zh-CN" altLang="en-US" sz="2400" dirty="0"/>
              <a:t> </a:t>
            </a:r>
            <a:endParaRPr lang="zh-CN" altLang="en-US" sz="2400" dirty="0"/>
          </a:p>
        </p:txBody>
      </p:sp>
    </p:spTree>
  </p:cSld>
  <p:clrMapOvr>
    <a:masterClrMapping/>
  </p:clrMapOvr>
  <p:transition>
    <p:checke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Text Box 4"/>
          <p:cNvSpPr txBox="1"/>
          <p:nvPr/>
        </p:nvSpPr>
        <p:spPr>
          <a:xfrm>
            <a:off x="152400" y="603250"/>
            <a:ext cx="8839200" cy="55689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40000"/>
              </a:lnSpc>
              <a:spcBef>
                <a:spcPct val="50000"/>
              </a:spcBef>
              <a:buNone/>
            </a:pPr>
            <a:r>
              <a:rPr lang="en-US" altLang="zh-CN" sz="2400" b="1" dirty="0"/>
              <a:t>7.3.2 </a:t>
            </a:r>
            <a:r>
              <a:rPr lang="zh-CN" altLang="en-US" sz="2400" b="1" dirty="0"/>
              <a:t>集成施密特触发器</a:t>
            </a:r>
            <a:endParaRPr lang="zh-CN" altLang="en-US" sz="2400" b="1" dirty="0"/>
          </a:p>
          <a:p>
            <a:pPr marL="0" lvl="0" indent="0" eaLnBrk="1" hangingPunct="1">
              <a:lnSpc>
                <a:spcPct val="140000"/>
              </a:lnSpc>
              <a:spcBef>
                <a:spcPct val="50000"/>
              </a:spcBef>
              <a:buNone/>
            </a:pPr>
            <a:r>
              <a:rPr lang="zh-CN" altLang="en-US" sz="2400" dirty="0"/>
              <a:t>        </a:t>
            </a:r>
            <a:r>
              <a:rPr lang="zh-CN" altLang="en-US" sz="2400" b="1" dirty="0"/>
              <a:t>由于性能稳定，所以在数字系统中集成施密特触发器被广泛采用。目前，各厂家已经生产出多种单片集成的施密特触发器产品。 </a:t>
            </a:r>
            <a:endParaRPr lang="zh-CN" altLang="en-US" sz="2400" b="1" dirty="0"/>
          </a:p>
          <a:p>
            <a:pPr marL="0" lvl="0" indent="0" eaLnBrk="1" hangingPunct="1">
              <a:lnSpc>
                <a:spcPct val="140000"/>
              </a:lnSpc>
              <a:spcBef>
                <a:spcPct val="50000"/>
              </a:spcBef>
              <a:buNone/>
            </a:pPr>
            <a:r>
              <a:rPr lang="zh-CN" altLang="en-US" sz="2400" b="1" dirty="0"/>
              <a:t>      </a:t>
            </a:r>
            <a:r>
              <a:rPr lang="en-US" altLang="zh-CN" sz="2400" b="1" dirty="0"/>
              <a:t>74LS132</a:t>
            </a:r>
            <a:r>
              <a:rPr lang="zh-CN" altLang="en-US" sz="2400" b="1" dirty="0"/>
              <a:t>是一种典型的集成施密特触发器， 其内部逻辑图和引脚排列如图</a:t>
            </a:r>
            <a:r>
              <a:rPr lang="en-US" altLang="zh-CN" sz="2400" b="1" dirty="0"/>
              <a:t>7-25</a:t>
            </a:r>
            <a:r>
              <a:rPr lang="zh-CN" altLang="en-US" sz="2400" b="1" dirty="0"/>
              <a:t>（</a:t>
            </a:r>
            <a:r>
              <a:rPr lang="en-US" altLang="zh-CN" sz="2400" b="1" dirty="0"/>
              <a:t>a</a:t>
            </a:r>
            <a:r>
              <a:rPr lang="zh-CN" altLang="en-US" sz="2400" b="1" dirty="0"/>
              <a:t>）所示。 </a:t>
            </a:r>
            <a:r>
              <a:rPr lang="en-US" altLang="zh-CN" sz="2400" b="1" dirty="0"/>
              <a:t>74LS132</a:t>
            </a:r>
            <a:r>
              <a:rPr lang="zh-CN" altLang="en-US" sz="2400" b="1" dirty="0"/>
              <a:t>内部包括四个相互独立的两输入施密特触发器，每一个触发器都是以基本的施密特触发电路为基础，在输入端增加了与的功能， 在输出端增加反向器，所以我们将其称为施密特触发的与非门， 其逻辑符号如图</a:t>
            </a:r>
            <a:r>
              <a:rPr lang="en-US" altLang="zh-CN" sz="2400" b="1" dirty="0"/>
              <a:t>7-25</a:t>
            </a:r>
            <a:r>
              <a:rPr lang="zh-CN" altLang="en-US" sz="2400" b="1" dirty="0"/>
              <a:t>（</a:t>
            </a:r>
            <a:r>
              <a:rPr lang="en-US" altLang="zh-CN" sz="2400" b="1" dirty="0"/>
              <a:t>b</a:t>
            </a:r>
            <a:r>
              <a:rPr lang="zh-CN" altLang="en-US" sz="2400" b="1" dirty="0"/>
              <a:t>）所示</a:t>
            </a:r>
            <a:endParaRPr lang="zh-CN" altLang="en-US" sz="2400" b="1" dirty="0"/>
          </a:p>
        </p:txBody>
      </p:sp>
    </p:spTree>
  </p:cSld>
  <p:clrMapOvr>
    <a:masterClrMapping/>
  </p:clrMapOvr>
  <p:transition>
    <p:checke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Text Box 4"/>
          <p:cNvSpPr txBox="1"/>
          <p:nvPr/>
        </p:nvSpPr>
        <p:spPr>
          <a:xfrm>
            <a:off x="512763" y="5500688"/>
            <a:ext cx="8275637"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000" b="1" dirty="0"/>
              <a:t>图 </a:t>
            </a:r>
            <a:r>
              <a:rPr lang="en-US" altLang="zh-CN" sz="2000" b="1" dirty="0"/>
              <a:t>7-25 </a:t>
            </a:r>
            <a:r>
              <a:rPr lang="zh-CN" altLang="en-US" sz="2000" b="1" dirty="0"/>
              <a:t>集成施密特触发器</a:t>
            </a:r>
            <a:r>
              <a:rPr lang="en-US" altLang="zh-CN" sz="2000" b="1" dirty="0"/>
              <a:t>74LS132</a:t>
            </a:r>
            <a:endParaRPr lang="en-US" altLang="zh-CN" sz="2000" b="1" dirty="0"/>
          </a:p>
          <a:p>
            <a:pPr marL="0" lvl="0" indent="0" algn="ctr" eaLnBrk="1" hangingPunct="1">
              <a:spcBef>
                <a:spcPct val="0"/>
              </a:spcBef>
              <a:buNone/>
            </a:pPr>
            <a:r>
              <a:rPr lang="en-US" altLang="zh-CN" sz="2000" b="1" dirty="0"/>
              <a:t>(a) 74LS132</a:t>
            </a:r>
            <a:r>
              <a:rPr lang="zh-CN" altLang="en-US" sz="2000" b="1" dirty="0"/>
              <a:t>的引脚排列和内部逻辑图； </a:t>
            </a:r>
            <a:r>
              <a:rPr lang="en-US" altLang="zh-CN" sz="2000" b="1" dirty="0"/>
              <a:t>(b) </a:t>
            </a:r>
            <a:r>
              <a:rPr lang="zh-CN" altLang="en-US" sz="2000" b="1" dirty="0"/>
              <a:t>施密特触发与非门的逻辑符号</a:t>
            </a:r>
            <a:endParaRPr lang="zh-CN" altLang="en-US" sz="2000" b="1" dirty="0"/>
          </a:p>
        </p:txBody>
      </p:sp>
      <p:graphicFrame>
        <p:nvGraphicFramePr>
          <p:cNvPr id="69635" name="Object 5"/>
          <p:cNvGraphicFramePr>
            <a:graphicFrameLocks noChangeAspect="1"/>
          </p:cNvGraphicFramePr>
          <p:nvPr/>
        </p:nvGraphicFramePr>
        <p:xfrm>
          <a:off x="228600" y="765175"/>
          <a:ext cx="8991600" cy="4595813"/>
        </p:xfrm>
        <a:graphic>
          <a:graphicData uri="http://schemas.openxmlformats.org/presentationml/2006/ole">
            <mc:AlternateContent xmlns:mc="http://schemas.openxmlformats.org/markup-compatibility/2006">
              <mc:Choice xmlns:v="urn:schemas-microsoft-com:vml" Requires="v">
                <p:oleObj spid="_x0000_s3124" name="" r:id="rId1" imgW="3718560" imgH="1897380" progId="Visio.Drawing.4">
                  <p:embed/>
                </p:oleObj>
              </mc:Choice>
              <mc:Fallback>
                <p:oleObj name="" r:id="rId1" imgW="3718560" imgH="1897380" progId="Visio.Drawing.4">
                  <p:embed/>
                  <p:pic>
                    <p:nvPicPr>
                      <p:cNvPr id="0" name="图片 3123"/>
                      <p:cNvPicPr/>
                      <p:nvPr/>
                    </p:nvPicPr>
                    <p:blipFill>
                      <a:blip r:embed="rId2"/>
                      <a:stretch>
                        <a:fillRect/>
                      </a:stretch>
                    </p:blipFill>
                    <p:spPr>
                      <a:xfrm>
                        <a:off x="228600" y="765175"/>
                        <a:ext cx="8991600" cy="4595813"/>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0658" name="Group 6"/>
          <p:cNvGrpSpPr/>
          <p:nvPr/>
        </p:nvGrpSpPr>
        <p:grpSpPr>
          <a:xfrm>
            <a:off x="228600" y="762000"/>
            <a:ext cx="8686800" cy="4035425"/>
            <a:chOff x="144" y="480"/>
            <a:chExt cx="5472" cy="2542"/>
          </a:xfrm>
        </p:grpSpPr>
        <p:sp>
          <p:nvSpPr>
            <p:cNvPr id="70659" name="Text Box 4"/>
            <p:cNvSpPr txBox="1"/>
            <p:nvPr/>
          </p:nvSpPr>
          <p:spPr>
            <a:xfrm>
              <a:off x="144" y="480"/>
              <a:ext cx="5472" cy="254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80000"/>
                </a:lnSpc>
                <a:spcBef>
                  <a:spcPct val="50000"/>
                </a:spcBef>
                <a:buNone/>
              </a:pPr>
              <a:r>
                <a:rPr lang="en-US" altLang="zh-CN" sz="2400" dirty="0"/>
                <a:t>         </a:t>
              </a:r>
              <a:r>
                <a:rPr lang="en-US" altLang="zh-CN" sz="2400" b="1" dirty="0"/>
                <a:t>74LS132</a:t>
              </a:r>
              <a:r>
                <a:rPr lang="zh-CN" altLang="en-US" sz="2400" b="1" dirty="0"/>
                <a:t>的输出信号</a:t>
              </a:r>
              <a:r>
                <a:rPr lang="en-US" altLang="zh-CN" sz="2400" b="1" dirty="0"/>
                <a:t>Y</a:t>
              </a:r>
              <a:r>
                <a:rPr lang="zh-CN" altLang="en-US" sz="2400" b="1" dirty="0"/>
                <a:t>与输入信号</a:t>
              </a:r>
              <a:r>
                <a:rPr lang="en-US" altLang="zh-CN" sz="2400" b="1" dirty="0"/>
                <a:t>A</a:t>
              </a:r>
              <a:r>
                <a:rPr lang="zh-CN" altLang="en-US" sz="2400" b="1" dirty="0"/>
                <a:t>、</a:t>
              </a:r>
              <a:r>
                <a:rPr lang="en-US" altLang="zh-CN" sz="2400" b="1" dirty="0"/>
                <a:t>B</a:t>
              </a:r>
              <a:r>
                <a:rPr lang="zh-CN" altLang="en-US" sz="2400" b="1" dirty="0"/>
                <a:t>之间的逻辑关系为	    。 </a:t>
              </a:r>
              <a:r>
                <a:rPr lang="en-US" altLang="zh-CN" sz="2400" b="1" dirty="0"/>
                <a:t>A</a:t>
              </a:r>
              <a:r>
                <a:rPr lang="zh-CN" altLang="en-US" sz="2400" b="1" dirty="0"/>
                <a:t>、</a:t>
              </a:r>
              <a:r>
                <a:rPr lang="en-US" altLang="zh-CN" sz="2400" b="1" dirty="0"/>
                <a:t>B</a:t>
              </a:r>
              <a:r>
                <a:rPr lang="zh-CN" altLang="en-US" sz="2400" b="1" dirty="0"/>
                <a:t>中只要有一个低于施密特触发器的负向阈值电平，输出</a:t>
              </a:r>
              <a:r>
                <a:rPr lang="en-US" altLang="zh-CN" sz="2400" b="1" dirty="0"/>
                <a:t>Y</a:t>
              </a:r>
              <a:r>
                <a:rPr lang="zh-CN" altLang="en-US" sz="2400" b="1" dirty="0"/>
                <a:t>就是高电平；只有当</a:t>
              </a:r>
              <a:r>
                <a:rPr lang="en-US" altLang="zh-CN" sz="2400" b="1" dirty="0"/>
                <a:t>A</a:t>
              </a:r>
              <a:r>
                <a:rPr lang="zh-CN" altLang="en-US" sz="2400" b="1" dirty="0"/>
                <a:t>、 </a:t>
              </a:r>
              <a:r>
                <a:rPr lang="en-US" altLang="zh-CN" sz="2400" b="1" dirty="0"/>
                <a:t>B</a:t>
              </a:r>
              <a:r>
                <a:rPr lang="zh-CN" altLang="en-US" sz="2400" b="1" dirty="0"/>
                <a:t>同时高于正向阈值电平时，输出</a:t>
              </a:r>
              <a:r>
                <a:rPr lang="en-US" altLang="zh-CN" sz="2400" b="1" dirty="0"/>
                <a:t>Y</a:t>
              </a:r>
              <a:r>
                <a:rPr lang="zh-CN" altLang="en-US" sz="2400" b="1" dirty="0"/>
                <a:t>才为低电平。在使用</a:t>
              </a:r>
              <a:r>
                <a:rPr lang="en-US" altLang="zh-CN" sz="2400" b="1" dirty="0"/>
                <a:t>+5 V</a:t>
              </a:r>
              <a:r>
                <a:rPr lang="zh-CN" altLang="en-US" sz="2400" b="1" dirty="0"/>
                <a:t>电源的条件下，集成施密特触发器</a:t>
              </a:r>
              <a:r>
                <a:rPr lang="en-US" altLang="zh-CN" sz="2400" b="1" dirty="0"/>
                <a:t>74LS132</a:t>
              </a:r>
              <a:r>
                <a:rPr lang="zh-CN" altLang="en-US" sz="2400" b="1" dirty="0"/>
                <a:t>的正向阈值电平</a:t>
              </a:r>
              <a:r>
                <a:rPr lang="en-US" altLang="zh-CN" sz="2400" b="1" dirty="0"/>
                <a:t>U</a:t>
              </a:r>
              <a:r>
                <a:rPr lang="en-US" altLang="zh-CN" sz="2400" b="1" baseline="-25000" dirty="0"/>
                <a:t>T+</a:t>
              </a:r>
              <a:r>
                <a:rPr lang="en-US" altLang="zh-CN" sz="2400" b="1" dirty="0"/>
                <a:t>=1.5</a:t>
              </a:r>
              <a:r>
                <a:rPr lang="zh-CN" altLang="en-US" sz="2400" b="1" dirty="0"/>
                <a:t>～</a:t>
              </a:r>
              <a:r>
                <a:rPr lang="en-US" altLang="zh-CN" sz="2400" b="1" dirty="0"/>
                <a:t>2.0 V</a:t>
              </a:r>
              <a:r>
                <a:rPr lang="zh-CN" altLang="en-US" sz="2400" b="1" dirty="0"/>
                <a:t>，负向阈值电平</a:t>
              </a:r>
              <a:r>
                <a:rPr lang="en-US" altLang="zh-CN" sz="2400" b="1" dirty="0"/>
                <a:t>U </a:t>
              </a:r>
              <a:r>
                <a:rPr lang="en-US" altLang="zh-CN" sz="2400" b="1" baseline="-25000" dirty="0"/>
                <a:t>T-</a:t>
              </a:r>
              <a:r>
                <a:rPr lang="en-US" altLang="zh-CN" sz="2400" b="1" dirty="0"/>
                <a:t>= 0.6</a:t>
              </a:r>
              <a:r>
                <a:rPr lang="zh-CN" altLang="en-US" sz="2400" b="1" dirty="0"/>
                <a:t>～</a:t>
              </a:r>
              <a:r>
                <a:rPr lang="en-US" altLang="zh-CN" sz="2400" b="1" dirty="0"/>
                <a:t>1.1 V</a:t>
              </a:r>
              <a:r>
                <a:rPr lang="zh-CN" altLang="en-US" sz="2400" b="1" dirty="0"/>
                <a:t>，回差电压</a:t>
              </a:r>
              <a:r>
                <a:rPr lang="en-US" altLang="zh-CN" sz="2400" b="1" dirty="0"/>
                <a:t>ΔU</a:t>
              </a:r>
              <a:r>
                <a:rPr lang="en-US" altLang="zh-CN" sz="2400" b="1" baseline="-25000" dirty="0"/>
                <a:t>T</a:t>
              </a:r>
              <a:r>
                <a:rPr lang="zh-CN" altLang="en-US" sz="2400" b="1" dirty="0"/>
                <a:t>的典型值为</a:t>
              </a:r>
              <a:r>
                <a:rPr lang="en-US" altLang="zh-CN" sz="2400" b="1" dirty="0"/>
                <a:t>0.8 V</a:t>
              </a:r>
              <a:r>
                <a:rPr lang="zh-CN" altLang="en-US" sz="2400" b="1" dirty="0"/>
                <a:t>。 </a:t>
              </a:r>
              <a:endParaRPr lang="zh-CN" altLang="en-US" sz="2400" b="1" dirty="0"/>
            </a:p>
          </p:txBody>
        </p:sp>
        <p:graphicFrame>
          <p:nvGraphicFramePr>
            <p:cNvPr id="70660" name="Object 5"/>
            <p:cNvGraphicFramePr>
              <a:graphicFrameLocks noChangeAspect="1"/>
            </p:cNvGraphicFramePr>
            <p:nvPr/>
          </p:nvGraphicFramePr>
          <p:xfrm>
            <a:off x="192" y="1056"/>
            <a:ext cx="688" cy="275"/>
          </p:xfrm>
          <a:graphic>
            <a:graphicData uri="http://schemas.openxmlformats.org/presentationml/2006/ole">
              <mc:AlternateContent xmlns:mc="http://schemas.openxmlformats.org/markup-compatibility/2006">
                <mc:Choice xmlns:v="urn:schemas-microsoft-com:vml" Requires="v">
                  <p:oleObj spid="_x0000_s3125" name="" r:id="rId1" imgW="508000" imgH="203200" progId="Equation.3">
                    <p:embed/>
                  </p:oleObj>
                </mc:Choice>
                <mc:Fallback>
                  <p:oleObj name="" r:id="rId1" imgW="508000" imgH="203200" progId="Equation.3">
                    <p:embed/>
                    <p:pic>
                      <p:nvPicPr>
                        <p:cNvPr id="0" name="图片 3124"/>
                        <p:cNvPicPr/>
                        <p:nvPr/>
                      </p:nvPicPr>
                      <p:blipFill>
                        <a:blip r:embed="rId2"/>
                        <a:stretch>
                          <a:fillRect/>
                        </a:stretch>
                      </p:blipFill>
                      <p:spPr>
                        <a:xfrm>
                          <a:off x="192" y="1056"/>
                          <a:ext cx="688" cy="275"/>
                        </a:xfrm>
                        <a:prstGeom prst="rect">
                          <a:avLst/>
                        </a:prstGeom>
                        <a:noFill/>
                        <a:ln w="38100">
                          <a:noFill/>
                          <a:miter/>
                        </a:ln>
                      </p:spPr>
                    </p:pic>
                  </p:oleObj>
                </mc:Fallback>
              </mc:AlternateContent>
            </a:graphicData>
          </a:graphic>
        </p:graphicFrame>
      </p:grpSp>
    </p:spTree>
  </p:cSld>
  <p:clrMapOvr>
    <a:masterClrMapping/>
  </p:clrMapOvr>
  <p:transition>
    <p:checke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Text Box 1028"/>
          <p:cNvSpPr txBox="1"/>
          <p:nvPr/>
        </p:nvSpPr>
        <p:spPr>
          <a:xfrm>
            <a:off x="228600" y="762000"/>
            <a:ext cx="8686800" cy="5067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8000"/>
              </a:lnSpc>
              <a:spcBef>
                <a:spcPct val="50000"/>
              </a:spcBef>
              <a:buNone/>
            </a:pPr>
            <a:r>
              <a:rPr lang="en-US" altLang="zh-CN" sz="2400" b="1" dirty="0"/>
              <a:t>7.3.3 </a:t>
            </a:r>
            <a:r>
              <a:rPr lang="zh-CN" altLang="en-US" sz="2400" b="1" dirty="0"/>
              <a:t>施密特触发器的应用</a:t>
            </a:r>
            <a:endParaRPr lang="zh-CN" altLang="en-US" sz="2400" b="1" dirty="0"/>
          </a:p>
          <a:p>
            <a:pPr marL="0" lvl="0" indent="0" eaLnBrk="1" hangingPunct="1">
              <a:lnSpc>
                <a:spcPct val="158000"/>
              </a:lnSpc>
              <a:spcBef>
                <a:spcPct val="50000"/>
              </a:spcBef>
              <a:buNone/>
            </a:pPr>
            <a:r>
              <a:rPr lang="zh-CN" altLang="en-US" sz="2400" dirty="0"/>
              <a:t>        </a:t>
            </a:r>
            <a:r>
              <a:rPr lang="en-US" altLang="zh-CN" sz="2400" b="1" dirty="0"/>
              <a:t>1</a:t>
            </a:r>
            <a:r>
              <a:rPr lang="zh-CN" altLang="en-US" sz="2400" b="1" dirty="0"/>
              <a:t>． 波形变换</a:t>
            </a:r>
            <a:endParaRPr lang="zh-CN" altLang="en-US" sz="2400" dirty="0"/>
          </a:p>
          <a:p>
            <a:pPr marL="0" lvl="0" indent="0" eaLnBrk="1" hangingPunct="1">
              <a:lnSpc>
                <a:spcPct val="158000"/>
              </a:lnSpc>
              <a:spcBef>
                <a:spcPct val="50000"/>
              </a:spcBef>
              <a:buNone/>
            </a:pPr>
            <a:r>
              <a:rPr lang="zh-CN" altLang="en-US" sz="2400" dirty="0"/>
              <a:t>        </a:t>
            </a:r>
            <a:r>
              <a:rPr lang="zh-CN" altLang="en-US" sz="2400" b="1" dirty="0"/>
              <a:t>利用施密特触发器在状态转换过程中的正反馈作用， 可以将边沿变化缓慢的周期性信号（如正弦波、 三角波等）变换成边沿陡峭的矩形脉冲。在图</a:t>
            </a:r>
            <a:r>
              <a:rPr lang="en-US" altLang="zh-CN" sz="2400" b="1" dirty="0"/>
              <a:t>7-26</a:t>
            </a:r>
            <a:r>
              <a:rPr lang="zh-CN" altLang="en-US" sz="2400" b="1" dirty="0"/>
              <a:t>中，施密特触发器的输入是一个直流分量和正弦分量相叠加的信号，只要输入信号的幅度大于施密特触发器的正向阈值电压</a:t>
            </a:r>
            <a:r>
              <a:rPr lang="en-US" altLang="zh-CN" sz="2400" b="1" dirty="0"/>
              <a:t>U</a:t>
            </a:r>
            <a:r>
              <a:rPr lang="en-US" altLang="zh-CN" sz="2400" b="1" baseline="-25000" dirty="0"/>
              <a:t>T+</a:t>
            </a:r>
            <a:r>
              <a:rPr lang="zh-CN" altLang="en-US" sz="2400" b="1" dirty="0"/>
              <a:t>，在触发器的输出端就可得到相同频率的矩形波。 </a:t>
            </a:r>
            <a:endParaRPr lang="zh-CN" altLang="en-US" sz="2400" b="1" dirty="0"/>
          </a:p>
        </p:txBody>
      </p:sp>
    </p:spTree>
  </p:cSld>
  <p:clrMapOvr>
    <a:masterClrMapping/>
  </p:clrMapOvr>
  <p:transition>
    <p:checke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Text Box 4"/>
          <p:cNvSpPr txBox="1"/>
          <p:nvPr/>
        </p:nvSpPr>
        <p:spPr>
          <a:xfrm>
            <a:off x="2362200" y="5486400"/>
            <a:ext cx="5162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 </a:t>
            </a:r>
            <a:r>
              <a:rPr lang="en-US" altLang="zh-CN" sz="2400" b="1" dirty="0"/>
              <a:t>7-26 </a:t>
            </a:r>
            <a:r>
              <a:rPr lang="zh-CN" altLang="en-US" sz="2400" b="1" dirty="0"/>
              <a:t>用施密特触发器实现波形变换</a:t>
            </a:r>
            <a:endParaRPr lang="zh-CN" altLang="en-US" sz="2400" b="1" dirty="0"/>
          </a:p>
        </p:txBody>
      </p:sp>
      <p:graphicFrame>
        <p:nvGraphicFramePr>
          <p:cNvPr id="72707" name="Object 5"/>
          <p:cNvGraphicFramePr>
            <a:graphicFrameLocks noChangeAspect="1"/>
          </p:cNvGraphicFramePr>
          <p:nvPr/>
        </p:nvGraphicFramePr>
        <p:xfrm>
          <a:off x="0" y="1447800"/>
          <a:ext cx="9144000" cy="3382963"/>
        </p:xfrm>
        <a:graphic>
          <a:graphicData uri="http://schemas.openxmlformats.org/presentationml/2006/ole">
            <mc:AlternateContent xmlns:mc="http://schemas.openxmlformats.org/markup-compatibility/2006">
              <mc:Choice xmlns:v="urn:schemas-microsoft-com:vml" Requires="v">
                <p:oleObj spid="_x0000_s3137" name="" r:id="rId1" imgW="3733800" imgH="1379220" progId="Visio.Drawing.4">
                  <p:embed/>
                </p:oleObj>
              </mc:Choice>
              <mc:Fallback>
                <p:oleObj name="" r:id="rId1" imgW="3733800" imgH="1379220" progId="Visio.Drawing.4">
                  <p:embed/>
                  <p:pic>
                    <p:nvPicPr>
                      <p:cNvPr id="0" name="图片 3136"/>
                      <p:cNvPicPr/>
                      <p:nvPr/>
                    </p:nvPicPr>
                    <p:blipFill>
                      <a:blip r:embed="rId2"/>
                      <a:stretch>
                        <a:fillRect/>
                      </a:stretch>
                    </p:blipFill>
                    <p:spPr>
                      <a:xfrm>
                        <a:off x="0" y="1447800"/>
                        <a:ext cx="9144000" cy="3382963"/>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Text Box 1029"/>
          <p:cNvSpPr txBox="1"/>
          <p:nvPr/>
        </p:nvSpPr>
        <p:spPr>
          <a:xfrm>
            <a:off x="228600" y="685800"/>
            <a:ext cx="8763000" cy="43529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78000"/>
              </a:lnSpc>
              <a:spcBef>
                <a:spcPct val="50000"/>
              </a:spcBef>
              <a:buNone/>
            </a:pPr>
            <a:r>
              <a:rPr lang="en-US" altLang="zh-CN" sz="2400" dirty="0"/>
              <a:t>        </a:t>
            </a:r>
            <a:r>
              <a:rPr lang="en-US" altLang="zh-CN" sz="2400" b="1" dirty="0"/>
              <a:t>2</a:t>
            </a:r>
            <a:r>
              <a:rPr lang="zh-CN" altLang="en-US" sz="2400" b="1" dirty="0"/>
              <a:t>． 脉冲整形</a:t>
            </a:r>
            <a:endParaRPr lang="zh-CN" altLang="en-US" sz="2400" dirty="0"/>
          </a:p>
          <a:p>
            <a:pPr marL="0" lvl="0" indent="0" eaLnBrk="1" hangingPunct="1">
              <a:lnSpc>
                <a:spcPct val="178000"/>
              </a:lnSpc>
              <a:spcBef>
                <a:spcPct val="50000"/>
              </a:spcBef>
              <a:buNone/>
            </a:pPr>
            <a:r>
              <a:rPr lang="zh-CN" altLang="en-US" sz="2400" dirty="0"/>
              <a:t>        </a:t>
            </a:r>
            <a:r>
              <a:rPr lang="zh-CN" altLang="en-US" sz="2400" b="1" dirty="0"/>
              <a:t>矩形波经过传输后波形往往会发生畸变， 其中比较常见的有图</a:t>
            </a:r>
            <a:r>
              <a:rPr lang="en-US" altLang="zh-CN" sz="2400" b="1" dirty="0"/>
              <a:t>7-27</a:t>
            </a:r>
            <a:r>
              <a:rPr lang="zh-CN" altLang="en-US" sz="2400" b="1" dirty="0"/>
              <a:t>所示的三种情况： </a:t>
            </a:r>
            <a:endParaRPr lang="zh-CN" altLang="en-US" sz="2400" b="1" dirty="0"/>
          </a:p>
          <a:p>
            <a:pPr marL="0" lvl="0" indent="0" eaLnBrk="1" hangingPunct="1">
              <a:lnSpc>
                <a:spcPct val="178000"/>
              </a:lnSpc>
              <a:spcBef>
                <a:spcPct val="50000"/>
              </a:spcBef>
              <a:buNone/>
            </a:pPr>
            <a:r>
              <a:rPr lang="zh-CN" altLang="en-US" sz="2400" b="1" dirty="0"/>
              <a:t>       （</a:t>
            </a:r>
            <a:r>
              <a:rPr lang="en-US" altLang="zh-CN" sz="2400" b="1" dirty="0"/>
              <a:t>a</a:t>
            </a:r>
            <a:r>
              <a:rPr lang="zh-CN" altLang="en-US" sz="2400" b="1" dirty="0"/>
              <a:t>）矩形波的边沿变缓；（</a:t>
            </a:r>
            <a:r>
              <a:rPr lang="en-US" altLang="zh-CN" sz="2400" b="1" dirty="0"/>
              <a:t>b</a:t>
            </a:r>
            <a:r>
              <a:rPr lang="zh-CN" altLang="en-US" sz="2400" b="1" dirty="0"/>
              <a:t>）在矩形波的边沿处产生振荡； （</a:t>
            </a:r>
            <a:r>
              <a:rPr lang="en-US" altLang="zh-CN" sz="2400" b="1" dirty="0"/>
              <a:t>c</a:t>
            </a:r>
            <a:r>
              <a:rPr lang="zh-CN" altLang="en-US" sz="2400" b="1" dirty="0"/>
              <a:t>）矩形波被叠加上干扰。无论哪一种情况，只要设置好合适的</a:t>
            </a:r>
            <a:r>
              <a:rPr lang="en-US" altLang="zh-CN" sz="2400" b="1" dirty="0"/>
              <a:t>U</a:t>
            </a:r>
            <a:r>
              <a:rPr lang="en-US" altLang="zh-CN" sz="2400" b="1" baseline="-25000" dirty="0"/>
              <a:t>T+</a:t>
            </a:r>
            <a:r>
              <a:rPr lang="zh-CN" altLang="en-US" sz="2400" b="1" dirty="0"/>
              <a:t>和</a:t>
            </a:r>
            <a:r>
              <a:rPr lang="en-US" altLang="zh-CN" sz="2400" b="1" dirty="0"/>
              <a:t>U</a:t>
            </a:r>
            <a:r>
              <a:rPr lang="en-US" altLang="zh-CN" sz="2400" b="1" baseline="-25000" dirty="0"/>
              <a:t>T-</a:t>
            </a:r>
            <a:r>
              <a:rPr lang="zh-CN" altLang="en-US" sz="2400" b="1" dirty="0"/>
              <a:t>，均能获得满意的整形效果。 </a:t>
            </a:r>
            <a:endParaRPr lang="zh-CN" altLang="en-US" sz="2400" b="1" dirty="0"/>
          </a:p>
        </p:txBody>
      </p:sp>
    </p:spTree>
  </p:cSld>
  <p:clrMapOvr>
    <a:masterClrMapping/>
  </p:clrMapOvr>
  <p:transition>
    <p:checke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Text Box 4"/>
          <p:cNvSpPr txBox="1"/>
          <p:nvPr/>
        </p:nvSpPr>
        <p:spPr>
          <a:xfrm>
            <a:off x="2133600" y="5562600"/>
            <a:ext cx="5162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 </a:t>
            </a:r>
            <a:r>
              <a:rPr lang="en-US" altLang="zh-CN" sz="2400" b="1" dirty="0"/>
              <a:t>7-27 </a:t>
            </a:r>
            <a:r>
              <a:rPr lang="zh-CN" altLang="en-US" sz="2400" b="1" dirty="0"/>
              <a:t>用施密特触发器实现脉冲整形</a:t>
            </a:r>
            <a:endParaRPr lang="zh-CN" altLang="en-US" sz="2400" b="1" dirty="0"/>
          </a:p>
        </p:txBody>
      </p:sp>
      <p:graphicFrame>
        <p:nvGraphicFramePr>
          <p:cNvPr id="74755" name="Object 5"/>
          <p:cNvGraphicFramePr>
            <a:graphicFrameLocks noChangeAspect="1"/>
          </p:cNvGraphicFramePr>
          <p:nvPr/>
        </p:nvGraphicFramePr>
        <p:xfrm>
          <a:off x="0" y="1143000"/>
          <a:ext cx="9144000" cy="3927475"/>
        </p:xfrm>
        <a:graphic>
          <a:graphicData uri="http://schemas.openxmlformats.org/presentationml/2006/ole">
            <mc:AlternateContent xmlns:mc="http://schemas.openxmlformats.org/markup-compatibility/2006">
              <mc:Choice xmlns:v="urn:schemas-microsoft-com:vml" Requires="v">
                <p:oleObj spid="_x0000_s3135" name="" r:id="rId1" imgW="4480560" imgH="1920240" progId="Visio.Drawing.4">
                  <p:embed/>
                </p:oleObj>
              </mc:Choice>
              <mc:Fallback>
                <p:oleObj name="" r:id="rId1" imgW="4480560" imgH="1920240" progId="Visio.Drawing.4">
                  <p:embed/>
                  <p:pic>
                    <p:nvPicPr>
                      <p:cNvPr id="0" name="图片 3134"/>
                      <p:cNvPicPr/>
                      <p:nvPr/>
                    </p:nvPicPr>
                    <p:blipFill>
                      <a:blip r:embed="rId2"/>
                      <a:stretch>
                        <a:fillRect/>
                      </a:stretch>
                    </p:blipFill>
                    <p:spPr>
                      <a:xfrm>
                        <a:off x="0" y="1143000"/>
                        <a:ext cx="9144000" cy="3927475"/>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Text Box 2"/>
          <p:cNvSpPr txBox="1"/>
          <p:nvPr/>
        </p:nvSpPr>
        <p:spPr>
          <a:xfrm>
            <a:off x="2133600" y="5562600"/>
            <a:ext cx="5162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 </a:t>
            </a:r>
            <a:r>
              <a:rPr lang="en-US" altLang="zh-CN" sz="2400" b="1" dirty="0"/>
              <a:t>7-27 </a:t>
            </a:r>
            <a:r>
              <a:rPr lang="zh-CN" altLang="en-US" sz="2400" b="1" dirty="0"/>
              <a:t>用施密特触发器实现脉冲整形</a:t>
            </a:r>
            <a:endParaRPr lang="zh-CN" altLang="en-US" sz="2400" b="1" dirty="0"/>
          </a:p>
        </p:txBody>
      </p:sp>
      <p:graphicFrame>
        <p:nvGraphicFramePr>
          <p:cNvPr id="75779" name="Object 3"/>
          <p:cNvGraphicFramePr>
            <a:graphicFrameLocks noChangeAspect="1"/>
          </p:cNvGraphicFramePr>
          <p:nvPr/>
        </p:nvGraphicFramePr>
        <p:xfrm>
          <a:off x="609600" y="1219200"/>
          <a:ext cx="8534400" cy="3679825"/>
        </p:xfrm>
        <a:graphic>
          <a:graphicData uri="http://schemas.openxmlformats.org/presentationml/2006/ole">
            <mc:AlternateContent xmlns:mc="http://schemas.openxmlformats.org/markup-compatibility/2006">
              <mc:Choice xmlns:v="urn:schemas-microsoft-com:vml" Requires="v">
                <p:oleObj spid="_x0000_s3138" name="" r:id="rId1" imgW="3322320" imgH="1432560" progId="Visio.Drawing.4">
                  <p:embed/>
                </p:oleObj>
              </mc:Choice>
              <mc:Fallback>
                <p:oleObj name="" r:id="rId1" imgW="3322320" imgH="1432560" progId="Visio.Drawing.4">
                  <p:embed/>
                  <p:pic>
                    <p:nvPicPr>
                      <p:cNvPr id="0" name="图片 3137"/>
                      <p:cNvPicPr/>
                      <p:nvPr/>
                    </p:nvPicPr>
                    <p:blipFill>
                      <a:blip r:embed="rId2"/>
                      <a:stretch>
                        <a:fillRect/>
                      </a:stretch>
                    </p:blipFill>
                    <p:spPr>
                      <a:xfrm>
                        <a:off x="609600" y="1219200"/>
                        <a:ext cx="8534400" cy="3679825"/>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Text Box 1028"/>
          <p:cNvSpPr txBox="1"/>
          <p:nvPr/>
        </p:nvSpPr>
        <p:spPr>
          <a:xfrm>
            <a:off x="228600" y="720725"/>
            <a:ext cx="8763000" cy="43084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8000"/>
              </a:lnSpc>
              <a:spcBef>
                <a:spcPct val="50000"/>
              </a:spcBef>
              <a:buNone/>
            </a:pPr>
            <a:r>
              <a:rPr lang="en-US" altLang="zh-CN" sz="2400" dirty="0"/>
              <a:t>        </a:t>
            </a:r>
            <a:r>
              <a:rPr lang="en-US" altLang="zh-CN" sz="2400" b="1" dirty="0"/>
              <a:t>3</a:t>
            </a:r>
            <a:r>
              <a:rPr lang="zh-CN" altLang="en-US" sz="2400" b="1" dirty="0"/>
              <a:t>． 脉冲幅度鉴别</a:t>
            </a:r>
            <a:endParaRPr lang="zh-CN" altLang="en-US" sz="2400" dirty="0"/>
          </a:p>
          <a:p>
            <a:pPr marL="0" lvl="0" indent="0" eaLnBrk="1" hangingPunct="1">
              <a:lnSpc>
                <a:spcPct val="158000"/>
              </a:lnSpc>
              <a:spcBef>
                <a:spcPct val="50000"/>
              </a:spcBef>
              <a:buNone/>
            </a:pPr>
            <a:r>
              <a:rPr lang="zh-CN" altLang="en-US" sz="2400" dirty="0"/>
              <a:t>        </a:t>
            </a:r>
            <a:r>
              <a:rPr lang="zh-CN" altLang="en-US" sz="2400" b="1" dirty="0"/>
              <a:t>利用施密特触发器的输出取决于输入幅度的特点，可以将其用作脉冲幅度鉴别电路。如图</a:t>
            </a:r>
            <a:r>
              <a:rPr lang="en-US" altLang="zh-CN" sz="2400" b="1" dirty="0"/>
              <a:t>7-28</a:t>
            </a:r>
            <a:r>
              <a:rPr lang="zh-CN" altLang="en-US" sz="2400" b="1" dirty="0"/>
              <a:t>所示，在施密特触发器的输入端输入一系列幅度不等的矩形脉冲，根据施密特触发器的特点， 对应于那些幅度大于</a:t>
            </a:r>
            <a:r>
              <a:rPr lang="en-US" altLang="zh-CN" sz="2400" b="1" dirty="0"/>
              <a:t>U</a:t>
            </a:r>
            <a:r>
              <a:rPr lang="en-US" altLang="zh-CN" sz="2400" b="1" baseline="-25000" dirty="0"/>
              <a:t>T+</a:t>
            </a:r>
            <a:r>
              <a:rPr lang="zh-CN" altLang="en-US" sz="2400" b="1" dirty="0"/>
              <a:t>的脉冲，电路有脉冲输出；而对于幅度小于</a:t>
            </a:r>
            <a:r>
              <a:rPr lang="en-US" altLang="zh-CN" sz="2400" b="1" dirty="0"/>
              <a:t>U</a:t>
            </a:r>
            <a:r>
              <a:rPr lang="en-US" altLang="zh-CN" sz="2400" b="1" baseline="-25000" dirty="0"/>
              <a:t>T+</a:t>
            </a:r>
            <a:r>
              <a:rPr lang="zh-CN" altLang="en-US" sz="2400" b="1" dirty="0"/>
              <a:t>的脉冲，电路则没有脉冲输出，从而达到幅度鉴别的目的。 </a:t>
            </a:r>
            <a:endParaRPr lang="zh-CN" altLang="en-US" sz="2400" b="1" dirty="0"/>
          </a:p>
        </p:txBody>
      </p:sp>
    </p:spTree>
  </p:cSld>
  <p:clrMapOvr>
    <a:masterClrMapping/>
  </p:clrMapOvr>
  <p:transition>
    <p:checke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Text Box 4"/>
          <p:cNvSpPr txBox="1"/>
          <p:nvPr/>
        </p:nvSpPr>
        <p:spPr>
          <a:xfrm>
            <a:off x="1981200" y="5486400"/>
            <a:ext cx="5772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 </a:t>
            </a:r>
            <a:r>
              <a:rPr lang="en-US" altLang="zh-CN" sz="2400" b="1" dirty="0"/>
              <a:t>7-28 </a:t>
            </a:r>
            <a:r>
              <a:rPr lang="zh-CN" altLang="en-US" sz="2400" b="1" dirty="0"/>
              <a:t>用施密特触发器实现脉冲幅度鉴别</a:t>
            </a:r>
            <a:endParaRPr lang="zh-CN" altLang="en-US" sz="2400" b="1" dirty="0"/>
          </a:p>
        </p:txBody>
      </p:sp>
      <p:sp>
        <p:nvSpPr>
          <p:cNvPr id="77827" name="AutoShape 5">
            <a:hlinkClick r:id="" action="ppaction://hlinkshowjump?jump=firstslide"/>
          </p:cNvPr>
          <p:cNvSpPr/>
          <p:nvPr/>
        </p:nvSpPr>
        <p:spPr>
          <a:xfrm>
            <a:off x="8458200" y="6470650"/>
            <a:ext cx="685800" cy="3810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graphicFrame>
        <p:nvGraphicFramePr>
          <p:cNvPr id="77828" name="Object 7"/>
          <p:cNvGraphicFramePr>
            <a:graphicFrameLocks noChangeAspect="1"/>
          </p:cNvGraphicFramePr>
          <p:nvPr/>
        </p:nvGraphicFramePr>
        <p:xfrm>
          <a:off x="0" y="1524000"/>
          <a:ext cx="9144000" cy="2890838"/>
        </p:xfrm>
        <a:graphic>
          <a:graphicData uri="http://schemas.openxmlformats.org/presentationml/2006/ole">
            <mc:AlternateContent xmlns:mc="http://schemas.openxmlformats.org/markup-compatibility/2006">
              <mc:Choice xmlns:v="urn:schemas-microsoft-com:vml" Requires="v">
                <p:oleObj spid="_x0000_s3136" name="" r:id="rId1" imgW="4602480" imgH="1455420" progId="Visio.Drawing.4">
                  <p:embed/>
                </p:oleObj>
              </mc:Choice>
              <mc:Fallback>
                <p:oleObj name="" r:id="rId1" imgW="4602480" imgH="1455420" progId="Visio.Drawing.4">
                  <p:embed/>
                  <p:pic>
                    <p:nvPicPr>
                      <p:cNvPr id="0" name="图片 3135"/>
                      <p:cNvPicPr/>
                      <p:nvPr/>
                    </p:nvPicPr>
                    <p:blipFill>
                      <a:blip r:embed="rId2"/>
                      <a:stretch>
                        <a:fillRect/>
                      </a:stretch>
                    </p:blipFill>
                    <p:spPr>
                      <a:xfrm>
                        <a:off x="0" y="1524000"/>
                        <a:ext cx="9144000" cy="2890838"/>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Text Box 1028"/>
          <p:cNvSpPr txBox="1"/>
          <p:nvPr/>
        </p:nvSpPr>
        <p:spPr>
          <a:xfrm>
            <a:off x="2797175" y="762000"/>
            <a:ext cx="35369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t>7.4   555 </a:t>
            </a:r>
            <a:r>
              <a:rPr lang="zh-CN" altLang="en-US" b="1" dirty="0"/>
              <a:t>定 时 器</a:t>
            </a:r>
            <a:endParaRPr lang="zh-CN" altLang="en-US" b="1" dirty="0"/>
          </a:p>
        </p:txBody>
      </p:sp>
      <p:sp>
        <p:nvSpPr>
          <p:cNvPr id="78851" name="Text Box 1029"/>
          <p:cNvSpPr txBox="1"/>
          <p:nvPr/>
        </p:nvSpPr>
        <p:spPr>
          <a:xfrm>
            <a:off x="152400" y="1414463"/>
            <a:ext cx="8839200" cy="46561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0000"/>
              </a:lnSpc>
              <a:spcBef>
                <a:spcPct val="50000"/>
              </a:spcBef>
              <a:buNone/>
            </a:pPr>
            <a:r>
              <a:rPr lang="en-US" altLang="zh-CN" sz="2400" b="1" dirty="0"/>
              <a:t>7.4.1 555</a:t>
            </a:r>
            <a:r>
              <a:rPr lang="zh-CN" altLang="en-US" sz="2400" b="1" dirty="0"/>
              <a:t>定时器的电路结构与功能</a:t>
            </a:r>
            <a:endParaRPr lang="zh-CN" altLang="en-US" sz="2400" b="1" dirty="0"/>
          </a:p>
          <a:p>
            <a:pPr marL="0" lvl="0" indent="0" eaLnBrk="1" hangingPunct="1">
              <a:lnSpc>
                <a:spcPct val="150000"/>
              </a:lnSpc>
              <a:spcBef>
                <a:spcPct val="50000"/>
              </a:spcBef>
              <a:buNone/>
            </a:pPr>
            <a:r>
              <a:rPr lang="zh-CN" altLang="en-US" sz="2400" dirty="0"/>
              <a:t>        </a:t>
            </a:r>
            <a:r>
              <a:rPr lang="zh-CN" altLang="en-US" sz="2400" b="1" dirty="0"/>
              <a:t>尽管</a:t>
            </a:r>
            <a:r>
              <a:rPr lang="en-US" altLang="zh-CN" sz="2400" b="1" dirty="0"/>
              <a:t>555</a:t>
            </a:r>
            <a:r>
              <a:rPr lang="zh-CN" altLang="en-US" sz="2400" b="1" dirty="0"/>
              <a:t>定时器产品的型号繁多， 但它们的电路结构、功能及外部引脚排列都是基本相同的。图</a:t>
            </a:r>
            <a:r>
              <a:rPr lang="en-US" altLang="zh-CN" sz="2400" b="1" dirty="0"/>
              <a:t>7-29</a:t>
            </a:r>
            <a:r>
              <a:rPr lang="zh-CN" altLang="en-US" sz="2400" b="1" dirty="0"/>
              <a:t>是</a:t>
            </a:r>
            <a:r>
              <a:rPr lang="en-US" altLang="zh-CN" sz="2400" b="1" dirty="0"/>
              <a:t>Philips</a:t>
            </a:r>
            <a:r>
              <a:rPr lang="zh-CN" altLang="en-US" sz="2400" b="1" dirty="0"/>
              <a:t>公司生产的</a:t>
            </a:r>
            <a:r>
              <a:rPr lang="en-US" altLang="zh-CN" sz="2400" b="1" dirty="0"/>
              <a:t>555</a:t>
            </a:r>
            <a:r>
              <a:rPr lang="zh-CN" altLang="en-US" sz="2400" b="1" dirty="0"/>
              <a:t>定时器的结构图， 它主要由三个阻值为</a:t>
            </a:r>
            <a:r>
              <a:rPr lang="en-US" altLang="zh-CN" sz="2400" b="1" dirty="0"/>
              <a:t>5 kΩ</a:t>
            </a:r>
            <a:r>
              <a:rPr lang="zh-CN" altLang="en-US" sz="2400" b="1" dirty="0"/>
              <a:t>的电阻组成的分压器、 两个高精度的电压比较器</a:t>
            </a:r>
            <a:r>
              <a:rPr lang="en-US" altLang="zh-CN" sz="2400" b="1" dirty="0"/>
              <a:t>C</a:t>
            </a:r>
            <a:r>
              <a:rPr lang="en-US" altLang="zh-CN" sz="2400" b="1" baseline="-25000" dirty="0"/>
              <a:t>1</a:t>
            </a:r>
            <a:r>
              <a:rPr lang="zh-CN" altLang="en-US" sz="2400" b="1" dirty="0"/>
              <a:t>和</a:t>
            </a:r>
            <a:r>
              <a:rPr lang="en-US" altLang="zh-CN" sz="2400" b="1" dirty="0"/>
              <a:t>C</a:t>
            </a:r>
            <a:r>
              <a:rPr lang="en-US" altLang="zh-CN" sz="2400" b="1" baseline="-25000" dirty="0"/>
              <a:t>2</a:t>
            </a:r>
            <a:r>
              <a:rPr lang="zh-CN" altLang="en-US" sz="2400" b="1" dirty="0"/>
              <a:t>、基本</a:t>
            </a:r>
            <a:r>
              <a:rPr lang="en-US" altLang="zh-CN" sz="2400" b="1" dirty="0"/>
              <a:t>RS</a:t>
            </a:r>
            <a:r>
              <a:rPr lang="zh-CN" altLang="en-US" sz="2400" b="1" dirty="0"/>
              <a:t>触发器以及一个作为放电通路的晶体三极管</a:t>
            </a:r>
            <a:r>
              <a:rPr lang="en-US" altLang="zh-CN" sz="2400" b="1" dirty="0"/>
              <a:t>V</a:t>
            </a:r>
            <a:r>
              <a:rPr lang="zh-CN" altLang="en-US" sz="2400" b="1" dirty="0"/>
              <a:t>组成。为了提高电路的驱动能力， 在输出级又增加了一个非门</a:t>
            </a:r>
            <a:r>
              <a:rPr lang="en-US" altLang="zh-CN" sz="2400" b="1" dirty="0"/>
              <a:t>G</a:t>
            </a:r>
            <a:r>
              <a:rPr lang="zh-CN" altLang="en-US" sz="2400" b="1" dirty="0"/>
              <a:t>。 在结构图中，引脚旁的数字为</a:t>
            </a:r>
            <a:r>
              <a:rPr lang="en-US" altLang="zh-CN" sz="2400" b="1" dirty="0"/>
              <a:t>8</a:t>
            </a:r>
            <a:r>
              <a:rPr lang="zh-CN" altLang="en-US" sz="2400" b="1" dirty="0"/>
              <a:t>引脚封装的</a:t>
            </a:r>
            <a:r>
              <a:rPr lang="en-US" altLang="zh-CN" sz="2400" b="1" dirty="0"/>
              <a:t>555</a:t>
            </a:r>
            <a:r>
              <a:rPr lang="zh-CN" altLang="en-US" sz="2400" b="1" dirty="0"/>
              <a:t>定时器产品的引脚编号。 </a:t>
            </a:r>
            <a:endParaRPr lang="zh-CN" altLang="en-US" sz="2400" b="1" dirty="0"/>
          </a:p>
        </p:txBody>
      </p:sp>
    </p:spTree>
  </p:cSld>
  <p:clrMapOvr>
    <a:masterClrMapping/>
  </p:clrMapOvr>
  <p:transition>
    <p:checke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Text Box 4"/>
          <p:cNvSpPr txBox="1"/>
          <p:nvPr/>
        </p:nvSpPr>
        <p:spPr>
          <a:xfrm>
            <a:off x="2676525" y="6477000"/>
            <a:ext cx="3867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 </a:t>
            </a:r>
            <a:r>
              <a:rPr lang="en-US" altLang="zh-CN" sz="2400" b="1" dirty="0"/>
              <a:t>7-29  555</a:t>
            </a:r>
            <a:r>
              <a:rPr lang="zh-CN" altLang="en-US" sz="2400" b="1" dirty="0"/>
              <a:t>定时器的结构图</a:t>
            </a:r>
            <a:endParaRPr lang="zh-CN" altLang="en-US" sz="2400" b="1" dirty="0"/>
          </a:p>
        </p:txBody>
      </p:sp>
      <p:graphicFrame>
        <p:nvGraphicFramePr>
          <p:cNvPr id="79875" name="Object 5"/>
          <p:cNvGraphicFramePr>
            <a:graphicFrameLocks noChangeAspect="1"/>
          </p:cNvGraphicFramePr>
          <p:nvPr/>
        </p:nvGraphicFramePr>
        <p:xfrm>
          <a:off x="0" y="533400"/>
          <a:ext cx="9144000" cy="5953125"/>
        </p:xfrm>
        <a:graphic>
          <a:graphicData uri="http://schemas.openxmlformats.org/presentationml/2006/ole">
            <mc:AlternateContent xmlns:mc="http://schemas.openxmlformats.org/markup-compatibility/2006">
              <mc:Choice xmlns:v="urn:schemas-microsoft-com:vml" Requires="v">
                <p:oleObj spid="_x0000_s3134" name="" r:id="rId1" imgW="4023360" imgH="2621280" progId="Visio.Drawing.4">
                  <p:embed/>
                </p:oleObj>
              </mc:Choice>
              <mc:Fallback>
                <p:oleObj name="" r:id="rId1" imgW="4023360" imgH="2621280" progId="Visio.Drawing.4">
                  <p:embed/>
                  <p:pic>
                    <p:nvPicPr>
                      <p:cNvPr id="0" name="图片 3133"/>
                      <p:cNvPicPr/>
                      <p:nvPr/>
                    </p:nvPicPr>
                    <p:blipFill>
                      <a:blip r:embed="rId2"/>
                      <a:stretch>
                        <a:fillRect/>
                      </a:stretch>
                    </p:blipFill>
                    <p:spPr>
                      <a:xfrm>
                        <a:off x="0" y="533400"/>
                        <a:ext cx="9144000" cy="5953125"/>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Text Box 1028"/>
          <p:cNvSpPr txBox="1"/>
          <p:nvPr/>
        </p:nvSpPr>
        <p:spPr>
          <a:xfrm>
            <a:off x="152400" y="677863"/>
            <a:ext cx="8915400" cy="54610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8000"/>
              </a:lnSpc>
              <a:spcBef>
                <a:spcPct val="50000"/>
              </a:spcBef>
              <a:buNone/>
            </a:pPr>
            <a:r>
              <a:rPr lang="en-US" altLang="zh-CN" sz="2400" dirty="0"/>
              <a:t>        </a:t>
            </a:r>
            <a:r>
              <a:rPr lang="zh-CN" altLang="en-US" sz="2400" b="1" dirty="0"/>
              <a:t>在图</a:t>
            </a:r>
            <a:r>
              <a:rPr lang="en-US" altLang="zh-CN" sz="2400" b="1" dirty="0"/>
              <a:t>7-29</a:t>
            </a:r>
            <a:r>
              <a:rPr lang="zh-CN" altLang="en-US" sz="2400" b="1" dirty="0"/>
              <a:t>所示电路中，</a:t>
            </a:r>
            <a:r>
              <a:rPr lang="en-US" altLang="zh-CN" sz="2400" b="1" dirty="0"/>
              <a:t>R</a:t>
            </a:r>
            <a:r>
              <a:rPr lang="en-US" altLang="zh-CN" sz="2400" b="1" baseline="-25000" dirty="0"/>
              <a:t>D</a:t>
            </a:r>
            <a:r>
              <a:rPr lang="zh-CN" altLang="en-US" sz="2400" b="1" dirty="0"/>
              <a:t>是复位输入端。当</a:t>
            </a:r>
            <a:r>
              <a:rPr lang="en-US" altLang="zh-CN" sz="2400" b="1" dirty="0"/>
              <a:t>R</a:t>
            </a:r>
            <a:r>
              <a:rPr lang="en-US" altLang="zh-CN" sz="2400" b="1" baseline="-25000" dirty="0"/>
              <a:t>D</a:t>
            </a:r>
            <a:r>
              <a:rPr lang="zh-CN" altLang="en-US" sz="2400" b="1" dirty="0"/>
              <a:t>为低电平时，无论其它输入端状态如何，电路的输出</a:t>
            </a:r>
            <a:r>
              <a:rPr lang="en-US" altLang="zh-CN" sz="2400" b="1" dirty="0"/>
              <a:t>u</a:t>
            </a:r>
            <a:r>
              <a:rPr lang="en-US" altLang="zh-CN" sz="2400" b="1" baseline="-25000" dirty="0"/>
              <a:t>O</a:t>
            </a:r>
            <a:r>
              <a:rPr lang="zh-CN" altLang="en-US" sz="2400" b="1" dirty="0"/>
              <a:t>立即变为低电平。因此，在电路正常工作时应将其接高电平。 </a:t>
            </a:r>
            <a:endParaRPr lang="zh-CN" altLang="en-US" sz="2400" b="1" dirty="0"/>
          </a:p>
          <a:p>
            <a:pPr marL="0" lvl="0" indent="0" eaLnBrk="1" hangingPunct="1">
              <a:lnSpc>
                <a:spcPct val="158000"/>
              </a:lnSpc>
              <a:spcBef>
                <a:spcPct val="50000"/>
              </a:spcBef>
              <a:buNone/>
            </a:pPr>
            <a:r>
              <a:rPr lang="zh-CN" altLang="en-US" sz="2400" b="1" dirty="0"/>
              <a:t>        电路中三个阻值为</a:t>
            </a:r>
            <a:r>
              <a:rPr lang="en-US" altLang="zh-CN" sz="2400" b="1" dirty="0"/>
              <a:t>5 kΩ</a:t>
            </a:r>
            <a:r>
              <a:rPr lang="zh-CN" altLang="en-US" sz="2400" b="1" dirty="0"/>
              <a:t>的电阻组成分压器，以形成比较器</a:t>
            </a:r>
            <a:r>
              <a:rPr lang="en-US" altLang="zh-CN" sz="2400" b="1" dirty="0"/>
              <a:t>C</a:t>
            </a:r>
            <a:r>
              <a:rPr lang="en-US" altLang="zh-CN" sz="2400" b="1" baseline="-25000" dirty="0"/>
              <a:t>1</a:t>
            </a:r>
            <a:r>
              <a:rPr lang="zh-CN" altLang="en-US" sz="2400" b="1" dirty="0"/>
              <a:t>和</a:t>
            </a:r>
            <a:r>
              <a:rPr lang="en-US" altLang="zh-CN" sz="2400" b="1" dirty="0"/>
              <a:t>C</a:t>
            </a:r>
            <a:r>
              <a:rPr lang="en-US" altLang="zh-CN" sz="2400" b="1" baseline="-25000" dirty="0"/>
              <a:t>2</a:t>
            </a:r>
            <a:r>
              <a:rPr lang="zh-CN" altLang="en-US" sz="2400" b="1" dirty="0"/>
              <a:t>的参考电压</a:t>
            </a:r>
            <a:r>
              <a:rPr lang="en-US" altLang="zh-CN" sz="2400" b="1" dirty="0"/>
              <a:t>U</a:t>
            </a:r>
            <a:r>
              <a:rPr lang="en-US" altLang="zh-CN" sz="2400" b="1" baseline="-25000" dirty="0"/>
              <a:t>R1</a:t>
            </a:r>
            <a:r>
              <a:rPr lang="zh-CN" altLang="en-US" sz="2400" b="1" dirty="0"/>
              <a:t>和</a:t>
            </a:r>
            <a:r>
              <a:rPr lang="en-US" altLang="zh-CN" sz="2400" b="1" dirty="0"/>
              <a:t>U</a:t>
            </a:r>
            <a:r>
              <a:rPr lang="en-US" altLang="zh-CN" sz="2400" b="1" baseline="-25000" dirty="0"/>
              <a:t>R2</a:t>
            </a:r>
            <a:r>
              <a:rPr lang="zh-CN" altLang="en-US" sz="2400" b="1" dirty="0"/>
              <a:t>。当控制电压输入端</a:t>
            </a:r>
            <a:r>
              <a:rPr lang="en-US" altLang="zh-CN" sz="2400" b="1" dirty="0"/>
              <a:t>u</a:t>
            </a:r>
            <a:r>
              <a:rPr lang="en-US" altLang="zh-CN" sz="2400" b="1" baseline="-25000" dirty="0"/>
              <a:t>IC</a:t>
            </a:r>
            <a:r>
              <a:rPr lang="zh-CN" altLang="en-US" sz="2400" b="1" dirty="0"/>
              <a:t>悬空时，</a:t>
            </a:r>
            <a:r>
              <a:rPr lang="en-US" altLang="zh-CN" sz="2400" b="1" dirty="0"/>
              <a:t>U</a:t>
            </a:r>
            <a:r>
              <a:rPr lang="en-US" altLang="zh-CN" sz="2400" b="1" baseline="-25000" dirty="0"/>
              <a:t>R1</a:t>
            </a:r>
            <a:r>
              <a:rPr lang="en-US" altLang="zh-CN" sz="2400" b="1" dirty="0"/>
              <a:t>=(2/3)U</a:t>
            </a:r>
            <a:r>
              <a:rPr lang="en-US" altLang="zh-CN" sz="2400" b="1" baseline="-25000" dirty="0"/>
              <a:t>CC</a:t>
            </a:r>
            <a:r>
              <a:rPr lang="zh-CN" altLang="en-US" sz="2400" b="1" dirty="0"/>
              <a:t>，</a:t>
            </a:r>
            <a:r>
              <a:rPr lang="en-US" altLang="zh-CN" sz="2400" b="1" dirty="0"/>
              <a:t>U</a:t>
            </a:r>
            <a:r>
              <a:rPr lang="en-US" altLang="zh-CN" sz="2400" b="1" baseline="-25000" dirty="0"/>
              <a:t>R2</a:t>
            </a:r>
            <a:r>
              <a:rPr lang="en-US" altLang="zh-CN" sz="2400" b="1" dirty="0"/>
              <a:t>=(1/3)U</a:t>
            </a:r>
            <a:r>
              <a:rPr lang="en-US" altLang="zh-CN" sz="2400" b="1" baseline="-25000" dirty="0"/>
              <a:t>CC</a:t>
            </a:r>
            <a:r>
              <a:rPr lang="zh-CN" altLang="en-US" sz="2400" b="1" dirty="0"/>
              <a:t>；如果</a:t>
            </a:r>
            <a:r>
              <a:rPr lang="en-US" altLang="zh-CN" sz="2400" b="1" dirty="0"/>
              <a:t>u</a:t>
            </a:r>
            <a:r>
              <a:rPr lang="en-US" altLang="zh-CN" sz="2400" b="1" baseline="-25000" dirty="0"/>
              <a:t>IC</a:t>
            </a:r>
            <a:r>
              <a:rPr lang="zh-CN" altLang="en-US" sz="2400" b="1" dirty="0"/>
              <a:t>外接固定电压，则</a:t>
            </a:r>
            <a:r>
              <a:rPr lang="en-US" altLang="zh-CN" sz="2400" b="1" dirty="0"/>
              <a:t>U</a:t>
            </a:r>
            <a:r>
              <a:rPr lang="en-US" altLang="zh-CN" sz="2400" b="1" baseline="-25000" dirty="0"/>
              <a:t>R1</a:t>
            </a:r>
            <a:r>
              <a:rPr lang="en-US" altLang="zh-CN" sz="2400" b="1" dirty="0"/>
              <a:t>=U</a:t>
            </a:r>
            <a:r>
              <a:rPr lang="en-US" altLang="zh-CN" sz="2400" b="1" baseline="-25000" dirty="0"/>
              <a:t>IC</a:t>
            </a:r>
            <a:r>
              <a:rPr lang="zh-CN" altLang="en-US" sz="2400" b="1" dirty="0"/>
              <a:t>， </a:t>
            </a:r>
            <a:r>
              <a:rPr lang="en-US" altLang="zh-CN" sz="2400" b="1" dirty="0"/>
              <a:t>U</a:t>
            </a:r>
            <a:r>
              <a:rPr lang="en-US" altLang="zh-CN" sz="2400" b="1" baseline="-25000" dirty="0"/>
              <a:t>R2</a:t>
            </a:r>
            <a:r>
              <a:rPr lang="en-US" altLang="zh-CN" sz="2400" b="1" dirty="0"/>
              <a:t>=(1/3)U</a:t>
            </a:r>
            <a:r>
              <a:rPr lang="en-US" altLang="zh-CN" sz="2400" b="1" baseline="-25000" dirty="0"/>
              <a:t>IC</a:t>
            </a:r>
            <a:r>
              <a:rPr lang="en-US" altLang="zh-CN" sz="2400" b="1" dirty="0"/>
              <a:t>/2</a:t>
            </a:r>
            <a:r>
              <a:rPr lang="zh-CN" altLang="en-US" sz="2400" b="1" dirty="0"/>
              <a:t>。当不需要外接控制电压时，一般是在</a:t>
            </a:r>
            <a:r>
              <a:rPr lang="en-US" altLang="zh-CN" sz="2400" b="1" dirty="0"/>
              <a:t>U</a:t>
            </a:r>
            <a:r>
              <a:rPr lang="en-US" altLang="zh-CN" sz="2400" b="1" baseline="-25000" dirty="0"/>
              <a:t>IC</a:t>
            </a:r>
            <a:r>
              <a:rPr lang="zh-CN" altLang="en-US" sz="2400" b="1" dirty="0"/>
              <a:t>端和地之间接一个</a:t>
            </a:r>
            <a:r>
              <a:rPr lang="en-US" altLang="zh-CN" sz="2400" b="1" dirty="0"/>
              <a:t>0.01</a:t>
            </a:r>
            <a:r>
              <a:rPr lang="en-US" altLang="zh-CN" sz="2400" b="1" i="1" dirty="0"/>
              <a:t>μ</a:t>
            </a:r>
            <a:r>
              <a:rPr lang="en-US" altLang="zh-CN" sz="2400" b="1" dirty="0"/>
              <a:t>F</a:t>
            </a:r>
            <a:r>
              <a:rPr lang="zh-CN" altLang="en-US" sz="2400" b="1" dirty="0"/>
              <a:t>的滤波电容，以提高参考电压的稳定性。 </a:t>
            </a:r>
            <a:endParaRPr lang="zh-CN" altLang="en-US" sz="2400" b="1" dirty="0"/>
          </a:p>
        </p:txBody>
      </p:sp>
    </p:spTree>
  </p:cSld>
  <p:clrMapOvr>
    <a:masterClrMapping/>
  </p:clrMapOvr>
  <p:transition>
    <p:checke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Text Box 4"/>
          <p:cNvSpPr txBox="1"/>
          <p:nvPr/>
        </p:nvSpPr>
        <p:spPr>
          <a:xfrm>
            <a:off x="152400" y="533400"/>
            <a:ext cx="8839200" cy="56515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78000"/>
              </a:lnSpc>
              <a:spcBef>
                <a:spcPct val="50000"/>
              </a:spcBef>
              <a:buNone/>
            </a:pPr>
            <a:r>
              <a:rPr lang="en-US" altLang="zh-CN" sz="2400" dirty="0"/>
              <a:t>        </a:t>
            </a:r>
            <a:r>
              <a:rPr lang="en-US" altLang="zh-CN" sz="2400" b="1" dirty="0"/>
              <a:t>u</a:t>
            </a:r>
            <a:r>
              <a:rPr lang="en-US" altLang="zh-CN" sz="2400" b="1" baseline="-25000" dirty="0"/>
              <a:t>I1</a:t>
            </a:r>
            <a:r>
              <a:rPr lang="zh-CN" altLang="en-US" sz="2400" b="1" dirty="0"/>
              <a:t>和</a:t>
            </a:r>
            <a:r>
              <a:rPr lang="en-US" altLang="zh-CN" sz="2400" b="1" dirty="0"/>
              <a:t>u</a:t>
            </a:r>
            <a:r>
              <a:rPr lang="en-US" altLang="zh-CN" sz="2400" b="1" baseline="-25000" dirty="0"/>
              <a:t>I2</a:t>
            </a:r>
            <a:r>
              <a:rPr lang="zh-CN" altLang="en-US" sz="2400" b="1" dirty="0"/>
              <a:t>分别是阈值电平输入端和触发信号输入端。在电路正常工作时，电路的状态就取决于这两个输入端的电平： </a:t>
            </a:r>
            <a:endParaRPr lang="zh-CN" altLang="en-US" sz="2400" b="1" dirty="0"/>
          </a:p>
          <a:p>
            <a:pPr marL="0" lvl="0" indent="0" eaLnBrk="1" hangingPunct="1">
              <a:lnSpc>
                <a:spcPct val="178000"/>
              </a:lnSpc>
              <a:spcBef>
                <a:spcPct val="50000"/>
              </a:spcBef>
              <a:buNone/>
            </a:pPr>
            <a:r>
              <a:rPr lang="zh-CN" altLang="en-US" sz="2400" b="1" dirty="0"/>
              <a:t>       当</a:t>
            </a:r>
            <a:r>
              <a:rPr lang="en-US" altLang="zh-CN" sz="2400" b="1" dirty="0"/>
              <a:t>u</a:t>
            </a:r>
            <a:r>
              <a:rPr lang="en-US" altLang="zh-CN" sz="2400" b="1" baseline="-25000" dirty="0"/>
              <a:t>I1</a:t>
            </a:r>
            <a:r>
              <a:rPr lang="en-US" altLang="zh-CN" sz="2400" b="1" dirty="0"/>
              <a:t>&gt;U</a:t>
            </a:r>
            <a:r>
              <a:rPr lang="en-US" altLang="zh-CN" sz="2400" b="1" baseline="-25000" dirty="0"/>
              <a:t>R1</a:t>
            </a:r>
            <a:r>
              <a:rPr lang="zh-CN" altLang="en-US" sz="2400" b="1" dirty="0"/>
              <a:t>，</a:t>
            </a:r>
            <a:r>
              <a:rPr lang="en-US" altLang="zh-CN" sz="2400" b="1" dirty="0"/>
              <a:t>u</a:t>
            </a:r>
            <a:r>
              <a:rPr lang="en-US" altLang="zh-CN" sz="2400" b="1" baseline="-25000" dirty="0"/>
              <a:t>I2</a:t>
            </a:r>
            <a:r>
              <a:rPr lang="en-US" altLang="zh-CN" sz="2400" b="1" dirty="0"/>
              <a:t>&gt;U</a:t>
            </a:r>
            <a:r>
              <a:rPr lang="en-US" altLang="zh-CN" sz="2400" b="1" baseline="-25000" dirty="0"/>
              <a:t>R2</a:t>
            </a:r>
            <a:r>
              <a:rPr lang="zh-CN" altLang="en-US" sz="2400" b="1" dirty="0"/>
              <a:t>时，比较器</a:t>
            </a:r>
            <a:r>
              <a:rPr lang="en-US" altLang="zh-CN" sz="2400" b="1" dirty="0"/>
              <a:t>C</a:t>
            </a:r>
            <a:r>
              <a:rPr lang="en-US" altLang="zh-CN" sz="2400" b="1" baseline="-25000" dirty="0"/>
              <a:t>1</a:t>
            </a:r>
            <a:r>
              <a:rPr lang="zh-CN" altLang="en-US" sz="2400" b="1" dirty="0"/>
              <a:t>的输出</a:t>
            </a:r>
            <a:r>
              <a:rPr lang="en-US" altLang="zh-CN" sz="2400" b="1" dirty="0"/>
              <a:t>R= 0</a:t>
            </a:r>
            <a:r>
              <a:rPr lang="zh-CN" altLang="en-US" sz="2400" b="1" dirty="0"/>
              <a:t>，较器</a:t>
            </a:r>
            <a:r>
              <a:rPr lang="en-US" altLang="zh-CN" sz="2400" b="1" dirty="0"/>
              <a:t>C</a:t>
            </a:r>
            <a:r>
              <a:rPr lang="en-US" altLang="zh-CN" sz="2400" b="1" baseline="-25000" dirty="0"/>
              <a:t>2</a:t>
            </a:r>
            <a:r>
              <a:rPr lang="zh-CN" altLang="en-US" sz="2400" b="1" dirty="0"/>
              <a:t>的输出</a:t>
            </a:r>
            <a:r>
              <a:rPr lang="en-US" altLang="zh-CN" sz="2400" b="1" dirty="0"/>
              <a:t>S = 1</a:t>
            </a:r>
            <a:r>
              <a:rPr lang="zh-CN" altLang="en-US" sz="2400" b="1" dirty="0"/>
              <a:t>，基本</a:t>
            </a:r>
            <a:r>
              <a:rPr lang="en-US" altLang="zh-CN" sz="2400" b="1" dirty="0"/>
              <a:t>RS</a:t>
            </a:r>
            <a:r>
              <a:rPr lang="zh-CN" altLang="en-US" sz="2400" b="1" dirty="0"/>
              <a:t>触发器被置</a:t>
            </a:r>
            <a:r>
              <a:rPr lang="en-US" altLang="zh-CN" sz="2400" b="1" dirty="0"/>
              <a:t>0</a:t>
            </a:r>
            <a:r>
              <a:rPr lang="zh-CN" altLang="en-US" sz="2400" b="1" dirty="0"/>
              <a:t>，放电三极管</a:t>
            </a:r>
            <a:r>
              <a:rPr lang="en-US" altLang="zh-CN" sz="2400" b="1" dirty="0"/>
              <a:t>V</a:t>
            </a:r>
            <a:r>
              <a:rPr lang="zh-CN" altLang="en-US" sz="2400" b="1" dirty="0"/>
              <a:t>导通，输出</a:t>
            </a:r>
            <a:r>
              <a:rPr lang="en-US" altLang="zh-CN" sz="2400" b="1" dirty="0"/>
              <a:t>u</a:t>
            </a:r>
            <a:r>
              <a:rPr lang="en-US" altLang="zh-CN" sz="2400" b="1" baseline="-25000" dirty="0"/>
              <a:t>O</a:t>
            </a:r>
            <a:r>
              <a:rPr lang="zh-CN" altLang="en-US" sz="2400" b="1" dirty="0"/>
              <a:t>为低电平； </a:t>
            </a:r>
            <a:endParaRPr lang="zh-CN" altLang="en-US" sz="2400" b="1" dirty="0"/>
          </a:p>
          <a:p>
            <a:pPr marL="0" lvl="0" indent="0" eaLnBrk="1" hangingPunct="1">
              <a:lnSpc>
                <a:spcPct val="178000"/>
              </a:lnSpc>
              <a:spcBef>
                <a:spcPct val="50000"/>
              </a:spcBef>
              <a:buNone/>
            </a:pPr>
            <a:r>
              <a:rPr lang="zh-CN" altLang="en-US" sz="2400" b="1" dirty="0"/>
              <a:t>       当</a:t>
            </a:r>
            <a:r>
              <a:rPr lang="en-US" altLang="zh-CN" sz="2400" b="1" dirty="0"/>
              <a:t>u</a:t>
            </a:r>
            <a:r>
              <a:rPr lang="en-US" altLang="zh-CN" sz="2400" b="1" baseline="-25000" dirty="0"/>
              <a:t>I1</a:t>
            </a:r>
            <a:r>
              <a:rPr lang="en-US" altLang="zh-CN" sz="2400" b="1" dirty="0"/>
              <a:t>&lt;U</a:t>
            </a:r>
            <a:r>
              <a:rPr lang="en-US" altLang="zh-CN" sz="2400" b="1" baseline="-25000" dirty="0"/>
              <a:t>R1</a:t>
            </a:r>
            <a:r>
              <a:rPr lang="zh-CN" altLang="en-US" sz="2400" b="1" dirty="0"/>
              <a:t>，</a:t>
            </a:r>
            <a:r>
              <a:rPr lang="en-US" altLang="zh-CN" sz="2400" b="1" dirty="0"/>
              <a:t>u</a:t>
            </a:r>
            <a:r>
              <a:rPr lang="en-US" altLang="zh-CN" sz="2400" b="1" baseline="-25000" dirty="0"/>
              <a:t>I2</a:t>
            </a:r>
            <a:r>
              <a:rPr lang="en-US" altLang="zh-CN" sz="2400" b="1" dirty="0"/>
              <a:t>&lt;U</a:t>
            </a:r>
            <a:r>
              <a:rPr lang="en-US" altLang="zh-CN" sz="2400" b="1" baseline="-25000" dirty="0"/>
              <a:t>R2</a:t>
            </a:r>
            <a:r>
              <a:rPr lang="zh-CN" altLang="en-US" sz="2400" b="1" dirty="0"/>
              <a:t>时，比较器</a:t>
            </a:r>
            <a:r>
              <a:rPr lang="en-US" altLang="zh-CN" sz="2400" b="1" dirty="0"/>
              <a:t>C</a:t>
            </a:r>
            <a:r>
              <a:rPr lang="en-US" altLang="zh-CN" sz="2400" b="1" baseline="-25000" dirty="0"/>
              <a:t>1</a:t>
            </a:r>
            <a:r>
              <a:rPr lang="zh-CN" altLang="en-US" sz="2400" b="1" dirty="0"/>
              <a:t>的输出</a:t>
            </a:r>
            <a:r>
              <a:rPr lang="en-US" altLang="zh-CN" sz="2400" b="1" dirty="0"/>
              <a:t>R = 1</a:t>
            </a:r>
            <a:r>
              <a:rPr lang="zh-CN" altLang="en-US" sz="2400" b="1" dirty="0"/>
              <a:t>，比较器</a:t>
            </a:r>
            <a:r>
              <a:rPr lang="en-US" altLang="zh-CN" sz="2400" b="1" dirty="0"/>
              <a:t>C</a:t>
            </a:r>
            <a:r>
              <a:rPr lang="en-US" altLang="zh-CN" sz="2400" b="1" baseline="-25000" dirty="0"/>
              <a:t>2</a:t>
            </a:r>
            <a:r>
              <a:rPr lang="zh-CN" altLang="en-US" sz="2400" b="1" dirty="0"/>
              <a:t>的输出</a:t>
            </a:r>
            <a:r>
              <a:rPr lang="en-US" altLang="zh-CN" sz="2400" b="1" dirty="0"/>
              <a:t>S = 0</a:t>
            </a:r>
            <a:r>
              <a:rPr lang="zh-CN" altLang="en-US" sz="2400" b="1" dirty="0"/>
              <a:t>，基本</a:t>
            </a:r>
            <a:r>
              <a:rPr lang="en-US" altLang="zh-CN" sz="2400" b="1" dirty="0"/>
              <a:t>RS</a:t>
            </a:r>
            <a:r>
              <a:rPr lang="zh-CN" altLang="en-US" sz="2400" b="1" dirty="0"/>
              <a:t>触发器被置</a:t>
            </a:r>
            <a:r>
              <a:rPr lang="en-US" altLang="zh-CN" sz="2400" b="1" dirty="0"/>
              <a:t>1</a:t>
            </a:r>
            <a:r>
              <a:rPr lang="zh-CN" altLang="en-US" sz="2400" b="1" dirty="0"/>
              <a:t>，放电三极管</a:t>
            </a:r>
            <a:r>
              <a:rPr lang="en-US" altLang="zh-CN" sz="2400" b="1" dirty="0"/>
              <a:t>V</a:t>
            </a:r>
            <a:r>
              <a:rPr lang="zh-CN" altLang="en-US" sz="2400" b="1" dirty="0"/>
              <a:t>截止，输出</a:t>
            </a:r>
            <a:r>
              <a:rPr lang="en-US" altLang="zh-CN" sz="2400" b="1" dirty="0"/>
              <a:t>u</a:t>
            </a:r>
            <a:r>
              <a:rPr lang="en-US" altLang="zh-CN" sz="2400" b="1" baseline="-25000" dirty="0"/>
              <a:t>O</a:t>
            </a:r>
            <a:r>
              <a:rPr lang="zh-CN" altLang="en-US" sz="2400" b="1" dirty="0"/>
              <a:t>为高电平； </a:t>
            </a:r>
            <a:endParaRPr lang="zh-CN" altLang="en-US" sz="2400" b="1" dirty="0"/>
          </a:p>
        </p:txBody>
      </p:sp>
    </p:spTree>
  </p:cSld>
  <p:clrMapOvr>
    <a:masterClrMapping/>
  </p:clrMapOvr>
  <p:transition>
    <p:checke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2946" name="Group 6"/>
          <p:cNvGrpSpPr/>
          <p:nvPr/>
        </p:nvGrpSpPr>
        <p:grpSpPr>
          <a:xfrm>
            <a:off x="152400" y="762000"/>
            <a:ext cx="8839200" cy="5067300"/>
            <a:chOff x="96" y="480"/>
            <a:chExt cx="5568" cy="3192"/>
          </a:xfrm>
        </p:grpSpPr>
        <p:sp>
          <p:nvSpPr>
            <p:cNvPr id="82947" name="Text Box 4"/>
            <p:cNvSpPr txBox="1"/>
            <p:nvPr/>
          </p:nvSpPr>
          <p:spPr>
            <a:xfrm>
              <a:off x="96" y="480"/>
              <a:ext cx="5568" cy="3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8000"/>
                </a:lnSpc>
                <a:spcBef>
                  <a:spcPct val="50000"/>
                </a:spcBef>
                <a:buNone/>
              </a:pPr>
              <a:r>
                <a:rPr lang="en-US" altLang="zh-CN" sz="2400" dirty="0"/>
                <a:t>        </a:t>
              </a:r>
              <a:r>
                <a:rPr lang="zh-CN" altLang="en-US" sz="2400" b="1" dirty="0"/>
                <a:t>当</a:t>
              </a:r>
              <a:r>
                <a:rPr lang="en-US" altLang="zh-CN" sz="2400" b="1" dirty="0"/>
                <a:t>u</a:t>
              </a:r>
              <a:r>
                <a:rPr lang="en-US" altLang="zh-CN" sz="2400" b="1" baseline="-25000" dirty="0"/>
                <a:t>I1</a:t>
              </a:r>
              <a:r>
                <a:rPr lang="en-US" altLang="zh-CN" sz="2400" b="1" dirty="0"/>
                <a:t>&gt;U</a:t>
              </a:r>
              <a:r>
                <a:rPr lang="en-US" altLang="zh-CN" sz="2400" b="1" baseline="-25000" dirty="0"/>
                <a:t>R1</a:t>
              </a:r>
              <a:r>
                <a:rPr lang="zh-CN" altLang="en-US" sz="2400" b="1" dirty="0"/>
                <a:t>，</a:t>
              </a:r>
              <a:r>
                <a:rPr lang="en-US" altLang="zh-CN" sz="2400" b="1" dirty="0"/>
                <a:t>u</a:t>
              </a:r>
              <a:r>
                <a:rPr lang="en-US" altLang="zh-CN" sz="2400" b="1" baseline="-25000" dirty="0"/>
                <a:t>I2</a:t>
              </a:r>
              <a:r>
                <a:rPr lang="en-US" altLang="zh-CN" sz="2400" b="1" dirty="0"/>
                <a:t>&lt;U</a:t>
              </a:r>
              <a:r>
                <a:rPr lang="en-US" altLang="zh-CN" sz="2400" b="1" baseline="-25000" dirty="0"/>
                <a:t>R2</a:t>
              </a:r>
              <a:r>
                <a:rPr lang="zh-CN" altLang="en-US" sz="2400" b="1" dirty="0"/>
                <a:t>时，比较器</a:t>
              </a:r>
              <a:r>
                <a:rPr lang="en-US" altLang="zh-CN" sz="2400" b="1" dirty="0"/>
                <a:t>C</a:t>
              </a:r>
              <a:r>
                <a:rPr lang="en-US" altLang="zh-CN" sz="2400" b="1" baseline="-25000" dirty="0"/>
                <a:t>1</a:t>
              </a:r>
              <a:r>
                <a:rPr lang="zh-CN" altLang="en-US" sz="2400" b="1" dirty="0"/>
                <a:t>的输出</a:t>
              </a:r>
              <a:r>
                <a:rPr lang="en-US" altLang="zh-CN" sz="2400" b="1" dirty="0"/>
                <a:t>R = 0</a:t>
              </a:r>
              <a:r>
                <a:rPr lang="zh-CN" altLang="en-US" sz="2400" b="1" dirty="0"/>
                <a:t>，比较器</a:t>
              </a:r>
              <a:r>
                <a:rPr lang="en-US" altLang="zh-CN" sz="2400" b="1" dirty="0"/>
                <a:t>C</a:t>
              </a:r>
              <a:r>
                <a:rPr lang="en-US" altLang="zh-CN" sz="2400" b="1" baseline="-25000" dirty="0"/>
                <a:t>2</a:t>
              </a:r>
              <a:r>
                <a:rPr lang="zh-CN" altLang="en-US" sz="2400" b="1" dirty="0"/>
                <a:t>的输出</a:t>
              </a:r>
              <a:r>
                <a:rPr lang="en-US" altLang="zh-CN" sz="2400" b="1" dirty="0"/>
                <a:t>S = 0</a:t>
              </a:r>
              <a:r>
                <a:rPr lang="zh-CN" altLang="en-US" sz="2400" b="1" dirty="0"/>
                <a:t>，基本</a:t>
              </a:r>
              <a:r>
                <a:rPr lang="en-US" altLang="zh-CN" sz="2400" b="1" dirty="0"/>
                <a:t>RS</a:t>
              </a:r>
              <a:r>
                <a:rPr lang="zh-CN" altLang="en-US" sz="2400" b="1" dirty="0"/>
                <a:t>触发器的</a:t>
              </a:r>
              <a:r>
                <a:rPr lang="en-US" altLang="zh-CN" sz="2400" b="1" dirty="0"/>
                <a:t>Q = Q = 1</a:t>
              </a:r>
              <a:r>
                <a:rPr lang="zh-CN" altLang="en-US" sz="2400" b="1" dirty="0"/>
                <a:t>，放电三极管</a:t>
              </a:r>
              <a:r>
                <a:rPr lang="en-US" altLang="zh-CN" sz="2400" b="1" dirty="0"/>
                <a:t>V</a:t>
              </a:r>
              <a:r>
                <a:rPr lang="zh-CN" altLang="en-US" sz="2400" b="1" dirty="0"/>
                <a:t>截止，输出</a:t>
              </a:r>
              <a:r>
                <a:rPr lang="en-US" altLang="zh-CN" sz="2400" b="1" dirty="0"/>
                <a:t>u</a:t>
              </a:r>
              <a:r>
                <a:rPr lang="en-US" altLang="zh-CN" sz="2400" b="1" baseline="-25000" dirty="0"/>
                <a:t>O</a:t>
              </a:r>
              <a:r>
                <a:rPr lang="zh-CN" altLang="en-US" sz="2400" b="1" dirty="0"/>
                <a:t>为高电平； </a:t>
              </a:r>
              <a:endParaRPr lang="zh-CN" altLang="en-US" sz="2400" b="1" dirty="0"/>
            </a:p>
            <a:p>
              <a:pPr marL="0" lvl="0" indent="0" eaLnBrk="1" hangingPunct="1">
                <a:lnSpc>
                  <a:spcPct val="158000"/>
                </a:lnSpc>
                <a:spcBef>
                  <a:spcPct val="50000"/>
                </a:spcBef>
                <a:buNone/>
              </a:pPr>
              <a:r>
                <a:rPr lang="zh-CN" altLang="en-US" sz="2400" b="1" dirty="0"/>
                <a:t>        当</a:t>
              </a:r>
              <a:r>
                <a:rPr lang="en-US" altLang="zh-CN" sz="2400" b="1" dirty="0"/>
                <a:t>u</a:t>
              </a:r>
              <a:r>
                <a:rPr lang="en-US" altLang="zh-CN" sz="2400" b="1" baseline="-25000" dirty="0"/>
                <a:t>I1</a:t>
              </a:r>
              <a:r>
                <a:rPr lang="en-US" altLang="zh-CN" sz="2400" b="1" dirty="0"/>
                <a:t>&lt;U</a:t>
              </a:r>
              <a:r>
                <a:rPr lang="en-US" altLang="zh-CN" sz="2400" b="1" baseline="-25000" dirty="0"/>
                <a:t>R1</a:t>
              </a:r>
              <a:r>
                <a:rPr lang="zh-CN" altLang="en-US" sz="2400" b="1" dirty="0"/>
                <a:t>，</a:t>
              </a:r>
              <a:r>
                <a:rPr lang="en-US" altLang="zh-CN" sz="2400" b="1" dirty="0"/>
                <a:t>u</a:t>
              </a:r>
              <a:r>
                <a:rPr lang="en-US" altLang="zh-CN" sz="2400" b="1" baseline="-25000" dirty="0"/>
                <a:t>I2</a:t>
              </a:r>
              <a:r>
                <a:rPr lang="en-US" altLang="zh-CN" sz="2400" b="1" dirty="0"/>
                <a:t>&gt;u</a:t>
              </a:r>
              <a:r>
                <a:rPr lang="en-US" altLang="zh-CN" sz="2400" b="1" baseline="-25000" dirty="0"/>
                <a:t>R2</a:t>
              </a:r>
              <a:r>
                <a:rPr lang="zh-CN" altLang="en-US" sz="2400" b="1" dirty="0"/>
                <a:t>时，比较器</a:t>
              </a:r>
              <a:r>
                <a:rPr lang="en-US" altLang="zh-CN" sz="2400" b="1" dirty="0"/>
                <a:t>C</a:t>
              </a:r>
              <a:r>
                <a:rPr lang="en-US" altLang="zh-CN" sz="2400" b="1" baseline="-25000" dirty="0"/>
                <a:t>1</a:t>
              </a:r>
              <a:r>
                <a:rPr lang="zh-CN" altLang="en-US" sz="2400" b="1" dirty="0"/>
                <a:t>的输出</a:t>
              </a:r>
              <a:r>
                <a:rPr lang="en-US" altLang="zh-CN" sz="2400" b="1" dirty="0"/>
                <a:t>R</a:t>
              </a:r>
              <a:r>
                <a:rPr lang="zh-CN" altLang="en-US" sz="2400" b="1" dirty="0"/>
                <a:t>为高电平，比较器</a:t>
              </a:r>
              <a:r>
                <a:rPr lang="en-US" altLang="zh-CN" sz="2400" b="1" dirty="0"/>
                <a:t>C</a:t>
              </a:r>
              <a:r>
                <a:rPr lang="en-US" altLang="zh-CN" sz="2400" b="1" baseline="-25000" dirty="0"/>
                <a:t>2</a:t>
              </a:r>
              <a:r>
                <a:rPr lang="zh-CN" altLang="en-US" sz="2400" b="1" dirty="0"/>
                <a:t>的输出</a:t>
              </a:r>
              <a:r>
                <a:rPr lang="en-US" altLang="zh-CN" sz="2400" b="1" dirty="0"/>
                <a:t>S</a:t>
              </a:r>
              <a:r>
                <a:rPr lang="zh-CN" altLang="en-US" sz="2400" b="1" dirty="0"/>
                <a:t>为高电平，基本</a:t>
              </a:r>
              <a:r>
                <a:rPr lang="en-US" altLang="zh-CN" sz="2400" b="1" dirty="0"/>
                <a:t>RS</a:t>
              </a:r>
              <a:r>
                <a:rPr lang="zh-CN" altLang="en-US" sz="2400" b="1" dirty="0"/>
                <a:t>触发器的状态保持不变， 放电三极管</a:t>
              </a:r>
              <a:r>
                <a:rPr lang="en-US" altLang="zh-CN" sz="2400" b="1" dirty="0"/>
                <a:t>V</a:t>
              </a:r>
              <a:r>
                <a:rPr lang="zh-CN" altLang="en-US" sz="2400" b="1" dirty="0"/>
                <a:t>的状态和输出也保持不变。 </a:t>
              </a:r>
              <a:endParaRPr lang="zh-CN" altLang="en-US" sz="2400" b="1" dirty="0"/>
            </a:p>
            <a:p>
              <a:pPr marL="0" lvl="0" indent="0" eaLnBrk="1" hangingPunct="1">
                <a:lnSpc>
                  <a:spcPct val="158000"/>
                </a:lnSpc>
                <a:spcBef>
                  <a:spcPct val="50000"/>
                </a:spcBef>
                <a:buNone/>
              </a:pPr>
              <a:r>
                <a:rPr lang="zh-CN" altLang="en-US" sz="2400" b="1" dirty="0"/>
                <a:t>        根据以上的分析，我们可以得到</a:t>
              </a:r>
              <a:r>
                <a:rPr lang="en-US" altLang="zh-CN" sz="2400" b="1" dirty="0"/>
                <a:t>555</a:t>
              </a:r>
              <a:r>
                <a:rPr lang="zh-CN" altLang="en-US" sz="2400" b="1" dirty="0"/>
                <a:t>定时器的功能表如表</a:t>
              </a:r>
              <a:r>
                <a:rPr lang="en-US" altLang="zh-CN" sz="2400" b="1" dirty="0"/>
                <a:t>7-2</a:t>
              </a:r>
              <a:r>
                <a:rPr lang="zh-CN" altLang="en-US" sz="2400" b="1" dirty="0"/>
                <a:t>所示。 </a:t>
              </a:r>
              <a:endParaRPr lang="zh-CN" altLang="en-US" sz="2400" b="1" dirty="0"/>
            </a:p>
          </p:txBody>
        </p:sp>
        <p:sp>
          <p:nvSpPr>
            <p:cNvPr id="82948" name="Line 5"/>
            <p:cNvSpPr/>
            <p:nvPr/>
          </p:nvSpPr>
          <p:spPr>
            <a:xfrm>
              <a:off x="2864" y="1008"/>
              <a:ext cx="144" cy="0"/>
            </a:xfrm>
            <a:prstGeom prst="line">
              <a:avLst/>
            </a:prstGeom>
            <a:ln w="9525" cap="flat" cmpd="sng">
              <a:solidFill>
                <a:schemeClr val="tx1"/>
              </a:solidFill>
              <a:prstDash val="solid"/>
              <a:headEnd type="none" w="med" len="med"/>
              <a:tailEnd type="none" w="med" len="med"/>
            </a:ln>
          </p:spPr>
        </p:sp>
      </p:grpSp>
    </p:spTree>
  </p:cSld>
  <p:clrMapOvr>
    <a:masterClrMapping/>
  </p:clrMapOvr>
  <p:transition>
    <p:checke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Text Box 4"/>
          <p:cNvSpPr txBox="1"/>
          <p:nvPr/>
        </p:nvSpPr>
        <p:spPr>
          <a:xfrm>
            <a:off x="2586038" y="609600"/>
            <a:ext cx="3943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表</a:t>
            </a:r>
            <a:r>
              <a:rPr lang="en-US" altLang="zh-CN" sz="2400" b="1" dirty="0"/>
              <a:t>7-2  555</a:t>
            </a:r>
            <a:r>
              <a:rPr lang="zh-CN" altLang="en-US" sz="2400" b="1" dirty="0"/>
              <a:t>定时器的功能表</a:t>
            </a:r>
            <a:endParaRPr lang="zh-CN" altLang="en-US" sz="2400" b="1" dirty="0"/>
          </a:p>
        </p:txBody>
      </p:sp>
      <p:sp>
        <p:nvSpPr>
          <p:cNvPr id="83971" name="Text Box 5"/>
          <p:cNvSpPr txBox="1"/>
          <p:nvPr/>
        </p:nvSpPr>
        <p:spPr>
          <a:xfrm>
            <a:off x="228600" y="4418013"/>
            <a:ext cx="8763000" cy="16017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38000"/>
              </a:lnSpc>
              <a:spcBef>
                <a:spcPct val="50000"/>
              </a:spcBef>
              <a:buNone/>
            </a:pPr>
            <a:r>
              <a:rPr lang="en-US" altLang="zh-CN" sz="2400" dirty="0"/>
              <a:t>        </a:t>
            </a:r>
            <a:r>
              <a:rPr lang="zh-CN" altLang="en-US" sz="2400" b="1" dirty="0"/>
              <a:t>另外，根据上表可知，如果将放电端</a:t>
            </a:r>
            <a:r>
              <a:rPr lang="en-US" altLang="zh-CN" sz="2400" b="1" dirty="0"/>
              <a:t>u</a:t>
            </a:r>
            <a:r>
              <a:rPr lang="en-US" altLang="zh-CN" sz="2400" b="1" baseline="-25000" dirty="0"/>
              <a:t>O</a:t>
            </a:r>
            <a:r>
              <a:rPr lang="en-US" altLang="zh-CN" sz="2400" b="1" dirty="0"/>
              <a:t>′</a:t>
            </a:r>
            <a:r>
              <a:rPr lang="zh-CN" altLang="en-US" sz="2400" b="1" dirty="0"/>
              <a:t>经一个电阻接到电源上，那么只要这个电阻足够大，</a:t>
            </a:r>
            <a:r>
              <a:rPr lang="en-US" altLang="zh-CN" sz="2400" b="1" dirty="0"/>
              <a:t>u</a:t>
            </a:r>
            <a:r>
              <a:rPr lang="en-US" altLang="zh-CN" sz="2400" b="1" baseline="-25000" dirty="0"/>
              <a:t>O</a:t>
            </a:r>
            <a:r>
              <a:rPr lang="zh-CN" altLang="en-US" sz="2400" b="1" dirty="0"/>
              <a:t>为高电平时</a:t>
            </a:r>
            <a:r>
              <a:rPr lang="en-US" altLang="zh-CN" sz="2400" b="1" dirty="0"/>
              <a:t>u</a:t>
            </a:r>
            <a:r>
              <a:rPr lang="en-US" altLang="zh-CN" sz="2400" b="1" baseline="-25000" dirty="0"/>
              <a:t>O</a:t>
            </a:r>
            <a:r>
              <a:rPr lang="en-US" altLang="zh-CN" sz="2400" b="1" dirty="0"/>
              <a:t>′</a:t>
            </a:r>
            <a:r>
              <a:rPr lang="zh-CN" altLang="en-US" sz="2400" b="1" dirty="0"/>
              <a:t>也为高电平，</a:t>
            </a:r>
            <a:r>
              <a:rPr lang="en-US" altLang="zh-CN" sz="2400" b="1" dirty="0"/>
              <a:t>u</a:t>
            </a:r>
            <a:r>
              <a:rPr lang="en-US" altLang="zh-CN" sz="2400" b="1" baseline="-25000" dirty="0"/>
              <a:t>O</a:t>
            </a:r>
            <a:r>
              <a:rPr lang="zh-CN" altLang="en-US" sz="2400" b="1" dirty="0"/>
              <a:t>为低电平时</a:t>
            </a:r>
            <a:r>
              <a:rPr lang="en-US" altLang="zh-CN" sz="2400" b="1" dirty="0"/>
              <a:t>u</a:t>
            </a:r>
            <a:r>
              <a:rPr lang="en-US" altLang="zh-CN" sz="2400" b="1" baseline="-25000" dirty="0"/>
              <a:t>O</a:t>
            </a:r>
            <a:r>
              <a:rPr lang="en-US" altLang="zh-CN" sz="2400" b="1" dirty="0"/>
              <a:t>′</a:t>
            </a:r>
            <a:r>
              <a:rPr lang="zh-CN" altLang="en-US" sz="2400" b="1" dirty="0"/>
              <a:t>也一定为低电平。 </a:t>
            </a:r>
            <a:endParaRPr lang="zh-CN" altLang="en-US" sz="2400" b="1" dirty="0"/>
          </a:p>
        </p:txBody>
      </p:sp>
      <p:pic>
        <p:nvPicPr>
          <p:cNvPr id="83972" name="Picture 6" descr="Img00064"/>
          <p:cNvPicPr>
            <a:picLocks noChangeAspect="1"/>
          </p:cNvPicPr>
          <p:nvPr/>
        </p:nvPicPr>
        <p:blipFill>
          <a:blip r:embed="rId1"/>
          <a:stretch>
            <a:fillRect/>
          </a:stretch>
        </p:blipFill>
        <p:spPr>
          <a:xfrm>
            <a:off x="1447800" y="1143000"/>
            <a:ext cx="5867400" cy="3349625"/>
          </a:xfrm>
          <a:prstGeom prst="rect">
            <a:avLst/>
          </a:prstGeom>
          <a:noFill/>
          <a:ln w="9525">
            <a:noFill/>
          </a:ln>
        </p:spPr>
      </p:pic>
    </p:spTree>
  </p:cSld>
  <p:clrMapOvr>
    <a:masterClrMapping/>
  </p:clrMapOvr>
  <p:transition>
    <p:checke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Text Box 4"/>
          <p:cNvSpPr txBox="1"/>
          <p:nvPr/>
        </p:nvSpPr>
        <p:spPr>
          <a:xfrm>
            <a:off x="228600" y="609600"/>
            <a:ext cx="4756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dirty="0"/>
              <a:t>7.4.2  555</a:t>
            </a:r>
            <a:r>
              <a:rPr lang="zh-CN" altLang="en-US" sz="2400" b="1" dirty="0"/>
              <a:t>定时器构成的多谐振荡器</a:t>
            </a:r>
            <a:endParaRPr lang="zh-CN" altLang="en-US" sz="2400" b="1" dirty="0"/>
          </a:p>
        </p:txBody>
      </p:sp>
      <p:sp>
        <p:nvSpPr>
          <p:cNvPr id="84995" name="Text Box 5"/>
          <p:cNvSpPr txBox="1"/>
          <p:nvPr/>
        </p:nvSpPr>
        <p:spPr>
          <a:xfrm>
            <a:off x="1981200" y="5410200"/>
            <a:ext cx="5619750"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400" b="1" dirty="0"/>
              <a:t>图 </a:t>
            </a:r>
            <a:r>
              <a:rPr lang="en-US" altLang="zh-CN" sz="2400" b="1" dirty="0"/>
              <a:t>7-30 </a:t>
            </a:r>
            <a:r>
              <a:rPr lang="zh-CN" altLang="en-US" sz="2400" b="1" dirty="0"/>
              <a:t>用</a:t>
            </a:r>
            <a:r>
              <a:rPr lang="en-US" altLang="zh-CN" sz="2400" b="1" dirty="0"/>
              <a:t>555</a:t>
            </a:r>
            <a:r>
              <a:rPr lang="zh-CN" altLang="en-US" sz="2400" b="1" dirty="0"/>
              <a:t>定时器构成的多谐振荡器</a:t>
            </a:r>
            <a:endParaRPr lang="zh-CN" altLang="en-US" sz="2400" b="1" dirty="0"/>
          </a:p>
          <a:p>
            <a:pPr marL="0" lvl="0" indent="0" algn="ctr" eaLnBrk="1" hangingPunct="1">
              <a:spcBef>
                <a:spcPct val="0"/>
              </a:spcBef>
              <a:buNone/>
            </a:pPr>
            <a:r>
              <a:rPr lang="en-US" altLang="zh-CN" sz="2400" b="1" dirty="0"/>
              <a:t>(a) </a:t>
            </a:r>
            <a:r>
              <a:rPr lang="zh-CN" altLang="en-US" sz="2400" b="1" dirty="0"/>
              <a:t>电路图； </a:t>
            </a:r>
            <a:r>
              <a:rPr lang="en-US" altLang="zh-CN" sz="2400" b="1" dirty="0"/>
              <a:t>(b) </a:t>
            </a:r>
            <a:r>
              <a:rPr lang="zh-CN" altLang="en-US" sz="2400" b="1" dirty="0"/>
              <a:t>波形图</a:t>
            </a:r>
            <a:endParaRPr lang="zh-CN" altLang="en-US" sz="2400" b="1" dirty="0"/>
          </a:p>
        </p:txBody>
      </p:sp>
      <p:graphicFrame>
        <p:nvGraphicFramePr>
          <p:cNvPr id="84996" name="Object 6"/>
          <p:cNvGraphicFramePr>
            <a:graphicFrameLocks noChangeAspect="1"/>
          </p:cNvGraphicFramePr>
          <p:nvPr/>
        </p:nvGraphicFramePr>
        <p:xfrm>
          <a:off x="0" y="1292225"/>
          <a:ext cx="9144000" cy="4271963"/>
        </p:xfrm>
        <a:graphic>
          <a:graphicData uri="http://schemas.openxmlformats.org/presentationml/2006/ole">
            <mc:AlternateContent xmlns:mc="http://schemas.openxmlformats.org/markup-compatibility/2006">
              <mc:Choice xmlns:v="urn:schemas-microsoft-com:vml" Requires="v">
                <p:oleObj spid="_x0000_s3132" name="" r:id="rId1" imgW="4152900" imgH="1943100" progId="Visio.Drawing.4">
                  <p:embed/>
                </p:oleObj>
              </mc:Choice>
              <mc:Fallback>
                <p:oleObj name="" r:id="rId1" imgW="4152900" imgH="1943100" progId="Visio.Drawing.4">
                  <p:embed/>
                  <p:pic>
                    <p:nvPicPr>
                      <p:cNvPr id="0" name="图片 3131"/>
                      <p:cNvPicPr/>
                      <p:nvPr/>
                    </p:nvPicPr>
                    <p:blipFill>
                      <a:blip r:embed="rId2"/>
                      <a:stretch>
                        <a:fillRect/>
                      </a:stretch>
                    </p:blipFill>
                    <p:spPr>
                      <a:xfrm>
                        <a:off x="0" y="1292225"/>
                        <a:ext cx="9144000" cy="4271963"/>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Text Box 4"/>
          <p:cNvSpPr txBox="1"/>
          <p:nvPr/>
        </p:nvSpPr>
        <p:spPr>
          <a:xfrm>
            <a:off x="152400" y="533400"/>
            <a:ext cx="8763000" cy="60372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8000"/>
              </a:lnSpc>
              <a:spcBef>
                <a:spcPct val="50000"/>
              </a:spcBef>
              <a:buNone/>
            </a:pPr>
            <a:r>
              <a:rPr lang="en-US" altLang="zh-CN" sz="2400" dirty="0"/>
              <a:t>         </a:t>
            </a:r>
            <a:r>
              <a:rPr lang="zh-CN" altLang="en-US" sz="2400" b="1" dirty="0"/>
              <a:t>根据图</a:t>
            </a:r>
            <a:r>
              <a:rPr lang="en-US" altLang="zh-CN" sz="2400" b="1" dirty="0"/>
              <a:t>7-30</a:t>
            </a:r>
            <a:r>
              <a:rPr lang="zh-CN" altLang="en-US" sz="2400" b="1" dirty="0"/>
              <a:t>（</a:t>
            </a:r>
            <a:r>
              <a:rPr lang="en-US" altLang="zh-CN" sz="2400" b="1" dirty="0"/>
              <a:t>a</a:t>
            </a:r>
            <a:r>
              <a:rPr lang="zh-CN" altLang="en-US" sz="2400" b="1" dirty="0"/>
              <a:t>）所示电路，参考电压</a:t>
            </a:r>
            <a:r>
              <a:rPr lang="en-US" altLang="zh-CN" sz="2400" b="1" dirty="0"/>
              <a:t>U</a:t>
            </a:r>
            <a:r>
              <a:rPr lang="en-US" altLang="zh-CN" sz="2400" b="1" baseline="-25000" dirty="0"/>
              <a:t>R1</a:t>
            </a:r>
            <a:r>
              <a:rPr lang="en-US" altLang="zh-CN" sz="2400" b="1" dirty="0"/>
              <a:t>=(2/3)U</a:t>
            </a:r>
            <a:r>
              <a:rPr lang="en-US" altLang="zh-CN" sz="2400" b="1" baseline="-25000" dirty="0"/>
              <a:t>CC</a:t>
            </a:r>
            <a:r>
              <a:rPr lang="zh-CN" altLang="en-US" sz="2400" b="1" dirty="0"/>
              <a:t>，</a:t>
            </a:r>
            <a:r>
              <a:rPr lang="en-US" altLang="zh-CN" sz="2400" b="1" dirty="0"/>
              <a:t>U</a:t>
            </a:r>
            <a:r>
              <a:rPr lang="en-US" altLang="zh-CN" sz="2400" b="1" baseline="-25000" dirty="0"/>
              <a:t>R2=</a:t>
            </a:r>
            <a:r>
              <a:rPr lang="en-US" altLang="zh-CN" sz="2400" b="1" dirty="0"/>
              <a:t>=(1/3)U</a:t>
            </a:r>
            <a:r>
              <a:rPr lang="en-US" altLang="zh-CN" sz="2400" b="1" baseline="-25000" dirty="0"/>
              <a:t>CC</a:t>
            </a:r>
            <a:r>
              <a:rPr lang="zh-CN" altLang="en-US" sz="2400" b="1" dirty="0"/>
              <a:t>。 </a:t>
            </a:r>
            <a:endParaRPr lang="zh-CN" altLang="en-US" sz="2400" b="1" dirty="0"/>
          </a:p>
          <a:p>
            <a:pPr marL="0" lvl="0" indent="0" eaLnBrk="1" hangingPunct="1">
              <a:lnSpc>
                <a:spcPct val="158000"/>
              </a:lnSpc>
              <a:spcBef>
                <a:spcPct val="50000"/>
              </a:spcBef>
              <a:buNone/>
            </a:pPr>
            <a:r>
              <a:rPr lang="zh-CN" altLang="en-US" sz="2400" b="1" dirty="0"/>
              <a:t>         电源接通后，开始通过电阻</a:t>
            </a:r>
            <a:r>
              <a:rPr lang="en-US" altLang="zh-CN" sz="2400" b="1" dirty="0"/>
              <a:t>R</a:t>
            </a:r>
            <a:r>
              <a:rPr lang="en-US" altLang="zh-CN" sz="2400" b="1" baseline="-25000" dirty="0"/>
              <a:t>1</a:t>
            </a:r>
            <a:r>
              <a:rPr lang="zh-CN" altLang="en-US" sz="2400" b="1" dirty="0"/>
              <a:t>和</a:t>
            </a:r>
            <a:r>
              <a:rPr lang="en-US" altLang="zh-CN" sz="2400" b="1" dirty="0"/>
              <a:t>R</a:t>
            </a:r>
            <a:r>
              <a:rPr lang="en-US" altLang="zh-CN" sz="2400" b="1" baseline="-25000" dirty="0"/>
              <a:t>2</a:t>
            </a:r>
            <a:r>
              <a:rPr lang="zh-CN" altLang="en-US" sz="2400" b="1" dirty="0"/>
              <a:t>对电容</a:t>
            </a:r>
            <a:r>
              <a:rPr lang="en-US" altLang="zh-CN" sz="2400" b="1" dirty="0"/>
              <a:t>C</a:t>
            </a:r>
            <a:r>
              <a:rPr lang="zh-CN" altLang="en-US" sz="2400" b="1" dirty="0"/>
              <a:t>进行充电，使</a:t>
            </a:r>
            <a:r>
              <a:rPr lang="en-US" altLang="zh-CN" sz="2400" b="1" dirty="0"/>
              <a:t>u</a:t>
            </a:r>
            <a:r>
              <a:rPr lang="en-US" altLang="zh-CN" sz="2400" b="1" baseline="-25000" dirty="0"/>
              <a:t>C</a:t>
            </a:r>
            <a:r>
              <a:rPr lang="zh-CN" altLang="en-US" sz="2400" b="1" dirty="0"/>
              <a:t>的电压逐渐升高，此时满足</a:t>
            </a:r>
            <a:r>
              <a:rPr lang="en-US" altLang="zh-CN" sz="2400" b="1" dirty="0"/>
              <a:t>u</a:t>
            </a:r>
            <a:r>
              <a:rPr lang="en-US" altLang="zh-CN" sz="2400" b="1" baseline="-25000" dirty="0"/>
              <a:t>I1</a:t>
            </a:r>
            <a:r>
              <a:rPr lang="en-US" altLang="zh-CN" sz="2400" b="1" dirty="0"/>
              <a:t>&lt;U</a:t>
            </a:r>
            <a:r>
              <a:rPr lang="en-US" altLang="zh-CN" sz="2400" b="1" baseline="-25000" dirty="0"/>
              <a:t>R1</a:t>
            </a:r>
            <a:r>
              <a:rPr lang="zh-CN" altLang="en-US" sz="2400" b="1" dirty="0"/>
              <a:t>、</a:t>
            </a:r>
            <a:r>
              <a:rPr lang="en-US" altLang="zh-CN" sz="2400" b="1" dirty="0"/>
              <a:t>u</a:t>
            </a:r>
            <a:r>
              <a:rPr lang="en-US" altLang="zh-CN" sz="2400" b="1" baseline="-25000" dirty="0"/>
              <a:t>I2</a:t>
            </a:r>
            <a:r>
              <a:rPr lang="en-US" altLang="zh-CN" sz="2400" b="1" dirty="0"/>
              <a:t>&lt;U</a:t>
            </a:r>
            <a:r>
              <a:rPr lang="en-US" altLang="zh-CN" sz="2400" b="1" baseline="-25000" dirty="0"/>
              <a:t>R2</a:t>
            </a:r>
            <a:r>
              <a:rPr lang="zh-CN" altLang="en-US" sz="2400" b="1" dirty="0"/>
              <a:t>，所以电路输出</a:t>
            </a:r>
            <a:r>
              <a:rPr lang="en-US" altLang="zh-CN" sz="2400" b="1" dirty="0"/>
              <a:t>u</a:t>
            </a:r>
            <a:r>
              <a:rPr lang="en-US" altLang="zh-CN" sz="2400" b="1" baseline="-25000" dirty="0"/>
              <a:t>O</a:t>
            </a:r>
            <a:r>
              <a:rPr lang="zh-CN" altLang="en-US" sz="2400" b="1" dirty="0"/>
              <a:t>为高电平，晶体管</a:t>
            </a:r>
            <a:r>
              <a:rPr lang="en-US" altLang="zh-CN" sz="2400" b="1" dirty="0"/>
              <a:t>V</a:t>
            </a:r>
            <a:r>
              <a:rPr lang="zh-CN" altLang="en-US" sz="2400" b="1" dirty="0"/>
              <a:t>截止；当</a:t>
            </a:r>
            <a:r>
              <a:rPr lang="en-US" altLang="zh-CN" sz="2400" b="1" dirty="0"/>
              <a:t>(2/3)U</a:t>
            </a:r>
            <a:r>
              <a:rPr lang="en-US" altLang="zh-CN" sz="2400" b="1" baseline="-25000" dirty="0"/>
              <a:t>CC</a:t>
            </a:r>
            <a:r>
              <a:rPr lang="en-US" altLang="zh-CN" sz="2400" b="1" dirty="0"/>
              <a:t>/3&gt;u</a:t>
            </a:r>
            <a:r>
              <a:rPr lang="en-US" altLang="zh-CN" sz="2400" b="1" baseline="-25000" dirty="0"/>
              <a:t>C</a:t>
            </a:r>
            <a:r>
              <a:rPr lang="en-US" altLang="zh-CN" sz="2400" b="1" dirty="0"/>
              <a:t>&gt;U</a:t>
            </a:r>
            <a:r>
              <a:rPr lang="en-US" altLang="zh-CN" sz="2400" b="1" baseline="-25000" dirty="0"/>
              <a:t>CC</a:t>
            </a:r>
            <a:r>
              <a:rPr lang="zh-CN" altLang="en-US" sz="2400" b="1" dirty="0"/>
              <a:t>时，满足</a:t>
            </a:r>
            <a:r>
              <a:rPr lang="en-US" altLang="zh-CN" sz="2400" b="1" dirty="0"/>
              <a:t>u</a:t>
            </a:r>
            <a:r>
              <a:rPr lang="en-US" altLang="zh-CN" sz="2400" b="1" baseline="-25000" dirty="0"/>
              <a:t>I1</a:t>
            </a:r>
            <a:r>
              <a:rPr lang="en-US" altLang="zh-CN" sz="2400" b="1" dirty="0"/>
              <a:t>&lt;U</a:t>
            </a:r>
            <a:r>
              <a:rPr lang="en-US" altLang="zh-CN" sz="2400" b="1" baseline="-25000" dirty="0"/>
              <a:t>R1</a:t>
            </a:r>
            <a:r>
              <a:rPr lang="zh-CN" altLang="en-US" sz="2400" b="1" dirty="0"/>
              <a:t>、 </a:t>
            </a:r>
            <a:r>
              <a:rPr lang="en-US" altLang="zh-CN" sz="2400" b="1" dirty="0"/>
              <a:t>u</a:t>
            </a:r>
            <a:r>
              <a:rPr lang="en-US" altLang="zh-CN" sz="2400" b="1" baseline="-25000" dirty="0"/>
              <a:t>I2</a:t>
            </a:r>
            <a:r>
              <a:rPr lang="en-US" altLang="zh-CN" sz="2400" b="1" dirty="0"/>
              <a:t>&gt;U</a:t>
            </a:r>
            <a:r>
              <a:rPr lang="en-US" altLang="zh-CN" sz="2400" b="1" baseline="-25000" dirty="0"/>
              <a:t>R2</a:t>
            </a:r>
            <a:r>
              <a:rPr lang="zh-CN" altLang="en-US" sz="2400" b="1" dirty="0"/>
              <a:t>，电路保持原状态不变，电路输出</a:t>
            </a:r>
            <a:r>
              <a:rPr lang="en-US" altLang="zh-CN" sz="2400" b="1" dirty="0"/>
              <a:t>u</a:t>
            </a:r>
            <a:r>
              <a:rPr lang="en-US" altLang="zh-CN" sz="2400" b="1" baseline="-25000" dirty="0"/>
              <a:t>O</a:t>
            </a:r>
            <a:r>
              <a:rPr lang="zh-CN" altLang="en-US" sz="2400" b="1" dirty="0"/>
              <a:t>仍为高电平，晶体管</a:t>
            </a:r>
            <a:r>
              <a:rPr lang="en-US" altLang="zh-CN" sz="2400" b="1" dirty="0"/>
              <a:t>V</a:t>
            </a:r>
            <a:r>
              <a:rPr lang="zh-CN" altLang="en-US" sz="2400" b="1" dirty="0"/>
              <a:t>仍然截止；当</a:t>
            </a:r>
            <a:r>
              <a:rPr lang="en-US" altLang="zh-CN" sz="2400" b="1" dirty="0"/>
              <a:t>u</a:t>
            </a:r>
            <a:r>
              <a:rPr lang="en-US" altLang="zh-CN" sz="2400" b="1" baseline="-25000" dirty="0"/>
              <a:t>C</a:t>
            </a:r>
            <a:r>
              <a:rPr lang="zh-CN" altLang="en-US" sz="2400" b="1" dirty="0"/>
              <a:t>的电压升高到略微超过</a:t>
            </a:r>
            <a:r>
              <a:rPr lang="en-US" altLang="zh-CN" sz="2400" b="1" dirty="0"/>
              <a:t>(2/3)U</a:t>
            </a:r>
            <a:r>
              <a:rPr lang="en-US" altLang="zh-CN" sz="2400" b="1" baseline="-25000" dirty="0"/>
              <a:t>CC</a:t>
            </a:r>
            <a:r>
              <a:rPr lang="en-US" altLang="zh-CN" sz="2400" b="1" dirty="0"/>
              <a:t>/3</a:t>
            </a:r>
            <a:r>
              <a:rPr lang="zh-CN" altLang="en-US" sz="2400" b="1" dirty="0"/>
              <a:t>时，满足</a:t>
            </a:r>
            <a:r>
              <a:rPr lang="en-US" altLang="zh-CN" sz="2400" b="1" dirty="0"/>
              <a:t>u</a:t>
            </a:r>
            <a:r>
              <a:rPr lang="en-US" altLang="zh-CN" sz="2400" b="1" baseline="-25000" dirty="0"/>
              <a:t>I1</a:t>
            </a:r>
            <a:r>
              <a:rPr lang="en-US" altLang="zh-CN" sz="2400" b="1" dirty="0"/>
              <a:t>&gt;U</a:t>
            </a:r>
            <a:r>
              <a:rPr lang="en-US" altLang="zh-CN" sz="2400" b="1" baseline="-25000" dirty="0"/>
              <a:t>R1</a:t>
            </a:r>
            <a:r>
              <a:rPr lang="zh-CN" altLang="en-US" sz="2400" b="1" dirty="0"/>
              <a:t>，</a:t>
            </a:r>
            <a:r>
              <a:rPr lang="en-US" altLang="zh-CN" sz="2400" b="1" dirty="0"/>
              <a:t>u</a:t>
            </a:r>
            <a:r>
              <a:rPr lang="en-US" altLang="zh-CN" sz="2400" b="1" baseline="-25000" dirty="0"/>
              <a:t>I2</a:t>
            </a:r>
            <a:r>
              <a:rPr lang="en-US" altLang="zh-CN" sz="2400" b="1" dirty="0"/>
              <a:t>&gt;U</a:t>
            </a:r>
            <a:r>
              <a:rPr lang="en-US" altLang="zh-CN" sz="2400" b="1" baseline="-25000" dirty="0"/>
              <a:t>R2</a:t>
            </a:r>
            <a:r>
              <a:rPr lang="zh-CN" altLang="en-US" sz="2400" b="1" dirty="0"/>
              <a:t>，所以输出</a:t>
            </a:r>
            <a:r>
              <a:rPr lang="en-US" altLang="zh-CN" sz="2400" b="1" dirty="0"/>
              <a:t>u</a:t>
            </a:r>
            <a:r>
              <a:rPr lang="en-US" altLang="zh-CN" sz="2400" b="1" baseline="-25000" dirty="0"/>
              <a:t>O</a:t>
            </a:r>
            <a:r>
              <a:rPr lang="zh-CN" altLang="en-US" sz="2400" b="1" dirty="0"/>
              <a:t>变为低电平，晶体管</a:t>
            </a:r>
            <a:r>
              <a:rPr lang="en-US" altLang="zh-CN" sz="2400" b="1" dirty="0"/>
              <a:t>V</a:t>
            </a:r>
            <a:r>
              <a:rPr lang="zh-CN" altLang="en-US" sz="2400" b="1" dirty="0"/>
              <a:t>饱和导通， 电路进入了另一个状态，同时电容</a:t>
            </a:r>
            <a:r>
              <a:rPr lang="en-US" altLang="zh-CN" sz="2400" b="1" dirty="0"/>
              <a:t>C</a:t>
            </a:r>
            <a:r>
              <a:rPr lang="zh-CN" altLang="en-US" sz="2400" b="1" dirty="0"/>
              <a:t>开始通过晶体管</a:t>
            </a:r>
            <a:r>
              <a:rPr lang="en-US" altLang="zh-CN" sz="2400" b="1" dirty="0"/>
              <a:t>V</a:t>
            </a:r>
            <a:r>
              <a:rPr lang="zh-CN" altLang="en-US" sz="2400" b="1" dirty="0"/>
              <a:t>放电。 </a:t>
            </a:r>
            <a:endParaRPr lang="zh-CN" altLang="en-US" sz="2400" b="1" dirty="0"/>
          </a:p>
        </p:txBody>
      </p:sp>
    </p:spTree>
  </p:cSld>
  <p:clrMapOvr>
    <a:masterClrMapping/>
  </p:clrMapOvr>
  <p:transition>
    <p:checke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Text Box 4"/>
          <p:cNvSpPr txBox="1"/>
          <p:nvPr/>
        </p:nvSpPr>
        <p:spPr>
          <a:xfrm>
            <a:off x="228600" y="685800"/>
            <a:ext cx="8686800" cy="3378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80000"/>
              </a:lnSpc>
              <a:spcBef>
                <a:spcPct val="50000"/>
              </a:spcBef>
              <a:buNone/>
            </a:pPr>
            <a:r>
              <a:rPr lang="en-US" altLang="zh-CN" sz="2400" dirty="0"/>
              <a:t>        </a:t>
            </a:r>
            <a:r>
              <a:rPr lang="zh-CN" altLang="en-US" sz="2400" b="1" dirty="0"/>
              <a:t>随着电容放电的进行，</a:t>
            </a:r>
            <a:r>
              <a:rPr lang="en-US" altLang="zh-CN" sz="2400" b="1" dirty="0"/>
              <a:t>u</a:t>
            </a:r>
            <a:r>
              <a:rPr lang="en-US" altLang="zh-CN" sz="2400" b="1" baseline="-25000" dirty="0"/>
              <a:t>C</a:t>
            </a:r>
            <a:r>
              <a:rPr lang="zh-CN" altLang="en-US" sz="2400" b="1" dirty="0"/>
              <a:t>的电压将逐渐下降，只要</a:t>
            </a:r>
            <a:r>
              <a:rPr lang="en-US" altLang="zh-CN" sz="2400" b="1" dirty="0"/>
              <a:t>u</a:t>
            </a:r>
            <a:r>
              <a:rPr lang="en-US" altLang="zh-CN" sz="2400" b="1" baseline="-25000" dirty="0"/>
              <a:t>C</a:t>
            </a:r>
            <a:r>
              <a:rPr lang="zh-CN" altLang="en-US" sz="2400" b="1" dirty="0"/>
              <a:t>未下降到</a:t>
            </a:r>
            <a:r>
              <a:rPr lang="en-US" altLang="zh-CN" sz="2400" b="1" dirty="0"/>
              <a:t>U</a:t>
            </a:r>
            <a:r>
              <a:rPr lang="en-US" altLang="zh-CN" sz="2400" b="1" baseline="-25000" dirty="0"/>
              <a:t>CC</a:t>
            </a:r>
            <a:r>
              <a:rPr lang="en-US" altLang="zh-CN" sz="2400" b="1" dirty="0"/>
              <a:t>/3</a:t>
            </a:r>
            <a:r>
              <a:rPr lang="zh-CN" altLang="en-US" sz="2400" b="1" dirty="0"/>
              <a:t>，电路的输出将一直保持在低电平，晶体管</a:t>
            </a:r>
            <a:r>
              <a:rPr lang="en-US" altLang="zh-CN" sz="2400" b="1" dirty="0"/>
              <a:t>V</a:t>
            </a:r>
            <a:r>
              <a:rPr lang="zh-CN" altLang="en-US" sz="2400" b="1" dirty="0"/>
              <a:t>一直饱和导通；当</a:t>
            </a:r>
            <a:r>
              <a:rPr lang="en-US" altLang="zh-CN" sz="2400" b="1" dirty="0"/>
              <a:t>u</a:t>
            </a:r>
            <a:r>
              <a:rPr lang="en-US" altLang="zh-CN" sz="2400" b="1" baseline="-25000" dirty="0"/>
              <a:t>C</a:t>
            </a:r>
            <a:r>
              <a:rPr lang="zh-CN" altLang="en-US" sz="2400" b="1" dirty="0"/>
              <a:t>下降到略低于</a:t>
            </a:r>
            <a:r>
              <a:rPr lang="en-US" altLang="zh-CN" sz="2400" b="1" dirty="0"/>
              <a:t>U</a:t>
            </a:r>
            <a:r>
              <a:rPr lang="en-US" altLang="zh-CN" sz="2400" b="1" baseline="-25000" dirty="0"/>
              <a:t>CC</a:t>
            </a:r>
            <a:r>
              <a:rPr lang="en-US" altLang="zh-CN" sz="2400" b="1" dirty="0"/>
              <a:t>/3</a:t>
            </a:r>
            <a:r>
              <a:rPr lang="zh-CN" altLang="en-US" sz="2400" b="1" dirty="0"/>
              <a:t>时，满足</a:t>
            </a:r>
            <a:r>
              <a:rPr lang="en-US" altLang="zh-CN" sz="2400" b="1" dirty="0"/>
              <a:t>u</a:t>
            </a:r>
            <a:r>
              <a:rPr lang="en-US" altLang="zh-CN" sz="2400" b="1" baseline="-25000" dirty="0"/>
              <a:t>I1</a:t>
            </a:r>
            <a:r>
              <a:rPr lang="en-US" altLang="zh-CN" sz="2400" b="1" dirty="0"/>
              <a:t>&lt;U</a:t>
            </a:r>
            <a:r>
              <a:rPr lang="en-US" altLang="zh-CN" sz="2400" b="1" baseline="-25000" dirty="0"/>
              <a:t>R1</a:t>
            </a:r>
            <a:r>
              <a:rPr lang="zh-CN" altLang="en-US" sz="2400" b="1" dirty="0"/>
              <a:t>、</a:t>
            </a:r>
            <a:r>
              <a:rPr lang="en-US" altLang="zh-CN" sz="2400" b="1" dirty="0"/>
              <a:t>u</a:t>
            </a:r>
            <a:r>
              <a:rPr lang="en-US" altLang="zh-CN" sz="2400" b="1" baseline="-25000" dirty="0"/>
              <a:t>I2</a:t>
            </a:r>
            <a:r>
              <a:rPr lang="en-US" altLang="zh-CN" sz="2400" b="1" dirty="0"/>
              <a:t>&lt;U</a:t>
            </a:r>
            <a:r>
              <a:rPr lang="en-US" altLang="zh-CN" sz="2400" b="1" baseline="-25000" dirty="0"/>
              <a:t>R2</a:t>
            </a:r>
            <a:r>
              <a:rPr lang="zh-CN" altLang="en-US" sz="2400" b="1" dirty="0"/>
              <a:t>，电路状态发生翻转，输出</a:t>
            </a:r>
            <a:r>
              <a:rPr lang="en-US" altLang="zh-CN" sz="2400" b="1" dirty="0"/>
              <a:t>u</a:t>
            </a:r>
            <a:r>
              <a:rPr lang="en-US" altLang="zh-CN" sz="2400" b="1" baseline="-25000" dirty="0"/>
              <a:t>O</a:t>
            </a:r>
            <a:r>
              <a:rPr lang="zh-CN" altLang="en-US" sz="2400" b="1" dirty="0"/>
              <a:t>又跳到高电平，晶体管</a:t>
            </a:r>
            <a:r>
              <a:rPr lang="en-US" altLang="zh-CN" sz="2400" b="1" dirty="0"/>
              <a:t>V</a:t>
            </a:r>
            <a:r>
              <a:rPr lang="zh-CN" altLang="en-US" sz="2400" b="1" dirty="0"/>
              <a:t>截止，同时电容又开始充电。 如此周而复始， 便形成了多谐振荡。 </a:t>
            </a:r>
            <a:endParaRPr lang="zh-CN" altLang="en-US" sz="2400" b="1" dirty="0"/>
          </a:p>
        </p:txBody>
      </p:sp>
    </p:spTree>
  </p:cSld>
  <p:clrMapOvr>
    <a:masterClrMapping/>
  </p:clrMapOvr>
  <p:transition>
    <p:checke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Text Box 4"/>
          <p:cNvSpPr txBox="1"/>
          <p:nvPr/>
        </p:nvSpPr>
        <p:spPr>
          <a:xfrm>
            <a:off x="228600" y="762000"/>
            <a:ext cx="8686800" cy="16017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38000"/>
              </a:lnSpc>
              <a:spcBef>
                <a:spcPct val="50000"/>
              </a:spcBef>
              <a:buNone/>
            </a:pPr>
            <a:r>
              <a:rPr lang="en-US" altLang="zh-CN" sz="2400" dirty="0"/>
              <a:t>        </a:t>
            </a:r>
            <a:r>
              <a:rPr lang="zh-CN" altLang="en-US" sz="2400" b="1" dirty="0"/>
              <a:t>根据以上分析和电路的工作波形， 我们可以知道该多谐振荡器输出脉冲的周期</a:t>
            </a:r>
            <a:r>
              <a:rPr lang="en-US" altLang="zh-CN" sz="2400" b="1" dirty="0"/>
              <a:t>T</a:t>
            </a:r>
            <a:r>
              <a:rPr lang="zh-CN" altLang="en-US" sz="2400" b="1" dirty="0"/>
              <a:t>就等于电容的充电时间</a:t>
            </a:r>
            <a:r>
              <a:rPr lang="en-US" altLang="zh-CN" sz="2400" b="1" dirty="0"/>
              <a:t>T</a:t>
            </a:r>
            <a:r>
              <a:rPr lang="en-US" altLang="zh-CN" sz="2400" b="1" baseline="-25000" dirty="0"/>
              <a:t>1</a:t>
            </a:r>
            <a:r>
              <a:rPr lang="zh-CN" altLang="en-US" sz="2400" b="1" dirty="0"/>
              <a:t>和放电时间</a:t>
            </a:r>
            <a:r>
              <a:rPr lang="en-US" altLang="zh-CN" sz="2400" b="1" dirty="0"/>
              <a:t>T</a:t>
            </a:r>
            <a:r>
              <a:rPr lang="en-US" altLang="zh-CN" sz="2400" b="1" baseline="-25000" dirty="0"/>
              <a:t>2</a:t>
            </a:r>
            <a:r>
              <a:rPr lang="zh-CN" altLang="en-US" sz="2400" b="1" dirty="0"/>
              <a:t>之和，即：</a:t>
            </a:r>
            <a:endParaRPr lang="zh-CN" altLang="en-US" sz="2400" b="1" dirty="0"/>
          </a:p>
        </p:txBody>
      </p:sp>
      <p:graphicFrame>
        <p:nvGraphicFramePr>
          <p:cNvPr id="88067" name="Object 5"/>
          <p:cNvGraphicFramePr>
            <a:graphicFrameLocks noChangeAspect="1"/>
          </p:cNvGraphicFramePr>
          <p:nvPr/>
        </p:nvGraphicFramePr>
        <p:xfrm>
          <a:off x="1600200" y="2743200"/>
          <a:ext cx="6172200" cy="2706688"/>
        </p:xfrm>
        <a:graphic>
          <a:graphicData uri="http://schemas.openxmlformats.org/presentationml/2006/ole">
            <mc:AlternateContent xmlns:mc="http://schemas.openxmlformats.org/markup-compatibility/2006">
              <mc:Choice xmlns:v="urn:schemas-microsoft-com:vml" Requires="v">
                <p:oleObj spid="_x0000_s3133" name="" r:id="rId1" imgW="2895600" imgH="1270000" progId="Equation.3">
                  <p:embed/>
                </p:oleObj>
              </mc:Choice>
              <mc:Fallback>
                <p:oleObj name="" r:id="rId1" imgW="2895600" imgH="1270000" progId="Equation.3">
                  <p:embed/>
                  <p:pic>
                    <p:nvPicPr>
                      <p:cNvPr id="0" name="图片 3132"/>
                      <p:cNvPicPr/>
                      <p:nvPr/>
                    </p:nvPicPr>
                    <p:blipFill>
                      <a:blip r:embed="rId2"/>
                      <a:stretch>
                        <a:fillRect/>
                      </a:stretch>
                    </p:blipFill>
                    <p:spPr>
                      <a:xfrm>
                        <a:off x="1600200" y="2743200"/>
                        <a:ext cx="6172200" cy="2706688"/>
                      </a:xfrm>
                      <a:prstGeom prst="rect">
                        <a:avLst/>
                      </a:prstGeom>
                      <a:noFill/>
                      <a:ln w="38100">
                        <a:noFill/>
                        <a:miter/>
                      </a:ln>
                    </p:spPr>
                  </p:pic>
                </p:oleObj>
              </mc:Fallback>
            </mc:AlternateContent>
          </a:graphicData>
        </a:graphic>
      </p:graphicFrame>
      <p:sp>
        <p:nvSpPr>
          <p:cNvPr id="88068" name="Text Box 6"/>
          <p:cNvSpPr txBox="1"/>
          <p:nvPr/>
        </p:nvSpPr>
        <p:spPr>
          <a:xfrm>
            <a:off x="7756525" y="2894013"/>
            <a:ext cx="946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(7-24)</a:t>
            </a:r>
            <a:endParaRPr lang="en-US" altLang="zh-CN" sz="2400" dirty="0"/>
          </a:p>
        </p:txBody>
      </p:sp>
      <p:sp>
        <p:nvSpPr>
          <p:cNvPr id="88069" name="Text Box 7"/>
          <p:cNvSpPr txBox="1"/>
          <p:nvPr/>
        </p:nvSpPr>
        <p:spPr>
          <a:xfrm>
            <a:off x="7816850" y="3960813"/>
            <a:ext cx="946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(7-25)</a:t>
            </a:r>
            <a:endParaRPr lang="en-US" altLang="zh-CN" sz="2400" dirty="0"/>
          </a:p>
        </p:txBody>
      </p:sp>
      <p:sp>
        <p:nvSpPr>
          <p:cNvPr id="88070" name="Text Box 8"/>
          <p:cNvSpPr txBox="1"/>
          <p:nvPr/>
        </p:nvSpPr>
        <p:spPr>
          <a:xfrm>
            <a:off x="7816850" y="4953000"/>
            <a:ext cx="946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(7-26)</a:t>
            </a:r>
            <a:endParaRPr lang="en-US" altLang="zh-CN" sz="2400" dirty="0"/>
          </a:p>
        </p:txBody>
      </p:sp>
    </p:spTree>
  </p:cSld>
  <p:clrMapOvr>
    <a:masterClrMapping/>
  </p:clrMapOvr>
  <p:transition>
    <p:checke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Text Box 4"/>
          <p:cNvSpPr txBox="1"/>
          <p:nvPr/>
        </p:nvSpPr>
        <p:spPr>
          <a:xfrm>
            <a:off x="381000" y="762000"/>
            <a:ext cx="7397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根据式</a:t>
            </a:r>
            <a:r>
              <a:rPr lang="en-US" altLang="zh-CN" sz="2400" b="1" dirty="0"/>
              <a:t>7-24</a:t>
            </a:r>
            <a:r>
              <a:rPr lang="zh-CN" altLang="en-US" sz="2400" b="1" dirty="0"/>
              <a:t>和式</a:t>
            </a:r>
            <a:r>
              <a:rPr lang="en-US" altLang="zh-CN" sz="2400" b="1" dirty="0"/>
              <a:t>7-25</a:t>
            </a:r>
            <a:r>
              <a:rPr lang="zh-CN" altLang="en-US" sz="2400" b="1" dirty="0"/>
              <a:t>，还可以求出输出脉冲的占空比：</a:t>
            </a:r>
            <a:endParaRPr lang="zh-CN" altLang="en-US" sz="2400" b="1" dirty="0"/>
          </a:p>
        </p:txBody>
      </p:sp>
      <p:graphicFrame>
        <p:nvGraphicFramePr>
          <p:cNvPr id="89091" name="Object 5"/>
          <p:cNvGraphicFramePr>
            <a:graphicFrameLocks noChangeAspect="1"/>
          </p:cNvGraphicFramePr>
          <p:nvPr/>
        </p:nvGraphicFramePr>
        <p:xfrm>
          <a:off x="1790700" y="1674813"/>
          <a:ext cx="5562600" cy="1068387"/>
        </p:xfrm>
        <a:graphic>
          <a:graphicData uri="http://schemas.openxmlformats.org/presentationml/2006/ole">
            <mc:AlternateContent xmlns:mc="http://schemas.openxmlformats.org/markup-compatibility/2006">
              <mc:Choice xmlns:v="urn:schemas-microsoft-com:vml" Requires="v">
                <p:oleObj spid="_x0000_s3140" name="" r:id="rId1" imgW="2247900" imgH="431800" progId="Equation.3">
                  <p:embed/>
                </p:oleObj>
              </mc:Choice>
              <mc:Fallback>
                <p:oleObj name="" r:id="rId1" imgW="2247900" imgH="431800" progId="Equation.3">
                  <p:embed/>
                  <p:pic>
                    <p:nvPicPr>
                      <p:cNvPr id="0" name="图片 3139"/>
                      <p:cNvPicPr/>
                      <p:nvPr/>
                    </p:nvPicPr>
                    <p:blipFill>
                      <a:blip r:embed="rId2"/>
                      <a:stretch>
                        <a:fillRect/>
                      </a:stretch>
                    </p:blipFill>
                    <p:spPr>
                      <a:xfrm>
                        <a:off x="1790700" y="1674813"/>
                        <a:ext cx="5562600" cy="1068387"/>
                      </a:xfrm>
                      <a:prstGeom prst="rect">
                        <a:avLst/>
                      </a:prstGeom>
                      <a:noFill/>
                      <a:ln w="38100">
                        <a:noFill/>
                        <a:miter/>
                      </a:ln>
                    </p:spPr>
                  </p:pic>
                </p:oleObj>
              </mc:Fallback>
            </mc:AlternateContent>
          </a:graphicData>
        </a:graphic>
      </p:graphicFrame>
      <p:sp>
        <p:nvSpPr>
          <p:cNvPr id="89092" name="Text Box 6"/>
          <p:cNvSpPr txBox="1"/>
          <p:nvPr/>
        </p:nvSpPr>
        <p:spPr>
          <a:xfrm>
            <a:off x="8001000" y="2971800"/>
            <a:ext cx="946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(7-27)</a:t>
            </a:r>
            <a:endParaRPr lang="en-US" altLang="zh-CN" sz="2400" dirty="0"/>
          </a:p>
        </p:txBody>
      </p:sp>
      <p:sp>
        <p:nvSpPr>
          <p:cNvPr id="89093" name="Text Box 7"/>
          <p:cNvSpPr txBox="1"/>
          <p:nvPr/>
        </p:nvSpPr>
        <p:spPr>
          <a:xfrm>
            <a:off x="381000" y="3651250"/>
            <a:ext cx="8382000" cy="20637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80000"/>
              </a:lnSpc>
              <a:spcBef>
                <a:spcPct val="50000"/>
              </a:spcBef>
              <a:buNone/>
            </a:pPr>
            <a:r>
              <a:rPr lang="en-US" altLang="zh-CN" sz="2400" dirty="0"/>
              <a:t>        </a:t>
            </a:r>
            <a:r>
              <a:rPr lang="zh-CN" altLang="en-US" sz="2400" b="1" dirty="0"/>
              <a:t>可见，通过改变电阻</a:t>
            </a:r>
            <a:r>
              <a:rPr lang="en-US" altLang="zh-CN" sz="2400" b="1" dirty="0"/>
              <a:t>R</a:t>
            </a:r>
            <a:r>
              <a:rPr lang="en-US" altLang="zh-CN" sz="2400" b="1" baseline="-25000" dirty="0"/>
              <a:t>1</a:t>
            </a:r>
            <a:r>
              <a:rPr lang="zh-CN" altLang="en-US" sz="2400" b="1" dirty="0"/>
              <a:t>、</a:t>
            </a:r>
            <a:r>
              <a:rPr lang="en-US" altLang="zh-CN" sz="2400" b="1" dirty="0"/>
              <a:t>R</a:t>
            </a:r>
            <a:r>
              <a:rPr lang="en-US" altLang="zh-CN" sz="2400" b="1" baseline="-25000" dirty="0"/>
              <a:t>2</a:t>
            </a:r>
            <a:r>
              <a:rPr lang="zh-CN" altLang="en-US" sz="2400" b="1" dirty="0"/>
              <a:t>和电容</a:t>
            </a:r>
            <a:r>
              <a:rPr lang="en-US" altLang="zh-CN" sz="2400" b="1" dirty="0"/>
              <a:t>C</a:t>
            </a:r>
            <a:r>
              <a:rPr lang="zh-CN" altLang="en-US" sz="2400" b="1" dirty="0"/>
              <a:t>的参数，可以调整输出脉冲的频率和占空比。另外，如果参考电压由外接电压</a:t>
            </a:r>
            <a:r>
              <a:rPr lang="en-US" altLang="zh-CN" sz="2400" b="1" dirty="0"/>
              <a:t>U</a:t>
            </a:r>
            <a:r>
              <a:rPr lang="en-US" altLang="zh-CN" sz="2400" b="1" baseline="-25000" dirty="0"/>
              <a:t>IC</a:t>
            </a:r>
            <a:r>
              <a:rPr lang="zh-CN" altLang="en-US" sz="2400" b="1" dirty="0"/>
              <a:t>控制， 通过改变</a:t>
            </a:r>
            <a:r>
              <a:rPr lang="en-US" altLang="zh-CN" sz="2400" b="1" dirty="0"/>
              <a:t>U</a:t>
            </a:r>
            <a:r>
              <a:rPr lang="en-US" altLang="zh-CN" sz="2400" b="1" baseline="-25000" dirty="0"/>
              <a:t>IC</a:t>
            </a:r>
            <a:r>
              <a:rPr lang="zh-CN" altLang="en-US" sz="2400" b="1" dirty="0"/>
              <a:t>的数值也可以调整输出脉冲的频率。 </a:t>
            </a:r>
            <a:endParaRPr lang="zh-CN" altLang="en-US" sz="2400" b="1" dirty="0"/>
          </a:p>
        </p:txBody>
      </p:sp>
    </p:spTree>
  </p:cSld>
  <p:clrMapOvr>
    <a:masterClrMapping/>
  </p:clrMapOvr>
  <p:transition>
    <p:checke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Text Box 4"/>
          <p:cNvSpPr txBox="1"/>
          <p:nvPr/>
        </p:nvSpPr>
        <p:spPr>
          <a:xfrm>
            <a:off x="228600" y="457200"/>
            <a:ext cx="8915400" cy="1917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0000"/>
              </a:lnSpc>
              <a:spcBef>
                <a:spcPct val="50000"/>
              </a:spcBef>
              <a:buNone/>
            </a:pPr>
            <a:r>
              <a:rPr lang="en-US" altLang="zh-CN" sz="2400" b="1" dirty="0"/>
              <a:t>7.4.3 555</a:t>
            </a:r>
            <a:r>
              <a:rPr lang="zh-CN" altLang="en-US" sz="2400" b="1" dirty="0"/>
              <a:t>定时器构成的单稳态触发器</a:t>
            </a:r>
            <a:r>
              <a:rPr lang="zh-CN" altLang="en-US" sz="2400" dirty="0"/>
              <a:t></a:t>
            </a:r>
            <a:endParaRPr lang="zh-CN" altLang="en-US" sz="2400" dirty="0"/>
          </a:p>
          <a:p>
            <a:pPr marL="0" lvl="0" indent="0" eaLnBrk="1" hangingPunct="1">
              <a:lnSpc>
                <a:spcPct val="150000"/>
              </a:lnSpc>
              <a:spcBef>
                <a:spcPct val="50000"/>
              </a:spcBef>
              <a:buNone/>
            </a:pPr>
            <a:r>
              <a:rPr lang="zh-CN" altLang="en-US" sz="2400" dirty="0"/>
              <a:t>        </a:t>
            </a:r>
            <a:r>
              <a:rPr lang="zh-CN" altLang="en-US" sz="2400" b="1" dirty="0"/>
              <a:t>由</a:t>
            </a:r>
            <a:r>
              <a:rPr lang="en-US" altLang="zh-CN" sz="2400" b="1" dirty="0"/>
              <a:t>555</a:t>
            </a:r>
            <a:r>
              <a:rPr lang="zh-CN" altLang="en-US" sz="2400" b="1" dirty="0"/>
              <a:t>构成的单稳态触发器的电路及其工作波形如图</a:t>
            </a:r>
            <a:r>
              <a:rPr lang="en-US" altLang="zh-CN" sz="2400" b="1" dirty="0"/>
              <a:t>7-31</a:t>
            </a:r>
            <a:r>
              <a:rPr lang="zh-CN" altLang="en-US" sz="2400" b="1" dirty="0"/>
              <a:t>所示。参考电压</a:t>
            </a:r>
            <a:r>
              <a:rPr lang="en-US" altLang="zh-CN" sz="2400" b="1" dirty="0"/>
              <a:t>U</a:t>
            </a:r>
            <a:r>
              <a:rPr lang="en-US" altLang="zh-CN" sz="2400" b="1" baseline="-25000" dirty="0"/>
              <a:t>R1</a:t>
            </a:r>
            <a:r>
              <a:rPr lang="en-US" altLang="zh-CN" sz="2400" b="1" dirty="0"/>
              <a:t>=(2/3)U</a:t>
            </a:r>
            <a:r>
              <a:rPr lang="en-US" altLang="zh-CN" sz="2400" b="1" baseline="-25000" dirty="0"/>
              <a:t>CC</a:t>
            </a:r>
            <a:r>
              <a:rPr lang="zh-CN" altLang="en-US" sz="2400" b="1" dirty="0"/>
              <a:t>，</a:t>
            </a:r>
            <a:r>
              <a:rPr lang="en-US" altLang="zh-CN" sz="2400" b="1" dirty="0"/>
              <a:t>U</a:t>
            </a:r>
            <a:r>
              <a:rPr lang="en-US" altLang="zh-CN" sz="2400" b="1" baseline="-25000" dirty="0"/>
              <a:t>R2</a:t>
            </a:r>
            <a:r>
              <a:rPr lang="en-US" altLang="zh-CN" sz="2400" b="1" dirty="0"/>
              <a:t>=U</a:t>
            </a:r>
            <a:r>
              <a:rPr lang="en-US" altLang="zh-CN" sz="2400" b="1" baseline="-25000" dirty="0"/>
              <a:t>CC</a:t>
            </a:r>
            <a:r>
              <a:rPr lang="en-US" altLang="zh-CN" sz="2400" b="1" dirty="0"/>
              <a:t>/3</a:t>
            </a:r>
            <a:r>
              <a:rPr lang="zh-CN" altLang="en-US" sz="2400" b="1" dirty="0"/>
              <a:t>。 </a:t>
            </a:r>
            <a:endParaRPr lang="zh-CN" altLang="en-US" sz="2400" b="1" dirty="0"/>
          </a:p>
        </p:txBody>
      </p:sp>
      <p:sp>
        <p:nvSpPr>
          <p:cNvPr id="90115" name="Text Box 5"/>
          <p:cNvSpPr txBox="1"/>
          <p:nvPr/>
        </p:nvSpPr>
        <p:spPr>
          <a:xfrm>
            <a:off x="2462213" y="6084888"/>
            <a:ext cx="4776787"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000" b="1" dirty="0"/>
              <a:t>图 </a:t>
            </a:r>
            <a:r>
              <a:rPr lang="en-US" altLang="zh-CN" sz="2000" b="1" dirty="0"/>
              <a:t>7-31 </a:t>
            </a:r>
            <a:r>
              <a:rPr lang="zh-CN" altLang="en-US" sz="2000" b="1" dirty="0"/>
              <a:t>用</a:t>
            </a:r>
            <a:r>
              <a:rPr lang="en-US" altLang="zh-CN" sz="2000" b="1" dirty="0"/>
              <a:t>555</a:t>
            </a:r>
            <a:r>
              <a:rPr lang="zh-CN" altLang="en-US" sz="2000" b="1" dirty="0"/>
              <a:t>定时器构成的单稳态触发器 </a:t>
            </a:r>
            <a:endParaRPr lang="zh-CN" altLang="en-US" sz="2000" b="1" dirty="0"/>
          </a:p>
          <a:p>
            <a:pPr marL="0" lvl="0" indent="0" algn="ctr" eaLnBrk="1" hangingPunct="1">
              <a:spcBef>
                <a:spcPct val="0"/>
              </a:spcBef>
              <a:buNone/>
            </a:pPr>
            <a:r>
              <a:rPr lang="en-US" altLang="zh-CN" sz="2000" b="1" dirty="0"/>
              <a:t>(a) </a:t>
            </a:r>
            <a:r>
              <a:rPr lang="zh-CN" altLang="en-US" sz="2000" b="1" dirty="0"/>
              <a:t>电路图； </a:t>
            </a:r>
            <a:r>
              <a:rPr lang="en-US" altLang="zh-CN" sz="2000" b="1" dirty="0"/>
              <a:t>(b) </a:t>
            </a:r>
            <a:r>
              <a:rPr lang="zh-CN" altLang="en-US" sz="2000" b="1" dirty="0"/>
              <a:t>波形图</a:t>
            </a:r>
            <a:endParaRPr lang="zh-CN" altLang="en-US" sz="2000" b="1" dirty="0"/>
          </a:p>
        </p:txBody>
      </p:sp>
      <p:graphicFrame>
        <p:nvGraphicFramePr>
          <p:cNvPr id="90116" name="Object 6"/>
          <p:cNvGraphicFramePr>
            <a:graphicFrameLocks noChangeAspect="1"/>
          </p:cNvGraphicFramePr>
          <p:nvPr/>
        </p:nvGraphicFramePr>
        <p:xfrm>
          <a:off x="250825" y="2133600"/>
          <a:ext cx="9220200" cy="4254500"/>
        </p:xfrm>
        <a:graphic>
          <a:graphicData uri="http://schemas.openxmlformats.org/presentationml/2006/ole">
            <mc:AlternateContent xmlns:mc="http://schemas.openxmlformats.org/markup-compatibility/2006">
              <mc:Choice xmlns:v="urn:schemas-microsoft-com:vml" Requires="v">
                <p:oleObj spid="_x0000_s3141" name="" r:id="rId1" imgW="4206240" imgH="1943100" progId="Visio.Drawing.4">
                  <p:embed/>
                </p:oleObj>
              </mc:Choice>
              <mc:Fallback>
                <p:oleObj name="" r:id="rId1" imgW="4206240" imgH="1943100" progId="Visio.Drawing.4">
                  <p:embed/>
                  <p:pic>
                    <p:nvPicPr>
                      <p:cNvPr id="0" name="图片 3140"/>
                      <p:cNvPicPr/>
                      <p:nvPr/>
                    </p:nvPicPr>
                    <p:blipFill>
                      <a:blip r:embed="rId2"/>
                      <a:stretch>
                        <a:fillRect/>
                      </a:stretch>
                    </p:blipFill>
                    <p:spPr>
                      <a:xfrm>
                        <a:off x="250825" y="2133600"/>
                        <a:ext cx="9220200" cy="4254500"/>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Text Box 4"/>
          <p:cNvSpPr txBox="1"/>
          <p:nvPr/>
        </p:nvSpPr>
        <p:spPr>
          <a:xfrm>
            <a:off x="228600" y="666750"/>
            <a:ext cx="8686800" cy="51244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38000"/>
              </a:lnSpc>
              <a:spcBef>
                <a:spcPct val="50000"/>
              </a:spcBef>
              <a:buNone/>
            </a:pPr>
            <a:r>
              <a:rPr lang="en-US" altLang="zh-CN" sz="2400" dirty="0"/>
              <a:t>        </a:t>
            </a:r>
            <a:r>
              <a:rPr lang="zh-CN" altLang="en-US" sz="2400" b="1" dirty="0"/>
              <a:t>图</a:t>
            </a:r>
            <a:r>
              <a:rPr lang="en-US" altLang="zh-CN" sz="2400" b="1" dirty="0"/>
              <a:t>7-31</a:t>
            </a:r>
            <a:r>
              <a:rPr lang="zh-CN" altLang="en-US" sz="2400" b="1" dirty="0"/>
              <a:t>所示电路中，外加触发信号从触发输入端</a:t>
            </a:r>
            <a:r>
              <a:rPr lang="en-US" altLang="zh-CN" sz="2400" b="1" dirty="0"/>
              <a:t>u</a:t>
            </a:r>
            <a:r>
              <a:rPr lang="en-US" altLang="zh-CN" sz="2400" b="1" baseline="-25000" dirty="0"/>
              <a:t>I2</a:t>
            </a:r>
            <a:r>
              <a:rPr lang="zh-CN" altLang="en-US" sz="2400" b="1" dirty="0"/>
              <a:t>输入，所以是输入脉冲的下降沿触发。如果没有触发信号时</a:t>
            </a:r>
            <a:r>
              <a:rPr lang="en-US" altLang="zh-CN" sz="2400" b="1" dirty="0"/>
              <a:t>, u</a:t>
            </a:r>
            <a:r>
              <a:rPr lang="en-US" altLang="zh-CN" sz="2400" b="1" baseline="-25000" dirty="0"/>
              <a:t>I2</a:t>
            </a:r>
            <a:r>
              <a:rPr lang="zh-CN" altLang="en-US" sz="2400" b="1" dirty="0"/>
              <a:t>处于高电平， 则电路的稳定状态必然是：电路输出</a:t>
            </a:r>
            <a:r>
              <a:rPr lang="en-US" altLang="zh-CN" sz="2400" b="1" dirty="0"/>
              <a:t>u</a:t>
            </a:r>
            <a:r>
              <a:rPr lang="en-US" altLang="zh-CN" sz="2400" b="1" baseline="-25000" dirty="0"/>
              <a:t>O</a:t>
            </a:r>
            <a:r>
              <a:rPr lang="zh-CN" altLang="en-US" sz="2400" b="1" dirty="0"/>
              <a:t>为低电平，晶体管</a:t>
            </a:r>
            <a:r>
              <a:rPr lang="en-US" altLang="zh-CN" sz="2400" b="1" dirty="0"/>
              <a:t>V</a:t>
            </a:r>
            <a:r>
              <a:rPr lang="zh-CN" altLang="en-US" sz="2400" b="1" dirty="0"/>
              <a:t>饱和导通。 这是因为：假设在接通电源后基本</a:t>
            </a:r>
            <a:r>
              <a:rPr lang="en-US" altLang="zh-CN" sz="2400" b="1" dirty="0"/>
              <a:t>RS</a:t>
            </a:r>
            <a:r>
              <a:rPr lang="zh-CN" altLang="en-US" sz="2400" b="1" dirty="0"/>
              <a:t>触发器的状态为</a:t>
            </a:r>
            <a:r>
              <a:rPr lang="en-US" altLang="zh-CN" sz="2400" b="1" i="1" dirty="0"/>
              <a:t>Q</a:t>
            </a:r>
            <a:r>
              <a:rPr lang="en-US" altLang="zh-CN" sz="2400" b="1" dirty="0"/>
              <a:t>=1</a:t>
            </a:r>
            <a:r>
              <a:rPr lang="zh-CN" altLang="en-US" sz="2400" b="1" dirty="0"/>
              <a:t>，则晶体管</a:t>
            </a:r>
            <a:r>
              <a:rPr lang="en-US" altLang="zh-CN" sz="2400" b="1" dirty="0"/>
              <a:t>V</a:t>
            </a:r>
            <a:r>
              <a:rPr lang="zh-CN" altLang="en-US" sz="2400" b="1" dirty="0"/>
              <a:t>饱和导通，输出</a:t>
            </a:r>
            <a:r>
              <a:rPr lang="en-US" altLang="zh-CN" sz="2400" b="1" dirty="0"/>
              <a:t>u</a:t>
            </a:r>
            <a:r>
              <a:rPr lang="en-US" altLang="zh-CN" sz="2400" b="1" baseline="-25000" dirty="0"/>
              <a:t>O</a:t>
            </a:r>
            <a:r>
              <a:rPr lang="zh-CN" altLang="en-US" sz="2400" b="1" dirty="0"/>
              <a:t>为低电平，且保持该状态不变；如果在接通电源后基本</a:t>
            </a:r>
            <a:r>
              <a:rPr lang="en-US" altLang="zh-CN" sz="2400" b="1" dirty="0"/>
              <a:t>RS</a:t>
            </a:r>
            <a:r>
              <a:rPr lang="zh-CN" altLang="en-US" sz="2400" b="1" dirty="0"/>
              <a:t>触发器的状态为</a:t>
            </a:r>
            <a:r>
              <a:rPr lang="en-US" altLang="zh-CN" sz="2400" b="1" i="1" dirty="0"/>
              <a:t>Q</a:t>
            </a:r>
            <a:r>
              <a:rPr lang="en-US" altLang="zh-CN" sz="2400" b="1" dirty="0"/>
              <a:t>=0</a:t>
            </a:r>
            <a:r>
              <a:rPr lang="zh-CN" altLang="en-US" sz="2400" b="1" dirty="0"/>
              <a:t>，则输出</a:t>
            </a:r>
            <a:r>
              <a:rPr lang="en-US" altLang="zh-CN" sz="2400" b="1" dirty="0"/>
              <a:t>u</a:t>
            </a:r>
            <a:r>
              <a:rPr lang="en-US" altLang="zh-CN" sz="2400" b="1" baseline="-25000" dirty="0"/>
              <a:t>O</a:t>
            </a:r>
            <a:r>
              <a:rPr lang="zh-CN" altLang="en-US" sz="2400" b="1" dirty="0"/>
              <a:t>为高电平，晶体管</a:t>
            </a:r>
            <a:r>
              <a:rPr lang="en-US" altLang="zh-CN" sz="2400" b="1" dirty="0"/>
              <a:t>V</a:t>
            </a:r>
            <a:r>
              <a:rPr lang="zh-CN" altLang="en-US" sz="2400" b="1" dirty="0"/>
              <a:t>截止，电容将会被充电，</a:t>
            </a:r>
            <a:r>
              <a:rPr lang="en-US" altLang="zh-CN" sz="2400" b="1" dirty="0"/>
              <a:t>u</a:t>
            </a:r>
            <a:r>
              <a:rPr lang="en-US" altLang="zh-CN" sz="2400" b="1" baseline="-25000" dirty="0"/>
              <a:t>C</a:t>
            </a:r>
            <a:r>
              <a:rPr lang="zh-CN" altLang="en-US" sz="2400" b="1" dirty="0"/>
              <a:t>的电压上升； 当</a:t>
            </a:r>
            <a:r>
              <a:rPr lang="en-US" altLang="zh-CN" sz="2400" b="1" dirty="0"/>
              <a:t>u</a:t>
            </a:r>
            <a:r>
              <a:rPr lang="en-US" altLang="zh-CN" sz="2400" b="1" baseline="-25000" dirty="0"/>
              <a:t>C</a:t>
            </a:r>
            <a:r>
              <a:rPr lang="zh-CN" altLang="en-US" sz="2400" b="1" dirty="0"/>
              <a:t>上升到略大于</a:t>
            </a:r>
            <a:r>
              <a:rPr lang="en-US" altLang="zh-CN" sz="2400" b="1" dirty="0"/>
              <a:t>(2/3)U</a:t>
            </a:r>
            <a:r>
              <a:rPr lang="en-US" altLang="zh-CN" sz="2400" b="1" baseline="-25000" dirty="0"/>
              <a:t>CC</a:t>
            </a:r>
            <a:r>
              <a:rPr lang="zh-CN" altLang="en-US" sz="2400" b="1" dirty="0"/>
              <a:t>时，晶体管</a:t>
            </a:r>
            <a:r>
              <a:rPr lang="en-US" altLang="zh-CN" sz="2400" b="1" dirty="0"/>
              <a:t>V</a:t>
            </a:r>
            <a:r>
              <a:rPr lang="zh-CN" altLang="en-US" sz="2400" b="1" dirty="0"/>
              <a:t>饱和导通，输出</a:t>
            </a:r>
            <a:r>
              <a:rPr lang="en-US" altLang="zh-CN" sz="2400" b="1" dirty="0"/>
              <a:t>u</a:t>
            </a:r>
            <a:r>
              <a:rPr lang="en-US" altLang="zh-CN" sz="2400" b="1" baseline="-25000" dirty="0"/>
              <a:t>O</a:t>
            </a:r>
            <a:r>
              <a:rPr lang="zh-CN" altLang="en-US" sz="2400" b="1" dirty="0"/>
              <a:t>变为低电平，电路自动进入稳定状态；同时电容经晶体管</a:t>
            </a:r>
            <a:r>
              <a:rPr lang="en-US" altLang="zh-CN" sz="2400" b="1" dirty="0"/>
              <a:t>T</a:t>
            </a:r>
            <a:r>
              <a:rPr lang="zh-CN" altLang="en-US" sz="2400" b="1" dirty="0"/>
              <a:t>迅速放电至</a:t>
            </a:r>
            <a:r>
              <a:rPr lang="en-US" altLang="zh-CN" sz="2400" b="1" dirty="0"/>
              <a:t>u</a:t>
            </a:r>
            <a:r>
              <a:rPr lang="en-US" altLang="zh-CN" sz="2400" b="1" baseline="-25000" dirty="0"/>
              <a:t>C</a:t>
            </a:r>
            <a:r>
              <a:rPr lang="en-US" altLang="zh-CN" sz="2400" b="1" dirty="0"/>
              <a:t> ≈ 0</a:t>
            </a:r>
            <a:r>
              <a:rPr lang="zh-CN" altLang="en-US" sz="2400" b="1" dirty="0"/>
              <a:t>，电路状态稳定不变。</a:t>
            </a:r>
            <a:endParaRPr lang="zh-CN" altLang="en-US" sz="2400" b="1" dirty="0"/>
          </a:p>
        </p:txBody>
      </p:sp>
    </p:spTree>
  </p:cSld>
  <p:clrMapOvr>
    <a:masterClrMapping/>
  </p:clrMapOvr>
  <p:transition>
    <p:checke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Text Box 1028"/>
          <p:cNvSpPr txBox="1"/>
          <p:nvPr/>
        </p:nvSpPr>
        <p:spPr>
          <a:xfrm>
            <a:off x="152400" y="609600"/>
            <a:ext cx="8763000" cy="5349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80000"/>
              </a:lnSpc>
              <a:spcBef>
                <a:spcPct val="50000"/>
              </a:spcBef>
              <a:buNone/>
            </a:pPr>
            <a:r>
              <a:rPr lang="en-US" altLang="zh-CN" sz="2400" dirty="0"/>
              <a:t>       </a:t>
            </a:r>
            <a:r>
              <a:rPr lang="zh-CN" altLang="en-US" sz="2400" b="1" dirty="0"/>
              <a:t>当触发脉冲的下降沿到来时，满足</a:t>
            </a:r>
            <a:r>
              <a:rPr lang="en-US" altLang="zh-CN" sz="2400" b="1" dirty="0"/>
              <a:t>u</a:t>
            </a:r>
            <a:r>
              <a:rPr lang="en-US" altLang="zh-CN" sz="2400" b="1" baseline="-25000" dirty="0"/>
              <a:t>I1</a:t>
            </a:r>
            <a:r>
              <a:rPr lang="en-US" altLang="zh-CN" sz="2400" b="1" dirty="0"/>
              <a:t>&lt;U</a:t>
            </a:r>
            <a:r>
              <a:rPr lang="en-US" altLang="zh-CN" sz="2400" b="1" baseline="-25000" dirty="0"/>
              <a:t>R1</a:t>
            </a:r>
            <a:r>
              <a:rPr lang="zh-CN" altLang="en-US" sz="2400" b="1" dirty="0"/>
              <a:t>、</a:t>
            </a:r>
            <a:r>
              <a:rPr lang="en-US" altLang="zh-CN" sz="2400" b="1" dirty="0"/>
              <a:t>u</a:t>
            </a:r>
            <a:r>
              <a:rPr lang="en-US" altLang="zh-CN" sz="2400" b="1" baseline="-25000" dirty="0"/>
              <a:t>I2</a:t>
            </a:r>
            <a:r>
              <a:rPr lang="en-US" altLang="zh-CN" sz="2400" b="1" dirty="0"/>
              <a:t>&lt;U</a:t>
            </a:r>
            <a:r>
              <a:rPr lang="en-US" altLang="zh-CN" sz="2400" b="1" baseline="-25000" dirty="0"/>
              <a:t>R2</a:t>
            </a:r>
            <a:r>
              <a:rPr lang="zh-CN" altLang="en-US" sz="2400" b="1" dirty="0"/>
              <a:t>，所以输出</a:t>
            </a:r>
            <a:r>
              <a:rPr lang="en-US" altLang="zh-CN" sz="2400" b="1" dirty="0"/>
              <a:t>u</a:t>
            </a:r>
            <a:r>
              <a:rPr lang="en-US" altLang="zh-CN" sz="2400" b="1" baseline="-25000" dirty="0"/>
              <a:t>O</a:t>
            </a:r>
            <a:r>
              <a:rPr lang="zh-CN" altLang="en-US" sz="2400" b="1" dirty="0"/>
              <a:t>迅速跳变为高电平，晶体管</a:t>
            </a:r>
            <a:r>
              <a:rPr lang="en-US" altLang="zh-CN" sz="2400" b="1" dirty="0"/>
              <a:t>V</a:t>
            </a:r>
            <a:r>
              <a:rPr lang="zh-CN" altLang="en-US" sz="2400" b="1" dirty="0"/>
              <a:t>截止，同时电源开始通过电阻</a:t>
            </a:r>
            <a:r>
              <a:rPr lang="en-US" altLang="zh-CN" sz="2400" b="1" dirty="0"/>
              <a:t>R</a:t>
            </a:r>
            <a:r>
              <a:rPr lang="zh-CN" altLang="en-US" sz="2400" b="1" dirty="0"/>
              <a:t>对电容</a:t>
            </a:r>
            <a:r>
              <a:rPr lang="en-US" altLang="zh-CN" sz="2400" b="1" dirty="0"/>
              <a:t>C</a:t>
            </a:r>
            <a:r>
              <a:rPr lang="zh-CN" altLang="en-US" sz="2400" b="1" dirty="0"/>
              <a:t>充电，即电路进入了暂稳态；随着充电的进行，当</a:t>
            </a:r>
            <a:r>
              <a:rPr lang="en-US" altLang="zh-CN" sz="2400" b="1" dirty="0"/>
              <a:t>u</a:t>
            </a:r>
            <a:r>
              <a:rPr lang="en-US" altLang="zh-CN" sz="2400" b="1" baseline="-25000" dirty="0"/>
              <a:t>C</a:t>
            </a:r>
            <a:r>
              <a:rPr lang="zh-CN" altLang="en-US" sz="2400" b="1" dirty="0"/>
              <a:t>上升到略大于</a:t>
            </a:r>
            <a:r>
              <a:rPr lang="en-US" altLang="zh-CN" sz="2400" b="1" dirty="0"/>
              <a:t>(2/3)U</a:t>
            </a:r>
            <a:r>
              <a:rPr lang="en-US" altLang="zh-CN" sz="2400" b="1" baseline="-25000" dirty="0"/>
              <a:t>CC</a:t>
            </a:r>
            <a:r>
              <a:rPr lang="zh-CN" altLang="en-US" sz="2400" b="1" dirty="0"/>
              <a:t>时，如果此时触发脉冲已经消失，则满足</a:t>
            </a:r>
            <a:r>
              <a:rPr lang="en-US" altLang="zh-CN" sz="2400" b="1" dirty="0"/>
              <a:t>u</a:t>
            </a:r>
            <a:r>
              <a:rPr lang="en-US" altLang="zh-CN" sz="2400" b="1" baseline="-25000" dirty="0"/>
              <a:t>I1</a:t>
            </a:r>
            <a:r>
              <a:rPr lang="en-US" altLang="zh-CN" sz="2400" b="1" dirty="0"/>
              <a:t>&gt;U</a:t>
            </a:r>
            <a:r>
              <a:rPr lang="en-US" altLang="zh-CN" sz="2400" b="1" baseline="-25000" dirty="0"/>
              <a:t>R1</a:t>
            </a:r>
            <a:r>
              <a:rPr lang="zh-CN" altLang="en-US" sz="2400" b="1" dirty="0"/>
              <a:t>，</a:t>
            </a:r>
            <a:r>
              <a:rPr lang="en-US" altLang="zh-CN" sz="2400" b="1" dirty="0"/>
              <a:t>u</a:t>
            </a:r>
            <a:r>
              <a:rPr lang="en-US" altLang="zh-CN" sz="2400" b="1" baseline="-25000" dirty="0"/>
              <a:t>I2</a:t>
            </a:r>
            <a:r>
              <a:rPr lang="en-US" altLang="zh-CN" sz="2400" b="1" dirty="0"/>
              <a:t>&gt;U</a:t>
            </a:r>
            <a:r>
              <a:rPr lang="en-US" altLang="zh-CN" sz="2400" b="1" baseline="-25000" dirty="0"/>
              <a:t>R2</a:t>
            </a:r>
            <a:r>
              <a:rPr lang="zh-CN" altLang="en-US" sz="2400" b="1" dirty="0"/>
              <a:t>，所以输出</a:t>
            </a:r>
            <a:r>
              <a:rPr lang="en-US" altLang="zh-CN" sz="2400" b="1" dirty="0"/>
              <a:t>u</a:t>
            </a:r>
            <a:r>
              <a:rPr lang="en-US" altLang="zh-CN" sz="2400" b="1" baseline="-25000" dirty="0"/>
              <a:t>O</a:t>
            </a:r>
            <a:r>
              <a:rPr lang="zh-CN" altLang="en-US" sz="2400" b="1" dirty="0"/>
              <a:t>迅速跳回到低电平，晶体管</a:t>
            </a:r>
            <a:r>
              <a:rPr lang="en-US" altLang="zh-CN" sz="2400" b="1" dirty="0"/>
              <a:t>V</a:t>
            </a:r>
            <a:r>
              <a:rPr lang="zh-CN" altLang="en-US" sz="2400" b="1" dirty="0"/>
              <a:t>饱和导通，电路又回到稳定状态，同时电容</a:t>
            </a:r>
            <a:r>
              <a:rPr lang="en-US" altLang="zh-CN" sz="2400" b="1" dirty="0"/>
              <a:t>C</a:t>
            </a:r>
            <a:r>
              <a:rPr lang="zh-CN" altLang="en-US" sz="2400" b="1" dirty="0"/>
              <a:t>经晶体管</a:t>
            </a:r>
            <a:r>
              <a:rPr lang="en-US" altLang="zh-CN" sz="2400" b="1" dirty="0"/>
              <a:t>V</a:t>
            </a:r>
            <a:r>
              <a:rPr lang="zh-CN" altLang="en-US" sz="2400" b="1" dirty="0"/>
              <a:t>迅速放电至</a:t>
            </a:r>
            <a:r>
              <a:rPr lang="en-US" altLang="zh-CN" sz="2400" b="1" dirty="0"/>
              <a:t>u</a:t>
            </a:r>
            <a:r>
              <a:rPr lang="en-US" altLang="zh-CN" sz="2400" b="1" baseline="-25000" dirty="0"/>
              <a:t>C</a:t>
            </a:r>
            <a:r>
              <a:rPr lang="en-US" altLang="zh-CN" sz="2400" b="1" dirty="0"/>
              <a:t> ≈ 0</a:t>
            </a:r>
            <a:r>
              <a:rPr lang="zh-CN" altLang="en-US" sz="2400" b="1" dirty="0"/>
              <a:t>，此时满足</a:t>
            </a:r>
            <a:r>
              <a:rPr lang="en-US" altLang="zh-CN" sz="2400" b="1" dirty="0"/>
              <a:t>u</a:t>
            </a:r>
            <a:r>
              <a:rPr lang="en-US" altLang="zh-CN" sz="2400" b="1" baseline="-25000" dirty="0"/>
              <a:t>I1</a:t>
            </a:r>
            <a:r>
              <a:rPr lang="en-US" altLang="zh-CN" sz="2400" b="1" dirty="0"/>
              <a:t>&gt;U</a:t>
            </a:r>
            <a:r>
              <a:rPr lang="en-US" altLang="zh-CN" sz="2400" b="1" baseline="-25000" dirty="0"/>
              <a:t>R1</a:t>
            </a:r>
            <a:r>
              <a:rPr lang="zh-CN" altLang="en-US" sz="2400" b="1" dirty="0"/>
              <a:t>，</a:t>
            </a:r>
            <a:r>
              <a:rPr lang="en-US" altLang="zh-CN" sz="2400" b="1" dirty="0"/>
              <a:t>u</a:t>
            </a:r>
            <a:r>
              <a:rPr lang="en-US" altLang="zh-CN" sz="2400" b="1" baseline="-25000" dirty="0"/>
              <a:t>I2</a:t>
            </a:r>
            <a:r>
              <a:rPr lang="en-US" altLang="zh-CN" sz="2400" b="1" dirty="0"/>
              <a:t>&lt;U</a:t>
            </a:r>
            <a:r>
              <a:rPr lang="en-US" altLang="zh-CN" sz="2400" b="1" baseline="-25000" dirty="0"/>
              <a:t>R2</a:t>
            </a:r>
            <a:r>
              <a:rPr lang="zh-CN" altLang="en-US" sz="2400" b="1" dirty="0"/>
              <a:t>，所以电路维持稳定状态不变。 </a:t>
            </a:r>
            <a:endParaRPr lang="zh-CN" altLang="en-US" sz="2400" b="1" dirty="0"/>
          </a:p>
        </p:txBody>
      </p:sp>
    </p:spTree>
  </p:cSld>
  <p:clrMapOvr>
    <a:masterClrMapping/>
  </p:clrMapOvr>
  <p:transition>
    <p:checke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Text Box 4"/>
          <p:cNvSpPr txBox="1"/>
          <p:nvPr/>
        </p:nvSpPr>
        <p:spPr>
          <a:xfrm>
            <a:off x="304800" y="457200"/>
            <a:ext cx="8534400" cy="17351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0000"/>
              </a:lnSpc>
              <a:spcBef>
                <a:spcPct val="50000"/>
              </a:spcBef>
              <a:buNone/>
            </a:pPr>
            <a:r>
              <a:rPr lang="en-US" altLang="zh-CN" sz="2400" dirty="0"/>
              <a:t>        </a:t>
            </a:r>
            <a:r>
              <a:rPr lang="zh-CN" altLang="en-US" sz="2400" b="1" dirty="0"/>
              <a:t>电路输出脉冲的宽度</a:t>
            </a:r>
            <a:r>
              <a:rPr lang="en-US" altLang="zh-CN" sz="2400" b="1" dirty="0"/>
              <a:t>T</a:t>
            </a:r>
            <a:r>
              <a:rPr lang="en-US" altLang="zh-CN" sz="2400" b="1" baseline="-25000" dirty="0"/>
              <a:t>W</a:t>
            </a:r>
            <a:r>
              <a:rPr lang="zh-CN" altLang="en-US" sz="2400" b="1" dirty="0"/>
              <a:t>等于暂稳态持续的时间，如果不考虑晶体管的饱和压降，也就是在电容充电过程中电容电压</a:t>
            </a:r>
            <a:r>
              <a:rPr lang="en-US" altLang="zh-CN" sz="2400" b="1" dirty="0"/>
              <a:t>u</a:t>
            </a:r>
            <a:r>
              <a:rPr lang="en-US" altLang="zh-CN" sz="2400" b="1" baseline="-25000" dirty="0"/>
              <a:t>C</a:t>
            </a:r>
            <a:r>
              <a:rPr lang="zh-CN" altLang="en-US" sz="2400" b="1" dirty="0"/>
              <a:t>从</a:t>
            </a:r>
            <a:r>
              <a:rPr lang="en-US" altLang="zh-CN" sz="2400" b="1" dirty="0"/>
              <a:t>0</a:t>
            </a:r>
            <a:r>
              <a:rPr lang="zh-CN" altLang="en-US" sz="2400" b="1" dirty="0"/>
              <a:t>上升到</a:t>
            </a:r>
            <a:r>
              <a:rPr lang="en-US" altLang="zh-CN" sz="2400" b="1" dirty="0"/>
              <a:t>(2/3)U</a:t>
            </a:r>
            <a:r>
              <a:rPr lang="en-US" altLang="zh-CN" sz="2400" b="1" baseline="-25000" dirty="0"/>
              <a:t>CC</a:t>
            </a:r>
            <a:r>
              <a:rPr lang="zh-CN" altLang="en-US" sz="2400" b="1" dirty="0"/>
              <a:t>所用的时间。因此，输出脉冲的宽度为</a:t>
            </a:r>
            <a:endParaRPr lang="zh-CN" altLang="en-US" sz="2400" b="1" dirty="0"/>
          </a:p>
        </p:txBody>
      </p:sp>
      <p:graphicFrame>
        <p:nvGraphicFramePr>
          <p:cNvPr id="93187" name="Object 5"/>
          <p:cNvGraphicFramePr>
            <a:graphicFrameLocks noChangeAspect="1"/>
          </p:cNvGraphicFramePr>
          <p:nvPr/>
        </p:nvGraphicFramePr>
        <p:xfrm>
          <a:off x="2781300" y="2362200"/>
          <a:ext cx="3581400" cy="1431925"/>
        </p:xfrm>
        <a:graphic>
          <a:graphicData uri="http://schemas.openxmlformats.org/presentationml/2006/ole">
            <mc:AlternateContent xmlns:mc="http://schemas.openxmlformats.org/markup-compatibility/2006">
              <mc:Choice xmlns:v="urn:schemas-microsoft-com:vml" Requires="v">
                <p:oleObj spid="_x0000_s3142" name="" r:id="rId1" imgW="1778000" imgH="711200" progId="Equation.3">
                  <p:embed/>
                </p:oleObj>
              </mc:Choice>
              <mc:Fallback>
                <p:oleObj name="" r:id="rId1" imgW="1778000" imgH="711200" progId="Equation.3">
                  <p:embed/>
                  <p:pic>
                    <p:nvPicPr>
                      <p:cNvPr id="0" name="图片 3141"/>
                      <p:cNvPicPr/>
                      <p:nvPr/>
                    </p:nvPicPr>
                    <p:blipFill>
                      <a:blip r:embed="rId2"/>
                      <a:stretch>
                        <a:fillRect/>
                      </a:stretch>
                    </p:blipFill>
                    <p:spPr>
                      <a:xfrm>
                        <a:off x="2781300" y="2362200"/>
                        <a:ext cx="3581400" cy="1431925"/>
                      </a:xfrm>
                      <a:prstGeom prst="rect">
                        <a:avLst/>
                      </a:prstGeom>
                      <a:noFill/>
                      <a:ln w="38100">
                        <a:noFill/>
                        <a:miter/>
                      </a:ln>
                    </p:spPr>
                  </p:pic>
                </p:oleObj>
              </mc:Fallback>
            </mc:AlternateContent>
          </a:graphicData>
        </a:graphic>
      </p:graphicFrame>
      <p:sp>
        <p:nvSpPr>
          <p:cNvPr id="93188" name="Text Box 6"/>
          <p:cNvSpPr txBox="1"/>
          <p:nvPr/>
        </p:nvSpPr>
        <p:spPr>
          <a:xfrm>
            <a:off x="228600" y="3886200"/>
            <a:ext cx="8763000" cy="2397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8000"/>
              </a:lnSpc>
              <a:spcBef>
                <a:spcPct val="50000"/>
              </a:spcBef>
              <a:buNone/>
            </a:pPr>
            <a:r>
              <a:rPr lang="en-US" altLang="zh-CN" sz="2400" dirty="0"/>
              <a:t>        </a:t>
            </a:r>
            <a:r>
              <a:rPr lang="en-US" altLang="zh-CN" sz="2400" b="1" dirty="0"/>
              <a:t>555</a:t>
            </a:r>
            <a:r>
              <a:rPr lang="zh-CN" altLang="en-US" sz="2400" b="1" dirty="0"/>
              <a:t>定时器接成单稳态触发器时，一般外接电阻</a:t>
            </a:r>
            <a:r>
              <a:rPr lang="en-US" altLang="zh-CN" sz="2400" b="1" dirty="0"/>
              <a:t>R</a:t>
            </a:r>
            <a:r>
              <a:rPr lang="zh-CN" altLang="en-US" sz="2400" b="1" dirty="0"/>
              <a:t>的取值范围为</a:t>
            </a:r>
            <a:r>
              <a:rPr lang="en-US" altLang="zh-CN" sz="2400" b="1" dirty="0"/>
              <a:t>2 kΩ</a:t>
            </a:r>
            <a:r>
              <a:rPr lang="zh-CN" altLang="en-US" sz="2400" b="1" dirty="0"/>
              <a:t>～</a:t>
            </a:r>
            <a:r>
              <a:rPr lang="en-US" altLang="zh-CN" sz="2400" b="1" dirty="0"/>
              <a:t>20 MΩ</a:t>
            </a:r>
            <a:r>
              <a:rPr lang="zh-CN" altLang="en-US" sz="2400" b="1" dirty="0"/>
              <a:t>，外接电容</a:t>
            </a:r>
            <a:r>
              <a:rPr lang="en-US" altLang="zh-CN" sz="2400" b="1" dirty="0"/>
              <a:t>C</a:t>
            </a:r>
            <a:r>
              <a:rPr lang="zh-CN" altLang="en-US" sz="2400" b="1" dirty="0"/>
              <a:t>的取值范围为</a:t>
            </a:r>
            <a:r>
              <a:rPr lang="en-US" altLang="zh-CN" sz="2400" b="1" dirty="0"/>
              <a:t>100 pF</a:t>
            </a:r>
            <a:r>
              <a:rPr lang="zh-CN" altLang="en-US" sz="2400" b="1" dirty="0"/>
              <a:t>～</a:t>
            </a:r>
            <a:r>
              <a:rPr lang="en-US" altLang="zh-CN" sz="2400" b="1" dirty="0"/>
              <a:t>1000 μF</a:t>
            </a:r>
            <a:r>
              <a:rPr lang="zh-CN" altLang="en-US" sz="2400" b="1" dirty="0"/>
              <a:t>。 因此，其定时时间可以从几微秒到几小时。但要注意，随着定时时间的增大， 其定时精度和稳定度也将下降。 </a:t>
            </a:r>
            <a:endParaRPr lang="zh-CN" altLang="en-US" sz="2400" b="1" dirty="0"/>
          </a:p>
        </p:txBody>
      </p:sp>
    </p:spTree>
  </p:cSld>
  <p:clrMapOvr>
    <a:masterClrMapping/>
  </p:clrMapOvr>
  <p:transition>
    <p:checke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Text Box 1028"/>
          <p:cNvSpPr txBox="1"/>
          <p:nvPr/>
        </p:nvSpPr>
        <p:spPr>
          <a:xfrm>
            <a:off x="228600" y="533400"/>
            <a:ext cx="8915400" cy="58245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80000"/>
              </a:lnSpc>
              <a:spcBef>
                <a:spcPct val="50000"/>
              </a:spcBef>
              <a:buNone/>
            </a:pPr>
            <a:r>
              <a:rPr lang="en-US" altLang="zh-CN" sz="2400" b="1" dirty="0"/>
              <a:t>7.4.4 555</a:t>
            </a:r>
            <a:r>
              <a:rPr lang="zh-CN" altLang="en-US" sz="2400" b="1" dirty="0"/>
              <a:t>定时器构成的施密特触发器</a:t>
            </a:r>
            <a:endParaRPr lang="zh-CN" altLang="en-US" sz="2400" b="1" dirty="0"/>
          </a:p>
          <a:p>
            <a:pPr marL="0" lvl="0" indent="0" eaLnBrk="1" hangingPunct="1">
              <a:lnSpc>
                <a:spcPct val="180000"/>
              </a:lnSpc>
              <a:spcBef>
                <a:spcPct val="50000"/>
              </a:spcBef>
              <a:buNone/>
            </a:pPr>
            <a:r>
              <a:rPr lang="zh-CN" altLang="en-US" sz="2400" dirty="0"/>
              <a:t>        </a:t>
            </a:r>
            <a:r>
              <a:rPr lang="zh-CN" altLang="en-US" sz="2400" b="1" dirty="0"/>
              <a:t>将</a:t>
            </a:r>
            <a:r>
              <a:rPr lang="en-US" altLang="zh-CN" sz="2400" b="1" dirty="0"/>
              <a:t>555</a:t>
            </a:r>
            <a:r>
              <a:rPr lang="zh-CN" altLang="en-US" sz="2400" b="1" dirty="0"/>
              <a:t>定时器的触发输入端和阈值输入端连在一起并作为外加触发信号</a:t>
            </a:r>
            <a:r>
              <a:rPr lang="en-US" altLang="zh-CN" sz="2400" b="1" dirty="0"/>
              <a:t>u</a:t>
            </a:r>
            <a:r>
              <a:rPr lang="en-US" altLang="zh-CN" sz="2400" b="1" baseline="-25000" dirty="0"/>
              <a:t>I</a:t>
            </a:r>
            <a:r>
              <a:rPr lang="zh-CN" altLang="en-US" sz="2400" b="1" dirty="0"/>
              <a:t>的输入端，就构成了施密特触发器，其电路和传输特性如图</a:t>
            </a:r>
            <a:r>
              <a:rPr lang="en-US" altLang="zh-CN" sz="2400" b="1" dirty="0"/>
              <a:t>7-32</a:t>
            </a:r>
            <a:r>
              <a:rPr lang="zh-CN" altLang="en-US" sz="2400" b="1" dirty="0"/>
              <a:t>所示。电路的参考电压</a:t>
            </a:r>
            <a:r>
              <a:rPr lang="en-US" altLang="zh-CN" sz="2400" b="1" dirty="0"/>
              <a:t>U</a:t>
            </a:r>
            <a:r>
              <a:rPr lang="en-US" altLang="zh-CN" sz="2400" b="1" baseline="-25000" dirty="0"/>
              <a:t>R1</a:t>
            </a:r>
            <a:r>
              <a:rPr lang="en-US" altLang="zh-CN" sz="2400" b="1" dirty="0"/>
              <a:t>=(2/3)U</a:t>
            </a:r>
            <a:r>
              <a:rPr lang="en-US" altLang="zh-CN" sz="2400" b="1" baseline="-25000" dirty="0"/>
              <a:t>CC</a:t>
            </a:r>
            <a:r>
              <a:rPr lang="zh-CN" altLang="en-US" sz="2400" b="1" dirty="0"/>
              <a:t>，</a:t>
            </a:r>
            <a:r>
              <a:rPr lang="en-US" altLang="zh-CN" sz="2400" b="1" dirty="0"/>
              <a:t>U</a:t>
            </a:r>
            <a:r>
              <a:rPr lang="en-US" altLang="zh-CN" sz="2400" b="1" baseline="-25000" dirty="0"/>
              <a:t>R2</a:t>
            </a:r>
            <a:r>
              <a:rPr lang="en-US" altLang="zh-CN" sz="2400" b="1" dirty="0"/>
              <a:t>=(1/3)U</a:t>
            </a:r>
            <a:r>
              <a:rPr lang="en-US" altLang="zh-CN" sz="2400" b="1" baseline="-25000" dirty="0"/>
              <a:t>CC</a:t>
            </a:r>
            <a:r>
              <a:rPr lang="zh-CN" altLang="en-US" sz="2400" b="1" dirty="0"/>
              <a:t>。</a:t>
            </a:r>
            <a:endParaRPr lang="zh-CN" altLang="en-US" sz="2400" b="1" dirty="0"/>
          </a:p>
          <a:p>
            <a:pPr marL="0" lvl="0" indent="0" eaLnBrk="1" hangingPunct="1">
              <a:lnSpc>
                <a:spcPct val="150000"/>
              </a:lnSpc>
              <a:spcBef>
                <a:spcPct val="50000"/>
              </a:spcBef>
              <a:buNone/>
            </a:pPr>
            <a:r>
              <a:rPr lang="zh-CN" altLang="en-US" sz="2400" b="1" dirty="0"/>
              <a:t>         在</a:t>
            </a:r>
            <a:r>
              <a:rPr lang="en-US" altLang="zh-CN" sz="2400" b="1" dirty="0"/>
              <a:t>u</a:t>
            </a:r>
            <a:r>
              <a:rPr lang="en-US" altLang="zh-CN" sz="2400" b="1" baseline="-25000" dirty="0"/>
              <a:t>I</a:t>
            </a:r>
            <a:r>
              <a:rPr lang="zh-CN" altLang="en-US" sz="2400" b="1" dirty="0"/>
              <a:t>从</a:t>
            </a:r>
            <a:r>
              <a:rPr lang="en-US" altLang="zh-CN" sz="2400" b="1" dirty="0"/>
              <a:t>0</a:t>
            </a:r>
            <a:r>
              <a:rPr lang="zh-CN" altLang="en-US" sz="2400" b="1" dirty="0"/>
              <a:t>开始升高的过程中，当</a:t>
            </a:r>
            <a:r>
              <a:rPr lang="en-US" altLang="zh-CN" sz="2400" b="1" dirty="0"/>
              <a:t>u</a:t>
            </a:r>
            <a:r>
              <a:rPr lang="en-US" altLang="zh-CN" sz="2400" b="1" baseline="-25000" dirty="0"/>
              <a:t>I</a:t>
            </a:r>
            <a:r>
              <a:rPr lang="en-US" altLang="zh-CN" sz="2400" b="1" dirty="0"/>
              <a:t>&lt;(1/3)U</a:t>
            </a:r>
            <a:r>
              <a:rPr lang="en-US" altLang="zh-CN" sz="2400" b="1" baseline="-25000" dirty="0"/>
              <a:t>CC</a:t>
            </a:r>
            <a:r>
              <a:rPr lang="zh-CN" altLang="en-US" sz="2400" b="1" dirty="0"/>
              <a:t>时，满足</a:t>
            </a:r>
            <a:r>
              <a:rPr lang="en-US" altLang="zh-CN" sz="2400" b="1" dirty="0"/>
              <a:t>u</a:t>
            </a:r>
            <a:r>
              <a:rPr lang="en-US" altLang="zh-CN" sz="2400" b="1" baseline="-25000" dirty="0"/>
              <a:t>I1</a:t>
            </a:r>
            <a:r>
              <a:rPr lang="en-US" altLang="zh-CN" sz="2400" b="1" dirty="0"/>
              <a:t>&lt;U</a:t>
            </a:r>
            <a:r>
              <a:rPr lang="en-US" altLang="zh-CN" sz="2400" b="1" baseline="-25000" dirty="0"/>
              <a:t>R1</a:t>
            </a:r>
            <a:r>
              <a:rPr lang="zh-CN" altLang="en-US" sz="2400" b="1" dirty="0"/>
              <a:t>、 </a:t>
            </a:r>
            <a:r>
              <a:rPr lang="en-US" altLang="zh-CN" sz="2400" b="1" dirty="0"/>
              <a:t>u</a:t>
            </a:r>
            <a:r>
              <a:rPr lang="en-US" altLang="zh-CN" sz="2400" b="1" baseline="-25000" dirty="0"/>
              <a:t>I2</a:t>
            </a:r>
            <a:r>
              <a:rPr lang="en-US" altLang="zh-CN" sz="2400" b="1" dirty="0"/>
              <a:t>&lt;U</a:t>
            </a:r>
            <a:r>
              <a:rPr lang="en-US" altLang="zh-CN" sz="2400" b="1" baseline="-25000" dirty="0"/>
              <a:t>R2</a:t>
            </a:r>
            <a:r>
              <a:rPr lang="zh-CN" altLang="en-US" sz="2400" b="1" dirty="0"/>
              <a:t>，所以电路输出</a:t>
            </a:r>
            <a:r>
              <a:rPr lang="en-US" altLang="zh-CN" sz="2400" b="1" dirty="0"/>
              <a:t>u</a:t>
            </a:r>
            <a:r>
              <a:rPr lang="en-US" altLang="zh-CN" sz="2400" b="1" baseline="-25000" dirty="0"/>
              <a:t>O</a:t>
            </a:r>
            <a:r>
              <a:rPr lang="zh-CN" altLang="en-US" sz="2400" b="1" dirty="0"/>
              <a:t>为高电平；当</a:t>
            </a:r>
            <a:r>
              <a:rPr lang="en-US" altLang="zh-CN" sz="2400" b="1" dirty="0"/>
              <a:t>(1/3) U</a:t>
            </a:r>
            <a:r>
              <a:rPr lang="en-US" altLang="zh-CN" sz="2400" b="1" baseline="-25000" dirty="0"/>
              <a:t>CC</a:t>
            </a:r>
            <a:r>
              <a:rPr lang="en-US" altLang="zh-CN" sz="2400" b="1" dirty="0"/>
              <a:t>&lt;u</a:t>
            </a:r>
            <a:r>
              <a:rPr lang="en-US" altLang="zh-CN" sz="2400" b="1" baseline="-25000" dirty="0"/>
              <a:t>I</a:t>
            </a:r>
            <a:r>
              <a:rPr lang="en-US" altLang="zh-CN" sz="2400" b="1" dirty="0"/>
              <a:t>&lt;(2/3)U</a:t>
            </a:r>
            <a:r>
              <a:rPr lang="en-US" altLang="zh-CN" sz="2400" b="1" baseline="-25000" dirty="0"/>
              <a:t>CC</a:t>
            </a:r>
            <a:r>
              <a:rPr lang="zh-CN" altLang="en-US" sz="2400" b="1" dirty="0"/>
              <a:t>时， 满足</a:t>
            </a:r>
            <a:r>
              <a:rPr lang="en-US" altLang="zh-CN" sz="2400" b="1" dirty="0"/>
              <a:t>u</a:t>
            </a:r>
            <a:r>
              <a:rPr lang="en-US" altLang="zh-CN" sz="2400" b="1" baseline="-25000" dirty="0"/>
              <a:t>I1</a:t>
            </a:r>
            <a:r>
              <a:rPr lang="en-US" altLang="zh-CN" sz="2400" b="1" dirty="0"/>
              <a:t>&lt;U</a:t>
            </a:r>
            <a:r>
              <a:rPr lang="en-US" altLang="zh-CN" sz="2400" b="1" baseline="-25000" dirty="0"/>
              <a:t>R1</a:t>
            </a:r>
            <a:r>
              <a:rPr lang="zh-CN" altLang="en-US" sz="2400" b="1" dirty="0"/>
              <a:t>、</a:t>
            </a:r>
            <a:r>
              <a:rPr lang="en-US" altLang="zh-CN" sz="2400" b="1" dirty="0"/>
              <a:t>u</a:t>
            </a:r>
            <a:r>
              <a:rPr lang="en-US" altLang="zh-CN" sz="2400" b="1" baseline="-25000" dirty="0"/>
              <a:t>I2</a:t>
            </a:r>
            <a:r>
              <a:rPr lang="en-US" altLang="zh-CN" sz="2400" b="1" dirty="0"/>
              <a:t>&gt;U</a:t>
            </a:r>
            <a:r>
              <a:rPr lang="en-US" altLang="zh-CN" sz="2400" b="1" baseline="-25000" dirty="0"/>
              <a:t>R2</a:t>
            </a:r>
            <a:r>
              <a:rPr lang="zh-CN" altLang="en-US" sz="2400" b="1" dirty="0"/>
              <a:t>，</a:t>
            </a:r>
            <a:r>
              <a:rPr lang="en-US" altLang="zh-CN" sz="2400" b="1" dirty="0"/>
              <a:t>555</a:t>
            </a:r>
            <a:r>
              <a:rPr lang="zh-CN" altLang="en-US" sz="2400" b="1" dirty="0"/>
              <a:t>定时器的状态保持不变，</a:t>
            </a:r>
            <a:r>
              <a:rPr lang="en-US" altLang="zh-CN" sz="2400" b="1" dirty="0"/>
              <a:t>u</a:t>
            </a:r>
            <a:r>
              <a:rPr lang="en-US" altLang="zh-CN" sz="2400" b="1" baseline="-25000" dirty="0"/>
              <a:t>O</a:t>
            </a:r>
            <a:r>
              <a:rPr lang="zh-CN" altLang="en-US" sz="2400" b="1" dirty="0"/>
              <a:t>仍为高电平；当</a:t>
            </a:r>
            <a:r>
              <a:rPr lang="en-US" altLang="zh-CN" sz="2400" b="1" dirty="0"/>
              <a:t>u</a:t>
            </a:r>
            <a:r>
              <a:rPr lang="en-US" altLang="zh-CN" sz="2400" b="1" baseline="-25000" dirty="0"/>
              <a:t>I</a:t>
            </a:r>
            <a:r>
              <a:rPr lang="en-US" altLang="zh-CN" sz="2400" b="1" dirty="0"/>
              <a:t>&gt;(2/3)U</a:t>
            </a:r>
            <a:r>
              <a:rPr lang="en-US" altLang="zh-CN" sz="2400" b="1" baseline="-25000" dirty="0"/>
              <a:t>CC</a:t>
            </a:r>
            <a:r>
              <a:rPr lang="zh-CN" altLang="en-US" sz="2400" b="1" dirty="0"/>
              <a:t>后，满足</a:t>
            </a:r>
            <a:r>
              <a:rPr lang="en-US" altLang="zh-CN" sz="2400" b="1" dirty="0"/>
              <a:t>u</a:t>
            </a:r>
            <a:r>
              <a:rPr lang="en-US" altLang="zh-CN" sz="2400" b="1" baseline="-25000" dirty="0"/>
              <a:t>I1</a:t>
            </a:r>
            <a:r>
              <a:rPr lang="en-US" altLang="zh-CN" sz="2400" b="1" dirty="0"/>
              <a:t>&gt;U</a:t>
            </a:r>
            <a:r>
              <a:rPr lang="en-US" altLang="zh-CN" sz="2400" b="1" baseline="-25000" dirty="0"/>
              <a:t>R1</a:t>
            </a:r>
            <a:r>
              <a:rPr lang="zh-CN" altLang="en-US" sz="2400" b="1" dirty="0"/>
              <a:t>、</a:t>
            </a:r>
            <a:r>
              <a:rPr lang="en-US" altLang="zh-CN" sz="2400" b="1" dirty="0"/>
              <a:t>u</a:t>
            </a:r>
            <a:r>
              <a:rPr lang="en-US" altLang="zh-CN" sz="2400" b="1" baseline="-25000" dirty="0"/>
              <a:t>I2</a:t>
            </a:r>
            <a:r>
              <a:rPr lang="en-US" altLang="zh-CN" sz="2400" b="1" dirty="0"/>
              <a:t>&gt;U</a:t>
            </a:r>
            <a:r>
              <a:rPr lang="en-US" altLang="zh-CN" sz="2400" b="1" baseline="-25000" dirty="0"/>
              <a:t>R2</a:t>
            </a:r>
            <a:r>
              <a:rPr lang="zh-CN" altLang="en-US" sz="2400" b="1" dirty="0"/>
              <a:t>，</a:t>
            </a:r>
            <a:r>
              <a:rPr lang="en-US" altLang="zh-CN" sz="2400" b="1" dirty="0"/>
              <a:t>u</a:t>
            </a:r>
            <a:r>
              <a:rPr lang="en-US" altLang="zh-CN" sz="2400" b="1" baseline="-25000" dirty="0"/>
              <a:t>O</a:t>
            </a:r>
            <a:r>
              <a:rPr lang="zh-CN" altLang="en-US" sz="2400" b="1" dirty="0"/>
              <a:t>才跳变到低电平。 </a:t>
            </a:r>
            <a:endParaRPr lang="zh-CN" altLang="en-US" sz="2400" b="1" dirty="0"/>
          </a:p>
        </p:txBody>
      </p:sp>
    </p:spTree>
  </p:cSld>
  <p:clrMapOvr>
    <a:masterClrMapping/>
  </p:clrMapOvr>
  <p:transition>
    <p:checke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Text Box 4"/>
          <p:cNvSpPr txBox="1"/>
          <p:nvPr/>
        </p:nvSpPr>
        <p:spPr>
          <a:xfrm>
            <a:off x="304800" y="914400"/>
            <a:ext cx="8610600" cy="6397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50000"/>
              </a:lnSpc>
              <a:spcBef>
                <a:spcPct val="50000"/>
              </a:spcBef>
              <a:buNone/>
            </a:pPr>
            <a:r>
              <a:rPr lang="en-US" altLang="zh-CN" sz="2400" dirty="0"/>
              <a:t>       </a:t>
            </a:r>
            <a:endParaRPr lang="en-US" altLang="zh-CN" sz="2400" dirty="0"/>
          </a:p>
        </p:txBody>
      </p:sp>
      <p:sp>
        <p:nvSpPr>
          <p:cNvPr id="95235" name="Text Box 5"/>
          <p:cNvSpPr txBox="1"/>
          <p:nvPr/>
        </p:nvSpPr>
        <p:spPr>
          <a:xfrm>
            <a:off x="228600" y="609600"/>
            <a:ext cx="8915400" cy="55768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45000"/>
              </a:lnSpc>
              <a:spcBef>
                <a:spcPct val="50000"/>
              </a:spcBef>
              <a:buNone/>
            </a:pPr>
            <a:r>
              <a:rPr lang="en-US" altLang="zh-CN" sz="2400" dirty="0"/>
              <a:t>       </a:t>
            </a:r>
            <a:r>
              <a:rPr lang="zh-CN" altLang="en-US" sz="2400" b="1" dirty="0"/>
              <a:t>在</a:t>
            </a:r>
            <a:r>
              <a:rPr lang="en-US" altLang="zh-CN" sz="2400" b="1" dirty="0"/>
              <a:t>u</a:t>
            </a:r>
            <a:r>
              <a:rPr lang="en-US" altLang="zh-CN" sz="2400" b="1" baseline="-25000" dirty="0"/>
              <a:t>I</a:t>
            </a:r>
            <a:r>
              <a:rPr lang="zh-CN" altLang="en-US" sz="2400" b="1" dirty="0"/>
              <a:t>从高于</a:t>
            </a:r>
            <a:r>
              <a:rPr lang="en-US" altLang="zh-CN" sz="2400" b="1" dirty="0"/>
              <a:t>(2/3)U</a:t>
            </a:r>
            <a:r>
              <a:rPr lang="en-US" altLang="zh-CN" sz="2400" b="1" baseline="-25000" dirty="0"/>
              <a:t>CC</a:t>
            </a:r>
            <a:r>
              <a:rPr lang="zh-CN" altLang="en-US" sz="2400" b="1" dirty="0"/>
              <a:t>的电压开始下降的过程中，当</a:t>
            </a:r>
            <a:r>
              <a:rPr lang="en-US" altLang="zh-CN" sz="2400" b="1" dirty="0"/>
              <a:t>(1/3)U</a:t>
            </a:r>
            <a:r>
              <a:rPr lang="en-US" altLang="zh-CN" sz="2400" b="1" baseline="-25000" dirty="0"/>
              <a:t>CC</a:t>
            </a:r>
            <a:r>
              <a:rPr lang="en-US" altLang="zh-CN" sz="2400" b="1" dirty="0"/>
              <a:t>&lt;u</a:t>
            </a:r>
            <a:r>
              <a:rPr lang="en-US" altLang="zh-CN" sz="2400" b="1" baseline="-25000" dirty="0"/>
              <a:t>I</a:t>
            </a:r>
            <a:r>
              <a:rPr lang="en-US" altLang="zh-CN" sz="2400" b="1" dirty="0"/>
              <a:t>&lt;(2/3)U</a:t>
            </a:r>
            <a:r>
              <a:rPr lang="en-US" altLang="zh-CN" sz="2400" b="1" baseline="-25000" dirty="0"/>
              <a:t>CC</a:t>
            </a:r>
            <a:r>
              <a:rPr lang="zh-CN" altLang="en-US" sz="2400" b="1" dirty="0"/>
              <a:t>时，满足</a:t>
            </a:r>
            <a:r>
              <a:rPr lang="en-US" altLang="zh-CN" sz="2400" b="1" dirty="0"/>
              <a:t>u</a:t>
            </a:r>
            <a:r>
              <a:rPr lang="en-US" altLang="zh-CN" sz="2400" b="1" baseline="-25000" dirty="0"/>
              <a:t>I1</a:t>
            </a:r>
            <a:r>
              <a:rPr lang="en-US" altLang="zh-CN" sz="2400" b="1" dirty="0"/>
              <a:t>&lt; U</a:t>
            </a:r>
            <a:r>
              <a:rPr lang="en-US" altLang="zh-CN" sz="2400" b="1" baseline="-25000" dirty="0"/>
              <a:t>R1</a:t>
            </a:r>
            <a:r>
              <a:rPr lang="zh-CN" altLang="en-US" sz="2400" b="1" dirty="0"/>
              <a:t>、</a:t>
            </a:r>
            <a:r>
              <a:rPr lang="en-US" altLang="zh-CN" sz="2400" b="1" dirty="0"/>
              <a:t>u</a:t>
            </a:r>
            <a:r>
              <a:rPr lang="en-US" altLang="zh-CN" sz="2400" b="1" baseline="-25000" dirty="0"/>
              <a:t>I2</a:t>
            </a:r>
            <a:r>
              <a:rPr lang="en-US" altLang="zh-CN" sz="2400" b="1" dirty="0"/>
              <a:t>&gt;</a:t>
            </a:r>
            <a:r>
              <a:rPr lang="zh-CN" altLang="en-US" sz="2400" b="1" dirty="0"/>
              <a:t>Ｕ</a:t>
            </a:r>
            <a:r>
              <a:rPr lang="en-US" altLang="zh-CN" sz="2400" b="1" baseline="-25000" dirty="0"/>
              <a:t>R2</a:t>
            </a:r>
            <a:r>
              <a:rPr lang="zh-CN" altLang="en-US" sz="2400" b="1" dirty="0"/>
              <a:t>，</a:t>
            </a:r>
            <a:r>
              <a:rPr lang="en-US" altLang="zh-CN" sz="2400" b="1" dirty="0"/>
              <a:t>u</a:t>
            </a:r>
            <a:r>
              <a:rPr lang="en-US" altLang="zh-CN" sz="2400" b="1" baseline="-25000" dirty="0"/>
              <a:t>O</a:t>
            </a:r>
            <a:r>
              <a:rPr lang="zh-CN" altLang="en-US" sz="2400" b="1" dirty="0"/>
              <a:t>仍保持低电平不变；只有当</a:t>
            </a:r>
            <a:r>
              <a:rPr lang="en-US" altLang="zh-CN" sz="2400" b="1" dirty="0"/>
              <a:t>u</a:t>
            </a:r>
            <a:r>
              <a:rPr lang="en-US" altLang="zh-CN" sz="2400" b="1" baseline="-25000" dirty="0"/>
              <a:t>I</a:t>
            </a:r>
            <a:r>
              <a:rPr lang="en-US" altLang="zh-CN" sz="2400" b="1" dirty="0"/>
              <a:t>&lt;(1/3)U</a:t>
            </a:r>
            <a:r>
              <a:rPr lang="en-US" altLang="zh-CN" sz="2400" b="1" baseline="-25000" dirty="0"/>
              <a:t>CC</a:t>
            </a:r>
            <a:r>
              <a:rPr lang="zh-CN" altLang="en-US" sz="2400" b="1" dirty="0"/>
              <a:t>后，满足</a:t>
            </a:r>
            <a:r>
              <a:rPr lang="en-US" altLang="zh-CN" sz="2400" b="1" dirty="0"/>
              <a:t>u</a:t>
            </a:r>
            <a:r>
              <a:rPr lang="en-US" altLang="zh-CN" sz="2400" b="1" baseline="-25000" dirty="0"/>
              <a:t>I1</a:t>
            </a:r>
            <a:r>
              <a:rPr lang="en-US" altLang="zh-CN" sz="2400" b="1" dirty="0"/>
              <a:t>&lt;U</a:t>
            </a:r>
            <a:r>
              <a:rPr lang="en-US" altLang="zh-CN" sz="2400" b="1" baseline="-25000" dirty="0"/>
              <a:t>R1</a:t>
            </a:r>
            <a:r>
              <a:rPr lang="zh-CN" altLang="en-US" sz="2400" b="1" dirty="0"/>
              <a:t>、</a:t>
            </a:r>
            <a:r>
              <a:rPr lang="en-US" altLang="zh-CN" sz="2400" b="1" dirty="0"/>
              <a:t>u</a:t>
            </a:r>
            <a:r>
              <a:rPr lang="en-US" altLang="zh-CN" sz="2400" b="1" baseline="-25000" dirty="0"/>
              <a:t>I2</a:t>
            </a:r>
            <a:r>
              <a:rPr lang="en-US" altLang="zh-CN" sz="2400" b="1" dirty="0"/>
              <a:t>&lt;U</a:t>
            </a:r>
            <a:r>
              <a:rPr lang="en-US" altLang="zh-CN" sz="2400" b="1" baseline="-25000" dirty="0"/>
              <a:t>R2</a:t>
            </a:r>
            <a:r>
              <a:rPr lang="zh-CN" altLang="en-US" sz="2400" b="1" dirty="0"/>
              <a:t>，</a:t>
            </a:r>
            <a:r>
              <a:rPr lang="en-US" altLang="zh-CN" sz="2400" b="1" dirty="0"/>
              <a:t>u</a:t>
            </a:r>
            <a:r>
              <a:rPr lang="en-US" altLang="zh-CN" sz="2400" b="1" baseline="-25000" dirty="0"/>
              <a:t>O</a:t>
            </a:r>
            <a:r>
              <a:rPr lang="zh-CN" altLang="en-US" sz="2400" b="1" dirty="0"/>
              <a:t>才又跳变到高电平。 </a:t>
            </a:r>
            <a:endParaRPr lang="zh-CN" altLang="en-US" sz="2400" b="1" dirty="0"/>
          </a:p>
          <a:p>
            <a:pPr marL="0" lvl="0" indent="0" eaLnBrk="1" hangingPunct="1">
              <a:lnSpc>
                <a:spcPct val="145000"/>
              </a:lnSpc>
              <a:spcBef>
                <a:spcPct val="50000"/>
              </a:spcBef>
              <a:buNone/>
            </a:pPr>
            <a:r>
              <a:rPr lang="zh-CN" altLang="en-US" sz="2400" b="1" dirty="0"/>
              <a:t>        通过以上的分析，显然可以得到该施密特触发器的正向阈值电压</a:t>
            </a:r>
            <a:r>
              <a:rPr lang="en-US" altLang="zh-CN" sz="2400" b="1" dirty="0"/>
              <a:t>U</a:t>
            </a:r>
            <a:r>
              <a:rPr lang="en-US" altLang="zh-CN" sz="2400" b="1" baseline="-25000" dirty="0"/>
              <a:t>T+</a:t>
            </a:r>
            <a:r>
              <a:rPr lang="en-US" altLang="zh-CN" sz="2400" b="1" dirty="0"/>
              <a:t>=U</a:t>
            </a:r>
            <a:r>
              <a:rPr lang="en-US" altLang="zh-CN" sz="2400" b="1" baseline="-25000" dirty="0"/>
              <a:t>R1</a:t>
            </a:r>
            <a:r>
              <a:rPr lang="en-US" altLang="zh-CN" sz="2400" b="1" dirty="0"/>
              <a:t>=(2/3)U</a:t>
            </a:r>
            <a:r>
              <a:rPr lang="en-US" altLang="zh-CN" sz="2400" b="1" baseline="-25000" dirty="0"/>
              <a:t>CC</a:t>
            </a:r>
            <a:r>
              <a:rPr lang="zh-CN" altLang="en-US" sz="2400" b="1" dirty="0"/>
              <a:t>，负向阈值电压</a:t>
            </a:r>
            <a:r>
              <a:rPr lang="en-US" altLang="zh-CN" sz="2400" b="1" dirty="0"/>
              <a:t>U</a:t>
            </a:r>
            <a:r>
              <a:rPr lang="en-US" altLang="zh-CN" sz="2400" b="1" baseline="-25000" dirty="0"/>
              <a:t>T-</a:t>
            </a:r>
            <a:r>
              <a:rPr lang="en-US" altLang="zh-CN" sz="2400" b="1" dirty="0"/>
              <a:t>= U</a:t>
            </a:r>
            <a:r>
              <a:rPr lang="en-US" altLang="zh-CN" sz="2400" b="1" baseline="-25000" dirty="0"/>
              <a:t>R2</a:t>
            </a:r>
            <a:r>
              <a:rPr lang="en-US" altLang="zh-CN" sz="2400" b="1" dirty="0"/>
              <a:t>= (1/3)U</a:t>
            </a:r>
            <a:r>
              <a:rPr lang="en-US" altLang="zh-CN" sz="2400" b="1" baseline="-25000" dirty="0"/>
              <a:t>CC</a:t>
            </a:r>
            <a:r>
              <a:rPr lang="zh-CN" altLang="en-US" sz="2400" b="1" dirty="0"/>
              <a:t>，则回差电压</a:t>
            </a:r>
            <a:r>
              <a:rPr lang="en-US" altLang="zh-CN" sz="2400" b="1" dirty="0"/>
              <a:t>ΔU</a:t>
            </a:r>
            <a:r>
              <a:rPr lang="en-US" altLang="zh-CN" sz="2400" b="1" baseline="-25000" dirty="0"/>
              <a:t>T</a:t>
            </a:r>
            <a:r>
              <a:rPr lang="en-US" altLang="zh-CN" sz="2400" b="1" dirty="0"/>
              <a:t> = U</a:t>
            </a:r>
            <a:r>
              <a:rPr lang="en-US" altLang="zh-CN" sz="2400" b="1" baseline="-25000" dirty="0"/>
              <a:t>R1</a:t>
            </a:r>
            <a:r>
              <a:rPr lang="en-US" altLang="zh-CN" sz="2400" b="1" dirty="0"/>
              <a:t>-U</a:t>
            </a:r>
            <a:r>
              <a:rPr lang="en-US" altLang="zh-CN" sz="2400" b="1" baseline="-25000" dirty="0"/>
              <a:t>R2</a:t>
            </a:r>
            <a:r>
              <a:rPr lang="en-US" altLang="zh-CN" sz="2400" b="1" dirty="0"/>
              <a:t>= (1/3)U</a:t>
            </a:r>
            <a:r>
              <a:rPr lang="en-US" altLang="zh-CN" sz="2400" b="1" baseline="-25000" dirty="0"/>
              <a:t>CC</a:t>
            </a:r>
            <a:r>
              <a:rPr lang="zh-CN" altLang="en-US" sz="2400" b="1" dirty="0"/>
              <a:t>。可见这种用</a:t>
            </a:r>
            <a:r>
              <a:rPr lang="en-US" altLang="zh-CN" sz="2400" b="1" dirty="0"/>
              <a:t>555</a:t>
            </a:r>
            <a:r>
              <a:rPr lang="zh-CN" altLang="en-US" sz="2400" b="1" dirty="0"/>
              <a:t>定时器构成的施密特触发器的传输特性取决于两个参考电压。当然，我们也可以用外接控制电压</a:t>
            </a:r>
            <a:r>
              <a:rPr lang="en-US" altLang="zh-CN" sz="2400" b="1" dirty="0"/>
              <a:t>U</a:t>
            </a:r>
            <a:r>
              <a:rPr lang="en-US" altLang="zh-CN" sz="2400" b="1" baseline="-25000" dirty="0"/>
              <a:t>IC</a:t>
            </a:r>
            <a:r>
              <a:rPr lang="zh-CN" altLang="en-US" sz="2400" b="1" dirty="0"/>
              <a:t>来控制参考电压</a:t>
            </a:r>
            <a:r>
              <a:rPr lang="en-US" altLang="zh-CN" sz="2400" b="1" dirty="0"/>
              <a:t>U</a:t>
            </a:r>
            <a:r>
              <a:rPr lang="en-US" altLang="zh-CN" sz="2400" b="1" baseline="-25000" dirty="0"/>
              <a:t>R1</a:t>
            </a:r>
            <a:r>
              <a:rPr lang="zh-CN" altLang="en-US" sz="2400" b="1" dirty="0"/>
              <a:t>、Ｕ</a:t>
            </a:r>
            <a:r>
              <a:rPr lang="en-US" altLang="zh-CN" sz="2400" b="1" baseline="-25000" dirty="0"/>
              <a:t>R2</a:t>
            </a:r>
            <a:r>
              <a:rPr lang="zh-CN" altLang="en-US" sz="2400" b="1" dirty="0"/>
              <a:t>，这样通过改变控制电压</a:t>
            </a:r>
            <a:r>
              <a:rPr lang="en-US" altLang="zh-CN" sz="2400" b="1" dirty="0"/>
              <a:t>U</a:t>
            </a:r>
            <a:r>
              <a:rPr lang="en-US" altLang="zh-CN" sz="2400" b="1" baseline="-25000" dirty="0"/>
              <a:t>IC</a:t>
            </a:r>
            <a:r>
              <a:rPr lang="zh-CN" altLang="en-US" sz="2400" b="1" dirty="0"/>
              <a:t>的大小即可对施密特触发器的传输特性进行调整。 </a:t>
            </a:r>
            <a:endParaRPr lang="zh-CN" altLang="en-US" sz="2400" b="1" dirty="0"/>
          </a:p>
        </p:txBody>
      </p:sp>
    </p:spTree>
  </p:cSld>
  <p:clrMapOvr>
    <a:masterClrMapping/>
  </p:clrMapOvr>
  <p:transition>
    <p:checke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6258" name="Object 2"/>
          <p:cNvGraphicFramePr>
            <a:graphicFrameLocks noChangeAspect="1"/>
          </p:cNvGraphicFramePr>
          <p:nvPr/>
        </p:nvGraphicFramePr>
        <p:xfrm>
          <a:off x="0" y="609600"/>
          <a:ext cx="9144000" cy="4873625"/>
        </p:xfrm>
        <a:graphic>
          <a:graphicData uri="http://schemas.openxmlformats.org/presentationml/2006/ole">
            <mc:AlternateContent xmlns:mc="http://schemas.openxmlformats.org/markup-compatibility/2006">
              <mc:Choice xmlns:v="urn:schemas-microsoft-com:vml" Requires="v">
                <p:oleObj spid="_x0000_s3139" name="" r:id="rId1" imgW="3771900" imgH="2011680" progId="Visio.Drawing.4">
                  <p:embed/>
                </p:oleObj>
              </mc:Choice>
              <mc:Fallback>
                <p:oleObj name="" r:id="rId1" imgW="3771900" imgH="2011680" progId="Visio.Drawing.4">
                  <p:embed/>
                  <p:pic>
                    <p:nvPicPr>
                      <p:cNvPr id="0" name="图片 3138"/>
                      <p:cNvPicPr/>
                      <p:nvPr/>
                    </p:nvPicPr>
                    <p:blipFill>
                      <a:blip r:embed="rId2"/>
                      <a:stretch>
                        <a:fillRect/>
                      </a:stretch>
                    </p:blipFill>
                    <p:spPr>
                      <a:xfrm>
                        <a:off x="0" y="609600"/>
                        <a:ext cx="9144000" cy="4873625"/>
                      </a:xfrm>
                      <a:prstGeom prst="rect">
                        <a:avLst/>
                      </a:prstGeom>
                      <a:noFill/>
                      <a:ln w="38100">
                        <a:noFill/>
                        <a:miter/>
                      </a:ln>
                    </p:spPr>
                  </p:pic>
                </p:oleObj>
              </mc:Fallback>
            </mc:AlternateContent>
          </a:graphicData>
        </a:graphic>
      </p:graphicFrame>
      <p:sp>
        <p:nvSpPr>
          <p:cNvPr id="96259" name="AutoShape 3">
            <a:hlinkClick r:id="" action="ppaction://hlinkshowjump?jump=firstslide"/>
          </p:cNvPr>
          <p:cNvSpPr/>
          <p:nvPr/>
        </p:nvSpPr>
        <p:spPr>
          <a:xfrm>
            <a:off x="8458200" y="6470650"/>
            <a:ext cx="685800" cy="3810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96260" name="Text Box 4"/>
          <p:cNvSpPr txBox="1"/>
          <p:nvPr/>
        </p:nvSpPr>
        <p:spPr>
          <a:xfrm>
            <a:off x="2057400" y="5638800"/>
            <a:ext cx="53149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t>图</a:t>
            </a:r>
            <a:r>
              <a:rPr lang="en-US" altLang="zh-CN" sz="2400" b="1" dirty="0"/>
              <a:t>7-32  </a:t>
            </a:r>
            <a:r>
              <a:rPr lang="zh-CN" altLang="en-US" sz="2400" b="1" dirty="0"/>
              <a:t>用</a:t>
            </a:r>
            <a:r>
              <a:rPr lang="en-US" altLang="zh-CN" sz="2400" b="1" dirty="0"/>
              <a:t>555</a:t>
            </a:r>
            <a:r>
              <a:rPr lang="zh-CN" altLang="en-US" sz="2400" b="1" dirty="0"/>
              <a:t>定时器构成施密特触发器</a:t>
            </a:r>
            <a:endParaRPr lang="zh-CN" altLang="en-US" sz="2400" b="1" dirty="0"/>
          </a:p>
        </p:txBody>
      </p:sp>
    </p:spTree>
  </p:cSld>
  <p:clrMapOvr>
    <a:masterClrMapping/>
  </p:clrMapOvr>
  <p:transition>
    <p:checker/>
  </p:transition>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66"/>
      </a:hlink>
      <a:folHlink>
        <a:srgbClr val="6600FF"/>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Textured</Template>
  <TotalTime>0</TotalTime>
  <Words>12624</Words>
  <Application>WPS 演示</Application>
  <PresentationFormat>全屏显示(4:3)</PresentationFormat>
  <Paragraphs>365</Paragraphs>
  <Slides>93</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74</vt:i4>
      </vt:variant>
      <vt:variant>
        <vt:lpstr>幻灯片标题</vt:lpstr>
      </vt:variant>
      <vt:variant>
        <vt:i4>93</vt:i4>
      </vt:variant>
    </vt:vector>
  </HeadingPairs>
  <TitlesOfParts>
    <vt:vector size="178" baseType="lpstr">
      <vt:lpstr>Arial</vt:lpstr>
      <vt:lpstr>宋体</vt:lpstr>
      <vt:lpstr>Wingdings</vt:lpstr>
      <vt:lpstr>Times New Roman</vt:lpstr>
      <vt:lpstr>等线</vt:lpstr>
      <vt:lpstr>华文行楷</vt:lpstr>
      <vt:lpstr>Courier New</vt:lpstr>
      <vt:lpstr>微软雅黑</vt:lpstr>
      <vt:lpstr>Arial Unicode MS</vt:lpstr>
      <vt:lpstr>Calibri</vt:lpstr>
      <vt:lpstr>默认设计模板</vt:lpstr>
      <vt:lpstr>Visio.Drawing.4</vt:lpstr>
      <vt:lpstr>Equation.3</vt:lpstr>
      <vt:lpstr>Equation.3</vt:lpstr>
      <vt:lpstr>Equation.3</vt:lpstr>
      <vt:lpstr>Equation.3</vt:lpstr>
      <vt:lpstr>Equation.3</vt:lpstr>
      <vt:lpstr>Equation.3</vt:lpstr>
      <vt:lpstr>Equation.DSMT4</vt:lpstr>
      <vt:lpstr>Visio.Drawing.4</vt:lpstr>
      <vt:lpstr>Equation.3</vt:lpstr>
      <vt:lpstr>Equation.3</vt:lpstr>
      <vt:lpstr>Visio.Drawing.4</vt:lpstr>
      <vt:lpstr>Visio.Drawing.4</vt:lpstr>
      <vt:lpstr>Visio.Drawing.4</vt:lpstr>
      <vt:lpstr>Visio.Drawing.4</vt:lpstr>
      <vt:lpstr>Equation.3</vt:lpstr>
      <vt:lpstr>Visio.Drawing.4</vt:lpstr>
      <vt:lpstr>Visio.Drawing.4</vt:lpstr>
      <vt:lpstr>Visio.Drawing.4</vt:lpstr>
      <vt:lpstr>Visio.Drawing.4</vt:lpstr>
      <vt:lpstr>Visio.Drawing.4</vt:lpstr>
      <vt:lpstr>Equation.3</vt:lpstr>
      <vt:lpstr>Equation.3</vt:lpstr>
      <vt:lpstr>Equation.3</vt:lpstr>
      <vt:lpstr>Equation.3</vt:lpstr>
      <vt:lpstr>Equation.3</vt:lpstr>
      <vt:lpstr>Equation.3</vt:lpstr>
      <vt:lpstr>Equation.3</vt:lpstr>
      <vt:lpstr>Equation.3</vt:lpstr>
      <vt:lpstr>Visio.Drawing.4</vt:lpstr>
      <vt:lpstr>Visio.Drawing.4</vt:lpstr>
      <vt:lpstr>Visio.Drawing.4</vt:lpstr>
      <vt:lpstr>Visio.Drawing.4</vt:lpstr>
      <vt:lpstr>Visio.Drawing.4</vt:lpstr>
      <vt:lpstr>Visio.Drawing.4</vt:lpstr>
      <vt:lpstr>Equation.3</vt:lpstr>
      <vt:lpstr>Equation.3</vt:lpstr>
      <vt:lpstr>Equation.3</vt:lpstr>
      <vt:lpstr>Equation.3</vt:lpstr>
      <vt:lpstr>Equation.3</vt:lpstr>
      <vt:lpstr>Equation.3</vt:lpstr>
      <vt:lpstr>Visio.Drawing.4</vt:lpstr>
      <vt:lpstr>Visio.Drawing.4</vt:lpstr>
      <vt:lpstr>Visio.Drawing.4</vt:lpstr>
      <vt:lpstr>Visio.Drawing.4</vt:lpstr>
      <vt:lpstr>Equation.3</vt:lpstr>
      <vt:lpstr>Visio.Drawing.4</vt:lpstr>
      <vt:lpstr>Visio.Drawing.4</vt:lpstr>
      <vt:lpstr>Visio.Drawing.4</vt:lpstr>
      <vt:lpstr>Visio.Drawing.4</vt:lpstr>
      <vt:lpstr>Visio.Drawing.4</vt:lpstr>
      <vt:lpstr>Equation.3</vt:lpstr>
      <vt:lpstr>Visio.Drawing.4</vt:lpstr>
      <vt:lpstr>Visio.Drawing.4</vt:lpstr>
      <vt:lpstr>Equation.3</vt:lpstr>
      <vt:lpstr>Visio.Drawing.4</vt:lpstr>
      <vt:lpstr>Equation.3</vt:lpstr>
      <vt:lpstr>Equation.3</vt:lpstr>
      <vt:lpstr>Visio.Drawing.4</vt:lpstr>
      <vt:lpstr>Equation.3</vt:lpstr>
      <vt:lpstr>Visio.Drawing.4</vt:lpstr>
      <vt:lpstr>Visio.Drawing.4</vt:lpstr>
      <vt:lpstr>Visio.Drawing.4</vt:lpstr>
      <vt:lpstr>Visio.Drawing.4</vt:lpstr>
      <vt:lpstr>Visio.Drawing.4</vt:lpstr>
      <vt:lpstr>Visio.Drawing.4</vt:lpstr>
      <vt:lpstr>Visio.Drawing.4</vt:lpstr>
      <vt:lpstr>Equation.3</vt:lpstr>
      <vt:lpstr>Equation.3</vt:lpstr>
      <vt:lpstr>Visio.Drawing.4</vt:lpstr>
      <vt:lpstr>Equation.3</vt:lpstr>
      <vt:lpstr>Visio.Drawing.4</vt:lpstr>
      <vt:lpstr>Equation.3</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西安火炬电脑公司</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mwz2</dc:creator>
  <cp:lastModifiedBy>WPS_1640354101</cp:lastModifiedBy>
  <cp:revision>29</cp:revision>
  <dcterms:created xsi:type="dcterms:W3CDTF">2003-07-16T09:03:36Z</dcterms:created>
  <dcterms:modified xsi:type="dcterms:W3CDTF">2024-05-17T13:59:41Z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7966CFB3C00749D6BE7BE71C4716E5B8_13</vt:lpwstr>
  </property>
  <property fmtid="{D5CDD505-2E9C-101B-9397-08002B2CF9AE}" pid="3" name="KSOProductBuildVer">
    <vt:lpwstr>2052-12.1.0.16729</vt:lpwstr>
  </property>
</Properties>
</file>