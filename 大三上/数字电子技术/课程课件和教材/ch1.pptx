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wmf" ContentType="image/x-wmf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94"/>
  </p:handoutMasterIdLst>
  <p:sldIdLst>
    <p:sldId id="322" r:id="rId3"/>
    <p:sldId id="323" r:id="rId4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336" r:id="rId18"/>
    <p:sldId id="337" r:id="rId19"/>
    <p:sldId id="338" r:id="rId20"/>
    <p:sldId id="339" r:id="rId21"/>
    <p:sldId id="340" r:id="rId22"/>
    <p:sldId id="341" r:id="rId23"/>
    <p:sldId id="342" r:id="rId24"/>
    <p:sldId id="343" r:id="rId25"/>
    <p:sldId id="344" r:id="rId26"/>
    <p:sldId id="345" r:id="rId27"/>
    <p:sldId id="346" r:id="rId28"/>
    <p:sldId id="258" r:id="rId29"/>
    <p:sldId id="259" r:id="rId30"/>
    <p:sldId id="275" r:id="rId31"/>
    <p:sldId id="292" r:id="rId32"/>
    <p:sldId id="299" r:id="rId33"/>
    <p:sldId id="260" r:id="rId34"/>
    <p:sldId id="262" r:id="rId35"/>
    <p:sldId id="261" r:id="rId36"/>
    <p:sldId id="263" r:id="rId37"/>
    <p:sldId id="264" r:id="rId38"/>
    <p:sldId id="265" r:id="rId39"/>
    <p:sldId id="266" r:id="rId40"/>
    <p:sldId id="267" r:id="rId41"/>
    <p:sldId id="268" r:id="rId42"/>
    <p:sldId id="269" r:id="rId43"/>
    <p:sldId id="270" r:id="rId44"/>
    <p:sldId id="271" r:id="rId45"/>
    <p:sldId id="272" r:id="rId46"/>
    <p:sldId id="273" r:id="rId47"/>
    <p:sldId id="274" r:id="rId48"/>
    <p:sldId id="347" r:id="rId49"/>
    <p:sldId id="317" r:id="rId50"/>
    <p:sldId id="276" r:id="rId51"/>
    <p:sldId id="277" r:id="rId52"/>
    <p:sldId id="279" r:id="rId53"/>
    <p:sldId id="280" r:id="rId54"/>
    <p:sldId id="281" r:id="rId55"/>
    <p:sldId id="278" r:id="rId56"/>
    <p:sldId id="282" r:id="rId57"/>
    <p:sldId id="283" r:id="rId58"/>
    <p:sldId id="284" r:id="rId59"/>
    <p:sldId id="285" r:id="rId60"/>
    <p:sldId id="286" r:id="rId61"/>
    <p:sldId id="287" r:id="rId62"/>
    <p:sldId id="288" r:id="rId63"/>
    <p:sldId id="289" r:id="rId64"/>
    <p:sldId id="290" r:id="rId65"/>
    <p:sldId id="291" r:id="rId66"/>
    <p:sldId id="349" r:id="rId67"/>
    <p:sldId id="318" r:id="rId68"/>
    <p:sldId id="293" r:id="rId69"/>
    <p:sldId id="294" r:id="rId70"/>
    <p:sldId id="295" r:id="rId71"/>
    <p:sldId id="296" r:id="rId72"/>
    <p:sldId id="297" r:id="rId73"/>
    <p:sldId id="298" r:id="rId74"/>
    <p:sldId id="319" r:id="rId75"/>
    <p:sldId id="300" r:id="rId76"/>
    <p:sldId id="301" r:id="rId77"/>
    <p:sldId id="302" r:id="rId78"/>
    <p:sldId id="303" r:id="rId79"/>
    <p:sldId id="348" r:id="rId80"/>
    <p:sldId id="304" r:id="rId81"/>
    <p:sldId id="305" r:id="rId82"/>
    <p:sldId id="307" r:id="rId83"/>
    <p:sldId id="311" r:id="rId84"/>
    <p:sldId id="312" r:id="rId85"/>
    <p:sldId id="316" r:id="rId86"/>
    <p:sldId id="315" r:id="rId87"/>
    <p:sldId id="321" r:id="rId88"/>
    <p:sldId id="309" r:id="rId89"/>
    <p:sldId id="308" r:id="rId90"/>
    <p:sldId id="310" r:id="rId91"/>
    <p:sldId id="313" r:id="rId92"/>
    <p:sldId id="320" r:id="rId93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24" userDrawn="1">
          <p15:clr>
            <a:srgbClr val="A4A3A4"/>
          </p15:clr>
        </p15:guide>
        <p15:guide id="2" pos="6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CC3300"/>
    <a:srgbClr val="CCFFCC"/>
    <a:srgbClr val="FFCCCC"/>
    <a:srgbClr val="FF00FF"/>
    <a:srgbClr val="FF0000"/>
    <a:srgbClr val="A50021"/>
    <a:srgbClr val="CC0000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7647"/>
    <p:restoredTop sz="90929"/>
  </p:normalViewPr>
  <p:slideViewPr>
    <p:cSldViewPr showGuides="1">
      <p:cViewPr varScale="1">
        <p:scale>
          <a:sx n="67" d="100"/>
          <a:sy n="67" d="100"/>
        </p:scale>
        <p:origin x="316" y="52"/>
      </p:cViewPr>
      <p:guideLst>
        <p:guide orient="horz" pos="4224"/>
        <p:guide pos="6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58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7" Type="http://schemas.openxmlformats.org/officeDocument/2006/relationships/tableStyles" Target="tableStyles.xml"/><Relationship Id="rId96" Type="http://schemas.openxmlformats.org/officeDocument/2006/relationships/viewProps" Target="viewProps.xml"/><Relationship Id="rId95" Type="http://schemas.openxmlformats.org/officeDocument/2006/relationships/presProps" Target="presProps.xml"/><Relationship Id="rId94" Type="http://schemas.openxmlformats.org/officeDocument/2006/relationships/handoutMaster" Target="handoutMasters/handoutMaster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png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png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png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png"/></Relationships>
</file>

<file path=ppt/drawings/_rels/vmlDrawing20.vml.rels><?xml version="1.0" encoding="UTF-8" standalone="yes"?>
<Relationships xmlns="http://schemas.openxmlformats.org/package/2006/relationships"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21.vml.rels><?xml version="1.0" encoding="UTF-8" standalone="yes"?>
<Relationships xmlns="http://schemas.openxmlformats.org/package/2006/relationships"><Relationship Id="rId4" Type="http://schemas.openxmlformats.org/officeDocument/2006/relationships/image" Target="../media/image63.wmf"/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7" Type="http://schemas.openxmlformats.org/officeDocument/2006/relationships/image" Target="../media/image75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25.vml.rels><?xml version="1.0" encoding="UTF-8" standalone="yes"?>
<Relationships xmlns="http://schemas.openxmlformats.org/package/2006/relationships"><Relationship Id="rId7" Type="http://schemas.openxmlformats.org/officeDocument/2006/relationships/image" Target="../media/image83.w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7" Type="http://schemas.openxmlformats.org/officeDocument/2006/relationships/image" Target="../media/image90.wmf"/><Relationship Id="rId6" Type="http://schemas.openxmlformats.org/officeDocument/2006/relationships/image" Target="../media/image89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/Relationships>
</file>

<file path=ppt/drawings/_rels/vmlDrawing27.vml.rels><?xml version="1.0" encoding="UTF-8" standalone="yes"?>
<Relationships xmlns="http://schemas.openxmlformats.org/package/2006/relationships"><Relationship Id="rId9" Type="http://schemas.openxmlformats.org/officeDocument/2006/relationships/image" Target="../media/image92.wmf"/><Relationship Id="rId8" Type="http://schemas.openxmlformats.org/officeDocument/2006/relationships/image" Target="../media/image91.wmf"/><Relationship Id="rId7" Type="http://schemas.openxmlformats.org/officeDocument/2006/relationships/image" Target="../media/image90.wmf"/><Relationship Id="rId6" Type="http://schemas.openxmlformats.org/officeDocument/2006/relationships/image" Target="../media/image89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0" Type="http://schemas.openxmlformats.org/officeDocument/2006/relationships/image" Target="../media/image93.wmf"/><Relationship Id="rId1" Type="http://schemas.openxmlformats.org/officeDocument/2006/relationships/image" Target="../media/image84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/Relationships>
</file>

<file path=ppt/drawings/_rels/vmlDrawing3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6.wmf"/><Relationship Id="rId8" Type="http://schemas.openxmlformats.org/officeDocument/2006/relationships/image" Target="../media/image105.wmf"/><Relationship Id="rId7" Type="http://schemas.openxmlformats.org/officeDocument/2006/relationships/image" Target="../media/image104.wmf"/><Relationship Id="rId6" Type="http://schemas.openxmlformats.org/officeDocument/2006/relationships/image" Target="../media/image103.wmf"/><Relationship Id="rId5" Type="http://schemas.openxmlformats.org/officeDocument/2006/relationships/image" Target="../media/image102.wmf"/><Relationship Id="rId4" Type="http://schemas.openxmlformats.org/officeDocument/2006/relationships/image" Target="../media/image101.wmf"/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2" Type="http://schemas.openxmlformats.org/officeDocument/2006/relationships/image" Target="../media/image109.wmf"/><Relationship Id="rId11" Type="http://schemas.openxmlformats.org/officeDocument/2006/relationships/image" Target="../media/image108.wmf"/><Relationship Id="rId10" Type="http://schemas.openxmlformats.org/officeDocument/2006/relationships/image" Target="../media/image107.wmf"/><Relationship Id="rId1" Type="http://schemas.openxmlformats.org/officeDocument/2006/relationships/image" Target="../media/image98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image" Target="../media/image58.wmf"/><Relationship Id="rId1" Type="http://schemas.openxmlformats.org/officeDocument/2006/relationships/image" Target="../media/image110.wmf"/></Relationships>
</file>

<file path=ppt/drawings/_rels/vmlDrawing32.vml.rels><?xml version="1.0" encoding="UTF-8" standalone="yes"?>
<Relationships xmlns="http://schemas.openxmlformats.org/package/2006/relationships"><Relationship Id="rId6" Type="http://schemas.openxmlformats.org/officeDocument/2006/relationships/image" Target="../media/image117.wmf"/><Relationship Id="rId5" Type="http://schemas.openxmlformats.org/officeDocument/2006/relationships/image" Target="../media/image116.wmf"/><Relationship Id="rId4" Type="http://schemas.openxmlformats.org/officeDocument/2006/relationships/image" Target="../media/image115.wmf"/><Relationship Id="rId3" Type="http://schemas.openxmlformats.org/officeDocument/2006/relationships/image" Target="../media/image114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8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9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7" Type="http://schemas.openxmlformats.org/officeDocument/2006/relationships/image" Target="../media/image126.wmf"/><Relationship Id="rId6" Type="http://schemas.openxmlformats.org/officeDocument/2006/relationships/image" Target="../media/image125.wmf"/><Relationship Id="rId5" Type="http://schemas.openxmlformats.org/officeDocument/2006/relationships/image" Target="../media/image85.wmf"/><Relationship Id="rId4" Type="http://schemas.openxmlformats.org/officeDocument/2006/relationships/image" Target="../media/image124.wmf"/><Relationship Id="rId3" Type="http://schemas.openxmlformats.org/officeDocument/2006/relationships/image" Target="../media/image123.wmf"/><Relationship Id="rId2" Type="http://schemas.openxmlformats.org/officeDocument/2006/relationships/image" Target="../media/image122.wmf"/><Relationship Id="rId1" Type="http://schemas.openxmlformats.org/officeDocument/2006/relationships/image" Target="../media/image121.wmf"/></Relationships>
</file>

<file path=ppt/drawings/_rels/vmlDrawing36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0.wmf"/><Relationship Id="rId3" Type="http://schemas.openxmlformats.org/officeDocument/2006/relationships/image" Target="../media/image129.wmf"/><Relationship Id="rId2" Type="http://schemas.openxmlformats.org/officeDocument/2006/relationships/image" Target="../media/image128.wmf"/><Relationship Id="rId1" Type="http://schemas.openxmlformats.org/officeDocument/2006/relationships/image" Target="../media/image11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6F2FC1A-15B1-4DC1-9AC1-E96E334AA89B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单击以编辑母版文本样式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8D1D06-954D-446F-80DE-9E3C6AD2CB1B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chemeClr val="tx1"/>
                </a:solidFill>
              </a:rPr>
            </a:fld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614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等效电路由三个基本元件构成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chemeClr val="tx1"/>
                </a:solidFill>
              </a:rPr>
            </a:fld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433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r>
              <a:rPr lang="en-US" altLang="zh-CN" dirty="0"/>
              <a:t>        </a:t>
            </a:r>
            <a:r>
              <a:rPr lang="zh-CN" altLang="en-US" dirty="0"/>
              <a:t>放大电路存在电抗元件，如电容、电感。因此输入信号的频率不同，电路的输出响应也不同。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chemeClr val="tx1"/>
                </a:solidFill>
              </a:rPr>
            </a:fld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3891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数制转换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2F172EB-7529-47CF-B50D-B155C01AC27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数制转换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2F172EB-7529-47CF-B50D-B155C01AC27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数制转换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2F172EB-7529-47CF-B50D-B155C01AC27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数制转换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2F172EB-7529-47CF-B50D-B155C01AC27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数制转换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2F172EB-7529-47CF-B50D-B155C01AC27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数制转换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2F172EB-7529-47CF-B50D-B155C01AC27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数制转换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2F172EB-7529-47CF-B50D-B155C01AC27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数制转换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2F172EB-7529-47CF-B50D-B155C01AC27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数制转换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2F172EB-7529-47CF-B50D-B155C01AC27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数制转换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2F172EB-7529-47CF-B50D-B155C01AC27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数制转换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2F172EB-7529-47CF-B50D-B155C01AC27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685800" y="1981200"/>
            <a:ext cx="77724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数制转换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2F172EB-7529-47CF-B50D-B155C01AC27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zh-CN" dirty="0"/>
              <a:t>单击以编辑</a:t>
            </a:r>
            <a:r>
              <a:rPr lang="zh-CN" altLang="en-US" dirty="0"/>
              <a:t>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单击以编辑母版文本样式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50000"/>
              </a:spcBef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50000"/>
              </a:spcBef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数制转换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50000"/>
              </a:spcBef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2F172EB-7529-47CF-B50D-B155C01AC275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GIF"/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slide" Target="slide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1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1" Type="http://schemas.openxmlformats.org/officeDocument/2006/relationships/oleObject" Target="../embeddings/oleObject2.bin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5.png"/><Relationship Id="rId1" Type="http://schemas.openxmlformats.org/officeDocument/2006/relationships/oleObject" Target="../embeddings/oleObject3.bin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1" Type="http://schemas.openxmlformats.org/officeDocument/2006/relationships/oleObject" Target="../embeddings/oleObject4.bin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7.wmf"/><Relationship Id="rId1" Type="http://schemas.openxmlformats.org/officeDocument/2006/relationships/oleObject" Target="../embeddings/oleObject5.bin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wmf"/><Relationship Id="rId1" Type="http://schemas.openxmlformats.org/officeDocument/2006/relationships/oleObject" Target="../embeddings/oleObject6.bin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1" Type="http://schemas.openxmlformats.org/officeDocument/2006/relationships/oleObject" Target="../embeddings/oleObject7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1" Type="http://schemas.openxmlformats.org/officeDocument/2006/relationships/oleObject" Target="../embeddings/oleObject8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2.wmf"/><Relationship Id="rId7" Type="http://schemas.openxmlformats.org/officeDocument/2006/relationships/hyperlink" Target="&#23553;&#39029;1.ppt" TargetMode="External"/><Relationship Id="rId6" Type="http://schemas.openxmlformats.org/officeDocument/2006/relationships/slide" Target="slide84.xml"/><Relationship Id="rId5" Type="http://schemas.openxmlformats.org/officeDocument/2006/relationships/slide" Target="slide30.xml"/><Relationship Id="rId4" Type="http://schemas.openxmlformats.org/officeDocument/2006/relationships/slide" Target="slide29.xml"/><Relationship Id="rId3" Type="http://schemas.openxmlformats.org/officeDocument/2006/relationships/slide" Target="slide28.xml"/><Relationship Id="rId2" Type="http://schemas.openxmlformats.org/officeDocument/2006/relationships/image" Target="../media/image31.png"/><Relationship Id="rId1" Type="http://schemas.openxmlformats.org/officeDocument/2006/relationships/slide" Target="slide2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4.png"/><Relationship Id="rId6" Type="http://schemas.openxmlformats.org/officeDocument/2006/relationships/slide" Target="slide26.xml"/><Relationship Id="rId5" Type="http://schemas.openxmlformats.org/officeDocument/2006/relationships/slide" Target="slide43.xml"/><Relationship Id="rId4" Type="http://schemas.openxmlformats.org/officeDocument/2006/relationships/slide" Target="slide40.xml"/><Relationship Id="rId3" Type="http://schemas.openxmlformats.org/officeDocument/2006/relationships/slide" Target="slide34.xml"/><Relationship Id="rId2" Type="http://schemas.openxmlformats.org/officeDocument/2006/relationships/image" Target="../media/image33.png"/><Relationship Id="rId1" Type="http://schemas.openxmlformats.org/officeDocument/2006/relationships/slide" Target="slide31.xml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slide" Target="slide26.xml"/><Relationship Id="rId4" Type="http://schemas.openxmlformats.org/officeDocument/2006/relationships/slide" Target="slide58.xml"/><Relationship Id="rId3" Type="http://schemas.openxmlformats.org/officeDocument/2006/relationships/slide" Target="slide55.xml"/><Relationship Id="rId2" Type="http://schemas.openxmlformats.org/officeDocument/2006/relationships/image" Target="../media/image33.png"/><Relationship Id="rId1" Type="http://schemas.openxmlformats.org/officeDocument/2006/relationships/slide" Target="slide48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slide" Target="slide26.xml"/><Relationship Id="rId3" Type="http://schemas.openxmlformats.org/officeDocument/2006/relationships/slide" Target="slide67.xml"/><Relationship Id="rId2" Type="http://schemas.openxmlformats.org/officeDocument/2006/relationships/image" Target="../media/image33.png"/><Relationship Id="rId1" Type="http://schemas.openxmlformats.org/officeDocument/2006/relationships/slide" Target="slide66.xml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slide" Target="slide26.xml"/><Relationship Id="rId4" Type="http://schemas.openxmlformats.org/officeDocument/2006/relationships/slide" Target="slide83.xml"/><Relationship Id="rId3" Type="http://schemas.openxmlformats.org/officeDocument/2006/relationships/slide" Target="slide76.xml"/><Relationship Id="rId2" Type="http://schemas.openxmlformats.org/officeDocument/2006/relationships/image" Target="../media/image33.png"/><Relationship Id="rId1" Type="http://schemas.openxmlformats.org/officeDocument/2006/relationships/slide" Target="slide7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9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slide" Target="slide27.xml"/><Relationship Id="rId4" Type="http://schemas.openxmlformats.org/officeDocument/2006/relationships/image" Target="../media/image36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35.wmf"/><Relationship Id="rId1" Type="http://schemas.openxmlformats.org/officeDocument/2006/relationships/oleObject" Target="../embeddings/oleObject9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38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37.png"/><Relationship Id="rId1" Type="http://schemas.openxmlformats.org/officeDocument/2006/relationships/slide" Target="slide27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7.png"/><Relationship Id="rId3" Type="http://schemas.openxmlformats.org/officeDocument/2006/relationships/slide" Target="slide27.xml"/><Relationship Id="rId2" Type="http://schemas.openxmlformats.org/officeDocument/2006/relationships/image" Target="../media/image40.wmf"/><Relationship Id="rId1" Type="http://schemas.openxmlformats.org/officeDocument/2006/relationships/oleObject" Target="../embeddings/oleObject13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7.png"/><Relationship Id="rId1" Type="http://schemas.openxmlformats.org/officeDocument/2006/relationships/slide" Target="slide2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slide" Target="slide2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slide" Target="slide2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7.png"/><Relationship Id="rId1" Type="http://schemas.openxmlformats.org/officeDocument/2006/relationships/slide" Target="slide2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slide" Target="slide2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1" Type="http://schemas.openxmlformats.org/officeDocument/2006/relationships/slide" Target="slide27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2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7.png"/><Relationship Id="rId6" Type="http://schemas.openxmlformats.org/officeDocument/2006/relationships/slide" Target="slide27.xml"/><Relationship Id="rId5" Type="http://schemas.openxmlformats.org/officeDocument/2006/relationships/image" Target="../media/image43.jpeg"/><Relationship Id="rId4" Type="http://schemas.openxmlformats.org/officeDocument/2006/relationships/image" Target="../media/image42.png"/><Relationship Id="rId3" Type="http://schemas.openxmlformats.org/officeDocument/2006/relationships/oleObject" Target="../embeddings/oleObject15.bin"/><Relationship Id="rId2" Type="http://schemas.openxmlformats.org/officeDocument/2006/relationships/image" Target="../media/image41.png"/><Relationship Id="rId1" Type="http://schemas.openxmlformats.org/officeDocument/2006/relationships/oleObject" Target="../embeddings/oleObject14.bin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7.png"/><Relationship Id="rId2" Type="http://schemas.openxmlformats.org/officeDocument/2006/relationships/slide" Target="slide27.xml"/><Relationship Id="rId1" Type="http://schemas.openxmlformats.org/officeDocument/2006/relationships/image" Target="../media/image43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slide" Target="slide2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slide" Target="slide2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1" Type="http://schemas.openxmlformats.org/officeDocument/2006/relationships/slide" Target="slide2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1" Type="http://schemas.openxmlformats.org/officeDocument/2006/relationships/slide" Target="slide26.xml"/></Relationships>
</file>

<file path=ppt/slides/_rels/slide4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slide" Target="slide26.xml"/><Relationship Id="rId4" Type="http://schemas.openxmlformats.org/officeDocument/2006/relationships/slide" Target="slide58.xml"/><Relationship Id="rId3" Type="http://schemas.openxmlformats.org/officeDocument/2006/relationships/slide" Target="slide55.xml"/><Relationship Id="rId2" Type="http://schemas.openxmlformats.org/officeDocument/2006/relationships/image" Target="../media/image33.png"/><Relationship Id="rId1" Type="http://schemas.openxmlformats.org/officeDocument/2006/relationships/slide" Target="slide48.xml"/></Relationships>
</file>

<file path=ppt/slides/_rels/slide4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37.png"/><Relationship Id="rId4" Type="http://schemas.openxmlformats.org/officeDocument/2006/relationships/slide" Target="slide28.xml"/><Relationship Id="rId3" Type="http://schemas.openxmlformats.org/officeDocument/2006/relationships/image" Target="../media/image31.png"/><Relationship Id="rId2" Type="http://schemas.openxmlformats.org/officeDocument/2006/relationships/slide" Target="slide49.xml"/><Relationship Id="rId1" Type="http://schemas.openxmlformats.org/officeDocument/2006/relationships/image" Target="../media/image1.jpeg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3.vml"/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1.wav"/><Relationship Id="rId2" Type="http://schemas.openxmlformats.org/officeDocument/2006/relationships/image" Target="../media/image44.png"/><Relationship Id="rId1" Type="http://schemas.openxmlformats.org/officeDocument/2006/relationships/oleObject" Target="../embeddings/oleObject16.bin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1.wav"/><Relationship Id="rId2" Type="http://schemas.openxmlformats.org/officeDocument/2006/relationships/image" Target="../media/image37.png"/><Relationship Id="rId1" Type="http://schemas.openxmlformats.org/officeDocument/2006/relationships/slide" Target="slide28.xml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7.png"/><Relationship Id="rId7" Type="http://schemas.openxmlformats.org/officeDocument/2006/relationships/oleObject" Target="../embeddings/oleObject19.bin"/><Relationship Id="rId6" Type="http://schemas.openxmlformats.org/officeDocument/2006/relationships/image" Target="../media/image46.png"/><Relationship Id="rId5" Type="http://schemas.openxmlformats.org/officeDocument/2006/relationships/oleObject" Target="../embeddings/oleObject18.bin"/><Relationship Id="rId4" Type="http://schemas.openxmlformats.org/officeDocument/2006/relationships/image" Target="../media/image45.png"/><Relationship Id="rId3" Type="http://schemas.openxmlformats.org/officeDocument/2006/relationships/oleObject" Target="../embeddings/oleObject17.bin"/><Relationship Id="rId2" Type="http://schemas.openxmlformats.org/officeDocument/2006/relationships/image" Target="../media/image37.png"/><Relationship Id="rId10" Type="http://schemas.openxmlformats.org/officeDocument/2006/relationships/vmlDrawing" Target="../drawings/vmlDrawing14.vml"/><Relationship Id="rId1" Type="http://schemas.openxmlformats.org/officeDocument/2006/relationships/slide" Target="slide28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1.wav"/><Relationship Id="rId2" Type="http://schemas.openxmlformats.org/officeDocument/2006/relationships/image" Target="../media/image37.png"/><Relationship Id="rId1" Type="http://schemas.openxmlformats.org/officeDocument/2006/relationships/slide" Target="slide28.xml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5.vml"/><Relationship Id="rId8" Type="http://schemas.openxmlformats.org/officeDocument/2006/relationships/slideLayout" Target="../slideLayouts/slideLayout7.xml"/><Relationship Id="rId7" Type="http://schemas.openxmlformats.org/officeDocument/2006/relationships/audio" Target="../media/audio2.wav"/><Relationship Id="rId6" Type="http://schemas.openxmlformats.org/officeDocument/2006/relationships/audio" Target="../media/audio1.wav"/><Relationship Id="rId5" Type="http://schemas.openxmlformats.org/officeDocument/2006/relationships/image" Target="../media/image37.png"/><Relationship Id="rId4" Type="http://schemas.openxmlformats.org/officeDocument/2006/relationships/slide" Target="slide28.xml"/><Relationship Id="rId3" Type="http://schemas.openxmlformats.org/officeDocument/2006/relationships/oleObject" Target="../embeddings/oleObject21.bin"/><Relationship Id="rId2" Type="http://schemas.openxmlformats.org/officeDocument/2006/relationships/image" Target="../media/image48.png"/><Relationship Id="rId1" Type="http://schemas.openxmlformats.org/officeDocument/2006/relationships/oleObject" Target="../embeddings/oleObject20.bin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1.wav"/><Relationship Id="rId2" Type="http://schemas.openxmlformats.org/officeDocument/2006/relationships/image" Target="../media/image37.png"/><Relationship Id="rId1" Type="http://schemas.openxmlformats.org/officeDocument/2006/relationships/slide" Target="slide28.xml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audio" Target="../media/audio1.wav"/><Relationship Id="rId7" Type="http://schemas.openxmlformats.org/officeDocument/2006/relationships/oleObject" Target="../embeddings/oleObject25.bin"/><Relationship Id="rId6" Type="http://schemas.openxmlformats.org/officeDocument/2006/relationships/oleObject" Target="../embeddings/oleObject24.bin"/><Relationship Id="rId5" Type="http://schemas.openxmlformats.org/officeDocument/2006/relationships/oleObject" Target="../embeddings/oleObject23.bin"/><Relationship Id="rId4" Type="http://schemas.openxmlformats.org/officeDocument/2006/relationships/image" Target="../media/image49.png"/><Relationship Id="rId3" Type="http://schemas.openxmlformats.org/officeDocument/2006/relationships/oleObject" Target="../embeddings/oleObject22.bin"/><Relationship Id="rId2" Type="http://schemas.openxmlformats.org/officeDocument/2006/relationships/slide" Target="slide56.xml"/><Relationship Id="rId10" Type="http://schemas.openxmlformats.org/officeDocument/2006/relationships/vmlDrawing" Target="../drawings/vmlDrawing16.vml"/><Relationship Id="rId1" Type="http://schemas.openxmlformats.org/officeDocument/2006/relationships/image" Target="../media/image43.jpeg"/></Relationships>
</file>

<file path=ppt/slides/_rels/slide5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7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slide" Target="slide28.xml"/><Relationship Id="rId3" Type="http://schemas.openxmlformats.org/officeDocument/2006/relationships/image" Target="../media/image43.jpeg"/><Relationship Id="rId2" Type="http://schemas.openxmlformats.org/officeDocument/2006/relationships/image" Target="../media/image50.png"/><Relationship Id="rId1" Type="http://schemas.openxmlformats.org/officeDocument/2006/relationships/oleObject" Target="../embeddings/oleObject26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8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slide" Target="slide28.xml"/><Relationship Id="rId4" Type="http://schemas.openxmlformats.org/officeDocument/2006/relationships/image" Target="../media/image52.png"/><Relationship Id="rId3" Type="http://schemas.openxmlformats.org/officeDocument/2006/relationships/oleObject" Target="../embeddings/oleObject28.bin"/><Relationship Id="rId2" Type="http://schemas.openxmlformats.org/officeDocument/2006/relationships/image" Target="../media/image51.png"/><Relationship Id="rId1" Type="http://schemas.openxmlformats.org/officeDocument/2006/relationships/oleObject" Target="../embeddings/oleObject27.bin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.bin"/><Relationship Id="rId8" Type="http://schemas.openxmlformats.org/officeDocument/2006/relationships/oleObject" Target="../embeddings/oleObject35.bin"/><Relationship Id="rId7" Type="http://schemas.openxmlformats.org/officeDocument/2006/relationships/oleObject" Target="../embeddings/oleObject34.bin"/><Relationship Id="rId6" Type="http://schemas.openxmlformats.org/officeDocument/2006/relationships/oleObject" Target="../embeddings/oleObject33.bin"/><Relationship Id="rId5" Type="http://schemas.openxmlformats.org/officeDocument/2006/relationships/oleObject" Target="../embeddings/oleObject32.bin"/><Relationship Id="rId4" Type="http://schemas.openxmlformats.org/officeDocument/2006/relationships/oleObject" Target="../embeddings/oleObject31.bin"/><Relationship Id="rId3" Type="http://schemas.openxmlformats.org/officeDocument/2006/relationships/oleObject" Target="../embeddings/oleObject30.bin"/><Relationship Id="rId2" Type="http://schemas.openxmlformats.org/officeDocument/2006/relationships/image" Target="../media/image53.png"/><Relationship Id="rId17" Type="http://schemas.openxmlformats.org/officeDocument/2006/relationships/vmlDrawing" Target="../drawings/vmlDrawing19.vml"/><Relationship Id="rId16" Type="http://schemas.openxmlformats.org/officeDocument/2006/relationships/slideLayout" Target="../slideLayouts/slideLayout7.xml"/><Relationship Id="rId15" Type="http://schemas.openxmlformats.org/officeDocument/2006/relationships/oleObject" Target="../embeddings/oleObject42.bin"/><Relationship Id="rId14" Type="http://schemas.openxmlformats.org/officeDocument/2006/relationships/oleObject" Target="../embeddings/oleObject41.bin"/><Relationship Id="rId13" Type="http://schemas.openxmlformats.org/officeDocument/2006/relationships/oleObject" Target="../embeddings/oleObject40.bin"/><Relationship Id="rId12" Type="http://schemas.openxmlformats.org/officeDocument/2006/relationships/oleObject" Target="../embeddings/oleObject39.bin"/><Relationship Id="rId11" Type="http://schemas.openxmlformats.org/officeDocument/2006/relationships/oleObject" Target="../embeddings/oleObject38.bin"/><Relationship Id="rId10" Type="http://schemas.openxmlformats.org/officeDocument/2006/relationships/oleObject" Target="../embeddings/oleObject37.bin"/><Relationship Id="rId1" Type="http://schemas.openxmlformats.org/officeDocument/2006/relationships/oleObject" Target="../embeddings/oleObject29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1" Type="http://schemas.openxmlformats.org/officeDocument/2006/relationships/slide" Target="slide28.xml"/></Relationships>
</file>

<file path=ppt/slides/_rels/slide6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7.bin"/><Relationship Id="rId8" Type="http://schemas.openxmlformats.org/officeDocument/2006/relationships/image" Target="../media/image57.wmf"/><Relationship Id="rId7" Type="http://schemas.openxmlformats.org/officeDocument/2006/relationships/oleObject" Target="../embeddings/oleObject46.bin"/><Relationship Id="rId6" Type="http://schemas.openxmlformats.org/officeDocument/2006/relationships/image" Target="../media/image56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55.wmf"/><Relationship Id="rId3" Type="http://schemas.openxmlformats.org/officeDocument/2006/relationships/oleObject" Target="../embeddings/oleObject44.bin"/><Relationship Id="rId2" Type="http://schemas.openxmlformats.org/officeDocument/2006/relationships/image" Target="../media/image54.wmf"/><Relationship Id="rId16" Type="http://schemas.openxmlformats.org/officeDocument/2006/relationships/vmlDrawing" Target="../drawings/vmlDrawing20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37.png"/><Relationship Id="rId13" Type="http://schemas.openxmlformats.org/officeDocument/2006/relationships/slide" Target="slide28.xml"/><Relationship Id="rId12" Type="http://schemas.openxmlformats.org/officeDocument/2006/relationships/image" Target="../media/image59.wmf"/><Relationship Id="rId11" Type="http://schemas.openxmlformats.org/officeDocument/2006/relationships/oleObject" Target="../embeddings/oleObject48.bin"/><Relationship Id="rId10" Type="http://schemas.openxmlformats.org/officeDocument/2006/relationships/image" Target="../media/image58.wmf"/><Relationship Id="rId1" Type="http://schemas.openxmlformats.org/officeDocument/2006/relationships/oleObject" Target="../embeddings/oleObject43.bin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3.wmf"/><Relationship Id="rId8" Type="http://schemas.openxmlformats.org/officeDocument/2006/relationships/oleObject" Target="../embeddings/oleObject52.bin"/><Relationship Id="rId7" Type="http://schemas.openxmlformats.org/officeDocument/2006/relationships/image" Target="../media/image62.wmf"/><Relationship Id="rId6" Type="http://schemas.openxmlformats.org/officeDocument/2006/relationships/oleObject" Target="../embeddings/oleObject51.bin"/><Relationship Id="rId5" Type="http://schemas.openxmlformats.org/officeDocument/2006/relationships/image" Target="../media/image61.wmf"/><Relationship Id="rId4" Type="http://schemas.openxmlformats.org/officeDocument/2006/relationships/oleObject" Target="../embeddings/oleObject50.bin"/><Relationship Id="rId3" Type="http://schemas.openxmlformats.org/officeDocument/2006/relationships/image" Target="../media/image60.wmf"/><Relationship Id="rId2" Type="http://schemas.openxmlformats.org/officeDocument/2006/relationships/oleObject" Target="../embeddings/oleObject49.bin"/><Relationship Id="rId11" Type="http://schemas.openxmlformats.org/officeDocument/2006/relationships/vmlDrawing" Target="../drawings/vmlDrawing21.v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43.jpeg"/></Relationships>
</file>

<file path=ppt/slides/_rels/slide6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7.png"/><Relationship Id="rId7" Type="http://schemas.openxmlformats.org/officeDocument/2006/relationships/slide" Target="slide28.x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65.wmf"/><Relationship Id="rId3" Type="http://schemas.openxmlformats.org/officeDocument/2006/relationships/oleObject" Target="../embeddings/oleObject54.bin"/><Relationship Id="rId2" Type="http://schemas.openxmlformats.org/officeDocument/2006/relationships/image" Target="../media/image64.wmf"/><Relationship Id="rId10" Type="http://schemas.openxmlformats.org/officeDocument/2006/relationships/vmlDrawing" Target="../drawings/vmlDrawing22.vml"/><Relationship Id="rId1" Type="http://schemas.openxmlformats.org/officeDocument/2006/relationships/oleObject" Target="../embeddings/oleObject53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slide" Target="slide28.xml"/><Relationship Id="rId4" Type="http://schemas.openxmlformats.org/officeDocument/2006/relationships/image" Target="../media/image68.wmf"/><Relationship Id="rId3" Type="http://schemas.openxmlformats.org/officeDocument/2006/relationships/oleObject" Target="../embeddings/oleObject57.bin"/><Relationship Id="rId2" Type="http://schemas.openxmlformats.org/officeDocument/2006/relationships/image" Target="../media/image67.wmf"/><Relationship Id="rId1" Type="http://schemas.openxmlformats.org/officeDocument/2006/relationships/oleObject" Target="../embeddings/oleObject56.bin"/></Relationships>
</file>

<file path=ppt/slides/_rels/slide6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2.bin"/><Relationship Id="rId8" Type="http://schemas.openxmlformats.org/officeDocument/2006/relationships/image" Target="../media/image72.wmf"/><Relationship Id="rId7" Type="http://schemas.openxmlformats.org/officeDocument/2006/relationships/oleObject" Target="../embeddings/oleObject61.bin"/><Relationship Id="rId6" Type="http://schemas.openxmlformats.org/officeDocument/2006/relationships/image" Target="../media/image71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70.wmf"/><Relationship Id="rId3" Type="http://schemas.openxmlformats.org/officeDocument/2006/relationships/oleObject" Target="../embeddings/oleObject59.bin"/><Relationship Id="rId2" Type="http://schemas.openxmlformats.org/officeDocument/2006/relationships/image" Target="../media/image69.wmf"/><Relationship Id="rId18" Type="http://schemas.openxmlformats.org/officeDocument/2006/relationships/vmlDrawing" Target="../drawings/vmlDrawing24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76.wmf"/><Relationship Id="rId15" Type="http://schemas.openxmlformats.org/officeDocument/2006/relationships/oleObject" Target="../embeddings/oleObject65.bin"/><Relationship Id="rId14" Type="http://schemas.openxmlformats.org/officeDocument/2006/relationships/image" Target="../media/image75.wmf"/><Relationship Id="rId13" Type="http://schemas.openxmlformats.org/officeDocument/2006/relationships/oleObject" Target="../embeddings/oleObject64.bin"/><Relationship Id="rId12" Type="http://schemas.openxmlformats.org/officeDocument/2006/relationships/image" Target="../media/image74.wmf"/><Relationship Id="rId11" Type="http://schemas.openxmlformats.org/officeDocument/2006/relationships/oleObject" Target="../embeddings/oleObject63.bin"/><Relationship Id="rId10" Type="http://schemas.openxmlformats.org/officeDocument/2006/relationships/image" Target="../media/image73.wmf"/><Relationship Id="rId1" Type="http://schemas.openxmlformats.org/officeDocument/2006/relationships/oleObject" Target="../embeddings/oleObject58.bin"/></Relationships>
</file>

<file path=ppt/slides/_rels/slide6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slide" Target="slide26.xml"/><Relationship Id="rId3" Type="http://schemas.openxmlformats.org/officeDocument/2006/relationships/slide" Target="slide67.xml"/><Relationship Id="rId2" Type="http://schemas.openxmlformats.org/officeDocument/2006/relationships/image" Target="../media/image33.png"/><Relationship Id="rId1" Type="http://schemas.openxmlformats.org/officeDocument/2006/relationships/slide" Target="slide66.xml"/></Relationships>
</file>

<file path=ppt/slides/_rels/slide6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0.bin"/><Relationship Id="rId8" Type="http://schemas.openxmlformats.org/officeDocument/2006/relationships/image" Target="../media/image80.wmf"/><Relationship Id="rId7" Type="http://schemas.openxmlformats.org/officeDocument/2006/relationships/oleObject" Target="../embeddings/oleObject69.bin"/><Relationship Id="rId6" Type="http://schemas.openxmlformats.org/officeDocument/2006/relationships/image" Target="../media/image79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78.wmf"/><Relationship Id="rId3" Type="http://schemas.openxmlformats.org/officeDocument/2006/relationships/oleObject" Target="../embeddings/oleObject67.bin"/><Relationship Id="rId2" Type="http://schemas.openxmlformats.org/officeDocument/2006/relationships/image" Target="../media/image77.wmf"/><Relationship Id="rId19" Type="http://schemas.openxmlformats.org/officeDocument/2006/relationships/vmlDrawing" Target="../drawings/vmlDrawing25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37.png"/><Relationship Id="rId16" Type="http://schemas.openxmlformats.org/officeDocument/2006/relationships/slide" Target="slide29.xml"/><Relationship Id="rId15" Type="http://schemas.openxmlformats.org/officeDocument/2006/relationships/oleObject" Target="../embeddings/oleObject73.bin"/><Relationship Id="rId14" Type="http://schemas.openxmlformats.org/officeDocument/2006/relationships/image" Target="../media/image83.wmf"/><Relationship Id="rId13" Type="http://schemas.openxmlformats.org/officeDocument/2006/relationships/oleObject" Target="../embeddings/oleObject72.bin"/><Relationship Id="rId12" Type="http://schemas.openxmlformats.org/officeDocument/2006/relationships/image" Target="../media/image82.wmf"/><Relationship Id="rId11" Type="http://schemas.openxmlformats.org/officeDocument/2006/relationships/oleObject" Target="../embeddings/oleObject71.bin"/><Relationship Id="rId10" Type="http://schemas.openxmlformats.org/officeDocument/2006/relationships/image" Target="../media/image81.wmf"/><Relationship Id="rId1" Type="http://schemas.openxmlformats.org/officeDocument/2006/relationships/oleObject" Target="../embeddings/oleObject66.bin"/></Relationships>
</file>

<file path=ppt/slides/_rels/slide6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8.bin"/><Relationship Id="rId8" Type="http://schemas.openxmlformats.org/officeDocument/2006/relationships/image" Target="../media/image87.wmf"/><Relationship Id="rId7" Type="http://schemas.openxmlformats.org/officeDocument/2006/relationships/oleObject" Target="../embeddings/oleObject77.bin"/><Relationship Id="rId6" Type="http://schemas.openxmlformats.org/officeDocument/2006/relationships/image" Target="../media/image86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85.wmf"/><Relationship Id="rId3" Type="http://schemas.openxmlformats.org/officeDocument/2006/relationships/oleObject" Target="../embeddings/oleObject75.bin"/><Relationship Id="rId2" Type="http://schemas.openxmlformats.org/officeDocument/2006/relationships/image" Target="../media/image84.wmf"/><Relationship Id="rId18" Type="http://schemas.openxmlformats.org/officeDocument/2006/relationships/vmlDrawing" Target="../drawings/vmlDrawing26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91.wmf"/><Relationship Id="rId15" Type="http://schemas.openxmlformats.org/officeDocument/2006/relationships/oleObject" Target="../embeddings/oleObject81.bin"/><Relationship Id="rId14" Type="http://schemas.openxmlformats.org/officeDocument/2006/relationships/image" Target="../media/image90.wmf"/><Relationship Id="rId13" Type="http://schemas.openxmlformats.org/officeDocument/2006/relationships/oleObject" Target="../embeddings/oleObject80.bin"/><Relationship Id="rId12" Type="http://schemas.openxmlformats.org/officeDocument/2006/relationships/image" Target="../media/image89.wmf"/><Relationship Id="rId11" Type="http://schemas.openxmlformats.org/officeDocument/2006/relationships/oleObject" Target="../embeddings/oleObject79.bin"/><Relationship Id="rId10" Type="http://schemas.openxmlformats.org/officeDocument/2006/relationships/image" Target="../media/image88.wmf"/><Relationship Id="rId1" Type="http://schemas.openxmlformats.org/officeDocument/2006/relationships/oleObject" Target="../embeddings/oleObject74.bin"/></Relationships>
</file>

<file path=ppt/slides/_rels/slide6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6.bin"/><Relationship Id="rId8" Type="http://schemas.openxmlformats.org/officeDocument/2006/relationships/image" Target="../media/image87.wmf"/><Relationship Id="rId7" Type="http://schemas.openxmlformats.org/officeDocument/2006/relationships/oleObject" Target="../embeddings/oleObject85.bin"/><Relationship Id="rId6" Type="http://schemas.openxmlformats.org/officeDocument/2006/relationships/image" Target="../media/image86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85.wmf"/><Relationship Id="rId3" Type="http://schemas.openxmlformats.org/officeDocument/2006/relationships/oleObject" Target="../embeddings/oleObject83.bin"/><Relationship Id="rId22" Type="http://schemas.openxmlformats.org/officeDocument/2006/relationships/vmlDrawing" Target="../drawings/vmlDrawing27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93.wmf"/><Relationship Id="rId2" Type="http://schemas.openxmlformats.org/officeDocument/2006/relationships/image" Target="../media/image84.wmf"/><Relationship Id="rId19" Type="http://schemas.openxmlformats.org/officeDocument/2006/relationships/oleObject" Target="../embeddings/oleObject91.bin"/><Relationship Id="rId18" Type="http://schemas.openxmlformats.org/officeDocument/2006/relationships/image" Target="../media/image92.wmf"/><Relationship Id="rId17" Type="http://schemas.openxmlformats.org/officeDocument/2006/relationships/oleObject" Target="../embeddings/oleObject90.bin"/><Relationship Id="rId16" Type="http://schemas.openxmlformats.org/officeDocument/2006/relationships/image" Target="../media/image91.wmf"/><Relationship Id="rId15" Type="http://schemas.openxmlformats.org/officeDocument/2006/relationships/oleObject" Target="../embeddings/oleObject89.bin"/><Relationship Id="rId14" Type="http://schemas.openxmlformats.org/officeDocument/2006/relationships/image" Target="../media/image90.wmf"/><Relationship Id="rId13" Type="http://schemas.openxmlformats.org/officeDocument/2006/relationships/oleObject" Target="../embeddings/oleObject88.bin"/><Relationship Id="rId12" Type="http://schemas.openxmlformats.org/officeDocument/2006/relationships/image" Target="../media/image89.wmf"/><Relationship Id="rId11" Type="http://schemas.openxmlformats.org/officeDocument/2006/relationships/oleObject" Target="../embeddings/oleObject87.bin"/><Relationship Id="rId10" Type="http://schemas.openxmlformats.org/officeDocument/2006/relationships/image" Target="../media/image88.wmf"/><Relationship Id="rId1" Type="http://schemas.openxmlformats.org/officeDocument/2006/relationships/oleObject" Target="../embeddings/oleObject82.bin"/></Relationships>
</file>

<file path=ppt/slides/_rels/slide6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8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7.png"/><Relationship Id="rId3" Type="http://schemas.openxmlformats.org/officeDocument/2006/relationships/slide" Target="slide29.xml"/><Relationship Id="rId2" Type="http://schemas.openxmlformats.org/officeDocument/2006/relationships/image" Target="../media/image94.wmf"/><Relationship Id="rId1" Type="http://schemas.openxmlformats.org/officeDocument/2006/relationships/oleObject" Target="../embeddings/oleObject92.bin"/></Relationships>
</file>

<file path=ppt/slides/_rels/slide7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7.png"/><Relationship Id="rId7" Type="http://schemas.openxmlformats.org/officeDocument/2006/relationships/slide" Target="slide29.xml"/><Relationship Id="rId6" Type="http://schemas.openxmlformats.org/officeDocument/2006/relationships/image" Target="../media/image97.wmf"/><Relationship Id="rId5" Type="http://schemas.openxmlformats.org/officeDocument/2006/relationships/oleObject" Target="../embeddings/oleObject95.bin"/><Relationship Id="rId4" Type="http://schemas.openxmlformats.org/officeDocument/2006/relationships/image" Target="../media/image96.wmf"/><Relationship Id="rId3" Type="http://schemas.openxmlformats.org/officeDocument/2006/relationships/oleObject" Target="../embeddings/oleObject94.bin"/><Relationship Id="rId2" Type="http://schemas.openxmlformats.org/officeDocument/2006/relationships/image" Target="../media/image95.wmf"/><Relationship Id="rId10" Type="http://schemas.openxmlformats.org/officeDocument/2006/relationships/vmlDrawing" Target="../drawings/vmlDrawing29.vml"/><Relationship Id="rId1" Type="http://schemas.openxmlformats.org/officeDocument/2006/relationships/oleObject" Target="../embeddings/oleObject93.bin"/></Relationships>
</file>

<file path=ppt/slides/_rels/slide7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0.bin"/><Relationship Id="rId8" Type="http://schemas.openxmlformats.org/officeDocument/2006/relationships/image" Target="../media/image101.wmf"/><Relationship Id="rId7" Type="http://schemas.openxmlformats.org/officeDocument/2006/relationships/oleObject" Target="../embeddings/oleObject99.bin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98.bin"/><Relationship Id="rId4" Type="http://schemas.openxmlformats.org/officeDocument/2006/relationships/image" Target="../media/image99.wmf"/><Relationship Id="rId3" Type="http://schemas.openxmlformats.org/officeDocument/2006/relationships/oleObject" Target="../embeddings/oleObject97.bin"/><Relationship Id="rId29" Type="http://schemas.openxmlformats.org/officeDocument/2006/relationships/vmlDrawing" Target="../drawings/vmlDrawing30.vml"/><Relationship Id="rId28" Type="http://schemas.openxmlformats.org/officeDocument/2006/relationships/slideLayout" Target="../slideLayouts/slideLayout7.xml"/><Relationship Id="rId27" Type="http://schemas.openxmlformats.org/officeDocument/2006/relationships/image" Target="../media/image109.wmf"/><Relationship Id="rId26" Type="http://schemas.openxmlformats.org/officeDocument/2006/relationships/oleObject" Target="../embeddings/oleObject108.bin"/><Relationship Id="rId25" Type="http://schemas.openxmlformats.org/officeDocument/2006/relationships/image" Target="../media/image108.wmf"/><Relationship Id="rId24" Type="http://schemas.openxmlformats.org/officeDocument/2006/relationships/oleObject" Target="../embeddings/oleObject107.bin"/><Relationship Id="rId23" Type="http://schemas.openxmlformats.org/officeDocument/2006/relationships/image" Target="../media/image107.wmf"/><Relationship Id="rId22" Type="http://schemas.openxmlformats.org/officeDocument/2006/relationships/oleObject" Target="../embeddings/oleObject106.bin"/><Relationship Id="rId21" Type="http://schemas.openxmlformats.org/officeDocument/2006/relationships/image" Target="../media/image1.jpeg"/><Relationship Id="rId20" Type="http://schemas.openxmlformats.org/officeDocument/2006/relationships/image" Target="../media/image43.jpeg"/><Relationship Id="rId2" Type="http://schemas.openxmlformats.org/officeDocument/2006/relationships/image" Target="../media/image98.wmf"/><Relationship Id="rId19" Type="http://schemas.openxmlformats.org/officeDocument/2006/relationships/image" Target="../media/image106.wmf"/><Relationship Id="rId18" Type="http://schemas.openxmlformats.org/officeDocument/2006/relationships/oleObject" Target="../embeddings/oleObject105.bin"/><Relationship Id="rId17" Type="http://schemas.openxmlformats.org/officeDocument/2006/relationships/image" Target="../media/image105.wmf"/><Relationship Id="rId16" Type="http://schemas.openxmlformats.org/officeDocument/2006/relationships/oleObject" Target="../embeddings/oleObject104.bin"/><Relationship Id="rId15" Type="http://schemas.openxmlformats.org/officeDocument/2006/relationships/image" Target="../media/image104.wmf"/><Relationship Id="rId14" Type="http://schemas.openxmlformats.org/officeDocument/2006/relationships/oleObject" Target="../embeddings/oleObject103.bin"/><Relationship Id="rId13" Type="http://schemas.openxmlformats.org/officeDocument/2006/relationships/image" Target="../media/image103.wmf"/><Relationship Id="rId12" Type="http://schemas.openxmlformats.org/officeDocument/2006/relationships/oleObject" Target="../embeddings/oleObject102.bin"/><Relationship Id="rId11" Type="http://schemas.openxmlformats.org/officeDocument/2006/relationships/image" Target="../media/image102.wmf"/><Relationship Id="rId10" Type="http://schemas.openxmlformats.org/officeDocument/2006/relationships/oleObject" Target="../embeddings/oleObject101.bin"/><Relationship Id="rId1" Type="http://schemas.openxmlformats.org/officeDocument/2006/relationships/oleObject" Target="../embeddings/oleObject96.bin"/></Relationships>
</file>

<file path=ppt/slides/_rels/slide7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slide" Target="slide26.xml"/><Relationship Id="rId4" Type="http://schemas.openxmlformats.org/officeDocument/2006/relationships/slide" Target="slide83.xml"/><Relationship Id="rId3" Type="http://schemas.openxmlformats.org/officeDocument/2006/relationships/slide" Target="slide76.xml"/><Relationship Id="rId2" Type="http://schemas.openxmlformats.org/officeDocument/2006/relationships/image" Target="../media/image33.png"/><Relationship Id="rId1" Type="http://schemas.openxmlformats.org/officeDocument/2006/relationships/slide" Target="slide7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1" Type="http://schemas.openxmlformats.org/officeDocument/2006/relationships/slide" Target="slide30.xml"/></Relationships>
</file>

<file path=ppt/slides/_rels/slide7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1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11.wmf"/><Relationship Id="rId6" Type="http://schemas.openxmlformats.org/officeDocument/2006/relationships/oleObject" Target="../embeddings/oleObject111.bin"/><Relationship Id="rId5" Type="http://schemas.openxmlformats.org/officeDocument/2006/relationships/image" Target="../media/image58.wmf"/><Relationship Id="rId4" Type="http://schemas.openxmlformats.org/officeDocument/2006/relationships/oleObject" Target="../embeddings/oleObject110.bin"/><Relationship Id="rId3" Type="http://schemas.openxmlformats.org/officeDocument/2006/relationships/image" Target="../media/image110.wmf"/><Relationship Id="rId2" Type="http://schemas.openxmlformats.org/officeDocument/2006/relationships/oleObject" Target="../embeddings/oleObject109.bin"/><Relationship Id="rId1" Type="http://schemas.openxmlformats.org/officeDocument/2006/relationships/image" Target="../media/image43.jpeg"/></Relationships>
</file>

<file path=ppt/slides/_rels/slide7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5.wmf"/><Relationship Id="rId8" Type="http://schemas.openxmlformats.org/officeDocument/2006/relationships/oleObject" Target="../embeddings/oleObject116.bin"/><Relationship Id="rId7" Type="http://schemas.openxmlformats.org/officeDocument/2006/relationships/image" Target="../media/image114.wmf"/><Relationship Id="rId6" Type="http://schemas.openxmlformats.org/officeDocument/2006/relationships/oleObject" Target="../embeddings/oleObject115.bin"/><Relationship Id="rId5" Type="http://schemas.openxmlformats.org/officeDocument/2006/relationships/image" Target="../media/image113.wmf"/><Relationship Id="rId4" Type="http://schemas.openxmlformats.org/officeDocument/2006/relationships/oleObject" Target="../embeddings/oleObject114.bin"/><Relationship Id="rId3" Type="http://schemas.openxmlformats.org/officeDocument/2006/relationships/oleObject" Target="../embeddings/oleObject113.bin"/><Relationship Id="rId2" Type="http://schemas.openxmlformats.org/officeDocument/2006/relationships/image" Target="../media/image112.wmf"/><Relationship Id="rId17" Type="http://schemas.openxmlformats.org/officeDocument/2006/relationships/vmlDrawing" Target="../drawings/vmlDrawing32.v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37.png"/><Relationship Id="rId14" Type="http://schemas.openxmlformats.org/officeDocument/2006/relationships/slide" Target="slide29.xml"/><Relationship Id="rId13" Type="http://schemas.openxmlformats.org/officeDocument/2006/relationships/image" Target="../media/image117.wmf"/><Relationship Id="rId12" Type="http://schemas.openxmlformats.org/officeDocument/2006/relationships/oleObject" Target="../embeddings/oleObject118.bin"/><Relationship Id="rId11" Type="http://schemas.openxmlformats.org/officeDocument/2006/relationships/image" Target="../media/image116.wmf"/><Relationship Id="rId10" Type="http://schemas.openxmlformats.org/officeDocument/2006/relationships/oleObject" Target="../embeddings/oleObject117.bin"/><Relationship Id="rId1" Type="http://schemas.openxmlformats.org/officeDocument/2006/relationships/oleObject" Target="../embeddings/oleObject112.bin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7.png"/><Relationship Id="rId3" Type="http://schemas.openxmlformats.org/officeDocument/2006/relationships/slide" Target="slide29.xml"/><Relationship Id="rId2" Type="http://schemas.openxmlformats.org/officeDocument/2006/relationships/hyperlink" Target="KNT.AVI" TargetMode="External"/><Relationship Id="rId1" Type="http://schemas.openxmlformats.org/officeDocument/2006/relationships/image" Target="../media/image1.jpe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1" Type="http://schemas.openxmlformats.org/officeDocument/2006/relationships/slide" Target="slide29.xml"/></Relationships>
</file>

<file path=ppt/slides/_rels/slide8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7.png"/><Relationship Id="rId3" Type="http://schemas.openxmlformats.org/officeDocument/2006/relationships/slide" Target="slide29.xml"/><Relationship Id="rId2" Type="http://schemas.openxmlformats.org/officeDocument/2006/relationships/slide" Target="slide86.xml"/><Relationship Id="rId1" Type="http://schemas.openxmlformats.org/officeDocument/2006/relationships/slide" Target="slide87.xml"/></Relationships>
</file>

<file path=ppt/slides/_rels/slide8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7.png"/><Relationship Id="rId3" Type="http://schemas.openxmlformats.org/officeDocument/2006/relationships/slide" Target="slide29.xml"/><Relationship Id="rId2" Type="http://schemas.openxmlformats.org/officeDocument/2006/relationships/slide" Target="slide90.xml"/><Relationship Id="rId1" Type="http://schemas.openxmlformats.org/officeDocument/2006/relationships/slide" Target="slide88.xml"/></Relationships>
</file>

<file path=ppt/slides/_rels/slide8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7.png"/><Relationship Id="rId2" Type="http://schemas.openxmlformats.org/officeDocument/2006/relationships/slide" Target="slide29.xml"/><Relationship Id="rId1" Type="http://schemas.openxmlformats.org/officeDocument/2006/relationships/slide" Target="slide89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1" Type="http://schemas.openxmlformats.org/officeDocument/2006/relationships/slide" Target="slide29.xml"/></Relationships>
</file>

<file path=ppt/slides/_rels/slide8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4.png"/><Relationship Id="rId3" Type="http://schemas.openxmlformats.org/officeDocument/2006/relationships/slide" Target="slide26.xml"/><Relationship Id="rId2" Type="http://schemas.openxmlformats.org/officeDocument/2006/relationships/image" Target="../media/image118.wmf"/><Relationship Id="rId1" Type="http://schemas.openxmlformats.org/officeDocument/2006/relationships/oleObject" Target="../embeddings/oleObject119.bin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4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0.png"/><Relationship Id="rId3" Type="http://schemas.openxmlformats.org/officeDocument/2006/relationships/slide" Target="slide80.xml"/><Relationship Id="rId2" Type="http://schemas.openxmlformats.org/officeDocument/2006/relationships/image" Target="../media/image119.wmf"/><Relationship Id="rId1" Type="http://schemas.openxmlformats.org/officeDocument/2006/relationships/oleObject" Target="../embeddings/oleObject120.bin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1" Type="http://schemas.openxmlformats.org/officeDocument/2006/relationships/slide" Target="slide80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1" Type="http://schemas.openxmlformats.org/officeDocument/2006/relationships/slide" Target="slide81.xml"/></Relationships>
</file>

<file path=ppt/slides/_rels/slide8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5.bin"/><Relationship Id="rId8" Type="http://schemas.openxmlformats.org/officeDocument/2006/relationships/image" Target="../media/image124.wmf"/><Relationship Id="rId7" Type="http://schemas.openxmlformats.org/officeDocument/2006/relationships/oleObject" Target="../embeddings/oleObject124.bin"/><Relationship Id="rId6" Type="http://schemas.openxmlformats.org/officeDocument/2006/relationships/image" Target="../media/image123.wmf"/><Relationship Id="rId5" Type="http://schemas.openxmlformats.org/officeDocument/2006/relationships/oleObject" Target="../embeddings/oleObject123.bin"/><Relationship Id="rId4" Type="http://schemas.openxmlformats.org/officeDocument/2006/relationships/image" Target="../media/image122.wmf"/><Relationship Id="rId3" Type="http://schemas.openxmlformats.org/officeDocument/2006/relationships/oleObject" Target="../embeddings/oleObject122.bin"/><Relationship Id="rId21" Type="http://schemas.openxmlformats.org/officeDocument/2006/relationships/vmlDrawing" Target="../drawings/vmlDrawing35.vml"/><Relationship Id="rId20" Type="http://schemas.openxmlformats.org/officeDocument/2006/relationships/slideLayout" Target="../slideLayouts/slideLayout7.xml"/><Relationship Id="rId2" Type="http://schemas.openxmlformats.org/officeDocument/2006/relationships/image" Target="../media/image121.wmf"/><Relationship Id="rId19" Type="http://schemas.openxmlformats.org/officeDocument/2006/relationships/image" Target="../media/image120.png"/><Relationship Id="rId18" Type="http://schemas.openxmlformats.org/officeDocument/2006/relationships/slide" Target="slide82.xml"/><Relationship Id="rId17" Type="http://schemas.openxmlformats.org/officeDocument/2006/relationships/image" Target="../media/image127.wmf"/><Relationship Id="rId16" Type="http://schemas.openxmlformats.org/officeDocument/2006/relationships/oleObject" Target="../embeddings/oleObject128.bin"/><Relationship Id="rId15" Type="http://schemas.openxmlformats.org/officeDocument/2006/relationships/image" Target="../media/image126.wmf"/><Relationship Id="rId14" Type="http://schemas.openxmlformats.org/officeDocument/2006/relationships/oleObject" Target="../embeddings/oleObject127.bin"/><Relationship Id="rId13" Type="http://schemas.openxmlformats.org/officeDocument/2006/relationships/image" Target="../media/image1.jpeg"/><Relationship Id="rId12" Type="http://schemas.openxmlformats.org/officeDocument/2006/relationships/image" Target="../media/image125.wmf"/><Relationship Id="rId11" Type="http://schemas.openxmlformats.org/officeDocument/2006/relationships/oleObject" Target="../embeddings/oleObject126.bin"/><Relationship Id="rId10" Type="http://schemas.openxmlformats.org/officeDocument/2006/relationships/image" Target="../media/image85.wmf"/><Relationship Id="rId1" Type="http://schemas.openxmlformats.org/officeDocument/2006/relationships/oleObject" Target="../embeddings/oleObject121.bin"/></Relationships>
</file>

<file path=ppt/slides/_rels/slide90.xml.rels><?xml version="1.0" encoding="UTF-8" standalone="yes"?>
<Relationships xmlns="http://schemas.openxmlformats.org/package/2006/relationships"><Relationship Id="rId9" Type="http://schemas.openxmlformats.org/officeDocument/2006/relationships/slide" Target="slide81.xml"/><Relationship Id="rId8" Type="http://schemas.openxmlformats.org/officeDocument/2006/relationships/image" Target="../media/image130.wmf"/><Relationship Id="rId7" Type="http://schemas.openxmlformats.org/officeDocument/2006/relationships/oleObject" Target="../embeddings/oleObject132.bin"/><Relationship Id="rId6" Type="http://schemas.openxmlformats.org/officeDocument/2006/relationships/image" Target="../media/image129.wmf"/><Relationship Id="rId5" Type="http://schemas.openxmlformats.org/officeDocument/2006/relationships/oleObject" Target="../embeddings/oleObject131.bin"/><Relationship Id="rId4" Type="http://schemas.openxmlformats.org/officeDocument/2006/relationships/image" Target="../media/image128.wmf"/><Relationship Id="rId3" Type="http://schemas.openxmlformats.org/officeDocument/2006/relationships/oleObject" Target="../embeddings/oleObject130.bin"/><Relationship Id="rId2" Type="http://schemas.openxmlformats.org/officeDocument/2006/relationships/image" Target="../media/image119.wmf"/><Relationship Id="rId12" Type="http://schemas.openxmlformats.org/officeDocument/2006/relationships/vmlDrawing" Target="../drawings/vmlDrawing36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20.png"/><Relationship Id="rId1" Type="http://schemas.openxmlformats.org/officeDocument/2006/relationships/oleObject" Target="../embeddings/oleObject12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4"/>
          <p:cNvSpPr/>
          <p:nvPr/>
        </p:nvSpPr>
        <p:spPr>
          <a:xfrm>
            <a:off x="1411288" y="3059113"/>
            <a:ext cx="5424487" cy="584200"/>
          </a:xfrm>
          <a:prstGeom prst="rect">
            <a:avLst/>
          </a:prstGeom>
          <a:noFill/>
          <a:ln w="889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b="1" dirty="0">
                <a:solidFill>
                  <a:schemeClr val="accent2"/>
                </a:solidFill>
                <a:ea typeface="楷体_GB2312" pitchFamily="49" charset="-122"/>
              </a:rPr>
              <a:t>A.1 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数字技术的发展及其应用</a:t>
            </a:r>
            <a:endParaRPr lang="zh-CN" altLang="en-US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99" name="Rectangle 5"/>
          <p:cNvSpPr/>
          <p:nvPr/>
        </p:nvSpPr>
        <p:spPr>
          <a:xfrm>
            <a:off x="1338263" y="3654425"/>
            <a:ext cx="5835650" cy="584200"/>
          </a:xfrm>
          <a:prstGeom prst="rect">
            <a:avLst/>
          </a:prstGeom>
          <a:noFill/>
          <a:ln w="889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b="1" dirty="0">
                <a:solidFill>
                  <a:schemeClr val="accent2"/>
                </a:solidFill>
                <a:ea typeface="楷体_GB2312" pitchFamily="49" charset="-122"/>
              </a:rPr>
              <a:t>A.2 </a:t>
            </a:r>
            <a:r>
              <a:rPr lang="zh-CN" altLang="en-US" b="1" dirty="0">
                <a:solidFill>
                  <a:schemeClr val="accent2"/>
                </a:solidFill>
                <a:ea typeface="楷体_GB2312" pitchFamily="49" charset="-122"/>
              </a:rPr>
              <a:t>数字集成电路的分类及特点</a:t>
            </a:r>
            <a:endParaRPr lang="zh-CN" altLang="en-US" b="1" dirty="0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4100" name="Rectangle 6"/>
          <p:cNvSpPr/>
          <p:nvPr/>
        </p:nvSpPr>
        <p:spPr>
          <a:xfrm>
            <a:off x="1417638" y="4373563"/>
            <a:ext cx="4598987" cy="584200"/>
          </a:xfrm>
          <a:prstGeom prst="rect">
            <a:avLst/>
          </a:prstGeom>
          <a:noFill/>
          <a:ln w="889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b="1" dirty="0">
                <a:solidFill>
                  <a:schemeClr val="accent2"/>
                </a:solidFill>
                <a:ea typeface="楷体_GB2312" pitchFamily="49" charset="-122"/>
              </a:rPr>
              <a:t>A.3 </a:t>
            </a:r>
            <a:r>
              <a:rPr lang="zh-CN" altLang="en-US" b="1" dirty="0">
                <a:solidFill>
                  <a:schemeClr val="accent2"/>
                </a:solidFill>
                <a:ea typeface="楷体_GB2312" pitchFamily="49" charset="-122"/>
              </a:rPr>
              <a:t>模拟信号与数字信号</a:t>
            </a:r>
            <a:endParaRPr lang="zh-CN" altLang="en-US" b="1" dirty="0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4101" name="Rectangle 7"/>
          <p:cNvSpPr/>
          <p:nvPr/>
        </p:nvSpPr>
        <p:spPr>
          <a:xfrm>
            <a:off x="1438275" y="5268913"/>
            <a:ext cx="4598988" cy="584200"/>
          </a:xfrm>
          <a:prstGeom prst="rect">
            <a:avLst/>
          </a:prstGeom>
          <a:noFill/>
          <a:ln w="889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b="1" dirty="0">
                <a:solidFill>
                  <a:schemeClr val="accent2"/>
                </a:solidFill>
                <a:ea typeface="楷体_GB2312" pitchFamily="49" charset="-122"/>
              </a:rPr>
              <a:t>A.4 </a:t>
            </a:r>
            <a:r>
              <a:rPr lang="zh-CN" altLang="en-US" b="1" dirty="0">
                <a:solidFill>
                  <a:schemeClr val="accent2"/>
                </a:solidFill>
                <a:ea typeface="楷体_GB2312" pitchFamily="49" charset="-122"/>
              </a:rPr>
              <a:t>数字信号的描述方法</a:t>
            </a:r>
            <a:endParaRPr lang="zh-CN" altLang="en-US" b="1" dirty="0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8" name="Rectangle 2"/>
          <p:cNvSpPr txBox="1"/>
          <p:nvPr/>
        </p:nvSpPr>
        <p:spPr>
          <a:xfrm>
            <a:off x="284163" y="260350"/>
            <a:ext cx="8534400" cy="208915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tIns="756000"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ts val="1800"/>
              </a:spcBef>
              <a:buNone/>
            </a:pPr>
            <a:r>
              <a:rPr lang="en-US" altLang="zh-CN" sz="6600" b="1" dirty="0">
                <a:solidFill>
                  <a:srgbClr val="A5002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A. </a:t>
            </a:r>
            <a:r>
              <a:rPr lang="zh-CN" altLang="en-US" sz="6600" b="1" dirty="0">
                <a:solidFill>
                  <a:srgbClr val="A5002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引言</a:t>
            </a:r>
            <a:r>
              <a:rPr lang="en-US" altLang="zh-CN" sz="6600" b="1" dirty="0">
                <a:solidFill>
                  <a:srgbClr val="A5002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- </a:t>
            </a:r>
            <a:r>
              <a:rPr lang="zh-CN" altLang="en-US" sz="6600" b="1" dirty="0">
                <a:solidFill>
                  <a:srgbClr val="A5002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数字电路与数字信号</a:t>
            </a:r>
            <a:endParaRPr lang="zh-CN" altLang="en-US" sz="6600" b="1" dirty="0">
              <a:solidFill>
                <a:srgbClr val="A5002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0" lvl="0" indent="0" algn="ctr">
              <a:spcBef>
                <a:spcPct val="0"/>
              </a:spcBef>
              <a:buNone/>
            </a:pPr>
            <a:endParaRPr lang="zh-CN" altLang="en-US" sz="4400" dirty="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37"/>
          <p:cNvSpPr/>
          <p:nvPr/>
        </p:nvSpPr>
        <p:spPr>
          <a:xfrm>
            <a:off x="539750" y="1123950"/>
            <a:ext cx="6281738" cy="6492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3400" dirty="0">
                <a:solidFill>
                  <a:schemeClr val="accent2"/>
                </a:solidFill>
              </a:rPr>
              <a:t>A.1.1</a:t>
            </a:r>
            <a:r>
              <a:rPr lang="zh-CN" altLang="en-US" sz="3400" dirty="0">
                <a:solidFill>
                  <a:schemeClr val="accent2"/>
                </a:solidFill>
              </a:rPr>
              <a:t>数字技术的发展及其应用</a:t>
            </a:r>
            <a:endParaRPr lang="zh-CN" altLang="en-US" sz="3400" dirty="0">
              <a:solidFill>
                <a:schemeClr val="accent2"/>
              </a:solidFill>
            </a:endParaRPr>
          </a:p>
        </p:txBody>
      </p:sp>
      <p:sp>
        <p:nvSpPr>
          <p:cNvPr id="5123" name="Rectangle 38"/>
          <p:cNvSpPr/>
          <p:nvPr/>
        </p:nvSpPr>
        <p:spPr>
          <a:xfrm>
            <a:off x="236538" y="268288"/>
            <a:ext cx="4497387" cy="584200"/>
          </a:xfrm>
          <a:prstGeom prst="rect">
            <a:avLst/>
          </a:prstGeom>
          <a:noFill/>
          <a:ln w="889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2"/>
                </a:solidFill>
                <a:ea typeface="楷体_GB2312" pitchFamily="49" charset="-122"/>
              </a:rPr>
              <a:t>A.1</a:t>
            </a:r>
            <a:r>
              <a:rPr lang="zh-CN" altLang="en-US" b="1" dirty="0">
                <a:solidFill>
                  <a:schemeClr val="accent2"/>
                </a:solidFill>
                <a:ea typeface="楷体_GB2312" pitchFamily="49" charset="-122"/>
              </a:rPr>
              <a:t>数字电路与数字信号</a:t>
            </a:r>
            <a:endParaRPr lang="zh-CN" altLang="en-US" b="1" dirty="0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375847" name="Rectangle 39"/>
          <p:cNvSpPr/>
          <p:nvPr/>
        </p:nvSpPr>
        <p:spPr>
          <a:xfrm>
            <a:off x="312738" y="3257550"/>
            <a:ext cx="86137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80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年代后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-  ULSI 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， 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1 0 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亿个晶体管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/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片 、 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ASIC 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制作技术成熟</a:t>
            </a:r>
            <a:endParaRPr lang="zh-CN" altLang="en-US" sz="2400" b="1" dirty="0">
              <a:solidFill>
                <a:srgbClr val="000066"/>
              </a:solidFill>
              <a:ea typeface="楷体_GB2312" pitchFamily="49" charset="-122"/>
            </a:endParaRPr>
          </a:p>
        </p:txBody>
      </p:sp>
      <p:grpSp>
        <p:nvGrpSpPr>
          <p:cNvPr id="2" name="Group 40"/>
          <p:cNvGrpSpPr/>
          <p:nvPr/>
        </p:nvGrpSpPr>
        <p:grpSpPr>
          <a:xfrm>
            <a:off x="250825" y="4651375"/>
            <a:ext cx="8351838" cy="1009650"/>
            <a:chOff x="385" y="3398"/>
            <a:chExt cx="5261" cy="636"/>
          </a:xfrm>
        </p:grpSpPr>
        <p:sp>
          <p:nvSpPr>
            <p:cNvPr id="5130" name="Rectangle 41"/>
            <p:cNvSpPr/>
            <p:nvPr/>
          </p:nvSpPr>
          <p:spPr>
            <a:xfrm>
              <a:off x="385" y="3398"/>
              <a:ext cx="526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000066"/>
                  </a:solidFill>
                  <a:ea typeface="楷体_GB2312" pitchFamily="49" charset="-122"/>
                </a:rPr>
                <a:t>目前</a:t>
              </a:r>
              <a:r>
                <a:rPr lang="en-US" altLang="zh-CN" sz="2400" b="1" dirty="0">
                  <a:solidFill>
                    <a:srgbClr val="000066"/>
                  </a:solidFill>
                  <a:ea typeface="楷体_GB2312" pitchFamily="49" charset="-122"/>
                </a:rPr>
                <a:t>--   </a:t>
              </a:r>
              <a:r>
                <a:rPr lang="zh-CN" altLang="en-US" sz="2400" b="1" dirty="0">
                  <a:solidFill>
                    <a:srgbClr val="000066"/>
                  </a:solidFill>
                  <a:ea typeface="楷体_GB2312" pitchFamily="49" charset="-122"/>
                </a:rPr>
                <a:t>芯片内部的布线细微到纳米</a:t>
              </a:r>
              <a:r>
                <a:rPr lang="en-US" altLang="zh-CN" sz="2400" b="1" dirty="0">
                  <a:solidFill>
                    <a:srgbClr val="000066"/>
                  </a:solidFill>
                  <a:ea typeface="楷体_GB2312" pitchFamily="49" charset="-122"/>
                </a:rPr>
                <a:t>(7nm)</a:t>
              </a:r>
              <a:r>
                <a:rPr lang="zh-CN" altLang="en-US" sz="2400" b="1" dirty="0">
                  <a:solidFill>
                    <a:srgbClr val="000066"/>
                  </a:solidFill>
                  <a:ea typeface="楷体_GB2312" pitchFamily="49" charset="-122"/>
                </a:rPr>
                <a:t>量级</a:t>
              </a:r>
              <a:endParaRPr lang="zh-CN" altLang="en-US" sz="2400" b="1" dirty="0">
                <a:solidFill>
                  <a:srgbClr val="000066"/>
                </a:solidFill>
                <a:ea typeface="楷体_GB2312" pitchFamily="49" charset="-122"/>
              </a:endParaRPr>
            </a:p>
          </p:txBody>
        </p:sp>
        <p:sp>
          <p:nvSpPr>
            <p:cNvPr id="5131" name="Rectangle 42"/>
            <p:cNvSpPr/>
            <p:nvPr/>
          </p:nvSpPr>
          <p:spPr>
            <a:xfrm>
              <a:off x="930" y="3746"/>
              <a:ext cx="35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000066"/>
                  </a:solidFill>
                  <a:ea typeface="楷体_GB2312" pitchFamily="49" charset="-122"/>
                </a:rPr>
                <a:t>微处理器的时钟频率高达</a:t>
              </a:r>
              <a:r>
                <a:rPr lang="en-US" altLang="zh-CN" sz="2400" b="1" dirty="0">
                  <a:solidFill>
                    <a:srgbClr val="000066"/>
                  </a:solidFill>
                  <a:ea typeface="楷体_GB2312" pitchFamily="49" charset="-122"/>
                </a:rPr>
                <a:t>3GHz</a:t>
              </a:r>
              <a:r>
                <a:rPr lang="zh-CN" altLang="en-US" sz="2400" b="1" dirty="0">
                  <a:solidFill>
                    <a:srgbClr val="000066"/>
                  </a:solidFill>
                  <a:ea typeface="楷体_GB2312" pitchFamily="49" charset="-122"/>
                </a:rPr>
                <a:t>（</a:t>
              </a:r>
              <a:r>
                <a:rPr lang="en-US" altLang="zh-CN" sz="2400" b="1" dirty="0">
                  <a:solidFill>
                    <a:srgbClr val="000066"/>
                  </a:solidFill>
                  <a:ea typeface="楷体_GB2312" pitchFamily="49" charset="-122"/>
                </a:rPr>
                <a:t>10</a:t>
              </a:r>
              <a:r>
                <a:rPr lang="en-US" altLang="zh-CN" sz="2400" b="1" baseline="30000" dirty="0">
                  <a:solidFill>
                    <a:srgbClr val="000066"/>
                  </a:solidFill>
                  <a:ea typeface="楷体_GB2312" pitchFamily="49" charset="-122"/>
                </a:rPr>
                <a:t>9</a:t>
              </a:r>
              <a:r>
                <a:rPr lang="en-US" altLang="zh-CN" sz="2400" b="1" dirty="0">
                  <a:solidFill>
                    <a:srgbClr val="000066"/>
                  </a:solidFill>
                  <a:ea typeface="楷体_GB2312" pitchFamily="49" charset="-122"/>
                </a:rPr>
                <a:t>Hz</a:t>
              </a:r>
              <a:r>
                <a:rPr lang="zh-CN" altLang="en-US" sz="2400" b="1" dirty="0">
                  <a:solidFill>
                    <a:srgbClr val="000066"/>
                  </a:solidFill>
                  <a:ea typeface="楷体_GB2312" pitchFamily="49" charset="-122"/>
                </a:rPr>
                <a:t>）</a:t>
              </a:r>
              <a:endParaRPr lang="zh-CN" altLang="en-US" sz="2400" b="1" dirty="0">
                <a:solidFill>
                  <a:srgbClr val="000066"/>
                </a:solidFill>
                <a:ea typeface="楷体_GB2312" pitchFamily="49" charset="-122"/>
              </a:endParaRPr>
            </a:p>
          </p:txBody>
        </p:sp>
      </p:grpSp>
      <p:sp>
        <p:nvSpPr>
          <p:cNvPr id="375851" name="Rectangle 43"/>
          <p:cNvSpPr/>
          <p:nvPr/>
        </p:nvSpPr>
        <p:spPr>
          <a:xfrm>
            <a:off x="250825" y="4002088"/>
            <a:ext cx="9001125" cy="457200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90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年代后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-   97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年一片集成电路上有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40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亿个晶体管。</a:t>
            </a:r>
            <a:endParaRPr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127" name="Rectangle 44"/>
          <p:cNvSpPr/>
          <p:nvPr/>
        </p:nvSpPr>
        <p:spPr>
          <a:xfrm>
            <a:off x="323850" y="2133600"/>
            <a:ext cx="17256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60~70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代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-</a:t>
            </a:r>
            <a:endParaRPr lang="en-US" altLang="zh-CN" sz="2400" b="1" dirty="0">
              <a:solidFill>
                <a:srgbClr val="000066"/>
              </a:solidFill>
              <a:ea typeface="楷体_GB2312" pitchFamily="49" charset="-122"/>
            </a:endParaRPr>
          </a:p>
        </p:txBody>
      </p:sp>
      <p:sp>
        <p:nvSpPr>
          <p:cNvPr id="5128" name="Rectangle 45"/>
          <p:cNvSpPr/>
          <p:nvPr/>
        </p:nvSpPr>
        <p:spPr>
          <a:xfrm>
            <a:off x="1528763" y="1858963"/>
            <a:ext cx="7615237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IC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技术迅速发展：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SSI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、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MSI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、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LSI 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、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VLSI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。</a:t>
            </a:r>
            <a:endParaRPr lang="zh-CN" altLang="en-US" sz="2400" b="1" dirty="0">
              <a:solidFill>
                <a:srgbClr val="000066"/>
              </a:solidFill>
              <a:ea typeface="楷体_GB2312" pitchFamily="49" charset="-122"/>
            </a:endParaRPr>
          </a:p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10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万个晶体管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/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片。</a:t>
            </a:r>
            <a:r>
              <a:rPr lang="en-US" altLang="zh-CN" sz="2400" b="1" dirty="0">
                <a:solidFill>
                  <a:schemeClr val="tx2"/>
                </a:solidFill>
              </a:rPr>
              <a:t>Application Specific Integrated Circuit</a:t>
            </a:r>
            <a:r>
              <a:rPr lang="en-US" altLang="zh-CN" sz="2400" dirty="0">
                <a:solidFill>
                  <a:schemeClr val="tx2"/>
                </a:solidFill>
              </a:rPr>
              <a:t> </a:t>
            </a:r>
            <a:endParaRPr lang="en-US" altLang="zh-CN" sz="2400" dirty="0">
              <a:solidFill>
                <a:schemeClr val="tx2"/>
              </a:solidFill>
            </a:endParaRPr>
          </a:p>
        </p:txBody>
      </p:sp>
      <p:sp>
        <p:nvSpPr>
          <p:cNvPr id="375854" name="Rectangle 46"/>
          <p:cNvSpPr/>
          <p:nvPr/>
        </p:nvSpPr>
        <p:spPr>
          <a:xfrm>
            <a:off x="323850" y="5708650"/>
            <a:ext cx="8820150" cy="457200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将来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-   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高分子材料或生物材料制成密度更高、三维结构的电路</a:t>
            </a:r>
            <a:endParaRPr lang="zh-CN" altLang="en-US" sz="2400" b="1" dirty="0">
              <a:solidFill>
                <a:srgbClr val="000066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7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7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7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847" grpId="0"/>
      <p:bldP spid="375851" grpId="0"/>
      <p:bldP spid="37585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7876" name="Text Box 20"/>
          <p:cNvSpPr txBox="1"/>
          <p:nvPr/>
        </p:nvSpPr>
        <p:spPr>
          <a:xfrm>
            <a:off x="395288" y="549275"/>
            <a:ext cx="82089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发展特点</a:t>
            </a: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以电子器件的发展为基础</a:t>
            </a:r>
            <a:endParaRPr lang="zh-CN" altLang="en-US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77877" name="Text Box 21"/>
          <p:cNvSpPr txBox="1"/>
          <p:nvPr/>
        </p:nvSpPr>
        <p:spPr>
          <a:xfrm>
            <a:off x="395288" y="1196975"/>
            <a:ext cx="18732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电子管时代</a:t>
            </a:r>
            <a:endParaRPr lang="zh-CN" altLang="en-US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77878" name="Rectangle 22"/>
          <p:cNvSpPr/>
          <p:nvPr/>
        </p:nvSpPr>
        <p:spPr>
          <a:xfrm>
            <a:off x="2700338" y="2854325"/>
            <a:ext cx="6156325" cy="1682750"/>
          </a:xfrm>
          <a:prstGeom prst="rect">
            <a:avLst/>
          </a:prstGeom>
          <a:noFill/>
          <a:ln w="762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lnSpc>
                <a:spcPct val="145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1906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年，福雷斯特等发明了电子管；电子管体积大、重量重、耗电大、寿命短。目前在一些大功率发射装置中使用</a:t>
            </a:r>
            <a:r>
              <a:rPr lang="zh-CN" altLang="en-US" sz="2400" b="1" dirty="0">
                <a:solidFill>
                  <a:srgbClr val="040468"/>
                </a:solidFill>
                <a:ea typeface="楷体_GB2312" pitchFamily="49" charset="-122"/>
              </a:rPr>
              <a:t>。</a:t>
            </a:r>
            <a:endParaRPr lang="zh-CN" altLang="en-US" sz="2400" b="1" dirty="0">
              <a:solidFill>
                <a:srgbClr val="040468"/>
              </a:solidFill>
              <a:ea typeface="楷体_GB2312" pitchFamily="49" charset="-122"/>
            </a:endParaRPr>
          </a:p>
        </p:txBody>
      </p:sp>
      <p:pic>
        <p:nvPicPr>
          <p:cNvPr id="377879" name="Picture 23" descr="电子管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2116138"/>
            <a:ext cx="2160588" cy="3429000"/>
          </a:xfrm>
          <a:prstGeom prst="rect">
            <a:avLst/>
          </a:prstGeom>
          <a:solidFill>
            <a:srgbClr val="339966"/>
          </a:solidFill>
          <a:ln w="57150" cap="flat" cmpd="thinThick">
            <a:solidFill>
              <a:srgbClr val="CC0099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377880" name="Text Box 24"/>
          <p:cNvSpPr txBox="1"/>
          <p:nvPr/>
        </p:nvSpPr>
        <p:spPr>
          <a:xfrm>
            <a:off x="3203575" y="1306513"/>
            <a:ext cx="4968875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电压控制器件</a:t>
            </a:r>
            <a:endParaRPr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ctr"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电真空技术</a:t>
            </a:r>
            <a:endParaRPr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77881" name="Picture 25" descr="M500SB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763" y="4071938"/>
            <a:ext cx="2355850" cy="2282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77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77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77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77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377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77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876" grpId="0"/>
      <p:bldP spid="377877" grpId="0"/>
      <p:bldP spid="377878" grpId="0"/>
      <p:bldP spid="37788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Text Box 25"/>
          <p:cNvSpPr txBox="1"/>
          <p:nvPr/>
        </p:nvSpPr>
        <p:spPr>
          <a:xfrm>
            <a:off x="755650" y="476250"/>
            <a:ext cx="22320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40468"/>
                </a:solidFill>
                <a:ea typeface="楷体_GB2312" pitchFamily="49" charset="-122"/>
              </a:rPr>
              <a:t>晶体管时代</a:t>
            </a:r>
            <a:endParaRPr lang="zh-CN" altLang="en-US" sz="2400" b="1" dirty="0">
              <a:solidFill>
                <a:srgbClr val="040468"/>
              </a:solidFill>
              <a:ea typeface="楷体_GB2312" pitchFamily="49" charset="-122"/>
            </a:endParaRPr>
          </a:p>
        </p:txBody>
      </p:sp>
      <p:grpSp>
        <p:nvGrpSpPr>
          <p:cNvPr id="2" name="Group 26"/>
          <p:cNvGrpSpPr/>
          <p:nvPr/>
        </p:nvGrpSpPr>
        <p:grpSpPr>
          <a:xfrm>
            <a:off x="3886200" y="4221163"/>
            <a:ext cx="5257800" cy="1989137"/>
            <a:chOff x="0" y="2069"/>
            <a:chExt cx="3515" cy="1452"/>
          </a:xfrm>
        </p:grpSpPr>
        <p:pic>
          <p:nvPicPr>
            <p:cNvPr id="8205" name="Picture 27" descr="2115595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2069"/>
              <a:ext cx="1920" cy="1440"/>
            </a:xfrm>
            <a:prstGeom prst="rect">
              <a:avLst/>
            </a:prstGeom>
            <a:noFill/>
            <a:ln w="38100" cap="flat" cmpd="sng">
              <a:solidFill>
                <a:srgbClr val="CC0099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8206" name="Picture 28" descr="2114176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3" y="2069"/>
              <a:ext cx="1542" cy="1452"/>
            </a:xfrm>
            <a:prstGeom prst="rect">
              <a:avLst/>
            </a:prstGeom>
            <a:noFill/>
            <a:ln w="38100" cap="flat" cmpd="sng">
              <a:solidFill>
                <a:srgbClr val="CC0099"/>
              </a:solidFill>
              <a:prstDash val="solid"/>
              <a:miter/>
              <a:headEnd type="none" w="med" len="med"/>
              <a:tailEnd type="none" w="med" len="med"/>
            </a:ln>
          </p:spPr>
        </p:pic>
      </p:grpSp>
      <p:sp>
        <p:nvSpPr>
          <p:cNvPr id="378909" name="Rectangle 29"/>
          <p:cNvSpPr/>
          <p:nvPr/>
        </p:nvSpPr>
        <p:spPr>
          <a:xfrm>
            <a:off x="3492500" y="549275"/>
            <a:ext cx="4464050" cy="822325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Garamond" panose="02020404030301010803" pitchFamily="18" charset="0"/>
                <a:ea typeface="楷体_GB2312" pitchFamily="49" charset="-122"/>
              </a:rPr>
              <a:t>电流控制器件</a:t>
            </a:r>
            <a:endParaRPr lang="zh-CN" altLang="en-US" sz="2400" b="1" dirty="0">
              <a:solidFill>
                <a:srgbClr val="000066"/>
              </a:solidFill>
              <a:latin typeface="Garamond" panose="02020404030301010803" pitchFamily="18" charset="0"/>
              <a:ea typeface="楷体_GB2312" pitchFamily="49" charset="-122"/>
            </a:endParaRPr>
          </a:p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Garamond" panose="02020404030301010803" pitchFamily="18" charset="0"/>
                <a:ea typeface="楷体_GB2312" pitchFamily="49" charset="-122"/>
              </a:rPr>
              <a:t>                          半导体技术</a:t>
            </a:r>
            <a:endParaRPr lang="zh-CN" altLang="en-US" sz="2400" b="1" dirty="0">
              <a:solidFill>
                <a:srgbClr val="000066"/>
              </a:solidFill>
              <a:latin typeface="Garamond" panose="02020404030301010803" pitchFamily="18" charset="0"/>
              <a:ea typeface="楷体_GB2312" pitchFamily="49" charset="-122"/>
            </a:endParaRPr>
          </a:p>
        </p:txBody>
      </p:sp>
      <p:grpSp>
        <p:nvGrpSpPr>
          <p:cNvPr id="3" name="Group 30"/>
          <p:cNvGrpSpPr/>
          <p:nvPr/>
        </p:nvGrpSpPr>
        <p:grpSpPr>
          <a:xfrm>
            <a:off x="250825" y="1916113"/>
            <a:ext cx="8353425" cy="2160587"/>
            <a:chOff x="158" y="1479"/>
            <a:chExt cx="5262" cy="1361"/>
          </a:xfrm>
        </p:grpSpPr>
        <p:grpSp>
          <p:nvGrpSpPr>
            <p:cNvPr id="8201" name="Group 31"/>
            <p:cNvGrpSpPr/>
            <p:nvPr/>
          </p:nvGrpSpPr>
          <p:grpSpPr>
            <a:xfrm>
              <a:off x="158" y="1479"/>
              <a:ext cx="3311" cy="1361"/>
              <a:chOff x="0" y="300"/>
              <a:chExt cx="3719" cy="1361"/>
            </a:xfrm>
          </p:grpSpPr>
          <p:pic>
            <p:nvPicPr>
              <p:cNvPr id="8203" name="Picture 32" descr="17143718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00"/>
                <a:ext cx="1798" cy="1349"/>
              </a:xfrm>
              <a:prstGeom prst="rect">
                <a:avLst/>
              </a:prstGeom>
              <a:noFill/>
              <a:ln w="3810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8204" name="Picture 33" descr="led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82" y="300"/>
                <a:ext cx="1837" cy="1361"/>
              </a:xfrm>
              <a:prstGeom prst="rect">
                <a:avLst/>
              </a:prstGeom>
              <a:noFill/>
              <a:ln w="3810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</p:grpSp>
        <p:pic>
          <p:nvPicPr>
            <p:cNvPr id="8202" name="mainpic" descr="21141765-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87" y="1480"/>
              <a:ext cx="1633" cy="1325"/>
            </a:xfrm>
            <a:prstGeom prst="rect">
              <a:avLst/>
            </a:prstGeom>
            <a:noFill/>
            <a:ln w="38100" cap="flat" cmpd="sng">
              <a:solidFill>
                <a:srgbClr val="CC0099"/>
              </a:solidFill>
              <a:prstDash val="solid"/>
              <a:miter/>
              <a:headEnd type="none" w="med" len="med"/>
              <a:tailEnd type="none" w="med" len="med"/>
            </a:ln>
          </p:spPr>
        </p:pic>
      </p:grpSp>
      <p:grpSp>
        <p:nvGrpSpPr>
          <p:cNvPr id="5" name="Group 35"/>
          <p:cNvGrpSpPr/>
          <p:nvPr/>
        </p:nvGrpSpPr>
        <p:grpSpPr>
          <a:xfrm>
            <a:off x="250825" y="1268413"/>
            <a:ext cx="5984875" cy="528637"/>
            <a:chOff x="793" y="1026"/>
            <a:chExt cx="3770" cy="333"/>
          </a:xfrm>
        </p:grpSpPr>
        <p:sp>
          <p:nvSpPr>
            <p:cNvPr id="8199" name="Rectangle 36"/>
            <p:cNvSpPr/>
            <p:nvPr/>
          </p:nvSpPr>
          <p:spPr>
            <a:xfrm>
              <a:off x="2517" y="1071"/>
              <a:ext cx="2046" cy="288"/>
            </a:xfrm>
            <a:prstGeom prst="rect">
              <a:avLst/>
            </a:prstGeom>
            <a:noFill/>
            <a:ln w="889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000066"/>
                  </a:solidFill>
                  <a:latin typeface="Garamond" panose="02020404030301010803" pitchFamily="18" charset="0"/>
                  <a:ea typeface="楷体_GB2312" pitchFamily="49" charset="-122"/>
                </a:rPr>
                <a:t>半导体二极管、三极管</a:t>
              </a:r>
              <a:endParaRPr lang="zh-CN" altLang="en-US" sz="2400" b="1" dirty="0">
                <a:solidFill>
                  <a:srgbClr val="000066"/>
                </a:solidFill>
                <a:latin typeface="Garamond" panose="02020404030301010803" pitchFamily="18" charset="0"/>
                <a:ea typeface="楷体_GB2312" pitchFamily="49" charset="-122"/>
              </a:endParaRPr>
            </a:p>
          </p:txBody>
        </p:sp>
        <p:sp>
          <p:nvSpPr>
            <p:cNvPr id="8200" name="Rectangle 37"/>
            <p:cNvSpPr/>
            <p:nvPr/>
          </p:nvSpPr>
          <p:spPr>
            <a:xfrm>
              <a:off x="793" y="1026"/>
              <a:ext cx="502" cy="288"/>
            </a:xfrm>
            <a:prstGeom prst="rect">
              <a:avLst/>
            </a:prstGeom>
            <a:noFill/>
            <a:ln w="889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000066"/>
                  </a:solidFill>
                  <a:ea typeface="楷体_GB2312" pitchFamily="49" charset="-122"/>
                </a:rPr>
                <a:t>器件</a:t>
              </a:r>
              <a:endParaRPr lang="zh-CN" altLang="en-US" sz="2400" b="1" dirty="0">
                <a:solidFill>
                  <a:srgbClr val="000066"/>
                </a:solidFill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78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79938" name="Picture 34" descr="Pentium-cpu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6825" y="3573463"/>
            <a:ext cx="3455988" cy="2486025"/>
          </a:xfrm>
          <a:prstGeom prst="rect">
            <a:avLst/>
          </a:prstGeom>
          <a:noFill/>
          <a:ln w="38100" cap="flat" cmpd="sng">
            <a:solidFill>
              <a:srgbClr val="CC0099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379939" name="Picture 35" descr="INDEX_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913" y="3429000"/>
            <a:ext cx="3168650" cy="2659063"/>
          </a:xfrm>
          <a:prstGeom prst="rect">
            <a:avLst/>
          </a:prstGeom>
          <a:noFill/>
          <a:ln w="38100" cap="flat" cmpd="sng">
            <a:solidFill>
              <a:srgbClr val="CC0099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379940" name="Picture 36" descr="PIN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300" y="1917700"/>
            <a:ext cx="3673475" cy="1776413"/>
          </a:xfrm>
          <a:prstGeom prst="rect">
            <a:avLst/>
          </a:prstGeom>
          <a:noFill/>
          <a:ln w="38100" cap="flat" cmpd="sng">
            <a:solidFill>
              <a:srgbClr val="CC0099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9221" name="Rectangle 37"/>
          <p:cNvSpPr/>
          <p:nvPr/>
        </p:nvSpPr>
        <p:spPr>
          <a:xfrm>
            <a:off x="827088" y="476250"/>
            <a:ext cx="2328862" cy="457200"/>
          </a:xfrm>
          <a:prstGeom prst="rect">
            <a:avLst/>
          </a:prstGeom>
          <a:noFill/>
          <a:ln w="889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半导体集成电路</a:t>
            </a:r>
            <a:endParaRPr lang="zh-CN" altLang="en-US" sz="2400" b="1" dirty="0">
              <a:solidFill>
                <a:srgbClr val="000066"/>
              </a:solidFill>
              <a:ea typeface="楷体_GB2312" pitchFamily="49" charset="-122"/>
            </a:endParaRPr>
          </a:p>
        </p:txBody>
      </p:sp>
      <p:grpSp>
        <p:nvGrpSpPr>
          <p:cNvPr id="2" name="Group 38"/>
          <p:cNvGrpSpPr/>
          <p:nvPr/>
        </p:nvGrpSpPr>
        <p:grpSpPr>
          <a:xfrm>
            <a:off x="611188" y="1268413"/>
            <a:ext cx="2087562" cy="2376487"/>
            <a:chOff x="373" y="663"/>
            <a:chExt cx="1406" cy="1588"/>
          </a:xfrm>
        </p:grpSpPr>
        <p:sp>
          <p:nvSpPr>
            <p:cNvPr id="9223" name="Rectangle 39"/>
            <p:cNvSpPr/>
            <p:nvPr/>
          </p:nvSpPr>
          <p:spPr>
            <a:xfrm>
              <a:off x="373" y="663"/>
              <a:ext cx="1406" cy="1588"/>
            </a:xfrm>
            <a:prstGeom prst="rect">
              <a:avLst/>
            </a:prstGeom>
            <a:solidFill>
              <a:schemeClr val="accent1"/>
            </a:solidFill>
            <a:ln w="88900" cap="flat" cmpd="tri">
              <a:solidFill>
                <a:srgbClr val="CC0099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pic>
          <p:nvPicPr>
            <p:cNvPr id="9224" name="Picture 40" descr="ANI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1" y="890"/>
              <a:ext cx="1076" cy="1350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7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7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7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0939" name="Text Box 11"/>
          <p:cNvSpPr txBox="1"/>
          <p:nvPr/>
        </p:nvSpPr>
        <p:spPr>
          <a:xfrm>
            <a:off x="466725" y="1123950"/>
            <a:ext cx="73437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电路设计方法</a:t>
            </a: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伴随器件变化从传统走向现代</a:t>
            </a:r>
            <a:endParaRPr lang="zh-CN" altLang="en-US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0940" name="Text Box 12"/>
          <p:cNvSpPr txBox="1"/>
          <p:nvPr/>
        </p:nvSpPr>
        <p:spPr>
          <a:xfrm>
            <a:off x="684213" y="1824038"/>
            <a:ext cx="34591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a)</a:t>
            </a: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传统的设计方法：</a:t>
            </a:r>
            <a:endParaRPr lang="zh-CN" altLang="en-US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0941" name="Text Box 13"/>
          <p:cNvSpPr txBox="1"/>
          <p:nvPr/>
        </p:nvSpPr>
        <p:spPr>
          <a:xfrm>
            <a:off x="682625" y="4148138"/>
            <a:ext cx="34575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b)</a:t>
            </a: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现代的设计方法：</a:t>
            </a:r>
            <a:endParaRPr lang="zh-CN" altLang="en-US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684213" y="2509838"/>
            <a:ext cx="8064500" cy="1638300"/>
            <a:chOff x="2352" y="720"/>
            <a:chExt cx="3216" cy="1632"/>
          </a:xfrm>
        </p:grpSpPr>
        <p:sp>
          <p:nvSpPr>
            <p:cNvPr id="10249" name="Text Box 15"/>
            <p:cNvSpPr txBox="1"/>
            <p:nvPr/>
          </p:nvSpPr>
          <p:spPr>
            <a:xfrm>
              <a:off x="2352" y="720"/>
              <a:ext cx="3216" cy="15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lnSpc>
                  <a:spcPct val="130000"/>
                </a:lnSpc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040468"/>
                  </a:solidFill>
                  <a:latin typeface="楷体_GB2312" pitchFamily="49" charset="-122"/>
                  <a:ea typeface="楷体_GB2312" pitchFamily="49" charset="-122"/>
                </a:rPr>
                <a:t>采用自下而上的设计方法；由人工组装</a:t>
              </a:r>
              <a:r>
                <a:rPr lang="en-US" altLang="zh-CN" sz="2400" b="1" dirty="0">
                  <a:solidFill>
                    <a:srgbClr val="040468"/>
                  </a:solidFill>
                  <a:latin typeface="楷体_GB2312" pitchFamily="49" charset="-122"/>
                  <a:ea typeface="楷体_GB2312" pitchFamily="49" charset="-122"/>
                </a:rPr>
                <a:t>,</a:t>
              </a:r>
              <a:r>
                <a:rPr lang="zh-CN" altLang="en-US" sz="2400" b="1" dirty="0">
                  <a:solidFill>
                    <a:srgbClr val="040468"/>
                  </a:solidFill>
                  <a:latin typeface="楷体_GB2312" pitchFamily="49" charset="-122"/>
                  <a:ea typeface="楷体_GB2312" pitchFamily="49" charset="-122"/>
                </a:rPr>
                <a:t>经反复调试、验证、修改完成。所用的元器件较多，电路可靠性差</a:t>
              </a:r>
              <a:r>
                <a:rPr lang="en-US" altLang="zh-CN" sz="2400" b="1" dirty="0">
                  <a:solidFill>
                    <a:srgbClr val="040468"/>
                  </a:solidFill>
                  <a:latin typeface="楷体_GB2312" pitchFamily="49" charset="-122"/>
                  <a:ea typeface="楷体_GB2312" pitchFamily="49" charset="-122"/>
                </a:rPr>
                <a:t>,</a:t>
              </a:r>
              <a:r>
                <a:rPr lang="zh-CN" altLang="en-US" sz="2400" b="1" dirty="0">
                  <a:solidFill>
                    <a:srgbClr val="040468"/>
                  </a:solidFill>
                  <a:latin typeface="楷体_GB2312" pitchFamily="49" charset="-122"/>
                  <a:ea typeface="楷体_GB2312" pitchFamily="49" charset="-122"/>
                </a:rPr>
                <a:t>设计周期长。</a:t>
              </a:r>
              <a:endPara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250" name="Rectangle 16"/>
            <p:cNvSpPr/>
            <p:nvPr/>
          </p:nvSpPr>
          <p:spPr>
            <a:xfrm>
              <a:off x="2352" y="720"/>
              <a:ext cx="3216" cy="1632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3" name="Group 17"/>
          <p:cNvGrpSpPr/>
          <p:nvPr/>
        </p:nvGrpSpPr>
        <p:grpSpPr>
          <a:xfrm>
            <a:off x="755650" y="4868863"/>
            <a:ext cx="8064500" cy="1368425"/>
            <a:chOff x="2352" y="2414"/>
            <a:chExt cx="3226" cy="1714"/>
          </a:xfrm>
        </p:grpSpPr>
        <p:sp>
          <p:nvSpPr>
            <p:cNvPr id="10247" name="Text Box 18"/>
            <p:cNvSpPr txBox="1"/>
            <p:nvPr/>
          </p:nvSpPr>
          <p:spPr>
            <a:xfrm>
              <a:off x="2352" y="2414"/>
              <a:ext cx="3226" cy="12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040468"/>
                  </a:solidFill>
                  <a:ea typeface="楷体_GB2312" pitchFamily="49" charset="-122"/>
                </a:rPr>
                <a:t>现代</a:t>
              </a:r>
              <a:r>
                <a:rPr lang="en-US" altLang="zh-CN" sz="2400" b="1" dirty="0">
                  <a:solidFill>
                    <a:srgbClr val="040468"/>
                  </a:solidFill>
                  <a:ea typeface="楷体_GB2312" pitchFamily="49" charset="-122"/>
                </a:rPr>
                <a:t>EDA</a:t>
              </a:r>
              <a:r>
                <a:rPr lang="zh-CN" altLang="en-US" sz="2400" b="1" dirty="0">
                  <a:solidFill>
                    <a:srgbClr val="040468"/>
                  </a:solidFill>
                  <a:latin typeface="楷体_GB2312" pitchFamily="49" charset="-122"/>
                  <a:ea typeface="楷体_GB2312" pitchFamily="49" charset="-122"/>
                </a:rPr>
                <a:t>技术实现硬件设计软件化。采用从上到下设计方法，电路设计、 分析、仿真 、修订 全通过计算机完成。</a:t>
              </a:r>
              <a:endPara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248" name="Rectangle 19"/>
            <p:cNvSpPr/>
            <p:nvPr/>
          </p:nvSpPr>
          <p:spPr>
            <a:xfrm>
              <a:off x="2352" y="2448"/>
              <a:ext cx="3216" cy="1680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80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80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80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39" grpId="0"/>
      <p:bldP spid="380940" grpId="0"/>
      <p:bldP spid="3809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1963" name="Text Box 11"/>
          <p:cNvSpPr txBox="1"/>
          <p:nvPr/>
        </p:nvSpPr>
        <p:spPr>
          <a:xfrm>
            <a:off x="215900" y="1120775"/>
            <a:ext cx="8748713" cy="15160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40468"/>
                </a:solidFill>
                <a:ea typeface="楷体_GB2312" pitchFamily="49" charset="-122"/>
              </a:rPr>
              <a:t>EDA</a:t>
            </a:r>
            <a:r>
              <a:rPr lang="zh-CN" altLang="en-US" sz="2400" b="1" dirty="0">
                <a:solidFill>
                  <a:srgbClr val="040468"/>
                </a:solidFill>
                <a:ea typeface="楷体_GB2312" pitchFamily="49" charset="-122"/>
              </a:rPr>
              <a:t>技术以计算机为基本工具、借助于软件设计平台，自动完成数字系统的仿真、逻辑综合、布局布线等工作。最后下载到芯片，实现系统功能。使硬件设计软件化。</a:t>
            </a:r>
            <a:endParaRPr lang="zh-CN" altLang="en-US" sz="2400" b="1" dirty="0">
              <a:solidFill>
                <a:srgbClr val="040468"/>
              </a:solidFill>
              <a:ea typeface="楷体_GB2312" pitchFamily="49" charset="-122"/>
            </a:endParaRPr>
          </a:p>
        </p:txBody>
      </p:sp>
      <p:pic>
        <p:nvPicPr>
          <p:cNvPr id="381964" name="Picture 12" descr="计算机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2600" y="2908300"/>
            <a:ext cx="3200400" cy="32004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Group 13"/>
          <p:cNvGrpSpPr/>
          <p:nvPr/>
        </p:nvGrpSpPr>
        <p:grpSpPr>
          <a:xfrm>
            <a:off x="250825" y="2708275"/>
            <a:ext cx="4779963" cy="1106488"/>
            <a:chOff x="340" y="2205"/>
            <a:chExt cx="3011" cy="697"/>
          </a:xfrm>
        </p:grpSpPr>
        <p:sp>
          <p:nvSpPr>
            <p:cNvPr id="11277" name="Text Box 14"/>
            <p:cNvSpPr txBox="1"/>
            <p:nvPr/>
          </p:nvSpPr>
          <p:spPr>
            <a:xfrm>
              <a:off x="385" y="2205"/>
              <a:ext cx="21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40468"/>
                  </a:solidFill>
                  <a:ea typeface="楷体_GB2312" pitchFamily="49" charset="-122"/>
                </a:rPr>
                <a:t>1</a:t>
              </a:r>
              <a:r>
                <a:rPr lang="zh-CN" altLang="en-US" sz="2400" b="1" dirty="0">
                  <a:solidFill>
                    <a:srgbClr val="040468"/>
                  </a:solidFill>
                  <a:ea typeface="楷体_GB2312" pitchFamily="49" charset="-122"/>
                </a:rPr>
                <a:t>、设计：</a:t>
              </a:r>
              <a:endParaRPr lang="zh-CN" altLang="en-US" sz="2400" b="1" dirty="0">
                <a:solidFill>
                  <a:srgbClr val="040468"/>
                </a:solidFill>
                <a:ea typeface="楷体_GB2312" pitchFamily="49" charset="-122"/>
              </a:endParaRPr>
            </a:p>
          </p:txBody>
        </p:sp>
        <p:sp>
          <p:nvSpPr>
            <p:cNvPr id="11278" name="Text Box 15"/>
            <p:cNvSpPr txBox="1"/>
            <p:nvPr/>
          </p:nvSpPr>
          <p:spPr>
            <a:xfrm>
              <a:off x="340" y="2614"/>
              <a:ext cx="301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040468"/>
                  </a:solidFill>
                  <a:ea typeface="楷体_GB2312" pitchFamily="49" charset="-122"/>
                </a:rPr>
                <a:t>在计算机上利用软件平台进行设计</a:t>
              </a:r>
              <a:endParaRPr lang="zh-CN" altLang="en-US" sz="2400" b="1" dirty="0">
                <a:solidFill>
                  <a:srgbClr val="040468"/>
                </a:solidFill>
                <a:ea typeface="楷体_GB2312" pitchFamily="49" charset="-122"/>
              </a:endParaRPr>
            </a:p>
          </p:txBody>
        </p:sp>
      </p:grpSp>
      <p:pic>
        <p:nvPicPr>
          <p:cNvPr id="381968" name="Picture 16" descr="jiemia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600" y="2852738"/>
            <a:ext cx="3505200" cy="3197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1969" name="Text Box 17"/>
          <p:cNvSpPr txBox="1"/>
          <p:nvPr/>
        </p:nvSpPr>
        <p:spPr>
          <a:xfrm>
            <a:off x="2195513" y="4078288"/>
            <a:ext cx="20161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40468"/>
                </a:solidFill>
                <a:ea typeface="楷体_GB2312" pitchFamily="49" charset="-122"/>
              </a:rPr>
              <a:t>原理图设计</a:t>
            </a:r>
            <a:endParaRPr lang="zh-CN" altLang="en-US" sz="2400" b="1" dirty="0">
              <a:solidFill>
                <a:srgbClr val="040468"/>
              </a:solidFill>
              <a:ea typeface="楷体_GB2312" pitchFamily="49" charset="-122"/>
            </a:endParaRPr>
          </a:p>
        </p:txBody>
      </p:sp>
      <p:sp>
        <p:nvSpPr>
          <p:cNvPr id="381970" name="Text Box 18"/>
          <p:cNvSpPr txBox="1"/>
          <p:nvPr/>
        </p:nvSpPr>
        <p:spPr>
          <a:xfrm>
            <a:off x="2195513" y="4654550"/>
            <a:ext cx="30972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40468"/>
                </a:solidFill>
                <a:ea typeface="楷体_GB2312" pitchFamily="49" charset="-122"/>
              </a:rPr>
              <a:t>VerlogHDL</a:t>
            </a:r>
            <a:r>
              <a:rPr lang="zh-CN" altLang="en-US" sz="2400" b="1" dirty="0">
                <a:solidFill>
                  <a:srgbClr val="040468"/>
                </a:solidFill>
                <a:ea typeface="楷体_GB2312" pitchFamily="49" charset="-122"/>
              </a:rPr>
              <a:t>语言设计</a:t>
            </a:r>
            <a:endParaRPr lang="zh-CN" altLang="en-US" sz="2400" b="1" dirty="0">
              <a:solidFill>
                <a:srgbClr val="040468"/>
              </a:solidFill>
              <a:ea typeface="楷体_GB2312" pitchFamily="49" charset="-122"/>
            </a:endParaRPr>
          </a:p>
        </p:txBody>
      </p:sp>
      <p:sp>
        <p:nvSpPr>
          <p:cNvPr id="381971" name="Text Box 19"/>
          <p:cNvSpPr txBox="1"/>
          <p:nvPr/>
        </p:nvSpPr>
        <p:spPr>
          <a:xfrm>
            <a:off x="2193925" y="5203825"/>
            <a:ext cx="21621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40468"/>
                </a:solidFill>
                <a:ea typeface="楷体_GB2312" pitchFamily="49" charset="-122"/>
              </a:rPr>
              <a:t>状态机设计</a:t>
            </a:r>
            <a:endParaRPr lang="zh-CN" altLang="en-US" sz="2400" b="1" dirty="0">
              <a:solidFill>
                <a:srgbClr val="040468"/>
              </a:solidFill>
              <a:ea typeface="楷体_GB2312" pitchFamily="49" charset="-122"/>
            </a:endParaRPr>
          </a:p>
        </p:txBody>
      </p:sp>
      <p:grpSp>
        <p:nvGrpSpPr>
          <p:cNvPr id="3" name="Group 20"/>
          <p:cNvGrpSpPr/>
          <p:nvPr/>
        </p:nvGrpSpPr>
        <p:grpSpPr>
          <a:xfrm>
            <a:off x="323850" y="4294188"/>
            <a:ext cx="1871663" cy="1219200"/>
            <a:chOff x="204" y="3068"/>
            <a:chExt cx="1179" cy="768"/>
          </a:xfrm>
        </p:grpSpPr>
        <p:sp>
          <p:nvSpPr>
            <p:cNvPr id="11275" name="Text Box 21"/>
            <p:cNvSpPr txBox="1"/>
            <p:nvPr/>
          </p:nvSpPr>
          <p:spPr>
            <a:xfrm>
              <a:off x="204" y="3308"/>
              <a:ext cx="1091" cy="29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040468"/>
                  </a:solidFill>
                  <a:ea typeface="楷体_GB2312" pitchFamily="49" charset="-122"/>
                </a:rPr>
                <a:t>设计方法</a:t>
              </a:r>
              <a:endParaRPr lang="zh-CN" altLang="en-US" sz="2400" b="1" dirty="0">
                <a:solidFill>
                  <a:srgbClr val="040468"/>
                </a:solidFill>
                <a:ea typeface="楷体_GB2312" pitchFamily="49" charset="-122"/>
              </a:endParaRPr>
            </a:p>
          </p:txBody>
        </p:sp>
        <p:sp>
          <p:nvSpPr>
            <p:cNvPr id="11276" name="AutoShape 22"/>
            <p:cNvSpPr/>
            <p:nvPr/>
          </p:nvSpPr>
          <p:spPr>
            <a:xfrm>
              <a:off x="1324" y="3068"/>
              <a:ext cx="59" cy="768"/>
            </a:xfrm>
            <a:prstGeom prst="leftBrace">
              <a:avLst>
                <a:gd name="adj1" fmla="val 108474"/>
                <a:gd name="adj2" fmla="val 51694"/>
              </a:avLst>
            </a:prstGeom>
            <a:noFill/>
            <a:ln w="38100" cap="flat" cmpd="sng">
              <a:solidFill>
                <a:srgbClr val="00006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</p:grpSp>
      <p:sp>
        <p:nvSpPr>
          <p:cNvPr id="381975" name="Text Box 23"/>
          <p:cNvSpPr txBox="1"/>
          <p:nvPr/>
        </p:nvSpPr>
        <p:spPr>
          <a:xfrm>
            <a:off x="611188" y="549275"/>
            <a:ext cx="76327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40468"/>
                </a:solidFill>
                <a:ea typeface="楷体_GB2312" pitchFamily="49" charset="-122"/>
              </a:rPr>
              <a:t>EDA</a:t>
            </a:r>
            <a:r>
              <a:rPr lang="zh-CN" altLang="en-US" sz="2400" b="1" dirty="0">
                <a:solidFill>
                  <a:srgbClr val="040468"/>
                </a:solidFill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040468"/>
                </a:solidFill>
                <a:ea typeface="楷体_GB2312" pitchFamily="49" charset="-122"/>
              </a:rPr>
              <a:t>Elect</a:t>
            </a:r>
            <a:r>
              <a:rPr lang="en-US" altLang="zh-CN" sz="2400" b="1" dirty="0">
                <a:solidFill>
                  <a:srgbClr val="040468"/>
                </a:solidFill>
              </a:rPr>
              <a:t>ronics Design Automation</a:t>
            </a:r>
            <a:r>
              <a:rPr lang="en-US" altLang="zh-CN" sz="2400" b="1" dirty="0">
                <a:solidFill>
                  <a:srgbClr val="040468"/>
                </a:solidFill>
                <a:latin typeface="Verdana" panose="020B0604030504040204" pitchFamily="34" charset="0"/>
              </a:rPr>
              <a:t>)</a:t>
            </a:r>
            <a:r>
              <a:rPr lang="zh-CN" altLang="en-US" sz="2400" b="1" dirty="0">
                <a:solidFill>
                  <a:srgbClr val="040468"/>
                </a:solidFill>
                <a:ea typeface="楷体_GB2312" pitchFamily="49" charset="-122"/>
              </a:rPr>
              <a:t>技术</a:t>
            </a:r>
            <a:endParaRPr lang="zh-CN" altLang="en-US" sz="2400" b="1" dirty="0">
              <a:solidFill>
                <a:srgbClr val="040468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8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81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81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81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381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38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381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963" grpId="0"/>
      <p:bldP spid="381969" grpId="0"/>
      <p:bldP spid="381970" grpId="0"/>
      <p:bldP spid="381971" grpId="0"/>
      <p:bldP spid="38197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12"/>
          <p:cNvGrpSpPr/>
          <p:nvPr/>
        </p:nvGrpSpPr>
        <p:grpSpPr>
          <a:xfrm>
            <a:off x="4587875" y="1243013"/>
            <a:ext cx="4267200" cy="4217987"/>
            <a:chOff x="2928" y="1162"/>
            <a:chExt cx="2688" cy="2657"/>
          </a:xfrm>
        </p:grpSpPr>
        <p:sp>
          <p:nvSpPr>
            <p:cNvPr id="12300" name="Text Box 13"/>
            <p:cNvSpPr txBox="1"/>
            <p:nvPr/>
          </p:nvSpPr>
          <p:spPr>
            <a:xfrm>
              <a:off x="3107" y="1162"/>
              <a:ext cx="18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40468"/>
                  </a:solidFill>
                  <a:latin typeface="楷体_GB2312" pitchFamily="49" charset="-122"/>
                  <a:ea typeface="楷体_GB2312" pitchFamily="49" charset="-122"/>
                </a:rPr>
                <a:t>3</a:t>
              </a:r>
              <a:r>
                <a:rPr lang="zh-CN" altLang="en-US" sz="2400" b="1" dirty="0">
                  <a:solidFill>
                    <a:srgbClr val="040468"/>
                  </a:solidFill>
                  <a:latin typeface="楷体_GB2312" pitchFamily="49" charset="-122"/>
                  <a:ea typeface="楷体_GB2312" pitchFamily="49" charset="-122"/>
                </a:rPr>
                <a:t>、下载</a:t>
              </a:r>
              <a:endPara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grpSp>
          <p:nvGrpSpPr>
            <p:cNvPr id="12301" name="Group 14"/>
            <p:cNvGrpSpPr/>
            <p:nvPr/>
          </p:nvGrpSpPr>
          <p:grpSpPr>
            <a:xfrm>
              <a:off x="2928" y="1563"/>
              <a:ext cx="2688" cy="2256"/>
              <a:chOff x="2928" y="1200"/>
              <a:chExt cx="2688" cy="2256"/>
            </a:xfrm>
          </p:grpSpPr>
          <p:pic>
            <p:nvPicPr>
              <p:cNvPr id="12302" name="Picture 15" descr="下栽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928" y="1200"/>
                <a:ext cx="2688" cy="225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2303" name="Rectangle 16"/>
              <p:cNvSpPr/>
              <p:nvPr/>
            </p:nvSpPr>
            <p:spPr>
              <a:xfrm>
                <a:off x="2928" y="1200"/>
                <a:ext cx="2688" cy="2256"/>
              </a:xfrm>
              <a:prstGeom prst="rect">
                <a:avLst/>
              </a:prstGeom>
              <a:noFill/>
              <a:ln w="38100" cap="flat" cmpd="sng">
                <a:solidFill>
                  <a:srgbClr val="99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</p:grpSp>
      </p:grpSp>
      <p:grpSp>
        <p:nvGrpSpPr>
          <p:cNvPr id="4" name="Group 17"/>
          <p:cNvGrpSpPr/>
          <p:nvPr/>
        </p:nvGrpSpPr>
        <p:grpSpPr>
          <a:xfrm>
            <a:off x="395288" y="1171575"/>
            <a:ext cx="3733800" cy="4441825"/>
            <a:chOff x="432" y="1117"/>
            <a:chExt cx="2352" cy="2798"/>
          </a:xfrm>
        </p:grpSpPr>
        <p:sp>
          <p:nvSpPr>
            <p:cNvPr id="12295" name="Text Box 18"/>
            <p:cNvSpPr txBox="1"/>
            <p:nvPr/>
          </p:nvSpPr>
          <p:spPr>
            <a:xfrm>
              <a:off x="476" y="1117"/>
              <a:ext cx="19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40468"/>
                  </a:solidFill>
                  <a:latin typeface="楷体_GB2312" pitchFamily="49" charset="-122"/>
                  <a:ea typeface="楷体_GB2312" pitchFamily="49" charset="-122"/>
                </a:rPr>
                <a:t>2</a:t>
              </a:r>
              <a:r>
                <a:rPr lang="zh-CN" altLang="en-US" sz="2400" b="1" dirty="0">
                  <a:solidFill>
                    <a:srgbClr val="040468"/>
                  </a:solidFill>
                  <a:latin typeface="楷体_GB2312" pitchFamily="49" charset="-122"/>
                  <a:ea typeface="楷体_GB2312" pitchFamily="49" charset="-122"/>
                </a:rPr>
                <a:t>、仿真</a:t>
              </a:r>
              <a:endPara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grpSp>
          <p:nvGrpSpPr>
            <p:cNvPr id="12296" name="Group 19"/>
            <p:cNvGrpSpPr/>
            <p:nvPr/>
          </p:nvGrpSpPr>
          <p:grpSpPr>
            <a:xfrm>
              <a:off x="432" y="1515"/>
              <a:ext cx="2352" cy="2304"/>
              <a:chOff x="192" y="1344"/>
              <a:chExt cx="2352" cy="2400"/>
            </a:xfrm>
          </p:grpSpPr>
          <p:pic>
            <p:nvPicPr>
              <p:cNvPr id="12298" name="Picture 20" descr="仿真界面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2" y="1344"/>
                <a:ext cx="2352" cy="2400"/>
              </a:xfrm>
              <a:prstGeom prst="rect">
                <a:avLst/>
              </a:prstGeom>
              <a:noFill/>
              <a:ln w="57150">
                <a:noFill/>
              </a:ln>
            </p:spPr>
          </p:pic>
          <p:sp>
            <p:nvSpPr>
              <p:cNvPr id="12299" name="Rectangle 21"/>
              <p:cNvSpPr/>
              <p:nvPr/>
            </p:nvSpPr>
            <p:spPr>
              <a:xfrm>
                <a:off x="192" y="1344"/>
                <a:ext cx="2352" cy="2400"/>
              </a:xfrm>
              <a:prstGeom prst="rect">
                <a:avLst/>
              </a:prstGeom>
              <a:noFill/>
              <a:ln w="57150" cap="flat" cmpd="sng">
                <a:solidFill>
                  <a:srgbClr val="99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</p:grpSp>
        <p:pic>
          <p:nvPicPr>
            <p:cNvPr id="12297" name="Picture 22" descr="仿真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2" y="1515"/>
              <a:ext cx="2352" cy="2400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82999" name="Text Box 23"/>
          <p:cNvSpPr txBox="1"/>
          <p:nvPr/>
        </p:nvSpPr>
        <p:spPr>
          <a:xfrm>
            <a:off x="466725" y="5780088"/>
            <a:ext cx="32131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、验证结果</a:t>
            </a:r>
            <a:endParaRPr lang="zh-CN" altLang="en-US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3000" name="AutoShape 24"/>
          <p:cNvSpPr/>
          <p:nvPr/>
        </p:nvSpPr>
        <p:spPr>
          <a:xfrm>
            <a:off x="5578475" y="5564188"/>
            <a:ext cx="1368425" cy="649287"/>
          </a:xfrm>
          <a:prstGeom prst="wedgeRoundRectCallout">
            <a:avLst>
              <a:gd name="adj1" fmla="val -92343"/>
              <a:gd name="adj2" fmla="val -94745"/>
              <a:gd name="adj3" fmla="val 16667"/>
            </a:avLst>
          </a:prstGeom>
          <a:solidFill>
            <a:srgbClr val="99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实验板</a:t>
            </a:r>
            <a:endParaRPr lang="zh-CN" altLang="en-US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3001" name="AutoShape 25"/>
          <p:cNvSpPr/>
          <p:nvPr/>
        </p:nvSpPr>
        <p:spPr>
          <a:xfrm>
            <a:off x="4148138" y="3043238"/>
            <a:ext cx="1143000" cy="685800"/>
          </a:xfrm>
          <a:prstGeom prst="wedgeRoundRectCallout">
            <a:avLst>
              <a:gd name="adj1" fmla="val 86667"/>
              <a:gd name="adj2" fmla="val 107870"/>
              <a:gd name="adj3" fmla="val 16667"/>
            </a:avLst>
          </a:prstGeom>
          <a:solidFill>
            <a:srgbClr val="99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下载线</a:t>
            </a:r>
            <a:endParaRPr lang="zh-CN" altLang="en-US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38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99" grpId="0"/>
      <p:bldP spid="383000" grpId="0" animBg="1"/>
      <p:bldP spid="38300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0"/>
          <p:cNvGrpSpPr/>
          <p:nvPr/>
        </p:nvGrpSpPr>
        <p:grpSpPr>
          <a:xfrm>
            <a:off x="5076825" y="3789363"/>
            <a:ext cx="3133725" cy="2447925"/>
            <a:chOff x="0" y="2024"/>
            <a:chExt cx="2926" cy="2178"/>
          </a:xfrm>
        </p:grpSpPr>
        <p:pic>
          <p:nvPicPr>
            <p:cNvPr id="13325" name="Picture 21" descr="prod_l_3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3" y="2346"/>
              <a:ext cx="2813" cy="185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5046" name="Rectangle 22"/>
            <p:cNvSpPr>
              <a:spLocks noChangeArrowheads="1"/>
            </p:cNvSpPr>
            <p:nvPr/>
          </p:nvSpPr>
          <p:spPr bwMode="auto">
            <a:xfrm>
              <a:off x="0" y="2024"/>
              <a:ext cx="2020" cy="4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4046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Garamond" panose="02020404030301010803" pitchFamily="18" charset="0"/>
                  <a:ea typeface="楷体_GB2312" pitchFamily="49" charset="-122"/>
                  <a:cs typeface="+mn-cs"/>
                </a:rPr>
                <a:t>数码相机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4046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楷体_GB2312" pitchFamily="49" charset="-122"/>
                <a:cs typeface="+mn-cs"/>
              </a:endParaRPr>
            </a:p>
          </p:txBody>
        </p:sp>
      </p:grpSp>
      <p:grpSp>
        <p:nvGrpSpPr>
          <p:cNvPr id="3" name="Group 23"/>
          <p:cNvGrpSpPr/>
          <p:nvPr/>
        </p:nvGrpSpPr>
        <p:grpSpPr>
          <a:xfrm>
            <a:off x="1476375" y="3789363"/>
            <a:ext cx="3613150" cy="2463800"/>
            <a:chOff x="3053" y="2014"/>
            <a:chExt cx="2639" cy="2187"/>
          </a:xfrm>
        </p:grpSpPr>
        <p:sp>
          <p:nvSpPr>
            <p:cNvPr id="13322" name="AutoShape 24">
              <a:hlinkClick r:id="" action="ppaction://hlinkshowjump?jump=endshow"/>
            </p:cNvPr>
            <p:cNvSpPr/>
            <p:nvPr/>
          </p:nvSpPr>
          <p:spPr>
            <a:xfrm>
              <a:off x="5329" y="4020"/>
              <a:ext cx="317" cy="181"/>
            </a:xfrm>
            <a:prstGeom prst="actionButtonHome">
              <a:avLst/>
            </a:prstGeom>
            <a:solidFill>
              <a:srgbClr val="00CCFF"/>
            </a:solidFill>
            <a:ln w="6350" cap="flat" cmpd="sng">
              <a:solidFill>
                <a:srgbClr val="FFCC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pic>
          <p:nvPicPr>
            <p:cNvPr id="13323" name="Picture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53" y="2387"/>
              <a:ext cx="2639" cy="181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5050" name="Rectangle 26"/>
            <p:cNvSpPr>
              <a:spLocks noChangeArrowheads="1"/>
            </p:cNvSpPr>
            <p:nvPr/>
          </p:nvSpPr>
          <p:spPr bwMode="auto">
            <a:xfrm>
              <a:off x="3742" y="2014"/>
              <a:ext cx="1680" cy="46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4046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Garamond" panose="02020404030301010803" pitchFamily="18" charset="0"/>
                  <a:ea typeface="楷体_GB2312" pitchFamily="49" charset="-122"/>
                  <a:cs typeface="+mn-cs"/>
                </a:rPr>
                <a:t>智能仪器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4046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楷体_GB2312" pitchFamily="49" charset="-122"/>
                <a:cs typeface="+mn-cs"/>
              </a:endParaRPr>
            </a:p>
          </p:txBody>
        </p:sp>
      </p:grpSp>
      <p:grpSp>
        <p:nvGrpSpPr>
          <p:cNvPr id="4" name="Group 27"/>
          <p:cNvGrpSpPr/>
          <p:nvPr/>
        </p:nvGrpSpPr>
        <p:grpSpPr>
          <a:xfrm>
            <a:off x="3851275" y="830263"/>
            <a:ext cx="5203825" cy="2649537"/>
            <a:chOff x="44" y="0"/>
            <a:chExt cx="4221" cy="2028"/>
          </a:xfrm>
        </p:grpSpPr>
        <p:pic>
          <p:nvPicPr>
            <p:cNvPr id="13320" name="Picture 28" descr="x15_bi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7" y="0"/>
              <a:ext cx="3018" cy="20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5053" name="Rectangle 29"/>
            <p:cNvSpPr>
              <a:spLocks noChangeArrowheads="1"/>
            </p:cNvSpPr>
            <p:nvPr/>
          </p:nvSpPr>
          <p:spPr bwMode="auto">
            <a:xfrm>
              <a:off x="44" y="192"/>
              <a:ext cx="1019" cy="39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Garamond" panose="02020404030301010803" pitchFamily="18" charset="0"/>
                  <a:ea typeface="楷体_GB2312" pitchFamily="49" charset="-122"/>
                  <a:cs typeface="+mn-cs"/>
                </a:rPr>
                <a:t>计算机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楷体_GB2312" pitchFamily="49" charset="-122"/>
                <a:cs typeface="+mn-cs"/>
              </a:endParaRPr>
            </a:p>
          </p:txBody>
        </p:sp>
      </p:grpSp>
      <p:pic>
        <p:nvPicPr>
          <p:cNvPr id="13317" name="Picture 30" descr="737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388" y="2108200"/>
            <a:ext cx="2305050" cy="2041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8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4438" y="1700213"/>
            <a:ext cx="2951162" cy="173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5057" name="Rectangle 33"/>
          <p:cNvSpPr>
            <a:spLocks noChangeArrowheads="1"/>
          </p:cNvSpPr>
          <p:nvPr/>
        </p:nvSpPr>
        <p:spPr bwMode="auto">
          <a:xfrm>
            <a:off x="434975" y="457200"/>
            <a:ext cx="232886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 Narrow" panose="020B0606020202030204" pitchFamily="34" charset="0"/>
                <a:ea typeface="楷体_GB2312" pitchFamily="49" charset="-122"/>
                <a:cs typeface="+mn-cs"/>
              </a:rPr>
              <a:t>数字技术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Garamond" panose="02020404030301010803" pitchFamily="18" charset="0"/>
                <a:ea typeface="楷体_GB2312" pitchFamily="49" charset="-122"/>
                <a:cs typeface="+mn-cs"/>
              </a:rPr>
              <a:t>的应用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Garamond" panose="02020404030301010803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7103" name="Rectangle 31"/>
          <p:cNvSpPr/>
          <p:nvPr/>
        </p:nvSpPr>
        <p:spPr>
          <a:xfrm>
            <a:off x="612775" y="1517650"/>
            <a:ext cx="8312150" cy="1406525"/>
          </a:xfrm>
          <a:prstGeom prst="rect">
            <a:avLst/>
          </a:prstGeom>
          <a:noFill/>
          <a:ln w="889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lnSpc>
                <a:spcPct val="18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根据电路的结构特点及其对输入信号的响应规则的不同，</a:t>
            </a:r>
            <a:endParaRPr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ctr">
              <a:lnSpc>
                <a:spcPct val="18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--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数字电路可分为组合逻辑电路和时序逻辑电路。 </a:t>
            </a:r>
            <a:endParaRPr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7104" name="Rectangle 32"/>
          <p:cNvSpPr/>
          <p:nvPr/>
        </p:nvSpPr>
        <p:spPr>
          <a:xfrm>
            <a:off x="684213" y="4683125"/>
            <a:ext cx="8172450" cy="1625600"/>
          </a:xfrm>
          <a:prstGeom prst="rect">
            <a:avLst/>
          </a:prstGeom>
          <a:noFill/>
          <a:ln w="889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从集成度不同</a:t>
            </a:r>
            <a:endParaRPr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ctr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--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数字集成电路可分为小规模、中规模、大规模、超大规模和甚大规模五类。 </a:t>
            </a:r>
            <a:endParaRPr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7105" name="Rectangle 33"/>
          <p:cNvSpPr/>
          <p:nvPr/>
        </p:nvSpPr>
        <p:spPr>
          <a:xfrm>
            <a:off x="611188" y="2927350"/>
            <a:ext cx="7850187" cy="822325"/>
          </a:xfrm>
          <a:prstGeom prst="rect">
            <a:avLst/>
          </a:prstGeom>
          <a:noFill/>
          <a:ln w="889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从电路的形式不同，</a:t>
            </a:r>
            <a:endParaRPr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--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数字电路可分为集成电路和分立电路</a:t>
            </a:r>
            <a:endParaRPr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7106" name="Rectangle 34"/>
          <p:cNvSpPr/>
          <p:nvPr/>
        </p:nvSpPr>
        <p:spPr>
          <a:xfrm>
            <a:off x="612775" y="3752850"/>
            <a:ext cx="7345363" cy="822325"/>
          </a:xfrm>
          <a:prstGeom prst="rect">
            <a:avLst/>
          </a:prstGeom>
          <a:noFill/>
          <a:ln w="889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从器件不同</a:t>
            </a:r>
            <a:endParaRPr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       </a:t>
            </a: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--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数字电路可分为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TTL 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和 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CMOS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电路</a:t>
            </a:r>
            <a:endParaRPr lang="zh-CN" altLang="en-US" sz="2400" b="1" dirty="0">
              <a:solidFill>
                <a:srgbClr val="000066"/>
              </a:solidFill>
              <a:ea typeface="楷体_GB2312" pitchFamily="49" charset="-122"/>
            </a:endParaRPr>
          </a:p>
        </p:txBody>
      </p:sp>
      <p:sp>
        <p:nvSpPr>
          <p:cNvPr id="15366" name="Rectangle 35"/>
          <p:cNvSpPr/>
          <p:nvPr/>
        </p:nvSpPr>
        <p:spPr>
          <a:xfrm>
            <a:off x="755650" y="1196975"/>
            <a:ext cx="3402013" cy="457200"/>
          </a:xfrm>
          <a:prstGeom prst="rect">
            <a:avLst/>
          </a:prstGeom>
          <a:noFill/>
          <a:ln w="889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、数字集成电路的分类</a:t>
            </a:r>
            <a:endParaRPr lang="zh-CN" altLang="en-US" sz="2400" b="1" dirty="0">
              <a:solidFill>
                <a:srgbClr val="CC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5367" name="Rectangle 36"/>
          <p:cNvSpPr/>
          <p:nvPr/>
        </p:nvSpPr>
        <p:spPr>
          <a:xfrm>
            <a:off x="760413" y="446088"/>
            <a:ext cx="5672137" cy="523875"/>
          </a:xfrm>
          <a:prstGeom prst="rect">
            <a:avLst/>
          </a:prstGeom>
          <a:noFill/>
          <a:ln w="889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0070C0"/>
                </a:solidFill>
                <a:ea typeface="楷体_GB2312" pitchFamily="49" charset="-122"/>
              </a:rPr>
              <a:t>A.1.2</a:t>
            </a:r>
            <a:r>
              <a:rPr lang="zh-CN" altLang="en-US" sz="2800" b="1" dirty="0">
                <a:solidFill>
                  <a:srgbClr val="0070C0"/>
                </a:solidFill>
                <a:latin typeface="楷体_GB2312" pitchFamily="49" charset="-122"/>
                <a:ea typeface="楷体_GB2312" pitchFamily="49" charset="-122"/>
              </a:rPr>
              <a:t>、数字集成电路的分类及特点</a:t>
            </a:r>
            <a:endParaRPr lang="zh-CN" altLang="en-US" sz="2800" b="1" dirty="0">
              <a:solidFill>
                <a:srgbClr val="0070C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7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87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8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87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103" grpId="0"/>
      <p:bldP spid="387104" grpId="0"/>
      <p:bldP spid="387105" grpId="0"/>
      <p:bldP spid="38710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1"/>
          <p:cNvGrpSpPr/>
          <p:nvPr/>
        </p:nvGrpSpPr>
        <p:grpSpPr>
          <a:xfrm>
            <a:off x="107950" y="2101850"/>
            <a:ext cx="8891588" cy="4064000"/>
            <a:chOff x="158" y="1389"/>
            <a:chExt cx="5465" cy="2606"/>
          </a:xfrm>
        </p:grpSpPr>
        <p:sp>
          <p:nvSpPr>
            <p:cNvPr id="16388" name="Rectangle 22"/>
            <p:cNvSpPr/>
            <p:nvPr/>
          </p:nvSpPr>
          <p:spPr>
            <a:xfrm>
              <a:off x="2595" y="3478"/>
              <a:ext cx="3028" cy="517"/>
            </a:xfrm>
            <a:prstGeom prst="rect">
              <a:avLst/>
            </a:prstGeom>
            <a:solidFill>
              <a:schemeClr val="bg1"/>
            </a:solidFill>
            <a:ln w="88900" cap="flat" cmpd="tri">
              <a:solidFill>
                <a:srgbClr val="CC0099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defTabSz="914400">
                <a:spcBef>
                  <a:spcPct val="0"/>
                </a:spcBef>
                <a:buClr>
                  <a:schemeClr val="bg1"/>
                </a:buClr>
                <a:buNone/>
                <a:tabLst>
                  <a:tab pos="2339975" algn="l"/>
                  <a:tab pos="4968875" algn="r"/>
                  <a:tab pos="5221605" algn="l"/>
                </a:tabLst>
              </a:pPr>
              <a:r>
                <a:rPr lang="zh-CN" altLang="en-US" sz="24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可编程逻辑器件、多功能专用集成电路</a:t>
              </a:r>
              <a:endParaRPr lang="zh-CN" altLang="en-US" sz="2400" dirty="0">
                <a:solidFill>
                  <a:srgbClr val="000066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16389" name="Rectangle 23"/>
            <p:cNvSpPr/>
            <p:nvPr/>
          </p:nvSpPr>
          <p:spPr>
            <a:xfrm>
              <a:off x="1303" y="3478"/>
              <a:ext cx="1292" cy="517"/>
            </a:xfrm>
            <a:prstGeom prst="rect">
              <a:avLst/>
            </a:prstGeom>
            <a:solidFill>
              <a:schemeClr val="bg1"/>
            </a:solidFill>
            <a:ln w="88900" cap="flat" cmpd="tri">
              <a:solidFill>
                <a:srgbClr val="CC0099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defTabSz="914400">
                <a:spcBef>
                  <a:spcPct val="0"/>
                </a:spcBef>
                <a:buClr>
                  <a:schemeClr val="bg1"/>
                </a:buClr>
                <a:buNone/>
                <a:tabLst>
                  <a:tab pos="2339975" algn="l"/>
                  <a:tab pos="4968875" algn="r"/>
                  <a:tab pos="5221605" algn="l"/>
                </a:tabLst>
              </a:pPr>
              <a:r>
                <a:rPr lang="en-US" altLang="zh-CN" sz="24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10</a:t>
              </a:r>
              <a:r>
                <a:rPr lang="en-US" altLang="zh-CN" sz="2400" baseline="300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6</a:t>
              </a:r>
              <a:r>
                <a:rPr lang="zh-CN" altLang="en-US" sz="24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以上</a:t>
              </a:r>
              <a:endParaRPr lang="zh-CN" altLang="en-US" sz="2400" dirty="0">
                <a:solidFill>
                  <a:srgbClr val="000066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16390" name="Rectangle 24"/>
            <p:cNvSpPr/>
            <p:nvPr/>
          </p:nvSpPr>
          <p:spPr>
            <a:xfrm>
              <a:off x="158" y="3478"/>
              <a:ext cx="1145" cy="517"/>
            </a:xfrm>
            <a:prstGeom prst="rect">
              <a:avLst/>
            </a:prstGeom>
            <a:solidFill>
              <a:schemeClr val="bg1"/>
            </a:solidFill>
            <a:ln w="88900" cap="flat" cmpd="tri">
              <a:solidFill>
                <a:srgbClr val="CC0099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defTabSz="914400">
                <a:spcBef>
                  <a:spcPct val="0"/>
                </a:spcBef>
                <a:buClr>
                  <a:schemeClr val="bg1"/>
                </a:buClr>
                <a:buNone/>
                <a:tabLst>
                  <a:tab pos="2339975" algn="l"/>
                  <a:tab pos="4968875" algn="r"/>
                  <a:tab pos="5221605" algn="l"/>
                </a:tabLst>
              </a:pPr>
              <a:r>
                <a:rPr lang="zh-CN" altLang="en-US" sz="2400" dirty="0">
                  <a:solidFill>
                    <a:srgbClr val="000066"/>
                  </a:solidFill>
                  <a:latin typeface="楷体_GB2312" pitchFamily="49" charset="-122"/>
                  <a:cs typeface="Times New Roman" panose="02020603050405020304" pitchFamily="18" charset="0"/>
                </a:rPr>
                <a:t>甚大规模</a:t>
              </a:r>
              <a:endParaRPr lang="zh-CN" altLang="en-US" sz="2400" dirty="0">
                <a:solidFill>
                  <a:srgbClr val="000066"/>
                </a:solidFill>
                <a:latin typeface="楷体_GB2312" pitchFamily="49" charset="-122"/>
                <a:ea typeface="Times New Roman" panose="02020603050405020304" pitchFamily="18" charset="0"/>
              </a:endParaRPr>
            </a:p>
          </p:txBody>
        </p:sp>
        <p:sp>
          <p:nvSpPr>
            <p:cNvPr id="16391" name="Rectangle 25"/>
            <p:cNvSpPr/>
            <p:nvPr/>
          </p:nvSpPr>
          <p:spPr>
            <a:xfrm>
              <a:off x="2595" y="2989"/>
              <a:ext cx="3028" cy="489"/>
            </a:xfrm>
            <a:prstGeom prst="rect">
              <a:avLst/>
            </a:prstGeom>
            <a:solidFill>
              <a:schemeClr val="bg1"/>
            </a:solidFill>
            <a:ln w="88900" cap="flat" cmpd="tri">
              <a:solidFill>
                <a:srgbClr val="CC0099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defTabSz="914400">
                <a:spcBef>
                  <a:spcPct val="0"/>
                </a:spcBef>
                <a:buClr>
                  <a:schemeClr val="bg1"/>
                </a:buClr>
                <a:buNone/>
                <a:tabLst>
                  <a:tab pos="2339975" algn="l"/>
                  <a:tab pos="4968875" algn="r"/>
                  <a:tab pos="5221605" algn="l"/>
                </a:tabLst>
              </a:pPr>
              <a:r>
                <a:rPr lang="zh-CN" altLang="en-US" sz="24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大型存储器、微处理器</a:t>
              </a:r>
              <a:endParaRPr lang="zh-CN" altLang="en-US" sz="2400" dirty="0">
                <a:solidFill>
                  <a:srgbClr val="000066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16392" name="Rectangle 26"/>
            <p:cNvSpPr/>
            <p:nvPr/>
          </p:nvSpPr>
          <p:spPr>
            <a:xfrm>
              <a:off x="1303" y="2989"/>
              <a:ext cx="1292" cy="489"/>
            </a:xfrm>
            <a:prstGeom prst="rect">
              <a:avLst/>
            </a:prstGeom>
            <a:solidFill>
              <a:schemeClr val="bg1"/>
            </a:solidFill>
            <a:ln w="88900" cap="flat" cmpd="tri">
              <a:solidFill>
                <a:srgbClr val="CC0099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defTabSz="914400">
                <a:spcBef>
                  <a:spcPct val="0"/>
                </a:spcBef>
                <a:buClr>
                  <a:schemeClr val="bg1"/>
                </a:buClr>
                <a:buNone/>
                <a:tabLst>
                  <a:tab pos="2339975" algn="l"/>
                  <a:tab pos="4968875" algn="r"/>
                  <a:tab pos="5221605" algn="l"/>
                </a:tabLst>
              </a:pPr>
              <a:r>
                <a:rPr lang="en-US" altLang="zh-CN" sz="24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10,000~99,999</a:t>
              </a:r>
              <a:endParaRPr lang="en-US" altLang="zh-CN" sz="2400" dirty="0">
                <a:solidFill>
                  <a:srgbClr val="000066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16393" name="Rectangle 27"/>
            <p:cNvSpPr/>
            <p:nvPr/>
          </p:nvSpPr>
          <p:spPr>
            <a:xfrm>
              <a:off x="158" y="2989"/>
              <a:ext cx="1145" cy="489"/>
            </a:xfrm>
            <a:prstGeom prst="rect">
              <a:avLst/>
            </a:prstGeom>
            <a:solidFill>
              <a:schemeClr val="bg1"/>
            </a:solidFill>
            <a:ln w="88900" cap="flat" cmpd="tri">
              <a:solidFill>
                <a:srgbClr val="CC0099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defTabSz="914400">
                <a:spcBef>
                  <a:spcPct val="0"/>
                </a:spcBef>
                <a:buClr>
                  <a:schemeClr val="bg1"/>
                </a:buClr>
                <a:buNone/>
                <a:tabLst>
                  <a:tab pos="2339975" algn="l"/>
                  <a:tab pos="4968875" algn="r"/>
                  <a:tab pos="5221605" algn="l"/>
                </a:tabLst>
              </a:pPr>
              <a:r>
                <a:rPr lang="zh-CN" altLang="en-US" sz="2400" dirty="0">
                  <a:solidFill>
                    <a:srgbClr val="000066"/>
                  </a:solidFill>
                  <a:latin typeface="楷体_GB2312" pitchFamily="49" charset="-122"/>
                  <a:cs typeface="Times New Roman" panose="02020603050405020304" pitchFamily="18" charset="0"/>
                </a:rPr>
                <a:t>超大规模</a:t>
              </a:r>
              <a:endParaRPr lang="zh-CN" altLang="en-US" sz="2400" dirty="0">
                <a:solidFill>
                  <a:srgbClr val="000066"/>
                </a:solidFill>
                <a:latin typeface="楷体_GB2312" pitchFamily="49" charset="-122"/>
                <a:ea typeface="Times New Roman" panose="02020603050405020304" pitchFamily="18" charset="0"/>
              </a:endParaRPr>
            </a:p>
          </p:txBody>
        </p:sp>
        <p:sp>
          <p:nvSpPr>
            <p:cNvPr id="16394" name="Rectangle 28"/>
            <p:cNvSpPr/>
            <p:nvPr/>
          </p:nvSpPr>
          <p:spPr>
            <a:xfrm>
              <a:off x="2595" y="2661"/>
              <a:ext cx="3028" cy="328"/>
            </a:xfrm>
            <a:prstGeom prst="rect">
              <a:avLst/>
            </a:prstGeom>
            <a:solidFill>
              <a:schemeClr val="bg1"/>
            </a:solidFill>
            <a:ln w="88900" cap="flat" cmpd="tri">
              <a:solidFill>
                <a:srgbClr val="CC0099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defTabSz="914400">
                <a:spcBef>
                  <a:spcPct val="0"/>
                </a:spcBef>
                <a:buClr>
                  <a:schemeClr val="bg1"/>
                </a:buClr>
                <a:buNone/>
                <a:tabLst>
                  <a:tab pos="2339975" algn="l"/>
                  <a:tab pos="4968875" algn="r"/>
                  <a:tab pos="5221605" algn="l"/>
                </a:tabLst>
              </a:pPr>
              <a:r>
                <a:rPr lang="zh-CN" altLang="en-US" sz="24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小型存储器、门阵列</a:t>
              </a:r>
              <a:endParaRPr lang="zh-CN" altLang="en-US" sz="2400" dirty="0">
                <a:solidFill>
                  <a:srgbClr val="000066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16395" name="Rectangle 29"/>
            <p:cNvSpPr/>
            <p:nvPr/>
          </p:nvSpPr>
          <p:spPr>
            <a:xfrm>
              <a:off x="1303" y="2661"/>
              <a:ext cx="1292" cy="328"/>
            </a:xfrm>
            <a:prstGeom prst="rect">
              <a:avLst/>
            </a:prstGeom>
            <a:solidFill>
              <a:schemeClr val="bg1"/>
            </a:solidFill>
            <a:ln w="88900" cap="flat" cmpd="tri">
              <a:solidFill>
                <a:srgbClr val="CC0099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defTabSz="914400">
                <a:spcBef>
                  <a:spcPct val="0"/>
                </a:spcBef>
                <a:buClr>
                  <a:schemeClr val="bg1"/>
                </a:buClr>
                <a:buNone/>
                <a:tabLst>
                  <a:tab pos="2339975" algn="l"/>
                  <a:tab pos="4968875" algn="r"/>
                  <a:tab pos="5221605" algn="l"/>
                </a:tabLst>
              </a:pPr>
              <a:r>
                <a:rPr lang="en-US" altLang="zh-CN" sz="24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100~9999</a:t>
              </a:r>
              <a:endParaRPr lang="en-US" altLang="zh-CN" sz="2400" dirty="0">
                <a:solidFill>
                  <a:srgbClr val="000066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16396" name="Rectangle 30"/>
            <p:cNvSpPr/>
            <p:nvPr/>
          </p:nvSpPr>
          <p:spPr>
            <a:xfrm>
              <a:off x="158" y="2661"/>
              <a:ext cx="1145" cy="328"/>
            </a:xfrm>
            <a:prstGeom prst="rect">
              <a:avLst/>
            </a:prstGeom>
            <a:solidFill>
              <a:schemeClr val="bg1"/>
            </a:solidFill>
            <a:ln w="88900" cap="flat" cmpd="tri">
              <a:solidFill>
                <a:srgbClr val="CC0099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defTabSz="914400">
                <a:spcBef>
                  <a:spcPct val="0"/>
                </a:spcBef>
                <a:buClr>
                  <a:schemeClr val="bg1"/>
                </a:buClr>
                <a:buNone/>
                <a:tabLst>
                  <a:tab pos="2339975" algn="l"/>
                  <a:tab pos="4968875" algn="r"/>
                  <a:tab pos="5221605" algn="l"/>
                </a:tabLst>
              </a:pPr>
              <a:r>
                <a:rPr lang="zh-CN" altLang="en-US" sz="2400" dirty="0">
                  <a:solidFill>
                    <a:srgbClr val="000066"/>
                  </a:solidFill>
                  <a:latin typeface="楷体_GB2312" pitchFamily="49" charset="-122"/>
                  <a:cs typeface="Times New Roman" panose="02020603050405020304" pitchFamily="18" charset="0"/>
                </a:rPr>
                <a:t>大规模</a:t>
              </a:r>
              <a:endParaRPr lang="zh-CN" altLang="en-US" sz="2400" dirty="0">
                <a:solidFill>
                  <a:srgbClr val="000066"/>
                </a:solidFill>
                <a:latin typeface="楷体_GB2312" pitchFamily="49" charset="-122"/>
                <a:ea typeface="Times New Roman" panose="02020603050405020304" pitchFamily="18" charset="0"/>
              </a:endParaRPr>
            </a:p>
          </p:txBody>
        </p:sp>
        <p:sp>
          <p:nvSpPr>
            <p:cNvPr id="16397" name="Rectangle 31"/>
            <p:cNvSpPr/>
            <p:nvPr/>
          </p:nvSpPr>
          <p:spPr>
            <a:xfrm>
              <a:off x="2595" y="2354"/>
              <a:ext cx="3028" cy="307"/>
            </a:xfrm>
            <a:prstGeom prst="rect">
              <a:avLst/>
            </a:prstGeom>
            <a:solidFill>
              <a:schemeClr val="bg1"/>
            </a:solidFill>
            <a:ln w="88900" cap="flat" cmpd="tri">
              <a:solidFill>
                <a:srgbClr val="CC0099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defTabSz="914400">
                <a:spcBef>
                  <a:spcPct val="0"/>
                </a:spcBef>
                <a:buClr>
                  <a:schemeClr val="bg1"/>
                </a:buClr>
                <a:buNone/>
                <a:tabLst>
                  <a:tab pos="2339975" algn="l"/>
                  <a:tab pos="4968875" algn="r"/>
                  <a:tab pos="5221605" algn="l"/>
                </a:tabLst>
              </a:pPr>
              <a:r>
                <a:rPr lang="zh-CN" altLang="en-US" sz="24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计数器、加法器</a:t>
              </a:r>
              <a:endParaRPr lang="zh-CN" altLang="en-US" sz="2400" dirty="0">
                <a:solidFill>
                  <a:srgbClr val="000066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16398" name="Rectangle 32"/>
            <p:cNvSpPr/>
            <p:nvPr/>
          </p:nvSpPr>
          <p:spPr>
            <a:xfrm>
              <a:off x="1303" y="2354"/>
              <a:ext cx="1292" cy="307"/>
            </a:xfrm>
            <a:prstGeom prst="rect">
              <a:avLst/>
            </a:prstGeom>
            <a:solidFill>
              <a:schemeClr val="bg1"/>
            </a:solidFill>
            <a:ln w="88900" cap="flat" cmpd="tri">
              <a:solidFill>
                <a:srgbClr val="CC0099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defTabSz="914400">
                <a:spcBef>
                  <a:spcPct val="0"/>
                </a:spcBef>
                <a:buClr>
                  <a:schemeClr val="bg1"/>
                </a:buClr>
                <a:buNone/>
                <a:tabLst>
                  <a:tab pos="2339975" algn="l"/>
                  <a:tab pos="4968875" algn="r"/>
                  <a:tab pos="5221605" algn="l"/>
                </a:tabLst>
              </a:pPr>
              <a:r>
                <a:rPr lang="en-US" altLang="zh-CN" sz="24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12~99</a:t>
              </a:r>
              <a:endParaRPr lang="en-US" altLang="zh-CN" sz="2400" dirty="0">
                <a:solidFill>
                  <a:srgbClr val="000066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16399" name="Rectangle 33"/>
            <p:cNvSpPr/>
            <p:nvPr/>
          </p:nvSpPr>
          <p:spPr>
            <a:xfrm>
              <a:off x="158" y="2354"/>
              <a:ext cx="1145" cy="307"/>
            </a:xfrm>
            <a:prstGeom prst="rect">
              <a:avLst/>
            </a:prstGeom>
            <a:solidFill>
              <a:schemeClr val="bg1"/>
            </a:solidFill>
            <a:ln w="88900" cap="flat" cmpd="tri">
              <a:solidFill>
                <a:srgbClr val="CC0099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defTabSz="914400">
                <a:spcBef>
                  <a:spcPct val="0"/>
                </a:spcBef>
                <a:buClr>
                  <a:schemeClr val="bg1"/>
                </a:buClr>
                <a:buNone/>
                <a:tabLst>
                  <a:tab pos="2339975" algn="l"/>
                  <a:tab pos="4968875" algn="r"/>
                  <a:tab pos="5221605" algn="l"/>
                </a:tabLst>
              </a:pPr>
              <a:r>
                <a:rPr lang="zh-CN" altLang="en-US" sz="2400" dirty="0">
                  <a:solidFill>
                    <a:srgbClr val="000066"/>
                  </a:solidFill>
                  <a:latin typeface="楷体_GB2312" pitchFamily="49" charset="-122"/>
                  <a:cs typeface="Times New Roman" panose="02020603050405020304" pitchFamily="18" charset="0"/>
                </a:rPr>
                <a:t>中规模</a:t>
              </a:r>
              <a:endParaRPr lang="zh-CN" altLang="en-US" sz="2400" dirty="0">
                <a:solidFill>
                  <a:srgbClr val="000066"/>
                </a:solidFill>
                <a:latin typeface="楷体_GB2312" pitchFamily="49" charset="-122"/>
                <a:ea typeface="Times New Roman" panose="02020603050405020304" pitchFamily="18" charset="0"/>
              </a:endParaRPr>
            </a:p>
          </p:txBody>
        </p:sp>
        <p:sp>
          <p:nvSpPr>
            <p:cNvPr id="16400" name="Rectangle 34"/>
            <p:cNvSpPr/>
            <p:nvPr/>
          </p:nvSpPr>
          <p:spPr>
            <a:xfrm>
              <a:off x="2595" y="2067"/>
              <a:ext cx="3028" cy="287"/>
            </a:xfrm>
            <a:prstGeom prst="rect">
              <a:avLst/>
            </a:prstGeom>
            <a:solidFill>
              <a:schemeClr val="bg1"/>
            </a:solidFill>
            <a:ln w="88900" cap="flat" cmpd="tri">
              <a:solidFill>
                <a:srgbClr val="CC0099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defTabSz="914400">
                <a:spcBef>
                  <a:spcPct val="0"/>
                </a:spcBef>
                <a:buClr>
                  <a:schemeClr val="bg1"/>
                </a:buClr>
                <a:buNone/>
                <a:tabLst>
                  <a:tab pos="2339975" algn="l"/>
                  <a:tab pos="4968875" algn="r"/>
                  <a:tab pos="5221605" algn="l"/>
                </a:tabLst>
              </a:pPr>
              <a:r>
                <a:rPr lang="zh-CN" altLang="en-US" sz="24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逻辑门、触发器</a:t>
              </a:r>
              <a:endParaRPr lang="zh-CN" altLang="en-US" sz="2400" dirty="0">
                <a:solidFill>
                  <a:srgbClr val="000066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16401" name="Rectangle 35"/>
            <p:cNvSpPr/>
            <p:nvPr/>
          </p:nvSpPr>
          <p:spPr>
            <a:xfrm>
              <a:off x="1303" y="2067"/>
              <a:ext cx="1292" cy="287"/>
            </a:xfrm>
            <a:prstGeom prst="rect">
              <a:avLst/>
            </a:prstGeom>
            <a:solidFill>
              <a:schemeClr val="bg1"/>
            </a:solidFill>
            <a:ln w="88900" cap="flat" cmpd="tri">
              <a:solidFill>
                <a:srgbClr val="CC0099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defTabSz="914400">
                <a:spcBef>
                  <a:spcPct val="0"/>
                </a:spcBef>
                <a:buClr>
                  <a:schemeClr val="bg1"/>
                </a:buClr>
                <a:buNone/>
                <a:tabLst>
                  <a:tab pos="2339975" algn="l"/>
                  <a:tab pos="4968875" algn="r"/>
                  <a:tab pos="5221605" algn="l"/>
                </a:tabLst>
              </a:pPr>
              <a:r>
                <a:rPr lang="zh-CN" altLang="en-US" sz="24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最多</a:t>
              </a:r>
              <a:r>
                <a:rPr lang="en-US" altLang="zh-CN" sz="24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12</a:t>
              </a:r>
              <a:r>
                <a:rPr lang="zh-CN" altLang="en-US" sz="24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个</a:t>
              </a:r>
              <a:endParaRPr lang="zh-CN" altLang="en-US" sz="2400" dirty="0">
                <a:solidFill>
                  <a:srgbClr val="000066"/>
                </a:solidFill>
                <a:ea typeface="Times New Roman" panose="02020603050405020304" pitchFamily="18" charset="0"/>
              </a:endParaRPr>
            </a:p>
          </p:txBody>
        </p:sp>
        <p:sp>
          <p:nvSpPr>
            <p:cNvPr id="16402" name="Rectangle 36"/>
            <p:cNvSpPr/>
            <p:nvPr/>
          </p:nvSpPr>
          <p:spPr>
            <a:xfrm>
              <a:off x="158" y="2067"/>
              <a:ext cx="1145" cy="287"/>
            </a:xfrm>
            <a:prstGeom prst="rect">
              <a:avLst/>
            </a:prstGeom>
            <a:solidFill>
              <a:schemeClr val="bg1"/>
            </a:solidFill>
            <a:ln w="88900" cap="flat" cmpd="tri">
              <a:solidFill>
                <a:srgbClr val="CC0099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defTabSz="914400">
                <a:spcBef>
                  <a:spcPct val="0"/>
                </a:spcBef>
                <a:buClr>
                  <a:schemeClr val="bg1"/>
                </a:buClr>
                <a:buNone/>
                <a:tabLst>
                  <a:tab pos="2339975" algn="l"/>
                  <a:tab pos="4968875" algn="r"/>
                  <a:tab pos="5221605" algn="l"/>
                </a:tabLst>
              </a:pPr>
              <a:r>
                <a:rPr lang="zh-CN" altLang="en-US" sz="2400" dirty="0">
                  <a:solidFill>
                    <a:srgbClr val="000066"/>
                  </a:solidFill>
                  <a:latin typeface="楷体_GB2312" pitchFamily="49" charset="-122"/>
                  <a:cs typeface="Times New Roman" panose="02020603050405020304" pitchFamily="18" charset="0"/>
                </a:rPr>
                <a:t>小规模</a:t>
              </a:r>
              <a:endParaRPr lang="zh-CN" altLang="en-US" sz="2400" dirty="0">
                <a:solidFill>
                  <a:srgbClr val="000066"/>
                </a:solidFill>
                <a:latin typeface="楷体_GB2312" pitchFamily="49" charset="-122"/>
                <a:ea typeface="Times New Roman" panose="02020603050405020304" pitchFamily="18" charset="0"/>
              </a:endParaRPr>
            </a:p>
          </p:txBody>
        </p:sp>
        <p:sp>
          <p:nvSpPr>
            <p:cNvPr id="16403" name="Rectangle 37"/>
            <p:cNvSpPr/>
            <p:nvPr/>
          </p:nvSpPr>
          <p:spPr>
            <a:xfrm>
              <a:off x="2595" y="1389"/>
              <a:ext cx="3028" cy="678"/>
            </a:xfrm>
            <a:prstGeom prst="rect">
              <a:avLst/>
            </a:prstGeom>
            <a:solidFill>
              <a:schemeClr val="bg1"/>
            </a:solidFill>
            <a:ln w="88900" cap="flat" cmpd="tri">
              <a:solidFill>
                <a:srgbClr val="CC0099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defTabSz="914400">
                <a:spcBef>
                  <a:spcPct val="0"/>
                </a:spcBef>
                <a:buClr>
                  <a:schemeClr val="bg1"/>
                </a:buClr>
                <a:buNone/>
                <a:tabLst>
                  <a:tab pos="2339975" algn="l"/>
                  <a:tab pos="4968875" algn="r"/>
                  <a:tab pos="5221605" algn="l"/>
                </a:tabLst>
              </a:pPr>
              <a:r>
                <a:rPr lang="zh-CN" altLang="en-US" sz="2400" dirty="0">
                  <a:solidFill>
                    <a:srgbClr val="000066"/>
                  </a:solidFill>
                  <a:latin typeface="楷体_GB2312" pitchFamily="49" charset="-122"/>
                  <a:cs typeface="Times New Roman" panose="02020603050405020304" pitchFamily="18" charset="0"/>
                </a:rPr>
                <a:t>典型集成电路</a:t>
              </a:r>
              <a:endParaRPr lang="zh-CN" altLang="en-US" sz="2400" dirty="0">
                <a:solidFill>
                  <a:srgbClr val="000066"/>
                </a:solidFill>
                <a:latin typeface="楷体_GB2312" pitchFamily="49" charset="-122"/>
                <a:ea typeface="Times New Roman" panose="02020603050405020304" pitchFamily="18" charset="0"/>
              </a:endParaRPr>
            </a:p>
          </p:txBody>
        </p:sp>
        <p:sp>
          <p:nvSpPr>
            <p:cNvPr id="16404" name="Rectangle 38"/>
            <p:cNvSpPr/>
            <p:nvPr/>
          </p:nvSpPr>
          <p:spPr>
            <a:xfrm>
              <a:off x="1303" y="1389"/>
              <a:ext cx="1292" cy="678"/>
            </a:xfrm>
            <a:prstGeom prst="rect">
              <a:avLst/>
            </a:prstGeom>
            <a:solidFill>
              <a:schemeClr val="bg1"/>
            </a:solidFill>
            <a:ln w="88900" cap="flat" cmpd="tri">
              <a:solidFill>
                <a:srgbClr val="CC0099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defTabSz="914400">
                <a:spcBef>
                  <a:spcPct val="0"/>
                </a:spcBef>
                <a:buClr>
                  <a:schemeClr val="bg1"/>
                </a:buClr>
                <a:buNone/>
                <a:tabLst>
                  <a:tab pos="2339975" algn="l"/>
                  <a:tab pos="4968875" algn="r"/>
                  <a:tab pos="5221605" algn="l"/>
                </a:tabLst>
              </a:pPr>
              <a:r>
                <a:rPr lang="zh-CN" altLang="en-US" sz="2400" dirty="0">
                  <a:solidFill>
                    <a:srgbClr val="000066"/>
                  </a:solidFill>
                  <a:latin typeface="楷体_GB2312" pitchFamily="49" charset="-122"/>
                  <a:cs typeface="Times New Roman" panose="02020603050405020304" pitchFamily="18" charset="0"/>
                </a:rPr>
                <a:t>门的个数</a:t>
              </a:r>
              <a:endParaRPr lang="zh-CN" altLang="en-US" sz="2400" dirty="0">
                <a:solidFill>
                  <a:srgbClr val="000066"/>
                </a:solidFill>
                <a:latin typeface="楷体_GB2312" pitchFamily="49" charset="-122"/>
                <a:ea typeface="Times New Roman" panose="02020603050405020304" pitchFamily="18" charset="0"/>
              </a:endParaRPr>
            </a:p>
          </p:txBody>
        </p:sp>
        <p:sp>
          <p:nvSpPr>
            <p:cNvPr id="16405" name="Rectangle 39"/>
            <p:cNvSpPr/>
            <p:nvPr/>
          </p:nvSpPr>
          <p:spPr>
            <a:xfrm>
              <a:off x="158" y="1389"/>
              <a:ext cx="1145" cy="678"/>
            </a:xfrm>
            <a:prstGeom prst="rect">
              <a:avLst/>
            </a:prstGeom>
            <a:solidFill>
              <a:schemeClr val="bg1"/>
            </a:solidFill>
            <a:ln w="88900" cap="flat" cmpd="tri">
              <a:solidFill>
                <a:srgbClr val="CC0099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defTabSz="914400">
                <a:spcBef>
                  <a:spcPct val="0"/>
                </a:spcBef>
                <a:buClr>
                  <a:schemeClr val="bg1"/>
                </a:buClr>
                <a:buNone/>
                <a:tabLst>
                  <a:tab pos="2339975" algn="l"/>
                  <a:tab pos="4968875" algn="r"/>
                  <a:tab pos="5221605" algn="l"/>
                </a:tabLst>
              </a:pPr>
              <a:r>
                <a:rPr lang="zh-CN" altLang="en-US" sz="2400" dirty="0">
                  <a:solidFill>
                    <a:srgbClr val="000066"/>
                  </a:solidFill>
                  <a:latin typeface="楷体_GB2312" pitchFamily="49" charset="-122"/>
                  <a:cs typeface="Times New Roman" panose="02020603050405020304" pitchFamily="18" charset="0"/>
                </a:rPr>
                <a:t>分类</a:t>
              </a:r>
              <a:endParaRPr lang="zh-CN" altLang="en-US" sz="2400" dirty="0">
                <a:solidFill>
                  <a:srgbClr val="000066"/>
                </a:solidFill>
                <a:latin typeface="楷体_GB2312" pitchFamily="49" charset="-122"/>
                <a:ea typeface="Times New Roman" panose="02020603050405020304" pitchFamily="18" charset="0"/>
              </a:endParaRPr>
            </a:p>
          </p:txBody>
        </p:sp>
        <p:sp>
          <p:nvSpPr>
            <p:cNvPr id="16406" name="Line 40"/>
            <p:cNvSpPr/>
            <p:nvPr/>
          </p:nvSpPr>
          <p:spPr>
            <a:xfrm>
              <a:off x="158" y="1389"/>
              <a:ext cx="5465" cy="0"/>
            </a:xfrm>
            <a:prstGeom prst="line">
              <a:avLst/>
            </a:prstGeom>
            <a:ln w="12700" cap="rnd" cmpd="tri">
              <a:solidFill>
                <a:srgbClr val="CC009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407" name="Line 41"/>
            <p:cNvSpPr/>
            <p:nvPr/>
          </p:nvSpPr>
          <p:spPr>
            <a:xfrm>
              <a:off x="158" y="3995"/>
              <a:ext cx="5465" cy="0"/>
            </a:xfrm>
            <a:prstGeom prst="line">
              <a:avLst/>
            </a:prstGeom>
            <a:ln w="12700" cap="rnd" cmpd="tri">
              <a:solidFill>
                <a:srgbClr val="CC009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408" name="Line 42"/>
            <p:cNvSpPr/>
            <p:nvPr/>
          </p:nvSpPr>
          <p:spPr>
            <a:xfrm>
              <a:off x="158" y="1389"/>
              <a:ext cx="0" cy="2606"/>
            </a:xfrm>
            <a:prstGeom prst="line">
              <a:avLst/>
            </a:prstGeom>
            <a:ln w="88900" cap="rnd" cmpd="tri">
              <a:solidFill>
                <a:srgbClr val="CC009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409" name="Line 43"/>
            <p:cNvSpPr/>
            <p:nvPr/>
          </p:nvSpPr>
          <p:spPr>
            <a:xfrm>
              <a:off x="5623" y="1389"/>
              <a:ext cx="0" cy="2606"/>
            </a:xfrm>
            <a:prstGeom prst="line">
              <a:avLst/>
            </a:prstGeom>
            <a:ln w="88900" cap="rnd" cmpd="tri">
              <a:solidFill>
                <a:srgbClr val="CC009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410" name="Line 44"/>
            <p:cNvSpPr/>
            <p:nvPr/>
          </p:nvSpPr>
          <p:spPr>
            <a:xfrm>
              <a:off x="158" y="2067"/>
              <a:ext cx="5465" cy="0"/>
            </a:xfrm>
            <a:prstGeom prst="line">
              <a:avLst/>
            </a:prstGeom>
            <a:ln w="12700" cap="rnd" cmpd="tri">
              <a:solidFill>
                <a:srgbClr val="CC009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411" name="Line 45"/>
            <p:cNvSpPr/>
            <p:nvPr/>
          </p:nvSpPr>
          <p:spPr>
            <a:xfrm>
              <a:off x="1303" y="1389"/>
              <a:ext cx="0" cy="2606"/>
            </a:xfrm>
            <a:prstGeom prst="line">
              <a:avLst/>
            </a:prstGeom>
            <a:ln w="88900" cap="rnd" cmpd="tri">
              <a:solidFill>
                <a:srgbClr val="CC009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412" name="Line 46"/>
            <p:cNvSpPr/>
            <p:nvPr/>
          </p:nvSpPr>
          <p:spPr>
            <a:xfrm>
              <a:off x="2595" y="1389"/>
              <a:ext cx="0" cy="2606"/>
            </a:xfrm>
            <a:prstGeom prst="line">
              <a:avLst/>
            </a:prstGeom>
            <a:ln w="88900" cap="rnd" cmpd="tri">
              <a:solidFill>
                <a:srgbClr val="CC009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413" name="Line 47"/>
            <p:cNvSpPr/>
            <p:nvPr/>
          </p:nvSpPr>
          <p:spPr>
            <a:xfrm>
              <a:off x="158" y="2354"/>
              <a:ext cx="5465" cy="0"/>
            </a:xfrm>
            <a:prstGeom prst="line">
              <a:avLst/>
            </a:prstGeom>
            <a:ln w="88900" cap="rnd" cmpd="tri">
              <a:solidFill>
                <a:srgbClr val="CC009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414" name="Line 48"/>
            <p:cNvSpPr/>
            <p:nvPr/>
          </p:nvSpPr>
          <p:spPr>
            <a:xfrm>
              <a:off x="158" y="2661"/>
              <a:ext cx="5465" cy="0"/>
            </a:xfrm>
            <a:prstGeom prst="line">
              <a:avLst/>
            </a:prstGeom>
            <a:ln w="88900" cap="rnd" cmpd="tri">
              <a:solidFill>
                <a:srgbClr val="CC009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415" name="Line 49"/>
            <p:cNvSpPr/>
            <p:nvPr/>
          </p:nvSpPr>
          <p:spPr>
            <a:xfrm>
              <a:off x="158" y="2989"/>
              <a:ext cx="5465" cy="0"/>
            </a:xfrm>
            <a:prstGeom prst="line">
              <a:avLst/>
            </a:prstGeom>
            <a:ln w="88900" cap="rnd" cmpd="tri">
              <a:solidFill>
                <a:srgbClr val="CC0099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416" name="Line 50"/>
            <p:cNvSpPr/>
            <p:nvPr/>
          </p:nvSpPr>
          <p:spPr>
            <a:xfrm>
              <a:off x="158" y="3478"/>
              <a:ext cx="5465" cy="0"/>
            </a:xfrm>
            <a:prstGeom prst="line">
              <a:avLst/>
            </a:prstGeom>
            <a:ln w="88900" cap="rnd" cmpd="tri">
              <a:solidFill>
                <a:srgbClr val="CC0099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388147" name="Rectangle 51"/>
          <p:cNvSpPr/>
          <p:nvPr/>
        </p:nvSpPr>
        <p:spPr>
          <a:xfrm>
            <a:off x="539750" y="1341438"/>
            <a:ext cx="4627563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集成度</a:t>
            </a:r>
            <a:r>
              <a:rPr lang="en-US" altLang="zh-CN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每一芯片所包含的门个数</a:t>
            </a:r>
            <a:endParaRPr lang="zh-CN" altLang="en-US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8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14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4"/>
          <p:cNvSpPr/>
          <p:nvPr/>
        </p:nvSpPr>
        <p:spPr>
          <a:xfrm>
            <a:off x="827088" y="1484313"/>
            <a:ext cx="5222875" cy="46196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rgbClr val="CC0000"/>
                </a:solidFill>
                <a:ea typeface="楷体_GB2312" pitchFamily="49" charset="-122"/>
              </a:rPr>
              <a:t>2</a:t>
            </a:r>
            <a:r>
              <a:rPr lang="zh-CN" altLang="en-US" dirty="0">
                <a:solidFill>
                  <a:srgbClr val="CC0000"/>
                </a:solidFill>
                <a:ea typeface="楷体_GB2312" pitchFamily="49" charset="-122"/>
              </a:rPr>
              <a:t>、数字集成电路的特点</a:t>
            </a:r>
            <a:endParaRPr lang="zh-CN" altLang="en-US" dirty="0">
              <a:solidFill>
                <a:srgbClr val="CC0000"/>
              </a:solidFill>
              <a:ea typeface="楷体_GB2312" pitchFamily="49" charset="-122"/>
            </a:endParaRPr>
          </a:p>
        </p:txBody>
      </p:sp>
      <p:sp>
        <p:nvSpPr>
          <p:cNvPr id="389145" name="Rectangle 25">
            <a:hlinkClick r:id="rId1" action="ppaction://hlinksldjump"/>
          </p:cNvPr>
          <p:cNvSpPr/>
          <p:nvPr/>
        </p:nvSpPr>
        <p:spPr>
          <a:xfrm>
            <a:off x="873125" y="2324100"/>
            <a:ext cx="7327900" cy="503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dirty="0">
                <a:solidFill>
                  <a:srgbClr val="040468"/>
                </a:solidFill>
                <a:ea typeface="楷体_GB2312" pitchFamily="49" charset="-122"/>
              </a:rPr>
              <a:t>1)</a:t>
            </a:r>
            <a:r>
              <a:rPr lang="zh-CN" altLang="en-US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电路简单</a:t>
            </a:r>
            <a:r>
              <a:rPr lang="en-US" altLang="zh-CN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便于大规模集成</a:t>
            </a:r>
            <a:r>
              <a:rPr lang="en-US" altLang="zh-CN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批量生产</a:t>
            </a:r>
            <a:endParaRPr lang="zh-CN" altLang="en-US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9146" name="Rectangle 26">
            <a:hlinkClick r:id="rId1" action="ppaction://hlinksldjump"/>
          </p:cNvPr>
          <p:cNvSpPr/>
          <p:nvPr/>
        </p:nvSpPr>
        <p:spPr>
          <a:xfrm>
            <a:off x="873125" y="3116263"/>
            <a:ext cx="7705725" cy="503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dirty="0">
                <a:solidFill>
                  <a:srgbClr val="040468"/>
                </a:solidFill>
                <a:ea typeface="楷体_GB2312" pitchFamily="49" charset="-122"/>
              </a:rPr>
              <a:t>2)</a:t>
            </a:r>
            <a:r>
              <a:rPr lang="zh-CN" altLang="en-US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可靠性、稳定性和精度高</a:t>
            </a:r>
            <a:r>
              <a:rPr lang="en-US" altLang="zh-CN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抗干扰能力强</a:t>
            </a:r>
            <a:endParaRPr lang="zh-CN" altLang="en-US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9147" name="Rectangle 27">
            <a:hlinkClick r:id="rId1" action="ppaction://hlinksldjump"/>
          </p:cNvPr>
          <p:cNvSpPr/>
          <p:nvPr/>
        </p:nvSpPr>
        <p:spPr>
          <a:xfrm>
            <a:off x="631825" y="3690938"/>
            <a:ext cx="5795963" cy="503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dirty="0">
                <a:solidFill>
                  <a:srgbClr val="040468"/>
                </a:solidFill>
                <a:ea typeface="楷体_GB2312" pitchFamily="49" charset="-122"/>
              </a:rPr>
              <a:t>3)</a:t>
            </a:r>
            <a:r>
              <a:rPr lang="zh-CN" altLang="en-US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体积小</a:t>
            </a:r>
            <a:r>
              <a:rPr lang="en-US" altLang="zh-CN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通用性好</a:t>
            </a:r>
            <a:r>
              <a:rPr lang="en-US" altLang="zh-CN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成本低</a:t>
            </a:r>
            <a:r>
              <a:rPr lang="en-US" altLang="zh-CN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9148" name="Rectangle 28">
            <a:hlinkClick r:id="rId1" action="ppaction://hlinksldjump"/>
          </p:cNvPr>
          <p:cNvSpPr/>
          <p:nvPr/>
        </p:nvSpPr>
        <p:spPr>
          <a:xfrm>
            <a:off x="827088" y="4411663"/>
            <a:ext cx="7127875" cy="503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dirty="0">
                <a:solidFill>
                  <a:srgbClr val="040468"/>
                </a:solidFill>
                <a:ea typeface="楷体_GB2312" pitchFamily="49" charset="-122"/>
              </a:rPr>
              <a:t>4)</a:t>
            </a:r>
            <a:r>
              <a:rPr lang="zh-CN" altLang="en-US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具可编程性</a:t>
            </a:r>
            <a:r>
              <a:rPr lang="en-US" altLang="zh-CN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可实现硬件设计软件化</a:t>
            </a:r>
            <a:endParaRPr lang="zh-CN" altLang="en-US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9149" name="Rectangle 29">
            <a:hlinkClick r:id="rId1" action="ppaction://hlinksldjump"/>
          </p:cNvPr>
          <p:cNvSpPr/>
          <p:nvPr/>
        </p:nvSpPr>
        <p:spPr>
          <a:xfrm>
            <a:off x="631825" y="5059363"/>
            <a:ext cx="3887788" cy="503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dirty="0">
                <a:solidFill>
                  <a:srgbClr val="040468"/>
                </a:solidFill>
                <a:ea typeface="楷体_GB2312" pitchFamily="49" charset="-122"/>
              </a:rPr>
              <a:t>5)</a:t>
            </a:r>
            <a:r>
              <a:rPr lang="zh-CN" altLang="en-US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高速度 低功耗</a:t>
            </a:r>
            <a:endParaRPr lang="zh-CN" altLang="en-US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9150" name="Rectangle 30">
            <a:hlinkClick r:id="rId1" action="ppaction://hlinksldjump"/>
          </p:cNvPr>
          <p:cNvSpPr/>
          <p:nvPr/>
        </p:nvSpPr>
        <p:spPr>
          <a:xfrm>
            <a:off x="0" y="5780088"/>
            <a:ext cx="3887788" cy="503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dirty="0">
                <a:solidFill>
                  <a:srgbClr val="040468"/>
                </a:solidFill>
                <a:ea typeface="楷体_GB2312" pitchFamily="49" charset="-122"/>
              </a:rPr>
              <a:t>6)</a:t>
            </a:r>
            <a:r>
              <a:rPr lang="zh-CN" altLang="en-US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加密性好  </a:t>
            </a:r>
            <a:endParaRPr lang="zh-CN" altLang="en-US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389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89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89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89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89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89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5" grpId="0"/>
      <p:bldP spid="389146" grpId="0"/>
      <p:bldP spid="389147" grpId="0"/>
      <p:bldP spid="389148" grpId="0"/>
      <p:bldP spid="389149" grpId="0"/>
      <p:bldP spid="38915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17"/>
          <p:cNvSpPr/>
          <p:nvPr/>
        </p:nvSpPr>
        <p:spPr>
          <a:xfrm>
            <a:off x="682625" y="620713"/>
            <a:ext cx="5400675" cy="457200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  <a:ea typeface="楷体_GB2312" pitchFamily="49" charset="-122"/>
              </a:rPr>
              <a:t>3</a:t>
            </a:r>
            <a:r>
              <a:rPr lang="zh-CN" altLang="en-US" sz="2400" b="1" dirty="0">
                <a:solidFill>
                  <a:srgbClr val="CC0000"/>
                </a:solidFill>
                <a:ea typeface="楷体_GB2312" pitchFamily="49" charset="-122"/>
              </a:rPr>
              <a:t>、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数字电路的分析、设计与测试</a:t>
            </a:r>
            <a:endParaRPr lang="zh-CN" altLang="en-US" sz="2400" b="1" dirty="0">
              <a:solidFill>
                <a:srgbClr val="CC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90162" name="Rectangle 18"/>
          <p:cNvSpPr/>
          <p:nvPr/>
        </p:nvSpPr>
        <p:spPr>
          <a:xfrm>
            <a:off x="755650" y="1341438"/>
            <a:ext cx="3297238" cy="457200"/>
          </a:xfrm>
          <a:prstGeom prst="rect">
            <a:avLst/>
          </a:prstGeom>
          <a:noFill/>
          <a:ln w="889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(1)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数字电路的分析方法</a:t>
            </a:r>
            <a:endParaRPr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90163" name="Rectangle 19"/>
          <p:cNvSpPr/>
          <p:nvPr/>
        </p:nvSpPr>
        <p:spPr>
          <a:xfrm>
            <a:off x="179388" y="1849438"/>
            <a:ext cx="9217025" cy="530225"/>
          </a:xfrm>
          <a:prstGeom prst="rect">
            <a:avLst/>
          </a:prstGeom>
          <a:noFill/>
          <a:ln w="889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数字电路的分析</a:t>
            </a: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根据电路确定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电路输出与输入之间的逻辑关系。</a:t>
            </a:r>
            <a:endParaRPr lang="zh-CN" altLang="en-US" sz="2400" b="1" dirty="0">
              <a:solidFill>
                <a:srgbClr val="000066"/>
              </a:solidFill>
              <a:ea typeface="楷体_GB2312" pitchFamily="49" charset="-122"/>
            </a:endParaRPr>
          </a:p>
        </p:txBody>
      </p:sp>
      <p:sp>
        <p:nvSpPr>
          <p:cNvPr id="390164" name="Rectangle 20"/>
          <p:cNvSpPr/>
          <p:nvPr/>
        </p:nvSpPr>
        <p:spPr>
          <a:xfrm>
            <a:off x="781050" y="3594100"/>
            <a:ext cx="4103688" cy="411163"/>
          </a:xfrm>
          <a:prstGeom prst="rect">
            <a:avLst/>
          </a:prstGeom>
          <a:noFill/>
          <a:ln w="88900">
            <a:noFill/>
          </a:ln>
        </p:spPr>
        <p:txBody>
          <a:bodyPr bIns="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(2)</a:t>
            </a: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数字电路的设计方法</a:t>
            </a:r>
            <a:endParaRPr lang="zh-CN" altLang="en-US" sz="2400" dirty="0">
              <a:solidFill>
                <a:srgbClr val="000066"/>
              </a:solidFill>
            </a:endParaRPr>
          </a:p>
        </p:txBody>
      </p:sp>
      <p:sp>
        <p:nvSpPr>
          <p:cNvPr id="390165" name="Rectangle 21"/>
          <p:cNvSpPr/>
          <p:nvPr/>
        </p:nvSpPr>
        <p:spPr>
          <a:xfrm>
            <a:off x="250825" y="4113213"/>
            <a:ext cx="8748713" cy="1187450"/>
          </a:xfrm>
          <a:prstGeom prst="rect">
            <a:avLst/>
          </a:prstGeom>
          <a:noFill/>
          <a:ln w="889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数字电路的设计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: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从给定的逻辑功能要求出发，选择适当的逻辑器件，设计出符合要求的逻辑电路</a:t>
            </a:r>
            <a:r>
              <a:rPr lang="zh-CN" altLang="en-US" sz="2400" dirty="0">
                <a:solidFill>
                  <a:srgbClr val="000066"/>
                </a:solidFill>
                <a:ea typeface="华文行楷" panose="02010800040101010101" pitchFamily="2" charset="-122"/>
              </a:rPr>
              <a:t>。 </a:t>
            </a:r>
            <a:endParaRPr lang="zh-CN" altLang="en-US" sz="2400" dirty="0">
              <a:solidFill>
                <a:srgbClr val="000066"/>
              </a:solidFill>
              <a:ea typeface="华文行楷" panose="02010800040101010101" pitchFamily="2" charset="-122"/>
            </a:endParaRPr>
          </a:p>
        </p:txBody>
      </p:sp>
      <p:sp>
        <p:nvSpPr>
          <p:cNvPr id="390166" name="Rectangle 22"/>
          <p:cNvSpPr/>
          <p:nvPr/>
        </p:nvSpPr>
        <p:spPr>
          <a:xfrm>
            <a:off x="357188" y="5419725"/>
            <a:ext cx="8489950" cy="457200"/>
          </a:xfrm>
          <a:prstGeom prst="rect">
            <a:avLst/>
          </a:prstGeom>
          <a:noFill/>
          <a:ln w="889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设计方式</a:t>
            </a: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分为传统的设计方式和基于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EDA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软件的设计方式。 </a:t>
            </a:r>
            <a:endParaRPr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90167" name="Rectangle 23"/>
          <p:cNvSpPr/>
          <p:nvPr/>
        </p:nvSpPr>
        <p:spPr>
          <a:xfrm>
            <a:off x="179388" y="2460625"/>
            <a:ext cx="8820150" cy="968375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分析工具：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逻辑代数。</a:t>
            </a:r>
            <a:endParaRPr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电路逻辑功能主要用真值表、功能表、逻辑表达式和波形图。</a:t>
            </a:r>
            <a:endParaRPr lang="zh-CN" altLang="en-US" sz="2400" b="1" dirty="0">
              <a:solidFill>
                <a:srgbClr val="000066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0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90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90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0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90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90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62" grpId="0"/>
      <p:bldP spid="390163" grpId="0"/>
      <p:bldP spid="390164" grpId="0"/>
      <p:bldP spid="390165" grpId="0"/>
      <p:bldP spid="390166" grpId="0"/>
      <p:bldP spid="39016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64" name="Rectangle 4"/>
          <p:cNvSpPr/>
          <p:nvPr/>
        </p:nvSpPr>
        <p:spPr>
          <a:xfrm>
            <a:off x="1676400" y="2616200"/>
            <a:ext cx="5848350" cy="3671888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rgbClr val="CC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399365" name="Text Box 5"/>
          <p:cNvSpPr txBox="1"/>
          <p:nvPr/>
        </p:nvSpPr>
        <p:spPr>
          <a:xfrm>
            <a:off x="790575" y="1844675"/>
            <a:ext cx="8353425" cy="60325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algn="ctr">
              <a:lnSpc>
                <a:spcPct val="14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---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时间和数值均连续变化的电信号，如正弦波、三角波等 </a:t>
            </a:r>
            <a:endParaRPr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2676525" y="4813300"/>
            <a:ext cx="3748088" cy="1512888"/>
            <a:chOff x="1686" y="2721"/>
            <a:chExt cx="2361" cy="953"/>
          </a:xfrm>
        </p:grpSpPr>
        <p:sp>
          <p:nvSpPr>
            <p:cNvPr id="19480" name="Line 7"/>
            <p:cNvSpPr/>
            <p:nvPr/>
          </p:nvSpPr>
          <p:spPr>
            <a:xfrm>
              <a:off x="1887" y="2897"/>
              <a:ext cx="1" cy="77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1" name="Line 8"/>
            <p:cNvSpPr/>
            <p:nvPr/>
          </p:nvSpPr>
          <p:spPr>
            <a:xfrm flipH="1">
              <a:off x="1887" y="3355"/>
              <a:ext cx="2055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2" name="Line 9"/>
            <p:cNvSpPr/>
            <p:nvPr/>
          </p:nvSpPr>
          <p:spPr>
            <a:xfrm flipV="1">
              <a:off x="1887" y="2946"/>
              <a:ext cx="304" cy="40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3" name="Line 10"/>
            <p:cNvSpPr/>
            <p:nvPr/>
          </p:nvSpPr>
          <p:spPr>
            <a:xfrm>
              <a:off x="2186" y="2946"/>
              <a:ext cx="299" cy="40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4" name="Line 11"/>
            <p:cNvSpPr/>
            <p:nvPr/>
          </p:nvSpPr>
          <p:spPr>
            <a:xfrm flipV="1">
              <a:off x="2485" y="2935"/>
              <a:ext cx="311" cy="42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5" name="Line 12"/>
            <p:cNvSpPr/>
            <p:nvPr/>
          </p:nvSpPr>
          <p:spPr>
            <a:xfrm>
              <a:off x="2791" y="2935"/>
              <a:ext cx="307" cy="41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6" name="Line 13"/>
            <p:cNvSpPr/>
            <p:nvPr/>
          </p:nvSpPr>
          <p:spPr>
            <a:xfrm flipV="1">
              <a:off x="3093" y="2949"/>
              <a:ext cx="298" cy="40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7" name="Line 14"/>
            <p:cNvSpPr/>
            <p:nvPr/>
          </p:nvSpPr>
          <p:spPr>
            <a:xfrm>
              <a:off x="3386" y="2946"/>
              <a:ext cx="304" cy="40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8" name="Line 15"/>
            <p:cNvSpPr/>
            <p:nvPr/>
          </p:nvSpPr>
          <p:spPr>
            <a:xfrm>
              <a:off x="3895" y="3352"/>
              <a:ext cx="109" cy="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9" name="Freeform 16"/>
            <p:cNvSpPr/>
            <p:nvPr/>
          </p:nvSpPr>
          <p:spPr>
            <a:xfrm>
              <a:off x="3911" y="3338"/>
              <a:ext cx="93" cy="31"/>
            </a:xfrm>
            <a:custGeom>
              <a:avLst/>
              <a:gdLst>
                <a:gd name="txL" fmla="*/ 0 w 93"/>
                <a:gd name="txT" fmla="*/ 0 h 31"/>
                <a:gd name="txR" fmla="*/ 93 w 93"/>
                <a:gd name="txB" fmla="*/ 31 h 31"/>
              </a:gdLst>
              <a:ahLst/>
              <a:cxnLst>
                <a:cxn ang="0">
                  <a:pos x="0" y="31"/>
                </a:cxn>
                <a:cxn ang="0">
                  <a:pos x="0" y="0"/>
                </a:cxn>
                <a:cxn ang="0">
                  <a:pos x="93" y="14"/>
                </a:cxn>
                <a:cxn ang="0">
                  <a:pos x="0" y="31"/>
                </a:cxn>
              </a:cxnLst>
              <a:rect l="txL" t="txT" r="txR" b="txB"/>
              <a:pathLst>
                <a:path w="93" h="31">
                  <a:moveTo>
                    <a:pt x="0" y="31"/>
                  </a:moveTo>
                  <a:lnTo>
                    <a:pt x="0" y="0"/>
                  </a:lnTo>
                  <a:lnTo>
                    <a:pt x="93" y="14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490" name="Freeform 17"/>
            <p:cNvSpPr/>
            <p:nvPr/>
          </p:nvSpPr>
          <p:spPr>
            <a:xfrm>
              <a:off x="3911" y="3338"/>
              <a:ext cx="93" cy="31"/>
            </a:xfrm>
            <a:custGeom>
              <a:avLst/>
              <a:gdLst>
                <a:gd name="txL" fmla="*/ 0 w 93"/>
                <a:gd name="txT" fmla="*/ 0 h 31"/>
                <a:gd name="txR" fmla="*/ 93 w 93"/>
                <a:gd name="txB" fmla="*/ 31 h 31"/>
              </a:gdLst>
              <a:ahLst/>
              <a:cxnLst>
                <a:cxn ang="0">
                  <a:pos x="0" y="31"/>
                </a:cxn>
                <a:cxn ang="0">
                  <a:pos x="0" y="0"/>
                </a:cxn>
                <a:cxn ang="0">
                  <a:pos x="93" y="14"/>
                </a:cxn>
                <a:cxn ang="0">
                  <a:pos x="0" y="31"/>
                </a:cxn>
              </a:cxnLst>
              <a:rect l="txL" t="txT" r="txR" b="txB"/>
              <a:pathLst>
                <a:path w="93" h="31">
                  <a:moveTo>
                    <a:pt x="0" y="31"/>
                  </a:moveTo>
                  <a:lnTo>
                    <a:pt x="0" y="0"/>
                  </a:lnTo>
                  <a:lnTo>
                    <a:pt x="93" y="14"/>
                  </a:lnTo>
                  <a:lnTo>
                    <a:pt x="0" y="31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491" name="Line 18"/>
            <p:cNvSpPr/>
            <p:nvPr/>
          </p:nvSpPr>
          <p:spPr>
            <a:xfrm flipV="1">
              <a:off x="1890" y="2774"/>
              <a:ext cx="2" cy="14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2" name="Freeform 19"/>
            <p:cNvSpPr/>
            <p:nvPr/>
          </p:nvSpPr>
          <p:spPr>
            <a:xfrm>
              <a:off x="1879" y="2774"/>
              <a:ext cx="24" cy="126"/>
            </a:xfrm>
            <a:custGeom>
              <a:avLst/>
              <a:gdLst>
                <a:gd name="txL" fmla="*/ 0 w 24"/>
                <a:gd name="txT" fmla="*/ 0 h 126"/>
                <a:gd name="txR" fmla="*/ 24 w 24"/>
                <a:gd name="txB" fmla="*/ 126 h 126"/>
              </a:gdLst>
              <a:ahLst/>
              <a:cxnLst>
                <a:cxn ang="0">
                  <a:pos x="24" y="126"/>
                </a:cxn>
                <a:cxn ang="0">
                  <a:pos x="0" y="126"/>
                </a:cxn>
                <a:cxn ang="0">
                  <a:pos x="11" y="0"/>
                </a:cxn>
                <a:cxn ang="0">
                  <a:pos x="24" y="126"/>
                </a:cxn>
              </a:cxnLst>
              <a:rect l="txL" t="txT" r="txR" b="txB"/>
              <a:pathLst>
                <a:path w="24" h="126">
                  <a:moveTo>
                    <a:pt x="24" y="126"/>
                  </a:moveTo>
                  <a:lnTo>
                    <a:pt x="0" y="126"/>
                  </a:lnTo>
                  <a:lnTo>
                    <a:pt x="11" y="0"/>
                  </a:lnTo>
                  <a:lnTo>
                    <a:pt x="24" y="12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493" name="Freeform 20"/>
            <p:cNvSpPr/>
            <p:nvPr/>
          </p:nvSpPr>
          <p:spPr>
            <a:xfrm>
              <a:off x="1879" y="2774"/>
              <a:ext cx="24" cy="126"/>
            </a:xfrm>
            <a:custGeom>
              <a:avLst/>
              <a:gdLst>
                <a:gd name="txL" fmla="*/ 0 w 24"/>
                <a:gd name="txT" fmla="*/ 0 h 126"/>
                <a:gd name="txR" fmla="*/ 24 w 24"/>
                <a:gd name="txB" fmla="*/ 126 h 126"/>
              </a:gdLst>
              <a:ahLst/>
              <a:cxnLst>
                <a:cxn ang="0">
                  <a:pos x="24" y="126"/>
                </a:cxn>
                <a:cxn ang="0">
                  <a:pos x="0" y="126"/>
                </a:cxn>
                <a:cxn ang="0">
                  <a:pos x="11" y="0"/>
                </a:cxn>
                <a:cxn ang="0">
                  <a:pos x="24" y="126"/>
                </a:cxn>
              </a:cxnLst>
              <a:rect l="txL" t="txT" r="txR" b="txB"/>
              <a:pathLst>
                <a:path w="24" h="126">
                  <a:moveTo>
                    <a:pt x="24" y="126"/>
                  </a:moveTo>
                  <a:lnTo>
                    <a:pt x="0" y="126"/>
                  </a:lnTo>
                  <a:lnTo>
                    <a:pt x="11" y="0"/>
                  </a:lnTo>
                  <a:lnTo>
                    <a:pt x="24" y="126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494" name="Rectangle 21"/>
            <p:cNvSpPr/>
            <p:nvPr/>
          </p:nvSpPr>
          <p:spPr>
            <a:xfrm>
              <a:off x="1687" y="2721"/>
              <a:ext cx="92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b="1" i="1" dirty="0">
                  <a:solidFill>
                    <a:schemeClr val="tx2"/>
                  </a:solidFill>
                  <a:latin typeface="Symbol" panose="05050102010706020507" pitchFamily="18" charset="2"/>
                </a:rPr>
                <a:t>u</a:t>
              </a:r>
              <a:endParaRPr lang="en-US" altLang="zh-CN" sz="2000" b="1" dirty="0">
                <a:solidFill>
                  <a:schemeClr val="tx2"/>
                </a:solidFill>
                <a:latin typeface="Garamond" panose="02020404030301010803" pitchFamily="18" charset="0"/>
              </a:endParaRPr>
            </a:p>
          </p:txBody>
        </p:sp>
        <p:sp>
          <p:nvSpPr>
            <p:cNvPr id="19495" name="Rectangle 22"/>
            <p:cNvSpPr/>
            <p:nvPr/>
          </p:nvSpPr>
          <p:spPr>
            <a:xfrm>
              <a:off x="1686" y="3219"/>
              <a:ext cx="116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b="1" i="1" dirty="0">
                  <a:solidFill>
                    <a:schemeClr val="tx2"/>
                  </a:solidFill>
                </a:rPr>
                <a:t>O</a:t>
              </a:r>
              <a:endParaRPr lang="en-US" altLang="zh-CN" sz="2000" b="1" dirty="0">
                <a:solidFill>
                  <a:schemeClr val="tx2"/>
                </a:solidFill>
                <a:latin typeface="Garamond" panose="02020404030301010803" pitchFamily="18" charset="0"/>
              </a:endParaRPr>
            </a:p>
          </p:txBody>
        </p:sp>
        <p:sp>
          <p:nvSpPr>
            <p:cNvPr id="19496" name="Rectangle 23"/>
            <p:cNvSpPr/>
            <p:nvPr/>
          </p:nvSpPr>
          <p:spPr>
            <a:xfrm flipH="1">
              <a:off x="3980" y="3347"/>
              <a:ext cx="67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b="1" i="1" dirty="0">
                  <a:solidFill>
                    <a:schemeClr val="tx2"/>
                  </a:solidFill>
                </a:rPr>
                <a:t>t</a:t>
              </a:r>
              <a:endParaRPr lang="en-US" altLang="zh-CN" sz="2000" b="1" dirty="0">
                <a:solidFill>
                  <a:schemeClr val="tx2"/>
                </a:solidFill>
                <a:latin typeface="Garamond" panose="02020404030301010803" pitchFamily="18" charset="0"/>
              </a:endParaRPr>
            </a:p>
          </p:txBody>
        </p:sp>
      </p:grpSp>
      <p:grpSp>
        <p:nvGrpSpPr>
          <p:cNvPr id="3" name="Group 24"/>
          <p:cNvGrpSpPr/>
          <p:nvPr/>
        </p:nvGrpSpPr>
        <p:grpSpPr>
          <a:xfrm>
            <a:off x="2097088" y="2919413"/>
            <a:ext cx="4371975" cy="1592262"/>
            <a:chOff x="1321" y="1771"/>
            <a:chExt cx="2754" cy="1003"/>
          </a:xfrm>
        </p:grpSpPr>
        <p:sp>
          <p:nvSpPr>
            <p:cNvPr id="19464" name="Rectangle 25"/>
            <p:cNvSpPr/>
            <p:nvPr/>
          </p:nvSpPr>
          <p:spPr>
            <a:xfrm>
              <a:off x="1321" y="2234"/>
              <a:ext cx="34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700" dirty="0">
                  <a:solidFill>
                    <a:srgbClr val="000000"/>
                  </a:solidFill>
                </a:rPr>
                <a:t> </a:t>
              </a:r>
              <a:endParaRPr lang="en-US" altLang="zh-CN" sz="2400" dirty="0">
                <a:solidFill>
                  <a:schemeClr val="tx2"/>
                </a:solidFill>
                <a:latin typeface="Garamond" panose="02020404030301010803" pitchFamily="18" charset="0"/>
              </a:endParaRPr>
            </a:p>
          </p:txBody>
        </p:sp>
        <p:sp>
          <p:nvSpPr>
            <p:cNvPr id="19465" name="Line 26"/>
            <p:cNvSpPr/>
            <p:nvPr/>
          </p:nvSpPr>
          <p:spPr>
            <a:xfrm>
              <a:off x="1881" y="2474"/>
              <a:ext cx="1951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66" name="Freeform 27"/>
            <p:cNvSpPr/>
            <p:nvPr/>
          </p:nvSpPr>
          <p:spPr>
            <a:xfrm>
              <a:off x="1881" y="2167"/>
              <a:ext cx="409" cy="287"/>
            </a:xfrm>
            <a:custGeom>
              <a:avLst/>
              <a:gdLst>
                <a:gd name="txL" fmla="*/ 0 w 409"/>
                <a:gd name="txT" fmla="*/ 0 h 287"/>
                <a:gd name="txR" fmla="*/ 409 w 409"/>
                <a:gd name="txB" fmla="*/ 287 h 287"/>
              </a:gdLst>
              <a:ahLst/>
              <a:cxnLst>
                <a:cxn ang="0">
                  <a:pos x="0" y="287"/>
                </a:cxn>
                <a:cxn ang="0">
                  <a:pos x="26" y="234"/>
                </a:cxn>
                <a:cxn ang="0">
                  <a:pos x="51" y="182"/>
                </a:cxn>
                <a:cxn ang="0">
                  <a:pos x="77" y="133"/>
                </a:cxn>
                <a:cxn ang="0">
                  <a:pos x="89" y="110"/>
                </a:cxn>
                <a:cxn ang="0">
                  <a:pos x="102" y="89"/>
                </a:cxn>
                <a:cxn ang="0">
                  <a:pos x="115" y="71"/>
                </a:cxn>
                <a:cxn ang="0">
                  <a:pos x="128" y="53"/>
                </a:cxn>
                <a:cxn ang="0">
                  <a:pos x="141" y="38"/>
                </a:cxn>
                <a:cxn ang="0">
                  <a:pos x="153" y="25"/>
                </a:cxn>
                <a:cxn ang="0">
                  <a:pos x="166" y="14"/>
                </a:cxn>
                <a:cxn ang="0">
                  <a:pos x="179" y="6"/>
                </a:cxn>
                <a:cxn ang="0">
                  <a:pos x="192" y="2"/>
                </a:cxn>
                <a:cxn ang="0">
                  <a:pos x="205" y="0"/>
                </a:cxn>
                <a:cxn ang="0">
                  <a:pos x="218" y="2"/>
                </a:cxn>
                <a:cxn ang="0">
                  <a:pos x="231" y="6"/>
                </a:cxn>
                <a:cxn ang="0">
                  <a:pos x="243" y="14"/>
                </a:cxn>
                <a:cxn ang="0">
                  <a:pos x="256" y="25"/>
                </a:cxn>
                <a:cxn ang="0">
                  <a:pos x="269" y="38"/>
                </a:cxn>
                <a:cxn ang="0">
                  <a:pos x="282" y="53"/>
                </a:cxn>
                <a:cxn ang="0">
                  <a:pos x="294" y="71"/>
                </a:cxn>
                <a:cxn ang="0">
                  <a:pos x="307" y="89"/>
                </a:cxn>
                <a:cxn ang="0">
                  <a:pos x="320" y="110"/>
                </a:cxn>
                <a:cxn ang="0">
                  <a:pos x="333" y="133"/>
                </a:cxn>
                <a:cxn ang="0">
                  <a:pos x="358" y="182"/>
                </a:cxn>
                <a:cxn ang="0">
                  <a:pos x="384" y="234"/>
                </a:cxn>
                <a:cxn ang="0">
                  <a:pos x="409" y="287"/>
                </a:cxn>
              </a:cxnLst>
              <a:rect l="txL" t="txT" r="txR" b="txB"/>
              <a:pathLst>
                <a:path w="409" h="287">
                  <a:moveTo>
                    <a:pt x="0" y="287"/>
                  </a:moveTo>
                  <a:lnTo>
                    <a:pt x="26" y="234"/>
                  </a:lnTo>
                  <a:lnTo>
                    <a:pt x="51" y="182"/>
                  </a:lnTo>
                  <a:lnTo>
                    <a:pt x="77" y="133"/>
                  </a:lnTo>
                  <a:lnTo>
                    <a:pt x="89" y="110"/>
                  </a:lnTo>
                  <a:lnTo>
                    <a:pt x="102" y="89"/>
                  </a:lnTo>
                  <a:lnTo>
                    <a:pt x="115" y="71"/>
                  </a:lnTo>
                  <a:lnTo>
                    <a:pt x="128" y="53"/>
                  </a:lnTo>
                  <a:lnTo>
                    <a:pt x="141" y="38"/>
                  </a:lnTo>
                  <a:lnTo>
                    <a:pt x="153" y="25"/>
                  </a:lnTo>
                  <a:lnTo>
                    <a:pt x="166" y="14"/>
                  </a:lnTo>
                  <a:lnTo>
                    <a:pt x="179" y="6"/>
                  </a:lnTo>
                  <a:lnTo>
                    <a:pt x="192" y="2"/>
                  </a:lnTo>
                  <a:lnTo>
                    <a:pt x="205" y="0"/>
                  </a:lnTo>
                  <a:lnTo>
                    <a:pt x="218" y="2"/>
                  </a:lnTo>
                  <a:lnTo>
                    <a:pt x="231" y="6"/>
                  </a:lnTo>
                  <a:lnTo>
                    <a:pt x="243" y="14"/>
                  </a:lnTo>
                  <a:lnTo>
                    <a:pt x="256" y="25"/>
                  </a:lnTo>
                  <a:lnTo>
                    <a:pt x="269" y="38"/>
                  </a:lnTo>
                  <a:lnTo>
                    <a:pt x="282" y="53"/>
                  </a:lnTo>
                  <a:lnTo>
                    <a:pt x="294" y="71"/>
                  </a:lnTo>
                  <a:lnTo>
                    <a:pt x="307" y="89"/>
                  </a:lnTo>
                  <a:lnTo>
                    <a:pt x="320" y="110"/>
                  </a:lnTo>
                  <a:lnTo>
                    <a:pt x="333" y="133"/>
                  </a:lnTo>
                  <a:lnTo>
                    <a:pt x="358" y="182"/>
                  </a:lnTo>
                  <a:lnTo>
                    <a:pt x="384" y="234"/>
                  </a:lnTo>
                  <a:lnTo>
                    <a:pt x="409" y="287"/>
                  </a:ln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467" name="Freeform 28"/>
            <p:cNvSpPr/>
            <p:nvPr/>
          </p:nvSpPr>
          <p:spPr>
            <a:xfrm>
              <a:off x="2287" y="2466"/>
              <a:ext cx="411" cy="287"/>
            </a:xfrm>
            <a:custGeom>
              <a:avLst/>
              <a:gdLst>
                <a:gd name="txL" fmla="*/ 0 w 411"/>
                <a:gd name="txT" fmla="*/ 0 h 287"/>
                <a:gd name="txR" fmla="*/ 411 w 411"/>
                <a:gd name="txB" fmla="*/ 287 h 287"/>
              </a:gdLst>
              <a:ahLst/>
              <a:cxnLst>
                <a:cxn ang="0">
                  <a:pos x="0" y="0"/>
                </a:cxn>
                <a:cxn ang="0">
                  <a:pos x="27" y="53"/>
                </a:cxn>
                <a:cxn ang="0">
                  <a:pos x="52" y="105"/>
                </a:cxn>
                <a:cxn ang="0">
                  <a:pos x="78" y="153"/>
                </a:cxn>
                <a:cxn ang="0">
                  <a:pos x="91" y="177"/>
                </a:cxn>
                <a:cxn ang="0">
                  <a:pos x="104" y="197"/>
                </a:cxn>
                <a:cxn ang="0">
                  <a:pos x="116" y="216"/>
                </a:cxn>
                <a:cxn ang="0">
                  <a:pos x="129" y="233"/>
                </a:cxn>
                <a:cxn ang="0">
                  <a:pos x="142" y="249"/>
                </a:cxn>
                <a:cxn ang="0">
                  <a:pos x="155" y="262"/>
                </a:cxn>
                <a:cxn ang="0">
                  <a:pos x="168" y="273"/>
                </a:cxn>
                <a:cxn ang="0">
                  <a:pos x="180" y="280"/>
                </a:cxn>
                <a:cxn ang="0">
                  <a:pos x="193" y="285"/>
                </a:cxn>
                <a:cxn ang="0">
                  <a:pos x="206" y="287"/>
                </a:cxn>
                <a:cxn ang="0">
                  <a:pos x="219" y="285"/>
                </a:cxn>
                <a:cxn ang="0">
                  <a:pos x="232" y="280"/>
                </a:cxn>
                <a:cxn ang="0">
                  <a:pos x="244" y="273"/>
                </a:cxn>
                <a:cxn ang="0">
                  <a:pos x="257" y="262"/>
                </a:cxn>
                <a:cxn ang="0">
                  <a:pos x="270" y="249"/>
                </a:cxn>
                <a:cxn ang="0">
                  <a:pos x="283" y="233"/>
                </a:cxn>
                <a:cxn ang="0">
                  <a:pos x="295" y="216"/>
                </a:cxn>
                <a:cxn ang="0">
                  <a:pos x="308" y="197"/>
                </a:cxn>
                <a:cxn ang="0">
                  <a:pos x="321" y="177"/>
                </a:cxn>
                <a:cxn ang="0">
                  <a:pos x="334" y="153"/>
                </a:cxn>
                <a:cxn ang="0">
                  <a:pos x="359" y="105"/>
                </a:cxn>
                <a:cxn ang="0">
                  <a:pos x="385" y="53"/>
                </a:cxn>
                <a:cxn ang="0">
                  <a:pos x="411" y="0"/>
                </a:cxn>
              </a:cxnLst>
              <a:rect l="txL" t="txT" r="txR" b="txB"/>
              <a:pathLst>
                <a:path w="411" h="287">
                  <a:moveTo>
                    <a:pt x="0" y="0"/>
                  </a:moveTo>
                  <a:lnTo>
                    <a:pt x="27" y="53"/>
                  </a:lnTo>
                  <a:lnTo>
                    <a:pt x="52" y="105"/>
                  </a:lnTo>
                  <a:lnTo>
                    <a:pt x="78" y="153"/>
                  </a:lnTo>
                  <a:lnTo>
                    <a:pt x="91" y="177"/>
                  </a:lnTo>
                  <a:lnTo>
                    <a:pt x="104" y="197"/>
                  </a:lnTo>
                  <a:lnTo>
                    <a:pt x="116" y="216"/>
                  </a:lnTo>
                  <a:lnTo>
                    <a:pt x="129" y="233"/>
                  </a:lnTo>
                  <a:lnTo>
                    <a:pt x="142" y="249"/>
                  </a:lnTo>
                  <a:lnTo>
                    <a:pt x="155" y="262"/>
                  </a:lnTo>
                  <a:lnTo>
                    <a:pt x="168" y="273"/>
                  </a:lnTo>
                  <a:lnTo>
                    <a:pt x="180" y="280"/>
                  </a:lnTo>
                  <a:lnTo>
                    <a:pt x="193" y="285"/>
                  </a:lnTo>
                  <a:lnTo>
                    <a:pt x="206" y="287"/>
                  </a:lnTo>
                  <a:lnTo>
                    <a:pt x="219" y="285"/>
                  </a:lnTo>
                  <a:lnTo>
                    <a:pt x="232" y="280"/>
                  </a:lnTo>
                  <a:lnTo>
                    <a:pt x="244" y="273"/>
                  </a:lnTo>
                  <a:lnTo>
                    <a:pt x="257" y="262"/>
                  </a:lnTo>
                  <a:lnTo>
                    <a:pt x="270" y="249"/>
                  </a:lnTo>
                  <a:lnTo>
                    <a:pt x="283" y="233"/>
                  </a:lnTo>
                  <a:lnTo>
                    <a:pt x="295" y="216"/>
                  </a:lnTo>
                  <a:lnTo>
                    <a:pt x="308" y="197"/>
                  </a:lnTo>
                  <a:lnTo>
                    <a:pt x="321" y="177"/>
                  </a:lnTo>
                  <a:lnTo>
                    <a:pt x="334" y="153"/>
                  </a:lnTo>
                  <a:lnTo>
                    <a:pt x="359" y="105"/>
                  </a:lnTo>
                  <a:lnTo>
                    <a:pt x="385" y="53"/>
                  </a:lnTo>
                  <a:lnTo>
                    <a:pt x="411" y="0"/>
                  </a:ln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468" name="Freeform 29"/>
            <p:cNvSpPr/>
            <p:nvPr/>
          </p:nvSpPr>
          <p:spPr>
            <a:xfrm>
              <a:off x="2696" y="2185"/>
              <a:ext cx="409" cy="285"/>
            </a:xfrm>
            <a:custGeom>
              <a:avLst/>
              <a:gdLst>
                <a:gd name="txL" fmla="*/ 0 w 409"/>
                <a:gd name="txT" fmla="*/ 0 h 285"/>
                <a:gd name="txR" fmla="*/ 409 w 409"/>
                <a:gd name="txB" fmla="*/ 285 h 285"/>
              </a:gdLst>
              <a:ahLst/>
              <a:cxnLst>
                <a:cxn ang="0">
                  <a:pos x="0" y="285"/>
                </a:cxn>
                <a:cxn ang="0">
                  <a:pos x="26" y="232"/>
                </a:cxn>
                <a:cxn ang="0">
                  <a:pos x="51" y="180"/>
                </a:cxn>
                <a:cxn ang="0">
                  <a:pos x="77" y="132"/>
                </a:cxn>
                <a:cxn ang="0">
                  <a:pos x="89" y="110"/>
                </a:cxn>
                <a:cxn ang="0">
                  <a:pos x="102" y="89"/>
                </a:cxn>
                <a:cxn ang="0">
                  <a:pos x="115" y="71"/>
                </a:cxn>
                <a:cxn ang="0">
                  <a:pos x="128" y="53"/>
                </a:cxn>
                <a:cxn ang="0">
                  <a:pos x="140" y="38"/>
                </a:cxn>
                <a:cxn ang="0">
                  <a:pos x="153" y="25"/>
                </a:cxn>
                <a:cxn ang="0">
                  <a:pos x="166" y="14"/>
                </a:cxn>
                <a:cxn ang="0">
                  <a:pos x="179" y="6"/>
                </a:cxn>
                <a:cxn ang="0">
                  <a:pos x="191" y="2"/>
                </a:cxn>
                <a:cxn ang="0">
                  <a:pos x="204" y="0"/>
                </a:cxn>
                <a:cxn ang="0">
                  <a:pos x="217" y="2"/>
                </a:cxn>
                <a:cxn ang="0">
                  <a:pos x="230" y="6"/>
                </a:cxn>
                <a:cxn ang="0">
                  <a:pos x="242" y="14"/>
                </a:cxn>
                <a:cxn ang="0">
                  <a:pos x="255" y="25"/>
                </a:cxn>
                <a:cxn ang="0">
                  <a:pos x="268" y="38"/>
                </a:cxn>
                <a:cxn ang="0">
                  <a:pos x="281" y="53"/>
                </a:cxn>
                <a:cxn ang="0">
                  <a:pos x="294" y="71"/>
                </a:cxn>
                <a:cxn ang="0">
                  <a:pos x="307" y="89"/>
                </a:cxn>
                <a:cxn ang="0">
                  <a:pos x="319" y="110"/>
                </a:cxn>
                <a:cxn ang="0">
                  <a:pos x="332" y="132"/>
                </a:cxn>
                <a:cxn ang="0">
                  <a:pos x="358" y="180"/>
                </a:cxn>
                <a:cxn ang="0">
                  <a:pos x="383" y="232"/>
                </a:cxn>
                <a:cxn ang="0">
                  <a:pos x="409" y="285"/>
                </a:cxn>
              </a:cxnLst>
              <a:rect l="txL" t="txT" r="txR" b="txB"/>
              <a:pathLst>
                <a:path w="409" h="285">
                  <a:moveTo>
                    <a:pt x="0" y="285"/>
                  </a:moveTo>
                  <a:lnTo>
                    <a:pt x="26" y="232"/>
                  </a:lnTo>
                  <a:lnTo>
                    <a:pt x="51" y="180"/>
                  </a:lnTo>
                  <a:lnTo>
                    <a:pt x="77" y="132"/>
                  </a:lnTo>
                  <a:lnTo>
                    <a:pt x="89" y="110"/>
                  </a:lnTo>
                  <a:lnTo>
                    <a:pt x="102" y="89"/>
                  </a:lnTo>
                  <a:lnTo>
                    <a:pt x="115" y="71"/>
                  </a:lnTo>
                  <a:lnTo>
                    <a:pt x="128" y="53"/>
                  </a:lnTo>
                  <a:lnTo>
                    <a:pt x="140" y="38"/>
                  </a:lnTo>
                  <a:lnTo>
                    <a:pt x="153" y="25"/>
                  </a:lnTo>
                  <a:lnTo>
                    <a:pt x="166" y="14"/>
                  </a:lnTo>
                  <a:lnTo>
                    <a:pt x="179" y="6"/>
                  </a:lnTo>
                  <a:lnTo>
                    <a:pt x="191" y="2"/>
                  </a:lnTo>
                  <a:lnTo>
                    <a:pt x="204" y="0"/>
                  </a:lnTo>
                  <a:lnTo>
                    <a:pt x="217" y="2"/>
                  </a:lnTo>
                  <a:lnTo>
                    <a:pt x="230" y="6"/>
                  </a:lnTo>
                  <a:lnTo>
                    <a:pt x="242" y="14"/>
                  </a:lnTo>
                  <a:lnTo>
                    <a:pt x="255" y="25"/>
                  </a:lnTo>
                  <a:lnTo>
                    <a:pt x="268" y="38"/>
                  </a:lnTo>
                  <a:lnTo>
                    <a:pt x="281" y="53"/>
                  </a:lnTo>
                  <a:lnTo>
                    <a:pt x="294" y="71"/>
                  </a:lnTo>
                  <a:lnTo>
                    <a:pt x="307" y="89"/>
                  </a:lnTo>
                  <a:lnTo>
                    <a:pt x="319" y="110"/>
                  </a:lnTo>
                  <a:lnTo>
                    <a:pt x="332" y="132"/>
                  </a:lnTo>
                  <a:lnTo>
                    <a:pt x="358" y="180"/>
                  </a:lnTo>
                  <a:lnTo>
                    <a:pt x="383" y="232"/>
                  </a:lnTo>
                  <a:lnTo>
                    <a:pt x="409" y="285"/>
                  </a:ln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469" name="Freeform 30"/>
            <p:cNvSpPr/>
            <p:nvPr/>
          </p:nvSpPr>
          <p:spPr>
            <a:xfrm>
              <a:off x="3103" y="2466"/>
              <a:ext cx="410" cy="287"/>
            </a:xfrm>
            <a:custGeom>
              <a:avLst/>
              <a:gdLst>
                <a:gd name="txL" fmla="*/ 0 w 410"/>
                <a:gd name="txT" fmla="*/ 0 h 287"/>
                <a:gd name="txR" fmla="*/ 410 w 410"/>
                <a:gd name="txB" fmla="*/ 287 h 287"/>
              </a:gdLst>
              <a:ahLst/>
              <a:cxnLst>
                <a:cxn ang="0">
                  <a:pos x="0" y="0"/>
                </a:cxn>
                <a:cxn ang="0">
                  <a:pos x="26" y="53"/>
                </a:cxn>
                <a:cxn ang="0">
                  <a:pos x="51" y="105"/>
                </a:cxn>
                <a:cxn ang="0">
                  <a:pos x="77" y="153"/>
                </a:cxn>
                <a:cxn ang="0">
                  <a:pos x="89" y="177"/>
                </a:cxn>
                <a:cxn ang="0">
                  <a:pos x="102" y="197"/>
                </a:cxn>
                <a:cxn ang="0">
                  <a:pos x="115" y="216"/>
                </a:cxn>
                <a:cxn ang="0">
                  <a:pos x="128" y="233"/>
                </a:cxn>
                <a:cxn ang="0">
                  <a:pos x="141" y="249"/>
                </a:cxn>
                <a:cxn ang="0">
                  <a:pos x="153" y="262"/>
                </a:cxn>
                <a:cxn ang="0">
                  <a:pos x="166" y="273"/>
                </a:cxn>
                <a:cxn ang="0">
                  <a:pos x="179" y="280"/>
                </a:cxn>
                <a:cxn ang="0">
                  <a:pos x="192" y="285"/>
                </a:cxn>
                <a:cxn ang="0">
                  <a:pos x="205" y="287"/>
                </a:cxn>
                <a:cxn ang="0">
                  <a:pos x="218" y="285"/>
                </a:cxn>
                <a:cxn ang="0">
                  <a:pos x="231" y="280"/>
                </a:cxn>
                <a:cxn ang="0">
                  <a:pos x="243" y="273"/>
                </a:cxn>
                <a:cxn ang="0">
                  <a:pos x="256" y="262"/>
                </a:cxn>
                <a:cxn ang="0">
                  <a:pos x="270" y="249"/>
                </a:cxn>
                <a:cxn ang="0">
                  <a:pos x="283" y="233"/>
                </a:cxn>
                <a:cxn ang="0">
                  <a:pos x="295" y="216"/>
                </a:cxn>
                <a:cxn ang="0">
                  <a:pos x="308" y="197"/>
                </a:cxn>
                <a:cxn ang="0">
                  <a:pos x="321" y="177"/>
                </a:cxn>
                <a:cxn ang="0">
                  <a:pos x="334" y="153"/>
                </a:cxn>
                <a:cxn ang="0">
                  <a:pos x="359" y="105"/>
                </a:cxn>
                <a:cxn ang="0">
                  <a:pos x="385" y="53"/>
                </a:cxn>
                <a:cxn ang="0">
                  <a:pos x="410" y="0"/>
                </a:cxn>
              </a:cxnLst>
              <a:rect l="txL" t="txT" r="txR" b="txB"/>
              <a:pathLst>
                <a:path w="410" h="287">
                  <a:moveTo>
                    <a:pt x="0" y="0"/>
                  </a:moveTo>
                  <a:lnTo>
                    <a:pt x="26" y="53"/>
                  </a:lnTo>
                  <a:lnTo>
                    <a:pt x="51" y="105"/>
                  </a:lnTo>
                  <a:lnTo>
                    <a:pt x="77" y="153"/>
                  </a:lnTo>
                  <a:lnTo>
                    <a:pt x="89" y="177"/>
                  </a:lnTo>
                  <a:lnTo>
                    <a:pt x="102" y="197"/>
                  </a:lnTo>
                  <a:lnTo>
                    <a:pt x="115" y="216"/>
                  </a:lnTo>
                  <a:lnTo>
                    <a:pt x="128" y="233"/>
                  </a:lnTo>
                  <a:lnTo>
                    <a:pt x="141" y="249"/>
                  </a:lnTo>
                  <a:lnTo>
                    <a:pt x="153" y="262"/>
                  </a:lnTo>
                  <a:lnTo>
                    <a:pt x="166" y="273"/>
                  </a:lnTo>
                  <a:lnTo>
                    <a:pt x="179" y="280"/>
                  </a:lnTo>
                  <a:lnTo>
                    <a:pt x="192" y="285"/>
                  </a:lnTo>
                  <a:lnTo>
                    <a:pt x="205" y="287"/>
                  </a:lnTo>
                  <a:lnTo>
                    <a:pt x="218" y="285"/>
                  </a:lnTo>
                  <a:lnTo>
                    <a:pt x="231" y="280"/>
                  </a:lnTo>
                  <a:lnTo>
                    <a:pt x="243" y="273"/>
                  </a:lnTo>
                  <a:lnTo>
                    <a:pt x="256" y="262"/>
                  </a:lnTo>
                  <a:lnTo>
                    <a:pt x="270" y="249"/>
                  </a:lnTo>
                  <a:lnTo>
                    <a:pt x="283" y="233"/>
                  </a:lnTo>
                  <a:lnTo>
                    <a:pt x="295" y="216"/>
                  </a:lnTo>
                  <a:lnTo>
                    <a:pt x="308" y="197"/>
                  </a:lnTo>
                  <a:lnTo>
                    <a:pt x="321" y="177"/>
                  </a:lnTo>
                  <a:lnTo>
                    <a:pt x="334" y="153"/>
                  </a:lnTo>
                  <a:lnTo>
                    <a:pt x="359" y="105"/>
                  </a:lnTo>
                  <a:lnTo>
                    <a:pt x="385" y="53"/>
                  </a:lnTo>
                  <a:lnTo>
                    <a:pt x="410" y="0"/>
                  </a:ln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470" name="Freeform 31"/>
            <p:cNvSpPr/>
            <p:nvPr/>
          </p:nvSpPr>
          <p:spPr>
            <a:xfrm>
              <a:off x="3491" y="2187"/>
              <a:ext cx="250" cy="321"/>
            </a:xfrm>
            <a:custGeom>
              <a:avLst/>
              <a:gdLst>
                <a:gd name="txL" fmla="*/ 0 w 250"/>
                <a:gd name="txT" fmla="*/ 0 h 321"/>
                <a:gd name="txR" fmla="*/ 250 w 250"/>
                <a:gd name="txB" fmla="*/ 321 h 321"/>
              </a:gdLst>
              <a:ahLst/>
              <a:cxnLst>
                <a:cxn ang="0">
                  <a:pos x="0" y="321"/>
                </a:cxn>
                <a:cxn ang="0">
                  <a:pos x="48" y="238"/>
                </a:cxn>
                <a:cxn ang="0">
                  <a:pos x="71" y="197"/>
                </a:cxn>
                <a:cxn ang="0">
                  <a:pos x="93" y="160"/>
                </a:cxn>
                <a:cxn ang="0">
                  <a:pos x="115" y="125"/>
                </a:cxn>
                <a:cxn ang="0">
                  <a:pos x="135" y="94"/>
                </a:cxn>
                <a:cxn ang="0">
                  <a:pos x="153" y="66"/>
                </a:cxn>
                <a:cxn ang="0">
                  <a:pos x="170" y="44"/>
                </a:cxn>
                <a:cxn ang="0">
                  <a:pos x="184" y="26"/>
                </a:cxn>
                <a:cxn ang="0">
                  <a:pos x="197" y="15"/>
                </a:cxn>
                <a:cxn ang="0">
                  <a:pos x="208" y="8"/>
                </a:cxn>
                <a:cxn ang="0">
                  <a:pos x="218" y="3"/>
                </a:cxn>
                <a:cxn ang="0">
                  <a:pos x="227" y="0"/>
                </a:cxn>
                <a:cxn ang="0">
                  <a:pos x="235" y="0"/>
                </a:cxn>
                <a:cxn ang="0">
                  <a:pos x="250" y="3"/>
                </a:cxn>
              </a:cxnLst>
              <a:rect l="txL" t="txT" r="txR" b="txB"/>
              <a:pathLst>
                <a:path w="250" h="321">
                  <a:moveTo>
                    <a:pt x="0" y="321"/>
                  </a:moveTo>
                  <a:lnTo>
                    <a:pt x="48" y="238"/>
                  </a:lnTo>
                  <a:lnTo>
                    <a:pt x="71" y="197"/>
                  </a:lnTo>
                  <a:lnTo>
                    <a:pt x="93" y="160"/>
                  </a:lnTo>
                  <a:lnTo>
                    <a:pt x="115" y="125"/>
                  </a:lnTo>
                  <a:lnTo>
                    <a:pt x="135" y="94"/>
                  </a:lnTo>
                  <a:lnTo>
                    <a:pt x="153" y="66"/>
                  </a:lnTo>
                  <a:lnTo>
                    <a:pt x="170" y="44"/>
                  </a:lnTo>
                  <a:lnTo>
                    <a:pt x="184" y="26"/>
                  </a:lnTo>
                  <a:lnTo>
                    <a:pt x="197" y="15"/>
                  </a:lnTo>
                  <a:lnTo>
                    <a:pt x="208" y="8"/>
                  </a:lnTo>
                  <a:lnTo>
                    <a:pt x="218" y="3"/>
                  </a:lnTo>
                  <a:lnTo>
                    <a:pt x="227" y="0"/>
                  </a:lnTo>
                  <a:lnTo>
                    <a:pt x="235" y="0"/>
                  </a:lnTo>
                  <a:lnTo>
                    <a:pt x="250" y="3"/>
                  </a:ln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471" name="Freeform 32"/>
            <p:cNvSpPr/>
            <p:nvPr/>
          </p:nvSpPr>
          <p:spPr>
            <a:xfrm>
              <a:off x="3718" y="2458"/>
              <a:ext cx="72" cy="30"/>
            </a:xfrm>
            <a:custGeom>
              <a:avLst/>
              <a:gdLst>
                <a:gd name="txL" fmla="*/ 0 w 72"/>
                <a:gd name="txT" fmla="*/ 0 h 30"/>
                <a:gd name="txR" fmla="*/ 72 w 72"/>
                <a:gd name="txB" fmla="*/ 30 h 30"/>
              </a:gdLst>
              <a:ahLst/>
              <a:cxnLst>
                <a:cxn ang="0">
                  <a:pos x="0" y="30"/>
                </a:cxn>
                <a:cxn ang="0">
                  <a:pos x="0" y="0"/>
                </a:cxn>
                <a:cxn ang="0">
                  <a:pos x="72" y="14"/>
                </a:cxn>
                <a:cxn ang="0">
                  <a:pos x="0" y="30"/>
                </a:cxn>
              </a:cxnLst>
              <a:rect l="txL" t="txT" r="txR" b="txB"/>
              <a:pathLst>
                <a:path w="72" h="30">
                  <a:moveTo>
                    <a:pt x="0" y="30"/>
                  </a:moveTo>
                  <a:lnTo>
                    <a:pt x="0" y="0"/>
                  </a:lnTo>
                  <a:lnTo>
                    <a:pt x="72" y="14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472" name="Line 33"/>
            <p:cNvSpPr/>
            <p:nvPr/>
          </p:nvSpPr>
          <p:spPr>
            <a:xfrm>
              <a:off x="1850" y="1997"/>
              <a:ext cx="1" cy="77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3" name="Line 34"/>
            <p:cNvSpPr/>
            <p:nvPr/>
          </p:nvSpPr>
          <p:spPr>
            <a:xfrm flipH="1">
              <a:off x="1864" y="2472"/>
              <a:ext cx="2055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4" name="Line 35"/>
            <p:cNvSpPr/>
            <p:nvPr/>
          </p:nvSpPr>
          <p:spPr>
            <a:xfrm flipV="1">
              <a:off x="1853" y="1874"/>
              <a:ext cx="2" cy="14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5" name="Freeform 36"/>
            <p:cNvSpPr/>
            <p:nvPr/>
          </p:nvSpPr>
          <p:spPr>
            <a:xfrm>
              <a:off x="1842" y="1874"/>
              <a:ext cx="24" cy="126"/>
            </a:xfrm>
            <a:custGeom>
              <a:avLst/>
              <a:gdLst>
                <a:gd name="txL" fmla="*/ 0 w 24"/>
                <a:gd name="txT" fmla="*/ 0 h 126"/>
                <a:gd name="txR" fmla="*/ 24 w 24"/>
                <a:gd name="txB" fmla="*/ 126 h 126"/>
              </a:gdLst>
              <a:ahLst/>
              <a:cxnLst>
                <a:cxn ang="0">
                  <a:pos x="24" y="126"/>
                </a:cxn>
                <a:cxn ang="0">
                  <a:pos x="0" y="126"/>
                </a:cxn>
                <a:cxn ang="0">
                  <a:pos x="11" y="0"/>
                </a:cxn>
                <a:cxn ang="0">
                  <a:pos x="24" y="126"/>
                </a:cxn>
              </a:cxnLst>
              <a:rect l="txL" t="txT" r="txR" b="txB"/>
              <a:pathLst>
                <a:path w="24" h="126">
                  <a:moveTo>
                    <a:pt x="24" y="126"/>
                  </a:moveTo>
                  <a:lnTo>
                    <a:pt x="0" y="126"/>
                  </a:lnTo>
                  <a:lnTo>
                    <a:pt x="11" y="0"/>
                  </a:lnTo>
                  <a:lnTo>
                    <a:pt x="24" y="12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476" name="Freeform 37"/>
            <p:cNvSpPr/>
            <p:nvPr/>
          </p:nvSpPr>
          <p:spPr>
            <a:xfrm>
              <a:off x="1842" y="1874"/>
              <a:ext cx="24" cy="126"/>
            </a:xfrm>
            <a:custGeom>
              <a:avLst/>
              <a:gdLst>
                <a:gd name="txL" fmla="*/ 0 w 24"/>
                <a:gd name="txT" fmla="*/ 0 h 126"/>
                <a:gd name="txR" fmla="*/ 24 w 24"/>
                <a:gd name="txB" fmla="*/ 126 h 126"/>
              </a:gdLst>
              <a:ahLst/>
              <a:cxnLst>
                <a:cxn ang="0">
                  <a:pos x="24" y="126"/>
                </a:cxn>
                <a:cxn ang="0">
                  <a:pos x="0" y="126"/>
                </a:cxn>
                <a:cxn ang="0">
                  <a:pos x="11" y="0"/>
                </a:cxn>
                <a:cxn ang="0">
                  <a:pos x="24" y="126"/>
                </a:cxn>
              </a:cxnLst>
              <a:rect l="txL" t="txT" r="txR" b="txB"/>
              <a:pathLst>
                <a:path w="24" h="126">
                  <a:moveTo>
                    <a:pt x="24" y="126"/>
                  </a:moveTo>
                  <a:lnTo>
                    <a:pt x="0" y="126"/>
                  </a:lnTo>
                  <a:lnTo>
                    <a:pt x="11" y="0"/>
                  </a:lnTo>
                  <a:lnTo>
                    <a:pt x="24" y="126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477" name="Rectangle 38"/>
            <p:cNvSpPr/>
            <p:nvPr/>
          </p:nvSpPr>
          <p:spPr>
            <a:xfrm>
              <a:off x="1649" y="2319"/>
              <a:ext cx="116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b="1" i="1" dirty="0">
                  <a:solidFill>
                    <a:schemeClr val="tx2"/>
                  </a:solidFill>
                </a:rPr>
                <a:t>O</a:t>
              </a:r>
              <a:endParaRPr lang="en-US" altLang="zh-CN" sz="2000" b="1" dirty="0">
                <a:solidFill>
                  <a:schemeClr val="tx2"/>
                </a:solidFill>
                <a:latin typeface="Garamond" panose="02020404030301010803" pitchFamily="18" charset="0"/>
              </a:endParaRPr>
            </a:p>
          </p:txBody>
        </p:sp>
        <p:sp>
          <p:nvSpPr>
            <p:cNvPr id="19478" name="Rectangle 39"/>
            <p:cNvSpPr/>
            <p:nvPr/>
          </p:nvSpPr>
          <p:spPr>
            <a:xfrm flipH="1">
              <a:off x="4008" y="2365"/>
              <a:ext cx="67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b="1" i="1" dirty="0">
                  <a:solidFill>
                    <a:schemeClr val="tx2"/>
                  </a:solidFill>
                </a:rPr>
                <a:t>t</a:t>
              </a:r>
              <a:endParaRPr lang="en-US" altLang="zh-CN" sz="2000" b="1" dirty="0">
                <a:solidFill>
                  <a:schemeClr val="tx2"/>
                </a:solidFill>
                <a:latin typeface="Garamond" panose="02020404030301010803" pitchFamily="18" charset="0"/>
              </a:endParaRPr>
            </a:p>
          </p:txBody>
        </p:sp>
        <p:sp>
          <p:nvSpPr>
            <p:cNvPr id="19479" name="Rectangle 40"/>
            <p:cNvSpPr/>
            <p:nvPr/>
          </p:nvSpPr>
          <p:spPr>
            <a:xfrm>
              <a:off x="1653" y="1771"/>
              <a:ext cx="92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b="1" i="1" dirty="0">
                  <a:solidFill>
                    <a:schemeClr val="tx2"/>
                  </a:solidFill>
                  <a:latin typeface="Symbol" panose="05050102010706020507" pitchFamily="18" charset="2"/>
                </a:rPr>
                <a:t>u</a:t>
              </a:r>
              <a:endParaRPr lang="en-US" altLang="zh-CN" sz="2000" b="1" dirty="0">
                <a:solidFill>
                  <a:schemeClr val="tx2"/>
                </a:solidFill>
                <a:latin typeface="Garamond" panose="02020404030301010803" pitchFamily="18" charset="0"/>
              </a:endParaRPr>
            </a:p>
          </p:txBody>
        </p:sp>
      </p:grpSp>
      <p:sp>
        <p:nvSpPr>
          <p:cNvPr id="399401" name="Rectangle 41"/>
          <p:cNvSpPr>
            <a:spLocks noChangeArrowheads="1"/>
          </p:cNvSpPr>
          <p:nvPr/>
        </p:nvSpPr>
        <p:spPr bwMode="auto">
          <a:xfrm>
            <a:off x="539750" y="1319213"/>
            <a:ext cx="59055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1.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模拟信号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9463" name="Rectangle 42"/>
          <p:cNvSpPr/>
          <p:nvPr/>
        </p:nvSpPr>
        <p:spPr>
          <a:xfrm>
            <a:off x="623888" y="549275"/>
            <a:ext cx="4410075" cy="523875"/>
          </a:xfrm>
          <a:prstGeom prst="rect">
            <a:avLst/>
          </a:prstGeom>
          <a:noFill/>
          <a:ln w="889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  <a:ea typeface="楷体_GB2312" pitchFamily="49" charset="-122"/>
              </a:rPr>
              <a:t>A.1.3</a:t>
            </a: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模拟信号与数字信号</a:t>
            </a:r>
            <a:endParaRPr lang="zh-CN" altLang="en-US" sz="28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99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4" grpId="0" animBg="1"/>
      <p:bldP spid="39936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4"/>
          <p:cNvGrpSpPr/>
          <p:nvPr/>
        </p:nvGrpSpPr>
        <p:grpSpPr>
          <a:xfrm>
            <a:off x="1403350" y="2041525"/>
            <a:ext cx="6627813" cy="2971800"/>
            <a:chOff x="928" y="1130"/>
            <a:chExt cx="3648" cy="1872"/>
          </a:xfrm>
        </p:grpSpPr>
        <p:sp>
          <p:nvSpPr>
            <p:cNvPr id="20523" name="Text Box 5"/>
            <p:cNvSpPr txBox="1"/>
            <p:nvPr/>
          </p:nvSpPr>
          <p:spPr>
            <a:xfrm>
              <a:off x="2176" y="2762"/>
              <a:ext cx="1056" cy="219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CC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90000"/>
                </a:lnSpc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rPr>
                <a:t>数字信号波形</a:t>
              </a:r>
              <a:endParaRPr lang="zh-CN" altLang="en-US" sz="2400" b="1" baseline="-250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0524" name="Rectangle 6"/>
            <p:cNvSpPr/>
            <p:nvPr/>
          </p:nvSpPr>
          <p:spPr>
            <a:xfrm>
              <a:off x="928" y="1130"/>
              <a:ext cx="3648" cy="1872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CC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</p:grpSp>
      <p:sp>
        <p:nvSpPr>
          <p:cNvPr id="400391" name="Text Box 7"/>
          <p:cNvSpPr txBox="1"/>
          <p:nvPr/>
        </p:nvSpPr>
        <p:spPr>
          <a:xfrm>
            <a:off x="971550" y="549275"/>
            <a:ext cx="7777163" cy="11509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、数字信号</a:t>
            </a:r>
            <a:endParaRPr lang="zh-CN" altLang="en-US" sz="2400" b="1" dirty="0">
              <a:solidFill>
                <a:srgbClr val="CC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ctr">
              <a:lnSpc>
                <a:spcPct val="12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            </a:t>
            </a: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---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在时间上和数值上均是离散的信号。</a:t>
            </a:r>
            <a:endParaRPr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" name="Group 8"/>
          <p:cNvGrpSpPr/>
          <p:nvPr/>
        </p:nvGrpSpPr>
        <p:grpSpPr>
          <a:xfrm>
            <a:off x="2089150" y="2767013"/>
            <a:ext cx="4922838" cy="523875"/>
            <a:chOff x="1360" y="2046"/>
            <a:chExt cx="3101" cy="330"/>
          </a:xfrm>
        </p:grpSpPr>
        <p:sp>
          <p:nvSpPr>
            <p:cNvPr id="20512" name="Line 9"/>
            <p:cNvSpPr/>
            <p:nvPr/>
          </p:nvSpPr>
          <p:spPr>
            <a:xfrm>
              <a:off x="1360" y="2046"/>
              <a:ext cx="62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lg"/>
            </a:ln>
          </p:spPr>
        </p:sp>
        <p:sp>
          <p:nvSpPr>
            <p:cNvPr id="20513" name="Line 10"/>
            <p:cNvSpPr/>
            <p:nvPr/>
          </p:nvSpPr>
          <p:spPr>
            <a:xfrm>
              <a:off x="1980" y="2046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14" name="Line 11"/>
            <p:cNvSpPr/>
            <p:nvPr/>
          </p:nvSpPr>
          <p:spPr>
            <a:xfrm>
              <a:off x="1980" y="2376"/>
              <a:ext cx="31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15" name="Line 12"/>
            <p:cNvSpPr/>
            <p:nvPr/>
          </p:nvSpPr>
          <p:spPr>
            <a:xfrm>
              <a:off x="2291" y="2046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16" name="Line 13"/>
            <p:cNvSpPr/>
            <p:nvPr/>
          </p:nvSpPr>
          <p:spPr>
            <a:xfrm>
              <a:off x="2291" y="2046"/>
              <a:ext cx="93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lg"/>
            </a:ln>
          </p:spPr>
        </p:sp>
        <p:sp>
          <p:nvSpPr>
            <p:cNvPr id="20517" name="Line 14"/>
            <p:cNvSpPr/>
            <p:nvPr/>
          </p:nvSpPr>
          <p:spPr>
            <a:xfrm>
              <a:off x="3221" y="2046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18" name="Line 15"/>
            <p:cNvSpPr/>
            <p:nvPr/>
          </p:nvSpPr>
          <p:spPr>
            <a:xfrm>
              <a:off x="3221" y="2376"/>
              <a:ext cx="62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19" name="Line 16"/>
            <p:cNvSpPr/>
            <p:nvPr/>
          </p:nvSpPr>
          <p:spPr>
            <a:xfrm>
              <a:off x="3841" y="2046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20" name="Line 17"/>
            <p:cNvSpPr/>
            <p:nvPr/>
          </p:nvSpPr>
          <p:spPr>
            <a:xfrm>
              <a:off x="3841" y="2046"/>
              <a:ext cx="31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lg"/>
            </a:ln>
          </p:spPr>
        </p:sp>
        <p:sp>
          <p:nvSpPr>
            <p:cNvPr id="20521" name="Line 18"/>
            <p:cNvSpPr/>
            <p:nvPr/>
          </p:nvSpPr>
          <p:spPr>
            <a:xfrm>
              <a:off x="4151" y="2046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22" name="Line 19"/>
            <p:cNvSpPr/>
            <p:nvPr/>
          </p:nvSpPr>
          <p:spPr>
            <a:xfrm>
              <a:off x="4151" y="2376"/>
              <a:ext cx="31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20"/>
          <p:cNvGrpSpPr/>
          <p:nvPr/>
        </p:nvGrpSpPr>
        <p:grpSpPr>
          <a:xfrm>
            <a:off x="1925638" y="3727450"/>
            <a:ext cx="5086350" cy="523875"/>
            <a:chOff x="1257" y="2651"/>
            <a:chExt cx="3204" cy="330"/>
          </a:xfrm>
        </p:grpSpPr>
        <p:sp>
          <p:nvSpPr>
            <p:cNvPr id="20487" name="Line 21"/>
            <p:cNvSpPr/>
            <p:nvPr/>
          </p:nvSpPr>
          <p:spPr>
            <a:xfrm>
              <a:off x="1257" y="2981"/>
              <a:ext cx="20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88" name="Line 22"/>
            <p:cNvSpPr/>
            <p:nvPr/>
          </p:nvSpPr>
          <p:spPr>
            <a:xfrm>
              <a:off x="1464" y="2651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89" name="Line 23"/>
            <p:cNvSpPr/>
            <p:nvPr/>
          </p:nvSpPr>
          <p:spPr>
            <a:xfrm>
              <a:off x="1464" y="2651"/>
              <a:ext cx="10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0" name="Line 24"/>
            <p:cNvSpPr/>
            <p:nvPr/>
          </p:nvSpPr>
          <p:spPr>
            <a:xfrm>
              <a:off x="1567" y="2651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1" name="Line 25"/>
            <p:cNvSpPr/>
            <p:nvPr/>
          </p:nvSpPr>
          <p:spPr>
            <a:xfrm>
              <a:off x="1567" y="2981"/>
              <a:ext cx="20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2" name="Line 26"/>
            <p:cNvSpPr/>
            <p:nvPr/>
          </p:nvSpPr>
          <p:spPr>
            <a:xfrm>
              <a:off x="1774" y="2651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3" name="Line 27"/>
            <p:cNvSpPr/>
            <p:nvPr/>
          </p:nvSpPr>
          <p:spPr>
            <a:xfrm>
              <a:off x="1774" y="2651"/>
              <a:ext cx="10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4" name="Line 28"/>
            <p:cNvSpPr/>
            <p:nvPr/>
          </p:nvSpPr>
          <p:spPr>
            <a:xfrm>
              <a:off x="1877" y="2651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5" name="Line 29"/>
            <p:cNvSpPr/>
            <p:nvPr/>
          </p:nvSpPr>
          <p:spPr>
            <a:xfrm>
              <a:off x="1877" y="2981"/>
              <a:ext cx="51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6" name="Line 30"/>
            <p:cNvSpPr/>
            <p:nvPr/>
          </p:nvSpPr>
          <p:spPr>
            <a:xfrm>
              <a:off x="2394" y="2651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7" name="Line 31"/>
            <p:cNvSpPr/>
            <p:nvPr/>
          </p:nvSpPr>
          <p:spPr>
            <a:xfrm>
              <a:off x="2394" y="2651"/>
              <a:ext cx="10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8" name="Line 32"/>
            <p:cNvSpPr/>
            <p:nvPr/>
          </p:nvSpPr>
          <p:spPr>
            <a:xfrm>
              <a:off x="2497" y="2651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9" name="Line 33"/>
            <p:cNvSpPr/>
            <p:nvPr/>
          </p:nvSpPr>
          <p:spPr>
            <a:xfrm>
              <a:off x="2497" y="2981"/>
              <a:ext cx="20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0" name="Line 34"/>
            <p:cNvSpPr/>
            <p:nvPr/>
          </p:nvSpPr>
          <p:spPr>
            <a:xfrm>
              <a:off x="2704" y="2651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1" name="Line 35"/>
            <p:cNvSpPr/>
            <p:nvPr/>
          </p:nvSpPr>
          <p:spPr>
            <a:xfrm>
              <a:off x="2704" y="2651"/>
              <a:ext cx="10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2" name="Line 36"/>
            <p:cNvSpPr/>
            <p:nvPr/>
          </p:nvSpPr>
          <p:spPr>
            <a:xfrm>
              <a:off x="2807" y="2651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3" name="Line 37"/>
            <p:cNvSpPr/>
            <p:nvPr/>
          </p:nvSpPr>
          <p:spPr>
            <a:xfrm>
              <a:off x="2807" y="2981"/>
              <a:ext cx="20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4" name="Line 38"/>
            <p:cNvSpPr/>
            <p:nvPr/>
          </p:nvSpPr>
          <p:spPr>
            <a:xfrm>
              <a:off x="3014" y="2651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5" name="Line 39"/>
            <p:cNvSpPr/>
            <p:nvPr/>
          </p:nvSpPr>
          <p:spPr>
            <a:xfrm>
              <a:off x="3014" y="2651"/>
              <a:ext cx="10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6" name="Line 40"/>
            <p:cNvSpPr/>
            <p:nvPr/>
          </p:nvSpPr>
          <p:spPr>
            <a:xfrm>
              <a:off x="3117" y="2651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7" name="Line 41"/>
            <p:cNvSpPr/>
            <p:nvPr/>
          </p:nvSpPr>
          <p:spPr>
            <a:xfrm>
              <a:off x="3117" y="2981"/>
              <a:ext cx="82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8" name="Line 42"/>
            <p:cNvSpPr/>
            <p:nvPr/>
          </p:nvSpPr>
          <p:spPr>
            <a:xfrm>
              <a:off x="3944" y="2651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9" name="Line 43"/>
            <p:cNvSpPr/>
            <p:nvPr/>
          </p:nvSpPr>
          <p:spPr>
            <a:xfrm>
              <a:off x="3944" y="2651"/>
              <a:ext cx="10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10" name="Line 44"/>
            <p:cNvSpPr/>
            <p:nvPr/>
          </p:nvSpPr>
          <p:spPr>
            <a:xfrm>
              <a:off x="4048" y="2651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11" name="Line 45"/>
            <p:cNvSpPr/>
            <p:nvPr/>
          </p:nvSpPr>
          <p:spPr>
            <a:xfrm>
              <a:off x="4048" y="2981"/>
              <a:ext cx="41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00430" name="Rectangle 46"/>
          <p:cNvSpPr>
            <a:spLocks noChangeArrowheads="1"/>
          </p:cNvSpPr>
          <p:nvPr/>
        </p:nvSpPr>
        <p:spPr bwMode="auto">
          <a:xfrm>
            <a:off x="1260475" y="5268913"/>
            <a:ext cx="7337425" cy="8953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数字电路和模拟电路：工作信号，研究的对象不同，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分析、设计方法以及所用的数学工具也相应不同</a:t>
            </a: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400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00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91" grpId="0"/>
      <p:bldP spid="4004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4"/>
          <p:cNvSpPr/>
          <p:nvPr/>
        </p:nvSpPr>
        <p:spPr>
          <a:xfrm>
            <a:off x="684213" y="317500"/>
            <a:ext cx="3402012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、模拟信号的数字表示</a:t>
            </a:r>
            <a:endParaRPr lang="zh-CN" altLang="en-US" sz="2400" b="1" dirty="0">
              <a:solidFill>
                <a:srgbClr val="CC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97317" name="Rectangle 5"/>
          <p:cNvSpPr/>
          <p:nvPr/>
        </p:nvSpPr>
        <p:spPr>
          <a:xfrm>
            <a:off x="276225" y="839788"/>
            <a:ext cx="8748713" cy="822325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由于数字信号便于存储、分析和传输，通常都将模拟信号转换为数字信号</a:t>
            </a: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400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-146050" y="2433638"/>
            <a:ext cx="4422775" cy="2936875"/>
            <a:chOff x="196" y="829"/>
            <a:chExt cx="2884" cy="1514"/>
          </a:xfrm>
        </p:grpSpPr>
        <p:grpSp>
          <p:nvGrpSpPr>
            <p:cNvPr id="21510" name="Group 7"/>
            <p:cNvGrpSpPr/>
            <p:nvPr/>
          </p:nvGrpSpPr>
          <p:grpSpPr>
            <a:xfrm>
              <a:off x="389" y="1341"/>
              <a:ext cx="2691" cy="1002"/>
              <a:chOff x="630" y="792"/>
              <a:chExt cx="4494" cy="1745"/>
            </a:xfrm>
          </p:grpSpPr>
          <p:sp>
            <p:nvSpPr>
              <p:cNvPr id="21512" name="Rectangle 8"/>
              <p:cNvSpPr/>
              <p:nvPr/>
            </p:nvSpPr>
            <p:spPr>
              <a:xfrm>
                <a:off x="630" y="840"/>
                <a:ext cx="138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000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endParaRPr lang="en-US" altLang="zh-CN" sz="2000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1513" name="Rectangle 9"/>
              <p:cNvSpPr/>
              <p:nvPr/>
            </p:nvSpPr>
            <p:spPr>
              <a:xfrm>
                <a:off x="3565" y="1730"/>
                <a:ext cx="248" cy="2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1514" name="Rectangle 10"/>
              <p:cNvSpPr/>
              <p:nvPr/>
            </p:nvSpPr>
            <p:spPr>
              <a:xfrm>
                <a:off x="3652" y="1764"/>
                <a:ext cx="139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000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0</a:t>
                </a:r>
                <a:endParaRPr lang="en-US" altLang="zh-CN" sz="2000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1515" name="Rectangle 11"/>
              <p:cNvSpPr/>
              <p:nvPr/>
            </p:nvSpPr>
            <p:spPr>
              <a:xfrm>
                <a:off x="3718" y="1739"/>
                <a:ext cx="140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endParaRPr lang="en-US" altLang="zh-CN" sz="2000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1516" name="Rectangle 12"/>
              <p:cNvSpPr/>
              <p:nvPr/>
            </p:nvSpPr>
            <p:spPr>
              <a:xfrm>
                <a:off x="3356" y="1730"/>
                <a:ext cx="248" cy="2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1517" name="Rectangle 13"/>
              <p:cNvSpPr/>
              <p:nvPr/>
            </p:nvSpPr>
            <p:spPr>
              <a:xfrm>
                <a:off x="3443" y="1764"/>
                <a:ext cx="138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000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0</a:t>
                </a:r>
                <a:endParaRPr lang="en-US" altLang="zh-CN" sz="2000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1518" name="Rectangle 14"/>
              <p:cNvSpPr/>
              <p:nvPr/>
            </p:nvSpPr>
            <p:spPr>
              <a:xfrm>
                <a:off x="3509" y="1739"/>
                <a:ext cx="140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endParaRPr lang="en-US" altLang="zh-CN" sz="2000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1519" name="Rectangle 15"/>
              <p:cNvSpPr/>
              <p:nvPr/>
            </p:nvSpPr>
            <p:spPr>
              <a:xfrm>
                <a:off x="754" y="940"/>
                <a:ext cx="987" cy="3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1520" name="Rectangle 16"/>
              <p:cNvSpPr/>
              <p:nvPr/>
            </p:nvSpPr>
            <p:spPr>
              <a:xfrm>
                <a:off x="752" y="1022"/>
                <a:ext cx="1114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zh-CN" altLang="en-US" sz="20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模拟信号</a:t>
                </a:r>
                <a:endParaRPr lang="zh-CN" altLang="en-US" sz="2000" b="1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1521" name="Rectangle 17"/>
              <p:cNvSpPr/>
              <p:nvPr/>
            </p:nvSpPr>
            <p:spPr>
              <a:xfrm>
                <a:off x="1584" y="1014"/>
                <a:ext cx="139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000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endParaRPr lang="en-US" altLang="zh-CN" sz="2000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1522" name="Rectangle 18"/>
              <p:cNvSpPr/>
              <p:nvPr/>
            </p:nvSpPr>
            <p:spPr>
              <a:xfrm>
                <a:off x="656" y="792"/>
                <a:ext cx="1168" cy="625"/>
              </a:xfrm>
              <a:prstGeom prst="rect">
                <a:avLst/>
              </a:prstGeom>
              <a:noFill/>
              <a:ln w="36513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1523" name="Rectangle 19"/>
              <p:cNvSpPr/>
              <p:nvPr/>
            </p:nvSpPr>
            <p:spPr>
              <a:xfrm>
                <a:off x="3534" y="940"/>
                <a:ext cx="1391" cy="3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1524" name="Rectangle 20"/>
              <p:cNvSpPr/>
              <p:nvPr/>
            </p:nvSpPr>
            <p:spPr>
              <a:xfrm>
                <a:off x="3597" y="1022"/>
                <a:ext cx="1392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zh-CN" altLang="en-US" sz="20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模数转换器</a:t>
                </a:r>
                <a:endParaRPr lang="zh-CN" altLang="en-US" sz="2000" b="1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1525" name="Rectangle 21"/>
              <p:cNvSpPr/>
              <p:nvPr/>
            </p:nvSpPr>
            <p:spPr>
              <a:xfrm>
                <a:off x="4650" y="1014"/>
                <a:ext cx="139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000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endParaRPr lang="en-US" altLang="zh-CN" sz="2000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1526" name="Rectangle 22"/>
              <p:cNvSpPr/>
              <p:nvPr/>
            </p:nvSpPr>
            <p:spPr>
              <a:xfrm>
                <a:off x="3396" y="792"/>
                <a:ext cx="1640" cy="625"/>
              </a:xfrm>
              <a:prstGeom prst="rect">
                <a:avLst/>
              </a:prstGeom>
              <a:noFill/>
              <a:ln w="36513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1527" name="Line 23"/>
              <p:cNvSpPr/>
              <p:nvPr/>
            </p:nvSpPr>
            <p:spPr>
              <a:xfrm>
                <a:off x="1808" y="1107"/>
                <a:ext cx="1341" cy="2"/>
              </a:xfrm>
              <a:prstGeom prst="line">
                <a:avLst/>
              </a:prstGeom>
              <a:ln w="17463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28" name="Rectangle 24"/>
              <p:cNvSpPr/>
              <p:nvPr/>
            </p:nvSpPr>
            <p:spPr>
              <a:xfrm>
                <a:off x="2272" y="835"/>
                <a:ext cx="562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1529" name="Rectangle 25"/>
              <p:cNvSpPr/>
              <p:nvPr/>
            </p:nvSpPr>
            <p:spPr>
              <a:xfrm>
                <a:off x="2464" y="865"/>
                <a:ext cx="140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3</a:t>
                </a:r>
                <a:endParaRPr lang="en-US" altLang="zh-CN" sz="2000" b="1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1530" name="Rectangle 26"/>
              <p:cNvSpPr/>
              <p:nvPr/>
            </p:nvSpPr>
            <p:spPr>
              <a:xfrm>
                <a:off x="2340" y="865"/>
                <a:ext cx="560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   V</a:t>
                </a:r>
                <a:endParaRPr lang="en-US" altLang="zh-CN" sz="2000" b="1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1531" name="Rectangle 27"/>
              <p:cNvSpPr/>
              <p:nvPr/>
            </p:nvSpPr>
            <p:spPr>
              <a:xfrm>
                <a:off x="2632" y="840"/>
                <a:ext cx="140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endParaRPr lang="en-US" altLang="zh-CN" sz="2000" b="1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1532" name="Rectangle 28"/>
              <p:cNvSpPr/>
              <p:nvPr/>
            </p:nvSpPr>
            <p:spPr>
              <a:xfrm>
                <a:off x="3746" y="2220"/>
                <a:ext cx="1007" cy="28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1533" name="Rectangle 29"/>
              <p:cNvSpPr/>
              <p:nvPr/>
            </p:nvSpPr>
            <p:spPr>
              <a:xfrm>
                <a:off x="3737" y="2263"/>
                <a:ext cx="1114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zh-CN" altLang="en-US" sz="20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数字输出</a:t>
                </a:r>
                <a:endParaRPr lang="zh-CN" altLang="en-US" sz="2000" b="1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1534" name="Rectangle 30"/>
              <p:cNvSpPr/>
              <p:nvPr/>
            </p:nvSpPr>
            <p:spPr>
              <a:xfrm>
                <a:off x="4533" y="2235"/>
                <a:ext cx="138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000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endParaRPr lang="en-US" altLang="zh-CN" sz="2000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1535" name="Line 31"/>
              <p:cNvSpPr/>
              <p:nvPr/>
            </p:nvSpPr>
            <p:spPr>
              <a:xfrm>
                <a:off x="4108" y="1406"/>
                <a:ext cx="1" cy="345"/>
              </a:xfrm>
              <a:prstGeom prst="line">
                <a:avLst/>
              </a:prstGeom>
              <a:ln w="17463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36" name="Line 32"/>
              <p:cNvSpPr/>
              <p:nvPr/>
            </p:nvSpPr>
            <p:spPr>
              <a:xfrm>
                <a:off x="4316" y="1406"/>
                <a:ext cx="1" cy="345"/>
              </a:xfrm>
              <a:prstGeom prst="line">
                <a:avLst/>
              </a:prstGeom>
              <a:ln w="17463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37" name="Line 33"/>
              <p:cNvSpPr/>
              <p:nvPr/>
            </p:nvSpPr>
            <p:spPr>
              <a:xfrm>
                <a:off x="4524" y="1406"/>
                <a:ext cx="1" cy="345"/>
              </a:xfrm>
              <a:prstGeom prst="line">
                <a:avLst/>
              </a:prstGeom>
              <a:ln w="17463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38" name="Line 34"/>
              <p:cNvSpPr/>
              <p:nvPr/>
            </p:nvSpPr>
            <p:spPr>
              <a:xfrm>
                <a:off x="4733" y="1406"/>
                <a:ext cx="1" cy="345"/>
              </a:xfrm>
              <a:prstGeom prst="line">
                <a:avLst/>
              </a:prstGeom>
              <a:ln w="17463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39" name="Line 35"/>
              <p:cNvSpPr/>
              <p:nvPr/>
            </p:nvSpPr>
            <p:spPr>
              <a:xfrm>
                <a:off x="4941" y="1406"/>
                <a:ext cx="4" cy="345"/>
              </a:xfrm>
              <a:prstGeom prst="line">
                <a:avLst/>
              </a:prstGeom>
              <a:ln w="17463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40" name="Line 36"/>
              <p:cNvSpPr/>
              <p:nvPr/>
            </p:nvSpPr>
            <p:spPr>
              <a:xfrm>
                <a:off x="3478" y="1406"/>
                <a:ext cx="4" cy="345"/>
              </a:xfrm>
              <a:prstGeom prst="line">
                <a:avLst/>
              </a:prstGeom>
              <a:ln w="17463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41" name="Line 37"/>
              <p:cNvSpPr/>
              <p:nvPr/>
            </p:nvSpPr>
            <p:spPr>
              <a:xfrm>
                <a:off x="3691" y="1406"/>
                <a:ext cx="1" cy="345"/>
              </a:xfrm>
              <a:prstGeom prst="line">
                <a:avLst/>
              </a:prstGeom>
              <a:ln w="17463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42" name="Line 38"/>
              <p:cNvSpPr/>
              <p:nvPr/>
            </p:nvSpPr>
            <p:spPr>
              <a:xfrm>
                <a:off x="3899" y="1406"/>
                <a:ext cx="1" cy="345"/>
              </a:xfrm>
              <a:prstGeom prst="line">
                <a:avLst/>
              </a:prstGeom>
              <a:ln w="17463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43" name="Rectangle 39"/>
              <p:cNvSpPr/>
              <p:nvPr/>
            </p:nvSpPr>
            <p:spPr>
              <a:xfrm>
                <a:off x="3986" y="1730"/>
                <a:ext cx="244" cy="2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1544" name="Rectangle 40"/>
              <p:cNvSpPr/>
              <p:nvPr/>
            </p:nvSpPr>
            <p:spPr>
              <a:xfrm>
                <a:off x="4074" y="1764"/>
                <a:ext cx="139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000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0</a:t>
                </a:r>
                <a:endParaRPr lang="en-US" altLang="zh-CN" sz="2000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1545" name="Rectangle 41"/>
              <p:cNvSpPr/>
              <p:nvPr/>
            </p:nvSpPr>
            <p:spPr>
              <a:xfrm>
                <a:off x="4138" y="1739"/>
                <a:ext cx="140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endParaRPr lang="en-US" altLang="zh-CN" sz="2000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1546" name="Rectangle 42"/>
              <p:cNvSpPr/>
              <p:nvPr/>
            </p:nvSpPr>
            <p:spPr>
              <a:xfrm>
                <a:off x="3778" y="1730"/>
                <a:ext cx="243" cy="2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1547" name="Rectangle 43"/>
              <p:cNvSpPr/>
              <p:nvPr/>
            </p:nvSpPr>
            <p:spPr>
              <a:xfrm>
                <a:off x="3865" y="1764"/>
                <a:ext cx="138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000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0</a:t>
                </a:r>
                <a:endParaRPr lang="en-US" altLang="zh-CN" sz="2000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1548" name="Rectangle 44"/>
              <p:cNvSpPr/>
              <p:nvPr/>
            </p:nvSpPr>
            <p:spPr>
              <a:xfrm>
                <a:off x="3929" y="1739"/>
                <a:ext cx="140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endParaRPr lang="en-US" altLang="zh-CN" sz="2000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1549" name="Rectangle 45"/>
              <p:cNvSpPr/>
              <p:nvPr/>
            </p:nvSpPr>
            <p:spPr>
              <a:xfrm>
                <a:off x="4414" y="1730"/>
                <a:ext cx="248" cy="2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1550" name="Rectangle 46"/>
              <p:cNvSpPr/>
              <p:nvPr/>
            </p:nvSpPr>
            <p:spPr>
              <a:xfrm>
                <a:off x="4501" y="1764"/>
                <a:ext cx="139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000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0</a:t>
                </a:r>
                <a:endParaRPr lang="en-US" altLang="zh-CN" sz="2000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1551" name="Rectangle 47"/>
              <p:cNvSpPr/>
              <p:nvPr/>
            </p:nvSpPr>
            <p:spPr>
              <a:xfrm>
                <a:off x="4569" y="1739"/>
                <a:ext cx="140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endParaRPr lang="en-US" altLang="zh-CN" sz="2000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1552" name="Rectangle 48"/>
              <p:cNvSpPr/>
              <p:nvPr/>
            </p:nvSpPr>
            <p:spPr>
              <a:xfrm>
                <a:off x="4206" y="1730"/>
                <a:ext cx="248" cy="2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1553" name="Rectangle 49"/>
              <p:cNvSpPr/>
              <p:nvPr/>
            </p:nvSpPr>
            <p:spPr>
              <a:xfrm>
                <a:off x="4296" y="1764"/>
                <a:ext cx="138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000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0</a:t>
                </a:r>
                <a:endParaRPr lang="en-US" altLang="zh-CN" sz="2000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1554" name="Rectangle 50"/>
              <p:cNvSpPr/>
              <p:nvPr/>
            </p:nvSpPr>
            <p:spPr>
              <a:xfrm>
                <a:off x="4358" y="1739"/>
                <a:ext cx="140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endParaRPr lang="en-US" altLang="zh-CN" sz="2000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1555" name="Rectangle 51"/>
              <p:cNvSpPr/>
              <p:nvPr/>
            </p:nvSpPr>
            <p:spPr>
              <a:xfrm>
                <a:off x="4831" y="1730"/>
                <a:ext cx="248" cy="2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1556" name="Rectangle 52"/>
              <p:cNvSpPr/>
              <p:nvPr/>
            </p:nvSpPr>
            <p:spPr>
              <a:xfrm>
                <a:off x="4920" y="1764"/>
                <a:ext cx="138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000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1</a:t>
                </a:r>
                <a:endParaRPr lang="en-US" altLang="zh-CN" sz="2000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1557" name="Rectangle 53"/>
              <p:cNvSpPr/>
              <p:nvPr/>
            </p:nvSpPr>
            <p:spPr>
              <a:xfrm>
                <a:off x="4984" y="1739"/>
                <a:ext cx="140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endParaRPr lang="en-US" altLang="zh-CN" sz="2000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1558" name="Rectangle 54"/>
              <p:cNvSpPr/>
              <p:nvPr/>
            </p:nvSpPr>
            <p:spPr>
              <a:xfrm>
                <a:off x="4623" y="1730"/>
                <a:ext cx="247" cy="2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1559" name="Rectangle 55"/>
              <p:cNvSpPr/>
              <p:nvPr/>
            </p:nvSpPr>
            <p:spPr>
              <a:xfrm>
                <a:off x="4711" y="1764"/>
                <a:ext cx="138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000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1</a:t>
                </a:r>
                <a:endParaRPr lang="en-US" altLang="zh-CN" sz="2000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1560" name="Rectangle 56"/>
              <p:cNvSpPr/>
              <p:nvPr/>
            </p:nvSpPr>
            <p:spPr>
              <a:xfrm>
                <a:off x="4777" y="1739"/>
                <a:ext cx="140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 </a:t>
                </a:r>
                <a:endParaRPr lang="en-US" altLang="zh-CN" sz="2000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grpSp>
            <p:nvGrpSpPr>
              <p:cNvPr id="21561" name="Group 57"/>
              <p:cNvGrpSpPr/>
              <p:nvPr/>
            </p:nvGrpSpPr>
            <p:grpSpPr>
              <a:xfrm>
                <a:off x="3428" y="2014"/>
                <a:ext cx="1599" cy="118"/>
                <a:chOff x="3478" y="1694"/>
                <a:chExt cx="1549" cy="61"/>
              </a:xfrm>
            </p:grpSpPr>
            <p:sp>
              <p:nvSpPr>
                <p:cNvPr id="21567" name="Freeform 58"/>
                <p:cNvSpPr/>
                <p:nvPr/>
              </p:nvSpPr>
              <p:spPr>
                <a:xfrm>
                  <a:off x="4898" y="1694"/>
                  <a:ext cx="129" cy="32"/>
                </a:xfrm>
                <a:custGeom>
                  <a:avLst/>
                  <a:gdLst>
                    <a:gd name="txL" fmla="*/ 0 w 129"/>
                    <a:gd name="txT" fmla="*/ 0 h 32"/>
                    <a:gd name="txR" fmla="*/ 129 w 129"/>
                    <a:gd name="txB" fmla="*/ 32 h 32"/>
                  </a:gdLst>
                  <a:ahLst/>
                  <a:cxnLst>
                    <a:cxn ang="0">
                      <a:pos x="0" y="32"/>
                    </a:cxn>
                    <a:cxn ang="0">
                      <a:pos x="49" y="30"/>
                    </a:cxn>
                    <a:cxn ang="0">
                      <a:pos x="91" y="23"/>
                    </a:cxn>
                    <a:cxn ang="0">
                      <a:pos x="106" y="18"/>
                    </a:cxn>
                    <a:cxn ang="0">
                      <a:pos x="118" y="14"/>
                    </a:cxn>
                    <a:cxn ang="0">
                      <a:pos x="126" y="7"/>
                    </a:cxn>
                    <a:cxn ang="0">
                      <a:pos x="129" y="0"/>
                    </a:cxn>
                  </a:cxnLst>
                  <a:rect l="txL" t="txT" r="txR" b="txB"/>
                  <a:pathLst>
                    <a:path w="129" h="32">
                      <a:moveTo>
                        <a:pt x="0" y="32"/>
                      </a:moveTo>
                      <a:lnTo>
                        <a:pt x="49" y="30"/>
                      </a:lnTo>
                      <a:lnTo>
                        <a:pt x="91" y="23"/>
                      </a:lnTo>
                      <a:lnTo>
                        <a:pt x="106" y="18"/>
                      </a:lnTo>
                      <a:lnTo>
                        <a:pt x="118" y="14"/>
                      </a:lnTo>
                      <a:lnTo>
                        <a:pt x="126" y="7"/>
                      </a:lnTo>
                      <a:lnTo>
                        <a:pt x="129" y="0"/>
                      </a:lnTo>
                    </a:path>
                  </a:pathLst>
                </a:custGeom>
                <a:noFill/>
                <a:ln w="17463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1568" name="Line 59"/>
                <p:cNvSpPr/>
                <p:nvPr/>
              </p:nvSpPr>
              <p:spPr>
                <a:xfrm>
                  <a:off x="4380" y="1724"/>
                  <a:ext cx="522" cy="2"/>
                </a:xfrm>
                <a:prstGeom prst="line">
                  <a:avLst/>
                </a:prstGeom>
                <a:ln w="17463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569" name="Freeform 60"/>
                <p:cNvSpPr/>
                <p:nvPr/>
              </p:nvSpPr>
              <p:spPr>
                <a:xfrm>
                  <a:off x="4251" y="1726"/>
                  <a:ext cx="129" cy="29"/>
                </a:xfrm>
                <a:custGeom>
                  <a:avLst/>
                  <a:gdLst>
                    <a:gd name="txL" fmla="*/ 0 w 129"/>
                    <a:gd name="txT" fmla="*/ 0 h 29"/>
                    <a:gd name="txR" fmla="*/ 129 w 129"/>
                    <a:gd name="txB" fmla="*/ 29 h 29"/>
                  </a:gdLst>
                  <a:ahLst/>
                  <a:cxnLst>
                    <a:cxn ang="0">
                      <a:pos x="129" y="0"/>
                    </a:cxn>
                    <a:cxn ang="0">
                      <a:pos x="80" y="2"/>
                    </a:cxn>
                    <a:cxn ang="0">
                      <a:pos x="38" y="9"/>
                    </a:cxn>
                    <a:cxn ang="0">
                      <a:pos x="23" y="13"/>
                    </a:cxn>
                    <a:cxn ang="0">
                      <a:pos x="11" y="18"/>
                    </a:cxn>
                    <a:cxn ang="0">
                      <a:pos x="4" y="22"/>
                    </a:cxn>
                    <a:cxn ang="0">
                      <a:pos x="0" y="29"/>
                    </a:cxn>
                  </a:cxnLst>
                  <a:rect l="txL" t="txT" r="txR" b="txB"/>
                  <a:pathLst>
                    <a:path w="129" h="29">
                      <a:moveTo>
                        <a:pt x="129" y="0"/>
                      </a:moveTo>
                      <a:lnTo>
                        <a:pt x="80" y="2"/>
                      </a:lnTo>
                      <a:lnTo>
                        <a:pt x="38" y="9"/>
                      </a:lnTo>
                      <a:lnTo>
                        <a:pt x="23" y="13"/>
                      </a:lnTo>
                      <a:lnTo>
                        <a:pt x="11" y="18"/>
                      </a:lnTo>
                      <a:lnTo>
                        <a:pt x="4" y="22"/>
                      </a:lnTo>
                      <a:lnTo>
                        <a:pt x="0" y="29"/>
                      </a:lnTo>
                    </a:path>
                  </a:pathLst>
                </a:custGeom>
                <a:noFill/>
                <a:ln w="17463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1570" name="Freeform 61"/>
                <p:cNvSpPr/>
                <p:nvPr/>
              </p:nvSpPr>
              <p:spPr>
                <a:xfrm>
                  <a:off x="4121" y="1726"/>
                  <a:ext cx="130" cy="29"/>
                </a:xfrm>
                <a:custGeom>
                  <a:avLst/>
                  <a:gdLst>
                    <a:gd name="txL" fmla="*/ 0 w 130"/>
                    <a:gd name="txT" fmla="*/ 0 h 29"/>
                    <a:gd name="txR" fmla="*/ 130 w 130"/>
                    <a:gd name="txB" fmla="*/ 29 h 29"/>
                  </a:gdLst>
                  <a:ahLst/>
                  <a:cxnLst>
                    <a:cxn ang="0">
                      <a:pos x="0" y="0"/>
                    </a:cxn>
                    <a:cxn ang="0">
                      <a:pos x="50" y="2"/>
                    </a:cxn>
                    <a:cxn ang="0">
                      <a:pos x="92" y="9"/>
                    </a:cxn>
                    <a:cxn ang="0">
                      <a:pos x="107" y="13"/>
                    </a:cxn>
                    <a:cxn ang="0">
                      <a:pos x="118" y="18"/>
                    </a:cxn>
                    <a:cxn ang="0">
                      <a:pos x="126" y="22"/>
                    </a:cxn>
                    <a:cxn ang="0">
                      <a:pos x="130" y="29"/>
                    </a:cxn>
                  </a:cxnLst>
                  <a:rect l="txL" t="txT" r="txR" b="txB"/>
                  <a:pathLst>
                    <a:path w="130" h="29">
                      <a:moveTo>
                        <a:pt x="0" y="0"/>
                      </a:moveTo>
                      <a:lnTo>
                        <a:pt x="50" y="2"/>
                      </a:lnTo>
                      <a:lnTo>
                        <a:pt x="92" y="9"/>
                      </a:lnTo>
                      <a:lnTo>
                        <a:pt x="107" y="13"/>
                      </a:lnTo>
                      <a:lnTo>
                        <a:pt x="118" y="18"/>
                      </a:lnTo>
                      <a:lnTo>
                        <a:pt x="126" y="22"/>
                      </a:lnTo>
                      <a:lnTo>
                        <a:pt x="130" y="29"/>
                      </a:lnTo>
                    </a:path>
                  </a:pathLst>
                </a:custGeom>
                <a:noFill/>
                <a:ln w="17463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1571" name="Line 62"/>
                <p:cNvSpPr/>
                <p:nvPr/>
              </p:nvSpPr>
              <p:spPr>
                <a:xfrm>
                  <a:off x="3604" y="1724"/>
                  <a:ext cx="521" cy="2"/>
                </a:xfrm>
                <a:prstGeom prst="line">
                  <a:avLst/>
                </a:prstGeom>
                <a:ln w="17463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572" name="Freeform 63"/>
                <p:cNvSpPr/>
                <p:nvPr/>
              </p:nvSpPr>
              <p:spPr>
                <a:xfrm>
                  <a:off x="3478" y="1694"/>
                  <a:ext cx="129" cy="32"/>
                </a:xfrm>
                <a:custGeom>
                  <a:avLst/>
                  <a:gdLst>
                    <a:gd name="txL" fmla="*/ 0 w 129"/>
                    <a:gd name="txT" fmla="*/ 0 h 32"/>
                    <a:gd name="txR" fmla="*/ 129 w 129"/>
                    <a:gd name="txB" fmla="*/ 32 h 32"/>
                  </a:gdLst>
                  <a:ahLst/>
                  <a:cxnLst>
                    <a:cxn ang="0">
                      <a:pos x="129" y="32"/>
                    </a:cxn>
                    <a:cxn ang="0">
                      <a:pos x="80" y="30"/>
                    </a:cxn>
                    <a:cxn ang="0">
                      <a:pos x="38" y="23"/>
                    </a:cxn>
                    <a:cxn ang="0">
                      <a:pos x="23" y="18"/>
                    </a:cxn>
                    <a:cxn ang="0">
                      <a:pos x="11" y="14"/>
                    </a:cxn>
                    <a:cxn ang="0">
                      <a:pos x="4" y="7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129" h="32">
                      <a:moveTo>
                        <a:pt x="129" y="32"/>
                      </a:moveTo>
                      <a:lnTo>
                        <a:pt x="80" y="30"/>
                      </a:lnTo>
                      <a:lnTo>
                        <a:pt x="38" y="23"/>
                      </a:lnTo>
                      <a:lnTo>
                        <a:pt x="23" y="18"/>
                      </a:lnTo>
                      <a:lnTo>
                        <a:pt x="11" y="14"/>
                      </a:lnTo>
                      <a:lnTo>
                        <a:pt x="4" y="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7463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21562" name="Group 64"/>
              <p:cNvGrpSpPr/>
              <p:nvPr/>
            </p:nvGrpSpPr>
            <p:grpSpPr>
              <a:xfrm>
                <a:off x="3117" y="1089"/>
                <a:ext cx="279" cy="39"/>
                <a:chOff x="3177" y="1218"/>
                <a:chExt cx="271" cy="20"/>
              </a:xfrm>
            </p:grpSpPr>
            <p:grpSp>
              <p:nvGrpSpPr>
                <p:cNvPr id="21563" name="Group 65"/>
                <p:cNvGrpSpPr/>
                <p:nvPr/>
              </p:nvGrpSpPr>
              <p:grpSpPr>
                <a:xfrm>
                  <a:off x="3288" y="1218"/>
                  <a:ext cx="160" cy="20"/>
                  <a:chOff x="3288" y="1218"/>
                  <a:chExt cx="160" cy="20"/>
                </a:xfrm>
              </p:grpSpPr>
              <p:sp>
                <p:nvSpPr>
                  <p:cNvPr id="21565" name="Line 66"/>
                  <p:cNvSpPr/>
                  <p:nvPr/>
                </p:nvSpPr>
                <p:spPr>
                  <a:xfrm>
                    <a:off x="3288" y="1227"/>
                    <a:ext cx="160" cy="1"/>
                  </a:xfrm>
                  <a:prstGeom prst="line">
                    <a:avLst/>
                  </a:prstGeom>
                  <a:ln w="17463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1566" name="Freeform 67"/>
                  <p:cNvSpPr/>
                  <p:nvPr/>
                </p:nvSpPr>
                <p:spPr>
                  <a:xfrm>
                    <a:off x="3310" y="1218"/>
                    <a:ext cx="134" cy="20"/>
                  </a:xfrm>
                  <a:custGeom>
                    <a:avLst/>
                    <a:gdLst>
                      <a:gd name="txL" fmla="*/ 0 w 134"/>
                      <a:gd name="txT" fmla="*/ 0 h 20"/>
                      <a:gd name="txR" fmla="*/ 134 w 134"/>
                      <a:gd name="txB" fmla="*/ 20 h 20"/>
                    </a:gdLst>
                    <a:ahLst/>
                    <a:cxnLst>
                      <a:cxn ang="0">
                        <a:pos x="0" y="20"/>
                      </a:cxn>
                      <a:cxn ang="0">
                        <a:pos x="0" y="0"/>
                      </a:cxn>
                      <a:cxn ang="0">
                        <a:pos x="134" y="9"/>
                      </a:cxn>
                      <a:cxn ang="0">
                        <a:pos x="0" y="20"/>
                      </a:cxn>
                    </a:cxnLst>
                    <a:rect l="txL" t="txT" r="txR" b="txB"/>
                    <a:pathLst>
                      <a:path w="134" h="20">
                        <a:moveTo>
                          <a:pt x="0" y="20"/>
                        </a:moveTo>
                        <a:lnTo>
                          <a:pt x="0" y="0"/>
                        </a:lnTo>
                        <a:lnTo>
                          <a:pt x="134" y="9"/>
                        </a:lnTo>
                        <a:lnTo>
                          <a:pt x="0" y="20"/>
                        </a:lnTo>
                        <a:close/>
                      </a:path>
                    </a:pathLst>
                  </a:custGeom>
                  <a:solidFill>
                    <a:schemeClr val="tx1">
                      <a:alpha val="100000"/>
                    </a:schemeClr>
                  </a:solidFill>
                  <a:ln w="17463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sp>
              <p:nvSpPr>
                <p:cNvPr id="21564" name="Line 68"/>
                <p:cNvSpPr/>
                <p:nvPr/>
              </p:nvSpPr>
              <p:spPr>
                <a:xfrm flipH="1">
                  <a:off x="3177" y="1227"/>
                  <a:ext cx="130" cy="1"/>
                </a:xfrm>
                <a:prstGeom prst="line">
                  <a:avLst/>
                </a:prstGeom>
                <a:ln w="17463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21511" name="Rectangle 69"/>
            <p:cNvSpPr/>
            <p:nvPr/>
          </p:nvSpPr>
          <p:spPr>
            <a:xfrm>
              <a:off x="196" y="829"/>
              <a:ext cx="2322" cy="23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rPr>
                <a:t>        </a:t>
              </a:r>
              <a:r>
                <a:rPr lang="zh-CN" altLang="en-US" sz="2400" b="1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rPr>
                <a:t>模数转换的实现</a:t>
              </a:r>
              <a:endPara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aphicFrame>
        <p:nvGraphicFramePr>
          <p:cNvPr id="397382" name="Object 70"/>
          <p:cNvGraphicFramePr>
            <a:graphicFrameLocks noChangeAspect="1"/>
          </p:cNvGraphicFramePr>
          <p:nvPr/>
        </p:nvGraphicFramePr>
        <p:xfrm>
          <a:off x="4603750" y="2070100"/>
          <a:ext cx="4392613" cy="446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8268950" imgH="30632400" progId="Photoshop.Image.8">
                  <p:embed/>
                </p:oleObj>
              </mc:Choice>
              <mc:Fallback>
                <p:oleObj name="" r:id="rId1" imgW="18268950" imgH="30632400" progId="Photoshop.Imag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03750" y="2070100"/>
                        <a:ext cx="4392613" cy="4465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397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97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4"/>
          <p:cNvGrpSpPr/>
          <p:nvPr/>
        </p:nvGrpSpPr>
        <p:grpSpPr>
          <a:xfrm>
            <a:off x="2262188" y="4124325"/>
            <a:ext cx="6000750" cy="2112963"/>
            <a:chOff x="1334" y="3058"/>
            <a:chExt cx="3449" cy="1331"/>
          </a:xfrm>
        </p:grpSpPr>
        <p:grpSp>
          <p:nvGrpSpPr>
            <p:cNvPr id="22542" name="Group 5"/>
            <p:cNvGrpSpPr/>
            <p:nvPr/>
          </p:nvGrpSpPr>
          <p:grpSpPr>
            <a:xfrm>
              <a:off x="1474" y="3406"/>
              <a:ext cx="944" cy="322"/>
              <a:chOff x="0" y="0"/>
              <a:chExt cx="823" cy="384"/>
            </a:xfrm>
          </p:grpSpPr>
          <p:sp>
            <p:nvSpPr>
              <p:cNvPr id="22568" name="Rectangle 6"/>
              <p:cNvSpPr/>
              <p:nvPr/>
            </p:nvSpPr>
            <p:spPr>
              <a:xfrm>
                <a:off x="43" y="0"/>
                <a:ext cx="737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defTabSz="914400">
                  <a:spcBef>
                    <a:spcPct val="0"/>
                  </a:spcBef>
                  <a:buNone/>
                  <a:tabLst>
                    <a:tab pos="2339975" algn="l"/>
                    <a:tab pos="4968875" algn="r"/>
                    <a:tab pos="5221605" algn="l"/>
                  </a:tabLst>
                </a:pPr>
                <a:r>
                  <a:rPr lang="zh-CN" altLang="en-US" sz="2400" b="1" dirty="0">
                    <a:solidFill>
                      <a:srgbClr val="040468"/>
                    </a:solidFill>
                    <a:latin typeface="楷体_GB2312" pitchFamily="49" charset="-122"/>
                    <a:ea typeface="楷体_GB2312" pitchFamily="49" charset="-122"/>
                  </a:rPr>
                  <a:t>电压</a:t>
                </a:r>
                <a:r>
                  <a:rPr lang="en-US" altLang="zh-CN" sz="2400" b="1" dirty="0">
                    <a:solidFill>
                      <a:srgbClr val="040468"/>
                    </a:solidFill>
                    <a:latin typeface="楷体_GB2312" pitchFamily="49" charset="-122"/>
                    <a:ea typeface="楷体_GB2312" pitchFamily="49" charset="-122"/>
                  </a:rPr>
                  <a:t>(V)</a:t>
                </a:r>
                <a:endParaRPr lang="en-US" altLang="zh-CN" sz="2400" b="1" dirty="0">
                  <a:solidFill>
                    <a:srgbClr val="040468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2569" name="Rectangle 7"/>
              <p:cNvSpPr/>
              <p:nvPr/>
            </p:nvSpPr>
            <p:spPr>
              <a:xfrm>
                <a:off x="0" y="0"/>
                <a:ext cx="823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22543" name="Group 8"/>
            <p:cNvGrpSpPr/>
            <p:nvPr/>
          </p:nvGrpSpPr>
          <p:grpSpPr>
            <a:xfrm>
              <a:off x="2360" y="3406"/>
              <a:ext cx="1318" cy="322"/>
              <a:chOff x="823" y="0"/>
              <a:chExt cx="1149" cy="384"/>
            </a:xfrm>
          </p:grpSpPr>
          <p:sp>
            <p:nvSpPr>
              <p:cNvPr id="22566" name="Rectangle 9"/>
              <p:cNvSpPr/>
              <p:nvPr/>
            </p:nvSpPr>
            <p:spPr>
              <a:xfrm>
                <a:off x="866" y="0"/>
                <a:ext cx="1063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defTabSz="914400">
                  <a:spcBef>
                    <a:spcPct val="0"/>
                  </a:spcBef>
                  <a:buNone/>
                  <a:tabLst>
                    <a:tab pos="2339975" algn="l"/>
                    <a:tab pos="4968875" algn="r"/>
                    <a:tab pos="5221605" algn="l"/>
                  </a:tabLst>
                </a:pPr>
                <a:r>
                  <a:rPr lang="zh-CN" altLang="en-US" sz="2400" b="1" dirty="0">
                    <a:solidFill>
                      <a:srgbClr val="040468"/>
                    </a:solidFill>
                    <a:latin typeface="楷体_GB2312" pitchFamily="49" charset="-122"/>
                    <a:ea typeface="楷体_GB2312" pitchFamily="49" charset="-122"/>
                  </a:rPr>
                  <a:t>二值逻辑</a:t>
                </a:r>
                <a:endParaRPr lang="zh-CN" altLang="en-US" sz="2400" b="1" dirty="0">
                  <a:solidFill>
                    <a:srgbClr val="040468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2567" name="Rectangle 10"/>
              <p:cNvSpPr/>
              <p:nvPr/>
            </p:nvSpPr>
            <p:spPr>
              <a:xfrm>
                <a:off x="823" y="0"/>
                <a:ext cx="1149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22544" name="Group 11"/>
            <p:cNvGrpSpPr/>
            <p:nvPr/>
          </p:nvGrpSpPr>
          <p:grpSpPr>
            <a:xfrm>
              <a:off x="3620" y="3406"/>
              <a:ext cx="1074" cy="322"/>
              <a:chOff x="1972" y="0"/>
              <a:chExt cx="936" cy="384"/>
            </a:xfrm>
          </p:grpSpPr>
          <p:sp>
            <p:nvSpPr>
              <p:cNvPr id="22564" name="Rectangle 12"/>
              <p:cNvSpPr/>
              <p:nvPr/>
            </p:nvSpPr>
            <p:spPr>
              <a:xfrm>
                <a:off x="2015" y="0"/>
                <a:ext cx="850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defTabSz="914400">
                  <a:spcBef>
                    <a:spcPct val="0"/>
                  </a:spcBef>
                  <a:buNone/>
                  <a:tabLst>
                    <a:tab pos="2339975" algn="l"/>
                    <a:tab pos="4968875" algn="r"/>
                    <a:tab pos="5221605" algn="l"/>
                  </a:tabLst>
                </a:pPr>
                <a:r>
                  <a:rPr lang="zh-CN" altLang="en-US" sz="2400" b="1" dirty="0">
                    <a:solidFill>
                      <a:srgbClr val="040468"/>
                    </a:solidFill>
                    <a:latin typeface="楷体_GB2312" pitchFamily="49" charset="-122"/>
                    <a:ea typeface="楷体_GB2312" pitchFamily="49" charset="-122"/>
                  </a:rPr>
                  <a:t>电 平</a:t>
                </a:r>
                <a:endParaRPr lang="zh-CN" altLang="en-US" sz="2400" b="1" dirty="0">
                  <a:solidFill>
                    <a:srgbClr val="040468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2565" name="Rectangle 13"/>
              <p:cNvSpPr/>
              <p:nvPr/>
            </p:nvSpPr>
            <p:spPr>
              <a:xfrm>
                <a:off x="1972" y="0"/>
                <a:ext cx="936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22545" name="Group 14"/>
            <p:cNvGrpSpPr/>
            <p:nvPr/>
          </p:nvGrpSpPr>
          <p:grpSpPr>
            <a:xfrm>
              <a:off x="1474" y="3737"/>
              <a:ext cx="944" cy="321"/>
              <a:chOff x="0" y="384"/>
              <a:chExt cx="823" cy="384"/>
            </a:xfrm>
          </p:grpSpPr>
          <p:sp>
            <p:nvSpPr>
              <p:cNvPr id="22562" name="Rectangle 15"/>
              <p:cNvSpPr/>
              <p:nvPr/>
            </p:nvSpPr>
            <p:spPr>
              <a:xfrm>
                <a:off x="43" y="384"/>
                <a:ext cx="737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defTabSz="914400">
                  <a:spcBef>
                    <a:spcPct val="0"/>
                  </a:spcBef>
                  <a:buNone/>
                  <a:tabLst>
                    <a:tab pos="2339975" algn="l"/>
                    <a:tab pos="4968875" algn="r"/>
                    <a:tab pos="5221605" algn="l"/>
                  </a:tabLst>
                </a:pPr>
                <a:r>
                  <a:rPr lang="en-US" altLang="zh-CN" sz="2400" b="1" dirty="0">
                    <a:solidFill>
                      <a:srgbClr val="040468"/>
                    </a:solidFill>
                    <a:ea typeface="楷体_GB2312" pitchFamily="49" charset="-122"/>
                  </a:rPr>
                  <a:t>+5</a:t>
                </a:r>
                <a:endParaRPr lang="en-US" altLang="zh-CN" sz="2400" b="1" dirty="0">
                  <a:solidFill>
                    <a:srgbClr val="040468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22563" name="Rectangle 16"/>
              <p:cNvSpPr/>
              <p:nvPr/>
            </p:nvSpPr>
            <p:spPr>
              <a:xfrm>
                <a:off x="0" y="384"/>
                <a:ext cx="823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22546" name="Group 17"/>
            <p:cNvGrpSpPr/>
            <p:nvPr/>
          </p:nvGrpSpPr>
          <p:grpSpPr>
            <a:xfrm>
              <a:off x="2360" y="3737"/>
              <a:ext cx="1318" cy="321"/>
              <a:chOff x="823" y="384"/>
              <a:chExt cx="1149" cy="384"/>
            </a:xfrm>
          </p:grpSpPr>
          <p:sp>
            <p:nvSpPr>
              <p:cNvPr id="22560" name="Rectangle 18"/>
              <p:cNvSpPr/>
              <p:nvPr/>
            </p:nvSpPr>
            <p:spPr>
              <a:xfrm>
                <a:off x="866" y="384"/>
                <a:ext cx="1063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defTabSz="914400">
                  <a:spcBef>
                    <a:spcPct val="0"/>
                  </a:spcBef>
                  <a:buNone/>
                  <a:tabLst>
                    <a:tab pos="2339975" algn="l"/>
                    <a:tab pos="4968875" algn="r"/>
                    <a:tab pos="5221605" algn="l"/>
                  </a:tabLst>
                </a:pPr>
                <a:r>
                  <a:rPr lang="en-US" altLang="zh-CN" sz="2400" b="1" dirty="0">
                    <a:solidFill>
                      <a:srgbClr val="040468"/>
                    </a:solidFill>
                    <a:ea typeface="楷体_GB2312" pitchFamily="49" charset="-122"/>
                  </a:rPr>
                  <a:t>1</a:t>
                </a:r>
                <a:endParaRPr lang="en-US" altLang="zh-CN" sz="2400" b="1" dirty="0">
                  <a:solidFill>
                    <a:srgbClr val="040468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22561" name="Rectangle 19"/>
              <p:cNvSpPr/>
              <p:nvPr/>
            </p:nvSpPr>
            <p:spPr>
              <a:xfrm>
                <a:off x="823" y="384"/>
                <a:ext cx="1149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22547" name="Group 20"/>
            <p:cNvGrpSpPr/>
            <p:nvPr/>
          </p:nvGrpSpPr>
          <p:grpSpPr>
            <a:xfrm>
              <a:off x="3620" y="3737"/>
              <a:ext cx="1074" cy="321"/>
              <a:chOff x="1972" y="384"/>
              <a:chExt cx="936" cy="384"/>
            </a:xfrm>
          </p:grpSpPr>
          <p:sp>
            <p:nvSpPr>
              <p:cNvPr id="22558" name="Rectangle 21"/>
              <p:cNvSpPr/>
              <p:nvPr/>
            </p:nvSpPr>
            <p:spPr>
              <a:xfrm>
                <a:off x="2015" y="384"/>
                <a:ext cx="850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defTabSz="914400">
                  <a:spcBef>
                    <a:spcPct val="0"/>
                  </a:spcBef>
                  <a:buNone/>
                  <a:tabLst>
                    <a:tab pos="2339975" algn="l"/>
                    <a:tab pos="4968875" algn="r"/>
                    <a:tab pos="5221605" algn="l"/>
                  </a:tabLst>
                </a:pPr>
                <a:r>
                  <a:rPr lang="en-US" altLang="zh-CN" sz="2400" b="1" dirty="0">
                    <a:solidFill>
                      <a:srgbClr val="040468"/>
                    </a:solidFill>
                    <a:ea typeface="楷体_GB2312" pitchFamily="49" charset="-122"/>
                  </a:rPr>
                  <a:t>H</a:t>
                </a:r>
                <a:r>
                  <a:rPr lang="en-US" altLang="zh-CN" sz="2400" b="1" dirty="0">
                    <a:solidFill>
                      <a:srgbClr val="040468"/>
                    </a:solidFill>
                    <a:latin typeface="楷体_GB2312" pitchFamily="49" charset="-122"/>
                    <a:ea typeface="楷体_GB2312" pitchFamily="49" charset="-122"/>
                  </a:rPr>
                  <a:t>(</a:t>
                </a:r>
                <a:r>
                  <a:rPr lang="zh-CN" altLang="en-US" sz="2400" b="1" dirty="0">
                    <a:solidFill>
                      <a:srgbClr val="040468"/>
                    </a:solidFill>
                    <a:latin typeface="楷体_GB2312" pitchFamily="49" charset="-122"/>
                    <a:ea typeface="楷体_GB2312" pitchFamily="49" charset="-122"/>
                  </a:rPr>
                  <a:t>高电平</a:t>
                </a:r>
                <a:r>
                  <a:rPr lang="en-US" altLang="zh-CN" sz="2400" b="1" dirty="0">
                    <a:solidFill>
                      <a:srgbClr val="040468"/>
                    </a:solidFill>
                    <a:latin typeface="楷体_GB2312" pitchFamily="49" charset="-122"/>
                    <a:ea typeface="楷体_GB2312" pitchFamily="49" charset="-122"/>
                  </a:rPr>
                  <a:t>)</a:t>
                </a:r>
                <a:endParaRPr lang="en-US" altLang="zh-CN" sz="2400" b="1" dirty="0">
                  <a:solidFill>
                    <a:srgbClr val="040468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2559" name="Rectangle 22"/>
              <p:cNvSpPr/>
              <p:nvPr/>
            </p:nvSpPr>
            <p:spPr>
              <a:xfrm>
                <a:off x="1972" y="384"/>
                <a:ext cx="936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22548" name="Group 23"/>
            <p:cNvGrpSpPr/>
            <p:nvPr/>
          </p:nvGrpSpPr>
          <p:grpSpPr>
            <a:xfrm>
              <a:off x="1474" y="4067"/>
              <a:ext cx="944" cy="322"/>
              <a:chOff x="0" y="768"/>
              <a:chExt cx="823" cy="384"/>
            </a:xfrm>
          </p:grpSpPr>
          <p:sp>
            <p:nvSpPr>
              <p:cNvPr id="22556" name="Rectangle 24"/>
              <p:cNvSpPr/>
              <p:nvPr/>
            </p:nvSpPr>
            <p:spPr>
              <a:xfrm>
                <a:off x="43" y="768"/>
                <a:ext cx="737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defTabSz="914400">
                  <a:spcBef>
                    <a:spcPct val="0"/>
                  </a:spcBef>
                  <a:buNone/>
                  <a:tabLst>
                    <a:tab pos="2339975" algn="l"/>
                    <a:tab pos="4968875" algn="r"/>
                    <a:tab pos="5221605" algn="l"/>
                  </a:tabLst>
                </a:pPr>
                <a:r>
                  <a:rPr lang="en-US" altLang="zh-CN" sz="2400" b="1" dirty="0">
                    <a:solidFill>
                      <a:srgbClr val="040468"/>
                    </a:solidFill>
                    <a:ea typeface="楷体_GB2312" pitchFamily="49" charset="-122"/>
                  </a:rPr>
                  <a:t>0</a:t>
                </a:r>
                <a:endParaRPr lang="en-US" altLang="zh-CN" sz="2400" b="1" dirty="0">
                  <a:solidFill>
                    <a:srgbClr val="040468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22557" name="Rectangle 25"/>
              <p:cNvSpPr/>
              <p:nvPr/>
            </p:nvSpPr>
            <p:spPr>
              <a:xfrm>
                <a:off x="0" y="768"/>
                <a:ext cx="823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22549" name="Group 26"/>
            <p:cNvGrpSpPr/>
            <p:nvPr/>
          </p:nvGrpSpPr>
          <p:grpSpPr>
            <a:xfrm>
              <a:off x="2360" y="4067"/>
              <a:ext cx="1318" cy="322"/>
              <a:chOff x="823" y="768"/>
              <a:chExt cx="1149" cy="384"/>
            </a:xfrm>
          </p:grpSpPr>
          <p:sp>
            <p:nvSpPr>
              <p:cNvPr id="22554" name="Rectangle 27"/>
              <p:cNvSpPr/>
              <p:nvPr/>
            </p:nvSpPr>
            <p:spPr>
              <a:xfrm>
                <a:off x="866" y="768"/>
                <a:ext cx="1063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defTabSz="914400">
                  <a:spcBef>
                    <a:spcPct val="0"/>
                  </a:spcBef>
                  <a:buNone/>
                  <a:tabLst>
                    <a:tab pos="2339975" algn="l"/>
                    <a:tab pos="4968875" algn="r"/>
                    <a:tab pos="5221605" algn="l"/>
                  </a:tabLst>
                </a:pPr>
                <a:r>
                  <a:rPr lang="en-US" altLang="zh-CN" sz="2400" b="1" dirty="0">
                    <a:solidFill>
                      <a:srgbClr val="040468"/>
                    </a:solidFill>
                    <a:ea typeface="楷体_GB2312" pitchFamily="49" charset="-122"/>
                  </a:rPr>
                  <a:t>0</a:t>
                </a:r>
                <a:endParaRPr lang="en-US" altLang="zh-CN" sz="2400" b="1" dirty="0">
                  <a:solidFill>
                    <a:srgbClr val="040468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22555" name="Rectangle 28"/>
              <p:cNvSpPr/>
              <p:nvPr/>
            </p:nvSpPr>
            <p:spPr>
              <a:xfrm>
                <a:off x="823" y="768"/>
                <a:ext cx="1149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22550" name="Group 29"/>
            <p:cNvGrpSpPr/>
            <p:nvPr/>
          </p:nvGrpSpPr>
          <p:grpSpPr>
            <a:xfrm>
              <a:off x="3620" y="4067"/>
              <a:ext cx="1074" cy="322"/>
              <a:chOff x="1972" y="768"/>
              <a:chExt cx="936" cy="384"/>
            </a:xfrm>
          </p:grpSpPr>
          <p:sp>
            <p:nvSpPr>
              <p:cNvPr id="22552" name="Rectangle 30"/>
              <p:cNvSpPr/>
              <p:nvPr/>
            </p:nvSpPr>
            <p:spPr>
              <a:xfrm>
                <a:off x="2015" y="768"/>
                <a:ext cx="850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defTabSz="914400">
                  <a:spcBef>
                    <a:spcPct val="0"/>
                  </a:spcBef>
                  <a:buNone/>
                  <a:tabLst>
                    <a:tab pos="2339975" algn="l"/>
                    <a:tab pos="4968875" algn="r"/>
                    <a:tab pos="5221605" algn="l"/>
                  </a:tabLst>
                </a:pPr>
                <a:r>
                  <a:rPr lang="en-US" altLang="zh-CN" sz="2400" b="1" dirty="0">
                    <a:solidFill>
                      <a:srgbClr val="040468"/>
                    </a:solidFill>
                    <a:ea typeface="楷体_GB2312" pitchFamily="49" charset="-122"/>
                  </a:rPr>
                  <a:t>L</a:t>
                </a:r>
                <a:r>
                  <a:rPr lang="en-US" altLang="zh-CN" sz="2400" b="1" dirty="0">
                    <a:solidFill>
                      <a:srgbClr val="040468"/>
                    </a:solidFill>
                    <a:latin typeface="楷体_GB2312" pitchFamily="49" charset="-122"/>
                    <a:ea typeface="楷体_GB2312" pitchFamily="49" charset="-122"/>
                  </a:rPr>
                  <a:t>(</a:t>
                </a:r>
                <a:r>
                  <a:rPr lang="zh-CN" altLang="en-US" sz="2400" b="1" dirty="0">
                    <a:solidFill>
                      <a:srgbClr val="040468"/>
                    </a:solidFill>
                    <a:latin typeface="楷体_GB2312" pitchFamily="49" charset="-122"/>
                    <a:ea typeface="楷体_GB2312" pitchFamily="49" charset="-122"/>
                  </a:rPr>
                  <a:t>低电平</a:t>
                </a:r>
                <a:r>
                  <a:rPr lang="en-US" altLang="zh-CN" sz="2400" b="1" dirty="0">
                    <a:solidFill>
                      <a:srgbClr val="040468"/>
                    </a:solidFill>
                    <a:latin typeface="楷体_GB2312" pitchFamily="49" charset="-122"/>
                    <a:ea typeface="楷体_GB2312" pitchFamily="49" charset="-122"/>
                  </a:rPr>
                  <a:t>)</a:t>
                </a:r>
                <a:endParaRPr lang="en-US" altLang="zh-CN" sz="2400" b="1" dirty="0">
                  <a:solidFill>
                    <a:srgbClr val="040468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2553" name="Rectangle 31"/>
              <p:cNvSpPr/>
              <p:nvPr/>
            </p:nvSpPr>
            <p:spPr>
              <a:xfrm>
                <a:off x="1972" y="768"/>
                <a:ext cx="936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22551" name="Text Box 32"/>
            <p:cNvSpPr txBox="1"/>
            <p:nvPr/>
          </p:nvSpPr>
          <p:spPr>
            <a:xfrm>
              <a:off x="1334" y="3058"/>
              <a:ext cx="3449" cy="296"/>
            </a:xfrm>
            <a:prstGeom prst="rect">
              <a:avLst/>
            </a:prstGeom>
            <a:noFill/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rgbClr val="040468"/>
                  </a:solidFill>
                  <a:latin typeface="楷体_GB2312" pitchFamily="49" charset="-122"/>
                  <a:ea typeface="楷体_GB2312" pitchFamily="49" charset="-122"/>
                </a:rPr>
                <a:t>逻辑电平与电压值的关系（正逻辑）</a:t>
              </a:r>
              <a:endPara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22531" name="Text Box 33"/>
          <p:cNvSpPr txBox="1"/>
          <p:nvPr/>
        </p:nvSpPr>
        <p:spPr>
          <a:xfrm>
            <a:off x="612775" y="476250"/>
            <a:ext cx="5327650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accent2"/>
                </a:solidFill>
                <a:ea typeface="楷体_GB2312" pitchFamily="49" charset="-122"/>
              </a:rPr>
              <a:t>A.1.4 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数字信号的描述方法</a:t>
            </a:r>
            <a:endParaRPr lang="zh-CN" altLang="en-US" sz="28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98370" name="Text Box 34"/>
          <p:cNvSpPr txBox="1"/>
          <p:nvPr/>
        </p:nvSpPr>
        <p:spPr>
          <a:xfrm>
            <a:off x="539750" y="1244600"/>
            <a:ext cx="5868988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、二值数字逻辑和逻辑电平</a:t>
            </a:r>
            <a:endParaRPr lang="zh-CN" altLang="en-US" sz="2400" b="1" dirty="0">
              <a:solidFill>
                <a:srgbClr val="CC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98371" name="Rectangle 35"/>
          <p:cNvSpPr/>
          <p:nvPr/>
        </p:nvSpPr>
        <p:spPr>
          <a:xfrm>
            <a:off x="873125" y="3403600"/>
            <a:ext cx="7389813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   a </a:t>
            </a: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、在电路中用低、高电平表示</a:t>
            </a:r>
            <a:r>
              <a:rPr lang="en-US" altLang="zh-CN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两种逻辑状态</a:t>
            </a:r>
            <a:endParaRPr lang="zh-CN" altLang="en-US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98372" name="Text Box 36"/>
          <p:cNvSpPr txBox="1">
            <a:spLocks noChangeArrowheads="1"/>
          </p:cNvSpPr>
          <p:nvPr/>
        </p:nvSpPr>
        <p:spPr bwMode="auto">
          <a:xfrm>
            <a:off x="2484438" y="1819275"/>
            <a:ext cx="5616575" cy="5619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lnSpc>
                <a:spcPct val="14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 0</a:t>
            </a:r>
            <a:r>
              <a:rPr kumimoji="1" lang="zh-CN" altLang="en-US" b="1" kern="1200" cap="none" spc="0" normalizeH="0" baseline="0" noProof="0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、</a:t>
            </a:r>
            <a:r>
              <a:rPr kumimoji="1" lang="en-US" altLang="zh-CN" b="1" kern="1200" cap="none" spc="0" normalizeH="0" baseline="0" noProof="0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1</a:t>
            </a:r>
            <a:r>
              <a:rPr kumimoji="1" lang="zh-CN" altLang="en-US" b="1" kern="1200" cap="none" spc="0" normalizeH="0" baseline="0" noProof="0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数码</a:t>
            </a:r>
            <a:r>
              <a:rPr kumimoji="1" lang="en-US" altLang="zh-CN" b="1" kern="1200" cap="none" spc="0" normalizeH="0" baseline="0" noProof="0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---</a:t>
            </a:r>
            <a:r>
              <a:rPr kumimoji="1" lang="zh-CN" altLang="en-US" b="1" kern="1200" cap="none" spc="0" normalizeH="0" baseline="0" noProof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表示数量时称二进制数</a:t>
            </a:r>
            <a:endParaRPr kumimoji="1" lang="zh-CN" altLang="en-US" b="1" kern="1200" cap="none" spc="0" normalizeH="0" baseline="0" noProof="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grpSp>
        <p:nvGrpSpPr>
          <p:cNvPr id="12" name="Group 37"/>
          <p:cNvGrpSpPr/>
          <p:nvPr/>
        </p:nvGrpSpPr>
        <p:grpSpPr>
          <a:xfrm>
            <a:off x="612775" y="2900363"/>
            <a:ext cx="1462088" cy="457200"/>
            <a:chOff x="481" y="2070"/>
            <a:chExt cx="921" cy="288"/>
          </a:xfrm>
        </p:grpSpPr>
        <p:sp>
          <p:nvSpPr>
            <p:cNvPr id="22540" name="Rectangle 38"/>
            <p:cNvSpPr/>
            <p:nvPr/>
          </p:nvSpPr>
          <p:spPr>
            <a:xfrm>
              <a:off x="481" y="2197"/>
              <a:ext cx="56" cy="56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2541" name="Rectangle 39"/>
            <p:cNvSpPr/>
            <p:nvPr/>
          </p:nvSpPr>
          <p:spPr>
            <a:xfrm>
              <a:off x="514" y="2070"/>
              <a:ext cx="888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040468"/>
                  </a:solidFill>
                  <a:latin typeface="楷体_GB2312" pitchFamily="49" charset="-122"/>
                  <a:ea typeface="楷体_GB2312" pitchFamily="49" charset="-122"/>
                </a:rPr>
                <a:t>表示方式</a:t>
              </a:r>
              <a:endPara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pSp>
        <p:nvGrpSpPr>
          <p:cNvPr id="13" name="Group 40"/>
          <p:cNvGrpSpPr/>
          <p:nvPr/>
        </p:nvGrpSpPr>
        <p:grpSpPr>
          <a:xfrm>
            <a:off x="612775" y="1676400"/>
            <a:ext cx="2074863" cy="457200"/>
            <a:chOff x="481" y="2070"/>
            <a:chExt cx="1307" cy="288"/>
          </a:xfrm>
        </p:grpSpPr>
        <p:sp>
          <p:nvSpPr>
            <p:cNvPr id="22538" name="Rectangle 41"/>
            <p:cNvSpPr/>
            <p:nvPr/>
          </p:nvSpPr>
          <p:spPr>
            <a:xfrm>
              <a:off x="481" y="2197"/>
              <a:ext cx="56" cy="56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2539" name="Rectangle 42"/>
            <p:cNvSpPr/>
            <p:nvPr/>
          </p:nvSpPr>
          <p:spPr>
            <a:xfrm>
              <a:off x="514" y="2070"/>
              <a:ext cx="1274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040468"/>
                  </a:solidFill>
                  <a:ea typeface="楷体_GB2312" pitchFamily="49" charset="-122"/>
                </a:rPr>
                <a:t>二值数字逻辑</a:t>
              </a:r>
              <a:endPara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398379" name="Rectangle 43"/>
          <p:cNvSpPr>
            <a:spLocks noChangeArrowheads="1"/>
          </p:cNvSpPr>
          <p:nvPr/>
        </p:nvSpPr>
        <p:spPr bwMode="auto">
          <a:xfrm>
            <a:off x="2052638" y="2420938"/>
            <a:ext cx="7235825" cy="6223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4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40468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  ---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表示事物状态时称二值逻辑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9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9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9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39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70" grpId="0"/>
      <p:bldP spid="398371" grpId="0"/>
      <p:bldP spid="398372" grpId="0"/>
      <p:bldP spid="39837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1412" name="Rectangle 4"/>
          <p:cNvSpPr/>
          <p:nvPr/>
        </p:nvSpPr>
        <p:spPr>
          <a:xfrm>
            <a:off x="0" y="5661025"/>
            <a:ext cx="44767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(a) </a:t>
            </a: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用逻辑电平描述的数字波形</a:t>
            </a:r>
            <a:endParaRPr lang="zh-CN" altLang="en-US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1413" name="Rectangle 5"/>
          <p:cNvSpPr/>
          <p:nvPr/>
        </p:nvSpPr>
        <p:spPr>
          <a:xfrm>
            <a:off x="4643438" y="5661025"/>
            <a:ext cx="3995737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(b) 16</a:t>
            </a: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位数据的图形表示</a:t>
            </a:r>
            <a:endParaRPr lang="zh-CN" altLang="en-US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556" name="Rectangle 6"/>
          <p:cNvSpPr/>
          <p:nvPr/>
        </p:nvSpPr>
        <p:spPr>
          <a:xfrm>
            <a:off x="1403350" y="549275"/>
            <a:ext cx="374491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、数字波形</a:t>
            </a:r>
            <a:endParaRPr lang="zh-CN" altLang="en-US" sz="2400" b="1" dirty="0">
              <a:solidFill>
                <a:srgbClr val="CC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1415" name="Rectangle 7"/>
          <p:cNvSpPr/>
          <p:nvPr/>
        </p:nvSpPr>
        <p:spPr>
          <a:xfrm>
            <a:off x="827088" y="1268413"/>
            <a:ext cx="7083425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数字波形</a:t>
            </a:r>
            <a:r>
              <a:rPr lang="en-US" altLang="zh-CN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------</a:t>
            </a: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是信号逻辑电平对时间的图形表示</a:t>
            </a:r>
            <a:r>
              <a:rPr lang="en-US" altLang="zh-CN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3558" name="Object 8"/>
          <p:cNvGraphicFramePr>
            <a:graphicFrameLocks noChangeAspect="1"/>
          </p:cNvGraphicFramePr>
          <p:nvPr/>
        </p:nvGraphicFramePr>
        <p:xfrm>
          <a:off x="1116013" y="1916113"/>
          <a:ext cx="6985000" cy="361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4545925" imgH="12696825" progId="Photoshop.Image.8">
                  <p:embed/>
                </p:oleObj>
              </mc:Choice>
              <mc:Fallback>
                <p:oleObj name="" r:id="rId1" imgW="24545925" imgH="12696825" progId="Photoshop.Image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16013" y="1916113"/>
                        <a:ext cx="6985000" cy="3611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01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01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401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412" grpId="0"/>
      <p:bldP spid="401413" grpId="0"/>
      <p:bldP spid="4014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4578" name="Object 4"/>
          <p:cNvGraphicFramePr>
            <a:graphicFrameLocks noChangeAspect="1"/>
          </p:cNvGraphicFramePr>
          <p:nvPr/>
        </p:nvGraphicFramePr>
        <p:xfrm>
          <a:off x="107950" y="2070100"/>
          <a:ext cx="8928100" cy="333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29117925" imgH="10868025" progId="Photoshop.Image.8">
                  <p:embed/>
                </p:oleObj>
              </mc:Choice>
              <mc:Fallback>
                <p:oleObj name="" r:id="rId1" imgW="29117925" imgH="10868025" progId="Photoshop.Image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7950" y="2070100"/>
                        <a:ext cx="8928100" cy="3332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2437" name="AutoShape 5"/>
          <p:cNvSpPr/>
          <p:nvPr/>
        </p:nvSpPr>
        <p:spPr>
          <a:xfrm>
            <a:off x="4500563" y="1946275"/>
            <a:ext cx="1328737" cy="381000"/>
          </a:xfrm>
          <a:prstGeom prst="wedgeRoundRectCallout">
            <a:avLst>
              <a:gd name="adj1" fmla="val 64218"/>
              <a:gd name="adj2" fmla="val 243333"/>
              <a:gd name="adj3" fmla="val 16667"/>
            </a:avLst>
          </a:prstGeom>
          <a:noFill/>
          <a:ln w="1905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8000" tIns="10800" rIns="18000" bIns="10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高电平</a:t>
            </a:r>
            <a:endParaRPr lang="zh-CN" altLang="en-US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2438" name="AutoShape 6"/>
          <p:cNvSpPr/>
          <p:nvPr/>
        </p:nvSpPr>
        <p:spPr>
          <a:xfrm>
            <a:off x="6948488" y="2162175"/>
            <a:ext cx="1373187" cy="381000"/>
          </a:xfrm>
          <a:prstGeom prst="wedgeRoundRectCallout">
            <a:avLst>
              <a:gd name="adj1" fmla="val -82139"/>
              <a:gd name="adj2" fmla="val 295000"/>
              <a:gd name="adj3" fmla="val 16667"/>
            </a:avLst>
          </a:prstGeom>
          <a:noFill/>
          <a:ln w="1905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8000" tIns="10800" rIns="18000" bIns="10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低电平</a:t>
            </a:r>
            <a:endParaRPr lang="zh-CN" altLang="en-US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2439" name="AutoShape 7"/>
          <p:cNvSpPr/>
          <p:nvPr/>
        </p:nvSpPr>
        <p:spPr>
          <a:xfrm>
            <a:off x="7596188" y="3314700"/>
            <a:ext cx="1208087" cy="452438"/>
          </a:xfrm>
          <a:prstGeom prst="wedgeRoundRectCallout">
            <a:avLst>
              <a:gd name="adj1" fmla="val -81407"/>
              <a:gd name="adj2" fmla="val 186139"/>
              <a:gd name="adj3" fmla="val 16667"/>
            </a:avLst>
          </a:prstGeom>
          <a:noFill/>
          <a:ln w="1905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8000" tIns="10800" rIns="18000" bIns="10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有脉冲</a:t>
            </a:r>
            <a:endParaRPr lang="zh-CN" altLang="en-US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ctr">
              <a:spcBef>
                <a:spcPct val="50000"/>
              </a:spcBef>
              <a:buNone/>
            </a:pPr>
            <a:endParaRPr lang="en-US" altLang="zh-CN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2440" name="Rectangle 8"/>
          <p:cNvSpPr/>
          <p:nvPr/>
        </p:nvSpPr>
        <p:spPr>
          <a:xfrm>
            <a:off x="3924300" y="1370013"/>
            <a:ext cx="1563688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*</a:t>
            </a: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非归零型</a:t>
            </a:r>
            <a:endParaRPr lang="zh-CN" altLang="en-US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2441" name="Rectangle 9"/>
          <p:cNvSpPr/>
          <p:nvPr/>
        </p:nvSpPr>
        <p:spPr>
          <a:xfrm>
            <a:off x="6084888" y="1370013"/>
            <a:ext cx="125730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*</a:t>
            </a: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归零型</a:t>
            </a:r>
            <a:endParaRPr lang="zh-CN" altLang="en-US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2442" name="Rectangle 10"/>
          <p:cNvSpPr/>
          <p:nvPr/>
        </p:nvSpPr>
        <p:spPr>
          <a:xfrm>
            <a:off x="1403350" y="5402263"/>
            <a:ext cx="58610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比特率 </a:t>
            </a:r>
            <a:r>
              <a:rPr lang="en-US" altLang="zh-CN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-------- </a:t>
            </a: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每秒钟转输数据的位数</a:t>
            </a:r>
            <a:endParaRPr lang="zh-CN" altLang="en-US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2443" name="AutoShape 11"/>
          <p:cNvSpPr/>
          <p:nvPr/>
        </p:nvSpPr>
        <p:spPr>
          <a:xfrm>
            <a:off x="7385050" y="4756150"/>
            <a:ext cx="1208088" cy="381000"/>
          </a:xfrm>
          <a:prstGeom prst="wedgeRoundRectCallout">
            <a:avLst>
              <a:gd name="adj1" fmla="val -106505"/>
              <a:gd name="adj2" fmla="val -84167"/>
              <a:gd name="adj3" fmla="val 16667"/>
            </a:avLst>
          </a:prstGeom>
          <a:noFill/>
          <a:ln w="1905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8000" tIns="10800" rIns="18000" bIns="10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无脉冲</a:t>
            </a:r>
            <a:endParaRPr lang="zh-CN" altLang="en-US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ctr">
              <a:spcBef>
                <a:spcPct val="50000"/>
              </a:spcBef>
              <a:buNone/>
            </a:pPr>
            <a:endParaRPr lang="en-US" altLang="zh-CN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2444" name="Rectangle 12"/>
          <p:cNvSpPr/>
          <p:nvPr/>
        </p:nvSpPr>
        <p:spPr>
          <a:xfrm>
            <a:off x="468313" y="1341438"/>
            <a:ext cx="3557587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(1)</a:t>
            </a: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数字波形的两种类型</a:t>
            </a:r>
            <a:r>
              <a:rPr lang="en-US" altLang="zh-CN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02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40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40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402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402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402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402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402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37" grpId="0" animBg="1"/>
      <p:bldP spid="402438" grpId="0" animBg="1"/>
      <p:bldP spid="402439" grpId="0" animBg="1"/>
      <p:bldP spid="402440" grpId="0"/>
      <p:bldP spid="402441" grpId="0"/>
      <p:bldP spid="402442" grpId="0"/>
      <p:bldP spid="402443" grpId="0" animBg="1"/>
      <p:bldP spid="40244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5602" name="Object 4"/>
          <p:cNvGraphicFramePr>
            <a:graphicFrameLocks noChangeAspect="1"/>
          </p:cNvGraphicFramePr>
          <p:nvPr/>
        </p:nvGraphicFramePr>
        <p:xfrm>
          <a:off x="203200" y="2060575"/>
          <a:ext cx="8616950" cy="352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29003625" imgH="8810625" progId="Photoshop.Image.8">
                  <p:embed/>
                </p:oleObj>
              </mc:Choice>
              <mc:Fallback>
                <p:oleObj name="" r:id="rId1" imgW="29003625" imgH="8810625" progId="Photoshop.Image.8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3200" y="2060575"/>
                        <a:ext cx="8616950" cy="3529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Rectangle 5"/>
          <p:cNvSpPr/>
          <p:nvPr/>
        </p:nvSpPr>
        <p:spPr>
          <a:xfrm>
            <a:off x="611188" y="1125538"/>
            <a:ext cx="3109912" cy="469900"/>
          </a:xfrm>
          <a:prstGeom prst="rect">
            <a:avLst/>
          </a:prstGeom>
          <a:noFill/>
          <a:ln w="12700" cap="flat" cmpd="sng">
            <a:solidFill>
              <a:srgbClr val="FFFFFF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(2)</a:t>
            </a: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周期性和非周期性</a:t>
            </a:r>
            <a:endParaRPr lang="zh-CN" altLang="en-US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5604" name="AutoShape 6"/>
          <p:cNvSpPr>
            <a:spLocks noChangeAspect="1" noTextEdit="1"/>
          </p:cNvSpPr>
          <p:nvPr/>
        </p:nvSpPr>
        <p:spPr>
          <a:xfrm>
            <a:off x="1370013" y="2152650"/>
            <a:ext cx="6026150" cy="2287588"/>
          </a:xfrm>
          <a:prstGeom prst="rect">
            <a:avLst/>
          </a:prstGeom>
          <a:noFill/>
          <a:ln w="9525" cap="flat" cmpd="sng">
            <a:solidFill>
              <a:srgbClr val="FFFFFF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5605" name="Rectangle 7"/>
          <p:cNvSpPr/>
          <p:nvPr/>
        </p:nvSpPr>
        <p:spPr>
          <a:xfrm>
            <a:off x="2773363" y="4264025"/>
            <a:ext cx="138112" cy="314325"/>
          </a:xfrm>
          <a:prstGeom prst="rect">
            <a:avLst/>
          </a:prstGeom>
          <a:noFill/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en-US" altLang="zh-CN" sz="2000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5606" name="Group 8"/>
          <p:cNvGrpSpPr/>
          <p:nvPr/>
        </p:nvGrpSpPr>
        <p:grpSpPr>
          <a:xfrm>
            <a:off x="842963" y="1865313"/>
            <a:ext cx="6864350" cy="4016375"/>
            <a:chOff x="1104" y="2160"/>
            <a:chExt cx="3648" cy="1872"/>
          </a:xfrm>
        </p:grpSpPr>
        <p:sp>
          <p:nvSpPr>
            <p:cNvPr id="25610" name="Text Box 9"/>
            <p:cNvSpPr txBox="1"/>
            <p:nvPr/>
          </p:nvSpPr>
          <p:spPr>
            <a:xfrm>
              <a:off x="2352" y="3792"/>
              <a:ext cx="1056" cy="93"/>
            </a:xfrm>
            <a:prstGeom prst="rect">
              <a:avLst/>
            </a:prstGeom>
            <a:noFill/>
            <a:ln w="1905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lnSpc>
                  <a:spcPct val="90000"/>
                </a:lnSpc>
                <a:spcBef>
                  <a:spcPct val="50000"/>
                </a:spcBef>
                <a:buNone/>
              </a:pPr>
              <a:endParaRPr lang="en-GB" altLang="zh-CN" sz="2000" b="1" baseline="-25000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5611" name="Rectangle 10"/>
            <p:cNvSpPr/>
            <p:nvPr/>
          </p:nvSpPr>
          <p:spPr>
            <a:xfrm>
              <a:off x="1104" y="2160"/>
              <a:ext cx="3648" cy="1872"/>
            </a:xfrm>
            <a:prstGeom prst="rect">
              <a:avLst/>
            </a:prstGeom>
            <a:noFill/>
            <a:ln w="19050" cap="flat" cmpd="sng">
              <a:solidFill>
                <a:srgbClr val="FFFFFF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</p:grpSp>
      <p:sp>
        <p:nvSpPr>
          <p:cNvPr id="403467" name="AutoShape 11"/>
          <p:cNvSpPr/>
          <p:nvPr/>
        </p:nvSpPr>
        <p:spPr>
          <a:xfrm>
            <a:off x="5076825" y="1628775"/>
            <a:ext cx="2808288" cy="676275"/>
          </a:xfrm>
          <a:prstGeom prst="wedgeRoundRectCallout">
            <a:avLst>
              <a:gd name="adj1" fmla="val -51468"/>
              <a:gd name="adj2" fmla="val 141079"/>
              <a:gd name="adj3" fmla="val 16667"/>
            </a:avLst>
          </a:prstGeom>
          <a:noFill/>
          <a:ln w="1905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8000" tIns="10800" rIns="18000" bIns="10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非周期性数字波形</a:t>
            </a:r>
            <a:endParaRPr lang="zh-CN" altLang="en-US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ctr">
              <a:spcBef>
                <a:spcPct val="50000"/>
              </a:spcBef>
              <a:buNone/>
            </a:pPr>
            <a:endParaRPr lang="en-US" altLang="zh-CN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3468" name="AutoShape 12"/>
          <p:cNvSpPr/>
          <p:nvPr/>
        </p:nvSpPr>
        <p:spPr>
          <a:xfrm>
            <a:off x="6227763" y="5300663"/>
            <a:ext cx="2663825" cy="381000"/>
          </a:xfrm>
          <a:prstGeom prst="wedgeRoundRectCallout">
            <a:avLst>
              <a:gd name="adj1" fmla="val -95588"/>
              <a:gd name="adj2" fmla="val -240417"/>
              <a:gd name="adj3" fmla="val 16667"/>
            </a:avLst>
          </a:prstGeom>
          <a:noFill/>
          <a:ln w="1905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8000" tIns="10800" rIns="18000" bIns="10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</a:rPr>
              <a:t>周期性数字波形</a:t>
            </a:r>
            <a:endParaRPr lang="zh-CN" altLang="en-US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ctr">
              <a:spcBef>
                <a:spcPct val="50000"/>
              </a:spcBef>
              <a:buNone/>
            </a:pPr>
            <a:endParaRPr lang="en-US" altLang="zh-CN" sz="2400" b="1" dirty="0">
              <a:solidFill>
                <a:srgbClr val="04046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5609" name="Rectangle 13"/>
          <p:cNvSpPr/>
          <p:nvPr/>
        </p:nvSpPr>
        <p:spPr>
          <a:xfrm>
            <a:off x="3881438" y="3606800"/>
            <a:ext cx="1147762" cy="260350"/>
          </a:xfrm>
          <a:prstGeom prst="rect">
            <a:avLst/>
          </a:prstGeom>
          <a:noFill/>
          <a:ln w="889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000" dirty="0">
                <a:solidFill>
                  <a:schemeClr val="tx2"/>
                </a:solidFill>
                <a:ea typeface="华康简宋" charset="-122"/>
              </a:rPr>
              <a:t>	</a:t>
            </a:r>
            <a:r>
              <a:rPr lang="en-US" altLang="zh-CN" sz="1100" dirty="0">
                <a:solidFill>
                  <a:schemeClr val="tx2"/>
                </a:solidFill>
                <a:latin typeface="Verdana" panose="020B0604030504040204" pitchFamily="34" charset="0"/>
                <a:ea typeface="华康简宋" charset="-122"/>
              </a:rPr>
              <a:t> </a:t>
            </a:r>
            <a:endParaRPr lang="en-US" altLang="zh-CN" sz="2400" dirty="0">
              <a:solidFill>
                <a:schemeClr val="tx2"/>
              </a:solidFill>
              <a:ea typeface="华康简宋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03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403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67" grpId="0" animBg="1"/>
      <p:bldP spid="40346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4725" name="Rectangle 5"/>
          <p:cNvSpPr/>
          <p:nvPr/>
        </p:nvSpPr>
        <p:spPr>
          <a:xfrm>
            <a:off x="539750" y="1258888"/>
            <a:ext cx="8208963" cy="17907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ctr">
              <a:lnSpc>
                <a:spcPct val="18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2060"/>
                </a:solidFill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002060"/>
                </a:solidFill>
                <a:ea typeface="楷体_GB2312" pitchFamily="49" charset="-122"/>
              </a:rPr>
              <a:t>1.1.1</a:t>
            </a:r>
            <a:r>
              <a:rPr lang="en-US" altLang="zh-CN" sz="24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某通信系统每秒钟传输</a:t>
            </a:r>
            <a:r>
              <a:rPr lang="en-US" altLang="zh-CN" sz="24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1544000</a:t>
            </a:r>
            <a:r>
              <a:rPr lang="zh-CN" altLang="en-US" sz="24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位</a:t>
            </a:r>
            <a:r>
              <a:rPr lang="en-US" altLang="zh-CN" sz="24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(1.544</a:t>
            </a:r>
            <a:r>
              <a:rPr lang="zh-CN" altLang="en-US" sz="24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兆位</a:t>
            </a:r>
            <a:r>
              <a:rPr lang="en-US" altLang="zh-CN" sz="24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4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数据，求每位数据的时间。</a:t>
            </a:r>
            <a:endParaRPr lang="zh-CN" altLang="en-US" sz="2400" b="1" dirty="0">
              <a:solidFill>
                <a:srgbClr val="00206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269875" algn="ctr">
              <a:spcBef>
                <a:spcPct val="0"/>
              </a:spcBef>
              <a:buNone/>
            </a:pPr>
            <a:endParaRPr lang="en-US" altLang="zh-CN" sz="2400" b="1" dirty="0">
              <a:solidFill>
                <a:srgbClr val="00206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14724" name="Object 4"/>
          <p:cNvGraphicFramePr>
            <a:graphicFrameLocks noChangeAspect="1"/>
          </p:cNvGraphicFramePr>
          <p:nvPr/>
        </p:nvGraphicFramePr>
        <p:xfrm>
          <a:off x="1042988" y="3763963"/>
          <a:ext cx="7127875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2222500" imgH="482600" progId="Equation.3">
                  <p:embed/>
                </p:oleObj>
              </mc:Choice>
              <mc:Fallback>
                <p:oleObj name="" r:id="rId1" imgW="2222500" imgH="4826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42988" y="3763963"/>
                        <a:ext cx="7127875" cy="1536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4726" name="Rectangle 6"/>
          <p:cNvSpPr/>
          <p:nvPr/>
        </p:nvSpPr>
        <p:spPr>
          <a:xfrm>
            <a:off x="395288" y="2735263"/>
            <a:ext cx="6840537" cy="12001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ctr">
              <a:spcBef>
                <a:spcPct val="0"/>
              </a:spcBef>
              <a:buNone/>
            </a:pPr>
            <a:endParaRPr lang="en-US" altLang="zh-CN" sz="2400" b="1" dirty="0">
              <a:solidFill>
                <a:schemeClr val="folHlink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269875" algn="ctr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解：</a:t>
            </a:r>
            <a:r>
              <a:rPr lang="zh-CN" altLang="en-US" sz="24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</a:rPr>
              <a:t>按题意，每位数据的时间为</a:t>
            </a:r>
            <a:endParaRPr lang="zh-CN" altLang="en-US" sz="2400" b="1" dirty="0">
              <a:solidFill>
                <a:srgbClr val="00206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269875" algn="ctr">
              <a:spcBef>
                <a:spcPct val="0"/>
              </a:spcBef>
              <a:buNone/>
            </a:pPr>
            <a:endParaRPr lang="en-US" altLang="zh-CN" sz="2400" b="1" dirty="0">
              <a:solidFill>
                <a:schemeClr val="folHlink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4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14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414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25" grpId="0"/>
      <p:bldP spid="4147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3701" name="Rectangle 5"/>
          <p:cNvSpPr/>
          <p:nvPr/>
        </p:nvSpPr>
        <p:spPr>
          <a:xfrm>
            <a:off x="-44450" y="1454150"/>
            <a:ext cx="9248775" cy="13239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ctr">
              <a:lnSpc>
                <a:spcPct val="18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2060"/>
                </a:solidFill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002060"/>
                </a:solidFill>
                <a:ea typeface="楷体_GB2312" pitchFamily="49" charset="-122"/>
              </a:rPr>
              <a:t>1.1.2</a:t>
            </a:r>
            <a:r>
              <a:rPr lang="en-US" altLang="zh-CN" sz="2400" b="1" dirty="0">
                <a:solidFill>
                  <a:srgbClr val="002060"/>
                </a:solidFill>
                <a:ea typeface="楷体_GB2312" pitchFamily="49" charset="-122"/>
              </a:rPr>
              <a:t>  </a:t>
            </a:r>
            <a:r>
              <a:rPr lang="zh-CN" altLang="en-US" sz="2400" b="1" dirty="0">
                <a:solidFill>
                  <a:srgbClr val="002060"/>
                </a:solidFill>
                <a:ea typeface="楷体_GB2312" pitchFamily="49" charset="-122"/>
              </a:rPr>
              <a:t>设周期性数字波形的高电平持续</a:t>
            </a:r>
            <a:r>
              <a:rPr lang="en-US" altLang="zh-CN" sz="2400" b="1" dirty="0">
                <a:solidFill>
                  <a:srgbClr val="002060"/>
                </a:solidFill>
                <a:ea typeface="楷体_GB2312" pitchFamily="49" charset="-122"/>
              </a:rPr>
              <a:t>6ms</a:t>
            </a:r>
            <a:r>
              <a:rPr lang="zh-CN" altLang="en-US" sz="2400" b="1" dirty="0">
                <a:solidFill>
                  <a:srgbClr val="002060"/>
                </a:solidFill>
                <a:ea typeface="楷体_GB2312" pitchFamily="49" charset="-122"/>
              </a:rPr>
              <a:t>，低电平持续</a:t>
            </a:r>
            <a:r>
              <a:rPr lang="en-US" altLang="zh-CN" sz="2400" b="1" dirty="0">
                <a:solidFill>
                  <a:srgbClr val="002060"/>
                </a:solidFill>
                <a:ea typeface="楷体_GB2312" pitchFamily="49" charset="-122"/>
              </a:rPr>
              <a:t>10ms</a:t>
            </a:r>
            <a:r>
              <a:rPr lang="zh-CN" altLang="en-US" sz="2400" b="1" dirty="0">
                <a:solidFill>
                  <a:srgbClr val="002060"/>
                </a:solidFill>
                <a:ea typeface="楷体_GB2312" pitchFamily="49" charset="-122"/>
              </a:rPr>
              <a:t>，</a:t>
            </a:r>
            <a:endParaRPr lang="zh-CN" altLang="en-US" sz="2400" b="1" dirty="0">
              <a:solidFill>
                <a:srgbClr val="002060"/>
              </a:solidFill>
              <a:ea typeface="楷体_GB2312" pitchFamily="49" charset="-122"/>
            </a:endParaRPr>
          </a:p>
          <a:p>
            <a:pPr marL="0" lvl="0" indent="269875" algn="ctr">
              <a:lnSpc>
                <a:spcPct val="18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2060"/>
                </a:solidFill>
                <a:ea typeface="楷体_GB2312" pitchFamily="49" charset="-122"/>
              </a:rPr>
              <a:t>求占空比</a:t>
            </a:r>
            <a:r>
              <a:rPr lang="en-US" altLang="zh-CN" sz="2400" b="1" i="1" dirty="0">
                <a:solidFill>
                  <a:srgbClr val="002060"/>
                </a:solidFill>
                <a:ea typeface="楷体_GB2312" pitchFamily="49" charset="-122"/>
              </a:rPr>
              <a:t>q</a:t>
            </a:r>
            <a:r>
              <a:rPr lang="zh-CN" altLang="en-US" sz="2400" b="1" dirty="0">
                <a:solidFill>
                  <a:srgbClr val="002060"/>
                </a:solidFill>
                <a:ea typeface="楷体_GB2312" pitchFamily="49" charset="-122"/>
              </a:rPr>
              <a:t>。</a:t>
            </a:r>
            <a:endParaRPr lang="zh-CN" altLang="en-US" sz="2400" b="1" dirty="0">
              <a:solidFill>
                <a:srgbClr val="002060"/>
              </a:solidFill>
              <a:ea typeface="楷体_GB2312" pitchFamily="49" charset="-122"/>
            </a:endParaRPr>
          </a:p>
        </p:txBody>
      </p:sp>
      <p:graphicFrame>
        <p:nvGraphicFramePr>
          <p:cNvPr id="413700" name="Object 4"/>
          <p:cNvGraphicFramePr>
            <a:graphicFrameLocks noChangeAspect="1"/>
          </p:cNvGraphicFramePr>
          <p:nvPr/>
        </p:nvGraphicFramePr>
        <p:xfrm>
          <a:off x="2771775" y="4221163"/>
          <a:ext cx="3532188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1396365" imgH="342900" progId="Equation.3">
                  <p:embed/>
                </p:oleObj>
              </mc:Choice>
              <mc:Fallback>
                <p:oleObj name="" r:id="rId1" imgW="1396365" imgH="3429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71775" y="4221163"/>
                        <a:ext cx="3532188" cy="855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704" name="Rectangle 8"/>
          <p:cNvSpPr/>
          <p:nvPr/>
        </p:nvSpPr>
        <p:spPr>
          <a:xfrm>
            <a:off x="-42862" y="3136900"/>
            <a:ext cx="8956675" cy="8318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9875" algn="ctr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2060"/>
                </a:solidFill>
                <a:ea typeface="楷体_GB2312" pitchFamily="49" charset="-122"/>
              </a:rPr>
              <a:t>解：</a:t>
            </a:r>
            <a:r>
              <a:rPr lang="zh-CN" altLang="en-US" sz="2400" b="1" dirty="0">
                <a:solidFill>
                  <a:srgbClr val="002060"/>
                </a:solidFill>
                <a:ea typeface="楷体_GB2312" pitchFamily="49" charset="-122"/>
              </a:rPr>
              <a:t>因数字波形的脉冲宽度</a:t>
            </a:r>
            <a:r>
              <a:rPr lang="en-US" altLang="zh-CN" sz="2400" b="1" i="1" dirty="0">
                <a:solidFill>
                  <a:srgbClr val="002060"/>
                </a:solidFill>
                <a:ea typeface="楷体_GB2312" pitchFamily="49" charset="-122"/>
              </a:rPr>
              <a:t>t</a:t>
            </a:r>
            <a:r>
              <a:rPr lang="en-US" altLang="zh-CN" sz="2400" b="1" baseline="-30000" dirty="0">
                <a:solidFill>
                  <a:srgbClr val="002060"/>
                </a:solidFill>
                <a:ea typeface="楷体_GB2312" pitchFamily="49" charset="-122"/>
              </a:rPr>
              <a:t>w</a:t>
            </a:r>
            <a:r>
              <a:rPr lang="en-US" altLang="zh-CN" sz="2400" b="1" dirty="0">
                <a:solidFill>
                  <a:srgbClr val="002060"/>
                </a:solidFill>
                <a:ea typeface="楷体_GB2312" pitchFamily="49" charset="-122"/>
              </a:rPr>
              <a:t>=6ms</a:t>
            </a:r>
            <a:r>
              <a:rPr lang="zh-CN" altLang="en-US" sz="2400" b="1" dirty="0">
                <a:solidFill>
                  <a:srgbClr val="002060"/>
                </a:solidFill>
                <a:ea typeface="楷体_GB2312" pitchFamily="49" charset="-122"/>
              </a:rPr>
              <a:t>，周期</a:t>
            </a:r>
            <a:r>
              <a:rPr lang="en-US" altLang="zh-CN" sz="2400" b="1" i="1" dirty="0">
                <a:solidFill>
                  <a:srgbClr val="002060"/>
                </a:solidFill>
                <a:ea typeface="楷体_GB2312" pitchFamily="49" charset="-122"/>
              </a:rPr>
              <a:t>T</a:t>
            </a:r>
            <a:r>
              <a:rPr lang="en-US" altLang="zh-CN" sz="2400" b="1" dirty="0">
                <a:solidFill>
                  <a:srgbClr val="002060"/>
                </a:solidFill>
                <a:ea typeface="楷体_GB2312" pitchFamily="49" charset="-122"/>
              </a:rPr>
              <a:t>=6ms+10ms=16ms</a:t>
            </a:r>
            <a:r>
              <a:rPr lang="zh-CN" altLang="en-US" sz="2400" b="1" dirty="0">
                <a:solidFill>
                  <a:srgbClr val="002060"/>
                </a:solidFill>
                <a:ea typeface="楷体_GB2312" pitchFamily="49" charset="-122"/>
              </a:rPr>
              <a:t>。</a:t>
            </a:r>
            <a:endParaRPr lang="zh-CN" altLang="en-US" sz="2400" b="1" dirty="0">
              <a:solidFill>
                <a:srgbClr val="002060"/>
              </a:solidFill>
              <a:ea typeface="楷体_GB2312" pitchFamily="49" charset="-122"/>
            </a:endParaRPr>
          </a:p>
          <a:p>
            <a:pPr marL="0" lvl="0" indent="269875" algn="ctr">
              <a:spcBef>
                <a:spcPct val="0"/>
              </a:spcBef>
              <a:buNone/>
            </a:pPr>
            <a:endParaRPr lang="en-US" altLang="zh-CN" sz="2400" b="1" dirty="0">
              <a:solidFill>
                <a:schemeClr val="folHlink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3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13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413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701" grpId="0"/>
      <p:bldP spid="41370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8674" name="Object 7"/>
          <p:cNvGraphicFramePr>
            <a:graphicFrameLocks noChangeAspect="1"/>
          </p:cNvGraphicFramePr>
          <p:nvPr/>
        </p:nvGraphicFramePr>
        <p:xfrm>
          <a:off x="755650" y="1484313"/>
          <a:ext cx="7524750" cy="424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21478875" imgH="10182225" progId="Photoshop.Image.8">
                  <p:embed/>
                </p:oleObj>
              </mc:Choice>
              <mc:Fallback>
                <p:oleObj name="" r:id="rId1" imgW="21478875" imgH="10182225" progId="Photoshop.Image.8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5650" y="1484313"/>
                        <a:ext cx="7524750" cy="4249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5" name="Rectangle 4"/>
          <p:cNvSpPr/>
          <p:nvPr/>
        </p:nvSpPr>
        <p:spPr>
          <a:xfrm>
            <a:off x="0" y="3068638"/>
            <a:ext cx="9144000" cy="0"/>
          </a:xfrm>
          <a:prstGeom prst="rect">
            <a:avLst/>
          </a:prstGeom>
          <a:noFill/>
          <a:ln w="889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404485" name="Text Box 5"/>
          <p:cNvSpPr txBox="1"/>
          <p:nvPr/>
        </p:nvSpPr>
        <p:spPr>
          <a:xfrm>
            <a:off x="971550" y="1341438"/>
            <a:ext cx="3152775" cy="5302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非理想脉冲波形</a:t>
            </a:r>
            <a:endParaRPr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677" name="Text Box 6"/>
          <p:cNvSpPr txBox="1"/>
          <p:nvPr/>
        </p:nvSpPr>
        <p:spPr>
          <a:xfrm>
            <a:off x="900113" y="476250"/>
            <a:ext cx="6923087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(3)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实际脉冲波形及主要参数</a:t>
            </a:r>
            <a:endParaRPr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404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8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6532" name="Text Box 4"/>
          <p:cNvSpPr txBox="1"/>
          <p:nvPr/>
        </p:nvSpPr>
        <p:spPr>
          <a:xfrm>
            <a:off x="179388" y="549275"/>
            <a:ext cx="32258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几个主要参数</a:t>
            </a: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6533" name="Text Box 5"/>
          <p:cNvSpPr txBox="1"/>
          <p:nvPr/>
        </p:nvSpPr>
        <p:spPr>
          <a:xfrm>
            <a:off x="560388" y="2393950"/>
            <a:ext cx="8280400" cy="5302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占空比 </a:t>
            </a:r>
            <a:r>
              <a:rPr lang="en-US" altLang="zh-CN" sz="2400" b="1" i="1" dirty="0">
                <a:solidFill>
                  <a:srgbClr val="000066"/>
                </a:solidFill>
                <a:ea typeface="楷体_GB2312" pitchFamily="49" charset="-122"/>
              </a:rPr>
              <a:t>Q</a:t>
            </a: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-----  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表示脉冲宽度占整个周期的百分比</a:t>
            </a:r>
            <a:endParaRPr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6534" name="Text Box 6"/>
          <p:cNvSpPr txBox="1"/>
          <p:nvPr/>
        </p:nvSpPr>
        <p:spPr>
          <a:xfrm>
            <a:off x="539750" y="2852738"/>
            <a:ext cx="8682038" cy="11525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lnSpc>
                <a:spcPct val="145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上升时间</a:t>
            </a:r>
            <a:r>
              <a:rPr lang="en-US" altLang="zh-CN" sz="2400" b="1" i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t</a:t>
            </a:r>
            <a:r>
              <a:rPr lang="en-US" altLang="zh-CN" sz="2400" b="1" baseline="-300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和下降时间</a:t>
            </a:r>
            <a:r>
              <a:rPr lang="en-US" altLang="zh-CN" sz="2400" b="1" i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t</a:t>
            </a:r>
            <a:r>
              <a:rPr lang="en-US" altLang="zh-CN" sz="2400" b="1" baseline="-300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f </a:t>
            </a: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----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从脉冲幅值的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10%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到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90% 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上升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ctr">
              <a:lnSpc>
                <a:spcPct val="145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下降所经历的时间</a:t>
            </a: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典型值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ns</a:t>
            </a: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)</a:t>
            </a:r>
            <a:endParaRPr lang="en-US" altLang="zh-CN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6535" name="Text Box 7"/>
          <p:cNvSpPr txBox="1"/>
          <p:nvPr/>
        </p:nvSpPr>
        <p:spPr>
          <a:xfrm>
            <a:off x="528638" y="1746250"/>
            <a:ext cx="8939212" cy="5302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脉冲宽度 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(t</a:t>
            </a:r>
            <a:r>
              <a:rPr lang="en-US" altLang="zh-CN" sz="2400" b="1" baseline="-30000" dirty="0">
                <a:solidFill>
                  <a:srgbClr val="000066"/>
                </a:solidFill>
                <a:ea typeface="楷体_GB2312" pitchFamily="49" charset="-122"/>
              </a:rPr>
              <a:t>w 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)----    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脉冲幅值的</a:t>
            </a: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50%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的两个时间所跨越的时间</a:t>
            </a:r>
            <a:endParaRPr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6536" name="Rectangle 8"/>
          <p:cNvSpPr/>
          <p:nvPr/>
        </p:nvSpPr>
        <p:spPr>
          <a:xfrm>
            <a:off x="539750" y="1268413"/>
            <a:ext cx="7339013" cy="53022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lnSpc>
                <a:spcPct val="12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周期 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(T)</a:t>
            </a: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 ----  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表示两个相邻脉冲之间的时间间隔</a:t>
            </a:r>
            <a:endParaRPr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9703" name="Group 9"/>
          <p:cNvGrpSpPr/>
          <p:nvPr/>
        </p:nvGrpSpPr>
        <p:grpSpPr>
          <a:xfrm>
            <a:off x="1409700" y="3933825"/>
            <a:ext cx="5903913" cy="3240088"/>
            <a:chOff x="569" y="1937"/>
            <a:chExt cx="4649" cy="2172"/>
          </a:xfrm>
        </p:grpSpPr>
        <p:sp>
          <p:nvSpPr>
            <p:cNvPr id="29704" name="AutoShape 10"/>
            <p:cNvSpPr>
              <a:spLocks noChangeAspect="1" noTextEdit="1"/>
            </p:cNvSpPr>
            <p:nvPr/>
          </p:nvSpPr>
          <p:spPr>
            <a:xfrm>
              <a:off x="569" y="2007"/>
              <a:ext cx="4649" cy="210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05" name="Rectangle 11"/>
            <p:cNvSpPr/>
            <p:nvPr/>
          </p:nvSpPr>
          <p:spPr>
            <a:xfrm>
              <a:off x="569" y="2014"/>
              <a:ext cx="68" cy="2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700" b="1" dirty="0">
                  <a:solidFill>
                    <a:srgbClr val="000000"/>
                  </a:solidFill>
                  <a:ea typeface="楷体_GB2312" pitchFamily="49" charset="-122"/>
                </a:rPr>
                <a:t> 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06" name="Rectangle 12"/>
            <p:cNvSpPr/>
            <p:nvPr/>
          </p:nvSpPr>
          <p:spPr>
            <a:xfrm>
              <a:off x="2030" y="3232"/>
              <a:ext cx="325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9707" name="Rectangle 13"/>
            <p:cNvSpPr/>
            <p:nvPr/>
          </p:nvSpPr>
          <p:spPr>
            <a:xfrm>
              <a:off x="2133" y="3309"/>
              <a:ext cx="75" cy="2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700" b="1" i="1" dirty="0">
                  <a:solidFill>
                    <a:srgbClr val="000000"/>
                  </a:solidFill>
                  <a:ea typeface="楷体_GB2312" pitchFamily="49" charset="-122"/>
                </a:rPr>
                <a:t>t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08" name="Rectangle 14"/>
            <p:cNvSpPr/>
            <p:nvPr/>
          </p:nvSpPr>
          <p:spPr>
            <a:xfrm>
              <a:off x="2200" y="3430"/>
              <a:ext cx="75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700" b="1" dirty="0">
                  <a:solidFill>
                    <a:srgbClr val="000000"/>
                  </a:solidFill>
                  <a:ea typeface="楷体_GB2312" pitchFamily="49" charset="-122"/>
                </a:rPr>
                <a:t>r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09" name="Rectangle 15"/>
            <p:cNvSpPr/>
            <p:nvPr/>
          </p:nvSpPr>
          <p:spPr>
            <a:xfrm>
              <a:off x="2694" y="2877"/>
              <a:ext cx="1033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9710" name="Rectangle 16"/>
            <p:cNvSpPr/>
            <p:nvPr/>
          </p:nvSpPr>
          <p:spPr>
            <a:xfrm>
              <a:off x="2842" y="2985"/>
              <a:ext cx="925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300" b="1" dirty="0">
                  <a:solidFill>
                    <a:srgbClr val="000000"/>
                  </a:solidFill>
                  <a:ea typeface="楷体_GB2312" pitchFamily="49" charset="-122"/>
                </a:rPr>
                <a:t>脉冲宽度</a:t>
              </a:r>
              <a:endParaRPr lang="zh-CN" altLang="en-US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11" name="Rectangle 17"/>
            <p:cNvSpPr/>
            <p:nvPr/>
          </p:nvSpPr>
          <p:spPr>
            <a:xfrm>
              <a:off x="3550" y="2939"/>
              <a:ext cx="68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700" b="1" dirty="0">
                  <a:solidFill>
                    <a:srgbClr val="000000"/>
                  </a:solidFill>
                  <a:ea typeface="楷体_GB2312" pitchFamily="49" charset="-122"/>
                </a:rPr>
                <a:t> 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12" name="Rectangle 18"/>
            <p:cNvSpPr/>
            <p:nvPr/>
          </p:nvSpPr>
          <p:spPr>
            <a:xfrm>
              <a:off x="3019" y="2492"/>
              <a:ext cx="325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9713" name="Rectangle 19"/>
            <p:cNvSpPr/>
            <p:nvPr/>
          </p:nvSpPr>
          <p:spPr>
            <a:xfrm>
              <a:off x="3093" y="2569"/>
              <a:ext cx="75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700" b="1" i="1" dirty="0">
                  <a:solidFill>
                    <a:srgbClr val="000000"/>
                  </a:solidFill>
                  <a:ea typeface="楷体_GB2312" pitchFamily="49" charset="-122"/>
                </a:rPr>
                <a:t>t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14" name="Rectangle 20"/>
            <p:cNvSpPr/>
            <p:nvPr/>
          </p:nvSpPr>
          <p:spPr>
            <a:xfrm>
              <a:off x="3152" y="2646"/>
              <a:ext cx="122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700" b="1" dirty="0">
                  <a:solidFill>
                    <a:srgbClr val="000000"/>
                  </a:solidFill>
                  <a:ea typeface="楷体_GB2312" pitchFamily="49" charset="-122"/>
                </a:rPr>
                <a:t>w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15" name="Rectangle 21"/>
            <p:cNvSpPr/>
            <p:nvPr/>
          </p:nvSpPr>
          <p:spPr>
            <a:xfrm>
              <a:off x="3255" y="2569"/>
              <a:ext cx="68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700" b="1" dirty="0">
                  <a:solidFill>
                    <a:srgbClr val="000000"/>
                  </a:solidFill>
                  <a:ea typeface="楷体_GB2312" pitchFamily="49" charset="-122"/>
                </a:rPr>
                <a:t> 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16" name="Rectangle 22"/>
            <p:cNvSpPr/>
            <p:nvPr/>
          </p:nvSpPr>
          <p:spPr>
            <a:xfrm>
              <a:off x="1558" y="2893"/>
              <a:ext cx="443" cy="37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9717" name="Rectangle 23"/>
            <p:cNvSpPr/>
            <p:nvPr/>
          </p:nvSpPr>
          <p:spPr>
            <a:xfrm>
              <a:off x="1602" y="2985"/>
              <a:ext cx="453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300" b="1" dirty="0">
                  <a:solidFill>
                    <a:srgbClr val="000000"/>
                  </a:solidFill>
                  <a:ea typeface="楷体_GB2312" pitchFamily="49" charset="-122"/>
                </a:rPr>
                <a:t>0.5V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18" name="Rectangle 24"/>
            <p:cNvSpPr/>
            <p:nvPr/>
          </p:nvSpPr>
          <p:spPr>
            <a:xfrm>
              <a:off x="1942" y="2985"/>
              <a:ext cx="57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300" b="1" dirty="0">
                  <a:solidFill>
                    <a:srgbClr val="000000"/>
                  </a:solidFill>
                  <a:ea typeface="楷体_GB2312" pitchFamily="49" charset="-122"/>
                </a:rPr>
                <a:t> 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19" name="Rectangle 25"/>
            <p:cNvSpPr/>
            <p:nvPr/>
          </p:nvSpPr>
          <p:spPr>
            <a:xfrm>
              <a:off x="1912" y="2060"/>
              <a:ext cx="443" cy="37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9720" name="Rectangle 26"/>
            <p:cNvSpPr/>
            <p:nvPr/>
          </p:nvSpPr>
          <p:spPr>
            <a:xfrm>
              <a:off x="1957" y="2153"/>
              <a:ext cx="453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300" b="1" dirty="0">
                  <a:solidFill>
                    <a:srgbClr val="000000"/>
                  </a:solidFill>
                  <a:ea typeface="楷体_GB2312" pitchFamily="49" charset="-122"/>
                </a:rPr>
                <a:t>4.5V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21" name="Rectangle 27"/>
            <p:cNvSpPr/>
            <p:nvPr/>
          </p:nvSpPr>
          <p:spPr>
            <a:xfrm>
              <a:off x="2297" y="2153"/>
              <a:ext cx="57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300" b="1" dirty="0">
                  <a:solidFill>
                    <a:srgbClr val="000000"/>
                  </a:solidFill>
                  <a:ea typeface="楷体_GB2312" pitchFamily="49" charset="-122"/>
                </a:rPr>
                <a:t> 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22" name="Rectangle 28"/>
            <p:cNvSpPr/>
            <p:nvPr/>
          </p:nvSpPr>
          <p:spPr>
            <a:xfrm>
              <a:off x="1750" y="2461"/>
              <a:ext cx="442" cy="37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9723" name="Rectangle 29"/>
            <p:cNvSpPr/>
            <p:nvPr/>
          </p:nvSpPr>
          <p:spPr>
            <a:xfrm>
              <a:off x="1794" y="2554"/>
              <a:ext cx="454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300" b="1" dirty="0">
                  <a:solidFill>
                    <a:srgbClr val="000000"/>
                  </a:solidFill>
                  <a:ea typeface="楷体_GB2312" pitchFamily="49" charset="-122"/>
                </a:rPr>
                <a:t>2.5V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24" name="Rectangle 30"/>
            <p:cNvSpPr/>
            <p:nvPr/>
          </p:nvSpPr>
          <p:spPr>
            <a:xfrm>
              <a:off x="2133" y="2554"/>
              <a:ext cx="57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300" b="1" dirty="0">
                  <a:solidFill>
                    <a:srgbClr val="000000"/>
                  </a:solidFill>
                  <a:ea typeface="楷体_GB2312" pitchFamily="49" charset="-122"/>
                </a:rPr>
                <a:t> 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25" name="Rectangle 31"/>
            <p:cNvSpPr/>
            <p:nvPr/>
          </p:nvSpPr>
          <p:spPr>
            <a:xfrm>
              <a:off x="569" y="2477"/>
              <a:ext cx="1092" cy="37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9726" name="Rectangle 32"/>
            <p:cNvSpPr/>
            <p:nvPr/>
          </p:nvSpPr>
          <p:spPr>
            <a:xfrm>
              <a:off x="703" y="2523"/>
              <a:ext cx="462" cy="2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300" b="1" dirty="0">
                  <a:solidFill>
                    <a:srgbClr val="000000"/>
                  </a:solidFill>
                  <a:ea typeface="楷体_GB2312" pitchFamily="49" charset="-122"/>
                </a:rPr>
                <a:t>幅值</a:t>
              </a:r>
              <a:endParaRPr lang="zh-CN" altLang="en-US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27" name="Rectangle 33"/>
            <p:cNvSpPr/>
            <p:nvPr/>
          </p:nvSpPr>
          <p:spPr>
            <a:xfrm>
              <a:off x="1057" y="2554"/>
              <a:ext cx="585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300" b="1" dirty="0">
                  <a:solidFill>
                    <a:srgbClr val="000000"/>
                  </a:solidFill>
                  <a:ea typeface="楷体_GB2312" pitchFamily="49" charset="-122"/>
                </a:rPr>
                <a:t>=5.0V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28" name="Rectangle 34"/>
            <p:cNvSpPr/>
            <p:nvPr/>
          </p:nvSpPr>
          <p:spPr>
            <a:xfrm>
              <a:off x="1499" y="2554"/>
              <a:ext cx="58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300" b="1" dirty="0">
                  <a:solidFill>
                    <a:srgbClr val="000000"/>
                  </a:solidFill>
                  <a:ea typeface="楷体_GB2312" pitchFamily="49" charset="-122"/>
                </a:rPr>
                <a:t> 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29" name="Rectangle 35"/>
            <p:cNvSpPr/>
            <p:nvPr/>
          </p:nvSpPr>
          <p:spPr>
            <a:xfrm>
              <a:off x="569" y="2893"/>
              <a:ext cx="58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300" b="1" dirty="0">
                  <a:solidFill>
                    <a:srgbClr val="000000"/>
                  </a:solidFill>
                  <a:ea typeface="楷体_GB2312" pitchFamily="49" charset="-122"/>
                </a:rPr>
                <a:t> 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30" name="Rectangle 36"/>
            <p:cNvSpPr/>
            <p:nvPr/>
          </p:nvSpPr>
          <p:spPr>
            <a:xfrm>
              <a:off x="702" y="3016"/>
              <a:ext cx="546" cy="37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9731" name="Rectangle 37"/>
            <p:cNvSpPr/>
            <p:nvPr/>
          </p:nvSpPr>
          <p:spPr>
            <a:xfrm>
              <a:off x="790" y="3109"/>
              <a:ext cx="454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300" b="1" dirty="0">
                  <a:solidFill>
                    <a:srgbClr val="000000"/>
                  </a:solidFill>
                  <a:ea typeface="楷体_GB2312" pitchFamily="49" charset="-122"/>
                </a:rPr>
                <a:t>0.0V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32" name="Rectangle 38"/>
            <p:cNvSpPr/>
            <p:nvPr/>
          </p:nvSpPr>
          <p:spPr>
            <a:xfrm>
              <a:off x="1130" y="3109"/>
              <a:ext cx="58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300" b="1" dirty="0">
                  <a:solidFill>
                    <a:srgbClr val="000000"/>
                  </a:solidFill>
                  <a:ea typeface="楷体_GB2312" pitchFamily="49" charset="-122"/>
                </a:rPr>
                <a:t> 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33" name="Rectangle 39"/>
            <p:cNvSpPr/>
            <p:nvPr/>
          </p:nvSpPr>
          <p:spPr>
            <a:xfrm>
              <a:off x="746" y="1937"/>
              <a:ext cx="546" cy="37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9734" name="Rectangle 40"/>
            <p:cNvSpPr/>
            <p:nvPr/>
          </p:nvSpPr>
          <p:spPr>
            <a:xfrm>
              <a:off x="835" y="2029"/>
              <a:ext cx="454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300" b="1" dirty="0">
                  <a:solidFill>
                    <a:srgbClr val="000000"/>
                  </a:solidFill>
                  <a:ea typeface="楷体_GB2312" pitchFamily="49" charset="-122"/>
                </a:rPr>
                <a:t>5.0V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35" name="Rectangle 41"/>
            <p:cNvSpPr/>
            <p:nvPr/>
          </p:nvSpPr>
          <p:spPr>
            <a:xfrm>
              <a:off x="1174" y="2029"/>
              <a:ext cx="58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300" b="1" dirty="0">
                  <a:solidFill>
                    <a:srgbClr val="000000"/>
                  </a:solidFill>
                  <a:ea typeface="楷体_GB2312" pitchFamily="49" charset="-122"/>
                </a:rPr>
                <a:t> 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36" name="Rectangle 42"/>
            <p:cNvSpPr/>
            <p:nvPr/>
          </p:nvSpPr>
          <p:spPr>
            <a:xfrm>
              <a:off x="1056" y="3494"/>
              <a:ext cx="177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9737" name="Line 43"/>
            <p:cNvSpPr/>
            <p:nvPr/>
          </p:nvSpPr>
          <p:spPr>
            <a:xfrm flipH="1">
              <a:off x="2458" y="3448"/>
              <a:ext cx="177" cy="1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8" name="Freeform 44"/>
            <p:cNvSpPr/>
            <p:nvPr/>
          </p:nvSpPr>
          <p:spPr>
            <a:xfrm>
              <a:off x="2370" y="3417"/>
              <a:ext cx="118" cy="46"/>
            </a:xfrm>
            <a:custGeom>
              <a:avLst/>
              <a:gdLst>
                <a:gd name="txL" fmla="*/ 0 w 118"/>
                <a:gd name="txT" fmla="*/ 0 h 46"/>
                <a:gd name="txR" fmla="*/ 118 w 118"/>
                <a:gd name="txB" fmla="*/ 46 h 46"/>
              </a:gdLst>
              <a:ahLst/>
              <a:cxnLst>
                <a:cxn ang="0">
                  <a:pos x="118" y="46"/>
                </a:cxn>
                <a:cxn ang="0">
                  <a:pos x="118" y="0"/>
                </a:cxn>
                <a:cxn ang="0">
                  <a:pos x="0" y="31"/>
                </a:cxn>
                <a:cxn ang="0">
                  <a:pos x="118" y="46"/>
                </a:cxn>
              </a:cxnLst>
              <a:rect l="txL" t="txT" r="txR" b="txB"/>
              <a:pathLst>
                <a:path w="118" h="46">
                  <a:moveTo>
                    <a:pt x="118" y="46"/>
                  </a:moveTo>
                  <a:lnTo>
                    <a:pt x="118" y="0"/>
                  </a:lnTo>
                  <a:lnTo>
                    <a:pt x="0" y="31"/>
                  </a:lnTo>
                  <a:lnTo>
                    <a:pt x="118" y="4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238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39" name="Line 45"/>
            <p:cNvSpPr/>
            <p:nvPr/>
          </p:nvSpPr>
          <p:spPr>
            <a:xfrm>
              <a:off x="1735" y="3448"/>
              <a:ext cx="192" cy="1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40" name="Freeform 46"/>
            <p:cNvSpPr/>
            <p:nvPr/>
          </p:nvSpPr>
          <p:spPr>
            <a:xfrm>
              <a:off x="1897" y="3417"/>
              <a:ext cx="118" cy="46"/>
            </a:xfrm>
            <a:custGeom>
              <a:avLst/>
              <a:gdLst>
                <a:gd name="txL" fmla="*/ 0 w 118"/>
                <a:gd name="txT" fmla="*/ 0 h 46"/>
                <a:gd name="txR" fmla="*/ 118 w 118"/>
                <a:gd name="txB" fmla="*/ 46 h 46"/>
              </a:gdLst>
              <a:ahLst/>
              <a:cxnLst>
                <a:cxn ang="0">
                  <a:pos x="0" y="46"/>
                </a:cxn>
                <a:cxn ang="0">
                  <a:pos x="0" y="0"/>
                </a:cxn>
                <a:cxn ang="0">
                  <a:pos x="118" y="31"/>
                </a:cxn>
                <a:cxn ang="0">
                  <a:pos x="0" y="46"/>
                </a:cxn>
              </a:cxnLst>
              <a:rect l="txL" t="txT" r="txR" b="txB"/>
              <a:pathLst>
                <a:path w="118" h="46">
                  <a:moveTo>
                    <a:pt x="0" y="46"/>
                  </a:moveTo>
                  <a:lnTo>
                    <a:pt x="0" y="0"/>
                  </a:lnTo>
                  <a:lnTo>
                    <a:pt x="118" y="31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238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9741" name="Group 47"/>
            <p:cNvGrpSpPr/>
            <p:nvPr/>
          </p:nvGrpSpPr>
          <p:grpSpPr>
            <a:xfrm>
              <a:off x="2340" y="2292"/>
              <a:ext cx="15" cy="1248"/>
              <a:chOff x="2202" y="1402"/>
              <a:chExt cx="15" cy="1248"/>
            </a:xfrm>
          </p:grpSpPr>
          <p:sp>
            <p:nvSpPr>
              <p:cNvPr id="29844" name="Freeform 48"/>
              <p:cNvSpPr/>
              <p:nvPr/>
            </p:nvSpPr>
            <p:spPr>
              <a:xfrm>
                <a:off x="2202" y="2589"/>
                <a:ext cx="15" cy="61"/>
              </a:xfrm>
              <a:custGeom>
                <a:avLst/>
                <a:gdLst>
                  <a:gd name="txL" fmla="*/ 0 w 15"/>
                  <a:gd name="txT" fmla="*/ 0 h 61"/>
                  <a:gd name="txR" fmla="*/ 15 w 15"/>
                  <a:gd name="txB" fmla="*/ 61 h 61"/>
                </a:gdLst>
                <a:ahLst/>
                <a:cxnLst>
                  <a:cxn ang="0">
                    <a:pos x="0" y="61"/>
                  </a:cxn>
                  <a:cxn ang="0">
                    <a:pos x="0" y="61"/>
                  </a:cxn>
                  <a:cxn ang="0">
                    <a:pos x="15" y="61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1"/>
                  </a:cxn>
                </a:cxnLst>
                <a:rect l="txL" t="txT" r="txR" b="txB"/>
                <a:pathLst>
                  <a:path w="15" h="61">
                    <a:moveTo>
                      <a:pt x="0" y="61"/>
                    </a:moveTo>
                    <a:lnTo>
                      <a:pt x="0" y="61"/>
                    </a:lnTo>
                    <a:lnTo>
                      <a:pt x="15" y="61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61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45" name="Freeform 49"/>
              <p:cNvSpPr/>
              <p:nvPr/>
            </p:nvSpPr>
            <p:spPr>
              <a:xfrm>
                <a:off x="2202" y="2481"/>
                <a:ext cx="15" cy="61"/>
              </a:xfrm>
              <a:custGeom>
                <a:avLst/>
                <a:gdLst>
                  <a:gd name="txL" fmla="*/ 0 w 15"/>
                  <a:gd name="txT" fmla="*/ 0 h 61"/>
                  <a:gd name="txR" fmla="*/ 15 w 15"/>
                  <a:gd name="txB" fmla="*/ 61 h 61"/>
                </a:gdLst>
                <a:ahLst/>
                <a:cxnLst>
                  <a:cxn ang="0">
                    <a:pos x="0" y="61"/>
                  </a:cxn>
                  <a:cxn ang="0">
                    <a:pos x="0" y="61"/>
                  </a:cxn>
                  <a:cxn ang="0">
                    <a:pos x="15" y="61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1"/>
                  </a:cxn>
                </a:cxnLst>
                <a:rect l="txL" t="txT" r="txR" b="txB"/>
                <a:pathLst>
                  <a:path w="15" h="61">
                    <a:moveTo>
                      <a:pt x="0" y="61"/>
                    </a:moveTo>
                    <a:lnTo>
                      <a:pt x="0" y="61"/>
                    </a:lnTo>
                    <a:lnTo>
                      <a:pt x="15" y="61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61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46" name="Freeform 50"/>
              <p:cNvSpPr/>
              <p:nvPr/>
            </p:nvSpPr>
            <p:spPr>
              <a:xfrm>
                <a:off x="2202" y="2373"/>
                <a:ext cx="15" cy="61"/>
              </a:xfrm>
              <a:custGeom>
                <a:avLst/>
                <a:gdLst>
                  <a:gd name="txL" fmla="*/ 0 w 15"/>
                  <a:gd name="txT" fmla="*/ 0 h 61"/>
                  <a:gd name="txR" fmla="*/ 15 w 15"/>
                  <a:gd name="txB" fmla="*/ 61 h 61"/>
                </a:gdLst>
                <a:ahLst/>
                <a:cxnLst>
                  <a:cxn ang="0">
                    <a:pos x="0" y="61"/>
                  </a:cxn>
                  <a:cxn ang="0">
                    <a:pos x="0" y="61"/>
                  </a:cxn>
                  <a:cxn ang="0">
                    <a:pos x="15" y="61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1"/>
                  </a:cxn>
                </a:cxnLst>
                <a:rect l="txL" t="txT" r="txR" b="txB"/>
                <a:pathLst>
                  <a:path w="15" h="61">
                    <a:moveTo>
                      <a:pt x="0" y="61"/>
                    </a:moveTo>
                    <a:lnTo>
                      <a:pt x="0" y="61"/>
                    </a:lnTo>
                    <a:lnTo>
                      <a:pt x="15" y="61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61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47" name="Freeform 51"/>
              <p:cNvSpPr/>
              <p:nvPr/>
            </p:nvSpPr>
            <p:spPr>
              <a:xfrm>
                <a:off x="2202" y="2265"/>
                <a:ext cx="15" cy="61"/>
              </a:xfrm>
              <a:custGeom>
                <a:avLst/>
                <a:gdLst>
                  <a:gd name="txL" fmla="*/ 0 w 15"/>
                  <a:gd name="txT" fmla="*/ 0 h 61"/>
                  <a:gd name="txR" fmla="*/ 15 w 15"/>
                  <a:gd name="txB" fmla="*/ 61 h 61"/>
                </a:gdLst>
                <a:ahLst/>
                <a:cxnLst>
                  <a:cxn ang="0">
                    <a:pos x="0" y="61"/>
                  </a:cxn>
                  <a:cxn ang="0">
                    <a:pos x="0" y="61"/>
                  </a:cxn>
                  <a:cxn ang="0">
                    <a:pos x="15" y="61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1"/>
                  </a:cxn>
                </a:cxnLst>
                <a:rect l="txL" t="txT" r="txR" b="txB"/>
                <a:pathLst>
                  <a:path w="15" h="61">
                    <a:moveTo>
                      <a:pt x="0" y="61"/>
                    </a:moveTo>
                    <a:lnTo>
                      <a:pt x="0" y="61"/>
                    </a:lnTo>
                    <a:lnTo>
                      <a:pt x="15" y="61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61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48" name="Freeform 52"/>
              <p:cNvSpPr/>
              <p:nvPr/>
            </p:nvSpPr>
            <p:spPr>
              <a:xfrm>
                <a:off x="2202" y="2157"/>
                <a:ext cx="15" cy="62"/>
              </a:xfrm>
              <a:custGeom>
                <a:avLst/>
                <a:gdLst>
                  <a:gd name="txL" fmla="*/ 0 w 15"/>
                  <a:gd name="txT" fmla="*/ 0 h 62"/>
                  <a:gd name="txR" fmla="*/ 15 w 15"/>
                  <a:gd name="txB" fmla="*/ 62 h 62"/>
                </a:gdLst>
                <a:ahLst/>
                <a:cxnLst>
                  <a:cxn ang="0">
                    <a:pos x="0" y="62"/>
                  </a:cxn>
                  <a:cxn ang="0">
                    <a:pos x="0" y="62"/>
                  </a:cxn>
                  <a:cxn ang="0">
                    <a:pos x="15" y="62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2"/>
                  </a:cxn>
                </a:cxnLst>
                <a:rect l="txL" t="txT" r="txR" b="txB"/>
                <a:pathLst>
                  <a:path w="15" h="62">
                    <a:moveTo>
                      <a:pt x="0" y="62"/>
                    </a:moveTo>
                    <a:lnTo>
                      <a:pt x="0" y="62"/>
                    </a:lnTo>
                    <a:lnTo>
                      <a:pt x="15" y="6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49" name="Freeform 53"/>
              <p:cNvSpPr/>
              <p:nvPr/>
            </p:nvSpPr>
            <p:spPr>
              <a:xfrm>
                <a:off x="2202" y="2049"/>
                <a:ext cx="15" cy="62"/>
              </a:xfrm>
              <a:custGeom>
                <a:avLst/>
                <a:gdLst>
                  <a:gd name="txL" fmla="*/ 0 w 15"/>
                  <a:gd name="txT" fmla="*/ 0 h 62"/>
                  <a:gd name="txR" fmla="*/ 15 w 15"/>
                  <a:gd name="txB" fmla="*/ 62 h 62"/>
                </a:gdLst>
                <a:ahLst/>
                <a:cxnLst>
                  <a:cxn ang="0">
                    <a:pos x="0" y="62"/>
                  </a:cxn>
                  <a:cxn ang="0">
                    <a:pos x="0" y="62"/>
                  </a:cxn>
                  <a:cxn ang="0">
                    <a:pos x="15" y="62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2"/>
                  </a:cxn>
                </a:cxnLst>
                <a:rect l="txL" t="txT" r="txR" b="txB"/>
                <a:pathLst>
                  <a:path w="15" h="62">
                    <a:moveTo>
                      <a:pt x="0" y="62"/>
                    </a:moveTo>
                    <a:lnTo>
                      <a:pt x="0" y="62"/>
                    </a:lnTo>
                    <a:lnTo>
                      <a:pt x="15" y="6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50" name="Freeform 54"/>
              <p:cNvSpPr/>
              <p:nvPr/>
            </p:nvSpPr>
            <p:spPr>
              <a:xfrm>
                <a:off x="2202" y="1941"/>
                <a:ext cx="15" cy="62"/>
              </a:xfrm>
              <a:custGeom>
                <a:avLst/>
                <a:gdLst>
                  <a:gd name="txL" fmla="*/ 0 w 15"/>
                  <a:gd name="txT" fmla="*/ 0 h 62"/>
                  <a:gd name="txR" fmla="*/ 15 w 15"/>
                  <a:gd name="txB" fmla="*/ 62 h 62"/>
                </a:gdLst>
                <a:ahLst/>
                <a:cxnLst>
                  <a:cxn ang="0">
                    <a:pos x="0" y="62"/>
                  </a:cxn>
                  <a:cxn ang="0">
                    <a:pos x="0" y="62"/>
                  </a:cxn>
                  <a:cxn ang="0">
                    <a:pos x="15" y="62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2"/>
                  </a:cxn>
                </a:cxnLst>
                <a:rect l="txL" t="txT" r="txR" b="txB"/>
                <a:pathLst>
                  <a:path w="15" h="62">
                    <a:moveTo>
                      <a:pt x="0" y="62"/>
                    </a:moveTo>
                    <a:lnTo>
                      <a:pt x="0" y="62"/>
                    </a:lnTo>
                    <a:lnTo>
                      <a:pt x="15" y="6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51" name="Freeform 55"/>
              <p:cNvSpPr/>
              <p:nvPr/>
            </p:nvSpPr>
            <p:spPr>
              <a:xfrm>
                <a:off x="2202" y="1833"/>
                <a:ext cx="15" cy="62"/>
              </a:xfrm>
              <a:custGeom>
                <a:avLst/>
                <a:gdLst>
                  <a:gd name="txL" fmla="*/ 0 w 15"/>
                  <a:gd name="txT" fmla="*/ 0 h 62"/>
                  <a:gd name="txR" fmla="*/ 15 w 15"/>
                  <a:gd name="txB" fmla="*/ 62 h 62"/>
                </a:gdLst>
                <a:ahLst/>
                <a:cxnLst>
                  <a:cxn ang="0">
                    <a:pos x="0" y="62"/>
                  </a:cxn>
                  <a:cxn ang="0">
                    <a:pos x="0" y="62"/>
                  </a:cxn>
                  <a:cxn ang="0">
                    <a:pos x="15" y="62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2"/>
                  </a:cxn>
                </a:cxnLst>
                <a:rect l="txL" t="txT" r="txR" b="txB"/>
                <a:pathLst>
                  <a:path w="15" h="62">
                    <a:moveTo>
                      <a:pt x="0" y="62"/>
                    </a:moveTo>
                    <a:lnTo>
                      <a:pt x="0" y="62"/>
                    </a:lnTo>
                    <a:lnTo>
                      <a:pt x="15" y="6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52" name="Freeform 56"/>
              <p:cNvSpPr/>
              <p:nvPr/>
            </p:nvSpPr>
            <p:spPr>
              <a:xfrm>
                <a:off x="2202" y="1725"/>
                <a:ext cx="15" cy="62"/>
              </a:xfrm>
              <a:custGeom>
                <a:avLst/>
                <a:gdLst>
                  <a:gd name="txL" fmla="*/ 0 w 15"/>
                  <a:gd name="txT" fmla="*/ 0 h 62"/>
                  <a:gd name="txR" fmla="*/ 15 w 15"/>
                  <a:gd name="txB" fmla="*/ 62 h 62"/>
                </a:gdLst>
                <a:ahLst/>
                <a:cxnLst>
                  <a:cxn ang="0">
                    <a:pos x="0" y="62"/>
                  </a:cxn>
                  <a:cxn ang="0">
                    <a:pos x="0" y="62"/>
                  </a:cxn>
                  <a:cxn ang="0">
                    <a:pos x="15" y="62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2"/>
                  </a:cxn>
                </a:cxnLst>
                <a:rect l="txL" t="txT" r="txR" b="txB"/>
                <a:pathLst>
                  <a:path w="15" h="62">
                    <a:moveTo>
                      <a:pt x="0" y="62"/>
                    </a:moveTo>
                    <a:lnTo>
                      <a:pt x="0" y="62"/>
                    </a:lnTo>
                    <a:lnTo>
                      <a:pt x="15" y="6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53" name="Freeform 57"/>
              <p:cNvSpPr/>
              <p:nvPr/>
            </p:nvSpPr>
            <p:spPr>
              <a:xfrm>
                <a:off x="2202" y="1617"/>
                <a:ext cx="15" cy="62"/>
              </a:xfrm>
              <a:custGeom>
                <a:avLst/>
                <a:gdLst>
                  <a:gd name="txL" fmla="*/ 0 w 15"/>
                  <a:gd name="txT" fmla="*/ 0 h 62"/>
                  <a:gd name="txR" fmla="*/ 15 w 15"/>
                  <a:gd name="txB" fmla="*/ 62 h 62"/>
                </a:gdLst>
                <a:ahLst/>
                <a:cxnLst>
                  <a:cxn ang="0">
                    <a:pos x="0" y="62"/>
                  </a:cxn>
                  <a:cxn ang="0">
                    <a:pos x="0" y="62"/>
                  </a:cxn>
                  <a:cxn ang="0">
                    <a:pos x="15" y="62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2"/>
                  </a:cxn>
                </a:cxnLst>
                <a:rect l="txL" t="txT" r="txR" b="txB"/>
                <a:pathLst>
                  <a:path w="15" h="62">
                    <a:moveTo>
                      <a:pt x="0" y="62"/>
                    </a:moveTo>
                    <a:lnTo>
                      <a:pt x="0" y="62"/>
                    </a:lnTo>
                    <a:lnTo>
                      <a:pt x="15" y="6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54" name="Freeform 58"/>
              <p:cNvSpPr/>
              <p:nvPr/>
            </p:nvSpPr>
            <p:spPr>
              <a:xfrm>
                <a:off x="2202" y="1509"/>
                <a:ext cx="15" cy="62"/>
              </a:xfrm>
              <a:custGeom>
                <a:avLst/>
                <a:gdLst>
                  <a:gd name="txL" fmla="*/ 0 w 15"/>
                  <a:gd name="txT" fmla="*/ 0 h 62"/>
                  <a:gd name="txR" fmla="*/ 15 w 15"/>
                  <a:gd name="txB" fmla="*/ 62 h 62"/>
                </a:gdLst>
                <a:ahLst/>
                <a:cxnLst>
                  <a:cxn ang="0">
                    <a:pos x="0" y="62"/>
                  </a:cxn>
                  <a:cxn ang="0">
                    <a:pos x="0" y="62"/>
                  </a:cxn>
                  <a:cxn ang="0">
                    <a:pos x="15" y="62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2"/>
                  </a:cxn>
                </a:cxnLst>
                <a:rect l="txL" t="txT" r="txR" b="txB"/>
                <a:pathLst>
                  <a:path w="15" h="62">
                    <a:moveTo>
                      <a:pt x="0" y="62"/>
                    </a:moveTo>
                    <a:lnTo>
                      <a:pt x="0" y="62"/>
                    </a:lnTo>
                    <a:lnTo>
                      <a:pt x="15" y="6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55" name="Freeform 59"/>
              <p:cNvSpPr/>
              <p:nvPr/>
            </p:nvSpPr>
            <p:spPr>
              <a:xfrm>
                <a:off x="2202" y="1402"/>
                <a:ext cx="15" cy="61"/>
              </a:xfrm>
              <a:custGeom>
                <a:avLst/>
                <a:gdLst>
                  <a:gd name="txL" fmla="*/ 0 w 15"/>
                  <a:gd name="txT" fmla="*/ 0 h 61"/>
                  <a:gd name="txR" fmla="*/ 15 w 15"/>
                  <a:gd name="txB" fmla="*/ 61 h 61"/>
                </a:gdLst>
                <a:ahLst/>
                <a:cxnLst>
                  <a:cxn ang="0">
                    <a:pos x="0" y="61"/>
                  </a:cxn>
                  <a:cxn ang="0">
                    <a:pos x="0" y="61"/>
                  </a:cxn>
                  <a:cxn ang="0">
                    <a:pos x="15" y="61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1"/>
                  </a:cxn>
                </a:cxnLst>
                <a:rect l="txL" t="txT" r="txR" b="txB"/>
                <a:pathLst>
                  <a:path w="15" h="61">
                    <a:moveTo>
                      <a:pt x="0" y="61"/>
                    </a:moveTo>
                    <a:lnTo>
                      <a:pt x="0" y="61"/>
                    </a:lnTo>
                    <a:lnTo>
                      <a:pt x="15" y="61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61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29742" name="Group 60"/>
            <p:cNvGrpSpPr/>
            <p:nvPr/>
          </p:nvGrpSpPr>
          <p:grpSpPr>
            <a:xfrm>
              <a:off x="2045" y="3078"/>
              <a:ext cx="15" cy="462"/>
              <a:chOff x="1907" y="2188"/>
              <a:chExt cx="15" cy="462"/>
            </a:xfrm>
          </p:grpSpPr>
          <p:sp>
            <p:nvSpPr>
              <p:cNvPr id="29839" name="Freeform 61"/>
              <p:cNvSpPr/>
              <p:nvPr/>
            </p:nvSpPr>
            <p:spPr>
              <a:xfrm>
                <a:off x="1907" y="2589"/>
                <a:ext cx="15" cy="61"/>
              </a:xfrm>
              <a:custGeom>
                <a:avLst/>
                <a:gdLst>
                  <a:gd name="txL" fmla="*/ 0 w 15"/>
                  <a:gd name="txT" fmla="*/ 0 h 61"/>
                  <a:gd name="txR" fmla="*/ 15 w 15"/>
                  <a:gd name="txB" fmla="*/ 61 h 61"/>
                </a:gdLst>
                <a:ahLst/>
                <a:cxnLst>
                  <a:cxn ang="0">
                    <a:pos x="0" y="61"/>
                  </a:cxn>
                  <a:cxn ang="0">
                    <a:pos x="0" y="61"/>
                  </a:cxn>
                  <a:cxn ang="0">
                    <a:pos x="15" y="61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1"/>
                  </a:cxn>
                </a:cxnLst>
                <a:rect l="txL" t="txT" r="txR" b="txB"/>
                <a:pathLst>
                  <a:path w="15" h="61">
                    <a:moveTo>
                      <a:pt x="0" y="61"/>
                    </a:moveTo>
                    <a:lnTo>
                      <a:pt x="0" y="61"/>
                    </a:lnTo>
                    <a:lnTo>
                      <a:pt x="15" y="61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61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40" name="Freeform 62"/>
              <p:cNvSpPr/>
              <p:nvPr/>
            </p:nvSpPr>
            <p:spPr>
              <a:xfrm>
                <a:off x="1907" y="2481"/>
                <a:ext cx="15" cy="61"/>
              </a:xfrm>
              <a:custGeom>
                <a:avLst/>
                <a:gdLst>
                  <a:gd name="txL" fmla="*/ 0 w 15"/>
                  <a:gd name="txT" fmla="*/ 0 h 61"/>
                  <a:gd name="txR" fmla="*/ 15 w 15"/>
                  <a:gd name="txB" fmla="*/ 61 h 61"/>
                </a:gdLst>
                <a:ahLst/>
                <a:cxnLst>
                  <a:cxn ang="0">
                    <a:pos x="0" y="61"/>
                  </a:cxn>
                  <a:cxn ang="0">
                    <a:pos x="0" y="61"/>
                  </a:cxn>
                  <a:cxn ang="0">
                    <a:pos x="15" y="61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1"/>
                  </a:cxn>
                </a:cxnLst>
                <a:rect l="txL" t="txT" r="txR" b="txB"/>
                <a:pathLst>
                  <a:path w="15" h="61">
                    <a:moveTo>
                      <a:pt x="0" y="61"/>
                    </a:moveTo>
                    <a:lnTo>
                      <a:pt x="0" y="61"/>
                    </a:lnTo>
                    <a:lnTo>
                      <a:pt x="15" y="61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61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41" name="Freeform 63"/>
              <p:cNvSpPr/>
              <p:nvPr/>
            </p:nvSpPr>
            <p:spPr>
              <a:xfrm>
                <a:off x="1907" y="2373"/>
                <a:ext cx="15" cy="61"/>
              </a:xfrm>
              <a:custGeom>
                <a:avLst/>
                <a:gdLst>
                  <a:gd name="txL" fmla="*/ 0 w 15"/>
                  <a:gd name="txT" fmla="*/ 0 h 61"/>
                  <a:gd name="txR" fmla="*/ 15 w 15"/>
                  <a:gd name="txB" fmla="*/ 61 h 61"/>
                </a:gdLst>
                <a:ahLst/>
                <a:cxnLst>
                  <a:cxn ang="0">
                    <a:pos x="0" y="61"/>
                  </a:cxn>
                  <a:cxn ang="0">
                    <a:pos x="0" y="61"/>
                  </a:cxn>
                  <a:cxn ang="0">
                    <a:pos x="15" y="61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1"/>
                  </a:cxn>
                </a:cxnLst>
                <a:rect l="txL" t="txT" r="txR" b="txB"/>
                <a:pathLst>
                  <a:path w="15" h="61">
                    <a:moveTo>
                      <a:pt x="0" y="61"/>
                    </a:moveTo>
                    <a:lnTo>
                      <a:pt x="0" y="61"/>
                    </a:lnTo>
                    <a:lnTo>
                      <a:pt x="15" y="61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61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42" name="Freeform 64"/>
              <p:cNvSpPr/>
              <p:nvPr/>
            </p:nvSpPr>
            <p:spPr>
              <a:xfrm>
                <a:off x="1907" y="2265"/>
                <a:ext cx="15" cy="61"/>
              </a:xfrm>
              <a:custGeom>
                <a:avLst/>
                <a:gdLst>
                  <a:gd name="txL" fmla="*/ 0 w 15"/>
                  <a:gd name="txT" fmla="*/ 0 h 61"/>
                  <a:gd name="txR" fmla="*/ 15 w 15"/>
                  <a:gd name="txB" fmla="*/ 61 h 61"/>
                </a:gdLst>
                <a:ahLst/>
                <a:cxnLst>
                  <a:cxn ang="0">
                    <a:pos x="0" y="61"/>
                  </a:cxn>
                  <a:cxn ang="0">
                    <a:pos x="0" y="61"/>
                  </a:cxn>
                  <a:cxn ang="0">
                    <a:pos x="15" y="61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1"/>
                  </a:cxn>
                </a:cxnLst>
                <a:rect l="txL" t="txT" r="txR" b="txB"/>
                <a:pathLst>
                  <a:path w="15" h="61">
                    <a:moveTo>
                      <a:pt x="0" y="61"/>
                    </a:moveTo>
                    <a:lnTo>
                      <a:pt x="0" y="61"/>
                    </a:lnTo>
                    <a:lnTo>
                      <a:pt x="15" y="61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61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43" name="Freeform 65"/>
              <p:cNvSpPr/>
              <p:nvPr/>
            </p:nvSpPr>
            <p:spPr>
              <a:xfrm>
                <a:off x="1907" y="2188"/>
                <a:ext cx="15" cy="31"/>
              </a:xfrm>
              <a:custGeom>
                <a:avLst/>
                <a:gdLst>
                  <a:gd name="txL" fmla="*/ 0 w 15"/>
                  <a:gd name="txT" fmla="*/ 0 h 31"/>
                  <a:gd name="txR" fmla="*/ 15 w 15"/>
                  <a:gd name="txB" fmla="*/ 31 h 31"/>
                </a:gdLst>
                <a:ahLst/>
                <a:cxnLst>
                  <a:cxn ang="0">
                    <a:pos x="0" y="31"/>
                  </a:cxn>
                  <a:cxn ang="0">
                    <a:pos x="0" y="31"/>
                  </a:cxn>
                  <a:cxn ang="0">
                    <a:pos x="15" y="31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31"/>
                  </a:cxn>
                </a:cxnLst>
                <a:rect l="txL" t="txT" r="txR" b="txB"/>
                <a:pathLst>
                  <a:path w="15" h="31">
                    <a:moveTo>
                      <a:pt x="0" y="31"/>
                    </a:moveTo>
                    <a:lnTo>
                      <a:pt x="0" y="31"/>
                    </a:lnTo>
                    <a:lnTo>
                      <a:pt x="15" y="31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29743" name="Group 66"/>
            <p:cNvGrpSpPr/>
            <p:nvPr/>
          </p:nvGrpSpPr>
          <p:grpSpPr>
            <a:xfrm>
              <a:off x="1189" y="2153"/>
              <a:ext cx="1476" cy="15"/>
              <a:chOff x="1051" y="1263"/>
              <a:chExt cx="1476" cy="15"/>
            </a:xfrm>
          </p:grpSpPr>
          <p:sp>
            <p:nvSpPr>
              <p:cNvPr id="29829" name="Freeform 67"/>
              <p:cNvSpPr/>
              <p:nvPr/>
            </p:nvSpPr>
            <p:spPr>
              <a:xfrm>
                <a:off x="1051" y="1263"/>
                <a:ext cx="118" cy="15"/>
              </a:xfrm>
              <a:custGeom>
                <a:avLst/>
                <a:gdLst>
                  <a:gd name="txL" fmla="*/ 0 w 118"/>
                  <a:gd name="txT" fmla="*/ 0 h 15"/>
                  <a:gd name="txR" fmla="*/ 118 w 118"/>
                  <a:gd name="txB" fmla="*/ 15 h 15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15"/>
                  </a:cxn>
                  <a:cxn ang="0">
                    <a:pos x="118" y="15"/>
                  </a:cxn>
                  <a:cxn ang="0">
                    <a:pos x="118" y="0"/>
                  </a:cxn>
                  <a:cxn ang="0">
                    <a:pos x="118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18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15"/>
                    </a:lnTo>
                    <a:lnTo>
                      <a:pt x="118" y="15"/>
                    </a:lnTo>
                    <a:lnTo>
                      <a:pt x="11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30" name="Freeform 68"/>
              <p:cNvSpPr/>
              <p:nvPr/>
            </p:nvSpPr>
            <p:spPr>
              <a:xfrm>
                <a:off x="1198" y="1263"/>
                <a:ext cx="133" cy="15"/>
              </a:xfrm>
              <a:custGeom>
                <a:avLst/>
                <a:gdLst>
                  <a:gd name="txL" fmla="*/ 0 w 133"/>
                  <a:gd name="txT" fmla="*/ 0 h 15"/>
                  <a:gd name="txR" fmla="*/ 133 w 133"/>
                  <a:gd name="txB" fmla="*/ 15 h 15"/>
                </a:gdLst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15" y="15"/>
                  </a:cxn>
                  <a:cxn ang="0">
                    <a:pos x="133" y="15"/>
                  </a:cxn>
                  <a:cxn ang="0">
                    <a:pos x="133" y="0"/>
                  </a:cxn>
                  <a:cxn ang="0">
                    <a:pos x="133" y="0"/>
                  </a:cxn>
                  <a:cxn ang="0">
                    <a:pos x="15" y="0"/>
                  </a:cxn>
                </a:cxnLst>
                <a:rect l="txL" t="txT" r="txR" b="txB"/>
                <a:pathLst>
                  <a:path w="133" h="15">
                    <a:moveTo>
                      <a:pt x="15" y="0"/>
                    </a:moveTo>
                    <a:lnTo>
                      <a:pt x="0" y="0"/>
                    </a:lnTo>
                    <a:lnTo>
                      <a:pt x="15" y="15"/>
                    </a:lnTo>
                    <a:lnTo>
                      <a:pt x="133" y="15"/>
                    </a:lnTo>
                    <a:lnTo>
                      <a:pt x="133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31" name="Freeform 69"/>
              <p:cNvSpPr/>
              <p:nvPr/>
            </p:nvSpPr>
            <p:spPr>
              <a:xfrm>
                <a:off x="1361" y="1263"/>
                <a:ext cx="133" cy="15"/>
              </a:xfrm>
              <a:custGeom>
                <a:avLst/>
                <a:gdLst>
                  <a:gd name="txL" fmla="*/ 0 w 133"/>
                  <a:gd name="txT" fmla="*/ 0 h 15"/>
                  <a:gd name="txR" fmla="*/ 133 w 133"/>
                  <a:gd name="txB" fmla="*/ 15 h 15"/>
                </a:gdLst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15" y="15"/>
                  </a:cxn>
                  <a:cxn ang="0">
                    <a:pos x="133" y="15"/>
                  </a:cxn>
                  <a:cxn ang="0">
                    <a:pos x="133" y="0"/>
                  </a:cxn>
                  <a:cxn ang="0">
                    <a:pos x="133" y="0"/>
                  </a:cxn>
                  <a:cxn ang="0">
                    <a:pos x="15" y="0"/>
                  </a:cxn>
                </a:cxnLst>
                <a:rect l="txL" t="txT" r="txR" b="txB"/>
                <a:pathLst>
                  <a:path w="133" h="15">
                    <a:moveTo>
                      <a:pt x="15" y="0"/>
                    </a:moveTo>
                    <a:lnTo>
                      <a:pt x="0" y="0"/>
                    </a:lnTo>
                    <a:lnTo>
                      <a:pt x="15" y="15"/>
                    </a:lnTo>
                    <a:lnTo>
                      <a:pt x="133" y="15"/>
                    </a:lnTo>
                    <a:lnTo>
                      <a:pt x="133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32" name="Freeform 70"/>
              <p:cNvSpPr/>
              <p:nvPr/>
            </p:nvSpPr>
            <p:spPr>
              <a:xfrm>
                <a:off x="1523" y="1263"/>
                <a:ext cx="133" cy="15"/>
              </a:xfrm>
              <a:custGeom>
                <a:avLst/>
                <a:gdLst>
                  <a:gd name="txL" fmla="*/ 0 w 133"/>
                  <a:gd name="txT" fmla="*/ 0 h 15"/>
                  <a:gd name="txR" fmla="*/ 133 w 133"/>
                  <a:gd name="txB" fmla="*/ 15 h 15"/>
                </a:gdLst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15" y="15"/>
                  </a:cxn>
                  <a:cxn ang="0">
                    <a:pos x="133" y="15"/>
                  </a:cxn>
                  <a:cxn ang="0">
                    <a:pos x="133" y="0"/>
                  </a:cxn>
                  <a:cxn ang="0">
                    <a:pos x="133" y="0"/>
                  </a:cxn>
                  <a:cxn ang="0">
                    <a:pos x="15" y="0"/>
                  </a:cxn>
                </a:cxnLst>
                <a:rect l="txL" t="txT" r="txR" b="txB"/>
                <a:pathLst>
                  <a:path w="133" h="15">
                    <a:moveTo>
                      <a:pt x="15" y="0"/>
                    </a:moveTo>
                    <a:lnTo>
                      <a:pt x="0" y="0"/>
                    </a:lnTo>
                    <a:lnTo>
                      <a:pt x="15" y="15"/>
                    </a:lnTo>
                    <a:lnTo>
                      <a:pt x="133" y="15"/>
                    </a:lnTo>
                    <a:lnTo>
                      <a:pt x="133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33" name="Freeform 71"/>
              <p:cNvSpPr/>
              <p:nvPr/>
            </p:nvSpPr>
            <p:spPr>
              <a:xfrm>
                <a:off x="1685" y="1263"/>
                <a:ext cx="133" cy="15"/>
              </a:xfrm>
              <a:custGeom>
                <a:avLst/>
                <a:gdLst>
                  <a:gd name="txL" fmla="*/ 0 w 133"/>
                  <a:gd name="txT" fmla="*/ 0 h 15"/>
                  <a:gd name="txR" fmla="*/ 133 w 133"/>
                  <a:gd name="txB" fmla="*/ 15 h 15"/>
                </a:gdLst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15" y="15"/>
                  </a:cxn>
                  <a:cxn ang="0">
                    <a:pos x="133" y="15"/>
                  </a:cxn>
                  <a:cxn ang="0">
                    <a:pos x="133" y="0"/>
                  </a:cxn>
                  <a:cxn ang="0">
                    <a:pos x="133" y="0"/>
                  </a:cxn>
                  <a:cxn ang="0">
                    <a:pos x="15" y="0"/>
                  </a:cxn>
                </a:cxnLst>
                <a:rect l="txL" t="txT" r="txR" b="txB"/>
                <a:pathLst>
                  <a:path w="133" h="15">
                    <a:moveTo>
                      <a:pt x="15" y="0"/>
                    </a:moveTo>
                    <a:lnTo>
                      <a:pt x="0" y="0"/>
                    </a:lnTo>
                    <a:lnTo>
                      <a:pt x="15" y="15"/>
                    </a:lnTo>
                    <a:lnTo>
                      <a:pt x="133" y="15"/>
                    </a:lnTo>
                    <a:lnTo>
                      <a:pt x="133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34" name="Freeform 72"/>
              <p:cNvSpPr/>
              <p:nvPr/>
            </p:nvSpPr>
            <p:spPr>
              <a:xfrm>
                <a:off x="1848" y="1263"/>
                <a:ext cx="133" cy="15"/>
              </a:xfrm>
              <a:custGeom>
                <a:avLst/>
                <a:gdLst>
                  <a:gd name="txL" fmla="*/ 0 w 133"/>
                  <a:gd name="txT" fmla="*/ 0 h 15"/>
                  <a:gd name="txR" fmla="*/ 133 w 133"/>
                  <a:gd name="txB" fmla="*/ 15 h 15"/>
                </a:gdLst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15" y="15"/>
                  </a:cxn>
                  <a:cxn ang="0">
                    <a:pos x="133" y="15"/>
                  </a:cxn>
                  <a:cxn ang="0">
                    <a:pos x="133" y="0"/>
                  </a:cxn>
                  <a:cxn ang="0">
                    <a:pos x="133" y="0"/>
                  </a:cxn>
                  <a:cxn ang="0">
                    <a:pos x="15" y="0"/>
                  </a:cxn>
                </a:cxnLst>
                <a:rect l="txL" t="txT" r="txR" b="txB"/>
                <a:pathLst>
                  <a:path w="133" h="15">
                    <a:moveTo>
                      <a:pt x="15" y="0"/>
                    </a:moveTo>
                    <a:lnTo>
                      <a:pt x="0" y="0"/>
                    </a:lnTo>
                    <a:lnTo>
                      <a:pt x="15" y="15"/>
                    </a:lnTo>
                    <a:lnTo>
                      <a:pt x="133" y="15"/>
                    </a:lnTo>
                    <a:lnTo>
                      <a:pt x="133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35" name="Freeform 73"/>
              <p:cNvSpPr/>
              <p:nvPr/>
            </p:nvSpPr>
            <p:spPr>
              <a:xfrm>
                <a:off x="2010" y="1263"/>
                <a:ext cx="133" cy="15"/>
              </a:xfrm>
              <a:custGeom>
                <a:avLst/>
                <a:gdLst>
                  <a:gd name="txL" fmla="*/ 0 w 133"/>
                  <a:gd name="txT" fmla="*/ 0 h 15"/>
                  <a:gd name="txR" fmla="*/ 133 w 133"/>
                  <a:gd name="txB" fmla="*/ 15 h 15"/>
                </a:gdLst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15" y="15"/>
                  </a:cxn>
                  <a:cxn ang="0">
                    <a:pos x="133" y="15"/>
                  </a:cxn>
                  <a:cxn ang="0">
                    <a:pos x="133" y="0"/>
                  </a:cxn>
                  <a:cxn ang="0">
                    <a:pos x="133" y="0"/>
                  </a:cxn>
                  <a:cxn ang="0">
                    <a:pos x="15" y="0"/>
                  </a:cxn>
                </a:cxnLst>
                <a:rect l="txL" t="txT" r="txR" b="txB"/>
                <a:pathLst>
                  <a:path w="133" h="15">
                    <a:moveTo>
                      <a:pt x="15" y="0"/>
                    </a:moveTo>
                    <a:lnTo>
                      <a:pt x="0" y="0"/>
                    </a:lnTo>
                    <a:lnTo>
                      <a:pt x="15" y="15"/>
                    </a:lnTo>
                    <a:lnTo>
                      <a:pt x="133" y="15"/>
                    </a:lnTo>
                    <a:lnTo>
                      <a:pt x="133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36" name="Freeform 74"/>
              <p:cNvSpPr/>
              <p:nvPr/>
            </p:nvSpPr>
            <p:spPr>
              <a:xfrm>
                <a:off x="2173" y="1263"/>
                <a:ext cx="132" cy="15"/>
              </a:xfrm>
              <a:custGeom>
                <a:avLst/>
                <a:gdLst>
                  <a:gd name="txL" fmla="*/ 0 w 132"/>
                  <a:gd name="txT" fmla="*/ 0 h 15"/>
                  <a:gd name="txR" fmla="*/ 132 w 132"/>
                  <a:gd name="txB" fmla="*/ 15 h 15"/>
                </a:gdLst>
                <a:ahLst/>
                <a:cxnLst>
                  <a:cxn ang="0">
                    <a:pos x="14" y="0"/>
                  </a:cxn>
                  <a:cxn ang="0">
                    <a:pos x="0" y="0"/>
                  </a:cxn>
                  <a:cxn ang="0">
                    <a:pos x="14" y="15"/>
                  </a:cxn>
                  <a:cxn ang="0">
                    <a:pos x="132" y="15"/>
                  </a:cxn>
                  <a:cxn ang="0">
                    <a:pos x="132" y="0"/>
                  </a:cxn>
                  <a:cxn ang="0">
                    <a:pos x="132" y="0"/>
                  </a:cxn>
                  <a:cxn ang="0">
                    <a:pos x="14" y="0"/>
                  </a:cxn>
                </a:cxnLst>
                <a:rect l="txL" t="txT" r="txR" b="txB"/>
                <a:pathLst>
                  <a:path w="132" h="15">
                    <a:moveTo>
                      <a:pt x="14" y="0"/>
                    </a:moveTo>
                    <a:lnTo>
                      <a:pt x="0" y="0"/>
                    </a:lnTo>
                    <a:lnTo>
                      <a:pt x="14" y="15"/>
                    </a:lnTo>
                    <a:lnTo>
                      <a:pt x="132" y="15"/>
                    </a:lnTo>
                    <a:lnTo>
                      <a:pt x="132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37" name="Freeform 75"/>
              <p:cNvSpPr/>
              <p:nvPr/>
            </p:nvSpPr>
            <p:spPr>
              <a:xfrm>
                <a:off x="2335" y="1263"/>
                <a:ext cx="133" cy="15"/>
              </a:xfrm>
              <a:custGeom>
                <a:avLst/>
                <a:gdLst>
                  <a:gd name="txL" fmla="*/ 0 w 133"/>
                  <a:gd name="txT" fmla="*/ 0 h 15"/>
                  <a:gd name="txR" fmla="*/ 133 w 133"/>
                  <a:gd name="txB" fmla="*/ 15 h 15"/>
                </a:gdLst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15" y="15"/>
                  </a:cxn>
                  <a:cxn ang="0">
                    <a:pos x="133" y="15"/>
                  </a:cxn>
                  <a:cxn ang="0">
                    <a:pos x="133" y="0"/>
                  </a:cxn>
                  <a:cxn ang="0">
                    <a:pos x="133" y="0"/>
                  </a:cxn>
                  <a:cxn ang="0">
                    <a:pos x="15" y="0"/>
                  </a:cxn>
                </a:cxnLst>
                <a:rect l="txL" t="txT" r="txR" b="txB"/>
                <a:pathLst>
                  <a:path w="133" h="15">
                    <a:moveTo>
                      <a:pt x="15" y="0"/>
                    </a:moveTo>
                    <a:lnTo>
                      <a:pt x="0" y="0"/>
                    </a:lnTo>
                    <a:lnTo>
                      <a:pt x="15" y="15"/>
                    </a:lnTo>
                    <a:lnTo>
                      <a:pt x="133" y="15"/>
                    </a:lnTo>
                    <a:lnTo>
                      <a:pt x="133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38" name="Freeform 76"/>
              <p:cNvSpPr/>
              <p:nvPr/>
            </p:nvSpPr>
            <p:spPr>
              <a:xfrm>
                <a:off x="2497" y="1263"/>
                <a:ext cx="30" cy="15"/>
              </a:xfrm>
              <a:custGeom>
                <a:avLst/>
                <a:gdLst>
                  <a:gd name="txL" fmla="*/ 0 w 30"/>
                  <a:gd name="txT" fmla="*/ 0 h 15"/>
                  <a:gd name="txR" fmla="*/ 30 w 30"/>
                  <a:gd name="txB" fmla="*/ 15 h 15"/>
                </a:gdLst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15" y="15"/>
                  </a:cxn>
                  <a:cxn ang="0">
                    <a:pos x="30" y="15"/>
                  </a:cxn>
                  <a:cxn ang="0">
                    <a:pos x="30" y="0"/>
                  </a:cxn>
                  <a:cxn ang="0">
                    <a:pos x="30" y="0"/>
                  </a:cxn>
                  <a:cxn ang="0">
                    <a:pos x="15" y="0"/>
                  </a:cxn>
                </a:cxnLst>
                <a:rect l="txL" t="txT" r="txR" b="txB"/>
                <a:pathLst>
                  <a:path w="30" h="15">
                    <a:moveTo>
                      <a:pt x="15" y="0"/>
                    </a:moveTo>
                    <a:lnTo>
                      <a:pt x="0" y="0"/>
                    </a:lnTo>
                    <a:lnTo>
                      <a:pt x="15" y="15"/>
                    </a:lnTo>
                    <a:lnTo>
                      <a:pt x="30" y="15"/>
                    </a:lnTo>
                    <a:lnTo>
                      <a:pt x="30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9744" name="Freeform 77"/>
            <p:cNvSpPr/>
            <p:nvPr/>
          </p:nvSpPr>
          <p:spPr>
            <a:xfrm>
              <a:off x="1277" y="3109"/>
              <a:ext cx="768" cy="138"/>
            </a:xfrm>
            <a:custGeom>
              <a:avLst/>
              <a:gdLst>
                <a:gd name="txL" fmla="*/ 0 w 768"/>
                <a:gd name="txT" fmla="*/ 0 h 138"/>
                <a:gd name="txR" fmla="*/ 768 w 768"/>
                <a:gd name="txB" fmla="*/ 138 h 138"/>
              </a:gdLst>
              <a:ahLst/>
              <a:cxnLst>
                <a:cxn ang="0">
                  <a:pos x="0" y="107"/>
                </a:cxn>
                <a:cxn ang="0">
                  <a:pos x="0" y="138"/>
                </a:cxn>
                <a:cxn ang="0">
                  <a:pos x="163" y="138"/>
                </a:cxn>
                <a:cxn ang="0">
                  <a:pos x="178" y="138"/>
                </a:cxn>
                <a:cxn ang="0">
                  <a:pos x="355" y="138"/>
                </a:cxn>
                <a:cxn ang="0">
                  <a:pos x="487" y="138"/>
                </a:cxn>
                <a:cxn ang="0">
                  <a:pos x="591" y="123"/>
                </a:cxn>
                <a:cxn ang="0">
                  <a:pos x="679" y="107"/>
                </a:cxn>
                <a:cxn ang="0">
                  <a:pos x="724" y="77"/>
                </a:cxn>
                <a:cxn ang="0">
                  <a:pos x="753" y="46"/>
                </a:cxn>
                <a:cxn ang="0">
                  <a:pos x="753" y="30"/>
                </a:cxn>
                <a:cxn ang="0">
                  <a:pos x="768" y="15"/>
                </a:cxn>
                <a:cxn ang="0">
                  <a:pos x="738" y="0"/>
                </a:cxn>
                <a:cxn ang="0">
                  <a:pos x="724" y="30"/>
                </a:cxn>
                <a:cxn ang="0">
                  <a:pos x="738" y="30"/>
                </a:cxn>
                <a:cxn ang="0">
                  <a:pos x="738" y="15"/>
                </a:cxn>
                <a:cxn ang="0">
                  <a:pos x="709" y="46"/>
                </a:cxn>
                <a:cxn ang="0">
                  <a:pos x="665" y="77"/>
                </a:cxn>
                <a:cxn ang="0">
                  <a:pos x="591" y="92"/>
                </a:cxn>
                <a:cxn ang="0">
                  <a:pos x="473" y="107"/>
                </a:cxn>
                <a:cxn ang="0">
                  <a:pos x="340" y="107"/>
                </a:cxn>
                <a:cxn ang="0">
                  <a:pos x="163" y="107"/>
                </a:cxn>
                <a:cxn ang="0">
                  <a:pos x="178" y="123"/>
                </a:cxn>
                <a:cxn ang="0">
                  <a:pos x="178" y="107"/>
                </a:cxn>
                <a:cxn ang="0">
                  <a:pos x="0" y="107"/>
                </a:cxn>
              </a:cxnLst>
              <a:rect l="txL" t="txT" r="txR" b="txB"/>
              <a:pathLst>
                <a:path w="768" h="138">
                  <a:moveTo>
                    <a:pt x="0" y="107"/>
                  </a:moveTo>
                  <a:lnTo>
                    <a:pt x="0" y="138"/>
                  </a:lnTo>
                  <a:lnTo>
                    <a:pt x="163" y="138"/>
                  </a:lnTo>
                  <a:lnTo>
                    <a:pt x="178" y="138"/>
                  </a:lnTo>
                  <a:lnTo>
                    <a:pt x="355" y="138"/>
                  </a:lnTo>
                  <a:lnTo>
                    <a:pt x="487" y="138"/>
                  </a:lnTo>
                  <a:lnTo>
                    <a:pt x="591" y="123"/>
                  </a:lnTo>
                  <a:lnTo>
                    <a:pt x="679" y="107"/>
                  </a:lnTo>
                  <a:lnTo>
                    <a:pt x="724" y="77"/>
                  </a:lnTo>
                  <a:lnTo>
                    <a:pt x="753" y="46"/>
                  </a:lnTo>
                  <a:lnTo>
                    <a:pt x="753" y="30"/>
                  </a:lnTo>
                  <a:lnTo>
                    <a:pt x="768" y="15"/>
                  </a:lnTo>
                  <a:lnTo>
                    <a:pt x="738" y="0"/>
                  </a:lnTo>
                  <a:lnTo>
                    <a:pt x="724" y="30"/>
                  </a:lnTo>
                  <a:lnTo>
                    <a:pt x="738" y="30"/>
                  </a:lnTo>
                  <a:lnTo>
                    <a:pt x="738" y="15"/>
                  </a:lnTo>
                  <a:lnTo>
                    <a:pt x="709" y="46"/>
                  </a:lnTo>
                  <a:lnTo>
                    <a:pt x="665" y="77"/>
                  </a:lnTo>
                  <a:lnTo>
                    <a:pt x="591" y="92"/>
                  </a:lnTo>
                  <a:lnTo>
                    <a:pt x="473" y="107"/>
                  </a:lnTo>
                  <a:lnTo>
                    <a:pt x="340" y="107"/>
                  </a:lnTo>
                  <a:lnTo>
                    <a:pt x="163" y="107"/>
                  </a:lnTo>
                  <a:lnTo>
                    <a:pt x="178" y="123"/>
                  </a:lnTo>
                  <a:lnTo>
                    <a:pt x="178" y="107"/>
                  </a:lnTo>
                  <a:lnTo>
                    <a:pt x="0" y="10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45" name="Freeform 78"/>
            <p:cNvSpPr/>
            <p:nvPr/>
          </p:nvSpPr>
          <p:spPr>
            <a:xfrm>
              <a:off x="4436" y="3078"/>
              <a:ext cx="649" cy="169"/>
            </a:xfrm>
            <a:custGeom>
              <a:avLst/>
              <a:gdLst>
                <a:gd name="txL" fmla="*/ 0 w 649"/>
                <a:gd name="txT" fmla="*/ 0 h 169"/>
                <a:gd name="txR" fmla="*/ 649 w 649"/>
                <a:gd name="txB" fmla="*/ 169 h 169"/>
              </a:gdLst>
              <a:ahLst/>
              <a:cxnLst>
                <a:cxn ang="0">
                  <a:pos x="649" y="169"/>
                </a:cxn>
                <a:cxn ang="0">
                  <a:pos x="649" y="138"/>
                </a:cxn>
                <a:cxn ang="0">
                  <a:pos x="502" y="138"/>
                </a:cxn>
                <a:cxn ang="0">
                  <a:pos x="502" y="154"/>
                </a:cxn>
                <a:cxn ang="0">
                  <a:pos x="516" y="138"/>
                </a:cxn>
                <a:cxn ang="0">
                  <a:pos x="369" y="138"/>
                </a:cxn>
                <a:cxn ang="0">
                  <a:pos x="251" y="123"/>
                </a:cxn>
                <a:cxn ang="0">
                  <a:pos x="147" y="108"/>
                </a:cxn>
                <a:cxn ang="0">
                  <a:pos x="88" y="77"/>
                </a:cxn>
                <a:cxn ang="0">
                  <a:pos x="59" y="46"/>
                </a:cxn>
                <a:cxn ang="0">
                  <a:pos x="29" y="15"/>
                </a:cxn>
                <a:cxn ang="0">
                  <a:pos x="29" y="31"/>
                </a:cxn>
                <a:cxn ang="0">
                  <a:pos x="44" y="31"/>
                </a:cxn>
                <a:cxn ang="0">
                  <a:pos x="29" y="0"/>
                </a:cxn>
                <a:cxn ang="0">
                  <a:pos x="0" y="15"/>
                </a:cxn>
                <a:cxn ang="0">
                  <a:pos x="15" y="31"/>
                </a:cxn>
                <a:cxn ang="0">
                  <a:pos x="15" y="46"/>
                </a:cxn>
                <a:cxn ang="0">
                  <a:pos x="44" y="77"/>
                </a:cxn>
                <a:cxn ang="0">
                  <a:pos x="74" y="108"/>
                </a:cxn>
                <a:cxn ang="0">
                  <a:pos x="147" y="138"/>
                </a:cxn>
                <a:cxn ang="0">
                  <a:pos x="236" y="154"/>
                </a:cxn>
                <a:cxn ang="0">
                  <a:pos x="354" y="169"/>
                </a:cxn>
                <a:cxn ang="0">
                  <a:pos x="502" y="169"/>
                </a:cxn>
                <a:cxn ang="0">
                  <a:pos x="516" y="169"/>
                </a:cxn>
                <a:cxn ang="0">
                  <a:pos x="649" y="169"/>
                </a:cxn>
              </a:cxnLst>
              <a:rect l="txL" t="txT" r="txR" b="txB"/>
              <a:pathLst>
                <a:path w="649" h="169">
                  <a:moveTo>
                    <a:pt x="649" y="169"/>
                  </a:moveTo>
                  <a:lnTo>
                    <a:pt x="649" y="138"/>
                  </a:lnTo>
                  <a:lnTo>
                    <a:pt x="502" y="138"/>
                  </a:lnTo>
                  <a:lnTo>
                    <a:pt x="502" y="154"/>
                  </a:lnTo>
                  <a:lnTo>
                    <a:pt x="516" y="138"/>
                  </a:lnTo>
                  <a:lnTo>
                    <a:pt x="369" y="138"/>
                  </a:lnTo>
                  <a:lnTo>
                    <a:pt x="251" y="123"/>
                  </a:lnTo>
                  <a:lnTo>
                    <a:pt x="147" y="108"/>
                  </a:lnTo>
                  <a:lnTo>
                    <a:pt x="88" y="77"/>
                  </a:lnTo>
                  <a:lnTo>
                    <a:pt x="59" y="46"/>
                  </a:lnTo>
                  <a:lnTo>
                    <a:pt x="29" y="15"/>
                  </a:lnTo>
                  <a:lnTo>
                    <a:pt x="29" y="31"/>
                  </a:lnTo>
                  <a:lnTo>
                    <a:pt x="44" y="31"/>
                  </a:lnTo>
                  <a:lnTo>
                    <a:pt x="29" y="0"/>
                  </a:lnTo>
                  <a:lnTo>
                    <a:pt x="0" y="15"/>
                  </a:lnTo>
                  <a:lnTo>
                    <a:pt x="15" y="31"/>
                  </a:lnTo>
                  <a:lnTo>
                    <a:pt x="15" y="46"/>
                  </a:lnTo>
                  <a:lnTo>
                    <a:pt x="44" y="77"/>
                  </a:lnTo>
                  <a:lnTo>
                    <a:pt x="74" y="108"/>
                  </a:lnTo>
                  <a:lnTo>
                    <a:pt x="147" y="138"/>
                  </a:lnTo>
                  <a:lnTo>
                    <a:pt x="236" y="154"/>
                  </a:lnTo>
                  <a:lnTo>
                    <a:pt x="354" y="169"/>
                  </a:lnTo>
                  <a:lnTo>
                    <a:pt x="502" y="169"/>
                  </a:lnTo>
                  <a:lnTo>
                    <a:pt x="516" y="169"/>
                  </a:lnTo>
                  <a:lnTo>
                    <a:pt x="649" y="16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9746" name="Group 79"/>
            <p:cNvGrpSpPr/>
            <p:nvPr/>
          </p:nvGrpSpPr>
          <p:grpSpPr>
            <a:xfrm>
              <a:off x="1189" y="3247"/>
              <a:ext cx="3999" cy="16"/>
              <a:chOff x="1051" y="2357"/>
              <a:chExt cx="3999" cy="16"/>
            </a:xfrm>
          </p:grpSpPr>
          <p:sp>
            <p:nvSpPr>
              <p:cNvPr id="29804" name="Freeform 80"/>
              <p:cNvSpPr/>
              <p:nvPr/>
            </p:nvSpPr>
            <p:spPr>
              <a:xfrm>
                <a:off x="1051" y="2357"/>
                <a:ext cx="118" cy="16"/>
              </a:xfrm>
              <a:custGeom>
                <a:avLst/>
                <a:gdLst>
                  <a:gd name="txL" fmla="*/ 0 w 118"/>
                  <a:gd name="txT" fmla="*/ 0 h 16"/>
                  <a:gd name="txR" fmla="*/ 118 w 118"/>
                  <a:gd name="txB" fmla="*/ 16 h 16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16"/>
                  </a:cxn>
                  <a:cxn ang="0">
                    <a:pos x="118" y="16"/>
                  </a:cxn>
                  <a:cxn ang="0">
                    <a:pos x="118" y="0"/>
                  </a:cxn>
                  <a:cxn ang="0">
                    <a:pos x="118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18" h="16">
                    <a:moveTo>
                      <a:pt x="0" y="0"/>
                    </a:moveTo>
                    <a:lnTo>
                      <a:pt x="0" y="0"/>
                    </a:lnTo>
                    <a:lnTo>
                      <a:pt x="0" y="16"/>
                    </a:lnTo>
                    <a:lnTo>
                      <a:pt x="118" y="16"/>
                    </a:lnTo>
                    <a:lnTo>
                      <a:pt x="11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05" name="Freeform 81"/>
              <p:cNvSpPr/>
              <p:nvPr/>
            </p:nvSpPr>
            <p:spPr>
              <a:xfrm>
                <a:off x="1198" y="2357"/>
                <a:ext cx="133" cy="16"/>
              </a:xfrm>
              <a:custGeom>
                <a:avLst/>
                <a:gdLst>
                  <a:gd name="txL" fmla="*/ 0 w 133"/>
                  <a:gd name="txT" fmla="*/ 0 h 16"/>
                  <a:gd name="txR" fmla="*/ 133 w 133"/>
                  <a:gd name="txB" fmla="*/ 16 h 16"/>
                </a:gdLst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15" y="16"/>
                  </a:cxn>
                  <a:cxn ang="0">
                    <a:pos x="133" y="16"/>
                  </a:cxn>
                  <a:cxn ang="0">
                    <a:pos x="133" y="0"/>
                  </a:cxn>
                  <a:cxn ang="0">
                    <a:pos x="133" y="0"/>
                  </a:cxn>
                  <a:cxn ang="0">
                    <a:pos x="15" y="0"/>
                  </a:cxn>
                </a:cxnLst>
                <a:rect l="txL" t="txT" r="txR" b="txB"/>
                <a:pathLst>
                  <a:path w="133" h="16">
                    <a:moveTo>
                      <a:pt x="15" y="0"/>
                    </a:moveTo>
                    <a:lnTo>
                      <a:pt x="0" y="0"/>
                    </a:lnTo>
                    <a:lnTo>
                      <a:pt x="15" y="16"/>
                    </a:lnTo>
                    <a:lnTo>
                      <a:pt x="133" y="16"/>
                    </a:lnTo>
                    <a:lnTo>
                      <a:pt x="133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06" name="Freeform 82"/>
              <p:cNvSpPr/>
              <p:nvPr/>
            </p:nvSpPr>
            <p:spPr>
              <a:xfrm>
                <a:off x="1361" y="2357"/>
                <a:ext cx="133" cy="16"/>
              </a:xfrm>
              <a:custGeom>
                <a:avLst/>
                <a:gdLst>
                  <a:gd name="txL" fmla="*/ 0 w 133"/>
                  <a:gd name="txT" fmla="*/ 0 h 16"/>
                  <a:gd name="txR" fmla="*/ 133 w 133"/>
                  <a:gd name="txB" fmla="*/ 16 h 16"/>
                </a:gdLst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15" y="16"/>
                  </a:cxn>
                  <a:cxn ang="0">
                    <a:pos x="133" y="16"/>
                  </a:cxn>
                  <a:cxn ang="0">
                    <a:pos x="133" y="0"/>
                  </a:cxn>
                  <a:cxn ang="0">
                    <a:pos x="133" y="0"/>
                  </a:cxn>
                  <a:cxn ang="0">
                    <a:pos x="15" y="0"/>
                  </a:cxn>
                </a:cxnLst>
                <a:rect l="txL" t="txT" r="txR" b="txB"/>
                <a:pathLst>
                  <a:path w="133" h="16">
                    <a:moveTo>
                      <a:pt x="15" y="0"/>
                    </a:moveTo>
                    <a:lnTo>
                      <a:pt x="0" y="0"/>
                    </a:lnTo>
                    <a:lnTo>
                      <a:pt x="15" y="16"/>
                    </a:lnTo>
                    <a:lnTo>
                      <a:pt x="133" y="16"/>
                    </a:lnTo>
                    <a:lnTo>
                      <a:pt x="133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07" name="Freeform 83"/>
              <p:cNvSpPr/>
              <p:nvPr/>
            </p:nvSpPr>
            <p:spPr>
              <a:xfrm>
                <a:off x="1523" y="2357"/>
                <a:ext cx="133" cy="16"/>
              </a:xfrm>
              <a:custGeom>
                <a:avLst/>
                <a:gdLst>
                  <a:gd name="txL" fmla="*/ 0 w 133"/>
                  <a:gd name="txT" fmla="*/ 0 h 16"/>
                  <a:gd name="txR" fmla="*/ 133 w 133"/>
                  <a:gd name="txB" fmla="*/ 16 h 16"/>
                </a:gdLst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15" y="16"/>
                  </a:cxn>
                  <a:cxn ang="0">
                    <a:pos x="133" y="16"/>
                  </a:cxn>
                  <a:cxn ang="0">
                    <a:pos x="133" y="0"/>
                  </a:cxn>
                  <a:cxn ang="0">
                    <a:pos x="133" y="0"/>
                  </a:cxn>
                  <a:cxn ang="0">
                    <a:pos x="15" y="0"/>
                  </a:cxn>
                </a:cxnLst>
                <a:rect l="txL" t="txT" r="txR" b="txB"/>
                <a:pathLst>
                  <a:path w="133" h="16">
                    <a:moveTo>
                      <a:pt x="15" y="0"/>
                    </a:moveTo>
                    <a:lnTo>
                      <a:pt x="0" y="0"/>
                    </a:lnTo>
                    <a:lnTo>
                      <a:pt x="15" y="16"/>
                    </a:lnTo>
                    <a:lnTo>
                      <a:pt x="133" y="16"/>
                    </a:lnTo>
                    <a:lnTo>
                      <a:pt x="133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08" name="Freeform 84"/>
              <p:cNvSpPr/>
              <p:nvPr/>
            </p:nvSpPr>
            <p:spPr>
              <a:xfrm>
                <a:off x="1685" y="2357"/>
                <a:ext cx="133" cy="16"/>
              </a:xfrm>
              <a:custGeom>
                <a:avLst/>
                <a:gdLst>
                  <a:gd name="txL" fmla="*/ 0 w 133"/>
                  <a:gd name="txT" fmla="*/ 0 h 16"/>
                  <a:gd name="txR" fmla="*/ 133 w 133"/>
                  <a:gd name="txB" fmla="*/ 16 h 16"/>
                </a:gdLst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15" y="16"/>
                  </a:cxn>
                  <a:cxn ang="0">
                    <a:pos x="133" y="16"/>
                  </a:cxn>
                  <a:cxn ang="0">
                    <a:pos x="133" y="0"/>
                  </a:cxn>
                  <a:cxn ang="0">
                    <a:pos x="133" y="0"/>
                  </a:cxn>
                  <a:cxn ang="0">
                    <a:pos x="15" y="0"/>
                  </a:cxn>
                </a:cxnLst>
                <a:rect l="txL" t="txT" r="txR" b="txB"/>
                <a:pathLst>
                  <a:path w="133" h="16">
                    <a:moveTo>
                      <a:pt x="15" y="0"/>
                    </a:moveTo>
                    <a:lnTo>
                      <a:pt x="0" y="0"/>
                    </a:lnTo>
                    <a:lnTo>
                      <a:pt x="15" y="16"/>
                    </a:lnTo>
                    <a:lnTo>
                      <a:pt x="133" y="16"/>
                    </a:lnTo>
                    <a:lnTo>
                      <a:pt x="133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09" name="Freeform 85"/>
              <p:cNvSpPr/>
              <p:nvPr/>
            </p:nvSpPr>
            <p:spPr>
              <a:xfrm>
                <a:off x="1848" y="2357"/>
                <a:ext cx="133" cy="16"/>
              </a:xfrm>
              <a:custGeom>
                <a:avLst/>
                <a:gdLst>
                  <a:gd name="txL" fmla="*/ 0 w 133"/>
                  <a:gd name="txT" fmla="*/ 0 h 16"/>
                  <a:gd name="txR" fmla="*/ 133 w 133"/>
                  <a:gd name="txB" fmla="*/ 16 h 16"/>
                </a:gdLst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15" y="16"/>
                  </a:cxn>
                  <a:cxn ang="0">
                    <a:pos x="133" y="16"/>
                  </a:cxn>
                  <a:cxn ang="0">
                    <a:pos x="133" y="0"/>
                  </a:cxn>
                  <a:cxn ang="0">
                    <a:pos x="133" y="0"/>
                  </a:cxn>
                  <a:cxn ang="0">
                    <a:pos x="15" y="0"/>
                  </a:cxn>
                </a:cxnLst>
                <a:rect l="txL" t="txT" r="txR" b="txB"/>
                <a:pathLst>
                  <a:path w="133" h="16">
                    <a:moveTo>
                      <a:pt x="15" y="0"/>
                    </a:moveTo>
                    <a:lnTo>
                      <a:pt x="0" y="0"/>
                    </a:lnTo>
                    <a:lnTo>
                      <a:pt x="15" y="16"/>
                    </a:lnTo>
                    <a:lnTo>
                      <a:pt x="133" y="16"/>
                    </a:lnTo>
                    <a:lnTo>
                      <a:pt x="133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10" name="Freeform 86"/>
              <p:cNvSpPr/>
              <p:nvPr/>
            </p:nvSpPr>
            <p:spPr>
              <a:xfrm>
                <a:off x="2010" y="2357"/>
                <a:ext cx="133" cy="16"/>
              </a:xfrm>
              <a:custGeom>
                <a:avLst/>
                <a:gdLst>
                  <a:gd name="txL" fmla="*/ 0 w 133"/>
                  <a:gd name="txT" fmla="*/ 0 h 16"/>
                  <a:gd name="txR" fmla="*/ 133 w 133"/>
                  <a:gd name="txB" fmla="*/ 16 h 16"/>
                </a:gdLst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15" y="16"/>
                  </a:cxn>
                  <a:cxn ang="0">
                    <a:pos x="133" y="16"/>
                  </a:cxn>
                  <a:cxn ang="0">
                    <a:pos x="133" y="0"/>
                  </a:cxn>
                  <a:cxn ang="0">
                    <a:pos x="133" y="0"/>
                  </a:cxn>
                  <a:cxn ang="0">
                    <a:pos x="15" y="0"/>
                  </a:cxn>
                </a:cxnLst>
                <a:rect l="txL" t="txT" r="txR" b="txB"/>
                <a:pathLst>
                  <a:path w="133" h="16">
                    <a:moveTo>
                      <a:pt x="15" y="0"/>
                    </a:moveTo>
                    <a:lnTo>
                      <a:pt x="0" y="0"/>
                    </a:lnTo>
                    <a:lnTo>
                      <a:pt x="15" y="16"/>
                    </a:lnTo>
                    <a:lnTo>
                      <a:pt x="133" y="16"/>
                    </a:lnTo>
                    <a:lnTo>
                      <a:pt x="133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11" name="Freeform 87"/>
              <p:cNvSpPr/>
              <p:nvPr/>
            </p:nvSpPr>
            <p:spPr>
              <a:xfrm>
                <a:off x="2173" y="2357"/>
                <a:ext cx="132" cy="16"/>
              </a:xfrm>
              <a:custGeom>
                <a:avLst/>
                <a:gdLst>
                  <a:gd name="txL" fmla="*/ 0 w 132"/>
                  <a:gd name="txT" fmla="*/ 0 h 16"/>
                  <a:gd name="txR" fmla="*/ 132 w 132"/>
                  <a:gd name="txB" fmla="*/ 16 h 16"/>
                </a:gdLst>
                <a:ahLst/>
                <a:cxnLst>
                  <a:cxn ang="0">
                    <a:pos x="14" y="0"/>
                  </a:cxn>
                  <a:cxn ang="0">
                    <a:pos x="0" y="0"/>
                  </a:cxn>
                  <a:cxn ang="0">
                    <a:pos x="14" y="16"/>
                  </a:cxn>
                  <a:cxn ang="0">
                    <a:pos x="132" y="16"/>
                  </a:cxn>
                  <a:cxn ang="0">
                    <a:pos x="132" y="0"/>
                  </a:cxn>
                  <a:cxn ang="0">
                    <a:pos x="132" y="0"/>
                  </a:cxn>
                  <a:cxn ang="0">
                    <a:pos x="14" y="0"/>
                  </a:cxn>
                </a:cxnLst>
                <a:rect l="txL" t="txT" r="txR" b="txB"/>
                <a:pathLst>
                  <a:path w="132" h="16">
                    <a:moveTo>
                      <a:pt x="14" y="0"/>
                    </a:moveTo>
                    <a:lnTo>
                      <a:pt x="0" y="0"/>
                    </a:lnTo>
                    <a:lnTo>
                      <a:pt x="14" y="16"/>
                    </a:lnTo>
                    <a:lnTo>
                      <a:pt x="132" y="16"/>
                    </a:lnTo>
                    <a:lnTo>
                      <a:pt x="132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12" name="Freeform 88"/>
              <p:cNvSpPr/>
              <p:nvPr/>
            </p:nvSpPr>
            <p:spPr>
              <a:xfrm>
                <a:off x="2335" y="2357"/>
                <a:ext cx="133" cy="16"/>
              </a:xfrm>
              <a:custGeom>
                <a:avLst/>
                <a:gdLst>
                  <a:gd name="txL" fmla="*/ 0 w 133"/>
                  <a:gd name="txT" fmla="*/ 0 h 16"/>
                  <a:gd name="txR" fmla="*/ 133 w 133"/>
                  <a:gd name="txB" fmla="*/ 16 h 16"/>
                </a:gdLst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15" y="16"/>
                  </a:cxn>
                  <a:cxn ang="0">
                    <a:pos x="133" y="16"/>
                  </a:cxn>
                  <a:cxn ang="0">
                    <a:pos x="133" y="0"/>
                  </a:cxn>
                  <a:cxn ang="0">
                    <a:pos x="133" y="0"/>
                  </a:cxn>
                  <a:cxn ang="0">
                    <a:pos x="15" y="0"/>
                  </a:cxn>
                </a:cxnLst>
                <a:rect l="txL" t="txT" r="txR" b="txB"/>
                <a:pathLst>
                  <a:path w="133" h="16">
                    <a:moveTo>
                      <a:pt x="15" y="0"/>
                    </a:moveTo>
                    <a:lnTo>
                      <a:pt x="0" y="0"/>
                    </a:lnTo>
                    <a:lnTo>
                      <a:pt x="15" y="16"/>
                    </a:lnTo>
                    <a:lnTo>
                      <a:pt x="133" y="16"/>
                    </a:lnTo>
                    <a:lnTo>
                      <a:pt x="133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13" name="Freeform 89"/>
              <p:cNvSpPr/>
              <p:nvPr/>
            </p:nvSpPr>
            <p:spPr>
              <a:xfrm>
                <a:off x="2497" y="2357"/>
                <a:ext cx="133" cy="16"/>
              </a:xfrm>
              <a:custGeom>
                <a:avLst/>
                <a:gdLst>
                  <a:gd name="txL" fmla="*/ 0 w 133"/>
                  <a:gd name="txT" fmla="*/ 0 h 16"/>
                  <a:gd name="txR" fmla="*/ 133 w 133"/>
                  <a:gd name="txB" fmla="*/ 16 h 16"/>
                </a:gdLst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15" y="16"/>
                  </a:cxn>
                  <a:cxn ang="0">
                    <a:pos x="133" y="16"/>
                  </a:cxn>
                  <a:cxn ang="0">
                    <a:pos x="133" y="0"/>
                  </a:cxn>
                  <a:cxn ang="0">
                    <a:pos x="133" y="0"/>
                  </a:cxn>
                  <a:cxn ang="0">
                    <a:pos x="15" y="0"/>
                  </a:cxn>
                </a:cxnLst>
                <a:rect l="txL" t="txT" r="txR" b="txB"/>
                <a:pathLst>
                  <a:path w="133" h="16">
                    <a:moveTo>
                      <a:pt x="15" y="0"/>
                    </a:moveTo>
                    <a:lnTo>
                      <a:pt x="0" y="0"/>
                    </a:lnTo>
                    <a:lnTo>
                      <a:pt x="15" y="16"/>
                    </a:lnTo>
                    <a:lnTo>
                      <a:pt x="133" y="16"/>
                    </a:lnTo>
                    <a:lnTo>
                      <a:pt x="133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14" name="Freeform 90"/>
              <p:cNvSpPr/>
              <p:nvPr/>
            </p:nvSpPr>
            <p:spPr>
              <a:xfrm>
                <a:off x="2660" y="2357"/>
                <a:ext cx="132" cy="16"/>
              </a:xfrm>
              <a:custGeom>
                <a:avLst/>
                <a:gdLst>
                  <a:gd name="txL" fmla="*/ 0 w 132"/>
                  <a:gd name="txT" fmla="*/ 0 h 16"/>
                  <a:gd name="txR" fmla="*/ 132 w 132"/>
                  <a:gd name="txB" fmla="*/ 16 h 16"/>
                </a:gdLst>
                <a:ahLst/>
                <a:cxnLst>
                  <a:cxn ang="0">
                    <a:pos x="14" y="0"/>
                  </a:cxn>
                  <a:cxn ang="0">
                    <a:pos x="0" y="0"/>
                  </a:cxn>
                  <a:cxn ang="0">
                    <a:pos x="14" y="16"/>
                  </a:cxn>
                  <a:cxn ang="0">
                    <a:pos x="132" y="16"/>
                  </a:cxn>
                  <a:cxn ang="0">
                    <a:pos x="132" y="0"/>
                  </a:cxn>
                  <a:cxn ang="0">
                    <a:pos x="132" y="0"/>
                  </a:cxn>
                  <a:cxn ang="0">
                    <a:pos x="14" y="0"/>
                  </a:cxn>
                </a:cxnLst>
                <a:rect l="txL" t="txT" r="txR" b="txB"/>
                <a:pathLst>
                  <a:path w="132" h="16">
                    <a:moveTo>
                      <a:pt x="14" y="0"/>
                    </a:moveTo>
                    <a:lnTo>
                      <a:pt x="0" y="0"/>
                    </a:lnTo>
                    <a:lnTo>
                      <a:pt x="14" y="16"/>
                    </a:lnTo>
                    <a:lnTo>
                      <a:pt x="132" y="16"/>
                    </a:lnTo>
                    <a:lnTo>
                      <a:pt x="132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15" name="Freeform 91"/>
              <p:cNvSpPr/>
              <p:nvPr/>
            </p:nvSpPr>
            <p:spPr>
              <a:xfrm>
                <a:off x="2822" y="2357"/>
                <a:ext cx="133" cy="16"/>
              </a:xfrm>
              <a:custGeom>
                <a:avLst/>
                <a:gdLst>
                  <a:gd name="txL" fmla="*/ 0 w 133"/>
                  <a:gd name="txT" fmla="*/ 0 h 16"/>
                  <a:gd name="txR" fmla="*/ 133 w 133"/>
                  <a:gd name="txB" fmla="*/ 16 h 16"/>
                </a:gdLst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15" y="16"/>
                  </a:cxn>
                  <a:cxn ang="0">
                    <a:pos x="133" y="16"/>
                  </a:cxn>
                  <a:cxn ang="0">
                    <a:pos x="133" y="0"/>
                  </a:cxn>
                  <a:cxn ang="0">
                    <a:pos x="133" y="0"/>
                  </a:cxn>
                  <a:cxn ang="0">
                    <a:pos x="15" y="0"/>
                  </a:cxn>
                </a:cxnLst>
                <a:rect l="txL" t="txT" r="txR" b="txB"/>
                <a:pathLst>
                  <a:path w="133" h="16">
                    <a:moveTo>
                      <a:pt x="15" y="0"/>
                    </a:moveTo>
                    <a:lnTo>
                      <a:pt x="0" y="0"/>
                    </a:lnTo>
                    <a:lnTo>
                      <a:pt x="15" y="16"/>
                    </a:lnTo>
                    <a:lnTo>
                      <a:pt x="133" y="16"/>
                    </a:lnTo>
                    <a:lnTo>
                      <a:pt x="133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16" name="Freeform 92"/>
              <p:cNvSpPr/>
              <p:nvPr/>
            </p:nvSpPr>
            <p:spPr>
              <a:xfrm>
                <a:off x="2984" y="2357"/>
                <a:ext cx="133" cy="16"/>
              </a:xfrm>
              <a:custGeom>
                <a:avLst/>
                <a:gdLst>
                  <a:gd name="txL" fmla="*/ 0 w 133"/>
                  <a:gd name="txT" fmla="*/ 0 h 16"/>
                  <a:gd name="txR" fmla="*/ 133 w 133"/>
                  <a:gd name="txB" fmla="*/ 16 h 16"/>
                </a:gdLst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15" y="16"/>
                  </a:cxn>
                  <a:cxn ang="0">
                    <a:pos x="133" y="16"/>
                  </a:cxn>
                  <a:cxn ang="0">
                    <a:pos x="133" y="0"/>
                  </a:cxn>
                  <a:cxn ang="0">
                    <a:pos x="133" y="0"/>
                  </a:cxn>
                  <a:cxn ang="0">
                    <a:pos x="15" y="0"/>
                  </a:cxn>
                </a:cxnLst>
                <a:rect l="txL" t="txT" r="txR" b="txB"/>
                <a:pathLst>
                  <a:path w="133" h="16">
                    <a:moveTo>
                      <a:pt x="15" y="0"/>
                    </a:moveTo>
                    <a:lnTo>
                      <a:pt x="0" y="0"/>
                    </a:lnTo>
                    <a:lnTo>
                      <a:pt x="15" y="16"/>
                    </a:lnTo>
                    <a:lnTo>
                      <a:pt x="133" y="16"/>
                    </a:lnTo>
                    <a:lnTo>
                      <a:pt x="133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17" name="Freeform 93"/>
              <p:cNvSpPr/>
              <p:nvPr/>
            </p:nvSpPr>
            <p:spPr>
              <a:xfrm>
                <a:off x="3147" y="2357"/>
                <a:ext cx="132" cy="16"/>
              </a:xfrm>
              <a:custGeom>
                <a:avLst/>
                <a:gdLst>
                  <a:gd name="txL" fmla="*/ 0 w 132"/>
                  <a:gd name="txT" fmla="*/ 0 h 16"/>
                  <a:gd name="txR" fmla="*/ 132 w 132"/>
                  <a:gd name="txB" fmla="*/ 16 h 16"/>
                </a:gdLst>
                <a:ahLst/>
                <a:cxnLst>
                  <a:cxn ang="0">
                    <a:pos x="14" y="0"/>
                  </a:cxn>
                  <a:cxn ang="0">
                    <a:pos x="0" y="0"/>
                  </a:cxn>
                  <a:cxn ang="0">
                    <a:pos x="14" y="16"/>
                  </a:cxn>
                  <a:cxn ang="0">
                    <a:pos x="132" y="16"/>
                  </a:cxn>
                  <a:cxn ang="0">
                    <a:pos x="132" y="0"/>
                  </a:cxn>
                  <a:cxn ang="0">
                    <a:pos x="132" y="0"/>
                  </a:cxn>
                  <a:cxn ang="0">
                    <a:pos x="14" y="0"/>
                  </a:cxn>
                </a:cxnLst>
                <a:rect l="txL" t="txT" r="txR" b="txB"/>
                <a:pathLst>
                  <a:path w="132" h="16">
                    <a:moveTo>
                      <a:pt x="14" y="0"/>
                    </a:moveTo>
                    <a:lnTo>
                      <a:pt x="0" y="0"/>
                    </a:lnTo>
                    <a:lnTo>
                      <a:pt x="14" y="16"/>
                    </a:lnTo>
                    <a:lnTo>
                      <a:pt x="132" y="16"/>
                    </a:lnTo>
                    <a:lnTo>
                      <a:pt x="132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18" name="Freeform 94"/>
              <p:cNvSpPr/>
              <p:nvPr/>
            </p:nvSpPr>
            <p:spPr>
              <a:xfrm>
                <a:off x="3309" y="2357"/>
                <a:ext cx="133" cy="16"/>
              </a:xfrm>
              <a:custGeom>
                <a:avLst/>
                <a:gdLst>
                  <a:gd name="txL" fmla="*/ 0 w 133"/>
                  <a:gd name="txT" fmla="*/ 0 h 16"/>
                  <a:gd name="txR" fmla="*/ 133 w 133"/>
                  <a:gd name="txB" fmla="*/ 16 h 16"/>
                </a:gdLst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15" y="16"/>
                  </a:cxn>
                  <a:cxn ang="0">
                    <a:pos x="133" y="16"/>
                  </a:cxn>
                  <a:cxn ang="0">
                    <a:pos x="133" y="0"/>
                  </a:cxn>
                  <a:cxn ang="0">
                    <a:pos x="133" y="0"/>
                  </a:cxn>
                  <a:cxn ang="0">
                    <a:pos x="15" y="0"/>
                  </a:cxn>
                </a:cxnLst>
                <a:rect l="txL" t="txT" r="txR" b="txB"/>
                <a:pathLst>
                  <a:path w="133" h="16">
                    <a:moveTo>
                      <a:pt x="15" y="0"/>
                    </a:moveTo>
                    <a:lnTo>
                      <a:pt x="0" y="0"/>
                    </a:lnTo>
                    <a:lnTo>
                      <a:pt x="15" y="16"/>
                    </a:lnTo>
                    <a:lnTo>
                      <a:pt x="133" y="16"/>
                    </a:lnTo>
                    <a:lnTo>
                      <a:pt x="133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19" name="Freeform 95"/>
              <p:cNvSpPr/>
              <p:nvPr/>
            </p:nvSpPr>
            <p:spPr>
              <a:xfrm>
                <a:off x="3471" y="2357"/>
                <a:ext cx="133" cy="16"/>
              </a:xfrm>
              <a:custGeom>
                <a:avLst/>
                <a:gdLst>
                  <a:gd name="txL" fmla="*/ 0 w 133"/>
                  <a:gd name="txT" fmla="*/ 0 h 16"/>
                  <a:gd name="txR" fmla="*/ 133 w 133"/>
                  <a:gd name="txB" fmla="*/ 16 h 16"/>
                </a:gdLst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15" y="16"/>
                  </a:cxn>
                  <a:cxn ang="0">
                    <a:pos x="133" y="16"/>
                  </a:cxn>
                  <a:cxn ang="0">
                    <a:pos x="133" y="0"/>
                  </a:cxn>
                  <a:cxn ang="0">
                    <a:pos x="133" y="0"/>
                  </a:cxn>
                  <a:cxn ang="0">
                    <a:pos x="15" y="0"/>
                  </a:cxn>
                </a:cxnLst>
                <a:rect l="txL" t="txT" r="txR" b="txB"/>
                <a:pathLst>
                  <a:path w="133" h="16">
                    <a:moveTo>
                      <a:pt x="15" y="0"/>
                    </a:moveTo>
                    <a:lnTo>
                      <a:pt x="0" y="0"/>
                    </a:lnTo>
                    <a:lnTo>
                      <a:pt x="15" y="16"/>
                    </a:lnTo>
                    <a:lnTo>
                      <a:pt x="133" y="16"/>
                    </a:lnTo>
                    <a:lnTo>
                      <a:pt x="133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20" name="Freeform 96"/>
              <p:cNvSpPr/>
              <p:nvPr/>
            </p:nvSpPr>
            <p:spPr>
              <a:xfrm>
                <a:off x="3634" y="2357"/>
                <a:ext cx="132" cy="16"/>
              </a:xfrm>
              <a:custGeom>
                <a:avLst/>
                <a:gdLst>
                  <a:gd name="txL" fmla="*/ 0 w 132"/>
                  <a:gd name="txT" fmla="*/ 0 h 16"/>
                  <a:gd name="txR" fmla="*/ 132 w 132"/>
                  <a:gd name="txB" fmla="*/ 16 h 16"/>
                </a:gdLst>
                <a:ahLst/>
                <a:cxnLst>
                  <a:cxn ang="0">
                    <a:pos x="14" y="0"/>
                  </a:cxn>
                  <a:cxn ang="0">
                    <a:pos x="0" y="0"/>
                  </a:cxn>
                  <a:cxn ang="0">
                    <a:pos x="14" y="16"/>
                  </a:cxn>
                  <a:cxn ang="0">
                    <a:pos x="132" y="16"/>
                  </a:cxn>
                  <a:cxn ang="0">
                    <a:pos x="132" y="0"/>
                  </a:cxn>
                  <a:cxn ang="0">
                    <a:pos x="132" y="0"/>
                  </a:cxn>
                  <a:cxn ang="0">
                    <a:pos x="14" y="0"/>
                  </a:cxn>
                </a:cxnLst>
                <a:rect l="txL" t="txT" r="txR" b="txB"/>
                <a:pathLst>
                  <a:path w="132" h="16">
                    <a:moveTo>
                      <a:pt x="14" y="0"/>
                    </a:moveTo>
                    <a:lnTo>
                      <a:pt x="0" y="0"/>
                    </a:lnTo>
                    <a:lnTo>
                      <a:pt x="14" y="16"/>
                    </a:lnTo>
                    <a:lnTo>
                      <a:pt x="132" y="16"/>
                    </a:lnTo>
                    <a:lnTo>
                      <a:pt x="132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21" name="Freeform 97"/>
              <p:cNvSpPr/>
              <p:nvPr/>
            </p:nvSpPr>
            <p:spPr>
              <a:xfrm>
                <a:off x="3796" y="2357"/>
                <a:ext cx="133" cy="16"/>
              </a:xfrm>
              <a:custGeom>
                <a:avLst/>
                <a:gdLst>
                  <a:gd name="txL" fmla="*/ 0 w 133"/>
                  <a:gd name="txT" fmla="*/ 0 h 16"/>
                  <a:gd name="txR" fmla="*/ 133 w 133"/>
                  <a:gd name="txB" fmla="*/ 16 h 16"/>
                </a:gdLst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15" y="16"/>
                  </a:cxn>
                  <a:cxn ang="0">
                    <a:pos x="133" y="16"/>
                  </a:cxn>
                  <a:cxn ang="0">
                    <a:pos x="133" y="0"/>
                  </a:cxn>
                  <a:cxn ang="0">
                    <a:pos x="133" y="0"/>
                  </a:cxn>
                  <a:cxn ang="0">
                    <a:pos x="15" y="0"/>
                  </a:cxn>
                </a:cxnLst>
                <a:rect l="txL" t="txT" r="txR" b="txB"/>
                <a:pathLst>
                  <a:path w="133" h="16">
                    <a:moveTo>
                      <a:pt x="15" y="0"/>
                    </a:moveTo>
                    <a:lnTo>
                      <a:pt x="0" y="0"/>
                    </a:lnTo>
                    <a:lnTo>
                      <a:pt x="15" y="16"/>
                    </a:lnTo>
                    <a:lnTo>
                      <a:pt x="133" y="16"/>
                    </a:lnTo>
                    <a:lnTo>
                      <a:pt x="133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22" name="Freeform 98"/>
              <p:cNvSpPr/>
              <p:nvPr/>
            </p:nvSpPr>
            <p:spPr>
              <a:xfrm>
                <a:off x="3958" y="2357"/>
                <a:ext cx="133" cy="16"/>
              </a:xfrm>
              <a:custGeom>
                <a:avLst/>
                <a:gdLst>
                  <a:gd name="txL" fmla="*/ 0 w 133"/>
                  <a:gd name="txT" fmla="*/ 0 h 16"/>
                  <a:gd name="txR" fmla="*/ 133 w 133"/>
                  <a:gd name="txB" fmla="*/ 16 h 16"/>
                </a:gdLst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15" y="16"/>
                  </a:cxn>
                  <a:cxn ang="0">
                    <a:pos x="133" y="16"/>
                  </a:cxn>
                  <a:cxn ang="0">
                    <a:pos x="133" y="0"/>
                  </a:cxn>
                  <a:cxn ang="0">
                    <a:pos x="133" y="0"/>
                  </a:cxn>
                  <a:cxn ang="0">
                    <a:pos x="15" y="0"/>
                  </a:cxn>
                </a:cxnLst>
                <a:rect l="txL" t="txT" r="txR" b="txB"/>
                <a:pathLst>
                  <a:path w="133" h="16">
                    <a:moveTo>
                      <a:pt x="15" y="0"/>
                    </a:moveTo>
                    <a:lnTo>
                      <a:pt x="0" y="0"/>
                    </a:lnTo>
                    <a:lnTo>
                      <a:pt x="15" y="16"/>
                    </a:lnTo>
                    <a:lnTo>
                      <a:pt x="133" y="16"/>
                    </a:lnTo>
                    <a:lnTo>
                      <a:pt x="133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23" name="Freeform 99"/>
              <p:cNvSpPr/>
              <p:nvPr/>
            </p:nvSpPr>
            <p:spPr>
              <a:xfrm>
                <a:off x="4121" y="2357"/>
                <a:ext cx="133" cy="16"/>
              </a:xfrm>
              <a:custGeom>
                <a:avLst/>
                <a:gdLst>
                  <a:gd name="txL" fmla="*/ 0 w 133"/>
                  <a:gd name="txT" fmla="*/ 0 h 16"/>
                  <a:gd name="txR" fmla="*/ 133 w 133"/>
                  <a:gd name="txB" fmla="*/ 16 h 16"/>
                </a:gdLst>
                <a:ahLst/>
                <a:cxnLst>
                  <a:cxn ang="0">
                    <a:pos x="14" y="0"/>
                  </a:cxn>
                  <a:cxn ang="0">
                    <a:pos x="0" y="0"/>
                  </a:cxn>
                  <a:cxn ang="0">
                    <a:pos x="14" y="16"/>
                  </a:cxn>
                  <a:cxn ang="0">
                    <a:pos x="133" y="16"/>
                  </a:cxn>
                  <a:cxn ang="0">
                    <a:pos x="133" y="0"/>
                  </a:cxn>
                  <a:cxn ang="0">
                    <a:pos x="133" y="0"/>
                  </a:cxn>
                  <a:cxn ang="0">
                    <a:pos x="14" y="0"/>
                  </a:cxn>
                </a:cxnLst>
                <a:rect l="txL" t="txT" r="txR" b="txB"/>
                <a:pathLst>
                  <a:path w="133" h="16">
                    <a:moveTo>
                      <a:pt x="14" y="0"/>
                    </a:moveTo>
                    <a:lnTo>
                      <a:pt x="0" y="0"/>
                    </a:lnTo>
                    <a:lnTo>
                      <a:pt x="14" y="16"/>
                    </a:lnTo>
                    <a:lnTo>
                      <a:pt x="133" y="16"/>
                    </a:lnTo>
                    <a:lnTo>
                      <a:pt x="133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24" name="Freeform 100"/>
              <p:cNvSpPr/>
              <p:nvPr/>
            </p:nvSpPr>
            <p:spPr>
              <a:xfrm>
                <a:off x="4283" y="2357"/>
                <a:ext cx="133" cy="16"/>
              </a:xfrm>
              <a:custGeom>
                <a:avLst/>
                <a:gdLst>
                  <a:gd name="txL" fmla="*/ 0 w 133"/>
                  <a:gd name="txT" fmla="*/ 0 h 16"/>
                  <a:gd name="txR" fmla="*/ 133 w 133"/>
                  <a:gd name="txB" fmla="*/ 16 h 16"/>
                </a:gdLst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15" y="16"/>
                  </a:cxn>
                  <a:cxn ang="0">
                    <a:pos x="133" y="16"/>
                  </a:cxn>
                  <a:cxn ang="0">
                    <a:pos x="133" y="0"/>
                  </a:cxn>
                  <a:cxn ang="0">
                    <a:pos x="133" y="0"/>
                  </a:cxn>
                  <a:cxn ang="0">
                    <a:pos x="15" y="0"/>
                  </a:cxn>
                </a:cxnLst>
                <a:rect l="txL" t="txT" r="txR" b="txB"/>
                <a:pathLst>
                  <a:path w="133" h="16">
                    <a:moveTo>
                      <a:pt x="15" y="0"/>
                    </a:moveTo>
                    <a:lnTo>
                      <a:pt x="0" y="0"/>
                    </a:lnTo>
                    <a:lnTo>
                      <a:pt x="15" y="16"/>
                    </a:lnTo>
                    <a:lnTo>
                      <a:pt x="133" y="16"/>
                    </a:lnTo>
                    <a:lnTo>
                      <a:pt x="133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25" name="Freeform 101"/>
              <p:cNvSpPr/>
              <p:nvPr/>
            </p:nvSpPr>
            <p:spPr>
              <a:xfrm>
                <a:off x="4445" y="2357"/>
                <a:ext cx="133" cy="16"/>
              </a:xfrm>
              <a:custGeom>
                <a:avLst/>
                <a:gdLst>
                  <a:gd name="txL" fmla="*/ 0 w 133"/>
                  <a:gd name="txT" fmla="*/ 0 h 16"/>
                  <a:gd name="txR" fmla="*/ 133 w 133"/>
                  <a:gd name="txB" fmla="*/ 16 h 16"/>
                </a:gdLst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15" y="16"/>
                  </a:cxn>
                  <a:cxn ang="0">
                    <a:pos x="133" y="16"/>
                  </a:cxn>
                  <a:cxn ang="0">
                    <a:pos x="133" y="0"/>
                  </a:cxn>
                  <a:cxn ang="0">
                    <a:pos x="133" y="0"/>
                  </a:cxn>
                  <a:cxn ang="0">
                    <a:pos x="15" y="0"/>
                  </a:cxn>
                </a:cxnLst>
                <a:rect l="txL" t="txT" r="txR" b="txB"/>
                <a:pathLst>
                  <a:path w="133" h="16">
                    <a:moveTo>
                      <a:pt x="15" y="0"/>
                    </a:moveTo>
                    <a:lnTo>
                      <a:pt x="0" y="0"/>
                    </a:lnTo>
                    <a:lnTo>
                      <a:pt x="15" y="16"/>
                    </a:lnTo>
                    <a:lnTo>
                      <a:pt x="133" y="16"/>
                    </a:lnTo>
                    <a:lnTo>
                      <a:pt x="133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26" name="Freeform 102"/>
              <p:cNvSpPr/>
              <p:nvPr/>
            </p:nvSpPr>
            <p:spPr>
              <a:xfrm>
                <a:off x="4608" y="2357"/>
                <a:ext cx="133" cy="16"/>
              </a:xfrm>
              <a:custGeom>
                <a:avLst/>
                <a:gdLst>
                  <a:gd name="txL" fmla="*/ 0 w 133"/>
                  <a:gd name="txT" fmla="*/ 0 h 16"/>
                  <a:gd name="txR" fmla="*/ 133 w 133"/>
                  <a:gd name="txB" fmla="*/ 16 h 16"/>
                </a:gdLst>
                <a:ahLst/>
                <a:cxnLst>
                  <a:cxn ang="0">
                    <a:pos x="14" y="0"/>
                  </a:cxn>
                  <a:cxn ang="0">
                    <a:pos x="0" y="0"/>
                  </a:cxn>
                  <a:cxn ang="0">
                    <a:pos x="14" y="16"/>
                  </a:cxn>
                  <a:cxn ang="0">
                    <a:pos x="133" y="16"/>
                  </a:cxn>
                  <a:cxn ang="0">
                    <a:pos x="133" y="0"/>
                  </a:cxn>
                  <a:cxn ang="0">
                    <a:pos x="133" y="0"/>
                  </a:cxn>
                  <a:cxn ang="0">
                    <a:pos x="14" y="0"/>
                  </a:cxn>
                </a:cxnLst>
                <a:rect l="txL" t="txT" r="txR" b="txB"/>
                <a:pathLst>
                  <a:path w="133" h="16">
                    <a:moveTo>
                      <a:pt x="14" y="0"/>
                    </a:moveTo>
                    <a:lnTo>
                      <a:pt x="0" y="0"/>
                    </a:lnTo>
                    <a:lnTo>
                      <a:pt x="14" y="16"/>
                    </a:lnTo>
                    <a:lnTo>
                      <a:pt x="133" y="16"/>
                    </a:lnTo>
                    <a:lnTo>
                      <a:pt x="133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27" name="Freeform 103"/>
              <p:cNvSpPr/>
              <p:nvPr/>
            </p:nvSpPr>
            <p:spPr>
              <a:xfrm>
                <a:off x="4770" y="2357"/>
                <a:ext cx="133" cy="16"/>
              </a:xfrm>
              <a:custGeom>
                <a:avLst/>
                <a:gdLst>
                  <a:gd name="txL" fmla="*/ 0 w 133"/>
                  <a:gd name="txT" fmla="*/ 0 h 16"/>
                  <a:gd name="txR" fmla="*/ 133 w 133"/>
                  <a:gd name="txB" fmla="*/ 16 h 16"/>
                </a:gdLst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15" y="16"/>
                  </a:cxn>
                  <a:cxn ang="0">
                    <a:pos x="133" y="16"/>
                  </a:cxn>
                  <a:cxn ang="0">
                    <a:pos x="133" y="0"/>
                  </a:cxn>
                  <a:cxn ang="0">
                    <a:pos x="133" y="0"/>
                  </a:cxn>
                  <a:cxn ang="0">
                    <a:pos x="15" y="0"/>
                  </a:cxn>
                </a:cxnLst>
                <a:rect l="txL" t="txT" r="txR" b="txB"/>
                <a:pathLst>
                  <a:path w="133" h="16">
                    <a:moveTo>
                      <a:pt x="15" y="0"/>
                    </a:moveTo>
                    <a:lnTo>
                      <a:pt x="0" y="0"/>
                    </a:lnTo>
                    <a:lnTo>
                      <a:pt x="15" y="16"/>
                    </a:lnTo>
                    <a:lnTo>
                      <a:pt x="133" y="16"/>
                    </a:lnTo>
                    <a:lnTo>
                      <a:pt x="133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28" name="Freeform 104"/>
              <p:cNvSpPr/>
              <p:nvPr/>
            </p:nvSpPr>
            <p:spPr>
              <a:xfrm>
                <a:off x="4932" y="2357"/>
                <a:ext cx="118" cy="16"/>
              </a:xfrm>
              <a:custGeom>
                <a:avLst/>
                <a:gdLst>
                  <a:gd name="txL" fmla="*/ 0 w 118"/>
                  <a:gd name="txT" fmla="*/ 0 h 16"/>
                  <a:gd name="txR" fmla="*/ 118 w 118"/>
                  <a:gd name="txB" fmla="*/ 16 h 16"/>
                </a:gdLst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15" y="16"/>
                  </a:cxn>
                  <a:cxn ang="0">
                    <a:pos x="118" y="16"/>
                  </a:cxn>
                  <a:cxn ang="0">
                    <a:pos x="118" y="0"/>
                  </a:cxn>
                  <a:cxn ang="0">
                    <a:pos x="118" y="0"/>
                  </a:cxn>
                  <a:cxn ang="0">
                    <a:pos x="15" y="0"/>
                  </a:cxn>
                </a:cxnLst>
                <a:rect l="txL" t="txT" r="txR" b="txB"/>
                <a:pathLst>
                  <a:path w="118" h="16">
                    <a:moveTo>
                      <a:pt x="15" y="0"/>
                    </a:moveTo>
                    <a:lnTo>
                      <a:pt x="0" y="0"/>
                    </a:lnTo>
                    <a:lnTo>
                      <a:pt x="15" y="16"/>
                    </a:lnTo>
                    <a:lnTo>
                      <a:pt x="118" y="16"/>
                    </a:lnTo>
                    <a:lnTo>
                      <a:pt x="118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9747" name="Oval 105"/>
            <p:cNvSpPr/>
            <p:nvPr/>
          </p:nvSpPr>
          <p:spPr>
            <a:xfrm>
              <a:off x="4052" y="2230"/>
              <a:ext cx="74" cy="77"/>
            </a:xfrm>
            <a:prstGeom prst="ellipse">
              <a:avLst/>
            </a:prstGeom>
            <a:solidFill>
              <a:srgbClr val="000000"/>
            </a:solidFill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9748" name="Oval 106"/>
            <p:cNvSpPr/>
            <p:nvPr/>
          </p:nvSpPr>
          <p:spPr>
            <a:xfrm>
              <a:off x="2001" y="3093"/>
              <a:ext cx="73" cy="77"/>
            </a:xfrm>
            <a:prstGeom prst="ellipse">
              <a:avLst/>
            </a:prstGeom>
            <a:solidFill>
              <a:srgbClr val="000000"/>
            </a:solidFill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9749" name="Oval 107"/>
            <p:cNvSpPr/>
            <p:nvPr/>
          </p:nvSpPr>
          <p:spPr>
            <a:xfrm>
              <a:off x="4436" y="3078"/>
              <a:ext cx="74" cy="77"/>
            </a:xfrm>
            <a:prstGeom prst="ellipse">
              <a:avLst/>
            </a:prstGeom>
            <a:solidFill>
              <a:srgbClr val="000000"/>
            </a:solidFill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9750" name="Oval 108"/>
            <p:cNvSpPr/>
            <p:nvPr/>
          </p:nvSpPr>
          <p:spPr>
            <a:xfrm>
              <a:off x="2311" y="2230"/>
              <a:ext cx="73" cy="77"/>
            </a:xfrm>
            <a:prstGeom prst="ellipse">
              <a:avLst/>
            </a:prstGeom>
            <a:solidFill>
              <a:srgbClr val="000000"/>
            </a:solidFill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9751" name="Freeform 109"/>
            <p:cNvSpPr/>
            <p:nvPr/>
          </p:nvSpPr>
          <p:spPr>
            <a:xfrm>
              <a:off x="2030" y="2292"/>
              <a:ext cx="325" cy="847"/>
            </a:xfrm>
            <a:custGeom>
              <a:avLst/>
              <a:gdLst>
                <a:gd name="txL" fmla="*/ 0 w 325"/>
                <a:gd name="txT" fmla="*/ 0 h 847"/>
                <a:gd name="txR" fmla="*/ 325 w 325"/>
                <a:gd name="txB" fmla="*/ 847 h 847"/>
              </a:gdLst>
              <a:ahLst/>
              <a:cxnLst>
                <a:cxn ang="0">
                  <a:pos x="0" y="832"/>
                </a:cxn>
                <a:cxn ang="0">
                  <a:pos x="30" y="847"/>
                </a:cxn>
                <a:cxn ang="0">
                  <a:pos x="325" y="15"/>
                </a:cxn>
                <a:cxn ang="0">
                  <a:pos x="295" y="0"/>
                </a:cxn>
                <a:cxn ang="0">
                  <a:pos x="0" y="832"/>
                </a:cxn>
              </a:cxnLst>
              <a:rect l="txL" t="txT" r="txR" b="txB"/>
              <a:pathLst>
                <a:path w="325" h="847">
                  <a:moveTo>
                    <a:pt x="0" y="832"/>
                  </a:moveTo>
                  <a:lnTo>
                    <a:pt x="30" y="847"/>
                  </a:lnTo>
                  <a:lnTo>
                    <a:pt x="325" y="15"/>
                  </a:lnTo>
                  <a:lnTo>
                    <a:pt x="295" y="0"/>
                  </a:lnTo>
                  <a:lnTo>
                    <a:pt x="0" y="83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52" name="Freeform 110"/>
            <p:cNvSpPr/>
            <p:nvPr/>
          </p:nvSpPr>
          <p:spPr>
            <a:xfrm>
              <a:off x="4096" y="2292"/>
              <a:ext cx="369" cy="832"/>
            </a:xfrm>
            <a:custGeom>
              <a:avLst/>
              <a:gdLst>
                <a:gd name="txL" fmla="*/ 0 w 369"/>
                <a:gd name="txT" fmla="*/ 0 h 832"/>
                <a:gd name="txR" fmla="*/ 369 w 369"/>
                <a:gd name="txB" fmla="*/ 832 h 832"/>
              </a:gdLst>
              <a:ahLst/>
              <a:cxnLst>
                <a:cxn ang="0">
                  <a:pos x="355" y="832"/>
                </a:cxn>
                <a:cxn ang="0">
                  <a:pos x="369" y="817"/>
                </a:cxn>
                <a:cxn ang="0">
                  <a:pos x="15" y="0"/>
                </a:cxn>
                <a:cxn ang="0">
                  <a:pos x="0" y="15"/>
                </a:cxn>
                <a:cxn ang="0">
                  <a:pos x="355" y="832"/>
                </a:cxn>
              </a:cxnLst>
              <a:rect l="txL" t="txT" r="txR" b="txB"/>
              <a:pathLst>
                <a:path w="369" h="832">
                  <a:moveTo>
                    <a:pt x="355" y="832"/>
                  </a:moveTo>
                  <a:lnTo>
                    <a:pt x="369" y="817"/>
                  </a:lnTo>
                  <a:lnTo>
                    <a:pt x="15" y="0"/>
                  </a:lnTo>
                  <a:lnTo>
                    <a:pt x="0" y="15"/>
                  </a:lnTo>
                  <a:lnTo>
                    <a:pt x="355" y="83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53" name="Rectangle 111"/>
            <p:cNvSpPr/>
            <p:nvPr/>
          </p:nvSpPr>
          <p:spPr>
            <a:xfrm>
              <a:off x="2488" y="2137"/>
              <a:ext cx="1490" cy="31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9754" name="Freeform 112"/>
            <p:cNvSpPr/>
            <p:nvPr/>
          </p:nvSpPr>
          <p:spPr>
            <a:xfrm>
              <a:off x="2311" y="2137"/>
              <a:ext cx="221" cy="170"/>
            </a:xfrm>
            <a:custGeom>
              <a:avLst/>
              <a:gdLst>
                <a:gd name="txL" fmla="*/ 0 w 221"/>
                <a:gd name="txT" fmla="*/ 0 h 170"/>
                <a:gd name="txR" fmla="*/ 221 w 221"/>
                <a:gd name="txB" fmla="*/ 170 h 170"/>
              </a:gdLst>
              <a:ahLst/>
              <a:cxnLst>
                <a:cxn ang="0">
                  <a:pos x="221" y="31"/>
                </a:cxn>
                <a:cxn ang="0">
                  <a:pos x="221" y="0"/>
                </a:cxn>
                <a:cxn ang="0">
                  <a:pos x="162" y="0"/>
                </a:cxn>
                <a:cxn ang="0">
                  <a:pos x="147" y="0"/>
                </a:cxn>
                <a:cxn ang="0">
                  <a:pos x="73" y="31"/>
                </a:cxn>
                <a:cxn ang="0">
                  <a:pos x="29" y="93"/>
                </a:cxn>
                <a:cxn ang="0">
                  <a:pos x="29" y="108"/>
                </a:cxn>
                <a:cxn ang="0">
                  <a:pos x="0" y="170"/>
                </a:cxn>
                <a:cxn ang="0">
                  <a:pos x="29" y="170"/>
                </a:cxn>
                <a:cxn ang="0">
                  <a:pos x="59" y="108"/>
                </a:cxn>
                <a:cxn ang="0">
                  <a:pos x="44" y="108"/>
                </a:cxn>
                <a:cxn ang="0">
                  <a:pos x="44" y="124"/>
                </a:cxn>
                <a:cxn ang="0">
                  <a:pos x="88" y="62"/>
                </a:cxn>
                <a:cxn ang="0">
                  <a:pos x="162" y="31"/>
                </a:cxn>
                <a:cxn ang="0">
                  <a:pos x="147" y="16"/>
                </a:cxn>
                <a:cxn ang="0">
                  <a:pos x="147" y="31"/>
                </a:cxn>
                <a:cxn ang="0">
                  <a:pos x="221" y="31"/>
                </a:cxn>
              </a:cxnLst>
              <a:rect l="txL" t="txT" r="txR" b="txB"/>
              <a:pathLst>
                <a:path w="221" h="170">
                  <a:moveTo>
                    <a:pt x="221" y="31"/>
                  </a:moveTo>
                  <a:lnTo>
                    <a:pt x="221" y="0"/>
                  </a:lnTo>
                  <a:lnTo>
                    <a:pt x="162" y="0"/>
                  </a:lnTo>
                  <a:lnTo>
                    <a:pt x="147" y="0"/>
                  </a:lnTo>
                  <a:lnTo>
                    <a:pt x="73" y="31"/>
                  </a:lnTo>
                  <a:lnTo>
                    <a:pt x="29" y="93"/>
                  </a:lnTo>
                  <a:lnTo>
                    <a:pt x="29" y="108"/>
                  </a:lnTo>
                  <a:lnTo>
                    <a:pt x="0" y="170"/>
                  </a:lnTo>
                  <a:lnTo>
                    <a:pt x="29" y="170"/>
                  </a:lnTo>
                  <a:lnTo>
                    <a:pt x="59" y="108"/>
                  </a:lnTo>
                  <a:lnTo>
                    <a:pt x="44" y="108"/>
                  </a:lnTo>
                  <a:lnTo>
                    <a:pt x="44" y="124"/>
                  </a:lnTo>
                  <a:lnTo>
                    <a:pt x="88" y="62"/>
                  </a:lnTo>
                  <a:lnTo>
                    <a:pt x="162" y="31"/>
                  </a:lnTo>
                  <a:lnTo>
                    <a:pt x="147" y="16"/>
                  </a:lnTo>
                  <a:lnTo>
                    <a:pt x="147" y="31"/>
                  </a:lnTo>
                  <a:lnTo>
                    <a:pt x="221" y="3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55" name="Freeform 113"/>
            <p:cNvSpPr/>
            <p:nvPr/>
          </p:nvSpPr>
          <p:spPr>
            <a:xfrm>
              <a:off x="3890" y="2137"/>
              <a:ext cx="221" cy="170"/>
            </a:xfrm>
            <a:custGeom>
              <a:avLst/>
              <a:gdLst>
                <a:gd name="txL" fmla="*/ 0 w 221"/>
                <a:gd name="txT" fmla="*/ 0 h 170"/>
                <a:gd name="txR" fmla="*/ 221 w 221"/>
                <a:gd name="txB" fmla="*/ 170 h 170"/>
              </a:gdLst>
              <a:ahLst/>
              <a:cxnLst>
                <a:cxn ang="0">
                  <a:pos x="0" y="0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14" y="31"/>
                </a:cxn>
                <a:cxn ang="0">
                  <a:pos x="88" y="31"/>
                </a:cxn>
                <a:cxn ang="0">
                  <a:pos x="74" y="16"/>
                </a:cxn>
                <a:cxn ang="0">
                  <a:pos x="74" y="31"/>
                </a:cxn>
                <a:cxn ang="0">
                  <a:pos x="133" y="62"/>
                </a:cxn>
                <a:cxn ang="0">
                  <a:pos x="177" y="124"/>
                </a:cxn>
                <a:cxn ang="0">
                  <a:pos x="177" y="108"/>
                </a:cxn>
                <a:cxn ang="0">
                  <a:pos x="162" y="108"/>
                </a:cxn>
                <a:cxn ang="0">
                  <a:pos x="192" y="170"/>
                </a:cxn>
                <a:cxn ang="0">
                  <a:pos x="221" y="170"/>
                </a:cxn>
                <a:cxn ang="0">
                  <a:pos x="192" y="108"/>
                </a:cxn>
                <a:cxn ang="0">
                  <a:pos x="192" y="93"/>
                </a:cxn>
                <a:cxn ang="0">
                  <a:pos x="147" y="31"/>
                </a:cxn>
                <a:cxn ang="0">
                  <a:pos x="88" y="0"/>
                </a:cxn>
                <a:cxn ang="0">
                  <a:pos x="74" y="0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0" y="0"/>
                </a:cxn>
              </a:cxnLst>
              <a:rect l="txL" t="txT" r="txR" b="txB"/>
              <a:pathLst>
                <a:path w="221" h="170">
                  <a:moveTo>
                    <a:pt x="0" y="0"/>
                  </a:moveTo>
                  <a:lnTo>
                    <a:pt x="0" y="31"/>
                  </a:lnTo>
                  <a:lnTo>
                    <a:pt x="14" y="31"/>
                  </a:lnTo>
                  <a:lnTo>
                    <a:pt x="88" y="31"/>
                  </a:lnTo>
                  <a:lnTo>
                    <a:pt x="74" y="16"/>
                  </a:lnTo>
                  <a:lnTo>
                    <a:pt x="74" y="31"/>
                  </a:lnTo>
                  <a:lnTo>
                    <a:pt x="133" y="62"/>
                  </a:lnTo>
                  <a:lnTo>
                    <a:pt x="177" y="124"/>
                  </a:lnTo>
                  <a:lnTo>
                    <a:pt x="177" y="108"/>
                  </a:lnTo>
                  <a:lnTo>
                    <a:pt x="162" y="108"/>
                  </a:lnTo>
                  <a:lnTo>
                    <a:pt x="192" y="170"/>
                  </a:lnTo>
                  <a:lnTo>
                    <a:pt x="221" y="170"/>
                  </a:lnTo>
                  <a:lnTo>
                    <a:pt x="192" y="108"/>
                  </a:lnTo>
                  <a:lnTo>
                    <a:pt x="192" y="93"/>
                  </a:lnTo>
                  <a:lnTo>
                    <a:pt x="147" y="31"/>
                  </a:lnTo>
                  <a:lnTo>
                    <a:pt x="88" y="0"/>
                  </a:lnTo>
                  <a:lnTo>
                    <a:pt x="74" y="0"/>
                  </a:lnTo>
                  <a:lnTo>
                    <a:pt x="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56" name="Oval 114"/>
            <p:cNvSpPr/>
            <p:nvPr/>
          </p:nvSpPr>
          <p:spPr>
            <a:xfrm>
              <a:off x="2163" y="2662"/>
              <a:ext cx="74" cy="77"/>
            </a:xfrm>
            <a:prstGeom prst="ellipse">
              <a:avLst/>
            </a:prstGeom>
            <a:solidFill>
              <a:srgbClr val="000000"/>
            </a:solidFill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9757" name="Line 115"/>
            <p:cNvSpPr/>
            <p:nvPr/>
          </p:nvSpPr>
          <p:spPr>
            <a:xfrm flipV="1">
              <a:off x="1617" y="3448"/>
              <a:ext cx="1" cy="185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58" name="Freeform 116"/>
            <p:cNvSpPr/>
            <p:nvPr/>
          </p:nvSpPr>
          <p:spPr>
            <a:xfrm>
              <a:off x="1602" y="3371"/>
              <a:ext cx="30" cy="138"/>
            </a:xfrm>
            <a:custGeom>
              <a:avLst/>
              <a:gdLst>
                <a:gd name="txL" fmla="*/ 0 w 30"/>
                <a:gd name="txT" fmla="*/ 0 h 138"/>
                <a:gd name="txR" fmla="*/ 30 w 30"/>
                <a:gd name="txB" fmla="*/ 138 h 138"/>
              </a:gdLst>
              <a:ahLst/>
              <a:cxnLst>
                <a:cxn ang="0">
                  <a:pos x="30" y="138"/>
                </a:cxn>
                <a:cxn ang="0">
                  <a:pos x="0" y="138"/>
                </a:cxn>
                <a:cxn ang="0">
                  <a:pos x="15" y="0"/>
                </a:cxn>
                <a:cxn ang="0">
                  <a:pos x="30" y="138"/>
                </a:cxn>
              </a:cxnLst>
              <a:rect l="txL" t="txT" r="txR" b="txB"/>
              <a:pathLst>
                <a:path w="30" h="138">
                  <a:moveTo>
                    <a:pt x="30" y="138"/>
                  </a:moveTo>
                  <a:lnTo>
                    <a:pt x="0" y="138"/>
                  </a:lnTo>
                  <a:lnTo>
                    <a:pt x="15" y="0"/>
                  </a:lnTo>
                  <a:lnTo>
                    <a:pt x="30" y="13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238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59" name="Line 117"/>
            <p:cNvSpPr/>
            <p:nvPr/>
          </p:nvSpPr>
          <p:spPr>
            <a:xfrm flipV="1">
              <a:off x="1307" y="2276"/>
              <a:ext cx="1" cy="247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60" name="Freeform 118"/>
            <p:cNvSpPr/>
            <p:nvPr/>
          </p:nvSpPr>
          <p:spPr>
            <a:xfrm>
              <a:off x="1292" y="2168"/>
              <a:ext cx="30" cy="124"/>
            </a:xfrm>
            <a:custGeom>
              <a:avLst/>
              <a:gdLst>
                <a:gd name="txL" fmla="*/ 0 w 30"/>
                <a:gd name="txT" fmla="*/ 0 h 124"/>
                <a:gd name="txR" fmla="*/ 30 w 30"/>
                <a:gd name="txB" fmla="*/ 124 h 124"/>
              </a:gdLst>
              <a:ahLst/>
              <a:cxnLst>
                <a:cxn ang="0">
                  <a:pos x="30" y="124"/>
                </a:cxn>
                <a:cxn ang="0">
                  <a:pos x="0" y="124"/>
                </a:cxn>
                <a:cxn ang="0">
                  <a:pos x="15" y="0"/>
                </a:cxn>
                <a:cxn ang="0">
                  <a:pos x="30" y="124"/>
                </a:cxn>
              </a:cxnLst>
              <a:rect l="txL" t="txT" r="txR" b="txB"/>
              <a:pathLst>
                <a:path w="30" h="124">
                  <a:moveTo>
                    <a:pt x="30" y="124"/>
                  </a:moveTo>
                  <a:lnTo>
                    <a:pt x="0" y="124"/>
                  </a:lnTo>
                  <a:lnTo>
                    <a:pt x="15" y="0"/>
                  </a:lnTo>
                  <a:lnTo>
                    <a:pt x="30" y="1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238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61" name="Line 119"/>
            <p:cNvSpPr/>
            <p:nvPr/>
          </p:nvSpPr>
          <p:spPr>
            <a:xfrm>
              <a:off x="1307" y="2862"/>
              <a:ext cx="1" cy="247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62" name="Freeform 120"/>
            <p:cNvSpPr/>
            <p:nvPr/>
          </p:nvSpPr>
          <p:spPr>
            <a:xfrm>
              <a:off x="1292" y="3093"/>
              <a:ext cx="44" cy="139"/>
            </a:xfrm>
            <a:custGeom>
              <a:avLst/>
              <a:gdLst>
                <a:gd name="txL" fmla="*/ 0 w 44"/>
                <a:gd name="txT" fmla="*/ 0 h 139"/>
                <a:gd name="txR" fmla="*/ 44 w 44"/>
                <a:gd name="txB" fmla="*/ 139 h 139"/>
              </a:gdLst>
              <a:ahLst/>
              <a:cxnLst>
                <a:cxn ang="0">
                  <a:pos x="44" y="0"/>
                </a:cxn>
                <a:cxn ang="0">
                  <a:pos x="0" y="0"/>
                </a:cxn>
                <a:cxn ang="0">
                  <a:pos x="30" y="139"/>
                </a:cxn>
                <a:cxn ang="0">
                  <a:pos x="44" y="0"/>
                </a:cxn>
              </a:cxnLst>
              <a:rect l="txL" t="txT" r="txR" b="txB"/>
              <a:pathLst>
                <a:path w="44" h="139">
                  <a:moveTo>
                    <a:pt x="44" y="0"/>
                  </a:moveTo>
                  <a:lnTo>
                    <a:pt x="0" y="0"/>
                  </a:lnTo>
                  <a:lnTo>
                    <a:pt x="30" y="139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238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63" name="Oval 121"/>
            <p:cNvSpPr/>
            <p:nvPr/>
          </p:nvSpPr>
          <p:spPr>
            <a:xfrm>
              <a:off x="4244" y="2646"/>
              <a:ext cx="74" cy="77"/>
            </a:xfrm>
            <a:prstGeom prst="ellipse">
              <a:avLst/>
            </a:prstGeom>
            <a:solidFill>
              <a:srgbClr val="000000"/>
            </a:solidFill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9764" name="Rectangle 122"/>
            <p:cNvSpPr/>
            <p:nvPr/>
          </p:nvSpPr>
          <p:spPr>
            <a:xfrm>
              <a:off x="4111" y="3232"/>
              <a:ext cx="325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9765" name="Rectangle 123"/>
            <p:cNvSpPr/>
            <p:nvPr/>
          </p:nvSpPr>
          <p:spPr>
            <a:xfrm>
              <a:off x="4214" y="3309"/>
              <a:ext cx="75" cy="2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700" b="1" i="1" dirty="0">
                  <a:solidFill>
                    <a:srgbClr val="000000"/>
                  </a:solidFill>
                  <a:ea typeface="楷体_GB2312" pitchFamily="49" charset="-122"/>
                </a:rPr>
                <a:t>t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66" name="Rectangle 124"/>
            <p:cNvSpPr/>
            <p:nvPr/>
          </p:nvSpPr>
          <p:spPr>
            <a:xfrm>
              <a:off x="4273" y="3430"/>
              <a:ext cx="56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700" b="1" dirty="0">
                  <a:solidFill>
                    <a:srgbClr val="000000"/>
                  </a:solidFill>
                  <a:ea typeface="楷体_GB2312" pitchFamily="49" charset="-122"/>
                </a:rPr>
                <a:t>f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67" name="Rectangle 125"/>
            <p:cNvSpPr/>
            <p:nvPr/>
          </p:nvSpPr>
          <p:spPr>
            <a:xfrm>
              <a:off x="4569" y="2893"/>
              <a:ext cx="442" cy="37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9768" name="Rectangle 126"/>
            <p:cNvSpPr/>
            <p:nvPr/>
          </p:nvSpPr>
          <p:spPr>
            <a:xfrm>
              <a:off x="4613" y="2985"/>
              <a:ext cx="454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300" b="1" dirty="0">
                  <a:solidFill>
                    <a:srgbClr val="000000"/>
                  </a:solidFill>
                  <a:ea typeface="楷体_GB2312" pitchFamily="49" charset="-122"/>
                </a:rPr>
                <a:t>0.5V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69" name="Rectangle 127"/>
            <p:cNvSpPr/>
            <p:nvPr/>
          </p:nvSpPr>
          <p:spPr>
            <a:xfrm>
              <a:off x="4952" y="2985"/>
              <a:ext cx="57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300" b="1" dirty="0">
                  <a:solidFill>
                    <a:srgbClr val="000000"/>
                  </a:solidFill>
                  <a:ea typeface="楷体_GB2312" pitchFamily="49" charset="-122"/>
                </a:rPr>
                <a:t> 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70" name="Rectangle 128"/>
            <p:cNvSpPr/>
            <p:nvPr/>
          </p:nvSpPr>
          <p:spPr>
            <a:xfrm>
              <a:off x="4318" y="2461"/>
              <a:ext cx="442" cy="37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9771" name="Rectangle 129"/>
            <p:cNvSpPr/>
            <p:nvPr/>
          </p:nvSpPr>
          <p:spPr>
            <a:xfrm>
              <a:off x="4362" y="2554"/>
              <a:ext cx="453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300" b="1" dirty="0">
                  <a:solidFill>
                    <a:srgbClr val="000000"/>
                  </a:solidFill>
                  <a:ea typeface="楷体_GB2312" pitchFamily="49" charset="-122"/>
                </a:rPr>
                <a:t>2.5V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72" name="Rectangle 130"/>
            <p:cNvSpPr/>
            <p:nvPr/>
          </p:nvSpPr>
          <p:spPr>
            <a:xfrm>
              <a:off x="4700" y="2554"/>
              <a:ext cx="58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300" b="1" dirty="0">
                  <a:solidFill>
                    <a:srgbClr val="000000"/>
                  </a:solidFill>
                  <a:ea typeface="楷体_GB2312" pitchFamily="49" charset="-122"/>
                </a:rPr>
                <a:t> 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73" name="Rectangle 131"/>
            <p:cNvSpPr/>
            <p:nvPr/>
          </p:nvSpPr>
          <p:spPr>
            <a:xfrm>
              <a:off x="4185" y="1999"/>
              <a:ext cx="443" cy="37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9774" name="Rectangle 132"/>
            <p:cNvSpPr/>
            <p:nvPr/>
          </p:nvSpPr>
          <p:spPr>
            <a:xfrm>
              <a:off x="4229" y="2091"/>
              <a:ext cx="454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300" b="1" dirty="0">
                  <a:solidFill>
                    <a:srgbClr val="000000"/>
                  </a:solidFill>
                  <a:ea typeface="楷体_GB2312" pitchFamily="49" charset="-122"/>
                </a:rPr>
                <a:t>4.5V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75" name="Rectangle 133"/>
            <p:cNvSpPr/>
            <p:nvPr/>
          </p:nvSpPr>
          <p:spPr>
            <a:xfrm>
              <a:off x="4569" y="2091"/>
              <a:ext cx="58" cy="23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300" b="1" dirty="0">
                  <a:solidFill>
                    <a:srgbClr val="000000"/>
                  </a:solidFill>
                  <a:ea typeface="楷体_GB2312" pitchFamily="49" charset="-122"/>
                </a:rPr>
                <a:t> </a:t>
              </a:r>
              <a:endParaRPr lang="en-US" altLang="zh-CN" sz="2400" b="1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29776" name="Rectangle 134"/>
            <p:cNvSpPr/>
            <p:nvPr/>
          </p:nvSpPr>
          <p:spPr>
            <a:xfrm>
              <a:off x="4539" y="3417"/>
              <a:ext cx="281" cy="62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9777" name="Line 135"/>
            <p:cNvSpPr/>
            <p:nvPr/>
          </p:nvSpPr>
          <p:spPr>
            <a:xfrm flipH="1">
              <a:off x="4583" y="3432"/>
              <a:ext cx="163" cy="1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78" name="Freeform 136"/>
            <p:cNvSpPr/>
            <p:nvPr/>
          </p:nvSpPr>
          <p:spPr>
            <a:xfrm>
              <a:off x="4480" y="3417"/>
              <a:ext cx="133" cy="31"/>
            </a:xfrm>
            <a:custGeom>
              <a:avLst/>
              <a:gdLst>
                <a:gd name="txL" fmla="*/ 0 w 133"/>
                <a:gd name="txT" fmla="*/ 0 h 31"/>
                <a:gd name="txR" fmla="*/ 133 w 133"/>
                <a:gd name="txB" fmla="*/ 31 h 31"/>
              </a:gdLst>
              <a:ahLst/>
              <a:cxnLst>
                <a:cxn ang="0">
                  <a:pos x="133" y="31"/>
                </a:cxn>
                <a:cxn ang="0">
                  <a:pos x="133" y="0"/>
                </a:cxn>
                <a:cxn ang="0">
                  <a:pos x="0" y="15"/>
                </a:cxn>
                <a:cxn ang="0">
                  <a:pos x="133" y="31"/>
                </a:cxn>
              </a:cxnLst>
              <a:rect l="txL" t="txT" r="txR" b="txB"/>
              <a:pathLst>
                <a:path w="133" h="31">
                  <a:moveTo>
                    <a:pt x="133" y="31"/>
                  </a:moveTo>
                  <a:lnTo>
                    <a:pt x="133" y="0"/>
                  </a:lnTo>
                  <a:lnTo>
                    <a:pt x="0" y="15"/>
                  </a:lnTo>
                  <a:lnTo>
                    <a:pt x="133" y="3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238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79" name="Line 137"/>
            <p:cNvSpPr/>
            <p:nvPr/>
          </p:nvSpPr>
          <p:spPr>
            <a:xfrm>
              <a:off x="3772" y="3448"/>
              <a:ext cx="177" cy="1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80" name="Freeform 138"/>
            <p:cNvSpPr/>
            <p:nvPr/>
          </p:nvSpPr>
          <p:spPr>
            <a:xfrm>
              <a:off x="3934" y="3417"/>
              <a:ext cx="118" cy="46"/>
            </a:xfrm>
            <a:custGeom>
              <a:avLst/>
              <a:gdLst>
                <a:gd name="txL" fmla="*/ 0 w 118"/>
                <a:gd name="txT" fmla="*/ 0 h 46"/>
                <a:gd name="txR" fmla="*/ 118 w 118"/>
                <a:gd name="txB" fmla="*/ 46 h 46"/>
              </a:gdLst>
              <a:ahLst/>
              <a:cxnLst>
                <a:cxn ang="0">
                  <a:pos x="0" y="46"/>
                </a:cxn>
                <a:cxn ang="0">
                  <a:pos x="0" y="0"/>
                </a:cxn>
                <a:cxn ang="0">
                  <a:pos x="118" y="15"/>
                </a:cxn>
                <a:cxn ang="0">
                  <a:pos x="0" y="46"/>
                </a:cxn>
              </a:cxnLst>
              <a:rect l="txL" t="txT" r="txR" b="txB"/>
              <a:pathLst>
                <a:path w="118" h="46">
                  <a:moveTo>
                    <a:pt x="0" y="46"/>
                  </a:moveTo>
                  <a:lnTo>
                    <a:pt x="0" y="0"/>
                  </a:lnTo>
                  <a:lnTo>
                    <a:pt x="118" y="15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238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9781" name="Group 139"/>
            <p:cNvGrpSpPr/>
            <p:nvPr/>
          </p:nvGrpSpPr>
          <p:grpSpPr>
            <a:xfrm>
              <a:off x="4082" y="2276"/>
              <a:ext cx="14" cy="1249"/>
              <a:chOff x="3944" y="1386"/>
              <a:chExt cx="14" cy="1249"/>
            </a:xfrm>
          </p:grpSpPr>
          <p:sp>
            <p:nvSpPr>
              <p:cNvPr id="29792" name="Freeform 140"/>
              <p:cNvSpPr/>
              <p:nvPr/>
            </p:nvSpPr>
            <p:spPr>
              <a:xfrm>
                <a:off x="3944" y="2573"/>
                <a:ext cx="14" cy="62"/>
              </a:xfrm>
              <a:custGeom>
                <a:avLst/>
                <a:gdLst>
                  <a:gd name="txL" fmla="*/ 0 w 14"/>
                  <a:gd name="txT" fmla="*/ 0 h 62"/>
                  <a:gd name="txR" fmla="*/ 14 w 14"/>
                  <a:gd name="txB" fmla="*/ 62 h 62"/>
                </a:gdLst>
                <a:ahLst/>
                <a:cxnLst>
                  <a:cxn ang="0">
                    <a:pos x="0" y="62"/>
                  </a:cxn>
                  <a:cxn ang="0">
                    <a:pos x="0" y="62"/>
                  </a:cxn>
                  <a:cxn ang="0">
                    <a:pos x="14" y="62"/>
                  </a:cxn>
                  <a:cxn ang="0">
                    <a:pos x="14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2"/>
                  </a:cxn>
                </a:cxnLst>
                <a:rect l="txL" t="txT" r="txR" b="txB"/>
                <a:pathLst>
                  <a:path w="14" h="62">
                    <a:moveTo>
                      <a:pt x="0" y="62"/>
                    </a:moveTo>
                    <a:lnTo>
                      <a:pt x="0" y="62"/>
                    </a:lnTo>
                    <a:lnTo>
                      <a:pt x="14" y="62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93" name="Freeform 141"/>
              <p:cNvSpPr/>
              <p:nvPr/>
            </p:nvSpPr>
            <p:spPr>
              <a:xfrm>
                <a:off x="3944" y="2465"/>
                <a:ext cx="14" cy="62"/>
              </a:xfrm>
              <a:custGeom>
                <a:avLst/>
                <a:gdLst>
                  <a:gd name="txL" fmla="*/ 0 w 14"/>
                  <a:gd name="txT" fmla="*/ 0 h 62"/>
                  <a:gd name="txR" fmla="*/ 14 w 14"/>
                  <a:gd name="txB" fmla="*/ 62 h 62"/>
                </a:gdLst>
                <a:ahLst/>
                <a:cxnLst>
                  <a:cxn ang="0">
                    <a:pos x="0" y="62"/>
                  </a:cxn>
                  <a:cxn ang="0">
                    <a:pos x="0" y="62"/>
                  </a:cxn>
                  <a:cxn ang="0">
                    <a:pos x="14" y="62"/>
                  </a:cxn>
                  <a:cxn ang="0">
                    <a:pos x="14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2"/>
                  </a:cxn>
                </a:cxnLst>
                <a:rect l="txL" t="txT" r="txR" b="txB"/>
                <a:pathLst>
                  <a:path w="14" h="62">
                    <a:moveTo>
                      <a:pt x="0" y="62"/>
                    </a:moveTo>
                    <a:lnTo>
                      <a:pt x="0" y="62"/>
                    </a:lnTo>
                    <a:lnTo>
                      <a:pt x="14" y="62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94" name="Freeform 142"/>
              <p:cNvSpPr/>
              <p:nvPr/>
            </p:nvSpPr>
            <p:spPr>
              <a:xfrm>
                <a:off x="3944" y="2357"/>
                <a:ext cx="14" cy="62"/>
              </a:xfrm>
              <a:custGeom>
                <a:avLst/>
                <a:gdLst>
                  <a:gd name="txL" fmla="*/ 0 w 14"/>
                  <a:gd name="txT" fmla="*/ 0 h 62"/>
                  <a:gd name="txR" fmla="*/ 14 w 14"/>
                  <a:gd name="txB" fmla="*/ 62 h 62"/>
                </a:gdLst>
                <a:ahLst/>
                <a:cxnLst>
                  <a:cxn ang="0">
                    <a:pos x="0" y="62"/>
                  </a:cxn>
                  <a:cxn ang="0">
                    <a:pos x="0" y="62"/>
                  </a:cxn>
                  <a:cxn ang="0">
                    <a:pos x="14" y="62"/>
                  </a:cxn>
                  <a:cxn ang="0">
                    <a:pos x="14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2"/>
                  </a:cxn>
                </a:cxnLst>
                <a:rect l="txL" t="txT" r="txR" b="txB"/>
                <a:pathLst>
                  <a:path w="14" h="62">
                    <a:moveTo>
                      <a:pt x="0" y="62"/>
                    </a:moveTo>
                    <a:lnTo>
                      <a:pt x="0" y="62"/>
                    </a:lnTo>
                    <a:lnTo>
                      <a:pt x="14" y="62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95" name="Freeform 143"/>
              <p:cNvSpPr/>
              <p:nvPr/>
            </p:nvSpPr>
            <p:spPr>
              <a:xfrm>
                <a:off x="3944" y="2249"/>
                <a:ext cx="14" cy="62"/>
              </a:xfrm>
              <a:custGeom>
                <a:avLst/>
                <a:gdLst>
                  <a:gd name="txL" fmla="*/ 0 w 14"/>
                  <a:gd name="txT" fmla="*/ 0 h 62"/>
                  <a:gd name="txR" fmla="*/ 14 w 14"/>
                  <a:gd name="txB" fmla="*/ 62 h 62"/>
                </a:gdLst>
                <a:ahLst/>
                <a:cxnLst>
                  <a:cxn ang="0">
                    <a:pos x="0" y="62"/>
                  </a:cxn>
                  <a:cxn ang="0">
                    <a:pos x="0" y="62"/>
                  </a:cxn>
                  <a:cxn ang="0">
                    <a:pos x="14" y="62"/>
                  </a:cxn>
                  <a:cxn ang="0">
                    <a:pos x="14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2"/>
                  </a:cxn>
                </a:cxnLst>
                <a:rect l="txL" t="txT" r="txR" b="txB"/>
                <a:pathLst>
                  <a:path w="14" h="62">
                    <a:moveTo>
                      <a:pt x="0" y="62"/>
                    </a:moveTo>
                    <a:lnTo>
                      <a:pt x="0" y="62"/>
                    </a:lnTo>
                    <a:lnTo>
                      <a:pt x="14" y="62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96" name="Freeform 144"/>
              <p:cNvSpPr/>
              <p:nvPr/>
            </p:nvSpPr>
            <p:spPr>
              <a:xfrm>
                <a:off x="3944" y="2142"/>
                <a:ext cx="14" cy="61"/>
              </a:xfrm>
              <a:custGeom>
                <a:avLst/>
                <a:gdLst>
                  <a:gd name="txL" fmla="*/ 0 w 14"/>
                  <a:gd name="txT" fmla="*/ 0 h 61"/>
                  <a:gd name="txR" fmla="*/ 14 w 14"/>
                  <a:gd name="txB" fmla="*/ 61 h 61"/>
                </a:gdLst>
                <a:ahLst/>
                <a:cxnLst>
                  <a:cxn ang="0">
                    <a:pos x="0" y="61"/>
                  </a:cxn>
                  <a:cxn ang="0">
                    <a:pos x="0" y="61"/>
                  </a:cxn>
                  <a:cxn ang="0">
                    <a:pos x="14" y="61"/>
                  </a:cxn>
                  <a:cxn ang="0">
                    <a:pos x="14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1"/>
                  </a:cxn>
                </a:cxnLst>
                <a:rect l="txL" t="txT" r="txR" b="txB"/>
                <a:pathLst>
                  <a:path w="14" h="61">
                    <a:moveTo>
                      <a:pt x="0" y="61"/>
                    </a:moveTo>
                    <a:lnTo>
                      <a:pt x="0" y="61"/>
                    </a:lnTo>
                    <a:lnTo>
                      <a:pt x="14" y="61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0" y="61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97" name="Freeform 145"/>
              <p:cNvSpPr/>
              <p:nvPr/>
            </p:nvSpPr>
            <p:spPr>
              <a:xfrm>
                <a:off x="3944" y="2034"/>
                <a:ext cx="14" cy="61"/>
              </a:xfrm>
              <a:custGeom>
                <a:avLst/>
                <a:gdLst>
                  <a:gd name="txL" fmla="*/ 0 w 14"/>
                  <a:gd name="txT" fmla="*/ 0 h 61"/>
                  <a:gd name="txR" fmla="*/ 14 w 14"/>
                  <a:gd name="txB" fmla="*/ 61 h 61"/>
                </a:gdLst>
                <a:ahLst/>
                <a:cxnLst>
                  <a:cxn ang="0">
                    <a:pos x="0" y="61"/>
                  </a:cxn>
                  <a:cxn ang="0">
                    <a:pos x="0" y="61"/>
                  </a:cxn>
                  <a:cxn ang="0">
                    <a:pos x="14" y="61"/>
                  </a:cxn>
                  <a:cxn ang="0">
                    <a:pos x="14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1"/>
                  </a:cxn>
                </a:cxnLst>
                <a:rect l="txL" t="txT" r="txR" b="txB"/>
                <a:pathLst>
                  <a:path w="14" h="61">
                    <a:moveTo>
                      <a:pt x="0" y="61"/>
                    </a:moveTo>
                    <a:lnTo>
                      <a:pt x="0" y="61"/>
                    </a:lnTo>
                    <a:lnTo>
                      <a:pt x="14" y="61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0" y="61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98" name="Freeform 146"/>
              <p:cNvSpPr/>
              <p:nvPr/>
            </p:nvSpPr>
            <p:spPr>
              <a:xfrm>
                <a:off x="3944" y="1926"/>
                <a:ext cx="14" cy="61"/>
              </a:xfrm>
              <a:custGeom>
                <a:avLst/>
                <a:gdLst>
                  <a:gd name="txL" fmla="*/ 0 w 14"/>
                  <a:gd name="txT" fmla="*/ 0 h 61"/>
                  <a:gd name="txR" fmla="*/ 14 w 14"/>
                  <a:gd name="txB" fmla="*/ 61 h 61"/>
                </a:gdLst>
                <a:ahLst/>
                <a:cxnLst>
                  <a:cxn ang="0">
                    <a:pos x="0" y="61"/>
                  </a:cxn>
                  <a:cxn ang="0">
                    <a:pos x="0" y="61"/>
                  </a:cxn>
                  <a:cxn ang="0">
                    <a:pos x="14" y="61"/>
                  </a:cxn>
                  <a:cxn ang="0">
                    <a:pos x="14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1"/>
                  </a:cxn>
                </a:cxnLst>
                <a:rect l="txL" t="txT" r="txR" b="txB"/>
                <a:pathLst>
                  <a:path w="14" h="61">
                    <a:moveTo>
                      <a:pt x="0" y="61"/>
                    </a:moveTo>
                    <a:lnTo>
                      <a:pt x="0" y="61"/>
                    </a:lnTo>
                    <a:lnTo>
                      <a:pt x="14" y="61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0" y="61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99" name="Freeform 147"/>
              <p:cNvSpPr/>
              <p:nvPr/>
            </p:nvSpPr>
            <p:spPr>
              <a:xfrm>
                <a:off x="3944" y="1818"/>
                <a:ext cx="14" cy="61"/>
              </a:xfrm>
              <a:custGeom>
                <a:avLst/>
                <a:gdLst>
                  <a:gd name="txL" fmla="*/ 0 w 14"/>
                  <a:gd name="txT" fmla="*/ 0 h 61"/>
                  <a:gd name="txR" fmla="*/ 14 w 14"/>
                  <a:gd name="txB" fmla="*/ 61 h 61"/>
                </a:gdLst>
                <a:ahLst/>
                <a:cxnLst>
                  <a:cxn ang="0">
                    <a:pos x="0" y="61"/>
                  </a:cxn>
                  <a:cxn ang="0">
                    <a:pos x="0" y="61"/>
                  </a:cxn>
                  <a:cxn ang="0">
                    <a:pos x="14" y="61"/>
                  </a:cxn>
                  <a:cxn ang="0">
                    <a:pos x="14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1"/>
                  </a:cxn>
                </a:cxnLst>
                <a:rect l="txL" t="txT" r="txR" b="txB"/>
                <a:pathLst>
                  <a:path w="14" h="61">
                    <a:moveTo>
                      <a:pt x="0" y="61"/>
                    </a:moveTo>
                    <a:lnTo>
                      <a:pt x="0" y="61"/>
                    </a:lnTo>
                    <a:lnTo>
                      <a:pt x="14" y="61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0" y="61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00" name="Freeform 148"/>
              <p:cNvSpPr/>
              <p:nvPr/>
            </p:nvSpPr>
            <p:spPr>
              <a:xfrm>
                <a:off x="3944" y="1710"/>
                <a:ext cx="14" cy="62"/>
              </a:xfrm>
              <a:custGeom>
                <a:avLst/>
                <a:gdLst>
                  <a:gd name="txL" fmla="*/ 0 w 14"/>
                  <a:gd name="txT" fmla="*/ 0 h 62"/>
                  <a:gd name="txR" fmla="*/ 14 w 14"/>
                  <a:gd name="txB" fmla="*/ 62 h 62"/>
                </a:gdLst>
                <a:ahLst/>
                <a:cxnLst>
                  <a:cxn ang="0">
                    <a:pos x="0" y="62"/>
                  </a:cxn>
                  <a:cxn ang="0">
                    <a:pos x="0" y="62"/>
                  </a:cxn>
                  <a:cxn ang="0">
                    <a:pos x="14" y="62"/>
                  </a:cxn>
                  <a:cxn ang="0">
                    <a:pos x="14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2"/>
                  </a:cxn>
                </a:cxnLst>
                <a:rect l="txL" t="txT" r="txR" b="txB"/>
                <a:pathLst>
                  <a:path w="14" h="62">
                    <a:moveTo>
                      <a:pt x="0" y="62"/>
                    </a:moveTo>
                    <a:lnTo>
                      <a:pt x="0" y="62"/>
                    </a:lnTo>
                    <a:lnTo>
                      <a:pt x="14" y="62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01" name="Freeform 149"/>
              <p:cNvSpPr/>
              <p:nvPr/>
            </p:nvSpPr>
            <p:spPr>
              <a:xfrm>
                <a:off x="3944" y="1602"/>
                <a:ext cx="14" cy="62"/>
              </a:xfrm>
              <a:custGeom>
                <a:avLst/>
                <a:gdLst>
                  <a:gd name="txL" fmla="*/ 0 w 14"/>
                  <a:gd name="txT" fmla="*/ 0 h 62"/>
                  <a:gd name="txR" fmla="*/ 14 w 14"/>
                  <a:gd name="txB" fmla="*/ 62 h 62"/>
                </a:gdLst>
                <a:ahLst/>
                <a:cxnLst>
                  <a:cxn ang="0">
                    <a:pos x="0" y="62"/>
                  </a:cxn>
                  <a:cxn ang="0">
                    <a:pos x="0" y="62"/>
                  </a:cxn>
                  <a:cxn ang="0">
                    <a:pos x="14" y="62"/>
                  </a:cxn>
                  <a:cxn ang="0">
                    <a:pos x="14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2"/>
                  </a:cxn>
                </a:cxnLst>
                <a:rect l="txL" t="txT" r="txR" b="txB"/>
                <a:pathLst>
                  <a:path w="14" h="62">
                    <a:moveTo>
                      <a:pt x="0" y="62"/>
                    </a:moveTo>
                    <a:lnTo>
                      <a:pt x="0" y="62"/>
                    </a:lnTo>
                    <a:lnTo>
                      <a:pt x="14" y="62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02" name="Freeform 150"/>
              <p:cNvSpPr/>
              <p:nvPr/>
            </p:nvSpPr>
            <p:spPr>
              <a:xfrm>
                <a:off x="3944" y="1494"/>
                <a:ext cx="14" cy="62"/>
              </a:xfrm>
              <a:custGeom>
                <a:avLst/>
                <a:gdLst>
                  <a:gd name="txL" fmla="*/ 0 w 14"/>
                  <a:gd name="txT" fmla="*/ 0 h 62"/>
                  <a:gd name="txR" fmla="*/ 14 w 14"/>
                  <a:gd name="txB" fmla="*/ 62 h 62"/>
                </a:gdLst>
                <a:ahLst/>
                <a:cxnLst>
                  <a:cxn ang="0">
                    <a:pos x="0" y="62"/>
                  </a:cxn>
                  <a:cxn ang="0">
                    <a:pos x="0" y="62"/>
                  </a:cxn>
                  <a:cxn ang="0">
                    <a:pos x="14" y="62"/>
                  </a:cxn>
                  <a:cxn ang="0">
                    <a:pos x="14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2"/>
                  </a:cxn>
                </a:cxnLst>
                <a:rect l="txL" t="txT" r="txR" b="txB"/>
                <a:pathLst>
                  <a:path w="14" h="62">
                    <a:moveTo>
                      <a:pt x="0" y="62"/>
                    </a:moveTo>
                    <a:lnTo>
                      <a:pt x="0" y="62"/>
                    </a:lnTo>
                    <a:lnTo>
                      <a:pt x="14" y="62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803" name="Freeform 151"/>
              <p:cNvSpPr/>
              <p:nvPr/>
            </p:nvSpPr>
            <p:spPr>
              <a:xfrm>
                <a:off x="3944" y="1386"/>
                <a:ext cx="14" cy="62"/>
              </a:xfrm>
              <a:custGeom>
                <a:avLst/>
                <a:gdLst>
                  <a:gd name="txL" fmla="*/ 0 w 14"/>
                  <a:gd name="txT" fmla="*/ 0 h 62"/>
                  <a:gd name="txR" fmla="*/ 14 w 14"/>
                  <a:gd name="txB" fmla="*/ 62 h 62"/>
                </a:gdLst>
                <a:ahLst/>
                <a:cxnLst>
                  <a:cxn ang="0">
                    <a:pos x="0" y="62"/>
                  </a:cxn>
                  <a:cxn ang="0">
                    <a:pos x="0" y="62"/>
                  </a:cxn>
                  <a:cxn ang="0">
                    <a:pos x="14" y="62"/>
                  </a:cxn>
                  <a:cxn ang="0">
                    <a:pos x="14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2"/>
                  </a:cxn>
                </a:cxnLst>
                <a:rect l="txL" t="txT" r="txR" b="txB"/>
                <a:pathLst>
                  <a:path w="14" h="62">
                    <a:moveTo>
                      <a:pt x="0" y="62"/>
                    </a:moveTo>
                    <a:lnTo>
                      <a:pt x="0" y="62"/>
                    </a:lnTo>
                    <a:lnTo>
                      <a:pt x="14" y="62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29782" name="Group 152"/>
            <p:cNvGrpSpPr/>
            <p:nvPr/>
          </p:nvGrpSpPr>
          <p:grpSpPr>
            <a:xfrm>
              <a:off x="4465" y="3139"/>
              <a:ext cx="15" cy="386"/>
              <a:chOff x="4327" y="2249"/>
              <a:chExt cx="15" cy="386"/>
            </a:xfrm>
          </p:grpSpPr>
          <p:sp>
            <p:nvSpPr>
              <p:cNvPr id="29788" name="Freeform 153"/>
              <p:cNvSpPr/>
              <p:nvPr/>
            </p:nvSpPr>
            <p:spPr>
              <a:xfrm>
                <a:off x="4327" y="2573"/>
                <a:ext cx="15" cy="62"/>
              </a:xfrm>
              <a:custGeom>
                <a:avLst/>
                <a:gdLst>
                  <a:gd name="txL" fmla="*/ 0 w 15"/>
                  <a:gd name="txT" fmla="*/ 0 h 62"/>
                  <a:gd name="txR" fmla="*/ 15 w 15"/>
                  <a:gd name="txB" fmla="*/ 62 h 62"/>
                </a:gdLst>
                <a:ahLst/>
                <a:cxnLst>
                  <a:cxn ang="0">
                    <a:pos x="0" y="62"/>
                  </a:cxn>
                  <a:cxn ang="0">
                    <a:pos x="0" y="62"/>
                  </a:cxn>
                  <a:cxn ang="0">
                    <a:pos x="15" y="62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2"/>
                  </a:cxn>
                </a:cxnLst>
                <a:rect l="txL" t="txT" r="txR" b="txB"/>
                <a:pathLst>
                  <a:path w="15" h="62">
                    <a:moveTo>
                      <a:pt x="0" y="62"/>
                    </a:moveTo>
                    <a:lnTo>
                      <a:pt x="0" y="62"/>
                    </a:lnTo>
                    <a:lnTo>
                      <a:pt x="15" y="6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89" name="Freeform 154"/>
              <p:cNvSpPr/>
              <p:nvPr/>
            </p:nvSpPr>
            <p:spPr>
              <a:xfrm>
                <a:off x="4327" y="2465"/>
                <a:ext cx="15" cy="62"/>
              </a:xfrm>
              <a:custGeom>
                <a:avLst/>
                <a:gdLst>
                  <a:gd name="txL" fmla="*/ 0 w 15"/>
                  <a:gd name="txT" fmla="*/ 0 h 62"/>
                  <a:gd name="txR" fmla="*/ 15 w 15"/>
                  <a:gd name="txB" fmla="*/ 62 h 62"/>
                </a:gdLst>
                <a:ahLst/>
                <a:cxnLst>
                  <a:cxn ang="0">
                    <a:pos x="0" y="62"/>
                  </a:cxn>
                  <a:cxn ang="0">
                    <a:pos x="0" y="62"/>
                  </a:cxn>
                  <a:cxn ang="0">
                    <a:pos x="15" y="62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2"/>
                  </a:cxn>
                </a:cxnLst>
                <a:rect l="txL" t="txT" r="txR" b="txB"/>
                <a:pathLst>
                  <a:path w="15" h="62">
                    <a:moveTo>
                      <a:pt x="0" y="62"/>
                    </a:moveTo>
                    <a:lnTo>
                      <a:pt x="0" y="62"/>
                    </a:lnTo>
                    <a:lnTo>
                      <a:pt x="15" y="6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90" name="Freeform 155"/>
              <p:cNvSpPr/>
              <p:nvPr/>
            </p:nvSpPr>
            <p:spPr>
              <a:xfrm>
                <a:off x="4327" y="2357"/>
                <a:ext cx="15" cy="62"/>
              </a:xfrm>
              <a:custGeom>
                <a:avLst/>
                <a:gdLst>
                  <a:gd name="txL" fmla="*/ 0 w 15"/>
                  <a:gd name="txT" fmla="*/ 0 h 62"/>
                  <a:gd name="txR" fmla="*/ 15 w 15"/>
                  <a:gd name="txB" fmla="*/ 62 h 62"/>
                </a:gdLst>
                <a:ahLst/>
                <a:cxnLst>
                  <a:cxn ang="0">
                    <a:pos x="0" y="62"/>
                  </a:cxn>
                  <a:cxn ang="0">
                    <a:pos x="0" y="62"/>
                  </a:cxn>
                  <a:cxn ang="0">
                    <a:pos x="15" y="62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2"/>
                  </a:cxn>
                </a:cxnLst>
                <a:rect l="txL" t="txT" r="txR" b="txB"/>
                <a:pathLst>
                  <a:path w="15" h="62">
                    <a:moveTo>
                      <a:pt x="0" y="62"/>
                    </a:moveTo>
                    <a:lnTo>
                      <a:pt x="0" y="62"/>
                    </a:lnTo>
                    <a:lnTo>
                      <a:pt x="15" y="6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91" name="Freeform 156"/>
              <p:cNvSpPr/>
              <p:nvPr/>
            </p:nvSpPr>
            <p:spPr>
              <a:xfrm>
                <a:off x="4327" y="2249"/>
                <a:ext cx="15" cy="62"/>
              </a:xfrm>
              <a:custGeom>
                <a:avLst/>
                <a:gdLst>
                  <a:gd name="txL" fmla="*/ 0 w 15"/>
                  <a:gd name="txT" fmla="*/ 0 h 62"/>
                  <a:gd name="txR" fmla="*/ 15 w 15"/>
                  <a:gd name="txB" fmla="*/ 62 h 62"/>
                </a:gdLst>
                <a:ahLst/>
                <a:cxnLst>
                  <a:cxn ang="0">
                    <a:pos x="0" y="62"/>
                  </a:cxn>
                  <a:cxn ang="0">
                    <a:pos x="0" y="62"/>
                  </a:cxn>
                  <a:cxn ang="0">
                    <a:pos x="15" y="62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2"/>
                  </a:cxn>
                </a:cxnLst>
                <a:rect l="txL" t="txT" r="txR" b="txB"/>
                <a:pathLst>
                  <a:path w="15" h="62">
                    <a:moveTo>
                      <a:pt x="0" y="62"/>
                    </a:moveTo>
                    <a:lnTo>
                      <a:pt x="0" y="62"/>
                    </a:lnTo>
                    <a:lnTo>
                      <a:pt x="15" y="6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9783" name="Rectangle 157"/>
            <p:cNvSpPr/>
            <p:nvPr/>
          </p:nvSpPr>
          <p:spPr>
            <a:xfrm>
              <a:off x="3432" y="2677"/>
              <a:ext cx="281" cy="62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9784" name="Line 158"/>
            <p:cNvSpPr/>
            <p:nvPr/>
          </p:nvSpPr>
          <p:spPr>
            <a:xfrm flipH="1">
              <a:off x="2370" y="2692"/>
              <a:ext cx="619" cy="1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85" name="Freeform 159"/>
            <p:cNvSpPr/>
            <p:nvPr/>
          </p:nvSpPr>
          <p:spPr>
            <a:xfrm>
              <a:off x="2251" y="2677"/>
              <a:ext cx="119" cy="31"/>
            </a:xfrm>
            <a:custGeom>
              <a:avLst/>
              <a:gdLst>
                <a:gd name="txL" fmla="*/ 0 w 119"/>
                <a:gd name="txT" fmla="*/ 0 h 31"/>
                <a:gd name="txR" fmla="*/ 119 w 119"/>
                <a:gd name="txB" fmla="*/ 31 h 31"/>
              </a:gdLst>
              <a:ahLst/>
              <a:cxnLst>
                <a:cxn ang="0">
                  <a:pos x="119" y="31"/>
                </a:cxn>
                <a:cxn ang="0">
                  <a:pos x="119" y="0"/>
                </a:cxn>
                <a:cxn ang="0">
                  <a:pos x="0" y="15"/>
                </a:cxn>
                <a:cxn ang="0">
                  <a:pos x="119" y="31"/>
                </a:cxn>
              </a:cxnLst>
              <a:rect l="txL" t="txT" r="txR" b="txB"/>
              <a:pathLst>
                <a:path w="119" h="31">
                  <a:moveTo>
                    <a:pt x="119" y="31"/>
                  </a:moveTo>
                  <a:lnTo>
                    <a:pt x="119" y="0"/>
                  </a:lnTo>
                  <a:lnTo>
                    <a:pt x="0" y="15"/>
                  </a:lnTo>
                  <a:lnTo>
                    <a:pt x="119" y="3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238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86" name="Line 160"/>
            <p:cNvSpPr/>
            <p:nvPr/>
          </p:nvSpPr>
          <p:spPr>
            <a:xfrm>
              <a:off x="3344" y="2692"/>
              <a:ext cx="767" cy="1"/>
            </a:xfrm>
            <a:prstGeom prst="line">
              <a:avLst/>
            </a:prstGeom>
            <a:ln w="2381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87" name="Freeform 161"/>
            <p:cNvSpPr/>
            <p:nvPr/>
          </p:nvSpPr>
          <p:spPr>
            <a:xfrm>
              <a:off x="4096" y="2662"/>
              <a:ext cx="133" cy="46"/>
            </a:xfrm>
            <a:custGeom>
              <a:avLst/>
              <a:gdLst>
                <a:gd name="txL" fmla="*/ 0 w 133"/>
                <a:gd name="txT" fmla="*/ 0 h 46"/>
                <a:gd name="txR" fmla="*/ 133 w 133"/>
                <a:gd name="txB" fmla="*/ 46 h 46"/>
              </a:gdLst>
              <a:ahLst/>
              <a:cxnLst>
                <a:cxn ang="0">
                  <a:pos x="0" y="46"/>
                </a:cxn>
                <a:cxn ang="0">
                  <a:pos x="0" y="0"/>
                </a:cxn>
                <a:cxn ang="0">
                  <a:pos x="133" y="30"/>
                </a:cxn>
                <a:cxn ang="0">
                  <a:pos x="0" y="46"/>
                </a:cxn>
              </a:cxnLst>
              <a:rect l="txL" t="txT" r="txR" b="txB"/>
              <a:pathLst>
                <a:path w="133" h="46">
                  <a:moveTo>
                    <a:pt x="0" y="46"/>
                  </a:moveTo>
                  <a:lnTo>
                    <a:pt x="0" y="0"/>
                  </a:lnTo>
                  <a:lnTo>
                    <a:pt x="133" y="30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238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6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06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406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406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1000"/>
                                        <p:tgtEl>
                                          <p:spTgt spid="406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2" grpId="0"/>
      <p:bldP spid="406533" grpId="0"/>
      <p:bldP spid="406534" grpId="0"/>
      <p:bldP spid="406535" grpId="0"/>
      <p:bldP spid="40653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7556" name="Text Box 4"/>
          <p:cNvSpPr txBox="1"/>
          <p:nvPr/>
        </p:nvSpPr>
        <p:spPr>
          <a:xfrm>
            <a:off x="515938" y="549275"/>
            <a:ext cx="8628062" cy="5302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(4)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时序图</a:t>
            </a: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----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表明各个数字信号时序关系的多重波形图。</a:t>
            </a:r>
            <a:endParaRPr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7557" name="Text Box 5"/>
          <p:cNvSpPr txBox="1"/>
          <p:nvPr/>
        </p:nvSpPr>
        <p:spPr>
          <a:xfrm>
            <a:off x="0" y="1449388"/>
            <a:ext cx="9144000" cy="1314450"/>
          </a:xfrm>
          <a:prstGeom prst="rect">
            <a:avLst/>
          </a:prstGeom>
          <a:noFill/>
          <a:ln w="9525">
            <a:noFill/>
          </a:ln>
        </p:spPr>
        <p:txBody>
          <a:bodyPr tIns="0" bIns="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由于各信号的路径不同，这些信号之间不可能严格保持同步关系。为了保证可靠工作，各信号之间通常允许一定的时差，但这些时差必须限定在规定范围内，各个信号的时序关系用时序图表达。</a:t>
            </a:r>
            <a:endParaRPr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0724" name="Object 6"/>
          <p:cNvGraphicFramePr>
            <a:graphicFrameLocks noChangeAspect="1"/>
          </p:cNvGraphicFramePr>
          <p:nvPr/>
        </p:nvGraphicFramePr>
        <p:xfrm>
          <a:off x="1187450" y="3044825"/>
          <a:ext cx="7127875" cy="268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19088100" imgH="7200900" progId="Photoshop.Image.8">
                  <p:embed/>
                </p:oleObj>
              </mc:Choice>
              <mc:Fallback>
                <p:oleObj name="" r:id="rId1" imgW="19088100" imgH="7200900" progId="Photoshop.Image.8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87450" y="3044825"/>
                        <a:ext cx="7127875" cy="2689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07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07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6" grpId="0"/>
      <p:bldP spid="40755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304800" y="609600"/>
            <a:ext cx="8534400" cy="1143000"/>
          </a:xfrm>
          <a:gradFill rotWithShape="0">
            <a:gsLst>
              <a:gs pos="0">
                <a:srgbClr val="767676"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767676">
                  <a:alpha val="100000"/>
                </a:srgbClr>
              </a:gs>
            </a:gsLst>
            <a:lin ang="5400000" scaled="1"/>
            <a:tileRect/>
          </a:gradFill>
          <a:ln/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vert="horz" wrap="square" lIns="91440" tIns="45720" rIns="91440" bIns="45720" anchor="ctr" anchorCtr="0">
            <a:flatTx/>
          </a:bodyPr>
          <a:p>
            <a:pPr eaLnBrk="1" hangingPunct="1"/>
            <a:r>
              <a:rPr lang="zh-CN" altLang="en-US" sz="6600" b="1" dirty="0">
                <a:solidFill>
                  <a:srgbClr val="A5002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第一章 数字逻辑基础</a:t>
            </a:r>
            <a:endParaRPr lang="zh-CN" altLang="en-US" dirty="0">
              <a:solidFill>
                <a:srgbClr val="990033"/>
              </a:solidFill>
            </a:endParaRPr>
          </a:p>
        </p:txBody>
      </p:sp>
      <p:pic>
        <p:nvPicPr>
          <p:cNvPr id="10250" name="Picture 10" descr="ball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938" y="2362200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51" name="Picture 11" descr="ball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938" y="3124200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52" name="Picture 12" descr="ball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938" y="3962400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53" name="Picture 13" descr="ball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938" y="4648200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63" name="Picture 23" descr="ball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938" y="5410200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56" name="Text Box 16"/>
          <p:cNvSpPr txBox="1">
            <a:spLocks noChangeArrowheads="1"/>
          </p:cNvSpPr>
          <p:nvPr/>
        </p:nvSpPr>
        <p:spPr bwMode="auto">
          <a:xfrm>
            <a:off x="1506538" y="2211388"/>
            <a:ext cx="4683125" cy="762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44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§1-1 </a:t>
            </a:r>
            <a:r>
              <a:rPr kumimoji="1" lang="zh-CN" altLang="en-US" sz="44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数制与编码</a:t>
            </a:r>
            <a:endParaRPr kumimoji="1" lang="zh-CN" altLang="en-US" sz="4400" b="1" kern="1200" cap="none" spc="0" normalizeH="0" baseline="0" noProof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57" name="Text Box 17"/>
          <p:cNvSpPr txBox="1">
            <a:spLocks noChangeArrowheads="1"/>
          </p:cNvSpPr>
          <p:nvPr/>
        </p:nvSpPr>
        <p:spPr bwMode="auto">
          <a:xfrm>
            <a:off x="1506538" y="2971800"/>
            <a:ext cx="5246688" cy="762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44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§</a:t>
            </a:r>
            <a:r>
              <a:rPr kumimoji="1" lang="en-US" altLang="zh-CN" sz="44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1-2</a:t>
            </a:r>
            <a:r>
              <a:rPr kumimoji="1" lang="en-US" altLang="zh-CN" sz="44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44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逻辑代数基础</a:t>
            </a:r>
            <a:endParaRPr kumimoji="1" lang="zh-CN" altLang="en-US" sz="5400" b="1" kern="1200" cap="none" spc="0" normalizeH="0" baseline="0" noProof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1506538" y="3733800"/>
            <a:ext cx="6937375" cy="762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44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§</a:t>
            </a:r>
            <a:r>
              <a:rPr kumimoji="1" lang="en-US" altLang="zh-CN" sz="44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1-3</a:t>
            </a:r>
            <a:r>
              <a:rPr kumimoji="1" lang="en-US" altLang="zh-CN" sz="44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44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逻辑函数的标准形式</a:t>
            </a:r>
            <a:endParaRPr kumimoji="1" lang="zh-CN" altLang="en-US" sz="4400" b="1" kern="1200" cap="none" spc="0" normalizeH="0" baseline="0" noProof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62" name="Text Box 22"/>
          <p:cNvSpPr txBox="1">
            <a:spLocks noChangeArrowheads="1"/>
          </p:cNvSpPr>
          <p:nvPr/>
        </p:nvSpPr>
        <p:spPr bwMode="auto">
          <a:xfrm>
            <a:off x="1506538" y="4495800"/>
            <a:ext cx="5810250" cy="762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44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§</a:t>
            </a:r>
            <a:r>
              <a:rPr kumimoji="1" lang="en-US" altLang="zh-CN" sz="44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1-4</a:t>
            </a:r>
            <a:r>
              <a:rPr kumimoji="1" lang="en-US" altLang="zh-CN" sz="44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44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逻辑函数的化简</a:t>
            </a:r>
            <a:endParaRPr kumimoji="1" lang="zh-CN" altLang="en-US" sz="4400" b="1" kern="1200" cap="none" spc="0" normalizeH="0" baseline="0" noProof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65" name="Text Box 25"/>
          <p:cNvSpPr txBox="1">
            <a:spLocks noChangeArrowheads="1"/>
          </p:cNvSpPr>
          <p:nvPr/>
        </p:nvSpPr>
        <p:spPr bwMode="auto">
          <a:xfrm>
            <a:off x="1676400" y="5181600"/>
            <a:ext cx="1311275" cy="762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44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小结</a:t>
            </a:r>
            <a:endParaRPr kumimoji="1" lang="zh-CN" altLang="en-US" sz="4400" b="1" kern="1200" cap="none" spc="0" normalizeH="0" baseline="0" noProof="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267" name="Picture 27" descr="MEETING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5257800"/>
            <a:ext cx="2514600" cy="1447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nimBg="1"/>
      <p:bldP spid="10256" grpId="0"/>
      <p:bldP spid="10257" grpId="0"/>
      <p:bldP spid="10261" grpId="0"/>
      <p:bldP spid="10262" grpId="0"/>
      <p:bldP spid="1026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gradFill rotWithShape="0">
            <a:gsLst>
              <a:gs pos="0">
                <a:srgbClr val="767676"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767676">
                  <a:alpha val="100000"/>
                </a:srgbClr>
              </a:gs>
            </a:gsLst>
            <a:lin ang="5400000" scaled="1"/>
            <a:tileRect/>
          </a:gradFill>
          <a:ln/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vert="horz" wrap="square" lIns="91440" tIns="45720" rIns="91440" bIns="45720" anchor="ctr" anchorCtr="0">
            <a:flatTx/>
          </a:bodyPr>
          <a:p>
            <a:pPr eaLnBrk="1" hangingPunct="1"/>
            <a:r>
              <a:rPr lang="en-US" altLang="zh-CN" sz="6000" b="1" dirty="0">
                <a:solidFill>
                  <a:srgbClr val="990033"/>
                </a:solidFill>
                <a:ea typeface="隶书" panose="02010509060101010101" pitchFamily="49" charset="-122"/>
              </a:rPr>
              <a:t>§1-1  </a:t>
            </a:r>
            <a:r>
              <a:rPr lang="zh-CN" altLang="en-US" sz="6000" b="1" dirty="0">
                <a:solidFill>
                  <a:srgbClr val="990033"/>
                </a:solidFill>
                <a:ea typeface="隶书" panose="02010509060101010101" pitchFamily="49" charset="-122"/>
              </a:rPr>
              <a:t>数制与编码</a:t>
            </a:r>
            <a:endParaRPr lang="zh-CN" altLang="en-US" dirty="0"/>
          </a:p>
        </p:txBody>
      </p:sp>
      <p:sp>
        <p:nvSpPr>
          <p:cNvPr id="11269" name="Text Box 5"/>
          <p:cNvSpPr txBox="1"/>
          <p:nvPr/>
        </p:nvSpPr>
        <p:spPr>
          <a:xfrm>
            <a:off x="2514600" y="2438400"/>
            <a:ext cx="3962400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solidFill>
                  <a:schemeClr val="tx2"/>
                </a:solidFill>
              </a:rPr>
              <a:t> </a:t>
            </a:r>
            <a:r>
              <a:rPr lang="zh-CN" altLang="en-US" sz="4400" b="1" dirty="0">
                <a:solidFill>
                  <a:schemeClr val="tx2"/>
                </a:solidFill>
              </a:rPr>
              <a:t>进位计数制</a:t>
            </a:r>
            <a:endParaRPr lang="zh-CN" altLang="en-US" sz="4400" b="1" dirty="0">
              <a:solidFill>
                <a:schemeClr val="tx2"/>
              </a:solidFill>
            </a:endParaRPr>
          </a:p>
        </p:txBody>
      </p:sp>
      <p:sp>
        <p:nvSpPr>
          <p:cNvPr id="11270" name="Text Box 6"/>
          <p:cNvSpPr txBox="1"/>
          <p:nvPr/>
        </p:nvSpPr>
        <p:spPr>
          <a:xfrm>
            <a:off x="2895600" y="3352800"/>
            <a:ext cx="2743200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4400" b="1" dirty="0">
                <a:solidFill>
                  <a:schemeClr val="tx2"/>
                </a:solidFill>
              </a:rPr>
              <a:t>数制转换</a:t>
            </a:r>
            <a:endParaRPr lang="zh-CN" altLang="en-US" sz="4400" b="1" dirty="0">
              <a:solidFill>
                <a:schemeClr val="tx2"/>
              </a:solidFill>
            </a:endParaRPr>
          </a:p>
        </p:txBody>
      </p:sp>
      <p:sp>
        <p:nvSpPr>
          <p:cNvPr id="11271" name="Text Box 7"/>
          <p:cNvSpPr txBox="1"/>
          <p:nvPr/>
        </p:nvSpPr>
        <p:spPr>
          <a:xfrm>
            <a:off x="2819400" y="4267200"/>
            <a:ext cx="4648200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4400" b="1" dirty="0">
                <a:solidFill>
                  <a:schemeClr val="tx2"/>
                </a:solidFill>
              </a:rPr>
              <a:t>数值数据的表示</a:t>
            </a:r>
            <a:endParaRPr lang="zh-CN" altLang="en-US" sz="4400" b="1" dirty="0">
              <a:solidFill>
                <a:schemeClr val="tx2"/>
              </a:solidFill>
            </a:endParaRPr>
          </a:p>
        </p:txBody>
      </p:sp>
      <p:sp>
        <p:nvSpPr>
          <p:cNvPr id="11272" name="Text Box 8"/>
          <p:cNvSpPr txBox="1"/>
          <p:nvPr/>
        </p:nvSpPr>
        <p:spPr>
          <a:xfrm>
            <a:off x="2743200" y="5181600"/>
            <a:ext cx="3657600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4400" b="1" dirty="0">
                <a:solidFill>
                  <a:schemeClr val="tx2"/>
                </a:solidFill>
              </a:rPr>
              <a:t>常用的编码</a:t>
            </a:r>
            <a:endParaRPr lang="zh-CN" altLang="en-US" sz="4400" b="1" dirty="0">
              <a:solidFill>
                <a:schemeClr val="tx2"/>
              </a:solidFill>
            </a:endParaRPr>
          </a:p>
        </p:txBody>
      </p:sp>
      <p:pic>
        <p:nvPicPr>
          <p:cNvPr id="11273" name="Picture 9" descr="ball5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5908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74" name="Picture 10" descr="ball5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5052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75" name="Picture 11" descr="ball5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4196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76" name="Picture 12" descr="ball5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2">
            <a:lum contrast="18000"/>
          </a:blip>
          <a:stretch>
            <a:fillRect/>
          </a:stretch>
        </p:blipFill>
        <p:spPr>
          <a:xfrm>
            <a:off x="1828800" y="53340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79" name="Picture 15" descr="wb00677_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1400" y="5943600"/>
            <a:ext cx="838200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nimBg="1"/>
      <p:bldP spid="11269" grpId="0"/>
      <p:bldP spid="11270" grpId="0"/>
      <p:bldP spid="11271" grpId="0"/>
      <p:bldP spid="1127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97" name="Rectangle 1037"/>
          <p:cNvSpPr>
            <a:spLocks noGrp="1"/>
          </p:cNvSpPr>
          <p:nvPr>
            <p:ph type="title"/>
          </p:nvPr>
        </p:nvSpPr>
        <p:spPr>
          <a:xfrm>
            <a:off x="762000" y="685800"/>
            <a:ext cx="7696200" cy="914400"/>
          </a:xfrm>
          <a:gradFill rotWithShape="0">
            <a:gsLst>
              <a:gs pos="0">
                <a:srgbClr val="767676"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767676">
                  <a:alpha val="100000"/>
                </a:srgbClr>
              </a:gs>
            </a:gsLst>
            <a:lin ang="5400000" scaled="1"/>
            <a:tileRect/>
          </a:gradFill>
          <a:ln/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vert="horz" wrap="square" lIns="91440" tIns="45720" rIns="91440" bIns="45720" anchor="ctr" anchorCtr="0">
            <a:flatTx/>
          </a:bodyPr>
          <a:p>
            <a:pPr eaLnBrk="1" hangingPunct="1"/>
            <a:r>
              <a:rPr lang="en-US" altLang="zh-CN" sz="6000" b="1" dirty="0">
                <a:solidFill>
                  <a:srgbClr val="990033"/>
                </a:solidFill>
                <a:ea typeface="隶书" panose="02010509060101010101" pitchFamily="49" charset="-122"/>
              </a:rPr>
              <a:t>§1-2  </a:t>
            </a:r>
            <a:r>
              <a:rPr lang="zh-CN" altLang="en-US" sz="6000" b="1" dirty="0">
                <a:solidFill>
                  <a:srgbClr val="990033"/>
                </a:solidFill>
                <a:ea typeface="隶书" panose="02010509060101010101" pitchFamily="49" charset="-122"/>
              </a:rPr>
              <a:t>逻辑代数基础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1998" name="Text Box 1038"/>
          <p:cNvSpPr txBox="1"/>
          <p:nvPr/>
        </p:nvSpPr>
        <p:spPr>
          <a:xfrm>
            <a:off x="2133600" y="2514600"/>
            <a:ext cx="52578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ea typeface="幼圆" panose="02010509060101010101" pitchFamily="49" charset="-122"/>
              </a:rPr>
              <a:t>逻辑变量及基本逻辑运算</a:t>
            </a:r>
            <a:endParaRPr lang="zh-CN" altLang="en-US" sz="3600" b="1" dirty="0">
              <a:solidFill>
                <a:schemeClr val="tx2"/>
              </a:solidFill>
            </a:endParaRPr>
          </a:p>
        </p:txBody>
      </p:sp>
      <p:sp>
        <p:nvSpPr>
          <p:cNvPr id="41999" name="Text Box 1039"/>
          <p:cNvSpPr txBox="1"/>
          <p:nvPr/>
        </p:nvSpPr>
        <p:spPr>
          <a:xfrm>
            <a:off x="1905000" y="3429000"/>
            <a:ext cx="51816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latin typeface="幼圆" panose="02010509060101010101" pitchFamily="49" charset="-122"/>
                <a:ea typeface="幼圆" panose="02010509060101010101" pitchFamily="49" charset="-122"/>
              </a:rPr>
              <a:t>逻辑函数及其表示方法</a:t>
            </a:r>
            <a:r>
              <a:rPr lang="zh-CN" altLang="en-US" sz="36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endParaRPr lang="zh-CN" altLang="en-US" sz="2400" dirty="0"/>
          </a:p>
        </p:txBody>
      </p:sp>
      <p:sp>
        <p:nvSpPr>
          <p:cNvPr id="42000" name="Text Box 1040"/>
          <p:cNvSpPr txBox="1"/>
          <p:nvPr/>
        </p:nvSpPr>
        <p:spPr>
          <a:xfrm>
            <a:off x="2133600" y="4327525"/>
            <a:ext cx="57150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latin typeface="幼圆" panose="02010509060101010101" pitchFamily="49" charset="-122"/>
                <a:ea typeface="幼圆" panose="02010509060101010101" pitchFamily="49" charset="-122"/>
              </a:rPr>
              <a:t>逻辑代数的运算公式和规则</a:t>
            </a:r>
            <a:endParaRPr lang="zh-CN" altLang="en-US" sz="36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42002" name="Picture 1042" descr="ball5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5908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003" name="Picture 1043" descr="ball5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5052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004" name="Picture 1044" descr="ball5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44196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008" name="Picture 1048" descr="wb00677_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6019800"/>
            <a:ext cx="838200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2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2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7" grpId="0" animBg="1"/>
      <p:bldP spid="41998" grpId="0"/>
      <p:bldP spid="41999" grpId="0"/>
      <p:bldP spid="4200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401" name="Rectangle 9"/>
          <p:cNvSpPr/>
          <p:nvPr/>
        </p:nvSpPr>
        <p:spPr>
          <a:xfrm>
            <a:off x="304800" y="1219200"/>
            <a:ext cx="8534400" cy="9144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5400" b="1" dirty="0">
                <a:solidFill>
                  <a:srgbClr val="990033"/>
                </a:solidFill>
                <a:ea typeface="隶书" panose="02010509060101010101" pitchFamily="49" charset="-122"/>
              </a:rPr>
              <a:t>§1-3   </a:t>
            </a:r>
            <a:r>
              <a:rPr lang="zh-CN" altLang="en-US" sz="5400" b="1" dirty="0">
                <a:solidFill>
                  <a:srgbClr val="990033"/>
                </a:solidFill>
                <a:ea typeface="隶书" panose="02010509060101010101" pitchFamily="49" charset="-122"/>
              </a:rPr>
              <a:t>逻辑函数的标准形式</a:t>
            </a:r>
            <a:endParaRPr lang="zh-CN" altLang="en-US" sz="5400" dirty="0"/>
          </a:p>
        </p:txBody>
      </p:sp>
      <p:sp>
        <p:nvSpPr>
          <p:cNvPr id="59402" name="Text Box 10"/>
          <p:cNvSpPr txBox="1"/>
          <p:nvPr/>
        </p:nvSpPr>
        <p:spPr>
          <a:xfrm>
            <a:off x="1828800" y="2971800"/>
            <a:ext cx="6400800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4400" b="1" dirty="0">
                <a:ea typeface="黑体" panose="02010609060101010101" pitchFamily="49" charset="-122"/>
              </a:rPr>
              <a:t>函数表达式的常用形式</a:t>
            </a:r>
            <a:endParaRPr lang="zh-CN" altLang="en-US" sz="4400" b="1" dirty="0">
              <a:ea typeface="黑体" panose="02010609060101010101" pitchFamily="49" charset="-122"/>
            </a:endParaRPr>
          </a:p>
        </p:txBody>
      </p:sp>
      <p:sp>
        <p:nvSpPr>
          <p:cNvPr id="59403" name="Text Box 11"/>
          <p:cNvSpPr txBox="1"/>
          <p:nvPr/>
        </p:nvSpPr>
        <p:spPr>
          <a:xfrm>
            <a:off x="1752600" y="4267200"/>
            <a:ext cx="6019800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4400" b="1" dirty="0">
                <a:ea typeface="黑体" panose="02010609060101010101" pitchFamily="49" charset="-122"/>
              </a:rPr>
              <a:t>逻辑函数的标准形式</a:t>
            </a:r>
            <a:endParaRPr lang="zh-CN" altLang="en-US" sz="4400" b="1" dirty="0">
              <a:ea typeface="黑体" panose="02010609060101010101" pitchFamily="49" charset="-122"/>
            </a:endParaRPr>
          </a:p>
        </p:txBody>
      </p:sp>
      <p:pic>
        <p:nvPicPr>
          <p:cNvPr id="59405" name="Picture 13" descr="ball5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1242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9406" name="Picture 14" descr="ball5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4403725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9410" name="Picture 18" descr="wb00677_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400" y="5943600"/>
            <a:ext cx="838200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5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01" grpId="0" animBg="1"/>
      <p:bldP spid="59402" grpId="0"/>
      <p:bldP spid="5940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Rectangle 1026"/>
          <p:cNvSpPr/>
          <p:nvPr/>
        </p:nvSpPr>
        <p:spPr>
          <a:xfrm>
            <a:off x="762000" y="609600"/>
            <a:ext cx="7696200" cy="11430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5400" b="1" dirty="0">
                <a:solidFill>
                  <a:srgbClr val="990033"/>
                </a:solidFill>
                <a:ea typeface="隶书" panose="02010509060101010101" pitchFamily="49" charset="-122"/>
              </a:rPr>
              <a:t>§1-4  </a:t>
            </a:r>
            <a:r>
              <a:rPr lang="zh-CN" altLang="en-US" sz="5400" b="1" dirty="0">
                <a:solidFill>
                  <a:srgbClr val="990033"/>
                </a:solidFill>
                <a:ea typeface="隶书" panose="02010509060101010101" pitchFamily="49" charset="-122"/>
              </a:rPr>
              <a:t>逻辑函数的简化</a:t>
            </a:r>
            <a:endParaRPr lang="zh-CN" altLang="en-US" sz="4400" dirty="0"/>
          </a:p>
        </p:txBody>
      </p:sp>
      <p:sp>
        <p:nvSpPr>
          <p:cNvPr id="66563" name="Text Box 1027"/>
          <p:cNvSpPr txBox="1"/>
          <p:nvPr/>
        </p:nvSpPr>
        <p:spPr>
          <a:xfrm>
            <a:off x="1752600" y="2705100"/>
            <a:ext cx="34290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ea typeface="幼圆" panose="02010509060101010101" pitchFamily="49" charset="-122"/>
              </a:rPr>
              <a:t>代数法化简函数</a:t>
            </a:r>
            <a:endParaRPr lang="zh-CN" altLang="en-US" sz="3600" b="1" dirty="0">
              <a:solidFill>
                <a:schemeClr val="tx2"/>
              </a:solidFill>
            </a:endParaRPr>
          </a:p>
        </p:txBody>
      </p:sp>
      <p:sp>
        <p:nvSpPr>
          <p:cNvPr id="66564" name="Text Box 1028"/>
          <p:cNvSpPr txBox="1"/>
          <p:nvPr/>
        </p:nvSpPr>
        <p:spPr>
          <a:xfrm>
            <a:off x="1524000" y="3619500"/>
            <a:ext cx="38100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latin typeface="幼圆" panose="02010509060101010101" pitchFamily="49" charset="-122"/>
                <a:ea typeface="幼圆" panose="02010509060101010101" pitchFamily="49" charset="-122"/>
              </a:rPr>
              <a:t>图解法化简函数</a:t>
            </a:r>
            <a:r>
              <a:rPr lang="zh-CN" altLang="en-US" sz="36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endParaRPr lang="zh-CN" altLang="en-US" sz="2400" dirty="0"/>
          </a:p>
        </p:txBody>
      </p:sp>
      <p:sp>
        <p:nvSpPr>
          <p:cNvPr id="66565" name="Text Box 1029"/>
          <p:cNvSpPr txBox="1"/>
          <p:nvPr/>
        </p:nvSpPr>
        <p:spPr>
          <a:xfrm>
            <a:off x="1524000" y="4518025"/>
            <a:ext cx="70866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latin typeface="幼圆" panose="02010509060101010101" pitchFamily="49" charset="-122"/>
                <a:ea typeface="幼圆" panose="02010509060101010101" pitchFamily="49" charset="-122"/>
              </a:rPr>
              <a:t>逻辑函数简化中的几个实际问题</a:t>
            </a:r>
            <a:endParaRPr lang="zh-CN" altLang="en-US" sz="36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66566" name="Picture 1030" descr="ball5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813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6567" name="Picture 1031" descr="ball5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957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6568" name="Picture 1032" descr="ball5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6101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6571" name="Picture 1035" descr="wb00677_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1400" y="5943600"/>
            <a:ext cx="838200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 animBg="1"/>
      <p:bldP spid="66563" grpId="0"/>
      <p:bldP spid="66564" grpId="0"/>
      <p:bldP spid="6656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ext Box 2"/>
          <p:cNvSpPr txBox="1"/>
          <p:nvPr/>
        </p:nvSpPr>
        <p:spPr>
          <a:xfrm>
            <a:off x="685800" y="228600"/>
            <a:ext cx="2971800" cy="701675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rgbClr val="808080"/>
            </a:outerShdw>
          </a:effectLst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4000" b="1" dirty="0">
                <a:solidFill>
                  <a:srgbClr val="990033"/>
                </a:solidFill>
                <a:ea typeface="隶书" panose="02010509060101010101" pitchFamily="49" charset="-122"/>
              </a:rPr>
              <a:t>进位计数制</a:t>
            </a:r>
            <a:endParaRPr lang="zh-CN" altLang="en-US" sz="4000" b="1" dirty="0">
              <a:solidFill>
                <a:srgbClr val="990033"/>
              </a:solidFill>
              <a:ea typeface="隶书" panose="02010509060101010101" pitchFamily="49" charset="-122"/>
            </a:endParaRPr>
          </a:p>
        </p:txBody>
      </p:sp>
      <p:sp>
        <p:nvSpPr>
          <p:cNvPr id="12291" name="Text Box 3"/>
          <p:cNvSpPr txBox="1"/>
          <p:nvPr/>
        </p:nvSpPr>
        <p:spPr>
          <a:xfrm>
            <a:off x="609600" y="990600"/>
            <a:ext cx="82296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</a:rPr>
              <a:t>、十进制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2332" name="Text Box 44"/>
          <p:cNvSpPr txBox="1"/>
          <p:nvPr/>
        </p:nvSpPr>
        <p:spPr>
          <a:xfrm>
            <a:off x="2135188" y="1371600"/>
            <a:ext cx="6475412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=3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</a:t>
            </a:r>
            <a:r>
              <a:rPr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FF00FF"/>
                </a:solidFill>
                <a:sym typeface="Symbol" panose="05050102010706020507" pitchFamily="18" charset="2"/>
              </a:rPr>
              <a:t>10</a:t>
            </a:r>
            <a:r>
              <a:rPr lang="en-US" altLang="zh-CN" sz="2800" b="1" baseline="30000" dirty="0">
                <a:solidFill>
                  <a:srgbClr val="FF00FF"/>
                </a:solidFill>
                <a:sym typeface="Symbol" panose="05050102010706020507" pitchFamily="18" charset="2"/>
              </a:rPr>
              <a:t>2</a:t>
            </a:r>
            <a:r>
              <a:rPr lang="en-US" altLang="zh-CN" sz="2800" b="1" baseline="300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</a:rPr>
              <a:t>3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 </a:t>
            </a:r>
            <a:r>
              <a:rPr lang="en-US" altLang="zh-CN" sz="2800" b="1" dirty="0">
                <a:solidFill>
                  <a:srgbClr val="FF00FF"/>
                </a:solidFill>
                <a:sym typeface="Symbol" panose="05050102010706020507" pitchFamily="18" charset="2"/>
              </a:rPr>
              <a:t>10</a:t>
            </a:r>
            <a:r>
              <a:rPr lang="en-US" altLang="zh-CN" sz="2800" b="1" baseline="30000" dirty="0">
                <a:solidFill>
                  <a:srgbClr val="FF00FF"/>
                </a:solidFill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800" b="1" baseline="30000" dirty="0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</a:rPr>
              <a:t>3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 </a:t>
            </a:r>
            <a:r>
              <a:rPr lang="en-US" altLang="zh-CN" sz="2800" b="1" dirty="0">
                <a:solidFill>
                  <a:srgbClr val="FF00FF"/>
                </a:solidFill>
                <a:sym typeface="Symbol" panose="05050102010706020507" pitchFamily="18" charset="2"/>
              </a:rPr>
              <a:t>10</a:t>
            </a:r>
            <a:r>
              <a:rPr lang="en-US" altLang="zh-CN" sz="2800" b="1" baseline="30000" dirty="0">
                <a:solidFill>
                  <a:srgbClr val="FF00FF"/>
                </a:solidFill>
                <a:sym typeface="Symbol" panose="05050102010706020507" pitchFamily="18" charset="2"/>
              </a:rPr>
              <a:t>0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+ </a:t>
            </a:r>
            <a:r>
              <a:rPr lang="en-US" altLang="zh-CN" sz="2800" b="1" dirty="0">
                <a:solidFill>
                  <a:schemeClr val="tx2"/>
                </a:solidFill>
              </a:rPr>
              <a:t>3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 </a:t>
            </a:r>
            <a:r>
              <a:rPr lang="en-US" altLang="zh-CN" sz="2800" b="1" dirty="0">
                <a:solidFill>
                  <a:srgbClr val="FF00FF"/>
                </a:solidFill>
                <a:sym typeface="Symbol" panose="05050102010706020507" pitchFamily="18" charset="2"/>
              </a:rPr>
              <a:t>10</a:t>
            </a:r>
            <a:r>
              <a:rPr lang="en-US" altLang="zh-CN" sz="2800" b="1" baseline="30000" dirty="0">
                <a:solidFill>
                  <a:srgbClr val="FF00FF"/>
                </a:solidFill>
                <a:sym typeface="Symbol" panose="05050102010706020507" pitchFamily="18" charset="2"/>
              </a:rPr>
              <a:t>-1</a:t>
            </a:r>
            <a:r>
              <a:rPr lang="en-US" altLang="zh-CN" sz="2800" b="1" baseline="30000" dirty="0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800" b="1" dirty="0">
                <a:solidFill>
                  <a:schemeClr val="tx2"/>
                </a:solidFill>
              </a:rPr>
              <a:t>3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 </a:t>
            </a:r>
            <a:r>
              <a:rPr lang="en-US" altLang="zh-CN" sz="2800" b="1" dirty="0">
                <a:solidFill>
                  <a:srgbClr val="FF00FF"/>
                </a:solidFill>
                <a:sym typeface="Symbol" panose="05050102010706020507" pitchFamily="18" charset="2"/>
              </a:rPr>
              <a:t>10</a:t>
            </a:r>
            <a:r>
              <a:rPr lang="en-US" altLang="zh-CN" sz="2800" b="1" baseline="30000" dirty="0">
                <a:solidFill>
                  <a:srgbClr val="FF00FF"/>
                </a:solidFill>
                <a:sym typeface="Symbol" panose="05050102010706020507" pitchFamily="18" charset="2"/>
              </a:rPr>
              <a:t>-2</a:t>
            </a:r>
            <a:endParaRPr lang="en-US" altLang="zh-CN" sz="2800" b="1" baseline="300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grpSp>
        <p:nvGrpSpPr>
          <p:cNvPr id="2" name="Group 54"/>
          <p:cNvGrpSpPr/>
          <p:nvPr/>
        </p:nvGrpSpPr>
        <p:grpSpPr>
          <a:xfrm>
            <a:off x="2895600" y="1828800"/>
            <a:ext cx="5462588" cy="771525"/>
            <a:chOff x="1433" y="1296"/>
            <a:chExt cx="3441" cy="486"/>
          </a:xfrm>
        </p:grpSpPr>
        <p:grpSp>
          <p:nvGrpSpPr>
            <p:cNvPr id="36888" name="Group 45"/>
            <p:cNvGrpSpPr/>
            <p:nvPr/>
          </p:nvGrpSpPr>
          <p:grpSpPr>
            <a:xfrm>
              <a:off x="1488" y="1296"/>
              <a:ext cx="3338" cy="209"/>
              <a:chOff x="1344" y="1344"/>
              <a:chExt cx="3360" cy="288"/>
            </a:xfrm>
          </p:grpSpPr>
          <p:sp>
            <p:nvSpPr>
              <p:cNvPr id="36890" name="AutoShape 17"/>
              <p:cNvSpPr/>
              <p:nvPr/>
            </p:nvSpPr>
            <p:spPr>
              <a:xfrm>
                <a:off x="1392" y="1344"/>
                <a:ext cx="144" cy="192"/>
              </a:xfrm>
              <a:prstGeom prst="downArrow">
                <a:avLst>
                  <a:gd name="adj1" fmla="val 50000"/>
                  <a:gd name="adj2" fmla="val 33333"/>
                </a:avLst>
              </a:prstGeom>
              <a:noFill/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36891" name="AutoShape 30"/>
              <p:cNvSpPr/>
              <p:nvPr/>
            </p:nvSpPr>
            <p:spPr>
              <a:xfrm>
                <a:off x="1344" y="1392"/>
                <a:ext cx="192" cy="240"/>
              </a:xfrm>
              <a:prstGeom prst="downArrow">
                <a:avLst>
                  <a:gd name="adj1" fmla="val 50000"/>
                  <a:gd name="adj2" fmla="val 31250"/>
                </a:avLst>
              </a:pr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36892" name="AutoShape 31"/>
              <p:cNvSpPr/>
              <p:nvPr/>
            </p:nvSpPr>
            <p:spPr>
              <a:xfrm>
                <a:off x="2208" y="1392"/>
                <a:ext cx="192" cy="240"/>
              </a:xfrm>
              <a:prstGeom prst="downArrow">
                <a:avLst>
                  <a:gd name="adj1" fmla="val 50000"/>
                  <a:gd name="adj2" fmla="val 31250"/>
                </a:avLst>
              </a:pr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36893" name="AutoShape 32"/>
              <p:cNvSpPr/>
              <p:nvPr/>
            </p:nvSpPr>
            <p:spPr>
              <a:xfrm>
                <a:off x="2928" y="1392"/>
                <a:ext cx="192" cy="240"/>
              </a:xfrm>
              <a:prstGeom prst="downArrow">
                <a:avLst>
                  <a:gd name="adj1" fmla="val 50000"/>
                  <a:gd name="adj2" fmla="val 31250"/>
                </a:avLst>
              </a:pr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36894" name="AutoShape 33"/>
              <p:cNvSpPr/>
              <p:nvPr/>
            </p:nvSpPr>
            <p:spPr>
              <a:xfrm>
                <a:off x="3696" y="1392"/>
                <a:ext cx="192" cy="240"/>
              </a:xfrm>
              <a:prstGeom prst="downArrow">
                <a:avLst>
                  <a:gd name="adj1" fmla="val 50000"/>
                  <a:gd name="adj2" fmla="val 31250"/>
                </a:avLst>
              </a:pr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36895" name="AutoShape 34"/>
              <p:cNvSpPr/>
              <p:nvPr/>
            </p:nvSpPr>
            <p:spPr>
              <a:xfrm>
                <a:off x="4512" y="1392"/>
                <a:ext cx="192" cy="240"/>
              </a:xfrm>
              <a:prstGeom prst="downArrow">
                <a:avLst>
                  <a:gd name="adj1" fmla="val 50000"/>
                  <a:gd name="adj2" fmla="val 31250"/>
                </a:avLst>
              </a:pr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36889" name="Text Box 47"/>
            <p:cNvSpPr txBox="1"/>
            <p:nvPr/>
          </p:nvSpPr>
          <p:spPr>
            <a:xfrm>
              <a:off x="1433" y="1532"/>
              <a:ext cx="344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zh-CN" altLang="en-US" sz="2000" b="1" dirty="0">
                  <a:solidFill>
                    <a:srgbClr val="FF00FF"/>
                  </a:solidFill>
                </a:rPr>
                <a:t>权                 权               权               权                权</a:t>
              </a:r>
              <a:endParaRPr lang="zh-CN" altLang="en-US" sz="44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12337" name="Text Box 49"/>
          <p:cNvSpPr txBox="1"/>
          <p:nvPr/>
        </p:nvSpPr>
        <p:spPr>
          <a:xfrm>
            <a:off x="-3175" y="2590800"/>
            <a:ext cx="686117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特点：</a:t>
            </a:r>
            <a:r>
              <a:rPr lang="en-US" altLang="zh-CN" sz="2400" b="1" dirty="0">
                <a:solidFill>
                  <a:schemeClr val="tx2"/>
                </a:solidFill>
              </a:rPr>
              <a:t>1)</a:t>
            </a:r>
            <a:r>
              <a:rPr lang="zh-CN" altLang="en-US" sz="2400" b="1" dirty="0">
                <a:solidFill>
                  <a:schemeClr val="tx2"/>
                </a:solidFill>
              </a:rPr>
              <a:t>基数</a:t>
            </a:r>
            <a:r>
              <a:rPr lang="en-US" altLang="zh-CN" sz="2400" b="1" dirty="0">
                <a:solidFill>
                  <a:schemeClr val="tx2"/>
                </a:solidFill>
              </a:rPr>
              <a:t>10</a:t>
            </a:r>
            <a:r>
              <a:rPr lang="zh-CN" altLang="en-US" sz="2400" b="1" dirty="0">
                <a:solidFill>
                  <a:schemeClr val="tx2"/>
                </a:solidFill>
              </a:rPr>
              <a:t>，</a:t>
            </a:r>
            <a:r>
              <a:rPr lang="zh-CN" altLang="en-US" sz="2400" b="1" dirty="0">
                <a:solidFill>
                  <a:srgbClr val="FF00FF"/>
                </a:solidFill>
              </a:rPr>
              <a:t>逢十进一</a:t>
            </a:r>
            <a:r>
              <a:rPr lang="zh-CN" altLang="en-US" sz="2400" b="1" dirty="0">
                <a:solidFill>
                  <a:schemeClr val="tx2"/>
                </a:solidFill>
              </a:rPr>
              <a:t>，即</a:t>
            </a:r>
            <a:r>
              <a:rPr lang="en-US" altLang="zh-CN" sz="2400" b="1" dirty="0">
                <a:solidFill>
                  <a:schemeClr val="tx2"/>
                </a:solidFill>
              </a:rPr>
              <a:t>9+1=10</a:t>
            </a:r>
            <a:endParaRPr lang="en-US" altLang="zh-CN" sz="2800" b="1" dirty="0">
              <a:solidFill>
                <a:schemeClr val="tx2"/>
              </a:solidFill>
            </a:endParaRPr>
          </a:p>
        </p:txBody>
      </p:sp>
      <p:sp>
        <p:nvSpPr>
          <p:cNvPr id="12338" name="Text Box 50"/>
          <p:cNvSpPr txBox="1"/>
          <p:nvPr/>
        </p:nvSpPr>
        <p:spPr>
          <a:xfrm>
            <a:off x="1371600" y="3581400"/>
            <a:ext cx="5907088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3)</a:t>
            </a:r>
            <a:r>
              <a:rPr lang="zh-CN" altLang="en-US" sz="2400" b="1" dirty="0">
                <a:solidFill>
                  <a:schemeClr val="tx2"/>
                </a:solidFill>
              </a:rPr>
              <a:t>不同数位上的数具有不同的权值</a:t>
            </a:r>
            <a:r>
              <a:rPr lang="en-US" altLang="zh-CN" sz="2400" b="1" dirty="0">
                <a:solidFill>
                  <a:srgbClr val="FF0000"/>
                </a:solidFill>
              </a:rPr>
              <a:t>10</a:t>
            </a:r>
            <a:r>
              <a:rPr lang="en-US" altLang="zh-CN" sz="2400" b="1" baseline="30000" dirty="0">
                <a:solidFill>
                  <a:schemeClr val="tx2"/>
                </a:solidFill>
              </a:rPr>
              <a:t>i</a:t>
            </a:r>
            <a:r>
              <a:rPr lang="zh-CN" altLang="en-US" sz="2400" b="1" dirty="0">
                <a:solidFill>
                  <a:schemeClr val="tx2"/>
                </a:solidFill>
              </a:rPr>
              <a:t>。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12339" name="Text Box 51"/>
          <p:cNvSpPr txBox="1"/>
          <p:nvPr/>
        </p:nvSpPr>
        <p:spPr>
          <a:xfrm>
            <a:off x="1524000" y="4037013"/>
            <a:ext cx="5127625" cy="8842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</a:rPr>
              <a:t>4)</a:t>
            </a:r>
            <a:r>
              <a:rPr lang="zh-CN" altLang="en-US" sz="2400" b="1" dirty="0">
                <a:solidFill>
                  <a:schemeClr val="tx2"/>
                </a:solidFill>
              </a:rPr>
              <a:t>任意一个十进制数，都可按其权位</a:t>
            </a:r>
            <a:endParaRPr lang="zh-CN" altLang="en-US" sz="2400" b="1" dirty="0">
              <a:solidFill>
                <a:schemeClr val="tx2"/>
              </a:solidFill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展成多项式的形式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12343" name="Text Box 55"/>
          <p:cNvSpPr txBox="1"/>
          <p:nvPr/>
        </p:nvSpPr>
        <p:spPr>
          <a:xfrm>
            <a:off x="644525" y="1371600"/>
            <a:ext cx="16414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(333.33)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10</a:t>
            </a:r>
            <a:endParaRPr lang="en-US" altLang="zh-CN" sz="4400" b="1" dirty="0">
              <a:solidFill>
                <a:schemeClr val="tx2"/>
              </a:solidFill>
            </a:endParaRPr>
          </a:p>
        </p:txBody>
      </p:sp>
      <p:sp>
        <p:nvSpPr>
          <p:cNvPr id="12345" name="AutoShape 57"/>
          <p:cNvSpPr/>
          <p:nvPr/>
        </p:nvSpPr>
        <p:spPr>
          <a:xfrm>
            <a:off x="1219200" y="685800"/>
            <a:ext cx="1981200" cy="685800"/>
          </a:xfrm>
          <a:prstGeom prst="wedgeRoundRectCallout">
            <a:avLst>
              <a:gd name="adj1" fmla="val -44713"/>
              <a:gd name="adj2" fmla="val 69907"/>
              <a:gd name="adj3" fmla="val 16667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990033"/>
                </a:solidFill>
              </a:rPr>
              <a:t>位置计数法</a:t>
            </a:r>
            <a:endParaRPr lang="zh-CN" altLang="en-US" sz="4400" b="1" dirty="0">
              <a:solidFill>
                <a:schemeClr val="tx2"/>
              </a:solidFill>
            </a:endParaRPr>
          </a:p>
        </p:txBody>
      </p:sp>
      <p:sp>
        <p:nvSpPr>
          <p:cNvPr id="12346" name="AutoShape 58"/>
          <p:cNvSpPr/>
          <p:nvPr/>
        </p:nvSpPr>
        <p:spPr>
          <a:xfrm>
            <a:off x="4800600" y="609600"/>
            <a:ext cx="1981200" cy="762000"/>
          </a:xfrm>
          <a:prstGeom prst="wedgeRoundRectCallout">
            <a:avLst>
              <a:gd name="adj1" fmla="val -43750"/>
              <a:gd name="adj2" fmla="val 76042"/>
              <a:gd name="adj3" fmla="val 16667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990033"/>
                </a:solidFill>
              </a:rPr>
              <a:t>按权展开式</a:t>
            </a:r>
            <a:endParaRPr lang="zh-CN" altLang="en-US" sz="4400" b="1" dirty="0">
              <a:solidFill>
                <a:schemeClr val="tx2"/>
              </a:solidFill>
            </a:endParaRPr>
          </a:p>
        </p:txBody>
      </p:sp>
      <p:graphicFrame>
        <p:nvGraphicFramePr>
          <p:cNvPr id="36876" name="Object 62"/>
          <p:cNvGraphicFramePr>
            <a:graphicFrameLocks noChangeAspect="1"/>
          </p:cNvGraphicFramePr>
          <p:nvPr/>
        </p:nvGraphicFramePr>
        <p:xfrm>
          <a:off x="3984625" y="3321050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114300" imgH="215900" progId="Equation.3">
                  <p:embed/>
                </p:oleObj>
              </mc:Choice>
              <mc:Fallback>
                <p:oleObj name="" r:id="rId1" imgW="114300" imgH="2159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84625" y="3321050"/>
                        <a:ext cx="112713" cy="214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52" name="Text Box 64"/>
          <p:cNvSpPr txBox="1"/>
          <p:nvPr/>
        </p:nvSpPr>
        <p:spPr>
          <a:xfrm>
            <a:off x="723900" y="4914900"/>
            <a:ext cx="4305300" cy="7016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(N)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10</a:t>
            </a:r>
            <a:r>
              <a:rPr lang="en-US" altLang="zh-CN" sz="2400" b="1" dirty="0">
                <a:solidFill>
                  <a:schemeClr val="tx2"/>
                </a:solidFill>
              </a:rPr>
              <a:t>=(K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n-1 </a:t>
            </a:r>
            <a:r>
              <a:rPr lang="en-US" altLang="zh-CN" sz="2400" b="1" dirty="0">
                <a:solidFill>
                  <a:schemeClr val="tx2"/>
                </a:solidFill>
                <a:sym typeface="Symbol" panose="05050102010706020507" pitchFamily="18" charset="2"/>
              </a:rPr>
              <a:t> </a:t>
            </a:r>
            <a:r>
              <a:rPr lang="en-US" altLang="zh-CN" sz="2400" b="1" dirty="0">
                <a:solidFill>
                  <a:schemeClr val="tx2"/>
                </a:solidFill>
              </a:rPr>
              <a:t>K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1 </a:t>
            </a:r>
            <a:r>
              <a:rPr lang="en-US" altLang="zh-CN" sz="2400" b="1" dirty="0">
                <a:solidFill>
                  <a:schemeClr val="tx2"/>
                </a:solidFill>
              </a:rPr>
              <a:t>K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0. </a:t>
            </a:r>
            <a:r>
              <a:rPr lang="en-US" altLang="zh-CN" sz="2400" b="1" dirty="0">
                <a:solidFill>
                  <a:schemeClr val="tx2"/>
                </a:solidFill>
              </a:rPr>
              <a:t>K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-1 </a:t>
            </a:r>
            <a:r>
              <a:rPr lang="en-US" altLang="zh-CN" sz="2400" b="1" baseline="-25000" dirty="0">
                <a:solidFill>
                  <a:schemeClr val="tx2"/>
                </a:solidFill>
                <a:sym typeface="Symbol" panose="05050102010706020507" pitchFamily="18" charset="2"/>
              </a:rPr>
              <a:t></a:t>
            </a:r>
            <a:r>
              <a:rPr lang="en-US" altLang="zh-CN" sz="2400" b="1" dirty="0">
                <a:solidFill>
                  <a:schemeClr val="tx2"/>
                </a:solidFill>
              </a:rPr>
              <a:t>K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-m</a:t>
            </a:r>
            <a:r>
              <a:rPr lang="en-US" altLang="zh-CN" sz="2400" b="1" dirty="0">
                <a:solidFill>
                  <a:schemeClr val="tx2"/>
                </a:solidFill>
              </a:rPr>
              <a:t>)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10</a:t>
            </a:r>
            <a:endParaRPr lang="en-US" altLang="zh-CN" sz="2400" b="1" baseline="-25000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400" b="1" baseline="-25000" dirty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  <p:sp>
        <p:nvSpPr>
          <p:cNvPr id="36878" name="Text Box 65"/>
          <p:cNvSpPr txBox="1"/>
          <p:nvPr/>
        </p:nvSpPr>
        <p:spPr>
          <a:xfrm>
            <a:off x="1279525" y="5715000"/>
            <a:ext cx="184150" cy="762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4400" b="1" dirty="0">
              <a:solidFill>
                <a:schemeClr val="tx2"/>
              </a:solidFill>
            </a:endParaRPr>
          </a:p>
        </p:txBody>
      </p:sp>
      <p:graphicFrame>
        <p:nvGraphicFramePr>
          <p:cNvPr id="12355" name="Object 67"/>
          <p:cNvGraphicFramePr>
            <a:graphicFrameLocks noChangeAspect="1"/>
          </p:cNvGraphicFramePr>
          <p:nvPr/>
        </p:nvGraphicFramePr>
        <p:xfrm>
          <a:off x="1387475" y="5791200"/>
          <a:ext cx="196532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" imgW="964565" imgH="495300" progId="Equation.3">
                  <p:embed/>
                </p:oleObj>
              </mc:Choice>
              <mc:Fallback>
                <p:oleObj name="" r:id="rId3" imgW="964565" imgH="4953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87475" y="5791200"/>
                        <a:ext cx="1965325" cy="1006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56" name="Text Box 68"/>
          <p:cNvSpPr txBox="1"/>
          <p:nvPr/>
        </p:nvSpPr>
        <p:spPr>
          <a:xfrm>
            <a:off x="990600" y="3062288"/>
            <a:ext cx="7391400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</a:rPr>
              <a:t>2)</a:t>
            </a:r>
            <a:r>
              <a:rPr lang="zh-CN" altLang="en-US" sz="2400" b="1" dirty="0">
                <a:solidFill>
                  <a:schemeClr val="tx2"/>
                </a:solidFill>
              </a:rPr>
              <a:t>有</a:t>
            </a:r>
            <a:r>
              <a:rPr lang="en-US" altLang="zh-CN" sz="2400" b="1" dirty="0">
                <a:solidFill>
                  <a:schemeClr val="tx2"/>
                </a:solidFill>
              </a:rPr>
              <a:t>0-9</a:t>
            </a:r>
            <a:r>
              <a:rPr lang="zh-CN" altLang="en-US" sz="2400" b="1" dirty="0">
                <a:solidFill>
                  <a:schemeClr val="tx2"/>
                </a:solidFill>
              </a:rPr>
              <a:t>十个数字符号和小数点，数码</a:t>
            </a:r>
            <a:r>
              <a:rPr lang="en-US" altLang="zh-CN" sz="2400" b="1" dirty="0">
                <a:solidFill>
                  <a:schemeClr val="tx2"/>
                </a:solidFill>
              </a:rPr>
              <a:t>K 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i</a:t>
            </a:r>
            <a:r>
              <a:rPr lang="zh-CN" altLang="en-US" sz="2400" b="1" dirty="0">
                <a:solidFill>
                  <a:schemeClr val="tx2"/>
                </a:solidFill>
              </a:rPr>
              <a:t>从</a:t>
            </a:r>
            <a:r>
              <a:rPr lang="en-US" altLang="zh-CN" sz="2400" b="1" dirty="0">
                <a:solidFill>
                  <a:schemeClr val="tx2"/>
                </a:solidFill>
              </a:rPr>
              <a:t>0-9</a:t>
            </a:r>
            <a:endParaRPr lang="en-US" altLang="zh-CN" sz="4400" b="1" dirty="0">
              <a:solidFill>
                <a:schemeClr val="tx2"/>
              </a:solidFill>
            </a:endParaRPr>
          </a:p>
        </p:txBody>
      </p:sp>
      <p:sp>
        <p:nvSpPr>
          <p:cNvPr id="12357" name="Text Box 69"/>
          <p:cNvSpPr txBox="1"/>
          <p:nvPr/>
        </p:nvSpPr>
        <p:spPr>
          <a:xfrm>
            <a:off x="1219200" y="5440363"/>
            <a:ext cx="68580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=K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n-1 </a:t>
            </a:r>
            <a:r>
              <a:rPr lang="en-US" altLang="zh-CN" sz="2400" b="1" dirty="0">
                <a:solidFill>
                  <a:srgbClr val="FF00FF"/>
                </a:solidFill>
              </a:rPr>
              <a:t>10</a:t>
            </a:r>
            <a:r>
              <a:rPr lang="en-US" altLang="zh-CN" sz="2400" b="1" baseline="30000" dirty="0">
                <a:solidFill>
                  <a:srgbClr val="FF00FF"/>
                </a:solidFill>
              </a:rPr>
              <a:t>n-1</a:t>
            </a:r>
            <a:r>
              <a:rPr lang="en-US" altLang="zh-CN" sz="2400" b="1" dirty="0">
                <a:solidFill>
                  <a:schemeClr val="tx2"/>
                </a:solidFill>
              </a:rPr>
              <a:t>+</a:t>
            </a:r>
            <a:r>
              <a:rPr lang="en-US" altLang="zh-CN" sz="2400" b="1" dirty="0">
                <a:solidFill>
                  <a:schemeClr val="tx2"/>
                </a:solidFill>
                <a:sym typeface="Symbol" panose="05050102010706020507" pitchFamily="18" charset="2"/>
              </a:rPr>
              <a:t>+K</a:t>
            </a:r>
            <a:r>
              <a:rPr lang="en-US" altLang="zh-CN" sz="2400" b="1" baseline="-25000" dirty="0">
                <a:solidFill>
                  <a:schemeClr val="tx2"/>
                </a:solidFill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FF00FF"/>
                </a:solidFill>
                <a:sym typeface="Symbol" panose="05050102010706020507" pitchFamily="18" charset="2"/>
              </a:rPr>
              <a:t>10</a:t>
            </a:r>
            <a:r>
              <a:rPr lang="en-US" altLang="zh-CN" sz="2400" b="1" baseline="30000" dirty="0">
                <a:solidFill>
                  <a:srgbClr val="FF00FF"/>
                </a:solidFill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chemeClr val="tx2"/>
                </a:solidFill>
                <a:sym typeface="Symbol" panose="05050102010706020507" pitchFamily="18" charset="2"/>
              </a:rPr>
              <a:t>+K</a:t>
            </a:r>
            <a:r>
              <a:rPr lang="en-US" altLang="zh-CN" sz="2400" b="1" baseline="-25000" dirty="0">
                <a:solidFill>
                  <a:schemeClr val="tx2"/>
                </a:solidFill>
                <a:sym typeface="Symbol" panose="05050102010706020507" pitchFamily="18" charset="2"/>
              </a:rPr>
              <a:t>0</a:t>
            </a:r>
            <a:r>
              <a:rPr lang="en-US" altLang="zh-CN" sz="2400" b="1" dirty="0">
                <a:solidFill>
                  <a:srgbClr val="FF00FF"/>
                </a:solidFill>
                <a:sym typeface="Symbol" panose="05050102010706020507" pitchFamily="18" charset="2"/>
              </a:rPr>
              <a:t>10</a:t>
            </a:r>
            <a:r>
              <a:rPr lang="en-US" altLang="zh-CN" sz="2400" b="1" baseline="30000" dirty="0">
                <a:solidFill>
                  <a:srgbClr val="FF00FF"/>
                </a:solidFill>
                <a:sym typeface="Symbol" panose="05050102010706020507" pitchFamily="18" charset="2"/>
              </a:rPr>
              <a:t>0</a:t>
            </a:r>
            <a:r>
              <a:rPr lang="en-US" altLang="zh-CN" sz="2400" b="1" dirty="0">
                <a:solidFill>
                  <a:schemeClr val="tx2"/>
                </a:solidFill>
                <a:sym typeface="Symbol" panose="05050102010706020507" pitchFamily="18" charset="2"/>
              </a:rPr>
              <a:t>+K</a:t>
            </a:r>
            <a:r>
              <a:rPr lang="en-US" altLang="zh-CN" sz="2400" b="1" baseline="-25000" dirty="0">
                <a:solidFill>
                  <a:schemeClr val="tx2"/>
                </a:solidFill>
                <a:sym typeface="Symbol" panose="05050102010706020507" pitchFamily="18" charset="2"/>
              </a:rPr>
              <a:t>-1 </a:t>
            </a:r>
            <a:r>
              <a:rPr lang="en-US" altLang="zh-CN" sz="2400" b="1" dirty="0">
                <a:solidFill>
                  <a:srgbClr val="FF00FF"/>
                </a:solidFill>
                <a:sym typeface="Symbol" panose="05050102010706020507" pitchFamily="18" charset="2"/>
              </a:rPr>
              <a:t>10</a:t>
            </a:r>
            <a:r>
              <a:rPr lang="en-US" altLang="zh-CN" sz="2400" b="1" baseline="30000" dirty="0">
                <a:solidFill>
                  <a:srgbClr val="FF00FF"/>
                </a:solidFill>
                <a:sym typeface="Symbol" panose="05050102010706020507" pitchFamily="18" charset="2"/>
              </a:rPr>
              <a:t>-1</a:t>
            </a:r>
            <a:r>
              <a:rPr lang="en-US" altLang="zh-CN" sz="2400" b="1" dirty="0">
                <a:solidFill>
                  <a:schemeClr val="tx2"/>
                </a:solidFill>
                <a:sym typeface="Symbol" panose="05050102010706020507" pitchFamily="18" charset="2"/>
              </a:rPr>
              <a:t>++K</a:t>
            </a:r>
            <a:r>
              <a:rPr lang="en-US" altLang="zh-CN" sz="2400" b="1" baseline="-25000" dirty="0">
                <a:solidFill>
                  <a:schemeClr val="tx2"/>
                </a:solidFill>
                <a:sym typeface="Symbol" panose="05050102010706020507" pitchFamily="18" charset="2"/>
              </a:rPr>
              <a:t>-m </a:t>
            </a:r>
            <a:r>
              <a:rPr lang="en-US" altLang="zh-CN" sz="2400" b="1" dirty="0">
                <a:solidFill>
                  <a:srgbClr val="FF00FF"/>
                </a:solidFill>
                <a:sym typeface="Symbol" panose="05050102010706020507" pitchFamily="18" charset="2"/>
              </a:rPr>
              <a:t>10</a:t>
            </a:r>
            <a:r>
              <a:rPr lang="en-US" altLang="zh-CN" sz="2400" b="1" baseline="30000" dirty="0">
                <a:solidFill>
                  <a:srgbClr val="FF00FF"/>
                </a:solidFill>
                <a:sym typeface="Symbol" panose="05050102010706020507" pitchFamily="18" charset="2"/>
              </a:rPr>
              <a:t>-m</a:t>
            </a:r>
            <a:endParaRPr lang="en-US" altLang="zh-CN" sz="2400" b="1" baseline="30000" dirty="0">
              <a:solidFill>
                <a:srgbClr val="FF00FF"/>
              </a:solidFill>
              <a:sym typeface="Symbol" panose="05050102010706020507" pitchFamily="18" charset="2"/>
            </a:endParaRPr>
          </a:p>
        </p:txBody>
      </p:sp>
      <p:pic>
        <p:nvPicPr>
          <p:cNvPr id="36882" name="Picture 72" descr="wb01508_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61722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83" name="Text Box 73">
            <a:hlinkClick r:id="rId5" action="ppaction://hlinksldjump"/>
          </p:cNvPr>
          <p:cNvSpPr txBox="1"/>
          <p:nvPr/>
        </p:nvSpPr>
        <p:spPr>
          <a:xfrm>
            <a:off x="7283450" y="62484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  <p:sp>
        <p:nvSpPr>
          <p:cNvPr id="12362" name="AutoShape 74"/>
          <p:cNvSpPr/>
          <p:nvPr/>
        </p:nvSpPr>
        <p:spPr>
          <a:xfrm>
            <a:off x="6400800" y="4038600"/>
            <a:ext cx="838200" cy="457200"/>
          </a:xfrm>
          <a:prstGeom prst="wedgeRoundRectCallout">
            <a:avLst>
              <a:gd name="adj1" fmla="val -59657"/>
              <a:gd name="adj2" fmla="val -71528"/>
              <a:gd name="adj3" fmla="val 16667"/>
            </a:avLst>
          </a:prstGeom>
          <a:solidFill>
            <a:srgbClr val="FFCC00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数基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12363" name="Oval 75" descr="75%"/>
          <p:cNvSpPr/>
          <p:nvPr/>
        </p:nvSpPr>
        <p:spPr>
          <a:xfrm>
            <a:off x="6248400" y="3657600"/>
            <a:ext cx="304800" cy="304800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12364" name="Oval 76" descr="75%"/>
          <p:cNvSpPr/>
          <p:nvPr/>
        </p:nvSpPr>
        <p:spPr>
          <a:xfrm>
            <a:off x="6477000" y="3581400"/>
            <a:ext cx="152400" cy="228600"/>
          </a:xfrm>
          <a:prstGeom prst="ellipse">
            <a:avLst/>
          </a:prstGeom>
          <a:noFill/>
          <a:ln w="38100" cap="flat" cmpd="sng">
            <a:solidFill>
              <a:srgbClr val="008000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12365" name="AutoShape 77"/>
          <p:cNvSpPr/>
          <p:nvPr/>
        </p:nvSpPr>
        <p:spPr>
          <a:xfrm>
            <a:off x="6553200" y="2514600"/>
            <a:ext cx="2590800" cy="838200"/>
          </a:xfrm>
          <a:prstGeom prst="wedgeRoundRectCallout">
            <a:avLst>
              <a:gd name="adj1" fmla="val -46875"/>
              <a:gd name="adj2" fmla="val 83713"/>
              <a:gd name="adj3" fmla="val 16667"/>
            </a:avLst>
          </a:prstGeom>
          <a:solidFill>
            <a:srgbClr val="FFCC00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表示相对小数点</a:t>
            </a:r>
            <a:endParaRPr lang="zh-CN" altLang="en-US" sz="2400" b="1" dirty="0">
              <a:solidFill>
                <a:schemeClr val="tx2"/>
              </a:solidFill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的位置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"/>
                                        <p:tgtEl>
                                          <p:spTgt spid="12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2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2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2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2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300"/>
                                        <p:tgtEl>
                                          <p:spTgt spid="12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2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animBg="1"/>
      <p:bldP spid="12291" grpId="0"/>
      <p:bldP spid="12332" grpId="0"/>
      <p:bldP spid="12337" grpId="0"/>
      <p:bldP spid="12338" grpId="0"/>
      <p:bldP spid="12339" grpId="0"/>
      <p:bldP spid="12343" grpId="0"/>
      <p:bldP spid="12345" grpId="0" animBg="1"/>
      <p:bldP spid="12346" grpId="0" animBg="1"/>
      <p:bldP spid="12352" grpId="0"/>
      <p:bldP spid="12356" grpId="0"/>
      <p:bldP spid="12357" grpId="0"/>
      <p:bldP spid="12362" grpId="0" animBg="1"/>
      <p:bldP spid="12363" grpId="0" animBg="1"/>
      <p:bldP spid="12364" grpId="0" animBg="1"/>
      <p:bldP spid="1236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7890" name="Picture 1169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59436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1" name="Text Box 1170">
            <a:hlinkClick r:id="rId1" action="ppaction://hlinksldjump"/>
          </p:cNvPr>
          <p:cNvSpPr txBox="1"/>
          <p:nvPr/>
        </p:nvSpPr>
        <p:spPr>
          <a:xfrm>
            <a:off x="577850" y="60198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  <p:grpSp>
        <p:nvGrpSpPr>
          <p:cNvPr id="2" name="Group 1173"/>
          <p:cNvGrpSpPr/>
          <p:nvPr/>
        </p:nvGrpSpPr>
        <p:grpSpPr>
          <a:xfrm>
            <a:off x="457200" y="457200"/>
            <a:ext cx="1749425" cy="519113"/>
            <a:chOff x="288" y="288"/>
            <a:chExt cx="1102" cy="327"/>
          </a:xfrm>
        </p:grpSpPr>
        <p:sp>
          <p:nvSpPr>
            <p:cNvPr id="37914" name="Text Box 1071"/>
            <p:cNvSpPr txBox="1"/>
            <p:nvPr/>
          </p:nvSpPr>
          <p:spPr>
            <a:xfrm>
              <a:off x="528" y="288"/>
              <a:ext cx="86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chemeClr val="tx2"/>
                  </a:solidFill>
                </a:rPr>
                <a:t>二进制</a:t>
              </a:r>
              <a:endParaRPr lang="zh-CN" altLang="en-US" sz="4400" b="1" dirty="0">
                <a:solidFill>
                  <a:schemeClr val="tx2"/>
                </a:solidFill>
              </a:endParaRPr>
            </a:p>
          </p:txBody>
        </p:sp>
        <p:sp>
          <p:nvSpPr>
            <p:cNvPr id="37915" name="Oval 1171"/>
            <p:cNvSpPr/>
            <p:nvPr/>
          </p:nvSpPr>
          <p:spPr>
            <a:xfrm>
              <a:off x="288" y="384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185E5E"/>
                </a:gs>
                <a:gs pos="50000">
                  <a:srgbClr val="33CCCC"/>
                </a:gs>
                <a:gs pos="100000">
                  <a:srgbClr val="185E5E"/>
                </a:gs>
              </a:gsLst>
              <a:lin ang="5400000" scaled="1"/>
              <a:tileRect/>
            </a:gradFill>
            <a:ln w="12700">
              <a:noFill/>
            </a:ln>
            <a:effectLst>
              <a:outerShdw sy="50000" kx="2453608" rotWithShape="0">
                <a:schemeClr val="bg2"/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3" name="Group 1174"/>
          <p:cNvGrpSpPr/>
          <p:nvPr/>
        </p:nvGrpSpPr>
        <p:grpSpPr>
          <a:xfrm>
            <a:off x="457200" y="990600"/>
            <a:ext cx="2209800" cy="519113"/>
            <a:chOff x="288" y="624"/>
            <a:chExt cx="1392" cy="327"/>
          </a:xfrm>
        </p:grpSpPr>
        <p:sp>
          <p:nvSpPr>
            <p:cNvPr id="37912" name="Text Box 1138"/>
            <p:cNvSpPr txBox="1"/>
            <p:nvPr/>
          </p:nvSpPr>
          <p:spPr>
            <a:xfrm>
              <a:off x="384" y="624"/>
              <a:ext cx="129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chemeClr val="tx2"/>
                  </a:solidFill>
                </a:rPr>
                <a:t>任意进制</a:t>
              </a:r>
              <a:endParaRPr lang="zh-CN" altLang="en-US" sz="4400" b="1" dirty="0">
                <a:solidFill>
                  <a:schemeClr val="tx2"/>
                </a:solidFill>
              </a:endParaRPr>
            </a:p>
          </p:txBody>
        </p:sp>
        <p:sp>
          <p:nvSpPr>
            <p:cNvPr id="37913" name="Oval 1172"/>
            <p:cNvSpPr/>
            <p:nvPr/>
          </p:nvSpPr>
          <p:spPr>
            <a:xfrm>
              <a:off x="288" y="720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185E5E"/>
                </a:gs>
                <a:gs pos="50000">
                  <a:srgbClr val="33CCCC"/>
                </a:gs>
                <a:gs pos="100000">
                  <a:srgbClr val="185E5E"/>
                </a:gs>
              </a:gsLst>
              <a:lin ang="5400000" scaled="1"/>
              <a:tileRect/>
            </a:gradFill>
            <a:ln w="12700">
              <a:noFill/>
            </a:ln>
            <a:effectLst>
              <a:outerShdw sy="50000" kx="2453608" rotWithShape="0">
                <a:schemeClr val="bg2"/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4" name="Group 1157"/>
          <p:cNvGrpSpPr/>
          <p:nvPr/>
        </p:nvGrpSpPr>
        <p:grpSpPr>
          <a:xfrm>
            <a:off x="0" y="1828800"/>
            <a:ext cx="8763000" cy="5029200"/>
            <a:chOff x="0" y="720"/>
            <a:chExt cx="5520" cy="3034"/>
          </a:xfrm>
        </p:grpSpPr>
        <p:sp>
          <p:nvSpPr>
            <p:cNvPr id="37904" name="AutoShape 1158"/>
            <p:cNvSpPr/>
            <p:nvPr/>
          </p:nvSpPr>
          <p:spPr>
            <a:xfrm>
              <a:off x="768" y="720"/>
              <a:ext cx="4752" cy="2976"/>
            </a:xfrm>
            <a:prstGeom prst="wedgeRoundRectCallout">
              <a:avLst>
                <a:gd name="adj1" fmla="val -48296"/>
                <a:gd name="adj2" fmla="val -56620"/>
                <a:gd name="adj3" fmla="val 16667"/>
              </a:avLst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b="1" dirty="0">
                <a:solidFill>
                  <a:schemeClr val="tx2"/>
                </a:solidFill>
              </a:endParaRPr>
            </a:p>
          </p:txBody>
        </p:sp>
        <p:grpSp>
          <p:nvGrpSpPr>
            <p:cNvPr id="37905" name="Group 1159"/>
            <p:cNvGrpSpPr/>
            <p:nvPr/>
          </p:nvGrpSpPr>
          <p:grpSpPr>
            <a:xfrm>
              <a:off x="0" y="917"/>
              <a:ext cx="5425" cy="2837"/>
              <a:chOff x="0" y="917"/>
              <a:chExt cx="5425" cy="2837"/>
            </a:xfrm>
          </p:grpSpPr>
          <p:sp>
            <p:nvSpPr>
              <p:cNvPr id="37906" name="Text Box 1160"/>
              <p:cNvSpPr txBox="1"/>
              <p:nvPr/>
            </p:nvSpPr>
            <p:spPr>
              <a:xfrm>
                <a:off x="0" y="917"/>
                <a:ext cx="4897" cy="2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                     1</a:t>
                </a:r>
                <a:r>
                  <a:rPr lang="zh-CN" altLang="en-US" sz="2400" b="1" dirty="0">
                    <a:solidFill>
                      <a:schemeClr val="tx2"/>
                    </a:solidFill>
                  </a:rPr>
                  <a:t>）基数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R</a:t>
                </a:r>
                <a:r>
                  <a:rPr lang="zh-CN" altLang="en-US" sz="2400" b="1" dirty="0">
                    <a:solidFill>
                      <a:schemeClr val="tx2"/>
                    </a:solidFill>
                  </a:rPr>
                  <a:t>，</a:t>
                </a:r>
                <a:r>
                  <a:rPr lang="zh-CN" altLang="en-US" sz="2400" b="1" dirty="0">
                    <a:solidFill>
                      <a:srgbClr val="FF00FF"/>
                    </a:solidFill>
                  </a:rPr>
                  <a:t>逢</a:t>
                </a:r>
                <a:r>
                  <a:rPr lang="en-US" altLang="zh-CN" sz="2400" b="1" dirty="0">
                    <a:solidFill>
                      <a:srgbClr val="FF00FF"/>
                    </a:solidFill>
                  </a:rPr>
                  <a:t>R</a:t>
                </a:r>
                <a:r>
                  <a:rPr lang="zh-CN" altLang="en-US" sz="2400" b="1" dirty="0">
                    <a:solidFill>
                      <a:srgbClr val="FF00FF"/>
                    </a:solidFill>
                  </a:rPr>
                  <a:t>进一</a:t>
                </a:r>
                <a:r>
                  <a:rPr lang="zh-CN" altLang="en-US" sz="2400" b="1" dirty="0">
                    <a:solidFill>
                      <a:schemeClr val="tx2"/>
                    </a:solidFill>
                  </a:rPr>
                  <a:t>，</a:t>
                </a:r>
                <a:endParaRPr lang="zh-CN" altLang="en-US" sz="28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37907" name="Text Box 1161"/>
              <p:cNvSpPr txBox="1"/>
              <p:nvPr/>
            </p:nvSpPr>
            <p:spPr>
              <a:xfrm>
                <a:off x="862" y="1546"/>
                <a:ext cx="4136" cy="31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800" b="1" dirty="0">
                    <a:solidFill>
                      <a:schemeClr val="tx2"/>
                    </a:solidFill>
                  </a:rPr>
                  <a:t>   3</a:t>
                </a:r>
                <a:r>
                  <a:rPr lang="zh-CN" altLang="en-US" sz="2800" b="1" dirty="0">
                    <a:solidFill>
                      <a:schemeClr val="tx2"/>
                    </a:solidFill>
                  </a:rPr>
                  <a:t>）不同数位上的数具有不同的权值</a:t>
                </a:r>
                <a:r>
                  <a:rPr lang="en-US" altLang="zh-CN" sz="2800" b="1" dirty="0">
                    <a:solidFill>
                      <a:schemeClr val="tx2"/>
                    </a:solidFill>
                  </a:rPr>
                  <a:t>R</a:t>
                </a:r>
                <a:r>
                  <a:rPr lang="en-US" altLang="zh-CN" sz="2800" b="1" baseline="30000" dirty="0">
                    <a:solidFill>
                      <a:schemeClr val="tx2"/>
                    </a:solidFill>
                  </a:rPr>
                  <a:t>i</a:t>
                </a:r>
                <a:r>
                  <a:rPr lang="zh-CN" altLang="en-US" sz="2800" b="1" dirty="0">
                    <a:solidFill>
                      <a:schemeClr val="tx2"/>
                    </a:solidFill>
                  </a:rPr>
                  <a:t>。</a:t>
                </a:r>
                <a:endParaRPr lang="zh-CN" altLang="en-US" sz="4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37908" name="Text Box 1162"/>
              <p:cNvSpPr txBox="1"/>
              <p:nvPr/>
            </p:nvSpPr>
            <p:spPr>
              <a:xfrm>
                <a:off x="1032" y="1886"/>
                <a:ext cx="3796" cy="5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chemeClr val="tx2"/>
                    </a:solidFill>
                  </a:rPr>
                  <a:t>4</a:t>
                </a:r>
                <a:r>
                  <a:rPr lang="zh-CN" altLang="en-US" sz="2800" b="1" dirty="0">
                    <a:solidFill>
                      <a:schemeClr val="tx2"/>
                    </a:solidFill>
                  </a:rPr>
                  <a:t>） 任意一个</a:t>
                </a:r>
                <a:r>
                  <a:rPr lang="en-US" altLang="zh-CN" sz="2800" b="1" dirty="0">
                    <a:solidFill>
                      <a:schemeClr val="tx2"/>
                    </a:solidFill>
                  </a:rPr>
                  <a:t>R</a:t>
                </a:r>
                <a:r>
                  <a:rPr lang="zh-CN" altLang="en-US" sz="2800" b="1" dirty="0">
                    <a:solidFill>
                      <a:schemeClr val="tx2"/>
                    </a:solidFill>
                  </a:rPr>
                  <a:t>进制数，都可按其权位</a:t>
                </a:r>
                <a:endParaRPr lang="zh-CN" altLang="en-US" sz="2800" b="1" dirty="0">
                  <a:solidFill>
                    <a:schemeClr val="tx2"/>
                  </a:solidFill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CN" altLang="en-US" sz="2800" b="1" dirty="0">
                    <a:solidFill>
                      <a:schemeClr val="tx2"/>
                    </a:solidFill>
                  </a:rPr>
                  <a:t>展成多项式的形式</a:t>
                </a:r>
                <a:endParaRPr lang="zh-CN" altLang="en-US" sz="4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37909" name="Text Box 1163"/>
              <p:cNvSpPr txBox="1"/>
              <p:nvPr/>
            </p:nvSpPr>
            <p:spPr>
              <a:xfrm>
                <a:off x="1008" y="2411"/>
                <a:ext cx="3852" cy="7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(N)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</a:rPr>
                  <a:t>R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=(K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</a:rPr>
                  <a:t>n-1 </a:t>
                </a:r>
                <a:r>
                  <a:rPr lang="en-US" altLang="zh-CN" sz="2400" b="1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 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K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</a:rPr>
                  <a:t>1 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K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</a:rPr>
                  <a:t>0. 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K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</a:rPr>
                  <a:t>-1 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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K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</a:rPr>
                  <a:t>-m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)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</a:rPr>
                  <a:t>R</a:t>
                </a:r>
                <a:endParaRPr lang="en-US" altLang="zh-CN" sz="2400" b="1" baseline="-25000" dirty="0">
                  <a:solidFill>
                    <a:schemeClr val="tx2"/>
                  </a:solidFill>
                </a:endParaRPr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en-US" altLang="zh-CN" sz="2400" b="1" dirty="0">
                  <a:solidFill>
                    <a:schemeClr val="tx2"/>
                  </a:solidFill>
                </a:endParaRPr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=K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</a:rPr>
                  <a:t>n-1 </a:t>
                </a:r>
                <a:r>
                  <a:rPr lang="en-US" altLang="zh-CN" sz="2400" b="1" dirty="0">
                    <a:solidFill>
                      <a:srgbClr val="FF00FF"/>
                    </a:solidFill>
                  </a:rPr>
                  <a:t>R</a:t>
                </a:r>
                <a:r>
                  <a:rPr lang="en-US" altLang="zh-CN" sz="2400" b="1" baseline="30000" dirty="0">
                    <a:solidFill>
                      <a:srgbClr val="FF00FF"/>
                    </a:solidFill>
                  </a:rPr>
                  <a:t>n-1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+</a:t>
                </a:r>
                <a:r>
                  <a:rPr lang="en-US" altLang="zh-CN" sz="2400" b="1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+K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1</a:t>
                </a:r>
                <a:r>
                  <a:rPr lang="en-US" altLang="zh-CN" sz="2400" b="1" dirty="0">
                    <a:solidFill>
                      <a:srgbClr val="FF00FF"/>
                    </a:solidFill>
                    <a:sym typeface="Symbol" panose="05050102010706020507" pitchFamily="18" charset="2"/>
                  </a:rPr>
                  <a:t>R</a:t>
                </a:r>
                <a:r>
                  <a:rPr lang="en-US" altLang="zh-CN" sz="2400" b="1" baseline="30000" dirty="0">
                    <a:solidFill>
                      <a:srgbClr val="FF00FF"/>
                    </a:solidFill>
                    <a:sym typeface="Symbol" panose="05050102010706020507" pitchFamily="18" charset="2"/>
                  </a:rPr>
                  <a:t>1</a:t>
                </a:r>
                <a:r>
                  <a:rPr lang="en-US" altLang="zh-CN" sz="2400" b="1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+K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0</a:t>
                </a:r>
                <a:r>
                  <a:rPr lang="en-US" altLang="zh-CN" sz="2400" b="1" dirty="0">
                    <a:solidFill>
                      <a:srgbClr val="FF00FF"/>
                    </a:solidFill>
                    <a:sym typeface="Symbol" panose="05050102010706020507" pitchFamily="18" charset="2"/>
                  </a:rPr>
                  <a:t>R</a:t>
                </a:r>
                <a:r>
                  <a:rPr lang="en-US" altLang="zh-CN" sz="2400" b="1" baseline="30000" dirty="0">
                    <a:solidFill>
                      <a:srgbClr val="FF00FF"/>
                    </a:solidFill>
                    <a:sym typeface="Symbol" panose="05050102010706020507" pitchFamily="18" charset="2"/>
                  </a:rPr>
                  <a:t>0</a:t>
                </a:r>
                <a:r>
                  <a:rPr lang="en-US" altLang="zh-CN" sz="2400" b="1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+K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-1 </a:t>
                </a:r>
                <a:r>
                  <a:rPr lang="en-US" altLang="zh-CN" sz="2400" b="1" dirty="0">
                    <a:solidFill>
                      <a:srgbClr val="FF00FF"/>
                    </a:solidFill>
                    <a:sym typeface="Symbol" panose="05050102010706020507" pitchFamily="18" charset="2"/>
                  </a:rPr>
                  <a:t>R</a:t>
                </a:r>
                <a:r>
                  <a:rPr lang="en-US" altLang="zh-CN" sz="2400" b="1" baseline="30000" dirty="0">
                    <a:solidFill>
                      <a:srgbClr val="FF00FF"/>
                    </a:solidFill>
                    <a:sym typeface="Symbol" panose="05050102010706020507" pitchFamily="18" charset="2"/>
                  </a:rPr>
                  <a:t>-1</a:t>
                </a:r>
                <a:r>
                  <a:rPr lang="en-US" altLang="zh-CN" sz="2400" b="1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+K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-m </a:t>
                </a:r>
                <a:r>
                  <a:rPr lang="en-US" altLang="zh-CN" sz="2400" b="1" dirty="0">
                    <a:solidFill>
                      <a:srgbClr val="FF00FF"/>
                    </a:solidFill>
                    <a:sym typeface="Symbol" panose="05050102010706020507" pitchFamily="18" charset="2"/>
                  </a:rPr>
                  <a:t>R</a:t>
                </a:r>
                <a:r>
                  <a:rPr lang="en-US" altLang="zh-CN" sz="2400" b="1" baseline="30000" dirty="0">
                    <a:solidFill>
                      <a:srgbClr val="FF00FF"/>
                    </a:solidFill>
                    <a:sym typeface="Symbol" panose="05050102010706020507" pitchFamily="18" charset="2"/>
                  </a:rPr>
                  <a:t>-m</a:t>
                </a:r>
                <a:endParaRPr lang="en-US" altLang="zh-CN" sz="2400" b="1" baseline="-25000" dirty="0">
                  <a:solidFill>
                    <a:schemeClr val="tx2"/>
                  </a:solidFill>
                  <a:sym typeface="Symbol" panose="05050102010706020507" pitchFamily="18" charset="2"/>
                </a:endParaRPr>
              </a:p>
            </p:txBody>
          </p:sp>
          <p:graphicFrame>
            <p:nvGraphicFramePr>
              <p:cNvPr id="37910" name="Object 1164"/>
              <p:cNvGraphicFramePr>
                <a:graphicFrameLocks noChangeAspect="1"/>
              </p:cNvGraphicFramePr>
              <p:nvPr/>
            </p:nvGraphicFramePr>
            <p:xfrm>
              <a:off x="1080" y="3120"/>
              <a:ext cx="1189" cy="6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7" name="" r:id="rId3" imgW="926465" imgH="495300" progId="Equation.3">
                      <p:embed/>
                    </p:oleObj>
                  </mc:Choice>
                  <mc:Fallback>
                    <p:oleObj name="" r:id="rId3" imgW="926465" imgH="495300" progId="Equation.3">
                      <p:embed/>
                      <p:pic>
                        <p:nvPicPr>
                          <p:cNvPr id="0" name="图片 3086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080" y="3120"/>
                            <a:ext cx="1189" cy="63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911" name="Text Box 1165"/>
              <p:cNvSpPr txBox="1"/>
              <p:nvPr/>
            </p:nvSpPr>
            <p:spPr>
              <a:xfrm>
                <a:off x="960" y="1162"/>
                <a:ext cx="4465" cy="3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chemeClr val="tx2"/>
                    </a:solidFill>
                  </a:rPr>
                  <a:t>2) </a:t>
                </a:r>
                <a:r>
                  <a:rPr lang="zh-CN" altLang="en-US" sz="2800" b="1" dirty="0">
                    <a:solidFill>
                      <a:schemeClr val="tx2"/>
                    </a:solidFill>
                  </a:rPr>
                  <a:t>有</a:t>
                </a:r>
                <a:r>
                  <a:rPr lang="en-US" altLang="zh-CN" sz="2800" b="1" dirty="0">
                    <a:solidFill>
                      <a:schemeClr val="tx2"/>
                    </a:solidFill>
                  </a:rPr>
                  <a:t>R</a:t>
                </a:r>
                <a:r>
                  <a:rPr lang="zh-CN" altLang="en-US" sz="2800" b="1" dirty="0">
                    <a:solidFill>
                      <a:schemeClr val="tx2"/>
                    </a:solidFill>
                  </a:rPr>
                  <a:t>两个数字符号和小数点</a:t>
                </a:r>
                <a:r>
                  <a:rPr lang="zh-CN" altLang="en-US" sz="2400" b="1" dirty="0">
                    <a:solidFill>
                      <a:schemeClr val="tx2"/>
                    </a:solidFill>
                  </a:rPr>
                  <a:t>，数码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K 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</a:rPr>
                  <a:t>i</a:t>
                </a:r>
                <a:r>
                  <a:rPr lang="zh-CN" altLang="en-US" sz="2400" b="1" dirty="0">
                    <a:solidFill>
                      <a:schemeClr val="tx2"/>
                    </a:solidFill>
                  </a:rPr>
                  <a:t>从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0-R-1</a:t>
                </a:r>
                <a:endParaRPr lang="en-US" altLang="zh-CN" sz="4400" b="1" dirty="0">
                  <a:solidFill>
                    <a:schemeClr val="tx2"/>
                  </a:solidFill>
                </a:endParaRPr>
              </a:p>
            </p:txBody>
          </p:sp>
        </p:grpSp>
      </p:grpSp>
      <p:grpSp>
        <p:nvGrpSpPr>
          <p:cNvPr id="6" name="Group 1154"/>
          <p:cNvGrpSpPr/>
          <p:nvPr/>
        </p:nvGrpSpPr>
        <p:grpSpPr>
          <a:xfrm>
            <a:off x="171450" y="1143000"/>
            <a:ext cx="8610600" cy="5334000"/>
            <a:chOff x="192" y="768"/>
            <a:chExt cx="5424" cy="3360"/>
          </a:xfrm>
        </p:grpSpPr>
        <p:sp>
          <p:nvSpPr>
            <p:cNvPr id="37896" name="AutoShape 1153"/>
            <p:cNvSpPr/>
            <p:nvPr/>
          </p:nvSpPr>
          <p:spPr>
            <a:xfrm>
              <a:off x="1056" y="768"/>
              <a:ext cx="4464" cy="3360"/>
            </a:xfrm>
            <a:prstGeom prst="wedgeRoundRectCallout">
              <a:avLst>
                <a:gd name="adj1" fmla="val -43213"/>
                <a:gd name="adj2" fmla="val -57292"/>
                <a:gd name="adj3" fmla="val 16667"/>
              </a:avLst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b="1" dirty="0">
                <a:solidFill>
                  <a:schemeClr val="tx2"/>
                </a:solidFill>
              </a:endParaRPr>
            </a:p>
          </p:txBody>
        </p:sp>
        <p:grpSp>
          <p:nvGrpSpPr>
            <p:cNvPr id="37897" name="Group 1146"/>
            <p:cNvGrpSpPr/>
            <p:nvPr/>
          </p:nvGrpSpPr>
          <p:grpSpPr>
            <a:xfrm>
              <a:off x="192" y="912"/>
              <a:ext cx="5424" cy="2842"/>
              <a:chOff x="-240" y="816"/>
              <a:chExt cx="5424" cy="2842"/>
            </a:xfrm>
          </p:grpSpPr>
          <p:sp>
            <p:nvSpPr>
              <p:cNvPr id="37898" name="Text Box 1147"/>
              <p:cNvSpPr txBox="1"/>
              <p:nvPr/>
            </p:nvSpPr>
            <p:spPr>
              <a:xfrm>
                <a:off x="-240" y="816"/>
                <a:ext cx="489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r>
                  <a:rPr lang="zh-CN" altLang="en-US" sz="2400" b="1" dirty="0">
                    <a:solidFill>
                      <a:schemeClr val="tx2"/>
                    </a:solidFill>
                  </a:rPr>
                  <a:t>）基数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2</a:t>
                </a:r>
                <a:r>
                  <a:rPr lang="zh-CN" altLang="en-US" sz="2400" b="1" dirty="0">
                    <a:solidFill>
                      <a:schemeClr val="tx2"/>
                    </a:solidFill>
                  </a:rPr>
                  <a:t>，</a:t>
                </a:r>
                <a:r>
                  <a:rPr lang="zh-CN" altLang="en-US" sz="2400" b="1" dirty="0">
                    <a:solidFill>
                      <a:srgbClr val="FF00FF"/>
                    </a:solidFill>
                  </a:rPr>
                  <a:t>逢二进一</a:t>
                </a:r>
                <a:r>
                  <a:rPr lang="zh-CN" altLang="en-US" sz="2400" b="1" dirty="0">
                    <a:solidFill>
                      <a:schemeClr val="tx2"/>
                    </a:solidFill>
                  </a:rPr>
                  <a:t>，即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1+1=10</a:t>
                </a:r>
                <a:endParaRPr lang="en-US" altLang="zh-CN" sz="28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37899" name="Text Box 1148"/>
              <p:cNvSpPr txBox="1"/>
              <p:nvPr/>
            </p:nvSpPr>
            <p:spPr>
              <a:xfrm>
                <a:off x="640" y="1440"/>
                <a:ext cx="410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800" b="1" dirty="0">
                    <a:solidFill>
                      <a:schemeClr val="tx2"/>
                    </a:solidFill>
                  </a:rPr>
                  <a:t>  3</a:t>
                </a:r>
                <a:r>
                  <a:rPr lang="zh-CN" altLang="en-US" sz="2800" b="1" dirty="0">
                    <a:solidFill>
                      <a:schemeClr val="tx2"/>
                    </a:solidFill>
                  </a:rPr>
                  <a:t>）不同数位上的数具有不同的权值</a:t>
                </a:r>
                <a:r>
                  <a:rPr lang="en-US" altLang="zh-CN" sz="2800" b="1" dirty="0">
                    <a:solidFill>
                      <a:srgbClr val="A50021"/>
                    </a:solidFill>
                  </a:rPr>
                  <a:t>2</a:t>
                </a:r>
                <a:r>
                  <a:rPr lang="en-US" altLang="zh-CN" sz="2800" b="1" baseline="30000" dirty="0">
                    <a:solidFill>
                      <a:schemeClr val="tx2"/>
                    </a:solidFill>
                  </a:rPr>
                  <a:t>i</a:t>
                </a:r>
                <a:r>
                  <a:rPr lang="zh-CN" altLang="en-US" sz="2800" b="1" dirty="0">
                    <a:solidFill>
                      <a:schemeClr val="tx2"/>
                    </a:solidFill>
                  </a:rPr>
                  <a:t>。</a:t>
                </a:r>
                <a:endParaRPr lang="zh-CN" altLang="en-US" sz="4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37900" name="Text Box 1149"/>
              <p:cNvSpPr txBox="1"/>
              <p:nvPr/>
            </p:nvSpPr>
            <p:spPr>
              <a:xfrm>
                <a:off x="787" y="1776"/>
                <a:ext cx="3804" cy="5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chemeClr val="tx2"/>
                    </a:solidFill>
                  </a:rPr>
                  <a:t>4</a:t>
                </a:r>
                <a:r>
                  <a:rPr lang="zh-CN" altLang="en-US" sz="2800" b="1" dirty="0">
                    <a:solidFill>
                      <a:schemeClr val="tx2"/>
                    </a:solidFill>
                  </a:rPr>
                  <a:t>）任意一个二进制数，都可按其权位</a:t>
                </a:r>
                <a:endParaRPr lang="zh-CN" altLang="en-US" sz="2800" b="1" dirty="0">
                  <a:solidFill>
                    <a:schemeClr val="tx2"/>
                  </a:solidFill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CN" altLang="en-US" sz="2800" b="1" dirty="0">
                    <a:solidFill>
                      <a:schemeClr val="tx2"/>
                    </a:solidFill>
                  </a:rPr>
                  <a:t>展成多项式的形式</a:t>
                </a:r>
                <a:endParaRPr lang="zh-CN" altLang="en-US" sz="4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37901" name="Text Box 1150"/>
              <p:cNvSpPr txBox="1"/>
              <p:nvPr/>
            </p:nvSpPr>
            <p:spPr>
              <a:xfrm>
                <a:off x="768" y="2304"/>
                <a:ext cx="3601" cy="7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(N)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</a:rPr>
                  <a:t>2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=(K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</a:rPr>
                  <a:t>n-1 </a:t>
                </a:r>
                <a:r>
                  <a:rPr lang="en-US" altLang="zh-CN" sz="2400" b="1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 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K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</a:rPr>
                  <a:t>1 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K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</a:rPr>
                  <a:t>0. 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K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</a:rPr>
                  <a:t>-1 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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K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</a:rPr>
                  <a:t>-m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)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</a:rPr>
                  <a:t>2</a:t>
                </a:r>
                <a:endParaRPr lang="en-US" altLang="zh-CN" sz="2400" b="1" baseline="-25000" dirty="0">
                  <a:solidFill>
                    <a:schemeClr val="tx2"/>
                  </a:solidFill>
                </a:endParaRPr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en-US" altLang="zh-CN" sz="2400" b="1" dirty="0">
                  <a:solidFill>
                    <a:schemeClr val="tx2"/>
                  </a:solidFill>
                </a:endParaRPr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=K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</a:rPr>
                  <a:t>n-1 </a:t>
                </a:r>
                <a:r>
                  <a:rPr lang="en-US" altLang="zh-CN" sz="2400" b="1" dirty="0">
                    <a:solidFill>
                      <a:srgbClr val="FF00FF"/>
                    </a:solidFill>
                  </a:rPr>
                  <a:t>2</a:t>
                </a:r>
                <a:r>
                  <a:rPr lang="en-US" altLang="zh-CN" sz="2400" b="1" baseline="30000" dirty="0">
                    <a:solidFill>
                      <a:srgbClr val="FF00FF"/>
                    </a:solidFill>
                  </a:rPr>
                  <a:t>n-1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+</a:t>
                </a:r>
                <a:r>
                  <a:rPr lang="en-US" altLang="zh-CN" sz="2400" b="1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+K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1</a:t>
                </a:r>
                <a:r>
                  <a:rPr lang="en-US" altLang="zh-CN" sz="2400" b="1" dirty="0">
                    <a:solidFill>
                      <a:srgbClr val="FF00FF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zh-CN" sz="2400" b="1" baseline="30000" dirty="0">
                    <a:solidFill>
                      <a:srgbClr val="FF00FF"/>
                    </a:solidFill>
                    <a:sym typeface="Symbol" panose="05050102010706020507" pitchFamily="18" charset="2"/>
                  </a:rPr>
                  <a:t>1</a:t>
                </a:r>
                <a:r>
                  <a:rPr lang="en-US" altLang="zh-CN" sz="2400" b="1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+K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0</a:t>
                </a:r>
                <a:r>
                  <a:rPr lang="en-US" altLang="zh-CN" sz="2400" b="1" dirty="0">
                    <a:solidFill>
                      <a:srgbClr val="FF00FF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zh-CN" sz="2400" b="1" baseline="30000" dirty="0">
                    <a:solidFill>
                      <a:srgbClr val="FF00FF"/>
                    </a:solidFill>
                    <a:sym typeface="Symbol" panose="05050102010706020507" pitchFamily="18" charset="2"/>
                  </a:rPr>
                  <a:t>0</a:t>
                </a:r>
                <a:r>
                  <a:rPr lang="en-US" altLang="zh-CN" sz="2400" b="1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+K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-1 </a:t>
                </a:r>
                <a:r>
                  <a:rPr lang="en-US" altLang="zh-CN" sz="2400" b="1" dirty="0">
                    <a:solidFill>
                      <a:srgbClr val="FF00FF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zh-CN" sz="2400" b="1" baseline="30000" dirty="0">
                    <a:solidFill>
                      <a:srgbClr val="FF00FF"/>
                    </a:solidFill>
                    <a:sym typeface="Symbol" panose="05050102010706020507" pitchFamily="18" charset="2"/>
                  </a:rPr>
                  <a:t>-1</a:t>
                </a:r>
                <a:r>
                  <a:rPr lang="en-US" altLang="zh-CN" sz="2400" b="1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+K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-m </a:t>
                </a:r>
                <a:r>
                  <a:rPr lang="en-US" altLang="zh-CN" sz="2400" b="1" dirty="0">
                    <a:solidFill>
                      <a:srgbClr val="FF00FF"/>
                    </a:solidFill>
                    <a:sym typeface="Symbol" panose="05050102010706020507" pitchFamily="18" charset="2"/>
                  </a:rPr>
                  <a:t>2</a:t>
                </a:r>
                <a:r>
                  <a:rPr lang="en-US" altLang="zh-CN" sz="2400" b="1" baseline="30000" dirty="0">
                    <a:solidFill>
                      <a:srgbClr val="FF00FF"/>
                    </a:solidFill>
                    <a:sym typeface="Symbol" panose="05050102010706020507" pitchFamily="18" charset="2"/>
                  </a:rPr>
                  <a:t>-m</a:t>
                </a:r>
                <a:endParaRPr lang="en-US" altLang="zh-CN" sz="2400" b="1" baseline="-25000" dirty="0">
                  <a:solidFill>
                    <a:schemeClr val="tx2"/>
                  </a:solidFill>
                  <a:sym typeface="Symbol" panose="05050102010706020507" pitchFamily="18" charset="2"/>
                </a:endParaRPr>
              </a:p>
            </p:txBody>
          </p:sp>
          <p:graphicFrame>
            <p:nvGraphicFramePr>
              <p:cNvPr id="37902" name="Object 1151"/>
              <p:cNvGraphicFramePr>
                <a:graphicFrameLocks noChangeAspect="1"/>
              </p:cNvGraphicFramePr>
              <p:nvPr/>
            </p:nvGraphicFramePr>
            <p:xfrm>
              <a:off x="856" y="3024"/>
              <a:ext cx="1157" cy="6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6" name="" r:id="rId5" imgW="901065" imgH="495300" progId="Equation.3">
                      <p:embed/>
                    </p:oleObj>
                  </mc:Choice>
                  <mc:Fallback>
                    <p:oleObj name="" r:id="rId5" imgW="901065" imgH="495300" progId="Equation.3">
                      <p:embed/>
                      <p:pic>
                        <p:nvPicPr>
                          <p:cNvPr id="0" name="图片 3085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856" y="3024"/>
                            <a:ext cx="1157" cy="63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903" name="Text Box 1152"/>
              <p:cNvSpPr txBox="1"/>
              <p:nvPr/>
            </p:nvSpPr>
            <p:spPr>
              <a:xfrm>
                <a:off x="720" y="1056"/>
                <a:ext cx="446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chemeClr val="tx2"/>
                    </a:solidFill>
                  </a:rPr>
                  <a:t>2)</a:t>
                </a:r>
                <a:r>
                  <a:rPr lang="zh-CN" altLang="en-US" sz="2800" b="1" dirty="0">
                    <a:solidFill>
                      <a:schemeClr val="tx2"/>
                    </a:solidFill>
                  </a:rPr>
                  <a:t>有</a:t>
                </a:r>
                <a:r>
                  <a:rPr lang="en-US" altLang="zh-CN" sz="2800" b="1" dirty="0">
                    <a:solidFill>
                      <a:schemeClr val="tx2"/>
                    </a:solidFill>
                  </a:rPr>
                  <a:t>0-1</a:t>
                </a:r>
                <a:r>
                  <a:rPr lang="zh-CN" altLang="en-US" sz="2800" b="1" dirty="0">
                    <a:solidFill>
                      <a:schemeClr val="tx2"/>
                    </a:solidFill>
                  </a:rPr>
                  <a:t>两个数字符号和小数点</a:t>
                </a:r>
                <a:r>
                  <a:rPr lang="zh-CN" altLang="en-US" sz="2400" b="1" dirty="0">
                    <a:solidFill>
                      <a:schemeClr val="tx2"/>
                    </a:solidFill>
                  </a:rPr>
                  <a:t>，数码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K </a:t>
                </a:r>
                <a:r>
                  <a:rPr lang="en-US" altLang="zh-CN" sz="2400" b="1" baseline="-25000" dirty="0">
                    <a:solidFill>
                      <a:schemeClr val="tx2"/>
                    </a:solidFill>
                  </a:rPr>
                  <a:t>i</a:t>
                </a:r>
                <a:r>
                  <a:rPr lang="zh-CN" altLang="en-US" sz="2400" b="1" dirty="0">
                    <a:solidFill>
                      <a:schemeClr val="tx2"/>
                    </a:solidFill>
                  </a:rPr>
                  <a:t>从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0-1</a:t>
                </a:r>
                <a:endParaRPr lang="en-US" altLang="zh-CN" sz="4400" b="1" dirty="0">
                  <a:solidFill>
                    <a:schemeClr val="tx2"/>
                  </a:solidFill>
                </a:endParaRPr>
              </a:p>
            </p:txBody>
          </p:sp>
        </p:grp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3559" name="Object 247"/>
          <p:cNvGraphicFramePr>
            <a:graphicFrameLocks noChangeAspect="1"/>
          </p:cNvGraphicFramePr>
          <p:nvPr/>
        </p:nvGraphicFramePr>
        <p:xfrm>
          <a:off x="914400" y="1524000"/>
          <a:ext cx="7943850" cy="493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9888220" imgH="3009900" progId="Word.Document.8">
                  <p:embed/>
                </p:oleObj>
              </mc:Choice>
              <mc:Fallback>
                <p:oleObj name="" r:id="rId1" imgW="9888220" imgH="3009900" progId="Word.Document.8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4400" y="1524000"/>
                        <a:ext cx="7943850" cy="4933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60" name="Text Box 248"/>
          <p:cNvSpPr txBox="1"/>
          <p:nvPr/>
        </p:nvSpPr>
        <p:spPr>
          <a:xfrm>
            <a:off x="1600200" y="381000"/>
            <a:ext cx="5486400" cy="9144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5400" b="1" dirty="0">
                <a:solidFill>
                  <a:srgbClr val="990033"/>
                </a:solidFill>
                <a:ea typeface="隶书" panose="02010509060101010101" pitchFamily="49" charset="-122"/>
              </a:rPr>
              <a:t>常用数制对照表</a:t>
            </a:r>
            <a:endParaRPr lang="zh-CN" altLang="en-US" sz="4400" b="1" dirty="0">
              <a:solidFill>
                <a:schemeClr val="tx2"/>
              </a:solidFill>
            </a:endParaRPr>
          </a:p>
        </p:txBody>
      </p:sp>
      <p:pic>
        <p:nvPicPr>
          <p:cNvPr id="39940" name="Picture 252" descr="wb01508_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61722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41" name="Text Box 253">
            <a:hlinkClick r:id="rId3" action="ppaction://hlinksldjump"/>
          </p:cNvPr>
          <p:cNvSpPr txBox="1"/>
          <p:nvPr/>
        </p:nvSpPr>
        <p:spPr>
          <a:xfrm>
            <a:off x="6673850" y="62484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  <p:sp>
        <p:nvSpPr>
          <p:cNvPr id="13567" name="Rectangle 255" descr="75%"/>
          <p:cNvSpPr/>
          <p:nvPr/>
        </p:nvSpPr>
        <p:spPr>
          <a:xfrm>
            <a:off x="914400" y="3124200"/>
            <a:ext cx="2819400" cy="4572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13569" name="Rectangle 257" descr="75%"/>
          <p:cNvSpPr/>
          <p:nvPr/>
        </p:nvSpPr>
        <p:spPr>
          <a:xfrm>
            <a:off x="4419600" y="2133600"/>
            <a:ext cx="2819400" cy="4572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13570" name="Rectangle 258" descr="75%"/>
          <p:cNvSpPr/>
          <p:nvPr/>
        </p:nvSpPr>
        <p:spPr>
          <a:xfrm>
            <a:off x="4419600" y="3124200"/>
            <a:ext cx="2819400" cy="4572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13571" name="Rectangle 259" descr="75%"/>
          <p:cNvSpPr/>
          <p:nvPr/>
        </p:nvSpPr>
        <p:spPr>
          <a:xfrm>
            <a:off x="1981200" y="2133600"/>
            <a:ext cx="685800" cy="3810000"/>
          </a:xfrm>
          <a:prstGeom prst="rect">
            <a:avLst/>
          </a:prstGeom>
          <a:noFill/>
          <a:ln w="38100" cap="flat" cmpd="sng">
            <a:solidFill>
              <a:srgbClr val="008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13572" name="Rectangle 260" descr="75%"/>
          <p:cNvSpPr/>
          <p:nvPr/>
        </p:nvSpPr>
        <p:spPr>
          <a:xfrm>
            <a:off x="5105400" y="2057400"/>
            <a:ext cx="990600" cy="3962400"/>
          </a:xfrm>
          <a:prstGeom prst="rect">
            <a:avLst/>
          </a:prstGeom>
          <a:noFill/>
          <a:ln w="38100" cap="flat" cmpd="sng">
            <a:solidFill>
              <a:srgbClr val="339966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13573" name="Rectangle 261" descr="75%"/>
          <p:cNvSpPr/>
          <p:nvPr/>
        </p:nvSpPr>
        <p:spPr>
          <a:xfrm>
            <a:off x="2743200" y="2133600"/>
            <a:ext cx="609600" cy="38100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13575" name="Rectangle 263" descr="75%"/>
          <p:cNvSpPr/>
          <p:nvPr/>
        </p:nvSpPr>
        <p:spPr>
          <a:xfrm>
            <a:off x="6781800" y="2133600"/>
            <a:ext cx="609600" cy="38100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7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5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5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7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60" grpId="0" animBg="1"/>
      <p:bldP spid="13567" grpId="0" animBg="1"/>
      <p:bldP spid="13569" grpId="0" animBg="1"/>
      <p:bldP spid="13570" grpId="0" animBg="1"/>
      <p:bldP spid="13571" grpId="0" animBg="1"/>
      <p:bldP spid="13572" grpId="0" animBg="1"/>
      <p:bldP spid="13573" grpId="0" animBg="1"/>
      <p:bldP spid="1357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xfrm>
            <a:off x="1219200" y="533400"/>
            <a:ext cx="6172200" cy="838200"/>
          </a:xfrm>
          <a:gradFill rotWithShape="0">
            <a:gsLst>
              <a:gs pos="0">
                <a:srgbClr val="767676"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767676">
                  <a:alpha val="100000"/>
                </a:srgbClr>
              </a:gs>
            </a:gsLst>
            <a:lin ang="5400000" scaled="1"/>
            <a:tileRect/>
          </a:gradFill>
          <a:ln/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vert="horz" wrap="square" lIns="91440" tIns="45720" rIns="91440" bIns="45720" anchor="ctr" anchorCtr="0">
            <a:flatTx/>
          </a:bodyPr>
          <a:p>
            <a:pPr eaLnBrk="1" hangingPunct="1"/>
            <a:r>
              <a:rPr lang="zh-CN" altLang="en-US" sz="6000" b="1" dirty="0">
                <a:solidFill>
                  <a:srgbClr val="990033"/>
                </a:solidFill>
                <a:ea typeface="隶书" panose="02010509060101010101" pitchFamily="49" charset="-122"/>
              </a:rPr>
              <a:t>数 制 转 换</a:t>
            </a:r>
            <a:endParaRPr lang="zh-CN" altLang="en-US" dirty="0"/>
          </a:p>
        </p:txBody>
      </p:sp>
      <p:sp>
        <p:nvSpPr>
          <p:cNvPr id="22534" name="Text Box 6"/>
          <p:cNvSpPr txBox="1"/>
          <p:nvPr/>
        </p:nvSpPr>
        <p:spPr>
          <a:xfrm>
            <a:off x="1600200" y="2606675"/>
            <a:ext cx="1565275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tx2"/>
                </a:solidFill>
                <a:ea typeface="隶书" panose="02010509060101010101" pitchFamily="49" charset="-122"/>
              </a:rPr>
              <a:t>十进制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sp>
        <p:nvSpPr>
          <p:cNvPr id="22535" name="Text Box 7"/>
          <p:cNvSpPr txBox="1"/>
          <p:nvPr/>
        </p:nvSpPr>
        <p:spPr>
          <a:xfrm>
            <a:off x="3810000" y="2606675"/>
            <a:ext cx="20574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tx2"/>
                </a:solidFill>
                <a:ea typeface="隶书" panose="02010509060101010101" pitchFamily="49" charset="-122"/>
              </a:rPr>
              <a:t>非十进制</a:t>
            </a:r>
            <a:endParaRPr lang="zh-CN" altLang="en-US" sz="3600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  <p:sp>
        <p:nvSpPr>
          <p:cNvPr id="22539" name="Text Box 11"/>
          <p:cNvSpPr txBox="1"/>
          <p:nvPr/>
        </p:nvSpPr>
        <p:spPr>
          <a:xfrm>
            <a:off x="1600200" y="3292475"/>
            <a:ext cx="2025650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tx2"/>
                </a:solidFill>
                <a:ea typeface="隶书" panose="02010509060101010101" pitchFamily="49" charset="-122"/>
              </a:rPr>
              <a:t>非十进制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22540" name="Text Box 12"/>
          <p:cNvSpPr txBox="1"/>
          <p:nvPr/>
        </p:nvSpPr>
        <p:spPr>
          <a:xfrm>
            <a:off x="4267200" y="3292475"/>
            <a:ext cx="1598613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tx2"/>
                </a:solidFill>
                <a:ea typeface="隶书" panose="02010509060101010101" pitchFamily="49" charset="-122"/>
              </a:rPr>
              <a:t>十进制</a:t>
            </a:r>
            <a:endParaRPr lang="zh-CN" altLang="en-US" sz="3600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  <p:sp>
        <p:nvSpPr>
          <p:cNvPr id="22546" name="Text Box 18"/>
          <p:cNvSpPr txBox="1"/>
          <p:nvPr/>
        </p:nvSpPr>
        <p:spPr>
          <a:xfrm>
            <a:off x="1600200" y="4664075"/>
            <a:ext cx="1565275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tx2"/>
                </a:solidFill>
                <a:ea typeface="隶书" panose="02010509060101010101" pitchFamily="49" charset="-122"/>
              </a:rPr>
              <a:t>二进制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22547" name="Text Box 19"/>
          <p:cNvSpPr txBox="1"/>
          <p:nvPr/>
        </p:nvSpPr>
        <p:spPr>
          <a:xfrm>
            <a:off x="3810000" y="4664075"/>
            <a:ext cx="29718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tx2"/>
                </a:solidFill>
                <a:ea typeface="隶书" panose="02010509060101010101" pitchFamily="49" charset="-122"/>
              </a:rPr>
              <a:t>八、十六进制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sp>
        <p:nvSpPr>
          <p:cNvPr id="22550" name="Text Box 22"/>
          <p:cNvSpPr txBox="1"/>
          <p:nvPr/>
        </p:nvSpPr>
        <p:spPr>
          <a:xfrm>
            <a:off x="1574800" y="5349875"/>
            <a:ext cx="2946400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tx2"/>
                </a:solidFill>
                <a:ea typeface="隶书" panose="02010509060101010101" pitchFamily="49" charset="-122"/>
              </a:rPr>
              <a:t>八、十六进制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22551" name="Text Box 23"/>
          <p:cNvSpPr txBox="1"/>
          <p:nvPr/>
        </p:nvSpPr>
        <p:spPr>
          <a:xfrm>
            <a:off x="5013325" y="5349875"/>
            <a:ext cx="1920875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tx2"/>
                </a:solidFill>
                <a:ea typeface="隶书" panose="02010509060101010101" pitchFamily="49" charset="-122"/>
              </a:rPr>
              <a:t>二进制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sp>
        <p:nvSpPr>
          <p:cNvPr id="22563" name="Text Box 35" descr="75%"/>
          <p:cNvSpPr txBox="1"/>
          <p:nvPr/>
        </p:nvSpPr>
        <p:spPr>
          <a:xfrm>
            <a:off x="1511300" y="1812925"/>
            <a:ext cx="6337300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4000" b="1" dirty="0">
                <a:ea typeface="隶书" panose="02010509060101010101" pitchFamily="49" charset="-122"/>
              </a:rPr>
              <a:t>十进制与非十进制间的转换</a:t>
            </a:r>
            <a:endParaRPr lang="zh-CN" altLang="en-US" sz="4000" b="1" dirty="0">
              <a:ea typeface="隶书" panose="02010509060101010101" pitchFamily="49" charset="-122"/>
            </a:endParaRPr>
          </a:p>
        </p:txBody>
      </p:sp>
      <p:sp>
        <p:nvSpPr>
          <p:cNvPr id="22569" name="Text Box 41" descr="75%"/>
          <p:cNvSpPr txBox="1"/>
          <p:nvPr/>
        </p:nvSpPr>
        <p:spPr>
          <a:xfrm>
            <a:off x="1524000" y="3946525"/>
            <a:ext cx="4286250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4000" b="1" dirty="0">
                <a:ea typeface="隶书" panose="02010509060101010101" pitchFamily="49" charset="-122"/>
              </a:rPr>
              <a:t>非十进制间的转换</a:t>
            </a:r>
            <a:endParaRPr lang="zh-CN" altLang="en-US" sz="2800" b="1" dirty="0"/>
          </a:p>
        </p:txBody>
      </p:sp>
      <p:sp>
        <p:nvSpPr>
          <p:cNvPr id="22579" name="Oval 51"/>
          <p:cNvSpPr/>
          <p:nvPr/>
        </p:nvSpPr>
        <p:spPr>
          <a:xfrm>
            <a:off x="838200" y="1981200"/>
            <a:ext cx="457200" cy="457200"/>
          </a:xfrm>
          <a:prstGeom prst="ellipse">
            <a:avLst/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  <a:tileRect/>
          </a:gradFill>
          <a:ln w="12700">
            <a:noFill/>
          </a:ln>
          <a:effectLst>
            <a:outerShdw sy="50000" kx="2453608" rotWithShape="0">
              <a:srgbClr val="808080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22580" name="Oval 52"/>
          <p:cNvSpPr/>
          <p:nvPr/>
        </p:nvSpPr>
        <p:spPr>
          <a:xfrm>
            <a:off x="838200" y="4098925"/>
            <a:ext cx="457200" cy="457200"/>
          </a:xfrm>
          <a:prstGeom prst="ellipse">
            <a:avLst/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  <a:tileRect/>
          </a:gradFill>
          <a:ln w="12700">
            <a:noFill/>
          </a:ln>
          <a:effectLst>
            <a:outerShdw sy="50000" kx="2453608" rotWithShape="0">
              <a:srgbClr val="808080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22582" name="AutoShape 54"/>
          <p:cNvSpPr/>
          <p:nvPr/>
        </p:nvSpPr>
        <p:spPr>
          <a:xfrm>
            <a:off x="3200400" y="2819400"/>
            <a:ext cx="685800" cy="304800"/>
          </a:xfrm>
          <a:prstGeom prst="rightArrow">
            <a:avLst>
              <a:gd name="adj1" fmla="val 50000"/>
              <a:gd name="adj2" fmla="val 56250"/>
            </a:avLst>
          </a:prstGeom>
          <a:solidFill>
            <a:srgbClr val="A5002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22583" name="AutoShape 55"/>
          <p:cNvSpPr/>
          <p:nvPr/>
        </p:nvSpPr>
        <p:spPr>
          <a:xfrm>
            <a:off x="3581400" y="3505200"/>
            <a:ext cx="685800" cy="304800"/>
          </a:xfrm>
          <a:prstGeom prst="rightArrow">
            <a:avLst>
              <a:gd name="adj1" fmla="val 50000"/>
              <a:gd name="adj2" fmla="val 56250"/>
            </a:avLst>
          </a:prstGeom>
          <a:solidFill>
            <a:srgbClr val="A5002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22584" name="AutoShape 56"/>
          <p:cNvSpPr/>
          <p:nvPr/>
        </p:nvSpPr>
        <p:spPr>
          <a:xfrm>
            <a:off x="3124200" y="4876800"/>
            <a:ext cx="685800" cy="304800"/>
          </a:xfrm>
          <a:prstGeom prst="rightArrow">
            <a:avLst>
              <a:gd name="adj1" fmla="val 50000"/>
              <a:gd name="adj2" fmla="val 56250"/>
            </a:avLst>
          </a:prstGeom>
          <a:solidFill>
            <a:srgbClr val="A5002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22585" name="AutoShape 57"/>
          <p:cNvSpPr/>
          <p:nvPr/>
        </p:nvSpPr>
        <p:spPr>
          <a:xfrm>
            <a:off x="4495800" y="5562600"/>
            <a:ext cx="685800" cy="304800"/>
          </a:xfrm>
          <a:prstGeom prst="rightArrow">
            <a:avLst>
              <a:gd name="adj1" fmla="val 50000"/>
              <a:gd name="adj2" fmla="val 56250"/>
            </a:avLst>
          </a:prstGeom>
          <a:solidFill>
            <a:srgbClr val="A5002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pic>
        <p:nvPicPr>
          <p:cNvPr id="40979" name="Picture 58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60198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80" name="Text Box 59">
            <a:hlinkClick r:id="rId1" action="ppaction://hlinksldjump"/>
          </p:cNvPr>
          <p:cNvSpPr txBox="1"/>
          <p:nvPr/>
        </p:nvSpPr>
        <p:spPr>
          <a:xfrm>
            <a:off x="7207250" y="60960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2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nimBg="1"/>
      <p:bldP spid="22534" grpId="0"/>
      <p:bldP spid="22535" grpId="0"/>
      <p:bldP spid="22539" grpId="0"/>
      <p:bldP spid="22540" grpId="0"/>
      <p:bldP spid="22546" grpId="0"/>
      <p:bldP spid="22547" grpId="0"/>
      <p:bldP spid="22550" grpId="0"/>
      <p:bldP spid="22551" grpId="0"/>
      <p:bldP spid="22563" grpId="0"/>
      <p:bldP spid="22569" grpId="0"/>
      <p:bldP spid="22579" grpId="0" animBg="1"/>
      <p:bldP spid="22580" grpId="0" animBg="1"/>
      <p:bldP spid="22582" grpId="0" animBg="1"/>
      <p:bldP spid="22583" grpId="0" animBg="1"/>
      <p:bldP spid="22584" grpId="0" animBg="1"/>
      <p:bldP spid="2258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9" name="Rectangle 3"/>
          <p:cNvSpPr>
            <a:spLocks noGrp="1"/>
          </p:cNvSpPr>
          <p:nvPr>
            <p:ph idx="1"/>
          </p:nvPr>
        </p:nvSpPr>
        <p:spPr>
          <a:xfrm>
            <a:off x="685800" y="1066800"/>
            <a:ext cx="7772400" cy="5029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b="1" dirty="0">
                <a:solidFill>
                  <a:srgbClr val="990033"/>
                </a:solidFill>
                <a:ea typeface="幼圆" panose="02010509060101010101" pitchFamily="49" charset="-122"/>
                <a:sym typeface="Symbol" panose="05050102010706020507" pitchFamily="18" charset="2"/>
              </a:rPr>
              <a:t> </a:t>
            </a:r>
            <a:r>
              <a:rPr lang="en-US" altLang="zh-CN" b="1" dirty="0">
                <a:ea typeface="幼圆" panose="02010509060101010101" pitchFamily="49" charset="-122"/>
                <a:sym typeface="Symbol" panose="05050102010706020507" pitchFamily="18" charset="2"/>
              </a:rPr>
              <a:t>  </a:t>
            </a:r>
            <a:r>
              <a:rPr lang="zh-CN" altLang="en-US" b="1" dirty="0">
                <a:ea typeface="幼圆" panose="02010509060101010101" pitchFamily="49" charset="-122"/>
              </a:rPr>
              <a:t>整数部分的转换</a:t>
            </a:r>
            <a:endParaRPr lang="zh-CN" altLang="en-US" b="1" dirty="0">
              <a:ea typeface="幼圆" panose="02010509060101010101" pitchFamily="49" charset="-122"/>
            </a:endParaRPr>
          </a:p>
        </p:txBody>
      </p:sp>
      <p:sp>
        <p:nvSpPr>
          <p:cNvPr id="24580" name="Rectangle 4"/>
          <p:cNvSpPr>
            <a:spLocks noGrp="1"/>
          </p:cNvSpPr>
          <p:nvPr>
            <p:ph type="title"/>
          </p:nvPr>
        </p:nvSpPr>
        <p:spPr>
          <a:xfrm>
            <a:off x="1524000" y="457200"/>
            <a:ext cx="5867400" cy="609600"/>
          </a:xfrm>
          <a:gradFill rotWithShape="0">
            <a:gsLst>
              <a:gs pos="0">
                <a:srgbClr val="767676"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767676">
                  <a:alpha val="100000"/>
                </a:srgbClr>
              </a:gs>
            </a:gsLst>
            <a:lin ang="5400000" scaled="1"/>
            <a:tileRect/>
          </a:gradFill>
          <a:ln/>
          <a:scene3d>
            <a:camera prst="legacyPerspectiveTopRight">
              <a:rot lat="0" lon="0" rev="0"/>
            </a:camera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vert="horz" wrap="square" lIns="91440" tIns="45720" rIns="91440" bIns="45720" anchor="ctr" anchorCtr="0">
            <a:flatTx/>
          </a:bodyPr>
          <a:p>
            <a:pPr eaLnBrk="1" hangingPunct="1"/>
            <a:r>
              <a:rPr lang="zh-CN" altLang="en-US" sz="4000" b="1" dirty="0">
                <a:solidFill>
                  <a:srgbClr val="990033"/>
                </a:solidFill>
                <a:ea typeface="隶书" panose="02010509060101010101" pitchFamily="49" charset="-122"/>
              </a:rPr>
              <a:t>十进制转换成二进制</a:t>
            </a:r>
            <a:endParaRPr lang="zh-CN" altLang="en-US" dirty="0"/>
          </a:p>
        </p:txBody>
      </p:sp>
      <p:sp>
        <p:nvSpPr>
          <p:cNvPr id="24581" name="Text Box 5"/>
          <p:cNvSpPr txBox="1"/>
          <p:nvPr/>
        </p:nvSpPr>
        <p:spPr>
          <a:xfrm>
            <a:off x="1676400" y="1630363"/>
            <a:ext cx="6858000" cy="16144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除基取余法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：用目标数制的</a:t>
            </a:r>
            <a:r>
              <a:rPr lang="zh-CN" altLang="en-US" sz="24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基数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（</a:t>
            </a:r>
            <a:r>
              <a: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R=2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）去除</a:t>
            </a:r>
            <a:r>
              <a:rPr lang="zh-CN" altLang="en-US" sz="24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十进制数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，</a:t>
            </a:r>
            <a:r>
              <a:rPr lang="zh-CN" altLang="en-US" sz="2400" b="1" u="sng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第一次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相除所得余数为目的数的</a:t>
            </a:r>
            <a:r>
              <a:rPr lang="zh-CN" altLang="en-US" sz="2400" b="1" u="sng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最低位</a:t>
            </a:r>
            <a:r>
              <a:rPr lang="zh-CN" altLang="en-US" sz="24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 </a:t>
            </a:r>
            <a:r>
              <a:rPr lang="en-US" altLang="zh-CN" sz="24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K</a:t>
            </a:r>
            <a:r>
              <a:rPr lang="en-US" altLang="zh-CN" sz="2400" b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，将所得</a:t>
            </a:r>
            <a:r>
              <a:rPr lang="zh-CN" altLang="en-US" sz="24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商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再除以</a:t>
            </a:r>
            <a:r>
              <a:rPr lang="zh-CN" altLang="en-US" sz="24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基数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，反复执行上述过程，</a:t>
            </a:r>
            <a:r>
              <a:rPr lang="zh-CN" altLang="en-US" sz="2400" b="1" u="sng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直到商为</a:t>
            </a:r>
            <a:r>
              <a:rPr lang="zh-CN" altLang="en-US" sz="2400" b="1" u="sng" dirty="0">
                <a:solidFill>
                  <a:srgbClr val="FF0000"/>
                </a:solidFill>
                <a:ea typeface="幼圆" panose="02010509060101010101" pitchFamily="49" charset="-122"/>
              </a:rPr>
              <a:t>“</a:t>
            </a:r>
            <a:r>
              <a:rPr lang="en-US" altLang="zh-CN" sz="2400" b="1" u="sng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</a:t>
            </a:r>
            <a:r>
              <a:rPr lang="en-US" altLang="zh-CN" sz="2400" b="1" u="sng" dirty="0">
                <a:solidFill>
                  <a:srgbClr val="FF0000"/>
                </a:solidFill>
                <a:ea typeface="幼圆" panose="02010509060101010101" pitchFamily="49" charset="-122"/>
              </a:rPr>
              <a:t>”</a:t>
            </a:r>
            <a:r>
              <a:rPr lang="zh-CN" altLang="en-US" sz="2400" b="1" u="sng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，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所得余数为目的数的</a:t>
            </a:r>
            <a:r>
              <a:rPr lang="zh-CN" altLang="en-US" sz="2400" b="1" u="sng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最高位</a:t>
            </a:r>
            <a:r>
              <a:rPr lang="en-US" altLang="zh-CN" sz="24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K</a:t>
            </a:r>
            <a:r>
              <a:rPr lang="en-US" altLang="zh-CN" sz="2400" b="1" baseline="-2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n-1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24585" name="Text Box 9"/>
          <p:cNvSpPr txBox="1"/>
          <p:nvPr/>
        </p:nvSpPr>
        <p:spPr>
          <a:xfrm>
            <a:off x="903288" y="3200400"/>
            <a:ext cx="31226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例：（</a:t>
            </a:r>
            <a:r>
              <a:rPr lang="en-US" altLang="zh-CN" sz="2400" b="1" dirty="0">
                <a:solidFill>
                  <a:schemeClr val="tx2"/>
                </a:solidFill>
              </a:rPr>
              <a:t>81</a:t>
            </a:r>
            <a:r>
              <a:rPr lang="zh-CN" altLang="en-US" sz="2400" b="1" dirty="0">
                <a:solidFill>
                  <a:schemeClr val="tx2"/>
                </a:solidFill>
              </a:rPr>
              <a:t>）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10</a:t>
            </a:r>
            <a:r>
              <a:rPr lang="en-US" altLang="zh-CN" sz="2400" b="1" dirty="0">
                <a:solidFill>
                  <a:schemeClr val="tx2"/>
                </a:solidFill>
              </a:rPr>
              <a:t>=</a:t>
            </a:r>
            <a:r>
              <a:rPr lang="zh-CN" altLang="en-US" sz="2400" b="1" dirty="0">
                <a:solidFill>
                  <a:schemeClr val="tx2"/>
                </a:solidFill>
              </a:rPr>
              <a:t>（？）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2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24586" name="Text Box 10"/>
          <p:cNvSpPr txBox="1"/>
          <p:nvPr/>
        </p:nvSpPr>
        <p:spPr>
          <a:xfrm>
            <a:off x="3124200" y="6194425"/>
            <a:ext cx="52578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得：（</a:t>
            </a:r>
            <a:r>
              <a:rPr lang="en-US" altLang="zh-CN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81</a:t>
            </a: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）</a:t>
            </a:r>
            <a:r>
              <a:rPr lang="en-US" altLang="zh-CN" sz="2800" b="1" baseline="-25000" dirty="0">
                <a:latin typeface="幼圆" panose="02010509060101010101" pitchFamily="49" charset="-122"/>
                <a:ea typeface="幼圆" panose="02010509060101010101" pitchFamily="49" charset="-122"/>
              </a:rPr>
              <a:t>10</a:t>
            </a:r>
            <a:r>
              <a:rPr lang="en-US" altLang="zh-CN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 =</a:t>
            </a: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（</a:t>
            </a:r>
            <a:r>
              <a:rPr lang="en-US" altLang="zh-CN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1010001</a:t>
            </a: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）</a:t>
            </a:r>
            <a:r>
              <a:rPr lang="en-US" altLang="zh-CN" sz="2800" b="1" baseline="-25000" dirty="0"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endParaRPr lang="en-US" altLang="zh-CN" sz="2800" b="1" baseline="-25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2" name="Group 78"/>
          <p:cNvGrpSpPr/>
          <p:nvPr/>
        </p:nvGrpSpPr>
        <p:grpSpPr>
          <a:xfrm>
            <a:off x="1371600" y="3810000"/>
            <a:ext cx="7543800" cy="2286000"/>
            <a:chOff x="864" y="2400"/>
            <a:chExt cx="4752" cy="1440"/>
          </a:xfrm>
        </p:grpSpPr>
        <p:sp>
          <p:nvSpPr>
            <p:cNvPr id="42043" name="AutoShape 11"/>
            <p:cNvSpPr/>
            <p:nvPr/>
          </p:nvSpPr>
          <p:spPr>
            <a:xfrm>
              <a:off x="864" y="2400"/>
              <a:ext cx="4752" cy="1440"/>
            </a:xfrm>
            <a:prstGeom prst="wedgeRoundRectCallout">
              <a:avLst>
                <a:gd name="adj1" fmla="val -38130"/>
                <a:gd name="adj2" fmla="val -55833"/>
                <a:gd name="adj3" fmla="val 16667"/>
              </a:avLst>
            </a:prstGeom>
            <a:solidFill>
              <a:srgbClr val="FFCC00"/>
            </a:solidFill>
            <a:ln w="381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42044" name="Text Box 13"/>
            <p:cNvSpPr txBox="1"/>
            <p:nvPr/>
          </p:nvSpPr>
          <p:spPr>
            <a:xfrm>
              <a:off x="4944" y="2592"/>
              <a:ext cx="432" cy="327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81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sp>
        <p:nvSpPr>
          <p:cNvPr id="24590" name="Text Box 14"/>
          <p:cNvSpPr txBox="1"/>
          <p:nvPr/>
        </p:nvSpPr>
        <p:spPr>
          <a:xfrm>
            <a:off x="7004050" y="4114800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40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24591" name="Text Box 15"/>
          <p:cNvSpPr txBox="1"/>
          <p:nvPr/>
        </p:nvSpPr>
        <p:spPr>
          <a:xfrm>
            <a:off x="5943600" y="4114800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20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24592" name="Text Box 16"/>
          <p:cNvSpPr txBox="1"/>
          <p:nvPr/>
        </p:nvSpPr>
        <p:spPr>
          <a:xfrm>
            <a:off x="4870450" y="4114800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10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24593" name="Text Box 17"/>
          <p:cNvSpPr txBox="1"/>
          <p:nvPr/>
        </p:nvSpPr>
        <p:spPr>
          <a:xfrm>
            <a:off x="4133850" y="41148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5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24594" name="Text Box 18"/>
          <p:cNvSpPr txBox="1"/>
          <p:nvPr/>
        </p:nvSpPr>
        <p:spPr>
          <a:xfrm>
            <a:off x="3371850" y="41148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2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24596" name="Text Box 20"/>
          <p:cNvSpPr txBox="1"/>
          <p:nvPr/>
        </p:nvSpPr>
        <p:spPr>
          <a:xfrm>
            <a:off x="1676400" y="41148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grpSp>
        <p:nvGrpSpPr>
          <p:cNvPr id="3" name="Group 23"/>
          <p:cNvGrpSpPr/>
          <p:nvPr/>
        </p:nvGrpSpPr>
        <p:grpSpPr>
          <a:xfrm>
            <a:off x="7391400" y="3886200"/>
            <a:ext cx="557213" cy="533400"/>
            <a:chOff x="5280" y="2640"/>
            <a:chExt cx="351" cy="336"/>
          </a:xfrm>
        </p:grpSpPr>
        <p:sp>
          <p:nvSpPr>
            <p:cNvPr id="42041" name="Line 21"/>
            <p:cNvSpPr/>
            <p:nvPr/>
          </p:nvSpPr>
          <p:spPr>
            <a:xfrm flipH="1">
              <a:off x="5328" y="2976"/>
              <a:ext cx="288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42" name="Text Box 22"/>
            <p:cNvSpPr txBox="1"/>
            <p:nvPr/>
          </p:nvSpPr>
          <p:spPr>
            <a:xfrm>
              <a:off x="5280" y="2640"/>
              <a:ext cx="35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2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4" name="Group 24"/>
          <p:cNvGrpSpPr/>
          <p:nvPr/>
        </p:nvGrpSpPr>
        <p:grpSpPr>
          <a:xfrm>
            <a:off x="6477000" y="3886200"/>
            <a:ext cx="557213" cy="533400"/>
            <a:chOff x="5280" y="2640"/>
            <a:chExt cx="351" cy="336"/>
          </a:xfrm>
        </p:grpSpPr>
        <p:sp>
          <p:nvSpPr>
            <p:cNvPr id="42039" name="Line 25"/>
            <p:cNvSpPr/>
            <p:nvPr/>
          </p:nvSpPr>
          <p:spPr>
            <a:xfrm flipH="1">
              <a:off x="5328" y="2976"/>
              <a:ext cx="288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40" name="Text Box 26"/>
            <p:cNvSpPr txBox="1"/>
            <p:nvPr/>
          </p:nvSpPr>
          <p:spPr>
            <a:xfrm>
              <a:off x="5280" y="2640"/>
              <a:ext cx="35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2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5" name="Group 27"/>
          <p:cNvGrpSpPr/>
          <p:nvPr/>
        </p:nvGrpSpPr>
        <p:grpSpPr>
          <a:xfrm>
            <a:off x="5386388" y="3886200"/>
            <a:ext cx="557212" cy="533400"/>
            <a:chOff x="5280" y="2640"/>
            <a:chExt cx="351" cy="336"/>
          </a:xfrm>
        </p:grpSpPr>
        <p:sp>
          <p:nvSpPr>
            <p:cNvPr id="42037" name="Line 28"/>
            <p:cNvSpPr/>
            <p:nvPr/>
          </p:nvSpPr>
          <p:spPr>
            <a:xfrm flipH="1">
              <a:off x="5328" y="2976"/>
              <a:ext cx="288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38" name="Text Box 29"/>
            <p:cNvSpPr txBox="1"/>
            <p:nvPr/>
          </p:nvSpPr>
          <p:spPr>
            <a:xfrm>
              <a:off x="5280" y="2640"/>
              <a:ext cx="35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2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6" name="Group 30"/>
          <p:cNvGrpSpPr/>
          <p:nvPr/>
        </p:nvGrpSpPr>
        <p:grpSpPr>
          <a:xfrm>
            <a:off x="4419600" y="3886200"/>
            <a:ext cx="557213" cy="533400"/>
            <a:chOff x="5280" y="2640"/>
            <a:chExt cx="351" cy="336"/>
          </a:xfrm>
        </p:grpSpPr>
        <p:sp>
          <p:nvSpPr>
            <p:cNvPr id="42035" name="Line 31"/>
            <p:cNvSpPr/>
            <p:nvPr/>
          </p:nvSpPr>
          <p:spPr>
            <a:xfrm flipH="1">
              <a:off x="5328" y="2976"/>
              <a:ext cx="288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36" name="Text Box 32"/>
            <p:cNvSpPr txBox="1"/>
            <p:nvPr/>
          </p:nvSpPr>
          <p:spPr>
            <a:xfrm>
              <a:off x="5280" y="2640"/>
              <a:ext cx="35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2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7" name="Group 33"/>
          <p:cNvGrpSpPr/>
          <p:nvPr/>
        </p:nvGrpSpPr>
        <p:grpSpPr>
          <a:xfrm>
            <a:off x="3657600" y="3886200"/>
            <a:ext cx="557213" cy="533400"/>
            <a:chOff x="5280" y="2640"/>
            <a:chExt cx="351" cy="336"/>
          </a:xfrm>
        </p:grpSpPr>
        <p:sp>
          <p:nvSpPr>
            <p:cNvPr id="42033" name="Line 34"/>
            <p:cNvSpPr/>
            <p:nvPr/>
          </p:nvSpPr>
          <p:spPr>
            <a:xfrm flipH="1">
              <a:off x="5328" y="2976"/>
              <a:ext cx="288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34" name="Text Box 35"/>
            <p:cNvSpPr txBox="1"/>
            <p:nvPr/>
          </p:nvSpPr>
          <p:spPr>
            <a:xfrm>
              <a:off x="5280" y="2640"/>
              <a:ext cx="35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2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8" name="Group 36"/>
          <p:cNvGrpSpPr/>
          <p:nvPr/>
        </p:nvGrpSpPr>
        <p:grpSpPr>
          <a:xfrm>
            <a:off x="2895600" y="3886200"/>
            <a:ext cx="557213" cy="533400"/>
            <a:chOff x="5280" y="2640"/>
            <a:chExt cx="351" cy="336"/>
          </a:xfrm>
        </p:grpSpPr>
        <p:sp>
          <p:nvSpPr>
            <p:cNvPr id="42031" name="Line 37"/>
            <p:cNvSpPr/>
            <p:nvPr/>
          </p:nvSpPr>
          <p:spPr>
            <a:xfrm flipH="1">
              <a:off x="5328" y="2976"/>
              <a:ext cx="288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32" name="Text Box 38"/>
            <p:cNvSpPr txBox="1"/>
            <p:nvPr/>
          </p:nvSpPr>
          <p:spPr>
            <a:xfrm>
              <a:off x="5280" y="2640"/>
              <a:ext cx="35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2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9" name="Group 39"/>
          <p:cNvGrpSpPr/>
          <p:nvPr/>
        </p:nvGrpSpPr>
        <p:grpSpPr>
          <a:xfrm>
            <a:off x="2057400" y="3886200"/>
            <a:ext cx="557213" cy="533400"/>
            <a:chOff x="5280" y="2640"/>
            <a:chExt cx="351" cy="336"/>
          </a:xfrm>
        </p:grpSpPr>
        <p:sp>
          <p:nvSpPr>
            <p:cNvPr id="42029" name="Line 40"/>
            <p:cNvSpPr/>
            <p:nvPr/>
          </p:nvSpPr>
          <p:spPr>
            <a:xfrm flipH="1">
              <a:off x="5328" y="2976"/>
              <a:ext cx="288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30" name="Text Box 41"/>
            <p:cNvSpPr txBox="1"/>
            <p:nvPr/>
          </p:nvSpPr>
          <p:spPr>
            <a:xfrm>
              <a:off x="5280" y="2640"/>
              <a:ext cx="35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2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sp>
        <p:nvSpPr>
          <p:cNvPr id="24619" name="Line 43"/>
          <p:cNvSpPr/>
          <p:nvPr/>
        </p:nvSpPr>
        <p:spPr>
          <a:xfrm>
            <a:off x="7772400" y="4572000"/>
            <a:ext cx="0" cy="4572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4620" name="Text Box 44"/>
          <p:cNvSpPr txBox="1"/>
          <p:nvPr/>
        </p:nvSpPr>
        <p:spPr>
          <a:xfrm>
            <a:off x="7620000" y="49530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1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24621" name="Text Box 45"/>
          <p:cNvSpPr txBox="1"/>
          <p:nvPr/>
        </p:nvSpPr>
        <p:spPr>
          <a:xfrm>
            <a:off x="7543800" y="5410200"/>
            <a:ext cx="5810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K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24626" name="Line 50"/>
          <p:cNvSpPr/>
          <p:nvPr/>
        </p:nvSpPr>
        <p:spPr>
          <a:xfrm>
            <a:off x="6858000" y="4586288"/>
            <a:ext cx="0" cy="4572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4627" name="Text Box 51"/>
          <p:cNvSpPr txBox="1"/>
          <p:nvPr/>
        </p:nvSpPr>
        <p:spPr>
          <a:xfrm>
            <a:off x="6705600" y="4967288"/>
            <a:ext cx="3619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24628" name="Text Box 52"/>
          <p:cNvSpPr txBox="1"/>
          <p:nvPr/>
        </p:nvSpPr>
        <p:spPr>
          <a:xfrm>
            <a:off x="6629400" y="5424488"/>
            <a:ext cx="58102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K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1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24630" name="Line 54"/>
          <p:cNvSpPr/>
          <p:nvPr/>
        </p:nvSpPr>
        <p:spPr>
          <a:xfrm>
            <a:off x="5743575" y="4572000"/>
            <a:ext cx="0" cy="4572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4631" name="Text Box 55"/>
          <p:cNvSpPr txBox="1"/>
          <p:nvPr/>
        </p:nvSpPr>
        <p:spPr>
          <a:xfrm>
            <a:off x="5591175" y="49530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24632" name="Text Box 56"/>
          <p:cNvSpPr txBox="1"/>
          <p:nvPr/>
        </p:nvSpPr>
        <p:spPr>
          <a:xfrm>
            <a:off x="5514975" y="5410200"/>
            <a:ext cx="5810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K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2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24638" name="Line 62"/>
          <p:cNvSpPr/>
          <p:nvPr/>
        </p:nvSpPr>
        <p:spPr>
          <a:xfrm>
            <a:off x="4829175" y="4572000"/>
            <a:ext cx="0" cy="4572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4639" name="Text Box 63"/>
          <p:cNvSpPr txBox="1"/>
          <p:nvPr/>
        </p:nvSpPr>
        <p:spPr>
          <a:xfrm>
            <a:off x="4676775" y="49530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24640" name="Text Box 64"/>
          <p:cNvSpPr txBox="1"/>
          <p:nvPr/>
        </p:nvSpPr>
        <p:spPr>
          <a:xfrm>
            <a:off x="4600575" y="5410200"/>
            <a:ext cx="5810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K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3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24642" name="Line 66"/>
          <p:cNvSpPr/>
          <p:nvPr/>
        </p:nvSpPr>
        <p:spPr>
          <a:xfrm>
            <a:off x="4038600" y="4572000"/>
            <a:ext cx="0" cy="4572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4643" name="Text Box 67"/>
          <p:cNvSpPr txBox="1"/>
          <p:nvPr/>
        </p:nvSpPr>
        <p:spPr>
          <a:xfrm>
            <a:off x="3886200" y="49530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1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24644" name="Text Box 68"/>
          <p:cNvSpPr txBox="1"/>
          <p:nvPr/>
        </p:nvSpPr>
        <p:spPr>
          <a:xfrm>
            <a:off x="3810000" y="5410200"/>
            <a:ext cx="5810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K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4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24646" name="Line 70"/>
          <p:cNvSpPr/>
          <p:nvPr/>
        </p:nvSpPr>
        <p:spPr>
          <a:xfrm>
            <a:off x="3305175" y="4572000"/>
            <a:ext cx="0" cy="4572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4647" name="Text Box 71"/>
          <p:cNvSpPr txBox="1"/>
          <p:nvPr/>
        </p:nvSpPr>
        <p:spPr>
          <a:xfrm>
            <a:off x="3152775" y="49530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24648" name="Text Box 72"/>
          <p:cNvSpPr txBox="1"/>
          <p:nvPr/>
        </p:nvSpPr>
        <p:spPr>
          <a:xfrm>
            <a:off x="3076575" y="5410200"/>
            <a:ext cx="5810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K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5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24650" name="Line 74"/>
          <p:cNvSpPr/>
          <p:nvPr/>
        </p:nvSpPr>
        <p:spPr>
          <a:xfrm>
            <a:off x="2390775" y="4572000"/>
            <a:ext cx="0" cy="4572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4651" name="Text Box 75"/>
          <p:cNvSpPr txBox="1"/>
          <p:nvPr/>
        </p:nvSpPr>
        <p:spPr>
          <a:xfrm>
            <a:off x="2238375" y="49530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1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24652" name="Text Box 76"/>
          <p:cNvSpPr txBox="1"/>
          <p:nvPr/>
        </p:nvSpPr>
        <p:spPr>
          <a:xfrm>
            <a:off x="2162175" y="5410200"/>
            <a:ext cx="5810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K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6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24667" name="Text Box 91"/>
          <p:cNvSpPr txBox="1"/>
          <p:nvPr/>
        </p:nvSpPr>
        <p:spPr>
          <a:xfrm>
            <a:off x="2590800" y="41148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1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pic>
        <p:nvPicPr>
          <p:cNvPr id="42027" name="Picture 93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0960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2028" name="Text Box 94">
            <a:hlinkClick r:id="rId1" action="ppaction://hlinksldjump"/>
          </p:cNvPr>
          <p:cNvSpPr txBox="1"/>
          <p:nvPr/>
        </p:nvSpPr>
        <p:spPr>
          <a:xfrm>
            <a:off x="958850" y="61722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300"/>
                                        <p:tgtEl>
                                          <p:spTgt spid="24579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3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  <p:bldP spid="24580" grpId="0" animBg="1"/>
      <p:bldP spid="24581" grpId="0"/>
      <p:bldP spid="24585" grpId="0"/>
      <p:bldP spid="24586" grpId="0"/>
      <p:bldP spid="24590" grpId="0"/>
      <p:bldP spid="24591" grpId="0"/>
      <p:bldP spid="24592" grpId="0"/>
      <p:bldP spid="24593" grpId="0"/>
      <p:bldP spid="24594" grpId="0"/>
      <p:bldP spid="24596" grpId="0"/>
      <p:bldP spid="24620" grpId="0"/>
      <p:bldP spid="24621" grpId="0"/>
      <p:bldP spid="24627" grpId="0"/>
      <p:bldP spid="24628" grpId="0"/>
      <p:bldP spid="24631" grpId="0"/>
      <p:bldP spid="24632" grpId="0"/>
      <p:bldP spid="24639" grpId="0"/>
      <p:bldP spid="24640" grpId="0"/>
      <p:bldP spid="24643" grpId="0"/>
      <p:bldP spid="24644" grpId="0"/>
      <p:bldP spid="24647" grpId="0"/>
      <p:bldP spid="24648" grpId="0"/>
      <p:bldP spid="24651" grpId="0"/>
      <p:bldP spid="24652" grpId="0"/>
      <p:bldP spid="2466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708" name="Line 84"/>
          <p:cNvSpPr/>
          <p:nvPr/>
        </p:nvSpPr>
        <p:spPr>
          <a:xfrm>
            <a:off x="1447800" y="3352800"/>
            <a:ext cx="5334000" cy="76200"/>
          </a:xfrm>
          <a:prstGeom prst="line">
            <a:avLst/>
          </a:prstGeom>
          <a:ln w="38100" cap="flat" cmpd="sng">
            <a:solidFill>
              <a:srgbClr val="9900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>
          <a:xfrm>
            <a:off x="838200" y="1295400"/>
            <a:ext cx="7772400" cy="50292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/>
              <a:t>小数部分的转换</a:t>
            </a:r>
            <a:endParaRPr lang="zh-CN" altLang="en-US" b="1" dirty="0"/>
          </a:p>
        </p:txBody>
      </p:sp>
      <p:sp>
        <p:nvSpPr>
          <p:cNvPr id="43012" name="Rectangle 4"/>
          <p:cNvSpPr>
            <a:spLocks noGrp="1"/>
          </p:cNvSpPr>
          <p:nvPr>
            <p:ph type="title"/>
          </p:nvPr>
        </p:nvSpPr>
        <p:spPr>
          <a:xfrm>
            <a:off x="1143000" y="381000"/>
            <a:ext cx="6934200" cy="762000"/>
          </a:xfrm>
          <a:gradFill rotWithShape="0">
            <a:gsLst>
              <a:gs pos="0">
                <a:srgbClr val="767676"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767676">
                  <a:alpha val="100000"/>
                </a:srgbClr>
              </a:gs>
            </a:gsLst>
            <a:lin ang="5400000" scaled="1"/>
            <a:tileRect/>
          </a:gradFill>
          <a:ln/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vert="horz" wrap="square" lIns="91440" tIns="45720" rIns="91440" bIns="45720" anchor="ctr" anchorCtr="0">
            <a:flatTx/>
          </a:bodyPr>
          <a:p>
            <a:pPr eaLnBrk="1" hangingPunct="1"/>
            <a:r>
              <a:rPr lang="zh-CN" altLang="en-US" sz="4000" b="1" dirty="0">
                <a:solidFill>
                  <a:srgbClr val="990033"/>
                </a:solidFill>
                <a:ea typeface="隶书" panose="02010509060101010101" pitchFamily="49" charset="-122"/>
              </a:rPr>
              <a:t>十进制转换成二进制</a:t>
            </a:r>
            <a:endParaRPr lang="zh-CN" altLang="en-US" sz="4000" b="1" dirty="0">
              <a:solidFill>
                <a:srgbClr val="990033"/>
              </a:solidFill>
              <a:ea typeface="隶书" panose="02010509060101010101" pitchFamily="49" charset="-122"/>
            </a:endParaRPr>
          </a:p>
        </p:txBody>
      </p:sp>
      <p:sp>
        <p:nvSpPr>
          <p:cNvPr id="26629" name="Text Box 5"/>
          <p:cNvSpPr txBox="1"/>
          <p:nvPr/>
        </p:nvSpPr>
        <p:spPr>
          <a:xfrm>
            <a:off x="1295400" y="1828800"/>
            <a:ext cx="7620000" cy="1979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乘基取整法</a:t>
            </a:r>
            <a:r>
              <a:rPr lang="zh-CN" altLang="en-US" sz="2400" dirty="0">
                <a:latin typeface="宋体" panose="02010600030101010101" pitchFamily="2" charset="-122"/>
              </a:rPr>
              <a:t>：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小数</a:t>
            </a:r>
            <a:r>
              <a:rPr lang="zh-CN" altLang="en-US" sz="2400" b="1" dirty="0">
                <a:latin typeface="宋体" panose="02010600030101010101" pitchFamily="2" charset="-122"/>
              </a:rPr>
              <a:t>乘以目标数制的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基数</a:t>
            </a: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</a:rPr>
              <a:t>R=2</a:t>
            </a:r>
            <a:r>
              <a:rPr lang="zh-CN" altLang="en-US" sz="2400" b="1" dirty="0">
                <a:latin typeface="宋体" panose="02010600030101010101" pitchFamily="2" charset="-122"/>
              </a:rPr>
              <a:t>），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第一次</a:t>
            </a:r>
            <a:r>
              <a:rPr lang="zh-CN" altLang="en-US" sz="2400" b="1" dirty="0">
                <a:latin typeface="宋体" panose="02010600030101010101" pitchFamily="2" charset="-122"/>
              </a:rPr>
              <a:t>相乘结果的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整数</a:t>
            </a:r>
            <a:r>
              <a:rPr lang="zh-CN" altLang="en-US" sz="2400" b="1" dirty="0">
                <a:latin typeface="宋体" panose="02010600030101010101" pitchFamily="2" charset="-122"/>
              </a:rPr>
              <a:t>部分为目的数的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最高位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K</a:t>
            </a:r>
            <a:r>
              <a:rPr lang="en-US" altLang="zh-CN" sz="2400" b="1" baseline="-25000" dirty="0">
                <a:solidFill>
                  <a:srgbClr val="FF0000"/>
                </a:solidFill>
                <a:latin typeface="宋体" panose="02010600030101010101" pitchFamily="2" charset="-122"/>
              </a:rPr>
              <a:t>-1</a:t>
            </a:r>
            <a:r>
              <a:rPr lang="zh-CN" altLang="en-US" sz="2400" b="1" dirty="0">
                <a:latin typeface="宋体" panose="02010600030101010101" pitchFamily="2" charset="-122"/>
              </a:rPr>
              <a:t>，将其小数部分再乘基数依次记下整数部分，反复进行下去，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直到小数部分为</a:t>
            </a:r>
            <a:r>
              <a:rPr lang="zh-CN" altLang="en-US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“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”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sz="2400" b="1" dirty="0">
                <a:latin typeface="宋体" panose="02010600030101010101" pitchFamily="2" charset="-122"/>
              </a:rPr>
              <a:t>或满足要求的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精度</a:t>
            </a:r>
            <a:r>
              <a:rPr lang="zh-CN" altLang="en-US" sz="2400" b="1" dirty="0">
                <a:latin typeface="宋体" panose="02010600030101010101" pitchFamily="2" charset="-122"/>
              </a:rPr>
              <a:t>为止（即根据设备字长限制，取有限位的近似值）。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26631" name="Text Box 7"/>
          <p:cNvSpPr txBox="1"/>
          <p:nvPr/>
        </p:nvSpPr>
        <p:spPr>
          <a:xfrm>
            <a:off x="762000" y="4114800"/>
            <a:ext cx="72390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zh-CN" altLang="en-US" sz="2400" dirty="0"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</a:rPr>
              <a:t>0.65</a:t>
            </a:r>
            <a:r>
              <a:rPr lang="zh-CN" altLang="en-US" sz="2400" b="1" dirty="0">
                <a:latin typeface="宋体" panose="02010600030101010101" pitchFamily="2" charset="-122"/>
              </a:rPr>
              <a:t>）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10</a:t>
            </a:r>
            <a:r>
              <a:rPr lang="en-US" altLang="zh-CN" sz="2400" b="1" dirty="0">
                <a:latin typeface="宋体" panose="02010600030101010101" pitchFamily="2" charset="-122"/>
              </a:rPr>
              <a:t> =(  ?  )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</a:rPr>
              <a:t>要求精度为小数五位。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26632" name="AutoShape 8"/>
          <p:cNvSpPr/>
          <p:nvPr/>
        </p:nvSpPr>
        <p:spPr>
          <a:xfrm>
            <a:off x="304800" y="762000"/>
            <a:ext cx="8534400" cy="2667000"/>
          </a:xfrm>
          <a:prstGeom prst="wedgeRoundRectCallout">
            <a:avLst>
              <a:gd name="adj1" fmla="val -37630"/>
              <a:gd name="adj2" fmla="val 80120"/>
              <a:gd name="adj3" fmla="val 16667"/>
            </a:avLst>
          </a:prstGeom>
          <a:solidFill>
            <a:srgbClr val="FFCCCC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4400" dirty="0">
              <a:solidFill>
                <a:schemeClr val="tx2"/>
              </a:solidFill>
            </a:endParaRPr>
          </a:p>
        </p:txBody>
      </p:sp>
      <p:sp>
        <p:nvSpPr>
          <p:cNvPr id="26635" name="Text Box 11"/>
          <p:cNvSpPr txBox="1"/>
          <p:nvPr/>
        </p:nvSpPr>
        <p:spPr>
          <a:xfrm>
            <a:off x="388938" y="990600"/>
            <a:ext cx="806450" cy="519113"/>
          </a:xfrm>
          <a:prstGeom prst="rect">
            <a:avLst/>
          </a:prstGeom>
          <a:solidFill>
            <a:srgbClr val="FFCCCC"/>
          </a:solidFill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0.65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grpSp>
        <p:nvGrpSpPr>
          <p:cNvPr id="2" name="Group 72"/>
          <p:cNvGrpSpPr/>
          <p:nvPr/>
        </p:nvGrpSpPr>
        <p:grpSpPr>
          <a:xfrm>
            <a:off x="1127125" y="838200"/>
            <a:ext cx="646113" cy="457200"/>
            <a:chOff x="710" y="528"/>
            <a:chExt cx="407" cy="288"/>
          </a:xfrm>
        </p:grpSpPr>
        <p:sp>
          <p:nvSpPr>
            <p:cNvPr id="43065" name="Line 13"/>
            <p:cNvSpPr/>
            <p:nvPr/>
          </p:nvSpPr>
          <p:spPr>
            <a:xfrm>
              <a:off x="710" y="816"/>
              <a:ext cx="407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66" name="Text Box 14"/>
            <p:cNvSpPr txBox="1"/>
            <p:nvPr/>
          </p:nvSpPr>
          <p:spPr>
            <a:xfrm>
              <a:off x="710" y="528"/>
              <a:ext cx="371" cy="288"/>
            </a:xfrm>
            <a:prstGeom prst="rect">
              <a:avLst/>
            </a:prstGeom>
            <a:solidFill>
              <a:srgbClr val="FFCCCC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2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sp>
        <p:nvSpPr>
          <p:cNvPr id="26641" name="Text Box 17"/>
          <p:cNvSpPr txBox="1"/>
          <p:nvPr/>
        </p:nvSpPr>
        <p:spPr>
          <a:xfrm>
            <a:off x="990600" y="2667000"/>
            <a:ext cx="661988" cy="519113"/>
          </a:xfrm>
          <a:prstGeom prst="rect">
            <a:avLst/>
          </a:prstGeom>
          <a:solidFill>
            <a:srgbClr val="FFCCCC"/>
          </a:solidFill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K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-1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grpSp>
        <p:nvGrpSpPr>
          <p:cNvPr id="3" name="Group 73"/>
          <p:cNvGrpSpPr/>
          <p:nvPr/>
        </p:nvGrpSpPr>
        <p:grpSpPr>
          <a:xfrm>
            <a:off x="1143000" y="1524000"/>
            <a:ext cx="434975" cy="1204913"/>
            <a:chOff x="720" y="960"/>
            <a:chExt cx="274" cy="759"/>
          </a:xfrm>
        </p:grpSpPr>
        <p:sp>
          <p:nvSpPr>
            <p:cNvPr id="43063" name="Line 16"/>
            <p:cNvSpPr/>
            <p:nvPr/>
          </p:nvSpPr>
          <p:spPr>
            <a:xfrm>
              <a:off x="863" y="960"/>
              <a:ext cx="0" cy="432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64" name="Text Box 18"/>
            <p:cNvSpPr txBox="1"/>
            <p:nvPr/>
          </p:nvSpPr>
          <p:spPr>
            <a:xfrm>
              <a:off x="720" y="1392"/>
              <a:ext cx="274" cy="327"/>
            </a:xfrm>
            <a:prstGeom prst="rect">
              <a:avLst/>
            </a:prstGeom>
            <a:solidFill>
              <a:srgbClr val="FFCCCC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sp>
        <p:nvSpPr>
          <p:cNvPr id="26647" name="Text Box 23"/>
          <p:cNvSpPr txBox="1"/>
          <p:nvPr/>
        </p:nvSpPr>
        <p:spPr>
          <a:xfrm>
            <a:off x="1831975" y="990600"/>
            <a:ext cx="628650" cy="519113"/>
          </a:xfrm>
          <a:prstGeom prst="rect">
            <a:avLst/>
          </a:prstGeom>
          <a:solidFill>
            <a:srgbClr val="FFCCCC"/>
          </a:solidFill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0.3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grpSp>
        <p:nvGrpSpPr>
          <p:cNvPr id="4" name="Group 25"/>
          <p:cNvGrpSpPr/>
          <p:nvPr/>
        </p:nvGrpSpPr>
        <p:grpSpPr>
          <a:xfrm>
            <a:off x="2633663" y="838200"/>
            <a:ext cx="642937" cy="457200"/>
            <a:chOff x="2352" y="4032"/>
            <a:chExt cx="384" cy="288"/>
          </a:xfrm>
        </p:grpSpPr>
        <p:sp>
          <p:nvSpPr>
            <p:cNvPr id="43061" name="Line 26"/>
            <p:cNvSpPr/>
            <p:nvPr/>
          </p:nvSpPr>
          <p:spPr>
            <a:xfrm>
              <a:off x="2352" y="4320"/>
              <a:ext cx="384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62" name="Text Box 27"/>
            <p:cNvSpPr txBox="1"/>
            <p:nvPr/>
          </p:nvSpPr>
          <p:spPr>
            <a:xfrm>
              <a:off x="2352" y="4032"/>
              <a:ext cx="350" cy="288"/>
            </a:xfrm>
            <a:prstGeom prst="rect">
              <a:avLst/>
            </a:prstGeom>
            <a:solidFill>
              <a:srgbClr val="FFCCCC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2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sp>
        <p:nvSpPr>
          <p:cNvPr id="26653" name="Text Box 29"/>
          <p:cNvSpPr txBox="1"/>
          <p:nvPr/>
        </p:nvSpPr>
        <p:spPr>
          <a:xfrm>
            <a:off x="2590800" y="2667000"/>
            <a:ext cx="661988" cy="519113"/>
          </a:xfrm>
          <a:prstGeom prst="rect">
            <a:avLst/>
          </a:prstGeom>
          <a:solidFill>
            <a:srgbClr val="FFCCCC"/>
          </a:solidFill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K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-2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grpSp>
        <p:nvGrpSpPr>
          <p:cNvPr id="5" name="Group 74"/>
          <p:cNvGrpSpPr/>
          <p:nvPr/>
        </p:nvGrpSpPr>
        <p:grpSpPr>
          <a:xfrm>
            <a:off x="2667000" y="1524000"/>
            <a:ext cx="430213" cy="1204913"/>
            <a:chOff x="1680" y="960"/>
            <a:chExt cx="271" cy="759"/>
          </a:xfrm>
        </p:grpSpPr>
        <p:sp>
          <p:nvSpPr>
            <p:cNvPr id="43059" name="Line 28"/>
            <p:cNvSpPr/>
            <p:nvPr/>
          </p:nvSpPr>
          <p:spPr>
            <a:xfrm>
              <a:off x="1809" y="960"/>
              <a:ext cx="1" cy="432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60" name="Text Box 30"/>
            <p:cNvSpPr txBox="1"/>
            <p:nvPr/>
          </p:nvSpPr>
          <p:spPr>
            <a:xfrm>
              <a:off x="1680" y="1392"/>
              <a:ext cx="271" cy="327"/>
            </a:xfrm>
            <a:prstGeom prst="rect">
              <a:avLst/>
            </a:prstGeom>
            <a:solidFill>
              <a:srgbClr val="FFCCCC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sp>
        <p:nvSpPr>
          <p:cNvPr id="26656" name="Text Box 32"/>
          <p:cNvSpPr txBox="1"/>
          <p:nvPr/>
        </p:nvSpPr>
        <p:spPr>
          <a:xfrm>
            <a:off x="3416300" y="990600"/>
            <a:ext cx="628650" cy="519113"/>
          </a:xfrm>
          <a:prstGeom prst="rect">
            <a:avLst/>
          </a:prstGeom>
          <a:solidFill>
            <a:srgbClr val="FFCCCC"/>
          </a:solidFill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0.6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grpSp>
        <p:nvGrpSpPr>
          <p:cNvPr id="6" name="Group 34"/>
          <p:cNvGrpSpPr/>
          <p:nvPr/>
        </p:nvGrpSpPr>
        <p:grpSpPr>
          <a:xfrm>
            <a:off x="4252913" y="838200"/>
            <a:ext cx="644525" cy="457200"/>
            <a:chOff x="2352" y="4032"/>
            <a:chExt cx="384" cy="288"/>
          </a:xfrm>
        </p:grpSpPr>
        <p:sp>
          <p:nvSpPr>
            <p:cNvPr id="43057" name="Line 35"/>
            <p:cNvSpPr/>
            <p:nvPr/>
          </p:nvSpPr>
          <p:spPr>
            <a:xfrm>
              <a:off x="2352" y="4320"/>
              <a:ext cx="384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58" name="Text Box 36"/>
            <p:cNvSpPr txBox="1"/>
            <p:nvPr/>
          </p:nvSpPr>
          <p:spPr>
            <a:xfrm>
              <a:off x="2352" y="4032"/>
              <a:ext cx="350" cy="288"/>
            </a:xfrm>
            <a:prstGeom prst="rect">
              <a:avLst/>
            </a:prstGeom>
            <a:solidFill>
              <a:srgbClr val="FFCCCC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2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sp>
        <p:nvSpPr>
          <p:cNvPr id="26662" name="Text Box 38"/>
          <p:cNvSpPr txBox="1"/>
          <p:nvPr/>
        </p:nvSpPr>
        <p:spPr>
          <a:xfrm>
            <a:off x="4191000" y="2667000"/>
            <a:ext cx="661988" cy="519113"/>
          </a:xfrm>
          <a:prstGeom prst="rect">
            <a:avLst/>
          </a:prstGeom>
          <a:solidFill>
            <a:srgbClr val="FFCCCC"/>
          </a:solidFill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K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-3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grpSp>
        <p:nvGrpSpPr>
          <p:cNvPr id="7" name="Group 75"/>
          <p:cNvGrpSpPr/>
          <p:nvPr/>
        </p:nvGrpSpPr>
        <p:grpSpPr>
          <a:xfrm>
            <a:off x="4267200" y="1524000"/>
            <a:ext cx="433388" cy="1204913"/>
            <a:chOff x="2688" y="960"/>
            <a:chExt cx="273" cy="759"/>
          </a:xfrm>
        </p:grpSpPr>
        <p:sp>
          <p:nvSpPr>
            <p:cNvPr id="43055" name="Line 37"/>
            <p:cNvSpPr/>
            <p:nvPr/>
          </p:nvSpPr>
          <p:spPr>
            <a:xfrm>
              <a:off x="2831" y="960"/>
              <a:ext cx="0" cy="432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56" name="Text Box 39"/>
            <p:cNvSpPr txBox="1"/>
            <p:nvPr/>
          </p:nvSpPr>
          <p:spPr>
            <a:xfrm>
              <a:off x="2688" y="1392"/>
              <a:ext cx="273" cy="327"/>
            </a:xfrm>
            <a:prstGeom prst="rect">
              <a:avLst/>
            </a:prstGeom>
            <a:solidFill>
              <a:srgbClr val="FFCCCC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sp>
        <p:nvSpPr>
          <p:cNvPr id="26665" name="Text Box 41"/>
          <p:cNvSpPr txBox="1"/>
          <p:nvPr/>
        </p:nvSpPr>
        <p:spPr>
          <a:xfrm>
            <a:off x="4849813" y="990600"/>
            <a:ext cx="628650" cy="519113"/>
          </a:xfrm>
          <a:prstGeom prst="rect">
            <a:avLst/>
          </a:prstGeom>
          <a:solidFill>
            <a:srgbClr val="FFCCCC"/>
          </a:solidFill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0.2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grpSp>
        <p:nvGrpSpPr>
          <p:cNvPr id="8" name="Group 43"/>
          <p:cNvGrpSpPr/>
          <p:nvPr/>
        </p:nvGrpSpPr>
        <p:grpSpPr>
          <a:xfrm>
            <a:off x="5654675" y="838200"/>
            <a:ext cx="646113" cy="457200"/>
            <a:chOff x="2352" y="4032"/>
            <a:chExt cx="384" cy="288"/>
          </a:xfrm>
        </p:grpSpPr>
        <p:sp>
          <p:nvSpPr>
            <p:cNvPr id="43053" name="Line 44"/>
            <p:cNvSpPr/>
            <p:nvPr/>
          </p:nvSpPr>
          <p:spPr>
            <a:xfrm>
              <a:off x="2352" y="4320"/>
              <a:ext cx="384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54" name="Text Box 45"/>
            <p:cNvSpPr txBox="1"/>
            <p:nvPr/>
          </p:nvSpPr>
          <p:spPr>
            <a:xfrm>
              <a:off x="2352" y="4032"/>
              <a:ext cx="350" cy="288"/>
            </a:xfrm>
            <a:prstGeom prst="rect">
              <a:avLst/>
            </a:prstGeom>
            <a:solidFill>
              <a:srgbClr val="FFCCCC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2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sp>
        <p:nvSpPr>
          <p:cNvPr id="26671" name="Text Box 47"/>
          <p:cNvSpPr txBox="1"/>
          <p:nvPr/>
        </p:nvSpPr>
        <p:spPr>
          <a:xfrm>
            <a:off x="5638800" y="2667000"/>
            <a:ext cx="661988" cy="519113"/>
          </a:xfrm>
          <a:prstGeom prst="rect">
            <a:avLst/>
          </a:prstGeom>
          <a:solidFill>
            <a:srgbClr val="FFCCCC"/>
          </a:solidFill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K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-4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grpSp>
        <p:nvGrpSpPr>
          <p:cNvPr id="9" name="Group 76"/>
          <p:cNvGrpSpPr/>
          <p:nvPr/>
        </p:nvGrpSpPr>
        <p:grpSpPr>
          <a:xfrm>
            <a:off x="5715000" y="1524000"/>
            <a:ext cx="433388" cy="1281113"/>
            <a:chOff x="3600" y="960"/>
            <a:chExt cx="273" cy="807"/>
          </a:xfrm>
        </p:grpSpPr>
        <p:sp>
          <p:nvSpPr>
            <p:cNvPr id="43051" name="Line 46"/>
            <p:cNvSpPr/>
            <p:nvPr/>
          </p:nvSpPr>
          <p:spPr>
            <a:xfrm>
              <a:off x="3715" y="960"/>
              <a:ext cx="0" cy="432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52" name="Text Box 48"/>
            <p:cNvSpPr txBox="1"/>
            <p:nvPr/>
          </p:nvSpPr>
          <p:spPr>
            <a:xfrm>
              <a:off x="3600" y="1440"/>
              <a:ext cx="273" cy="327"/>
            </a:xfrm>
            <a:prstGeom prst="rect">
              <a:avLst/>
            </a:prstGeom>
            <a:solidFill>
              <a:srgbClr val="FFCCCC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sp>
        <p:nvSpPr>
          <p:cNvPr id="26674" name="Text Box 50"/>
          <p:cNvSpPr txBox="1"/>
          <p:nvPr/>
        </p:nvSpPr>
        <p:spPr>
          <a:xfrm>
            <a:off x="6359525" y="990600"/>
            <a:ext cx="628650" cy="519113"/>
          </a:xfrm>
          <a:prstGeom prst="rect">
            <a:avLst/>
          </a:prstGeom>
          <a:solidFill>
            <a:srgbClr val="FFCCCC"/>
          </a:solidFill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0.4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grpSp>
        <p:nvGrpSpPr>
          <p:cNvPr id="10" name="Group 52"/>
          <p:cNvGrpSpPr/>
          <p:nvPr/>
        </p:nvGrpSpPr>
        <p:grpSpPr>
          <a:xfrm>
            <a:off x="7164388" y="838200"/>
            <a:ext cx="644525" cy="457200"/>
            <a:chOff x="2352" y="4032"/>
            <a:chExt cx="384" cy="288"/>
          </a:xfrm>
        </p:grpSpPr>
        <p:sp>
          <p:nvSpPr>
            <p:cNvPr id="43049" name="Line 53"/>
            <p:cNvSpPr/>
            <p:nvPr/>
          </p:nvSpPr>
          <p:spPr>
            <a:xfrm>
              <a:off x="2352" y="4320"/>
              <a:ext cx="384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50" name="Text Box 54"/>
            <p:cNvSpPr txBox="1"/>
            <p:nvPr/>
          </p:nvSpPr>
          <p:spPr>
            <a:xfrm>
              <a:off x="2352" y="4032"/>
              <a:ext cx="350" cy="288"/>
            </a:xfrm>
            <a:prstGeom prst="rect">
              <a:avLst/>
            </a:prstGeom>
            <a:solidFill>
              <a:srgbClr val="FFCCCC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2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sp>
        <p:nvSpPr>
          <p:cNvPr id="26680" name="Text Box 56"/>
          <p:cNvSpPr txBox="1"/>
          <p:nvPr/>
        </p:nvSpPr>
        <p:spPr>
          <a:xfrm>
            <a:off x="7162800" y="2667000"/>
            <a:ext cx="661988" cy="519113"/>
          </a:xfrm>
          <a:prstGeom prst="rect">
            <a:avLst/>
          </a:prstGeom>
          <a:solidFill>
            <a:srgbClr val="FFCCCC"/>
          </a:solidFill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K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-5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grpSp>
        <p:nvGrpSpPr>
          <p:cNvPr id="11" name="Group 77"/>
          <p:cNvGrpSpPr/>
          <p:nvPr/>
        </p:nvGrpSpPr>
        <p:grpSpPr>
          <a:xfrm>
            <a:off x="7239000" y="1524000"/>
            <a:ext cx="433388" cy="1204913"/>
            <a:chOff x="4560" y="960"/>
            <a:chExt cx="273" cy="759"/>
          </a:xfrm>
        </p:grpSpPr>
        <p:sp>
          <p:nvSpPr>
            <p:cNvPr id="43047" name="Line 55"/>
            <p:cNvSpPr/>
            <p:nvPr/>
          </p:nvSpPr>
          <p:spPr>
            <a:xfrm>
              <a:off x="4665" y="960"/>
              <a:ext cx="0" cy="432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48" name="Text Box 57"/>
            <p:cNvSpPr txBox="1"/>
            <p:nvPr/>
          </p:nvSpPr>
          <p:spPr>
            <a:xfrm>
              <a:off x="4560" y="1392"/>
              <a:ext cx="273" cy="327"/>
            </a:xfrm>
            <a:prstGeom prst="rect">
              <a:avLst/>
            </a:prstGeom>
            <a:solidFill>
              <a:srgbClr val="FFCCCC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sp>
        <p:nvSpPr>
          <p:cNvPr id="26691" name="Text Box 67"/>
          <p:cNvSpPr txBox="1"/>
          <p:nvPr/>
        </p:nvSpPr>
        <p:spPr>
          <a:xfrm>
            <a:off x="7847013" y="1035050"/>
            <a:ext cx="628650" cy="519113"/>
          </a:xfrm>
          <a:prstGeom prst="rect">
            <a:avLst/>
          </a:prstGeom>
          <a:solidFill>
            <a:srgbClr val="FFCCCC"/>
          </a:solidFill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0.8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26702" name="Text Box 78"/>
          <p:cNvSpPr txBox="1"/>
          <p:nvPr/>
        </p:nvSpPr>
        <p:spPr>
          <a:xfrm>
            <a:off x="1905000" y="4724400"/>
            <a:ext cx="44386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由此得：</a:t>
            </a:r>
            <a:r>
              <a:rPr lang="en-US" altLang="zh-CN" sz="2800" b="1" dirty="0">
                <a:solidFill>
                  <a:schemeClr val="tx2"/>
                </a:solidFill>
              </a:rPr>
              <a:t>(0.65)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10</a:t>
            </a:r>
            <a:r>
              <a:rPr lang="en-US" altLang="zh-CN" sz="2800" b="1" dirty="0">
                <a:solidFill>
                  <a:schemeClr val="tx2"/>
                </a:solidFill>
              </a:rPr>
              <a:t>=(0.10100)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2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26703" name="Text Box 79"/>
          <p:cNvSpPr txBox="1"/>
          <p:nvPr/>
        </p:nvSpPr>
        <p:spPr>
          <a:xfrm>
            <a:off x="1905000" y="5334000"/>
            <a:ext cx="56832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综合得：</a:t>
            </a:r>
            <a:r>
              <a:rPr lang="en-US" altLang="zh-CN" sz="2800" b="1" dirty="0">
                <a:solidFill>
                  <a:schemeClr val="tx2"/>
                </a:solidFill>
              </a:rPr>
              <a:t>(81.65)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10</a:t>
            </a:r>
            <a:r>
              <a:rPr lang="en-US" altLang="zh-CN" sz="2800" b="1" dirty="0">
                <a:solidFill>
                  <a:schemeClr val="tx2"/>
                </a:solidFill>
              </a:rPr>
              <a:t>=(1010001.10100)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2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pic>
        <p:nvPicPr>
          <p:cNvPr id="43039" name="Picture 82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60198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040" name="Text Box 83">
            <a:hlinkClick r:id="rId1" action="ppaction://hlinksldjump"/>
          </p:cNvPr>
          <p:cNvSpPr txBox="1"/>
          <p:nvPr/>
        </p:nvSpPr>
        <p:spPr>
          <a:xfrm>
            <a:off x="7588250" y="60960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  <p:sp>
        <p:nvSpPr>
          <p:cNvPr id="26709" name="AutoShape 85"/>
          <p:cNvSpPr/>
          <p:nvPr/>
        </p:nvSpPr>
        <p:spPr>
          <a:xfrm>
            <a:off x="6553200" y="3657600"/>
            <a:ext cx="2590800" cy="990600"/>
          </a:xfrm>
          <a:prstGeom prst="wedgeRoundRectCallout">
            <a:avLst>
              <a:gd name="adj1" fmla="val -67278"/>
              <a:gd name="adj2" fmla="val -70352"/>
              <a:gd name="adj3" fmla="val 16667"/>
            </a:avLst>
          </a:prstGeom>
          <a:solidFill>
            <a:srgbClr val="FFCC00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如</a:t>
            </a:r>
            <a:r>
              <a:rPr lang="en-US" altLang="zh-CN" sz="2400" b="1" dirty="0">
                <a:solidFill>
                  <a:schemeClr val="tx2"/>
                </a:solidFill>
              </a:rPr>
              <a:t>2</a:t>
            </a:r>
            <a:r>
              <a:rPr lang="en-US" altLang="zh-CN" sz="2400" b="1" baseline="30000" dirty="0">
                <a:solidFill>
                  <a:schemeClr val="tx2"/>
                </a:solidFill>
              </a:rPr>
              <a:t>-5</a:t>
            </a:r>
            <a:r>
              <a:rPr lang="zh-CN" altLang="en-US" sz="2400" b="1" baseline="30000" dirty="0">
                <a:solidFill>
                  <a:schemeClr val="tx2"/>
                </a:solidFill>
              </a:rPr>
              <a:t>，</a:t>
            </a:r>
            <a:r>
              <a:rPr lang="zh-CN" altLang="en-US" sz="2400" b="1" dirty="0">
                <a:solidFill>
                  <a:schemeClr val="tx2"/>
                </a:solidFill>
              </a:rPr>
              <a:t>只要求到小</a:t>
            </a:r>
            <a:endParaRPr lang="zh-CN" altLang="en-US" sz="2400" b="1" dirty="0">
              <a:solidFill>
                <a:schemeClr val="tx2"/>
              </a:solidFill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数点后第五位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26710" name="Text Box 86" descr="75%"/>
          <p:cNvSpPr txBox="1"/>
          <p:nvPr/>
        </p:nvSpPr>
        <p:spPr>
          <a:xfrm>
            <a:off x="762000" y="6019800"/>
            <a:ext cx="1089025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CC0000"/>
                </a:solidFill>
              </a:rPr>
              <a:t>十进制</a:t>
            </a:r>
            <a:endParaRPr lang="zh-CN" altLang="en-US" sz="2400" b="1" dirty="0">
              <a:solidFill>
                <a:srgbClr val="CC0000"/>
              </a:solidFill>
            </a:endParaRPr>
          </a:p>
        </p:txBody>
      </p:sp>
      <p:sp>
        <p:nvSpPr>
          <p:cNvPr id="26711" name="Line 87"/>
          <p:cNvSpPr/>
          <p:nvPr/>
        </p:nvSpPr>
        <p:spPr>
          <a:xfrm>
            <a:off x="1905000" y="6248400"/>
            <a:ext cx="609600" cy="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26712" name="Text Box 88" descr="75%"/>
          <p:cNvSpPr txBox="1"/>
          <p:nvPr/>
        </p:nvSpPr>
        <p:spPr>
          <a:xfrm>
            <a:off x="2590800" y="6019800"/>
            <a:ext cx="1089025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CC0000"/>
                </a:solidFill>
              </a:rPr>
              <a:t>二进制</a:t>
            </a:r>
            <a:endParaRPr lang="zh-CN" altLang="en-US" sz="2400" b="1" dirty="0">
              <a:solidFill>
                <a:srgbClr val="CC0000"/>
              </a:solidFill>
            </a:endParaRPr>
          </a:p>
        </p:txBody>
      </p:sp>
      <p:sp>
        <p:nvSpPr>
          <p:cNvPr id="26713" name="Line 89"/>
          <p:cNvSpPr/>
          <p:nvPr/>
        </p:nvSpPr>
        <p:spPr>
          <a:xfrm>
            <a:off x="3733800" y="6248400"/>
            <a:ext cx="609600" cy="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26715" name="Text Box 91" descr="75%"/>
          <p:cNvSpPr txBox="1"/>
          <p:nvPr/>
        </p:nvSpPr>
        <p:spPr>
          <a:xfrm>
            <a:off x="4419600" y="6019800"/>
            <a:ext cx="261620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CC0000"/>
                </a:solidFill>
              </a:rPr>
              <a:t>八进制、十六进制</a:t>
            </a:r>
            <a:endParaRPr lang="zh-CN" altLang="en-US" sz="2400" b="1" dirty="0">
              <a:solidFill>
                <a:srgbClr val="CC00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300"/>
                                        <p:tgtEl>
                                          <p:spTgt spid="26627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300"/>
                                        <p:tgtEl>
                                          <p:spTgt spid="26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300"/>
                                        <p:tgtEl>
                                          <p:spTgt spid="26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6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6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26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6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26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  <p:bldP spid="26629" grpId="0"/>
      <p:bldP spid="26631" grpId="0"/>
      <p:bldP spid="26632" grpId="0" animBg="1"/>
      <p:bldP spid="26635" grpId="0" animBg="1"/>
      <p:bldP spid="26641" grpId="0" animBg="1"/>
      <p:bldP spid="26647" grpId="0" animBg="1"/>
      <p:bldP spid="26653" grpId="0" animBg="1"/>
      <p:bldP spid="26656" grpId="0" animBg="1"/>
      <p:bldP spid="26662" grpId="0" animBg="1"/>
      <p:bldP spid="26665" grpId="0" animBg="1"/>
      <p:bldP spid="26671" grpId="0" animBg="1"/>
      <p:bldP spid="26674" grpId="0" animBg="1"/>
      <p:bldP spid="26680" grpId="0" animBg="1"/>
      <p:bldP spid="26691" grpId="0" animBg="1"/>
      <p:bldP spid="26702" grpId="0"/>
      <p:bldP spid="26703" grpId="0"/>
      <p:bldP spid="26709" grpId="0" animBg="1"/>
      <p:bldP spid="26710" grpId="0"/>
      <p:bldP spid="26712" grpId="0"/>
      <p:bldP spid="267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xfrm>
            <a:off x="1828800" y="457200"/>
            <a:ext cx="5715000" cy="685800"/>
          </a:xfrm>
          <a:gradFill rotWithShape="0">
            <a:gsLst>
              <a:gs pos="0">
                <a:srgbClr val="767676"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767676">
                  <a:alpha val="100000"/>
                </a:srgbClr>
              </a:gs>
            </a:gsLst>
            <a:lin ang="5400000" scaled="1"/>
            <a:tileRect/>
          </a:gradFill>
          <a:ln/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vert="horz" wrap="square" lIns="91440" tIns="45720" rIns="91440" bIns="45720" anchor="ctr" anchorCtr="0">
            <a:flatTx/>
          </a:bodyPr>
          <a:p>
            <a:pPr eaLnBrk="1" hangingPunct="1"/>
            <a:r>
              <a:rPr lang="zh-CN" altLang="en-US" b="1" dirty="0">
                <a:solidFill>
                  <a:srgbClr val="990033"/>
                </a:solidFill>
                <a:ea typeface="隶书" panose="02010509060101010101" pitchFamily="49" charset="-122"/>
              </a:rPr>
              <a:t>非十进制转成十进制</a:t>
            </a:r>
            <a:endParaRPr lang="zh-CN" altLang="en-US" b="1" dirty="0">
              <a:solidFill>
                <a:srgbClr val="990033"/>
              </a:solidFill>
              <a:ea typeface="隶书" panose="02010509060101010101" pitchFamily="49" charset="-122"/>
            </a:endParaRPr>
          </a:p>
        </p:txBody>
      </p:sp>
      <p:sp>
        <p:nvSpPr>
          <p:cNvPr id="28682" name="Text Box 10"/>
          <p:cNvSpPr txBox="1"/>
          <p:nvPr/>
        </p:nvSpPr>
        <p:spPr>
          <a:xfrm>
            <a:off x="909638" y="1431925"/>
            <a:ext cx="1565275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tx2"/>
                </a:solidFill>
                <a:ea typeface="幼圆" panose="02010509060101010101" pitchFamily="49" charset="-122"/>
              </a:rPr>
              <a:t>方法</a:t>
            </a:r>
            <a:r>
              <a:rPr lang="zh-CN" altLang="en-US" sz="3600" b="1" dirty="0">
                <a:solidFill>
                  <a:schemeClr val="tx2"/>
                </a:solidFill>
              </a:rPr>
              <a:t>：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grpSp>
        <p:nvGrpSpPr>
          <p:cNvPr id="2" name="Group 23"/>
          <p:cNvGrpSpPr/>
          <p:nvPr/>
        </p:nvGrpSpPr>
        <p:grpSpPr>
          <a:xfrm>
            <a:off x="2514600" y="1600200"/>
            <a:ext cx="5486400" cy="1143000"/>
            <a:chOff x="1584" y="1008"/>
            <a:chExt cx="3600" cy="720"/>
          </a:xfrm>
        </p:grpSpPr>
        <p:sp>
          <p:nvSpPr>
            <p:cNvPr id="44043" name="AutoShape 12"/>
            <p:cNvSpPr/>
            <p:nvPr/>
          </p:nvSpPr>
          <p:spPr>
            <a:xfrm>
              <a:off x="1584" y="1008"/>
              <a:ext cx="3600" cy="720"/>
            </a:xfrm>
            <a:prstGeom prst="wedgeRectCallout">
              <a:avLst>
                <a:gd name="adj1" fmla="val -57083"/>
                <a:gd name="adj2" fmla="val -27639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44044" name="Rectangle 13"/>
            <p:cNvSpPr/>
            <p:nvPr/>
          </p:nvSpPr>
          <p:spPr>
            <a:xfrm>
              <a:off x="1680" y="1018"/>
              <a:ext cx="3408" cy="672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50000"/>
                </a:spcBef>
                <a:buNone/>
              </a:pPr>
              <a:r>
                <a:rPr lang="zh-CN" altLang="en-US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将相应进制的数按权展成多项式，按十进制求和</a:t>
              </a:r>
              <a:endParaRPr lang="zh-CN" altLang="en-US" b="1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grpSp>
        <p:nvGrpSpPr>
          <p:cNvPr id="3" name="Group 25"/>
          <p:cNvGrpSpPr/>
          <p:nvPr/>
        </p:nvGrpSpPr>
        <p:grpSpPr>
          <a:xfrm>
            <a:off x="2286000" y="3048000"/>
            <a:ext cx="5715000" cy="2362200"/>
            <a:chOff x="1440" y="1920"/>
            <a:chExt cx="3600" cy="1488"/>
          </a:xfrm>
        </p:grpSpPr>
        <p:sp>
          <p:nvSpPr>
            <p:cNvPr id="44041" name="AutoShape 20"/>
            <p:cNvSpPr/>
            <p:nvPr/>
          </p:nvSpPr>
          <p:spPr>
            <a:xfrm>
              <a:off x="1440" y="1920"/>
              <a:ext cx="3600" cy="1488"/>
            </a:xfrm>
            <a:prstGeom prst="wedgeRectCallout">
              <a:avLst>
                <a:gd name="adj1" fmla="val -59833"/>
                <a:gd name="adj2" fmla="val -19421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44042" name="Rectangle 21"/>
            <p:cNvSpPr/>
            <p:nvPr/>
          </p:nvSpPr>
          <p:spPr>
            <a:xfrm>
              <a:off x="1494" y="1973"/>
              <a:ext cx="3450" cy="1134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(F8C.B)</a:t>
              </a:r>
              <a:r>
                <a:rPr lang="en-US" altLang="zh-CN" sz="2800" b="1" baseline="-25000" dirty="0">
                  <a:latin typeface="幼圆" panose="02010509060101010101" pitchFamily="49" charset="-122"/>
                  <a:ea typeface="幼圆" panose="02010509060101010101" pitchFamily="49" charset="-122"/>
                </a:rPr>
                <a:t>16 </a:t>
              </a:r>
              <a:endParaRPr lang="en-US" altLang="zh-CN" sz="2800" b="1" baseline="-25000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=</a:t>
              </a:r>
              <a:r>
                <a:rPr lang="en-US" altLang="zh-CN" sz="2800" b="1" baseline="-25000" dirty="0">
                  <a:latin typeface="幼圆" panose="02010509060101010101" pitchFamily="49" charset="-122"/>
                  <a:ea typeface="幼圆" panose="02010509060101010101" pitchFamily="49" charset="-122"/>
                </a:rPr>
                <a:t> </a:t>
              </a:r>
              <a:r>
                <a:rPr lang="en-US" altLang="zh-CN" sz="28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F×16</a:t>
              </a:r>
              <a:r>
                <a:rPr lang="en-US" altLang="zh-CN" sz="2800" b="1" baseline="30000" dirty="0">
                  <a:latin typeface="幼圆" panose="02010509060101010101" pitchFamily="49" charset="-122"/>
                  <a:ea typeface="幼圆" panose="02010509060101010101" pitchFamily="49" charset="-122"/>
                </a:rPr>
                <a:t>2</a:t>
              </a:r>
              <a:r>
                <a:rPr lang="en-US" altLang="zh-CN" sz="28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+8×16</a:t>
              </a:r>
              <a:r>
                <a:rPr lang="en-US" altLang="zh-CN" sz="2800" b="1" baseline="30000" dirty="0">
                  <a:latin typeface="幼圆" panose="02010509060101010101" pitchFamily="49" charset="-122"/>
                  <a:ea typeface="幼圆" panose="02010509060101010101" pitchFamily="49" charset="-122"/>
                </a:rPr>
                <a:t>1</a:t>
              </a:r>
              <a:r>
                <a:rPr lang="en-US" altLang="zh-CN" sz="28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+C×16</a:t>
              </a:r>
              <a:r>
                <a:rPr lang="en-US" altLang="zh-CN" sz="2800" b="1" baseline="30000" dirty="0">
                  <a:latin typeface="幼圆" panose="02010509060101010101" pitchFamily="49" charset="-122"/>
                  <a:ea typeface="幼圆" panose="02010509060101010101" pitchFamily="49" charset="-122"/>
                </a:rPr>
                <a:t>0</a:t>
              </a:r>
              <a:r>
                <a:rPr lang="en-US" altLang="zh-CN" sz="28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+B×16</a:t>
              </a:r>
              <a:r>
                <a:rPr lang="en-US" altLang="zh-CN" sz="2800" b="1" baseline="30000" dirty="0">
                  <a:latin typeface="幼圆" panose="02010509060101010101" pitchFamily="49" charset="-122"/>
                  <a:ea typeface="幼圆" panose="02010509060101010101" pitchFamily="49" charset="-122"/>
                </a:rPr>
                <a:t>-1</a:t>
              </a:r>
              <a:endParaRPr lang="en-US" altLang="zh-CN" sz="2800" b="1" baseline="30000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=</a:t>
              </a:r>
              <a:r>
                <a:rPr lang="en-US" altLang="zh-CN" sz="2800" b="1" baseline="30000" dirty="0">
                  <a:latin typeface="幼圆" panose="02010509060101010101" pitchFamily="49" charset="-122"/>
                  <a:ea typeface="幼圆" panose="02010509060101010101" pitchFamily="49" charset="-122"/>
                </a:rPr>
                <a:t> </a:t>
              </a:r>
              <a:r>
                <a:rPr lang="en-US" altLang="zh-CN" sz="28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3840+128+12+0.6875</a:t>
              </a:r>
              <a:endParaRPr lang="en-US" altLang="zh-CN" sz="2800" b="1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=3980.6875</a:t>
              </a:r>
              <a:endPara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sp>
        <p:nvSpPr>
          <p:cNvPr id="28696" name="Text Box 24"/>
          <p:cNvSpPr txBox="1"/>
          <p:nvPr/>
        </p:nvSpPr>
        <p:spPr>
          <a:xfrm>
            <a:off x="914400" y="3200400"/>
            <a:ext cx="1301750" cy="762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4400" dirty="0">
                <a:solidFill>
                  <a:schemeClr val="tx2"/>
                </a:solidFill>
              </a:rPr>
              <a:t>例：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pic>
        <p:nvPicPr>
          <p:cNvPr id="44039" name="Picture 28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60198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4040" name="Text Box 29">
            <a:hlinkClick r:id="rId1" action="ppaction://hlinksldjump"/>
          </p:cNvPr>
          <p:cNvSpPr txBox="1"/>
          <p:nvPr/>
        </p:nvSpPr>
        <p:spPr>
          <a:xfrm>
            <a:off x="7054850" y="60960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nimBg="1"/>
      <p:bldP spid="28682" grpId="0"/>
      <p:bldP spid="2869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5058" name="Picture 14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60198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059" name="Text Box 15">
            <a:hlinkClick r:id="rId1" action="ppaction://hlinksldjump"/>
          </p:cNvPr>
          <p:cNvSpPr txBox="1"/>
          <p:nvPr/>
        </p:nvSpPr>
        <p:spPr>
          <a:xfrm>
            <a:off x="7588250" y="60960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  <p:sp>
        <p:nvSpPr>
          <p:cNvPr id="30722" name="Rectangle 2"/>
          <p:cNvSpPr>
            <a:spLocks noGrp="1"/>
          </p:cNvSpPr>
          <p:nvPr>
            <p:ph type="title"/>
          </p:nvPr>
        </p:nvSpPr>
        <p:spPr>
          <a:xfrm>
            <a:off x="1600200" y="609600"/>
            <a:ext cx="5791200" cy="762000"/>
          </a:xfrm>
          <a:gradFill rotWithShape="0">
            <a:gsLst>
              <a:gs pos="0">
                <a:srgbClr val="767676"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767676">
                  <a:alpha val="100000"/>
                </a:srgbClr>
              </a:gs>
            </a:gsLst>
            <a:lin ang="5400000" scaled="1"/>
            <a:tileRect/>
          </a:gradFill>
          <a:ln/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vert="horz" wrap="square" lIns="91440" tIns="45720" rIns="91440" bIns="45720" anchor="ctr" anchorCtr="0">
            <a:flatTx/>
          </a:bodyPr>
          <a:p>
            <a:pPr eaLnBrk="1" hangingPunct="1"/>
            <a:r>
              <a:rPr lang="zh-CN" altLang="en-US" b="1" dirty="0">
                <a:solidFill>
                  <a:srgbClr val="990033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非十进制间的转换</a:t>
            </a:r>
            <a:endParaRPr lang="zh-CN" altLang="en-US" b="1" dirty="0">
              <a:solidFill>
                <a:srgbClr val="990033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0723" name="Rectangle 3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4572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b="1" dirty="0">
                <a:solidFill>
                  <a:srgbClr val="990033"/>
                </a:solidFill>
                <a:ea typeface="幼圆" panose="02010509060101010101" pitchFamily="49" charset="-122"/>
                <a:sym typeface="Symbol" panose="05050102010706020507" pitchFamily="18" charset="2"/>
              </a:rPr>
              <a:t>  </a:t>
            </a:r>
            <a:r>
              <a:rPr lang="en-US" altLang="zh-CN" b="1" dirty="0">
                <a:ea typeface="幼圆" panose="020105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ea typeface="幼圆" panose="02010509060101010101" pitchFamily="49" charset="-122"/>
              </a:rPr>
              <a:t>二进制与八进制间的转换</a:t>
            </a:r>
            <a:endParaRPr lang="zh-CN" altLang="en-US" b="1" dirty="0">
              <a:ea typeface="幼圆" panose="02010509060101010101" pitchFamily="49" charset="-122"/>
            </a:endParaRPr>
          </a:p>
        </p:txBody>
      </p:sp>
      <p:sp>
        <p:nvSpPr>
          <p:cNvPr id="30724" name="Text Box 4"/>
          <p:cNvSpPr txBox="1"/>
          <p:nvPr/>
        </p:nvSpPr>
        <p:spPr>
          <a:xfrm>
            <a:off x="685800" y="2209800"/>
            <a:ext cx="7772400" cy="18002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从</a:t>
            </a:r>
            <a:r>
              <a:rPr lang="zh-CN" altLang="en-US" sz="28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小数点</a:t>
            </a: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开始，将二进制数的整数和小数部分</a:t>
            </a:r>
            <a:r>
              <a:rPr lang="zh-CN" altLang="en-US" sz="28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每三位</a:t>
            </a: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分为</a:t>
            </a:r>
            <a:r>
              <a:rPr lang="zh-CN" altLang="en-US" sz="28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一组</a:t>
            </a: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，</a:t>
            </a:r>
            <a:r>
              <a:rPr lang="zh-CN" altLang="en-US" sz="28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不足</a:t>
            </a: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三位的分别在整数的最高位前和小数的最低位后</a:t>
            </a:r>
            <a:r>
              <a:rPr lang="zh-CN" altLang="en-US" sz="28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加</a:t>
            </a:r>
            <a:r>
              <a:rPr lang="zh-CN" altLang="en-US" sz="2800" b="1" dirty="0">
                <a:solidFill>
                  <a:srgbClr val="FF0000"/>
                </a:solidFill>
                <a:ea typeface="幼圆" panose="02010509060101010101" pitchFamily="49" charset="-122"/>
              </a:rPr>
              <a:t>“</a:t>
            </a:r>
            <a:r>
              <a:rPr lang="en-US" altLang="zh-CN" sz="28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</a:t>
            </a:r>
            <a:r>
              <a:rPr lang="en-US" altLang="zh-CN" sz="2800" b="1" dirty="0">
                <a:solidFill>
                  <a:srgbClr val="FF0000"/>
                </a:solidFill>
                <a:ea typeface="幼圆" panose="02010509060101010101" pitchFamily="49" charset="-122"/>
              </a:rPr>
              <a:t>”</a:t>
            </a: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补足，然后每组用等值的八进制码替代，即得目的数</a:t>
            </a:r>
            <a:r>
              <a:rPr lang="zh-CN" altLang="en-US" sz="2400" b="1" dirty="0">
                <a:latin typeface="宋体" panose="02010600030101010101" pitchFamily="2" charset="-122"/>
              </a:rPr>
              <a:t>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0736" name="Text Box 16"/>
          <p:cNvSpPr txBox="1"/>
          <p:nvPr/>
        </p:nvSpPr>
        <p:spPr>
          <a:xfrm>
            <a:off x="879475" y="4114800"/>
            <a:ext cx="55245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例</a:t>
            </a:r>
            <a:r>
              <a:rPr lang="en-US" altLang="zh-CN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8</a:t>
            </a: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： </a:t>
            </a:r>
            <a:r>
              <a:rPr lang="en-US" altLang="zh-CN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11010111.0100111 B = ? Q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30738" name="Text Box 18"/>
          <p:cNvSpPr txBox="1"/>
          <p:nvPr/>
        </p:nvSpPr>
        <p:spPr>
          <a:xfrm>
            <a:off x="1981200" y="4114800"/>
            <a:ext cx="5670550" cy="519113"/>
          </a:xfrm>
          <a:prstGeom prst="rect">
            <a:avLst/>
          </a:prstGeom>
          <a:solidFill>
            <a:srgbClr val="FFCC00"/>
          </a:solidFill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11010111.0100111 B = 327.234 Q</a:t>
            </a:r>
            <a:endParaRPr lang="en-US" altLang="zh-CN" sz="2800" b="1" dirty="0">
              <a:solidFill>
                <a:schemeClr val="tx2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0739" name="Text Box 19" descr="75%"/>
          <p:cNvSpPr txBox="1"/>
          <p:nvPr/>
        </p:nvSpPr>
        <p:spPr>
          <a:xfrm>
            <a:off x="2501900" y="4892675"/>
            <a:ext cx="3365500" cy="579438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11010111</a:t>
            </a:r>
            <a:r>
              <a:rPr lang="en-US" altLang="zh-CN" b="1" dirty="0">
                <a:solidFill>
                  <a:srgbClr val="990033"/>
                </a:solidFill>
              </a:rPr>
              <a:t>.</a:t>
            </a:r>
            <a:r>
              <a:rPr lang="en-US" altLang="zh-CN" b="1" dirty="0">
                <a:solidFill>
                  <a:schemeClr val="tx2"/>
                </a:solidFill>
              </a:rPr>
              <a:t>0100111</a:t>
            </a:r>
            <a:endParaRPr lang="en-US" altLang="zh-CN" b="1" dirty="0">
              <a:solidFill>
                <a:schemeClr val="tx2"/>
              </a:solidFill>
            </a:endParaRPr>
          </a:p>
        </p:txBody>
      </p:sp>
      <p:sp>
        <p:nvSpPr>
          <p:cNvPr id="30741" name="AutoShape 21"/>
          <p:cNvSpPr/>
          <p:nvPr/>
        </p:nvSpPr>
        <p:spPr>
          <a:xfrm>
            <a:off x="3657600" y="5638800"/>
            <a:ext cx="1828800" cy="609600"/>
          </a:xfrm>
          <a:prstGeom prst="wedgeRoundRectCallout">
            <a:avLst>
              <a:gd name="adj1" fmla="val -15884"/>
              <a:gd name="adj2" fmla="val -93750"/>
              <a:gd name="adj3" fmla="val 16667"/>
            </a:avLst>
          </a:prstGeom>
          <a:solidFill>
            <a:srgbClr val="FFCC00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小数点为界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30743" name="Line 23"/>
          <p:cNvSpPr/>
          <p:nvPr/>
        </p:nvSpPr>
        <p:spPr>
          <a:xfrm>
            <a:off x="3657600" y="5410200"/>
            <a:ext cx="5334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744" name="Line 24"/>
          <p:cNvSpPr/>
          <p:nvPr/>
        </p:nvSpPr>
        <p:spPr>
          <a:xfrm>
            <a:off x="3048000" y="5410200"/>
            <a:ext cx="533400" cy="0"/>
          </a:xfrm>
          <a:prstGeom prst="line">
            <a:avLst/>
          </a:prstGeom>
          <a:ln w="38100" cap="flat" cmpd="sng">
            <a:solidFill>
              <a:srgbClr val="008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745" name="Text Box 25" descr="75%"/>
          <p:cNvSpPr txBox="1"/>
          <p:nvPr/>
        </p:nvSpPr>
        <p:spPr>
          <a:xfrm>
            <a:off x="2279650" y="4906963"/>
            <a:ext cx="387350" cy="579437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0</a:t>
            </a:r>
            <a:endParaRPr lang="en-US" altLang="zh-CN" b="1" dirty="0">
              <a:solidFill>
                <a:schemeClr val="tx2"/>
              </a:solidFill>
            </a:endParaRPr>
          </a:p>
        </p:txBody>
      </p:sp>
      <p:sp>
        <p:nvSpPr>
          <p:cNvPr id="30746" name="Line 26"/>
          <p:cNvSpPr/>
          <p:nvPr/>
        </p:nvSpPr>
        <p:spPr>
          <a:xfrm>
            <a:off x="2438400" y="5410200"/>
            <a:ext cx="533400" cy="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747" name="Line 27"/>
          <p:cNvSpPr/>
          <p:nvPr/>
        </p:nvSpPr>
        <p:spPr>
          <a:xfrm>
            <a:off x="4343400" y="5410200"/>
            <a:ext cx="533400" cy="0"/>
          </a:xfrm>
          <a:prstGeom prst="line">
            <a:avLst/>
          </a:prstGeom>
          <a:ln w="38100" cap="flat" cmpd="sng">
            <a:solidFill>
              <a:srgbClr val="008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748" name="Line 28"/>
          <p:cNvSpPr/>
          <p:nvPr/>
        </p:nvSpPr>
        <p:spPr>
          <a:xfrm>
            <a:off x="4953000" y="5410200"/>
            <a:ext cx="533400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749" name="Text Box 29" descr="75%"/>
          <p:cNvSpPr txBox="1"/>
          <p:nvPr/>
        </p:nvSpPr>
        <p:spPr>
          <a:xfrm>
            <a:off x="5657850" y="4906963"/>
            <a:ext cx="590550" cy="579437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00</a:t>
            </a:r>
            <a:endParaRPr lang="en-US" altLang="zh-CN" b="1" dirty="0">
              <a:solidFill>
                <a:schemeClr val="tx2"/>
              </a:solidFill>
            </a:endParaRPr>
          </a:p>
        </p:txBody>
      </p:sp>
      <p:sp>
        <p:nvSpPr>
          <p:cNvPr id="30750" name="Line 30"/>
          <p:cNvSpPr/>
          <p:nvPr/>
        </p:nvSpPr>
        <p:spPr>
          <a:xfrm>
            <a:off x="5638800" y="5410200"/>
            <a:ext cx="5334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751" name="Line 31"/>
          <p:cNvSpPr/>
          <p:nvPr/>
        </p:nvSpPr>
        <p:spPr>
          <a:xfrm>
            <a:off x="2667000" y="5562600"/>
            <a:ext cx="0" cy="457200"/>
          </a:xfrm>
          <a:prstGeom prst="line">
            <a:avLst/>
          </a:prstGeom>
          <a:ln w="57150" cap="flat" cmpd="sng">
            <a:solidFill>
              <a:srgbClr val="FF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30752" name="Line 32"/>
          <p:cNvSpPr/>
          <p:nvPr/>
        </p:nvSpPr>
        <p:spPr>
          <a:xfrm>
            <a:off x="3276600" y="5562600"/>
            <a:ext cx="0" cy="457200"/>
          </a:xfrm>
          <a:prstGeom prst="line">
            <a:avLst/>
          </a:prstGeom>
          <a:ln w="57150" cap="flat" cmpd="sng">
            <a:solidFill>
              <a:srgbClr val="008000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30753" name="Line 33"/>
          <p:cNvSpPr/>
          <p:nvPr/>
        </p:nvSpPr>
        <p:spPr>
          <a:xfrm>
            <a:off x="3886200" y="5562600"/>
            <a:ext cx="0" cy="457200"/>
          </a:xfrm>
          <a:prstGeom prst="line">
            <a:avLst/>
          </a:prstGeom>
          <a:ln w="57150" cap="flat" cmpd="sng">
            <a:solidFill>
              <a:srgbClr val="A5002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30754" name="Line 34"/>
          <p:cNvSpPr/>
          <p:nvPr/>
        </p:nvSpPr>
        <p:spPr>
          <a:xfrm>
            <a:off x="4572000" y="5562600"/>
            <a:ext cx="0" cy="457200"/>
          </a:xfrm>
          <a:prstGeom prst="line">
            <a:avLst/>
          </a:prstGeom>
          <a:ln w="57150" cap="flat" cmpd="sng">
            <a:solidFill>
              <a:srgbClr val="008000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30755" name="Line 35"/>
          <p:cNvSpPr/>
          <p:nvPr/>
        </p:nvSpPr>
        <p:spPr>
          <a:xfrm>
            <a:off x="5181600" y="5562600"/>
            <a:ext cx="0" cy="4572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30756" name="Line 36"/>
          <p:cNvSpPr/>
          <p:nvPr/>
        </p:nvSpPr>
        <p:spPr>
          <a:xfrm>
            <a:off x="5867400" y="5562600"/>
            <a:ext cx="0" cy="457200"/>
          </a:xfrm>
          <a:prstGeom prst="line">
            <a:avLst/>
          </a:prstGeom>
          <a:ln w="57150" cap="flat" cmpd="sng">
            <a:solidFill>
              <a:srgbClr val="A5002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30757" name="Text Box 37" descr="75%"/>
          <p:cNvSpPr txBox="1"/>
          <p:nvPr/>
        </p:nvSpPr>
        <p:spPr>
          <a:xfrm>
            <a:off x="3727450" y="6019800"/>
            <a:ext cx="387350" cy="579438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7</a:t>
            </a:r>
            <a:endParaRPr lang="en-US" altLang="zh-CN" b="1" dirty="0">
              <a:solidFill>
                <a:schemeClr val="tx2"/>
              </a:solidFill>
            </a:endParaRPr>
          </a:p>
        </p:txBody>
      </p:sp>
      <p:sp>
        <p:nvSpPr>
          <p:cNvPr id="30758" name="Text Box 38" descr="75%"/>
          <p:cNvSpPr txBox="1"/>
          <p:nvPr/>
        </p:nvSpPr>
        <p:spPr>
          <a:xfrm>
            <a:off x="3048000" y="5973763"/>
            <a:ext cx="387350" cy="579437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2</a:t>
            </a:r>
            <a:endParaRPr lang="en-US" altLang="zh-CN" b="1" dirty="0">
              <a:solidFill>
                <a:schemeClr val="tx2"/>
              </a:solidFill>
            </a:endParaRPr>
          </a:p>
        </p:txBody>
      </p:sp>
      <p:sp>
        <p:nvSpPr>
          <p:cNvPr id="30759" name="Text Box 39" descr="75%"/>
          <p:cNvSpPr txBox="1"/>
          <p:nvPr/>
        </p:nvSpPr>
        <p:spPr>
          <a:xfrm>
            <a:off x="2432050" y="5943600"/>
            <a:ext cx="387350" cy="579438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3</a:t>
            </a:r>
            <a:endParaRPr lang="en-US" altLang="zh-CN" b="1" dirty="0">
              <a:solidFill>
                <a:schemeClr val="tx2"/>
              </a:solidFill>
            </a:endParaRPr>
          </a:p>
        </p:txBody>
      </p:sp>
      <p:sp>
        <p:nvSpPr>
          <p:cNvPr id="30760" name="Text Box 40" descr="75%"/>
          <p:cNvSpPr txBox="1"/>
          <p:nvPr/>
        </p:nvSpPr>
        <p:spPr>
          <a:xfrm>
            <a:off x="4343400" y="6019800"/>
            <a:ext cx="387350" cy="579438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2</a:t>
            </a:r>
            <a:endParaRPr lang="en-US" altLang="zh-CN" b="1" dirty="0">
              <a:solidFill>
                <a:schemeClr val="tx2"/>
              </a:solidFill>
            </a:endParaRPr>
          </a:p>
        </p:txBody>
      </p:sp>
      <p:sp>
        <p:nvSpPr>
          <p:cNvPr id="30761" name="Text Box 41" descr="75%"/>
          <p:cNvSpPr txBox="1"/>
          <p:nvPr/>
        </p:nvSpPr>
        <p:spPr>
          <a:xfrm>
            <a:off x="5029200" y="6019800"/>
            <a:ext cx="387350" cy="579438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3</a:t>
            </a:r>
            <a:endParaRPr lang="en-US" altLang="zh-CN" b="1" dirty="0">
              <a:solidFill>
                <a:schemeClr val="tx2"/>
              </a:solidFill>
            </a:endParaRPr>
          </a:p>
        </p:txBody>
      </p:sp>
      <p:sp>
        <p:nvSpPr>
          <p:cNvPr id="30762" name="Text Box 42" descr="75%"/>
          <p:cNvSpPr txBox="1"/>
          <p:nvPr/>
        </p:nvSpPr>
        <p:spPr>
          <a:xfrm>
            <a:off x="5715000" y="6019800"/>
            <a:ext cx="387350" cy="579438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4</a:t>
            </a:r>
            <a:endParaRPr lang="en-US" altLang="zh-CN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30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0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0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0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0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0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0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30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30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3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nimBg="1"/>
      <p:bldP spid="30723" grpId="0" build="p"/>
      <p:bldP spid="30724" grpId="0"/>
      <p:bldP spid="30736" grpId="0"/>
      <p:bldP spid="30738" grpId="0" animBg="1"/>
      <p:bldP spid="30739" grpId="0"/>
      <p:bldP spid="30741" grpId="0" animBg="1"/>
      <p:bldP spid="30745" grpId="0"/>
      <p:bldP spid="30749" grpId="0"/>
      <p:bldP spid="30757" grpId="0"/>
      <p:bldP spid="30758" grpId="0"/>
      <p:bldP spid="30759" grpId="0"/>
      <p:bldP spid="30760" grpId="0"/>
      <p:bldP spid="30761" grpId="0"/>
      <p:bldP spid="3076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6082" name="Picture 9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0198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083" name="Text Box 10">
            <a:hlinkClick r:id="rId1" action="ppaction://hlinksldjump"/>
          </p:cNvPr>
          <p:cNvSpPr txBox="1"/>
          <p:nvPr/>
        </p:nvSpPr>
        <p:spPr>
          <a:xfrm>
            <a:off x="958850" y="60960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  <p:sp>
        <p:nvSpPr>
          <p:cNvPr id="46084" name="Rectangle 2"/>
          <p:cNvSpPr/>
          <p:nvPr/>
        </p:nvSpPr>
        <p:spPr>
          <a:xfrm>
            <a:off x="1600200" y="609600"/>
            <a:ext cx="5791200" cy="7620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4000" b="1" dirty="0">
                <a:solidFill>
                  <a:srgbClr val="990033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非十进制间的转换</a:t>
            </a:r>
            <a:endParaRPr lang="zh-CN" altLang="en-US" sz="4000" b="1" dirty="0">
              <a:solidFill>
                <a:srgbClr val="990033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1747" name="Rectangle 3"/>
          <p:cNvSpPr/>
          <p:nvPr/>
        </p:nvSpPr>
        <p:spPr>
          <a:xfrm>
            <a:off x="685800" y="1524000"/>
            <a:ext cx="7772400" cy="4572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None/>
            </a:pPr>
            <a:r>
              <a:rPr lang="en-US" altLang="zh-CN" b="1" dirty="0">
                <a:solidFill>
                  <a:srgbClr val="990033"/>
                </a:solidFill>
                <a:ea typeface="幼圆" panose="02010509060101010101" pitchFamily="49" charset="-122"/>
                <a:sym typeface="Symbol" panose="05050102010706020507" pitchFamily="18" charset="2"/>
              </a:rPr>
              <a:t>  </a:t>
            </a:r>
            <a:r>
              <a:rPr lang="zh-CN" altLang="en-US" b="1" dirty="0">
                <a:ea typeface="幼圆" panose="02010509060101010101" pitchFamily="49" charset="-122"/>
              </a:rPr>
              <a:t>二进制与十六进制间的转换</a:t>
            </a:r>
            <a:endParaRPr lang="zh-CN" altLang="en-US" b="1" dirty="0">
              <a:ea typeface="幼圆" panose="02010509060101010101" pitchFamily="49" charset="-122"/>
            </a:endParaRPr>
          </a:p>
        </p:txBody>
      </p:sp>
      <p:sp>
        <p:nvSpPr>
          <p:cNvPr id="31748" name="Text Box 4"/>
          <p:cNvSpPr txBox="1"/>
          <p:nvPr/>
        </p:nvSpPr>
        <p:spPr>
          <a:xfrm>
            <a:off x="838200" y="2209800"/>
            <a:ext cx="7772400" cy="18002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从</a:t>
            </a:r>
            <a:r>
              <a:rPr lang="zh-CN" altLang="en-US" sz="28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小数点</a:t>
            </a: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开始，将二进制数的整数和小数部分</a:t>
            </a:r>
            <a:r>
              <a:rPr lang="zh-CN" altLang="en-US" sz="28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每四位</a:t>
            </a: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分为</a:t>
            </a:r>
            <a:r>
              <a:rPr lang="zh-CN" altLang="en-US" sz="28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一组</a:t>
            </a: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，</a:t>
            </a:r>
            <a:r>
              <a:rPr lang="zh-CN" altLang="en-US" sz="28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不足</a:t>
            </a: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四位的分别在整数的最高位前和小数的最低位后</a:t>
            </a:r>
            <a:r>
              <a:rPr lang="zh-CN" altLang="en-US" sz="28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加</a:t>
            </a:r>
            <a:r>
              <a:rPr lang="zh-CN" altLang="en-US" sz="2800" b="1" dirty="0">
                <a:solidFill>
                  <a:srgbClr val="FF0000"/>
                </a:solidFill>
                <a:ea typeface="幼圆" panose="02010509060101010101" pitchFamily="49" charset="-122"/>
              </a:rPr>
              <a:t>“</a:t>
            </a:r>
            <a:r>
              <a:rPr lang="en-US" altLang="zh-CN" sz="28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</a:t>
            </a:r>
            <a:r>
              <a:rPr lang="en-US" altLang="zh-CN" sz="2800" b="1" dirty="0">
                <a:solidFill>
                  <a:srgbClr val="FF0000"/>
                </a:solidFill>
                <a:ea typeface="幼圆" panose="02010509060101010101" pitchFamily="49" charset="-122"/>
              </a:rPr>
              <a:t>”</a:t>
            </a: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补足，然后每组用等值的十六进制码替代，即得目的数</a:t>
            </a:r>
            <a:r>
              <a:rPr lang="zh-CN" altLang="en-US" sz="2400" b="1" dirty="0">
                <a:latin typeface="宋体" panose="02010600030101010101" pitchFamily="2" charset="-122"/>
              </a:rPr>
              <a:t>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1755" name="Text Box 11"/>
          <p:cNvSpPr txBox="1"/>
          <p:nvPr/>
        </p:nvSpPr>
        <p:spPr>
          <a:xfrm>
            <a:off x="1017588" y="4114800"/>
            <a:ext cx="49657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例</a:t>
            </a:r>
            <a:r>
              <a:rPr lang="en-US" altLang="zh-CN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9</a:t>
            </a: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： </a:t>
            </a:r>
            <a:r>
              <a:rPr lang="zh-CN" altLang="en-US" sz="2400" dirty="0">
                <a:latin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宋体" panose="02010600030101010101" pitchFamily="2" charset="-122"/>
              </a:rPr>
              <a:t>111011.10101 B = ? H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31756" name="Text Box 12"/>
          <p:cNvSpPr txBox="1"/>
          <p:nvPr/>
        </p:nvSpPr>
        <p:spPr>
          <a:xfrm>
            <a:off x="2095500" y="4191000"/>
            <a:ext cx="4603750" cy="519113"/>
          </a:xfrm>
          <a:prstGeom prst="rect">
            <a:avLst/>
          </a:prstGeom>
          <a:solidFill>
            <a:srgbClr val="FFCC00"/>
          </a:solidFill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宋体" panose="02010600030101010101" pitchFamily="2" charset="-122"/>
              </a:rPr>
              <a:t>111011.10101 B = 3B.A8 H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  <p:sp>
        <p:nvSpPr>
          <p:cNvPr id="31758" name="Text Box 14" descr="75%"/>
          <p:cNvSpPr txBox="1"/>
          <p:nvPr/>
        </p:nvSpPr>
        <p:spPr>
          <a:xfrm>
            <a:off x="2501900" y="4892675"/>
            <a:ext cx="3365500" cy="579438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111011</a:t>
            </a:r>
            <a:r>
              <a:rPr lang="en-US" altLang="zh-CN" b="1" dirty="0">
                <a:solidFill>
                  <a:srgbClr val="990033"/>
                </a:solidFill>
              </a:rPr>
              <a:t>.</a:t>
            </a:r>
            <a:r>
              <a:rPr lang="en-US" altLang="zh-CN" b="1" dirty="0">
                <a:solidFill>
                  <a:schemeClr val="tx2"/>
                </a:solidFill>
              </a:rPr>
              <a:t>10101</a:t>
            </a:r>
            <a:endParaRPr lang="en-US" altLang="zh-CN" b="1" dirty="0">
              <a:solidFill>
                <a:schemeClr val="tx2"/>
              </a:solidFill>
            </a:endParaRPr>
          </a:p>
        </p:txBody>
      </p:sp>
      <p:sp>
        <p:nvSpPr>
          <p:cNvPr id="31759" name="AutoShape 15"/>
          <p:cNvSpPr/>
          <p:nvPr/>
        </p:nvSpPr>
        <p:spPr>
          <a:xfrm>
            <a:off x="3657600" y="5638800"/>
            <a:ext cx="1828800" cy="609600"/>
          </a:xfrm>
          <a:prstGeom prst="wedgeRoundRectCallout">
            <a:avLst>
              <a:gd name="adj1" fmla="val -15884"/>
              <a:gd name="adj2" fmla="val -93750"/>
              <a:gd name="adj3" fmla="val 16667"/>
            </a:avLst>
          </a:prstGeom>
          <a:solidFill>
            <a:srgbClr val="FFCC00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小数点为界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31760" name="Line 16"/>
          <p:cNvSpPr/>
          <p:nvPr/>
        </p:nvSpPr>
        <p:spPr>
          <a:xfrm>
            <a:off x="3505200" y="5410200"/>
            <a:ext cx="6858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761" name="Line 17"/>
          <p:cNvSpPr/>
          <p:nvPr/>
        </p:nvSpPr>
        <p:spPr>
          <a:xfrm>
            <a:off x="2590800" y="5410200"/>
            <a:ext cx="762000" cy="0"/>
          </a:xfrm>
          <a:prstGeom prst="line">
            <a:avLst/>
          </a:prstGeom>
          <a:ln w="38100" cap="flat" cmpd="sng">
            <a:solidFill>
              <a:srgbClr val="008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762" name="Text Box 18" descr="75%"/>
          <p:cNvSpPr txBox="1"/>
          <p:nvPr/>
        </p:nvSpPr>
        <p:spPr>
          <a:xfrm>
            <a:off x="2514600" y="4906963"/>
            <a:ext cx="590550" cy="579437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00</a:t>
            </a:r>
            <a:endParaRPr lang="en-US" altLang="zh-CN" b="1" dirty="0">
              <a:solidFill>
                <a:schemeClr val="tx2"/>
              </a:solidFill>
            </a:endParaRPr>
          </a:p>
        </p:txBody>
      </p:sp>
      <p:sp>
        <p:nvSpPr>
          <p:cNvPr id="31764" name="Line 20"/>
          <p:cNvSpPr/>
          <p:nvPr/>
        </p:nvSpPr>
        <p:spPr>
          <a:xfrm>
            <a:off x="4343400" y="5410200"/>
            <a:ext cx="762000" cy="0"/>
          </a:xfrm>
          <a:prstGeom prst="line">
            <a:avLst/>
          </a:prstGeom>
          <a:ln w="38100" cap="flat" cmpd="sng">
            <a:solidFill>
              <a:srgbClr val="008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765" name="Line 21"/>
          <p:cNvSpPr/>
          <p:nvPr/>
        </p:nvSpPr>
        <p:spPr>
          <a:xfrm>
            <a:off x="5181600" y="5410200"/>
            <a:ext cx="838200" cy="0"/>
          </a:xfrm>
          <a:prstGeom prst="line">
            <a:avLst/>
          </a:prstGeom>
          <a:ln w="38100" cap="flat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766" name="Text Box 22" descr="75%"/>
          <p:cNvSpPr txBox="1"/>
          <p:nvPr/>
        </p:nvSpPr>
        <p:spPr>
          <a:xfrm>
            <a:off x="5257800" y="4876800"/>
            <a:ext cx="793750" cy="579438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000</a:t>
            </a:r>
            <a:endParaRPr lang="en-US" altLang="zh-CN" b="1" dirty="0">
              <a:solidFill>
                <a:schemeClr val="tx2"/>
              </a:solidFill>
            </a:endParaRPr>
          </a:p>
        </p:txBody>
      </p:sp>
      <p:sp>
        <p:nvSpPr>
          <p:cNvPr id="31769" name="Line 25"/>
          <p:cNvSpPr/>
          <p:nvPr/>
        </p:nvSpPr>
        <p:spPr>
          <a:xfrm>
            <a:off x="2971800" y="5562600"/>
            <a:ext cx="0" cy="457200"/>
          </a:xfrm>
          <a:prstGeom prst="line">
            <a:avLst/>
          </a:prstGeom>
          <a:ln w="57150" cap="flat" cmpd="sng">
            <a:solidFill>
              <a:srgbClr val="008000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31770" name="Line 26"/>
          <p:cNvSpPr/>
          <p:nvPr/>
        </p:nvSpPr>
        <p:spPr>
          <a:xfrm>
            <a:off x="3810000" y="5562600"/>
            <a:ext cx="0" cy="457200"/>
          </a:xfrm>
          <a:prstGeom prst="line">
            <a:avLst/>
          </a:prstGeom>
          <a:ln w="57150" cap="flat" cmpd="sng">
            <a:solidFill>
              <a:srgbClr val="A5002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31771" name="Line 27"/>
          <p:cNvSpPr/>
          <p:nvPr/>
        </p:nvSpPr>
        <p:spPr>
          <a:xfrm>
            <a:off x="4648200" y="5562600"/>
            <a:ext cx="0" cy="457200"/>
          </a:xfrm>
          <a:prstGeom prst="line">
            <a:avLst/>
          </a:prstGeom>
          <a:ln w="57150" cap="flat" cmpd="sng">
            <a:solidFill>
              <a:srgbClr val="008000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31772" name="Line 28"/>
          <p:cNvSpPr/>
          <p:nvPr/>
        </p:nvSpPr>
        <p:spPr>
          <a:xfrm>
            <a:off x="5562600" y="5562600"/>
            <a:ext cx="0" cy="4572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31774" name="Text Box 30" descr="75%"/>
          <p:cNvSpPr txBox="1"/>
          <p:nvPr/>
        </p:nvSpPr>
        <p:spPr>
          <a:xfrm>
            <a:off x="3582988" y="5943600"/>
            <a:ext cx="455612" cy="579438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B</a:t>
            </a:r>
            <a:endParaRPr lang="en-US" altLang="zh-CN" b="1" dirty="0">
              <a:solidFill>
                <a:schemeClr val="tx2"/>
              </a:solidFill>
            </a:endParaRPr>
          </a:p>
        </p:txBody>
      </p:sp>
      <p:sp>
        <p:nvSpPr>
          <p:cNvPr id="31775" name="Text Box 31" descr="75%"/>
          <p:cNvSpPr txBox="1"/>
          <p:nvPr/>
        </p:nvSpPr>
        <p:spPr>
          <a:xfrm>
            <a:off x="2736850" y="5943600"/>
            <a:ext cx="387350" cy="579438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3</a:t>
            </a:r>
            <a:endParaRPr lang="en-US" altLang="zh-CN" b="1" dirty="0">
              <a:solidFill>
                <a:schemeClr val="tx2"/>
              </a:solidFill>
            </a:endParaRPr>
          </a:p>
        </p:txBody>
      </p:sp>
      <p:sp>
        <p:nvSpPr>
          <p:cNvPr id="31777" name="Text Box 33" descr="75%"/>
          <p:cNvSpPr txBox="1"/>
          <p:nvPr/>
        </p:nvSpPr>
        <p:spPr>
          <a:xfrm>
            <a:off x="4398963" y="5943600"/>
            <a:ext cx="477837" cy="579438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A</a:t>
            </a:r>
            <a:endParaRPr lang="en-US" altLang="zh-CN" b="1" dirty="0">
              <a:solidFill>
                <a:schemeClr val="tx2"/>
              </a:solidFill>
            </a:endParaRPr>
          </a:p>
        </p:txBody>
      </p:sp>
      <p:sp>
        <p:nvSpPr>
          <p:cNvPr id="31778" name="Text Box 34" descr="75%"/>
          <p:cNvSpPr txBox="1"/>
          <p:nvPr/>
        </p:nvSpPr>
        <p:spPr>
          <a:xfrm>
            <a:off x="5403850" y="5943600"/>
            <a:ext cx="387350" cy="579438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8</a:t>
            </a:r>
            <a:endParaRPr lang="en-US" altLang="zh-CN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1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1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31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/>
      <p:bldP spid="31748" grpId="0"/>
      <p:bldP spid="31755" grpId="0"/>
      <p:bldP spid="31756" grpId="0" animBg="1"/>
      <p:bldP spid="31758" grpId="0"/>
      <p:bldP spid="31759" grpId="0" animBg="1"/>
      <p:bldP spid="31762" grpId="0"/>
      <p:bldP spid="31766" grpId="0"/>
      <p:bldP spid="31774" grpId="0"/>
      <p:bldP spid="31775" grpId="0"/>
      <p:bldP spid="31777" grpId="0"/>
      <p:bldP spid="3177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3"/>
          <p:cNvGrpSpPr/>
          <p:nvPr/>
        </p:nvGrpSpPr>
        <p:grpSpPr>
          <a:xfrm>
            <a:off x="1022350" y="2590800"/>
            <a:ext cx="8197850" cy="2286000"/>
            <a:chOff x="644" y="1632"/>
            <a:chExt cx="5164" cy="1440"/>
          </a:xfrm>
        </p:grpSpPr>
        <p:graphicFrame>
          <p:nvGraphicFramePr>
            <p:cNvPr id="47141" name="Object 17"/>
            <p:cNvGraphicFramePr>
              <a:graphicFrameLocks noChangeAspect="1"/>
            </p:cNvGraphicFramePr>
            <p:nvPr/>
          </p:nvGraphicFramePr>
          <p:xfrm>
            <a:off x="864" y="2160"/>
            <a:ext cx="2208" cy="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1" imgW="2400300" imgH="552450" progId="Paint.Picture">
                    <p:embed/>
                  </p:oleObj>
                </mc:Choice>
                <mc:Fallback>
                  <p:oleObj name="" r:id="rId1" imgW="2400300" imgH="552450" progId="Paint.Picture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864" y="2160"/>
                          <a:ext cx="2208" cy="9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42" name="Line 18"/>
            <p:cNvSpPr/>
            <p:nvPr/>
          </p:nvSpPr>
          <p:spPr>
            <a:xfrm>
              <a:off x="1248" y="1968"/>
              <a:ext cx="0" cy="192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7143" name="Line 19"/>
            <p:cNvSpPr/>
            <p:nvPr/>
          </p:nvSpPr>
          <p:spPr>
            <a:xfrm>
              <a:off x="3744" y="1920"/>
              <a:ext cx="0" cy="192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47144" name="Object 20"/>
            <p:cNvGraphicFramePr>
              <a:graphicFrameLocks noChangeAspect="1"/>
            </p:cNvGraphicFramePr>
            <p:nvPr/>
          </p:nvGraphicFramePr>
          <p:xfrm>
            <a:off x="3312" y="2208"/>
            <a:ext cx="2496" cy="8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3" imgW="2162175" imgH="504825" progId="Paint.Picture">
                    <p:embed/>
                  </p:oleObj>
                </mc:Choice>
                <mc:Fallback>
                  <p:oleObj name="" r:id="rId3" imgW="2162175" imgH="504825" progId="Paint.Picture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312" y="2208"/>
                          <a:ext cx="2496" cy="8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45" name="Text Box 21"/>
            <p:cNvSpPr txBox="1"/>
            <p:nvPr/>
          </p:nvSpPr>
          <p:spPr>
            <a:xfrm>
              <a:off x="644" y="1689"/>
              <a:ext cx="16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</a:rPr>
                <a:t>X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1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= </a:t>
              </a:r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+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 1101101</a:t>
              </a:r>
              <a:endParaRPr lang="en-US" altLang="zh-CN" sz="2400" dirty="0">
                <a:latin typeface="宋体" panose="02010600030101010101" pitchFamily="2" charset="-122"/>
              </a:endParaRPr>
            </a:p>
          </p:txBody>
        </p:sp>
        <p:sp>
          <p:nvSpPr>
            <p:cNvPr id="47146" name="Text Box 22"/>
            <p:cNvSpPr txBox="1"/>
            <p:nvPr/>
          </p:nvSpPr>
          <p:spPr>
            <a:xfrm>
              <a:off x="3160" y="1632"/>
              <a:ext cx="16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</a:rPr>
                <a:t>X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2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= </a:t>
              </a:r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-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1101101</a:t>
              </a:r>
              <a:endParaRPr lang="en-US" altLang="zh-CN" sz="24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33794" name="Rectangle 2"/>
          <p:cNvSpPr>
            <a:spLocks noGrp="1"/>
          </p:cNvSpPr>
          <p:nvPr>
            <p:ph type="title"/>
          </p:nvPr>
        </p:nvSpPr>
        <p:spPr>
          <a:xfrm>
            <a:off x="1143000" y="609600"/>
            <a:ext cx="6858000" cy="762000"/>
          </a:xfrm>
          <a:gradFill rotWithShape="0">
            <a:gsLst>
              <a:gs pos="0">
                <a:srgbClr val="767676"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767676">
                  <a:alpha val="100000"/>
                </a:srgbClr>
              </a:gs>
            </a:gsLst>
            <a:lin ang="5400000" scaled="1"/>
            <a:tileRect/>
          </a:gradFill>
          <a:ln/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vert="horz" wrap="square" lIns="91440" tIns="45720" rIns="91440" bIns="45720" anchor="ctr" anchorCtr="0">
            <a:flatTx/>
          </a:bodyPr>
          <a:p>
            <a:pPr eaLnBrk="1" hangingPunct="1"/>
            <a:r>
              <a:rPr lang="zh-CN" altLang="en-US" sz="5400" b="1" dirty="0">
                <a:solidFill>
                  <a:srgbClr val="990033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数值数据的表示</a:t>
            </a:r>
            <a:endParaRPr lang="zh-CN" altLang="en-US" sz="5400" b="1" dirty="0">
              <a:solidFill>
                <a:srgbClr val="990033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3795" name="Rectangle 3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609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一、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真值</a:t>
            </a:r>
            <a:r>
              <a:rPr lang="zh-CN" altLang="en-US" b="1" dirty="0">
                <a:latin typeface="宋体" panose="02010600030101010101" pitchFamily="2" charset="-122"/>
              </a:rPr>
              <a:t>与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机器数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grpSp>
        <p:nvGrpSpPr>
          <p:cNvPr id="3" name="Group 7"/>
          <p:cNvGrpSpPr/>
          <p:nvPr/>
        </p:nvGrpSpPr>
        <p:grpSpPr>
          <a:xfrm>
            <a:off x="2438400" y="609600"/>
            <a:ext cx="4038600" cy="1371600"/>
            <a:chOff x="1536" y="384"/>
            <a:chExt cx="2544" cy="864"/>
          </a:xfrm>
        </p:grpSpPr>
        <p:sp>
          <p:nvSpPr>
            <p:cNvPr id="47139" name="AutoShape 4"/>
            <p:cNvSpPr/>
            <p:nvPr/>
          </p:nvSpPr>
          <p:spPr>
            <a:xfrm>
              <a:off x="1536" y="384"/>
              <a:ext cx="2544" cy="864"/>
            </a:xfrm>
            <a:prstGeom prst="wedgeRectCallout">
              <a:avLst>
                <a:gd name="adj1" fmla="val -63796"/>
                <a:gd name="adj2" fmla="val 54745"/>
              </a:avLst>
            </a:prstGeom>
            <a:solidFill>
              <a:srgbClr val="FFCC00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47140" name="Text Box 6"/>
            <p:cNvSpPr txBox="1"/>
            <p:nvPr/>
          </p:nvSpPr>
          <p:spPr>
            <a:xfrm>
              <a:off x="1680" y="537"/>
              <a:ext cx="2112" cy="596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latin typeface="宋体" panose="02010600030101010101" pitchFamily="2" charset="-122"/>
                </a:rPr>
                <a:t>数符（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+/-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）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+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尾数（数值的绝对值</a:t>
              </a:r>
              <a:r>
                <a:rPr lang="zh-CN" altLang="en-US" sz="2400" dirty="0">
                  <a:latin typeface="宋体" panose="02010600030101010101" pitchFamily="2" charset="-122"/>
                </a:rPr>
                <a:t>）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4" name="Group 25"/>
          <p:cNvGrpSpPr/>
          <p:nvPr/>
        </p:nvGrpSpPr>
        <p:grpSpPr>
          <a:xfrm>
            <a:off x="4164013" y="685800"/>
            <a:ext cx="4294187" cy="1524000"/>
            <a:chOff x="2623" y="432"/>
            <a:chExt cx="2705" cy="960"/>
          </a:xfrm>
        </p:grpSpPr>
        <p:sp>
          <p:nvSpPr>
            <p:cNvPr id="47135" name="AutoShape 9"/>
            <p:cNvSpPr/>
            <p:nvPr/>
          </p:nvSpPr>
          <p:spPr>
            <a:xfrm>
              <a:off x="2640" y="432"/>
              <a:ext cx="2688" cy="960"/>
            </a:xfrm>
            <a:prstGeom prst="wedgeRectCallout">
              <a:avLst>
                <a:gd name="adj1" fmla="val -66963"/>
                <a:gd name="adj2" fmla="val 41250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47136" name="Text Box 10"/>
            <p:cNvSpPr txBox="1"/>
            <p:nvPr/>
          </p:nvSpPr>
          <p:spPr>
            <a:xfrm>
              <a:off x="2784" y="461"/>
              <a:ext cx="2352" cy="327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latin typeface="宋体" panose="02010600030101010101" pitchFamily="2" charset="-122"/>
                </a:rPr>
                <a:t>符号（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+/-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）数码化</a:t>
              </a:r>
              <a:r>
                <a:rPr lang="zh-CN" altLang="en-US" sz="2400" dirty="0">
                  <a:latin typeface="宋体" panose="02010600030101010101" pitchFamily="2" charset="-122"/>
                </a:rPr>
                <a:t> 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  <p:sp>
          <p:nvSpPr>
            <p:cNvPr id="47137" name="Text Box 11"/>
            <p:cNvSpPr txBox="1"/>
            <p:nvPr/>
          </p:nvSpPr>
          <p:spPr>
            <a:xfrm>
              <a:off x="2623" y="912"/>
              <a:ext cx="1015" cy="327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chemeClr val="tx2"/>
                  </a:solidFill>
                </a:rPr>
                <a:t>最高位：</a:t>
              </a:r>
              <a:endParaRPr lang="zh-CN" altLang="en-US" sz="4400" dirty="0">
                <a:solidFill>
                  <a:schemeClr val="tx2"/>
                </a:solidFill>
              </a:endParaRPr>
            </a:p>
          </p:txBody>
        </p:sp>
        <p:sp>
          <p:nvSpPr>
            <p:cNvPr id="47138" name="Text Box 12"/>
            <p:cNvSpPr txBox="1"/>
            <p:nvPr/>
          </p:nvSpPr>
          <p:spPr>
            <a:xfrm>
              <a:off x="3504" y="777"/>
              <a:ext cx="1392" cy="596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/>
                <a:t>“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0</a:t>
              </a:r>
              <a:r>
                <a:rPr lang="en-US" altLang="zh-CN" sz="2800" b="1" dirty="0"/>
                <a:t>”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表示</a:t>
              </a:r>
              <a:r>
                <a:rPr lang="zh-CN" altLang="en-US" sz="2800" b="1" dirty="0"/>
                <a:t>“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+</a:t>
              </a:r>
              <a:r>
                <a:rPr lang="en-US" altLang="zh-CN" sz="2800" b="1" dirty="0"/>
                <a:t>”</a:t>
              </a:r>
              <a:endParaRPr lang="en-US" altLang="zh-CN" sz="2800" b="1" dirty="0">
                <a:latin typeface="宋体" panose="02010600030101010101" pitchFamily="2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/>
                <a:t>“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1</a:t>
              </a:r>
              <a:r>
                <a:rPr lang="en-US" altLang="zh-CN" sz="2800" b="1" dirty="0"/>
                <a:t>”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表示</a:t>
              </a:r>
              <a:r>
                <a:rPr lang="zh-CN" altLang="en-US" sz="2800" b="1" dirty="0"/>
                <a:t>“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-</a:t>
              </a:r>
              <a:r>
                <a:rPr lang="en-US" altLang="zh-CN" sz="2800" b="1" dirty="0"/>
                <a:t>”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sp>
        <p:nvSpPr>
          <p:cNvPr id="33818" name="Text Box 26"/>
          <p:cNvSpPr txBox="1"/>
          <p:nvPr/>
        </p:nvSpPr>
        <p:spPr>
          <a:xfrm>
            <a:off x="685800" y="2667000"/>
            <a:ext cx="5838825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2"/>
                </a:solidFill>
              </a:rPr>
              <a:t>二、</a:t>
            </a:r>
            <a:r>
              <a:rPr lang="zh-CN" altLang="en-US" b="1" dirty="0">
                <a:latin typeface="宋体" panose="02010600030101010101" pitchFamily="2" charset="-122"/>
              </a:rPr>
              <a:t>带符号二进制数的代码表示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3846" name="Text Box 54"/>
          <p:cNvSpPr txBox="1"/>
          <p:nvPr/>
        </p:nvSpPr>
        <p:spPr>
          <a:xfrm>
            <a:off x="1295400" y="3429000"/>
            <a:ext cx="2630488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1. </a:t>
            </a:r>
            <a:r>
              <a:rPr lang="zh-CN" altLang="en-US" sz="2800" b="1" dirty="0">
                <a:latin typeface="宋体" panose="02010600030101010101" pitchFamily="2" charset="-122"/>
              </a:rPr>
              <a:t>原码</a:t>
            </a:r>
            <a:r>
              <a:rPr lang="en-US" altLang="zh-CN" sz="2800" b="1" dirty="0">
                <a:latin typeface="宋体" panose="02010600030101010101" pitchFamily="2" charset="-122"/>
              </a:rPr>
              <a:t>[X]</a:t>
            </a:r>
            <a:r>
              <a:rPr lang="zh-CN" altLang="en-US" sz="2800" b="1" baseline="-25000" dirty="0">
                <a:latin typeface="宋体" panose="02010600030101010101" pitchFamily="2" charset="-122"/>
              </a:rPr>
              <a:t>原：</a:t>
            </a:r>
            <a:endParaRPr lang="zh-CN" altLang="en-US" sz="2800" b="1" baseline="-25000" dirty="0">
              <a:latin typeface="宋体" panose="02010600030101010101" pitchFamily="2" charset="-122"/>
            </a:endParaRPr>
          </a:p>
        </p:txBody>
      </p:sp>
      <p:grpSp>
        <p:nvGrpSpPr>
          <p:cNvPr id="5" name="Group 51"/>
          <p:cNvGrpSpPr/>
          <p:nvPr/>
        </p:nvGrpSpPr>
        <p:grpSpPr>
          <a:xfrm>
            <a:off x="1295400" y="3276600"/>
            <a:ext cx="6705600" cy="2209800"/>
            <a:chOff x="0" y="2640"/>
            <a:chExt cx="4224" cy="1392"/>
          </a:xfrm>
        </p:grpSpPr>
        <p:grpSp>
          <p:nvGrpSpPr>
            <p:cNvPr id="47131" name="Group 50"/>
            <p:cNvGrpSpPr/>
            <p:nvPr/>
          </p:nvGrpSpPr>
          <p:grpSpPr>
            <a:xfrm>
              <a:off x="2304" y="2640"/>
              <a:ext cx="1920" cy="1392"/>
              <a:chOff x="2160" y="2592"/>
              <a:chExt cx="1920" cy="1392"/>
            </a:xfrm>
          </p:grpSpPr>
          <p:sp>
            <p:nvSpPr>
              <p:cNvPr id="47133" name="AutoShape 46" descr="羊皮纸"/>
              <p:cNvSpPr/>
              <p:nvPr/>
            </p:nvSpPr>
            <p:spPr>
              <a:xfrm>
                <a:off x="2160" y="2592"/>
                <a:ext cx="1920" cy="1392"/>
              </a:xfrm>
              <a:prstGeom prst="leftArrowCallout">
                <a:avLst>
                  <a:gd name="adj1" fmla="val 25000"/>
                  <a:gd name="adj2" fmla="val 25000"/>
                  <a:gd name="adj3" fmla="val 22988"/>
                  <a:gd name="adj4" fmla="val 66667"/>
                </a:avLst>
              </a:prstGeom>
              <a:blipFill rotWithShape="0">
                <a:blip r:embed="rId5"/>
              </a:blip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47134" name="Text Box 48"/>
              <p:cNvSpPr txBox="1"/>
              <p:nvPr/>
            </p:nvSpPr>
            <p:spPr>
              <a:xfrm>
                <a:off x="2880" y="2736"/>
                <a:ext cx="1010" cy="11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None/>
                </a:pPr>
                <a:r>
                  <a:rPr lang="zh-CN" altLang="en-US" sz="2800" b="1" dirty="0">
                    <a:solidFill>
                      <a:schemeClr val="tx2"/>
                    </a:solidFill>
                  </a:rPr>
                  <a:t>原码</a:t>
                </a:r>
                <a:endParaRPr lang="zh-CN" altLang="en-US" sz="2800" b="1" dirty="0">
                  <a:solidFill>
                    <a:schemeClr val="tx2"/>
                  </a:solidFill>
                </a:endParaRPr>
              </a:p>
              <a:p>
                <a:pPr marL="0" lvl="0" indent="0" algn="just" eaLnBrk="1" hangingPunct="1">
                  <a:spcBef>
                    <a:spcPct val="0"/>
                  </a:spcBef>
                  <a:buNone/>
                </a:pPr>
                <a:r>
                  <a:rPr lang="zh-CN" altLang="en-US" sz="2800" b="1" dirty="0">
                    <a:solidFill>
                      <a:schemeClr val="tx2"/>
                    </a:solidFill>
                  </a:rPr>
                  <a:t>反码</a:t>
                </a:r>
                <a:endParaRPr lang="zh-CN" altLang="en-US" sz="2800" b="1" dirty="0">
                  <a:solidFill>
                    <a:schemeClr val="tx2"/>
                  </a:solidFill>
                </a:endParaRPr>
              </a:p>
              <a:p>
                <a:pPr marL="0" lvl="0" indent="0" algn="just" eaLnBrk="1" hangingPunct="1">
                  <a:spcBef>
                    <a:spcPct val="0"/>
                  </a:spcBef>
                  <a:buNone/>
                </a:pPr>
                <a:r>
                  <a:rPr lang="zh-CN" altLang="en-US" sz="2800" b="1" dirty="0">
                    <a:solidFill>
                      <a:schemeClr val="tx2"/>
                    </a:solidFill>
                  </a:rPr>
                  <a:t>补码</a:t>
                </a:r>
                <a:endParaRPr lang="zh-CN" altLang="en-US" sz="2800" b="1" dirty="0">
                  <a:solidFill>
                    <a:schemeClr val="tx2"/>
                  </a:solidFill>
                </a:endParaRPr>
              </a:p>
              <a:p>
                <a:pPr marL="0" lvl="0" indent="0" algn="just" eaLnBrk="1" hangingPunct="1">
                  <a:spcBef>
                    <a:spcPct val="0"/>
                  </a:spcBef>
                  <a:buNone/>
                </a:pPr>
                <a:r>
                  <a:rPr lang="zh-CN" altLang="en-US" sz="2800" b="1" dirty="0">
                    <a:solidFill>
                      <a:schemeClr val="tx2"/>
                    </a:solidFill>
                  </a:rPr>
                  <a:t>变形补码</a:t>
                </a:r>
                <a:endParaRPr lang="zh-CN" altLang="en-US" sz="4400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47132" name="Text Box 49"/>
            <p:cNvSpPr txBox="1"/>
            <p:nvPr/>
          </p:nvSpPr>
          <p:spPr>
            <a:xfrm>
              <a:off x="0" y="3168"/>
              <a:ext cx="2351" cy="327"/>
            </a:xfrm>
            <a:prstGeom prst="rect">
              <a:avLst/>
            </a:prstGeom>
            <a:solidFill>
              <a:srgbClr val="FFCCCC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latin typeface="宋体" panose="02010600030101010101" pitchFamily="2" charset="-122"/>
                </a:rPr>
                <a:t>尾数部分的表示形式：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7" name="Group 65"/>
          <p:cNvGrpSpPr/>
          <p:nvPr/>
        </p:nvGrpSpPr>
        <p:grpSpPr>
          <a:xfrm>
            <a:off x="1295400" y="3962400"/>
            <a:ext cx="3505200" cy="1524000"/>
            <a:chOff x="816" y="2496"/>
            <a:chExt cx="2208" cy="960"/>
          </a:xfrm>
        </p:grpSpPr>
        <p:sp>
          <p:nvSpPr>
            <p:cNvPr id="47127" name="AutoShape 64" descr="羊皮纸"/>
            <p:cNvSpPr/>
            <p:nvPr/>
          </p:nvSpPr>
          <p:spPr>
            <a:xfrm>
              <a:off x="816" y="2496"/>
              <a:ext cx="2208" cy="960"/>
            </a:xfrm>
            <a:prstGeom prst="wedgeRoundRectCallout">
              <a:avLst>
                <a:gd name="adj1" fmla="val 52718"/>
                <a:gd name="adj2" fmla="val -51042"/>
                <a:gd name="adj3" fmla="val 16667"/>
              </a:avLst>
            </a:prstGeom>
            <a:blipFill rotWithShape="0">
              <a:blip r:embed="rId5"/>
            </a:blip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grpSp>
          <p:nvGrpSpPr>
            <p:cNvPr id="47128" name="Group 60"/>
            <p:cNvGrpSpPr/>
            <p:nvPr/>
          </p:nvGrpSpPr>
          <p:grpSpPr>
            <a:xfrm>
              <a:off x="912" y="2688"/>
              <a:ext cx="2030" cy="596"/>
              <a:chOff x="1077" y="3984"/>
              <a:chExt cx="2030" cy="596"/>
            </a:xfrm>
          </p:grpSpPr>
          <p:sp>
            <p:nvSpPr>
              <p:cNvPr id="47129" name="Text Box 57"/>
              <p:cNvSpPr txBox="1"/>
              <p:nvPr/>
            </p:nvSpPr>
            <p:spPr>
              <a:xfrm>
                <a:off x="1077" y="4156"/>
                <a:ext cx="795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CN" altLang="en-US" sz="2800" b="1" dirty="0">
                    <a:solidFill>
                      <a:schemeClr val="tx2"/>
                    </a:solidFill>
                  </a:rPr>
                  <a:t>最高位：</a:t>
                </a:r>
                <a:endParaRPr lang="zh-CN" altLang="en-US" sz="28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47130" name="Text Box 59"/>
              <p:cNvSpPr txBox="1"/>
              <p:nvPr/>
            </p:nvSpPr>
            <p:spPr>
              <a:xfrm>
                <a:off x="1872" y="3984"/>
                <a:ext cx="1235" cy="5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/>
                  <a:t>“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0</a:t>
                </a:r>
                <a:r>
                  <a:rPr lang="en-US" altLang="zh-CN" sz="2800" b="1" dirty="0"/>
                  <a:t>”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表示</a:t>
                </a:r>
                <a:r>
                  <a:rPr lang="zh-CN" altLang="en-US" sz="2800" b="1" dirty="0"/>
                  <a:t>“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+</a:t>
                </a:r>
                <a:r>
                  <a:rPr lang="en-US" altLang="zh-CN" sz="2800" b="1" dirty="0"/>
                  <a:t>”</a:t>
                </a:r>
                <a:endParaRPr lang="en-US" altLang="zh-CN" sz="2800" b="1" dirty="0">
                  <a:latin typeface="宋体" panose="02010600030101010101" pitchFamily="2" charset="-122"/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/>
                  <a:t>“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1</a:t>
                </a:r>
                <a:r>
                  <a:rPr lang="en-US" altLang="zh-CN" sz="2800" b="1" dirty="0"/>
                  <a:t>”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表示</a:t>
                </a:r>
                <a:r>
                  <a:rPr lang="zh-CN" altLang="en-US" sz="2800" b="1" dirty="0"/>
                  <a:t>“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-</a:t>
                </a:r>
                <a:r>
                  <a:rPr lang="en-US" altLang="zh-CN" sz="2800" b="1" dirty="0"/>
                  <a:t>”</a:t>
                </a:r>
                <a:endParaRPr lang="en-US" altLang="zh-CN" sz="2800" b="1" dirty="0">
                  <a:latin typeface="宋体" panose="02010600030101010101" pitchFamily="2" charset="-122"/>
                </a:endParaRPr>
              </a:p>
            </p:txBody>
          </p:sp>
        </p:grpSp>
      </p:grpSp>
      <p:sp>
        <p:nvSpPr>
          <p:cNvPr id="33847" name="Text Box 55"/>
          <p:cNvSpPr txBox="1"/>
          <p:nvPr/>
        </p:nvSpPr>
        <p:spPr>
          <a:xfrm>
            <a:off x="3886200" y="3505200"/>
            <a:ext cx="17526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符号位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33854" name="Text Box 62"/>
          <p:cNvSpPr txBox="1"/>
          <p:nvPr/>
        </p:nvSpPr>
        <p:spPr>
          <a:xfrm>
            <a:off x="5334000" y="3352800"/>
            <a:ext cx="500063" cy="762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4400" dirty="0">
                <a:solidFill>
                  <a:schemeClr val="tx2"/>
                </a:solidFill>
              </a:rPr>
              <a:t>+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33859" name="Text Box 67"/>
          <p:cNvSpPr txBox="1"/>
          <p:nvPr/>
        </p:nvSpPr>
        <p:spPr>
          <a:xfrm>
            <a:off x="5715000" y="3505200"/>
            <a:ext cx="303053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尾数部分（真值）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33860" name="Text Box 68"/>
          <p:cNvSpPr txBox="1"/>
          <p:nvPr/>
        </p:nvSpPr>
        <p:spPr>
          <a:xfrm>
            <a:off x="1371600" y="5715000"/>
            <a:ext cx="23209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原码的性质：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grpSp>
        <p:nvGrpSpPr>
          <p:cNvPr id="9" name="Group 78"/>
          <p:cNvGrpSpPr/>
          <p:nvPr/>
        </p:nvGrpSpPr>
        <p:grpSpPr>
          <a:xfrm>
            <a:off x="304800" y="2057400"/>
            <a:ext cx="8534400" cy="3657600"/>
            <a:chOff x="192" y="1296"/>
            <a:chExt cx="5376" cy="2304"/>
          </a:xfrm>
        </p:grpSpPr>
        <p:sp>
          <p:nvSpPr>
            <p:cNvPr id="47122" name="AutoShape 72"/>
            <p:cNvSpPr/>
            <p:nvPr/>
          </p:nvSpPr>
          <p:spPr>
            <a:xfrm>
              <a:off x="192" y="1296"/>
              <a:ext cx="5376" cy="2304"/>
            </a:xfrm>
            <a:prstGeom prst="wedgeRectCallout">
              <a:avLst>
                <a:gd name="adj1" fmla="val 1676"/>
                <a:gd name="adj2" fmla="val 55644"/>
              </a:avLst>
            </a:prstGeom>
            <a:solidFill>
              <a:srgbClr val="FFCC00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grpSp>
          <p:nvGrpSpPr>
            <p:cNvPr id="47123" name="Group 77"/>
            <p:cNvGrpSpPr/>
            <p:nvPr/>
          </p:nvGrpSpPr>
          <p:grpSpPr>
            <a:xfrm>
              <a:off x="223" y="1335"/>
              <a:ext cx="5249" cy="2131"/>
              <a:chOff x="223" y="1335"/>
              <a:chExt cx="5249" cy="2131"/>
            </a:xfrm>
          </p:grpSpPr>
          <p:sp>
            <p:nvSpPr>
              <p:cNvPr id="47124" name="Text Box 73"/>
              <p:cNvSpPr txBox="1"/>
              <p:nvPr/>
            </p:nvSpPr>
            <p:spPr>
              <a:xfrm>
                <a:off x="240" y="1335"/>
                <a:ext cx="5232" cy="711"/>
              </a:xfrm>
              <a:prstGeom prst="rect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spcBef>
                    <a:spcPct val="0"/>
                  </a:spcBef>
                  <a:buNone/>
                </a:pPr>
                <a:r>
                  <a:rPr lang="en-US" altLang="zh-CN" sz="4000" b="1" dirty="0">
                    <a:solidFill>
                      <a:srgbClr val="FF0000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</a:t>
                </a:r>
                <a:r>
                  <a:rPr lang="en-US" altLang="zh-CN" sz="4000" b="1" dirty="0">
                    <a:solidFill>
                      <a:schemeClr val="accent2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 </a:t>
                </a:r>
                <a:r>
                  <a:rPr lang="en-US" altLang="zh-CN" sz="2800" b="1" dirty="0"/>
                  <a:t>“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0</a:t>
                </a:r>
                <a:r>
                  <a:rPr lang="en-US" altLang="zh-CN" sz="2800" b="1" dirty="0"/>
                  <a:t>”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有两种表示形式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  <a:p>
                <a:pPr marL="0" lvl="0" indent="0" algn="just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latin typeface="宋体" panose="02010600030101010101" pitchFamily="2" charset="-122"/>
                  </a:rPr>
                  <a:t>[+00</a:t>
                </a:r>
                <a:r>
                  <a:rPr lang="en-US" altLang="zh-CN" sz="2800" b="1" baseline="30000" dirty="0"/>
                  <a:t>…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0]</a:t>
                </a:r>
                <a:r>
                  <a:rPr lang="zh-CN" altLang="en-US" sz="2800" b="1" baseline="-25000" dirty="0">
                    <a:latin typeface="宋体" panose="02010600030101010101" pitchFamily="2" charset="-122"/>
                  </a:rPr>
                  <a:t>原 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= 000</a:t>
                </a:r>
                <a:r>
                  <a:rPr lang="en-US" altLang="zh-CN" sz="2800" b="1" baseline="30000" dirty="0"/>
                  <a:t>…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0 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而 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[-00</a:t>
                </a:r>
                <a:r>
                  <a:rPr lang="en-US" altLang="zh-CN" sz="2800" b="1" baseline="30000" dirty="0"/>
                  <a:t>…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0]</a:t>
                </a:r>
                <a:r>
                  <a:rPr lang="zh-CN" altLang="en-US" sz="2800" b="1" baseline="-25000" dirty="0">
                    <a:latin typeface="宋体" panose="02010600030101010101" pitchFamily="2" charset="-122"/>
                  </a:rPr>
                  <a:t>原 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= 100</a:t>
                </a:r>
                <a:r>
                  <a:rPr lang="en-US" altLang="zh-CN" sz="2800" b="1" baseline="30000" dirty="0"/>
                  <a:t>…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0</a:t>
                </a:r>
                <a:endParaRPr lang="en-US" altLang="zh-CN" sz="2800" b="1" u="sng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7125" name="Text Box 75"/>
              <p:cNvSpPr txBox="1"/>
              <p:nvPr/>
            </p:nvSpPr>
            <p:spPr>
              <a:xfrm>
                <a:off x="240" y="1968"/>
                <a:ext cx="5232" cy="980"/>
              </a:xfrm>
              <a:prstGeom prst="rect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spcBef>
                    <a:spcPct val="0"/>
                  </a:spcBef>
                  <a:buNone/>
                </a:pPr>
                <a:r>
                  <a:rPr lang="en-US" altLang="zh-CN" sz="4000" b="1" dirty="0">
                    <a:solidFill>
                      <a:srgbClr val="FF0000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 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数值范围： 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+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（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2</a:t>
                </a:r>
                <a:r>
                  <a:rPr lang="en-US" altLang="zh-CN" sz="2800" b="1" baseline="30000" dirty="0">
                    <a:latin typeface="宋体" panose="02010600030101010101" pitchFamily="2" charset="-122"/>
                  </a:rPr>
                  <a:t>n </a:t>
                </a:r>
                <a:r>
                  <a:rPr lang="en-US" altLang="zh-CN" sz="2800" b="1" baseline="30000" dirty="0"/>
                  <a:t>–</a:t>
                </a:r>
                <a:r>
                  <a:rPr lang="en-US" altLang="zh-CN" sz="2800" b="1" baseline="30000" dirty="0">
                    <a:latin typeface="宋体" panose="02010600030101010101" pitchFamily="2" charset="-122"/>
                  </a:rPr>
                  <a:t>1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-1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）≤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[X]</a:t>
                </a:r>
                <a:r>
                  <a:rPr lang="zh-CN" altLang="en-US" sz="2800" b="1" baseline="-25000" dirty="0">
                    <a:latin typeface="宋体" panose="02010600030101010101" pitchFamily="2" charset="-122"/>
                  </a:rPr>
                  <a:t>原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≤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-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（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2</a:t>
                </a:r>
                <a:r>
                  <a:rPr lang="en-US" altLang="zh-CN" sz="2800" b="1" baseline="30000" dirty="0">
                    <a:latin typeface="宋体" panose="02010600030101010101" pitchFamily="2" charset="-122"/>
                  </a:rPr>
                  <a:t>n-1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-1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）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  <a:p>
                <a:pPr marL="0" lvl="0" indent="0" algn="just">
                  <a:spcBef>
                    <a:spcPct val="0"/>
                  </a:spcBef>
                  <a:buNone/>
                </a:pPr>
                <a:r>
                  <a:rPr lang="zh-CN" altLang="en-US" sz="2800" b="1" dirty="0">
                    <a:latin typeface="宋体" panose="02010600030101010101" pitchFamily="2" charset="-122"/>
                  </a:rPr>
                  <a:t>如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n = 8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，原码范围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01111111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～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11111111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，数值范围为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+127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～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-127</a:t>
                </a:r>
                <a:endParaRPr lang="en-US" altLang="zh-CN" sz="28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7126" name="Text Box 76"/>
              <p:cNvSpPr txBox="1"/>
              <p:nvPr/>
            </p:nvSpPr>
            <p:spPr>
              <a:xfrm>
                <a:off x="223" y="3024"/>
                <a:ext cx="3573" cy="442"/>
              </a:xfrm>
              <a:prstGeom prst="rect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4000" b="1" dirty="0">
                    <a:solidFill>
                      <a:srgbClr val="FF0000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 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符号位后的尾数即为真值的数值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</p:grpSp>
      </p:grpSp>
      <p:pic>
        <p:nvPicPr>
          <p:cNvPr id="47120" name="Picture 80" descr="wb01508_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1400" y="60198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121" name="Text Box 81">
            <a:hlinkClick r:id="rId6" action="ppaction://hlinksldjump"/>
          </p:cNvPr>
          <p:cNvSpPr txBox="1"/>
          <p:nvPr/>
        </p:nvSpPr>
        <p:spPr>
          <a:xfrm>
            <a:off x="7588250" y="60960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3795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3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3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3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3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3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 animBg="1"/>
      <p:bldP spid="33795" grpId="0" build="p"/>
      <p:bldP spid="33818" grpId="0"/>
      <p:bldP spid="33846" grpId="0"/>
      <p:bldP spid="33847" grpId="0"/>
      <p:bldP spid="33854" grpId="0"/>
      <p:bldP spid="33859" grpId="0"/>
      <p:bldP spid="3386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4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838200"/>
          </a:xfrm>
          <a:gradFill rotWithShape="0">
            <a:gsLst>
              <a:gs pos="0">
                <a:srgbClr val="767676"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767676">
                  <a:alpha val="100000"/>
                </a:srgbClr>
              </a:gs>
            </a:gsLst>
            <a:lin ang="5400000" scaled="1"/>
            <a:tileRect/>
          </a:gradFill>
          <a:ln/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vert="horz" wrap="square" lIns="91440" tIns="45720" rIns="91440" bIns="45720" anchor="ctr" anchorCtr="0">
            <a:flatTx/>
          </a:bodyPr>
          <a:p>
            <a:pPr eaLnBrk="1" hangingPunct="1"/>
            <a:r>
              <a:rPr lang="zh-CN" altLang="en-US" sz="5400" b="1" dirty="0">
                <a:solidFill>
                  <a:srgbClr val="990033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数值数据的表示</a:t>
            </a:r>
            <a:endParaRPr lang="zh-CN" altLang="en-US" sz="5400" b="1" dirty="0">
              <a:solidFill>
                <a:srgbClr val="990033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4821" name="Text Box 5"/>
          <p:cNvSpPr txBox="1"/>
          <p:nvPr/>
        </p:nvSpPr>
        <p:spPr>
          <a:xfrm>
            <a:off x="609600" y="1752600"/>
            <a:ext cx="2751138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2. </a:t>
            </a:r>
            <a:r>
              <a:rPr lang="zh-CN" altLang="en-US" b="1" dirty="0">
                <a:latin typeface="宋体" panose="02010600030101010101" pitchFamily="2" charset="-122"/>
              </a:rPr>
              <a:t>反码</a:t>
            </a:r>
            <a:r>
              <a:rPr lang="en-US" altLang="zh-CN" b="1" dirty="0">
                <a:latin typeface="宋体" panose="02010600030101010101" pitchFamily="2" charset="-122"/>
              </a:rPr>
              <a:t>[X]</a:t>
            </a:r>
            <a:r>
              <a:rPr lang="zh-CN" altLang="en-US" b="1" baseline="-25000" dirty="0">
                <a:latin typeface="宋体" panose="02010600030101010101" pitchFamily="2" charset="-122"/>
              </a:rPr>
              <a:t>反：</a:t>
            </a:r>
            <a:endParaRPr lang="zh-CN" altLang="en-US" sz="2400" b="1" baseline="-25000" dirty="0">
              <a:latin typeface="宋体" panose="02010600030101010101" pitchFamily="2" charset="-122"/>
            </a:endParaRPr>
          </a:p>
        </p:txBody>
      </p:sp>
      <p:sp>
        <p:nvSpPr>
          <p:cNvPr id="34822" name="Text Box 6"/>
          <p:cNvSpPr txBox="1"/>
          <p:nvPr/>
        </p:nvSpPr>
        <p:spPr>
          <a:xfrm>
            <a:off x="3276600" y="1905000"/>
            <a:ext cx="123666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符号位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sp>
        <p:nvSpPr>
          <p:cNvPr id="34823" name="Text Box 7"/>
          <p:cNvSpPr txBox="1"/>
          <p:nvPr/>
        </p:nvSpPr>
        <p:spPr>
          <a:xfrm>
            <a:off x="4543425" y="1844675"/>
            <a:ext cx="444500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chemeClr val="tx2"/>
                </a:solidFill>
              </a:rPr>
              <a:t>+</a:t>
            </a:r>
            <a:endParaRPr lang="en-US" altLang="zh-CN" sz="3600" dirty="0">
              <a:solidFill>
                <a:schemeClr val="tx2"/>
              </a:solidFill>
            </a:endParaRPr>
          </a:p>
        </p:txBody>
      </p:sp>
      <p:sp>
        <p:nvSpPr>
          <p:cNvPr id="34824" name="Text Box 8"/>
          <p:cNvSpPr txBox="1"/>
          <p:nvPr/>
        </p:nvSpPr>
        <p:spPr>
          <a:xfrm>
            <a:off x="5105400" y="1905000"/>
            <a:ext cx="161131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尾数部分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34825" name="AutoShape 9" descr="羊皮纸"/>
          <p:cNvSpPr/>
          <p:nvPr/>
        </p:nvSpPr>
        <p:spPr>
          <a:xfrm>
            <a:off x="990600" y="381000"/>
            <a:ext cx="6934200" cy="1371600"/>
          </a:xfrm>
          <a:prstGeom prst="wedgeRectCallout">
            <a:avLst>
              <a:gd name="adj1" fmla="val 24380"/>
              <a:gd name="adj2" fmla="val 73380"/>
            </a:avLst>
          </a:prstGeom>
          <a:blipFill rotWithShape="0">
            <a:blip r:embed="rId1"/>
          </a:blip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4400" dirty="0">
              <a:solidFill>
                <a:schemeClr val="tx2"/>
              </a:solidFill>
            </a:endParaRPr>
          </a:p>
        </p:txBody>
      </p:sp>
      <p:sp>
        <p:nvSpPr>
          <p:cNvPr id="34827" name="Text Box 11"/>
          <p:cNvSpPr txBox="1"/>
          <p:nvPr/>
        </p:nvSpPr>
        <p:spPr>
          <a:xfrm>
            <a:off x="865188" y="3810000"/>
            <a:ext cx="221456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 </a:t>
            </a:r>
            <a:r>
              <a:rPr lang="zh-CN" altLang="en-US" sz="2800" b="1" dirty="0">
                <a:solidFill>
                  <a:schemeClr val="tx2"/>
                </a:solidFill>
              </a:rPr>
              <a:t>反码的性质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sp>
        <p:nvSpPr>
          <p:cNvPr id="34832" name="Text Box 16"/>
          <p:cNvSpPr txBox="1"/>
          <p:nvPr/>
        </p:nvSpPr>
        <p:spPr>
          <a:xfrm>
            <a:off x="1428750" y="571500"/>
            <a:ext cx="61722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正数：尾数部分与真值形式相同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34833" name="Text Box 17"/>
          <p:cNvSpPr txBox="1"/>
          <p:nvPr/>
        </p:nvSpPr>
        <p:spPr>
          <a:xfrm>
            <a:off x="1371600" y="990600"/>
            <a:ext cx="60960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负数：尾数为真值数值部分按位取反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pSp>
        <p:nvGrpSpPr>
          <p:cNvPr id="2" name="Group 28"/>
          <p:cNvGrpSpPr/>
          <p:nvPr/>
        </p:nvGrpSpPr>
        <p:grpSpPr>
          <a:xfrm>
            <a:off x="228600" y="2438400"/>
            <a:ext cx="7543800" cy="1295400"/>
            <a:chOff x="144" y="1536"/>
            <a:chExt cx="4752" cy="816"/>
          </a:xfrm>
        </p:grpSpPr>
        <p:sp>
          <p:nvSpPr>
            <p:cNvPr id="48157" name="Rectangle 19" descr="羊皮纸"/>
            <p:cNvSpPr/>
            <p:nvPr/>
          </p:nvSpPr>
          <p:spPr>
            <a:xfrm>
              <a:off x="816" y="1536"/>
              <a:ext cx="4080" cy="816"/>
            </a:xfrm>
            <a:prstGeom prst="rect">
              <a:avLst/>
            </a:prstGeom>
            <a:blipFill rotWithShape="0">
              <a:blip r:embed="rId1"/>
            </a:blip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48158" name="Text Box 20"/>
            <p:cNvSpPr txBox="1"/>
            <p:nvPr/>
          </p:nvSpPr>
          <p:spPr>
            <a:xfrm>
              <a:off x="144" y="1632"/>
              <a:ext cx="216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914400" lvl="2" indent="0" algn="ctr">
                <a:spcBef>
                  <a:spcPct val="0"/>
                </a:spcBef>
                <a:buNone/>
              </a:pPr>
              <a:r>
                <a:rPr lang="en-US" altLang="zh-CN" dirty="0">
                  <a:latin typeface="宋体" panose="02010600030101010101" pitchFamily="2" charset="-122"/>
                </a:rPr>
                <a:t>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X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1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 = +4</a:t>
              </a:r>
              <a:endParaRPr lang="en-US" altLang="zh-CN" dirty="0">
                <a:latin typeface="宋体" panose="02010600030101010101" pitchFamily="2" charset="-122"/>
              </a:endParaRPr>
            </a:p>
          </p:txBody>
        </p:sp>
      </p:grpSp>
      <p:sp>
        <p:nvSpPr>
          <p:cNvPr id="34840" name="Text Box 24"/>
          <p:cNvSpPr txBox="1"/>
          <p:nvPr/>
        </p:nvSpPr>
        <p:spPr>
          <a:xfrm>
            <a:off x="1371600" y="3170238"/>
            <a:ext cx="2133600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X</a:t>
            </a:r>
            <a:r>
              <a:rPr lang="en-US" altLang="zh-CN" sz="2800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sz="2800" b="1" dirty="0">
                <a:latin typeface="宋体" panose="02010600030101010101" pitchFamily="2" charset="-122"/>
              </a:rPr>
              <a:t> = -4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  <p:sp>
        <p:nvSpPr>
          <p:cNvPr id="34842" name="Text Box 26"/>
          <p:cNvSpPr txBox="1"/>
          <p:nvPr/>
        </p:nvSpPr>
        <p:spPr>
          <a:xfrm>
            <a:off x="3124200" y="2560638"/>
            <a:ext cx="4495800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914400" lvl="2" indent="0" algn="ctr">
              <a:spcBef>
                <a:spcPct val="0"/>
              </a:spcBef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[X</a:t>
            </a:r>
            <a:r>
              <a:rPr lang="en-US" altLang="zh-CN" sz="2800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宋体" panose="02010600030101010101" pitchFamily="2" charset="-122"/>
              </a:rPr>
              <a:t>]</a:t>
            </a:r>
            <a:r>
              <a:rPr lang="zh-CN" altLang="en-US" sz="2800" b="1" baseline="-25000" dirty="0">
                <a:latin typeface="宋体" panose="02010600030101010101" pitchFamily="2" charset="-122"/>
              </a:rPr>
              <a:t>反</a:t>
            </a:r>
            <a:r>
              <a:rPr lang="zh-CN" altLang="en-US" sz="2800" b="1" dirty="0">
                <a:latin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宋体" panose="02010600030101010101" pitchFamily="2" charset="-122"/>
              </a:rPr>
              <a:t>= </a:t>
            </a:r>
            <a:r>
              <a:rPr lang="en-US" altLang="zh-CN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800" b="1" dirty="0">
                <a:latin typeface="宋体" panose="02010600030101010101" pitchFamily="2" charset="-122"/>
              </a:rPr>
              <a:t>0000100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34843" name="Text Box 27"/>
          <p:cNvSpPr txBox="1"/>
          <p:nvPr/>
        </p:nvSpPr>
        <p:spPr>
          <a:xfrm>
            <a:off x="4267200" y="3124200"/>
            <a:ext cx="30368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[X</a:t>
            </a:r>
            <a:r>
              <a:rPr lang="en-US" altLang="zh-CN" sz="2800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sz="2800" b="1" dirty="0">
                <a:latin typeface="宋体" panose="02010600030101010101" pitchFamily="2" charset="-122"/>
              </a:rPr>
              <a:t>]</a:t>
            </a:r>
            <a:r>
              <a:rPr lang="zh-CN" altLang="en-US" sz="2800" b="1" baseline="-25000" dirty="0">
                <a:latin typeface="宋体" panose="02010600030101010101" pitchFamily="2" charset="-122"/>
              </a:rPr>
              <a:t>反</a:t>
            </a:r>
            <a:r>
              <a:rPr lang="zh-CN" altLang="en-US" sz="2800" b="1" dirty="0">
                <a:latin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宋体" panose="02010600030101010101" pitchFamily="2" charset="-122"/>
              </a:rPr>
              <a:t>= </a:t>
            </a:r>
            <a:r>
              <a:rPr lang="en-US" altLang="zh-CN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宋体" panose="02010600030101010101" pitchFamily="2" charset="-122"/>
              </a:rPr>
              <a:t>1111011</a:t>
            </a:r>
            <a:endParaRPr lang="en-US" altLang="zh-CN" sz="2800" b="1" dirty="0">
              <a:latin typeface="宋体" panose="02010600030101010101" pitchFamily="2" charset="-122"/>
            </a:endParaRPr>
          </a:p>
        </p:txBody>
      </p:sp>
      <p:sp>
        <p:nvSpPr>
          <p:cNvPr id="34850" name="Text Box 34"/>
          <p:cNvSpPr txBox="1"/>
          <p:nvPr/>
        </p:nvSpPr>
        <p:spPr>
          <a:xfrm>
            <a:off x="609600" y="4343400"/>
            <a:ext cx="2754313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3</a:t>
            </a:r>
            <a:r>
              <a:rPr lang="zh-CN" altLang="en-US" b="1" dirty="0">
                <a:solidFill>
                  <a:schemeClr val="tx2"/>
                </a:solidFill>
              </a:rPr>
              <a:t>、</a:t>
            </a:r>
            <a:r>
              <a:rPr lang="zh-CN" altLang="en-US" b="1" dirty="0">
                <a:latin typeface="宋体" panose="02010600030101010101" pitchFamily="2" charset="-122"/>
              </a:rPr>
              <a:t>补码</a:t>
            </a:r>
            <a:r>
              <a:rPr lang="en-US" altLang="zh-CN" b="1" dirty="0">
                <a:latin typeface="宋体" panose="02010600030101010101" pitchFamily="2" charset="-122"/>
              </a:rPr>
              <a:t>[X]</a:t>
            </a:r>
            <a:r>
              <a:rPr lang="zh-CN" altLang="en-US" b="1" baseline="-25000" dirty="0">
                <a:latin typeface="宋体" panose="02010600030101010101" pitchFamily="2" charset="-122"/>
              </a:rPr>
              <a:t>补：</a:t>
            </a:r>
            <a:endParaRPr lang="zh-CN" altLang="en-US" b="1" baseline="-25000" dirty="0">
              <a:latin typeface="宋体" panose="02010600030101010101" pitchFamily="2" charset="-122"/>
            </a:endParaRPr>
          </a:p>
        </p:txBody>
      </p:sp>
      <p:sp>
        <p:nvSpPr>
          <p:cNvPr id="34851" name="Text Box 35"/>
          <p:cNvSpPr txBox="1"/>
          <p:nvPr/>
        </p:nvSpPr>
        <p:spPr>
          <a:xfrm>
            <a:off x="3429000" y="4419600"/>
            <a:ext cx="123666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符号位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sp>
        <p:nvSpPr>
          <p:cNvPr id="34852" name="Text Box 36"/>
          <p:cNvSpPr txBox="1"/>
          <p:nvPr/>
        </p:nvSpPr>
        <p:spPr>
          <a:xfrm>
            <a:off x="4953000" y="4419600"/>
            <a:ext cx="38735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+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34853" name="Text Box 37"/>
          <p:cNvSpPr txBox="1"/>
          <p:nvPr/>
        </p:nvSpPr>
        <p:spPr>
          <a:xfrm>
            <a:off x="5638800" y="4419600"/>
            <a:ext cx="161131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尾数部分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sp>
        <p:nvSpPr>
          <p:cNvPr id="34855" name="AutoShape 39"/>
          <p:cNvSpPr/>
          <p:nvPr/>
        </p:nvSpPr>
        <p:spPr>
          <a:xfrm>
            <a:off x="2057400" y="5029200"/>
            <a:ext cx="6781800" cy="1600200"/>
          </a:xfrm>
          <a:prstGeom prst="wedgeRectCallout">
            <a:avLst>
              <a:gd name="adj1" fmla="val 6602"/>
              <a:gd name="adj2" fmla="val -64486"/>
            </a:avLst>
          </a:prstGeom>
          <a:solidFill>
            <a:srgbClr val="FFCC00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4400" dirty="0">
              <a:solidFill>
                <a:schemeClr val="tx2"/>
              </a:solidFill>
            </a:endParaRPr>
          </a:p>
        </p:txBody>
      </p:sp>
      <p:sp>
        <p:nvSpPr>
          <p:cNvPr id="34858" name="Text Box 42"/>
          <p:cNvSpPr txBox="1"/>
          <p:nvPr/>
        </p:nvSpPr>
        <p:spPr>
          <a:xfrm>
            <a:off x="2057400" y="5105400"/>
            <a:ext cx="67056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正数：尾数部分与真值同即</a:t>
            </a:r>
            <a:r>
              <a:rPr lang="en-US" altLang="zh-CN" sz="2400" b="1" dirty="0">
                <a:latin typeface="宋体" panose="02010600030101010101" pitchFamily="2" charset="-122"/>
              </a:rPr>
              <a:t>[X]</a:t>
            </a:r>
            <a:r>
              <a:rPr lang="zh-CN" altLang="en-US" sz="2400" b="1" baseline="-25000" dirty="0">
                <a:latin typeface="宋体" panose="02010600030101010101" pitchFamily="2" charset="-122"/>
              </a:rPr>
              <a:t>补 </a:t>
            </a:r>
            <a:r>
              <a:rPr lang="en-US" altLang="zh-CN" sz="2400" b="1" dirty="0">
                <a:latin typeface="宋体" panose="02010600030101010101" pitchFamily="2" charset="-122"/>
              </a:rPr>
              <a:t>= [X]</a:t>
            </a:r>
            <a:r>
              <a:rPr lang="zh-CN" altLang="en-US" sz="2400" b="1" baseline="-25000" dirty="0">
                <a:latin typeface="宋体" panose="02010600030101010101" pitchFamily="2" charset="-122"/>
              </a:rPr>
              <a:t>正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4859" name="Text Box 43"/>
          <p:cNvSpPr txBox="1"/>
          <p:nvPr/>
        </p:nvSpPr>
        <p:spPr>
          <a:xfrm>
            <a:off x="1905000" y="5562600"/>
            <a:ext cx="5943600" cy="8842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负数：</a:t>
            </a:r>
            <a:r>
              <a:rPr lang="zh-CN" altLang="en-US" sz="2400" b="1" dirty="0">
                <a:latin typeface="宋体" panose="02010600030101010101" pitchFamily="2" charset="-122"/>
              </a:rPr>
              <a:t>尾数为真值数值部分按位取反加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即</a:t>
            </a:r>
            <a:r>
              <a:rPr lang="en-US" altLang="zh-CN" sz="2400" b="1" dirty="0">
                <a:latin typeface="宋体" panose="02010600030101010101" pitchFamily="2" charset="-122"/>
              </a:rPr>
              <a:t>[X]</a:t>
            </a:r>
            <a:r>
              <a:rPr lang="zh-CN" altLang="en-US" sz="2400" b="1" baseline="-25000" dirty="0">
                <a:latin typeface="宋体" panose="02010600030101010101" pitchFamily="2" charset="-122"/>
              </a:rPr>
              <a:t>补 </a:t>
            </a:r>
            <a:r>
              <a:rPr lang="en-US" altLang="zh-CN" sz="2400" b="1" dirty="0">
                <a:latin typeface="宋体" panose="02010600030101010101" pitchFamily="2" charset="-122"/>
              </a:rPr>
              <a:t>= [X]</a:t>
            </a:r>
            <a:r>
              <a:rPr lang="zh-CN" altLang="en-US" sz="2400" b="1" baseline="-25000" dirty="0">
                <a:latin typeface="宋体" panose="02010600030101010101" pitchFamily="2" charset="-122"/>
              </a:rPr>
              <a:t>反 </a:t>
            </a:r>
            <a:r>
              <a:rPr lang="en-US" altLang="zh-CN" sz="2400" b="1" dirty="0">
                <a:latin typeface="宋体" panose="02010600030101010101" pitchFamily="2" charset="-122"/>
              </a:rPr>
              <a:t>+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  <p:pic>
        <p:nvPicPr>
          <p:cNvPr id="48150" name="Picture 51" descr="wb01508_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0198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151" name="Text Box 52">
            <a:hlinkClick r:id="rId2" action="ppaction://hlinksldjump"/>
          </p:cNvPr>
          <p:cNvSpPr txBox="1"/>
          <p:nvPr/>
        </p:nvSpPr>
        <p:spPr>
          <a:xfrm>
            <a:off x="882650" y="60960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  <p:grpSp>
        <p:nvGrpSpPr>
          <p:cNvPr id="3" name="Group 53"/>
          <p:cNvGrpSpPr/>
          <p:nvPr/>
        </p:nvGrpSpPr>
        <p:grpSpPr>
          <a:xfrm>
            <a:off x="285750" y="500063"/>
            <a:ext cx="8534400" cy="3556000"/>
            <a:chOff x="131" y="192"/>
            <a:chExt cx="5376" cy="2240"/>
          </a:xfrm>
        </p:grpSpPr>
        <p:sp>
          <p:nvSpPr>
            <p:cNvPr id="48153" name="AutoShape 29"/>
            <p:cNvSpPr/>
            <p:nvPr/>
          </p:nvSpPr>
          <p:spPr>
            <a:xfrm>
              <a:off x="131" y="192"/>
              <a:ext cx="5376" cy="2240"/>
            </a:xfrm>
            <a:prstGeom prst="wedgeRectCallout">
              <a:avLst>
                <a:gd name="adj1" fmla="val 3014"/>
                <a:gd name="adj2" fmla="val 54329"/>
              </a:avLst>
            </a:prstGeom>
            <a:solidFill>
              <a:srgbClr val="FFCC00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48154" name="Text Box 45"/>
            <p:cNvSpPr txBox="1"/>
            <p:nvPr/>
          </p:nvSpPr>
          <p:spPr>
            <a:xfrm>
              <a:off x="179" y="192"/>
              <a:ext cx="5232" cy="711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4000" b="1" dirty="0">
                  <a:solidFill>
                    <a:srgbClr val="FF0000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</a:t>
              </a:r>
              <a:r>
                <a:rPr lang="en-US" altLang="zh-CN" sz="4000" b="1" dirty="0">
                  <a:solidFill>
                    <a:schemeClr val="accent2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2800" b="1" dirty="0"/>
                <a:t>“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0</a:t>
              </a:r>
              <a:r>
                <a:rPr lang="en-US" altLang="zh-CN" sz="2800" b="1" dirty="0"/>
                <a:t>”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有两种表示形式</a:t>
              </a:r>
              <a:endParaRPr lang="zh-CN" altLang="en-US" sz="2800" b="1" dirty="0">
                <a:latin typeface="宋体" panose="02010600030101010101" pitchFamily="2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</a:rPr>
                <a:t>[+00</a:t>
              </a:r>
              <a:r>
                <a:rPr lang="en-US" altLang="zh-CN" sz="2800" b="1" baseline="30000" dirty="0"/>
                <a:t>…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0]</a:t>
              </a:r>
              <a:r>
                <a:rPr lang="zh-CN" altLang="en-US" sz="2800" b="1" baseline="-25000" dirty="0">
                  <a:latin typeface="宋体" panose="02010600030101010101" pitchFamily="2" charset="-122"/>
                </a:rPr>
                <a:t>反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= 000</a:t>
              </a:r>
              <a:r>
                <a:rPr lang="en-US" altLang="zh-CN" sz="2800" b="1" baseline="30000" dirty="0"/>
                <a:t>…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0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而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[-00</a:t>
              </a:r>
              <a:r>
                <a:rPr lang="en-US" altLang="zh-CN" sz="2800" b="1" baseline="30000" dirty="0"/>
                <a:t>…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0]</a:t>
              </a:r>
              <a:r>
                <a:rPr lang="zh-CN" altLang="en-US" sz="2800" b="1" baseline="-25000" dirty="0">
                  <a:latin typeface="宋体" panose="02010600030101010101" pitchFamily="2" charset="-122"/>
                </a:rPr>
                <a:t>反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= 111</a:t>
              </a:r>
              <a:r>
                <a:rPr lang="en-US" altLang="zh-CN" sz="2800" b="1" baseline="30000" dirty="0"/>
                <a:t>…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1</a:t>
              </a:r>
              <a:endParaRPr lang="en-US" altLang="zh-CN" sz="2800" b="1" u="sng" dirty="0">
                <a:latin typeface="宋体" panose="02010600030101010101" pitchFamily="2" charset="-122"/>
              </a:endParaRPr>
            </a:p>
          </p:txBody>
        </p:sp>
        <p:sp>
          <p:nvSpPr>
            <p:cNvPr id="48155" name="Text Box 46"/>
            <p:cNvSpPr txBox="1"/>
            <p:nvPr/>
          </p:nvSpPr>
          <p:spPr>
            <a:xfrm>
              <a:off x="179" y="837"/>
              <a:ext cx="5232" cy="980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4000" b="1" dirty="0">
                  <a:solidFill>
                    <a:srgbClr val="FF0000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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数值范围：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+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（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2</a:t>
              </a:r>
              <a:r>
                <a:rPr lang="en-US" altLang="zh-CN" sz="2800" b="1" baseline="30000" dirty="0">
                  <a:latin typeface="宋体" panose="02010600030101010101" pitchFamily="2" charset="-122"/>
                </a:rPr>
                <a:t>n </a:t>
              </a:r>
              <a:r>
                <a:rPr lang="en-US" altLang="zh-CN" sz="2800" b="1" baseline="30000" dirty="0"/>
                <a:t>–</a:t>
              </a:r>
              <a:r>
                <a:rPr lang="en-US" altLang="zh-CN" sz="2800" b="1" baseline="30000" dirty="0">
                  <a:latin typeface="宋体" panose="02010600030101010101" pitchFamily="2" charset="-122"/>
                </a:rPr>
                <a:t>1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-1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）≤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[X]</a:t>
              </a:r>
              <a:r>
                <a:rPr lang="zh-CN" altLang="en-US" sz="2800" b="1" baseline="-25000" dirty="0">
                  <a:latin typeface="宋体" panose="02010600030101010101" pitchFamily="2" charset="-122"/>
                </a:rPr>
                <a:t>反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≤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-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（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2</a:t>
              </a:r>
              <a:r>
                <a:rPr lang="en-US" altLang="zh-CN" sz="2800" b="1" baseline="30000" dirty="0">
                  <a:latin typeface="宋体" panose="02010600030101010101" pitchFamily="2" charset="-122"/>
                </a:rPr>
                <a:t>n-1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-1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）</a:t>
              </a:r>
              <a:endParaRPr lang="zh-CN" altLang="en-US" sz="2800" b="1" dirty="0">
                <a:latin typeface="宋体" panose="02010600030101010101" pitchFamily="2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zh-CN" altLang="en-US" sz="2800" b="1" dirty="0">
                  <a:latin typeface="宋体" panose="02010600030101010101" pitchFamily="2" charset="-122"/>
                </a:rPr>
                <a:t>如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n = 8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，反码范围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01111111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～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10000000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，数值范围为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+127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～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-127</a:t>
              </a:r>
              <a:endParaRPr lang="en-US" altLang="zh-CN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48156" name="Text Box 47"/>
            <p:cNvSpPr txBox="1"/>
            <p:nvPr/>
          </p:nvSpPr>
          <p:spPr>
            <a:xfrm>
              <a:off x="192" y="1903"/>
              <a:ext cx="4467" cy="442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4000" b="1" dirty="0">
                  <a:solidFill>
                    <a:srgbClr val="FF0000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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符号位后的尾数是否为真值取决于符号位</a:t>
              </a: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00"/>
                                        <p:tgtEl>
                                          <p:spTgt spid="34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00"/>
                                        <p:tgtEl>
                                          <p:spTgt spid="34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4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4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4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4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4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4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4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4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5" dur="500"/>
                                        <p:tgtEl>
                                          <p:spTgt spid="34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300"/>
                                        <p:tgtEl>
                                          <p:spTgt spid="34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300"/>
                                        <p:tgtEl>
                                          <p:spTgt spid="34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1" grpId="0"/>
      <p:bldP spid="34822" grpId="0"/>
      <p:bldP spid="34823" grpId="0"/>
      <p:bldP spid="34824" grpId="0"/>
      <p:bldP spid="34825" grpId="0" animBg="1"/>
      <p:bldP spid="34827" grpId="0"/>
      <p:bldP spid="34832" grpId="0"/>
      <p:bldP spid="34833" grpId="0"/>
      <p:bldP spid="34840" grpId="0"/>
      <p:bldP spid="34842" grpId="0"/>
      <p:bldP spid="34843" grpId="0"/>
      <p:bldP spid="34850" grpId="0"/>
      <p:bldP spid="34851" grpId="0"/>
      <p:bldP spid="34852" grpId="0"/>
      <p:bldP spid="34853" grpId="0"/>
      <p:bldP spid="34855" grpId="0" animBg="1"/>
      <p:bldP spid="34858" grpId="0"/>
      <p:bldP spid="3485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xfrm>
            <a:off x="685800" y="1219200"/>
            <a:ext cx="7772400" cy="4876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1" dirty="0">
                <a:sym typeface="Symbol" panose="05050102010706020507" pitchFamily="18" charset="2"/>
              </a:rPr>
              <a:t>补码的性质：</a:t>
            </a:r>
            <a:endParaRPr lang="zh-CN" altLang="en-US" dirty="0"/>
          </a:p>
        </p:txBody>
      </p:sp>
      <p:sp>
        <p:nvSpPr>
          <p:cNvPr id="49155" name="Rectangle 11"/>
          <p:cNvSpPr/>
          <p:nvPr>
            <p:ph type="title"/>
          </p:nvPr>
        </p:nvSpPr>
        <p:spPr>
          <a:xfrm>
            <a:off x="762000" y="457200"/>
            <a:ext cx="7315200" cy="685800"/>
          </a:xfrm>
          <a:gradFill rotWithShape="0">
            <a:gsLst>
              <a:gs pos="0">
                <a:srgbClr val="767676"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767676">
                  <a:alpha val="100000"/>
                </a:srgbClr>
              </a:gs>
            </a:gsLst>
            <a:lin ang="5400000" scaled="1"/>
            <a:tileRect/>
          </a:gradFill>
          <a:ln/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vert="horz" wrap="square" lIns="91440" tIns="45720" rIns="91440" bIns="45720" anchor="ctr" anchorCtr="0">
            <a:flatTx/>
          </a:bodyPr>
          <a:p>
            <a:pPr eaLnBrk="1" hangingPunct="1"/>
            <a:r>
              <a:rPr lang="zh-CN" altLang="en-US" sz="5400" b="1" dirty="0">
                <a:solidFill>
                  <a:srgbClr val="990033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数值数据的表示</a:t>
            </a:r>
            <a:endParaRPr lang="zh-CN" altLang="en-US" sz="5400" b="1" dirty="0">
              <a:solidFill>
                <a:srgbClr val="990033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2" name="Group 40"/>
          <p:cNvGrpSpPr/>
          <p:nvPr/>
        </p:nvGrpSpPr>
        <p:grpSpPr>
          <a:xfrm>
            <a:off x="2438400" y="2667000"/>
            <a:ext cx="4648200" cy="1676400"/>
            <a:chOff x="1536" y="1680"/>
            <a:chExt cx="2928" cy="1056"/>
          </a:xfrm>
        </p:grpSpPr>
        <p:sp>
          <p:nvSpPr>
            <p:cNvPr id="49178" name="AutoShape 39" descr="羊皮纸"/>
            <p:cNvSpPr/>
            <p:nvPr/>
          </p:nvSpPr>
          <p:spPr>
            <a:xfrm>
              <a:off x="1536" y="1680"/>
              <a:ext cx="2928" cy="1056"/>
            </a:xfrm>
            <a:prstGeom prst="upArrowCallout">
              <a:avLst>
                <a:gd name="adj1" fmla="val 69318"/>
                <a:gd name="adj2" fmla="val 65069"/>
                <a:gd name="adj3" fmla="val 16666"/>
                <a:gd name="adj4" fmla="val 66667"/>
              </a:avLst>
            </a:prstGeom>
            <a:blipFill rotWithShape="0">
              <a:blip r:embed="rId1"/>
            </a:blip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49179" name="Text Box 36"/>
            <p:cNvSpPr txBox="1"/>
            <p:nvPr/>
          </p:nvSpPr>
          <p:spPr>
            <a:xfrm>
              <a:off x="1632" y="2064"/>
              <a:ext cx="2592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latin typeface="宋体" panose="02010600030101010101" pitchFamily="2" charset="-122"/>
                </a:rPr>
                <a:t>双符号位：正数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- </a:t>
              </a:r>
              <a:r>
                <a:rPr lang="en-US" altLang="zh-CN" sz="2800" b="1" dirty="0"/>
                <a:t>“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00</a:t>
              </a:r>
              <a:r>
                <a:rPr lang="en-US" altLang="zh-CN" sz="2800" b="1" dirty="0"/>
                <a:t>”</a:t>
              </a:r>
              <a:endParaRPr lang="en-US" altLang="zh-CN" sz="2800" b="1" dirty="0">
                <a:latin typeface="宋体" panose="02010600030101010101" pitchFamily="2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</a:rPr>
                <a:t>         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负数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- </a:t>
              </a:r>
              <a:r>
                <a:rPr lang="en-US" altLang="zh-CN" sz="2800" b="1" dirty="0"/>
                <a:t>“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11</a:t>
              </a:r>
              <a:r>
                <a:rPr lang="en-US" altLang="zh-CN" sz="2800" b="1" dirty="0"/>
                <a:t>”</a:t>
              </a:r>
              <a:endParaRPr lang="en-US" altLang="zh-CN" sz="28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35877" name="Text Box 37"/>
          <p:cNvSpPr txBox="1"/>
          <p:nvPr/>
        </p:nvSpPr>
        <p:spPr>
          <a:xfrm>
            <a:off x="4038600" y="2178050"/>
            <a:ext cx="13716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符号位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sp>
        <p:nvSpPr>
          <p:cNvPr id="35878" name="Text Box 38"/>
          <p:cNvSpPr txBox="1"/>
          <p:nvPr/>
        </p:nvSpPr>
        <p:spPr>
          <a:xfrm>
            <a:off x="5180013" y="2179638"/>
            <a:ext cx="1274762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+  </a:t>
            </a:r>
            <a:r>
              <a:rPr lang="zh-CN" altLang="en-US" sz="2800" b="1" dirty="0">
                <a:solidFill>
                  <a:schemeClr val="tx2"/>
                </a:solidFill>
              </a:rPr>
              <a:t>尾数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sp>
        <p:nvSpPr>
          <p:cNvPr id="35881" name="Text Box 41"/>
          <p:cNvSpPr txBox="1"/>
          <p:nvPr/>
        </p:nvSpPr>
        <p:spPr>
          <a:xfrm>
            <a:off x="1066800" y="2743200"/>
            <a:ext cx="125253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应用：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sp>
        <p:nvSpPr>
          <p:cNvPr id="35882" name="Text Box 42"/>
          <p:cNvSpPr txBox="1"/>
          <p:nvPr/>
        </p:nvSpPr>
        <p:spPr>
          <a:xfrm>
            <a:off x="1981200" y="3429000"/>
            <a:ext cx="6477000" cy="13731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两个符号位（</a:t>
            </a:r>
            <a:r>
              <a:rPr lang="en-US" altLang="zh-CN" sz="2800" b="1" dirty="0">
                <a:latin typeface="宋体" panose="02010600030101010101" pitchFamily="2" charset="-122"/>
              </a:rPr>
              <a:t>S</a:t>
            </a:r>
            <a:r>
              <a:rPr lang="en-US" altLang="zh-CN" sz="2800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sz="2800" b="1" dirty="0">
                <a:latin typeface="宋体" panose="02010600030101010101" pitchFamily="2" charset="-122"/>
              </a:rPr>
              <a:t>S</a:t>
            </a:r>
            <a:r>
              <a:rPr lang="en-US" altLang="zh-CN" sz="2800" b="1" baseline="-25000" dirty="0">
                <a:latin typeface="宋体" panose="02010600030101010101" pitchFamily="2" charset="-122"/>
              </a:rPr>
              <a:t>0</a:t>
            </a:r>
            <a:r>
              <a:rPr lang="zh-CN" altLang="en-US" sz="2800" b="1" dirty="0">
                <a:latin typeface="宋体" panose="02010600030101010101" pitchFamily="2" charset="-122"/>
              </a:rPr>
              <a:t>）都作为数值一起参与运算，运算结果的符号如两个符号位相同，结果正确；不同则溢出</a:t>
            </a:r>
            <a:r>
              <a:rPr lang="zh-CN" altLang="en-US" sz="2400" dirty="0">
                <a:latin typeface="宋体" panose="02010600030101010101" pitchFamily="2" charset="-122"/>
              </a:rPr>
              <a:t>。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35884" name="Text Box 44"/>
          <p:cNvSpPr txBox="1"/>
          <p:nvPr/>
        </p:nvSpPr>
        <p:spPr>
          <a:xfrm>
            <a:off x="2209800" y="2743200"/>
            <a:ext cx="34290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判断是否有溢出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35885" name="Text Box 45"/>
          <p:cNvSpPr txBox="1"/>
          <p:nvPr/>
        </p:nvSpPr>
        <p:spPr>
          <a:xfrm>
            <a:off x="990600" y="3429000"/>
            <a:ext cx="12604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方法：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sp>
        <p:nvSpPr>
          <p:cNvPr id="35889" name="Text Box 49"/>
          <p:cNvSpPr txBox="1"/>
          <p:nvPr/>
        </p:nvSpPr>
        <p:spPr>
          <a:xfrm>
            <a:off x="762000" y="2209800"/>
            <a:ext cx="340201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4</a:t>
            </a:r>
            <a:r>
              <a:rPr lang="zh-CN" altLang="en-US" sz="2800" b="1" dirty="0">
                <a:latin typeface="宋体" panose="02010600030101010101" pitchFamily="2" charset="-122"/>
              </a:rPr>
              <a:t>、变形补码</a:t>
            </a:r>
            <a:r>
              <a:rPr lang="en-US" altLang="zh-CN" sz="2800" b="1" dirty="0">
                <a:latin typeface="宋体" panose="02010600030101010101" pitchFamily="2" charset="-122"/>
              </a:rPr>
              <a:t>[X]</a:t>
            </a:r>
            <a:r>
              <a:rPr lang="zh-CN" altLang="en-US" sz="2800" b="1" baseline="-25000" dirty="0">
                <a:latin typeface="宋体" panose="02010600030101010101" pitchFamily="2" charset="-122"/>
              </a:rPr>
              <a:t>变补：</a:t>
            </a:r>
            <a:endParaRPr lang="zh-CN" altLang="en-US" sz="2800" b="1" baseline="-25000" dirty="0">
              <a:latin typeface="宋体" panose="02010600030101010101" pitchFamily="2" charset="-122"/>
            </a:endParaRPr>
          </a:p>
        </p:txBody>
      </p:sp>
      <p:grpSp>
        <p:nvGrpSpPr>
          <p:cNvPr id="3" name="Group 57"/>
          <p:cNvGrpSpPr/>
          <p:nvPr/>
        </p:nvGrpSpPr>
        <p:grpSpPr>
          <a:xfrm>
            <a:off x="533400" y="2176463"/>
            <a:ext cx="8305800" cy="3081337"/>
            <a:chOff x="192" y="1286"/>
            <a:chExt cx="5232" cy="1941"/>
          </a:xfrm>
        </p:grpSpPr>
        <p:sp>
          <p:nvSpPr>
            <p:cNvPr id="49176" name="Text Box 58"/>
            <p:cNvSpPr txBox="1"/>
            <p:nvPr/>
          </p:nvSpPr>
          <p:spPr>
            <a:xfrm>
              <a:off x="192" y="1286"/>
              <a:ext cx="5232" cy="1941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  <a:r>
                <a:rPr lang="zh-CN" altLang="en-US" sz="2400" dirty="0">
                  <a:latin typeface="宋体" panose="02010600030101010101" pitchFamily="2" charset="-122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已知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X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1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= -1110 B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，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X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2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= +0110 B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，求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X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1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+ X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2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 =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？</a:t>
              </a:r>
              <a:endParaRPr lang="zh-CN" altLang="en-US" sz="2800" b="1" dirty="0">
                <a:latin typeface="宋体" panose="02010600030101010101" pitchFamily="2" charset="-122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800" b="1" dirty="0">
                  <a:latin typeface="宋体" panose="02010600030101010101" pitchFamily="2" charset="-122"/>
                </a:rPr>
                <a:t>               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[X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1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]</a:t>
              </a:r>
              <a:r>
                <a:rPr lang="zh-CN" altLang="en-US" sz="2800" b="1" baseline="-25000" dirty="0">
                  <a:latin typeface="宋体" panose="02010600030101010101" pitchFamily="2" charset="-122"/>
                </a:rPr>
                <a:t>补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= 1 0010         -1110B</a:t>
              </a:r>
              <a:endParaRPr lang="en-US" altLang="zh-CN" sz="2800" b="1" dirty="0">
                <a:latin typeface="宋体" panose="02010600030101010101" pitchFamily="2" charset="-122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</a:rPr>
                <a:t>           +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） 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[X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2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]</a:t>
              </a:r>
              <a:r>
                <a:rPr lang="zh-CN" altLang="en-US" sz="2800" b="1" baseline="-25000" dirty="0">
                  <a:latin typeface="宋体" panose="02010600030101010101" pitchFamily="2" charset="-122"/>
                </a:rPr>
                <a:t>补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= 0 0110         +1000B</a:t>
              </a:r>
              <a:endParaRPr lang="en-US" altLang="zh-CN" sz="2800" b="1" dirty="0">
                <a:latin typeface="宋体" panose="02010600030101010101" pitchFamily="2" charset="-122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endParaRPr lang="en-US" altLang="zh-CN" sz="2800" b="1" dirty="0">
                <a:latin typeface="宋体" panose="02010600030101010101" pitchFamily="2" charset="-122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</a:rPr>
                <a:t>             [X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1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+X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2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]</a:t>
              </a:r>
              <a:r>
                <a:rPr lang="zh-CN" altLang="en-US" sz="2800" b="1" baseline="-25000" dirty="0">
                  <a:latin typeface="宋体" panose="02010600030101010101" pitchFamily="2" charset="-122"/>
                </a:rPr>
                <a:t>补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= 1 1000         -1000B</a:t>
              </a:r>
              <a:endParaRPr lang="en-US" altLang="zh-CN" sz="2800" b="1" dirty="0">
                <a:latin typeface="宋体" panose="02010600030101010101" pitchFamily="2" charset="-122"/>
              </a:endParaRPr>
            </a:p>
            <a:p>
              <a:pPr marL="0" lvl="0" indent="0" algn="ctr">
                <a:spcBef>
                  <a:spcPct val="0"/>
                </a:spcBef>
                <a:buNone/>
              </a:pPr>
              <a:r>
                <a:rPr lang="zh-CN" altLang="en-US" sz="2800" b="1" dirty="0">
                  <a:latin typeface="宋体" panose="02010600030101010101" pitchFamily="2" charset="-122"/>
                </a:rPr>
                <a:t>故得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[X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1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+X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2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]</a:t>
              </a:r>
              <a:r>
                <a:rPr lang="zh-CN" altLang="en-US" sz="2800" b="1" baseline="-25000" dirty="0">
                  <a:latin typeface="宋体" panose="02010600030101010101" pitchFamily="2" charset="-122"/>
                </a:rPr>
                <a:t>补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= 11000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即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X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1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+ X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2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= -1000 B</a:t>
              </a:r>
              <a:endParaRPr lang="en-US" altLang="zh-CN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49177" name="Line 59"/>
            <p:cNvSpPr/>
            <p:nvPr/>
          </p:nvSpPr>
          <p:spPr>
            <a:xfrm>
              <a:off x="1392" y="2496"/>
              <a:ext cx="39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66"/>
          <p:cNvGrpSpPr/>
          <p:nvPr/>
        </p:nvGrpSpPr>
        <p:grpSpPr>
          <a:xfrm>
            <a:off x="914400" y="4800600"/>
            <a:ext cx="7797800" cy="1800225"/>
            <a:chOff x="288" y="3024"/>
            <a:chExt cx="4912" cy="1134"/>
          </a:xfrm>
        </p:grpSpPr>
        <p:sp>
          <p:nvSpPr>
            <p:cNvPr id="49173" name="Text Box 63"/>
            <p:cNvSpPr txBox="1"/>
            <p:nvPr/>
          </p:nvSpPr>
          <p:spPr>
            <a:xfrm>
              <a:off x="288" y="3024"/>
              <a:ext cx="4912" cy="113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chemeClr val="tx2"/>
                  </a:solidFill>
                </a:rPr>
                <a:t>例：已知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X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1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= 48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，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X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2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= 31 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求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X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1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+ X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2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=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？</a:t>
              </a:r>
              <a:endParaRPr lang="zh-CN" altLang="en-US" sz="2800" b="1" dirty="0">
                <a:latin typeface="宋体" panose="02010600030101010101" pitchFamily="2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latin typeface="宋体" panose="02010600030101010101" pitchFamily="2" charset="-122"/>
                </a:rPr>
                <a:t>  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X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1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=  +48       [X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1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]</a:t>
              </a:r>
              <a:r>
                <a:rPr lang="zh-CN" altLang="en-US" sz="2800" b="1" baseline="-25000" dirty="0">
                  <a:latin typeface="宋体" panose="02010600030101010101" pitchFamily="2" charset="-122"/>
                </a:rPr>
                <a:t>变补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= 00 110000 </a:t>
              </a:r>
              <a:endParaRPr lang="en-US" altLang="zh-CN" sz="2800" b="1" dirty="0">
                <a:latin typeface="宋体" panose="02010600030101010101" pitchFamily="2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</a:rPr>
                <a:t>+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）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X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2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=  +31    +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）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[X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2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]</a:t>
              </a:r>
              <a:r>
                <a:rPr lang="zh-CN" altLang="en-US" sz="2800" b="1" baseline="-25000" dirty="0">
                  <a:latin typeface="宋体" panose="02010600030101010101" pitchFamily="2" charset="-122"/>
                </a:rPr>
                <a:t>变补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= 00 011111</a:t>
              </a:r>
              <a:endParaRPr lang="en-US" altLang="zh-CN" sz="2800" b="1" dirty="0">
                <a:latin typeface="宋体" panose="02010600030101010101" pitchFamily="2" charset="-122"/>
              </a:endParaRPr>
            </a:p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</a:rPr>
                <a:t> X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1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+ X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2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 =  +79   [X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1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+ X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2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]</a:t>
              </a:r>
              <a:r>
                <a:rPr lang="zh-CN" altLang="en-US" sz="2800" b="1" baseline="-25000" dirty="0">
                  <a:latin typeface="宋体" panose="02010600030101010101" pitchFamily="2" charset="-122"/>
                </a:rPr>
                <a:t>变补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= 01 001111</a:t>
              </a:r>
              <a:endParaRPr lang="en-US" altLang="zh-CN" sz="2400" dirty="0">
                <a:latin typeface="宋体" panose="02010600030101010101" pitchFamily="2" charset="-122"/>
              </a:endParaRPr>
            </a:p>
          </p:txBody>
        </p:sp>
        <p:sp>
          <p:nvSpPr>
            <p:cNvPr id="49174" name="Line 64"/>
            <p:cNvSpPr/>
            <p:nvPr/>
          </p:nvSpPr>
          <p:spPr>
            <a:xfrm>
              <a:off x="576" y="3888"/>
              <a:ext cx="15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75" name="Line 65"/>
            <p:cNvSpPr/>
            <p:nvPr/>
          </p:nvSpPr>
          <p:spPr>
            <a:xfrm>
              <a:off x="2544" y="3888"/>
              <a:ext cx="21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67"/>
          <p:cNvGrpSpPr/>
          <p:nvPr/>
        </p:nvGrpSpPr>
        <p:grpSpPr>
          <a:xfrm>
            <a:off x="285750" y="2120900"/>
            <a:ext cx="8553450" cy="4584700"/>
            <a:chOff x="132" y="1248"/>
            <a:chExt cx="5388" cy="2888"/>
          </a:xfrm>
        </p:grpSpPr>
        <p:sp>
          <p:nvSpPr>
            <p:cNvPr id="49167" name="AutoShape 68"/>
            <p:cNvSpPr/>
            <p:nvPr/>
          </p:nvSpPr>
          <p:spPr>
            <a:xfrm>
              <a:off x="288" y="1248"/>
              <a:ext cx="5232" cy="2880"/>
            </a:xfrm>
            <a:prstGeom prst="wedgeRectCallout">
              <a:avLst>
                <a:gd name="adj1" fmla="val -42949"/>
                <a:gd name="adj2" fmla="val -56667"/>
              </a:avLst>
            </a:prstGeom>
            <a:solidFill>
              <a:srgbClr val="FFFF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grpSp>
          <p:nvGrpSpPr>
            <p:cNvPr id="49168" name="Group 69"/>
            <p:cNvGrpSpPr/>
            <p:nvPr/>
          </p:nvGrpSpPr>
          <p:grpSpPr>
            <a:xfrm>
              <a:off x="132" y="1289"/>
              <a:ext cx="5052" cy="2847"/>
              <a:chOff x="132" y="1134"/>
              <a:chExt cx="5052" cy="3004"/>
            </a:xfrm>
          </p:grpSpPr>
          <p:sp>
            <p:nvSpPr>
              <p:cNvPr id="49169" name="Text Box 70"/>
              <p:cNvSpPr txBox="1"/>
              <p:nvPr/>
            </p:nvSpPr>
            <p:spPr>
              <a:xfrm>
                <a:off x="384" y="1134"/>
                <a:ext cx="4800" cy="7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spcBef>
                    <a:spcPct val="0"/>
                  </a:spcBef>
                  <a:buNone/>
                </a:pPr>
                <a:r>
                  <a:rPr lang="en-US" altLang="zh-CN" b="1" dirty="0">
                    <a:latin typeface="宋体" panose="02010600030101010101" pitchFamily="2" charset="-122"/>
                    <a:sym typeface="Symbol" panose="05050102010706020507" pitchFamily="18" charset="2"/>
                  </a:rPr>
                  <a:t></a:t>
                </a:r>
                <a:r>
                  <a:rPr lang="en-US" altLang="zh-CN" sz="4000" b="1" dirty="0">
                    <a:solidFill>
                      <a:schemeClr val="accent2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 </a:t>
                </a:r>
                <a:r>
                  <a:rPr lang="en-US" altLang="zh-CN" sz="2800" b="1" dirty="0"/>
                  <a:t>“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0</a:t>
                </a:r>
                <a:r>
                  <a:rPr lang="en-US" altLang="zh-CN" sz="2800" b="1" dirty="0"/>
                  <a:t>”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有一种表示形式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  <a:p>
                <a:pPr marL="0" lvl="0" indent="0" algn="just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latin typeface="宋体" panose="02010600030101010101" pitchFamily="2" charset="-122"/>
                  </a:rPr>
                  <a:t>[+00</a:t>
                </a:r>
                <a:r>
                  <a:rPr lang="en-US" altLang="zh-CN" sz="2800" b="1" baseline="30000" dirty="0"/>
                  <a:t>…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0]</a:t>
                </a:r>
                <a:r>
                  <a:rPr lang="zh-CN" altLang="en-US" sz="2800" b="1" baseline="-25000" dirty="0">
                    <a:latin typeface="宋体" panose="02010600030101010101" pitchFamily="2" charset="-122"/>
                  </a:rPr>
                  <a:t>补 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= 000</a:t>
                </a:r>
                <a:r>
                  <a:rPr lang="en-US" altLang="zh-CN" sz="2800" b="1" baseline="30000" dirty="0"/>
                  <a:t>…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0 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而 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[-00</a:t>
                </a:r>
                <a:r>
                  <a:rPr lang="en-US" altLang="zh-CN" sz="2800" b="1" baseline="30000" dirty="0"/>
                  <a:t>…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0]</a:t>
                </a:r>
                <a:r>
                  <a:rPr lang="zh-CN" altLang="en-US" sz="2800" b="1" baseline="-25000" dirty="0">
                    <a:latin typeface="宋体" panose="02010600030101010101" pitchFamily="2" charset="-122"/>
                  </a:rPr>
                  <a:t>补 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= 1 000</a:t>
                </a:r>
                <a:r>
                  <a:rPr lang="en-US" altLang="zh-CN" sz="2800" b="1" baseline="30000" dirty="0"/>
                  <a:t>…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0</a:t>
                </a:r>
                <a:endParaRPr lang="en-US" altLang="zh-CN" sz="24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9170" name="Text Box 71"/>
              <p:cNvSpPr txBox="1"/>
              <p:nvPr/>
            </p:nvSpPr>
            <p:spPr>
              <a:xfrm>
                <a:off x="384" y="1854"/>
                <a:ext cx="4320" cy="10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spcBef>
                    <a:spcPct val="0"/>
                  </a:spcBef>
                  <a:buNone/>
                </a:pPr>
                <a:r>
                  <a:rPr lang="en-US" altLang="zh-CN" b="1" dirty="0">
                    <a:latin typeface="宋体" panose="02010600030101010101" pitchFamily="2" charset="-122"/>
                    <a:sym typeface="Symbol" panose="05050102010706020507" pitchFamily="18" charset="2"/>
                  </a:rPr>
                  <a:t></a:t>
                </a:r>
                <a:r>
                  <a:rPr lang="en-US" altLang="zh-CN" sz="4000" b="1" dirty="0">
                    <a:solidFill>
                      <a:srgbClr val="FF0000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 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数值范围： 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+(2</a:t>
                </a:r>
                <a:r>
                  <a:rPr lang="en-US" altLang="zh-CN" sz="2800" b="1" baseline="30000" dirty="0">
                    <a:latin typeface="宋体" panose="02010600030101010101" pitchFamily="2" charset="-122"/>
                  </a:rPr>
                  <a:t>n-1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-1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）≤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[X]</a:t>
                </a:r>
                <a:r>
                  <a:rPr lang="zh-CN" altLang="en-US" sz="2800" b="1" baseline="-25000" dirty="0">
                    <a:latin typeface="宋体" panose="02010600030101010101" pitchFamily="2" charset="-122"/>
                  </a:rPr>
                  <a:t>补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≤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-2</a:t>
                </a:r>
                <a:r>
                  <a:rPr lang="en-US" altLang="zh-CN" sz="2800" b="1" baseline="30000" dirty="0">
                    <a:latin typeface="宋体" panose="02010600030101010101" pitchFamily="2" charset="-122"/>
                  </a:rPr>
                  <a:t>n-1</a:t>
                </a:r>
                <a:endParaRPr lang="en-US" altLang="zh-CN" sz="2800" b="1" dirty="0">
                  <a:latin typeface="宋体" panose="02010600030101010101" pitchFamily="2" charset="-122"/>
                </a:endParaRPr>
              </a:p>
              <a:p>
                <a:pPr marL="0" lvl="0" indent="0" algn="just">
                  <a:spcBef>
                    <a:spcPct val="0"/>
                  </a:spcBef>
                  <a:buNone/>
                </a:pPr>
                <a:r>
                  <a:rPr lang="zh-CN" altLang="en-US" sz="2800" b="1" dirty="0">
                    <a:latin typeface="宋体" panose="02010600030101010101" pitchFamily="2" charset="-122"/>
                  </a:rPr>
                  <a:t>如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n = 8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，补码范围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01111111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～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10000000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，数值范围为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+127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～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-128</a:t>
                </a:r>
                <a:endParaRPr lang="en-US" altLang="zh-CN" sz="28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9171" name="Text Box 72"/>
              <p:cNvSpPr txBox="1"/>
              <p:nvPr/>
            </p:nvSpPr>
            <p:spPr>
              <a:xfrm>
                <a:off x="132" y="2725"/>
                <a:ext cx="4015" cy="4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b="1" dirty="0">
                    <a:latin typeface="宋体" panose="02010600030101010101" pitchFamily="2" charset="-122"/>
                    <a:sym typeface="Symbol" panose="05050102010706020507" pitchFamily="18" charset="2"/>
                  </a:rPr>
                  <a:t>  </a:t>
                </a:r>
                <a:r>
                  <a:rPr lang="en-US" altLang="zh-CN" sz="4000" b="1" dirty="0">
                    <a:solidFill>
                      <a:srgbClr val="FF0000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 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符号位后的尾数并不表示真值大小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9172" name="Text Box 73"/>
              <p:cNvSpPr txBox="1"/>
              <p:nvPr/>
            </p:nvSpPr>
            <p:spPr>
              <a:xfrm>
                <a:off x="384" y="3144"/>
                <a:ext cx="4560" cy="9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en-US" altLang="zh-CN" sz="3600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</a:t>
                </a:r>
                <a:r>
                  <a:rPr lang="en-US" altLang="zh-CN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 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用补码进行运算时，两数补码之和等于两数和之补码，即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  <a:p>
                <a:pPr marL="914400" lvl="2" indent="0">
                  <a:spcBef>
                    <a:spcPct val="0"/>
                  </a:spcBef>
                  <a:buNone/>
                </a:pPr>
                <a:r>
                  <a:rPr lang="zh-CN" altLang="en-US" sz="2800" b="1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[X</a:t>
                </a:r>
                <a:r>
                  <a:rPr lang="en-US" altLang="zh-CN" sz="2800" b="1" baseline="-25000" dirty="0">
                    <a:latin typeface="宋体" panose="02010600030101010101" pitchFamily="2" charset="-122"/>
                  </a:rPr>
                  <a:t>1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]</a:t>
                </a:r>
                <a:r>
                  <a:rPr lang="zh-CN" altLang="en-US" sz="2800" b="1" baseline="-25000" dirty="0">
                    <a:latin typeface="宋体" panose="02010600030101010101" pitchFamily="2" charset="-122"/>
                  </a:rPr>
                  <a:t>补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+[X</a:t>
                </a:r>
                <a:r>
                  <a:rPr lang="en-US" altLang="zh-CN" sz="2800" b="1" baseline="-25000" dirty="0">
                    <a:latin typeface="宋体" panose="02010600030101010101" pitchFamily="2" charset="-122"/>
                  </a:rPr>
                  <a:t>2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]</a:t>
                </a:r>
                <a:r>
                  <a:rPr lang="zh-CN" altLang="en-US" sz="2800" b="1" baseline="-25000" dirty="0">
                    <a:latin typeface="宋体" panose="02010600030101010101" pitchFamily="2" charset="-122"/>
                  </a:rPr>
                  <a:t>补 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= {X</a:t>
                </a:r>
                <a:r>
                  <a:rPr lang="en-US" altLang="zh-CN" sz="2800" b="1" baseline="-25000" dirty="0">
                    <a:latin typeface="宋体" panose="02010600030101010101" pitchFamily="2" charset="-122"/>
                  </a:rPr>
                  <a:t>1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+X</a:t>
                </a:r>
                <a:r>
                  <a:rPr lang="en-US" altLang="zh-CN" sz="2800" b="1" baseline="-25000" dirty="0">
                    <a:latin typeface="宋体" panose="02010600030101010101" pitchFamily="2" charset="-122"/>
                  </a:rPr>
                  <a:t>2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}</a:t>
                </a:r>
                <a:r>
                  <a:rPr lang="zh-CN" altLang="en-US" sz="2800" b="1" baseline="-25000" dirty="0">
                    <a:latin typeface="宋体" panose="02010600030101010101" pitchFamily="2" charset="-122"/>
                  </a:rPr>
                  <a:t>补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（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mod  2</a:t>
                </a:r>
                <a:r>
                  <a:rPr lang="en-US" altLang="zh-CN" sz="2800" b="1" baseline="30000" dirty="0">
                    <a:latin typeface="宋体" panose="02010600030101010101" pitchFamily="2" charset="-122"/>
                  </a:rPr>
                  <a:t>n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）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5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5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5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5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  <p:bldP spid="35877" grpId="0"/>
      <p:bldP spid="35878" grpId="0"/>
      <p:bldP spid="35881" grpId="0"/>
      <p:bldP spid="35882" grpId="0"/>
      <p:bldP spid="35884" grpId="0"/>
      <p:bldP spid="35885" grpId="0"/>
      <p:bldP spid="3588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2"/>
          <p:cNvSpPr>
            <a:spLocks noGrp="1"/>
          </p:cNvSpPr>
          <p:nvPr>
            <p:ph type="title"/>
          </p:nvPr>
        </p:nvSpPr>
        <p:spPr>
          <a:xfrm>
            <a:off x="609600" y="381000"/>
            <a:ext cx="2514600" cy="609600"/>
          </a:xfrm>
          <a:gradFill rotWithShape="0">
            <a:gsLst>
              <a:gs pos="0">
                <a:srgbClr val="767676"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767676">
                  <a:alpha val="100000"/>
                </a:srgbClr>
              </a:gs>
            </a:gsLst>
            <a:lin ang="5400000" scaled="1"/>
            <a:tileRect/>
          </a:gradFill>
          <a:ln/>
          <a:effectLst>
            <a:outerShdw sy="50000" kx="2453608" rotWithShape="0">
              <a:srgbClr val="808080">
                <a:alpha val="100000"/>
              </a:srgbClr>
            </a:outerShdw>
          </a:effectLst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b="1" dirty="0">
                <a:solidFill>
                  <a:srgbClr val="CC0000"/>
                </a:solidFill>
                <a:latin typeface="幼圆" panose="02010509060101010101" pitchFamily="49" charset="-122"/>
                <a:ea typeface="隶书" panose="02010509060101010101" pitchFamily="49" charset="-122"/>
              </a:rPr>
              <a:t>常用编码</a:t>
            </a:r>
            <a:endParaRPr lang="zh-CN" altLang="en-US" sz="4000" b="1" dirty="0">
              <a:solidFill>
                <a:srgbClr val="CC0000"/>
              </a:solidFill>
              <a:latin typeface="黑体" panose="020106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304800" y="1981200"/>
            <a:ext cx="2743200" cy="3962400"/>
            <a:chOff x="912" y="1200"/>
            <a:chExt cx="1728" cy="2496"/>
          </a:xfrm>
        </p:grpSpPr>
        <p:sp>
          <p:nvSpPr>
            <p:cNvPr id="50197" name="AutoShape 15"/>
            <p:cNvSpPr/>
            <p:nvPr/>
          </p:nvSpPr>
          <p:spPr>
            <a:xfrm>
              <a:off x="912" y="1200"/>
              <a:ext cx="1728" cy="2496"/>
            </a:xfrm>
            <a:prstGeom prst="upArrowCallout">
              <a:avLst>
                <a:gd name="adj1" fmla="val 25000"/>
                <a:gd name="adj2" fmla="val 25000"/>
                <a:gd name="adj3" fmla="val 24074"/>
                <a:gd name="adj4" fmla="val 66667"/>
              </a:avLst>
            </a:prstGeom>
            <a:solidFill>
              <a:srgbClr val="FFCC00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50198" name="Text Box 11"/>
            <p:cNvSpPr txBox="1"/>
            <p:nvPr/>
          </p:nvSpPr>
          <p:spPr>
            <a:xfrm>
              <a:off x="1008" y="2160"/>
              <a:ext cx="1584" cy="1403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  <a:sym typeface="Symbol" panose="05050102010706020507" pitchFamily="18" charset="2"/>
                </a:rPr>
                <a:t>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自然二进制码</a:t>
              </a:r>
              <a:r>
                <a:rPr lang="zh-CN" altLang="en-US" sz="2800" b="1" dirty="0">
                  <a:latin typeface="宋体" panose="02010600030101010101" pitchFamily="2" charset="-122"/>
                  <a:sym typeface="Symbol" panose="05050102010706020507" pitchFamily="18" charset="2"/>
                </a:rPr>
                <a:t>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格雷码</a:t>
              </a:r>
              <a:endParaRPr lang="zh-CN" altLang="en-US" sz="2800" b="1" dirty="0">
                <a:latin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sym typeface="Symbol" panose="05050102010706020507" pitchFamily="18" charset="2"/>
                </a:rPr>
                <a:t>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二</a:t>
              </a:r>
              <a:r>
                <a:rPr lang="en-US" altLang="zh-CN" sz="2800" b="1" dirty="0"/>
                <a:t>—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十进制码</a:t>
              </a:r>
              <a:r>
                <a:rPr lang="zh-CN" altLang="en-US" sz="2800" b="1" dirty="0">
                  <a:latin typeface="宋体" panose="02010600030101010101" pitchFamily="2" charset="-122"/>
                  <a:sym typeface="Symbol" panose="05050102010706020507" pitchFamily="18" charset="2"/>
                </a:rPr>
                <a:t>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奇偶检验码</a:t>
              </a:r>
              <a:endParaRPr lang="zh-CN" altLang="en-US" sz="2800" b="1" dirty="0">
                <a:latin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sym typeface="Symbol" panose="05050102010706020507" pitchFamily="18" charset="2"/>
                </a:rPr>
                <a:t>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ASCII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码等</a:t>
              </a:r>
              <a:r>
                <a:rPr lang="zh-CN" altLang="en-US" sz="2400" dirty="0">
                  <a:latin typeface="宋体" panose="02010600030101010101" pitchFamily="2" charset="-122"/>
                </a:rPr>
                <a:t>。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37902" name="Text Box 14"/>
          <p:cNvSpPr txBox="1"/>
          <p:nvPr/>
        </p:nvSpPr>
        <p:spPr>
          <a:xfrm>
            <a:off x="406400" y="1341438"/>
            <a:ext cx="255905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常用的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编码</a:t>
            </a:r>
            <a:r>
              <a:rPr lang="zh-CN" altLang="en-US" sz="2800" b="1" dirty="0">
                <a:latin typeface="宋体" panose="02010600030101010101" pitchFamily="2" charset="-122"/>
              </a:rPr>
              <a:t>：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pSp>
        <p:nvGrpSpPr>
          <p:cNvPr id="3" name="Group 38"/>
          <p:cNvGrpSpPr/>
          <p:nvPr/>
        </p:nvGrpSpPr>
        <p:grpSpPr>
          <a:xfrm>
            <a:off x="3276600" y="153988"/>
            <a:ext cx="5872163" cy="1196975"/>
            <a:chOff x="2064" y="97"/>
            <a:chExt cx="3699" cy="754"/>
          </a:xfrm>
        </p:grpSpPr>
        <p:sp>
          <p:nvSpPr>
            <p:cNvPr id="50195" name="AutoShape 12"/>
            <p:cNvSpPr/>
            <p:nvPr/>
          </p:nvSpPr>
          <p:spPr>
            <a:xfrm>
              <a:off x="2064" y="97"/>
              <a:ext cx="3699" cy="754"/>
            </a:xfrm>
            <a:prstGeom prst="wedgeRectCallout">
              <a:avLst>
                <a:gd name="adj1" fmla="val -68111"/>
                <a:gd name="adj2" fmla="val 61935"/>
              </a:avLst>
            </a:prstGeom>
            <a:solidFill>
              <a:srgbClr val="FFCC00"/>
            </a:soli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/>
            </a:p>
          </p:txBody>
        </p:sp>
        <p:sp>
          <p:nvSpPr>
            <p:cNvPr id="50196" name="Text Box 13"/>
            <p:cNvSpPr txBox="1"/>
            <p:nvPr/>
          </p:nvSpPr>
          <p:spPr>
            <a:xfrm>
              <a:off x="2111" y="187"/>
              <a:ext cx="3649" cy="596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latin typeface="宋体" panose="02010600030101010101" pitchFamily="2" charset="-122"/>
                </a:rPr>
                <a:t>用一组二进制码按一定规则排列起来以表示数字、符号等特定信息。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4" name="Group 34"/>
          <p:cNvGrpSpPr/>
          <p:nvPr/>
        </p:nvGrpSpPr>
        <p:grpSpPr>
          <a:xfrm>
            <a:off x="3200400" y="1371600"/>
            <a:ext cx="5181600" cy="4876800"/>
            <a:chOff x="2016" y="864"/>
            <a:chExt cx="3264" cy="3072"/>
          </a:xfrm>
        </p:grpSpPr>
        <p:sp>
          <p:nvSpPr>
            <p:cNvPr id="50193" name="Text Box 17"/>
            <p:cNvSpPr txBox="1"/>
            <p:nvPr/>
          </p:nvSpPr>
          <p:spPr>
            <a:xfrm>
              <a:off x="2112" y="864"/>
              <a:ext cx="31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（一）自然二进制码及格雷码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50194" name="Rectangle 19"/>
            <p:cNvSpPr/>
            <p:nvPr/>
          </p:nvSpPr>
          <p:spPr>
            <a:xfrm>
              <a:off x="2016" y="960"/>
              <a:ext cx="48" cy="2976"/>
            </a:xfrm>
            <a:prstGeom prst="rect">
              <a:avLst/>
            </a:prstGeom>
            <a:gradFill rotWithShape="0">
              <a:gsLst>
                <a:gs pos="0">
                  <a:srgbClr val="33CCCC"/>
                </a:gs>
                <a:gs pos="50000">
                  <a:srgbClr val="185E5E"/>
                </a:gs>
                <a:gs pos="100000">
                  <a:srgbClr val="33CCCC"/>
                </a:gs>
              </a:gsLst>
              <a:lin ang="5400000" scaled="1"/>
              <a:tileRect/>
            </a:gradFill>
            <a:ln w="9525" cap="flat" cmpd="sng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</p:grpSp>
      <p:sp>
        <p:nvSpPr>
          <p:cNvPr id="37908" name="Text Box 20"/>
          <p:cNvSpPr txBox="1"/>
          <p:nvPr/>
        </p:nvSpPr>
        <p:spPr>
          <a:xfrm>
            <a:off x="3821113" y="1981200"/>
            <a:ext cx="22971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自然二进制码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7913" name="Text Box 25"/>
          <p:cNvSpPr txBox="1"/>
          <p:nvPr/>
        </p:nvSpPr>
        <p:spPr>
          <a:xfrm>
            <a:off x="3429000" y="2514600"/>
            <a:ext cx="4953000" cy="11874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常用四位自然二进制码，表示十进制数</a:t>
            </a:r>
            <a:r>
              <a:rPr lang="en-US" altLang="zh-CN" sz="2400" b="1" dirty="0">
                <a:latin typeface="宋体" panose="02010600030101010101" pitchFamily="2" charset="-122"/>
              </a:rPr>
              <a:t>0--15</a:t>
            </a:r>
            <a:r>
              <a:rPr lang="zh-CN" altLang="en-US" sz="2400" b="1" dirty="0">
                <a:latin typeface="宋体" panose="02010600030101010101" pitchFamily="2" charset="-122"/>
              </a:rPr>
              <a:t>，各位的权值依次为</a:t>
            </a: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en-US" altLang="zh-CN" sz="2400" b="1" baseline="30000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en-US" altLang="zh-CN" sz="2400" b="1" baseline="30000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en-US" altLang="zh-CN" sz="2400" b="1" baseline="30000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en-US" altLang="zh-CN" sz="2400" b="1" baseline="30000" dirty="0">
                <a:latin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</a:rPr>
              <a:t>。</a:t>
            </a:r>
            <a:endParaRPr lang="zh-CN" altLang="en-US" sz="2400" b="1" baseline="30000" dirty="0">
              <a:latin typeface="宋体" panose="02010600030101010101" pitchFamily="2" charset="-122"/>
            </a:endParaRPr>
          </a:p>
        </p:txBody>
      </p:sp>
      <p:sp>
        <p:nvSpPr>
          <p:cNvPr id="37916" name="Text Box 28"/>
          <p:cNvSpPr txBox="1"/>
          <p:nvPr/>
        </p:nvSpPr>
        <p:spPr>
          <a:xfrm>
            <a:off x="3810000" y="3657600"/>
            <a:ext cx="13922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格雷码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7917" name="Text Box 29"/>
          <p:cNvSpPr txBox="1"/>
          <p:nvPr/>
        </p:nvSpPr>
        <p:spPr>
          <a:xfrm>
            <a:off x="3429000" y="5486400"/>
            <a:ext cx="533400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2.</a:t>
            </a:r>
            <a:r>
              <a:rPr lang="zh-CN" altLang="en-US" sz="2400" b="1" dirty="0">
                <a:latin typeface="宋体" panose="02010600030101010101" pitchFamily="2" charset="-122"/>
              </a:rPr>
              <a:t>编码还具有反射性，因此又可称其为反射码。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7924" name="Text Box 36"/>
          <p:cNvSpPr txBox="1"/>
          <p:nvPr/>
        </p:nvSpPr>
        <p:spPr>
          <a:xfrm>
            <a:off x="3429000" y="4038600"/>
            <a:ext cx="5410200" cy="15525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1.</a:t>
            </a:r>
            <a:r>
              <a:rPr lang="zh-CN" altLang="en-US" sz="2400" b="1" dirty="0">
                <a:latin typeface="宋体" panose="02010600030101010101" pitchFamily="2" charset="-122"/>
              </a:rPr>
              <a:t>任意两组</a:t>
            </a:r>
            <a:r>
              <a:rPr lang="zh-CN" altLang="en-US" sz="2400" b="1" dirty="0">
                <a:solidFill>
                  <a:srgbClr val="FF00FF"/>
                </a:solidFill>
                <a:latin typeface="宋体" panose="02010600030101010101" pitchFamily="2" charset="-122"/>
              </a:rPr>
              <a:t>相邻码</a:t>
            </a:r>
            <a:r>
              <a:rPr lang="zh-CN" altLang="en-US" sz="2400" b="1" dirty="0">
                <a:latin typeface="宋体" panose="02010600030101010101" pitchFamily="2" charset="-122"/>
              </a:rPr>
              <a:t>之间只有</a:t>
            </a:r>
            <a:r>
              <a:rPr lang="zh-CN" altLang="en-US" sz="2400" b="1" dirty="0">
                <a:solidFill>
                  <a:srgbClr val="FF00FF"/>
                </a:solidFill>
                <a:latin typeface="宋体" panose="02010600030101010101" pitchFamily="2" charset="-122"/>
              </a:rPr>
              <a:t>一位</a:t>
            </a:r>
            <a:r>
              <a:rPr lang="zh-CN" altLang="en-US" sz="2400" b="1" dirty="0">
                <a:latin typeface="宋体" panose="02010600030101010101" pitchFamily="2" charset="-122"/>
              </a:rPr>
              <a:t>不同。注：首尾两个数码即最小数</a:t>
            </a:r>
            <a:r>
              <a:rPr lang="en-US" altLang="zh-CN" sz="2400" b="1" dirty="0">
                <a:latin typeface="宋体" panose="02010600030101010101" pitchFamily="2" charset="-122"/>
              </a:rPr>
              <a:t>0000</a:t>
            </a:r>
            <a:r>
              <a:rPr lang="zh-CN" altLang="en-US" sz="2400" b="1" dirty="0">
                <a:latin typeface="宋体" panose="02010600030101010101" pitchFamily="2" charset="-122"/>
              </a:rPr>
              <a:t>和最大数</a:t>
            </a:r>
            <a:r>
              <a:rPr lang="en-US" altLang="zh-CN" sz="2400" b="1" dirty="0">
                <a:latin typeface="宋体" panose="02010600030101010101" pitchFamily="2" charset="-122"/>
              </a:rPr>
              <a:t>1000</a:t>
            </a:r>
            <a:r>
              <a:rPr lang="zh-CN" altLang="en-US" sz="2400" b="1" dirty="0">
                <a:latin typeface="宋体" panose="02010600030101010101" pitchFamily="2" charset="-122"/>
              </a:rPr>
              <a:t>之间也符合此特点，故它可称为循环码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pic>
        <p:nvPicPr>
          <p:cNvPr id="50188" name="Picture 39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0198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0189" name="Text Box 40">
            <a:hlinkClick r:id="rId1" action="ppaction://hlinksldjump"/>
          </p:cNvPr>
          <p:cNvSpPr txBox="1"/>
          <p:nvPr/>
        </p:nvSpPr>
        <p:spPr>
          <a:xfrm>
            <a:off x="7512050" y="60960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  <p:grpSp>
        <p:nvGrpSpPr>
          <p:cNvPr id="5" name="Group 33"/>
          <p:cNvGrpSpPr/>
          <p:nvPr/>
        </p:nvGrpSpPr>
        <p:grpSpPr>
          <a:xfrm>
            <a:off x="6477000" y="1905000"/>
            <a:ext cx="2362200" cy="1371600"/>
            <a:chOff x="4080" y="1200"/>
            <a:chExt cx="1488" cy="864"/>
          </a:xfrm>
        </p:grpSpPr>
        <p:sp>
          <p:nvSpPr>
            <p:cNvPr id="50191" name="AutoShape 23"/>
            <p:cNvSpPr/>
            <p:nvPr/>
          </p:nvSpPr>
          <p:spPr>
            <a:xfrm>
              <a:off x="4080" y="1200"/>
              <a:ext cx="1488" cy="864"/>
            </a:xfrm>
            <a:prstGeom prst="wedgeRectCallout">
              <a:avLst>
                <a:gd name="adj1" fmla="val -69153"/>
                <a:gd name="adj2" fmla="val -23032"/>
              </a:avLst>
            </a:prstGeom>
            <a:solidFill>
              <a:srgbClr val="FFCC00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/>
            </a:p>
          </p:txBody>
        </p:sp>
        <p:sp>
          <p:nvSpPr>
            <p:cNvPr id="50192" name="Text Box 24"/>
            <p:cNvSpPr txBox="1"/>
            <p:nvPr/>
          </p:nvSpPr>
          <p:spPr>
            <a:xfrm>
              <a:off x="4128" y="1296"/>
              <a:ext cx="1402" cy="74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按自然数顺序排列的二进制码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"/>
                                        <p:tgtEl>
                                          <p:spTgt spid="3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37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"/>
                                        <p:tgtEl>
                                          <p:spTgt spid="37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"/>
                                        <p:tgtEl>
                                          <p:spTgt spid="37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"/>
                                        <p:tgtEl>
                                          <p:spTgt spid="37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animBg="1"/>
      <p:bldP spid="37902" grpId="0"/>
      <p:bldP spid="37908" grpId="0"/>
      <p:bldP spid="37913" grpId="0"/>
      <p:bldP spid="37916" grpId="0"/>
      <p:bldP spid="37917" grpId="0"/>
      <p:bldP spid="3792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1202" name="Group 5"/>
          <p:cNvGrpSpPr/>
          <p:nvPr/>
        </p:nvGrpSpPr>
        <p:grpSpPr>
          <a:xfrm>
            <a:off x="304800" y="1981200"/>
            <a:ext cx="2743200" cy="3962400"/>
            <a:chOff x="912" y="1200"/>
            <a:chExt cx="1728" cy="2496"/>
          </a:xfrm>
        </p:grpSpPr>
        <p:sp>
          <p:nvSpPr>
            <p:cNvPr id="51221" name="AutoShape 6"/>
            <p:cNvSpPr/>
            <p:nvPr/>
          </p:nvSpPr>
          <p:spPr>
            <a:xfrm>
              <a:off x="912" y="1200"/>
              <a:ext cx="1728" cy="2496"/>
            </a:xfrm>
            <a:prstGeom prst="upArrowCallout">
              <a:avLst>
                <a:gd name="adj1" fmla="val 25000"/>
                <a:gd name="adj2" fmla="val 25000"/>
                <a:gd name="adj3" fmla="val 24074"/>
                <a:gd name="adj4" fmla="val 66667"/>
              </a:avLst>
            </a:prstGeom>
            <a:solidFill>
              <a:srgbClr val="FFCC00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51222" name="Text Box 7"/>
            <p:cNvSpPr txBox="1"/>
            <p:nvPr/>
          </p:nvSpPr>
          <p:spPr>
            <a:xfrm>
              <a:off x="1008" y="2160"/>
              <a:ext cx="1584" cy="1403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  <a:sym typeface="Symbol" panose="05050102010706020507" pitchFamily="18" charset="2"/>
                </a:rPr>
                <a:t>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自然二进制码</a:t>
              </a:r>
              <a:r>
                <a:rPr lang="zh-CN" altLang="en-US" sz="2800" b="1" dirty="0">
                  <a:latin typeface="宋体" panose="02010600030101010101" pitchFamily="2" charset="-122"/>
                  <a:sym typeface="Symbol" panose="05050102010706020507" pitchFamily="18" charset="2"/>
                </a:rPr>
                <a:t>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格雷码</a:t>
              </a:r>
              <a:endParaRPr lang="zh-CN" altLang="en-US" sz="2800" b="1" dirty="0">
                <a:latin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sym typeface="Symbol" panose="05050102010706020507" pitchFamily="18" charset="2"/>
                </a:rPr>
                <a:t>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二</a:t>
              </a:r>
              <a:r>
                <a:rPr lang="en-US" altLang="zh-CN" sz="2800" b="1" dirty="0"/>
                <a:t>—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十进制码</a:t>
              </a:r>
              <a:r>
                <a:rPr lang="zh-CN" altLang="en-US" sz="2800" b="1" dirty="0">
                  <a:latin typeface="宋体" panose="02010600030101010101" pitchFamily="2" charset="-122"/>
                  <a:sym typeface="Symbol" panose="05050102010706020507" pitchFamily="18" charset="2"/>
                </a:rPr>
                <a:t>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奇偶检验码</a:t>
              </a:r>
              <a:endParaRPr lang="zh-CN" altLang="en-US" sz="2800" b="1" dirty="0">
                <a:latin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sym typeface="Symbol" panose="05050102010706020507" pitchFamily="18" charset="2"/>
                </a:rPr>
                <a:t>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ASCII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码等</a:t>
              </a:r>
              <a:r>
                <a:rPr lang="zh-CN" altLang="en-US" sz="2400" dirty="0">
                  <a:latin typeface="宋体" panose="02010600030101010101" pitchFamily="2" charset="-122"/>
                </a:rPr>
                <a:t>。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51203" name="Text Box 8"/>
          <p:cNvSpPr txBox="1"/>
          <p:nvPr/>
        </p:nvSpPr>
        <p:spPr>
          <a:xfrm>
            <a:off x="406400" y="1341438"/>
            <a:ext cx="255905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常用的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编码</a:t>
            </a:r>
            <a:r>
              <a:rPr lang="zh-CN" altLang="en-US" sz="2800" b="1" dirty="0">
                <a:latin typeface="宋体" panose="02010600030101010101" pitchFamily="2" charset="-122"/>
              </a:rPr>
              <a:t>：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38925" name="Text Box 13"/>
          <p:cNvSpPr txBox="1"/>
          <p:nvPr/>
        </p:nvSpPr>
        <p:spPr>
          <a:xfrm>
            <a:off x="3352800" y="1250950"/>
            <a:ext cx="50292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（二）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二</a:t>
            </a:r>
            <a:r>
              <a:rPr lang="en-US" altLang="zh-CN" sz="2800" b="1" dirty="0">
                <a:solidFill>
                  <a:schemeClr val="accent2"/>
                </a:solidFill>
              </a:rPr>
              <a:t>—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十进制</a:t>
            </a:r>
            <a:r>
              <a:rPr lang="en-US" altLang="zh-CN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BCD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码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51205" name="Rectangle 14"/>
          <p:cNvSpPr/>
          <p:nvPr/>
        </p:nvSpPr>
        <p:spPr>
          <a:xfrm>
            <a:off x="3200400" y="1676400"/>
            <a:ext cx="76200" cy="4724400"/>
          </a:xfrm>
          <a:prstGeom prst="rect">
            <a:avLst/>
          </a:prstGeom>
          <a:gradFill rotWithShape="0">
            <a:gsLst>
              <a:gs pos="0">
                <a:srgbClr val="33CCCC"/>
              </a:gs>
              <a:gs pos="50000">
                <a:srgbClr val="185E5E"/>
              </a:gs>
              <a:gs pos="100000">
                <a:srgbClr val="33CCCC"/>
              </a:gs>
            </a:gsLst>
            <a:lin ang="5400000" scaled="1"/>
            <a:tileRect/>
          </a:gradFill>
          <a:ln w="9525" cap="flat" cmpd="sng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38927" name="Text Box 15"/>
          <p:cNvSpPr txBox="1"/>
          <p:nvPr/>
        </p:nvSpPr>
        <p:spPr>
          <a:xfrm>
            <a:off x="3581400" y="1981200"/>
            <a:ext cx="15319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en-US" altLang="zh-CN" sz="2400" b="1" dirty="0"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有权码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3" name="Group 23"/>
          <p:cNvGrpSpPr/>
          <p:nvPr/>
        </p:nvGrpSpPr>
        <p:grpSpPr>
          <a:xfrm>
            <a:off x="5486400" y="228600"/>
            <a:ext cx="3276600" cy="1187450"/>
            <a:chOff x="3504" y="117"/>
            <a:chExt cx="2064" cy="748"/>
          </a:xfrm>
        </p:grpSpPr>
        <p:sp>
          <p:nvSpPr>
            <p:cNvPr id="51219" name="AutoShape 17"/>
            <p:cNvSpPr/>
            <p:nvPr/>
          </p:nvSpPr>
          <p:spPr>
            <a:xfrm>
              <a:off x="3504" y="144"/>
              <a:ext cx="2064" cy="720"/>
            </a:xfrm>
            <a:prstGeom prst="wedgeRectCallout">
              <a:avLst>
                <a:gd name="adj1" fmla="val 5861"/>
                <a:gd name="adj2" fmla="val 72361"/>
              </a:avLst>
            </a:prstGeom>
            <a:solidFill>
              <a:srgbClr val="FFCC00"/>
            </a:solidFill>
            <a:ln w="2857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51220" name="Text Box 18"/>
            <p:cNvSpPr txBox="1"/>
            <p:nvPr/>
          </p:nvSpPr>
          <p:spPr>
            <a:xfrm>
              <a:off x="3552" y="117"/>
              <a:ext cx="1944" cy="74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用四位二进制代码对十进制数的各个数码进行编码</a:t>
              </a:r>
              <a:r>
                <a:rPr lang="zh-CN" altLang="en-US" sz="2400" b="1" dirty="0">
                  <a:solidFill>
                    <a:srgbClr val="CC0000"/>
                  </a:solidFill>
                  <a:latin typeface="宋体" panose="02010600030101010101" pitchFamily="2" charset="-122"/>
                </a:rPr>
                <a:t>。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38931" name="Text Box 19"/>
          <p:cNvSpPr txBox="1"/>
          <p:nvPr/>
        </p:nvSpPr>
        <p:spPr>
          <a:xfrm>
            <a:off x="3429000" y="2438400"/>
            <a:ext cx="4953000" cy="11874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有权码表示十进制数符：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D = b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3</a:t>
            </a:r>
            <a:r>
              <a:rPr lang="en-US" altLang="zh-CN" sz="2400" b="1" dirty="0">
                <a:latin typeface="宋体" panose="02010600030101010101" pitchFamily="2" charset="-122"/>
              </a:rPr>
              <a:t>w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3</a:t>
            </a:r>
            <a:r>
              <a:rPr lang="en-US" altLang="zh-CN" sz="2400" b="1" dirty="0">
                <a:latin typeface="宋体" panose="02010600030101010101" pitchFamily="2" charset="-122"/>
              </a:rPr>
              <a:t> + b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宋体" panose="02010600030101010101" pitchFamily="2" charset="-122"/>
              </a:rPr>
              <a:t>w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宋体" panose="02010600030101010101" pitchFamily="2" charset="-122"/>
              </a:rPr>
              <a:t> + b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宋体" panose="02010600030101010101" pitchFamily="2" charset="-122"/>
              </a:rPr>
              <a:t>w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宋体" panose="02010600030101010101" pitchFamily="2" charset="-122"/>
              </a:rPr>
              <a:t> + b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0</a:t>
            </a:r>
            <a:r>
              <a:rPr lang="en-US" altLang="zh-CN" sz="2400" b="1" dirty="0">
                <a:latin typeface="宋体" panose="02010600030101010101" pitchFamily="2" charset="-122"/>
              </a:rPr>
              <a:t>w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0</a:t>
            </a:r>
            <a:r>
              <a:rPr lang="en-US" altLang="zh-CN" sz="2400" b="1" dirty="0">
                <a:latin typeface="宋体" panose="02010600030101010101" pitchFamily="2" charset="-122"/>
              </a:rPr>
              <a:t> + c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 algn="just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偏权系数</a:t>
            </a:r>
            <a:r>
              <a:rPr lang="en-US" altLang="zh-CN" sz="2400" b="1" dirty="0">
                <a:latin typeface="宋体" panose="02010600030101010101" pitchFamily="2" charset="-122"/>
              </a:rPr>
              <a:t>c</a:t>
            </a:r>
            <a:r>
              <a:rPr lang="en-US" altLang="zh-CN" sz="2400" b="1" baseline="30000" dirty="0"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宋体" panose="02010600030101010101" pitchFamily="2" charset="-122"/>
              </a:rPr>
              <a:t>=</a:t>
            </a:r>
            <a:r>
              <a:rPr lang="en-US" altLang="zh-CN" sz="2400" b="1" baseline="30000" dirty="0"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</a:rPr>
              <a:t>时为有权码。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8932" name="Text Box 20"/>
          <p:cNvSpPr txBox="1"/>
          <p:nvPr/>
        </p:nvSpPr>
        <p:spPr>
          <a:xfrm>
            <a:off x="3429000" y="3733800"/>
            <a:ext cx="36449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宋体" panose="02010600030101010101" pitchFamily="2" charset="-122"/>
                <a:sym typeface="Symbol" panose="05050102010706020507" pitchFamily="18" charset="2"/>
              </a:rPr>
              <a:t>1 </a:t>
            </a:r>
            <a:r>
              <a:rPr lang="en-US" altLang="zh-CN" sz="2800" b="1" dirty="0">
                <a:latin typeface="宋体" panose="02010600030101010101" pitchFamily="2" charset="-122"/>
              </a:rPr>
              <a:t>8421BCD</a:t>
            </a:r>
            <a:r>
              <a:rPr lang="zh-CN" altLang="en-US" sz="2800" b="1" dirty="0">
                <a:latin typeface="宋体" panose="02010600030101010101" pitchFamily="2" charset="-122"/>
              </a:rPr>
              <a:t>（</a:t>
            </a:r>
            <a:r>
              <a:rPr lang="en-US" altLang="zh-CN" sz="2800" b="1" dirty="0">
                <a:latin typeface="宋体" panose="02010600030101010101" pitchFamily="2" charset="-122"/>
              </a:rPr>
              <a:t>NBCD</a:t>
            </a:r>
            <a:r>
              <a:rPr lang="zh-CN" altLang="en-US" sz="2800" b="1" dirty="0">
                <a:latin typeface="宋体" panose="02010600030101010101" pitchFamily="2" charset="-122"/>
              </a:rPr>
              <a:t>）码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  <p:sp>
        <p:nvSpPr>
          <p:cNvPr id="38936" name="Text Box 24"/>
          <p:cNvSpPr txBox="1"/>
          <p:nvPr/>
        </p:nvSpPr>
        <p:spPr>
          <a:xfrm>
            <a:off x="3429000" y="4800600"/>
            <a:ext cx="5410200" cy="118745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2    7    6   .  8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↓   ↓   ↓     ↓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010 0111 0110   1000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38937" name="Text Box 25"/>
          <p:cNvSpPr txBox="1"/>
          <p:nvPr/>
        </p:nvSpPr>
        <p:spPr>
          <a:xfrm>
            <a:off x="3505200" y="4191000"/>
            <a:ext cx="48006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例：（</a:t>
            </a:r>
            <a:r>
              <a:rPr lang="en-US" altLang="zh-CN" sz="2400" b="1" dirty="0">
                <a:latin typeface="宋体" panose="02010600030101010101" pitchFamily="2" charset="-122"/>
              </a:rPr>
              <a:t>276.8</a:t>
            </a:r>
            <a:r>
              <a:rPr lang="zh-CN" altLang="en-US" sz="2400" b="1" dirty="0">
                <a:latin typeface="宋体" panose="02010600030101010101" pitchFamily="2" charset="-122"/>
              </a:rPr>
              <a:t>）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10 </a:t>
            </a:r>
            <a:r>
              <a:rPr lang="en-US" altLang="zh-CN" sz="2400" b="1" dirty="0">
                <a:latin typeface="宋体" panose="02010600030101010101" pitchFamily="2" charset="-122"/>
              </a:rPr>
              <a:t>=</a:t>
            </a:r>
            <a:r>
              <a:rPr lang="zh-CN" altLang="en-US" sz="2400" b="1" dirty="0">
                <a:latin typeface="宋体" panose="02010600030101010101" pitchFamily="2" charset="-122"/>
              </a:rPr>
              <a:t>（  ？  ）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NBCD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38938" name="Text Box 26"/>
          <p:cNvSpPr txBox="1"/>
          <p:nvPr/>
        </p:nvSpPr>
        <p:spPr>
          <a:xfrm>
            <a:off x="3311525" y="6019800"/>
            <a:ext cx="5581650" cy="457200"/>
          </a:xfrm>
          <a:prstGeom prst="rect">
            <a:avLst/>
          </a:prstGeom>
          <a:solidFill>
            <a:srgbClr val="FF9900"/>
          </a:solidFill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</a:rPr>
              <a:t>276.8</a:t>
            </a:r>
            <a:r>
              <a:rPr lang="zh-CN" altLang="en-US" sz="2400" b="1" dirty="0">
                <a:latin typeface="宋体" panose="02010600030101010101" pitchFamily="2" charset="-122"/>
              </a:rPr>
              <a:t>）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10  </a:t>
            </a:r>
            <a:r>
              <a:rPr lang="en-US" altLang="zh-CN" sz="2400" b="1" dirty="0">
                <a:latin typeface="宋体" panose="02010600030101010101" pitchFamily="2" charset="-122"/>
              </a:rPr>
              <a:t>=</a:t>
            </a: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</a:rPr>
              <a:t>0010011101101000</a:t>
            </a:r>
            <a:r>
              <a:rPr lang="zh-CN" altLang="en-US" sz="2400" b="1" dirty="0">
                <a:latin typeface="宋体" panose="02010600030101010101" pitchFamily="2" charset="-122"/>
              </a:rPr>
              <a:t>）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NBCD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grpSp>
        <p:nvGrpSpPr>
          <p:cNvPr id="4" name="Group 30"/>
          <p:cNvGrpSpPr/>
          <p:nvPr/>
        </p:nvGrpSpPr>
        <p:grpSpPr>
          <a:xfrm>
            <a:off x="5562600" y="1219200"/>
            <a:ext cx="3276600" cy="1066800"/>
            <a:chOff x="5088" y="1104"/>
            <a:chExt cx="2064" cy="672"/>
          </a:xfrm>
        </p:grpSpPr>
        <p:sp>
          <p:nvSpPr>
            <p:cNvPr id="51217" name="AutoShape 27"/>
            <p:cNvSpPr/>
            <p:nvPr/>
          </p:nvSpPr>
          <p:spPr>
            <a:xfrm>
              <a:off x="5088" y="1104"/>
              <a:ext cx="2064" cy="672"/>
            </a:xfrm>
            <a:prstGeom prst="wedgeRectCallout">
              <a:avLst>
                <a:gd name="adj1" fmla="val -66713"/>
                <a:gd name="adj2" fmla="val 41069"/>
              </a:avLst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/>
            </a:p>
          </p:txBody>
        </p:sp>
        <p:sp>
          <p:nvSpPr>
            <p:cNvPr id="51218" name="Text Box 29"/>
            <p:cNvSpPr txBox="1"/>
            <p:nvPr/>
          </p:nvSpPr>
          <p:spPr>
            <a:xfrm>
              <a:off x="5088" y="1171"/>
              <a:ext cx="2064" cy="51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四位二进制数中的每一位都对应有固定的权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51214" name="Rectangle 33"/>
          <p:cNvSpPr>
            <a:spLocks noGrp="1"/>
          </p:cNvSpPr>
          <p:nvPr>
            <p:ph type="title"/>
          </p:nvPr>
        </p:nvSpPr>
        <p:spPr>
          <a:xfrm>
            <a:off x="609600" y="381000"/>
            <a:ext cx="2514600" cy="609600"/>
          </a:xfrm>
          <a:gradFill rotWithShape="0">
            <a:gsLst>
              <a:gs pos="0">
                <a:srgbClr val="767676"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767676">
                  <a:alpha val="100000"/>
                </a:srgbClr>
              </a:gs>
            </a:gsLst>
            <a:lin ang="5400000" scaled="1"/>
            <a:tileRect/>
          </a:gradFill>
          <a:ln/>
          <a:effectLst>
            <a:outerShdw sy="50000" kx="2453608" rotWithShape="0">
              <a:srgbClr val="808080">
                <a:alpha val="100000"/>
              </a:srgbClr>
            </a:outerShdw>
          </a:effectLst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b="1" dirty="0">
                <a:solidFill>
                  <a:srgbClr val="CC0000"/>
                </a:solidFill>
                <a:latin typeface="幼圆" panose="02010509060101010101" pitchFamily="49" charset="-122"/>
                <a:ea typeface="隶书" panose="02010509060101010101" pitchFamily="49" charset="-122"/>
              </a:rPr>
              <a:t>常用编码</a:t>
            </a:r>
            <a:endParaRPr lang="zh-CN" altLang="en-US" sz="4000" b="1" dirty="0">
              <a:solidFill>
                <a:srgbClr val="CC0000"/>
              </a:solidFill>
              <a:latin typeface="黑体" panose="020106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51215" name="Picture 34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0198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16" name="Text Box 35">
            <a:hlinkClick r:id="rId1" action="ppaction://hlinksldjump"/>
          </p:cNvPr>
          <p:cNvSpPr txBox="1"/>
          <p:nvPr/>
        </p:nvSpPr>
        <p:spPr>
          <a:xfrm>
            <a:off x="501650" y="60960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8" dur="500"/>
                                        <p:tgtEl>
                                          <p:spTgt spid="38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3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89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89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5" grpId="0"/>
      <p:bldP spid="38927" grpId="0"/>
      <p:bldP spid="38931" grpId="0"/>
      <p:bldP spid="38932" grpId="0"/>
      <p:bldP spid="38936" grpId="0" animBg="1"/>
      <p:bldP spid="38937" grpId="0"/>
      <p:bldP spid="3893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2226" name="Group 3"/>
          <p:cNvGrpSpPr/>
          <p:nvPr/>
        </p:nvGrpSpPr>
        <p:grpSpPr>
          <a:xfrm>
            <a:off x="304800" y="1981200"/>
            <a:ext cx="2743200" cy="3962400"/>
            <a:chOff x="912" y="1200"/>
            <a:chExt cx="1728" cy="2496"/>
          </a:xfrm>
        </p:grpSpPr>
        <p:sp>
          <p:nvSpPr>
            <p:cNvPr id="52242" name="AutoShape 4"/>
            <p:cNvSpPr/>
            <p:nvPr/>
          </p:nvSpPr>
          <p:spPr>
            <a:xfrm>
              <a:off x="912" y="1200"/>
              <a:ext cx="1728" cy="2496"/>
            </a:xfrm>
            <a:prstGeom prst="upArrowCallout">
              <a:avLst>
                <a:gd name="adj1" fmla="val 25000"/>
                <a:gd name="adj2" fmla="val 25000"/>
                <a:gd name="adj3" fmla="val 24074"/>
                <a:gd name="adj4" fmla="val 66667"/>
              </a:avLst>
            </a:prstGeom>
            <a:solidFill>
              <a:srgbClr val="FFCC00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52243" name="Text Box 5"/>
            <p:cNvSpPr txBox="1"/>
            <p:nvPr/>
          </p:nvSpPr>
          <p:spPr>
            <a:xfrm>
              <a:off x="1008" y="2160"/>
              <a:ext cx="1584" cy="1403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  <a:sym typeface="Symbol" panose="05050102010706020507" pitchFamily="18" charset="2"/>
                </a:rPr>
                <a:t>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自然二进制码</a:t>
              </a:r>
              <a:r>
                <a:rPr lang="zh-CN" altLang="en-US" sz="2800" b="1" dirty="0">
                  <a:latin typeface="宋体" panose="02010600030101010101" pitchFamily="2" charset="-122"/>
                  <a:sym typeface="Symbol" panose="05050102010706020507" pitchFamily="18" charset="2"/>
                </a:rPr>
                <a:t>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格雷码</a:t>
              </a:r>
              <a:endParaRPr lang="zh-CN" altLang="en-US" sz="2800" b="1" dirty="0">
                <a:latin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sym typeface="Symbol" panose="05050102010706020507" pitchFamily="18" charset="2"/>
                </a:rPr>
                <a:t>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二</a:t>
              </a:r>
              <a:r>
                <a:rPr lang="en-US" altLang="zh-CN" sz="2800" b="1" dirty="0"/>
                <a:t>—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十进制码</a:t>
              </a:r>
              <a:r>
                <a:rPr lang="zh-CN" altLang="en-US" sz="2800" b="1" dirty="0">
                  <a:latin typeface="宋体" panose="02010600030101010101" pitchFamily="2" charset="-122"/>
                  <a:sym typeface="Symbol" panose="05050102010706020507" pitchFamily="18" charset="2"/>
                </a:rPr>
                <a:t>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奇偶检验码</a:t>
              </a:r>
              <a:endParaRPr lang="zh-CN" altLang="en-US" sz="2800" b="1" dirty="0">
                <a:latin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latin typeface="宋体" panose="02010600030101010101" pitchFamily="2" charset="-122"/>
                  <a:sym typeface="Symbol" panose="05050102010706020507" pitchFamily="18" charset="2"/>
                </a:rPr>
                <a:t>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ASCII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码等</a:t>
              </a:r>
              <a:r>
                <a:rPr lang="zh-CN" altLang="en-US" sz="2400" dirty="0">
                  <a:latin typeface="宋体" panose="02010600030101010101" pitchFamily="2" charset="-122"/>
                </a:rPr>
                <a:t>。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52227" name="Text Box 6"/>
          <p:cNvSpPr txBox="1"/>
          <p:nvPr/>
        </p:nvSpPr>
        <p:spPr>
          <a:xfrm>
            <a:off x="406400" y="1341438"/>
            <a:ext cx="255905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常用的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编码</a:t>
            </a:r>
            <a:r>
              <a:rPr lang="zh-CN" altLang="en-US" sz="2800" b="1" dirty="0">
                <a:latin typeface="宋体" panose="02010600030101010101" pitchFamily="2" charset="-122"/>
              </a:rPr>
              <a:t>：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52228" name="Rectangle 8"/>
          <p:cNvSpPr/>
          <p:nvPr/>
        </p:nvSpPr>
        <p:spPr>
          <a:xfrm>
            <a:off x="3200400" y="1676400"/>
            <a:ext cx="76200" cy="4724400"/>
          </a:xfrm>
          <a:prstGeom prst="rect">
            <a:avLst/>
          </a:prstGeom>
          <a:gradFill rotWithShape="0">
            <a:gsLst>
              <a:gs pos="0">
                <a:srgbClr val="33CCCC"/>
              </a:gs>
              <a:gs pos="50000">
                <a:srgbClr val="185E5E"/>
              </a:gs>
              <a:gs pos="100000">
                <a:srgbClr val="33CCCC"/>
              </a:gs>
            </a:gsLst>
            <a:lin ang="5400000" scaled="1"/>
            <a:tileRect/>
          </a:gradFill>
          <a:ln w="9525" cap="flat" cmpd="sng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39945" name="Text Box 9"/>
          <p:cNvSpPr txBox="1"/>
          <p:nvPr/>
        </p:nvSpPr>
        <p:spPr>
          <a:xfrm>
            <a:off x="3352800" y="1981200"/>
            <a:ext cx="168751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en-US" altLang="zh-CN" sz="2400" b="1" dirty="0"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无权码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9957" name="Text Box 21"/>
          <p:cNvSpPr txBox="1"/>
          <p:nvPr/>
        </p:nvSpPr>
        <p:spPr>
          <a:xfrm>
            <a:off x="3733800" y="1371600"/>
            <a:ext cx="19653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2.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其它有权码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grpSp>
        <p:nvGrpSpPr>
          <p:cNvPr id="3" name="Group 23"/>
          <p:cNvGrpSpPr/>
          <p:nvPr/>
        </p:nvGrpSpPr>
        <p:grpSpPr>
          <a:xfrm>
            <a:off x="5486400" y="762000"/>
            <a:ext cx="3276600" cy="762000"/>
            <a:chOff x="5088" y="1104"/>
            <a:chExt cx="2064" cy="672"/>
          </a:xfrm>
        </p:grpSpPr>
        <p:sp>
          <p:nvSpPr>
            <p:cNvPr id="52240" name="AutoShape 24"/>
            <p:cNvSpPr/>
            <p:nvPr/>
          </p:nvSpPr>
          <p:spPr>
            <a:xfrm>
              <a:off x="5088" y="1104"/>
              <a:ext cx="2064" cy="672"/>
            </a:xfrm>
            <a:prstGeom prst="wedgeRectCallout">
              <a:avLst>
                <a:gd name="adj1" fmla="val -66713"/>
                <a:gd name="adj2" fmla="val 41069"/>
              </a:avLst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/>
            </a:p>
          </p:txBody>
        </p:sp>
        <p:sp>
          <p:nvSpPr>
            <p:cNvPr id="52241" name="Text Box 25"/>
            <p:cNvSpPr txBox="1"/>
            <p:nvPr/>
          </p:nvSpPr>
          <p:spPr>
            <a:xfrm>
              <a:off x="5088" y="1202"/>
              <a:ext cx="2064" cy="45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</a:rPr>
                <a:t>2421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、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5421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、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5211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39962" name="Text Box 26"/>
          <p:cNvSpPr txBox="1"/>
          <p:nvPr/>
        </p:nvSpPr>
        <p:spPr>
          <a:xfrm>
            <a:off x="3640138" y="2484438"/>
            <a:ext cx="1516062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1 </a:t>
            </a:r>
            <a:r>
              <a:rPr lang="en-US" altLang="zh-CN" sz="2800" b="1" dirty="0">
                <a:solidFill>
                  <a:schemeClr val="tx2"/>
                </a:solidFill>
              </a:rPr>
              <a:t>.</a:t>
            </a:r>
            <a:r>
              <a:rPr lang="zh-CN" altLang="en-US" sz="2800" b="1" dirty="0">
                <a:latin typeface="宋体" panose="02010600030101010101" pitchFamily="2" charset="-122"/>
              </a:rPr>
              <a:t>余</a:t>
            </a:r>
            <a:r>
              <a:rPr lang="en-US" altLang="zh-CN" sz="2800" b="1" dirty="0">
                <a:latin typeface="宋体" panose="02010600030101010101" pitchFamily="2" charset="-122"/>
              </a:rPr>
              <a:t>3</a:t>
            </a:r>
            <a:r>
              <a:rPr lang="zh-CN" altLang="en-US" sz="2800" b="1" dirty="0">
                <a:latin typeface="宋体" panose="02010600030101010101" pitchFamily="2" charset="-122"/>
              </a:rPr>
              <a:t>码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39964" name="Text Box 28"/>
          <p:cNvSpPr txBox="1"/>
          <p:nvPr/>
        </p:nvSpPr>
        <p:spPr>
          <a:xfrm>
            <a:off x="3810000" y="3124200"/>
            <a:ext cx="3962400" cy="11874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余</a:t>
            </a:r>
            <a:r>
              <a:rPr lang="en-US" altLang="zh-CN" sz="2400" b="1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码中有效的十组代码为</a:t>
            </a:r>
            <a:r>
              <a:rPr lang="en-US" altLang="zh-CN" sz="2400" b="1" dirty="0">
                <a:latin typeface="宋体" panose="02010600030101010101" pitchFamily="2" charset="-122"/>
              </a:rPr>
              <a:t>0011</a:t>
            </a:r>
            <a:r>
              <a:rPr lang="zh-CN" altLang="en-US" sz="2400" b="1" dirty="0">
                <a:latin typeface="宋体" panose="02010600030101010101" pitchFamily="2" charset="-122"/>
              </a:rPr>
              <a:t>～</a:t>
            </a:r>
            <a:r>
              <a:rPr lang="en-US" altLang="zh-CN" sz="2400" b="1" dirty="0">
                <a:latin typeface="宋体" panose="02010600030101010101" pitchFamily="2" charset="-122"/>
              </a:rPr>
              <a:t>1100</a:t>
            </a:r>
            <a:r>
              <a:rPr lang="zh-CN" altLang="en-US" sz="2400" b="1" dirty="0">
                <a:latin typeface="宋体" panose="02010600030101010101" pitchFamily="2" charset="-122"/>
              </a:rPr>
              <a:t>代表十进制数</a:t>
            </a:r>
            <a:r>
              <a:rPr lang="en-US" altLang="zh-CN" sz="2400" b="1" dirty="0">
                <a:latin typeface="宋体" panose="02010600030101010101" pitchFamily="2" charset="-122"/>
              </a:rPr>
              <a:t>0--9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39965" name="Text Box 29"/>
          <p:cNvSpPr txBox="1"/>
          <p:nvPr/>
        </p:nvSpPr>
        <p:spPr>
          <a:xfrm>
            <a:off x="3733800" y="4267200"/>
            <a:ext cx="21494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2 </a:t>
            </a:r>
            <a:r>
              <a:rPr lang="en-US" altLang="zh-CN" sz="2800" b="1" dirty="0">
                <a:solidFill>
                  <a:schemeClr val="tx2"/>
                </a:solidFill>
              </a:rPr>
              <a:t>.</a:t>
            </a:r>
            <a:r>
              <a:rPr lang="zh-CN" altLang="en-US" sz="2400" b="1" dirty="0">
                <a:latin typeface="宋体" panose="02010600030101010101" pitchFamily="2" charset="-122"/>
              </a:rPr>
              <a:t>其它无权码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39967" name="Text Box 31"/>
          <p:cNvSpPr txBox="1"/>
          <p:nvPr/>
        </p:nvSpPr>
        <p:spPr>
          <a:xfrm>
            <a:off x="3505200" y="4906963"/>
            <a:ext cx="1687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latin typeface="宋体" panose="02010600030101010101" pitchFamily="2" charset="-122"/>
              </a:rPr>
              <a:t>字符编码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9968" name="Text Box 32"/>
          <p:cNvSpPr txBox="1"/>
          <p:nvPr/>
        </p:nvSpPr>
        <p:spPr>
          <a:xfrm>
            <a:off x="3733800" y="5334000"/>
            <a:ext cx="5029200" cy="118745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ASCII</a:t>
            </a:r>
            <a:r>
              <a:rPr lang="zh-CN" altLang="en-US" sz="2400" b="1" dirty="0">
                <a:latin typeface="宋体" panose="02010600030101010101" pitchFamily="2" charset="-122"/>
              </a:rPr>
              <a:t>码：七位代码表示</a:t>
            </a:r>
            <a:r>
              <a:rPr lang="en-US" altLang="zh-CN" sz="2400" b="1" dirty="0">
                <a:latin typeface="宋体" panose="02010600030101010101" pitchFamily="2" charset="-122"/>
              </a:rPr>
              <a:t>128</a:t>
            </a:r>
            <a:r>
              <a:rPr lang="zh-CN" altLang="en-US" sz="2400" b="1" dirty="0">
                <a:latin typeface="宋体" panose="02010600030101010101" pitchFamily="2" charset="-122"/>
              </a:rPr>
              <a:t>个字符      </a:t>
            </a:r>
            <a:r>
              <a:rPr lang="en-US" altLang="zh-CN" sz="2400" b="1" dirty="0">
                <a:latin typeface="宋体" panose="02010600030101010101" pitchFamily="2" charset="-122"/>
              </a:rPr>
              <a:t>96</a:t>
            </a:r>
            <a:r>
              <a:rPr lang="zh-CN" altLang="en-US" sz="2400" b="1" dirty="0">
                <a:latin typeface="宋体" panose="02010600030101010101" pitchFamily="2" charset="-122"/>
              </a:rPr>
              <a:t>个为图形字符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控制字符</a:t>
            </a:r>
            <a:r>
              <a:rPr lang="en-US" altLang="zh-CN" sz="2400" b="1" dirty="0">
                <a:latin typeface="宋体" panose="02010600030101010101" pitchFamily="2" charset="-122"/>
              </a:rPr>
              <a:t>32</a:t>
            </a:r>
            <a:r>
              <a:rPr lang="zh-CN" altLang="en-US" sz="2400" b="1" dirty="0">
                <a:latin typeface="宋体" panose="02010600030101010101" pitchFamily="2" charset="-122"/>
              </a:rPr>
              <a:t>个</a:t>
            </a:r>
            <a:r>
              <a:rPr lang="zh-CN" altLang="en-US" sz="2400" dirty="0">
                <a:latin typeface="宋体" panose="02010600030101010101" pitchFamily="2" charset="-122"/>
              </a:rPr>
              <a:t>。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sp>
        <p:nvSpPr>
          <p:cNvPr id="52237" name="Rectangle 34"/>
          <p:cNvSpPr/>
          <p:nvPr/>
        </p:nvSpPr>
        <p:spPr>
          <a:xfrm>
            <a:off x="609600" y="381000"/>
            <a:ext cx="2514600" cy="6096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rgbClr val="808080"/>
            </a:outerShdw>
          </a:effectLst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4000" b="1" dirty="0">
                <a:solidFill>
                  <a:srgbClr val="CC0000"/>
                </a:solidFill>
                <a:latin typeface="幼圆" panose="02010509060101010101" pitchFamily="49" charset="-122"/>
                <a:ea typeface="隶书" panose="02010509060101010101" pitchFamily="49" charset="-122"/>
              </a:rPr>
              <a:t>常用编码</a:t>
            </a:r>
            <a:endParaRPr lang="zh-CN" altLang="en-US" sz="4000" b="1" dirty="0">
              <a:solidFill>
                <a:srgbClr val="CC0000"/>
              </a:solidFill>
              <a:latin typeface="黑体" panose="020106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52238" name="Picture 35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0960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239" name="Text Box 36">
            <a:hlinkClick r:id="rId1" action="ppaction://hlinksldjump"/>
          </p:cNvPr>
          <p:cNvSpPr txBox="1"/>
          <p:nvPr/>
        </p:nvSpPr>
        <p:spPr>
          <a:xfrm>
            <a:off x="501650" y="61722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39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5" dur="500"/>
                                        <p:tgtEl>
                                          <p:spTgt spid="39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39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5" grpId="0"/>
      <p:bldP spid="39957" grpId="0"/>
      <p:bldP spid="39962" grpId="0"/>
      <p:bldP spid="39964" grpId="0"/>
      <p:bldP spid="39965" grpId="0"/>
      <p:bldP spid="39967" grpId="0"/>
      <p:bldP spid="3996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3250" name="Picture 1034" descr="wb00677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5943600"/>
            <a:ext cx="838200" cy="5334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85750" y="357188"/>
          <a:ext cx="8858250" cy="5786438"/>
        </p:xfrm>
        <a:graphic>
          <a:graphicData uri="http://schemas.openxmlformats.org/drawingml/2006/table">
            <a:tbl>
              <a:tblPr/>
              <a:tblGrid>
                <a:gridCol w="1169031"/>
                <a:gridCol w="1164816"/>
                <a:gridCol w="1305952"/>
                <a:gridCol w="1305952"/>
                <a:gridCol w="1305952"/>
                <a:gridCol w="1068345"/>
                <a:gridCol w="1538203"/>
              </a:tblGrid>
              <a:tr h="86677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十进制数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57150" algn="ctr">
                        <a:spcAft>
                          <a:spcPts val="0"/>
                        </a:spcAft>
                      </a:pPr>
                      <a:r>
                        <a:rPr lang="en-US" altLang="zh-CN" sz="2800" b="1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8421</a:t>
                      </a:r>
                      <a:r>
                        <a:rPr lang="zh-CN" altLang="zh-CN" sz="2800" b="1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码</a:t>
                      </a:r>
                      <a:endParaRPr lang="en-US" sz="2800" b="1" i="0" kern="100" baseline="0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Aft>
                          <a:spcPts val="0"/>
                        </a:spcAft>
                      </a:pPr>
                      <a:r>
                        <a:rPr lang="zh-CN" altLang="zh-CN" sz="2800" b="1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余</a:t>
                      </a:r>
                      <a:r>
                        <a:rPr lang="en-US" altLang="zh-CN" sz="2800" b="1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zh-CN" sz="2800" b="1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码 </a:t>
                      </a: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Aft>
                          <a:spcPts val="0"/>
                        </a:spcAft>
                      </a:pPr>
                      <a:r>
                        <a:rPr lang="en-US" altLang="zh-CN" sz="2800" b="1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2421</a:t>
                      </a:r>
                      <a:r>
                        <a:rPr lang="zh-CN" altLang="zh-CN" sz="2800" b="1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码</a:t>
                      </a:r>
                      <a:endParaRPr lang="en-US" sz="2800" b="1" i="0" kern="100" baseline="0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Aft>
                          <a:spcPts val="0"/>
                        </a:spcAft>
                      </a:pPr>
                      <a:r>
                        <a:rPr lang="en-US" altLang="zh-CN" sz="2800" b="1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5211</a:t>
                      </a:r>
                      <a:r>
                        <a:rPr lang="zh-CN" altLang="zh-CN" sz="2800" b="1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码</a:t>
                      </a:r>
                      <a:endParaRPr lang="en-US" sz="2800" b="1" i="0" kern="100" baseline="0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循环码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余</a:t>
                      </a: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</a:t>
                      </a:r>
                      <a:r>
                        <a:rPr lang="zh-CN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循环码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3225">
                <a:tc>
                  <a:txBody>
                    <a:bodyPr/>
                    <a:lstStyle/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  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4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5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6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7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8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9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0000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1430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0001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1430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0010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 0011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1430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0100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1430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0101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1430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0110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1430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0111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1430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1000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1430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1001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0011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0100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0101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0110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0111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1000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1001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1010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1011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1100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0000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0001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0010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  0011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0100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1011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1100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1101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1110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1111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0000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0001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0100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0101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0111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1000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1001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1100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1101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7145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1111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0000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1430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0001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1430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0011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1430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0010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1430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0110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1430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0111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1430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0101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1430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0100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1430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1100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14300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1101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935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0010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14935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0110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14935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0111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14935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0101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14935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0100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14935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1100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14935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1101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14935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1111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14935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1110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114935"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1010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6438">
                <a:tc>
                  <a:txBody>
                    <a:bodyPr/>
                    <a:lstStyle/>
                    <a:p>
                      <a:pPr indent="114935" algn="ctr">
                        <a:spcAft>
                          <a:spcPts val="0"/>
                        </a:spcAft>
                      </a:pPr>
                      <a:r>
                        <a:rPr lang="zh-CN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权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 8421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i="0" kern="100" baseline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  2421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2085" algn="ctr">
                        <a:spcAft>
                          <a:spcPts val="0"/>
                        </a:spcAft>
                      </a:pPr>
                      <a:r>
                        <a:rPr lang="en-US" sz="2800" b="1" i="0" kern="100" baseline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5211</a:t>
                      </a: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800" b="1" i="0" kern="100" baseline="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3285" name="Line 1"/>
          <p:cNvSpPr/>
          <p:nvPr/>
        </p:nvSpPr>
        <p:spPr>
          <a:xfrm>
            <a:off x="-58737" y="1588"/>
            <a:ext cx="728662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</p:spTree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Rectangle 1026"/>
          <p:cNvSpPr/>
          <p:nvPr/>
        </p:nvSpPr>
        <p:spPr>
          <a:xfrm>
            <a:off x="762000" y="685800"/>
            <a:ext cx="7696200" cy="9144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6000" b="1" dirty="0">
                <a:solidFill>
                  <a:srgbClr val="A50021"/>
                </a:solidFill>
                <a:ea typeface="隶书" panose="02010509060101010101" pitchFamily="49" charset="-122"/>
              </a:rPr>
              <a:t>§1-2  </a:t>
            </a:r>
            <a:r>
              <a:rPr lang="zh-CN" altLang="en-US" sz="6000" b="1" dirty="0">
                <a:solidFill>
                  <a:srgbClr val="A50021"/>
                </a:solidFill>
                <a:ea typeface="隶书" panose="02010509060101010101" pitchFamily="49" charset="-122"/>
              </a:rPr>
              <a:t>逻辑代数基础</a:t>
            </a:r>
            <a:endParaRPr lang="zh-CN" altLang="en-US" sz="6000" b="1" dirty="0">
              <a:solidFill>
                <a:srgbClr val="A50021"/>
              </a:solidFill>
              <a:ea typeface="隶书" panose="02010509060101010101" pitchFamily="49" charset="-122"/>
            </a:endParaRPr>
          </a:p>
        </p:txBody>
      </p:sp>
      <p:sp>
        <p:nvSpPr>
          <p:cNvPr id="87043" name="Text Box 1027"/>
          <p:cNvSpPr txBox="1"/>
          <p:nvPr/>
        </p:nvSpPr>
        <p:spPr>
          <a:xfrm>
            <a:off x="2209800" y="2705100"/>
            <a:ext cx="52578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ea typeface="幼圆" panose="02010509060101010101" pitchFamily="49" charset="-122"/>
              </a:rPr>
              <a:t>逻辑变量及基本逻辑运算</a:t>
            </a:r>
            <a:endParaRPr lang="zh-CN" altLang="en-US" sz="3600" b="1" dirty="0">
              <a:solidFill>
                <a:schemeClr val="tx2"/>
              </a:solidFill>
            </a:endParaRPr>
          </a:p>
        </p:txBody>
      </p:sp>
      <p:sp>
        <p:nvSpPr>
          <p:cNvPr id="87044" name="Text Box 1028"/>
          <p:cNvSpPr txBox="1"/>
          <p:nvPr/>
        </p:nvSpPr>
        <p:spPr>
          <a:xfrm>
            <a:off x="1981200" y="3619500"/>
            <a:ext cx="51816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latin typeface="幼圆" panose="02010509060101010101" pitchFamily="49" charset="-122"/>
                <a:ea typeface="幼圆" panose="02010509060101010101" pitchFamily="49" charset="-122"/>
              </a:rPr>
              <a:t>逻辑函数及其表示方法</a:t>
            </a:r>
            <a:r>
              <a:rPr lang="zh-CN" altLang="en-US" sz="36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endParaRPr lang="zh-CN" altLang="en-US" sz="2400" dirty="0"/>
          </a:p>
        </p:txBody>
      </p:sp>
      <p:sp>
        <p:nvSpPr>
          <p:cNvPr id="87045" name="Text Box 1029"/>
          <p:cNvSpPr txBox="1"/>
          <p:nvPr/>
        </p:nvSpPr>
        <p:spPr>
          <a:xfrm>
            <a:off x="2209800" y="4518025"/>
            <a:ext cx="57150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latin typeface="幼圆" panose="02010509060101010101" pitchFamily="49" charset="-122"/>
                <a:ea typeface="幼圆" panose="02010509060101010101" pitchFamily="49" charset="-122"/>
              </a:rPr>
              <a:t>逻辑代数的运算公式和规则</a:t>
            </a:r>
            <a:endParaRPr lang="zh-CN" altLang="en-US" sz="36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87046" name="Picture 1030" descr="ball5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7813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7047" name="Picture 1031" descr="ball5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6957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7048" name="Picture 1032" descr="ball5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46101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4281" name="Picture 1034" descr="wb00677_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1400" y="5943600"/>
            <a:ext cx="838200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2" grpId="0" animBg="1"/>
      <p:bldP spid="87043" grpId="0"/>
      <p:bldP spid="87044" grpId="0"/>
      <p:bldP spid="8704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xfrm>
            <a:off x="457200" y="609600"/>
            <a:ext cx="8382000" cy="762000"/>
          </a:xfrm>
          <a:gradFill rotWithShape="0">
            <a:gsLst>
              <a:gs pos="0">
                <a:srgbClr val="767676"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767676">
                  <a:alpha val="100000"/>
                </a:srgbClr>
              </a:gs>
            </a:gsLst>
            <a:lin ang="5400000" scaled="1"/>
            <a:tileRect/>
          </a:gradFill>
          <a:ln/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vert="horz" wrap="square" lIns="91440" tIns="45720" rIns="91440" bIns="45720" anchor="ctr" anchorCtr="0">
            <a:flatTx/>
          </a:bodyPr>
          <a:p>
            <a:pPr eaLnBrk="1" hangingPunct="1"/>
            <a:r>
              <a:rPr lang="zh-CN" altLang="en-US" sz="5400" b="1" dirty="0">
                <a:solidFill>
                  <a:srgbClr val="990033"/>
                </a:solidFill>
                <a:ea typeface="隶书" panose="02010509060101010101" pitchFamily="49" charset="-122"/>
              </a:rPr>
              <a:t>逻辑变量及基本逻辑运算</a:t>
            </a:r>
            <a:endParaRPr lang="zh-CN" altLang="en-US" sz="5400" b="1" dirty="0">
              <a:solidFill>
                <a:srgbClr val="990033"/>
              </a:solidFill>
              <a:ea typeface="隶书" panose="02010509060101010101" pitchFamily="49" charset="-122"/>
            </a:endParaRPr>
          </a:p>
        </p:txBody>
      </p:sp>
      <p:sp>
        <p:nvSpPr>
          <p:cNvPr id="43012" name="Text Box 4"/>
          <p:cNvSpPr txBox="1"/>
          <p:nvPr/>
        </p:nvSpPr>
        <p:spPr>
          <a:xfrm>
            <a:off x="533400" y="1798638"/>
            <a:ext cx="2362200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一、逻辑变量</a:t>
            </a:r>
            <a:endParaRPr lang="zh-CN" altLang="en-US" sz="2400" b="1" dirty="0"/>
          </a:p>
        </p:txBody>
      </p:sp>
      <p:sp>
        <p:nvSpPr>
          <p:cNvPr id="43013" name="Text Box 5" descr="蓝色砂纸"/>
          <p:cNvSpPr txBox="1"/>
          <p:nvPr/>
        </p:nvSpPr>
        <p:spPr>
          <a:xfrm>
            <a:off x="1066800" y="2346325"/>
            <a:ext cx="6858000" cy="1373188"/>
          </a:xfrm>
          <a:prstGeom prst="rect">
            <a:avLst/>
          </a:prstGeom>
          <a:blipFill rotWithShape="0">
            <a:blip r:embed="rId1"/>
          </a:blipFill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取值：逻辑</a:t>
            </a:r>
            <a:r>
              <a:rPr lang="en-US" altLang="zh-CN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800" b="1" dirty="0">
                <a:latin typeface="宋体" panose="02010600030101010101" pitchFamily="2" charset="-122"/>
              </a:rPr>
              <a:t>、逻辑</a:t>
            </a:r>
            <a:r>
              <a:rPr lang="en-US" altLang="zh-CN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</a:rPr>
              <a:t>。逻辑</a:t>
            </a:r>
            <a:r>
              <a:rPr lang="en-US" altLang="zh-CN" sz="2800" b="1" dirty="0">
                <a:latin typeface="宋体" panose="02010600030101010101" pitchFamily="2" charset="-122"/>
              </a:rPr>
              <a:t>0</a:t>
            </a:r>
            <a:r>
              <a:rPr lang="zh-CN" altLang="en-US" sz="2800" b="1" dirty="0">
                <a:latin typeface="宋体" panose="02010600030101010101" pitchFamily="2" charset="-122"/>
              </a:rPr>
              <a:t>和逻辑</a:t>
            </a:r>
            <a:r>
              <a:rPr lang="en-US" altLang="zh-CN" sz="2800" b="1" dirty="0">
                <a:latin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</a:rPr>
              <a:t>不代表</a:t>
            </a:r>
            <a:r>
              <a:rPr lang="zh-CN" altLang="en-US" sz="2800" b="1" u="sng" dirty="0">
                <a:latin typeface="宋体" panose="02010600030101010101" pitchFamily="2" charset="-122"/>
              </a:rPr>
              <a:t>数值大小</a:t>
            </a:r>
            <a:r>
              <a:rPr lang="zh-CN" altLang="en-US" sz="2800" b="1" dirty="0">
                <a:latin typeface="宋体" panose="02010600030101010101" pitchFamily="2" charset="-122"/>
              </a:rPr>
              <a:t>，仅表示相互矛盾、相互对立的</a:t>
            </a:r>
            <a:r>
              <a:rPr lang="zh-CN" altLang="en-US" sz="2800" b="1" u="sng" dirty="0">
                <a:latin typeface="宋体" panose="02010600030101010101" pitchFamily="2" charset="-122"/>
              </a:rPr>
              <a:t>两种逻辑状态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43014" name="Text Box 6"/>
          <p:cNvSpPr txBox="1"/>
          <p:nvPr/>
        </p:nvSpPr>
        <p:spPr>
          <a:xfrm>
            <a:off x="457200" y="3962400"/>
            <a:ext cx="30384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二、基本逻辑运算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3015" name="Text Box 7"/>
          <p:cNvSpPr txBox="1"/>
          <p:nvPr/>
        </p:nvSpPr>
        <p:spPr>
          <a:xfrm>
            <a:off x="1477963" y="4648200"/>
            <a:ext cx="12604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与运算</a:t>
            </a:r>
            <a:endParaRPr lang="zh-CN" altLang="en-US" sz="4400" b="1" dirty="0">
              <a:solidFill>
                <a:schemeClr val="tx2"/>
              </a:solidFill>
            </a:endParaRPr>
          </a:p>
        </p:txBody>
      </p:sp>
      <p:sp>
        <p:nvSpPr>
          <p:cNvPr id="43016" name="Text Box 8"/>
          <p:cNvSpPr txBox="1"/>
          <p:nvPr/>
        </p:nvSpPr>
        <p:spPr>
          <a:xfrm>
            <a:off x="1477963" y="5257800"/>
            <a:ext cx="12604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或运算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43017" name="Text Box 9"/>
          <p:cNvSpPr txBox="1"/>
          <p:nvPr/>
        </p:nvSpPr>
        <p:spPr>
          <a:xfrm>
            <a:off x="1433513" y="5943600"/>
            <a:ext cx="12604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非运算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pic>
        <p:nvPicPr>
          <p:cNvPr id="43018" name="Picture 10" descr="复件 ball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800600"/>
            <a:ext cx="295275" cy="295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3019" name="Picture 11" descr="复件 ba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5410200"/>
            <a:ext cx="295275" cy="295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3020" name="Picture 12" descr="复件 ba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019800"/>
            <a:ext cx="295275" cy="295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5308" name="Picture 16" descr="wb01508_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7600" y="59436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5309" name="Text Box 17">
            <a:hlinkClick r:id="rId4" action="ppaction://hlinksldjump"/>
          </p:cNvPr>
          <p:cNvSpPr txBox="1"/>
          <p:nvPr/>
        </p:nvSpPr>
        <p:spPr>
          <a:xfrm>
            <a:off x="7664450" y="6019800"/>
            <a:ext cx="1479550" cy="457200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5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75"/>
                                        <p:tgtEl>
                                          <p:spTgt spid="4301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"/>
                                        <p:tgtEl>
                                          <p:spTgt spid="43016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75"/>
                                        <p:tgtEl>
                                          <p:spTgt spid="43017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animBg="1"/>
      <p:bldP spid="43012" grpId="0"/>
      <p:bldP spid="43013" grpId="0" animBg="1"/>
      <p:bldP spid="43014" grpId="0"/>
      <p:bldP spid="43015" grpId="0" advAuto="1000" build="p"/>
      <p:bldP spid="43016" grpId="0" advAuto="1000" build="p"/>
      <p:bldP spid="43017" grpId="0" advAuto="100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74"/>
          <p:cNvGrpSpPr/>
          <p:nvPr/>
        </p:nvGrpSpPr>
        <p:grpSpPr>
          <a:xfrm>
            <a:off x="762000" y="4572000"/>
            <a:ext cx="2743200" cy="1828800"/>
            <a:chOff x="288" y="2736"/>
            <a:chExt cx="1728" cy="1152"/>
          </a:xfrm>
        </p:grpSpPr>
        <p:sp>
          <p:nvSpPr>
            <p:cNvPr id="56378" name="Text Box 49"/>
            <p:cNvSpPr txBox="1"/>
            <p:nvPr/>
          </p:nvSpPr>
          <p:spPr>
            <a:xfrm>
              <a:off x="384" y="2784"/>
              <a:ext cx="1632" cy="8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None/>
              </a:pPr>
              <a:r>
                <a:rPr lang="zh-CN" altLang="en-US" sz="2800" b="1" dirty="0">
                  <a:latin typeface="宋体" panose="02010600030101010101" pitchFamily="2" charset="-122"/>
                </a:rPr>
                <a:t>逻辑表达式</a:t>
              </a:r>
              <a:endParaRPr lang="zh-CN" altLang="en-US" sz="2800" b="1" dirty="0">
                <a:latin typeface="宋体" panose="02010600030101010101" pitchFamily="2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endParaRPr lang="zh-CN" altLang="en-US" sz="2800" b="1" dirty="0">
                <a:latin typeface="宋体" panose="02010600030101010101" pitchFamily="2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</a:rPr>
                <a:t>F= A </a:t>
              </a:r>
              <a:r>
                <a:rPr lang="en-US" altLang="zh-CN" sz="2800" b="1" dirty="0">
                  <a:solidFill>
                    <a:schemeClr val="accent2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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B = AB</a:t>
              </a:r>
              <a:endParaRPr lang="en-US" altLang="zh-CN" sz="2400" dirty="0">
                <a:latin typeface="宋体" panose="02010600030101010101" pitchFamily="2" charset="-122"/>
              </a:endParaRPr>
            </a:p>
          </p:txBody>
        </p:sp>
        <p:sp>
          <p:nvSpPr>
            <p:cNvPr id="56379" name="Rectangle 71"/>
            <p:cNvSpPr/>
            <p:nvPr/>
          </p:nvSpPr>
          <p:spPr>
            <a:xfrm>
              <a:off x="288" y="2736"/>
              <a:ext cx="1728" cy="1152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</p:grpSp>
      <p:sp>
        <p:nvSpPr>
          <p:cNvPr id="44080" name="Text Box 48"/>
          <p:cNvSpPr txBox="1"/>
          <p:nvPr/>
        </p:nvSpPr>
        <p:spPr>
          <a:xfrm>
            <a:off x="6553200" y="928688"/>
            <a:ext cx="232092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与逻辑真值表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sp>
        <p:nvSpPr>
          <p:cNvPr id="44079" name="Text Box 47"/>
          <p:cNvSpPr txBox="1"/>
          <p:nvPr/>
        </p:nvSpPr>
        <p:spPr>
          <a:xfrm>
            <a:off x="3767138" y="928688"/>
            <a:ext cx="2328862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与逻辑关系表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sp>
        <p:nvSpPr>
          <p:cNvPr id="44034" name="Text Box 2"/>
          <p:cNvSpPr txBox="1"/>
          <p:nvPr/>
        </p:nvSpPr>
        <p:spPr>
          <a:xfrm>
            <a:off x="685800" y="441325"/>
            <a:ext cx="1905000" cy="64135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rgbClr val="808080"/>
            </a:outerShdw>
          </a:effectLst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990033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与逻辑</a:t>
            </a:r>
            <a:endParaRPr lang="zh-CN" altLang="en-US" sz="3600" b="1" dirty="0">
              <a:solidFill>
                <a:srgbClr val="990033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4111" name="AutoShape 79"/>
          <p:cNvSpPr/>
          <p:nvPr/>
        </p:nvSpPr>
        <p:spPr>
          <a:xfrm>
            <a:off x="3048000" y="228600"/>
            <a:ext cx="5791200" cy="1143000"/>
          </a:xfrm>
          <a:prstGeom prst="wedgeRectCallout">
            <a:avLst>
              <a:gd name="adj1" fmla="val -58551"/>
              <a:gd name="adj2" fmla="val -5000"/>
            </a:avLst>
          </a:prstGeom>
          <a:gradFill rotWithShape="0">
            <a:gsLst>
              <a:gs pos="0">
                <a:srgbClr val="767647"/>
              </a:gs>
              <a:gs pos="100000">
                <a:srgbClr val="FFFF99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4400" dirty="0">
              <a:solidFill>
                <a:schemeClr val="tx2"/>
              </a:solidFill>
            </a:endParaRPr>
          </a:p>
        </p:txBody>
      </p:sp>
      <p:grpSp>
        <p:nvGrpSpPr>
          <p:cNvPr id="3" name="Group 35"/>
          <p:cNvGrpSpPr/>
          <p:nvPr/>
        </p:nvGrpSpPr>
        <p:grpSpPr>
          <a:xfrm>
            <a:off x="3505200" y="1600200"/>
            <a:ext cx="2819400" cy="1981200"/>
            <a:chOff x="2208" y="1008"/>
            <a:chExt cx="1776" cy="1248"/>
          </a:xfrm>
        </p:grpSpPr>
        <p:sp>
          <p:nvSpPr>
            <p:cNvPr id="56375" name="Rectangle 7"/>
            <p:cNvSpPr/>
            <p:nvPr/>
          </p:nvSpPr>
          <p:spPr>
            <a:xfrm>
              <a:off x="2208" y="1008"/>
              <a:ext cx="1776" cy="124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56376" name="Line 8"/>
            <p:cNvSpPr/>
            <p:nvPr/>
          </p:nvSpPr>
          <p:spPr>
            <a:xfrm>
              <a:off x="2208" y="1296"/>
              <a:ext cx="17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77" name="Line 9"/>
            <p:cNvSpPr/>
            <p:nvPr/>
          </p:nvSpPr>
          <p:spPr>
            <a:xfrm>
              <a:off x="3456" y="1008"/>
              <a:ext cx="0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37"/>
          <p:cNvGrpSpPr/>
          <p:nvPr/>
        </p:nvGrpSpPr>
        <p:grpSpPr>
          <a:xfrm>
            <a:off x="6477000" y="1600200"/>
            <a:ext cx="2438400" cy="1981200"/>
            <a:chOff x="4080" y="1008"/>
            <a:chExt cx="1536" cy="1248"/>
          </a:xfrm>
        </p:grpSpPr>
        <p:sp>
          <p:nvSpPr>
            <p:cNvPr id="56372" name="Rectangle 12"/>
            <p:cNvSpPr/>
            <p:nvPr/>
          </p:nvSpPr>
          <p:spPr>
            <a:xfrm>
              <a:off x="4080" y="1008"/>
              <a:ext cx="1536" cy="124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56373" name="Line 13"/>
            <p:cNvSpPr/>
            <p:nvPr/>
          </p:nvSpPr>
          <p:spPr>
            <a:xfrm>
              <a:off x="4080" y="1296"/>
              <a:ext cx="15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74" name="Line 14"/>
            <p:cNvSpPr/>
            <p:nvPr/>
          </p:nvSpPr>
          <p:spPr>
            <a:xfrm>
              <a:off x="5136" y="1008"/>
              <a:ext cx="0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44047" name="Object 15"/>
          <p:cNvGraphicFramePr>
            <a:graphicFrameLocks noChangeAspect="1"/>
          </p:cNvGraphicFramePr>
          <p:nvPr/>
        </p:nvGraphicFramePr>
        <p:xfrm>
          <a:off x="457200" y="1600200"/>
          <a:ext cx="28194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1895475" imgH="1133475" progId="Paint.Picture">
                  <p:embed/>
                </p:oleObj>
              </mc:Choice>
              <mc:Fallback>
                <p:oleObj name="" r:id="rId1" imgW="1895475" imgH="1133475" progId="Paint.Picture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7200" y="1600200"/>
                        <a:ext cx="2819400" cy="1981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8" name="Text Box 16"/>
          <p:cNvSpPr txBox="1"/>
          <p:nvPr/>
        </p:nvSpPr>
        <p:spPr>
          <a:xfrm>
            <a:off x="3505200" y="1600200"/>
            <a:ext cx="102076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开关</a:t>
            </a:r>
            <a:r>
              <a:rPr lang="en-US" altLang="zh-CN" sz="2400" b="1" dirty="0">
                <a:solidFill>
                  <a:schemeClr val="tx2"/>
                </a:solidFill>
              </a:rPr>
              <a:t>A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4049" name="Text Box 17"/>
          <p:cNvSpPr txBox="1"/>
          <p:nvPr/>
        </p:nvSpPr>
        <p:spPr>
          <a:xfrm>
            <a:off x="4483100" y="1600200"/>
            <a:ext cx="10033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开关</a:t>
            </a:r>
            <a:r>
              <a:rPr lang="en-US" altLang="zh-CN" sz="2400" b="1" dirty="0">
                <a:solidFill>
                  <a:schemeClr val="tx2"/>
                </a:solidFill>
              </a:rPr>
              <a:t>B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4050" name="Text Box 18"/>
          <p:cNvSpPr txBox="1"/>
          <p:nvPr/>
        </p:nvSpPr>
        <p:spPr>
          <a:xfrm>
            <a:off x="5562600" y="1600200"/>
            <a:ext cx="67786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灯</a:t>
            </a:r>
            <a:r>
              <a:rPr lang="en-US" altLang="zh-CN" sz="2400" b="1" dirty="0">
                <a:solidFill>
                  <a:schemeClr val="tx2"/>
                </a:solidFill>
              </a:rPr>
              <a:t>F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4051" name="Text Box 19"/>
          <p:cNvSpPr txBox="1"/>
          <p:nvPr/>
        </p:nvSpPr>
        <p:spPr>
          <a:xfrm>
            <a:off x="3733800" y="2057400"/>
            <a:ext cx="1447800" cy="11874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chemeClr val="tx2"/>
                </a:solidFill>
              </a:rPr>
              <a:t>断      断</a:t>
            </a:r>
            <a:endParaRPr lang="zh-CN" altLang="en-US" sz="2400" dirty="0">
              <a:solidFill>
                <a:schemeClr val="tx2"/>
              </a:solidFill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chemeClr val="tx2"/>
                </a:solidFill>
              </a:rPr>
              <a:t>断      合</a:t>
            </a:r>
            <a:endParaRPr lang="zh-CN" altLang="en-US" sz="2400" dirty="0">
              <a:solidFill>
                <a:schemeClr val="tx2"/>
              </a:solidFill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chemeClr val="tx2"/>
                </a:solidFill>
              </a:rPr>
              <a:t>合      断</a:t>
            </a: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44052" name="Text Box 20"/>
          <p:cNvSpPr txBox="1"/>
          <p:nvPr/>
        </p:nvSpPr>
        <p:spPr>
          <a:xfrm>
            <a:off x="3810000" y="3124200"/>
            <a:ext cx="1250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chemeClr val="tx2"/>
                </a:solidFill>
              </a:rPr>
              <a:t>合      合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sp>
        <p:nvSpPr>
          <p:cNvPr id="44053" name="Text Box 21"/>
          <p:cNvSpPr txBox="1"/>
          <p:nvPr/>
        </p:nvSpPr>
        <p:spPr>
          <a:xfrm>
            <a:off x="5638800" y="2057400"/>
            <a:ext cx="488950" cy="11874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chemeClr val="tx2"/>
                </a:solidFill>
              </a:rPr>
              <a:t>灭</a:t>
            </a:r>
            <a:endParaRPr lang="zh-CN" altLang="en-US" sz="2400" dirty="0">
              <a:solidFill>
                <a:schemeClr val="tx2"/>
              </a:solidFill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chemeClr val="tx2"/>
                </a:solidFill>
              </a:rPr>
              <a:t>灭</a:t>
            </a:r>
            <a:endParaRPr lang="zh-CN" altLang="en-US" sz="2400" dirty="0">
              <a:solidFill>
                <a:schemeClr val="tx2"/>
              </a:solidFill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chemeClr val="tx2"/>
                </a:solidFill>
              </a:rPr>
              <a:t>灭</a:t>
            </a: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44054" name="Text Box 22"/>
          <p:cNvSpPr txBox="1"/>
          <p:nvPr/>
        </p:nvSpPr>
        <p:spPr>
          <a:xfrm>
            <a:off x="5638800" y="31242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chemeClr val="tx2"/>
                </a:solidFill>
              </a:rPr>
              <a:t>亮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sp>
        <p:nvSpPr>
          <p:cNvPr id="44055" name="Text Box 23"/>
          <p:cNvSpPr txBox="1"/>
          <p:nvPr/>
        </p:nvSpPr>
        <p:spPr>
          <a:xfrm>
            <a:off x="6629400" y="1600200"/>
            <a:ext cx="4413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A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4056" name="Text Box 24"/>
          <p:cNvSpPr txBox="1"/>
          <p:nvPr/>
        </p:nvSpPr>
        <p:spPr>
          <a:xfrm>
            <a:off x="7467600" y="1600200"/>
            <a:ext cx="4206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B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4057" name="Text Box 25"/>
          <p:cNvSpPr txBox="1"/>
          <p:nvPr/>
        </p:nvSpPr>
        <p:spPr>
          <a:xfrm>
            <a:off x="8382000" y="16002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F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4059" name="Rectangle 27"/>
          <p:cNvSpPr/>
          <p:nvPr/>
        </p:nvSpPr>
        <p:spPr>
          <a:xfrm>
            <a:off x="6705600" y="2743200"/>
            <a:ext cx="107315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1      0</a:t>
            </a:r>
            <a:endParaRPr lang="en-US" altLang="zh-CN" sz="2800" dirty="0">
              <a:solidFill>
                <a:schemeClr val="tx2"/>
              </a:solidFill>
            </a:endParaRPr>
          </a:p>
        </p:txBody>
      </p:sp>
      <p:sp>
        <p:nvSpPr>
          <p:cNvPr id="44060" name="Text Box 28"/>
          <p:cNvSpPr txBox="1"/>
          <p:nvPr/>
        </p:nvSpPr>
        <p:spPr>
          <a:xfrm>
            <a:off x="6705600" y="3124200"/>
            <a:ext cx="10731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1      1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4061" name="Rectangle 29"/>
          <p:cNvSpPr/>
          <p:nvPr/>
        </p:nvSpPr>
        <p:spPr>
          <a:xfrm>
            <a:off x="6705600" y="2362200"/>
            <a:ext cx="107315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0      1</a:t>
            </a:r>
            <a:endParaRPr lang="en-US" altLang="zh-CN" sz="2800" dirty="0">
              <a:solidFill>
                <a:schemeClr val="tx2"/>
              </a:solidFill>
            </a:endParaRPr>
          </a:p>
        </p:txBody>
      </p:sp>
      <p:sp>
        <p:nvSpPr>
          <p:cNvPr id="44062" name="Rectangle 30"/>
          <p:cNvSpPr/>
          <p:nvPr/>
        </p:nvSpPr>
        <p:spPr>
          <a:xfrm>
            <a:off x="6705600" y="1981200"/>
            <a:ext cx="107315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0      0</a:t>
            </a:r>
            <a:endParaRPr lang="en-US" altLang="zh-CN" sz="2800" dirty="0">
              <a:solidFill>
                <a:schemeClr val="tx2"/>
              </a:solidFill>
            </a:endParaRPr>
          </a:p>
        </p:txBody>
      </p:sp>
      <p:sp>
        <p:nvSpPr>
          <p:cNvPr id="44075" name="Text Box 43"/>
          <p:cNvSpPr txBox="1"/>
          <p:nvPr/>
        </p:nvSpPr>
        <p:spPr>
          <a:xfrm>
            <a:off x="8324850" y="23622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4076" name="Text Box 44"/>
          <p:cNvSpPr txBox="1"/>
          <p:nvPr/>
        </p:nvSpPr>
        <p:spPr>
          <a:xfrm>
            <a:off x="8324850" y="2757488"/>
            <a:ext cx="3619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4077" name="Text Box 45"/>
          <p:cNvSpPr txBox="1"/>
          <p:nvPr/>
        </p:nvSpPr>
        <p:spPr>
          <a:xfrm>
            <a:off x="8305800" y="3138488"/>
            <a:ext cx="3619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1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4078" name="Text Box 46"/>
          <p:cNvSpPr txBox="1"/>
          <p:nvPr/>
        </p:nvSpPr>
        <p:spPr>
          <a:xfrm>
            <a:off x="8324850" y="19812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4087" name="Rectangle 55"/>
          <p:cNvSpPr/>
          <p:nvPr/>
        </p:nvSpPr>
        <p:spPr>
          <a:xfrm>
            <a:off x="6172200" y="5181600"/>
            <a:ext cx="838200" cy="10668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grpSp>
        <p:nvGrpSpPr>
          <p:cNvPr id="5" name="Group 80"/>
          <p:cNvGrpSpPr/>
          <p:nvPr/>
        </p:nvGrpSpPr>
        <p:grpSpPr>
          <a:xfrm>
            <a:off x="4953000" y="5105400"/>
            <a:ext cx="1219200" cy="519113"/>
            <a:chOff x="3120" y="3216"/>
            <a:chExt cx="768" cy="327"/>
          </a:xfrm>
        </p:grpSpPr>
        <p:grpSp>
          <p:nvGrpSpPr>
            <p:cNvPr id="56368" name="Group 59"/>
            <p:cNvGrpSpPr/>
            <p:nvPr/>
          </p:nvGrpSpPr>
          <p:grpSpPr>
            <a:xfrm>
              <a:off x="3456" y="3360"/>
              <a:ext cx="432" cy="96"/>
              <a:chOff x="2208" y="3360"/>
              <a:chExt cx="432" cy="96"/>
            </a:xfrm>
          </p:grpSpPr>
          <p:sp>
            <p:nvSpPr>
              <p:cNvPr id="56370" name="Line 56"/>
              <p:cNvSpPr/>
              <p:nvPr/>
            </p:nvSpPr>
            <p:spPr>
              <a:xfrm>
                <a:off x="2304" y="3408"/>
                <a:ext cx="33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71" name="Oval 58"/>
              <p:cNvSpPr/>
              <p:nvPr/>
            </p:nvSpPr>
            <p:spPr>
              <a:xfrm>
                <a:off x="2208" y="3360"/>
                <a:ext cx="96" cy="96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56369" name="Text Box 67"/>
            <p:cNvSpPr txBox="1"/>
            <p:nvPr/>
          </p:nvSpPr>
          <p:spPr>
            <a:xfrm>
              <a:off x="3120" y="3216"/>
              <a:ext cx="2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A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7" name="Group 81"/>
          <p:cNvGrpSpPr/>
          <p:nvPr/>
        </p:nvGrpSpPr>
        <p:grpSpPr>
          <a:xfrm>
            <a:off x="4953000" y="5715000"/>
            <a:ext cx="1219200" cy="519113"/>
            <a:chOff x="3120" y="3600"/>
            <a:chExt cx="768" cy="327"/>
          </a:xfrm>
        </p:grpSpPr>
        <p:grpSp>
          <p:nvGrpSpPr>
            <p:cNvPr id="56364" name="Group 60"/>
            <p:cNvGrpSpPr/>
            <p:nvPr/>
          </p:nvGrpSpPr>
          <p:grpSpPr>
            <a:xfrm>
              <a:off x="3456" y="3744"/>
              <a:ext cx="432" cy="96"/>
              <a:chOff x="2208" y="3360"/>
              <a:chExt cx="432" cy="96"/>
            </a:xfrm>
          </p:grpSpPr>
          <p:sp>
            <p:nvSpPr>
              <p:cNvPr id="56366" name="Line 61"/>
              <p:cNvSpPr/>
              <p:nvPr/>
            </p:nvSpPr>
            <p:spPr>
              <a:xfrm>
                <a:off x="2304" y="3408"/>
                <a:ext cx="33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67" name="Oval 62"/>
              <p:cNvSpPr/>
              <p:nvPr/>
            </p:nvSpPr>
            <p:spPr>
              <a:xfrm>
                <a:off x="2208" y="3360"/>
                <a:ext cx="96" cy="96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56365" name="Text Box 68"/>
            <p:cNvSpPr txBox="1"/>
            <p:nvPr/>
          </p:nvSpPr>
          <p:spPr>
            <a:xfrm>
              <a:off x="3120" y="3600"/>
              <a:ext cx="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B</a:t>
              </a:r>
              <a:endParaRPr lang="en-US" altLang="zh-CN" sz="44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9" name="Group 82"/>
          <p:cNvGrpSpPr/>
          <p:nvPr/>
        </p:nvGrpSpPr>
        <p:grpSpPr>
          <a:xfrm>
            <a:off x="7010400" y="5410200"/>
            <a:ext cx="1333500" cy="519113"/>
            <a:chOff x="4416" y="3408"/>
            <a:chExt cx="840" cy="327"/>
          </a:xfrm>
        </p:grpSpPr>
        <p:grpSp>
          <p:nvGrpSpPr>
            <p:cNvPr id="56360" name="Group 66"/>
            <p:cNvGrpSpPr/>
            <p:nvPr/>
          </p:nvGrpSpPr>
          <p:grpSpPr>
            <a:xfrm>
              <a:off x="4416" y="3552"/>
              <a:ext cx="432" cy="96"/>
              <a:chOff x="2496" y="3552"/>
              <a:chExt cx="432" cy="96"/>
            </a:xfrm>
          </p:grpSpPr>
          <p:sp>
            <p:nvSpPr>
              <p:cNvPr id="56362" name="Line 64"/>
              <p:cNvSpPr/>
              <p:nvPr/>
            </p:nvSpPr>
            <p:spPr>
              <a:xfrm>
                <a:off x="2496" y="3600"/>
                <a:ext cx="33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63" name="Oval 65"/>
              <p:cNvSpPr/>
              <p:nvPr/>
            </p:nvSpPr>
            <p:spPr>
              <a:xfrm>
                <a:off x="2832" y="3552"/>
                <a:ext cx="96" cy="96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56361" name="Text Box 69"/>
            <p:cNvSpPr txBox="1"/>
            <p:nvPr/>
          </p:nvSpPr>
          <p:spPr>
            <a:xfrm>
              <a:off x="5015" y="3408"/>
              <a:ext cx="2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tx2"/>
                  </a:solidFill>
                </a:rPr>
                <a:t>F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sp>
        <p:nvSpPr>
          <p:cNvPr id="44102" name="Text Box 70"/>
          <p:cNvSpPr txBox="1"/>
          <p:nvPr/>
        </p:nvSpPr>
        <p:spPr>
          <a:xfrm>
            <a:off x="6172200" y="5105400"/>
            <a:ext cx="539750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chemeClr val="tx2"/>
                </a:solidFill>
                <a:sym typeface="Symbol" panose="05050102010706020507" pitchFamily="18" charset="2"/>
              </a:rPr>
              <a:t>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grpSp>
        <p:nvGrpSpPr>
          <p:cNvPr id="11" name="Group 83"/>
          <p:cNvGrpSpPr/>
          <p:nvPr/>
        </p:nvGrpSpPr>
        <p:grpSpPr>
          <a:xfrm>
            <a:off x="4648200" y="4572000"/>
            <a:ext cx="3581400" cy="1828800"/>
            <a:chOff x="2928" y="2880"/>
            <a:chExt cx="2256" cy="1152"/>
          </a:xfrm>
        </p:grpSpPr>
        <p:sp>
          <p:nvSpPr>
            <p:cNvPr id="56358" name="Text Box 54"/>
            <p:cNvSpPr txBox="1"/>
            <p:nvPr/>
          </p:nvSpPr>
          <p:spPr>
            <a:xfrm>
              <a:off x="3072" y="2928"/>
              <a:ext cx="101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chemeClr val="tx2"/>
                  </a:solidFill>
                </a:rPr>
                <a:t>逻辑符号</a:t>
              </a:r>
              <a:endParaRPr lang="zh-CN" altLang="en-US" sz="4400" dirty="0">
                <a:solidFill>
                  <a:schemeClr val="tx2"/>
                </a:solidFill>
              </a:endParaRPr>
            </a:p>
          </p:txBody>
        </p:sp>
        <p:sp>
          <p:nvSpPr>
            <p:cNvPr id="56359" name="Rectangle 72"/>
            <p:cNvSpPr/>
            <p:nvPr/>
          </p:nvSpPr>
          <p:spPr>
            <a:xfrm>
              <a:off x="2928" y="2880"/>
              <a:ext cx="2256" cy="1152"/>
            </a:xfrm>
            <a:prstGeom prst="rect">
              <a:avLst/>
            </a:prstGeom>
            <a:noFill/>
            <a:ln w="57150" cap="flat" cmpd="thickThin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</p:grpSp>
      <p:sp>
        <p:nvSpPr>
          <p:cNvPr id="44108" name="Text Box 76"/>
          <p:cNvSpPr txBox="1"/>
          <p:nvPr/>
        </p:nvSpPr>
        <p:spPr>
          <a:xfrm>
            <a:off x="3048000" y="381000"/>
            <a:ext cx="579120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</a:rPr>
              <a:t>只有决定某一事件的</a:t>
            </a:r>
            <a:r>
              <a:rPr lang="zh-CN" altLang="en-US" sz="2400" b="1" dirty="0">
                <a:solidFill>
                  <a:srgbClr val="FF00FF"/>
                </a:solidFill>
                <a:latin typeface="宋体" panose="02010600030101010101" pitchFamily="2" charset="-122"/>
              </a:rPr>
              <a:t>所有条件</a:t>
            </a:r>
            <a:r>
              <a: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</a:rPr>
              <a:t>全部具备，这一事件才能发生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12" name="Group 53"/>
          <p:cNvGrpSpPr/>
          <p:nvPr/>
        </p:nvGrpSpPr>
        <p:grpSpPr>
          <a:xfrm>
            <a:off x="2286000" y="4191000"/>
            <a:ext cx="4495800" cy="1143000"/>
            <a:chOff x="1200" y="2544"/>
            <a:chExt cx="2832" cy="720"/>
          </a:xfrm>
        </p:grpSpPr>
        <p:sp>
          <p:nvSpPr>
            <p:cNvPr id="56356" name="AutoShape 51"/>
            <p:cNvSpPr/>
            <p:nvPr/>
          </p:nvSpPr>
          <p:spPr>
            <a:xfrm>
              <a:off x="1200" y="2544"/>
              <a:ext cx="2832" cy="720"/>
            </a:xfrm>
            <a:prstGeom prst="wedgeRoundRectCallout">
              <a:avLst>
                <a:gd name="adj1" fmla="val -55190"/>
                <a:gd name="adj2" fmla="val 74722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100000">
                  <a:srgbClr val="FFFF99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56357" name="Text Box 52"/>
            <p:cNvSpPr txBox="1"/>
            <p:nvPr/>
          </p:nvSpPr>
          <p:spPr>
            <a:xfrm>
              <a:off x="1344" y="2688"/>
              <a:ext cx="2640" cy="518"/>
            </a:xfrm>
            <a:prstGeom prst="rect">
              <a:avLst/>
            </a:prstGeom>
            <a:gradFill rotWithShape="0">
              <a:gsLst>
                <a:gs pos="0">
                  <a:srgbClr val="767647"/>
                </a:gs>
                <a:gs pos="100000">
                  <a:srgbClr val="FFFF99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0000"/>
                  </a:solidFill>
                  <a:latin typeface="宋体" panose="02010600030101010101" pitchFamily="2" charset="-122"/>
                </a:rPr>
                <a:t>与逻辑运算符，也有用</a:t>
              </a:r>
              <a:r>
                <a:rPr lang="zh-CN" altLang="en-US" sz="2400" b="1" dirty="0">
                  <a:solidFill>
                    <a:srgbClr val="CC0000"/>
                  </a:solidFill>
                </a:rPr>
                <a:t>“</a:t>
              </a:r>
              <a:r>
                <a:rPr lang="zh-CN" altLang="en-US" sz="2400" b="1" dirty="0">
                  <a:solidFill>
                    <a:srgbClr val="CC0000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</a:t>
              </a:r>
              <a:r>
                <a:rPr lang="zh-CN" altLang="en-US" sz="2400" b="1" dirty="0">
                  <a:solidFill>
                    <a:srgbClr val="CC0000"/>
                  </a:solidFill>
                  <a:sym typeface="Symbol" panose="05050102010706020507" pitchFamily="18" charset="2"/>
                </a:rPr>
                <a:t>”</a:t>
              </a:r>
              <a:r>
                <a:rPr lang="zh-CN" altLang="en-US" sz="2400" b="1" dirty="0">
                  <a:solidFill>
                    <a:srgbClr val="CC0000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、</a:t>
              </a:r>
              <a:r>
                <a:rPr lang="zh-CN" altLang="en-US" sz="2400" b="1" dirty="0">
                  <a:solidFill>
                    <a:srgbClr val="CC0000"/>
                  </a:solidFill>
                </a:rPr>
                <a:t>“</a:t>
              </a:r>
              <a:r>
                <a:rPr lang="zh-CN" altLang="en-US" sz="2400" b="1" dirty="0">
                  <a:solidFill>
                    <a:srgbClr val="CC0000"/>
                  </a:solidFill>
                  <a:latin typeface="宋体" panose="02010600030101010101" pitchFamily="2" charset="-122"/>
                </a:rPr>
                <a:t>∧</a:t>
              </a:r>
              <a:r>
                <a:rPr lang="zh-CN" altLang="en-US" sz="2400" b="1" dirty="0">
                  <a:solidFill>
                    <a:srgbClr val="CC0000"/>
                  </a:solidFill>
                </a:rPr>
                <a:t>”</a:t>
              </a:r>
              <a:r>
                <a:rPr lang="zh-CN" altLang="en-US" sz="2400" b="1" dirty="0">
                  <a:solidFill>
                    <a:srgbClr val="CC0000"/>
                  </a:solidFill>
                  <a:latin typeface="宋体" panose="02010600030101010101" pitchFamily="2" charset="-122"/>
                </a:rPr>
                <a:t>、</a:t>
              </a:r>
              <a:r>
                <a:rPr lang="zh-CN" altLang="en-US" sz="2400" b="1" dirty="0">
                  <a:solidFill>
                    <a:srgbClr val="CC0000"/>
                  </a:solidFill>
                </a:rPr>
                <a:t>“</a:t>
              </a:r>
              <a:r>
                <a:rPr lang="zh-CN" altLang="en-US" sz="2400" b="1" dirty="0">
                  <a:solidFill>
                    <a:srgbClr val="CC0000"/>
                  </a:solidFill>
                  <a:latin typeface="宋体" panose="02010600030101010101" pitchFamily="2" charset="-122"/>
                </a:rPr>
                <a:t>∩</a:t>
              </a:r>
              <a:r>
                <a:rPr lang="zh-CN" altLang="en-US" sz="2400" b="1" dirty="0">
                  <a:solidFill>
                    <a:srgbClr val="CC0000"/>
                  </a:solidFill>
                </a:rPr>
                <a:t>”</a:t>
              </a:r>
              <a:r>
                <a:rPr lang="zh-CN" altLang="en-US" sz="2400" b="1" dirty="0">
                  <a:solidFill>
                    <a:srgbClr val="CC0000"/>
                  </a:solidFill>
                  <a:latin typeface="宋体" panose="02010600030101010101" pitchFamily="2" charset="-122"/>
                </a:rPr>
                <a:t>、</a:t>
              </a:r>
              <a:r>
                <a:rPr lang="zh-CN" altLang="en-US" sz="2400" b="1" dirty="0">
                  <a:solidFill>
                    <a:srgbClr val="CC0000"/>
                  </a:solidFill>
                </a:rPr>
                <a:t>“</a:t>
              </a:r>
              <a:r>
                <a:rPr lang="en-US" altLang="zh-CN" sz="2400" b="1" dirty="0">
                  <a:solidFill>
                    <a:srgbClr val="CC0000"/>
                  </a:solidFill>
                  <a:latin typeface="宋体" panose="02010600030101010101" pitchFamily="2" charset="-122"/>
                </a:rPr>
                <a:t>&amp;</a:t>
              </a:r>
              <a:r>
                <a:rPr lang="en-US" altLang="zh-CN" sz="2400" b="1" dirty="0">
                  <a:solidFill>
                    <a:srgbClr val="CC0000"/>
                  </a:solidFill>
                </a:rPr>
                <a:t>”</a:t>
              </a:r>
              <a:r>
                <a:rPr lang="zh-CN" altLang="en-US" sz="2400" b="1" dirty="0">
                  <a:solidFill>
                    <a:srgbClr val="CC0000"/>
                  </a:solidFill>
                  <a:latin typeface="宋体" panose="02010600030101010101" pitchFamily="2" charset="-122"/>
                </a:rPr>
                <a:t>表示</a:t>
              </a:r>
              <a:endParaRPr lang="zh-CN" altLang="en-US" sz="2400" dirty="0">
                <a:solidFill>
                  <a:srgbClr val="CC0000"/>
                </a:solidFill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1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75"/>
                                        <p:tgtEl>
                                          <p:spTgt spid="44051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1">
                                            <p:txEl>
                                              <p:charRg st="9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75"/>
                                        <p:tgtEl>
                                          <p:spTgt spid="44051">
                                            <p:txEl>
                                              <p:charRg st="9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1">
                                            <p:txEl>
                                              <p:charRg st="18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75"/>
                                        <p:tgtEl>
                                          <p:spTgt spid="44051">
                                            <p:txEl>
                                              <p:charRg st="18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3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75"/>
                                        <p:tgtEl>
                                          <p:spTgt spid="44053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3">
                                            <p:txEl>
                                              <p:charRg st="2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75"/>
                                        <p:tgtEl>
                                          <p:spTgt spid="44053">
                                            <p:txEl>
                                              <p:charRg st="2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3">
                                            <p:txEl>
                                              <p:charRg st="4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75"/>
                                        <p:tgtEl>
                                          <p:spTgt spid="44053">
                                            <p:txEl>
                                              <p:charRg st="4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75"/>
                                        <p:tgtEl>
                                          <p:spTgt spid="4405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4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4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75"/>
                                        <p:tgtEl>
                                          <p:spTgt spid="4406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44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9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75"/>
                                        <p:tgtEl>
                                          <p:spTgt spid="44059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4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4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75" fill="hold"/>
                                        <p:tgtEl>
                                          <p:spTgt spid="44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75" fill="hold"/>
                                        <p:tgtEl>
                                          <p:spTgt spid="44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44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44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80" grpId="0"/>
      <p:bldP spid="44079" grpId="0"/>
      <p:bldP spid="44034" grpId="0" animBg="1"/>
      <p:bldP spid="44111" grpId="0" animBg="1"/>
      <p:bldP spid="44048" grpId="0"/>
      <p:bldP spid="44049" grpId="0"/>
      <p:bldP spid="44050" grpId="0"/>
      <p:bldP spid="44051" grpId="0" build="p"/>
      <p:bldP spid="44052" grpId="0" build="p"/>
      <p:bldP spid="44053" grpId="0" build="p"/>
      <p:bldP spid="44054" grpId="0"/>
      <p:bldP spid="44055" grpId="0"/>
      <p:bldP spid="44056" grpId="0"/>
      <p:bldP spid="44057" grpId="0"/>
      <p:bldP spid="44059" grpId="0" build="p"/>
      <p:bldP spid="44060" grpId="0"/>
      <p:bldP spid="44061" grpId="0"/>
      <p:bldP spid="44062" grpId="0" build="p"/>
      <p:bldP spid="44075" grpId="0"/>
      <p:bldP spid="44076" grpId="0"/>
      <p:bldP spid="44077" grpId="0"/>
      <p:bldP spid="44078" grpId="0"/>
      <p:bldP spid="44087" grpId="0" animBg="1"/>
      <p:bldP spid="44102" grpId="0"/>
      <p:bldP spid="4410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685800" y="3962400"/>
            <a:ext cx="2743200" cy="1828800"/>
            <a:chOff x="288" y="2736"/>
            <a:chExt cx="1728" cy="1152"/>
          </a:xfrm>
        </p:grpSpPr>
        <p:sp>
          <p:nvSpPr>
            <p:cNvPr id="57397" name="Text Box 3"/>
            <p:cNvSpPr txBox="1"/>
            <p:nvPr/>
          </p:nvSpPr>
          <p:spPr>
            <a:xfrm>
              <a:off x="384" y="2784"/>
              <a:ext cx="1632" cy="8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None/>
              </a:pPr>
              <a:r>
                <a:rPr lang="zh-CN" altLang="en-US" sz="2800" b="1" dirty="0">
                  <a:latin typeface="宋体" panose="02010600030101010101" pitchFamily="2" charset="-122"/>
                </a:rPr>
                <a:t>逻辑表达式</a:t>
              </a:r>
              <a:endParaRPr lang="zh-CN" altLang="en-US" sz="2800" b="1" dirty="0">
                <a:latin typeface="宋体" panose="02010600030101010101" pitchFamily="2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endParaRPr lang="zh-CN" altLang="en-US" sz="2800" b="1" dirty="0">
                <a:latin typeface="宋体" panose="02010600030101010101" pitchFamily="2" charset="-122"/>
              </a:endParaRP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宋体" panose="02010600030101010101" pitchFamily="2" charset="-122"/>
                </a:rPr>
                <a:t>F= A </a:t>
              </a:r>
              <a:r>
                <a:rPr lang="en-US" altLang="zh-CN" sz="2800" b="1" dirty="0">
                  <a:solidFill>
                    <a:schemeClr val="accent2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+ 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B</a:t>
              </a:r>
              <a:endParaRPr lang="en-US" altLang="zh-CN" sz="2400" dirty="0">
                <a:latin typeface="宋体" panose="02010600030101010101" pitchFamily="2" charset="-122"/>
              </a:endParaRPr>
            </a:p>
          </p:txBody>
        </p:sp>
        <p:sp>
          <p:nvSpPr>
            <p:cNvPr id="57398" name="Rectangle 4"/>
            <p:cNvSpPr/>
            <p:nvPr/>
          </p:nvSpPr>
          <p:spPr>
            <a:xfrm>
              <a:off x="288" y="2736"/>
              <a:ext cx="1728" cy="1152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</p:grpSp>
      <p:sp>
        <p:nvSpPr>
          <p:cNvPr id="46085" name="Text Box 5"/>
          <p:cNvSpPr txBox="1"/>
          <p:nvPr/>
        </p:nvSpPr>
        <p:spPr>
          <a:xfrm>
            <a:off x="838200" y="1066800"/>
            <a:ext cx="23209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或逻辑真值表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sp>
        <p:nvSpPr>
          <p:cNvPr id="46087" name="Text Box 7"/>
          <p:cNvSpPr txBox="1"/>
          <p:nvPr/>
        </p:nvSpPr>
        <p:spPr>
          <a:xfrm>
            <a:off x="685800" y="533400"/>
            <a:ext cx="1544638" cy="4572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rgbClr val="808080"/>
            </a:outerShdw>
          </a:effectLst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</a:rPr>
              <a:t>或逻辑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3" name="Group 80"/>
          <p:cNvGrpSpPr/>
          <p:nvPr/>
        </p:nvGrpSpPr>
        <p:grpSpPr>
          <a:xfrm>
            <a:off x="4648200" y="2209800"/>
            <a:ext cx="3390900" cy="1128713"/>
            <a:chOff x="2928" y="1392"/>
            <a:chExt cx="2136" cy="711"/>
          </a:xfrm>
        </p:grpSpPr>
        <p:sp>
          <p:nvSpPr>
            <p:cNvPr id="57381" name="Rectangle 39"/>
            <p:cNvSpPr/>
            <p:nvPr/>
          </p:nvSpPr>
          <p:spPr>
            <a:xfrm>
              <a:off x="3696" y="1392"/>
              <a:ext cx="528" cy="67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grpSp>
          <p:nvGrpSpPr>
            <p:cNvPr id="57382" name="Group 40"/>
            <p:cNvGrpSpPr/>
            <p:nvPr/>
          </p:nvGrpSpPr>
          <p:grpSpPr>
            <a:xfrm>
              <a:off x="2928" y="1392"/>
              <a:ext cx="768" cy="327"/>
              <a:chOff x="3120" y="3216"/>
              <a:chExt cx="768" cy="327"/>
            </a:xfrm>
          </p:grpSpPr>
          <p:grpSp>
            <p:nvGrpSpPr>
              <p:cNvPr id="57393" name="Group 41"/>
              <p:cNvGrpSpPr/>
              <p:nvPr/>
            </p:nvGrpSpPr>
            <p:grpSpPr>
              <a:xfrm>
                <a:off x="3456" y="3360"/>
                <a:ext cx="432" cy="96"/>
                <a:chOff x="2208" y="3360"/>
                <a:chExt cx="432" cy="96"/>
              </a:xfrm>
            </p:grpSpPr>
            <p:sp>
              <p:nvSpPr>
                <p:cNvPr id="57395" name="Line 42"/>
                <p:cNvSpPr/>
                <p:nvPr/>
              </p:nvSpPr>
              <p:spPr>
                <a:xfrm>
                  <a:off x="2304" y="3408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396" name="Oval 43"/>
                <p:cNvSpPr/>
                <p:nvPr/>
              </p:nvSpPr>
              <p:spPr>
                <a:xfrm>
                  <a:off x="2208" y="3360"/>
                  <a:ext cx="96" cy="96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2"/>
                    </a:solidFill>
                  </a:endParaRPr>
                </a:p>
              </p:txBody>
            </p:sp>
          </p:grpSp>
          <p:sp>
            <p:nvSpPr>
              <p:cNvPr id="57394" name="Text Box 44"/>
              <p:cNvSpPr txBox="1"/>
              <p:nvPr/>
            </p:nvSpPr>
            <p:spPr>
              <a:xfrm>
                <a:off x="3120" y="3216"/>
                <a:ext cx="27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chemeClr val="tx2"/>
                    </a:solidFill>
                  </a:rPr>
                  <a:t>A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57383" name="Group 45"/>
            <p:cNvGrpSpPr/>
            <p:nvPr/>
          </p:nvGrpSpPr>
          <p:grpSpPr>
            <a:xfrm>
              <a:off x="2928" y="1776"/>
              <a:ext cx="768" cy="327"/>
              <a:chOff x="3120" y="3600"/>
              <a:chExt cx="768" cy="327"/>
            </a:xfrm>
          </p:grpSpPr>
          <p:grpSp>
            <p:nvGrpSpPr>
              <p:cNvPr id="57389" name="Group 46"/>
              <p:cNvGrpSpPr/>
              <p:nvPr/>
            </p:nvGrpSpPr>
            <p:grpSpPr>
              <a:xfrm>
                <a:off x="3456" y="3744"/>
                <a:ext cx="432" cy="96"/>
                <a:chOff x="2208" y="3360"/>
                <a:chExt cx="432" cy="96"/>
              </a:xfrm>
            </p:grpSpPr>
            <p:sp>
              <p:nvSpPr>
                <p:cNvPr id="57391" name="Line 47"/>
                <p:cNvSpPr/>
                <p:nvPr/>
              </p:nvSpPr>
              <p:spPr>
                <a:xfrm>
                  <a:off x="2304" y="3408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392" name="Oval 48"/>
                <p:cNvSpPr/>
                <p:nvPr/>
              </p:nvSpPr>
              <p:spPr>
                <a:xfrm>
                  <a:off x="2208" y="3360"/>
                  <a:ext cx="96" cy="96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2"/>
                    </a:solidFill>
                  </a:endParaRPr>
                </a:p>
              </p:txBody>
            </p:sp>
          </p:grpSp>
          <p:sp>
            <p:nvSpPr>
              <p:cNvPr id="57390" name="Text Box 49"/>
              <p:cNvSpPr txBox="1"/>
              <p:nvPr/>
            </p:nvSpPr>
            <p:spPr>
              <a:xfrm>
                <a:off x="3120" y="3600"/>
                <a:ext cx="265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chemeClr val="tx2"/>
                    </a:solidFill>
                  </a:rPr>
                  <a:t>B</a:t>
                </a:r>
                <a:endParaRPr lang="en-US" altLang="zh-CN" sz="4400" b="1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57384" name="Group 50"/>
            <p:cNvGrpSpPr/>
            <p:nvPr/>
          </p:nvGrpSpPr>
          <p:grpSpPr>
            <a:xfrm>
              <a:off x="4224" y="1584"/>
              <a:ext cx="840" cy="327"/>
              <a:chOff x="4416" y="3408"/>
              <a:chExt cx="840" cy="327"/>
            </a:xfrm>
          </p:grpSpPr>
          <p:grpSp>
            <p:nvGrpSpPr>
              <p:cNvPr id="57385" name="Group 51"/>
              <p:cNvGrpSpPr/>
              <p:nvPr/>
            </p:nvGrpSpPr>
            <p:grpSpPr>
              <a:xfrm>
                <a:off x="4416" y="3552"/>
                <a:ext cx="432" cy="96"/>
                <a:chOff x="2496" y="3552"/>
                <a:chExt cx="432" cy="96"/>
              </a:xfrm>
            </p:grpSpPr>
            <p:sp>
              <p:nvSpPr>
                <p:cNvPr id="57387" name="Line 52"/>
                <p:cNvSpPr/>
                <p:nvPr/>
              </p:nvSpPr>
              <p:spPr>
                <a:xfrm>
                  <a:off x="2496" y="3600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7388" name="Oval 53"/>
                <p:cNvSpPr/>
                <p:nvPr/>
              </p:nvSpPr>
              <p:spPr>
                <a:xfrm>
                  <a:off x="2832" y="3552"/>
                  <a:ext cx="96" cy="96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2"/>
                    </a:solidFill>
                  </a:endParaRPr>
                </a:p>
              </p:txBody>
            </p:sp>
          </p:grpSp>
          <p:sp>
            <p:nvSpPr>
              <p:cNvPr id="57386" name="Text Box 54"/>
              <p:cNvSpPr txBox="1"/>
              <p:nvPr/>
            </p:nvSpPr>
            <p:spPr>
              <a:xfrm>
                <a:off x="5015" y="3408"/>
                <a:ext cx="24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tx2"/>
                    </a:solidFill>
                  </a:rPr>
                  <a:t>F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</p:grpSp>
      </p:grpSp>
      <p:sp>
        <p:nvSpPr>
          <p:cNvPr id="46135" name="Text Box 55"/>
          <p:cNvSpPr txBox="1"/>
          <p:nvPr/>
        </p:nvSpPr>
        <p:spPr>
          <a:xfrm>
            <a:off x="5867400" y="2209800"/>
            <a:ext cx="777875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chemeClr val="accent2"/>
                </a:solidFill>
                <a:sym typeface="Symbol" panose="05050102010706020507" pitchFamily="18" charset="2"/>
              </a:rPr>
              <a:t> 1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grpSp>
        <p:nvGrpSpPr>
          <p:cNvPr id="10" name="Group 56"/>
          <p:cNvGrpSpPr/>
          <p:nvPr/>
        </p:nvGrpSpPr>
        <p:grpSpPr>
          <a:xfrm>
            <a:off x="4495800" y="1600200"/>
            <a:ext cx="3581400" cy="1828800"/>
            <a:chOff x="2928" y="2880"/>
            <a:chExt cx="2256" cy="1152"/>
          </a:xfrm>
        </p:grpSpPr>
        <p:sp>
          <p:nvSpPr>
            <p:cNvPr id="57379" name="Text Box 57"/>
            <p:cNvSpPr txBox="1"/>
            <p:nvPr/>
          </p:nvSpPr>
          <p:spPr>
            <a:xfrm>
              <a:off x="3067" y="2928"/>
              <a:ext cx="102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chemeClr val="tx2"/>
                  </a:solidFill>
                </a:rPr>
                <a:t>逻辑符号</a:t>
              </a:r>
              <a:endParaRPr lang="zh-CN" altLang="en-US" sz="4400" dirty="0">
                <a:solidFill>
                  <a:schemeClr val="tx2"/>
                </a:solidFill>
              </a:endParaRPr>
            </a:p>
          </p:txBody>
        </p:sp>
        <p:sp>
          <p:nvSpPr>
            <p:cNvPr id="57380" name="Rectangle 58"/>
            <p:cNvSpPr/>
            <p:nvPr/>
          </p:nvSpPr>
          <p:spPr>
            <a:xfrm>
              <a:off x="2928" y="2880"/>
              <a:ext cx="2256" cy="1152"/>
            </a:xfrm>
            <a:prstGeom prst="rect">
              <a:avLst/>
            </a:prstGeom>
            <a:noFill/>
            <a:ln w="57150" cap="flat" cmpd="thickThin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1" name="Group 79"/>
          <p:cNvGrpSpPr/>
          <p:nvPr/>
        </p:nvGrpSpPr>
        <p:grpSpPr>
          <a:xfrm>
            <a:off x="3048000" y="228600"/>
            <a:ext cx="5791200" cy="1143000"/>
            <a:chOff x="2112" y="-240"/>
            <a:chExt cx="3648" cy="720"/>
          </a:xfrm>
        </p:grpSpPr>
        <p:sp>
          <p:nvSpPr>
            <p:cNvPr id="57377" name="AutoShape 8"/>
            <p:cNvSpPr/>
            <p:nvPr/>
          </p:nvSpPr>
          <p:spPr>
            <a:xfrm>
              <a:off x="2112" y="-240"/>
              <a:ext cx="3648" cy="720"/>
            </a:xfrm>
            <a:prstGeom prst="wedgeRectCallout">
              <a:avLst>
                <a:gd name="adj1" fmla="val -63157"/>
                <a:gd name="adj2" fmla="val -5000"/>
              </a:avLst>
            </a:prstGeom>
            <a:solidFill>
              <a:srgbClr val="FF99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57378" name="Text Box 59"/>
            <p:cNvSpPr txBox="1"/>
            <p:nvPr/>
          </p:nvSpPr>
          <p:spPr>
            <a:xfrm>
              <a:off x="2112" y="-144"/>
              <a:ext cx="3648" cy="518"/>
            </a:xfrm>
            <a:prstGeom prst="rect">
              <a:avLst/>
            </a:prstGeom>
            <a:solidFill>
              <a:srgbClr val="FF99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只有决定某一事件的</a:t>
              </a:r>
              <a:r>
                <a:rPr lang="zh-CN" altLang="en-US" sz="24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有一个或一个以上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具备，这一事件才能发生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2" name="Group 60"/>
          <p:cNvGrpSpPr/>
          <p:nvPr/>
        </p:nvGrpSpPr>
        <p:grpSpPr>
          <a:xfrm>
            <a:off x="762000" y="1676400"/>
            <a:ext cx="2438400" cy="1981200"/>
            <a:chOff x="4080" y="1008"/>
            <a:chExt cx="1536" cy="1248"/>
          </a:xfrm>
        </p:grpSpPr>
        <p:sp>
          <p:nvSpPr>
            <p:cNvPr id="57374" name="Rectangle 61"/>
            <p:cNvSpPr/>
            <p:nvPr/>
          </p:nvSpPr>
          <p:spPr>
            <a:xfrm>
              <a:off x="4080" y="1008"/>
              <a:ext cx="1536" cy="124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57375" name="Line 62"/>
            <p:cNvSpPr/>
            <p:nvPr/>
          </p:nvSpPr>
          <p:spPr>
            <a:xfrm>
              <a:off x="4080" y="1296"/>
              <a:ext cx="15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76" name="Line 63"/>
            <p:cNvSpPr/>
            <p:nvPr/>
          </p:nvSpPr>
          <p:spPr>
            <a:xfrm>
              <a:off x="5136" y="1008"/>
              <a:ext cx="0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6144" name="Text Box 64"/>
          <p:cNvSpPr txBox="1"/>
          <p:nvPr/>
        </p:nvSpPr>
        <p:spPr>
          <a:xfrm>
            <a:off x="914400" y="1676400"/>
            <a:ext cx="4413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A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6145" name="Text Box 65"/>
          <p:cNvSpPr txBox="1"/>
          <p:nvPr/>
        </p:nvSpPr>
        <p:spPr>
          <a:xfrm>
            <a:off x="1752600" y="1676400"/>
            <a:ext cx="4206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B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6146" name="Text Box 66"/>
          <p:cNvSpPr txBox="1"/>
          <p:nvPr/>
        </p:nvSpPr>
        <p:spPr>
          <a:xfrm>
            <a:off x="2667000" y="16764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F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6147" name="Rectangle 67"/>
          <p:cNvSpPr/>
          <p:nvPr/>
        </p:nvSpPr>
        <p:spPr>
          <a:xfrm>
            <a:off x="990600" y="2819400"/>
            <a:ext cx="107315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1      0</a:t>
            </a:r>
            <a:endParaRPr lang="en-US" altLang="zh-CN" sz="2800" dirty="0">
              <a:solidFill>
                <a:schemeClr val="tx2"/>
              </a:solidFill>
            </a:endParaRPr>
          </a:p>
        </p:txBody>
      </p:sp>
      <p:sp>
        <p:nvSpPr>
          <p:cNvPr id="46148" name="Text Box 68"/>
          <p:cNvSpPr txBox="1"/>
          <p:nvPr/>
        </p:nvSpPr>
        <p:spPr>
          <a:xfrm>
            <a:off x="990600" y="3200400"/>
            <a:ext cx="10731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1      1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6149" name="Rectangle 69"/>
          <p:cNvSpPr/>
          <p:nvPr/>
        </p:nvSpPr>
        <p:spPr>
          <a:xfrm>
            <a:off x="990600" y="2438400"/>
            <a:ext cx="107315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0      1</a:t>
            </a:r>
            <a:endParaRPr lang="en-US" altLang="zh-CN" sz="2800" dirty="0">
              <a:solidFill>
                <a:schemeClr val="tx2"/>
              </a:solidFill>
            </a:endParaRPr>
          </a:p>
        </p:txBody>
      </p:sp>
      <p:sp>
        <p:nvSpPr>
          <p:cNvPr id="46150" name="Rectangle 70"/>
          <p:cNvSpPr/>
          <p:nvPr/>
        </p:nvSpPr>
        <p:spPr>
          <a:xfrm>
            <a:off x="990600" y="2057400"/>
            <a:ext cx="107315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0      0</a:t>
            </a:r>
            <a:endParaRPr lang="en-US" altLang="zh-CN" sz="2800" dirty="0">
              <a:solidFill>
                <a:schemeClr val="tx2"/>
              </a:solidFill>
            </a:endParaRPr>
          </a:p>
        </p:txBody>
      </p:sp>
      <p:sp>
        <p:nvSpPr>
          <p:cNvPr id="46151" name="Text Box 71"/>
          <p:cNvSpPr txBox="1"/>
          <p:nvPr/>
        </p:nvSpPr>
        <p:spPr>
          <a:xfrm>
            <a:off x="2609850" y="24384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1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6152" name="Text Box 72"/>
          <p:cNvSpPr txBox="1"/>
          <p:nvPr/>
        </p:nvSpPr>
        <p:spPr>
          <a:xfrm>
            <a:off x="2609850" y="2833688"/>
            <a:ext cx="3619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1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6153" name="Text Box 73"/>
          <p:cNvSpPr txBox="1"/>
          <p:nvPr/>
        </p:nvSpPr>
        <p:spPr>
          <a:xfrm>
            <a:off x="2590800" y="3214688"/>
            <a:ext cx="3619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1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6154" name="Text Box 74"/>
          <p:cNvSpPr txBox="1"/>
          <p:nvPr/>
        </p:nvSpPr>
        <p:spPr>
          <a:xfrm>
            <a:off x="2609850" y="20574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grpSp>
        <p:nvGrpSpPr>
          <p:cNvPr id="13" name="Group 75"/>
          <p:cNvGrpSpPr/>
          <p:nvPr/>
        </p:nvGrpSpPr>
        <p:grpSpPr>
          <a:xfrm>
            <a:off x="4495800" y="3886200"/>
            <a:ext cx="3581400" cy="1828800"/>
            <a:chOff x="2928" y="2880"/>
            <a:chExt cx="2256" cy="1152"/>
          </a:xfrm>
        </p:grpSpPr>
        <p:sp>
          <p:nvSpPr>
            <p:cNvPr id="57372" name="Text Box 76"/>
            <p:cNvSpPr txBox="1"/>
            <p:nvPr/>
          </p:nvSpPr>
          <p:spPr>
            <a:xfrm>
              <a:off x="2989" y="2928"/>
              <a:ext cx="117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N</a:t>
              </a:r>
              <a:r>
                <a:rPr lang="zh-CN" altLang="en-US" sz="2800" b="1" dirty="0">
                  <a:solidFill>
                    <a:schemeClr val="tx2"/>
                  </a:solidFill>
                </a:rPr>
                <a:t>个输入：</a:t>
              </a:r>
              <a:endParaRPr lang="zh-CN" altLang="en-US" sz="4400" dirty="0">
                <a:solidFill>
                  <a:schemeClr val="tx2"/>
                </a:solidFill>
              </a:endParaRPr>
            </a:p>
          </p:txBody>
        </p:sp>
        <p:sp>
          <p:nvSpPr>
            <p:cNvPr id="57373" name="Rectangle 77"/>
            <p:cNvSpPr/>
            <p:nvPr/>
          </p:nvSpPr>
          <p:spPr>
            <a:xfrm>
              <a:off x="2928" y="2880"/>
              <a:ext cx="2256" cy="1152"/>
            </a:xfrm>
            <a:prstGeom prst="rect">
              <a:avLst/>
            </a:prstGeom>
            <a:noFill/>
            <a:ln w="57150" cap="flat" cmpd="thickThin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</p:grpSp>
      <p:sp>
        <p:nvSpPr>
          <p:cNvPr id="46158" name="Text Box 78"/>
          <p:cNvSpPr txBox="1"/>
          <p:nvPr/>
        </p:nvSpPr>
        <p:spPr>
          <a:xfrm>
            <a:off x="4648200" y="4724400"/>
            <a:ext cx="32766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F= A </a:t>
            </a:r>
            <a:r>
              <a:rPr lang="en-US" altLang="zh-CN" sz="2800" b="1" dirty="0">
                <a:solidFill>
                  <a:schemeClr val="accent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+ </a:t>
            </a:r>
            <a:r>
              <a:rPr lang="en-US" altLang="zh-CN" sz="2800" b="1" dirty="0">
                <a:latin typeface="宋体" panose="02010600030101010101" pitchFamily="2" charset="-122"/>
              </a:rPr>
              <a:t>B</a:t>
            </a:r>
            <a:r>
              <a:rPr lang="en-US" altLang="zh-CN" sz="2400" b="1" dirty="0">
                <a:latin typeface="宋体" panose="02010600030101010101" pitchFamily="2" charset="-122"/>
              </a:rPr>
              <a:t>+ ...+  N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  <p:grpSp>
        <p:nvGrpSpPr>
          <p:cNvPr id="14" name="Group 36"/>
          <p:cNvGrpSpPr/>
          <p:nvPr/>
        </p:nvGrpSpPr>
        <p:grpSpPr>
          <a:xfrm>
            <a:off x="2057400" y="3657600"/>
            <a:ext cx="3200400" cy="1143000"/>
            <a:chOff x="1200" y="2544"/>
            <a:chExt cx="2832" cy="720"/>
          </a:xfrm>
        </p:grpSpPr>
        <p:sp>
          <p:nvSpPr>
            <p:cNvPr id="57370" name="AutoShape 37"/>
            <p:cNvSpPr/>
            <p:nvPr/>
          </p:nvSpPr>
          <p:spPr>
            <a:xfrm>
              <a:off x="1200" y="2544"/>
              <a:ext cx="2832" cy="720"/>
            </a:xfrm>
            <a:prstGeom prst="wedgeRoundRectCallout">
              <a:avLst>
                <a:gd name="adj1" fmla="val -55190"/>
                <a:gd name="adj2" fmla="val 74722"/>
                <a:gd name="adj3" fmla="val 16667"/>
              </a:avLst>
            </a:prstGeom>
            <a:solidFill>
              <a:srgbClr val="FF99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57371" name="Text Box 38"/>
            <p:cNvSpPr txBox="1"/>
            <p:nvPr/>
          </p:nvSpPr>
          <p:spPr>
            <a:xfrm>
              <a:off x="1345" y="2688"/>
              <a:ext cx="2639" cy="518"/>
            </a:xfrm>
            <a:prstGeom prst="rect">
              <a:avLst/>
            </a:prstGeom>
            <a:solidFill>
              <a:srgbClr val="FF99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或逻辑运算符，也有用</a:t>
              </a:r>
              <a:r>
                <a:rPr lang="zh-CN" altLang="en-US" sz="2400" b="1" dirty="0"/>
                <a:t>“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∨</a:t>
              </a:r>
              <a:r>
                <a:rPr lang="zh-CN" altLang="en-US" sz="2400" b="1" dirty="0"/>
                <a:t>”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、</a:t>
              </a:r>
              <a:r>
                <a:rPr lang="zh-CN" altLang="en-US" sz="2400" b="1" dirty="0"/>
                <a:t>“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∪</a:t>
              </a:r>
              <a:r>
                <a:rPr lang="zh-CN" altLang="en-US" sz="2400" b="1" dirty="0"/>
                <a:t>”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表示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pic>
        <p:nvPicPr>
          <p:cNvPr id="57368" name="Picture 82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60198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7369" name="Text Box 83">
            <a:hlinkClick r:id="rId1" action="ppaction://hlinksldjump"/>
          </p:cNvPr>
          <p:cNvSpPr txBox="1"/>
          <p:nvPr/>
        </p:nvSpPr>
        <p:spPr>
          <a:xfrm>
            <a:off x="6902450" y="60960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50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75"/>
                                        <p:tgtEl>
                                          <p:spTgt spid="46150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4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7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75"/>
                                        <p:tgtEl>
                                          <p:spTgt spid="46147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6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6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58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75"/>
                                        <p:tgtEl>
                                          <p:spTgt spid="46158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5" grpId="0"/>
      <p:bldP spid="46087" grpId="0" animBg="1"/>
      <p:bldP spid="46135" grpId="0"/>
      <p:bldP spid="46144" grpId="0"/>
      <p:bldP spid="46145" grpId="0"/>
      <p:bldP spid="46146" grpId="0"/>
      <p:bldP spid="46147" grpId="0" build="p"/>
      <p:bldP spid="46148" grpId="0"/>
      <p:bldP spid="46149" grpId="0"/>
      <p:bldP spid="46150" grpId="0" build="p"/>
      <p:bldP spid="46151" grpId="0"/>
      <p:bldP spid="46152" grpId="0"/>
      <p:bldP spid="46153" grpId="0"/>
      <p:bldP spid="46154" grpId="0"/>
      <p:bldP spid="46158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8370" name="Picture 74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5334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8371" name="Text Box 75">
            <a:hlinkClick r:id="rId1" action="ppaction://hlinksldjump"/>
          </p:cNvPr>
          <p:cNvSpPr txBox="1"/>
          <p:nvPr/>
        </p:nvSpPr>
        <p:spPr>
          <a:xfrm>
            <a:off x="7740650" y="6096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  <p:sp>
        <p:nvSpPr>
          <p:cNvPr id="47106" name="Text Box 2"/>
          <p:cNvSpPr txBox="1"/>
          <p:nvPr/>
        </p:nvSpPr>
        <p:spPr>
          <a:xfrm>
            <a:off x="685800" y="533400"/>
            <a:ext cx="1544638" cy="4572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rgbClr val="808080"/>
            </a:outerShdw>
          </a:effectLst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</a:rPr>
              <a:t>非逻辑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2895600" y="228600"/>
            <a:ext cx="5791200" cy="1143000"/>
            <a:chOff x="2112" y="-240"/>
            <a:chExt cx="3648" cy="720"/>
          </a:xfrm>
        </p:grpSpPr>
        <p:sp>
          <p:nvSpPr>
            <p:cNvPr id="58425" name="AutoShape 4"/>
            <p:cNvSpPr/>
            <p:nvPr/>
          </p:nvSpPr>
          <p:spPr>
            <a:xfrm>
              <a:off x="2112" y="-240"/>
              <a:ext cx="3648" cy="720"/>
            </a:xfrm>
            <a:prstGeom prst="wedgeRectCallout">
              <a:avLst>
                <a:gd name="adj1" fmla="val -63157"/>
                <a:gd name="adj2" fmla="val -5000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58426" name="Text Box 5"/>
            <p:cNvSpPr txBox="1"/>
            <p:nvPr/>
          </p:nvSpPr>
          <p:spPr>
            <a:xfrm>
              <a:off x="2112" y="-144"/>
              <a:ext cx="3648" cy="51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当决定某一事件的条件满足时，事件不发生；反之事件发生</a:t>
              </a:r>
              <a:r>
                <a:rPr lang="zh-CN" altLang="en-US" sz="2400" dirty="0">
                  <a:latin typeface="宋体" panose="02010600030101010101" pitchFamily="2" charset="-122"/>
                </a:rPr>
                <a:t>，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47118" name="Text Box 14"/>
          <p:cNvSpPr txBox="1"/>
          <p:nvPr/>
        </p:nvSpPr>
        <p:spPr>
          <a:xfrm>
            <a:off x="338138" y="1066800"/>
            <a:ext cx="232886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非逻辑真值表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grpSp>
        <p:nvGrpSpPr>
          <p:cNvPr id="3" name="Group 18"/>
          <p:cNvGrpSpPr/>
          <p:nvPr/>
        </p:nvGrpSpPr>
        <p:grpSpPr>
          <a:xfrm>
            <a:off x="5715000" y="1371600"/>
            <a:ext cx="3124200" cy="1828800"/>
            <a:chOff x="2928" y="2880"/>
            <a:chExt cx="2256" cy="1152"/>
          </a:xfrm>
        </p:grpSpPr>
        <p:sp>
          <p:nvSpPr>
            <p:cNvPr id="58423" name="Text Box 19"/>
            <p:cNvSpPr txBox="1"/>
            <p:nvPr/>
          </p:nvSpPr>
          <p:spPr>
            <a:xfrm>
              <a:off x="2999" y="2928"/>
              <a:ext cx="115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chemeClr val="tx2"/>
                  </a:solidFill>
                </a:rPr>
                <a:t>逻辑符号</a:t>
              </a:r>
              <a:endParaRPr lang="zh-CN" altLang="en-US" sz="4400" dirty="0">
                <a:solidFill>
                  <a:schemeClr val="tx2"/>
                </a:solidFill>
              </a:endParaRPr>
            </a:p>
          </p:txBody>
        </p:sp>
        <p:sp>
          <p:nvSpPr>
            <p:cNvPr id="58424" name="Rectangle 20"/>
            <p:cNvSpPr/>
            <p:nvPr/>
          </p:nvSpPr>
          <p:spPr>
            <a:xfrm>
              <a:off x="2928" y="2880"/>
              <a:ext cx="2256" cy="1152"/>
            </a:xfrm>
            <a:prstGeom prst="rect">
              <a:avLst/>
            </a:prstGeom>
            <a:noFill/>
            <a:ln w="57150" cap="flat" cmpd="thickThin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</p:grpSp>
      <p:sp>
        <p:nvSpPr>
          <p:cNvPr id="47126" name="Rectangle 22"/>
          <p:cNvSpPr/>
          <p:nvPr/>
        </p:nvSpPr>
        <p:spPr>
          <a:xfrm>
            <a:off x="6772275" y="1905000"/>
            <a:ext cx="701675" cy="10668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grpSp>
        <p:nvGrpSpPr>
          <p:cNvPr id="4" name="Group 23"/>
          <p:cNvGrpSpPr/>
          <p:nvPr/>
        </p:nvGrpSpPr>
        <p:grpSpPr>
          <a:xfrm>
            <a:off x="5716588" y="2133600"/>
            <a:ext cx="1055687" cy="519113"/>
            <a:chOff x="3094" y="3216"/>
            <a:chExt cx="794" cy="327"/>
          </a:xfrm>
        </p:grpSpPr>
        <p:grpSp>
          <p:nvGrpSpPr>
            <p:cNvPr id="58419" name="Group 24"/>
            <p:cNvGrpSpPr/>
            <p:nvPr/>
          </p:nvGrpSpPr>
          <p:grpSpPr>
            <a:xfrm>
              <a:off x="3456" y="3360"/>
              <a:ext cx="432" cy="96"/>
              <a:chOff x="2208" y="3360"/>
              <a:chExt cx="432" cy="96"/>
            </a:xfrm>
          </p:grpSpPr>
          <p:sp>
            <p:nvSpPr>
              <p:cNvPr id="58421" name="Line 25"/>
              <p:cNvSpPr/>
              <p:nvPr/>
            </p:nvSpPr>
            <p:spPr>
              <a:xfrm>
                <a:off x="2304" y="3408"/>
                <a:ext cx="33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22" name="Oval 26"/>
              <p:cNvSpPr/>
              <p:nvPr/>
            </p:nvSpPr>
            <p:spPr>
              <a:xfrm>
                <a:off x="2208" y="3360"/>
                <a:ext cx="96" cy="96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58420" name="Text Box 27"/>
            <p:cNvSpPr txBox="1"/>
            <p:nvPr/>
          </p:nvSpPr>
          <p:spPr>
            <a:xfrm>
              <a:off x="3094" y="3216"/>
              <a:ext cx="3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A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6" name="Group 33"/>
          <p:cNvGrpSpPr/>
          <p:nvPr/>
        </p:nvGrpSpPr>
        <p:grpSpPr>
          <a:xfrm>
            <a:off x="7691438" y="2133600"/>
            <a:ext cx="1147762" cy="519113"/>
            <a:chOff x="4416" y="3408"/>
            <a:chExt cx="864" cy="327"/>
          </a:xfrm>
        </p:grpSpPr>
        <p:grpSp>
          <p:nvGrpSpPr>
            <p:cNvPr id="58415" name="Group 34"/>
            <p:cNvGrpSpPr/>
            <p:nvPr/>
          </p:nvGrpSpPr>
          <p:grpSpPr>
            <a:xfrm>
              <a:off x="4416" y="3552"/>
              <a:ext cx="432" cy="96"/>
              <a:chOff x="2496" y="3552"/>
              <a:chExt cx="432" cy="96"/>
            </a:xfrm>
          </p:grpSpPr>
          <p:sp>
            <p:nvSpPr>
              <p:cNvPr id="58417" name="Line 35"/>
              <p:cNvSpPr/>
              <p:nvPr/>
            </p:nvSpPr>
            <p:spPr>
              <a:xfrm>
                <a:off x="2496" y="3600"/>
                <a:ext cx="33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418" name="Oval 36"/>
              <p:cNvSpPr/>
              <p:nvPr/>
            </p:nvSpPr>
            <p:spPr>
              <a:xfrm>
                <a:off x="2832" y="3552"/>
                <a:ext cx="96" cy="96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58416" name="Text Box 37"/>
            <p:cNvSpPr txBox="1"/>
            <p:nvPr/>
          </p:nvSpPr>
          <p:spPr>
            <a:xfrm>
              <a:off x="4992" y="3408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tx2"/>
                  </a:solidFill>
                </a:rPr>
                <a:t>F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sp>
        <p:nvSpPr>
          <p:cNvPr id="47142" name="Oval 38"/>
          <p:cNvSpPr/>
          <p:nvPr/>
        </p:nvSpPr>
        <p:spPr>
          <a:xfrm>
            <a:off x="7467600" y="2286000"/>
            <a:ext cx="228600" cy="228600"/>
          </a:xfrm>
          <a:prstGeom prst="ellipse">
            <a:avLst/>
          </a:prstGeom>
          <a:noFill/>
          <a:ln w="5715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4400" b="1" dirty="0">
              <a:solidFill>
                <a:schemeClr val="accent2"/>
              </a:solidFill>
            </a:endParaRPr>
          </a:p>
        </p:txBody>
      </p:sp>
      <p:sp>
        <p:nvSpPr>
          <p:cNvPr id="47143" name="Text Box 39"/>
          <p:cNvSpPr txBox="1"/>
          <p:nvPr/>
        </p:nvSpPr>
        <p:spPr>
          <a:xfrm>
            <a:off x="6958013" y="19812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accent2"/>
                </a:solidFill>
              </a:rPr>
              <a:t>1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7144" name="Text Box 40"/>
          <p:cNvSpPr txBox="1"/>
          <p:nvPr/>
        </p:nvSpPr>
        <p:spPr>
          <a:xfrm>
            <a:off x="685800" y="1600200"/>
            <a:ext cx="4413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A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7145" name="Text Box 41"/>
          <p:cNvSpPr txBox="1"/>
          <p:nvPr/>
        </p:nvSpPr>
        <p:spPr>
          <a:xfrm>
            <a:off x="1828800" y="1600200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F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7146" name="Text Box 42"/>
          <p:cNvSpPr txBox="1"/>
          <p:nvPr/>
        </p:nvSpPr>
        <p:spPr>
          <a:xfrm>
            <a:off x="685800" y="22860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7147" name="Text Box 43"/>
          <p:cNvSpPr txBox="1"/>
          <p:nvPr/>
        </p:nvSpPr>
        <p:spPr>
          <a:xfrm>
            <a:off x="1828800" y="22860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1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7148" name="Text Box 44"/>
          <p:cNvSpPr txBox="1"/>
          <p:nvPr/>
        </p:nvSpPr>
        <p:spPr>
          <a:xfrm>
            <a:off x="685800" y="26670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1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7149" name="Text Box 45"/>
          <p:cNvSpPr txBox="1"/>
          <p:nvPr/>
        </p:nvSpPr>
        <p:spPr>
          <a:xfrm>
            <a:off x="1828800" y="26670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grpSp>
        <p:nvGrpSpPr>
          <p:cNvPr id="8" name="Group 68"/>
          <p:cNvGrpSpPr/>
          <p:nvPr/>
        </p:nvGrpSpPr>
        <p:grpSpPr>
          <a:xfrm>
            <a:off x="457200" y="1600200"/>
            <a:ext cx="1981200" cy="1600200"/>
            <a:chOff x="288" y="1008"/>
            <a:chExt cx="1248" cy="1008"/>
          </a:xfrm>
        </p:grpSpPr>
        <p:sp>
          <p:nvSpPr>
            <p:cNvPr id="58412" name="Rectangle 9"/>
            <p:cNvSpPr/>
            <p:nvPr/>
          </p:nvSpPr>
          <p:spPr>
            <a:xfrm>
              <a:off x="288" y="1008"/>
              <a:ext cx="1248" cy="100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58413" name="Line 10"/>
            <p:cNvSpPr/>
            <p:nvPr/>
          </p:nvSpPr>
          <p:spPr>
            <a:xfrm>
              <a:off x="288" y="1392"/>
              <a:ext cx="1248" cy="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414" name="Line 46"/>
            <p:cNvSpPr/>
            <p:nvPr/>
          </p:nvSpPr>
          <p:spPr>
            <a:xfrm>
              <a:off x="912" y="1008"/>
              <a:ext cx="0" cy="1008"/>
            </a:xfrm>
            <a:prstGeom prst="line">
              <a:avLst/>
            </a:prstGeom>
            <a:ln w="57150" cap="flat" cmpd="thinThick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" name="Group 69"/>
          <p:cNvGrpSpPr/>
          <p:nvPr/>
        </p:nvGrpSpPr>
        <p:grpSpPr>
          <a:xfrm>
            <a:off x="2743200" y="1371600"/>
            <a:ext cx="2743200" cy="1828800"/>
            <a:chOff x="1728" y="864"/>
            <a:chExt cx="1728" cy="1152"/>
          </a:xfrm>
        </p:grpSpPr>
        <p:grpSp>
          <p:nvGrpSpPr>
            <p:cNvPr id="58408" name="Group 15"/>
            <p:cNvGrpSpPr/>
            <p:nvPr/>
          </p:nvGrpSpPr>
          <p:grpSpPr>
            <a:xfrm>
              <a:off x="1728" y="864"/>
              <a:ext cx="1728" cy="1152"/>
              <a:chOff x="288" y="2736"/>
              <a:chExt cx="1728" cy="1152"/>
            </a:xfrm>
          </p:grpSpPr>
          <p:sp>
            <p:nvSpPr>
              <p:cNvPr id="58410" name="Text Box 16"/>
              <p:cNvSpPr txBox="1"/>
              <p:nvPr/>
            </p:nvSpPr>
            <p:spPr>
              <a:xfrm>
                <a:off x="384" y="2784"/>
                <a:ext cx="1632" cy="8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spcBef>
                    <a:spcPct val="0"/>
                  </a:spcBef>
                  <a:buNone/>
                </a:pPr>
                <a:r>
                  <a:rPr lang="zh-CN" altLang="en-US" sz="2800" b="1" dirty="0">
                    <a:latin typeface="宋体" panose="02010600030101010101" pitchFamily="2" charset="-122"/>
                  </a:rPr>
                  <a:t>逻辑表达式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  <a:p>
                <a:pPr marL="0" lvl="0" indent="0" algn="just">
                  <a:spcBef>
                    <a:spcPct val="0"/>
                  </a:spcBef>
                  <a:buNone/>
                </a:pPr>
                <a:endParaRPr lang="zh-CN" altLang="en-US" sz="2800" b="1" dirty="0">
                  <a:latin typeface="宋体" panose="02010600030101010101" pitchFamily="2" charset="-122"/>
                </a:endParaRPr>
              </a:p>
              <a:p>
                <a:pPr marL="0" lvl="0" indent="0" algn="just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latin typeface="宋体" panose="02010600030101010101" pitchFamily="2" charset="-122"/>
                  </a:rPr>
                  <a:t>F= A </a:t>
                </a:r>
                <a:endParaRPr lang="en-US" altLang="zh-CN" sz="24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58411" name="Rectangle 17"/>
              <p:cNvSpPr/>
              <p:nvPr/>
            </p:nvSpPr>
            <p:spPr>
              <a:xfrm>
                <a:off x="288" y="2736"/>
                <a:ext cx="1728" cy="1152"/>
              </a:xfrm>
              <a:prstGeom prst="rect">
                <a:avLst/>
              </a:prstGeom>
              <a:noFill/>
              <a:ln w="57150" cap="flat" cmpd="thinThick">
                <a:solidFill>
                  <a:srgbClr val="33CC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58409" name="Line 47"/>
            <p:cNvSpPr/>
            <p:nvPr/>
          </p:nvSpPr>
          <p:spPr>
            <a:xfrm>
              <a:off x="2208" y="1488"/>
              <a:ext cx="144" cy="0"/>
            </a:xfrm>
            <a:prstGeom prst="line">
              <a:avLst/>
            </a:prstGeom>
            <a:ln w="5715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1" name="Group 48"/>
          <p:cNvGrpSpPr/>
          <p:nvPr/>
        </p:nvGrpSpPr>
        <p:grpSpPr>
          <a:xfrm>
            <a:off x="3886200" y="914400"/>
            <a:ext cx="2743200" cy="1143000"/>
            <a:chOff x="1200" y="2544"/>
            <a:chExt cx="2832" cy="720"/>
          </a:xfrm>
        </p:grpSpPr>
        <p:sp>
          <p:nvSpPr>
            <p:cNvPr id="58406" name="AutoShape 49"/>
            <p:cNvSpPr/>
            <p:nvPr/>
          </p:nvSpPr>
          <p:spPr>
            <a:xfrm>
              <a:off x="1200" y="2544"/>
              <a:ext cx="2832" cy="720"/>
            </a:xfrm>
            <a:prstGeom prst="wedgeRoundRectCallout">
              <a:avLst>
                <a:gd name="adj1" fmla="val -55190"/>
                <a:gd name="adj2" fmla="val 74722"/>
                <a:gd name="adj3" fmla="val 16667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58407" name="Text Box 50"/>
            <p:cNvSpPr txBox="1"/>
            <p:nvPr/>
          </p:nvSpPr>
          <p:spPr>
            <a:xfrm>
              <a:off x="1345" y="2803"/>
              <a:ext cx="2639" cy="28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“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-</a:t>
              </a:r>
              <a:r>
                <a:rPr lang="en-US" altLang="zh-CN" sz="2400" b="1" dirty="0"/>
                <a:t>”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非逻辑运算符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47158" name="Text Box 54"/>
          <p:cNvSpPr txBox="1"/>
          <p:nvPr/>
        </p:nvSpPr>
        <p:spPr>
          <a:xfrm>
            <a:off x="381000" y="3429000"/>
            <a:ext cx="26670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三、复合逻辑运算</a:t>
            </a:r>
            <a:endParaRPr lang="zh-CN" altLang="en-US" sz="2400" b="1" dirty="0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47159" name="Object 55"/>
          <p:cNvGraphicFramePr>
            <a:graphicFrameLocks noChangeAspect="1"/>
          </p:cNvGraphicFramePr>
          <p:nvPr/>
        </p:nvGraphicFramePr>
        <p:xfrm>
          <a:off x="609600" y="4876800"/>
          <a:ext cx="28194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3" imgW="1504950" imgH="781050" progId="Paint.Picture">
                  <p:embed/>
                </p:oleObj>
              </mc:Choice>
              <mc:Fallback>
                <p:oleObj name="" r:id="rId3" imgW="1504950" imgH="781050" progId="Paint.Picture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" y="4876800"/>
                        <a:ext cx="2819400" cy="1219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60" name="Text Box 56"/>
          <p:cNvSpPr txBox="1"/>
          <p:nvPr/>
        </p:nvSpPr>
        <p:spPr>
          <a:xfrm>
            <a:off x="939800" y="4191000"/>
            <a:ext cx="203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与非逻辑运算</a:t>
            </a:r>
            <a:endParaRPr lang="zh-CN" altLang="en-US" sz="2400" b="1" dirty="0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grpSp>
        <p:nvGrpSpPr>
          <p:cNvPr id="12" name="Group 70"/>
          <p:cNvGrpSpPr/>
          <p:nvPr/>
        </p:nvGrpSpPr>
        <p:grpSpPr>
          <a:xfrm>
            <a:off x="1311275" y="6096000"/>
            <a:ext cx="1219200" cy="519113"/>
            <a:chOff x="826" y="3840"/>
            <a:chExt cx="768" cy="327"/>
          </a:xfrm>
        </p:grpSpPr>
        <p:sp>
          <p:nvSpPr>
            <p:cNvPr id="58404" name="Text Box 57"/>
            <p:cNvSpPr txBox="1"/>
            <p:nvPr/>
          </p:nvSpPr>
          <p:spPr>
            <a:xfrm>
              <a:off x="826" y="3840"/>
              <a:ext cx="76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F</a:t>
              </a:r>
              <a:r>
                <a:rPr lang="en-US" altLang="zh-CN" sz="2800" b="1" baseline="-25000" dirty="0">
                  <a:solidFill>
                    <a:schemeClr val="tx2"/>
                  </a:solidFill>
                </a:rPr>
                <a:t>1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=AB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58405" name="Line 58"/>
            <p:cNvSpPr/>
            <p:nvPr/>
          </p:nvSpPr>
          <p:spPr>
            <a:xfrm>
              <a:off x="1248" y="3888"/>
              <a:ext cx="240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7163" name="Text Box 59"/>
          <p:cNvSpPr txBox="1"/>
          <p:nvPr/>
        </p:nvSpPr>
        <p:spPr>
          <a:xfrm>
            <a:off x="3886200" y="4191000"/>
            <a:ext cx="203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或非逻辑运算</a:t>
            </a:r>
            <a:endParaRPr lang="zh-CN" altLang="en-US" sz="2400" b="1" dirty="0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47164" name="Object 60"/>
          <p:cNvGraphicFramePr>
            <a:graphicFrameLocks noChangeAspect="1"/>
          </p:cNvGraphicFramePr>
          <p:nvPr/>
        </p:nvGraphicFramePr>
        <p:xfrm>
          <a:off x="3962400" y="4876800"/>
          <a:ext cx="2362200" cy="1335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5" imgW="1381125" imgH="781050" progId="Paint.Picture">
                  <p:embed/>
                </p:oleObj>
              </mc:Choice>
              <mc:Fallback>
                <p:oleObj name="" r:id="rId5" imgW="1381125" imgH="781050" progId="Paint.Picture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62400" y="4876800"/>
                        <a:ext cx="2362200" cy="1335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71"/>
          <p:cNvGrpSpPr/>
          <p:nvPr/>
        </p:nvGrpSpPr>
        <p:grpSpPr>
          <a:xfrm>
            <a:off x="4267200" y="6186488"/>
            <a:ext cx="1422400" cy="519112"/>
            <a:chOff x="2688" y="3897"/>
            <a:chExt cx="896" cy="327"/>
          </a:xfrm>
        </p:grpSpPr>
        <p:sp>
          <p:nvSpPr>
            <p:cNvPr id="58402" name="Text Box 62"/>
            <p:cNvSpPr txBox="1"/>
            <p:nvPr/>
          </p:nvSpPr>
          <p:spPr>
            <a:xfrm>
              <a:off x="2688" y="3897"/>
              <a:ext cx="89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F</a:t>
              </a:r>
              <a:r>
                <a:rPr lang="en-US" altLang="zh-CN" sz="2800" b="1" baseline="-25000" dirty="0">
                  <a:solidFill>
                    <a:schemeClr val="tx2"/>
                  </a:solidFill>
                </a:rPr>
                <a:t>2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=A+B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58403" name="Line 63"/>
            <p:cNvSpPr/>
            <p:nvPr/>
          </p:nvSpPr>
          <p:spPr>
            <a:xfrm>
              <a:off x="3120" y="3936"/>
              <a:ext cx="384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7168" name="Text Box 64"/>
          <p:cNvSpPr txBox="1"/>
          <p:nvPr/>
        </p:nvSpPr>
        <p:spPr>
          <a:xfrm>
            <a:off x="6627813" y="4191000"/>
            <a:ext cx="23399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与或非逻辑运算</a:t>
            </a:r>
            <a:endParaRPr lang="zh-CN" altLang="en-US" sz="2400" b="1" dirty="0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47169" name="Object 65"/>
          <p:cNvGraphicFramePr>
            <a:graphicFrameLocks noChangeAspect="1"/>
          </p:cNvGraphicFramePr>
          <p:nvPr/>
        </p:nvGraphicFramePr>
        <p:xfrm>
          <a:off x="6477000" y="4841875"/>
          <a:ext cx="2514600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7" imgW="1800225" imgH="952500" progId="Paint.Picture">
                  <p:embed/>
                </p:oleObj>
              </mc:Choice>
              <mc:Fallback>
                <p:oleObj name="" r:id="rId7" imgW="1800225" imgH="952500" progId="Paint.Picture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77000" y="4841875"/>
                        <a:ext cx="2514600" cy="1330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72"/>
          <p:cNvGrpSpPr/>
          <p:nvPr/>
        </p:nvGrpSpPr>
        <p:grpSpPr>
          <a:xfrm>
            <a:off x="6683375" y="6248400"/>
            <a:ext cx="1936750" cy="519113"/>
            <a:chOff x="4210" y="3936"/>
            <a:chExt cx="1220" cy="327"/>
          </a:xfrm>
        </p:grpSpPr>
        <p:sp>
          <p:nvSpPr>
            <p:cNvPr id="58400" name="Text Box 66"/>
            <p:cNvSpPr txBox="1"/>
            <p:nvPr/>
          </p:nvSpPr>
          <p:spPr>
            <a:xfrm>
              <a:off x="4210" y="3936"/>
              <a:ext cx="122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F</a:t>
              </a:r>
              <a:r>
                <a:rPr lang="en-US" altLang="zh-CN" sz="2800" b="1" baseline="-25000" dirty="0">
                  <a:solidFill>
                    <a:schemeClr val="tx2"/>
                  </a:solidFill>
                </a:rPr>
                <a:t>3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=AB+CD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58401" name="Line 67"/>
            <p:cNvSpPr/>
            <p:nvPr/>
          </p:nvSpPr>
          <p:spPr>
            <a:xfrm>
              <a:off x="4656" y="3984"/>
              <a:ext cx="672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0" dur="500"/>
                                        <p:tgtEl>
                                          <p:spTgt spid="4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7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7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1" dur="500"/>
                                        <p:tgtEl>
                                          <p:spTgt spid="4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 animBg="1"/>
      <p:bldP spid="47118" grpId="0"/>
      <p:bldP spid="47126" grpId="0" animBg="1"/>
      <p:bldP spid="47142" grpId="0" animBg="1"/>
      <p:bldP spid="47143" grpId="0"/>
      <p:bldP spid="47144" grpId="0"/>
      <p:bldP spid="47145" grpId="0"/>
      <p:bldP spid="47146" grpId="0"/>
      <p:bldP spid="47147" grpId="0"/>
      <p:bldP spid="47148" grpId="0"/>
      <p:bldP spid="47149" grpId="0"/>
      <p:bldP spid="47158" grpId="0"/>
      <p:bldP spid="47160" grpId="0"/>
      <p:bldP spid="47163" grpId="0"/>
      <p:bldP spid="4716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Text Box 1026"/>
          <p:cNvSpPr txBox="1"/>
          <p:nvPr/>
        </p:nvSpPr>
        <p:spPr>
          <a:xfrm>
            <a:off x="609600" y="533400"/>
            <a:ext cx="2133600" cy="4572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rgbClr val="808080"/>
            </a:outerShdw>
          </a:effectLst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</a:rPr>
              <a:t>异或运算</a:t>
            </a:r>
            <a:endParaRPr lang="zh-CN" altLang="en-US" sz="2400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2" name="Group 1031"/>
          <p:cNvGrpSpPr/>
          <p:nvPr/>
        </p:nvGrpSpPr>
        <p:grpSpPr>
          <a:xfrm>
            <a:off x="304800" y="1143000"/>
            <a:ext cx="2438400" cy="1981200"/>
            <a:chOff x="4080" y="1008"/>
            <a:chExt cx="1536" cy="1248"/>
          </a:xfrm>
        </p:grpSpPr>
        <p:sp>
          <p:nvSpPr>
            <p:cNvPr id="59488" name="Rectangle 1032"/>
            <p:cNvSpPr/>
            <p:nvPr/>
          </p:nvSpPr>
          <p:spPr>
            <a:xfrm>
              <a:off x="4080" y="1008"/>
              <a:ext cx="1536" cy="124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59489" name="Line 1033"/>
            <p:cNvSpPr/>
            <p:nvPr/>
          </p:nvSpPr>
          <p:spPr>
            <a:xfrm>
              <a:off x="4080" y="1296"/>
              <a:ext cx="15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90" name="Line 1034"/>
            <p:cNvSpPr/>
            <p:nvPr/>
          </p:nvSpPr>
          <p:spPr>
            <a:xfrm>
              <a:off x="5136" y="1008"/>
              <a:ext cx="0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8139" name="Text Box 1035"/>
          <p:cNvSpPr txBox="1"/>
          <p:nvPr/>
        </p:nvSpPr>
        <p:spPr>
          <a:xfrm>
            <a:off x="457200" y="1143000"/>
            <a:ext cx="4413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A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8140" name="Text Box 1036"/>
          <p:cNvSpPr txBox="1"/>
          <p:nvPr/>
        </p:nvSpPr>
        <p:spPr>
          <a:xfrm>
            <a:off x="1295400" y="1143000"/>
            <a:ext cx="4206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B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8141" name="Text Box 1037"/>
          <p:cNvSpPr txBox="1"/>
          <p:nvPr/>
        </p:nvSpPr>
        <p:spPr>
          <a:xfrm>
            <a:off x="2209800" y="11430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F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8142" name="Rectangle 1038"/>
          <p:cNvSpPr/>
          <p:nvPr/>
        </p:nvSpPr>
        <p:spPr>
          <a:xfrm>
            <a:off x="533400" y="2286000"/>
            <a:ext cx="107315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1      0</a:t>
            </a:r>
            <a:endParaRPr lang="en-US" altLang="zh-CN" sz="2800" dirty="0">
              <a:solidFill>
                <a:schemeClr val="tx2"/>
              </a:solidFill>
            </a:endParaRPr>
          </a:p>
        </p:txBody>
      </p:sp>
      <p:sp>
        <p:nvSpPr>
          <p:cNvPr id="48143" name="Text Box 1039"/>
          <p:cNvSpPr txBox="1"/>
          <p:nvPr/>
        </p:nvSpPr>
        <p:spPr>
          <a:xfrm>
            <a:off x="533400" y="2667000"/>
            <a:ext cx="10731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1      1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8144" name="Rectangle 1040"/>
          <p:cNvSpPr/>
          <p:nvPr/>
        </p:nvSpPr>
        <p:spPr>
          <a:xfrm>
            <a:off x="533400" y="1905000"/>
            <a:ext cx="107315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0      1</a:t>
            </a:r>
            <a:endParaRPr lang="en-US" altLang="zh-CN" sz="2800" dirty="0">
              <a:solidFill>
                <a:schemeClr val="tx2"/>
              </a:solidFill>
            </a:endParaRPr>
          </a:p>
        </p:txBody>
      </p:sp>
      <p:sp>
        <p:nvSpPr>
          <p:cNvPr id="48145" name="Rectangle 1041"/>
          <p:cNvSpPr/>
          <p:nvPr/>
        </p:nvSpPr>
        <p:spPr>
          <a:xfrm>
            <a:off x="533400" y="1524000"/>
            <a:ext cx="107315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0      0</a:t>
            </a:r>
            <a:endParaRPr lang="en-US" altLang="zh-CN" sz="2800" dirty="0">
              <a:solidFill>
                <a:schemeClr val="tx2"/>
              </a:solidFill>
            </a:endParaRPr>
          </a:p>
        </p:txBody>
      </p:sp>
      <p:sp>
        <p:nvSpPr>
          <p:cNvPr id="48146" name="Text Box 1042"/>
          <p:cNvSpPr txBox="1"/>
          <p:nvPr/>
        </p:nvSpPr>
        <p:spPr>
          <a:xfrm>
            <a:off x="2152650" y="19050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1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8147" name="Text Box 1043"/>
          <p:cNvSpPr txBox="1"/>
          <p:nvPr/>
        </p:nvSpPr>
        <p:spPr>
          <a:xfrm>
            <a:off x="2152650" y="2300288"/>
            <a:ext cx="3619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1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8148" name="Text Box 1044"/>
          <p:cNvSpPr txBox="1"/>
          <p:nvPr/>
        </p:nvSpPr>
        <p:spPr>
          <a:xfrm>
            <a:off x="2133600" y="2681288"/>
            <a:ext cx="3619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8149" name="Text Box 1045"/>
          <p:cNvSpPr txBox="1"/>
          <p:nvPr/>
        </p:nvSpPr>
        <p:spPr>
          <a:xfrm>
            <a:off x="2152650" y="15240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grpSp>
        <p:nvGrpSpPr>
          <p:cNvPr id="3" name="Group 1057"/>
          <p:cNvGrpSpPr/>
          <p:nvPr/>
        </p:nvGrpSpPr>
        <p:grpSpPr>
          <a:xfrm>
            <a:off x="2895600" y="1295400"/>
            <a:ext cx="2743200" cy="1828800"/>
            <a:chOff x="2208" y="0"/>
            <a:chExt cx="1728" cy="1152"/>
          </a:xfrm>
        </p:grpSpPr>
        <p:grpSp>
          <p:nvGrpSpPr>
            <p:cNvPr id="59483" name="Group 1047"/>
            <p:cNvGrpSpPr/>
            <p:nvPr/>
          </p:nvGrpSpPr>
          <p:grpSpPr>
            <a:xfrm>
              <a:off x="2208" y="0"/>
              <a:ext cx="1728" cy="1152"/>
              <a:chOff x="288" y="2736"/>
              <a:chExt cx="1728" cy="1152"/>
            </a:xfrm>
          </p:grpSpPr>
          <p:sp>
            <p:nvSpPr>
              <p:cNvPr id="59486" name="Text Box 1048"/>
              <p:cNvSpPr txBox="1"/>
              <p:nvPr/>
            </p:nvSpPr>
            <p:spPr>
              <a:xfrm>
                <a:off x="384" y="2784"/>
                <a:ext cx="1632" cy="8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spcBef>
                    <a:spcPct val="0"/>
                  </a:spcBef>
                  <a:buNone/>
                </a:pPr>
                <a:r>
                  <a:rPr lang="zh-CN" altLang="en-US" sz="2800" b="1" dirty="0">
                    <a:latin typeface="宋体" panose="02010600030101010101" pitchFamily="2" charset="-122"/>
                  </a:rPr>
                  <a:t>逻辑表达式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  <a:p>
                <a:pPr marL="0" lvl="0" indent="0" algn="just">
                  <a:spcBef>
                    <a:spcPct val="0"/>
                  </a:spcBef>
                  <a:buNone/>
                </a:pPr>
                <a:endParaRPr lang="zh-CN" altLang="en-US" sz="2800" b="1" dirty="0">
                  <a:latin typeface="宋体" panose="02010600030101010101" pitchFamily="2" charset="-122"/>
                </a:endParaRPr>
              </a:p>
              <a:p>
                <a:pPr marL="0" lvl="0" indent="0" algn="just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latin typeface="宋体" panose="02010600030101010101" pitchFamily="2" charset="-122"/>
                  </a:rPr>
                  <a:t>F=A</a:t>
                </a:r>
                <a:r>
                  <a:rPr lang="en-US" altLang="zh-CN" sz="2800" b="1" dirty="0">
                    <a:solidFill>
                      <a:schemeClr val="accent2"/>
                    </a:solidFill>
                    <a:latin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r>
                  <a:rPr lang="en-US" altLang="zh-CN" sz="2800" b="1" dirty="0">
                    <a:latin typeface="宋体" panose="02010600030101010101" pitchFamily="2" charset="-122"/>
                    <a:sym typeface="Symbol" panose="05050102010706020507" pitchFamily="18" charset="2"/>
                  </a:rPr>
                  <a:t>B=AB+AB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 </a:t>
                </a:r>
                <a:endParaRPr lang="en-US" altLang="zh-CN" sz="24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59487" name="Rectangle 1049"/>
              <p:cNvSpPr/>
              <p:nvPr/>
            </p:nvSpPr>
            <p:spPr>
              <a:xfrm>
                <a:off x="288" y="2736"/>
                <a:ext cx="1728" cy="1152"/>
              </a:xfrm>
              <a:prstGeom prst="rect">
                <a:avLst/>
              </a:prstGeom>
              <a:noFill/>
              <a:ln w="57150" cap="flat" cmpd="thinThick">
                <a:solidFill>
                  <a:srgbClr val="33CC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59484" name="Line 1050"/>
            <p:cNvSpPr/>
            <p:nvPr/>
          </p:nvSpPr>
          <p:spPr>
            <a:xfrm>
              <a:off x="3456" y="624"/>
              <a:ext cx="96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85" name="Line 1056"/>
            <p:cNvSpPr/>
            <p:nvPr/>
          </p:nvSpPr>
          <p:spPr>
            <a:xfrm>
              <a:off x="3216" y="624"/>
              <a:ext cx="96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1145"/>
          <p:cNvGrpSpPr/>
          <p:nvPr/>
        </p:nvGrpSpPr>
        <p:grpSpPr>
          <a:xfrm>
            <a:off x="5911850" y="1828800"/>
            <a:ext cx="2946400" cy="1143000"/>
            <a:chOff x="3724" y="1152"/>
            <a:chExt cx="1856" cy="720"/>
          </a:xfrm>
        </p:grpSpPr>
        <p:sp>
          <p:nvSpPr>
            <p:cNvPr id="59467" name="Rectangle 1065"/>
            <p:cNvSpPr/>
            <p:nvPr/>
          </p:nvSpPr>
          <p:spPr>
            <a:xfrm>
              <a:off x="4397" y="1200"/>
              <a:ext cx="450" cy="67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grpSp>
          <p:nvGrpSpPr>
            <p:cNvPr id="59468" name="Group 1066"/>
            <p:cNvGrpSpPr/>
            <p:nvPr/>
          </p:nvGrpSpPr>
          <p:grpSpPr>
            <a:xfrm>
              <a:off x="3724" y="1152"/>
              <a:ext cx="673" cy="327"/>
              <a:chOff x="3097" y="3216"/>
              <a:chExt cx="791" cy="327"/>
            </a:xfrm>
          </p:grpSpPr>
          <p:grpSp>
            <p:nvGrpSpPr>
              <p:cNvPr id="59479" name="Group 1067"/>
              <p:cNvGrpSpPr/>
              <p:nvPr/>
            </p:nvGrpSpPr>
            <p:grpSpPr>
              <a:xfrm>
                <a:off x="3456" y="3360"/>
                <a:ext cx="432" cy="96"/>
                <a:chOff x="2208" y="3360"/>
                <a:chExt cx="432" cy="96"/>
              </a:xfrm>
            </p:grpSpPr>
            <p:sp>
              <p:nvSpPr>
                <p:cNvPr id="59481" name="Line 1068"/>
                <p:cNvSpPr/>
                <p:nvPr/>
              </p:nvSpPr>
              <p:spPr>
                <a:xfrm>
                  <a:off x="2304" y="3408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9482" name="Oval 1069"/>
                <p:cNvSpPr/>
                <p:nvPr/>
              </p:nvSpPr>
              <p:spPr>
                <a:xfrm>
                  <a:off x="2208" y="3360"/>
                  <a:ext cx="96" cy="96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2"/>
                    </a:solidFill>
                  </a:endParaRPr>
                </a:p>
              </p:txBody>
            </p:sp>
          </p:grpSp>
          <p:sp>
            <p:nvSpPr>
              <p:cNvPr id="59480" name="Text Box 1070"/>
              <p:cNvSpPr txBox="1"/>
              <p:nvPr/>
            </p:nvSpPr>
            <p:spPr>
              <a:xfrm>
                <a:off x="3097" y="3216"/>
                <a:ext cx="32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chemeClr val="tx2"/>
                    </a:solidFill>
                  </a:rPr>
                  <a:t>A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59469" name="Group 1071"/>
            <p:cNvGrpSpPr/>
            <p:nvPr/>
          </p:nvGrpSpPr>
          <p:grpSpPr>
            <a:xfrm>
              <a:off x="3725" y="1536"/>
              <a:ext cx="672" cy="327"/>
              <a:chOff x="3098" y="3600"/>
              <a:chExt cx="790" cy="327"/>
            </a:xfrm>
          </p:grpSpPr>
          <p:grpSp>
            <p:nvGrpSpPr>
              <p:cNvPr id="59475" name="Group 1072"/>
              <p:cNvGrpSpPr/>
              <p:nvPr/>
            </p:nvGrpSpPr>
            <p:grpSpPr>
              <a:xfrm>
                <a:off x="3456" y="3744"/>
                <a:ext cx="432" cy="96"/>
                <a:chOff x="2208" y="3360"/>
                <a:chExt cx="432" cy="96"/>
              </a:xfrm>
            </p:grpSpPr>
            <p:sp>
              <p:nvSpPr>
                <p:cNvPr id="59477" name="Line 1073"/>
                <p:cNvSpPr/>
                <p:nvPr/>
              </p:nvSpPr>
              <p:spPr>
                <a:xfrm>
                  <a:off x="2304" y="3408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9478" name="Oval 1074"/>
                <p:cNvSpPr/>
                <p:nvPr/>
              </p:nvSpPr>
              <p:spPr>
                <a:xfrm>
                  <a:off x="2208" y="3360"/>
                  <a:ext cx="96" cy="96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2"/>
                    </a:solidFill>
                  </a:endParaRPr>
                </a:p>
              </p:txBody>
            </p:sp>
          </p:grpSp>
          <p:sp>
            <p:nvSpPr>
              <p:cNvPr id="59476" name="Text Box 1075"/>
              <p:cNvSpPr txBox="1"/>
              <p:nvPr/>
            </p:nvSpPr>
            <p:spPr>
              <a:xfrm>
                <a:off x="3098" y="3600"/>
                <a:ext cx="31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chemeClr val="tx2"/>
                    </a:solidFill>
                  </a:rPr>
                  <a:t>B</a:t>
                </a:r>
                <a:endParaRPr lang="en-US" altLang="zh-CN" sz="4400" b="1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59470" name="Group 1076"/>
            <p:cNvGrpSpPr/>
            <p:nvPr/>
          </p:nvGrpSpPr>
          <p:grpSpPr>
            <a:xfrm>
              <a:off x="4847" y="1344"/>
              <a:ext cx="733" cy="327"/>
              <a:chOff x="4416" y="3408"/>
              <a:chExt cx="861" cy="327"/>
            </a:xfrm>
          </p:grpSpPr>
          <p:grpSp>
            <p:nvGrpSpPr>
              <p:cNvPr id="59471" name="Group 1077"/>
              <p:cNvGrpSpPr/>
              <p:nvPr/>
            </p:nvGrpSpPr>
            <p:grpSpPr>
              <a:xfrm>
                <a:off x="4416" y="3552"/>
                <a:ext cx="432" cy="96"/>
                <a:chOff x="2496" y="3552"/>
                <a:chExt cx="432" cy="96"/>
              </a:xfrm>
            </p:grpSpPr>
            <p:sp>
              <p:nvSpPr>
                <p:cNvPr id="59473" name="Line 1078"/>
                <p:cNvSpPr/>
                <p:nvPr/>
              </p:nvSpPr>
              <p:spPr>
                <a:xfrm>
                  <a:off x="2496" y="3600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9474" name="Oval 1079"/>
                <p:cNvSpPr/>
                <p:nvPr/>
              </p:nvSpPr>
              <p:spPr>
                <a:xfrm>
                  <a:off x="2832" y="3552"/>
                  <a:ext cx="96" cy="96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2"/>
                    </a:solidFill>
                  </a:endParaRPr>
                </a:p>
              </p:txBody>
            </p:sp>
          </p:grpSp>
          <p:sp>
            <p:nvSpPr>
              <p:cNvPr id="59472" name="Text Box 1080"/>
              <p:cNvSpPr txBox="1"/>
              <p:nvPr/>
            </p:nvSpPr>
            <p:spPr>
              <a:xfrm>
                <a:off x="4994" y="3408"/>
                <a:ext cx="283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tx2"/>
                    </a:solidFill>
                  </a:rPr>
                  <a:t>F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</p:grpSp>
      </p:grpSp>
      <p:sp>
        <p:nvSpPr>
          <p:cNvPr id="48185" name="Text Box 1081"/>
          <p:cNvSpPr txBox="1"/>
          <p:nvPr/>
        </p:nvSpPr>
        <p:spPr>
          <a:xfrm>
            <a:off x="7010400" y="1828800"/>
            <a:ext cx="685800" cy="5794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2"/>
                </a:solidFill>
                <a:sym typeface="Symbol" panose="05050102010706020507" pitchFamily="18" charset="2"/>
              </a:rPr>
              <a:t>=1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grpSp>
        <p:nvGrpSpPr>
          <p:cNvPr id="12" name="Group 1082"/>
          <p:cNvGrpSpPr/>
          <p:nvPr/>
        </p:nvGrpSpPr>
        <p:grpSpPr>
          <a:xfrm>
            <a:off x="5791200" y="1295400"/>
            <a:ext cx="3048000" cy="1828800"/>
            <a:chOff x="2928" y="2880"/>
            <a:chExt cx="2256" cy="1152"/>
          </a:xfrm>
        </p:grpSpPr>
        <p:sp>
          <p:nvSpPr>
            <p:cNvPr id="59465" name="Text Box 1083"/>
            <p:cNvSpPr txBox="1"/>
            <p:nvPr/>
          </p:nvSpPr>
          <p:spPr>
            <a:xfrm>
              <a:off x="2977" y="2928"/>
              <a:ext cx="11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chemeClr val="tx2"/>
                  </a:solidFill>
                </a:rPr>
                <a:t>逻辑符号</a:t>
              </a:r>
              <a:endParaRPr lang="zh-CN" altLang="en-US" sz="4400" dirty="0">
                <a:solidFill>
                  <a:schemeClr val="tx2"/>
                </a:solidFill>
              </a:endParaRPr>
            </a:p>
          </p:txBody>
        </p:sp>
        <p:sp>
          <p:nvSpPr>
            <p:cNvPr id="59466" name="Rectangle 1084"/>
            <p:cNvSpPr/>
            <p:nvPr/>
          </p:nvSpPr>
          <p:spPr>
            <a:xfrm>
              <a:off x="2928" y="2880"/>
              <a:ext cx="2256" cy="1152"/>
            </a:xfrm>
            <a:prstGeom prst="rect">
              <a:avLst/>
            </a:prstGeom>
            <a:noFill/>
            <a:ln w="57150" cap="flat" cmpd="thickThin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3" name="Group 1140"/>
          <p:cNvGrpSpPr/>
          <p:nvPr/>
        </p:nvGrpSpPr>
        <p:grpSpPr>
          <a:xfrm>
            <a:off x="304800" y="4343400"/>
            <a:ext cx="2438400" cy="2057400"/>
            <a:chOff x="192" y="2736"/>
            <a:chExt cx="1536" cy="1296"/>
          </a:xfrm>
        </p:grpSpPr>
        <p:grpSp>
          <p:nvGrpSpPr>
            <p:cNvPr id="59450" name="Group 1086"/>
            <p:cNvGrpSpPr/>
            <p:nvPr/>
          </p:nvGrpSpPr>
          <p:grpSpPr>
            <a:xfrm>
              <a:off x="192" y="2736"/>
              <a:ext cx="1536" cy="1248"/>
              <a:chOff x="4080" y="1008"/>
              <a:chExt cx="1536" cy="1248"/>
            </a:xfrm>
          </p:grpSpPr>
          <p:sp>
            <p:nvSpPr>
              <p:cNvPr id="59462" name="Rectangle 1087"/>
              <p:cNvSpPr/>
              <p:nvPr/>
            </p:nvSpPr>
            <p:spPr>
              <a:xfrm>
                <a:off x="4080" y="1008"/>
                <a:ext cx="1536" cy="124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59463" name="Line 1088"/>
              <p:cNvSpPr/>
              <p:nvPr/>
            </p:nvSpPr>
            <p:spPr>
              <a:xfrm>
                <a:off x="4080" y="1296"/>
                <a:ext cx="15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64" name="Line 1089"/>
              <p:cNvSpPr/>
              <p:nvPr/>
            </p:nvSpPr>
            <p:spPr>
              <a:xfrm>
                <a:off x="5136" y="1008"/>
                <a:ext cx="0" cy="124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9451" name="Text Box 1090"/>
            <p:cNvSpPr txBox="1"/>
            <p:nvPr/>
          </p:nvSpPr>
          <p:spPr>
            <a:xfrm>
              <a:off x="288" y="2736"/>
              <a:ext cx="2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tx2"/>
                  </a:solidFill>
                </a:rPr>
                <a:t>A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59452" name="Text Box 1091"/>
            <p:cNvSpPr txBox="1"/>
            <p:nvPr/>
          </p:nvSpPr>
          <p:spPr>
            <a:xfrm>
              <a:off x="816" y="2736"/>
              <a:ext cx="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tx2"/>
                  </a:solidFill>
                </a:rPr>
                <a:t>B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59453" name="Text Box 1092"/>
            <p:cNvSpPr txBox="1"/>
            <p:nvPr/>
          </p:nvSpPr>
          <p:spPr>
            <a:xfrm>
              <a:off x="1392" y="2736"/>
              <a:ext cx="2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tx2"/>
                  </a:solidFill>
                </a:rPr>
                <a:t>F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59454" name="Rectangle 1093"/>
            <p:cNvSpPr/>
            <p:nvPr/>
          </p:nvSpPr>
          <p:spPr>
            <a:xfrm>
              <a:off x="336" y="3456"/>
              <a:ext cx="6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tx2"/>
                  </a:solidFill>
                </a:rPr>
                <a:t>1      0</a:t>
              </a:r>
              <a:endParaRPr lang="en-US" altLang="zh-CN" sz="2800" dirty="0">
                <a:solidFill>
                  <a:schemeClr val="tx2"/>
                </a:solidFill>
              </a:endParaRPr>
            </a:p>
          </p:txBody>
        </p:sp>
        <p:sp>
          <p:nvSpPr>
            <p:cNvPr id="59455" name="Text Box 1094"/>
            <p:cNvSpPr txBox="1"/>
            <p:nvPr/>
          </p:nvSpPr>
          <p:spPr>
            <a:xfrm>
              <a:off x="336" y="3696"/>
              <a:ext cx="6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tx2"/>
                  </a:solidFill>
                </a:rPr>
                <a:t>1      1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59456" name="Rectangle 1095"/>
            <p:cNvSpPr/>
            <p:nvPr/>
          </p:nvSpPr>
          <p:spPr>
            <a:xfrm>
              <a:off x="336" y="3216"/>
              <a:ext cx="6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tx2"/>
                  </a:solidFill>
                </a:rPr>
                <a:t>0      1</a:t>
              </a:r>
              <a:endParaRPr lang="en-US" altLang="zh-CN" sz="2800" dirty="0">
                <a:solidFill>
                  <a:schemeClr val="tx2"/>
                </a:solidFill>
              </a:endParaRPr>
            </a:p>
          </p:txBody>
        </p:sp>
        <p:sp>
          <p:nvSpPr>
            <p:cNvPr id="59457" name="Rectangle 1096"/>
            <p:cNvSpPr/>
            <p:nvPr/>
          </p:nvSpPr>
          <p:spPr>
            <a:xfrm>
              <a:off x="336" y="2976"/>
              <a:ext cx="6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tx2"/>
                  </a:solidFill>
                </a:rPr>
                <a:t>0      0</a:t>
              </a:r>
              <a:endParaRPr lang="en-US" altLang="zh-CN" sz="2800" dirty="0">
                <a:solidFill>
                  <a:schemeClr val="tx2"/>
                </a:solidFill>
              </a:endParaRPr>
            </a:p>
          </p:txBody>
        </p:sp>
        <p:sp>
          <p:nvSpPr>
            <p:cNvPr id="59458" name="Text Box 1097"/>
            <p:cNvSpPr txBox="1"/>
            <p:nvPr/>
          </p:nvSpPr>
          <p:spPr>
            <a:xfrm>
              <a:off x="1356" y="3216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59459" name="Text Box 1098"/>
            <p:cNvSpPr txBox="1"/>
            <p:nvPr/>
          </p:nvSpPr>
          <p:spPr>
            <a:xfrm>
              <a:off x="1356" y="3465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59460" name="Text Box 1099"/>
            <p:cNvSpPr txBox="1"/>
            <p:nvPr/>
          </p:nvSpPr>
          <p:spPr>
            <a:xfrm>
              <a:off x="1344" y="3705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59461" name="Text Box 1100"/>
            <p:cNvSpPr txBox="1"/>
            <p:nvPr/>
          </p:nvSpPr>
          <p:spPr>
            <a:xfrm>
              <a:off x="1356" y="2976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sp>
        <p:nvSpPr>
          <p:cNvPr id="48232" name="Text Box 1128"/>
          <p:cNvSpPr txBox="1"/>
          <p:nvPr/>
        </p:nvSpPr>
        <p:spPr>
          <a:xfrm>
            <a:off x="609600" y="3505200"/>
            <a:ext cx="2133600" cy="4572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rgbClr val="808080"/>
            </a:outerShdw>
          </a:effectLst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CC0000"/>
                </a:solidFill>
                <a:latin typeface="宋体" panose="02010600030101010101" pitchFamily="2" charset="-122"/>
              </a:rPr>
              <a:t>同或运算</a:t>
            </a:r>
            <a:endParaRPr lang="zh-CN" altLang="en-US" sz="2400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15" name="Group 1144"/>
          <p:cNvGrpSpPr/>
          <p:nvPr/>
        </p:nvGrpSpPr>
        <p:grpSpPr>
          <a:xfrm>
            <a:off x="2819400" y="4419600"/>
            <a:ext cx="2743200" cy="1828800"/>
            <a:chOff x="1776" y="2784"/>
            <a:chExt cx="1728" cy="1152"/>
          </a:xfrm>
        </p:grpSpPr>
        <p:grpSp>
          <p:nvGrpSpPr>
            <p:cNvPr id="59443" name="Group 1135"/>
            <p:cNvGrpSpPr/>
            <p:nvPr/>
          </p:nvGrpSpPr>
          <p:grpSpPr>
            <a:xfrm>
              <a:off x="1776" y="2784"/>
              <a:ext cx="1728" cy="1152"/>
              <a:chOff x="1776" y="2784"/>
              <a:chExt cx="1728" cy="1152"/>
            </a:xfrm>
          </p:grpSpPr>
          <p:grpSp>
            <p:nvGrpSpPr>
              <p:cNvPr id="59445" name="Group 1102"/>
              <p:cNvGrpSpPr/>
              <p:nvPr/>
            </p:nvGrpSpPr>
            <p:grpSpPr>
              <a:xfrm>
                <a:off x="1776" y="2784"/>
                <a:ext cx="1728" cy="1152"/>
                <a:chOff x="288" y="2736"/>
                <a:chExt cx="1728" cy="1152"/>
              </a:xfrm>
            </p:grpSpPr>
            <p:sp>
              <p:nvSpPr>
                <p:cNvPr id="59448" name="Text Box 1103"/>
                <p:cNvSpPr txBox="1"/>
                <p:nvPr/>
              </p:nvSpPr>
              <p:spPr>
                <a:xfrm>
                  <a:off x="384" y="2784"/>
                  <a:ext cx="1632" cy="86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just">
                    <a:spcBef>
                      <a:spcPct val="0"/>
                    </a:spcBef>
                    <a:buNone/>
                  </a:pPr>
                  <a:r>
                    <a:rPr lang="zh-CN" altLang="en-US" sz="2800" b="1" dirty="0">
                      <a:latin typeface="宋体" panose="02010600030101010101" pitchFamily="2" charset="-122"/>
                    </a:rPr>
                    <a:t>逻辑表达式</a:t>
                  </a:r>
                  <a:endParaRPr lang="zh-CN" altLang="en-US" sz="2800" b="1" dirty="0">
                    <a:latin typeface="宋体" panose="02010600030101010101" pitchFamily="2" charset="-122"/>
                  </a:endParaRPr>
                </a:p>
                <a:p>
                  <a:pPr marL="0" lvl="0" indent="0" algn="just">
                    <a:spcBef>
                      <a:spcPct val="0"/>
                    </a:spcBef>
                    <a:buNone/>
                  </a:pPr>
                  <a:endParaRPr lang="zh-CN" altLang="en-US" sz="2800" b="1" dirty="0">
                    <a:latin typeface="宋体" panose="02010600030101010101" pitchFamily="2" charset="-122"/>
                  </a:endParaRPr>
                </a:p>
                <a:p>
                  <a:pPr marL="0" lvl="0" indent="0" algn="just">
                    <a:spcBef>
                      <a:spcPct val="0"/>
                    </a:spcBef>
                    <a:buNone/>
                  </a:pPr>
                  <a:r>
                    <a:rPr lang="en-US" altLang="zh-CN" sz="2800" b="1" dirty="0">
                      <a:latin typeface="宋体" panose="02010600030101010101" pitchFamily="2" charset="-122"/>
                    </a:rPr>
                    <a:t>F=A  </a:t>
                  </a:r>
                  <a:r>
                    <a:rPr lang="en-US" altLang="zh-CN" sz="2800" b="1" dirty="0">
                      <a:latin typeface="宋体" panose="02010600030101010101" pitchFamily="2" charset="-122"/>
                      <a:sym typeface="Symbol" panose="05050102010706020507" pitchFamily="18" charset="2"/>
                    </a:rPr>
                    <a:t>B= </a:t>
                  </a:r>
                  <a:r>
                    <a:rPr lang="en-US" altLang="zh-CN" sz="2800" b="1" dirty="0">
                      <a:latin typeface="宋体" panose="02010600030101010101" pitchFamily="2" charset="-122"/>
                    </a:rPr>
                    <a:t>A</a:t>
                  </a:r>
                  <a:r>
                    <a:rPr lang="en-US" altLang="zh-CN" sz="2800" b="1" dirty="0">
                      <a:solidFill>
                        <a:schemeClr val="accent2"/>
                      </a:solidFill>
                      <a:latin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r>
                    <a:rPr lang="en-US" altLang="zh-CN" sz="2800" b="1" dirty="0">
                      <a:latin typeface="宋体" panose="02010600030101010101" pitchFamily="2" charset="-122"/>
                      <a:sym typeface="Symbol" panose="05050102010706020507" pitchFamily="18" charset="2"/>
                    </a:rPr>
                    <a:t>B</a:t>
                  </a:r>
                  <a:r>
                    <a:rPr lang="en-US" altLang="zh-CN" sz="2800" b="1" dirty="0">
                      <a:latin typeface="宋体" panose="02010600030101010101" pitchFamily="2" charset="-122"/>
                    </a:rPr>
                    <a:t> </a:t>
                  </a:r>
                  <a:endParaRPr lang="en-US" altLang="zh-CN" sz="2800" b="1" dirty="0">
                    <a:latin typeface="宋体" panose="02010600030101010101" pitchFamily="2" charset="-122"/>
                  </a:endParaRPr>
                </a:p>
              </p:txBody>
            </p:sp>
            <p:sp>
              <p:nvSpPr>
                <p:cNvPr id="59449" name="Rectangle 1104"/>
                <p:cNvSpPr/>
                <p:nvPr/>
              </p:nvSpPr>
              <p:spPr>
                <a:xfrm>
                  <a:off x="288" y="2736"/>
                  <a:ext cx="1728" cy="1152"/>
                </a:xfrm>
                <a:prstGeom prst="rect">
                  <a:avLst/>
                </a:prstGeom>
                <a:noFill/>
                <a:ln w="57150" cap="flat" cmpd="thinThick">
                  <a:solidFill>
                    <a:srgbClr val="33CCCC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2"/>
                    </a:solidFill>
                  </a:endParaRPr>
                </a:p>
              </p:txBody>
            </p:sp>
          </p:grpSp>
          <p:sp>
            <p:nvSpPr>
              <p:cNvPr id="59446" name="Oval 1129"/>
              <p:cNvSpPr/>
              <p:nvPr/>
            </p:nvSpPr>
            <p:spPr>
              <a:xfrm>
                <a:off x="2304" y="3456"/>
                <a:ext cx="144" cy="144"/>
              </a:xfrm>
              <a:prstGeom prst="ellipse">
                <a:avLst/>
              </a:prstGeom>
              <a:noFill/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59447" name="Oval 1132"/>
              <p:cNvSpPr/>
              <p:nvPr/>
            </p:nvSpPr>
            <p:spPr>
              <a:xfrm>
                <a:off x="2352" y="3504"/>
                <a:ext cx="48" cy="48"/>
              </a:xfrm>
              <a:prstGeom prst="ellipse">
                <a:avLst/>
              </a:prstGeom>
              <a:solidFill>
                <a:schemeClr val="tx2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59444" name="Line 1136"/>
            <p:cNvSpPr/>
            <p:nvPr/>
          </p:nvSpPr>
          <p:spPr>
            <a:xfrm>
              <a:off x="2832" y="3408"/>
              <a:ext cx="38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8" name="Group 1143"/>
          <p:cNvGrpSpPr/>
          <p:nvPr/>
        </p:nvGrpSpPr>
        <p:grpSpPr>
          <a:xfrm>
            <a:off x="5791200" y="4419600"/>
            <a:ext cx="2992438" cy="1828800"/>
            <a:chOff x="3648" y="2832"/>
            <a:chExt cx="1885" cy="1152"/>
          </a:xfrm>
        </p:grpSpPr>
        <p:sp>
          <p:nvSpPr>
            <p:cNvPr id="59423" name="Rectangle 1108"/>
            <p:cNvSpPr/>
            <p:nvPr/>
          </p:nvSpPr>
          <p:spPr>
            <a:xfrm>
              <a:off x="4397" y="3216"/>
              <a:ext cx="450" cy="67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grpSp>
          <p:nvGrpSpPr>
            <p:cNvPr id="59424" name="Group 1109"/>
            <p:cNvGrpSpPr/>
            <p:nvPr/>
          </p:nvGrpSpPr>
          <p:grpSpPr>
            <a:xfrm>
              <a:off x="3724" y="3216"/>
              <a:ext cx="673" cy="327"/>
              <a:chOff x="3097" y="3216"/>
              <a:chExt cx="791" cy="327"/>
            </a:xfrm>
          </p:grpSpPr>
          <p:grpSp>
            <p:nvGrpSpPr>
              <p:cNvPr id="59439" name="Group 1110"/>
              <p:cNvGrpSpPr/>
              <p:nvPr/>
            </p:nvGrpSpPr>
            <p:grpSpPr>
              <a:xfrm>
                <a:off x="3456" y="3360"/>
                <a:ext cx="432" cy="96"/>
                <a:chOff x="2208" y="3360"/>
                <a:chExt cx="432" cy="96"/>
              </a:xfrm>
            </p:grpSpPr>
            <p:sp>
              <p:nvSpPr>
                <p:cNvPr id="59441" name="Line 1111"/>
                <p:cNvSpPr/>
                <p:nvPr/>
              </p:nvSpPr>
              <p:spPr>
                <a:xfrm>
                  <a:off x="2304" y="3408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9442" name="Oval 1112"/>
                <p:cNvSpPr/>
                <p:nvPr/>
              </p:nvSpPr>
              <p:spPr>
                <a:xfrm>
                  <a:off x="2208" y="3360"/>
                  <a:ext cx="96" cy="96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2"/>
                    </a:solidFill>
                  </a:endParaRPr>
                </a:p>
              </p:txBody>
            </p:sp>
          </p:grpSp>
          <p:sp>
            <p:nvSpPr>
              <p:cNvPr id="59440" name="Text Box 1113"/>
              <p:cNvSpPr txBox="1"/>
              <p:nvPr/>
            </p:nvSpPr>
            <p:spPr>
              <a:xfrm>
                <a:off x="3097" y="3216"/>
                <a:ext cx="32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chemeClr val="tx2"/>
                    </a:solidFill>
                  </a:rPr>
                  <a:t>A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59425" name="Group 1114"/>
            <p:cNvGrpSpPr/>
            <p:nvPr/>
          </p:nvGrpSpPr>
          <p:grpSpPr>
            <a:xfrm>
              <a:off x="3725" y="3552"/>
              <a:ext cx="672" cy="327"/>
              <a:chOff x="3098" y="3600"/>
              <a:chExt cx="790" cy="327"/>
            </a:xfrm>
          </p:grpSpPr>
          <p:grpSp>
            <p:nvGrpSpPr>
              <p:cNvPr id="59435" name="Group 1115"/>
              <p:cNvGrpSpPr/>
              <p:nvPr/>
            </p:nvGrpSpPr>
            <p:grpSpPr>
              <a:xfrm>
                <a:off x="3456" y="3744"/>
                <a:ext cx="432" cy="96"/>
                <a:chOff x="2208" y="3360"/>
                <a:chExt cx="432" cy="96"/>
              </a:xfrm>
            </p:grpSpPr>
            <p:sp>
              <p:nvSpPr>
                <p:cNvPr id="59437" name="Line 1116"/>
                <p:cNvSpPr/>
                <p:nvPr/>
              </p:nvSpPr>
              <p:spPr>
                <a:xfrm>
                  <a:off x="2304" y="3408"/>
                  <a:ext cx="33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9438" name="Oval 1117"/>
                <p:cNvSpPr/>
                <p:nvPr/>
              </p:nvSpPr>
              <p:spPr>
                <a:xfrm>
                  <a:off x="2208" y="3360"/>
                  <a:ext cx="96" cy="96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2"/>
                    </a:solidFill>
                  </a:endParaRPr>
                </a:p>
              </p:txBody>
            </p:sp>
          </p:grpSp>
          <p:sp>
            <p:nvSpPr>
              <p:cNvPr id="59436" name="Text Box 1118"/>
              <p:cNvSpPr txBox="1"/>
              <p:nvPr/>
            </p:nvSpPr>
            <p:spPr>
              <a:xfrm>
                <a:off x="3098" y="3600"/>
                <a:ext cx="31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chemeClr val="tx2"/>
                    </a:solidFill>
                  </a:rPr>
                  <a:t>B</a:t>
                </a:r>
                <a:endParaRPr lang="en-US" altLang="zh-CN" sz="4400" b="1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59426" name="Group 1120"/>
            <p:cNvGrpSpPr/>
            <p:nvPr/>
          </p:nvGrpSpPr>
          <p:grpSpPr>
            <a:xfrm>
              <a:off x="4960" y="3504"/>
              <a:ext cx="368" cy="96"/>
              <a:chOff x="2496" y="3552"/>
              <a:chExt cx="432" cy="96"/>
            </a:xfrm>
          </p:grpSpPr>
          <p:sp>
            <p:nvSpPr>
              <p:cNvPr id="59433" name="Line 1121"/>
              <p:cNvSpPr/>
              <p:nvPr/>
            </p:nvSpPr>
            <p:spPr>
              <a:xfrm>
                <a:off x="2496" y="3600"/>
                <a:ext cx="33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34" name="Oval 1122"/>
              <p:cNvSpPr/>
              <p:nvPr/>
            </p:nvSpPr>
            <p:spPr>
              <a:xfrm>
                <a:off x="2832" y="3552"/>
                <a:ext cx="96" cy="96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59427" name="Text Box 1123"/>
            <p:cNvSpPr txBox="1"/>
            <p:nvPr/>
          </p:nvSpPr>
          <p:spPr>
            <a:xfrm>
              <a:off x="5292" y="3360"/>
              <a:ext cx="2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tx2"/>
                  </a:solidFill>
                </a:rPr>
                <a:t>F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59428" name="Text Box 1124"/>
            <p:cNvSpPr txBox="1"/>
            <p:nvPr/>
          </p:nvSpPr>
          <p:spPr>
            <a:xfrm>
              <a:off x="4416" y="3168"/>
              <a:ext cx="43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b="1" dirty="0">
                  <a:solidFill>
                    <a:schemeClr val="accent2"/>
                  </a:solidFill>
                  <a:sym typeface="Symbol" panose="05050102010706020507" pitchFamily="18" charset="2"/>
                </a:rPr>
                <a:t>=1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grpSp>
          <p:nvGrpSpPr>
            <p:cNvPr id="59429" name="Group 1125"/>
            <p:cNvGrpSpPr/>
            <p:nvPr/>
          </p:nvGrpSpPr>
          <p:grpSpPr>
            <a:xfrm>
              <a:off x="3648" y="2832"/>
              <a:ext cx="1872" cy="1152"/>
              <a:chOff x="2928" y="2880"/>
              <a:chExt cx="2256" cy="1152"/>
            </a:xfrm>
          </p:grpSpPr>
          <p:sp>
            <p:nvSpPr>
              <p:cNvPr id="59431" name="Text Box 1126"/>
              <p:cNvSpPr txBox="1"/>
              <p:nvPr/>
            </p:nvSpPr>
            <p:spPr>
              <a:xfrm>
                <a:off x="2963" y="2928"/>
                <a:ext cx="1229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CN" altLang="en-US" sz="2800" b="1" dirty="0">
                    <a:solidFill>
                      <a:schemeClr val="tx2"/>
                    </a:solidFill>
                  </a:rPr>
                  <a:t>逻辑符号</a:t>
                </a:r>
                <a:endParaRPr lang="zh-CN" altLang="en-US" sz="4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59432" name="Rectangle 1127"/>
              <p:cNvSpPr/>
              <p:nvPr/>
            </p:nvSpPr>
            <p:spPr>
              <a:xfrm>
                <a:off x="2928" y="2880"/>
                <a:ext cx="2256" cy="1152"/>
              </a:xfrm>
              <a:prstGeom prst="rect">
                <a:avLst/>
              </a:prstGeom>
              <a:noFill/>
              <a:ln w="57150" cap="flat" cmpd="thickThin">
                <a:solidFill>
                  <a:srgbClr val="33CC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59430" name="Oval 1142"/>
            <p:cNvSpPr/>
            <p:nvPr/>
          </p:nvSpPr>
          <p:spPr>
            <a:xfrm flipV="1">
              <a:off x="4848" y="3504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25" name="Group 1058"/>
          <p:cNvGrpSpPr/>
          <p:nvPr/>
        </p:nvGrpSpPr>
        <p:grpSpPr>
          <a:xfrm>
            <a:off x="3962400" y="914400"/>
            <a:ext cx="2743200" cy="1143000"/>
            <a:chOff x="1200" y="2544"/>
            <a:chExt cx="2832" cy="720"/>
          </a:xfrm>
        </p:grpSpPr>
        <p:sp>
          <p:nvSpPr>
            <p:cNvPr id="59421" name="AutoShape 1059"/>
            <p:cNvSpPr/>
            <p:nvPr/>
          </p:nvSpPr>
          <p:spPr>
            <a:xfrm>
              <a:off x="1200" y="2544"/>
              <a:ext cx="2832" cy="720"/>
            </a:xfrm>
            <a:prstGeom prst="wedgeRoundRectCallout">
              <a:avLst>
                <a:gd name="adj1" fmla="val -55190"/>
                <a:gd name="adj2" fmla="val 74722"/>
                <a:gd name="adj3" fmla="val 16667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59422" name="Text Box 1060"/>
            <p:cNvSpPr txBox="1"/>
            <p:nvPr/>
          </p:nvSpPr>
          <p:spPr>
            <a:xfrm>
              <a:off x="1344" y="2688"/>
              <a:ext cx="2640" cy="51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“</a:t>
              </a:r>
              <a:r>
                <a:rPr lang="en-US" altLang="zh-CN" sz="2400" b="1" dirty="0">
                  <a:solidFill>
                    <a:schemeClr val="accent2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</a:t>
              </a:r>
              <a:r>
                <a:rPr lang="en-US" altLang="zh-CN" sz="2400" b="1" dirty="0"/>
                <a:t>”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异或逻辑运算符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26" name="Group 1137"/>
          <p:cNvGrpSpPr/>
          <p:nvPr/>
        </p:nvGrpSpPr>
        <p:grpSpPr>
          <a:xfrm>
            <a:off x="3962400" y="4038600"/>
            <a:ext cx="2743200" cy="1143000"/>
            <a:chOff x="1200" y="2544"/>
            <a:chExt cx="2832" cy="720"/>
          </a:xfrm>
        </p:grpSpPr>
        <p:sp>
          <p:nvSpPr>
            <p:cNvPr id="59419" name="AutoShape 1138"/>
            <p:cNvSpPr/>
            <p:nvPr/>
          </p:nvSpPr>
          <p:spPr>
            <a:xfrm>
              <a:off x="1200" y="2544"/>
              <a:ext cx="2832" cy="720"/>
            </a:xfrm>
            <a:prstGeom prst="wedgeRoundRectCallout">
              <a:avLst>
                <a:gd name="adj1" fmla="val -55190"/>
                <a:gd name="adj2" fmla="val 74722"/>
                <a:gd name="adj3" fmla="val 16667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59420" name="Text Box 1139"/>
            <p:cNvSpPr txBox="1"/>
            <p:nvPr/>
          </p:nvSpPr>
          <p:spPr>
            <a:xfrm>
              <a:off x="1344" y="2688"/>
              <a:ext cx="2640" cy="51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“</a:t>
              </a:r>
              <a:r>
                <a:rPr lang="en-US" altLang="zh-CN" sz="2400" b="1" dirty="0">
                  <a:solidFill>
                    <a:schemeClr val="accent2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⊙</a:t>
              </a:r>
              <a:r>
                <a:rPr lang="en-US" altLang="zh-CN" sz="2400" b="1" dirty="0"/>
                <a:t>”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同或逻辑运算符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pic>
        <p:nvPicPr>
          <p:cNvPr id="59417" name="Picture 1147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3810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9418" name="Text Box 1148">
            <a:hlinkClick r:id="rId1" action="ppaction://hlinksldjump"/>
          </p:cNvPr>
          <p:cNvSpPr txBox="1"/>
          <p:nvPr/>
        </p:nvSpPr>
        <p:spPr>
          <a:xfrm>
            <a:off x="7740650" y="4572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5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75"/>
                                        <p:tgtEl>
                                          <p:spTgt spid="48145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4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75"/>
                                        <p:tgtEl>
                                          <p:spTgt spid="4814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5" dur="500"/>
                                        <p:tgtEl>
                                          <p:spTgt spid="48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animBg="1"/>
      <p:bldP spid="48139" grpId="0"/>
      <p:bldP spid="48140" grpId="0"/>
      <p:bldP spid="48141" grpId="0"/>
      <p:bldP spid="48142" grpId="0" build="p"/>
      <p:bldP spid="48143" grpId="0"/>
      <p:bldP spid="48144" grpId="0"/>
      <p:bldP spid="48145" grpId="0" build="p"/>
      <p:bldP spid="48146" grpId="0"/>
      <p:bldP spid="48147" grpId="0"/>
      <p:bldP spid="48148" grpId="0"/>
      <p:bldP spid="48149" grpId="0"/>
      <p:bldP spid="48185" grpId="0"/>
      <p:bldP spid="4823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5059" name="Object 3"/>
          <p:cNvGraphicFramePr>
            <a:graphicFrameLocks noChangeAspect="1"/>
          </p:cNvGraphicFramePr>
          <p:nvPr/>
        </p:nvGraphicFramePr>
        <p:xfrm>
          <a:off x="4876800" y="1543050"/>
          <a:ext cx="3124200" cy="239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1876425" imgH="1438275" progId="Paint.Picture">
                  <p:embed/>
                </p:oleObj>
              </mc:Choice>
              <mc:Fallback>
                <p:oleObj name="" r:id="rId1" imgW="1876425" imgH="1438275" progId="Paint.Picture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76800" y="1543050"/>
                        <a:ext cx="3124200" cy="2393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3" name="Text Box 7"/>
          <p:cNvSpPr txBox="1"/>
          <p:nvPr/>
        </p:nvSpPr>
        <p:spPr>
          <a:xfrm>
            <a:off x="4572000" y="2686050"/>
            <a:ext cx="6191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0V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cxnSp>
        <p:nvCxnSpPr>
          <p:cNvPr id="45069" name="AutoShape 13"/>
          <p:cNvCxnSpPr/>
          <p:nvPr/>
        </p:nvCxnSpPr>
        <p:spPr>
          <a:xfrm rot="-10800000" flipV="1">
            <a:off x="5486400" y="1847850"/>
            <a:ext cx="1143000" cy="685800"/>
          </a:xfrm>
          <a:prstGeom prst="bentConnector3">
            <a:avLst>
              <a:gd name="adj1" fmla="val -1667"/>
            </a:avLst>
          </a:prstGeom>
          <a:ln w="539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cxnSp>
      <p:sp>
        <p:nvSpPr>
          <p:cNvPr id="45070" name="Text Box 14"/>
          <p:cNvSpPr txBox="1"/>
          <p:nvPr/>
        </p:nvSpPr>
        <p:spPr>
          <a:xfrm>
            <a:off x="4495800" y="3295650"/>
            <a:ext cx="6191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3V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5060" name="Rectangle 4"/>
          <p:cNvSpPr/>
          <p:nvPr/>
        </p:nvSpPr>
        <p:spPr>
          <a:xfrm>
            <a:off x="1295400" y="1600200"/>
            <a:ext cx="2667000" cy="4724400"/>
          </a:xfrm>
          <a:prstGeom prst="rect">
            <a:avLst/>
          </a:prstGeom>
          <a:noFill/>
          <a:ln w="57150" cap="flat" cmpd="thinThick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45061" name="Text Box 5"/>
          <p:cNvSpPr txBox="1"/>
          <p:nvPr/>
        </p:nvSpPr>
        <p:spPr>
          <a:xfrm>
            <a:off x="1447800" y="1752600"/>
            <a:ext cx="16192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工作原理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sp>
        <p:nvSpPr>
          <p:cNvPr id="45062" name="Text Box 6"/>
          <p:cNvSpPr txBox="1"/>
          <p:nvPr/>
        </p:nvSpPr>
        <p:spPr>
          <a:xfrm>
            <a:off x="1447800" y="2362200"/>
            <a:ext cx="2286000" cy="11874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sym typeface="Symbol" panose="05050102010706020507" pitchFamily="18" charset="2"/>
              </a:rPr>
              <a:t> </a:t>
            </a:r>
            <a:r>
              <a:rPr lang="en-US" altLang="zh-CN" sz="2400" b="1" dirty="0">
                <a:latin typeface="宋体" panose="02010600030101010101" pitchFamily="2" charset="-122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</a:rPr>
              <a:t>中有一个或一个以上为低电平</a:t>
            </a:r>
            <a:r>
              <a:rPr lang="en-US" altLang="zh-CN" sz="2400" b="1" dirty="0">
                <a:latin typeface="宋体" panose="02010600030101010101" pitchFamily="2" charset="-122"/>
              </a:rPr>
              <a:t>0V</a:t>
            </a:r>
            <a:endParaRPr lang="en-US" altLang="zh-CN" sz="2800" b="1" dirty="0">
              <a:latin typeface="宋体" panose="02010600030101010101" pitchFamily="2" charset="-122"/>
            </a:endParaRPr>
          </a:p>
        </p:txBody>
      </p:sp>
      <p:sp>
        <p:nvSpPr>
          <p:cNvPr id="45073" name="Text Box 17"/>
          <p:cNvSpPr txBox="1"/>
          <p:nvPr/>
        </p:nvSpPr>
        <p:spPr>
          <a:xfrm>
            <a:off x="1447800" y="4495800"/>
            <a:ext cx="220980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latin typeface="宋体" panose="02010600030101010101" pitchFamily="2" charset="-122"/>
              </a:rPr>
              <a:t>只有</a:t>
            </a:r>
            <a:r>
              <a:rPr lang="en-US" altLang="zh-CN" sz="2400" b="1" dirty="0">
                <a:latin typeface="宋体" panose="02010600030101010101" pitchFamily="2" charset="-122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</a:rPr>
              <a:t>全为高电平</a:t>
            </a:r>
            <a:r>
              <a:rPr lang="en-US" altLang="zh-CN" sz="2400" b="1" dirty="0">
                <a:latin typeface="宋体" panose="02010600030101010101" pitchFamily="2" charset="-122"/>
              </a:rPr>
              <a:t>3V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5077" name="Text Box 21"/>
          <p:cNvSpPr txBox="1"/>
          <p:nvPr/>
        </p:nvSpPr>
        <p:spPr>
          <a:xfrm>
            <a:off x="2971800" y="914400"/>
            <a:ext cx="2687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二极管与门电路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45071" name="Text Box 15"/>
          <p:cNvSpPr txBox="1"/>
          <p:nvPr/>
        </p:nvSpPr>
        <p:spPr>
          <a:xfrm>
            <a:off x="7086600" y="2990850"/>
            <a:ext cx="6191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0V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graphicFrame>
        <p:nvGraphicFramePr>
          <p:cNvPr id="45081" name="Object 25"/>
          <p:cNvGraphicFramePr>
            <a:graphicFrameLocks noChangeAspect="1"/>
          </p:cNvGraphicFramePr>
          <p:nvPr/>
        </p:nvGraphicFramePr>
        <p:xfrm>
          <a:off x="4648200" y="1524000"/>
          <a:ext cx="3505200" cy="268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3" imgW="1876425" imgH="1438275" progId="Paint.Picture">
                  <p:embed/>
                </p:oleObj>
              </mc:Choice>
              <mc:Fallback>
                <p:oleObj name="" r:id="rId3" imgW="1876425" imgH="1438275" progId="Paint.Picture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48200" y="1524000"/>
                        <a:ext cx="3505200" cy="2686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86" name="Text Box 30"/>
          <p:cNvSpPr txBox="1"/>
          <p:nvPr/>
        </p:nvSpPr>
        <p:spPr>
          <a:xfrm>
            <a:off x="4267200" y="2686050"/>
            <a:ext cx="6191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3V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5087" name="Text Box 31"/>
          <p:cNvSpPr txBox="1"/>
          <p:nvPr/>
        </p:nvSpPr>
        <p:spPr>
          <a:xfrm>
            <a:off x="4343400" y="3448050"/>
            <a:ext cx="6191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3V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5079" name="Text Box 23"/>
          <p:cNvSpPr txBox="1"/>
          <p:nvPr/>
        </p:nvSpPr>
        <p:spPr>
          <a:xfrm>
            <a:off x="7162800" y="3143250"/>
            <a:ext cx="619125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3V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grpSp>
        <p:nvGrpSpPr>
          <p:cNvPr id="2" name="Group 51"/>
          <p:cNvGrpSpPr/>
          <p:nvPr/>
        </p:nvGrpSpPr>
        <p:grpSpPr>
          <a:xfrm>
            <a:off x="5086350" y="4495800"/>
            <a:ext cx="2438400" cy="1981200"/>
            <a:chOff x="4080" y="1008"/>
            <a:chExt cx="1536" cy="1248"/>
          </a:xfrm>
        </p:grpSpPr>
        <p:sp>
          <p:nvSpPr>
            <p:cNvPr id="60457" name="Rectangle 52"/>
            <p:cNvSpPr/>
            <p:nvPr/>
          </p:nvSpPr>
          <p:spPr>
            <a:xfrm>
              <a:off x="4080" y="1008"/>
              <a:ext cx="1536" cy="124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60458" name="Line 53"/>
            <p:cNvSpPr/>
            <p:nvPr/>
          </p:nvSpPr>
          <p:spPr>
            <a:xfrm>
              <a:off x="4080" y="1296"/>
              <a:ext cx="15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59" name="Line 54"/>
            <p:cNvSpPr/>
            <p:nvPr/>
          </p:nvSpPr>
          <p:spPr>
            <a:xfrm>
              <a:off x="5136" y="1008"/>
              <a:ext cx="0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5111" name="Text Box 55"/>
          <p:cNvSpPr txBox="1"/>
          <p:nvPr/>
        </p:nvSpPr>
        <p:spPr>
          <a:xfrm>
            <a:off x="5238750" y="4495800"/>
            <a:ext cx="4413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A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5112" name="Text Box 56"/>
          <p:cNvSpPr txBox="1"/>
          <p:nvPr/>
        </p:nvSpPr>
        <p:spPr>
          <a:xfrm>
            <a:off x="6076950" y="4495800"/>
            <a:ext cx="4206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B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5113" name="Text Box 57"/>
          <p:cNvSpPr txBox="1"/>
          <p:nvPr/>
        </p:nvSpPr>
        <p:spPr>
          <a:xfrm>
            <a:off x="6991350" y="44958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F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5120" name="Text Box 64"/>
          <p:cNvSpPr txBox="1"/>
          <p:nvPr/>
        </p:nvSpPr>
        <p:spPr>
          <a:xfrm>
            <a:off x="6786563" y="6034088"/>
            <a:ext cx="61912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3V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grpSp>
        <p:nvGrpSpPr>
          <p:cNvPr id="3" name="Group 79"/>
          <p:cNvGrpSpPr/>
          <p:nvPr/>
        </p:nvGrpSpPr>
        <p:grpSpPr>
          <a:xfrm>
            <a:off x="5105400" y="6034088"/>
            <a:ext cx="1524000" cy="519112"/>
            <a:chOff x="3216" y="3801"/>
            <a:chExt cx="960" cy="327"/>
          </a:xfrm>
        </p:grpSpPr>
        <p:sp>
          <p:nvSpPr>
            <p:cNvPr id="60455" name="Rectangle 71"/>
            <p:cNvSpPr/>
            <p:nvPr/>
          </p:nvSpPr>
          <p:spPr>
            <a:xfrm>
              <a:off x="3216" y="3801"/>
              <a:ext cx="4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tx2"/>
                  </a:solidFill>
                </a:rPr>
                <a:t>3V</a:t>
              </a:r>
              <a:endParaRPr lang="en-US" altLang="zh-CN" sz="2800" dirty="0">
                <a:solidFill>
                  <a:schemeClr val="tx2"/>
                </a:solidFill>
              </a:endParaRPr>
            </a:p>
          </p:txBody>
        </p:sp>
        <p:sp>
          <p:nvSpPr>
            <p:cNvPr id="60456" name="Rectangle 72"/>
            <p:cNvSpPr/>
            <p:nvPr/>
          </p:nvSpPr>
          <p:spPr>
            <a:xfrm>
              <a:off x="3744" y="3801"/>
              <a:ext cx="4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tx2"/>
                  </a:solidFill>
                </a:rPr>
                <a:t>3V</a:t>
              </a:r>
              <a:endParaRPr lang="en-US" altLang="zh-CN" sz="28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4" name="Group 80"/>
          <p:cNvGrpSpPr/>
          <p:nvPr/>
        </p:nvGrpSpPr>
        <p:grpSpPr>
          <a:xfrm>
            <a:off x="5105400" y="4953000"/>
            <a:ext cx="2362200" cy="1295400"/>
            <a:chOff x="3216" y="3120"/>
            <a:chExt cx="1488" cy="816"/>
          </a:xfrm>
        </p:grpSpPr>
        <p:sp>
          <p:nvSpPr>
            <p:cNvPr id="60444" name="Rectangle 68"/>
            <p:cNvSpPr/>
            <p:nvPr/>
          </p:nvSpPr>
          <p:spPr>
            <a:xfrm>
              <a:off x="3744" y="3369"/>
              <a:ext cx="4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tx2"/>
                  </a:solidFill>
                </a:rPr>
                <a:t>3V</a:t>
              </a:r>
              <a:endParaRPr lang="en-US" altLang="zh-CN" sz="2800" dirty="0">
                <a:solidFill>
                  <a:schemeClr val="tx2"/>
                </a:solidFill>
              </a:endParaRPr>
            </a:p>
          </p:txBody>
        </p:sp>
        <p:grpSp>
          <p:nvGrpSpPr>
            <p:cNvPr id="60445" name="Group 78"/>
            <p:cNvGrpSpPr/>
            <p:nvPr/>
          </p:nvGrpSpPr>
          <p:grpSpPr>
            <a:xfrm>
              <a:off x="3216" y="3120"/>
              <a:ext cx="1488" cy="816"/>
              <a:chOff x="3216" y="3120"/>
              <a:chExt cx="1488" cy="816"/>
            </a:xfrm>
          </p:grpSpPr>
          <p:grpSp>
            <p:nvGrpSpPr>
              <p:cNvPr id="60446" name="Group 77"/>
              <p:cNvGrpSpPr/>
              <p:nvPr/>
            </p:nvGrpSpPr>
            <p:grpSpPr>
              <a:xfrm>
                <a:off x="3216" y="3120"/>
                <a:ext cx="960" cy="816"/>
                <a:chOff x="3216" y="3120"/>
                <a:chExt cx="960" cy="816"/>
              </a:xfrm>
            </p:grpSpPr>
            <p:sp>
              <p:nvSpPr>
                <p:cNvPr id="60450" name="Rectangle 61"/>
                <p:cNvSpPr/>
                <p:nvPr/>
              </p:nvSpPr>
              <p:spPr>
                <a:xfrm>
                  <a:off x="3216" y="3120"/>
                  <a:ext cx="432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800" dirty="0">
                      <a:solidFill>
                        <a:schemeClr val="tx2"/>
                      </a:solidFill>
                    </a:rPr>
                    <a:t>0V</a:t>
                  </a:r>
                  <a:endParaRPr lang="en-US" altLang="zh-CN" sz="2800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60451" name="Rectangle 66"/>
                <p:cNvSpPr/>
                <p:nvPr/>
              </p:nvSpPr>
              <p:spPr>
                <a:xfrm>
                  <a:off x="3744" y="3120"/>
                  <a:ext cx="432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800" dirty="0">
                      <a:solidFill>
                        <a:schemeClr val="tx2"/>
                      </a:solidFill>
                    </a:rPr>
                    <a:t>0V</a:t>
                  </a:r>
                  <a:endParaRPr lang="en-US" altLang="zh-CN" sz="2800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60452" name="Rectangle 67"/>
                <p:cNvSpPr/>
                <p:nvPr/>
              </p:nvSpPr>
              <p:spPr>
                <a:xfrm>
                  <a:off x="3216" y="3360"/>
                  <a:ext cx="432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800" dirty="0">
                      <a:solidFill>
                        <a:schemeClr val="tx2"/>
                      </a:solidFill>
                    </a:rPr>
                    <a:t>0V</a:t>
                  </a:r>
                  <a:endParaRPr lang="en-US" altLang="zh-CN" sz="2800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60453" name="Rectangle 69"/>
                <p:cNvSpPr/>
                <p:nvPr/>
              </p:nvSpPr>
              <p:spPr>
                <a:xfrm>
                  <a:off x="3216" y="3609"/>
                  <a:ext cx="432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800" dirty="0">
                      <a:solidFill>
                        <a:schemeClr val="tx2"/>
                      </a:solidFill>
                    </a:rPr>
                    <a:t>3V</a:t>
                  </a:r>
                  <a:endParaRPr lang="en-US" altLang="zh-CN" sz="2800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60454" name="Rectangle 70"/>
                <p:cNvSpPr/>
                <p:nvPr/>
              </p:nvSpPr>
              <p:spPr>
                <a:xfrm>
                  <a:off x="3744" y="3609"/>
                  <a:ext cx="432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800" dirty="0">
                      <a:solidFill>
                        <a:schemeClr val="tx2"/>
                      </a:solidFill>
                    </a:rPr>
                    <a:t>0V</a:t>
                  </a:r>
                  <a:endParaRPr lang="en-US" altLang="zh-CN" sz="2800" dirty="0">
                    <a:solidFill>
                      <a:schemeClr val="tx2"/>
                    </a:solidFill>
                  </a:endParaRPr>
                </a:p>
              </p:txBody>
            </p:sp>
          </p:grpSp>
          <p:sp>
            <p:nvSpPr>
              <p:cNvPr id="60447" name="Rectangle 74"/>
              <p:cNvSpPr/>
              <p:nvPr/>
            </p:nvSpPr>
            <p:spPr>
              <a:xfrm>
                <a:off x="4272" y="3120"/>
                <a:ext cx="432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tx2"/>
                    </a:solidFill>
                  </a:rPr>
                  <a:t>0V</a:t>
                </a:r>
                <a:endParaRPr lang="en-US" altLang="zh-CN" sz="2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0448" name="Rectangle 75"/>
              <p:cNvSpPr/>
              <p:nvPr/>
            </p:nvSpPr>
            <p:spPr>
              <a:xfrm>
                <a:off x="4272" y="3369"/>
                <a:ext cx="432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tx2"/>
                    </a:solidFill>
                  </a:rPr>
                  <a:t>0V</a:t>
                </a:r>
                <a:endParaRPr lang="en-US" altLang="zh-CN" sz="2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0449" name="Rectangle 76"/>
              <p:cNvSpPr/>
              <p:nvPr/>
            </p:nvSpPr>
            <p:spPr>
              <a:xfrm>
                <a:off x="4272" y="3609"/>
                <a:ext cx="432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tx2"/>
                    </a:solidFill>
                  </a:rPr>
                  <a:t>0V</a:t>
                </a:r>
                <a:endParaRPr lang="en-US" altLang="zh-CN" sz="2800" dirty="0">
                  <a:solidFill>
                    <a:schemeClr val="tx2"/>
                  </a:solidFill>
                </a:endParaRPr>
              </a:p>
            </p:txBody>
          </p:sp>
        </p:grpSp>
      </p:grpSp>
      <p:pic>
        <p:nvPicPr>
          <p:cNvPr id="60439" name="Picture 83" descr="wb01508_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0" y="60198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0440" name="Text Box 84">
            <a:hlinkClick r:id="rId4" action="ppaction://hlinksldjump"/>
          </p:cNvPr>
          <p:cNvSpPr txBox="1"/>
          <p:nvPr/>
        </p:nvSpPr>
        <p:spPr>
          <a:xfrm>
            <a:off x="7816850" y="60960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  <p:sp>
        <p:nvSpPr>
          <p:cNvPr id="45141" name="Text Box 85"/>
          <p:cNvSpPr txBox="1"/>
          <p:nvPr/>
        </p:nvSpPr>
        <p:spPr>
          <a:xfrm>
            <a:off x="808038" y="381000"/>
            <a:ext cx="376396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（四）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正逻辑</a:t>
            </a:r>
            <a:r>
              <a:rPr lang="zh-CN" altLang="en-US" sz="2800" b="1" dirty="0">
                <a:latin typeface="宋体" panose="02010600030101010101" pitchFamily="2" charset="-122"/>
              </a:rPr>
              <a:t>与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负逻辑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45142" name="Text Box 86" descr="75%"/>
          <p:cNvSpPr txBox="1"/>
          <p:nvPr/>
        </p:nvSpPr>
        <p:spPr>
          <a:xfrm>
            <a:off x="1447800" y="3473450"/>
            <a:ext cx="2362200" cy="94615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则输出</a:t>
            </a:r>
            <a:r>
              <a:rPr lang="en-US" altLang="zh-CN" sz="2800" b="1" dirty="0">
                <a:latin typeface="宋体" panose="02010600030101010101" pitchFamily="2" charset="-122"/>
              </a:rPr>
              <a:t>F</a:t>
            </a:r>
            <a:r>
              <a:rPr lang="zh-CN" altLang="en-US" sz="2800" b="1" dirty="0">
                <a:latin typeface="宋体" panose="02010600030101010101" pitchFamily="2" charset="-122"/>
              </a:rPr>
              <a:t>就为低电平</a:t>
            </a:r>
            <a:r>
              <a:rPr lang="en-US" altLang="zh-CN" sz="2800" b="1" dirty="0">
                <a:latin typeface="宋体" panose="02010600030101010101" pitchFamily="2" charset="-122"/>
              </a:rPr>
              <a:t>0V</a:t>
            </a:r>
            <a:endParaRPr lang="en-US" altLang="zh-CN" sz="2400" dirty="0">
              <a:solidFill>
                <a:schemeClr val="tx2"/>
              </a:solidFill>
            </a:endParaRPr>
          </a:p>
        </p:txBody>
      </p:sp>
      <p:sp>
        <p:nvSpPr>
          <p:cNvPr id="45143" name="Text Box 87" descr="75%"/>
          <p:cNvSpPr txBox="1"/>
          <p:nvPr/>
        </p:nvSpPr>
        <p:spPr>
          <a:xfrm>
            <a:off x="1524000" y="5334000"/>
            <a:ext cx="1981200" cy="822325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则输出</a:t>
            </a:r>
            <a:r>
              <a:rPr lang="en-US" altLang="zh-CN" sz="2400" b="1" dirty="0">
                <a:latin typeface="宋体" panose="02010600030101010101" pitchFamily="2" charset="-122"/>
              </a:rPr>
              <a:t>F</a:t>
            </a:r>
            <a:r>
              <a:rPr lang="zh-CN" altLang="en-US" sz="2400" b="1" dirty="0">
                <a:latin typeface="宋体" panose="02010600030101010101" pitchFamily="2" charset="-122"/>
              </a:rPr>
              <a:t>才为高电平</a:t>
            </a:r>
            <a:r>
              <a:rPr lang="en-US" altLang="zh-CN" sz="2400" b="1" dirty="0">
                <a:latin typeface="宋体" panose="02010600030101010101" pitchFamily="2" charset="-122"/>
              </a:rPr>
              <a:t>3V</a:t>
            </a:r>
            <a:endParaRPr lang="en-US" altLang="zh-CN" sz="2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4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8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75"/>
                                        <p:tgtEl>
                                          <p:spTgt spid="45062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" dur="5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75"/>
                                        <p:tgtEl>
                                          <p:spTgt spid="45073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1" dur="500"/>
                                        <p:tgtEl>
                                          <p:spTgt spid="45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5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5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3" grpId="0"/>
      <p:bldP spid="45070" grpId="0"/>
      <p:bldP spid="45060" grpId="0" animBg="1"/>
      <p:bldP spid="45061" grpId="0"/>
      <p:bldP spid="45062" grpId="0" build="p"/>
      <p:bldP spid="45073" grpId="0" build="p"/>
      <p:bldP spid="45077" grpId="0"/>
      <p:bldP spid="45071" grpId="0"/>
      <p:bldP spid="45086" grpId="0"/>
      <p:bldP spid="45087" grpId="0"/>
      <p:bldP spid="45079" grpId="0"/>
      <p:bldP spid="45111" grpId="0"/>
      <p:bldP spid="45112" grpId="0"/>
      <p:bldP spid="45113" grpId="0"/>
      <p:bldP spid="45120" grpId="0"/>
      <p:bldP spid="45141" grpId="0"/>
      <p:bldP spid="45142" grpId="0"/>
      <p:bldP spid="4514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3"/>
          <p:cNvGrpSpPr/>
          <p:nvPr/>
        </p:nvGrpSpPr>
        <p:grpSpPr>
          <a:xfrm>
            <a:off x="609600" y="1828800"/>
            <a:ext cx="2438400" cy="1981200"/>
            <a:chOff x="4080" y="1008"/>
            <a:chExt cx="1536" cy="1248"/>
          </a:xfrm>
        </p:grpSpPr>
        <p:sp>
          <p:nvSpPr>
            <p:cNvPr id="61514" name="Rectangle 4"/>
            <p:cNvSpPr/>
            <p:nvPr/>
          </p:nvSpPr>
          <p:spPr>
            <a:xfrm>
              <a:off x="4080" y="1008"/>
              <a:ext cx="1536" cy="124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61515" name="Line 5"/>
            <p:cNvSpPr/>
            <p:nvPr/>
          </p:nvSpPr>
          <p:spPr>
            <a:xfrm>
              <a:off x="4080" y="1296"/>
              <a:ext cx="15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16" name="Line 6"/>
            <p:cNvSpPr/>
            <p:nvPr/>
          </p:nvSpPr>
          <p:spPr>
            <a:xfrm>
              <a:off x="5136" y="1008"/>
              <a:ext cx="0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9159" name="Text Box 7"/>
          <p:cNvSpPr txBox="1"/>
          <p:nvPr/>
        </p:nvSpPr>
        <p:spPr>
          <a:xfrm>
            <a:off x="762000" y="1828800"/>
            <a:ext cx="4413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A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9160" name="Text Box 8"/>
          <p:cNvSpPr txBox="1"/>
          <p:nvPr/>
        </p:nvSpPr>
        <p:spPr>
          <a:xfrm>
            <a:off x="1600200" y="1828800"/>
            <a:ext cx="4206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B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9161" name="Text Box 9"/>
          <p:cNvSpPr txBox="1"/>
          <p:nvPr/>
        </p:nvSpPr>
        <p:spPr>
          <a:xfrm>
            <a:off x="2514600" y="18288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F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49165" name="Rectangle 13"/>
          <p:cNvSpPr/>
          <p:nvPr/>
        </p:nvSpPr>
        <p:spPr>
          <a:xfrm>
            <a:off x="762000" y="2195513"/>
            <a:ext cx="1371600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V</a:t>
            </a:r>
            <a:r>
              <a:rPr lang="en-US" altLang="zh-CN" sz="2800" baseline="-25000" dirty="0">
                <a:solidFill>
                  <a:schemeClr val="tx2"/>
                </a:solidFill>
              </a:rPr>
              <a:t>L      </a:t>
            </a:r>
            <a:r>
              <a:rPr lang="en-US" altLang="zh-CN" sz="2800" dirty="0">
                <a:solidFill>
                  <a:schemeClr val="tx2"/>
                </a:solidFill>
              </a:rPr>
              <a:t>V</a:t>
            </a:r>
            <a:r>
              <a:rPr lang="en-US" altLang="zh-CN" sz="2800" baseline="-25000" dirty="0">
                <a:solidFill>
                  <a:schemeClr val="tx2"/>
                </a:solidFill>
              </a:rPr>
              <a:t>L</a:t>
            </a:r>
            <a:endParaRPr lang="en-US" altLang="zh-CN" sz="2800" dirty="0">
              <a:solidFill>
                <a:schemeClr val="tx2"/>
              </a:solidFill>
            </a:endParaRPr>
          </a:p>
        </p:txBody>
      </p:sp>
      <p:sp>
        <p:nvSpPr>
          <p:cNvPr id="49166" name="Text Box 14"/>
          <p:cNvSpPr txBox="1"/>
          <p:nvPr/>
        </p:nvSpPr>
        <p:spPr>
          <a:xfrm>
            <a:off x="2344738" y="2590800"/>
            <a:ext cx="58896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V</a:t>
            </a:r>
            <a:r>
              <a:rPr lang="en-US" altLang="zh-CN" sz="2800" baseline="-25000" dirty="0">
                <a:solidFill>
                  <a:schemeClr val="tx2"/>
                </a:solidFill>
              </a:rPr>
              <a:t>L</a:t>
            </a:r>
            <a:endParaRPr lang="en-US" altLang="zh-CN" sz="2800" baseline="-25000" dirty="0">
              <a:solidFill>
                <a:schemeClr val="tx2"/>
              </a:solidFill>
            </a:endParaRPr>
          </a:p>
        </p:txBody>
      </p:sp>
      <p:sp>
        <p:nvSpPr>
          <p:cNvPr id="49167" name="Text Box 15"/>
          <p:cNvSpPr txBox="1"/>
          <p:nvPr/>
        </p:nvSpPr>
        <p:spPr>
          <a:xfrm>
            <a:off x="2344738" y="2986088"/>
            <a:ext cx="588962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V</a:t>
            </a:r>
            <a:r>
              <a:rPr lang="en-US" altLang="zh-CN" sz="2800" baseline="-25000" dirty="0">
                <a:solidFill>
                  <a:schemeClr val="tx2"/>
                </a:solidFill>
              </a:rPr>
              <a:t>L</a:t>
            </a:r>
            <a:endParaRPr lang="en-US" altLang="zh-CN" sz="2800" baseline="-25000" dirty="0">
              <a:solidFill>
                <a:schemeClr val="tx2"/>
              </a:solidFill>
            </a:endParaRPr>
          </a:p>
        </p:txBody>
      </p:sp>
      <p:sp>
        <p:nvSpPr>
          <p:cNvPr id="49168" name="Text Box 16"/>
          <p:cNvSpPr txBox="1"/>
          <p:nvPr/>
        </p:nvSpPr>
        <p:spPr>
          <a:xfrm>
            <a:off x="2312988" y="3367088"/>
            <a:ext cx="6159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V</a:t>
            </a:r>
            <a:r>
              <a:rPr lang="en-US" altLang="zh-CN" sz="2800" baseline="-25000" dirty="0">
                <a:solidFill>
                  <a:schemeClr val="tx2"/>
                </a:solidFill>
              </a:rPr>
              <a:t>H</a:t>
            </a:r>
            <a:endParaRPr lang="en-US" altLang="zh-CN" sz="2800" baseline="-25000" dirty="0">
              <a:solidFill>
                <a:schemeClr val="tx2"/>
              </a:solidFill>
            </a:endParaRPr>
          </a:p>
        </p:txBody>
      </p:sp>
      <p:sp>
        <p:nvSpPr>
          <p:cNvPr id="49169" name="Text Box 17"/>
          <p:cNvSpPr txBox="1"/>
          <p:nvPr/>
        </p:nvSpPr>
        <p:spPr>
          <a:xfrm>
            <a:off x="2344738" y="2209800"/>
            <a:ext cx="58896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V</a:t>
            </a:r>
            <a:r>
              <a:rPr lang="en-US" altLang="zh-CN" sz="2800" baseline="-25000" dirty="0">
                <a:solidFill>
                  <a:schemeClr val="tx2"/>
                </a:solidFill>
              </a:rPr>
              <a:t>L</a:t>
            </a:r>
            <a:endParaRPr lang="en-US" altLang="zh-CN" sz="2800" baseline="-25000" dirty="0">
              <a:solidFill>
                <a:schemeClr val="tx2"/>
              </a:solidFill>
            </a:endParaRPr>
          </a:p>
        </p:txBody>
      </p:sp>
      <p:grpSp>
        <p:nvGrpSpPr>
          <p:cNvPr id="3" name="Group 93"/>
          <p:cNvGrpSpPr/>
          <p:nvPr/>
        </p:nvGrpSpPr>
        <p:grpSpPr>
          <a:xfrm>
            <a:off x="3429000" y="1828800"/>
            <a:ext cx="2438400" cy="2057400"/>
            <a:chOff x="2208" y="1296"/>
            <a:chExt cx="1536" cy="1296"/>
          </a:xfrm>
        </p:grpSpPr>
        <p:sp>
          <p:nvSpPr>
            <p:cNvPr id="61498" name="Text Box 26"/>
            <p:cNvSpPr txBox="1"/>
            <p:nvPr/>
          </p:nvSpPr>
          <p:spPr>
            <a:xfrm>
              <a:off x="2352" y="2256"/>
              <a:ext cx="6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tx2"/>
                  </a:solidFill>
                </a:rPr>
                <a:t>1      1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1499" name="Text Box 31"/>
            <p:cNvSpPr txBox="1"/>
            <p:nvPr/>
          </p:nvSpPr>
          <p:spPr>
            <a:xfrm>
              <a:off x="3360" y="2265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grpSp>
          <p:nvGrpSpPr>
            <p:cNvPr id="61500" name="Group 89"/>
            <p:cNvGrpSpPr/>
            <p:nvPr/>
          </p:nvGrpSpPr>
          <p:grpSpPr>
            <a:xfrm>
              <a:off x="2208" y="1296"/>
              <a:ext cx="1536" cy="1248"/>
              <a:chOff x="2208" y="1296"/>
              <a:chExt cx="1536" cy="1248"/>
            </a:xfrm>
          </p:grpSpPr>
          <p:grpSp>
            <p:nvGrpSpPr>
              <p:cNvPr id="61501" name="Group 18"/>
              <p:cNvGrpSpPr/>
              <p:nvPr/>
            </p:nvGrpSpPr>
            <p:grpSpPr>
              <a:xfrm>
                <a:off x="2208" y="1296"/>
                <a:ext cx="1536" cy="1248"/>
                <a:chOff x="4080" y="1008"/>
                <a:chExt cx="1536" cy="1248"/>
              </a:xfrm>
            </p:grpSpPr>
            <p:sp>
              <p:nvSpPr>
                <p:cNvPr id="61511" name="Rectangle 19"/>
                <p:cNvSpPr/>
                <p:nvPr/>
              </p:nvSpPr>
              <p:spPr>
                <a:xfrm>
                  <a:off x="4080" y="1008"/>
                  <a:ext cx="1536" cy="1248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61512" name="Line 20"/>
                <p:cNvSpPr/>
                <p:nvPr/>
              </p:nvSpPr>
              <p:spPr>
                <a:xfrm>
                  <a:off x="4080" y="1296"/>
                  <a:ext cx="153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1513" name="Line 21"/>
                <p:cNvSpPr/>
                <p:nvPr/>
              </p:nvSpPr>
              <p:spPr>
                <a:xfrm>
                  <a:off x="5136" y="1008"/>
                  <a:ext cx="0" cy="124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61502" name="Text Box 22"/>
              <p:cNvSpPr txBox="1"/>
              <p:nvPr/>
            </p:nvSpPr>
            <p:spPr>
              <a:xfrm>
                <a:off x="2304" y="1296"/>
                <a:ext cx="27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tx2"/>
                    </a:solidFill>
                  </a:rPr>
                  <a:t>A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1503" name="Text Box 23"/>
              <p:cNvSpPr txBox="1"/>
              <p:nvPr/>
            </p:nvSpPr>
            <p:spPr>
              <a:xfrm>
                <a:off x="2832" y="1296"/>
                <a:ext cx="265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tx2"/>
                    </a:solidFill>
                  </a:rPr>
                  <a:t>B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1504" name="Text Box 24"/>
              <p:cNvSpPr txBox="1"/>
              <p:nvPr/>
            </p:nvSpPr>
            <p:spPr>
              <a:xfrm>
                <a:off x="3408" y="1296"/>
                <a:ext cx="24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tx2"/>
                    </a:solidFill>
                  </a:rPr>
                  <a:t>F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1505" name="Rectangle 25"/>
              <p:cNvSpPr/>
              <p:nvPr/>
            </p:nvSpPr>
            <p:spPr>
              <a:xfrm>
                <a:off x="2352" y="2016"/>
                <a:ext cx="67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tx2"/>
                    </a:solidFill>
                  </a:rPr>
                  <a:t>1      0</a:t>
                </a:r>
                <a:endParaRPr lang="en-US" altLang="zh-CN" sz="2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1506" name="Rectangle 27"/>
              <p:cNvSpPr/>
              <p:nvPr/>
            </p:nvSpPr>
            <p:spPr>
              <a:xfrm>
                <a:off x="2352" y="1776"/>
                <a:ext cx="67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tx2"/>
                    </a:solidFill>
                  </a:rPr>
                  <a:t>0      1</a:t>
                </a:r>
                <a:endParaRPr lang="en-US" altLang="zh-CN" sz="2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1507" name="Rectangle 28"/>
              <p:cNvSpPr/>
              <p:nvPr/>
            </p:nvSpPr>
            <p:spPr>
              <a:xfrm>
                <a:off x="2352" y="1536"/>
                <a:ext cx="67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tx2"/>
                    </a:solidFill>
                  </a:rPr>
                  <a:t>0      0</a:t>
                </a:r>
                <a:endParaRPr lang="en-US" altLang="zh-CN" sz="2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1508" name="Text Box 29"/>
              <p:cNvSpPr txBox="1"/>
              <p:nvPr/>
            </p:nvSpPr>
            <p:spPr>
              <a:xfrm>
                <a:off x="3372" y="1776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tx2"/>
                    </a:solidFill>
                  </a:rPr>
                  <a:t>0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1509" name="Text Box 30"/>
              <p:cNvSpPr txBox="1"/>
              <p:nvPr/>
            </p:nvSpPr>
            <p:spPr>
              <a:xfrm>
                <a:off x="3372" y="2025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tx2"/>
                    </a:solidFill>
                  </a:rPr>
                  <a:t>0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1510" name="Text Box 32"/>
              <p:cNvSpPr txBox="1"/>
              <p:nvPr/>
            </p:nvSpPr>
            <p:spPr>
              <a:xfrm>
                <a:off x="3372" y="1536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tx2"/>
                    </a:solidFill>
                  </a:rPr>
                  <a:t>0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</p:grpSp>
      </p:grpSp>
      <p:grpSp>
        <p:nvGrpSpPr>
          <p:cNvPr id="6" name="Group 94"/>
          <p:cNvGrpSpPr/>
          <p:nvPr/>
        </p:nvGrpSpPr>
        <p:grpSpPr>
          <a:xfrm>
            <a:off x="6172200" y="1828800"/>
            <a:ext cx="2438400" cy="2057400"/>
            <a:chOff x="3936" y="1296"/>
            <a:chExt cx="1536" cy="1296"/>
          </a:xfrm>
        </p:grpSpPr>
        <p:sp>
          <p:nvSpPr>
            <p:cNvPr id="61482" name="Text Box 46"/>
            <p:cNvSpPr txBox="1"/>
            <p:nvPr/>
          </p:nvSpPr>
          <p:spPr>
            <a:xfrm>
              <a:off x="5088" y="2265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grpSp>
          <p:nvGrpSpPr>
            <p:cNvPr id="61483" name="Group 90"/>
            <p:cNvGrpSpPr/>
            <p:nvPr/>
          </p:nvGrpSpPr>
          <p:grpSpPr>
            <a:xfrm>
              <a:off x="3936" y="1296"/>
              <a:ext cx="1536" cy="1287"/>
              <a:chOff x="3936" y="1296"/>
              <a:chExt cx="1536" cy="1287"/>
            </a:xfrm>
          </p:grpSpPr>
          <p:grpSp>
            <p:nvGrpSpPr>
              <p:cNvPr id="61484" name="Group 33"/>
              <p:cNvGrpSpPr/>
              <p:nvPr/>
            </p:nvGrpSpPr>
            <p:grpSpPr>
              <a:xfrm>
                <a:off x="3936" y="1296"/>
                <a:ext cx="1536" cy="1248"/>
                <a:chOff x="4080" y="1008"/>
                <a:chExt cx="1536" cy="1248"/>
              </a:xfrm>
            </p:grpSpPr>
            <p:sp>
              <p:nvSpPr>
                <p:cNvPr id="61495" name="Rectangle 34"/>
                <p:cNvSpPr/>
                <p:nvPr/>
              </p:nvSpPr>
              <p:spPr>
                <a:xfrm>
                  <a:off x="4080" y="1008"/>
                  <a:ext cx="1536" cy="1248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61496" name="Line 35"/>
                <p:cNvSpPr/>
                <p:nvPr/>
              </p:nvSpPr>
              <p:spPr>
                <a:xfrm>
                  <a:off x="4080" y="1296"/>
                  <a:ext cx="1536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1497" name="Line 36"/>
                <p:cNvSpPr/>
                <p:nvPr/>
              </p:nvSpPr>
              <p:spPr>
                <a:xfrm>
                  <a:off x="5136" y="1008"/>
                  <a:ext cx="0" cy="124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61485" name="Text Box 37"/>
              <p:cNvSpPr txBox="1"/>
              <p:nvPr/>
            </p:nvSpPr>
            <p:spPr>
              <a:xfrm>
                <a:off x="4032" y="1296"/>
                <a:ext cx="27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tx2"/>
                    </a:solidFill>
                  </a:rPr>
                  <a:t>A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1486" name="Text Box 38"/>
              <p:cNvSpPr txBox="1"/>
              <p:nvPr/>
            </p:nvSpPr>
            <p:spPr>
              <a:xfrm>
                <a:off x="4560" y="1296"/>
                <a:ext cx="265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tx2"/>
                    </a:solidFill>
                  </a:rPr>
                  <a:t>B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1487" name="Text Box 39"/>
              <p:cNvSpPr txBox="1"/>
              <p:nvPr/>
            </p:nvSpPr>
            <p:spPr>
              <a:xfrm>
                <a:off x="5136" y="1296"/>
                <a:ext cx="24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tx2"/>
                    </a:solidFill>
                  </a:rPr>
                  <a:t>F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1488" name="Rectangle 40"/>
              <p:cNvSpPr/>
              <p:nvPr/>
            </p:nvSpPr>
            <p:spPr>
              <a:xfrm>
                <a:off x="4080" y="2016"/>
                <a:ext cx="67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tx2"/>
                    </a:solidFill>
                  </a:rPr>
                  <a:t>0      1</a:t>
                </a:r>
                <a:endParaRPr lang="en-US" altLang="zh-CN" sz="2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1489" name="Text Box 41"/>
              <p:cNvSpPr txBox="1"/>
              <p:nvPr/>
            </p:nvSpPr>
            <p:spPr>
              <a:xfrm>
                <a:off x="4080" y="2256"/>
                <a:ext cx="67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tx2"/>
                    </a:solidFill>
                  </a:rPr>
                  <a:t>0      0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1490" name="Rectangle 42"/>
              <p:cNvSpPr/>
              <p:nvPr/>
            </p:nvSpPr>
            <p:spPr>
              <a:xfrm>
                <a:off x="4080" y="1776"/>
                <a:ext cx="67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tx2"/>
                    </a:solidFill>
                  </a:rPr>
                  <a:t>1      0</a:t>
                </a:r>
                <a:endParaRPr lang="en-US" altLang="zh-CN" sz="2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1491" name="Rectangle 43"/>
              <p:cNvSpPr/>
              <p:nvPr/>
            </p:nvSpPr>
            <p:spPr>
              <a:xfrm>
                <a:off x="4080" y="1536"/>
                <a:ext cx="67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tx2"/>
                    </a:solidFill>
                  </a:rPr>
                  <a:t>1      1</a:t>
                </a:r>
                <a:endParaRPr lang="en-US" altLang="zh-CN" sz="28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1492" name="Text Box 44"/>
              <p:cNvSpPr txBox="1"/>
              <p:nvPr/>
            </p:nvSpPr>
            <p:spPr>
              <a:xfrm>
                <a:off x="5100" y="1776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tx2"/>
                    </a:solidFill>
                  </a:rPr>
                  <a:t>1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1493" name="Text Box 45"/>
              <p:cNvSpPr txBox="1"/>
              <p:nvPr/>
            </p:nvSpPr>
            <p:spPr>
              <a:xfrm>
                <a:off x="5100" y="2025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tx2"/>
                    </a:solidFill>
                  </a:rPr>
                  <a:t>1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1494" name="Text Box 47"/>
              <p:cNvSpPr txBox="1"/>
              <p:nvPr/>
            </p:nvSpPr>
            <p:spPr>
              <a:xfrm>
                <a:off x="5100" y="1536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chemeClr val="tx2"/>
                    </a:solidFill>
                  </a:rPr>
                  <a:t>1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</p:grpSp>
      </p:grpSp>
      <p:sp>
        <p:nvSpPr>
          <p:cNvPr id="49215" name="Rectangle 63"/>
          <p:cNvSpPr/>
          <p:nvPr/>
        </p:nvSpPr>
        <p:spPr>
          <a:xfrm>
            <a:off x="685800" y="2590800"/>
            <a:ext cx="14478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V</a:t>
            </a:r>
            <a:r>
              <a:rPr lang="en-US" altLang="zh-CN" sz="2800" baseline="-25000" dirty="0">
                <a:solidFill>
                  <a:schemeClr val="tx2"/>
                </a:solidFill>
              </a:rPr>
              <a:t>L      </a:t>
            </a:r>
            <a:r>
              <a:rPr lang="en-US" altLang="zh-CN" sz="2800" dirty="0">
                <a:solidFill>
                  <a:schemeClr val="tx2"/>
                </a:solidFill>
              </a:rPr>
              <a:t>V</a:t>
            </a:r>
            <a:r>
              <a:rPr lang="en-US" altLang="zh-CN" sz="2800" baseline="-25000" dirty="0">
                <a:solidFill>
                  <a:schemeClr val="tx2"/>
                </a:solidFill>
              </a:rPr>
              <a:t>H</a:t>
            </a:r>
            <a:endParaRPr lang="en-US" altLang="zh-CN" sz="2800" dirty="0">
              <a:solidFill>
                <a:schemeClr val="tx2"/>
              </a:solidFill>
            </a:endParaRPr>
          </a:p>
        </p:txBody>
      </p:sp>
      <p:sp>
        <p:nvSpPr>
          <p:cNvPr id="49216" name="Rectangle 64"/>
          <p:cNvSpPr/>
          <p:nvPr/>
        </p:nvSpPr>
        <p:spPr>
          <a:xfrm>
            <a:off x="685800" y="2971800"/>
            <a:ext cx="14478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V</a:t>
            </a:r>
            <a:r>
              <a:rPr lang="en-US" altLang="zh-CN" sz="2800" baseline="-25000" dirty="0">
                <a:solidFill>
                  <a:schemeClr val="tx2"/>
                </a:solidFill>
              </a:rPr>
              <a:t>H      </a:t>
            </a:r>
            <a:r>
              <a:rPr lang="en-US" altLang="zh-CN" sz="2800" dirty="0">
                <a:solidFill>
                  <a:schemeClr val="tx2"/>
                </a:solidFill>
              </a:rPr>
              <a:t>V</a:t>
            </a:r>
            <a:r>
              <a:rPr lang="en-US" altLang="zh-CN" sz="2800" baseline="-25000" dirty="0">
                <a:solidFill>
                  <a:schemeClr val="tx2"/>
                </a:solidFill>
              </a:rPr>
              <a:t>L</a:t>
            </a:r>
            <a:endParaRPr lang="en-US" altLang="zh-CN" sz="2800" dirty="0">
              <a:solidFill>
                <a:schemeClr val="tx2"/>
              </a:solidFill>
            </a:endParaRPr>
          </a:p>
        </p:txBody>
      </p:sp>
      <p:sp>
        <p:nvSpPr>
          <p:cNvPr id="49217" name="Rectangle 65"/>
          <p:cNvSpPr/>
          <p:nvPr/>
        </p:nvSpPr>
        <p:spPr>
          <a:xfrm>
            <a:off x="762000" y="3352800"/>
            <a:ext cx="13716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V</a:t>
            </a:r>
            <a:r>
              <a:rPr lang="en-US" altLang="zh-CN" sz="2800" baseline="-25000" dirty="0">
                <a:solidFill>
                  <a:schemeClr val="tx2"/>
                </a:solidFill>
              </a:rPr>
              <a:t>H     </a:t>
            </a:r>
            <a:r>
              <a:rPr lang="en-US" altLang="zh-CN" sz="2800" dirty="0">
                <a:solidFill>
                  <a:schemeClr val="tx2"/>
                </a:solidFill>
              </a:rPr>
              <a:t>V</a:t>
            </a:r>
            <a:r>
              <a:rPr lang="en-US" altLang="zh-CN" sz="2800" baseline="-25000" dirty="0">
                <a:solidFill>
                  <a:schemeClr val="tx2"/>
                </a:solidFill>
              </a:rPr>
              <a:t>H</a:t>
            </a:r>
            <a:endParaRPr lang="en-US" altLang="zh-CN" sz="2800" dirty="0">
              <a:solidFill>
                <a:schemeClr val="tx2"/>
              </a:solidFill>
            </a:endParaRPr>
          </a:p>
        </p:txBody>
      </p:sp>
      <p:sp>
        <p:nvSpPr>
          <p:cNvPr id="49218" name="Text Box 66"/>
          <p:cNvSpPr txBox="1"/>
          <p:nvPr/>
        </p:nvSpPr>
        <p:spPr>
          <a:xfrm>
            <a:off x="1063625" y="1265238"/>
            <a:ext cx="158750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电平关系</a:t>
            </a:r>
            <a:endParaRPr lang="zh-CN" altLang="en-US" sz="2400" b="1" dirty="0">
              <a:ea typeface="黑体" panose="02010609060101010101" pitchFamily="49" charset="-122"/>
            </a:endParaRPr>
          </a:p>
        </p:txBody>
      </p:sp>
      <p:sp>
        <p:nvSpPr>
          <p:cNvPr id="49220" name="Text Box 68"/>
          <p:cNvSpPr txBox="1"/>
          <p:nvPr/>
        </p:nvSpPr>
        <p:spPr>
          <a:xfrm>
            <a:off x="3463925" y="1295400"/>
            <a:ext cx="12604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正逻辑</a:t>
            </a:r>
            <a:endParaRPr lang="zh-CN" altLang="en-US" sz="2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9221" name="Text Box 69"/>
          <p:cNvSpPr txBox="1"/>
          <p:nvPr/>
        </p:nvSpPr>
        <p:spPr>
          <a:xfrm>
            <a:off x="6130925" y="1309688"/>
            <a:ext cx="12604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负逻辑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49226" name="Text Box 74"/>
          <p:cNvSpPr txBox="1"/>
          <p:nvPr/>
        </p:nvSpPr>
        <p:spPr>
          <a:xfrm>
            <a:off x="831850" y="4724400"/>
            <a:ext cx="174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正与 </a:t>
            </a:r>
            <a:r>
              <a:rPr lang="en-US" altLang="zh-CN" sz="2400" b="1" dirty="0"/>
              <a:t>= </a:t>
            </a:r>
            <a:r>
              <a:rPr lang="zh-CN" altLang="en-US" sz="2400" b="1" dirty="0"/>
              <a:t>负或</a:t>
            </a:r>
            <a:endParaRPr lang="zh-CN" altLang="en-US" sz="2400" dirty="0"/>
          </a:p>
        </p:txBody>
      </p:sp>
      <p:sp>
        <p:nvSpPr>
          <p:cNvPr id="49227" name="Text Box 75"/>
          <p:cNvSpPr txBox="1"/>
          <p:nvPr/>
        </p:nvSpPr>
        <p:spPr>
          <a:xfrm>
            <a:off x="831850" y="5105400"/>
            <a:ext cx="174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正或 </a:t>
            </a:r>
            <a:r>
              <a:rPr lang="en-US" altLang="zh-CN" sz="2400" b="1" dirty="0"/>
              <a:t>= </a:t>
            </a:r>
            <a:r>
              <a:rPr lang="zh-CN" altLang="en-US" sz="2400" b="1" dirty="0"/>
              <a:t>负与</a:t>
            </a:r>
            <a:endParaRPr lang="zh-CN" altLang="en-US" sz="2400" b="1" dirty="0"/>
          </a:p>
        </p:txBody>
      </p:sp>
      <p:sp>
        <p:nvSpPr>
          <p:cNvPr id="49228" name="Text Box 76"/>
          <p:cNvSpPr txBox="1"/>
          <p:nvPr/>
        </p:nvSpPr>
        <p:spPr>
          <a:xfrm>
            <a:off x="828675" y="5562600"/>
            <a:ext cx="23574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正与非 </a:t>
            </a:r>
            <a:r>
              <a:rPr lang="en-US" altLang="zh-CN" sz="2400" b="1" dirty="0"/>
              <a:t>= </a:t>
            </a:r>
            <a:r>
              <a:rPr lang="zh-CN" altLang="en-US" sz="2400" b="1" dirty="0"/>
              <a:t>负或非</a:t>
            </a:r>
            <a:endParaRPr lang="zh-CN" altLang="en-US" sz="2400" dirty="0"/>
          </a:p>
        </p:txBody>
      </p:sp>
      <p:sp>
        <p:nvSpPr>
          <p:cNvPr id="49229" name="Text Box 77"/>
          <p:cNvSpPr txBox="1"/>
          <p:nvPr/>
        </p:nvSpPr>
        <p:spPr>
          <a:xfrm>
            <a:off x="854075" y="6019800"/>
            <a:ext cx="23574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正或非 </a:t>
            </a:r>
            <a:r>
              <a:rPr lang="en-US" altLang="zh-CN" sz="2400" b="1" dirty="0"/>
              <a:t>= </a:t>
            </a:r>
            <a:r>
              <a:rPr lang="zh-CN" altLang="en-US" sz="2400" b="1" dirty="0"/>
              <a:t>负与非</a:t>
            </a:r>
            <a:endParaRPr lang="zh-CN" altLang="en-US" sz="2400" dirty="0"/>
          </a:p>
        </p:txBody>
      </p:sp>
      <p:grpSp>
        <p:nvGrpSpPr>
          <p:cNvPr id="9" name="Group 102"/>
          <p:cNvGrpSpPr/>
          <p:nvPr/>
        </p:nvGrpSpPr>
        <p:grpSpPr>
          <a:xfrm>
            <a:off x="469900" y="4191000"/>
            <a:ext cx="3568700" cy="2362200"/>
            <a:chOff x="296" y="2640"/>
            <a:chExt cx="2248" cy="1488"/>
          </a:xfrm>
        </p:grpSpPr>
        <p:sp>
          <p:nvSpPr>
            <p:cNvPr id="61480" name="Text Box 70"/>
            <p:cNvSpPr txBox="1"/>
            <p:nvPr/>
          </p:nvSpPr>
          <p:spPr>
            <a:xfrm>
              <a:off x="296" y="2669"/>
              <a:ext cx="19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/>
                <a:t>正、负逻辑间关系</a:t>
              </a:r>
              <a:endParaRPr lang="zh-CN" altLang="en-US" sz="2400" dirty="0"/>
            </a:p>
          </p:txBody>
        </p:sp>
        <p:sp>
          <p:nvSpPr>
            <p:cNvPr id="61481" name="Rectangle 71"/>
            <p:cNvSpPr/>
            <p:nvPr/>
          </p:nvSpPr>
          <p:spPr>
            <a:xfrm>
              <a:off x="336" y="2640"/>
              <a:ext cx="2208" cy="1488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0" name="Group 103"/>
          <p:cNvGrpSpPr/>
          <p:nvPr/>
        </p:nvGrpSpPr>
        <p:grpSpPr>
          <a:xfrm>
            <a:off x="4191000" y="4191000"/>
            <a:ext cx="4648200" cy="2438400"/>
            <a:chOff x="2640" y="2640"/>
            <a:chExt cx="2928" cy="1536"/>
          </a:xfrm>
        </p:grpSpPr>
        <p:sp>
          <p:nvSpPr>
            <p:cNvPr id="61478" name="Rectangle 78"/>
            <p:cNvSpPr/>
            <p:nvPr/>
          </p:nvSpPr>
          <p:spPr>
            <a:xfrm>
              <a:off x="2640" y="2640"/>
              <a:ext cx="2928" cy="1536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61479" name="Text Box 79"/>
            <p:cNvSpPr txBox="1"/>
            <p:nvPr/>
          </p:nvSpPr>
          <p:spPr>
            <a:xfrm>
              <a:off x="2645" y="2669"/>
              <a:ext cx="146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/>
                <a:t>逻辑符号等效</a:t>
              </a:r>
              <a:endParaRPr lang="zh-CN" altLang="en-US" sz="2400" b="1" dirty="0"/>
            </a:p>
          </p:txBody>
        </p:sp>
      </p:grpSp>
      <p:sp>
        <p:nvSpPr>
          <p:cNvPr id="49232" name="Text Box 80"/>
          <p:cNvSpPr txBox="1"/>
          <p:nvPr/>
        </p:nvSpPr>
        <p:spPr>
          <a:xfrm>
            <a:off x="4191000" y="4648200"/>
            <a:ext cx="4657725" cy="11874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  </a:t>
            </a:r>
            <a:r>
              <a:rPr lang="zh-CN" altLang="en-US" sz="2400" b="1" dirty="0"/>
              <a:t>在一种逻辑符号的所有入、出端同时加上或者去掉小圈，当一根线上有两个小圈，则无需画圈</a:t>
            </a:r>
            <a:endParaRPr lang="zh-CN" altLang="en-US" sz="2400" b="1" dirty="0"/>
          </a:p>
        </p:txBody>
      </p:sp>
      <p:sp>
        <p:nvSpPr>
          <p:cNvPr id="49234" name="Text Box 82"/>
          <p:cNvSpPr txBox="1"/>
          <p:nvPr/>
        </p:nvSpPr>
        <p:spPr>
          <a:xfrm>
            <a:off x="4114800" y="5791200"/>
            <a:ext cx="464820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  </a:t>
            </a:r>
            <a:r>
              <a:rPr lang="zh-CN" altLang="en-US" sz="2400" b="1" dirty="0"/>
              <a:t>原来的符号互换（与</a:t>
            </a:r>
            <a:r>
              <a:rPr lang="zh-CN" altLang="en-US" sz="2400" b="1" dirty="0">
                <a:latin typeface="宋体" panose="02010600030101010101" pitchFamily="2" charset="-122"/>
              </a:rPr>
              <a:t>←→</a:t>
            </a:r>
            <a:r>
              <a:rPr lang="zh-CN" altLang="en-US" sz="2400" b="1" dirty="0"/>
              <a:t>或、同或</a:t>
            </a:r>
            <a:r>
              <a:rPr lang="zh-CN" altLang="en-US" sz="2400" b="1" dirty="0">
                <a:latin typeface="宋体" panose="02010600030101010101" pitchFamily="2" charset="-122"/>
              </a:rPr>
              <a:t>←→</a:t>
            </a:r>
            <a:r>
              <a:rPr lang="zh-CN" altLang="en-US" sz="2400" b="1" dirty="0"/>
              <a:t>异或</a:t>
            </a:r>
            <a:r>
              <a:rPr lang="zh-CN" altLang="en-US" sz="2400" dirty="0"/>
              <a:t>）</a:t>
            </a:r>
            <a:endParaRPr lang="zh-CN" altLang="en-US" sz="2400" dirty="0"/>
          </a:p>
        </p:txBody>
      </p:sp>
      <p:grpSp>
        <p:nvGrpSpPr>
          <p:cNvPr id="11" name="Group 85"/>
          <p:cNvGrpSpPr/>
          <p:nvPr/>
        </p:nvGrpSpPr>
        <p:grpSpPr>
          <a:xfrm>
            <a:off x="1905000" y="1219200"/>
            <a:ext cx="3429000" cy="1066800"/>
            <a:chOff x="1440" y="768"/>
            <a:chExt cx="2160" cy="672"/>
          </a:xfrm>
        </p:grpSpPr>
        <p:sp>
          <p:nvSpPr>
            <p:cNvPr id="61476" name="AutoShape 83"/>
            <p:cNvSpPr/>
            <p:nvPr/>
          </p:nvSpPr>
          <p:spPr>
            <a:xfrm>
              <a:off x="1440" y="768"/>
              <a:ext cx="2160" cy="672"/>
            </a:xfrm>
            <a:prstGeom prst="wedgeRectCallout">
              <a:avLst>
                <a:gd name="adj1" fmla="val -58333"/>
                <a:gd name="adj2" fmla="val -57440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1477" name="Text Box 84"/>
            <p:cNvSpPr txBox="1"/>
            <p:nvPr/>
          </p:nvSpPr>
          <p:spPr>
            <a:xfrm>
              <a:off x="1488" y="816"/>
              <a:ext cx="2010" cy="51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高电平</a:t>
              </a:r>
              <a:r>
                <a:rPr lang="en-US" altLang="zh-CN" sz="2400" b="1" dirty="0"/>
                <a:t>V</a:t>
              </a:r>
              <a:r>
                <a:rPr lang="en-US" altLang="zh-CN" sz="2400" b="1" baseline="-25000" dirty="0"/>
                <a:t>H</a:t>
              </a:r>
              <a:r>
                <a:rPr lang="zh-CN" altLang="en-US" sz="2400" b="1" dirty="0"/>
                <a:t>用逻辑</a:t>
              </a:r>
              <a:r>
                <a:rPr lang="en-US" altLang="zh-CN" sz="2400" b="1" dirty="0"/>
                <a:t>1</a:t>
              </a:r>
              <a:r>
                <a:rPr lang="zh-CN" altLang="en-US" sz="2400" b="1" dirty="0"/>
                <a:t>表示，低电平</a:t>
              </a:r>
              <a:r>
                <a:rPr lang="en-US" altLang="zh-CN" sz="2400" b="1" dirty="0"/>
                <a:t>V</a:t>
              </a:r>
              <a:r>
                <a:rPr lang="en-US" altLang="zh-CN" sz="2400" b="1" baseline="-25000" dirty="0"/>
                <a:t>L</a:t>
              </a:r>
              <a:r>
                <a:rPr lang="zh-CN" altLang="en-US" sz="2400" b="1" dirty="0"/>
                <a:t>用逻辑</a:t>
              </a:r>
              <a:r>
                <a:rPr lang="en-US" altLang="zh-CN" sz="2400" b="1" dirty="0"/>
                <a:t>0</a:t>
              </a:r>
              <a:r>
                <a:rPr lang="zh-CN" altLang="en-US" sz="2400" b="1" dirty="0"/>
                <a:t>表示</a:t>
              </a:r>
              <a:endParaRPr lang="zh-CN" altLang="en-US" sz="2400" dirty="0"/>
            </a:p>
          </p:txBody>
        </p:sp>
      </p:grpSp>
      <p:pic>
        <p:nvPicPr>
          <p:cNvPr id="61468" name="Picture 96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6096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69" name="Text Box 97">
            <a:hlinkClick r:id="rId1" action="ppaction://hlinksldjump"/>
          </p:cNvPr>
          <p:cNvSpPr txBox="1"/>
          <p:nvPr/>
        </p:nvSpPr>
        <p:spPr>
          <a:xfrm>
            <a:off x="7588250" y="6858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  <p:sp>
        <p:nvSpPr>
          <p:cNvPr id="49250" name="Text Box 98"/>
          <p:cNvSpPr txBox="1"/>
          <p:nvPr/>
        </p:nvSpPr>
        <p:spPr>
          <a:xfrm>
            <a:off x="152400" y="685800"/>
            <a:ext cx="376396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（四）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正逻辑</a:t>
            </a:r>
            <a:r>
              <a:rPr lang="zh-CN" altLang="en-US" sz="2800" b="1" dirty="0">
                <a:latin typeface="宋体" panose="02010600030101010101" pitchFamily="2" charset="-122"/>
              </a:rPr>
              <a:t>与</a:t>
            </a: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负逻辑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49251" name="Text Box 99" descr="75%"/>
          <p:cNvSpPr txBox="1"/>
          <p:nvPr/>
        </p:nvSpPr>
        <p:spPr>
          <a:xfrm>
            <a:off x="4408488" y="1295400"/>
            <a:ext cx="1611312" cy="519113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（与门）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49252" name="Text Box 100" descr="75%"/>
          <p:cNvSpPr txBox="1"/>
          <p:nvPr/>
        </p:nvSpPr>
        <p:spPr>
          <a:xfrm>
            <a:off x="7086600" y="1295400"/>
            <a:ext cx="1611313" cy="519113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（或门）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pSp>
        <p:nvGrpSpPr>
          <p:cNvPr id="12" name="Group 86"/>
          <p:cNvGrpSpPr/>
          <p:nvPr/>
        </p:nvGrpSpPr>
        <p:grpSpPr>
          <a:xfrm>
            <a:off x="3429000" y="1143000"/>
            <a:ext cx="3429000" cy="1066800"/>
            <a:chOff x="1440" y="768"/>
            <a:chExt cx="2160" cy="672"/>
          </a:xfrm>
        </p:grpSpPr>
        <p:sp>
          <p:nvSpPr>
            <p:cNvPr id="61474" name="AutoShape 87"/>
            <p:cNvSpPr/>
            <p:nvPr/>
          </p:nvSpPr>
          <p:spPr>
            <a:xfrm>
              <a:off x="1440" y="768"/>
              <a:ext cx="2160" cy="672"/>
            </a:xfrm>
            <a:prstGeom prst="wedgeRectCallout">
              <a:avLst>
                <a:gd name="adj1" fmla="val -58333"/>
                <a:gd name="adj2" fmla="val -57440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1475" name="Text Box 88"/>
            <p:cNvSpPr txBox="1"/>
            <p:nvPr/>
          </p:nvSpPr>
          <p:spPr>
            <a:xfrm>
              <a:off x="1488" y="816"/>
              <a:ext cx="2010" cy="51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高电平</a:t>
              </a:r>
              <a:r>
                <a:rPr lang="en-US" altLang="zh-CN" sz="2400" b="1" dirty="0"/>
                <a:t>V</a:t>
              </a:r>
              <a:r>
                <a:rPr lang="en-US" altLang="zh-CN" sz="2400" b="1" baseline="-25000" dirty="0"/>
                <a:t>H</a:t>
              </a:r>
              <a:r>
                <a:rPr lang="zh-CN" altLang="en-US" sz="2400" b="1" dirty="0"/>
                <a:t>用逻辑</a:t>
              </a:r>
              <a:r>
                <a:rPr lang="en-US" altLang="zh-CN" sz="2400" b="1" dirty="0"/>
                <a:t>0</a:t>
              </a:r>
              <a:r>
                <a:rPr lang="zh-CN" altLang="en-US" sz="2400" b="1" dirty="0"/>
                <a:t>表示，低电平</a:t>
              </a:r>
              <a:r>
                <a:rPr lang="en-US" altLang="zh-CN" sz="2400" b="1" dirty="0"/>
                <a:t>V</a:t>
              </a:r>
              <a:r>
                <a:rPr lang="en-US" altLang="zh-CN" sz="2400" b="1" baseline="-25000" dirty="0"/>
                <a:t>L</a:t>
              </a:r>
              <a:r>
                <a:rPr lang="zh-CN" altLang="en-US" sz="2400" b="1" dirty="0"/>
                <a:t>用逻辑</a:t>
              </a:r>
              <a:r>
                <a:rPr lang="en-US" altLang="zh-CN" sz="2400" b="1" dirty="0"/>
                <a:t>1</a:t>
              </a:r>
              <a:r>
                <a:rPr lang="zh-CN" altLang="en-US" sz="2400" b="1" dirty="0"/>
                <a:t>表示</a:t>
              </a:r>
              <a:endParaRPr lang="zh-CN" altLang="en-US" sz="2400" dirty="0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9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9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9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9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7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75"/>
                                        <p:tgtEl>
                                          <p:spTgt spid="49217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9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9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9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9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300"/>
                                        <p:tgtEl>
                                          <p:spTgt spid="4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34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300"/>
                                        <p:tgtEl>
                                          <p:spTgt spid="49234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9" grpId="0"/>
      <p:bldP spid="49160" grpId="0"/>
      <p:bldP spid="49161" grpId="0"/>
      <p:bldP spid="49165" grpId="0"/>
      <p:bldP spid="49166" grpId="0"/>
      <p:bldP spid="49167" grpId="0"/>
      <p:bldP spid="49168" grpId="0"/>
      <p:bldP spid="49169" grpId="0"/>
      <p:bldP spid="49215" grpId="0"/>
      <p:bldP spid="49216" grpId="0"/>
      <p:bldP spid="49217" grpId="0" build="p"/>
      <p:bldP spid="49218" grpId="0"/>
      <p:bldP spid="49220" grpId="0"/>
      <p:bldP spid="49221" grpId="0"/>
      <p:bldP spid="49226" grpId="0"/>
      <p:bldP spid="49227" grpId="0"/>
      <p:bldP spid="49228" grpId="0"/>
      <p:bldP spid="49229" grpId="0"/>
      <p:bldP spid="49232" grpId="0"/>
      <p:bldP spid="49234" grpId="0" build="p"/>
      <p:bldP spid="49250" grpId="0"/>
      <p:bldP spid="49251" grpId="0"/>
      <p:bldP spid="4925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2"/>
          <p:cNvSpPr/>
          <p:nvPr/>
        </p:nvSpPr>
        <p:spPr>
          <a:xfrm>
            <a:off x="1066800" y="609600"/>
            <a:ext cx="6553200" cy="7620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4000" b="1" dirty="0">
                <a:solidFill>
                  <a:srgbClr val="A50021"/>
                </a:solidFill>
                <a:ea typeface="黑体" panose="02010609060101010101" pitchFamily="49" charset="-122"/>
              </a:rPr>
              <a:t>逻辑函数及其表示方法</a:t>
            </a:r>
            <a:endParaRPr lang="zh-CN" altLang="en-US" sz="4400" b="1" dirty="0">
              <a:solidFill>
                <a:srgbClr val="A50021"/>
              </a:solidFill>
              <a:ea typeface="黑体" panose="02010609060101010101" pitchFamily="49" charset="-122"/>
            </a:endParaRPr>
          </a:p>
        </p:txBody>
      </p:sp>
      <p:sp>
        <p:nvSpPr>
          <p:cNvPr id="50179" name="Text Box 3"/>
          <p:cNvSpPr txBox="1"/>
          <p:nvPr/>
        </p:nvSpPr>
        <p:spPr>
          <a:xfrm>
            <a:off x="457200" y="1600200"/>
            <a:ext cx="23622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一、逻辑函数</a:t>
            </a:r>
            <a:endParaRPr lang="zh-CN" altLang="en-US" sz="2400" b="1" dirty="0"/>
          </a:p>
        </p:txBody>
      </p:sp>
      <p:sp>
        <p:nvSpPr>
          <p:cNvPr id="50180" name="Text Box 4" descr="羊皮纸"/>
          <p:cNvSpPr txBox="1"/>
          <p:nvPr/>
        </p:nvSpPr>
        <p:spPr>
          <a:xfrm>
            <a:off x="990600" y="2286000"/>
            <a:ext cx="6858000" cy="1187450"/>
          </a:xfrm>
          <a:prstGeom prst="rect">
            <a:avLst/>
          </a:prstGeom>
          <a:blipFill rotWithShape="0">
            <a:blip r:embed="rId1"/>
          </a:blipFill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用有限个与、或、非逻辑运算符，按某种逻辑关系将逻辑变量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B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...</a:t>
            </a:r>
            <a:r>
              <a:rPr lang="zh-CN" altLang="en-US" sz="2400" b="1" dirty="0"/>
              <a:t>连接起来，所得的表达式</a:t>
            </a:r>
            <a:r>
              <a:rPr lang="en-US" altLang="zh-CN" sz="2400" b="1" dirty="0">
                <a:solidFill>
                  <a:schemeClr val="accent2"/>
                </a:solidFill>
              </a:rPr>
              <a:t>F </a:t>
            </a:r>
            <a:r>
              <a:rPr lang="en-US" altLang="zh-CN" sz="2400" b="1" dirty="0"/>
              <a:t>=  f</a:t>
            </a:r>
            <a:r>
              <a:rPr lang="zh-CN" altLang="en-US" sz="2400" b="1" dirty="0"/>
              <a:t>（</a:t>
            </a:r>
            <a:r>
              <a:rPr lang="en-US" altLang="zh-CN" sz="2400" b="1" dirty="0">
                <a:solidFill>
                  <a:schemeClr val="accent2"/>
                </a:solidFill>
              </a:rPr>
              <a:t>A</a:t>
            </a:r>
            <a:r>
              <a:rPr lang="zh-CN" altLang="en-US" sz="2400" b="1" dirty="0">
                <a:solidFill>
                  <a:schemeClr val="accent2"/>
                </a:solidFill>
              </a:rPr>
              <a:t>、</a:t>
            </a:r>
            <a:r>
              <a:rPr lang="en-US" altLang="zh-CN" sz="2400" b="1" dirty="0">
                <a:solidFill>
                  <a:schemeClr val="accent2"/>
                </a:solidFill>
              </a:rPr>
              <a:t>B</a:t>
            </a:r>
            <a:r>
              <a:rPr lang="zh-CN" altLang="en-US" sz="2400" b="1" dirty="0">
                <a:solidFill>
                  <a:schemeClr val="accent2"/>
                </a:solidFill>
              </a:rPr>
              <a:t>、</a:t>
            </a:r>
            <a:r>
              <a:rPr lang="en-US" altLang="zh-CN" sz="2400" b="1" dirty="0">
                <a:solidFill>
                  <a:schemeClr val="accent2"/>
                </a:solidFill>
              </a:rPr>
              <a:t>C</a:t>
            </a:r>
            <a:r>
              <a:rPr lang="zh-CN" altLang="en-US" sz="2400" b="1" dirty="0">
                <a:solidFill>
                  <a:schemeClr val="accent2"/>
                </a:solidFill>
              </a:rPr>
              <a:t>、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...</a:t>
            </a:r>
            <a:r>
              <a:rPr lang="zh-CN" altLang="en-US" sz="2400" b="1" dirty="0">
                <a:solidFill>
                  <a:schemeClr val="accent2"/>
                </a:solidFill>
              </a:rPr>
              <a:t>）</a:t>
            </a:r>
            <a:r>
              <a:rPr lang="zh-CN" altLang="en-US" sz="2400" b="1" dirty="0"/>
              <a:t>称为逻辑函数。</a:t>
            </a:r>
            <a:endParaRPr lang="zh-CN" altLang="en-US" sz="2400" b="1" dirty="0"/>
          </a:p>
        </p:txBody>
      </p:sp>
      <p:sp>
        <p:nvSpPr>
          <p:cNvPr id="50181" name="Text Box 5"/>
          <p:cNvSpPr txBox="1"/>
          <p:nvPr/>
        </p:nvSpPr>
        <p:spPr>
          <a:xfrm>
            <a:off x="439738" y="4495800"/>
            <a:ext cx="41306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二、</a:t>
            </a:r>
            <a:r>
              <a:rPr lang="zh-CN" altLang="en-US" sz="2800" b="1" dirty="0"/>
              <a:t>逻辑函数的表示方法</a:t>
            </a:r>
            <a:endParaRPr lang="zh-CN" altLang="en-US" sz="2400" dirty="0"/>
          </a:p>
        </p:txBody>
      </p:sp>
      <p:grpSp>
        <p:nvGrpSpPr>
          <p:cNvPr id="2" name="Group 20"/>
          <p:cNvGrpSpPr/>
          <p:nvPr/>
        </p:nvGrpSpPr>
        <p:grpSpPr>
          <a:xfrm>
            <a:off x="457200" y="5486400"/>
            <a:ext cx="1828800" cy="768350"/>
            <a:chOff x="288" y="3648"/>
            <a:chExt cx="1152" cy="484"/>
          </a:xfrm>
        </p:grpSpPr>
        <p:graphicFrame>
          <p:nvGraphicFramePr>
            <p:cNvPr id="62496" name="Object 12">
              <a:hlinkClick r:id="rId2" action="ppaction://hlinksldjump"/>
            </p:cNvPr>
            <p:cNvGraphicFramePr>
              <a:graphicFrameLocks noChangeAspect="1"/>
            </p:cNvGraphicFramePr>
            <p:nvPr/>
          </p:nvGraphicFramePr>
          <p:xfrm>
            <a:off x="288" y="3648"/>
            <a:ext cx="1152" cy="4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" r:id="rId3" imgW="971550" imgH="409575" progId="MS_ClipArt_Gallery.2">
                    <p:embed/>
                  </p:oleObj>
                </mc:Choice>
                <mc:Fallback>
                  <p:oleObj name="" r:id="rId3" imgW="971550" imgH="409575" progId="MS_ClipArt_Gallery.2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88" y="3648"/>
                          <a:ext cx="1152" cy="4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97" name="Text Box 16"/>
            <p:cNvSpPr txBox="1"/>
            <p:nvPr/>
          </p:nvSpPr>
          <p:spPr>
            <a:xfrm>
              <a:off x="480" y="3744"/>
              <a:ext cx="6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真值表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3" name="Group 21"/>
          <p:cNvGrpSpPr/>
          <p:nvPr/>
        </p:nvGrpSpPr>
        <p:grpSpPr>
          <a:xfrm>
            <a:off x="2590800" y="5486400"/>
            <a:ext cx="1828800" cy="768350"/>
            <a:chOff x="1728" y="3648"/>
            <a:chExt cx="1152" cy="484"/>
          </a:xfrm>
        </p:grpSpPr>
        <p:graphicFrame>
          <p:nvGraphicFramePr>
            <p:cNvPr id="62494" name="Object 13"/>
            <p:cNvGraphicFramePr>
              <a:graphicFrameLocks noChangeAspect="1"/>
            </p:cNvGraphicFramePr>
            <p:nvPr/>
          </p:nvGraphicFramePr>
          <p:xfrm>
            <a:off x="1728" y="3648"/>
            <a:ext cx="1152" cy="4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" r:id="rId5" imgW="971550" imgH="409575" progId="MS_ClipArt_Gallery.2">
                    <p:embed/>
                  </p:oleObj>
                </mc:Choice>
                <mc:Fallback>
                  <p:oleObj name="" r:id="rId5" imgW="971550" imgH="409575" progId="MS_ClipArt_Gallery.2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728" y="3648"/>
                          <a:ext cx="1152" cy="4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95" name="Text Box 17"/>
            <p:cNvSpPr txBox="1"/>
            <p:nvPr/>
          </p:nvSpPr>
          <p:spPr>
            <a:xfrm>
              <a:off x="1728" y="3744"/>
              <a:ext cx="108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逻辑函数式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4" name="Group 24"/>
          <p:cNvGrpSpPr/>
          <p:nvPr/>
        </p:nvGrpSpPr>
        <p:grpSpPr>
          <a:xfrm>
            <a:off x="4800600" y="5480050"/>
            <a:ext cx="1828800" cy="768350"/>
            <a:chOff x="3120" y="3648"/>
            <a:chExt cx="1152" cy="484"/>
          </a:xfrm>
        </p:grpSpPr>
        <p:graphicFrame>
          <p:nvGraphicFramePr>
            <p:cNvPr id="62492" name="Object 14"/>
            <p:cNvGraphicFramePr>
              <a:graphicFrameLocks noChangeAspect="1"/>
            </p:cNvGraphicFramePr>
            <p:nvPr/>
          </p:nvGraphicFramePr>
          <p:xfrm>
            <a:off x="3120" y="3648"/>
            <a:ext cx="1152" cy="4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6" imgW="971550" imgH="409575" progId="MS_ClipArt_Gallery.2">
                    <p:embed/>
                  </p:oleObj>
                </mc:Choice>
                <mc:Fallback>
                  <p:oleObj name="" r:id="rId6" imgW="971550" imgH="409575" progId="MS_ClipArt_Gallery.2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120" y="3648"/>
                          <a:ext cx="1152" cy="4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93" name="Text Box 18"/>
            <p:cNvSpPr txBox="1"/>
            <p:nvPr/>
          </p:nvSpPr>
          <p:spPr>
            <a:xfrm>
              <a:off x="3216" y="3744"/>
              <a:ext cx="7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24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逻辑图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5" name="Group 23"/>
          <p:cNvGrpSpPr/>
          <p:nvPr/>
        </p:nvGrpSpPr>
        <p:grpSpPr>
          <a:xfrm>
            <a:off x="7010400" y="5480050"/>
            <a:ext cx="1828800" cy="768350"/>
            <a:chOff x="4464" y="3648"/>
            <a:chExt cx="1152" cy="484"/>
          </a:xfrm>
        </p:grpSpPr>
        <p:graphicFrame>
          <p:nvGraphicFramePr>
            <p:cNvPr id="62490" name="Object 15"/>
            <p:cNvGraphicFramePr>
              <a:graphicFrameLocks noChangeAspect="1"/>
            </p:cNvGraphicFramePr>
            <p:nvPr/>
          </p:nvGraphicFramePr>
          <p:xfrm>
            <a:off x="4464" y="3648"/>
            <a:ext cx="1152" cy="4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7" imgW="971550" imgH="409575" progId="MS_ClipArt_Gallery.2">
                    <p:embed/>
                  </p:oleObj>
                </mc:Choice>
                <mc:Fallback>
                  <p:oleObj name="" r:id="rId7" imgW="971550" imgH="409575" progId="MS_ClipArt_Gallery.2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464" y="3648"/>
                          <a:ext cx="1152" cy="4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91" name="Text Box 19"/>
            <p:cNvSpPr txBox="1"/>
            <p:nvPr/>
          </p:nvSpPr>
          <p:spPr>
            <a:xfrm>
              <a:off x="4656" y="3744"/>
              <a:ext cx="6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波形图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6" name="Group 33"/>
          <p:cNvGrpSpPr/>
          <p:nvPr/>
        </p:nvGrpSpPr>
        <p:grpSpPr>
          <a:xfrm>
            <a:off x="685800" y="4495800"/>
            <a:ext cx="4114800" cy="914400"/>
            <a:chOff x="432" y="3072"/>
            <a:chExt cx="2592" cy="576"/>
          </a:xfrm>
        </p:grpSpPr>
        <p:sp>
          <p:nvSpPr>
            <p:cNvPr id="62488" name="AutoShape 25"/>
            <p:cNvSpPr/>
            <p:nvPr/>
          </p:nvSpPr>
          <p:spPr>
            <a:xfrm>
              <a:off x="432" y="3072"/>
              <a:ext cx="2592" cy="576"/>
            </a:xfrm>
            <a:prstGeom prst="wedgeRectCallout">
              <a:avLst>
                <a:gd name="adj1" fmla="val -34491"/>
                <a:gd name="adj2" fmla="val 86634"/>
              </a:avLst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2489" name="Text Box 26"/>
            <p:cNvSpPr txBox="1"/>
            <p:nvPr/>
          </p:nvSpPr>
          <p:spPr>
            <a:xfrm>
              <a:off x="480" y="3072"/>
              <a:ext cx="2506" cy="51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输入变量</a:t>
              </a:r>
              <a:r>
                <a:rPr lang="zh-CN" altLang="en-US" sz="24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不同取值组合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与</a:t>
              </a:r>
              <a:r>
                <a:rPr lang="zh-CN" altLang="en-US" sz="24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函数值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间的对应关系列成表格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7" name="Group 34"/>
          <p:cNvGrpSpPr/>
          <p:nvPr/>
        </p:nvGrpSpPr>
        <p:grpSpPr>
          <a:xfrm>
            <a:off x="5257800" y="4572000"/>
            <a:ext cx="2971800" cy="990600"/>
            <a:chOff x="3264" y="3120"/>
            <a:chExt cx="1872" cy="624"/>
          </a:xfrm>
        </p:grpSpPr>
        <p:sp>
          <p:nvSpPr>
            <p:cNvPr id="62486" name="AutoShape 27"/>
            <p:cNvSpPr/>
            <p:nvPr/>
          </p:nvSpPr>
          <p:spPr>
            <a:xfrm>
              <a:off x="3264" y="3120"/>
              <a:ext cx="1872" cy="624"/>
            </a:xfrm>
            <a:prstGeom prst="wedgeRectCallout">
              <a:avLst>
                <a:gd name="adj1" fmla="val -42787"/>
                <a:gd name="adj2" fmla="val 70032"/>
              </a:avLst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2487" name="Text Box 30"/>
            <p:cNvSpPr txBox="1"/>
            <p:nvPr/>
          </p:nvSpPr>
          <p:spPr>
            <a:xfrm>
              <a:off x="3408" y="3168"/>
              <a:ext cx="1690" cy="51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用</a:t>
              </a:r>
              <a:r>
                <a:rPr lang="zh-CN" altLang="en-US" sz="2400" b="1" dirty="0">
                  <a:solidFill>
                    <a:schemeClr val="accent2"/>
                  </a:solidFill>
                </a:rPr>
                <a:t>逻辑符号</a:t>
              </a:r>
              <a:r>
                <a:rPr lang="zh-CN" altLang="en-US" sz="2400" b="1" dirty="0"/>
                <a:t>来表示函数式的运算关系</a:t>
              </a:r>
              <a:endParaRPr lang="zh-CN" altLang="en-US" sz="2400" dirty="0"/>
            </a:p>
          </p:txBody>
        </p:sp>
      </p:grpSp>
      <p:grpSp>
        <p:nvGrpSpPr>
          <p:cNvPr id="8" name="Group 38"/>
          <p:cNvGrpSpPr/>
          <p:nvPr/>
        </p:nvGrpSpPr>
        <p:grpSpPr>
          <a:xfrm>
            <a:off x="3505200" y="2133600"/>
            <a:ext cx="2895600" cy="838200"/>
            <a:chOff x="2112" y="1392"/>
            <a:chExt cx="1824" cy="528"/>
          </a:xfrm>
        </p:grpSpPr>
        <p:sp>
          <p:nvSpPr>
            <p:cNvPr id="62484" name="AutoShape 36"/>
            <p:cNvSpPr/>
            <p:nvPr/>
          </p:nvSpPr>
          <p:spPr>
            <a:xfrm>
              <a:off x="2112" y="1392"/>
              <a:ext cx="1824" cy="528"/>
            </a:xfrm>
            <a:prstGeom prst="wedgeEllipseCallout">
              <a:avLst>
                <a:gd name="adj1" fmla="val -47370"/>
                <a:gd name="adj2" fmla="val 70074"/>
              </a:avLst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2485" name="Text Box 37"/>
            <p:cNvSpPr txBox="1"/>
            <p:nvPr/>
          </p:nvSpPr>
          <p:spPr>
            <a:xfrm>
              <a:off x="2544" y="1536"/>
              <a:ext cx="892" cy="28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输入变量</a:t>
              </a:r>
              <a:endParaRPr lang="zh-CN" altLang="en-US" sz="4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9" name="Group 43"/>
          <p:cNvGrpSpPr/>
          <p:nvPr/>
        </p:nvGrpSpPr>
        <p:grpSpPr>
          <a:xfrm>
            <a:off x="1524000" y="1752600"/>
            <a:ext cx="1828800" cy="1143000"/>
            <a:chOff x="1008" y="1152"/>
            <a:chExt cx="1152" cy="720"/>
          </a:xfrm>
        </p:grpSpPr>
        <p:sp>
          <p:nvSpPr>
            <p:cNvPr id="62482" name="AutoShape 39"/>
            <p:cNvSpPr/>
            <p:nvPr/>
          </p:nvSpPr>
          <p:spPr>
            <a:xfrm>
              <a:off x="1008" y="1152"/>
              <a:ext cx="1152" cy="720"/>
            </a:xfrm>
            <a:prstGeom prst="wedgeEllipseCallout">
              <a:avLst>
                <a:gd name="adj1" fmla="val -35417"/>
                <a:gd name="adj2" fmla="val 68056"/>
              </a:avLst>
            </a:prstGeom>
            <a:solidFill>
              <a:srgbClr val="FFCC00"/>
            </a:solidFill>
            <a:ln w="9525" cap="flat" cmpd="sng">
              <a:solidFill>
                <a:srgbClr val="FF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2483" name="Text Box 42"/>
            <p:cNvSpPr txBox="1"/>
            <p:nvPr/>
          </p:nvSpPr>
          <p:spPr>
            <a:xfrm>
              <a:off x="1104" y="1344"/>
              <a:ext cx="892" cy="28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输出变量</a:t>
              </a:r>
              <a:endParaRPr lang="zh-CN" altLang="en-US" sz="24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50220" name="Text Box 44" descr="羊皮纸"/>
          <p:cNvSpPr txBox="1"/>
          <p:nvPr/>
        </p:nvSpPr>
        <p:spPr>
          <a:xfrm>
            <a:off x="990600" y="3429000"/>
            <a:ext cx="6858000" cy="822325"/>
          </a:xfrm>
          <a:prstGeom prst="rect">
            <a:avLst/>
          </a:prstGeom>
          <a:blipFill rotWithShape="0">
            <a:blip r:embed="rId1"/>
          </a:blipFill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取值：逻辑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</a:rPr>
              <a:t>、逻辑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。逻辑</a:t>
            </a:r>
            <a:r>
              <a:rPr lang="en-US" altLang="zh-CN" sz="2400" b="1" dirty="0">
                <a:latin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</a:rPr>
              <a:t>和逻辑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不代表</a:t>
            </a:r>
            <a:r>
              <a:rPr lang="zh-CN" altLang="en-US" sz="2400" b="1" u="sng" dirty="0">
                <a:latin typeface="宋体" panose="02010600030101010101" pitchFamily="2" charset="-122"/>
              </a:rPr>
              <a:t>数值大小</a:t>
            </a:r>
            <a:r>
              <a:rPr lang="zh-CN" altLang="en-US" sz="2400" b="1" dirty="0">
                <a:latin typeface="宋体" panose="02010600030101010101" pitchFamily="2" charset="-122"/>
              </a:rPr>
              <a:t>，仅表示相互矛盾、相互对立的</a:t>
            </a:r>
            <a:r>
              <a:rPr lang="zh-CN" altLang="en-US" sz="2400" b="1" u="sng" dirty="0">
                <a:latin typeface="宋体" panose="02010600030101010101" pitchFamily="2" charset="-122"/>
              </a:rPr>
              <a:t>两种逻辑态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grpSp>
        <p:nvGrpSpPr>
          <p:cNvPr id="10" name="Group 35"/>
          <p:cNvGrpSpPr/>
          <p:nvPr/>
        </p:nvGrpSpPr>
        <p:grpSpPr>
          <a:xfrm>
            <a:off x="4876800" y="3733800"/>
            <a:ext cx="3581400" cy="1219200"/>
            <a:chOff x="3072" y="2592"/>
            <a:chExt cx="2256" cy="768"/>
          </a:xfrm>
        </p:grpSpPr>
        <p:sp>
          <p:nvSpPr>
            <p:cNvPr id="62480" name="AutoShape 31"/>
            <p:cNvSpPr/>
            <p:nvPr/>
          </p:nvSpPr>
          <p:spPr>
            <a:xfrm>
              <a:off x="3072" y="2592"/>
              <a:ext cx="2256" cy="768"/>
            </a:xfrm>
            <a:prstGeom prst="wedgeRectCallout">
              <a:avLst>
                <a:gd name="adj1" fmla="val 33380"/>
                <a:gd name="adj2" fmla="val 111199"/>
              </a:avLst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2481" name="Text Box 32"/>
            <p:cNvSpPr txBox="1"/>
            <p:nvPr/>
          </p:nvSpPr>
          <p:spPr>
            <a:xfrm>
              <a:off x="3072" y="2707"/>
              <a:ext cx="2160" cy="51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反映</a:t>
              </a:r>
              <a:r>
                <a:rPr lang="zh-CN" altLang="en-US" sz="24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输入和输出波形变化的图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形又叫时序图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50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50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02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 animBg="1"/>
      <p:bldP spid="50179" grpId="0"/>
      <p:bldP spid="50180" grpId="0" animBg="1"/>
      <p:bldP spid="50181" grpId="0"/>
      <p:bldP spid="5022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46"/>
          <p:cNvGrpSpPr/>
          <p:nvPr/>
        </p:nvGrpSpPr>
        <p:grpSpPr>
          <a:xfrm>
            <a:off x="457200" y="838200"/>
            <a:ext cx="3962400" cy="3276600"/>
            <a:chOff x="288" y="528"/>
            <a:chExt cx="2496" cy="2064"/>
          </a:xfrm>
        </p:grpSpPr>
        <p:graphicFrame>
          <p:nvGraphicFramePr>
            <p:cNvPr id="63591" name="Object 4"/>
            <p:cNvGraphicFramePr>
              <a:graphicFrameLocks noChangeAspect="1"/>
            </p:cNvGraphicFramePr>
            <p:nvPr/>
          </p:nvGraphicFramePr>
          <p:xfrm>
            <a:off x="384" y="720"/>
            <a:ext cx="2304" cy="1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" r:id="rId1" imgW="2324100" imgH="1228725" progId="Paint.Picture">
                    <p:embed/>
                  </p:oleObj>
                </mc:Choice>
                <mc:Fallback>
                  <p:oleObj name="" r:id="rId1" imgW="2324100" imgH="1228725" progId="Paint.Picture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84" y="720"/>
                          <a:ext cx="2304" cy="16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592" name="Rectangle 5"/>
            <p:cNvSpPr/>
            <p:nvPr/>
          </p:nvSpPr>
          <p:spPr>
            <a:xfrm>
              <a:off x="288" y="528"/>
              <a:ext cx="2496" cy="2064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3" name="Group 47"/>
          <p:cNvGrpSpPr/>
          <p:nvPr/>
        </p:nvGrpSpPr>
        <p:grpSpPr>
          <a:xfrm>
            <a:off x="5257800" y="762000"/>
            <a:ext cx="3429000" cy="3352800"/>
            <a:chOff x="3312" y="480"/>
            <a:chExt cx="2160" cy="2112"/>
          </a:xfrm>
        </p:grpSpPr>
        <p:sp>
          <p:nvSpPr>
            <p:cNvPr id="63588" name="Rectangle 6"/>
            <p:cNvSpPr/>
            <p:nvPr/>
          </p:nvSpPr>
          <p:spPr>
            <a:xfrm>
              <a:off x="3312" y="480"/>
              <a:ext cx="2160" cy="2112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63589" name="Line 7"/>
            <p:cNvSpPr/>
            <p:nvPr/>
          </p:nvSpPr>
          <p:spPr>
            <a:xfrm>
              <a:off x="3312" y="768"/>
              <a:ext cx="21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90" name="Line 8"/>
            <p:cNvSpPr/>
            <p:nvPr/>
          </p:nvSpPr>
          <p:spPr>
            <a:xfrm>
              <a:off x="4896" y="480"/>
              <a:ext cx="0" cy="21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48"/>
          <p:cNvGrpSpPr/>
          <p:nvPr/>
        </p:nvGrpSpPr>
        <p:grpSpPr>
          <a:xfrm>
            <a:off x="5521325" y="762000"/>
            <a:ext cx="1854200" cy="519113"/>
            <a:chOff x="3478" y="480"/>
            <a:chExt cx="1168" cy="327"/>
          </a:xfrm>
        </p:grpSpPr>
        <p:sp>
          <p:nvSpPr>
            <p:cNvPr id="63585" name="Text Box 9"/>
            <p:cNvSpPr txBox="1"/>
            <p:nvPr/>
          </p:nvSpPr>
          <p:spPr>
            <a:xfrm>
              <a:off x="3478" y="480"/>
              <a:ext cx="2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A</a:t>
              </a:r>
              <a:endParaRPr lang="en-US" altLang="zh-CN" sz="4400" b="1" dirty="0">
                <a:solidFill>
                  <a:schemeClr val="tx2"/>
                </a:solidFill>
              </a:endParaRPr>
            </a:p>
          </p:txBody>
        </p:sp>
        <p:sp>
          <p:nvSpPr>
            <p:cNvPr id="63586" name="Text Box 10"/>
            <p:cNvSpPr txBox="1"/>
            <p:nvPr/>
          </p:nvSpPr>
          <p:spPr>
            <a:xfrm>
              <a:off x="3959" y="480"/>
              <a:ext cx="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B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3587" name="Text Box 11"/>
            <p:cNvSpPr txBox="1"/>
            <p:nvPr/>
          </p:nvSpPr>
          <p:spPr>
            <a:xfrm>
              <a:off x="4368" y="480"/>
              <a:ext cx="2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C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sp>
        <p:nvSpPr>
          <p:cNvPr id="51212" name="Text Box 12"/>
          <p:cNvSpPr txBox="1"/>
          <p:nvPr/>
        </p:nvSpPr>
        <p:spPr>
          <a:xfrm>
            <a:off x="8001000" y="7620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F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grpSp>
        <p:nvGrpSpPr>
          <p:cNvPr id="5" name="Group 49"/>
          <p:cNvGrpSpPr/>
          <p:nvPr/>
        </p:nvGrpSpPr>
        <p:grpSpPr>
          <a:xfrm>
            <a:off x="5562600" y="1143000"/>
            <a:ext cx="1809750" cy="519113"/>
            <a:chOff x="3504" y="777"/>
            <a:chExt cx="1140" cy="327"/>
          </a:xfrm>
        </p:grpSpPr>
        <p:sp>
          <p:nvSpPr>
            <p:cNvPr id="63582" name="Text Box 13"/>
            <p:cNvSpPr txBox="1"/>
            <p:nvPr/>
          </p:nvSpPr>
          <p:spPr>
            <a:xfrm>
              <a:off x="3504" y="777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3583" name="Text Box 14"/>
            <p:cNvSpPr txBox="1"/>
            <p:nvPr/>
          </p:nvSpPr>
          <p:spPr>
            <a:xfrm>
              <a:off x="3948" y="777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3584" name="Text Box 15"/>
            <p:cNvSpPr txBox="1"/>
            <p:nvPr/>
          </p:nvSpPr>
          <p:spPr>
            <a:xfrm>
              <a:off x="4416" y="777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6" name="Group 50"/>
          <p:cNvGrpSpPr/>
          <p:nvPr/>
        </p:nvGrpSpPr>
        <p:grpSpPr>
          <a:xfrm>
            <a:off x="5562600" y="1447800"/>
            <a:ext cx="1809750" cy="533400"/>
            <a:chOff x="3504" y="960"/>
            <a:chExt cx="1140" cy="336"/>
          </a:xfrm>
        </p:grpSpPr>
        <p:sp>
          <p:nvSpPr>
            <p:cNvPr id="63579" name="Text Box 16"/>
            <p:cNvSpPr txBox="1"/>
            <p:nvPr/>
          </p:nvSpPr>
          <p:spPr>
            <a:xfrm>
              <a:off x="3504" y="960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3580" name="Text Box 17"/>
            <p:cNvSpPr txBox="1"/>
            <p:nvPr/>
          </p:nvSpPr>
          <p:spPr>
            <a:xfrm>
              <a:off x="3948" y="969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3581" name="Text Box 18"/>
            <p:cNvSpPr txBox="1"/>
            <p:nvPr/>
          </p:nvSpPr>
          <p:spPr>
            <a:xfrm>
              <a:off x="4416" y="960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7" name="Group 51"/>
          <p:cNvGrpSpPr/>
          <p:nvPr/>
        </p:nvGrpSpPr>
        <p:grpSpPr>
          <a:xfrm>
            <a:off x="5562600" y="1828800"/>
            <a:ext cx="1809750" cy="533400"/>
            <a:chOff x="3504" y="1200"/>
            <a:chExt cx="1140" cy="336"/>
          </a:xfrm>
        </p:grpSpPr>
        <p:sp>
          <p:nvSpPr>
            <p:cNvPr id="63576" name="Text Box 19"/>
            <p:cNvSpPr txBox="1"/>
            <p:nvPr/>
          </p:nvSpPr>
          <p:spPr>
            <a:xfrm>
              <a:off x="3504" y="1200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3577" name="Text Box 20"/>
            <p:cNvSpPr txBox="1"/>
            <p:nvPr/>
          </p:nvSpPr>
          <p:spPr>
            <a:xfrm>
              <a:off x="4416" y="1200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3578" name="Text Box 31"/>
            <p:cNvSpPr txBox="1"/>
            <p:nvPr/>
          </p:nvSpPr>
          <p:spPr>
            <a:xfrm>
              <a:off x="3948" y="1209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8" name="Group 52"/>
          <p:cNvGrpSpPr/>
          <p:nvPr/>
        </p:nvGrpSpPr>
        <p:grpSpPr>
          <a:xfrm>
            <a:off x="5562600" y="2209800"/>
            <a:ext cx="1809750" cy="519113"/>
            <a:chOff x="3504" y="1449"/>
            <a:chExt cx="1140" cy="327"/>
          </a:xfrm>
        </p:grpSpPr>
        <p:sp>
          <p:nvSpPr>
            <p:cNvPr id="63573" name="Text Box 21"/>
            <p:cNvSpPr txBox="1"/>
            <p:nvPr/>
          </p:nvSpPr>
          <p:spPr>
            <a:xfrm>
              <a:off x="3504" y="1449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3574" name="Text Box 22"/>
            <p:cNvSpPr txBox="1"/>
            <p:nvPr/>
          </p:nvSpPr>
          <p:spPr>
            <a:xfrm>
              <a:off x="4416" y="1449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3575" name="Text Box 32"/>
            <p:cNvSpPr txBox="1"/>
            <p:nvPr/>
          </p:nvSpPr>
          <p:spPr>
            <a:xfrm>
              <a:off x="3936" y="1449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9" name="Group 53"/>
          <p:cNvGrpSpPr/>
          <p:nvPr/>
        </p:nvGrpSpPr>
        <p:grpSpPr>
          <a:xfrm>
            <a:off x="5562600" y="2514600"/>
            <a:ext cx="1809750" cy="519113"/>
            <a:chOff x="3504" y="1689"/>
            <a:chExt cx="1140" cy="327"/>
          </a:xfrm>
        </p:grpSpPr>
        <p:sp>
          <p:nvSpPr>
            <p:cNvPr id="63570" name="Text Box 23"/>
            <p:cNvSpPr txBox="1"/>
            <p:nvPr/>
          </p:nvSpPr>
          <p:spPr>
            <a:xfrm>
              <a:off x="3504" y="1689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3571" name="Text Box 24"/>
            <p:cNvSpPr txBox="1"/>
            <p:nvPr/>
          </p:nvSpPr>
          <p:spPr>
            <a:xfrm>
              <a:off x="4416" y="1689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3572" name="Text Box 33"/>
            <p:cNvSpPr txBox="1"/>
            <p:nvPr/>
          </p:nvSpPr>
          <p:spPr>
            <a:xfrm>
              <a:off x="3936" y="1689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0" name="Group 54"/>
          <p:cNvGrpSpPr/>
          <p:nvPr/>
        </p:nvGrpSpPr>
        <p:grpSpPr>
          <a:xfrm>
            <a:off x="5562600" y="2819400"/>
            <a:ext cx="1809750" cy="519113"/>
            <a:chOff x="3504" y="1881"/>
            <a:chExt cx="1140" cy="327"/>
          </a:xfrm>
        </p:grpSpPr>
        <p:sp>
          <p:nvSpPr>
            <p:cNvPr id="63567" name="Text Box 25"/>
            <p:cNvSpPr txBox="1"/>
            <p:nvPr/>
          </p:nvSpPr>
          <p:spPr>
            <a:xfrm>
              <a:off x="3504" y="1881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3568" name="Text Box 26"/>
            <p:cNvSpPr txBox="1"/>
            <p:nvPr/>
          </p:nvSpPr>
          <p:spPr>
            <a:xfrm>
              <a:off x="4416" y="1881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3569" name="Text Box 34"/>
            <p:cNvSpPr txBox="1"/>
            <p:nvPr/>
          </p:nvSpPr>
          <p:spPr>
            <a:xfrm>
              <a:off x="3936" y="1881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1" name="Group 56"/>
          <p:cNvGrpSpPr/>
          <p:nvPr/>
        </p:nvGrpSpPr>
        <p:grpSpPr>
          <a:xfrm>
            <a:off x="5562600" y="3214688"/>
            <a:ext cx="1809750" cy="823912"/>
            <a:chOff x="3504" y="2073"/>
            <a:chExt cx="1140" cy="519"/>
          </a:xfrm>
        </p:grpSpPr>
        <p:sp>
          <p:nvSpPr>
            <p:cNvPr id="63560" name="Text Box 29"/>
            <p:cNvSpPr txBox="1"/>
            <p:nvPr/>
          </p:nvSpPr>
          <p:spPr>
            <a:xfrm>
              <a:off x="3504" y="2265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3561" name="Text Box 30"/>
            <p:cNvSpPr txBox="1"/>
            <p:nvPr/>
          </p:nvSpPr>
          <p:spPr>
            <a:xfrm>
              <a:off x="4416" y="2265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grpSp>
          <p:nvGrpSpPr>
            <p:cNvPr id="63562" name="Group 55"/>
            <p:cNvGrpSpPr/>
            <p:nvPr/>
          </p:nvGrpSpPr>
          <p:grpSpPr>
            <a:xfrm>
              <a:off x="3504" y="2073"/>
              <a:ext cx="1140" cy="327"/>
              <a:chOff x="3504" y="2073"/>
              <a:chExt cx="1140" cy="327"/>
            </a:xfrm>
          </p:grpSpPr>
          <p:sp>
            <p:nvSpPr>
              <p:cNvPr id="63564" name="Text Box 27"/>
              <p:cNvSpPr txBox="1"/>
              <p:nvPr/>
            </p:nvSpPr>
            <p:spPr>
              <a:xfrm>
                <a:off x="3504" y="2073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3565" name="Text Box 28"/>
              <p:cNvSpPr txBox="1"/>
              <p:nvPr/>
            </p:nvSpPr>
            <p:spPr>
              <a:xfrm>
                <a:off x="4416" y="2073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chemeClr val="tx2"/>
                    </a:solidFill>
                  </a:rPr>
                  <a:t>0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3566" name="Text Box 35"/>
              <p:cNvSpPr txBox="1"/>
              <p:nvPr/>
            </p:nvSpPr>
            <p:spPr>
              <a:xfrm>
                <a:off x="3936" y="2073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63563" name="Text Box 36"/>
            <p:cNvSpPr txBox="1"/>
            <p:nvPr/>
          </p:nvSpPr>
          <p:spPr>
            <a:xfrm>
              <a:off x="3936" y="2265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sp>
        <p:nvSpPr>
          <p:cNvPr id="51238" name="AutoShape 38"/>
          <p:cNvSpPr/>
          <p:nvPr/>
        </p:nvSpPr>
        <p:spPr>
          <a:xfrm>
            <a:off x="4572000" y="1600200"/>
            <a:ext cx="609600" cy="381000"/>
          </a:xfrm>
          <a:prstGeom prst="rightArrow">
            <a:avLst>
              <a:gd name="adj1" fmla="val 50000"/>
              <a:gd name="adj2" fmla="val 40000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51239" name="Text Box 39"/>
          <p:cNvSpPr txBox="1"/>
          <p:nvPr/>
        </p:nvSpPr>
        <p:spPr>
          <a:xfrm>
            <a:off x="4460875" y="1219200"/>
            <a:ext cx="9493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断“</a:t>
            </a:r>
            <a:r>
              <a:rPr lang="en-US" altLang="zh-CN" sz="2400" b="1" dirty="0">
                <a:solidFill>
                  <a:schemeClr val="tx2"/>
                </a:solidFill>
              </a:rPr>
              <a:t>0”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51240" name="Text Box 40"/>
          <p:cNvSpPr txBox="1"/>
          <p:nvPr/>
        </p:nvSpPr>
        <p:spPr>
          <a:xfrm>
            <a:off x="4343400" y="1981200"/>
            <a:ext cx="1084263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合“</a:t>
            </a:r>
            <a:r>
              <a:rPr lang="en-US" altLang="zh-CN" sz="2400" b="1" dirty="0">
                <a:solidFill>
                  <a:schemeClr val="tx2"/>
                </a:solidFill>
              </a:rPr>
              <a:t>1”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51241" name="AutoShape 41"/>
          <p:cNvSpPr/>
          <p:nvPr/>
        </p:nvSpPr>
        <p:spPr>
          <a:xfrm>
            <a:off x="4572000" y="2895600"/>
            <a:ext cx="609600" cy="381000"/>
          </a:xfrm>
          <a:prstGeom prst="rightArrow">
            <a:avLst>
              <a:gd name="adj1" fmla="val 50000"/>
              <a:gd name="adj2" fmla="val 40000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51243" name="Text Box 43"/>
          <p:cNvSpPr txBox="1"/>
          <p:nvPr/>
        </p:nvSpPr>
        <p:spPr>
          <a:xfrm>
            <a:off x="4495800" y="2514600"/>
            <a:ext cx="9493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亮“</a:t>
            </a:r>
            <a:r>
              <a:rPr lang="en-US" altLang="zh-CN" sz="2400" b="1" dirty="0">
                <a:solidFill>
                  <a:schemeClr val="tx2"/>
                </a:solidFill>
              </a:rPr>
              <a:t>1”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51244" name="Text Box 44"/>
          <p:cNvSpPr txBox="1"/>
          <p:nvPr/>
        </p:nvSpPr>
        <p:spPr>
          <a:xfrm>
            <a:off x="4495800" y="3200400"/>
            <a:ext cx="9493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灭“</a:t>
            </a:r>
            <a:r>
              <a:rPr lang="en-US" altLang="zh-CN" sz="2400" b="1" dirty="0">
                <a:solidFill>
                  <a:schemeClr val="tx2"/>
                </a:solidFill>
              </a:rPr>
              <a:t>0”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grpSp>
        <p:nvGrpSpPr>
          <p:cNvPr id="13" name="Group 59"/>
          <p:cNvGrpSpPr/>
          <p:nvPr/>
        </p:nvGrpSpPr>
        <p:grpSpPr>
          <a:xfrm>
            <a:off x="3200400" y="609600"/>
            <a:ext cx="2057400" cy="914400"/>
            <a:chOff x="2016" y="384"/>
            <a:chExt cx="1296" cy="576"/>
          </a:xfrm>
        </p:grpSpPr>
        <p:sp>
          <p:nvSpPr>
            <p:cNvPr id="63558" name="AutoShape 57"/>
            <p:cNvSpPr/>
            <p:nvPr/>
          </p:nvSpPr>
          <p:spPr>
            <a:xfrm>
              <a:off x="2016" y="384"/>
              <a:ext cx="1296" cy="576"/>
            </a:xfrm>
            <a:prstGeom prst="wedgeRectCallout">
              <a:avLst>
                <a:gd name="adj1" fmla="val -43750"/>
                <a:gd name="adj2" fmla="val 76736"/>
              </a:avLst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3559" name="Text Box 58"/>
            <p:cNvSpPr txBox="1"/>
            <p:nvPr/>
          </p:nvSpPr>
          <p:spPr>
            <a:xfrm>
              <a:off x="2160" y="528"/>
              <a:ext cx="1093" cy="327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/>
                <a:t>C</a:t>
              </a:r>
              <a:r>
                <a:rPr lang="zh-CN" altLang="en-US" sz="2800" b="1" dirty="0"/>
                <a:t>开，</a:t>
              </a:r>
              <a:r>
                <a:rPr lang="en-US" altLang="zh-CN" sz="2800" b="1" dirty="0"/>
                <a:t>F</a:t>
              </a:r>
              <a:r>
                <a:rPr lang="zh-CN" altLang="en-US" sz="2800" b="1" dirty="0"/>
                <a:t>灭</a:t>
              </a:r>
              <a:endParaRPr lang="zh-CN" altLang="en-US" sz="4400" dirty="0">
                <a:solidFill>
                  <a:schemeClr val="tx2"/>
                </a:solidFill>
              </a:endParaRPr>
            </a:p>
          </p:txBody>
        </p:sp>
      </p:grpSp>
      <p:sp>
        <p:nvSpPr>
          <p:cNvPr id="51260" name="Text Box 60"/>
          <p:cNvSpPr txBox="1"/>
          <p:nvPr/>
        </p:nvSpPr>
        <p:spPr>
          <a:xfrm>
            <a:off x="8001000" y="1157288"/>
            <a:ext cx="3619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51261" name="Text Box 61"/>
          <p:cNvSpPr txBox="1"/>
          <p:nvPr/>
        </p:nvSpPr>
        <p:spPr>
          <a:xfrm>
            <a:off x="8001000" y="18288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51262" name="Text Box 62"/>
          <p:cNvSpPr txBox="1"/>
          <p:nvPr/>
        </p:nvSpPr>
        <p:spPr>
          <a:xfrm>
            <a:off x="8001000" y="25146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51263" name="Text Box 63"/>
          <p:cNvSpPr txBox="1"/>
          <p:nvPr/>
        </p:nvSpPr>
        <p:spPr>
          <a:xfrm>
            <a:off x="8020050" y="32004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grpSp>
        <p:nvGrpSpPr>
          <p:cNvPr id="14" name="Group 69"/>
          <p:cNvGrpSpPr/>
          <p:nvPr/>
        </p:nvGrpSpPr>
        <p:grpSpPr>
          <a:xfrm>
            <a:off x="304800" y="381000"/>
            <a:ext cx="2819400" cy="946150"/>
            <a:chOff x="192" y="240"/>
            <a:chExt cx="1776" cy="596"/>
          </a:xfrm>
        </p:grpSpPr>
        <p:sp>
          <p:nvSpPr>
            <p:cNvPr id="63556" name="AutoShape 64" descr="羊皮纸"/>
            <p:cNvSpPr/>
            <p:nvPr/>
          </p:nvSpPr>
          <p:spPr>
            <a:xfrm>
              <a:off x="192" y="288"/>
              <a:ext cx="1776" cy="528"/>
            </a:xfrm>
            <a:prstGeom prst="wedgeRectCallout">
              <a:avLst>
                <a:gd name="adj1" fmla="val 14528"/>
                <a:gd name="adj2" fmla="val 74620"/>
              </a:avLst>
            </a:prstGeom>
            <a:blipFill rotWithShape="0">
              <a:blip r:embed="rId3"/>
            </a:blip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3557" name="Text Box 65"/>
            <p:cNvSpPr txBox="1"/>
            <p:nvPr/>
          </p:nvSpPr>
          <p:spPr>
            <a:xfrm>
              <a:off x="240" y="240"/>
              <a:ext cx="1614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C</a:t>
              </a:r>
              <a:r>
                <a:rPr lang="zh-CN" altLang="en-US" sz="2800" b="1" dirty="0">
                  <a:solidFill>
                    <a:schemeClr val="tx2"/>
                  </a:solidFill>
                </a:rPr>
                <a:t>合，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A</a:t>
              </a:r>
              <a:r>
                <a:rPr lang="zh-CN" altLang="en-US" sz="2800" b="1" dirty="0">
                  <a:solidFill>
                    <a:schemeClr val="tx2"/>
                  </a:solidFill>
                </a:rPr>
                <a:t>、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B</a:t>
              </a:r>
              <a:r>
                <a:rPr lang="zh-CN" altLang="en-US" sz="2800" b="1" dirty="0">
                  <a:solidFill>
                    <a:schemeClr val="tx2"/>
                  </a:solidFill>
                </a:rPr>
                <a:t>中有一个合，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F</a:t>
              </a:r>
              <a:r>
                <a:rPr lang="zh-CN" altLang="en-US" sz="2800" b="1" dirty="0">
                  <a:solidFill>
                    <a:schemeClr val="tx2"/>
                  </a:solidFill>
                </a:rPr>
                <a:t>亮</a:t>
              </a:r>
              <a:endParaRPr lang="zh-CN" altLang="en-US" sz="4400" dirty="0">
                <a:solidFill>
                  <a:schemeClr val="tx2"/>
                </a:solidFill>
              </a:endParaRPr>
            </a:p>
          </p:txBody>
        </p:sp>
      </p:grpSp>
      <p:sp>
        <p:nvSpPr>
          <p:cNvPr id="51267" name="Text Box 67"/>
          <p:cNvSpPr txBox="1"/>
          <p:nvPr/>
        </p:nvSpPr>
        <p:spPr>
          <a:xfrm>
            <a:off x="8001000" y="28194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1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51268" name="Text Box 68"/>
          <p:cNvSpPr txBox="1"/>
          <p:nvPr/>
        </p:nvSpPr>
        <p:spPr>
          <a:xfrm>
            <a:off x="8001000" y="35052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1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grpSp>
        <p:nvGrpSpPr>
          <p:cNvPr id="15" name="Group 71"/>
          <p:cNvGrpSpPr/>
          <p:nvPr/>
        </p:nvGrpSpPr>
        <p:grpSpPr>
          <a:xfrm>
            <a:off x="304800" y="381000"/>
            <a:ext cx="2819400" cy="946150"/>
            <a:chOff x="192" y="240"/>
            <a:chExt cx="1776" cy="596"/>
          </a:xfrm>
        </p:grpSpPr>
        <p:sp>
          <p:nvSpPr>
            <p:cNvPr id="63554" name="AutoShape 72"/>
            <p:cNvSpPr/>
            <p:nvPr/>
          </p:nvSpPr>
          <p:spPr>
            <a:xfrm>
              <a:off x="192" y="288"/>
              <a:ext cx="1776" cy="528"/>
            </a:xfrm>
            <a:prstGeom prst="wedgeRectCallout">
              <a:avLst>
                <a:gd name="adj1" fmla="val 14528"/>
                <a:gd name="adj2" fmla="val 74620"/>
              </a:avLst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3555" name="Text Box 73"/>
            <p:cNvSpPr txBox="1"/>
            <p:nvPr/>
          </p:nvSpPr>
          <p:spPr>
            <a:xfrm>
              <a:off x="240" y="240"/>
              <a:ext cx="1614" cy="596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C</a:t>
              </a:r>
              <a:r>
                <a:rPr lang="zh-CN" altLang="en-US" sz="2800" b="1" dirty="0">
                  <a:solidFill>
                    <a:schemeClr val="tx2"/>
                  </a:solidFill>
                </a:rPr>
                <a:t>合，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A</a:t>
              </a:r>
              <a:r>
                <a:rPr lang="zh-CN" altLang="en-US" sz="2800" b="1" dirty="0">
                  <a:solidFill>
                    <a:schemeClr val="tx2"/>
                  </a:solidFill>
                </a:rPr>
                <a:t>、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B</a:t>
              </a:r>
              <a:r>
                <a:rPr lang="zh-CN" altLang="en-US" sz="2800" b="1" dirty="0">
                  <a:solidFill>
                    <a:schemeClr val="tx2"/>
                  </a:solidFill>
                </a:rPr>
                <a:t>均断，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F</a:t>
              </a:r>
              <a:r>
                <a:rPr lang="zh-CN" altLang="en-US" sz="2800" b="1" dirty="0">
                  <a:solidFill>
                    <a:schemeClr val="tx2"/>
                  </a:solidFill>
                </a:rPr>
                <a:t>灭</a:t>
              </a:r>
              <a:endParaRPr lang="zh-CN" altLang="en-US" sz="4400" dirty="0">
                <a:solidFill>
                  <a:schemeClr val="tx2"/>
                </a:solidFill>
              </a:endParaRPr>
            </a:p>
          </p:txBody>
        </p:sp>
      </p:grpSp>
      <p:sp>
        <p:nvSpPr>
          <p:cNvPr id="51274" name="Text Box 74"/>
          <p:cNvSpPr txBox="1"/>
          <p:nvPr/>
        </p:nvSpPr>
        <p:spPr>
          <a:xfrm>
            <a:off x="8001000" y="14478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grpSp>
        <p:nvGrpSpPr>
          <p:cNvPr id="16" name="Group 102"/>
          <p:cNvGrpSpPr/>
          <p:nvPr/>
        </p:nvGrpSpPr>
        <p:grpSpPr>
          <a:xfrm>
            <a:off x="533400" y="4419600"/>
            <a:ext cx="8229600" cy="2209800"/>
            <a:chOff x="336" y="2784"/>
            <a:chExt cx="5184" cy="1392"/>
          </a:xfrm>
        </p:grpSpPr>
        <p:sp>
          <p:nvSpPr>
            <p:cNvPr id="63552" name="Rectangle 75"/>
            <p:cNvSpPr/>
            <p:nvPr/>
          </p:nvSpPr>
          <p:spPr>
            <a:xfrm>
              <a:off x="336" y="2784"/>
              <a:ext cx="5184" cy="1392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63553" name="Text Box 76"/>
            <p:cNvSpPr txBox="1"/>
            <p:nvPr/>
          </p:nvSpPr>
          <p:spPr>
            <a:xfrm>
              <a:off x="393" y="2861"/>
              <a:ext cx="134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latin typeface="宋体" panose="02010600030101010101" pitchFamily="2" charset="-122"/>
                </a:rPr>
                <a:t>逻辑函数式 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51277" name="Text Box 77"/>
          <p:cNvSpPr txBox="1"/>
          <p:nvPr/>
        </p:nvSpPr>
        <p:spPr>
          <a:xfrm>
            <a:off x="838200" y="5029200"/>
            <a:ext cx="29908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solidFill>
                  <a:schemeClr val="tx2"/>
                </a:solidFill>
                <a:sym typeface="Symbol" panose="05050102010706020507" pitchFamily="18" charset="2"/>
              </a:rPr>
              <a:t>挑出函数值为</a:t>
            </a:r>
            <a:r>
              <a:rPr lang="en-US" altLang="zh-CN" sz="2400" b="1" dirty="0">
                <a:solidFill>
                  <a:schemeClr val="tx2"/>
                </a:solidFill>
                <a:sym typeface="Symbol" panose="05050102010706020507" pitchFamily="18" charset="2"/>
              </a:rPr>
              <a:t>1</a:t>
            </a:r>
            <a:r>
              <a:rPr lang="zh-CN" altLang="en-US" sz="2400" b="1" dirty="0">
                <a:solidFill>
                  <a:schemeClr val="tx2"/>
                </a:solidFill>
                <a:sym typeface="Symbol" panose="05050102010706020507" pitchFamily="18" charset="2"/>
              </a:rPr>
              <a:t>的项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51283" name="Text Box 83"/>
          <p:cNvSpPr txBox="1"/>
          <p:nvPr/>
        </p:nvSpPr>
        <p:spPr>
          <a:xfrm>
            <a:off x="8001000" y="2224088"/>
            <a:ext cx="3619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1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grpSp>
        <p:nvGrpSpPr>
          <p:cNvPr id="17" name="Group 84"/>
          <p:cNvGrpSpPr/>
          <p:nvPr/>
        </p:nvGrpSpPr>
        <p:grpSpPr>
          <a:xfrm>
            <a:off x="5562600" y="2209800"/>
            <a:ext cx="2800350" cy="519113"/>
            <a:chOff x="3504" y="2688"/>
            <a:chExt cx="1764" cy="327"/>
          </a:xfrm>
        </p:grpSpPr>
        <p:sp>
          <p:nvSpPr>
            <p:cNvPr id="63547" name="Text Box 85"/>
            <p:cNvSpPr txBox="1"/>
            <p:nvPr/>
          </p:nvSpPr>
          <p:spPr>
            <a:xfrm>
              <a:off x="5040" y="2688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accent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grpSp>
          <p:nvGrpSpPr>
            <p:cNvPr id="63548" name="Group 86"/>
            <p:cNvGrpSpPr/>
            <p:nvPr/>
          </p:nvGrpSpPr>
          <p:grpSpPr>
            <a:xfrm>
              <a:off x="3504" y="2688"/>
              <a:ext cx="1140" cy="327"/>
              <a:chOff x="3504" y="1449"/>
              <a:chExt cx="1140" cy="327"/>
            </a:xfrm>
          </p:grpSpPr>
          <p:sp>
            <p:nvSpPr>
              <p:cNvPr id="63549" name="Text Box 87"/>
              <p:cNvSpPr txBox="1"/>
              <p:nvPr/>
            </p:nvSpPr>
            <p:spPr>
              <a:xfrm>
                <a:off x="3504" y="1449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chemeClr val="accent2"/>
                    </a:solidFill>
                  </a:rPr>
                  <a:t>0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3550" name="Text Box 88"/>
              <p:cNvSpPr txBox="1"/>
              <p:nvPr/>
            </p:nvSpPr>
            <p:spPr>
              <a:xfrm>
                <a:off x="4416" y="1449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chemeClr val="accent2"/>
                    </a:solidFill>
                  </a:rPr>
                  <a:t>1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3551" name="Text Box 89"/>
              <p:cNvSpPr txBox="1"/>
              <p:nvPr/>
            </p:nvSpPr>
            <p:spPr>
              <a:xfrm>
                <a:off x="3936" y="1449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chemeClr val="accent2"/>
                    </a:solidFill>
                  </a:rPr>
                  <a:t>1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</p:grpSp>
      </p:grpSp>
      <p:grpSp>
        <p:nvGrpSpPr>
          <p:cNvPr id="19" name="Group 90"/>
          <p:cNvGrpSpPr/>
          <p:nvPr/>
        </p:nvGrpSpPr>
        <p:grpSpPr>
          <a:xfrm>
            <a:off x="5562600" y="2819400"/>
            <a:ext cx="2800350" cy="519113"/>
            <a:chOff x="3504" y="2688"/>
            <a:chExt cx="1764" cy="327"/>
          </a:xfrm>
        </p:grpSpPr>
        <p:sp>
          <p:nvSpPr>
            <p:cNvPr id="63542" name="Text Box 91"/>
            <p:cNvSpPr txBox="1"/>
            <p:nvPr/>
          </p:nvSpPr>
          <p:spPr>
            <a:xfrm>
              <a:off x="5040" y="2688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accent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grpSp>
          <p:nvGrpSpPr>
            <p:cNvPr id="63543" name="Group 92"/>
            <p:cNvGrpSpPr/>
            <p:nvPr/>
          </p:nvGrpSpPr>
          <p:grpSpPr>
            <a:xfrm>
              <a:off x="3504" y="2688"/>
              <a:ext cx="1140" cy="327"/>
              <a:chOff x="3504" y="1449"/>
              <a:chExt cx="1140" cy="327"/>
            </a:xfrm>
          </p:grpSpPr>
          <p:sp>
            <p:nvSpPr>
              <p:cNvPr id="63544" name="Text Box 93"/>
              <p:cNvSpPr txBox="1"/>
              <p:nvPr/>
            </p:nvSpPr>
            <p:spPr>
              <a:xfrm>
                <a:off x="3504" y="1449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chemeClr val="accent2"/>
                    </a:solidFill>
                  </a:rPr>
                  <a:t>1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3545" name="Text Box 94"/>
              <p:cNvSpPr txBox="1"/>
              <p:nvPr/>
            </p:nvSpPr>
            <p:spPr>
              <a:xfrm>
                <a:off x="4416" y="1449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chemeClr val="accent2"/>
                    </a:solidFill>
                  </a:rPr>
                  <a:t>1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3546" name="Text Box 95"/>
              <p:cNvSpPr txBox="1"/>
              <p:nvPr/>
            </p:nvSpPr>
            <p:spPr>
              <a:xfrm>
                <a:off x="3936" y="1449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chemeClr val="accent2"/>
                    </a:solidFill>
                  </a:rPr>
                  <a:t>0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</p:grpSp>
      </p:grpSp>
      <p:grpSp>
        <p:nvGrpSpPr>
          <p:cNvPr id="21" name="Group 96"/>
          <p:cNvGrpSpPr/>
          <p:nvPr/>
        </p:nvGrpSpPr>
        <p:grpSpPr>
          <a:xfrm>
            <a:off x="5562600" y="3505200"/>
            <a:ext cx="2800350" cy="519113"/>
            <a:chOff x="3504" y="2688"/>
            <a:chExt cx="1764" cy="327"/>
          </a:xfrm>
        </p:grpSpPr>
        <p:sp>
          <p:nvSpPr>
            <p:cNvPr id="63537" name="Text Box 97"/>
            <p:cNvSpPr txBox="1"/>
            <p:nvPr/>
          </p:nvSpPr>
          <p:spPr>
            <a:xfrm>
              <a:off x="5040" y="2688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accent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grpSp>
          <p:nvGrpSpPr>
            <p:cNvPr id="63538" name="Group 98"/>
            <p:cNvGrpSpPr/>
            <p:nvPr/>
          </p:nvGrpSpPr>
          <p:grpSpPr>
            <a:xfrm>
              <a:off x="3504" y="2688"/>
              <a:ext cx="1140" cy="327"/>
              <a:chOff x="3504" y="1449"/>
              <a:chExt cx="1140" cy="327"/>
            </a:xfrm>
          </p:grpSpPr>
          <p:sp>
            <p:nvSpPr>
              <p:cNvPr id="63539" name="Text Box 99"/>
              <p:cNvSpPr txBox="1"/>
              <p:nvPr/>
            </p:nvSpPr>
            <p:spPr>
              <a:xfrm>
                <a:off x="3504" y="1449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chemeClr val="accent2"/>
                    </a:solidFill>
                  </a:rPr>
                  <a:t>1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3540" name="Text Box 100"/>
              <p:cNvSpPr txBox="1"/>
              <p:nvPr/>
            </p:nvSpPr>
            <p:spPr>
              <a:xfrm>
                <a:off x="4416" y="1449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chemeClr val="accent2"/>
                    </a:solidFill>
                  </a:rPr>
                  <a:t>1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3541" name="Text Box 101"/>
              <p:cNvSpPr txBox="1"/>
              <p:nvPr/>
            </p:nvSpPr>
            <p:spPr>
              <a:xfrm>
                <a:off x="3936" y="1449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chemeClr val="accent2"/>
                    </a:solidFill>
                  </a:rPr>
                  <a:t>1</a:t>
                </a:r>
                <a:endParaRPr lang="en-US" altLang="zh-CN" sz="4400" dirty="0">
                  <a:solidFill>
                    <a:schemeClr val="tx2"/>
                  </a:solidFill>
                </a:endParaRPr>
              </a:p>
            </p:txBody>
          </p:sp>
        </p:grpSp>
      </p:grpSp>
      <p:sp>
        <p:nvSpPr>
          <p:cNvPr id="51303" name="Text Box 103"/>
          <p:cNvSpPr txBox="1"/>
          <p:nvPr/>
        </p:nvSpPr>
        <p:spPr>
          <a:xfrm>
            <a:off x="685800" y="5486400"/>
            <a:ext cx="76200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latin typeface="宋体" panose="02010600030101010101" pitchFamily="2" charset="-122"/>
              </a:rPr>
              <a:t>每个函数值为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的输入变量取值组合写成一个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乘积项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51304" name="Text Box 104"/>
          <p:cNvSpPr txBox="1"/>
          <p:nvPr/>
        </p:nvSpPr>
        <p:spPr>
          <a:xfrm>
            <a:off x="882650" y="5943600"/>
            <a:ext cx="31654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latin typeface="宋体" panose="02010600030101010101" pitchFamily="2" charset="-122"/>
              </a:rPr>
              <a:t>这些乘积项作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逻辑加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23" name="Group 114"/>
          <p:cNvGrpSpPr/>
          <p:nvPr/>
        </p:nvGrpSpPr>
        <p:grpSpPr>
          <a:xfrm>
            <a:off x="4191000" y="4114800"/>
            <a:ext cx="4572000" cy="1187450"/>
            <a:chOff x="2640" y="2592"/>
            <a:chExt cx="2880" cy="748"/>
          </a:xfrm>
        </p:grpSpPr>
        <p:sp>
          <p:nvSpPr>
            <p:cNvPr id="63532" name="AutoShape 105"/>
            <p:cNvSpPr/>
            <p:nvPr/>
          </p:nvSpPr>
          <p:spPr>
            <a:xfrm>
              <a:off x="2640" y="2592"/>
              <a:ext cx="2880" cy="720"/>
            </a:xfrm>
            <a:prstGeom prst="wedgeRoundRectCallout">
              <a:avLst>
                <a:gd name="adj1" fmla="val 20833"/>
                <a:gd name="adj2" fmla="val 68333"/>
                <a:gd name="adj3" fmla="val 16667"/>
              </a:avLst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grpSp>
          <p:nvGrpSpPr>
            <p:cNvPr id="63533" name="Group 109"/>
            <p:cNvGrpSpPr/>
            <p:nvPr/>
          </p:nvGrpSpPr>
          <p:grpSpPr>
            <a:xfrm>
              <a:off x="2736" y="2592"/>
              <a:ext cx="2697" cy="748"/>
              <a:chOff x="3063" y="2525"/>
              <a:chExt cx="2697" cy="748"/>
            </a:xfrm>
          </p:grpSpPr>
          <p:sp>
            <p:nvSpPr>
              <p:cNvPr id="63534" name="Text Box 106"/>
              <p:cNvSpPr txBox="1"/>
              <p:nvPr/>
            </p:nvSpPr>
            <p:spPr>
              <a:xfrm>
                <a:off x="3063" y="2525"/>
                <a:ext cx="2697" cy="748"/>
              </a:xfrm>
              <a:prstGeom prst="rect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>
                    <a:latin typeface="宋体" panose="02010600030101010101" pitchFamily="2" charset="-122"/>
                  </a:rPr>
                  <a:t>输入变量取值为</a:t>
                </a:r>
                <a:r>
                  <a:rPr lang="en-US" altLang="zh-CN" sz="24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1</a:t>
                </a:r>
                <a:r>
                  <a:rPr lang="zh-CN" altLang="en-US" sz="2400" b="1" dirty="0">
                    <a:latin typeface="宋体" panose="02010600030101010101" pitchFamily="2" charset="-122"/>
                  </a:rPr>
                  <a:t>用</a:t>
                </a:r>
                <a:r>
                  <a:rPr lang="zh-CN" altLang="en-US" sz="24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原变量</a:t>
                </a:r>
                <a:r>
                  <a:rPr lang="zh-CN" altLang="en-US" sz="2400" b="1" dirty="0">
                    <a:latin typeface="宋体" panose="02010600030101010101" pitchFamily="2" charset="-122"/>
                  </a:rPr>
                  <a:t>表示</a:t>
                </a:r>
                <a:r>
                  <a:rPr lang="en-US" altLang="zh-CN" sz="2400" b="1" dirty="0">
                    <a:latin typeface="宋体" panose="02010600030101010101" pitchFamily="2" charset="-122"/>
                  </a:rPr>
                  <a:t>;</a:t>
                </a:r>
                <a:r>
                  <a:rPr lang="zh-CN" altLang="en-US" sz="2400" b="1" dirty="0">
                    <a:latin typeface="宋体" panose="02010600030101010101" pitchFamily="2" charset="-122"/>
                  </a:rPr>
                  <a:t>反之，则用</a:t>
                </a:r>
                <a:r>
                  <a:rPr lang="zh-CN" altLang="en-US" sz="24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反变量</a:t>
                </a:r>
                <a:r>
                  <a:rPr lang="zh-CN" altLang="en-US" sz="2400" b="1" dirty="0">
                    <a:latin typeface="宋体" panose="02010600030101010101" pitchFamily="2" charset="-122"/>
                  </a:rPr>
                  <a:t>表示</a:t>
                </a:r>
                <a:endParaRPr lang="zh-CN" altLang="en-US" sz="2400" b="1" dirty="0">
                  <a:latin typeface="宋体" panose="02010600030101010101" pitchFamily="2" charset="-122"/>
                </a:endParaRPr>
              </a:p>
              <a:p>
                <a:pPr marL="0" lvl="0" indent="0" algn="just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宋体" panose="02010600030101010101" pitchFamily="2" charset="-122"/>
                  </a:rPr>
                  <a:t>ABC</a:t>
                </a:r>
                <a:r>
                  <a:rPr lang="zh-CN" altLang="en-US" sz="2400" b="1" dirty="0">
                    <a:latin typeface="宋体" panose="02010600030101010101" pitchFamily="2" charset="-122"/>
                  </a:rPr>
                  <a:t>、</a:t>
                </a:r>
                <a:r>
                  <a:rPr lang="en-US" altLang="zh-CN" sz="2400" b="1" dirty="0">
                    <a:latin typeface="宋体" panose="02010600030101010101" pitchFamily="2" charset="-122"/>
                  </a:rPr>
                  <a:t>ABC</a:t>
                </a:r>
                <a:r>
                  <a:rPr lang="zh-CN" altLang="en-US" sz="2400" b="1" dirty="0">
                    <a:latin typeface="宋体" panose="02010600030101010101" pitchFamily="2" charset="-122"/>
                  </a:rPr>
                  <a:t>、</a:t>
                </a:r>
                <a:r>
                  <a:rPr lang="en-US" altLang="zh-CN" sz="2400" b="1" dirty="0">
                    <a:latin typeface="宋体" panose="02010600030101010101" pitchFamily="2" charset="-122"/>
                  </a:rPr>
                  <a:t>ABC</a:t>
                </a:r>
                <a:endParaRPr lang="en-US" altLang="zh-CN" sz="2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63535" name="Line 107"/>
              <p:cNvSpPr/>
              <p:nvPr/>
            </p:nvSpPr>
            <p:spPr>
              <a:xfrm>
                <a:off x="3696" y="3072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536" name="Line 108"/>
              <p:cNvSpPr/>
              <p:nvPr/>
            </p:nvSpPr>
            <p:spPr>
              <a:xfrm>
                <a:off x="3120" y="3072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5" name="Group 113"/>
          <p:cNvGrpSpPr/>
          <p:nvPr/>
        </p:nvGrpSpPr>
        <p:grpSpPr>
          <a:xfrm>
            <a:off x="4267200" y="5957888"/>
            <a:ext cx="2370138" cy="519112"/>
            <a:chOff x="2688" y="3696"/>
            <a:chExt cx="1493" cy="327"/>
          </a:xfrm>
        </p:grpSpPr>
        <p:sp>
          <p:nvSpPr>
            <p:cNvPr id="63529" name="Text Box 110"/>
            <p:cNvSpPr txBox="1"/>
            <p:nvPr/>
          </p:nvSpPr>
          <p:spPr>
            <a:xfrm>
              <a:off x="2688" y="3696"/>
              <a:ext cx="149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F= 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ABC+ABC+ABC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63530" name="Line 111"/>
            <p:cNvSpPr/>
            <p:nvPr/>
          </p:nvSpPr>
          <p:spPr>
            <a:xfrm>
              <a:off x="3072" y="3792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31" name="Line 112"/>
            <p:cNvSpPr/>
            <p:nvPr/>
          </p:nvSpPr>
          <p:spPr>
            <a:xfrm>
              <a:off x="3552" y="3792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pic>
        <p:nvPicPr>
          <p:cNvPr id="63527" name="Picture 116" descr="wb01508_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7600" y="59436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528" name="Text Box 117">
            <a:hlinkClick r:id="rId4" action="ppaction://hlinksldjump"/>
          </p:cNvPr>
          <p:cNvSpPr txBox="1"/>
          <p:nvPr/>
        </p:nvSpPr>
        <p:spPr>
          <a:xfrm>
            <a:off x="7664450" y="60198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5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8" dur="500"/>
                                        <p:tgtEl>
                                          <p:spTgt spid="5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12" grpId="0"/>
      <p:bldP spid="51238" grpId="0" animBg="1"/>
      <p:bldP spid="51239" grpId="0"/>
      <p:bldP spid="51240" grpId="0"/>
      <p:bldP spid="51241" grpId="0" animBg="1"/>
      <p:bldP spid="51243" grpId="0"/>
      <p:bldP spid="51244" grpId="0"/>
      <p:bldP spid="51260" grpId="0"/>
      <p:bldP spid="51261" grpId="0"/>
      <p:bldP spid="51262" grpId="0"/>
      <p:bldP spid="51263" grpId="0"/>
      <p:bldP spid="51267" grpId="0"/>
      <p:bldP spid="51268" grpId="0"/>
      <p:bldP spid="51274" grpId="0"/>
      <p:bldP spid="51277" grpId="0"/>
      <p:bldP spid="51283" grpId="0"/>
      <p:bldP spid="51303" grpId="0"/>
      <p:bldP spid="5130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43"/>
          <p:cNvGrpSpPr/>
          <p:nvPr/>
        </p:nvGrpSpPr>
        <p:grpSpPr>
          <a:xfrm>
            <a:off x="533400" y="685800"/>
            <a:ext cx="8153400" cy="2743200"/>
            <a:chOff x="336" y="432"/>
            <a:chExt cx="5136" cy="1728"/>
          </a:xfrm>
        </p:grpSpPr>
        <p:sp>
          <p:nvSpPr>
            <p:cNvPr id="64547" name="Rectangle 2"/>
            <p:cNvSpPr/>
            <p:nvPr/>
          </p:nvSpPr>
          <p:spPr>
            <a:xfrm>
              <a:off x="336" y="432"/>
              <a:ext cx="5136" cy="1728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64548" name="Text Box 3"/>
            <p:cNvSpPr txBox="1"/>
            <p:nvPr/>
          </p:nvSpPr>
          <p:spPr>
            <a:xfrm>
              <a:off x="480" y="528"/>
              <a:ext cx="79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chemeClr val="tx2"/>
                  </a:solidFill>
                </a:rPr>
                <a:t>逻辑图</a:t>
              </a:r>
              <a:endParaRPr lang="zh-CN" altLang="en-US" sz="4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3" name="Group 4"/>
          <p:cNvGrpSpPr/>
          <p:nvPr/>
        </p:nvGrpSpPr>
        <p:grpSpPr>
          <a:xfrm>
            <a:off x="762000" y="1447800"/>
            <a:ext cx="2370138" cy="519113"/>
            <a:chOff x="2688" y="3696"/>
            <a:chExt cx="1493" cy="327"/>
          </a:xfrm>
        </p:grpSpPr>
        <p:sp>
          <p:nvSpPr>
            <p:cNvPr id="64544" name="Text Box 5"/>
            <p:cNvSpPr txBox="1"/>
            <p:nvPr/>
          </p:nvSpPr>
          <p:spPr>
            <a:xfrm>
              <a:off x="2688" y="3696"/>
              <a:ext cx="149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F= 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ABC+ABC+ABC</a:t>
              </a:r>
              <a:endParaRPr lang="en-US" altLang="zh-CN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64545" name="Line 6"/>
            <p:cNvSpPr/>
            <p:nvPr/>
          </p:nvSpPr>
          <p:spPr>
            <a:xfrm>
              <a:off x="3072" y="3792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4546" name="Line 7"/>
            <p:cNvSpPr/>
            <p:nvPr/>
          </p:nvSpPr>
          <p:spPr>
            <a:xfrm>
              <a:off x="3552" y="3792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52235" name="Object 11"/>
          <p:cNvGraphicFramePr>
            <a:graphicFrameLocks noChangeAspect="1"/>
          </p:cNvGraphicFramePr>
          <p:nvPr/>
        </p:nvGraphicFramePr>
        <p:xfrm>
          <a:off x="4191000" y="838200"/>
          <a:ext cx="4300538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" imgW="1895475" imgH="1581150" progId="Paint.Picture">
                  <p:embed/>
                </p:oleObj>
              </mc:Choice>
              <mc:Fallback>
                <p:oleObj name="" r:id="rId1" imgW="1895475" imgH="1581150" progId="Paint.Picture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91000" y="838200"/>
                        <a:ext cx="4300538" cy="236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5"/>
          <p:cNvGrpSpPr/>
          <p:nvPr/>
        </p:nvGrpSpPr>
        <p:grpSpPr>
          <a:xfrm>
            <a:off x="457200" y="2057400"/>
            <a:ext cx="3733800" cy="1143000"/>
            <a:chOff x="288" y="1248"/>
            <a:chExt cx="2352" cy="720"/>
          </a:xfrm>
        </p:grpSpPr>
        <p:sp>
          <p:nvSpPr>
            <p:cNvPr id="64542" name="AutoShape 8"/>
            <p:cNvSpPr/>
            <p:nvPr/>
          </p:nvSpPr>
          <p:spPr>
            <a:xfrm>
              <a:off x="288" y="1248"/>
              <a:ext cx="2352" cy="720"/>
            </a:xfrm>
            <a:prstGeom prst="wedgeRectCallout">
              <a:avLst>
                <a:gd name="adj1" fmla="val -14157"/>
                <a:gd name="adj2" fmla="val -66667"/>
              </a:avLst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4543" name="Text Box 10"/>
            <p:cNvSpPr txBox="1"/>
            <p:nvPr/>
          </p:nvSpPr>
          <p:spPr>
            <a:xfrm>
              <a:off x="432" y="1344"/>
              <a:ext cx="2043" cy="596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chemeClr val="accent2"/>
                  </a:solidFill>
                </a:rPr>
                <a:t>乘积项</a:t>
              </a:r>
              <a:r>
                <a:rPr lang="zh-CN" altLang="en-US" sz="2800" b="1" dirty="0">
                  <a:solidFill>
                    <a:schemeClr val="tx2"/>
                  </a:solidFill>
                </a:rPr>
                <a:t>用</a:t>
              </a:r>
              <a:r>
                <a:rPr lang="zh-CN" altLang="en-US" sz="2800" b="1" dirty="0">
                  <a:solidFill>
                    <a:schemeClr val="accent2"/>
                  </a:solidFill>
                </a:rPr>
                <a:t>与门</a:t>
              </a:r>
              <a:r>
                <a:rPr lang="zh-CN" altLang="en-US" sz="2800" b="1" dirty="0">
                  <a:solidFill>
                    <a:schemeClr val="tx2"/>
                  </a:solidFill>
                </a:rPr>
                <a:t>实现，</a:t>
              </a:r>
              <a:r>
                <a:rPr lang="zh-CN" altLang="en-US" sz="2800" b="1" dirty="0">
                  <a:solidFill>
                    <a:schemeClr val="accent2"/>
                  </a:solidFill>
                </a:rPr>
                <a:t>和项</a:t>
              </a:r>
              <a:r>
                <a:rPr lang="zh-CN" altLang="en-US" sz="2800" b="1" dirty="0">
                  <a:solidFill>
                    <a:schemeClr val="tx2"/>
                  </a:solidFill>
                </a:rPr>
                <a:t>用</a:t>
              </a:r>
              <a:r>
                <a:rPr lang="zh-CN" altLang="en-US" sz="2800" b="1" dirty="0">
                  <a:solidFill>
                    <a:schemeClr val="accent2"/>
                  </a:solidFill>
                </a:rPr>
                <a:t>或门</a:t>
              </a:r>
              <a:r>
                <a:rPr lang="zh-CN" altLang="en-US" sz="2800" b="1" dirty="0">
                  <a:solidFill>
                    <a:schemeClr val="tx2"/>
                  </a:solidFill>
                </a:rPr>
                <a:t>实现</a:t>
              </a:r>
              <a:endParaRPr lang="zh-CN" altLang="en-US" sz="4400" dirty="0">
                <a:solidFill>
                  <a:schemeClr val="tx2"/>
                </a:solidFill>
              </a:endParaRPr>
            </a:p>
          </p:txBody>
        </p:sp>
      </p:grpSp>
      <p:graphicFrame>
        <p:nvGraphicFramePr>
          <p:cNvPr id="52241" name="Object 17"/>
          <p:cNvGraphicFramePr>
            <a:graphicFrameLocks noChangeAspect="1"/>
          </p:cNvGraphicFramePr>
          <p:nvPr/>
        </p:nvGraphicFramePr>
        <p:xfrm>
          <a:off x="3276600" y="4191000"/>
          <a:ext cx="4876800" cy="191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3" imgW="2667000" imgH="1514475" progId="Paint.Picture">
                  <p:embed/>
                </p:oleObj>
              </mc:Choice>
              <mc:Fallback>
                <p:oleObj name="" r:id="rId3" imgW="2667000" imgH="1514475" progId="Paint.Picture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76600" y="4191000"/>
                        <a:ext cx="4876800" cy="191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4"/>
          <p:cNvGrpSpPr/>
          <p:nvPr/>
        </p:nvGrpSpPr>
        <p:grpSpPr>
          <a:xfrm>
            <a:off x="533400" y="3962400"/>
            <a:ext cx="8153400" cy="2362200"/>
            <a:chOff x="336" y="2496"/>
            <a:chExt cx="5136" cy="1488"/>
          </a:xfrm>
        </p:grpSpPr>
        <p:sp>
          <p:nvSpPr>
            <p:cNvPr id="64540" name="Rectangle 16"/>
            <p:cNvSpPr/>
            <p:nvPr/>
          </p:nvSpPr>
          <p:spPr>
            <a:xfrm>
              <a:off x="336" y="2496"/>
              <a:ext cx="5136" cy="1488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64541" name="Text Box 18"/>
            <p:cNvSpPr txBox="1"/>
            <p:nvPr/>
          </p:nvSpPr>
          <p:spPr>
            <a:xfrm>
              <a:off x="672" y="3072"/>
              <a:ext cx="7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chemeClr val="tx2"/>
                  </a:solidFill>
                </a:rPr>
                <a:t>波形图</a:t>
              </a:r>
              <a:endParaRPr lang="zh-CN" altLang="en-US" sz="4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6" name="Group 31"/>
          <p:cNvGrpSpPr/>
          <p:nvPr/>
        </p:nvGrpSpPr>
        <p:grpSpPr>
          <a:xfrm>
            <a:off x="3657600" y="4114800"/>
            <a:ext cx="381000" cy="2057400"/>
            <a:chOff x="2304" y="2592"/>
            <a:chExt cx="240" cy="1296"/>
          </a:xfrm>
        </p:grpSpPr>
        <p:sp>
          <p:nvSpPr>
            <p:cNvPr id="64535" name="Line 19"/>
            <p:cNvSpPr/>
            <p:nvPr/>
          </p:nvSpPr>
          <p:spPr>
            <a:xfrm>
              <a:off x="2544" y="2640"/>
              <a:ext cx="0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4536" name="Text Box 27"/>
            <p:cNvSpPr txBox="1"/>
            <p:nvPr/>
          </p:nvSpPr>
          <p:spPr>
            <a:xfrm>
              <a:off x="2304" y="2592"/>
              <a:ext cx="1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4537" name="Text Box 28"/>
            <p:cNvSpPr txBox="1"/>
            <p:nvPr/>
          </p:nvSpPr>
          <p:spPr>
            <a:xfrm>
              <a:off x="2304" y="3072"/>
              <a:ext cx="1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4538" name="Text Box 29"/>
            <p:cNvSpPr txBox="1"/>
            <p:nvPr/>
          </p:nvSpPr>
          <p:spPr>
            <a:xfrm>
              <a:off x="2304" y="3264"/>
              <a:ext cx="1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4539" name="Text Box 30"/>
            <p:cNvSpPr txBox="1"/>
            <p:nvPr/>
          </p:nvSpPr>
          <p:spPr>
            <a:xfrm>
              <a:off x="2304" y="3504"/>
              <a:ext cx="1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7" name="Group 41"/>
          <p:cNvGrpSpPr/>
          <p:nvPr/>
        </p:nvGrpSpPr>
        <p:grpSpPr>
          <a:xfrm>
            <a:off x="4187825" y="3962400"/>
            <a:ext cx="311150" cy="2209800"/>
            <a:chOff x="2638" y="2496"/>
            <a:chExt cx="196" cy="1392"/>
          </a:xfrm>
        </p:grpSpPr>
        <p:sp>
          <p:nvSpPr>
            <p:cNvPr id="64530" name="Line 20"/>
            <p:cNvSpPr/>
            <p:nvPr/>
          </p:nvSpPr>
          <p:spPr>
            <a:xfrm>
              <a:off x="2832" y="2640"/>
              <a:ext cx="0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4531" name="Text Box 32"/>
            <p:cNvSpPr txBox="1"/>
            <p:nvPr/>
          </p:nvSpPr>
          <p:spPr>
            <a:xfrm>
              <a:off x="2640" y="2496"/>
              <a:ext cx="1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4532" name="Text Box 33"/>
            <p:cNvSpPr txBox="1"/>
            <p:nvPr/>
          </p:nvSpPr>
          <p:spPr>
            <a:xfrm>
              <a:off x="2640" y="2784"/>
              <a:ext cx="1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4533" name="Text Box 34"/>
            <p:cNvSpPr txBox="1"/>
            <p:nvPr/>
          </p:nvSpPr>
          <p:spPr>
            <a:xfrm>
              <a:off x="2640" y="3216"/>
              <a:ext cx="1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4534" name="Text Box 35"/>
            <p:cNvSpPr txBox="1"/>
            <p:nvPr/>
          </p:nvSpPr>
          <p:spPr>
            <a:xfrm>
              <a:off x="2638" y="3504"/>
              <a:ext cx="1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8" name="Group 45"/>
          <p:cNvGrpSpPr/>
          <p:nvPr/>
        </p:nvGrpSpPr>
        <p:grpSpPr>
          <a:xfrm>
            <a:off x="7391400" y="4191000"/>
            <a:ext cx="460375" cy="1981200"/>
            <a:chOff x="4656" y="2640"/>
            <a:chExt cx="290" cy="1248"/>
          </a:xfrm>
        </p:grpSpPr>
        <p:sp>
          <p:nvSpPr>
            <p:cNvPr id="64525" name="Line 26"/>
            <p:cNvSpPr/>
            <p:nvPr/>
          </p:nvSpPr>
          <p:spPr>
            <a:xfrm>
              <a:off x="4656" y="2640"/>
              <a:ext cx="0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4526" name="Text Box 36"/>
            <p:cNvSpPr txBox="1"/>
            <p:nvPr/>
          </p:nvSpPr>
          <p:spPr>
            <a:xfrm>
              <a:off x="4752" y="2640"/>
              <a:ext cx="1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4527" name="Text Box 38"/>
            <p:cNvSpPr txBox="1"/>
            <p:nvPr/>
          </p:nvSpPr>
          <p:spPr>
            <a:xfrm>
              <a:off x="4752" y="2928"/>
              <a:ext cx="1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4528" name="Text Box 39"/>
            <p:cNvSpPr txBox="1"/>
            <p:nvPr/>
          </p:nvSpPr>
          <p:spPr>
            <a:xfrm>
              <a:off x="4752" y="3168"/>
              <a:ext cx="1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4529" name="Text Box 40"/>
            <p:cNvSpPr txBox="1"/>
            <p:nvPr/>
          </p:nvSpPr>
          <p:spPr>
            <a:xfrm>
              <a:off x="4752" y="3456"/>
              <a:ext cx="1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pic>
        <p:nvPicPr>
          <p:cNvPr id="64523" name="Picture 47" descr="wb01508_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62484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24" name="Text Box 48">
            <a:hlinkClick r:id="rId5" action="ppaction://hlinksldjump"/>
          </p:cNvPr>
          <p:cNvSpPr txBox="1"/>
          <p:nvPr/>
        </p:nvSpPr>
        <p:spPr>
          <a:xfrm>
            <a:off x="730250" y="63246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Text Box 2"/>
          <p:cNvSpPr txBox="1"/>
          <p:nvPr/>
        </p:nvSpPr>
        <p:spPr>
          <a:xfrm>
            <a:off x="990600" y="609600"/>
            <a:ext cx="7315200" cy="64135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A5002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逻辑代数的运算公式和规则</a:t>
            </a:r>
            <a:endParaRPr lang="zh-CN" altLang="en-US" sz="3600" b="1" dirty="0">
              <a:solidFill>
                <a:srgbClr val="A5002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3251" name="Text Box 3"/>
          <p:cNvSpPr txBox="1"/>
          <p:nvPr/>
        </p:nvSpPr>
        <p:spPr>
          <a:xfrm>
            <a:off x="1985963" y="1295400"/>
            <a:ext cx="40894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2800" b="1" dirty="0">
                <a:latin typeface="宋体" panose="02010600030101010101" pitchFamily="2" charset="-122"/>
              </a:rPr>
              <a:t>公理、定律与常用公式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pSp>
        <p:nvGrpSpPr>
          <p:cNvPr id="2" name="Group 59"/>
          <p:cNvGrpSpPr/>
          <p:nvPr/>
        </p:nvGrpSpPr>
        <p:grpSpPr>
          <a:xfrm>
            <a:off x="228600" y="1676400"/>
            <a:ext cx="1143000" cy="479425"/>
            <a:chOff x="144" y="1392"/>
            <a:chExt cx="720" cy="302"/>
          </a:xfrm>
        </p:grpSpPr>
        <p:graphicFrame>
          <p:nvGraphicFramePr>
            <p:cNvPr id="65635" name="Object 4"/>
            <p:cNvGraphicFramePr>
              <a:graphicFrameLocks noChangeAspect="1"/>
            </p:cNvGraphicFramePr>
            <p:nvPr/>
          </p:nvGraphicFramePr>
          <p:xfrm>
            <a:off x="144" y="1392"/>
            <a:ext cx="720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" r:id="rId1" imgW="971550" imgH="409575" progId="MS_ClipArt_Gallery.2">
                    <p:embed/>
                  </p:oleObj>
                </mc:Choice>
                <mc:Fallback>
                  <p:oleObj name="" r:id="rId1" imgW="971550" imgH="409575" progId="MS_ClipArt_Gallery.2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44" y="1392"/>
                          <a:ext cx="720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636" name="Text Box 31"/>
            <p:cNvSpPr txBox="1"/>
            <p:nvPr/>
          </p:nvSpPr>
          <p:spPr>
            <a:xfrm>
              <a:off x="240" y="1392"/>
              <a:ext cx="5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公理</a:t>
              </a:r>
              <a:endParaRPr lang="zh-CN" altLang="en-US" sz="4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3" name="Group 61"/>
          <p:cNvGrpSpPr/>
          <p:nvPr/>
        </p:nvGrpSpPr>
        <p:grpSpPr>
          <a:xfrm>
            <a:off x="228600" y="2438400"/>
            <a:ext cx="1143000" cy="479425"/>
            <a:chOff x="144" y="1872"/>
            <a:chExt cx="720" cy="302"/>
          </a:xfrm>
        </p:grpSpPr>
        <p:graphicFrame>
          <p:nvGraphicFramePr>
            <p:cNvPr id="65633" name="Object 17"/>
            <p:cNvGraphicFramePr>
              <a:graphicFrameLocks noChangeAspect="1"/>
            </p:cNvGraphicFramePr>
            <p:nvPr/>
          </p:nvGraphicFramePr>
          <p:xfrm>
            <a:off x="144" y="1872"/>
            <a:ext cx="720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6" name="" r:id="rId3" imgW="971550" imgH="409575" progId="MS_ClipArt_Gallery.2">
                    <p:embed/>
                  </p:oleObj>
                </mc:Choice>
                <mc:Fallback>
                  <p:oleObj name="" r:id="rId3" imgW="971550" imgH="409575" progId="MS_ClipArt_Gallery.2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44" y="1872"/>
                          <a:ext cx="720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634" name="Text Box 32"/>
            <p:cNvSpPr txBox="1"/>
            <p:nvPr/>
          </p:nvSpPr>
          <p:spPr>
            <a:xfrm>
              <a:off x="144" y="1872"/>
              <a:ext cx="6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交换律</a:t>
              </a:r>
              <a:endParaRPr lang="zh-CN" altLang="en-US" sz="4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4" name="Group 62"/>
          <p:cNvGrpSpPr/>
          <p:nvPr/>
        </p:nvGrpSpPr>
        <p:grpSpPr>
          <a:xfrm>
            <a:off x="228600" y="3200400"/>
            <a:ext cx="1143000" cy="479425"/>
            <a:chOff x="144" y="2352"/>
            <a:chExt cx="720" cy="302"/>
          </a:xfrm>
        </p:grpSpPr>
        <p:graphicFrame>
          <p:nvGraphicFramePr>
            <p:cNvPr id="65631" name="Object 21"/>
            <p:cNvGraphicFramePr>
              <a:graphicFrameLocks noChangeAspect="1"/>
            </p:cNvGraphicFramePr>
            <p:nvPr/>
          </p:nvGraphicFramePr>
          <p:xfrm>
            <a:off x="144" y="2352"/>
            <a:ext cx="720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9" name="" r:id="rId4" imgW="971550" imgH="409575" progId="MS_ClipArt_Gallery.2">
                    <p:embed/>
                  </p:oleObj>
                </mc:Choice>
                <mc:Fallback>
                  <p:oleObj name="" r:id="rId4" imgW="971550" imgH="409575" progId="MS_ClipArt_Gallery.2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44" y="2352"/>
                          <a:ext cx="720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632" name="Text Box 33"/>
            <p:cNvSpPr txBox="1"/>
            <p:nvPr/>
          </p:nvSpPr>
          <p:spPr>
            <a:xfrm>
              <a:off x="144" y="2352"/>
              <a:ext cx="6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结合律</a:t>
              </a:r>
              <a:endParaRPr lang="zh-CN" altLang="en-US" sz="4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5" name="Group 63"/>
          <p:cNvGrpSpPr/>
          <p:nvPr/>
        </p:nvGrpSpPr>
        <p:grpSpPr>
          <a:xfrm>
            <a:off x="228600" y="3962400"/>
            <a:ext cx="1143000" cy="479425"/>
            <a:chOff x="144" y="2832"/>
            <a:chExt cx="720" cy="302"/>
          </a:xfrm>
        </p:grpSpPr>
        <p:graphicFrame>
          <p:nvGraphicFramePr>
            <p:cNvPr id="65629" name="Object 22"/>
            <p:cNvGraphicFramePr>
              <a:graphicFrameLocks noChangeAspect="1"/>
            </p:cNvGraphicFramePr>
            <p:nvPr/>
          </p:nvGraphicFramePr>
          <p:xfrm>
            <a:off x="144" y="2832"/>
            <a:ext cx="720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" name="" r:id="rId5" imgW="971550" imgH="409575" progId="MS_ClipArt_Gallery.2">
                    <p:embed/>
                  </p:oleObj>
                </mc:Choice>
                <mc:Fallback>
                  <p:oleObj name="" r:id="rId5" imgW="971550" imgH="409575" progId="MS_ClipArt_Gallery.2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44" y="2832"/>
                          <a:ext cx="720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630" name="Text Box 34"/>
            <p:cNvSpPr txBox="1"/>
            <p:nvPr/>
          </p:nvSpPr>
          <p:spPr>
            <a:xfrm>
              <a:off x="144" y="2832"/>
              <a:ext cx="6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分配律</a:t>
              </a:r>
              <a:endParaRPr lang="zh-CN" altLang="en-US" sz="4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6" name="Group 64"/>
          <p:cNvGrpSpPr/>
          <p:nvPr/>
        </p:nvGrpSpPr>
        <p:grpSpPr>
          <a:xfrm>
            <a:off x="228600" y="4724400"/>
            <a:ext cx="1143000" cy="479425"/>
            <a:chOff x="144" y="3312"/>
            <a:chExt cx="720" cy="302"/>
          </a:xfrm>
        </p:grpSpPr>
        <p:graphicFrame>
          <p:nvGraphicFramePr>
            <p:cNvPr id="65627" name="Object 23"/>
            <p:cNvGraphicFramePr>
              <a:graphicFrameLocks noChangeAspect="1"/>
            </p:cNvGraphicFramePr>
            <p:nvPr/>
          </p:nvGraphicFramePr>
          <p:xfrm>
            <a:off x="144" y="3312"/>
            <a:ext cx="720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" r:id="rId6" imgW="971550" imgH="409575" progId="MS_ClipArt_Gallery.2">
                    <p:embed/>
                  </p:oleObj>
                </mc:Choice>
                <mc:Fallback>
                  <p:oleObj name="" r:id="rId6" imgW="971550" imgH="409575" progId="MS_ClipArt_Gallery.2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44" y="3312"/>
                          <a:ext cx="720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628" name="Text Box 35"/>
            <p:cNvSpPr txBox="1"/>
            <p:nvPr/>
          </p:nvSpPr>
          <p:spPr>
            <a:xfrm>
              <a:off x="192" y="3312"/>
              <a:ext cx="56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0-1</a:t>
              </a:r>
              <a:r>
                <a:rPr lang="zh-CN" altLang="en-US" sz="2400" b="1" dirty="0">
                  <a:solidFill>
                    <a:schemeClr val="tx2"/>
                  </a:solidFill>
                </a:rPr>
                <a:t>律</a:t>
              </a:r>
              <a:endParaRPr lang="zh-CN" altLang="en-US" sz="4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7" name="Group 67"/>
          <p:cNvGrpSpPr/>
          <p:nvPr/>
        </p:nvGrpSpPr>
        <p:grpSpPr>
          <a:xfrm>
            <a:off x="7772400" y="1676400"/>
            <a:ext cx="1143000" cy="479425"/>
            <a:chOff x="4848" y="1858"/>
            <a:chExt cx="720" cy="302"/>
          </a:xfrm>
        </p:grpSpPr>
        <p:graphicFrame>
          <p:nvGraphicFramePr>
            <p:cNvPr id="65625" name="Object 29"/>
            <p:cNvGraphicFramePr>
              <a:graphicFrameLocks noChangeAspect="1"/>
            </p:cNvGraphicFramePr>
            <p:nvPr/>
          </p:nvGraphicFramePr>
          <p:xfrm>
            <a:off x="4848" y="1858"/>
            <a:ext cx="720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" r:id="rId7" imgW="971550" imgH="409575" progId="MS_ClipArt_Gallery.2">
                    <p:embed/>
                  </p:oleObj>
                </mc:Choice>
                <mc:Fallback>
                  <p:oleObj name="" r:id="rId7" imgW="971550" imgH="409575" progId="MS_ClipArt_Gallery.2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848" y="1858"/>
                          <a:ext cx="720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626" name="Text Box 37"/>
            <p:cNvSpPr txBox="1"/>
            <p:nvPr/>
          </p:nvSpPr>
          <p:spPr>
            <a:xfrm>
              <a:off x="4848" y="1858"/>
              <a:ext cx="6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重叠律</a:t>
              </a:r>
              <a:endParaRPr lang="zh-CN" altLang="en-US" sz="4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8" name="Group 66"/>
          <p:cNvGrpSpPr/>
          <p:nvPr/>
        </p:nvGrpSpPr>
        <p:grpSpPr>
          <a:xfrm>
            <a:off x="228600" y="6140450"/>
            <a:ext cx="1143000" cy="479425"/>
            <a:chOff x="4848" y="1378"/>
            <a:chExt cx="720" cy="302"/>
          </a:xfrm>
        </p:grpSpPr>
        <p:graphicFrame>
          <p:nvGraphicFramePr>
            <p:cNvPr id="65623" name="Object 30"/>
            <p:cNvGraphicFramePr>
              <a:graphicFrameLocks noChangeAspect="1"/>
            </p:cNvGraphicFramePr>
            <p:nvPr/>
          </p:nvGraphicFramePr>
          <p:xfrm>
            <a:off x="4848" y="1378"/>
            <a:ext cx="720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1" name="" r:id="rId8" imgW="971550" imgH="409575" progId="MS_ClipArt_Gallery.2">
                    <p:embed/>
                  </p:oleObj>
                </mc:Choice>
                <mc:Fallback>
                  <p:oleObj name="" r:id="rId8" imgW="971550" imgH="409575" progId="MS_ClipArt_Gallery.2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848" y="1378"/>
                          <a:ext cx="720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624" name="Text Box 38"/>
            <p:cNvSpPr txBox="1"/>
            <p:nvPr/>
          </p:nvSpPr>
          <p:spPr>
            <a:xfrm>
              <a:off x="4848" y="1378"/>
              <a:ext cx="6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互补律</a:t>
              </a:r>
              <a:endParaRPr lang="zh-CN" altLang="en-US" sz="4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9" name="Group 69"/>
          <p:cNvGrpSpPr/>
          <p:nvPr/>
        </p:nvGrpSpPr>
        <p:grpSpPr>
          <a:xfrm>
            <a:off x="7772400" y="3200400"/>
            <a:ext cx="1143000" cy="479425"/>
            <a:chOff x="4848" y="2818"/>
            <a:chExt cx="720" cy="302"/>
          </a:xfrm>
        </p:grpSpPr>
        <p:graphicFrame>
          <p:nvGraphicFramePr>
            <p:cNvPr id="65621" name="Object 27"/>
            <p:cNvGraphicFramePr>
              <a:graphicFrameLocks noChangeAspect="1"/>
            </p:cNvGraphicFramePr>
            <p:nvPr/>
          </p:nvGraphicFramePr>
          <p:xfrm>
            <a:off x="4848" y="2818"/>
            <a:ext cx="720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" name="" r:id="rId9" imgW="971550" imgH="409575" progId="MS_ClipArt_Gallery.2">
                    <p:embed/>
                  </p:oleObj>
                </mc:Choice>
                <mc:Fallback>
                  <p:oleObj name="" r:id="rId9" imgW="971550" imgH="409575" progId="MS_ClipArt_Gallery.2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848" y="2818"/>
                          <a:ext cx="720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622" name="Text Box 40"/>
            <p:cNvSpPr txBox="1"/>
            <p:nvPr/>
          </p:nvSpPr>
          <p:spPr>
            <a:xfrm>
              <a:off x="4848" y="2818"/>
              <a:ext cx="6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还原律</a:t>
              </a:r>
              <a:endParaRPr lang="zh-CN" altLang="en-US" sz="24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0" name="Group 68"/>
          <p:cNvGrpSpPr/>
          <p:nvPr/>
        </p:nvGrpSpPr>
        <p:grpSpPr>
          <a:xfrm>
            <a:off x="7772400" y="2438400"/>
            <a:ext cx="1143000" cy="479425"/>
            <a:chOff x="4848" y="2338"/>
            <a:chExt cx="720" cy="302"/>
          </a:xfrm>
        </p:grpSpPr>
        <p:graphicFrame>
          <p:nvGraphicFramePr>
            <p:cNvPr id="65619" name="Object 28"/>
            <p:cNvGraphicFramePr>
              <a:graphicFrameLocks noChangeAspect="1"/>
            </p:cNvGraphicFramePr>
            <p:nvPr/>
          </p:nvGraphicFramePr>
          <p:xfrm>
            <a:off x="4848" y="2338"/>
            <a:ext cx="720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7" name="" r:id="rId10" imgW="971550" imgH="409575" progId="MS_ClipArt_Gallery.2">
                    <p:embed/>
                  </p:oleObj>
                </mc:Choice>
                <mc:Fallback>
                  <p:oleObj name="" r:id="rId10" imgW="971550" imgH="409575" progId="MS_ClipArt_Gallery.2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848" y="2338"/>
                          <a:ext cx="720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620" name="Text Box 41"/>
            <p:cNvSpPr txBox="1"/>
            <p:nvPr/>
          </p:nvSpPr>
          <p:spPr>
            <a:xfrm>
              <a:off x="4848" y="2338"/>
              <a:ext cx="6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反演律</a:t>
              </a:r>
              <a:endParaRPr lang="zh-CN" altLang="en-US" sz="24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53294" name="Text Box 46"/>
          <p:cNvSpPr txBox="1"/>
          <p:nvPr/>
        </p:nvSpPr>
        <p:spPr>
          <a:xfrm>
            <a:off x="1676400" y="2057400"/>
            <a:ext cx="152876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  0 = 0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53295" name="Text Box 47"/>
          <p:cNvSpPr txBox="1"/>
          <p:nvPr/>
        </p:nvSpPr>
        <p:spPr>
          <a:xfrm>
            <a:off x="1676400" y="2667000"/>
            <a:ext cx="2695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  1 =1   0 =0 </a:t>
            </a:r>
            <a:endParaRPr lang="en-US" altLang="zh-CN" sz="2800" b="1" dirty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  <p:sp>
        <p:nvSpPr>
          <p:cNvPr id="53296" name="Text Box 48"/>
          <p:cNvSpPr txBox="1"/>
          <p:nvPr/>
        </p:nvSpPr>
        <p:spPr>
          <a:xfrm>
            <a:off x="1676400" y="3352800"/>
            <a:ext cx="152876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  1 = 1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53303" name="Rectangle 55"/>
          <p:cNvSpPr/>
          <p:nvPr/>
        </p:nvSpPr>
        <p:spPr>
          <a:xfrm>
            <a:off x="1600200" y="1981200"/>
            <a:ext cx="2667000" cy="1905000"/>
          </a:xfrm>
          <a:prstGeom prst="rect">
            <a:avLst/>
          </a:prstGeom>
          <a:noFill/>
          <a:ln w="57150" cap="flat" cmpd="thinThick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53297" name="Text Box 49"/>
          <p:cNvSpPr txBox="1"/>
          <p:nvPr/>
        </p:nvSpPr>
        <p:spPr>
          <a:xfrm>
            <a:off x="4876800" y="2057400"/>
            <a:ext cx="15684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+  0 = 0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53298" name="Text Box 50"/>
          <p:cNvSpPr txBox="1"/>
          <p:nvPr/>
        </p:nvSpPr>
        <p:spPr>
          <a:xfrm>
            <a:off x="4876800" y="2667000"/>
            <a:ext cx="26860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+  1 =1 +  0 =1 </a:t>
            </a:r>
            <a:endParaRPr lang="en-US" altLang="zh-CN" sz="2800" b="1" dirty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  <p:sp>
        <p:nvSpPr>
          <p:cNvPr id="53299" name="Text Box 51"/>
          <p:cNvSpPr txBox="1"/>
          <p:nvPr/>
        </p:nvSpPr>
        <p:spPr>
          <a:xfrm>
            <a:off x="4876800" y="3352800"/>
            <a:ext cx="15684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1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+  1 = 1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53305" name="Rectangle 57"/>
          <p:cNvSpPr/>
          <p:nvPr/>
        </p:nvSpPr>
        <p:spPr>
          <a:xfrm>
            <a:off x="4648200" y="1981200"/>
            <a:ext cx="2819400" cy="1905000"/>
          </a:xfrm>
          <a:prstGeom prst="rect">
            <a:avLst/>
          </a:prstGeom>
          <a:noFill/>
          <a:ln w="57150" cap="flat" cmpd="thinThick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53324" name="Text Box 76"/>
          <p:cNvSpPr txBox="1"/>
          <p:nvPr/>
        </p:nvSpPr>
        <p:spPr>
          <a:xfrm>
            <a:off x="1600200" y="4038600"/>
            <a:ext cx="24130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 B = B  A </a:t>
            </a:r>
            <a:endParaRPr lang="en-US" altLang="zh-CN" sz="2800" b="1" dirty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  <p:sp>
        <p:nvSpPr>
          <p:cNvPr id="53325" name="Text Box 77"/>
          <p:cNvSpPr txBox="1"/>
          <p:nvPr/>
        </p:nvSpPr>
        <p:spPr>
          <a:xfrm>
            <a:off x="4419600" y="4038600"/>
            <a:ext cx="24923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+ B = B + A </a:t>
            </a:r>
            <a:endParaRPr lang="en-US" altLang="zh-CN" sz="2800" b="1" dirty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  <p:sp>
        <p:nvSpPr>
          <p:cNvPr id="53326" name="Text Box 78"/>
          <p:cNvSpPr txBox="1"/>
          <p:nvPr/>
        </p:nvSpPr>
        <p:spPr>
          <a:xfrm>
            <a:off x="1828800" y="4724400"/>
            <a:ext cx="39973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(A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 B) C = </a:t>
            </a:r>
            <a:r>
              <a:rPr lang="en-US" altLang="zh-CN" sz="2800" b="1" dirty="0">
                <a:solidFill>
                  <a:schemeClr val="tx2"/>
                </a:solidFill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 (B C) </a:t>
            </a:r>
            <a:endParaRPr lang="en-US" altLang="zh-CN" sz="2800" b="1" dirty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  <p:sp>
        <p:nvSpPr>
          <p:cNvPr id="53327" name="Text Box 79"/>
          <p:cNvSpPr txBox="1"/>
          <p:nvPr/>
        </p:nvSpPr>
        <p:spPr>
          <a:xfrm>
            <a:off x="1828800" y="5105400"/>
            <a:ext cx="38893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(A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+ B)+ C = </a:t>
            </a:r>
            <a:r>
              <a:rPr lang="en-US" altLang="zh-CN" sz="2800" b="1" dirty="0">
                <a:solidFill>
                  <a:schemeClr val="tx2"/>
                </a:solidFill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+ (B+ C) </a:t>
            </a:r>
            <a:endParaRPr lang="en-US" altLang="zh-CN" sz="2800" b="1" dirty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  <p:sp>
        <p:nvSpPr>
          <p:cNvPr id="53329" name="Rectangle 81"/>
          <p:cNvSpPr/>
          <p:nvPr/>
        </p:nvSpPr>
        <p:spPr>
          <a:xfrm>
            <a:off x="1600200" y="4724400"/>
            <a:ext cx="5867400" cy="914400"/>
          </a:xfrm>
          <a:prstGeom prst="rect">
            <a:avLst/>
          </a:prstGeom>
          <a:noFill/>
          <a:ln w="57150" cap="flat" cmpd="thinThick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53331" name="Rectangle 83"/>
          <p:cNvSpPr/>
          <p:nvPr/>
        </p:nvSpPr>
        <p:spPr>
          <a:xfrm>
            <a:off x="1600200" y="3962400"/>
            <a:ext cx="5867400" cy="685800"/>
          </a:xfrm>
          <a:prstGeom prst="rect">
            <a:avLst/>
          </a:prstGeom>
          <a:noFill/>
          <a:ln w="57150" cap="flat" cmpd="thinThick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grpSp>
        <p:nvGrpSpPr>
          <p:cNvPr id="11" name="Group 84"/>
          <p:cNvGrpSpPr/>
          <p:nvPr/>
        </p:nvGrpSpPr>
        <p:grpSpPr>
          <a:xfrm>
            <a:off x="228600" y="5464175"/>
            <a:ext cx="1143000" cy="479425"/>
            <a:chOff x="144" y="3778"/>
            <a:chExt cx="720" cy="302"/>
          </a:xfrm>
        </p:grpSpPr>
        <p:graphicFrame>
          <p:nvGraphicFramePr>
            <p:cNvPr id="65617" name="Object 85"/>
            <p:cNvGraphicFramePr>
              <a:graphicFrameLocks noChangeAspect="1"/>
            </p:cNvGraphicFramePr>
            <p:nvPr/>
          </p:nvGraphicFramePr>
          <p:xfrm>
            <a:off x="144" y="3778"/>
            <a:ext cx="720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" r:id="rId11" imgW="971550" imgH="409575" progId="MS_ClipArt_Gallery.2">
                    <p:embed/>
                  </p:oleObj>
                </mc:Choice>
                <mc:Fallback>
                  <p:oleObj name="" r:id="rId11" imgW="971550" imgH="409575" progId="MS_ClipArt_Gallery.2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44" y="3778"/>
                          <a:ext cx="720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618" name="Text Box 86"/>
            <p:cNvSpPr txBox="1"/>
            <p:nvPr/>
          </p:nvSpPr>
          <p:spPr>
            <a:xfrm>
              <a:off x="144" y="3792"/>
              <a:ext cx="6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自等律</a:t>
              </a:r>
              <a:endParaRPr lang="zh-CN" altLang="en-US" sz="4400" dirty="0">
                <a:solidFill>
                  <a:schemeClr val="tx2"/>
                </a:solidFill>
              </a:endParaRPr>
            </a:p>
          </p:txBody>
        </p:sp>
      </p:grpSp>
      <p:sp>
        <p:nvSpPr>
          <p:cNvPr id="53336" name="Rectangle 88"/>
          <p:cNvSpPr/>
          <p:nvPr/>
        </p:nvSpPr>
        <p:spPr>
          <a:xfrm>
            <a:off x="1600200" y="5715000"/>
            <a:ext cx="5867400" cy="990600"/>
          </a:xfrm>
          <a:prstGeom prst="rect">
            <a:avLst/>
          </a:prstGeom>
          <a:noFill/>
          <a:ln w="57150" cap="flat" cmpd="thinThick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53337" name="Text Box 89"/>
          <p:cNvSpPr txBox="1"/>
          <p:nvPr/>
        </p:nvSpPr>
        <p:spPr>
          <a:xfrm>
            <a:off x="1752600" y="5715000"/>
            <a:ext cx="461486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 </a:t>
            </a:r>
            <a:r>
              <a:rPr lang="en-US" altLang="zh-CN" sz="2800" b="1" dirty="0">
                <a:solidFill>
                  <a:schemeClr val="tx2"/>
                </a:solidFill>
              </a:rPr>
              <a:t>(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 B+ C ) = </a:t>
            </a:r>
            <a:r>
              <a:rPr lang="en-US" altLang="zh-CN" sz="2800" b="1" dirty="0">
                <a:solidFill>
                  <a:schemeClr val="tx2"/>
                </a:solidFill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 B+ </a:t>
            </a:r>
            <a:r>
              <a:rPr lang="en-US" altLang="zh-CN" sz="2800" b="1" dirty="0">
                <a:solidFill>
                  <a:schemeClr val="tx2"/>
                </a:solidFill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  C </a:t>
            </a:r>
            <a:endParaRPr lang="en-US" altLang="zh-CN" sz="2800" b="1" dirty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  <p:sp>
        <p:nvSpPr>
          <p:cNvPr id="53338" name="Text Box 90"/>
          <p:cNvSpPr txBox="1"/>
          <p:nvPr/>
        </p:nvSpPr>
        <p:spPr>
          <a:xfrm>
            <a:off x="1752600" y="6096000"/>
            <a:ext cx="45370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+ B  C =( </a:t>
            </a:r>
            <a:r>
              <a:rPr lang="en-US" altLang="zh-CN" sz="2800" b="1" dirty="0">
                <a:solidFill>
                  <a:schemeClr val="tx2"/>
                </a:solidFill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+ B) (</a:t>
            </a:r>
            <a:r>
              <a:rPr lang="en-US" altLang="zh-CN" sz="2800" b="1" dirty="0">
                <a:solidFill>
                  <a:schemeClr val="tx2"/>
                </a:solidFill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+ C )</a:t>
            </a:r>
            <a:endParaRPr lang="en-US" altLang="zh-CN" sz="2800" b="1" dirty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  <p:sp>
        <p:nvSpPr>
          <p:cNvPr id="53339" name="Rectangle 91"/>
          <p:cNvSpPr/>
          <p:nvPr/>
        </p:nvSpPr>
        <p:spPr>
          <a:xfrm>
            <a:off x="1524000" y="1905000"/>
            <a:ext cx="5943600" cy="4800600"/>
          </a:xfrm>
          <a:prstGeom prst="rect">
            <a:avLst/>
          </a:prstGeom>
          <a:solidFill>
            <a:srgbClr val="FFCCCC"/>
          </a:solidFill>
          <a:ln w="38100" cap="flat" cmpd="sng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53344" name="Rectangle 96"/>
          <p:cNvSpPr/>
          <p:nvPr/>
        </p:nvSpPr>
        <p:spPr>
          <a:xfrm>
            <a:off x="1600200" y="1828800"/>
            <a:ext cx="316071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 0=0         </a:t>
            </a:r>
            <a:r>
              <a:rPr lang="en-US" altLang="zh-CN" sz="2800" b="1" dirty="0">
                <a:solidFill>
                  <a:schemeClr val="tx2"/>
                </a:solidFill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+ 1=1</a:t>
            </a:r>
            <a:endParaRPr lang="en-US" altLang="zh-CN" sz="2800" b="1" dirty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  <p:sp>
        <p:nvSpPr>
          <p:cNvPr id="53345" name="Rectangle 97"/>
          <p:cNvSpPr/>
          <p:nvPr/>
        </p:nvSpPr>
        <p:spPr>
          <a:xfrm>
            <a:off x="1600200" y="2224088"/>
            <a:ext cx="3319463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 1=A         </a:t>
            </a:r>
            <a:r>
              <a:rPr lang="en-US" altLang="zh-CN" sz="2800" b="1" dirty="0">
                <a:solidFill>
                  <a:schemeClr val="tx2"/>
                </a:solidFill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+ 0=A</a:t>
            </a:r>
            <a:endParaRPr lang="en-US" altLang="zh-CN" sz="2800" b="1" dirty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  <p:grpSp>
        <p:nvGrpSpPr>
          <p:cNvPr id="12" name="Group 101"/>
          <p:cNvGrpSpPr/>
          <p:nvPr/>
        </p:nvGrpSpPr>
        <p:grpSpPr>
          <a:xfrm>
            <a:off x="1600200" y="2605088"/>
            <a:ext cx="3230563" cy="519112"/>
            <a:chOff x="1137" y="1920"/>
            <a:chExt cx="2035" cy="327"/>
          </a:xfrm>
        </p:grpSpPr>
        <p:sp>
          <p:nvSpPr>
            <p:cNvPr id="65614" name="Rectangle 98"/>
            <p:cNvSpPr/>
            <p:nvPr/>
          </p:nvSpPr>
          <p:spPr>
            <a:xfrm>
              <a:off x="1137" y="1920"/>
              <a:ext cx="20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A</a:t>
              </a: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  A=0        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A</a:t>
              </a: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+A=1</a:t>
              </a:r>
              <a:endPara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65615" name="Line 99"/>
            <p:cNvSpPr/>
            <p:nvPr/>
          </p:nvSpPr>
          <p:spPr>
            <a:xfrm>
              <a:off x="1584" y="2016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616" name="Line 100"/>
            <p:cNvSpPr/>
            <p:nvPr/>
          </p:nvSpPr>
          <p:spPr>
            <a:xfrm>
              <a:off x="2736" y="2016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3351" name="Rectangle 103"/>
          <p:cNvSpPr/>
          <p:nvPr/>
        </p:nvSpPr>
        <p:spPr>
          <a:xfrm>
            <a:off x="1600200" y="2909888"/>
            <a:ext cx="3478213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 A=A         </a:t>
            </a:r>
            <a:r>
              <a:rPr lang="en-US" altLang="zh-CN" sz="2800" b="1" dirty="0">
                <a:solidFill>
                  <a:schemeClr val="tx2"/>
                </a:solidFill>
              </a:rPr>
              <a:t>A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+ A=A</a:t>
            </a:r>
            <a:endParaRPr lang="en-US" altLang="zh-CN" sz="2800" b="1" dirty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  <p:grpSp>
        <p:nvGrpSpPr>
          <p:cNvPr id="13" name="Group 111"/>
          <p:cNvGrpSpPr/>
          <p:nvPr/>
        </p:nvGrpSpPr>
        <p:grpSpPr>
          <a:xfrm>
            <a:off x="1600200" y="3367088"/>
            <a:ext cx="4202113" cy="519112"/>
            <a:chOff x="1172" y="2448"/>
            <a:chExt cx="2647" cy="327"/>
          </a:xfrm>
        </p:grpSpPr>
        <p:sp>
          <p:nvSpPr>
            <p:cNvPr id="65607" name="Rectangle 104"/>
            <p:cNvSpPr/>
            <p:nvPr/>
          </p:nvSpPr>
          <p:spPr>
            <a:xfrm>
              <a:off x="1172" y="2448"/>
              <a:ext cx="264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A</a:t>
              </a: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 B= A+B         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A</a:t>
              </a: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+ B=AB</a:t>
              </a:r>
              <a:endPara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65608" name="Line 105"/>
            <p:cNvSpPr/>
            <p:nvPr/>
          </p:nvSpPr>
          <p:spPr>
            <a:xfrm>
              <a:off x="1248" y="2496"/>
              <a:ext cx="43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609" name="Line 106"/>
            <p:cNvSpPr/>
            <p:nvPr/>
          </p:nvSpPr>
          <p:spPr>
            <a:xfrm>
              <a:off x="1920" y="2496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610" name="Line 107"/>
            <p:cNvSpPr/>
            <p:nvPr/>
          </p:nvSpPr>
          <p:spPr>
            <a:xfrm>
              <a:off x="2208" y="2496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611" name="Line 108"/>
            <p:cNvSpPr/>
            <p:nvPr/>
          </p:nvSpPr>
          <p:spPr>
            <a:xfrm>
              <a:off x="3504" y="2496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612" name="Line 109"/>
            <p:cNvSpPr/>
            <p:nvPr/>
          </p:nvSpPr>
          <p:spPr>
            <a:xfrm>
              <a:off x="3648" y="2496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613" name="Line 110"/>
            <p:cNvSpPr/>
            <p:nvPr/>
          </p:nvSpPr>
          <p:spPr>
            <a:xfrm>
              <a:off x="2880" y="2496"/>
              <a:ext cx="43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" name="Group 125"/>
          <p:cNvGrpSpPr/>
          <p:nvPr/>
        </p:nvGrpSpPr>
        <p:grpSpPr>
          <a:xfrm>
            <a:off x="1524000" y="3824288"/>
            <a:ext cx="1079500" cy="519112"/>
            <a:chOff x="1903" y="2640"/>
            <a:chExt cx="680" cy="327"/>
          </a:xfrm>
        </p:grpSpPr>
        <p:sp>
          <p:nvSpPr>
            <p:cNvPr id="65603" name="Rectangle 113"/>
            <p:cNvSpPr/>
            <p:nvPr/>
          </p:nvSpPr>
          <p:spPr>
            <a:xfrm>
              <a:off x="1903" y="2640"/>
              <a:ext cx="6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 A</a:t>
              </a: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= A</a:t>
              </a:r>
              <a:endPara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endParaRPr>
            </a:p>
          </p:txBody>
        </p:sp>
        <p:grpSp>
          <p:nvGrpSpPr>
            <p:cNvPr id="65604" name="Group 124"/>
            <p:cNvGrpSpPr/>
            <p:nvPr/>
          </p:nvGrpSpPr>
          <p:grpSpPr>
            <a:xfrm>
              <a:off x="2016" y="2688"/>
              <a:ext cx="144" cy="48"/>
              <a:chOff x="1440" y="3360"/>
              <a:chExt cx="144" cy="48"/>
            </a:xfrm>
          </p:grpSpPr>
          <p:sp>
            <p:nvSpPr>
              <p:cNvPr id="65605" name="Line 119"/>
              <p:cNvSpPr/>
              <p:nvPr/>
            </p:nvSpPr>
            <p:spPr>
              <a:xfrm>
                <a:off x="1440" y="3360"/>
                <a:ext cx="14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5606" name="Line 123"/>
              <p:cNvSpPr/>
              <p:nvPr/>
            </p:nvSpPr>
            <p:spPr>
              <a:xfrm>
                <a:off x="1440" y="3408"/>
                <a:ext cx="14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6" name="Group 126"/>
          <p:cNvGrpSpPr/>
          <p:nvPr/>
        </p:nvGrpSpPr>
        <p:grpSpPr>
          <a:xfrm>
            <a:off x="7772400" y="4648200"/>
            <a:ext cx="1143000" cy="479425"/>
            <a:chOff x="4848" y="3778"/>
            <a:chExt cx="720" cy="302"/>
          </a:xfrm>
        </p:grpSpPr>
        <p:graphicFrame>
          <p:nvGraphicFramePr>
            <p:cNvPr id="65601" name="Object 127"/>
            <p:cNvGraphicFramePr>
              <a:graphicFrameLocks noChangeAspect="1"/>
            </p:cNvGraphicFramePr>
            <p:nvPr/>
          </p:nvGraphicFramePr>
          <p:xfrm>
            <a:off x="4848" y="3778"/>
            <a:ext cx="720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" name="" r:id="rId12" imgW="971550" imgH="409575" progId="MS_ClipArt_Gallery.2">
                    <p:embed/>
                  </p:oleObj>
                </mc:Choice>
                <mc:Fallback>
                  <p:oleObj name="" r:id="rId12" imgW="971550" imgH="409575" progId="MS_ClipArt_Gallery.2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848" y="3778"/>
                          <a:ext cx="720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602" name="Text Box 128"/>
            <p:cNvSpPr txBox="1"/>
            <p:nvPr/>
          </p:nvSpPr>
          <p:spPr>
            <a:xfrm>
              <a:off x="4848" y="3778"/>
              <a:ext cx="6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吸收律</a:t>
              </a:r>
              <a:endParaRPr lang="zh-CN" altLang="en-US" sz="24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7" name="Group 129"/>
          <p:cNvGrpSpPr/>
          <p:nvPr/>
        </p:nvGrpSpPr>
        <p:grpSpPr>
          <a:xfrm>
            <a:off x="7772400" y="5387975"/>
            <a:ext cx="1143000" cy="479425"/>
            <a:chOff x="3072" y="3778"/>
            <a:chExt cx="720" cy="302"/>
          </a:xfrm>
        </p:grpSpPr>
        <p:graphicFrame>
          <p:nvGraphicFramePr>
            <p:cNvPr id="65599" name="Object 130"/>
            <p:cNvGraphicFramePr>
              <a:graphicFrameLocks noChangeAspect="1"/>
            </p:cNvGraphicFramePr>
            <p:nvPr/>
          </p:nvGraphicFramePr>
          <p:xfrm>
            <a:off x="3072" y="3778"/>
            <a:ext cx="720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" r:id="rId13" imgW="971550" imgH="409575" progId="MS_ClipArt_Gallery.2">
                    <p:embed/>
                  </p:oleObj>
                </mc:Choice>
                <mc:Fallback>
                  <p:oleObj name="" r:id="rId13" imgW="971550" imgH="409575" progId="MS_ClipArt_Gallery.2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072" y="3778"/>
                          <a:ext cx="720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600" name="Text Box 131"/>
            <p:cNvSpPr txBox="1"/>
            <p:nvPr/>
          </p:nvSpPr>
          <p:spPr>
            <a:xfrm>
              <a:off x="3072" y="3778"/>
              <a:ext cx="6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消因律</a:t>
              </a:r>
              <a:endParaRPr lang="zh-CN" altLang="en-US" sz="24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8" name="Group 132"/>
          <p:cNvGrpSpPr/>
          <p:nvPr/>
        </p:nvGrpSpPr>
        <p:grpSpPr>
          <a:xfrm>
            <a:off x="7772400" y="6073775"/>
            <a:ext cx="1143000" cy="479425"/>
            <a:chOff x="1632" y="3778"/>
            <a:chExt cx="720" cy="302"/>
          </a:xfrm>
        </p:grpSpPr>
        <p:graphicFrame>
          <p:nvGraphicFramePr>
            <p:cNvPr id="65597" name="Object 133"/>
            <p:cNvGraphicFramePr>
              <a:graphicFrameLocks noChangeAspect="1"/>
            </p:cNvGraphicFramePr>
            <p:nvPr/>
          </p:nvGraphicFramePr>
          <p:xfrm>
            <a:off x="1632" y="3778"/>
            <a:ext cx="720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6" name="" r:id="rId14" imgW="971550" imgH="409575" progId="MS_ClipArt_Gallery.2">
                    <p:embed/>
                  </p:oleObj>
                </mc:Choice>
                <mc:Fallback>
                  <p:oleObj name="" r:id="rId14" imgW="971550" imgH="409575" progId="MS_ClipArt_Gallery.2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632" y="3778"/>
                          <a:ext cx="720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598" name="Text Box 134"/>
            <p:cNvSpPr txBox="1"/>
            <p:nvPr/>
          </p:nvSpPr>
          <p:spPr>
            <a:xfrm>
              <a:off x="1632" y="3778"/>
              <a:ext cx="6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包含律</a:t>
              </a:r>
              <a:endParaRPr lang="zh-CN" altLang="en-US" sz="24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9" name="Group 135"/>
          <p:cNvGrpSpPr/>
          <p:nvPr/>
        </p:nvGrpSpPr>
        <p:grpSpPr>
          <a:xfrm>
            <a:off x="7772400" y="3962400"/>
            <a:ext cx="1143000" cy="479425"/>
            <a:chOff x="4848" y="3298"/>
            <a:chExt cx="720" cy="302"/>
          </a:xfrm>
        </p:grpSpPr>
        <p:graphicFrame>
          <p:nvGraphicFramePr>
            <p:cNvPr id="65595" name="Object 136"/>
            <p:cNvGraphicFramePr>
              <a:graphicFrameLocks noChangeAspect="1"/>
            </p:cNvGraphicFramePr>
            <p:nvPr/>
          </p:nvGraphicFramePr>
          <p:xfrm>
            <a:off x="4848" y="3298"/>
            <a:ext cx="720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7" name="" r:id="rId15" imgW="971550" imgH="409575" progId="MS_ClipArt_Gallery.2">
                    <p:embed/>
                  </p:oleObj>
                </mc:Choice>
                <mc:Fallback>
                  <p:oleObj name="" r:id="rId15" imgW="971550" imgH="409575" progId="MS_ClipArt_Gallery.2">
                    <p:embed/>
                    <p:pic>
                      <p:nvPicPr>
                        <p:cNvPr id="0" name="图片 311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848" y="3298"/>
                          <a:ext cx="720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596" name="Text Box 137"/>
            <p:cNvSpPr txBox="1"/>
            <p:nvPr/>
          </p:nvSpPr>
          <p:spPr>
            <a:xfrm>
              <a:off x="4848" y="3298"/>
              <a:ext cx="6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合并律</a:t>
              </a:r>
              <a:endParaRPr lang="zh-CN" altLang="en-US" sz="24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20" name="Group 146"/>
          <p:cNvGrpSpPr/>
          <p:nvPr/>
        </p:nvGrpSpPr>
        <p:grpSpPr>
          <a:xfrm>
            <a:off x="1643063" y="4205288"/>
            <a:ext cx="5900737" cy="519112"/>
            <a:chOff x="972" y="2640"/>
            <a:chExt cx="3717" cy="327"/>
          </a:xfrm>
        </p:grpSpPr>
        <p:sp>
          <p:nvSpPr>
            <p:cNvPr id="65592" name="Rectangle 139"/>
            <p:cNvSpPr/>
            <p:nvPr/>
          </p:nvSpPr>
          <p:spPr>
            <a:xfrm>
              <a:off x="972" y="2640"/>
              <a:ext cx="37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A</a:t>
              </a: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 B+ 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A</a:t>
              </a: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 B =A    (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A</a:t>
              </a: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+ B)  (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A</a:t>
              </a: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+ B) =A </a:t>
              </a:r>
              <a:endPara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65593" name="Line 140"/>
            <p:cNvSpPr/>
            <p:nvPr/>
          </p:nvSpPr>
          <p:spPr>
            <a:xfrm>
              <a:off x="2016" y="2688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94" name="Line 141"/>
            <p:cNvSpPr/>
            <p:nvPr/>
          </p:nvSpPr>
          <p:spPr>
            <a:xfrm>
              <a:off x="4032" y="2688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3390" name="Rectangle 142"/>
          <p:cNvSpPr/>
          <p:nvPr/>
        </p:nvSpPr>
        <p:spPr>
          <a:xfrm>
            <a:off x="1847850" y="4660900"/>
            <a:ext cx="4630738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A+A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 B=A         </a:t>
            </a:r>
            <a:r>
              <a:rPr lang="en-US" altLang="zh-CN" sz="2800" b="1" dirty="0">
                <a:solidFill>
                  <a:schemeClr val="tx2"/>
                </a:solidFill>
              </a:rPr>
              <a:t>A 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 (A+B)=A</a:t>
            </a:r>
            <a:endParaRPr lang="en-US" altLang="zh-CN" sz="2800" b="1" dirty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  <p:grpSp>
        <p:nvGrpSpPr>
          <p:cNvPr id="21" name="Group 147"/>
          <p:cNvGrpSpPr/>
          <p:nvPr/>
        </p:nvGrpSpPr>
        <p:grpSpPr>
          <a:xfrm>
            <a:off x="1643063" y="5119688"/>
            <a:ext cx="5662612" cy="519112"/>
            <a:chOff x="1035" y="3312"/>
            <a:chExt cx="3567" cy="327"/>
          </a:xfrm>
        </p:grpSpPr>
        <p:sp>
          <p:nvSpPr>
            <p:cNvPr id="65589" name="Rectangle 143"/>
            <p:cNvSpPr/>
            <p:nvPr/>
          </p:nvSpPr>
          <p:spPr>
            <a:xfrm>
              <a:off x="1035" y="3312"/>
              <a:ext cx="356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A</a:t>
              </a: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+  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A</a:t>
              </a: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 B =A+B    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A</a:t>
              </a: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 (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A</a:t>
              </a: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+ B) =A  B </a:t>
              </a:r>
              <a:endPara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65590" name="Line 144"/>
            <p:cNvSpPr/>
            <p:nvPr/>
          </p:nvSpPr>
          <p:spPr>
            <a:xfrm>
              <a:off x="1536" y="3360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91" name="Line 145"/>
            <p:cNvSpPr/>
            <p:nvPr/>
          </p:nvSpPr>
          <p:spPr>
            <a:xfrm>
              <a:off x="3216" y="3360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2" name="Group 152"/>
          <p:cNvGrpSpPr/>
          <p:nvPr/>
        </p:nvGrpSpPr>
        <p:grpSpPr>
          <a:xfrm>
            <a:off x="1600200" y="5576888"/>
            <a:ext cx="4217988" cy="519112"/>
            <a:chOff x="1104" y="3648"/>
            <a:chExt cx="2657" cy="327"/>
          </a:xfrm>
        </p:grpSpPr>
        <p:sp>
          <p:nvSpPr>
            <p:cNvPr id="65586" name="Rectangle 149"/>
            <p:cNvSpPr/>
            <p:nvPr/>
          </p:nvSpPr>
          <p:spPr>
            <a:xfrm>
              <a:off x="1104" y="3648"/>
              <a:ext cx="265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AB</a:t>
              </a: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+  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A</a:t>
              </a: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 C +BC= 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AB</a:t>
              </a: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+  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A</a:t>
              </a: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 C</a:t>
              </a:r>
              <a:endPara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65587" name="Line 150"/>
            <p:cNvSpPr/>
            <p:nvPr/>
          </p:nvSpPr>
          <p:spPr>
            <a:xfrm>
              <a:off x="1725" y="3696"/>
              <a:ext cx="9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88" name="Line 151"/>
            <p:cNvSpPr/>
            <p:nvPr/>
          </p:nvSpPr>
          <p:spPr>
            <a:xfrm>
              <a:off x="3356" y="3696"/>
              <a:ext cx="1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3" name="Group 157"/>
          <p:cNvGrpSpPr/>
          <p:nvPr/>
        </p:nvGrpSpPr>
        <p:grpSpPr>
          <a:xfrm>
            <a:off x="1538288" y="6034088"/>
            <a:ext cx="5548312" cy="519112"/>
            <a:chOff x="786" y="3993"/>
            <a:chExt cx="3495" cy="327"/>
          </a:xfrm>
        </p:grpSpPr>
        <p:sp>
          <p:nvSpPr>
            <p:cNvPr id="65583" name="Rectangle 154"/>
            <p:cNvSpPr/>
            <p:nvPr/>
          </p:nvSpPr>
          <p:spPr>
            <a:xfrm>
              <a:off x="786" y="3993"/>
              <a:ext cx="349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(A+B)(</a:t>
              </a: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 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A+</a:t>
              </a: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 C )(B+C)= (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A+B)(A</a:t>
              </a: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 +C)</a:t>
              </a:r>
              <a:endPara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65584" name="Line 155"/>
            <p:cNvSpPr/>
            <p:nvPr/>
          </p:nvSpPr>
          <p:spPr>
            <a:xfrm>
              <a:off x="1584" y="4041"/>
              <a:ext cx="9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85" name="Line 156"/>
            <p:cNvSpPr/>
            <p:nvPr/>
          </p:nvSpPr>
          <p:spPr>
            <a:xfrm>
              <a:off x="3644" y="4041"/>
              <a:ext cx="1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53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53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53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53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500"/>
                                        <p:tgtEl>
                                          <p:spTgt spid="5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500"/>
                                        <p:tgtEl>
                                          <p:spTgt spid="5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9" dur="500"/>
                                        <p:tgtEl>
                                          <p:spTgt spid="5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4" dur="500"/>
                                        <p:tgtEl>
                                          <p:spTgt spid="5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9" dur="500"/>
                                        <p:tgtEl>
                                          <p:spTgt spid="5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4" dur="500"/>
                                        <p:tgtEl>
                                          <p:spTgt spid="5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9" dur="500"/>
                                        <p:tgtEl>
                                          <p:spTgt spid="5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4" dur="500"/>
                                        <p:tgtEl>
                                          <p:spTgt spid="53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9" dur="500"/>
                                        <p:tgtEl>
                                          <p:spTgt spid="5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0" dur="500"/>
                                        <p:tgtEl>
                                          <p:spTgt spid="53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1" dur="500"/>
                                        <p:tgtEl>
                                          <p:spTgt spid="5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5" dur="500"/>
                                        <p:tgtEl>
                                          <p:spTgt spid="53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animBg="1"/>
      <p:bldP spid="53251" grpId="0"/>
      <p:bldP spid="53294" grpId="0"/>
      <p:bldP spid="53295" grpId="0"/>
      <p:bldP spid="53296" grpId="0"/>
      <p:bldP spid="53303" grpId="0" animBg="1"/>
      <p:bldP spid="53297" grpId="0"/>
      <p:bldP spid="53298" grpId="0"/>
      <p:bldP spid="53299" grpId="0"/>
      <p:bldP spid="53305" grpId="0" animBg="1"/>
      <p:bldP spid="53324" grpId="0"/>
      <p:bldP spid="53325" grpId="0"/>
      <p:bldP spid="53326" grpId="0"/>
      <p:bldP spid="53327" grpId="0"/>
      <p:bldP spid="53329" grpId="0" animBg="1"/>
      <p:bldP spid="53331" grpId="0" animBg="1"/>
      <p:bldP spid="53336" grpId="0" animBg="1"/>
      <p:bldP spid="53337" grpId="0"/>
      <p:bldP spid="53338" grpId="0"/>
      <p:bldP spid="53339" grpId="0" animBg="1"/>
      <p:bldP spid="53344" grpId="0"/>
      <p:bldP spid="53345" grpId="0"/>
      <p:bldP spid="53351" grpId="0"/>
      <p:bldP spid="53390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86" name="Text Box 14"/>
          <p:cNvSpPr txBox="1"/>
          <p:nvPr/>
        </p:nvSpPr>
        <p:spPr>
          <a:xfrm>
            <a:off x="838200" y="381000"/>
            <a:ext cx="1828800" cy="519113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rgbClr val="808080"/>
            </a:outerShdw>
          </a:effectLst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A50021"/>
                </a:solidFill>
              </a:rPr>
              <a:t>证明方法</a:t>
            </a:r>
            <a:endParaRPr lang="zh-CN" altLang="en-US" sz="4400" dirty="0">
              <a:solidFill>
                <a:srgbClr val="A50021"/>
              </a:solidFill>
            </a:endParaRPr>
          </a:p>
        </p:txBody>
      </p:sp>
      <p:grpSp>
        <p:nvGrpSpPr>
          <p:cNvPr id="2" name="Group 94"/>
          <p:cNvGrpSpPr/>
          <p:nvPr/>
        </p:nvGrpSpPr>
        <p:grpSpPr>
          <a:xfrm>
            <a:off x="3200400" y="990600"/>
            <a:ext cx="2971800" cy="762000"/>
            <a:chOff x="2016" y="624"/>
            <a:chExt cx="1872" cy="480"/>
          </a:xfrm>
        </p:grpSpPr>
        <p:sp>
          <p:nvSpPr>
            <p:cNvPr id="66629" name="Oval 93"/>
            <p:cNvSpPr/>
            <p:nvPr/>
          </p:nvSpPr>
          <p:spPr>
            <a:xfrm>
              <a:off x="2016" y="624"/>
              <a:ext cx="1872" cy="480"/>
            </a:xfrm>
            <a:prstGeom prst="ellipse">
              <a:avLst/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66630" name="Text Box 15"/>
            <p:cNvSpPr txBox="1"/>
            <p:nvPr/>
          </p:nvSpPr>
          <p:spPr>
            <a:xfrm>
              <a:off x="2440" y="720"/>
              <a:ext cx="108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A50021"/>
                  </a:solidFill>
                  <a:sym typeface="Symbol" panose="05050102010706020507" pitchFamily="18" charset="2"/>
                </a:rPr>
                <a:t>利用真值表</a:t>
              </a:r>
              <a:endParaRPr lang="zh-CN" altLang="en-US" sz="4400" b="1" dirty="0">
                <a:solidFill>
                  <a:srgbClr val="A50021"/>
                </a:solidFill>
              </a:endParaRPr>
            </a:p>
          </p:txBody>
        </p:sp>
      </p:grpSp>
      <p:grpSp>
        <p:nvGrpSpPr>
          <p:cNvPr id="3" name="Group 87"/>
          <p:cNvGrpSpPr/>
          <p:nvPr/>
        </p:nvGrpSpPr>
        <p:grpSpPr>
          <a:xfrm>
            <a:off x="1066800" y="1828800"/>
            <a:ext cx="7086600" cy="4648200"/>
            <a:chOff x="624" y="1152"/>
            <a:chExt cx="4464" cy="2928"/>
          </a:xfrm>
        </p:grpSpPr>
        <p:sp>
          <p:nvSpPr>
            <p:cNvPr id="66627" name="Text Box 16"/>
            <p:cNvSpPr txBox="1"/>
            <p:nvPr/>
          </p:nvSpPr>
          <p:spPr>
            <a:xfrm>
              <a:off x="720" y="1200"/>
              <a:ext cx="26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例：用真值表证明反演律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  <p:sp>
          <p:nvSpPr>
            <p:cNvPr id="66628" name="Rectangle 17"/>
            <p:cNvSpPr/>
            <p:nvPr/>
          </p:nvSpPr>
          <p:spPr>
            <a:xfrm>
              <a:off x="624" y="1152"/>
              <a:ext cx="4464" cy="2928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</p:grpSp>
      <p:sp>
        <p:nvSpPr>
          <p:cNvPr id="54294" name="Text Box 22"/>
          <p:cNvSpPr txBox="1"/>
          <p:nvPr/>
        </p:nvSpPr>
        <p:spPr>
          <a:xfrm>
            <a:off x="1673225" y="27432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A   B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  <p:grpSp>
        <p:nvGrpSpPr>
          <p:cNvPr id="4" name="Group 29"/>
          <p:cNvGrpSpPr/>
          <p:nvPr/>
        </p:nvGrpSpPr>
        <p:grpSpPr>
          <a:xfrm>
            <a:off x="2895600" y="2743200"/>
            <a:ext cx="608013" cy="457200"/>
            <a:chOff x="1776" y="1728"/>
            <a:chExt cx="383" cy="288"/>
          </a:xfrm>
        </p:grpSpPr>
        <p:sp>
          <p:nvSpPr>
            <p:cNvPr id="66625" name="Text Box 27"/>
            <p:cNvSpPr txBox="1"/>
            <p:nvPr/>
          </p:nvSpPr>
          <p:spPr>
            <a:xfrm>
              <a:off x="1776" y="1728"/>
              <a:ext cx="3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AB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6626" name="Line 28"/>
            <p:cNvSpPr/>
            <p:nvPr/>
          </p:nvSpPr>
          <p:spPr>
            <a:xfrm>
              <a:off x="1872" y="1776"/>
              <a:ext cx="24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33"/>
          <p:cNvGrpSpPr/>
          <p:nvPr/>
        </p:nvGrpSpPr>
        <p:grpSpPr>
          <a:xfrm>
            <a:off x="3886200" y="2743200"/>
            <a:ext cx="933450" cy="457200"/>
            <a:chOff x="2400" y="1728"/>
            <a:chExt cx="588" cy="288"/>
          </a:xfrm>
        </p:grpSpPr>
        <p:sp>
          <p:nvSpPr>
            <p:cNvPr id="66622" name="Text Box 30"/>
            <p:cNvSpPr txBox="1"/>
            <p:nvPr/>
          </p:nvSpPr>
          <p:spPr>
            <a:xfrm>
              <a:off x="2400" y="1728"/>
              <a:ext cx="5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A+ B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66623" name="Line 31"/>
            <p:cNvSpPr/>
            <p:nvPr/>
          </p:nvSpPr>
          <p:spPr>
            <a:xfrm>
              <a:off x="2832" y="1776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624" name="Line 32"/>
            <p:cNvSpPr/>
            <p:nvPr/>
          </p:nvSpPr>
          <p:spPr>
            <a:xfrm>
              <a:off x="2544" y="1776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38"/>
          <p:cNvGrpSpPr/>
          <p:nvPr/>
        </p:nvGrpSpPr>
        <p:grpSpPr>
          <a:xfrm>
            <a:off x="5194300" y="2743200"/>
            <a:ext cx="825500" cy="457200"/>
            <a:chOff x="3149" y="1776"/>
            <a:chExt cx="520" cy="288"/>
          </a:xfrm>
        </p:grpSpPr>
        <p:sp>
          <p:nvSpPr>
            <p:cNvPr id="66619" name="Text Box 35"/>
            <p:cNvSpPr txBox="1"/>
            <p:nvPr/>
          </p:nvSpPr>
          <p:spPr>
            <a:xfrm>
              <a:off x="3149" y="1776"/>
              <a:ext cx="52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A</a:t>
              </a:r>
              <a:r>
                <a:rPr lang="en-US" altLang="zh-CN" sz="24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 B</a:t>
              </a:r>
              <a:endParaRPr lang="en-US" altLang="zh-CN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66620" name="Line 36"/>
            <p:cNvSpPr/>
            <p:nvPr/>
          </p:nvSpPr>
          <p:spPr>
            <a:xfrm>
              <a:off x="3216" y="1824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621" name="Line 37"/>
            <p:cNvSpPr/>
            <p:nvPr/>
          </p:nvSpPr>
          <p:spPr>
            <a:xfrm>
              <a:off x="3504" y="1824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" name="Group 88"/>
          <p:cNvGrpSpPr/>
          <p:nvPr/>
        </p:nvGrpSpPr>
        <p:grpSpPr>
          <a:xfrm>
            <a:off x="1600200" y="2667000"/>
            <a:ext cx="5943600" cy="2895600"/>
            <a:chOff x="960" y="1680"/>
            <a:chExt cx="3744" cy="1824"/>
          </a:xfrm>
        </p:grpSpPr>
        <p:sp>
          <p:nvSpPr>
            <p:cNvPr id="66612" name="Line 21"/>
            <p:cNvSpPr/>
            <p:nvPr/>
          </p:nvSpPr>
          <p:spPr>
            <a:xfrm>
              <a:off x="960" y="2016"/>
              <a:ext cx="37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66613" name="Group 43"/>
            <p:cNvGrpSpPr/>
            <p:nvPr/>
          </p:nvGrpSpPr>
          <p:grpSpPr>
            <a:xfrm>
              <a:off x="960" y="1680"/>
              <a:ext cx="3744" cy="1824"/>
              <a:chOff x="960" y="1680"/>
              <a:chExt cx="3744" cy="1968"/>
            </a:xfrm>
          </p:grpSpPr>
          <p:sp>
            <p:nvSpPr>
              <p:cNvPr id="66614" name="Rectangle 20"/>
              <p:cNvSpPr/>
              <p:nvPr/>
            </p:nvSpPr>
            <p:spPr>
              <a:xfrm>
                <a:off x="960" y="1680"/>
                <a:ext cx="3744" cy="1968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66615" name="Line 23"/>
              <p:cNvSpPr/>
              <p:nvPr/>
            </p:nvSpPr>
            <p:spPr>
              <a:xfrm>
                <a:off x="1680" y="1680"/>
                <a:ext cx="0" cy="19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6616" name="Line 25"/>
              <p:cNvSpPr/>
              <p:nvPr/>
            </p:nvSpPr>
            <p:spPr>
              <a:xfrm>
                <a:off x="2304" y="1680"/>
                <a:ext cx="0" cy="19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6617" name="Line 34"/>
              <p:cNvSpPr/>
              <p:nvPr/>
            </p:nvSpPr>
            <p:spPr>
              <a:xfrm>
                <a:off x="3120" y="1680"/>
                <a:ext cx="0" cy="19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6618" name="Line 39"/>
              <p:cNvSpPr/>
              <p:nvPr/>
            </p:nvSpPr>
            <p:spPr>
              <a:xfrm>
                <a:off x="3888" y="1680"/>
                <a:ext cx="0" cy="19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9" name="Group 42"/>
          <p:cNvGrpSpPr/>
          <p:nvPr/>
        </p:nvGrpSpPr>
        <p:grpSpPr>
          <a:xfrm>
            <a:off x="6457950" y="2743200"/>
            <a:ext cx="781050" cy="457200"/>
            <a:chOff x="3883" y="1775"/>
            <a:chExt cx="492" cy="288"/>
          </a:xfrm>
        </p:grpSpPr>
        <p:sp>
          <p:nvSpPr>
            <p:cNvPr id="66610" name="Text Box 40"/>
            <p:cNvSpPr txBox="1"/>
            <p:nvPr/>
          </p:nvSpPr>
          <p:spPr>
            <a:xfrm>
              <a:off x="3883" y="1775"/>
              <a:ext cx="4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A+B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66611" name="Line 41"/>
            <p:cNvSpPr/>
            <p:nvPr/>
          </p:nvSpPr>
          <p:spPr>
            <a:xfrm>
              <a:off x="3984" y="1824"/>
              <a:ext cx="33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" name="Group 52"/>
          <p:cNvGrpSpPr/>
          <p:nvPr/>
        </p:nvGrpSpPr>
        <p:grpSpPr>
          <a:xfrm>
            <a:off x="1676400" y="3352800"/>
            <a:ext cx="895350" cy="519113"/>
            <a:chOff x="1008" y="2112"/>
            <a:chExt cx="564" cy="327"/>
          </a:xfrm>
        </p:grpSpPr>
        <p:sp>
          <p:nvSpPr>
            <p:cNvPr id="66608" name="Text Box 44"/>
            <p:cNvSpPr txBox="1"/>
            <p:nvPr/>
          </p:nvSpPr>
          <p:spPr>
            <a:xfrm>
              <a:off x="1008" y="2112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0</a:t>
              </a:r>
              <a:endParaRPr lang="en-US" altLang="zh-CN" sz="2800" b="1" dirty="0">
                <a:solidFill>
                  <a:schemeClr val="tx2"/>
                </a:solidFill>
              </a:endParaRPr>
            </a:p>
          </p:txBody>
        </p:sp>
        <p:sp>
          <p:nvSpPr>
            <p:cNvPr id="66609" name="Text Box 45"/>
            <p:cNvSpPr txBox="1"/>
            <p:nvPr/>
          </p:nvSpPr>
          <p:spPr>
            <a:xfrm>
              <a:off x="1344" y="2112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0</a:t>
              </a:r>
              <a:endParaRPr lang="en-US" altLang="zh-CN" sz="28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1" name="Group 53"/>
          <p:cNvGrpSpPr/>
          <p:nvPr/>
        </p:nvGrpSpPr>
        <p:grpSpPr>
          <a:xfrm>
            <a:off x="1676400" y="3886200"/>
            <a:ext cx="895350" cy="519113"/>
            <a:chOff x="1008" y="2448"/>
            <a:chExt cx="564" cy="327"/>
          </a:xfrm>
        </p:grpSpPr>
        <p:sp>
          <p:nvSpPr>
            <p:cNvPr id="66606" name="Text Box 46"/>
            <p:cNvSpPr txBox="1"/>
            <p:nvPr/>
          </p:nvSpPr>
          <p:spPr>
            <a:xfrm>
              <a:off x="1008" y="2448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0</a:t>
              </a:r>
              <a:endParaRPr lang="en-US" altLang="zh-CN" sz="2800" b="1" dirty="0">
                <a:solidFill>
                  <a:schemeClr val="tx2"/>
                </a:solidFill>
              </a:endParaRPr>
            </a:p>
          </p:txBody>
        </p:sp>
        <p:sp>
          <p:nvSpPr>
            <p:cNvPr id="66607" name="Text Box 47"/>
            <p:cNvSpPr txBox="1"/>
            <p:nvPr/>
          </p:nvSpPr>
          <p:spPr>
            <a:xfrm>
              <a:off x="1344" y="2448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1</a:t>
              </a:r>
              <a:endParaRPr lang="en-US" altLang="zh-CN" sz="28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2" name="Group 54"/>
          <p:cNvGrpSpPr/>
          <p:nvPr/>
        </p:nvGrpSpPr>
        <p:grpSpPr>
          <a:xfrm>
            <a:off x="1676400" y="4419600"/>
            <a:ext cx="895350" cy="519113"/>
            <a:chOff x="1008" y="2784"/>
            <a:chExt cx="564" cy="327"/>
          </a:xfrm>
        </p:grpSpPr>
        <p:sp>
          <p:nvSpPr>
            <p:cNvPr id="66604" name="Text Box 48"/>
            <p:cNvSpPr txBox="1"/>
            <p:nvPr/>
          </p:nvSpPr>
          <p:spPr>
            <a:xfrm>
              <a:off x="1008" y="2784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1</a:t>
              </a:r>
              <a:endParaRPr lang="en-US" altLang="zh-CN" sz="2800" b="1" dirty="0">
                <a:solidFill>
                  <a:schemeClr val="tx2"/>
                </a:solidFill>
              </a:endParaRPr>
            </a:p>
          </p:txBody>
        </p:sp>
        <p:sp>
          <p:nvSpPr>
            <p:cNvPr id="66605" name="Text Box 49"/>
            <p:cNvSpPr txBox="1"/>
            <p:nvPr/>
          </p:nvSpPr>
          <p:spPr>
            <a:xfrm>
              <a:off x="1344" y="2784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0</a:t>
              </a:r>
              <a:endParaRPr lang="en-US" altLang="zh-CN" sz="28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3" name="Group 55"/>
          <p:cNvGrpSpPr/>
          <p:nvPr/>
        </p:nvGrpSpPr>
        <p:grpSpPr>
          <a:xfrm>
            <a:off x="1676400" y="4953000"/>
            <a:ext cx="895350" cy="519113"/>
            <a:chOff x="1008" y="3120"/>
            <a:chExt cx="564" cy="327"/>
          </a:xfrm>
        </p:grpSpPr>
        <p:sp>
          <p:nvSpPr>
            <p:cNvPr id="66602" name="Text Box 50"/>
            <p:cNvSpPr txBox="1"/>
            <p:nvPr/>
          </p:nvSpPr>
          <p:spPr>
            <a:xfrm>
              <a:off x="1008" y="3120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1</a:t>
              </a:r>
              <a:endParaRPr lang="en-US" altLang="zh-CN" sz="2800" b="1" dirty="0">
                <a:solidFill>
                  <a:schemeClr val="tx2"/>
                </a:solidFill>
              </a:endParaRPr>
            </a:p>
          </p:txBody>
        </p:sp>
        <p:sp>
          <p:nvSpPr>
            <p:cNvPr id="66603" name="Text Box 51"/>
            <p:cNvSpPr txBox="1"/>
            <p:nvPr/>
          </p:nvSpPr>
          <p:spPr>
            <a:xfrm>
              <a:off x="1344" y="3120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1</a:t>
              </a:r>
              <a:endParaRPr lang="en-US" altLang="zh-CN" sz="28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54334" name="Text Box 62"/>
          <p:cNvSpPr txBox="1"/>
          <p:nvPr/>
        </p:nvSpPr>
        <p:spPr>
          <a:xfrm>
            <a:off x="2990850" y="33528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1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54335" name="Text Box 63"/>
          <p:cNvSpPr txBox="1"/>
          <p:nvPr/>
        </p:nvSpPr>
        <p:spPr>
          <a:xfrm>
            <a:off x="2971800" y="38862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1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54336" name="Text Box 64"/>
          <p:cNvSpPr txBox="1"/>
          <p:nvPr/>
        </p:nvSpPr>
        <p:spPr>
          <a:xfrm>
            <a:off x="2971800" y="4433888"/>
            <a:ext cx="3619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1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54337" name="Text Box 65"/>
          <p:cNvSpPr txBox="1"/>
          <p:nvPr/>
        </p:nvSpPr>
        <p:spPr>
          <a:xfrm>
            <a:off x="2971800" y="49530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54338" name="Text Box 66"/>
          <p:cNvSpPr txBox="1"/>
          <p:nvPr/>
        </p:nvSpPr>
        <p:spPr>
          <a:xfrm>
            <a:off x="4133850" y="33528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1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54339" name="Text Box 67"/>
          <p:cNvSpPr txBox="1"/>
          <p:nvPr/>
        </p:nvSpPr>
        <p:spPr>
          <a:xfrm>
            <a:off x="4114800" y="38862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1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54340" name="Text Box 68"/>
          <p:cNvSpPr txBox="1"/>
          <p:nvPr/>
        </p:nvSpPr>
        <p:spPr>
          <a:xfrm>
            <a:off x="4114800" y="4433888"/>
            <a:ext cx="3619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1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54341" name="Text Box 69"/>
          <p:cNvSpPr txBox="1"/>
          <p:nvPr/>
        </p:nvSpPr>
        <p:spPr>
          <a:xfrm>
            <a:off x="4114800" y="49530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54342" name="Text Box 70"/>
          <p:cNvSpPr txBox="1"/>
          <p:nvPr/>
        </p:nvSpPr>
        <p:spPr>
          <a:xfrm>
            <a:off x="6648450" y="33528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1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54343" name="Text Box 71"/>
          <p:cNvSpPr txBox="1"/>
          <p:nvPr/>
        </p:nvSpPr>
        <p:spPr>
          <a:xfrm>
            <a:off x="6629400" y="38862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54344" name="Text Box 72"/>
          <p:cNvSpPr txBox="1"/>
          <p:nvPr/>
        </p:nvSpPr>
        <p:spPr>
          <a:xfrm>
            <a:off x="6629400" y="4433888"/>
            <a:ext cx="3619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54345" name="Text Box 73"/>
          <p:cNvSpPr txBox="1"/>
          <p:nvPr/>
        </p:nvSpPr>
        <p:spPr>
          <a:xfrm>
            <a:off x="6629400" y="49530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54346" name="Text Box 74"/>
          <p:cNvSpPr txBox="1"/>
          <p:nvPr/>
        </p:nvSpPr>
        <p:spPr>
          <a:xfrm>
            <a:off x="5429250" y="33528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1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54347" name="Text Box 75"/>
          <p:cNvSpPr txBox="1"/>
          <p:nvPr/>
        </p:nvSpPr>
        <p:spPr>
          <a:xfrm>
            <a:off x="5410200" y="38862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54348" name="Text Box 76"/>
          <p:cNvSpPr txBox="1"/>
          <p:nvPr/>
        </p:nvSpPr>
        <p:spPr>
          <a:xfrm>
            <a:off x="5410200" y="4433888"/>
            <a:ext cx="3619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54349" name="Text Box 77"/>
          <p:cNvSpPr txBox="1"/>
          <p:nvPr/>
        </p:nvSpPr>
        <p:spPr>
          <a:xfrm>
            <a:off x="5410200" y="495300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0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54350" name="Text Box 78"/>
          <p:cNvSpPr txBox="1"/>
          <p:nvPr/>
        </p:nvSpPr>
        <p:spPr>
          <a:xfrm>
            <a:off x="1196975" y="5562600"/>
            <a:ext cx="806450" cy="762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4400" dirty="0">
                <a:solidFill>
                  <a:schemeClr val="tx2"/>
                </a:solidFill>
                <a:sym typeface="Symbol" panose="05050102010706020507" pitchFamily="18" charset="2"/>
              </a:rPr>
              <a:t> 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grpSp>
        <p:nvGrpSpPr>
          <p:cNvPr id="14" name="Group 79"/>
          <p:cNvGrpSpPr/>
          <p:nvPr/>
        </p:nvGrpSpPr>
        <p:grpSpPr>
          <a:xfrm>
            <a:off x="1905000" y="5715000"/>
            <a:ext cx="4202113" cy="519113"/>
            <a:chOff x="1172" y="2448"/>
            <a:chExt cx="2647" cy="327"/>
          </a:xfrm>
        </p:grpSpPr>
        <p:sp>
          <p:nvSpPr>
            <p:cNvPr id="66595" name="Rectangle 80"/>
            <p:cNvSpPr/>
            <p:nvPr/>
          </p:nvSpPr>
          <p:spPr>
            <a:xfrm>
              <a:off x="1172" y="2448"/>
              <a:ext cx="264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A</a:t>
              </a: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 B= A+B         </a:t>
              </a:r>
              <a:r>
                <a:rPr lang="en-US" altLang="zh-CN" sz="2800" b="1" dirty="0">
                  <a:solidFill>
                    <a:schemeClr val="tx2"/>
                  </a:solidFill>
                </a:rPr>
                <a:t>A</a:t>
              </a: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+ B=AB</a:t>
              </a:r>
              <a:endPara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66596" name="Line 81"/>
            <p:cNvSpPr/>
            <p:nvPr/>
          </p:nvSpPr>
          <p:spPr>
            <a:xfrm>
              <a:off x="1248" y="2496"/>
              <a:ext cx="43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97" name="Line 82"/>
            <p:cNvSpPr/>
            <p:nvPr/>
          </p:nvSpPr>
          <p:spPr>
            <a:xfrm>
              <a:off x="1920" y="2496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98" name="Line 83"/>
            <p:cNvSpPr/>
            <p:nvPr/>
          </p:nvSpPr>
          <p:spPr>
            <a:xfrm>
              <a:off x="2208" y="2496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99" name="Line 84"/>
            <p:cNvSpPr/>
            <p:nvPr/>
          </p:nvSpPr>
          <p:spPr>
            <a:xfrm>
              <a:off x="3504" y="2496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600" name="Line 85"/>
            <p:cNvSpPr/>
            <p:nvPr/>
          </p:nvSpPr>
          <p:spPr>
            <a:xfrm>
              <a:off x="3648" y="2496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601" name="Line 86"/>
            <p:cNvSpPr/>
            <p:nvPr/>
          </p:nvSpPr>
          <p:spPr>
            <a:xfrm>
              <a:off x="2880" y="2496"/>
              <a:ext cx="43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pic>
        <p:nvPicPr>
          <p:cNvPr id="66593" name="Picture 91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750" y="7620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6594" name="Text Box 92">
            <a:hlinkClick r:id="rId1" action="ppaction://hlinksldjump"/>
          </p:cNvPr>
          <p:cNvSpPr txBox="1"/>
          <p:nvPr/>
        </p:nvSpPr>
        <p:spPr>
          <a:xfrm>
            <a:off x="7086600" y="8382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4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86" grpId="0" animBg="1"/>
      <p:bldP spid="54294" grpId="0"/>
      <p:bldP spid="54334" grpId="0"/>
      <p:bldP spid="54335" grpId="0"/>
      <p:bldP spid="54336" grpId="0"/>
      <p:bldP spid="54337" grpId="0"/>
      <p:bldP spid="54338" grpId="0"/>
      <p:bldP spid="54339" grpId="0"/>
      <p:bldP spid="54340" grpId="0"/>
      <p:bldP spid="54341" grpId="0"/>
      <p:bldP spid="54342" grpId="0"/>
      <p:bldP spid="54343" grpId="0"/>
      <p:bldP spid="54344" grpId="0"/>
      <p:bldP spid="54345" grpId="0"/>
      <p:bldP spid="54346" grpId="0"/>
      <p:bldP spid="54347" grpId="0"/>
      <p:bldP spid="54348" grpId="0"/>
      <p:bldP spid="54349" grpId="0"/>
      <p:bldP spid="5435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5308" name="Object 12"/>
          <p:cNvGraphicFramePr>
            <a:graphicFrameLocks noChangeAspect="1"/>
          </p:cNvGraphicFramePr>
          <p:nvPr/>
        </p:nvGraphicFramePr>
        <p:xfrm>
          <a:off x="1143000" y="1981200"/>
          <a:ext cx="2963863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1" imgW="1053465" imgH="215900" progId="Equation.3">
                  <p:embed/>
                </p:oleObj>
              </mc:Choice>
              <mc:Fallback>
                <p:oleObj name="" r:id="rId1" imgW="1053465" imgH="2159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43000" y="1981200"/>
                        <a:ext cx="2963863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1" name="Object 15"/>
          <p:cNvGraphicFramePr>
            <a:graphicFrameLocks noChangeAspect="1"/>
          </p:cNvGraphicFramePr>
          <p:nvPr/>
        </p:nvGraphicFramePr>
        <p:xfrm>
          <a:off x="3708400" y="2781300"/>
          <a:ext cx="38862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3" imgW="1524000" imgH="241300" progId="Equation.3">
                  <p:embed/>
                </p:oleObj>
              </mc:Choice>
              <mc:Fallback>
                <p:oleObj name="" r:id="rId3" imgW="1524000" imgH="2413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08400" y="2781300"/>
                        <a:ext cx="3886200" cy="61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2" name="Object 16"/>
          <p:cNvGraphicFramePr>
            <a:graphicFrameLocks noChangeAspect="1"/>
          </p:cNvGraphicFramePr>
          <p:nvPr/>
        </p:nvGraphicFramePr>
        <p:xfrm>
          <a:off x="3708400" y="3357563"/>
          <a:ext cx="2133600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5" imgW="837565" imgH="215900" progId="Equation.3">
                  <p:embed/>
                </p:oleObj>
              </mc:Choice>
              <mc:Fallback>
                <p:oleObj name="" r:id="rId5" imgW="837565" imgH="2159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08400" y="3357563"/>
                        <a:ext cx="2133600" cy="547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13" name="Text Box 17"/>
          <p:cNvSpPr txBox="1"/>
          <p:nvPr/>
        </p:nvSpPr>
        <p:spPr>
          <a:xfrm>
            <a:off x="5799138" y="3500438"/>
            <a:ext cx="1403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等式右边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grpSp>
        <p:nvGrpSpPr>
          <p:cNvPr id="2" name="Group 27"/>
          <p:cNvGrpSpPr/>
          <p:nvPr/>
        </p:nvGrpSpPr>
        <p:grpSpPr>
          <a:xfrm>
            <a:off x="990600" y="4876800"/>
            <a:ext cx="7467600" cy="1676400"/>
            <a:chOff x="624" y="3072"/>
            <a:chExt cx="4704" cy="1056"/>
          </a:xfrm>
        </p:grpSpPr>
        <p:sp>
          <p:nvSpPr>
            <p:cNvPr id="67605" name="Text Box 18"/>
            <p:cNvSpPr txBox="1"/>
            <p:nvPr/>
          </p:nvSpPr>
          <p:spPr>
            <a:xfrm>
              <a:off x="672" y="3072"/>
              <a:ext cx="4416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由此可以看出：与或表达式中，两个乘积项分别包含</a:t>
              </a:r>
              <a:r>
                <a:rPr lang="zh-CN" altLang="en-US" sz="24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同一因子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的</a:t>
              </a:r>
              <a:r>
                <a:rPr lang="zh-CN" altLang="en-US" sz="24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原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变量和</a:t>
              </a:r>
              <a:r>
                <a:rPr lang="zh-CN" altLang="en-US" sz="24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反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变量，而两项的剩余因子包含在第三个乘积项中，则第三项是多余的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  <p:sp>
          <p:nvSpPr>
            <p:cNvPr id="67606" name="Rectangle 19"/>
            <p:cNvSpPr/>
            <p:nvPr/>
          </p:nvSpPr>
          <p:spPr>
            <a:xfrm>
              <a:off x="624" y="3072"/>
              <a:ext cx="4704" cy="1056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</p:grpSp>
      <p:graphicFrame>
        <p:nvGraphicFramePr>
          <p:cNvPr id="55316" name="Object 20"/>
          <p:cNvGraphicFramePr>
            <a:graphicFrameLocks noChangeAspect="1"/>
          </p:cNvGraphicFramePr>
          <p:nvPr/>
        </p:nvGraphicFramePr>
        <p:xfrm>
          <a:off x="3048000" y="5943600"/>
          <a:ext cx="44958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7" imgW="1841500" imgH="215900" progId="Equation.3">
                  <p:embed/>
                </p:oleObj>
              </mc:Choice>
              <mc:Fallback>
                <p:oleObj name="" r:id="rId7" imgW="1841500" imgH="2159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48000" y="5943600"/>
                        <a:ext cx="4495800" cy="522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17" name="Text Box 21"/>
          <p:cNvSpPr txBox="1"/>
          <p:nvPr/>
        </p:nvSpPr>
        <p:spPr>
          <a:xfrm>
            <a:off x="1066800" y="6019800"/>
            <a:ext cx="20256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公式可推广：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grpSp>
        <p:nvGrpSpPr>
          <p:cNvPr id="3" name="Group 26"/>
          <p:cNvGrpSpPr/>
          <p:nvPr/>
        </p:nvGrpSpPr>
        <p:grpSpPr>
          <a:xfrm>
            <a:off x="990600" y="1371600"/>
            <a:ext cx="7467600" cy="3429000"/>
            <a:chOff x="624" y="864"/>
            <a:chExt cx="4704" cy="2160"/>
          </a:xfrm>
        </p:grpSpPr>
        <p:sp>
          <p:nvSpPr>
            <p:cNvPr id="67601" name="Rectangle 4"/>
            <p:cNvSpPr/>
            <p:nvPr/>
          </p:nvSpPr>
          <p:spPr>
            <a:xfrm>
              <a:off x="624" y="864"/>
              <a:ext cx="4704" cy="2160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67602" name="Text Box 23"/>
            <p:cNvSpPr txBox="1"/>
            <p:nvPr/>
          </p:nvSpPr>
          <p:spPr>
            <a:xfrm>
              <a:off x="665" y="960"/>
              <a:ext cx="147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例：证明包含律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67603" name="Object 24"/>
            <p:cNvGraphicFramePr>
              <a:graphicFrameLocks noChangeAspect="1"/>
            </p:cNvGraphicFramePr>
            <p:nvPr/>
          </p:nvGraphicFramePr>
          <p:xfrm>
            <a:off x="2112" y="922"/>
            <a:ext cx="230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2" name="" r:id="rId9" imgW="1637665" imgH="215900" progId="Equation.3">
                    <p:embed/>
                  </p:oleObj>
                </mc:Choice>
                <mc:Fallback>
                  <p:oleObj name="" r:id="rId9" imgW="1637665" imgH="215900" progId="Equation.3">
                    <p:embed/>
                    <p:pic>
                      <p:nvPicPr>
                        <p:cNvPr id="0" name="图片 3121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112" y="922"/>
                          <a:ext cx="2304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7604" name="Text Box 25"/>
            <p:cNvSpPr txBox="1"/>
            <p:nvPr/>
          </p:nvSpPr>
          <p:spPr>
            <a:xfrm>
              <a:off x="4320" y="960"/>
              <a:ext cx="5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成立</a:t>
              </a:r>
              <a:endParaRPr lang="zh-CN" altLang="en-US" sz="4400" dirty="0">
                <a:solidFill>
                  <a:schemeClr val="tx2"/>
                </a:solidFill>
              </a:endParaRPr>
            </a:p>
          </p:txBody>
        </p:sp>
      </p:grpSp>
      <p:graphicFrame>
        <p:nvGraphicFramePr>
          <p:cNvPr id="55324" name="Object 28"/>
          <p:cNvGraphicFramePr>
            <a:graphicFrameLocks noChangeAspect="1"/>
          </p:cNvGraphicFramePr>
          <p:nvPr/>
        </p:nvGraphicFramePr>
        <p:xfrm>
          <a:off x="4114800" y="1978025"/>
          <a:ext cx="34290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11" imgW="1409065" imgH="241300" progId="Equation.3">
                  <p:embed/>
                </p:oleObj>
              </mc:Choice>
              <mc:Fallback>
                <p:oleObj name="" r:id="rId11" imgW="1409065" imgH="241300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14800" y="1978025"/>
                        <a:ext cx="3429000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7595" name="Picture 30" descr="wb01508_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39000" y="4572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7596" name="Text Box 31">
            <a:hlinkClick r:id="rId13" action="ppaction://hlinksldjump"/>
          </p:cNvPr>
          <p:cNvSpPr txBox="1"/>
          <p:nvPr/>
        </p:nvSpPr>
        <p:spPr>
          <a:xfrm>
            <a:off x="7435850" y="5334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  <p:grpSp>
        <p:nvGrpSpPr>
          <p:cNvPr id="4" name="Group 32"/>
          <p:cNvGrpSpPr/>
          <p:nvPr/>
        </p:nvGrpSpPr>
        <p:grpSpPr>
          <a:xfrm>
            <a:off x="3200400" y="381000"/>
            <a:ext cx="2971800" cy="762000"/>
            <a:chOff x="2016" y="624"/>
            <a:chExt cx="1872" cy="480"/>
          </a:xfrm>
        </p:grpSpPr>
        <p:sp>
          <p:nvSpPr>
            <p:cNvPr id="67599" name="Oval 33"/>
            <p:cNvSpPr/>
            <p:nvPr/>
          </p:nvSpPr>
          <p:spPr>
            <a:xfrm>
              <a:off x="2016" y="624"/>
              <a:ext cx="1872" cy="480"/>
            </a:xfrm>
            <a:prstGeom prst="ellipse">
              <a:avLst/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12700" cap="flat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67600" name="Text Box 34"/>
            <p:cNvSpPr txBox="1"/>
            <p:nvPr/>
          </p:nvSpPr>
          <p:spPr>
            <a:xfrm>
              <a:off x="2343" y="720"/>
              <a:ext cx="1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A50021"/>
                  </a:solidFill>
                  <a:sym typeface="Symbol" panose="05050102010706020507" pitchFamily="18" charset="2"/>
                </a:rPr>
                <a:t>利用基本定律</a:t>
              </a:r>
              <a:endParaRPr lang="zh-CN" altLang="en-US" sz="2400" b="1" dirty="0">
                <a:solidFill>
                  <a:srgbClr val="A50021"/>
                </a:solidFill>
                <a:sym typeface="Symbol" panose="05050102010706020507" pitchFamily="18" charset="2"/>
              </a:endParaRPr>
            </a:p>
          </p:txBody>
        </p:sp>
      </p:grpSp>
      <p:sp>
        <p:nvSpPr>
          <p:cNvPr id="55331" name="Line 35"/>
          <p:cNvSpPr/>
          <p:nvPr/>
        </p:nvSpPr>
        <p:spPr>
          <a:xfrm>
            <a:off x="5867400" y="2514600"/>
            <a:ext cx="1066800" cy="0"/>
          </a:xfrm>
          <a:prstGeom prst="line">
            <a:avLst/>
          </a:prstGeom>
          <a:ln w="38100" cap="flat" cmpd="sng">
            <a:solidFill>
              <a:srgbClr val="9933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5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55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5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5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55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55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5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5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5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5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9" dur="500"/>
                                        <p:tgtEl>
                                          <p:spTgt spid="55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13" grpId="0"/>
      <p:bldP spid="5531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Text Box 2"/>
          <p:cNvSpPr txBox="1"/>
          <p:nvPr/>
        </p:nvSpPr>
        <p:spPr>
          <a:xfrm>
            <a:off x="990600" y="549275"/>
            <a:ext cx="7315200" cy="7620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4400" b="1" dirty="0">
                <a:solidFill>
                  <a:srgbClr val="990033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逻辑代数的运算公式和规则</a:t>
            </a:r>
            <a:endParaRPr lang="zh-CN" altLang="en-US" sz="3600" b="1" dirty="0">
              <a:solidFill>
                <a:srgbClr val="990033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6323" name="Text Box 3"/>
          <p:cNvSpPr txBox="1"/>
          <p:nvPr/>
        </p:nvSpPr>
        <p:spPr>
          <a:xfrm>
            <a:off x="2590800" y="1524000"/>
            <a:ext cx="31003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  <a:sym typeface="Symbol" panose="05050102010706020507" pitchFamily="18" charset="2"/>
              </a:rPr>
              <a:t>  </a:t>
            </a:r>
            <a:r>
              <a:rPr lang="zh-CN" altLang="en-US" sz="2400" b="1" dirty="0">
                <a:latin typeface="宋体" panose="02010600030101010101" pitchFamily="2" charset="-122"/>
              </a:rPr>
              <a:t>三个基本运算规则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2" name="Group 24"/>
          <p:cNvGrpSpPr/>
          <p:nvPr/>
        </p:nvGrpSpPr>
        <p:grpSpPr>
          <a:xfrm>
            <a:off x="685800" y="2209800"/>
            <a:ext cx="7848600" cy="1447800"/>
            <a:chOff x="432" y="1392"/>
            <a:chExt cx="4944" cy="912"/>
          </a:xfrm>
        </p:grpSpPr>
        <p:sp>
          <p:nvSpPr>
            <p:cNvPr id="68632" name="Rectangle 4"/>
            <p:cNvSpPr/>
            <p:nvPr/>
          </p:nvSpPr>
          <p:spPr>
            <a:xfrm>
              <a:off x="432" y="1392"/>
              <a:ext cx="4944" cy="912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68633" name="Text Box 5"/>
            <p:cNvSpPr txBox="1"/>
            <p:nvPr/>
          </p:nvSpPr>
          <p:spPr>
            <a:xfrm>
              <a:off x="528" y="1516"/>
              <a:ext cx="14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A50021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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代入规则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：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56326" name="Text Box 6"/>
          <p:cNvSpPr txBox="1"/>
          <p:nvPr/>
        </p:nvSpPr>
        <p:spPr>
          <a:xfrm>
            <a:off x="2895600" y="2393950"/>
            <a:ext cx="5334000" cy="11874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任何一个含有某变量的等式，如果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等式</a:t>
            </a:r>
            <a:r>
              <a:rPr lang="zh-CN" altLang="en-US" sz="2400" b="1" dirty="0">
                <a:latin typeface="宋体" panose="02010600030101010101" pitchFamily="2" charset="-122"/>
              </a:rPr>
              <a:t>中所有出现此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变量</a:t>
            </a:r>
            <a:r>
              <a:rPr lang="zh-CN" altLang="en-US" sz="2400" b="1" dirty="0">
                <a:latin typeface="宋体" panose="02010600030101010101" pitchFamily="2" charset="-122"/>
              </a:rPr>
              <a:t>的位置均代之以一个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逻辑函数式</a:t>
            </a:r>
            <a:r>
              <a:rPr lang="zh-CN" altLang="en-US" sz="2400" b="1" dirty="0">
                <a:latin typeface="宋体" panose="02010600030101010101" pitchFamily="2" charset="-122"/>
              </a:rPr>
              <a:t>，则此等式依然成立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grpSp>
        <p:nvGrpSpPr>
          <p:cNvPr id="3" name="Group 25"/>
          <p:cNvGrpSpPr/>
          <p:nvPr/>
        </p:nvGrpSpPr>
        <p:grpSpPr>
          <a:xfrm>
            <a:off x="685800" y="3733800"/>
            <a:ext cx="7848600" cy="2743200"/>
            <a:chOff x="432" y="2352"/>
            <a:chExt cx="4944" cy="1728"/>
          </a:xfrm>
        </p:grpSpPr>
        <p:sp>
          <p:nvSpPr>
            <p:cNvPr id="68630" name="Rectangle 7"/>
            <p:cNvSpPr/>
            <p:nvPr/>
          </p:nvSpPr>
          <p:spPr>
            <a:xfrm>
              <a:off x="432" y="2352"/>
              <a:ext cx="4944" cy="1728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68631" name="Text Box 8"/>
            <p:cNvSpPr txBox="1"/>
            <p:nvPr/>
          </p:nvSpPr>
          <p:spPr>
            <a:xfrm>
              <a:off x="552" y="2352"/>
              <a:ext cx="5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例：</a:t>
              </a:r>
              <a:endParaRPr lang="zh-CN" altLang="en-US" sz="4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4" name="Group 15"/>
          <p:cNvGrpSpPr/>
          <p:nvPr/>
        </p:nvGrpSpPr>
        <p:grpSpPr>
          <a:xfrm>
            <a:off x="1555750" y="3810000"/>
            <a:ext cx="2008188" cy="519113"/>
            <a:chOff x="980" y="2496"/>
            <a:chExt cx="1265" cy="327"/>
          </a:xfrm>
        </p:grpSpPr>
        <p:sp>
          <p:nvSpPr>
            <p:cNvPr id="68626" name="Rectangle 11"/>
            <p:cNvSpPr/>
            <p:nvPr/>
          </p:nvSpPr>
          <p:spPr>
            <a:xfrm>
              <a:off x="980" y="2496"/>
              <a:ext cx="1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chemeClr val="tx2"/>
                  </a:solidFill>
                </a:rPr>
                <a:t> A</a:t>
              </a: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 </a:t>
              </a:r>
              <a:r>
                <a:rPr lang="en-US" altLang="zh-CN" sz="2800" b="1" dirty="0">
                  <a:solidFill>
                    <a:schemeClr val="accent2"/>
                  </a:solidFill>
                  <a:sym typeface="Symbol" panose="05050102010706020507" pitchFamily="18" charset="2"/>
                </a:rPr>
                <a:t>B</a:t>
              </a:r>
              <a:r>
                <a:rPr lang="en-US" altLang="zh-CN" sz="2800" b="1" dirty="0">
                  <a:solidFill>
                    <a:schemeClr val="tx2"/>
                  </a:solidFill>
                  <a:sym typeface="Symbol" panose="05050102010706020507" pitchFamily="18" charset="2"/>
                </a:rPr>
                <a:t>= A+</a:t>
              </a:r>
              <a:r>
                <a:rPr lang="en-US" altLang="zh-CN" sz="2800" b="1" dirty="0">
                  <a:solidFill>
                    <a:schemeClr val="accent2"/>
                  </a:solidFill>
                  <a:sym typeface="Symbol" panose="05050102010706020507" pitchFamily="18" charset="2"/>
                </a:rPr>
                <a:t>B</a:t>
              </a:r>
              <a:endPara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68627" name="Line 12"/>
            <p:cNvSpPr/>
            <p:nvPr/>
          </p:nvSpPr>
          <p:spPr>
            <a:xfrm>
              <a:off x="1104" y="2544"/>
              <a:ext cx="43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28" name="Line 13"/>
            <p:cNvSpPr/>
            <p:nvPr/>
          </p:nvSpPr>
          <p:spPr>
            <a:xfrm>
              <a:off x="1776" y="2544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8629" name="Line 14"/>
            <p:cNvSpPr/>
            <p:nvPr/>
          </p:nvSpPr>
          <p:spPr>
            <a:xfrm>
              <a:off x="2064" y="2544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26"/>
          <p:cNvGrpSpPr/>
          <p:nvPr/>
        </p:nvGrpSpPr>
        <p:grpSpPr>
          <a:xfrm>
            <a:off x="3429000" y="3124200"/>
            <a:ext cx="1828800" cy="685800"/>
            <a:chOff x="2160" y="1968"/>
            <a:chExt cx="1152" cy="432"/>
          </a:xfrm>
        </p:grpSpPr>
        <p:sp>
          <p:nvSpPr>
            <p:cNvPr id="68624" name="AutoShape 16" descr="羊皮纸"/>
            <p:cNvSpPr/>
            <p:nvPr/>
          </p:nvSpPr>
          <p:spPr>
            <a:xfrm>
              <a:off x="2160" y="1968"/>
              <a:ext cx="1152" cy="432"/>
            </a:xfrm>
            <a:prstGeom prst="wedgeRoundRectCallout">
              <a:avLst>
                <a:gd name="adj1" fmla="val -49741"/>
                <a:gd name="adj2" fmla="val 81019"/>
                <a:gd name="adj3" fmla="val 16667"/>
              </a:avLst>
            </a:prstGeom>
            <a:blipFill rotWithShape="0">
              <a:blip r:embed="rId1"/>
            </a:blip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8625" name="Text Box 17"/>
            <p:cNvSpPr txBox="1"/>
            <p:nvPr/>
          </p:nvSpPr>
          <p:spPr>
            <a:xfrm>
              <a:off x="2304" y="2064"/>
              <a:ext cx="79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BC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替代</a:t>
              </a:r>
              <a:r>
                <a:rPr lang="en-US" altLang="zh-CN" sz="24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24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56338" name="Text Box 18"/>
          <p:cNvSpPr txBox="1"/>
          <p:nvPr/>
        </p:nvSpPr>
        <p:spPr>
          <a:xfrm>
            <a:off x="1049338" y="4419600"/>
            <a:ext cx="4921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得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graphicFrame>
        <p:nvGraphicFramePr>
          <p:cNvPr id="56339" name="Object 19"/>
          <p:cNvGraphicFramePr>
            <a:graphicFrameLocks noChangeAspect="1"/>
          </p:cNvGraphicFramePr>
          <p:nvPr/>
        </p:nvGraphicFramePr>
        <p:xfrm>
          <a:off x="1905000" y="4414838"/>
          <a:ext cx="6969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2" imgW="355600" imgH="215900" progId="Equation.3">
                  <p:embed/>
                </p:oleObj>
              </mc:Choice>
              <mc:Fallback>
                <p:oleObj name="" r:id="rId2" imgW="355600" imgH="215900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05000" y="4414838"/>
                        <a:ext cx="696913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0" name="Object 20"/>
          <p:cNvGraphicFramePr>
            <a:graphicFrameLocks noChangeAspect="1"/>
          </p:cNvGraphicFramePr>
          <p:nvPr/>
        </p:nvGraphicFramePr>
        <p:xfrm>
          <a:off x="2667000" y="4419600"/>
          <a:ext cx="14620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4" imgW="622300" imgH="215900" progId="Equation.3">
                  <p:embed/>
                </p:oleObj>
              </mc:Choice>
              <mc:Fallback>
                <p:oleObj name="" r:id="rId4" imgW="622300" imgH="2159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67000" y="4419600"/>
                        <a:ext cx="1462088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1" name="Object 21"/>
          <p:cNvGraphicFramePr>
            <a:graphicFrameLocks noChangeAspect="1"/>
          </p:cNvGraphicFramePr>
          <p:nvPr/>
        </p:nvGraphicFramePr>
        <p:xfrm>
          <a:off x="4191000" y="4419600"/>
          <a:ext cx="17526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6" imgW="748665" imgH="215900" progId="Equation.3">
                  <p:embed/>
                </p:oleObj>
              </mc:Choice>
              <mc:Fallback>
                <p:oleObj name="" r:id="rId6" imgW="748665" imgH="2159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91000" y="4419600"/>
                        <a:ext cx="1752600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42" name="Text Box 22"/>
          <p:cNvSpPr txBox="1"/>
          <p:nvPr/>
        </p:nvSpPr>
        <p:spPr>
          <a:xfrm>
            <a:off x="914400" y="4876800"/>
            <a:ext cx="43434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由此反演律能推广到</a:t>
            </a:r>
            <a:r>
              <a:rPr lang="en-US" altLang="zh-CN" sz="2400" b="1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个变量：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graphicFrame>
        <p:nvGraphicFramePr>
          <p:cNvPr id="56343" name="Object 23"/>
          <p:cNvGraphicFramePr>
            <a:graphicFrameLocks noChangeAspect="1"/>
          </p:cNvGraphicFramePr>
          <p:nvPr/>
        </p:nvGraphicFramePr>
        <p:xfrm>
          <a:off x="1524000" y="5254625"/>
          <a:ext cx="5410200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8" imgW="2247900" imgH="508000" progId="Equation.3">
                  <p:embed/>
                </p:oleObj>
              </mc:Choice>
              <mc:Fallback>
                <p:oleObj name="" r:id="rId8" imgW="2247900" imgH="5080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24000" y="5254625"/>
                        <a:ext cx="5410200" cy="1222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47" name="AutoShape 27" descr="羊皮纸"/>
          <p:cNvSpPr/>
          <p:nvPr/>
        </p:nvSpPr>
        <p:spPr>
          <a:xfrm>
            <a:off x="3810000" y="3657600"/>
            <a:ext cx="1828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blipFill rotWithShape="0">
            <a:blip r:embed="rId1"/>
          </a:blip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chemeClr val="tx2"/>
                </a:solidFill>
              </a:rPr>
              <a:t>利用反演律</a:t>
            </a:r>
            <a:endParaRPr lang="zh-CN" altLang="en-US" sz="2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6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6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6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6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6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6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6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9" dur="500"/>
                                        <p:tgtEl>
                                          <p:spTgt spid="56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/>
      <p:bldP spid="56326" grpId="0"/>
      <p:bldP spid="56338" grpId="0"/>
      <p:bldP spid="56342" grpId="0"/>
      <p:bldP spid="5634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8" name="Text Box 4"/>
          <p:cNvSpPr txBox="1"/>
          <p:nvPr/>
        </p:nvSpPr>
        <p:spPr>
          <a:xfrm>
            <a:off x="711200" y="152400"/>
            <a:ext cx="2946400" cy="64135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rgbClr val="808080"/>
            </a:outerShdw>
          </a:effectLst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990033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基本运算规则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2" name="Group 23"/>
          <p:cNvGrpSpPr/>
          <p:nvPr/>
        </p:nvGrpSpPr>
        <p:grpSpPr>
          <a:xfrm>
            <a:off x="685800" y="990600"/>
            <a:ext cx="7848600" cy="2743200"/>
            <a:chOff x="432" y="624"/>
            <a:chExt cx="4944" cy="1728"/>
          </a:xfrm>
        </p:grpSpPr>
        <p:sp>
          <p:nvSpPr>
            <p:cNvPr id="69657" name="Rectangle 6"/>
            <p:cNvSpPr/>
            <p:nvPr/>
          </p:nvSpPr>
          <p:spPr>
            <a:xfrm>
              <a:off x="432" y="624"/>
              <a:ext cx="4944" cy="1728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69658" name="Text Box 7"/>
            <p:cNvSpPr txBox="1"/>
            <p:nvPr/>
          </p:nvSpPr>
          <p:spPr>
            <a:xfrm>
              <a:off x="528" y="624"/>
              <a:ext cx="14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00CCFF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</a:t>
              </a:r>
              <a:r>
                <a:rPr lang="en-US" altLang="zh-CN" sz="2800" b="1" dirty="0">
                  <a:latin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反演规则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：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57354" name="Text Box 10"/>
          <p:cNvSpPr txBox="1"/>
          <p:nvPr/>
        </p:nvSpPr>
        <p:spPr>
          <a:xfrm>
            <a:off x="904875" y="1447800"/>
            <a:ext cx="58769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对于任意一个逻辑函数式</a:t>
            </a:r>
            <a:r>
              <a:rPr lang="en-US" altLang="zh-CN" sz="2400" b="1" dirty="0">
                <a:latin typeface="宋体" panose="02010600030101010101" pitchFamily="2" charset="-122"/>
              </a:rPr>
              <a:t>F</a:t>
            </a:r>
            <a:r>
              <a:rPr lang="zh-CN" altLang="en-US" sz="2400" b="1" dirty="0">
                <a:latin typeface="宋体" panose="02010600030101010101" pitchFamily="2" charset="-122"/>
              </a:rPr>
              <a:t>，做如下处理：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57356" name="Text Box 12"/>
          <p:cNvSpPr txBox="1"/>
          <p:nvPr/>
        </p:nvSpPr>
        <p:spPr>
          <a:xfrm>
            <a:off x="1143000" y="1905000"/>
            <a:ext cx="663416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latin typeface="宋体" panose="02010600030101010101" pitchFamily="2" charset="-122"/>
              </a:rPr>
              <a:t>若把式中的运算符</a:t>
            </a:r>
            <a:r>
              <a:rPr lang="zh-CN" altLang="en-US" sz="2400" b="1" dirty="0"/>
              <a:t>“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.</a:t>
            </a:r>
            <a:r>
              <a:rPr lang="en-US" altLang="zh-CN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换成</a:t>
            </a:r>
            <a:r>
              <a:rPr lang="zh-CN" altLang="en-US" sz="2400" b="1" dirty="0"/>
              <a:t>“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+</a:t>
            </a:r>
            <a:r>
              <a:rPr lang="en-US" altLang="zh-CN" sz="2400" b="1" dirty="0"/>
              <a:t>”</a:t>
            </a:r>
            <a:r>
              <a:rPr lang="en-US" altLang="zh-CN" sz="2400" b="1" dirty="0">
                <a:latin typeface="宋体" panose="02010600030101010101" pitchFamily="2" charset="-122"/>
              </a:rPr>
              <a:t>, </a:t>
            </a:r>
            <a:r>
              <a:rPr lang="en-US" altLang="zh-CN" sz="2400" b="1" dirty="0"/>
              <a:t>“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+</a:t>
            </a:r>
            <a:r>
              <a:rPr lang="en-US" altLang="zh-CN" sz="2400" b="1" dirty="0"/>
              <a:t>”</a:t>
            </a:r>
            <a:r>
              <a:rPr lang="en-US" altLang="zh-CN" sz="2400" b="1" dirty="0"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</a:rPr>
              <a:t>换成</a:t>
            </a:r>
            <a:r>
              <a:rPr lang="zh-CN" altLang="en-US" sz="2400" b="1" dirty="0"/>
              <a:t>“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.</a:t>
            </a:r>
            <a:r>
              <a:rPr lang="en-US" altLang="zh-CN" sz="2400" b="1" dirty="0"/>
              <a:t>”</a:t>
            </a:r>
            <a:r>
              <a:rPr lang="en-US" altLang="zh-CN" sz="2400" b="1" dirty="0">
                <a:latin typeface="宋体" panose="02010600030101010101" pitchFamily="2" charset="-122"/>
              </a:rPr>
              <a:t>;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57357" name="Text Box 13"/>
          <p:cNvSpPr txBox="1"/>
          <p:nvPr/>
        </p:nvSpPr>
        <p:spPr>
          <a:xfrm>
            <a:off x="1143000" y="2286000"/>
            <a:ext cx="47863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latin typeface="宋体" panose="02010600030101010101" pitchFamily="2" charset="-122"/>
              </a:rPr>
              <a:t>常量</a:t>
            </a:r>
            <a:r>
              <a:rPr lang="zh-CN" altLang="en-US" sz="2400" b="1" dirty="0"/>
              <a:t>“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换成</a:t>
            </a:r>
            <a:r>
              <a:rPr lang="zh-CN" altLang="en-US" sz="2400" b="1" dirty="0"/>
              <a:t>“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r>
              <a:rPr lang="zh-CN" altLang="en-US" sz="2400" b="1" dirty="0"/>
              <a:t>“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换成</a:t>
            </a:r>
            <a:r>
              <a:rPr lang="zh-CN" altLang="en-US" sz="2400" b="1" dirty="0"/>
              <a:t>“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；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57358" name="Text Box 14"/>
          <p:cNvSpPr txBox="1"/>
          <p:nvPr/>
        </p:nvSpPr>
        <p:spPr>
          <a:xfrm>
            <a:off x="1141413" y="2667000"/>
            <a:ext cx="57165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原</a:t>
            </a:r>
            <a:r>
              <a:rPr lang="zh-CN" altLang="en-US" sz="2400" b="1" dirty="0">
                <a:latin typeface="宋体" panose="02010600030101010101" pitchFamily="2" charset="-122"/>
              </a:rPr>
              <a:t>变量换成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反</a:t>
            </a:r>
            <a:r>
              <a:rPr lang="zh-CN" altLang="en-US" sz="2400" b="1" dirty="0">
                <a:latin typeface="宋体" panose="02010600030101010101" pitchFamily="2" charset="-122"/>
              </a:rPr>
              <a:t>变量，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反</a:t>
            </a:r>
            <a:r>
              <a:rPr lang="zh-CN" altLang="en-US" sz="2400" b="1" dirty="0">
                <a:latin typeface="宋体" panose="02010600030101010101" pitchFamily="2" charset="-122"/>
              </a:rPr>
              <a:t>变量换成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原</a:t>
            </a:r>
            <a:r>
              <a:rPr lang="zh-CN" altLang="en-US" sz="2400" b="1" dirty="0">
                <a:latin typeface="宋体" panose="02010600030101010101" pitchFamily="2" charset="-122"/>
              </a:rPr>
              <a:t>变量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57359" name="Text Box 15"/>
          <p:cNvSpPr txBox="1"/>
          <p:nvPr/>
        </p:nvSpPr>
        <p:spPr>
          <a:xfrm>
            <a:off x="914400" y="3048000"/>
            <a:ext cx="67849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那么得到的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新函数式</a:t>
            </a:r>
            <a:r>
              <a:rPr lang="zh-CN" altLang="en-US" sz="2400" b="1" dirty="0">
                <a:latin typeface="宋体" panose="02010600030101010101" pitchFamily="2" charset="-122"/>
              </a:rPr>
              <a:t>称为原函数式</a:t>
            </a:r>
            <a:r>
              <a:rPr lang="en-US" altLang="zh-CN" sz="2400" b="1" dirty="0">
                <a:latin typeface="宋体" panose="02010600030101010101" pitchFamily="2" charset="-122"/>
              </a:rPr>
              <a:t>F</a:t>
            </a:r>
            <a:r>
              <a:rPr lang="zh-CN" altLang="en-US" sz="2400" b="1" dirty="0">
                <a:latin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反函数式</a:t>
            </a:r>
            <a:r>
              <a:rPr lang="zh-CN" altLang="en-US" sz="2400" dirty="0">
                <a:latin typeface="宋体" panose="02010600030101010101" pitchFamily="2" charset="-122"/>
              </a:rPr>
              <a:t>。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57361" name="Text Box 17"/>
          <p:cNvSpPr txBox="1"/>
          <p:nvPr/>
        </p:nvSpPr>
        <p:spPr>
          <a:xfrm>
            <a:off x="254000" y="3856038"/>
            <a:ext cx="90170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注：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57363" name="Text Box 19"/>
          <p:cNvSpPr txBox="1"/>
          <p:nvPr/>
        </p:nvSpPr>
        <p:spPr>
          <a:xfrm>
            <a:off x="228600" y="4343400"/>
            <a:ext cx="87630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① </a:t>
            </a:r>
            <a:r>
              <a:rPr lang="zh-CN" altLang="en-US" sz="2400" b="1" dirty="0">
                <a:latin typeface="宋体" panose="02010600030101010101" pitchFamily="2" charset="-122"/>
              </a:rPr>
              <a:t>保持原函数的运算次序</a:t>
            </a:r>
            <a:r>
              <a:rPr lang="en-US" altLang="zh-CN" sz="2400" b="1" dirty="0">
                <a:latin typeface="宋体" panose="02010600030101010101" pitchFamily="2" charset="-122"/>
              </a:rPr>
              <a:t>--</a:t>
            </a:r>
            <a:r>
              <a:rPr lang="zh-CN" altLang="en-US" sz="2400" b="1" dirty="0">
                <a:latin typeface="宋体" panose="02010600030101010101" pitchFamily="2" charset="-122"/>
              </a:rPr>
              <a:t>先与后或，必要时适当地加入括号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57364" name="Text Box 20"/>
          <p:cNvSpPr txBox="1"/>
          <p:nvPr/>
        </p:nvSpPr>
        <p:spPr>
          <a:xfrm>
            <a:off x="285750" y="4800600"/>
            <a:ext cx="61912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② </a:t>
            </a:r>
            <a:r>
              <a:rPr lang="zh-CN" altLang="en-US" sz="2400" b="1" dirty="0">
                <a:latin typeface="宋体" panose="02010600030101010101" pitchFamily="2" charset="-122"/>
              </a:rPr>
              <a:t>不属于单个变量上的非号有两种处理方法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57365" name="Text Box 21"/>
          <p:cNvSpPr txBox="1"/>
          <p:nvPr/>
        </p:nvSpPr>
        <p:spPr>
          <a:xfrm>
            <a:off x="677863" y="5334000"/>
            <a:ext cx="69421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CC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latin typeface="宋体" panose="02010600030101010101" pitchFamily="2" charset="-122"/>
              </a:rPr>
              <a:t>非号保留，而非号下面的函数式按反演规则变换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57366" name="Text Box 22"/>
          <p:cNvSpPr txBox="1"/>
          <p:nvPr/>
        </p:nvSpPr>
        <p:spPr>
          <a:xfrm>
            <a:off x="687388" y="5791200"/>
            <a:ext cx="60182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CC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</a:t>
            </a:r>
            <a:r>
              <a:rPr lang="en-US" altLang="zh-CN" sz="2400" b="1" dirty="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</a:rPr>
              <a:t>将非号去掉，而非号下的函数式保留不变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3" name="Group 33"/>
          <p:cNvGrpSpPr/>
          <p:nvPr/>
        </p:nvGrpSpPr>
        <p:grpSpPr>
          <a:xfrm>
            <a:off x="609600" y="990600"/>
            <a:ext cx="8001000" cy="2743200"/>
            <a:chOff x="384" y="624"/>
            <a:chExt cx="5040" cy="1728"/>
          </a:xfrm>
        </p:grpSpPr>
        <p:sp>
          <p:nvSpPr>
            <p:cNvPr id="69655" name="Rectangle 24"/>
            <p:cNvSpPr/>
            <p:nvPr/>
          </p:nvSpPr>
          <p:spPr>
            <a:xfrm>
              <a:off x="384" y="624"/>
              <a:ext cx="5040" cy="1728"/>
            </a:xfrm>
            <a:prstGeom prst="rect">
              <a:avLst/>
            </a:prstGeom>
            <a:solidFill>
              <a:srgbClr val="FFCC66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69656" name="Text Box 26"/>
            <p:cNvSpPr txBox="1"/>
            <p:nvPr/>
          </p:nvSpPr>
          <p:spPr>
            <a:xfrm>
              <a:off x="756" y="768"/>
              <a:ext cx="504" cy="288"/>
            </a:xfrm>
            <a:prstGeom prst="rect">
              <a:avLst/>
            </a:prstGeom>
            <a:solidFill>
              <a:srgbClr val="FFCC66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例：</a:t>
              </a:r>
              <a:endParaRPr lang="zh-CN" altLang="en-US" sz="4400" dirty="0">
                <a:solidFill>
                  <a:schemeClr val="tx2"/>
                </a:solidFill>
              </a:endParaRPr>
            </a:p>
          </p:txBody>
        </p:sp>
      </p:grpSp>
      <p:sp>
        <p:nvSpPr>
          <p:cNvPr id="57371" name="Text Box 27"/>
          <p:cNvSpPr txBox="1"/>
          <p:nvPr/>
        </p:nvSpPr>
        <p:spPr>
          <a:xfrm>
            <a:off x="1684338" y="1265238"/>
            <a:ext cx="19875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F(A</a:t>
            </a:r>
            <a:r>
              <a:rPr lang="zh-CN" altLang="en-US" sz="2800" b="1" dirty="0">
                <a:latin typeface="宋体" panose="02010600030101010101" pitchFamily="2" charset="-122"/>
              </a:rPr>
              <a:t>、</a:t>
            </a:r>
            <a:r>
              <a:rPr lang="en-US" altLang="zh-CN" sz="2800" b="1" dirty="0">
                <a:latin typeface="宋体" panose="02010600030101010101" pitchFamily="2" charset="-122"/>
              </a:rPr>
              <a:t>B</a:t>
            </a:r>
            <a:r>
              <a:rPr lang="zh-CN" altLang="en-US" sz="2800" b="1" dirty="0">
                <a:latin typeface="宋体" panose="02010600030101010101" pitchFamily="2" charset="-122"/>
              </a:rPr>
              <a:t>、</a:t>
            </a:r>
            <a:r>
              <a:rPr lang="en-US" altLang="zh-CN" sz="2800" b="1" dirty="0">
                <a:latin typeface="宋体" panose="02010600030101010101" pitchFamily="2" charset="-122"/>
              </a:rPr>
              <a:t>C)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  <p:graphicFrame>
        <p:nvGraphicFramePr>
          <p:cNvPr id="57372" name="Object 28"/>
          <p:cNvGraphicFramePr>
            <a:graphicFrameLocks noChangeAspect="1"/>
          </p:cNvGraphicFramePr>
          <p:nvPr/>
        </p:nvGraphicFramePr>
        <p:xfrm>
          <a:off x="3505200" y="1219200"/>
          <a:ext cx="422275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1" imgW="1739900" imgH="241300" progId="Equation.3">
                  <p:embed/>
                </p:oleObj>
              </mc:Choice>
              <mc:Fallback>
                <p:oleObj name="" r:id="rId1" imgW="1739900" imgH="2413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05200" y="1219200"/>
                        <a:ext cx="4222750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73" name="Text Box 29"/>
          <p:cNvSpPr txBox="1"/>
          <p:nvPr/>
        </p:nvSpPr>
        <p:spPr>
          <a:xfrm>
            <a:off x="1295400" y="1905000"/>
            <a:ext cx="17526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其反函数为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graphicFrame>
        <p:nvGraphicFramePr>
          <p:cNvPr id="57374" name="Object 30"/>
          <p:cNvGraphicFramePr>
            <a:graphicFrameLocks noChangeAspect="1"/>
          </p:cNvGraphicFramePr>
          <p:nvPr/>
        </p:nvGraphicFramePr>
        <p:xfrm>
          <a:off x="3048000" y="1782763"/>
          <a:ext cx="5346700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3" imgW="2159000" imgH="266700" progId="Equation.3">
                  <p:embed/>
                </p:oleObj>
              </mc:Choice>
              <mc:Fallback>
                <p:oleObj name="" r:id="rId3" imgW="2159000" imgH="2667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48000" y="1782763"/>
                        <a:ext cx="5346700" cy="655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75" name="Text Box 31"/>
          <p:cNvSpPr txBox="1"/>
          <p:nvPr/>
        </p:nvSpPr>
        <p:spPr>
          <a:xfrm>
            <a:off x="1430338" y="2438400"/>
            <a:ext cx="4921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或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graphicFrame>
        <p:nvGraphicFramePr>
          <p:cNvPr id="57376" name="Object 32"/>
          <p:cNvGraphicFramePr>
            <a:graphicFrameLocks noChangeAspect="1"/>
          </p:cNvGraphicFramePr>
          <p:nvPr/>
        </p:nvGraphicFramePr>
        <p:xfrm>
          <a:off x="2209800" y="2438400"/>
          <a:ext cx="5702300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5" imgW="2260600" imgH="241300" progId="Equation.3">
                  <p:embed/>
                </p:oleObj>
              </mc:Choice>
              <mc:Fallback>
                <p:oleObj name="" r:id="rId5" imgW="2260600" imgH="24130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09800" y="2438400"/>
                        <a:ext cx="5702300" cy="604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9653" name="Picture 35" descr="wb01508_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60198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9654" name="Text Box 36">
            <a:hlinkClick r:id="rId7" action="ppaction://hlinksldjump"/>
          </p:cNvPr>
          <p:cNvSpPr txBox="1"/>
          <p:nvPr/>
        </p:nvSpPr>
        <p:spPr>
          <a:xfrm>
            <a:off x="7740650" y="60960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7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7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7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7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57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5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57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57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7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7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500"/>
                                        <p:tgtEl>
                                          <p:spTgt spid="5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57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0" dur="500"/>
                                        <p:tgtEl>
                                          <p:spTgt spid="57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5" dur="500"/>
                                        <p:tgtEl>
                                          <p:spTgt spid="57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57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7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7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57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1" dur="500"/>
                                        <p:tgtEl>
                                          <p:spTgt spid="57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0" dur="500"/>
                                        <p:tgtEl>
                                          <p:spTgt spid="57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8" grpId="0" animBg="1"/>
      <p:bldP spid="57354" grpId="0"/>
      <p:bldP spid="57356" grpId="0"/>
      <p:bldP spid="57357" grpId="0"/>
      <p:bldP spid="57358" grpId="0"/>
      <p:bldP spid="57359" grpId="0"/>
      <p:bldP spid="57361" grpId="0"/>
      <p:bldP spid="57363" grpId="0"/>
      <p:bldP spid="57364" grpId="0"/>
      <p:bldP spid="57365" grpId="0"/>
      <p:bldP spid="57366" grpId="0"/>
      <p:bldP spid="57371" grpId="0"/>
      <p:bldP spid="57373" grpId="0"/>
      <p:bldP spid="5737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Text Box 3"/>
          <p:cNvSpPr txBox="1"/>
          <p:nvPr/>
        </p:nvSpPr>
        <p:spPr>
          <a:xfrm>
            <a:off x="558800" y="152400"/>
            <a:ext cx="2946400" cy="64135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rgbClr val="808080"/>
            </a:outerShdw>
          </a:effectLst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990033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基本运算规则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685800" y="914400"/>
            <a:ext cx="7848600" cy="3581400"/>
            <a:chOff x="432" y="624"/>
            <a:chExt cx="4944" cy="1728"/>
          </a:xfrm>
        </p:grpSpPr>
        <p:sp>
          <p:nvSpPr>
            <p:cNvPr id="70677" name="Rectangle 5"/>
            <p:cNvSpPr/>
            <p:nvPr/>
          </p:nvSpPr>
          <p:spPr>
            <a:xfrm>
              <a:off x="432" y="624"/>
              <a:ext cx="4944" cy="1728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70678" name="Text Box 6"/>
            <p:cNvSpPr txBox="1"/>
            <p:nvPr/>
          </p:nvSpPr>
          <p:spPr>
            <a:xfrm>
              <a:off x="528" y="662"/>
              <a:ext cx="148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A50021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</a:t>
              </a:r>
              <a:r>
                <a:rPr lang="en-US" altLang="zh-CN" sz="2800" b="1" dirty="0">
                  <a:latin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对偶式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：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58377" name="Text Box 9"/>
          <p:cNvSpPr txBox="1"/>
          <p:nvPr/>
        </p:nvSpPr>
        <p:spPr>
          <a:xfrm>
            <a:off x="2589213" y="1066800"/>
            <a:ext cx="54197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对于任意一个逻辑函数，做如下处理：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58379" name="Text Box 11"/>
          <p:cNvSpPr txBox="1"/>
          <p:nvPr/>
        </p:nvSpPr>
        <p:spPr>
          <a:xfrm>
            <a:off x="1195388" y="1524000"/>
            <a:ext cx="67945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）若把式中的运算符</a:t>
            </a:r>
            <a:r>
              <a:rPr lang="zh-CN" altLang="en-US" sz="2400" b="1" dirty="0"/>
              <a:t>“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.</a:t>
            </a:r>
            <a:r>
              <a:rPr lang="en-US" altLang="zh-CN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换成</a:t>
            </a:r>
            <a:r>
              <a:rPr lang="zh-CN" altLang="en-US" sz="2400" b="1" dirty="0"/>
              <a:t>“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+</a:t>
            </a:r>
            <a:r>
              <a:rPr lang="en-US" altLang="zh-CN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r>
              <a:rPr lang="zh-CN" altLang="en-US" sz="2400" b="1" dirty="0"/>
              <a:t>“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+</a:t>
            </a:r>
            <a:r>
              <a:rPr lang="en-US" altLang="zh-CN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换成</a:t>
            </a:r>
            <a:r>
              <a:rPr lang="zh-CN" altLang="en-US" sz="2400" b="1" dirty="0"/>
              <a:t>“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.</a:t>
            </a:r>
            <a:r>
              <a:rPr lang="en-US" altLang="zh-CN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；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58380" name="Text Box 12"/>
          <p:cNvSpPr txBox="1"/>
          <p:nvPr/>
        </p:nvSpPr>
        <p:spPr>
          <a:xfrm>
            <a:off x="1219200" y="1981200"/>
            <a:ext cx="46450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）常量</a:t>
            </a:r>
            <a:r>
              <a:rPr lang="zh-CN" altLang="en-US" sz="2400" b="1" dirty="0"/>
              <a:t>“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换成</a:t>
            </a:r>
            <a:r>
              <a:rPr lang="zh-CN" altLang="en-US" sz="2400" b="1" dirty="0"/>
              <a:t>“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r>
              <a:rPr lang="zh-CN" altLang="en-US" sz="2400" b="1" dirty="0"/>
              <a:t>“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换成</a:t>
            </a:r>
            <a:r>
              <a:rPr lang="zh-CN" altLang="en-US" sz="2400" b="1" dirty="0"/>
              <a:t>“</a:t>
            </a:r>
            <a:r>
              <a:rPr lang="en-US" altLang="zh-CN" sz="2400" b="1" dirty="0">
                <a:latin typeface="宋体" panose="02010600030101010101" pitchFamily="2" charset="-122"/>
              </a:rPr>
              <a:t>0</a:t>
            </a:r>
            <a:r>
              <a:rPr lang="en-US" altLang="zh-CN" sz="2400" b="1" dirty="0"/>
              <a:t>”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  <p:sp>
        <p:nvSpPr>
          <p:cNvPr id="58382" name="Text Box 14"/>
          <p:cNvSpPr txBox="1"/>
          <p:nvPr/>
        </p:nvSpPr>
        <p:spPr>
          <a:xfrm>
            <a:off x="762000" y="2438400"/>
            <a:ext cx="77724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得到新函数式为原函数式</a:t>
            </a:r>
            <a:r>
              <a:rPr lang="en-US" altLang="zh-CN" sz="2400" b="1" dirty="0">
                <a:latin typeface="宋体" panose="02010600030101010101" pitchFamily="2" charset="-122"/>
              </a:rPr>
              <a:t>F</a:t>
            </a:r>
            <a:r>
              <a:rPr lang="zh-CN" altLang="en-US" sz="2400" b="1" dirty="0">
                <a:latin typeface="宋体" panose="02010600030101010101" pitchFamily="2" charset="-122"/>
              </a:rPr>
              <a:t>的对偶式</a:t>
            </a:r>
            <a:r>
              <a:rPr lang="en-US" altLang="zh-CN" sz="2400" b="1" dirty="0">
                <a:latin typeface="宋体" panose="02010600030101010101" pitchFamily="2" charset="-122"/>
              </a:rPr>
              <a:t>F′</a:t>
            </a:r>
            <a:r>
              <a:rPr lang="zh-CN" altLang="en-US" sz="2400" b="1" dirty="0">
                <a:latin typeface="宋体" panose="02010600030101010101" pitchFamily="2" charset="-122"/>
              </a:rPr>
              <a:t>，也称对偶函数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58384" name="Text Box 16"/>
          <p:cNvSpPr txBox="1"/>
          <p:nvPr/>
        </p:nvSpPr>
        <p:spPr>
          <a:xfrm>
            <a:off x="1122363" y="2819400"/>
            <a:ext cx="2230437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A50021"/>
                </a:solidFill>
                <a:sym typeface="Symbol" panose="05050102010706020507" pitchFamily="18" charset="2"/>
              </a:rPr>
              <a:t></a:t>
            </a:r>
            <a:r>
              <a:rPr lang="en-US" altLang="zh-CN" sz="2800" dirty="0">
                <a:solidFill>
                  <a:srgbClr val="00CCFF"/>
                </a:solidFill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</a:rPr>
              <a:t>对偶规则：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58386" name="Text Box 18"/>
          <p:cNvSpPr txBox="1"/>
          <p:nvPr/>
        </p:nvSpPr>
        <p:spPr>
          <a:xfrm>
            <a:off x="1371600" y="3200400"/>
            <a:ext cx="6858000" cy="11874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如果两个函数式相等，则它们对应的对偶式也相等。即 若   </a:t>
            </a:r>
            <a:r>
              <a:rPr lang="en-US" altLang="zh-CN" sz="2400" b="1" dirty="0">
                <a:latin typeface="宋体" panose="02010600030101010101" pitchFamily="2" charset="-122"/>
              </a:rPr>
              <a:t>F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宋体" panose="02010600030101010101" pitchFamily="2" charset="-122"/>
              </a:rPr>
              <a:t> = F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2 </a:t>
            </a:r>
            <a:r>
              <a:rPr lang="en-US" altLang="zh-CN" sz="2400" b="1" dirty="0">
                <a:latin typeface="宋体" panose="02010600030101010101" pitchFamily="2" charset="-122"/>
              </a:rPr>
              <a:t>   </a:t>
            </a:r>
            <a:r>
              <a:rPr lang="zh-CN" altLang="en-US" sz="2400" b="1" dirty="0">
                <a:latin typeface="宋体" panose="02010600030101010101" pitchFamily="2" charset="-122"/>
              </a:rPr>
              <a:t>则</a:t>
            </a:r>
            <a:r>
              <a:rPr lang="en-US" altLang="zh-CN" sz="2400" b="1" dirty="0">
                <a:latin typeface="宋体" panose="02010600030101010101" pitchFamily="2" charset="-122"/>
              </a:rPr>
              <a:t>F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宋体" panose="02010600030101010101" pitchFamily="2" charset="-122"/>
              </a:rPr>
              <a:t>′= F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宋体" panose="02010600030101010101" pitchFamily="2" charset="-122"/>
              </a:rPr>
              <a:t>′</a:t>
            </a:r>
            <a:r>
              <a:rPr lang="zh-CN" altLang="en-US" sz="2400" b="1" dirty="0">
                <a:latin typeface="宋体" panose="02010600030101010101" pitchFamily="2" charset="-122"/>
              </a:rPr>
              <a:t>。使公式的数目增加一倍。</a:t>
            </a:r>
            <a:endParaRPr lang="zh-CN" altLang="en-US" sz="4400" b="1" dirty="0">
              <a:solidFill>
                <a:schemeClr val="tx2"/>
              </a:solidFill>
            </a:endParaRPr>
          </a:p>
        </p:txBody>
      </p:sp>
      <p:sp>
        <p:nvSpPr>
          <p:cNvPr id="58387" name="Text Box 19"/>
          <p:cNvSpPr txBox="1"/>
          <p:nvPr/>
        </p:nvSpPr>
        <p:spPr>
          <a:xfrm>
            <a:off x="1524000" y="4648200"/>
            <a:ext cx="601980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latin typeface="宋体" panose="02010600030101010101" pitchFamily="2" charset="-122"/>
              </a:rPr>
              <a:t>求对偶式时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运算顺序不变</a:t>
            </a:r>
            <a:r>
              <a:rPr lang="zh-CN" altLang="en-US" sz="2400" b="1" dirty="0">
                <a:latin typeface="宋体" panose="02010600030101010101" pitchFamily="2" charset="-122"/>
              </a:rPr>
              <a:t>，且它只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变</a:t>
            </a:r>
            <a:r>
              <a:rPr lang="zh-CN" altLang="en-US" sz="2400" b="1" dirty="0">
                <a:latin typeface="宋体" panose="02010600030101010101" pitchFamily="2" charset="-122"/>
              </a:rPr>
              <a:t>换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运算符和常量</a:t>
            </a:r>
            <a:r>
              <a:rPr lang="zh-CN" altLang="en-US" sz="2400" b="1" dirty="0">
                <a:latin typeface="宋体" panose="02010600030101010101" pitchFamily="2" charset="-122"/>
              </a:rPr>
              <a:t>，其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变量</a:t>
            </a:r>
            <a:r>
              <a:rPr lang="zh-CN" altLang="en-US" sz="2400" b="1" dirty="0">
                <a:latin typeface="宋体" panose="02010600030101010101" pitchFamily="2" charset="-122"/>
              </a:rPr>
              <a:t>是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不变</a:t>
            </a:r>
            <a:r>
              <a:rPr lang="zh-CN" altLang="en-US" sz="2400" b="1" dirty="0">
                <a:latin typeface="宋体" panose="02010600030101010101" pitchFamily="2" charset="-122"/>
              </a:rPr>
              <a:t>的。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58388" name="Text Box 20"/>
          <p:cNvSpPr txBox="1"/>
          <p:nvPr/>
        </p:nvSpPr>
        <p:spPr>
          <a:xfrm>
            <a:off x="685800" y="4572000"/>
            <a:ext cx="9017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注：</a:t>
            </a:r>
            <a:endParaRPr lang="zh-CN" altLang="en-US" sz="4400" dirty="0">
              <a:solidFill>
                <a:schemeClr val="tx2"/>
              </a:solidFill>
            </a:endParaRPr>
          </a:p>
        </p:txBody>
      </p:sp>
      <p:sp>
        <p:nvSpPr>
          <p:cNvPr id="58389" name="Text Box 21"/>
          <p:cNvSpPr txBox="1"/>
          <p:nvPr/>
        </p:nvSpPr>
        <p:spPr>
          <a:xfrm>
            <a:off x="1524000" y="5334000"/>
            <a:ext cx="6172200" cy="1249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latin typeface="宋体" panose="02010600030101010101" pitchFamily="2" charset="-122"/>
              </a:rPr>
              <a:t>函数式中有</a:t>
            </a:r>
            <a:r>
              <a:rPr lang="zh-CN" altLang="en-US" sz="2400" b="1" dirty="0"/>
              <a:t>“</a:t>
            </a:r>
            <a:r>
              <a:rPr lang="zh-CN" altLang="en-US" sz="2400" b="1" dirty="0">
                <a:latin typeface="宋体" panose="02010600030101010101" pitchFamily="2" charset="-122"/>
                <a:sym typeface="Symbol" panose="05050102010706020507" pitchFamily="18" charset="2"/>
              </a:rPr>
              <a:t></a:t>
            </a:r>
            <a:r>
              <a:rPr lang="zh-CN" altLang="en-US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和</a:t>
            </a:r>
            <a:r>
              <a:rPr lang="zh-CN" altLang="en-US" sz="2400" b="1" dirty="0"/>
              <a:t>“</a:t>
            </a:r>
            <a:r>
              <a:rPr lang="zh-CN" altLang="en-US" sz="2400" b="1" dirty="0">
                <a:latin typeface="宋体" panose="02010600030101010101" pitchFamily="2" charset="-122"/>
              </a:rPr>
              <a:t>⊙</a:t>
            </a:r>
            <a:r>
              <a:rPr lang="zh-CN" altLang="en-US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运算符，求反函数及对偶函数时，要将运算符</a:t>
            </a:r>
            <a:r>
              <a:rPr lang="zh-CN" altLang="en-US" sz="2400" b="1" dirty="0"/>
              <a:t>“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</a:t>
            </a:r>
            <a:r>
              <a:rPr lang="zh-CN" altLang="en-US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换成</a:t>
            </a:r>
            <a:r>
              <a:rPr lang="zh-CN" altLang="en-US" sz="2400" b="1" dirty="0"/>
              <a:t>“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⊙</a:t>
            </a:r>
            <a:r>
              <a:rPr lang="zh-CN" altLang="en-US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， </a:t>
            </a:r>
            <a:r>
              <a:rPr lang="zh-CN" altLang="en-US" sz="2400" b="1" dirty="0"/>
              <a:t>“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⊙</a:t>
            </a:r>
            <a:r>
              <a:rPr lang="zh-CN" altLang="en-US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换成</a:t>
            </a:r>
            <a:r>
              <a:rPr lang="zh-CN" altLang="en-US" sz="2400" b="1" dirty="0"/>
              <a:t>“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</a:t>
            </a:r>
            <a:r>
              <a:rPr lang="zh-CN" altLang="en-US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。</a:t>
            </a:r>
            <a:r>
              <a:rPr lang="zh-CN" altLang="en-US" sz="2400" dirty="0">
                <a:latin typeface="宋体" panose="02010600030101010101" pitchFamily="2" charset="-122"/>
              </a:rPr>
              <a:t> 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grpSp>
        <p:nvGrpSpPr>
          <p:cNvPr id="3" name="Group 30"/>
          <p:cNvGrpSpPr/>
          <p:nvPr/>
        </p:nvGrpSpPr>
        <p:grpSpPr>
          <a:xfrm>
            <a:off x="762000" y="2819400"/>
            <a:ext cx="7696200" cy="1600200"/>
            <a:chOff x="480" y="1776"/>
            <a:chExt cx="4848" cy="1008"/>
          </a:xfrm>
        </p:grpSpPr>
        <p:sp>
          <p:nvSpPr>
            <p:cNvPr id="70675" name="Rectangle 25"/>
            <p:cNvSpPr/>
            <p:nvPr/>
          </p:nvSpPr>
          <p:spPr>
            <a:xfrm>
              <a:off x="480" y="1776"/>
              <a:ext cx="4848" cy="100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0676" name="Text Box 26"/>
            <p:cNvSpPr txBox="1"/>
            <p:nvPr/>
          </p:nvSpPr>
          <p:spPr>
            <a:xfrm>
              <a:off x="672" y="1929"/>
              <a:ext cx="568" cy="327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chemeClr val="tx2"/>
                  </a:solidFill>
                </a:rPr>
                <a:t>例：</a:t>
              </a:r>
              <a:endParaRPr lang="zh-CN" altLang="en-US" sz="4400" dirty="0">
                <a:solidFill>
                  <a:schemeClr val="tx2"/>
                </a:solidFill>
              </a:endParaRPr>
            </a:p>
          </p:txBody>
        </p:sp>
      </p:grpSp>
      <p:graphicFrame>
        <p:nvGraphicFramePr>
          <p:cNvPr id="58395" name="Object 27"/>
          <p:cNvGraphicFramePr>
            <a:graphicFrameLocks noChangeAspect="1"/>
          </p:cNvGraphicFramePr>
          <p:nvPr/>
        </p:nvGraphicFramePr>
        <p:xfrm>
          <a:off x="2286000" y="2973388"/>
          <a:ext cx="3424238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1" imgW="1244600" imgH="241300" progId="Equation.3">
                  <p:embed/>
                </p:oleObj>
              </mc:Choice>
              <mc:Fallback>
                <p:oleObj name="" r:id="rId1" imgW="1244600" imgH="24130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6000" y="2973388"/>
                        <a:ext cx="3424238" cy="531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96" name="Text Box 28"/>
          <p:cNvSpPr txBox="1"/>
          <p:nvPr/>
        </p:nvSpPr>
        <p:spPr>
          <a:xfrm>
            <a:off x="914400" y="3595688"/>
            <a:ext cx="1611313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其对偶式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graphicFrame>
        <p:nvGraphicFramePr>
          <p:cNvPr id="58397" name="Object 29"/>
          <p:cNvGraphicFramePr>
            <a:graphicFrameLocks noChangeAspect="1"/>
          </p:cNvGraphicFramePr>
          <p:nvPr/>
        </p:nvGraphicFramePr>
        <p:xfrm>
          <a:off x="2590800" y="3540125"/>
          <a:ext cx="53340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3" imgW="1866265" imgH="266700" progId="Equation.3">
                  <p:embed/>
                </p:oleObj>
              </mc:Choice>
              <mc:Fallback>
                <p:oleObj name="" r:id="rId3" imgW="1866265" imgH="2667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90800" y="3540125"/>
                        <a:ext cx="5334000" cy="650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0673" name="Picture 32" descr="wb01508_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60960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0674" name="Text Box 33">
            <a:hlinkClick r:id="rId5" action="ppaction://hlinksldjump"/>
          </p:cNvPr>
          <p:cNvSpPr txBox="1"/>
          <p:nvPr/>
        </p:nvSpPr>
        <p:spPr>
          <a:xfrm>
            <a:off x="7512050" y="61722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8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8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8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8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8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8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8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8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7" grpId="0"/>
      <p:bldP spid="58379" grpId="0"/>
      <p:bldP spid="58380" grpId="0"/>
      <p:bldP spid="58382" grpId="0"/>
      <p:bldP spid="58384" grpId="0"/>
      <p:bldP spid="58386" grpId="0"/>
      <p:bldP spid="58387" grpId="0"/>
      <p:bldP spid="58388" grpId="0"/>
      <p:bldP spid="58389" grpId="0"/>
      <p:bldP spid="5839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1682" name="对象 18"/>
          <p:cNvGraphicFramePr>
            <a:graphicFrameLocks noChangeAspect="1"/>
          </p:cNvGraphicFramePr>
          <p:nvPr/>
        </p:nvGraphicFramePr>
        <p:xfrm>
          <a:off x="1241425" y="857250"/>
          <a:ext cx="7405688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1" imgW="2870200" imgH="215900" progId="Equation.DSMT4">
                  <p:embed/>
                </p:oleObj>
              </mc:Choice>
              <mc:Fallback>
                <p:oleObj name="" r:id="rId1" imgW="2870200" imgH="2159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41425" y="857250"/>
                        <a:ext cx="7405688" cy="557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3" name="对象 19"/>
          <p:cNvGraphicFramePr>
            <a:graphicFrameLocks noChangeAspect="1"/>
          </p:cNvGraphicFramePr>
          <p:nvPr/>
        </p:nvGraphicFramePr>
        <p:xfrm>
          <a:off x="0" y="67310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3" imgW="114300" imgH="215900" progId="Equation.3">
                  <p:embed/>
                </p:oleObj>
              </mc:Choice>
              <mc:Fallback>
                <p:oleObj name="" r:id="rId3" imgW="114300" imgH="21590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673100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4" name="对象 20"/>
          <p:cNvGraphicFramePr>
            <a:graphicFrameLocks noChangeAspect="1"/>
          </p:cNvGraphicFramePr>
          <p:nvPr/>
        </p:nvGraphicFramePr>
        <p:xfrm>
          <a:off x="2927350" y="1517650"/>
          <a:ext cx="23145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5" imgW="951865" imgH="177800" progId="Equation.DSMT4">
                  <p:embed/>
                </p:oleObj>
              </mc:Choice>
              <mc:Fallback>
                <p:oleObj name="" r:id="rId5" imgW="951865" imgH="17780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27350" y="1517650"/>
                        <a:ext cx="231457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5" name="对象 21"/>
          <p:cNvGraphicFramePr>
            <a:graphicFrameLocks noChangeAspect="1"/>
          </p:cNvGraphicFramePr>
          <p:nvPr/>
        </p:nvGraphicFramePr>
        <p:xfrm>
          <a:off x="2760663" y="2201863"/>
          <a:ext cx="38004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7" imgW="1688465" imgH="203200" progId="Equation.DSMT4">
                  <p:embed/>
                </p:oleObj>
              </mc:Choice>
              <mc:Fallback>
                <p:oleObj name="" r:id="rId7" imgW="1688465" imgH="203200" progId="Equation.DSMT4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60663" y="2201863"/>
                        <a:ext cx="3800475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6" name="对象 22"/>
          <p:cNvGraphicFramePr>
            <a:graphicFrameLocks noChangeAspect="1"/>
          </p:cNvGraphicFramePr>
          <p:nvPr/>
        </p:nvGraphicFramePr>
        <p:xfrm>
          <a:off x="2640013" y="2879725"/>
          <a:ext cx="311626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9" imgW="1371600" imgH="203200" progId="Equation.DSMT4">
                  <p:embed/>
                </p:oleObj>
              </mc:Choice>
              <mc:Fallback>
                <p:oleObj name="" r:id="rId9" imgW="1371600" imgH="2032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40013" y="2879725"/>
                        <a:ext cx="3116262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7" name="对象 23"/>
          <p:cNvGraphicFramePr>
            <a:graphicFrameLocks noChangeAspect="1"/>
          </p:cNvGraphicFramePr>
          <p:nvPr/>
        </p:nvGraphicFramePr>
        <p:xfrm>
          <a:off x="4211638" y="3605213"/>
          <a:ext cx="1747837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11" imgW="672465" imgH="177800" progId="Equation.DSMT4">
                  <p:embed/>
                </p:oleObj>
              </mc:Choice>
              <mc:Fallback>
                <p:oleObj name="" r:id="rId11" imgW="672465" imgH="177800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11638" y="3605213"/>
                        <a:ext cx="1747837" cy="461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8" name="对象 24"/>
          <p:cNvGraphicFramePr>
            <a:graphicFrameLocks noChangeAspect="1"/>
          </p:cNvGraphicFramePr>
          <p:nvPr/>
        </p:nvGraphicFramePr>
        <p:xfrm>
          <a:off x="3071813" y="4124325"/>
          <a:ext cx="192246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13" imgW="723265" imgH="177800" progId="Equation.DSMT4">
                  <p:embed/>
                </p:oleObj>
              </mc:Choice>
              <mc:Fallback>
                <p:oleObj name="" r:id="rId13" imgW="723265" imgH="1778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71813" y="4124325"/>
                        <a:ext cx="1922462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9" name="对象 25"/>
          <p:cNvGraphicFramePr>
            <a:graphicFrameLocks noChangeAspect="1"/>
          </p:cNvGraphicFramePr>
          <p:nvPr/>
        </p:nvGraphicFramePr>
        <p:xfrm>
          <a:off x="5241925" y="4124325"/>
          <a:ext cx="1747838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15" imgW="672465" imgH="177800" progId="Equation.DSMT4">
                  <p:embed/>
                </p:oleObj>
              </mc:Choice>
              <mc:Fallback>
                <p:oleObj name="" r:id="rId15" imgW="672465" imgH="177800" progId="Equation.DSMT4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241925" y="4124325"/>
                        <a:ext cx="1747838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444500" y="-63500"/>
            <a:ext cx="3427413" cy="1016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>
            <a:lvl1pPr indent="266700"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异或运算的公式</a:t>
            </a:r>
            <a:endParaRPr kumimoji="1" lang="zh-CN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常量和变量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691" name="Rectangle 27"/>
          <p:cNvSpPr/>
          <p:nvPr/>
        </p:nvSpPr>
        <p:spPr>
          <a:xfrm>
            <a:off x="444500" y="1362075"/>
            <a:ext cx="2352675" cy="61595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6700">
              <a:spcBef>
                <a:spcPct val="0"/>
              </a:spcBef>
              <a:buNone/>
            </a:pPr>
            <a:r>
              <a:rPr lang="en-US" altLang="zh-CN" sz="1000" dirty="0">
                <a:solidFill>
                  <a:schemeClr val="tx2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    </a:t>
            </a:r>
            <a:endParaRPr lang="en-US" altLang="zh-CN" sz="600" dirty="0">
              <a:solidFill>
                <a:schemeClr val="tx2"/>
              </a:solidFill>
            </a:endParaRPr>
          </a:p>
          <a:p>
            <a:pPr marL="0" lvl="0" indent="26670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(2) 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交换律</a:t>
            </a:r>
            <a:r>
              <a:rPr lang="zh-CN" altLang="en-US" sz="2400" b="1" dirty="0">
                <a:solidFill>
                  <a:schemeClr val="tx2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      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71692" name="Rectangle 28"/>
          <p:cNvSpPr/>
          <p:nvPr/>
        </p:nvSpPr>
        <p:spPr>
          <a:xfrm>
            <a:off x="0" y="88900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6700">
              <a:spcBef>
                <a:spcPct val="0"/>
              </a:spcBef>
              <a:buNone/>
            </a:pPr>
            <a:r>
              <a:rPr lang="en-US" altLang="zh-CN" sz="1000" dirty="0">
                <a:solidFill>
                  <a:schemeClr val="tx2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2400" dirty="0">
              <a:solidFill>
                <a:schemeClr val="tx2"/>
              </a:solidFill>
            </a:endParaRPr>
          </a:p>
        </p:txBody>
      </p:sp>
      <p:sp>
        <p:nvSpPr>
          <p:cNvPr id="71693" name="Rectangle 29"/>
          <p:cNvSpPr/>
          <p:nvPr/>
        </p:nvSpPr>
        <p:spPr>
          <a:xfrm>
            <a:off x="427038" y="2165350"/>
            <a:ext cx="2608262" cy="461963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670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(3) 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结合律</a:t>
            </a:r>
            <a:r>
              <a:rPr lang="zh-CN" altLang="en-US" sz="2400" b="1" dirty="0">
                <a:solidFill>
                  <a:schemeClr val="tx2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         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71694" name="Rectangle 30"/>
          <p:cNvSpPr/>
          <p:nvPr/>
        </p:nvSpPr>
        <p:spPr>
          <a:xfrm>
            <a:off x="427038" y="2838450"/>
            <a:ext cx="2608262" cy="461963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670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(4) 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分配律</a:t>
            </a:r>
            <a:r>
              <a:rPr lang="zh-CN" altLang="en-US" sz="2400" b="1" dirty="0">
                <a:solidFill>
                  <a:schemeClr val="tx2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         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71695" name="Rectangle 31"/>
          <p:cNvSpPr/>
          <p:nvPr/>
        </p:nvSpPr>
        <p:spPr>
          <a:xfrm>
            <a:off x="409575" y="3608388"/>
            <a:ext cx="3505200" cy="461962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670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(5) 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因果互换律</a:t>
            </a:r>
            <a:r>
              <a:rPr lang="zh-CN" altLang="en-US" sz="2400" b="1" dirty="0">
                <a:solidFill>
                  <a:schemeClr val="tx2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71696" name="Rectangle 32"/>
          <p:cNvSpPr/>
          <p:nvPr/>
        </p:nvSpPr>
        <p:spPr>
          <a:xfrm>
            <a:off x="1620838" y="4133850"/>
            <a:ext cx="1377950" cy="461963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6700">
              <a:spcBef>
                <a:spcPct val="0"/>
              </a:spcBef>
              <a:buNone/>
            </a:pPr>
            <a:r>
              <a:rPr lang="zh-CN" altLang="zh-CN" sz="2400" dirty="0">
                <a:solidFill>
                  <a:schemeClr val="tx2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，则有</a:t>
            </a:r>
            <a:endParaRPr lang="zh-CN" altLang="zh-CN" sz="2400" dirty="0">
              <a:solidFill>
                <a:schemeClr val="tx2"/>
              </a:solidFill>
            </a:endParaRPr>
          </a:p>
        </p:txBody>
      </p:sp>
      <p:sp>
        <p:nvSpPr>
          <p:cNvPr id="71697" name="Rectangle 34"/>
          <p:cNvSpPr/>
          <p:nvPr/>
        </p:nvSpPr>
        <p:spPr>
          <a:xfrm>
            <a:off x="5480050" y="2838450"/>
            <a:ext cx="3567113" cy="461963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266700">
              <a:spcBef>
                <a:spcPct val="0"/>
              </a:spcBef>
              <a:buNone/>
            </a:pPr>
            <a:r>
              <a:rPr lang="zh-CN" altLang="en-US" sz="1000" dirty="0">
                <a:solidFill>
                  <a:schemeClr val="tx2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chemeClr val="tx2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运算顺序先与、再异或</a:t>
            </a:r>
            <a:endParaRPr lang="en-US" altLang="zh-CN" sz="2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7" name="Rectangle 1027"/>
          <p:cNvSpPr/>
          <p:nvPr/>
        </p:nvSpPr>
        <p:spPr>
          <a:xfrm>
            <a:off x="762000" y="1203325"/>
            <a:ext cx="7848600" cy="930275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4800" b="1" dirty="0">
                <a:solidFill>
                  <a:srgbClr val="990033"/>
                </a:solidFill>
                <a:ea typeface="隶书" panose="02010509060101010101" pitchFamily="49" charset="-122"/>
              </a:rPr>
              <a:t>§1-3   </a:t>
            </a:r>
            <a:r>
              <a:rPr lang="zh-CN" altLang="en-US" sz="4800" b="1" dirty="0">
                <a:solidFill>
                  <a:srgbClr val="990033"/>
                </a:solidFill>
                <a:ea typeface="隶书" panose="02010509060101010101" pitchFamily="49" charset="-122"/>
              </a:rPr>
              <a:t>逻辑函数的标准形式</a:t>
            </a:r>
            <a:endParaRPr lang="zh-CN" altLang="en-US" sz="4800" dirty="0"/>
          </a:p>
        </p:txBody>
      </p:sp>
      <p:sp>
        <p:nvSpPr>
          <p:cNvPr id="88068" name="Text Box 1028"/>
          <p:cNvSpPr txBox="1"/>
          <p:nvPr/>
        </p:nvSpPr>
        <p:spPr>
          <a:xfrm>
            <a:off x="1676400" y="3200400"/>
            <a:ext cx="6400800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4400" b="1" dirty="0">
                <a:ea typeface="黑体" panose="02010609060101010101" pitchFamily="49" charset="-122"/>
              </a:rPr>
              <a:t>函数表达式的常用形式</a:t>
            </a:r>
            <a:endParaRPr lang="zh-CN" altLang="en-US" sz="4400" b="1" dirty="0">
              <a:ea typeface="黑体" panose="02010609060101010101" pitchFamily="49" charset="-122"/>
            </a:endParaRPr>
          </a:p>
        </p:txBody>
      </p:sp>
      <p:sp>
        <p:nvSpPr>
          <p:cNvPr id="88069" name="Text Box 1029"/>
          <p:cNvSpPr txBox="1"/>
          <p:nvPr/>
        </p:nvSpPr>
        <p:spPr>
          <a:xfrm>
            <a:off x="1600200" y="4130675"/>
            <a:ext cx="6019800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4400" b="1" dirty="0">
                <a:ea typeface="黑体" panose="02010609060101010101" pitchFamily="49" charset="-122"/>
              </a:rPr>
              <a:t>逻辑函数的标准形式</a:t>
            </a:r>
            <a:endParaRPr lang="zh-CN" altLang="en-US" sz="4400" b="1" dirty="0">
              <a:ea typeface="黑体" panose="02010609060101010101" pitchFamily="49" charset="-122"/>
            </a:endParaRPr>
          </a:p>
        </p:txBody>
      </p:sp>
      <p:pic>
        <p:nvPicPr>
          <p:cNvPr id="88070" name="Picture 1030" descr="ball5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3528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8071" name="Picture 1031" descr="ball5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2672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2711" name="Picture 1033" descr="wb00677_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5943600"/>
            <a:ext cx="838200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animBg="1"/>
      <p:bldP spid="88068" grpId="0"/>
      <p:bldP spid="88069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Text Box 2"/>
          <p:cNvSpPr txBox="1"/>
          <p:nvPr/>
        </p:nvSpPr>
        <p:spPr>
          <a:xfrm>
            <a:off x="990600" y="519113"/>
            <a:ext cx="7315200" cy="823912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4800" b="1" dirty="0">
                <a:solidFill>
                  <a:srgbClr val="990033"/>
                </a:solidFill>
                <a:ea typeface="隶书" panose="02010509060101010101" pitchFamily="49" charset="-122"/>
              </a:rPr>
              <a:t>函数表达式的常用形式</a:t>
            </a:r>
            <a:endParaRPr lang="zh-CN" altLang="en-US" sz="4800" b="1" dirty="0">
              <a:solidFill>
                <a:srgbClr val="990033"/>
              </a:solidFill>
              <a:ea typeface="隶书" panose="02010509060101010101" pitchFamily="49" charset="-122"/>
            </a:endParaRPr>
          </a:p>
        </p:txBody>
      </p:sp>
      <p:sp>
        <p:nvSpPr>
          <p:cNvPr id="60419" name="Text Box 3"/>
          <p:cNvSpPr txBox="1"/>
          <p:nvPr/>
        </p:nvSpPr>
        <p:spPr>
          <a:xfrm>
            <a:off x="762000" y="1600200"/>
            <a:ext cx="3028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  </a:t>
            </a:r>
            <a:r>
              <a:rPr lang="zh-CN" altLang="en-US" sz="2800" b="1" dirty="0"/>
              <a:t>五种常用表达式</a:t>
            </a:r>
            <a:endParaRPr lang="zh-CN" altLang="en-US" sz="2400" dirty="0"/>
          </a:p>
        </p:txBody>
      </p:sp>
      <p:sp>
        <p:nvSpPr>
          <p:cNvPr id="60420" name="Text Box 4"/>
          <p:cNvSpPr txBox="1"/>
          <p:nvPr/>
        </p:nvSpPr>
        <p:spPr>
          <a:xfrm>
            <a:off x="1074738" y="2179638"/>
            <a:ext cx="19875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F(A</a:t>
            </a:r>
            <a:r>
              <a:rPr lang="zh-CN" altLang="en-US" sz="2800" b="1" dirty="0">
                <a:latin typeface="宋体" panose="02010600030101010101" pitchFamily="2" charset="-122"/>
              </a:rPr>
              <a:t>、</a:t>
            </a:r>
            <a:r>
              <a:rPr lang="en-US" altLang="zh-CN" sz="2800" b="1" dirty="0">
                <a:latin typeface="宋体" panose="02010600030101010101" pitchFamily="2" charset="-122"/>
              </a:rPr>
              <a:t>B</a:t>
            </a:r>
            <a:r>
              <a:rPr lang="zh-CN" altLang="en-US" sz="2800" b="1" dirty="0">
                <a:latin typeface="宋体" panose="02010600030101010101" pitchFamily="2" charset="-122"/>
              </a:rPr>
              <a:t>、</a:t>
            </a:r>
            <a:r>
              <a:rPr lang="en-US" altLang="zh-CN" sz="2800" b="1" dirty="0">
                <a:latin typeface="宋体" panose="02010600030101010101" pitchFamily="2" charset="-122"/>
              </a:rPr>
              <a:t>C)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  <p:graphicFrame>
        <p:nvGraphicFramePr>
          <p:cNvPr id="60421" name="Object 5"/>
          <p:cNvGraphicFramePr>
            <a:graphicFrameLocks noChangeAspect="1"/>
          </p:cNvGraphicFramePr>
          <p:nvPr/>
        </p:nvGraphicFramePr>
        <p:xfrm>
          <a:off x="2895600" y="2133600"/>
          <a:ext cx="1727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1" imgW="711200" imgH="215900" progId="Equation.3">
                  <p:embed/>
                </p:oleObj>
              </mc:Choice>
              <mc:Fallback>
                <p:oleObj name="" r:id="rId1" imgW="711200" imgH="2159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95600" y="2133600"/>
                        <a:ext cx="1727200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2" name="Text Box 6"/>
          <p:cNvSpPr txBox="1"/>
          <p:nvPr/>
        </p:nvSpPr>
        <p:spPr>
          <a:xfrm>
            <a:off x="5715000" y="2209800"/>
            <a:ext cx="17145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</a:rPr>
              <a:t>“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与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―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或</a:t>
            </a:r>
            <a:r>
              <a:rPr lang="zh-CN" altLang="en-US" sz="2400" b="1" dirty="0">
                <a:solidFill>
                  <a:schemeClr val="accent2"/>
                </a:solidFill>
              </a:rPr>
              <a:t>”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式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60423" name="Object 7"/>
          <p:cNvGraphicFramePr>
            <a:graphicFrameLocks noChangeAspect="1"/>
          </p:cNvGraphicFramePr>
          <p:nvPr/>
        </p:nvGraphicFramePr>
        <p:xfrm>
          <a:off x="2889250" y="2743200"/>
          <a:ext cx="252095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3" imgW="1078865" imgH="241300" progId="Equation.3">
                  <p:embed/>
                </p:oleObj>
              </mc:Choice>
              <mc:Fallback>
                <p:oleObj name="" r:id="rId3" imgW="1078865" imgH="241300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89250" y="2743200"/>
                        <a:ext cx="2520950" cy="560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4" name="Text Box 8"/>
          <p:cNvSpPr txBox="1"/>
          <p:nvPr/>
        </p:nvSpPr>
        <p:spPr>
          <a:xfrm>
            <a:off x="5715000" y="2819400"/>
            <a:ext cx="17145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</a:rPr>
              <a:t>“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或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―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与</a:t>
            </a:r>
            <a:r>
              <a:rPr lang="zh-CN" altLang="en-US" sz="2400" b="1" dirty="0">
                <a:solidFill>
                  <a:schemeClr val="accent2"/>
                </a:solidFill>
              </a:rPr>
              <a:t>”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式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graphicFrame>
        <p:nvGraphicFramePr>
          <p:cNvPr id="60425" name="Object 9"/>
          <p:cNvGraphicFramePr>
            <a:graphicFrameLocks noChangeAspect="1"/>
          </p:cNvGraphicFramePr>
          <p:nvPr/>
        </p:nvGraphicFramePr>
        <p:xfrm>
          <a:off x="2895600" y="3295650"/>
          <a:ext cx="163195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5" imgW="673100" imgH="266700" progId="Equation.3">
                  <p:embed/>
                </p:oleObj>
              </mc:Choice>
              <mc:Fallback>
                <p:oleObj name="" r:id="rId5" imgW="673100" imgH="266700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95600" y="3295650"/>
                        <a:ext cx="1631950" cy="644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6" name="Text Box 10"/>
          <p:cNvSpPr txBox="1"/>
          <p:nvPr/>
        </p:nvSpPr>
        <p:spPr>
          <a:xfrm>
            <a:off x="5715000" y="3429000"/>
            <a:ext cx="24860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“</a:t>
            </a:r>
            <a:r>
              <a:rPr lang="zh-CN" altLang="en-US" sz="2400" b="1" dirty="0">
                <a:latin typeface="宋体" panose="02010600030101010101" pitchFamily="2" charset="-122"/>
              </a:rPr>
              <a:t>与非</a:t>
            </a:r>
            <a:r>
              <a:rPr lang="en-US" altLang="zh-CN" sz="2400" b="1" dirty="0">
                <a:latin typeface="宋体" panose="02010600030101010101" pitchFamily="2" charset="-122"/>
              </a:rPr>
              <a:t>―</a:t>
            </a:r>
            <a:r>
              <a:rPr lang="zh-CN" altLang="en-US" sz="2400" b="1" dirty="0">
                <a:latin typeface="宋体" panose="02010600030101010101" pitchFamily="2" charset="-122"/>
              </a:rPr>
              <a:t>与非</a:t>
            </a:r>
            <a:r>
              <a:rPr lang="zh-CN" altLang="en-US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式 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graphicFrame>
        <p:nvGraphicFramePr>
          <p:cNvPr id="60427" name="Object 11"/>
          <p:cNvGraphicFramePr>
            <a:graphicFrameLocks noChangeAspect="1"/>
          </p:cNvGraphicFramePr>
          <p:nvPr/>
        </p:nvGraphicFramePr>
        <p:xfrm>
          <a:off x="2895600" y="3962400"/>
          <a:ext cx="2438400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7" imgW="1002665" imgH="266700" progId="Equation.3">
                  <p:embed/>
                </p:oleObj>
              </mc:Choice>
              <mc:Fallback>
                <p:oleObj name="" r:id="rId7" imgW="1002665" imgH="26670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95600" y="3962400"/>
                        <a:ext cx="2438400" cy="646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8" name="Text Box 12"/>
          <p:cNvSpPr txBox="1"/>
          <p:nvPr/>
        </p:nvSpPr>
        <p:spPr>
          <a:xfrm>
            <a:off x="5715000" y="4038600"/>
            <a:ext cx="23304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“</a:t>
            </a:r>
            <a:r>
              <a:rPr lang="zh-CN" altLang="en-US" sz="2400" b="1" dirty="0">
                <a:latin typeface="宋体" panose="02010600030101010101" pitchFamily="2" charset="-122"/>
              </a:rPr>
              <a:t>或非</a:t>
            </a:r>
            <a:r>
              <a:rPr lang="en-US" altLang="zh-CN" sz="2400" b="1" dirty="0">
                <a:latin typeface="宋体" panose="02010600030101010101" pitchFamily="2" charset="-122"/>
              </a:rPr>
              <a:t>―</a:t>
            </a:r>
            <a:r>
              <a:rPr lang="zh-CN" altLang="en-US" sz="2400" b="1" dirty="0">
                <a:latin typeface="宋体" panose="02010600030101010101" pitchFamily="2" charset="-122"/>
              </a:rPr>
              <a:t>或非</a:t>
            </a:r>
            <a:r>
              <a:rPr lang="zh-CN" altLang="en-US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式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graphicFrame>
        <p:nvGraphicFramePr>
          <p:cNvPr id="60429" name="Object 13"/>
          <p:cNvGraphicFramePr>
            <a:graphicFrameLocks noChangeAspect="1"/>
          </p:cNvGraphicFramePr>
          <p:nvPr/>
        </p:nvGraphicFramePr>
        <p:xfrm>
          <a:off x="2895600" y="4572000"/>
          <a:ext cx="220980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9" imgW="914400" imgH="241300" progId="Equation.3">
                  <p:embed/>
                </p:oleObj>
              </mc:Choice>
              <mc:Fallback>
                <p:oleObj name="" r:id="rId9" imgW="914400" imgH="24130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95600" y="4572000"/>
                        <a:ext cx="2209800" cy="579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30" name="Text Box 14"/>
          <p:cNvSpPr txBox="1"/>
          <p:nvPr/>
        </p:nvSpPr>
        <p:spPr>
          <a:xfrm>
            <a:off x="5715000" y="4648200"/>
            <a:ext cx="23304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“</a:t>
            </a:r>
            <a:r>
              <a:rPr lang="zh-CN" altLang="en-US" sz="2400" b="1" dirty="0">
                <a:latin typeface="宋体" panose="02010600030101010101" pitchFamily="2" charset="-122"/>
              </a:rPr>
              <a:t>与</a:t>
            </a:r>
            <a:r>
              <a:rPr lang="en-US" altLang="zh-CN" sz="2400" b="1" dirty="0">
                <a:latin typeface="宋体" panose="02010600030101010101" pitchFamily="2" charset="-122"/>
              </a:rPr>
              <a:t>―</a:t>
            </a:r>
            <a:r>
              <a:rPr lang="zh-CN" altLang="en-US" sz="2400" b="1" dirty="0">
                <a:latin typeface="宋体" panose="02010600030101010101" pitchFamily="2" charset="-122"/>
              </a:rPr>
              <a:t>或</a:t>
            </a:r>
            <a:r>
              <a:rPr lang="en-US" altLang="zh-CN" sz="2400" b="1" dirty="0">
                <a:latin typeface="宋体" panose="02010600030101010101" pitchFamily="2" charset="-122"/>
              </a:rPr>
              <a:t>―</a:t>
            </a:r>
            <a:r>
              <a:rPr lang="zh-CN" altLang="en-US" sz="2400" b="1" dirty="0">
                <a:latin typeface="宋体" panose="02010600030101010101" pitchFamily="2" charset="-122"/>
              </a:rPr>
              <a:t>非</a:t>
            </a:r>
            <a:r>
              <a:rPr lang="zh-CN" altLang="en-US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式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60431" name="AutoShape 15"/>
          <p:cNvSpPr/>
          <p:nvPr/>
        </p:nvSpPr>
        <p:spPr>
          <a:xfrm>
            <a:off x="7543800" y="2286000"/>
            <a:ext cx="76200" cy="838200"/>
          </a:xfrm>
          <a:prstGeom prst="rightBrace">
            <a:avLst>
              <a:gd name="adj1" fmla="val 91666"/>
              <a:gd name="adj2" fmla="val 50000"/>
            </a:avLst>
          </a:prstGeom>
          <a:noFill/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grpSp>
        <p:nvGrpSpPr>
          <p:cNvPr id="2" name="Group 20"/>
          <p:cNvGrpSpPr/>
          <p:nvPr/>
        </p:nvGrpSpPr>
        <p:grpSpPr>
          <a:xfrm>
            <a:off x="7467600" y="1447800"/>
            <a:ext cx="1447800" cy="914400"/>
            <a:chOff x="4704" y="912"/>
            <a:chExt cx="912" cy="576"/>
          </a:xfrm>
        </p:grpSpPr>
        <p:sp>
          <p:nvSpPr>
            <p:cNvPr id="73753" name="AutoShape 18"/>
            <p:cNvSpPr/>
            <p:nvPr/>
          </p:nvSpPr>
          <p:spPr>
            <a:xfrm>
              <a:off x="4704" y="912"/>
              <a:ext cx="912" cy="576"/>
            </a:xfrm>
            <a:prstGeom prst="wedgeRoundRectCallout">
              <a:avLst>
                <a:gd name="adj1" fmla="val -39144"/>
                <a:gd name="adj2" fmla="val 78301"/>
                <a:gd name="adj3" fmla="val 16667"/>
              </a:avLst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3754" name="Text Box 19"/>
            <p:cNvSpPr txBox="1"/>
            <p:nvPr/>
          </p:nvSpPr>
          <p:spPr>
            <a:xfrm>
              <a:off x="4728" y="941"/>
              <a:ext cx="888" cy="51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基本形式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60437" name="Text Box 21"/>
          <p:cNvSpPr txBox="1"/>
          <p:nvPr/>
        </p:nvSpPr>
        <p:spPr>
          <a:xfrm>
            <a:off x="725488" y="5181600"/>
            <a:ext cx="293211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 </a:t>
            </a:r>
            <a:r>
              <a:rPr lang="zh-CN" altLang="en-US" sz="2800" b="1" dirty="0">
                <a:latin typeface="宋体" panose="02010600030101010101" pitchFamily="2" charset="-122"/>
              </a:rPr>
              <a:t>表达式形式转换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60438" name="Object 22"/>
          <p:cNvGraphicFramePr>
            <a:graphicFrameLocks noChangeAspect="1"/>
          </p:cNvGraphicFramePr>
          <p:nvPr/>
        </p:nvGraphicFramePr>
        <p:xfrm>
          <a:off x="1524000" y="5867400"/>
          <a:ext cx="21272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11" imgW="901065" imgH="215900" progId="Equation.3">
                  <p:embed/>
                </p:oleObj>
              </mc:Choice>
              <mc:Fallback>
                <p:oleObj name="" r:id="rId11" imgW="901065" imgH="21590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24000" y="5867400"/>
                        <a:ext cx="2127250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9" name="Object 23"/>
          <p:cNvGraphicFramePr>
            <a:graphicFrameLocks noChangeAspect="1"/>
          </p:cNvGraphicFramePr>
          <p:nvPr/>
        </p:nvGraphicFramePr>
        <p:xfrm>
          <a:off x="3657600" y="5715000"/>
          <a:ext cx="1738313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13" imgW="711200" imgH="266700" progId="Equation.3">
                  <p:embed/>
                </p:oleObj>
              </mc:Choice>
              <mc:Fallback>
                <p:oleObj name="" r:id="rId13" imgW="711200" imgH="266700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57600" y="5715000"/>
                        <a:ext cx="1738313" cy="649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0" name="Object 24"/>
          <p:cNvGraphicFramePr>
            <a:graphicFrameLocks noChangeAspect="1"/>
          </p:cNvGraphicFramePr>
          <p:nvPr/>
        </p:nvGraphicFramePr>
        <p:xfrm>
          <a:off x="5410200" y="5715000"/>
          <a:ext cx="16002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15" imgW="673100" imgH="266700" progId="Equation.3">
                  <p:embed/>
                </p:oleObj>
              </mc:Choice>
              <mc:Fallback>
                <p:oleObj name="" r:id="rId15" imgW="673100" imgH="266700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10200" y="5715000"/>
                        <a:ext cx="1600200" cy="631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3749" name="Picture 26" descr="wb01508_">
            <a:hlinkClick r:id="rId16" action="ppaction://hlinksldjump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39000" y="60198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3750" name="Text Box 27">
            <a:hlinkClick r:id="rId16" action="ppaction://hlinksldjump"/>
          </p:cNvPr>
          <p:cNvSpPr txBox="1"/>
          <p:nvPr/>
        </p:nvSpPr>
        <p:spPr>
          <a:xfrm>
            <a:off x="7435850" y="60960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  <p:sp>
        <p:nvSpPr>
          <p:cNvPr id="60444" name="AutoShape 28"/>
          <p:cNvSpPr/>
          <p:nvPr/>
        </p:nvSpPr>
        <p:spPr>
          <a:xfrm>
            <a:off x="3581400" y="4572000"/>
            <a:ext cx="1828800" cy="838200"/>
          </a:xfrm>
          <a:prstGeom prst="wedgeRoundRectCallout">
            <a:avLst>
              <a:gd name="adj1" fmla="val -45833"/>
              <a:gd name="adj2" fmla="val 113634"/>
              <a:gd name="adj3" fmla="val 16667"/>
            </a:avLst>
          </a:prstGeom>
          <a:solidFill>
            <a:srgbClr val="FFCC00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利用还原律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60445" name="AutoShape 29"/>
          <p:cNvSpPr/>
          <p:nvPr/>
        </p:nvSpPr>
        <p:spPr>
          <a:xfrm>
            <a:off x="5410200" y="4572000"/>
            <a:ext cx="1828800" cy="838200"/>
          </a:xfrm>
          <a:prstGeom prst="wedgeRoundRectCallout">
            <a:avLst>
              <a:gd name="adj1" fmla="val -48958"/>
              <a:gd name="adj2" fmla="val 115907"/>
              <a:gd name="adj3" fmla="val 16667"/>
            </a:avLst>
          </a:prstGeom>
          <a:solidFill>
            <a:srgbClr val="FFCC00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利用反演律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0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0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0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0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0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0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0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0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0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0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0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0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0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0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60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0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0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60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60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0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 animBg="1"/>
      <p:bldP spid="60419" grpId="0"/>
      <p:bldP spid="60420" grpId="0"/>
      <p:bldP spid="60422" grpId="0"/>
      <p:bldP spid="60424" grpId="0"/>
      <p:bldP spid="60426" grpId="0"/>
      <p:bldP spid="60428" grpId="0"/>
      <p:bldP spid="60430" grpId="0"/>
      <p:bldP spid="60431" grpId="0" animBg="1"/>
      <p:bldP spid="60437" grpId="0"/>
      <p:bldP spid="60444" grpId="0" animBg="1"/>
      <p:bldP spid="6044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Text Box 2"/>
          <p:cNvSpPr txBox="1"/>
          <p:nvPr/>
        </p:nvSpPr>
        <p:spPr>
          <a:xfrm>
            <a:off x="990600" y="334963"/>
            <a:ext cx="7315200" cy="823912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Left">
              <a:rot lat="0" lon="0" rev="0"/>
            </a:camera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4800" b="1" dirty="0">
                <a:solidFill>
                  <a:srgbClr val="990033"/>
                </a:solidFill>
                <a:ea typeface="隶书" panose="02010509060101010101" pitchFamily="49" charset="-122"/>
              </a:rPr>
              <a:t>逻辑函数的标准形式</a:t>
            </a:r>
            <a:endParaRPr lang="zh-CN" altLang="en-US" sz="4800" b="1" dirty="0">
              <a:solidFill>
                <a:srgbClr val="990033"/>
              </a:solidFill>
              <a:ea typeface="隶书" panose="02010509060101010101" pitchFamily="49" charset="-122"/>
            </a:endParaRPr>
          </a:p>
        </p:txBody>
      </p:sp>
      <p:grpSp>
        <p:nvGrpSpPr>
          <p:cNvPr id="2" name="Group 188"/>
          <p:cNvGrpSpPr/>
          <p:nvPr/>
        </p:nvGrpSpPr>
        <p:grpSpPr>
          <a:xfrm>
            <a:off x="609600" y="1752600"/>
            <a:ext cx="7620000" cy="4648200"/>
            <a:chOff x="384" y="1104"/>
            <a:chExt cx="4800" cy="2640"/>
          </a:xfrm>
        </p:grpSpPr>
        <p:sp>
          <p:nvSpPr>
            <p:cNvPr id="74813" name="Rectangle 4"/>
            <p:cNvSpPr/>
            <p:nvPr/>
          </p:nvSpPr>
          <p:spPr>
            <a:xfrm>
              <a:off x="384" y="1104"/>
              <a:ext cx="4800" cy="2640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74814" name="Text Box 6"/>
            <p:cNvSpPr txBox="1"/>
            <p:nvPr/>
          </p:nvSpPr>
          <p:spPr>
            <a:xfrm>
              <a:off x="476" y="1166"/>
              <a:ext cx="892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最小项：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61450" name="Text Box 10"/>
          <p:cNvSpPr txBox="1"/>
          <p:nvPr/>
        </p:nvSpPr>
        <p:spPr>
          <a:xfrm>
            <a:off x="1905000" y="3124200"/>
            <a:ext cx="4732338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个变量有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400" b="1" baseline="30000" dirty="0">
                <a:solidFill>
                  <a:schemeClr val="accent2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个最小项，记作</a:t>
            </a:r>
            <a:r>
              <a:rPr lang="en-US" altLang="zh-CN" sz="2400" b="1" dirty="0">
                <a:latin typeface="宋体" panose="02010600030101010101" pitchFamily="2" charset="-122"/>
              </a:rPr>
              <a:t>m</a:t>
            </a:r>
            <a:r>
              <a:rPr lang="en-US" altLang="zh-CN" sz="2400" b="1" baseline="-25000" dirty="0">
                <a:solidFill>
                  <a:srgbClr val="FF0000"/>
                </a:solidFill>
                <a:latin typeface="宋体" panose="02010600030101010101" pitchFamily="2" charset="-122"/>
              </a:rPr>
              <a:t>i</a:t>
            </a:r>
            <a:endParaRPr lang="en-US" altLang="zh-CN" sz="2400" b="1" baseline="-25000" dirty="0">
              <a:latin typeface="宋体" panose="02010600030101010101" pitchFamily="2" charset="-122"/>
            </a:endParaRPr>
          </a:p>
        </p:txBody>
      </p:sp>
      <p:sp>
        <p:nvSpPr>
          <p:cNvPr id="61573" name="Text Box 133"/>
          <p:cNvSpPr txBox="1"/>
          <p:nvPr/>
        </p:nvSpPr>
        <p:spPr>
          <a:xfrm>
            <a:off x="1981200" y="3581400"/>
            <a:ext cx="41148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个变量有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400" b="1" baseline="30000" dirty="0">
                <a:solidFill>
                  <a:schemeClr val="accent2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8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sz="2400" b="1" dirty="0">
                <a:latin typeface="宋体" panose="02010600030101010101" pitchFamily="2" charset="-122"/>
              </a:rPr>
              <a:t>个最小项</a:t>
            </a:r>
            <a:endParaRPr lang="zh-CN" altLang="en-US" sz="2400" b="1" baseline="-25000" dirty="0">
              <a:latin typeface="宋体" panose="02010600030101010101" pitchFamily="2" charset="-122"/>
            </a:endParaRPr>
          </a:p>
        </p:txBody>
      </p:sp>
      <p:graphicFrame>
        <p:nvGraphicFramePr>
          <p:cNvPr id="61574" name="Object 134"/>
          <p:cNvGraphicFramePr>
            <a:graphicFrameLocks noChangeAspect="1"/>
          </p:cNvGraphicFramePr>
          <p:nvPr/>
        </p:nvGraphicFramePr>
        <p:xfrm>
          <a:off x="2133600" y="4271963"/>
          <a:ext cx="64135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1" imgW="368300" imgH="215900" progId="Equation.3">
                  <p:embed/>
                </p:oleObj>
              </mc:Choice>
              <mc:Fallback>
                <p:oleObj name="" r:id="rId1" imgW="368300" imgH="2159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33600" y="4271963"/>
                        <a:ext cx="641350" cy="373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75" name="Object 135"/>
          <p:cNvGraphicFramePr>
            <a:graphicFrameLocks noChangeAspect="1"/>
          </p:cNvGraphicFramePr>
          <p:nvPr/>
        </p:nvGraphicFramePr>
        <p:xfrm>
          <a:off x="2870200" y="4260850"/>
          <a:ext cx="6350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3" imgW="355600" imgH="215900" progId="Equation.3">
                  <p:embed/>
                </p:oleObj>
              </mc:Choice>
              <mc:Fallback>
                <p:oleObj name="" r:id="rId3" imgW="355600" imgH="215900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70200" y="4260850"/>
                        <a:ext cx="635000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83" name="Text Box 143"/>
          <p:cNvSpPr txBox="1"/>
          <p:nvPr/>
        </p:nvSpPr>
        <p:spPr>
          <a:xfrm>
            <a:off x="2190750" y="5715000"/>
            <a:ext cx="438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m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0</a:t>
            </a:r>
            <a:endParaRPr lang="en-US" altLang="zh-CN" sz="2400" baseline="-25000" dirty="0">
              <a:latin typeface="宋体" panose="02010600030101010101" pitchFamily="2" charset="-122"/>
            </a:endParaRPr>
          </a:p>
        </p:txBody>
      </p:sp>
      <p:sp>
        <p:nvSpPr>
          <p:cNvPr id="61584" name="Text Box 144"/>
          <p:cNvSpPr txBox="1"/>
          <p:nvPr/>
        </p:nvSpPr>
        <p:spPr>
          <a:xfrm>
            <a:off x="3028950" y="5715000"/>
            <a:ext cx="438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m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</a:t>
            </a:r>
            <a:endParaRPr lang="en-US" altLang="zh-CN" sz="2400" baseline="-25000" dirty="0">
              <a:latin typeface="宋体" panose="02010600030101010101" pitchFamily="2" charset="-122"/>
            </a:endParaRPr>
          </a:p>
        </p:txBody>
      </p:sp>
      <p:sp>
        <p:nvSpPr>
          <p:cNvPr id="61591" name="Text Box 151"/>
          <p:cNvSpPr txBox="1"/>
          <p:nvPr/>
        </p:nvSpPr>
        <p:spPr>
          <a:xfrm>
            <a:off x="2101850" y="4724400"/>
            <a:ext cx="641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000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61592" name="Text Box 152"/>
          <p:cNvSpPr txBox="1"/>
          <p:nvPr/>
        </p:nvSpPr>
        <p:spPr>
          <a:xfrm>
            <a:off x="2863850" y="4724400"/>
            <a:ext cx="641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001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61599" name="Text Box 159"/>
          <p:cNvSpPr txBox="1"/>
          <p:nvPr/>
        </p:nvSpPr>
        <p:spPr>
          <a:xfrm>
            <a:off x="2286000" y="52578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61601" name="Text Box 161"/>
          <p:cNvSpPr txBox="1"/>
          <p:nvPr/>
        </p:nvSpPr>
        <p:spPr>
          <a:xfrm>
            <a:off x="3016250" y="52578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grpSp>
        <p:nvGrpSpPr>
          <p:cNvPr id="3" name="Group 187"/>
          <p:cNvGrpSpPr/>
          <p:nvPr/>
        </p:nvGrpSpPr>
        <p:grpSpPr>
          <a:xfrm>
            <a:off x="3657600" y="4260850"/>
            <a:ext cx="4419600" cy="1911350"/>
            <a:chOff x="2304" y="2396"/>
            <a:chExt cx="2784" cy="1204"/>
          </a:xfrm>
        </p:grpSpPr>
        <p:graphicFrame>
          <p:nvGraphicFramePr>
            <p:cNvPr id="74789" name="Object 136"/>
            <p:cNvGraphicFramePr>
              <a:graphicFrameLocks noChangeAspect="1"/>
            </p:cNvGraphicFramePr>
            <p:nvPr/>
          </p:nvGraphicFramePr>
          <p:xfrm>
            <a:off x="2304" y="2398"/>
            <a:ext cx="38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4" name="" r:id="rId5" imgW="355600" imgH="215900" progId="Equation.3">
                    <p:embed/>
                  </p:oleObj>
                </mc:Choice>
                <mc:Fallback>
                  <p:oleObj name="" r:id="rId5" imgW="355600" imgH="215900" progId="Equation.3">
                    <p:embed/>
                    <p:pic>
                      <p:nvPicPr>
                        <p:cNvPr id="0" name="图片 315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04" y="2398"/>
                          <a:ext cx="384" cy="2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790" name="Object 137"/>
            <p:cNvGraphicFramePr>
              <a:graphicFrameLocks noChangeAspect="1"/>
            </p:cNvGraphicFramePr>
            <p:nvPr/>
          </p:nvGraphicFramePr>
          <p:xfrm>
            <a:off x="2784" y="2398"/>
            <a:ext cx="400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2" name="" r:id="rId7" imgW="355600" imgH="215900" progId="Equation.3">
                    <p:embed/>
                  </p:oleObj>
                </mc:Choice>
                <mc:Fallback>
                  <p:oleObj name="" r:id="rId7" imgW="355600" imgH="215900" progId="Equation.3">
                    <p:embed/>
                    <p:pic>
                      <p:nvPicPr>
                        <p:cNvPr id="0" name="图片 315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784" y="2398"/>
                          <a:ext cx="400" cy="2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791" name="Object 138"/>
            <p:cNvGraphicFramePr>
              <a:graphicFrameLocks noChangeAspect="1"/>
            </p:cNvGraphicFramePr>
            <p:nvPr/>
          </p:nvGraphicFramePr>
          <p:xfrm>
            <a:off x="3244" y="2398"/>
            <a:ext cx="356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1" name="" r:id="rId9" imgW="368300" imgH="215900" progId="Equation.3">
                    <p:embed/>
                  </p:oleObj>
                </mc:Choice>
                <mc:Fallback>
                  <p:oleObj name="" r:id="rId9" imgW="368300" imgH="215900" progId="Equation.3">
                    <p:embed/>
                    <p:pic>
                      <p:nvPicPr>
                        <p:cNvPr id="0" name="图片 3150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244" y="2398"/>
                          <a:ext cx="356" cy="2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792" name="Object 139"/>
            <p:cNvGraphicFramePr>
              <a:graphicFrameLocks noChangeAspect="1"/>
            </p:cNvGraphicFramePr>
            <p:nvPr/>
          </p:nvGraphicFramePr>
          <p:xfrm>
            <a:off x="3744" y="2396"/>
            <a:ext cx="400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6" name="" r:id="rId11" imgW="355600" imgH="215900" progId="Equation.3">
                    <p:embed/>
                  </p:oleObj>
                </mc:Choice>
                <mc:Fallback>
                  <p:oleObj name="" r:id="rId11" imgW="355600" imgH="215900" progId="Equation.3">
                    <p:embed/>
                    <p:pic>
                      <p:nvPicPr>
                        <p:cNvPr id="0" name="图片 3155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744" y="2396"/>
                          <a:ext cx="400" cy="2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793" name="Object 140"/>
            <p:cNvGraphicFramePr>
              <a:graphicFrameLocks noChangeAspect="1"/>
            </p:cNvGraphicFramePr>
            <p:nvPr/>
          </p:nvGraphicFramePr>
          <p:xfrm>
            <a:off x="4224" y="2398"/>
            <a:ext cx="400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5" name="" r:id="rId13" imgW="355600" imgH="215900" progId="Equation.3">
                    <p:embed/>
                  </p:oleObj>
                </mc:Choice>
                <mc:Fallback>
                  <p:oleObj name="" r:id="rId13" imgW="355600" imgH="215900" progId="Equation.3">
                    <p:embed/>
                    <p:pic>
                      <p:nvPicPr>
                        <p:cNvPr id="0" name="图片 3154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224" y="2398"/>
                          <a:ext cx="400" cy="2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794" name="Object 141"/>
            <p:cNvGraphicFramePr>
              <a:graphicFrameLocks noChangeAspect="1"/>
            </p:cNvGraphicFramePr>
            <p:nvPr/>
          </p:nvGraphicFramePr>
          <p:xfrm>
            <a:off x="4628" y="2431"/>
            <a:ext cx="460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3" name="" r:id="rId15" imgW="393065" imgH="177800" progId="Equation.3">
                    <p:embed/>
                  </p:oleObj>
                </mc:Choice>
                <mc:Fallback>
                  <p:oleObj name="" r:id="rId15" imgW="393065" imgH="177800" progId="Equation.3">
                    <p:embed/>
                    <p:pic>
                      <p:nvPicPr>
                        <p:cNvPr id="0" name="图片 3152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628" y="2431"/>
                          <a:ext cx="460" cy="2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4795" name="Text Box 145"/>
            <p:cNvSpPr txBox="1"/>
            <p:nvPr/>
          </p:nvSpPr>
          <p:spPr>
            <a:xfrm>
              <a:off x="2352" y="3312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m</a:t>
              </a:r>
              <a:r>
                <a:rPr lang="en-US" altLang="zh-CN" sz="2400" b="1" baseline="-25000" dirty="0">
                  <a:latin typeface="宋体" panose="02010600030101010101" pitchFamily="2" charset="-122"/>
                </a:rPr>
                <a:t>2</a:t>
              </a:r>
              <a:endParaRPr lang="en-US" altLang="zh-CN" sz="2400" baseline="-25000" dirty="0">
                <a:latin typeface="宋体" panose="02010600030101010101" pitchFamily="2" charset="-122"/>
              </a:endParaRPr>
            </a:p>
          </p:txBody>
        </p:sp>
        <p:sp>
          <p:nvSpPr>
            <p:cNvPr id="74796" name="Text Box 146"/>
            <p:cNvSpPr txBox="1"/>
            <p:nvPr/>
          </p:nvSpPr>
          <p:spPr>
            <a:xfrm>
              <a:off x="2844" y="3312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m</a:t>
              </a:r>
              <a:r>
                <a:rPr lang="en-US" altLang="zh-CN" sz="2400" b="1" baseline="-25000" dirty="0">
                  <a:latin typeface="宋体" panose="02010600030101010101" pitchFamily="2" charset="-122"/>
                </a:rPr>
                <a:t>3</a:t>
              </a:r>
              <a:endParaRPr lang="en-US" altLang="zh-CN" sz="2400" baseline="-25000" dirty="0">
                <a:latin typeface="宋体" panose="02010600030101010101" pitchFamily="2" charset="-122"/>
              </a:endParaRPr>
            </a:p>
          </p:txBody>
        </p:sp>
        <p:sp>
          <p:nvSpPr>
            <p:cNvPr id="74797" name="Text Box 147"/>
            <p:cNvSpPr txBox="1"/>
            <p:nvPr/>
          </p:nvSpPr>
          <p:spPr>
            <a:xfrm>
              <a:off x="3348" y="3312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m</a:t>
              </a:r>
              <a:r>
                <a:rPr lang="en-US" altLang="zh-CN" sz="2400" b="1" baseline="-25000" dirty="0">
                  <a:latin typeface="宋体" panose="02010600030101010101" pitchFamily="2" charset="-122"/>
                </a:rPr>
                <a:t>4</a:t>
              </a:r>
              <a:endParaRPr lang="en-US" altLang="zh-CN" sz="2400" baseline="-25000" dirty="0">
                <a:latin typeface="宋体" panose="02010600030101010101" pitchFamily="2" charset="-122"/>
              </a:endParaRPr>
            </a:p>
          </p:txBody>
        </p:sp>
        <p:sp>
          <p:nvSpPr>
            <p:cNvPr id="74798" name="Text Box 148"/>
            <p:cNvSpPr txBox="1"/>
            <p:nvPr/>
          </p:nvSpPr>
          <p:spPr>
            <a:xfrm>
              <a:off x="3792" y="3312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m</a:t>
              </a:r>
              <a:r>
                <a:rPr lang="en-US" altLang="zh-CN" sz="2400" b="1" baseline="-25000" dirty="0">
                  <a:latin typeface="宋体" panose="02010600030101010101" pitchFamily="2" charset="-122"/>
                </a:rPr>
                <a:t>5</a:t>
              </a:r>
              <a:endParaRPr lang="en-US" altLang="zh-CN" sz="2400" baseline="-25000" dirty="0">
                <a:latin typeface="宋体" panose="02010600030101010101" pitchFamily="2" charset="-122"/>
              </a:endParaRPr>
            </a:p>
          </p:txBody>
        </p:sp>
        <p:sp>
          <p:nvSpPr>
            <p:cNvPr id="74799" name="Text Box 149"/>
            <p:cNvSpPr txBox="1"/>
            <p:nvPr/>
          </p:nvSpPr>
          <p:spPr>
            <a:xfrm>
              <a:off x="4320" y="3312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m</a:t>
              </a:r>
              <a:r>
                <a:rPr lang="en-US" altLang="zh-CN" sz="2400" b="1" baseline="-25000" dirty="0">
                  <a:latin typeface="宋体" panose="02010600030101010101" pitchFamily="2" charset="-122"/>
                </a:rPr>
                <a:t>6</a:t>
              </a:r>
              <a:endParaRPr lang="en-US" altLang="zh-CN" sz="2400" baseline="-25000" dirty="0">
                <a:latin typeface="宋体" panose="02010600030101010101" pitchFamily="2" charset="-122"/>
              </a:endParaRPr>
            </a:p>
          </p:txBody>
        </p:sp>
        <p:sp>
          <p:nvSpPr>
            <p:cNvPr id="74800" name="Text Box 150"/>
            <p:cNvSpPr txBox="1"/>
            <p:nvPr/>
          </p:nvSpPr>
          <p:spPr>
            <a:xfrm>
              <a:off x="4752" y="3312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m</a:t>
              </a:r>
              <a:r>
                <a:rPr lang="en-US" altLang="zh-CN" sz="2400" b="1" baseline="-25000" dirty="0">
                  <a:latin typeface="宋体" panose="02010600030101010101" pitchFamily="2" charset="-122"/>
                </a:rPr>
                <a:t>7</a:t>
              </a:r>
              <a:endParaRPr lang="en-US" altLang="zh-CN" sz="2400" baseline="-25000" dirty="0">
                <a:latin typeface="宋体" panose="02010600030101010101" pitchFamily="2" charset="-122"/>
              </a:endParaRPr>
            </a:p>
          </p:txBody>
        </p:sp>
        <p:sp>
          <p:nvSpPr>
            <p:cNvPr id="74801" name="Text Box 153"/>
            <p:cNvSpPr txBox="1"/>
            <p:nvPr/>
          </p:nvSpPr>
          <p:spPr>
            <a:xfrm>
              <a:off x="2304" y="2688"/>
              <a:ext cx="4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010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4802" name="Text Box 154"/>
            <p:cNvSpPr txBox="1"/>
            <p:nvPr/>
          </p:nvSpPr>
          <p:spPr>
            <a:xfrm>
              <a:off x="2764" y="2688"/>
              <a:ext cx="4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011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4803" name="Text Box 155"/>
            <p:cNvSpPr txBox="1"/>
            <p:nvPr/>
          </p:nvSpPr>
          <p:spPr>
            <a:xfrm>
              <a:off x="3244" y="2688"/>
              <a:ext cx="4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100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4804" name="Text Box 156"/>
            <p:cNvSpPr txBox="1"/>
            <p:nvPr/>
          </p:nvSpPr>
          <p:spPr>
            <a:xfrm>
              <a:off x="3724" y="2688"/>
              <a:ext cx="4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101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4805" name="Text Box 157"/>
            <p:cNvSpPr txBox="1"/>
            <p:nvPr/>
          </p:nvSpPr>
          <p:spPr>
            <a:xfrm>
              <a:off x="4252" y="2688"/>
              <a:ext cx="4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110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4806" name="Text Box 158"/>
            <p:cNvSpPr txBox="1"/>
            <p:nvPr/>
          </p:nvSpPr>
          <p:spPr>
            <a:xfrm>
              <a:off x="4684" y="2688"/>
              <a:ext cx="4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111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4807" name="Text Box 162"/>
            <p:cNvSpPr txBox="1"/>
            <p:nvPr/>
          </p:nvSpPr>
          <p:spPr>
            <a:xfrm>
              <a:off x="2380" y="302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2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4808" name="Text Box 163"/>
            <p:cNvSpPr txBox="1"/>
            <p:nvPr/>
          </p:nvSpPr>
          <p:spPr>
            <a:xfrm>
              <a:off x="2860" y="302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3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4809" name="Text Box 164"/>
            <p:cNvSpPr txBox="1"/>
            <p:nvPr/>
          </p:nvSpPr>
          <p:spPr>
            <a:xfrm>
              <a:off x="3388" y="302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4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4810" name="Text Box 165"/>
            <p:cNvSpPr txBox="1"/>
            <p:nvPr/>
          </p:nvSpPr>
          <p:spPr>
            <a:xfrm>
              <a:off x="3820" y="302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5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4811" name="Text Box 166"/>
            <p:cNvSpPr txBox="1"/>
            <p:nvPr/>
          </p:nvSpPr>
          <p:spPr>
            <a:xfrm>
              <a:off x="4320" y="302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6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4812" name="Text Box 167"/>
            <p:cNvSpPr txBox="1"/>
            <p:nvPr/>
          </p:nvSpPr>
          <p:spPr>
            <a:xfrm>
              <a:off x="4752" y="302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7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sp>
        <p:nvSpPr>
          <p:cNvPr id="61609" name="Text Box 169"/>
          <p:cNvSpPr txBox="1"/>
          <p:nvPr/>
        </p:nvSpPr>
        <p:spPr>
          <a:xfrm>
            <a:off x="2133600" y="1784350"/>
            <a:ext cx="5791200" cy="11874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个变量的逻辑函数中，包括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全部</a:t>
            </a:r>
            <a:r>
              <a:rPr lang="en-US" altLang="zh-CN" sz="2400" b="1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个变量的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乘积项</a:t>
            </a:r>
            <a:r>
              <a:rPr lang="zh-CN" altLang="en-US" sz="2400" b="1" dirty="0">
                <a:latin typeface="宋体" panose="02010600030101010101" pitchFamily="2" charset="-122"/>
              </a:rPr>
              <a:t>（每个变量必须而且只能以原变量或反变量的形式出现一次）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61443" name="Text Box 3"/>
          <p:cNvSpPr txBox="1"/>
          <p:nvPr/>
        </p:nvSpPr>
        <p:spPr>
          <a:xfrm>
            <a:off x="669925" y="1157288"/>
            <a:ext cx="31400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chemeClr val="tx2"/>
                </a:solidFill>
                <a:sym typeface="Symbol" panose="05050102010706020507" pitchFamily="18" charset="2"/>
              </a:rPr>
              <a:t>一、 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最小项</a:t>
            </a:r>
            <a:r>
              <a:rPr lang="zh-CN" altLang="en-US" sz="2400" b="1" dirty="0">
                <a:latin typeface="宋体" panose="02010600030101010101" pitchFamily="2" charset="-122"/>
              </a:rPr>
              <a:t>和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最大项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4" name="Group 173"/>
          <p:cNvGrpSpPr/>
          <p:nvPr/>
        </p:nvGrpSpPr>
        <p:grpSpPr>
          <a:xfrm>
            <a:off x="1946275" y="609600"/>
            <a:ext cx="1101725" cy="609600"/>
            <a:chOff x="554" y="288"/>
            <a:chExt cx="694" cy="384"/>
          </a:xfrm>
        </p:grpSpPr>
        <p:sp>
          <p:nvSpPr>
            <p:cNvPr id="74787" name="AutoShape 170"/>
            <p:cNvSpPr/>
            <p:nvPr/>
          </p:nvSpPr>
          <p:spPr>
            <a:xfrm>
              <a:off x="576" y="288"/>
              <a:ext cx="672" cy="384"/>
            </a:xfrm>
            <a:prstGeom prst="wedgeRoundRectCallout">
              <a:avLst>
                <a:gd name="adj1" fmla="val -43750"/>
                <a:gd name="adj2" fmla="val 70000"/>
                <a:gd name="adj3" fmla="val 16667"/>
              </a:avLst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74788" name="Text Box 171"/>
            <p:cNvSpPr txBox="1"/>
            <p:nvPr/>
          </p:nvSpPr>
          <p:spPr>
            <a:xfrm>
              <a:off x="554" y="336"/>
              <a:ext cx="694" cy="28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乘积项</a:t>
              </a:r>
              <a:endParaRPr lang="zh-CN" altLang="en-US" sz="20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5" name="Group 174"/>
          <p:cNvGrpSpPr/>
          <p:nvPr/>
        </p:nvGrpSpPr>
        <p:grpSpPr>
          <a:xfrm>
            <a:off x="3200400" y="609600"/>
            <a:ext cx="1066800" cy="609600"/>
            <a:chOff x="576" y="288"/>
            <a:chExt cx="672" cy="384"/>
          </a:xfrm>
        </p:grpSpPr>
        <p:sp>
          <p:nvSpPr>
            <p:cNvPr id="74785" name="AutoShape 175"/>
            <p:cNvSpPr/>
            <p:nvPr/>
          </p:nvSpPr>
          <p:spPr>
            <a:xfrm>
              <a:off x="576" y="288"/>
              <a:ext cx="672" cy="384"/>
            </a:xfrm>
            <a:prstGeom prst="wedgeRoundRectCallout">
              <a:avLst>
                <a:gd name="adj1" fmla="val -43750"/>
                <a:gd name="adj2" fmla="val 70000"/>
                <a:gd name="adj3" fmla="val 16667"/>
              </a:avLst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74786" name="Text Box 176"/>
            <p:cNvSpPr txBox="1"/>
            <p:nvPr/>
          </p:nvSpPr>
          <p:spPr>
            <a:xfrm>
              <a:off x="653" y="336"/>
              <a:ext cx="496" cy="28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和项</a:t>
              </a:r>
              <a:endParaRPr lang="zh-CN" altLang="en-US" sz="20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61617" name="Text Box 177"/>
          <p:cNvSpPr txBox="1"/>
          <p:nvPr/>
        </p:nvSpPr>
        <p:spPr>
          <a:xfrm>
            <a:off x="679450" y="4267200"/>
            <a:ext cx="11080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最小项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61618" name="Text Box 178"/>
          <p:cNvSpPr txBox="1"/>
          <p:nvPr/>
        </p:nvSpPr>
        <p:spPr>
          <a:xfrm>
            <a:off x="654050" y="4724400"/>
            <a:ext cx="14160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二进制数</a:t>
            </a:r>
            <a:endParaRPr lang="zh-CN" altLang="en-US" sz="2000" b="1" dirty="0">
              <a:solidFill>
                <a:schemeClr val="tx2"/>
              </a:solidFill>
            </a:endParaRPr>
          </a:p>
        </p:txBody>
      </p:sp>
      <p:sp>
        <p:nvSpPr>
          <p:cNvPr id="61619" name="Text Box 179"/>
          <p:cNvSpPr txBox="1"/>
          <p:nvPr/>
        </p:nvSpPr>
        <p:spPr>
          <a:xfrm>
            <a:off x="654050" y="5181600"/>
            <a:ext cx="14160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十进制数</a:t>
            </a:r>
            <a:endParaRPr lang="zh-CN" altLang="en-US" sz="2000" b="1" dirty="0">
              <a:solidFill>
                <a:schemeClr val="tx2"/>
              </a:solidFill>
            </a:endParaRPr>
          </a:p>
        </p:txBody>
      </p:sp>
      <p:sp>
        <p:nvSpPr>
          <p:cNvPr id="61620" name="Text Box 180"/>
          <p:cNvSpPr txBox="1"/>
          <p:nvPr/>
        </p:nvSpPr>
        <p:spPr>
          <a:xfrm>
            <a:off x="682625" y="5715000"/>
            <a:ext cx="8001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编号</a:t>
            </a:r>
            <a:endParaRPr lang="zh-CN" altLang="en-US" sz="2000" b="1" dirty="0">
              <a:solidFill>
                <a:schemeClr val="tx2"/>
              </a:solidFill>
            </a:endParaRPr>
          </a:p>
        </p:txBody>
      </p:sp>
      <p:sp>
        <p:nvSpPr>
          <p:cNvPr id="61621" name="Line 181"/>
          <p:cNvSpPr/>
          <p:nvPr/>
        </p:nvSpPr>
        <p:spPr>
          <a:xfrm>
            <a:off x="2438400" y="4572000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622" name="Line 182"/>
          <p:cNvSpPr/>
          <p:nvPr/>
        </p:nvSpPr>
        <p:spPr>
          <a:xfrm>
            <a:off x="2438400" y="5105400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623" name="Line 183"/>
          <p:cNvSpPr/>
          <p:nvPr/>
        </p:nvSpPr>
        <p:spPr>
          <a:xfrm>
            <a:off x="2438400" y="5638800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624" name="Line 184"/>
          <p:cNvSpPr/>
          <p:nvPr/>
        </p:nvSpPr>
        <p:spPr>
          <a:xfrm>
            <a:off x="3200400" y="4572000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625" name="Line 185"/>
          <p:cNvSpPr/>
          <p:nvPr/>
        </p:nvSpPr>
        <p:spPr>
          <a:xfrm>
            <a:off x="3200400" y="5105400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626" name="Line 186"/>
          <p:cNvSpPr/>
          <p:nvPr/>
        </p:nvSpPr>
        <p:spPr>
          <a:xfrm>
            <a:off x="3200400" y="5638800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6" name="Group 20"/>
          <p:cNvGrpSpPr/>
          <p:nvPr/>
        </p:nvGrpSpPr>
        <p:grpSpPr>
          <a:xfrm>
            <a:off x="5410200" y="1600200"/>
            <a:ext cx="3657600" cy="1447800"/>
            <a:chOff x="3600" y="480"/>
            <a:chExt cx="2304" cy="912"/>
          </a:xfrm>
        </p:grpSpPr>
        <p:sp>
          <p:nvSpPr>
            <p:cNvPr id="74783" name="AutoShape 11"/>
            <p:cNvSpPr/>
            <p:nvPr/>
          </p:nvSpPr>
          <p:spPr>
            <a:xfrm>
              <a:off x="3600" y="480"/>
              <a:ext cx="2304" cy="912"/>
            </a:xfrm>
            <a:prstGeom prst="wedgeRectCallout">
              <a:avLst>
                <a:gd name="adj1" fmla="val -26171"/>
                <a:gd name="adj2" fmla="val 76315"/>
              </a:avLst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4784" name="Text Box 19"/>
            <p:cNvSpPr txBox="1"/>
            <p:nvPr/>
          </p:nvSpPr>
          <p:spPr>
            <a:xfrm>
              <a:off x="3648" y="576"/>
              <a:ext cx="2112" cy="74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最小项编号</a:t>
              </a:r>
              <a:r>
                <a:rPr lang="en-US" altLang="en-US" sz="24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i-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各输入变量</a:t>
              </a:r>
              <a:r>
                <a:rPr lang="zh-CN" altLang="en-US" sz="24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取值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看成</a:t>
              </a:r>
              <a:r>
                <a:rPr lang="zh-CN" altLang="en-US" sz="24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二进制数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，对应的</a:t>
              </a:r>
              <a:r>
                <a:rPr lang="zh-CN" altLang="en-US" sz="24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十进制数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61630" name="Oval 190" descr="75%"/>
          <p:cNvSpPr/>
          <p:nvPr/>
        </p:nvSpPr>
        <p:spPr>
          <a:xfrm>
            <a:off x="6172200" y="3352800"/>
            <a:ext cx="152400" cy="228600"/>
          </a:xfrm>
          <a:prstGeom prst="ellipse">
            <a:avLst/>
          </a:prstGeom>
          <a:noFill/>
          <a:ln w="38100" cap="flat" cmpd="sng">
            <a:solidFill>
              <a:srgbClr val="993300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1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16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16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1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1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1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6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1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1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6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61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1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6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61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61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6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61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61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 animBg="1"/>
      <p:bldP spid="61450" grpId="0"/>
      <p:bldP spid="61573" grpId="0"/>
      <p:bldP spid="61583" grpId="0"/>
      <p:bldP spid="61584" grpId="0"/>
      <p:bldP spid="61591" grpId="0"/>
      <p:bldP spid="61592" grpId="0"/>
      <p:bldP spid="61599" grpId="0"/>
      <p:bldP spid="61601" grpId="0"/>
      <p:bldP spid="61609" grpId="0"/>
      <p:bldP spid="61443" grpId="0"/>
      <p:bldP spid="61617" grpId="0"/>
      <p:bldP spid="61618" grpId="0"/>
      <p:bldP spid="61619" grpId="0"/>
      <p:bldP spid="61620" grpId="0"/>
      <p:bldP spid="6163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81" name="Text Box 17"/>
          <p:cNvSpPr txBox="1"/>
          <p:nvPr/>
        </p:nvSpPr>
        <p:spPr>
          <a:xfrm>
            <a:off x="501650" y="42672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0  0  1</a:t>
            </a:r>
            <a:endParaRPr lang="en-US" altLang="zh-CN" sz="2400" dirty="0">
              <a:solidFill>
                <a:schemeClr val="tx2"/>
              </a:solidFill>
            </a:endParaRPr>
          </a:p>
        </p:txBody>
      </p:sp>
      <p:sp>
        <p:nvSpPr>
          <p:cNvPr id="62478" name="Text Box 14"/>
          <p:cNvSpPr txBox="1"/>
          <p:nvPr/>
        </p:nvSpPr>
        <p:spPr>
          <a:xfrm>
            <a:off x="454025" y="32766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A B C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  <p:sp>
        <p:nvSpPr>
          <p:cNvPr id="62480" name="Text Box 16"/>
          <p:cNvSpPr txBox="1"/>
          <p:nvPr/>
        </p:nvSpPr>
        <p:spPr>
          <a:xfrm>
            <a:off x="501650" y="39624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0  0  0</a:t>
            </a:r>
            <a:endParaRPr lang="en-US" altLang="zh-CN" sz="2400" dirty="0">
              <a:solidFill>
                <a:schemeClr val="tx2"/>
              </a:solidFill>
            </a:endParaRPr>
          </a:p>
        </p:txBody>
      </p:sp>
      <p:grpSp>
        <p:nvGrpSpPr>
          <p:cNvPr id="2" name="Group 145"/>
          <p:cNvGrpSpPr/>
          <p:nvPr/>
        </p:nvGrpSpPr>
        <p:grpSpPr>
          <a:xfrm>
            <a:off x="381000" y="3048000"/>
            <a:ext cx="8382000" cy="3581400"/>
            <a:chOff x="240" y="1776"/>
            <a:chExt cx="5280" cy="2256"/>
          </a:xfrm>
        </p:grpSpPr>
        <p:sp>
          <p:nvSpPr>
            <p:cNvPr id="75888" name="Line 27"/>
            <p:cNvSpPr/>
            <p:nvPr/>
          </p:nvSpPr>
          <p:spPr>
            <a:xfrm>
              <a:off x="2880" y="1776"/>
              <a:ext cx="0" cy="22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89" name="Line 3"/>
            <p:cNvSpPr/>
            <p:nvPr/>
          </p:nvSpPr>
          <p:spPr>
            <a:xfrm>
              <a:off x="240" y="2352"/>
              <a:ext cx="52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90" name="Rectangle 2"/>
            <p:cNvSpPr/>
            <p:nvPr/>
          </p:nvSpPr>
          <p:spPr>
            <a:xfrm>
              <a:off x="240" y="1776"/>
              <a:ext cx="5280" cy="2256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75891" name="Line 4"/>
            <p:cNvSpPr/>
            <p:nvPr/>
          </p:nvSpPr>
          <p:spPr>
            <a:xfrm>
              <a:off x="960" y="1824"/>
              <a:ext cx="0" cy="2208"/>
            </a:xfrm>
            <a:prstGeom prst="line">
              <a:avLst/>
            </a:prstGeom>
            <a:ln w="57150" cap="flat" cmpd="thinThick">
              <a:solidFill>
                <a:srgbClr val="33CC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92" name="Line 5"/>
            <p:cNvSpPr/>
            <p:nvPr/>
          </p:nvSpPr>
          <p:spPr>
            <a:xfrm>
              <a:off x="960" y="2064"/>
              <a:ext cx="38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93" name="Line 6"/>
            <p:cNvSpPr/>
            <p:nvPr/>
          </p:nvSpPr>
          <p:spPr>
            <a:xfrm>
              <a:off x="1440" y="1776"/>
              <a:ext cx="0" cy="22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94" name="Line 7"/>
            <p:cNvSpPr/>
            <p:nvPr/>
          </p:nvSpPr>
          <p:spPr>
            <a:xfrm>
              <a:off x="1920" y="1776"/>
              <a:ext cx="0" cy="22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95" name="Line 13"/>
            <p:cNvSpPr/>
            <p:nvPr/>
          </p:nvSpPr>
          <p:spPr>
            <a:xfrm>
              <a:off x="4800" y="1776"/>
              <a:ext cx="0" cy="2256"/>
            </a:xfrm>
            <a:prstGeom prst="line">
              <a:avLst/>
            </a:prstGeom>
            <a:ln w="57150" cap="flat" cmpd="thinThick">
              <a:solidFill>
                <a:srgbClr val="33CCC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96" name="Line 26"/>
            <p:cNvSpPr/>
            <p:nvPr/>
          </p:nvSpPr>
          <p:spPr>
            <a:xfrm>
              <a:off x="2400" y="1776"/>
              <a:ext cx="0" cy="22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97" name="Line 28"/>
            <p:cNvSpPr/>
            <p:nvPr/>
          </p:nvSpPr>
          <p:spPr>
            <a:xfrm>
              <a:off x="3360" y="1776"/>
              <a:ext cx="0" cy="22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98" name="Line 29"/>
            <p:cNvSpPr/>
            <p:nvPr/>
          </p:nvSpPr>
          <p:spPr>
            <a:xfrm>
              <a:off x="3840" y="1776"/>
              <a:ext cx="0" cy="22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99" name="Line 30"/>
            <p:cNvSpPr/>
            <p:nvPr/>
          </p:nvSpPr>
          <p:spPr>
            <a:xfrm>
              <a:off x="4320" y="1776"/>
              <a:ext cx="0" cy="22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147"/>
          <p:cNvGrpSpPr/>
          <p:nvPr/>
        </p:nvGrpSpPr>
        <p:grpSpPr>
          <a:xfrm>
            <a:off x="1600200" y="3048000"/>
            <a:ext cx="5943600" cy="917575"/>
            <a:chOff x="1008" y="1776"/>
            <a:chExt cx="3744" cy="578"/>
          </a:xfrm>
        </p:grpSpPr>
        <p:sp>
          <p:nvSpPr>
            <p:cNvPr id="75872" name="Text Box 24"/>
            <p:cNvSpPr txBox="1"/>
            <p:nvPr/>
          </p:nvSpPr>
          <p:spPr>
            <a:xfrm>
              <a:off x="1056" y="1776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m</a:t>
              </a:r>
              <a:r>
                <a:rPr lang="en-US" altLang="zh-CN" sz="2400" b="1" baseline="-25000" dirty="0">
                  <a:latin typeface="宋体" panose="02010600030101010101" pitchFamily="2" charset="-122"/>
                </a:rPr>
                <a:t>0</a:t>
              </a:r>
              <a:endParaRPr lang="en-US" altLang="zh-CN" sz="2400" baseline="-25000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75873" name="Object 25"/>
            <p:cNvGraphicFramePr>
              <a:graphicFrameLocks noChangeAspect="1"/>
            </p:cNvGraphicFramePr>
            <p:nvPr/>
          </p:nvGraphicFramePr>
          <p:xfrm>
            <a:off x="1008" y="2117"/>
            <a:ext cx="404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5" name="" r:id="rId1" imgW="368300" imgH="215900" progId="Equation.3">
                    <p:embed/>
                  </p:oleObj>
                </mc:Choice>
                <mc:Fallback>
                  <p:oleObj name="" r:id="rId1" imgW="368300" imgH="215900" progId="Equation.3">
                    <p:embed/>
                    <p:pic>
                      <p:nvPicPr>
                        <p:cNvPr id="0" name="图片 316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008" y="2117"/>
                          <a:ext cx="404" cy="2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5874" name="Text Box 33"/>
            <p:cNvSpPr txBox="1"/>
            <p:nvPr/>
          </p:nvSpPr>
          <p:spPr>
            <a:xfrm>
              <a:off x="1584" y="1776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m</a:t>
              </a:r>
              <a:r>
                <a:rPr lang="en-US" altLang="zh-CN" sz="2400" b="1" baseline="-25000" dirty="0">
                  <a:latin typeface="宋体" panose="02010600030101010101" pitchFamily="2" charset="-122"/>
                </a:rPr>
                <a:t>1</a:t>
              </a:r>
              <a:endParaRPr lang="en-US" altLang="zh-CN" sz="2400" baseline="-25000" dirty="0">
                <a:latin typeface="宋体" panose="02010600030101010101" pitchFamily="2" charset="-122"/>
              </a:endParaRPr>
            </a:p>
          </p:txBody>
        </p:sp>
        <p:sp>
          <p:nvSpPr>
            <p:cNvPr id="75875" name="Text Box 34"/>
            <p:cNvSpPr txBox="1"/>
            <p:nvPr/>
          </p:nvSpPr>
          <p:spPr>
            <a:xfrm>
              <a:off x="2028" y="1776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m</a:t>
              </a:r>
              <a:r>
                <a:rPr lang="en-US" altLang="zh-CN" sz="2400" b="1" baseline="-25000" dirty="0">
                  <a:latin typeface="宋体" panose="02010600030101010101" pitchFamily="2" charset="-122"/>
                </a:rPr>
                <a:t>2</a:t>
              </a:r>
              <a:endParaRPr lang="en-US" altLang="zh-CN" sz="2400" baseline="-25000" dirty="0">
                <a:latin typeface="宋体" panose="02010600030101010101" pitchFamily="2" charset="-122"/>
              </a:endParaRPr>
            </a:p>
          </p:txBody>
        </p:sp>
        <p:sp>
          <p:nvSpPr>
            <p:cNvPr id="75876" name="Text Box 35"/>
            <p:cNvSpPr txBox="1"/>
            <p:nvPr/>
          </p:nvSpPr>
          <p:spPr>
            <a:xfrm>
              <a:off x="2460" y="1776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m</a:t>
              </a:r>
              <a:r>
                <a:rPr lang="en-US" altLang="zh-CN" sz="2400" b="1" baseline="-25000" dirty="0">
                  <a:latin typeface="宋体" panose="02010600030101010101" pitchFamily="2" charset="-122"/>
                </a:rPr>
                <a:t>3</a:t>
              </a:r>
              <a:endParaRPr lang="en-US" altLang="zh-CN" sz="2400" baseline="-25000" dirty="0">
                <a:latin typeface="宋体" panose="02010600030101010101" pitchFamily="2" charset="-122"/>
              </a:endParaRPr>
            </a:p>
          </p:txBody>
        </p:sp>
        <p:sp>
          <p:nvSpPr>
            <p:cNvPr id="75877" name="Text Box 36"/>
            <p:cNvSpPr txBox="1"/>
            <p:nvPr/>
          </p:nvSpPr>
          <p:spPr>
            <a:xfrm>
              <a:off x="3024" y="1776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m</a:t>
              </a:r>
              <a:r>
                <a:rPr lang="en-US" altLang="zh-CN" sz="2400" b="1" baseline="-25000" dirty="0">
                  <a:latin typeface="宋体" panose="02010600030101010101" pitchFamily="2" charset="-122"/>
                </a:rPr>
                <a:t>4</a:t>
              </a:r>
              <a:endParaRPr lang="en-US" altLang="zh-CN" sz="2400" baseline="-25000" dirty="0">
                <a:latin typeface="宋体" panose="02010600030101010101" pitchFamily="2" charset="-122"/>
              </a:endParaRPr>
            </a:p>
          </p:txBody>
        </p:sp>
        <p:sp>
          <p:nvSpPr>
            <p:cNvPr id="75878" name="Text Box 37"/>
            <p:cNvSpPr txBox="1"/>
            <p:nvPr/>
          </p:nvSpPr>
          <p:spPr>
            <a:xfrm>
              <a:off x="3468" y="1776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m</a:t>
              </a:r>
              <a:r>
                <a:rPr lang="en-US" altLang="zh-CN" sz="2400" b="1" baseline="-25000" dirty="0">
                  <a:latin typeface="宋体" panose="02010600030101010101" pitchFamily="2" charset="-122"/>
                </a:rPr>
                <a:t>5</a:t>
              </a:r>
              <a:endParaRPr lang="en-US" altLang="zh-CN" sz="2400" baseline="-25000" dirty="0">
                <a:latin typeface="宋体" panose="02010600030101010101" pitchFamily="2" charset="-122"/>
              </a:endParaRPr>
            </a:p>
          </p:txBody>
        </p:sp>
        <p:sp>
          <p:nvSpPr>
            <p:cNvPr id="75879" name="Text Box 38"/>
            <p:cNvSpPr txBox="1"/>
            <p:nvPr/>
          </p:nvSpPr>
          <p:spPr>
            <a:xfrm>
              <a:off x="3996" y="1776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m</a:t>
              </a:r>
              <a:r>
                <a:rPr lang="en-US" altLang="zh-CN" sz="2400" b="1" baseline="-25000" dirty="0">
                  <a:latin typeface="宋体" panose="02010600030101010101" pitchFamily="2" charset="-122"/>
                </a:rPr>
                <a:t>6</a:t>
              </a:r>
              <a:endParaRPr lang="en-US" altLang="zh-CN" sz="2400" baseline="-25000" dirty="0">
                <a:latin typeface="宋体" panose="02010600030101010101" pitchFamily="2" charset="-122"/>
              </a:endParaRPr>
            </a:p>
          </p:txBody>
        </p:sp>
        <p:sp>
          <p:nvSpPr>
            <p:cNvPr id="75880" name="Text Box 39"/>
            <p:cNvSpPr txBox="1"/>
            <p:nvPr/>
          </p:nvSpPr>
          <p:spPr>
            <a:xfrm>
              <a:off x="4428" y="1776"/>
              <a:ext cx="2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m</a:t>
              </a:r>
              <a:r>
                <a:rPr lang="en-US" altLang="zh-CN" sz="2400" b="1" baseline="-25000" dirty="0">
                  <a:latin typeface="宋体" panose="02010600030101010101" pitchFamily="2" charset="-122"/>
                </a:rPr>
                <a:t>7</a:t>
              </a:r>
              <a:endParaRPr lang="en-US" altLang="zh-CN" sz="2400" baseline="-25000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75881" name="Object 40"/>
            <p:cNvGraphicFramePr>
              <a:graphicFrameLocks noChangeAspect="1"/>
            </p:cNvGraphicFramePr>
            <p:nvPr/>
          </p:nvGraphicFramePr>
          <p:xfrm>
            <a:off x="1472" y="2110"/>
            <a:ext cx="400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4" name="" r:id="rId3" imgW="355600" imgH="215900" progId="Equation.3">
                    <p:embed/>
                  </p:oleObj>
                </mc:Choice>
                <mc:Fallback>
                  <p:oleObj name="" r:id="rId3" imgW="355600" imgH="215900" progId="Equation.3">
                    <p:embed/>
                    <p:pic>
                      <p:nvPicPr>
                        <p:cNvPr id="0" name="图片 316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72" y="2110"/>
                          <a:ext cx="400" cy="2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882" name="Object 41"/>
            <p:cNvGraphicFramePr>
              <a:graphicFrameLocks noChangeAspect="1"/>
            </p:cNvGraphicFramePr>
            <p:nvPr/>
          </p:nvGraphicFramePr>
          <p:xfrm>
            <a:off x="1968" y="2112"/>
            <a:ext cx="38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7" name="" r:id="rId5" imgW="355600" imgH="215900" progId="Equation.3">
                    <p:embed/>
                  </p:oleObj>
                </mc:Choice>
                <mc:Fallback>
                  <p:oleObj name="" r:id="rId5" imgW="355600" imgH="215900" progId="Equation.3">
                    <p:embed/>
                    <p:pic>
                      <p:nvPicPr>
                        <p:cNvPr id="0" name="图片 315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68" y="2112"/>
                          <a:ext cx="384" cy="2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883" name="Object 42"/>
            <p:cNvGraphicFramePr>
              <a:graphicFrameLocks noChangeAspect="1"/>
            </p:cNvGraphicFramePr>
            <p:nvPr/>
          </p:nvGraphicFramePr>
          <p:xfrm>
            <a:off x="2448" y="2112"/>
            <a:ext cx="400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8" name="" r:id="rId7" imgW="355600" imgH="215900" progId="Equation.3">
                    <p:embed/>
                  </p:oleObj>
                </mc:Choice>
                <mc:Fallback>
                  <p:oleObj name="" r:id="rId7" imgW="355600" imgH="215900" progId="Equation.3">
                    <p:embed/>
                    <p:pic>
                      <p:nvPicPr>
                        <p:cNvPr id="0" name="图片 315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448" y="2112"/>
                          <a:ext cx="400" cy="2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884" name="Object 43"/>
            <p:cNvGraphicFramePr>
              <a:graphicFrameLocks noChangeAspect="1"/>
            </p:cNvGraphicFramePr>
            <p:nvPr/>
          </p:nvGraphicFramePr>
          <p:xfrm>
            <a:off x="2908" y="2112"/>
            <a:ext cx="356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2" name="" r:id="rId9" imgW="368300" imgH="215900" progId="Equation.3">
                    <p:embed/>
                  </p:oleObj>
                </mc:Choice>
                <mc:Fallback>
                  <p:oleObj name="" r:id="rId9" imgW="368300" imgH="215900" progId="Equation.3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908" y="2112"/>
                          <a:ext cx="356" cy="2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885" name="Object 44"/>
            <p:cNvGraphicFramePr>
              <a:graphicFrameLocks noChangeAspect="1"/>
            </p:cNvGraphicFramePr>
            <p:nvPr/>
          </p:nvGraphicFramePr>
          <p:xfrm>
            <a:off x="3408" y="2110"/>
            <a:ext cx="400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" name="" r:id="rId11" imgW="355600" imgH="215900" progId="Equation.3">
                    <p:embed/>
                  </p:oleObj>
                </mc:Choice>
                <mc:Fallback>
                  <p:oleObj name="" r:id="rId11" imgW="355600" imgH="215900" progId="Equation.3">
                    <p:embed/>
                    <p:pic>
                      <p:nvPicPr>
                        <p:cNvPr id="0" name="图片 3158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408" y="2110"/>
                          <a:ext cx="400" cy="2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886" name="Object 45"/>
            <p:cNvGraphicFramePr>
              <a:graphicFrameLocks noChangeAspect="1"/>
            </p:cNvGraphicFramePr>
            <p:nvPr/>
          </p:nvGraphicFramePr>
          <p:xfrm>
            <a:off x="3888" y="2112"/>
            <a:ext cx="400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3" name="" r:id="rId13" imgW="355600" imgH="215900" progId="Equation.3">
                    <p:embed/>
                  </p:oleObj>
                </mc:Choice>
                <mc:Fallback>
                  <p:oleObj name="" r:id="rId13" imgW="355600" imgH="215900" progId="Equation.3">
                    <p:embed/>
                    <p:pic>
                      <p:nvPicPr>
                        <p:cNvPr id="0" name="图片 3162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888" y="2112"/>
                          <a:ext cx="400" cy="2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887" name="Object 46"/>
            <p:cNvGraphicFramePr>
              <a:graphicFrameLocks noChangeAspect="1"/>
            </p:cNvGraphicFramePr>
            <p:nvPr/>
          </p:nvGraphicFramePr>
          <p:xfrm>
            <a:off x="4292" y="2145"/>
            <a:ext cx="460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0" name="" r:id="rId15" imgW="393065" imgH="177800" progId="Equation.3">
                    <p:embed/>
                  </p:oleObj>
                </mc:Choice>
                <mc:Fallback>
                  <p:oleObj name="" r:id="rId15" imgW="393065" imgH="177800" progId="Equation.3">
                    <p:embed/>
                    <p:pic>
                      <p:nvPicPr>
                        <p:cNvPr id="0" name="图片 3159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292" y="2145"/>
                          <a:ext cx="460" cy="2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2511" name="Object 47"/>
          <p:cNvGraphicFramePr>
            <a:graphicFrameLocks noChangeAspect="1"/>
          </p:cNvGraphicFramePr>
          <p:nvPr/>
        </p:nvGraphicFramePr>
        <p:xfrm>
          <a:off x="7620000" y="3103563"/>
          <a:ext cx="1143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17" imgW="635000" imgH="457200" progId="Equation.3">
                  <p:embed/>
                </p:oleObj>
              </mc:Choice>
              <mc:Fallback>
                <p:oleObj name="" r:id="rId17" imgW="635000" imgH="457200" progId="Equation.3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620000" y="3103563"/>
                        <a:ext cx="11430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513" name="Text Box 49"/>
          <p:cNvSpPr txBox="1"/>
          <p:nvPr/>
        </p:nvSpPr>
        <p:spPr>
          <a:xfrm>
            <a:off x="1720850" y="3962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62514" name="Text Box 50"/>
          <p:cNvSpPr txBox="1"/>
          <p:nvPr/>
        </p:nvSpPr>
        <p:spPr>
          <a:xfrm>
            <a:off x="2514600" y="3962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62515" name="Text Box 51"/>
          <p:cNvSpPr txBox="1"/>
          <p:nvPr/>
        </p:nvSpPr>
        <p:spPr>
          <a:xfrm>
            <a:off x="3244850" y="3962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62516" name="Text Box 52"/>
          <p:cNvSpPr txBox="1"/>
          <p:nvPr/>
        </p:nvSpPr>
        <p:spPr>
          <a:xfrm>
            <a:off x="4006850" y="3962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62517" name="Text Box 53"/>
          <p:cNvSpPr txBox="1"/>
          <p:nvPr/>
        </p:nvSpPr>
        <p:spPr>
          <a:xfrm>
            <a:off x="4768850" y="3962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62518" name="Text Box 54"/>
          <p:cNvSpPr txBox="1"/>
          <p:nvPr/>
        </p:nvSpPr>
        <p:spPr>
          <a:xfrm>
            <a:off x="5530850" y="3962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62519" name="Text Box 55"/>
          <p:cNvSpPr txBox="1"/>
          <p:nvPr/>
        </p:nvSpPr>
        <p:spPr>
          <a:xfrm>
            <a:off x="6292850" y="3962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62520" name="Text Box 56"/>
          <p:cNvSpPr txBox="1"/>
          <p:nvPr/>
        </p:nvSpPr>
        <p:spPr>
          <a:xfrm>
            <a:off x="7086600" y="3962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62521" name="Text Box 57"/>
          <p:cNvSpPr txBox="1"/>
          <p:nvPr/>
        </p:nvSpPr>
        <p:spPr>
          <a:xfrm>
            <a:off x="1720850" y="42672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62522" name="Text Box 58"/>
          <p:cNvSpPr txBox="1"/>
          <p:nvPr/>
        </p:nvSpPr>
        <p:spPr>
          <a:xfrm>
            <a:off x="2514600" y="42672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62523" name="Text Box 59"/>
          <p:cNvSpPr txBox="1"/>
          <p:nvPr/>
        </p:nvSpPr>
        <p:spPr>
          <a:xfrm>
            <a:off x="3244850" y="42672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62524" name="Text Box 60"/>
          <p:cNvSpPr txBox="1"/>
          <p:nvPr/>
        </p:nvSpPr>
        <p:spPr>
          <a:xfrm>
            <a:off x="4006850" y="42672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62525" name="Text Box 61"/>
          <p:cNvSpPr txBox="1"/>
          <p:nvPr/>
        </p:nvSpPr>
        <p:spPr>
          <a:xfrm>
            <a:off x="4768850" y="42672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62526" name="Text Box 62"/>
          <p:cNvSpPr txBox="1"/>
          <p:nvPr/>
        </p:nvSpPr>
        <p:spPr>
          <a:xfrm>
            <a:off x="5530850" y="42672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62527" name="Text Box 63"/>
          <p:cNvSpPr txBox="1"/>
          <p:nvPr/>
        </p:nvSpPr>
        <p:spPr>
          <a:xfrm>
            <a:off x="6292850" y="42672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62528" name="Text Box 64"/>
          <p:cNvSpPr txBox="1"/>
          <p:nvPr/>
        </p:nvSpPr>
        <p:spPr>
          <a:xfrm>
            <a:off x="7086600" y="42672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62592" name="Text Box 128"/>
          <p:cNvSpPr txBox="1"/>
          <p:nvPr/>
        </p:nvSpPr>
        <p:spPr>
          <a:xfrm>
            <a:off x="8045450" y="3962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sp>
        <p:nvSpPr>
          <p:cNvPr id="62593" name="Text Box 129"/>
          <p:cNvSpPr txBox="1"/>
          <p:nvPr/>
        </p:nvSpPr>
        <p:spPr>
          <a:xfrm>
            <a:off x="8045450" y="42672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</a:t>
            </a:r>
            <a:endParaRPr lang="en-US" altLang="zh-CN" sz="4400" dirty="0">
              <a:solidFill>
                <a:schemeClr val="tx2"/>
              </a:solidFill>
            </a:endParaRPr>
          </a:p>
        </p:txBody>
      </p:sp>
      <p:grpSp>
        <p:nvGrpSpPr>
          <p:cNvPr id="4" name="Group 142"/>
          <p:cNvGrpSpPr/>
          <p:nvPr/>
        </p:nvGrpSpPr>
        <p:grpSpPr>
          <a:xfrm>
            <a:off x="501650" y="4572000"/>
            <a:ext cx="7880350" cy="1981200"/>
            <a:chOff x="316" y="2736"/>
            <a:chExt cx="4964" cy="1248"/>
          </a:xfrm>
        </p:grpSpPr>
        <p:sp>
          <p:nvSpPr>
            <p:cNvPr id="75812" name="Text Box 18"/>
            <p:cNvSpPr txBox="1"/>
            <p:nvPr/>
          </p:nvSpPr>
          <p:spPr>
            <a:xfrm>
              <a:off x="316" y="2736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0  1  0</a:t>
              </a:r>
              <a:endParaRPr lang="en-US" altLang="zh-CN" sz="2400" dirty="0">
                <a:solidFill>
                  <a:schemeClr val="tx2"/>
                </a:solidFill>
              </a:endParaRPr>
            </a:p>
          </p:txBody>
        </p:sp>
        <p:sp>
          <p:nvSpPr>
            <p:cNvPr id="75813" name="Text Box 19"/>
            <p:cNvSpPr txBox="1"/>
            <p:nvPr/>
          </p:nvSpPr>
          <p:spPr>
            <a:xfrm>
              <a:off x="316" y="2928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0  1  1</a:t>
              </a:r>
              <a:endParaRPr lang="en-US" altLang="zh-CN" sz="2400" dirty="0">
                <a:solidFill>
                  <a:schemeClr val="tx2"/>
                </a:solidFill>
              </a:endParaRPr>
            </a:p>
          </p:txBody>
        </p:sp>
        <p:sp>
          <p:nvSpPr>
            <p:cNvPr id="75814" name="Text Box 20"/>
            <p:cNvSpPr txBox="1"/>
            <p:nvPr/>
          </p:nvSpPr>
          <p:spPr>
            <a:xfrm>
              <a:off x="316" y="3120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1  0  0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75815" name="Text Box 21"/>
            <p:cNvSpPr txBox="1"/>
            <p:nvPr/>
          </p:nvSpPr>
          <p:spPr>
            <a:xfrm>
              <a:off x="316" y="3312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1  0  1</a:t>
              </a:r>
              <a:endParaRPr lang="en-US" altLang="zh-CN" sz="2400" dirty="0">
                <a:solidFill>
                  <a:schemeClr val="tx2"/>
                </a:solidFill>
              </a:endParaRPr>
            </a:p>
          </p:txBody>
        </p:sp>
        <p:sp>
          <p:nvSpPr>
            <p:cNvPr id="75816" name="Text Box 22"/>
            <p:cNvSpPr txBox="1"/>
            <p:nvPr/>
          </p:nvSpPr>
          <p:spPr>
            <a:xfrm>
              <a:off x="316" y="3504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1  1  0</a:t>
              </a:r>
              <a:endParaRPr lang="en-US" altLang="zh-CN" sz="2400" dirty="0">
                <a:solidFill>
                  <a:schemeClr val="tx2"/>
                </a:solidFill>
              </a:endParaRPr>
            </a:p>
          </p:txBody>
        </p:sp>
        <p:sp>
          <p:nvSpPr>
            <p:cNvPr id="75817" name="Text Box 23"/>
            <p:cNvSpPr txBox="1"/>
            <p:nvPr/>
          </p:nvSpPr>
          <p:spPr>
            <a:xfrm>
              <a:off x="316" y="3696"/>
              <a:ext cx="5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1  1  1</a:t>
              </a:r>
              <a:endParaRPr lang="en-US" altLang="zh-CN" sz="2400" dirty="0">
                <a:solidFill>
                  <a:schemeClr val="tx2"/>
                </a:solidFill>
              </a:endParaRPr>
            </a:p>
          </p:txBody>
        </p:sp>
        <p:sp>
          <p:nvSpPr>
            <p:cNvPr id="75818" name="Text Box 73"/>
            <p:cNvSpPr txBox="1"/>
            <p:nvPr/>
          </p:nvSpPr>
          <p:spPr>
            <a:xfrm>
              <a:off x="1084" y="273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19" name="Text Box 74"/>
            <p:cNvSpPr txBox="1"/>
            <p:nvPr/>
          </p:nvSpPr>
          <p:spPr>
            <a:xfrm>
              <a:off x="1084" y="292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20" name="Text Box 75"/>
            <p:cNvSpPr txBox="1"/>
            <p:nvPr/>
          </p:nvSpPr>
          <p:spPr>
            <a:xfrm>
              <a:off x="1084" y="312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21" name="Text Box 76"/>
            <p:cNvSpPr txBox="1"/>
            <p:nvPr/>
          </p:nvSpPr>
          <p:spPr>
            <a:xfrm>
              <a:off x="1084" y="331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22" name="Text Box 77"/>
            <p:cNvSpPr txBox="1"/>
            <p:nvPr/>
          </p:nvSpPr>
          <p:spPr>
            <a:xfrm>
              <a:off x="1084" y="350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23" name="Text Box 78"/>
            <p:cNvSpPr txBox="1"/>
            <p:nvPr/>
          </p:nvSpPr>
          <p:spPr>
            <a:xfrm>
              <a:off x="1084" y="369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24" name="Text Box 79"/>
            <p:cNvSpPr txBox="1"/>
            <p:nvPr/>
          </p:nvSpPr>
          <p:spPr>
            <a:xfrm>
              <a:off x="1584" y="273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25" name="Text Box 80"/>
            <p:cNvSpPr txBox="1"/>
            <p:nvPr/>
          </p:nvSpPr>
          <p:spPr>
            <a:xfrm>
              <a:off x="1584" y="292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26" name="Text Box 81"/>
            <p:cNvSpPr txBox="1"/>
            <p:nvPr/>
          </p:nvSpPr>
          <p:spPr>
            <a:xfrm>
              <a:off x="1584" y="312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27" name="Text Box 82"/>
            <p:cNvSpPr txBox="1"/>
            <p:nvPr/>
          </p:nvSpPr>
          <p:spPr>
            <a:xfrm>
              <a:off x="1584" y="331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28" name="Text Box 83"/>
            <p:cNvSpPr txBox="1"/>
            <p:nvPr/>
          </p:nvSpPr>
          <p:spPr>
            <a:xfrm>
              <a:off x="1584" y="350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29" name="Text Box 84"/>
            <p:cNvSpPr txBox="1"/>
            <p:nvPr/>
          </p:nvSpPr>
          <p:spPr>
            <a:xfrm>
              <a:off x="1584" y="369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30" name="Text Box 86"/>
            <p:cNvSpPr txBox="1"/>
            <p:nvPr/>
          </p:nvSpPr>
          <p:spPr>
            <a:xfrm>
              <a:off x="2044" y="273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31" name="Text Box 87"/>
            <p:cNvSpPr txBox="1"/>
            <p:nvPr/>
          </p:nvSpPr>
          <p:spPr>
            <a:xfrm>
              <a:off x="2044" y="292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32" name="Text Box 88"/>
            <p:cNvSpPr txBox="1"/>
            <p:nvPr/>
          </p:nvSpPr>
          <p:spPr>
            <a:xfrm>
              <a:off x="2044" y="312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33" name="Text Box 89"/>
            <p:cNvSpPr txBox="1"/>
            <p:nvPr/>
          </p:nvSpPr>
          <p:spPr>
            <a:xfrm>
              <a:off x="2044" y="331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34" name="Text Box 90"/>
            <p:cNvSpPr txBox="1"/>
            <p:nvPr/>
          </p:nvSpPr>
          <p:spPr>
            <a:xfrm>
              <a:off x="2044" y="350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35" name="Text Box 91"/>
            <p:cNvSpPr txBox="1"/>
            <p:nvPr/>
          </p:nvSpPr>
          <p:spPr>
            <a:xfrm>
              <a:off x="2044" y="369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36" name="Text Box 92"/>
            <p:cNvSpPr txBox="1"/>
            <p:nvPr/>
          </p:nvSpPr>
          <p:spPr>
            <a:xfrm>
              <a:off x="2524" y="273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37" name="Text Box 93"/>
            <p:cNvSpPr txBox="1"/>
            <p:nvPr/>
          </p:nvSpPr>
          <p:spPr>
            <a:xfrm>
              <a:off x="2524" y="292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38" name="Text Box 94"/>
            <p:cNvSpPr txBox="1"/>
            <p:nvPr/>
          </p:nvSpPr>
          <p:spPr>
            <a:xfrm>
              <a:off x="2524" y="312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39" name="Text Box 95"/>
            <p:cNvSpPr txBox="1"/>
            <p:nvPr/>
          </p:nvSpPr>
          <p:spPr>
            <a:xfrm>
              <a:off x="2524" y="331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40" name="Text Box 96"/>
            <p:cNvSpPr txBox="1"/>
            <p:nvPr/>
          </p:nvSpPr>
          <p:spPr>
            <a:xfrm>
              <a:off x="2524" y="350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41" name="Text Box 97"/>
            <p:cNvSpPr txBox="1"/>
            <p:nvPr/>
          </p:nvSpPr>
          <p:spPr>
            <a:xfrm>
              <a:off x="2524" y="369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42" name="Text Box 98"/>
            <p:cNvSpPr txBox="1"/>
            <p:nvPr/>
          </p:nvSpPr>
          <p:spPr>
            <a:xfrm>
              <a:off x="3004" y="273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43" name="Text Box 99"/>
            <p:cNvSpPr txBox="1"/>
            <p:nvPr/>
          </p:nvSpPr>
          <p:spPr>
            <a:xfrm>
              <a:off x="3004" y="292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44" name="Text Box 100"/>
            <p:cNvSpPr txBox="1"/>
            <p:nvPr/>
          </p:nvSpPr>
          <p:spPr>
            <a:xfrm>
              <a:off x="3004" y="312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45" name="Text Box 101"/>
            <p:cNvSpPr txBox="1"/>
            <p:nvPr/>
          </p:nvSpPr>
          <p:spPr>
            <a:xfrm>
              <a:off x="3004" y="331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46" name="Text Box 102"/>
            <p:cNvSpPr txBox="1"/>
            <p:nvPr/>
          </p:nvSpPr>
          <p:spPr>
            <a:xfrm>
              <a:off x="3004" y="350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47" name="Text Box 103"/>
            <p:cNvSpPr txBox="1"/>
            <p:nvPr/>
          </p:nvSpPr>
          <p:spPr>
            <a:xfrm>
              <a:off x="3004" y="369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48" name="Text Box 104"/>
            <p:cNvSpPr txBox="1"/>
            <p:nvPr/>
          </p:nvSpPr>
          <p:spPr>
            <a:xfrm>
              <a:off x="3484" y="273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49" name="Text Box 105"/>
            <p:cNvSpPr txBox="1"/>
            <p:nvPr/>
          </p:nvSpPr>
          <p:spPr>
            <a:xfrm>
              <a:off x="3484" y="292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50" name="Text Box 106"/>
            <p:cNvSpPr txBox="1"/>
            <p:nvPr/>
          </p:nvSpPr>
          <p:spPr>
            <a:xfrm>
              <a:off x="3484" y="312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51" name="Text Box 107"/>
            <p:cNvSpPr txBox="1"/>
            <p:nvPr/>
          </p:nvSpPr>
          <p:spPr>
            <a:xfrm>
              <a:off x="3484" y="331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52" name="Text Box 108"/>
            <p:cNvSpPr txBox="1"/>
            <p:nvPr/>
          </p:nvSpPr>
          <p:spPr>
            <a:xfrm>
              <a:off x="3484" y="350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53" name="Text Box 109"/>
            <p:cNvSpPr txBox="1"/>
            <p:nvPr/>
          </p:nvSpPr>
          <p:spPr>
            <a:xfrm>
              <a:off x="3484" y="369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54" name="Text Box 110"/>
            <p:cNvSpPr txBox="1"/>
            <p:nvPr/>
          </p:nvSpPr>
          <p:spPr>
            <a:xfrm>
              <a:off x="3964" y="273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55" name="Text Box 111"/>
            <p:cNvSpPr txBox="1"/>
            <p:nvPr/>
          </p:nvSpPr>
          <p:spPr>
            <a:xfrm>
              <a:off x="3964" y="292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56" name="Text Box 112"/>
            <p:cNvSpPr txBox="1"/>
            <p:nvPr/>
          </p:nvSpPr>
          <p:spPr>
            <a:xfrm>
              <a:off x="3964" y="312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57" name="Text Box 113"/>
            <p:cNvSpPr txBox="1"/>
            <p:nvPr/>
          </p:nvSpPr>
          <p:spPr>
            <a:xfrm>
              <a:off x="3964" y="331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58" name="Text Box 114"/>
            <p:cNvSpPr txBox="1"/>
            <p:nvPr/>
          </p:nvSpPr>
          <p:spPr>
            <a:xfrm>
              <a:off x="3964" y="350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59" name="Text Box 115"/>
            <p:cNvSpPr txBox="1"/>
            <p:nvPr/>
          </p:nvSpPr>
          <p:spPr>
            <a:xfrm>
              <a:off x="3964" y="369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60" name="Text Box 116"/>
            <p:cNvSpPr txBox="1"/>
            <p:nvPr/>
          </p:nvSpPr>
          <p:spPr>
            <a:xfrm>
              <a:off x="4464" y="273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61" name="Text Box 117"/>
            <p:cNvSpPr txBox="1"/>
            <p:nvPr/>
          </p:nvSpPr>
          <p:spPr>
            <a:xfrm>
              <a:off x="4464" y="292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62" name="Text Box 118"/>
            <p:cNvSpPr txBox="1"/>
            <p:nvPr/>
          </p:nvSpPr>
          <p:spPr>
            <a:xfrm>
              <a:off x="4464" y="312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63" name="Text Box 119"/>
            <p:cNvSpPr txBox="1"/>
            <p:nvPr/>
          </p:nvSpPr>
          <p:spPr>
            <a:xfrm>
              <a:off x="4464" y="331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64" name="Text Box 120"/>
            <p:cNvSpPr txBox="1"/>
            <p:nvPr/>
          </p:nvSpPr>
          <p:spPr>
            <a:xfrm>
              <a:off x="4464" y="350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65" name="Text Box 121"/>
            <p:cNvSpPr txBox="1"/>
            <p:nvPr/>
          </p:nvSpPr>
          <p:spPr>
            <a:xfrm>
              <a:off x="4464" y="369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66" name="Text Box 130"/>
            <p:cNvSpPr txBox="1"/>
            <p:nvPr/>
          </p:nvSpPr>
          <p:spPr>
            <a:xfrm>
              <a:off x="5068" y="273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67" name="Text Box 131"/>
            <p:cNvSpPr txBox="1"/>
            <p:nvPr/>
          </p:nvSpPr>
          <p:spPr>
            <a:xfrm>
              <a:off x="5068" y="292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68" name="Text Box 132"/>
            <p:cNvSpPr txBox="1"/>
            <p:nvPr/>
          </p:nvSpPr>
          <p:spPr>
            <a:xfrm>
              <a:off x="5068" y="312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69" name="Text Box 133"/>
            <p:cNvSpPr txBox="1"/>
            <p:nvPr/>
          </p:nvSpPr>
          <p:spPr>
            <a:xfrm>
              <a:off x="5068" y="331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70" name="Text Box 134"/>
            <p:cNvSpPr txBox="1"/>
            <p:nvPr/>
          </p:nvSpPr>
          <p:spPr>
            <a:xfrm>
              <a:off x="5068" y="350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  <p:sp>
          <p:nvSpPr>
            <p:cNvPr id="75871" name="Text Box 135"/>
            <p:cNvSpPr txBox="1"/>
            <p:nvPr/>
          </p:nvSpPr>
          <p:spPr>
            <a:xfrm>
              <a:off x="5068" y="369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4400" dirty="0">
                <a:solidFill>
                  <a:schemeClr val="tx2"/>
                </a:solidFill>
              </a:endParaRPr>
            </a:p>
          </p:txBody>
        </p:sp>
      </p:grpSp>
      <p:sp>
        <p:nvSpPr>
          <p:cNvPr id="62600" name="Text Box 136"/>
          <p:cNvSpPr txBox="1"/>
          <p:nvPr/>
        </p:nvSpPr>
        <p:spPr>
          <a:xfrm>
            <a:off x="304800" y="2514600"/>
            <a:ext cx="24463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三变量的最小项</a:t>
            </a:r>
            <a:r>
              <a:rPr lang="zh-CN" altLang="en-US" sz="2400" dirty="0">
                <a:latin typeface="宋体" panose="02010600030101010101" pitchFamily="2" charset="-122"/>
              </a:rPr>
              <a:t> 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62604" name="Text Box 140"/>
          <p:cNvSpPr txBox="1"/>
          <p:nvPr/>
        </p:nvSpPr>
        <p:spPr>
          <a:xfrm>
            <a:off x="457200" y="457200"/>
            <a:ext cx="23209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最小项的性质：</a:t>
            </a:r>
            <a:endParaRPr lang="zh-CN" altLang="en-US" sz="2000" b="1" dirty="0">
              <a:solidFill>
                <a:schemeClr val="tx2"/>
              </a:solidFill>
            </a:endParaRPr>
          </a:p>
        </p:txBody>
      </p:sp>
      <p:sp>
        <p:nvSpPr>
          <p:cNvPr id="62613" name="Text Box 149"/>
          <p:cNvSpPr txBox="1"/>
          <p:nvPr/>
        </p:nvSpPr>
        <p:spPr>
          <a:xfrm>
            <a:off x="2743200" y="1235075"/>
            <a:ext cx="548640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  </a:t>
            </a:r>
            <a:r>
              <a:rPr lang="zh-CN" altLang="en-US" sz="2400" b="1" dirty="0"/>
              <a:t>同一组变量取值任意</a:t>
            </a:r>
            <a:r>
              <a:rPr lang="zh-CN" altLang="en-US" sz="2400" b="1" dirty="0">
                <a:solidFill>
                  <a:schemeClr val="accent2"/>
                </a:solidFill>
              </a:rPr>
              <a:t>两个不同</a:t>
            </a:r>
            <a:r>
              <a:rPr lang="zh-CN" altLang="en-US" sz="2400" b="1" dirty="0"/>
              <a:t>最小项的</a:t>
            </a:r>
            <a:r>
              <a:rPr lang="zh-CN" altLang="en-US" sz="2400" b="1" dirty="0">
                <a:solidFill>
                  <a:schemeClr val="accent2"/>
                </a:solidFill>
              </a:rPr>
              <a:t>乘积</a:t>
            </a:r>
            <a:r>
              <a:rPr lang="zh-CN" altLang="en-US" sz="2400" b="1" dirty="0"/>
              <a:t>为</a:t>
            </a:r>
            <a:r>
              <a:rPr lang="en-US" altLang="zh-CN" sz="2400" b="1" dirty="0">
                <a:solidFill>
                  <a:schemeClr val="accent2"/>
                </a:solidFill>
              </a:rPr>
              <a:t>0</a:t>
            </a:r>
            <a:r>
              <a:rPr lang="zh-CN" altLang="en-US" sz="2400" b="1" dirty="0"/>
              <a:t>。即</a:t>
            </a:r>
            <a:r>
              <a:rPr lang="en-US" altLang="zh-CN" sz="2400" b="1" dirty="0">
                <a:solidFill>
                  <a:schemeClr val="accent2"/>
                </a:solidFill>
              </a:rPr>
              <a:t>m</a:t>
            </a:r>
            <a:r>
              <a:rPr lang="en-US" altLang="zh-CN" sz="2400" b="1" baseline="-25000" dirty="0">
                <a:solidFill>
                  <a:schemeClr val="accent2"/>
                </a:solidFill>
              </a:rPr>
              <a:t>i</a:t>
            </a:r>
            <a:r>
              <a:rPr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</a:t>
            </a:r>
            <a:r>
              <a:rPr lang="en-US" altLang="zh-CN" sz="2400" b="1" dirty="0">
                <a:solidFill>
                  <a:schemeClr val="accent2"/>
                </a:solidFill>
              </a:rPr>
              <a:t>m</a:t>
            </a:r>
            <a:r>
              <a:rPr lang="en-US" altLang="zh-CN" sz="2400" b="1" baseline="-25000" dirty="0">
                <a:solidFill>
                  <a:schemeClr val="accent2"/>
                </a:solidFill>
              </a:rPr>
              <a:t>j</a:t>
            </a:r>
            <a:r>
              <a:rPr lang="en-US" altLang="zh-CN" sz="2400" b="1" dirty="0">
                <a:solidFill>
                  <a:schemeClr val="accent2"/>
                </a:solidFill>
              </a:rPr>
              <a:t>=0   (i</a:t>
            </a:r>
            <a:r>
              <a:rPr lang="en-US" altLang="zh-CN" sz="2000" dirty="0">
                <a:solidFill>
                  <a:schemeClr val="accent2"/>
                </a:solidFill>
                <a:latin typeface="宋体" panose="02010600030101010101" pitchFamily="2" charset="-122"/>
              </a:rPr>
              <a:t>≠</a:t>
            </a:r>
            <a:r>
              <a:rPr lang="en-US" altLang="zh-CN" sz="2400" b="1" dirty="0">
                <a:solidFill>
                  <a:schemeClr val="accent2"/>
                </a:solidFill>
              </a:rPr>
              <a:t>j)</a:t>
            </a:r>
            <a:endParaRPr lang="en-US" altLang="zh-CN" sz="2400" b="1" dirty="0">
              <a:solidFill>
                <a:schemeClr val="accent2"/>
              </a:solidFill>
            </a:endParaRPr>
          </a:p>
        </p:txBody>
      </p:sp>
      <p:grpSp>
        <p:nvGrpSpPr>
          <p:cNvPr id="5" name="Group 154"/>
          <p:cNvGrpSpPr/>
          <p:nvPr/>
        </p:nvGrpSpPr>
        <p:grpSpPr>
          <a:xfrm>
            <a:off x="2743200" y="1981200"/>
            <a:ext cx="5562600" cy="838200"/>
            <a:chOff x="1728" y="1248"/>
            <a:chExt cx="3504" cy="528"/>
          </a:xfrm>
        </p:grpSpPr>
        <p:sp>
          <p:nvSpPr>
            <p:cNvPr id="75810" name="Text Box 152"/>
            <p:cNvSpPr txBox="1"/>
            <p:nvPr/>
          </p:nvSpPr>
          <p:spPr>
            <a:xfrm>
              <a:off x="1728" y="1296"/>
              <a:ext cx="232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sym typeface="Symbol" panose="05050102010706020507" pitchFamily="18" charset="2"/>
                </a:rPr>
                <a:t>  </a:t>
              </a:r>
              <a:r>
                <a:rPr lang="zh-CN" altLang="en-US" sz="2400" b="1" dirty="0">
                  <a:solidFill>
                    <a:schemeClr val="accent2"/>
                  </a:solidFill>
                </a:rPr>
                <a:t>全部</a:t>
              </a:r>
              <a:r>
                <a:rPr lang="zh-CN" altLang="en-US" sz="2400" b="1" dirty="0"/>
                <a:t>最小项之</a:t>
              </a:r>
              <a:r>
                <a:rPr lang="zh-CN" altLang="en-US" sz="2400" b="1" dirty="0">
                  <a:solidFill>
                    <a:schemeClr val="accent2"/>
                  </a:solidFill>
                </a:rPr>
                <a:t>和</a:t>
              </a:r>
              <a:r>
                <a:rPr lang="zh-CN" altLang="en-US" sz="2400" b="1" dirty="0"/>
                <a:t>为</a:t>
              </a:r>
              <a:r>
                <a:rPr lang="en-US" altLang="zh-CN" sz="2400" b="1" dirty="0">
                  <a:solidFill>
                    <a:schemeClr val="accent2"/>
                  </a:solidFill>
                </a:rPr>
                <a:t>1</a:t>
              </a:r>
              <a:r>
                <a:rPr lang="zh-CN" altLang="en-US" sz="2400" b="1" dirty="0"/>
                <a:t>，即</a:t>
              </a:r>
              <a:endParaRPr lang="zh-CN" altLang="en-US" sz="2400" b="1" dirty="0"/>
            </a:p>
          </p:txBody>
        </p:sp>
        <p:graphicFrame>
          <p:nvGraphicFramePr>
            <p:cNvPr id="75811" name="Object 153"/>
            <p:cNvGraphicFramePr>
              <a:graphicFrameLocks noChangeAspect="1"/>
            </p:cNvGraphicFramePr>
            <p:nvPr/>
          </p:nvGraphicFramePr>
          <p:xfrm>
            <a:off x="4080" y="1248"/>
            <a:ext cx="1152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6" name="" r:id="rId19" imgW="609600" imgH="457200" progId="Equation.3">
                    <p:embed/>
                  </p:oleObj>
                </mc:Choice>
                <mc:Fallback>
                  <p:oleObj name="" r:id="rId19" imgW="609600" imgH="457200" progId="Equation.3">
                    <p:embed/>
                    <p:pic>
                      <p:nvPicPr>
                        <p:cNvPr id="0" name="图片 3165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080" y="1248"/>
                          <a:ext cx="1152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156"/>
          <p:cNvGrpSpPr/>
          <p:nvPr/>
        </p:nvGrpSpPr>
        <p:grpSpPr>
          <a:xfrm>
            <a:off x="2590800" y="457200"/>
            <a:ext cx="6172200" cy="2438400"/>
            <a:chOff x="1632" y="288"/>
            <a:chExt cx="3888" cy="1536"/>
          </a:xfrm>
        </p:grpSpPr>
        <p:sp>
          <p:nvSpPr>
            <p:cNvPr id="75808" name="Text Box 148"/>
            <p:cNvSpPr txBox="1"/>
            <p:nvPr/>
          </p:nvSpPr>
          <p:spPr>
            <a:xfrm>
              <a:off x="1680" y="288"/>
              <a:ext cx="3552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sym typeface="Symbol" panose="05050102010706020507" pitchFamily="18" charset="2"/>
                </a:rPr>
                <a:t>  </a:t>
              </a:r>
              <a:r>
                <a:rPr lang="zh-CN" altLang="en-US" sz="2400" b="1" dirty="0"/>
                <a:t>任意一组变量取值，</a:t>
              </a:r>
              <a:r>
                <a:rPr lang="zh-CN" altLang="en-US" sz="2400" b="1" dirty="0">
                  <a:solidFill>
                    <a:schemeClr val="accent2"/>
                  </a:solidFill>
                </a:rPr>
                <a:t>只有一个</a:t>
              </a:r>
              <a:r>
                <a:rPr lang="zh-CN" altLang="en-US" sz="2400" b="1" dirty="0"/>
                <a:t>最小 项的值为</a:t>
              </a:r>
              <a:r>
                <a:rPr lang="en-US" altLang="zh-CN" sz="2400" b="1" dirty="0"/>
                <a:t>1</a:t>
              </a:r>
              <a:r>
                <a:rPr lang="zh-CN" altLang="en-US" sz="2400" b="1" dirty="0"/>
                <a:t>，其它最小项的值均为</a:t>
              </a:r>
              <a:r>
                <a:rPr lang="en-US" altLang="zh-CN" sz="2400" b="1" dirty="0">
                  <a:solidFill>
                    <a:schemeClr val="accent2"/>
                  </a:solidFill>
                </a:rPr>
                <a:t>0</a:t>
              </a:r>
              <a:endParaRPr lang="en-US" altLang="zh-CN" sz="2400" b="1" dirty="0"/>
            </a:p>
          </p:txBody>
        </p:sp>
        <p:sp>
          <p:nvSpPr>
            <p:cNvPr id="75809" name="Rectangle 155"/>
            <p:cNvSpPr/>
            <p:nvPr/>
          </p:nvSpPr>
          <p:spPr>
            <a:xfrm>
              <a:off x="1632" y="288"/>
              <a:ext cx="3888" cy="1536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2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2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62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81" grpId="0"/>
      <p:bldP spid="62478" grpId="0"/>
      <p:bldP spid="62480" grpId="0"/>
      <p:bldP spid="62513" grpId="0"/>
      <p:bldP spid="62514" grpId="0"/>
      <p:bldP spid="62515" grpId="0"/>
      <p:bldP spid="62516" grpId="0"/>
      <p:bldP spid="62517" grpId="0"/>
      <p:bldP spid="62518" grpId="0"/>
      <p:bldP spid="62519" grpId="0"/>
      <p:bldP spid="62520" grpId="0"/>
      <p:bldP spid="62521" grpId="0"/>
      <p:bldP spid="62522" grpId="0"/>
      <p:bldP spid="62523" grpId="0"/>
      <p:bldP spid="62524" grpId="0"/>
      <p:bldP spid="62525" grpId="0"/>
      <p:bldP spid="62526" grpId="0"/>
      <p:bldP spid="62527" grpId="0"/>
      <p:bldP spid="62528" grpId="0"/>
      <p:bldP spid="62592" grpId="0"/>
      <p:bldP spid="62593" grpId="0"/>
      <p:bldP spid="62600" grpId="0"/>
      <p:bldP spid="62604" grpId="0"/>
      <p:bldP spid="62613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3" name="Text Box 5"/>
          <p:cNvSpPr txBox="1"/>
          <p:nvPr/>
        </p:nvSpPr>
        <p:spPr>
          <a:xfrm>
            <a:off x="762000" y="609600"/>
            <a:ext cx="140176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sym typeface="Symbol" panose="05050102010706020507" pitchFamily="18" charset="2"/>
              </a:rPr>
              <a:t>  </a:t>
            </a:r>
            <a:r>
              <a:rPr lang="zh-CN" altLang="en-US" sz="2400" b="1" dirty="0">
                <a:solidFill>
                  <a:schemeClr val="tx2"/>
                </a:solidFill>
                <a:sym typeface="Symbol" panose="05050102010706020507" pitchFamily="18" charset="2"/>
              </a:rPr>
              <a:t>最大项</a:t>
            </a:r>
            <a:endParaRPr lang="zh-CN" altLang="en-US" sz="2000" b="1" dirty="0">
              <a:solidFill>
                <a:schemeClr val="tx2"/>
              </a:solidFill>
            </a:endParaRPr>
          </a:p>
        </p:txBody>
      </p:sp>
      <p:sp>
        <p:nvSpPr>
          <p:cNvPr id="63499" name="Text Box 11"/>
          <p:cNvSpPr txBox="1"/>
          <p:nvPr/>
        </p:nvSpPr>
        <p:spPr>
          <a:xfrm>
            <a:off x="1905000" y="2438400"/>
            <a:ext cx="4732338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个变量有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400" b="1" baseline="30000" dirty="0">
                <a:solidFill>
                  <a:schemeClr val="accent2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个最大项，记作</a:t>
            </a:r>
            <a:r>
              <a:rPr lang="zh-CN" altLang="en-US" sz="2400" b="1" dirty="0">
                <a:latin typeface="宋体" panose="02010600030101010101" pitchFamily="2" charset="-122"/>
                <a:sym typeface="Symbol" panose="05050102010706020507" pitchFamily="18" charset="2"/>
              </a:rPr>
              <a:t></a:t>
            </a:r>
            <a:r>
              <a:rPr lang="en-US" altLang="zh-CN" sz="2400" b="1" baseline="-25000" dirty="0">
                <a:latin typeface="宋体" panose="02010600030101010101" pitchFamily="2" charset="-122"/>
                <a:sym typeface="Symbol" panose="05050102010706020507" pitchFamily="18" charset="2"/>
              </a:rPr>
              <a:t>i</a:t>
            </a:r>
            <a:endParaRPr lang="en-US" altLang="zh-CN" sz="2400" b="1" baseline="-25000" dirty="0">
              <a:latin typeface="宋体" panose="02010600030101010101" pitchFamily="2" charset="-122"/>
            </a:endParaRPr>
          </a:p>
        </p:txBody>
      </p:sp>
      <p:sp>
        <p:nvSpPr>
          <p:cNvPr id="63501" name="Text Box 13"/>
          <p:cNvSpPr txBox="1"/>
          <p:nvPr/>
        </p:nvSpPr>
        <p:spPr>
          <a:xfrm>
            <a:off x="2133600" y="1174750"/>
            <a:ext cx="5791200" cy="11874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个变量的逻辑函数中，包括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全部</a:t>
            </a:r>
            <a:r>
              <a:rPr lang="en-US" altLang="zh-CN" sz="2400" b="1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个变量的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和项</a:t>
            </a:r>
            <a:r>
              <a:rPr lang="zh-CN" altLang="en-US" sz="2400" b="1" dirty="0">
                <a:latin typeface="宋体" panose="02010600030101010101" pitchFamily="2" charset="-122"/>
              </a:rPr>
              <a:t>（每个变量必须而且只能以原变量或反变量的形式出现一次）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63502" name="Text Box 14"/>
          <p:cNvSpPr txBox="1"/>
          <p:nvPr/>
        </p:nvSpPr>
        <p:spPr>
          <a:xfrm>
            <a:off x="2362200" y="4587875"/>
            <a:ext cx="548640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  </a:t>
            </a:r>
            <a:r>
              <a:rPr lang="zh-CN" altLang="en-US" sz="2400" b="1" dirty="0"/>
              <a:t>同一组变量取值任意</a:t>
            </a:r>
            <a:r>
              <a:rPr lang="zh-CN" altLang="en-US" sz="2400" b="1" dirty="0">
                <a:solidFill>
                  <a:schemeClr val="accent2"/>
                </a:solidFill>
              </a:rPr>
              <a:t>两个不同</a:t>
            </a:r>
            <a:r>
              <a:rPr lang="zh-CN" altLang="en-US" sz="2400" b="1" dirty="0"/>
              <a:t>最大项的</a:t>
            </a:r>
            <a:r>
              <a:rPr lang="zh-CN" altLang="en-US" sz="2400" b="1" dirty="0">
                <a:solidFill>
                  <a:schemeClr val="accent2"/>
                </a:solidFill>
              </a:rPr>
              <a:t>和</a:t>
            </a:r>
            <a:r>
              <a:rPr lang="zh-CN" altLang="en-US" sz="2400" b="1" dirty="0"/>
              <a:t>为</a:t>
            </a:r>
            <a:r>
              <a:rPr lang="en-US" altLang="zh-CN" sz="2400" b="1" dirty="0">
                <a:solidFill>
                  <a:schemeClr val="accent2"/>
                </a:solidFill>
              </a:rPr>
              <a:t>1</a:t>
            </a:r>
            <a:r>
              <a:rPr lang="zh-CN" altLang="en-US" sz="2400" b="1" dirty="0"/>
              <a:t>。即</a:t>
            </a:r>
            <a:r>
              <a:rPr lang="en-US" altLang="zh-CN" sz="2400" b="1" dirty="0">
                <a:solidFill>
                  <a:schemeClr val="accent2"/>
                </a:solidFill>
              </a:rPr>
              <a:t>M</a:t>
            </a:r>
            <a:r>
              <a:rPr lang="en-US" altLang="zh-CN" sz="2400" b="1" baseline="-25000" dirty="0">
                <a:solidFill>
                  <a:schemeClr val="accent2"/>
                </a:solidFill>
              </a:rPr>
              <a:t>i</a:t>
            </a:r>
            <a:r>
              <a:rPr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400" b="1" dirty="0">
                <a:solidFill>
                  <a:schemeClr val="accent2"/>
                </a:solidFill>
              </a:rPr>
              <a:t>M</a:t>
            </a:r>
            <a:r>
              <a:rPr lang="en-US" altLang="zh-CN" sz="2400" b="1" baseline="-25000" dirty="0">
                <a:solidFill>
                  <a:schemeClr val="accent2"/>
                </a:solidFill>
              </a:rPr>
              <a:t>j</a:t>
            </a:r>
            <a:r>
              <a:rPr lang="en-US" altLang="zh-CN" sz="2400" b="1" dirty="0">
                <a:solidFill>
                  <a:schemeClr val="accent2"/>
                </a:solidFill>
              </a:rPr>
              <a:t>=1  (i</a:t>
            </a:r>
            <a:r>
              <a:rPr lang="en-US" altLang="zh-CN" sz="2000" dirty="0">
                <a:solidFill>
                  <a:schemeClr val="accent2"/>
                </a:solidFill>
                <a:latin typeface="宋体" panose="02010600030101010101" pitchFamily="2" charset="-122"/>
              </a:rPr>
              <a:t>≠</a:t>
            </a:r>
            <a:r>
              <a:rPr lang="en-US" altLang="zh-CN" sz="2400" b="1" dirty="0">
                <a:solidFill>
                  <a:schemeClr val="accent2"/>
                </a:solidFill>
              </a:rPr>
              <a:t>j)</a:t>
            </a:r>
            <a:endParaRPr lang="en-US" altLang="zh-CN" sz="2400" b="1" dirty="0">
              <a:solidFill>
                <a:schemeClr val="accent2"/>
              </a:solidFill>
            </a:endParaRPr>
          </a:p>
        </p:txBody>
      </p:sp>
      <p:sp>
        <p:nvSpPr>
          <p:cNvPr id="63504" name="Text Box 16"/>
          <p:cNvSpPr txBox="1"/>
          <p:nvPr/>
        </p:nvSpPr>
        <p:spPr>
          <a:xfrm>
            <a:off x="2362200" y="5410200"/>
            <a:ext cx="3689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  </a:t>
            </a:r>
            <a:r>
              <a:rPr lang="zh-CN" altLang="en-US" sz="2400" b="1" dirty="0">
                <a:solidFill>
                  <a:schemeClr val="accent2"/>
                </a:solidFill>
              </a:rPr>
              <a:t>全部</a:t>
            </a:r>
            <a:r>
              <a:rPr lang="zh-CN" altLang="en-US" sz="2400" b="1" dirty="0"/>
              <a:t>最大项之</a:t>
            </a:r>
            <a:r>
              <a:rPr lang="zh-CN" altLang="en-US" sz="2400" b="1" dirty="0">
                <a:solidFill>
                  <a:schemeClr val="accent2"/>
                </a:solidFill>
              </a:rPr>
              <a:t>积</a:t>
            </a:r>
            <a:r>
              <a:rPr lang="zh-CN" altLang="en-US" sz="2400" b="1" dirty="0"/>
              <a:t>为</a:t>
            </a:r>
            <a:r>
              <a:rPr lang="en-US" altLang="zh-CN" sz="2400" b="1" dirty="0">
                <a:solidFill>
                  <a:schemeClr val="accent2"/>
                </a:solidFill>
              </a:rPr>
              <a:t>0</a:t>
            </a:r>
            <a:r>
              <a:rPr lang="zh-CN" altLang="en-US" sz="2400" b="1" dirty="0"/>
              <a:t>，即</a:t>
            </a:r>
            <a:endParaRPr lang="zh-CN" altLang="en-US" sz="2400" b="1" dirty="0"/>
          </a:p>
        </p:txBody>
      </p:sp>
      <p:sp>
        <p:nvSpPr>
          <p:cNvPr id="63507" name="Text Box 19"/>
          <p:cNvSpPr txBox="1"/>
          <p:nvPr/>
        </p:nvSpPr>
        <p:spPr>
          <a:xfrm>
            <a:off x="2362200" y="3733800"/>
            <a:ext cx="563880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  </a:t>
            </a:r>
            <a:r>
              <a:rPr lang="zh-CN" altLang="en-US" sz="2400" b="1" dirty="0"/>
              <a:t>任意一组变量取值，</a:t>
            </a:r>
            <a:r>
              <a:rPr lang="zh-CN" altLang="en-US" sz="2400" b="1" dirty="0">
                <a:solidFill>
                  <a:schemeClr val="accent2"/>
                </a:solidFill>
              </a:rPr>
              <a:t>只有一个</a:t>
            </a:r>
            <a:r>
              <a:rPr lang="zh-CN" altLang="en-US" sz="2400" b="1" dirty="0"/>
              <a:t>最大 项的值为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，其它最大项的值均为</a:t>
            </a:r>
            <a:r>
              <a:rPr lang="en-US" altLang="zh-CN" sz="2400" b="1" dirty="0">
                <a:solidFill>
                  <a:schemeClr val="accent2"/>
                </a:solidFill>
              </a:rPr>
              <a:t>1</a:t>
            </a:r>
            <a:endParaRPr lang="en-US" altLang="zh-CN" sz="2400" b="1" dirty="0"/>
          </a:p>
        </p:txBody>
      </p:sp>
      <p:grpSp>
        <p:nvGrpSpPr>
          <p:cNvPr id="2" name="Group 24"/>
          <p:cNvGrpSpPr/>
          <p:nvPr/>
        </p:nvGrpSpPr>
        <p:grpSpPr>
          <a:xfrm>
            <a:off x="838200" y="1066800"/>
            <a:ext cx="7620000" cy="1906588"/>
            <a:chOff x="528" y="672"/>
            <a:chExt cx="4800" cy="1201"/>
          </a:xfrm>
        </p:grpSpPr>
        <p:sp>
          <p:nvSpPr>
            <p:cNvPr id="76815" name="Rectangle 9"/>
            <p:cNvSpPr/>
            <p:nvPr/>
          </p:nvSpPr>
          <p:spPr>
            <a:xfrm>
              <a:off x="528" y="672"/>
              <a:ext cx="4800" cy="1201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76816" name="Text Box 10"/>
            <p:cNvSpPr txBox="1"/>
            <p:nvPr/>
          </p:nvSpPr>
          <p:spPr>
            <a:xfrm>
              <a:off x="620" y="759"/>
              <a:ext cx="8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最大项：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3" name="Group 22"/>
          <p:cNvGrpSpPr/>
          <p:nvPr/>
        </p:nvGrpSpPr>
        <p:grpSpPr>
          <a:xfrm>
            <a:off x="838200" y="3276600"/>
            <a:ext cx="7620000" cy="2895600"/>
            <a:chOff x="528" y="2064"/>
            <a:chExt cx="4800" cy="1824"/>
          </a:xfrm>
        </p:grpSpPr>
        <p:sp>
          <p:nvSpPr>
            <p:cNvPr id="76813" name="Rectangle 20"/>
            <p:cNvSpPr/>
            <p:nvPr/>
          </p:nvSpPr>
          <p:spPr>
            <a:xfrm>
              <a:off x="528" y="2064"/>
              <a:ext cx="4800" cy="1824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76814" name="Text Box 21"/>
            <p:cNvSpPr txBox="1"/>
            <p:nvPr/>
          </p:nvSpPr>
          <p:spPr>
            <a:xfrm>
              <a:off x="590" y="2112"/>
              <a:ext cx="147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最大项的性质：</a:t>
              </a:r>
              <a:endParaRPr lang="zh-CN" altLang="en-US" sz="2000" b="1" dirty="0">
                <a:solidFill>
                  <a:schemeClr val="tx2"/>
                </a:solidFill>
              </a:endParaRPr>
            </a:p>
          </p:txBody>
        </p:sp>
      </p:grpSp>
      <p:graphicFrame>
        <p:nvGraphicFramePr>
          <p:cNvPr id="63514" name="Object 26" descr="75%"/>
          <p:cNvGraphicFramePr>
            <a:graphicFrameLocks noChangeAspect="1"/>
          </p:cNvGraphicFramePr>
          <p:nvPr/>
        </p:nvGraphicFramePr>
        <p:xfrm>
          <a:off x="6248400" y="5181600"/>
          <a:ext cx="16256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1" imgW="660400" imgH="457200" progId="Equation.3">
                  <p:embed/>
                </p:oleObj>
              </mc:Choice>
              <mc:Fallback>
                <p:oleObj name="" r:id="rId1" imgW="660400" imgH="457200" progId="Equation.3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48400" y="5181600"/>
                        <a:ext cx="1625600" cy="835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6811" name="Picture 27" descr="wb01508_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00" y="61722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6812" name="Text Box 28">
            <a:hlinkClick r:id="rId3" action="ppaction://hlinksldjump"/>
          </p:cNvPr>
          <p:cNvSpPr txBox="1"/>
          <p:nvPr/>
        </p:nvSpPr>
        <p:spPr>
          <a:xfrm>
            <a:off x="7359650" y="62484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3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3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3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3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3" grpId="0"/>
      <p:bldP spid="63499" grpId="0"/>
      <p:bldP spid="63501" grpId="0"/>
      <p:bldP spid="63502" grpId="0"/>
      <p:bldP spid="63504" grpId="0"/>
      <p:bldP spid="63507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Text Box 2"/>
          <p:cNvSpPr txBox="1"/>
          <p:nvPr/>
        </p:nvSpPr>
        <p:spPr>
          <a:xfrm>
            <a:off x="508000" y="852488"/>
            <a:ext cx="4217988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sym typeface="Symbol" panose="05050102010706020507" pitchFamily="18" charset="2"/>
              </a:rPr>
              <a:t>   </a:t>
            </a:r>
            <a:r>
              <a:rPr lang="zh-CN" altLang="en-US" sz="2800" b="1" dirty="0">
                <a:solidFill>
                  <a:schemeClr val="tx2"/>
                </a:solidFill>
                <a:sym typeface="Symbol" panose="05050102010706020507" pitchFamily="18" charset="2"/>
              </a:rPr>
              <a:t>最小项与最大项的关系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64516" name="Text Box 4"/>
          <p:cNvSpPr txBox="1"/>
          <p:nvPr/>
        </p:nvSpPr>
        <p:spPr>
          <a:xfrm>
            <a:off x="1362075" y="1600200"/>
            <a:ext cx="3254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990033"/>
                </a:solidFill>
                <a:sym typeface="Symbol" panose="05050102010706020507" pitchFamily="18" charset="2"/>
              </a:rPr>
              <a:t></a:t>
            </a:r>
            <a:endParaRPr lang="en-US" altLang="zh-CN" sz="2000" b="1" dirty="0">
              <a:solidFill>
                <a:srgbClr val="990033"/>
              </a:solidFill>
            </a:endParaRPr>
          </a:p>
        </p:txBody>
      </p:sp>
      <p:sp>
        <p:nvSpPr>
          <p:cNvPr id="64517" name="Text Box 5"/>
          <p:cNvSpPr txBox="1"/>
          <p:nvPr/>
        </p:nvSpPr>
        <p:spPr>
          <a:xfrm>
            <a:off x="1905000" y="1600200"/>
            <a:ext cx="57277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相同编号的最小项和最大项存在互补关系</a:t>
            </a:r>
            <a:endParaRPr lang="zh-CN" altLang="en-US" sz="2400" dirty="0"/>
          </a:p>
        </p:txBody>
      </p:sp>
      <p:sp>
        <p:nvSpPr>
          <p:cNvPr id="64518" name="Text Box 6"/>
          <p:cNvSpPr txBox="1"/>
          <p:nvPr/>
        </p:nvSpPr>
        <p:spPr>
          <a:xfrm>
            <a:off x="2133600" y="2133600"/>
            <a:ext cx="6619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即</a:t>
            </a:r>
            <a:r>
              <a:rPr lang="en-US" altLang="zh-CN" sz="2800" b="1" dirty="0">
                <a:solidFill>
                  <a:schemeClr val="tx2"/>
                </a:solidFill>
              </a:rPr>
              <a:t>:</a:t>
            </a:r>
            <a:endParaRPr lang="en-US" altLang="zh-CN" sz="2000" b="1" dirty="0">
              <a:solidFill>
                <a:schemeClr val="tx2"/>
              </a:solidFill>
            </a:endParaRPr>
          </a:p>
        </p:txBody>
      </p:sp>
      <p:sp>
        <p:nvSpPr>
          <p:cNvPr id="64519" name="Text Box 7"/>
          <p:cNvSpPr txBox="1"/>
          <p:nvPr/>
        </p:nvSpPr>
        <p:spPr>
          <a:xfrm>
            <a:off x="3254375" y="2133600"/>
            <a:ext cx="8477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</a:rPr>
              <a:t>m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i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</a:rPr>
              <a:t>=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64520" name="Text Box 8"/>
          <p:cNvSpPr txBox="1"/>
          <p:nvPr/>
        </p:nvSpPr>
        <p:spPr>
          <a:xfrm>
            <a:off x="3994150" y="2163763"/>
            <a:ext cx="585788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M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i</a:t>
            </a:r>
            <a:endParaRPr lang="en-US" altLang="zh-CN" sz="2800" b="1" dirty="0">
              <a:solidFill>
                <a:schemeClr val="tx2"/>
              </a:solidFill>
            </a:endParaRPr>
          </a:p>
        </p:txBody>
      </p:sp>
      <p:sp>
        <p:nvSpPr>
          <p:cNvPr id="64521" name="Line 9"/>
          <p:cNvSpPr/>
          <p:nvPr/>
        </p:nvSpPr>
        <p:spPr>
          <a:xfrm>
            <a:off x="4133850" y="2239963"/>
            <a:ext cx="2286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3" name="Text Box 11"/>
          <p:cNvSpPr txBox="1"/>
          <p:nvPr/>
        </p:nvSpPr>
        <p:spPr>
          <a:xfrm>
            <a:off x="4846638" y="2133600"/>
            <a:ext cx="8858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</a:rPr>
              <a:t>M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i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</a:rPr>
              <a:t>=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64524" name="Text Box 12"/>
          <p:cNvSpPr txBox="1"/>
          <p:nvPr/>
        </p:nvSpPr>
        <p:spPr>
          <a:xfrm>
            <a:off x="5624513" y="2163763"/>
            <a:ext cx="547687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m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i</a:t>
            </a:r>
            <a:endParaRPr lang="en-US" altLang="zh-CN" sz="2800" b="1" dirty="0">
              <a:solidFill>
                <a:schemeClr val="tx2"/>
              </a:solidFill>
            </a:endParaRPr>
          </a:p>
        </p:txBody>
      </p:sp>
      <p:sp>
        <p:nvSpPr>
          <p:cNvPr id="64525" name="Line 13"/>
          <p:cNvSpPr/>
          <p:nvPr/>
        </p:nvSpPr>
        <p:spPr>
          <a:xfrm>
            <a:off x="5745163" y="2316163"/>
            <a:ext cx="2286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6" name="Text Box 14"/>
          <p:cNvSpPr txBox="1"/>
          <p:nvPr/>
        </p:nvSpPr>
        <p:spPr>
          <a:xfrm>
            <a:off x="1350963" y="2819400"/>
            <a:ext cx="3254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990033"/>
                </a:solidFill>
                <a:sym typeface="Symbol" panose="05050102010706020507" pitchFamily="18" charset="2"/>
              </a:rPr>
              <a:t></a:t>
            </a:r>
            <a:endParaRPr lang="en-US" altLang="zh-CN" sz="2000" b="1" dirty="0">
              <a:solidFill>
                <a:srgbClr val="990033"/>
              </a:solidFill>
            </a:endParaRPr>
          </a:p>
        </p:txBody>
      </p:sp>
      <p:sp>
        <p:nvSpPr>
          <p:cNvPr id="64527" name="Text Box 15"/>
          <p:cNvSpPr txBox="1"/>
          <p:nvPr/>
        </p:nvSpPr>
        <p:spPr>
          <a:xfrm>
            <a:off x="1905000" y="2819400"/>
            <a:ext cx="678180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若干个最小项之和表示的表达式</a:t>
            </a:r>
            <a:r>
              <a:rPr lang="en-US" altLang="zh-CN" sz="2400" b="1" dirty="0"/>
              <a:t>F</a:t>
            </a:r>
            <a:r>
              <a:rPr lang="zh-CN" altLang="en-US" sz="2400" b="1" dirty="0"/>
              <a:t>，其反函数</a:t>
            </a:r>
            <a:r>
              <a:rPr lang="en-US" altLang="zh-CN" sz="2400" b="1" dirty="0"/>
              <a:t>F</a:t>
            </a:r>
            <a:r>
              <a:rPr lang="zh-CN" altLang="en-US" sz="2400" b="1" dirty="0"/>
              <a:t>可用等同个与这些最小项相对应的最大项之积表示。</a:t>
            </a:r>
            <a:endParaRPr lang="zh-CN" altLang="en-US" sz="2400" b="1" dirty="0"/>
          </a:p>
        </p:txBody>
      </p:sp>
      <p:grpSp>
        <p:nvGrpSpPr>
          <p:cNvPr id="2" name="Group 39"/>
          <p:cNvGrpSpPr/>
          <p:nvPr/>
        </p:nvGrpSpPr>
        <p:grpSpPr>
          <a:xfrm>
            <a:off x="1219200" y="3810000"/>
            <a:ext cx="7315200" cy="2667000"/>
            <a:chOff x="768" y="2400"/>
            <a:chExt cx="4608" cy="1680"/>
          </a:xfrm>
        </p:grpSpPr>
        <p:sp>
          <p:nvSpPr>
            <p:cNvPr id="77861" name="Rectangle 16"/>
            <p:cNvSpPr/>
            <p:nvPr/>
          </p:nvSpPr>
          <p:spPr>
            <a:xfrm>
              <a:off x="768" y="2400"/>
              <a:ext cx="4608" cy="1680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77862" name="Text Box 17"/>
            <p:cNvSpPr txBox="1"/>
            <p:nvPr/>
          </p:nvSpPr>
          <p:spPr>
            <a:xfrm>
              <a:off x="816" y="2477"/>
              <a:ext cx="6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tx2"/>
                  </a:solidFill>
                </a:rPr>
                <a:t> </a:t>
              </a:r>
              <a:r>
                <a:rPr lang="zh-CN" altLang="zh-CN" sz="2800" b="1" dirty="0">
                  <a:solidFill>
                    <a:schemeClr val="tx2"/>
                  </a:solidFill>
                </a:rPr>
                <a:t>例：</a:t>
              </a:r>
              <a:endParaRPr lang="zh-CN" altLang="en-US" sz="2000" b="1" dirty="0">
                <a:solidFill>
                  <a:schemeClr val="tx2"/>
                </a:solidFill>
              </a:endParaRPr>
            </a:p>
          </p:txBody>
        </p:sp>
      </p:grpSp>
      <p:graphicFrame>
        <p:nvGraphicFramePr>
          <p:cNvPr id="64530" name="Object 18"/>
          <p:cNvGraphicFramePr>
            <a:graphicFrameLocks noChangeAspect="1"/>
          </p:cNvGraphicFramePr>
          <p:nvPr/>
        </p:nvGraphicFramePr>
        <p:xfrm>
          <a:off x="2362200" y="3886200"/>
          <a:ext cx="4495800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1" imgW="1409700" imgH="228600" progId="Equation.3">
                  <p:embed/>
                </p:oleObj>
              </mc:Choice>
              <mc:Fallback>
                <p:oleObj name="" r:id="rId1" imgW="1409700" imgH="228600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62200" y="3886200"/>
                        <a:ext cx="4495800" cy="728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1" name="Object 19"/>
          <p:cNvGraphicFramePr>
            <a:graphicFrameLocks noChangeAspect="1"/>
          </p:cNvGraphicFramePr>
          <p:nvPr/>
        </p:nvGraphicFramePr>
        <p:xfrm>
          <a:off x="2362200" y="4492625"/>
          <a:ext cx="4572000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" r:id="rId3" imgW="1409065" imgH="254000" progId="Equation.3">
                  <p:embed/>
                </p:oleObj>
              </mc:Choice>
              <mc:Fallback>
                <p:oleObj name="" r:id="rId3" imgW="1409065" imgH="254000" progId="Equation.3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62200" y="4492625"/>
                        <a:ext cx="4572000" cy="817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3"/>
          <p:cNvGrpSpPr/>
          <p:nvPr/>
        </p:nvGrpSpPr>
        <p:grpSpPr>
          <a:xfrm>
            <a:off x="3194050" y="5224463"/>
            <a:ext cx="692150" cy="641350"/>
            <a:chOff x="1847" y="3543"/>
            <a:chExt cx="436" cy="404"/>
          </a:xfrm>
        </p:grpSpPr>
        <p:sp>
          <p:nvSpPr>
            <p:cNvPr id="77859" name="Text Box 21"/>
            <p:cNvSpPr txBox="1"/>
            <p:nvPr/>
          </p:nvSpPr>
          <p:spPr>
            <a:xfrm>
              <a:off x="1847" y="3543"/>
              <a:ext cx="436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3600" dirty="0">
                  <a:solidFill>
                    <a:schemeClr val="tx2"/>
                  </a:solidFill>
                </a:rPr>
                <a:t>m</a:t>
              </a:r>
              <a:r>
                <a:rPr lang="en-US" altLang="zh-CN" sz="3600" baseline="-25000" dirty="0">
                  <a:solidFill>
                    <a:schemeClr val="tx2"/>
                  </a:solidFill>
                </a:rPr>
                <a:t>1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77860" name="Line 22"/>
            <p:cNvSpPr/>
            <p:nvPr/>
          </p:nvSpPr>
          <p:spPr>
            <a:xfrm>
              <a:off x="1920" y="3648"/>
              <a:ext cx="14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24"/>
          <p:cNvGrpSpPr/>
          <p:nvPr/>
        </p:nvGrpSpPr>
        <p:grpSpPr>
          <a:xfrm>
            <a:off x="4038600" y="5224463"/>
            <a:ext cx="692150" cy="641350"/>
            <a:chOff x="1847" y="3543"/>
            <a:chExt cx="436" cy="404"/>
          </a:xfrm>
        </p:grpSpPr>
        <p:sp>
          <p:nvSpPr>
            <p:cNvPr id="77857" name="Text Box 25"/>
            <p:cNvSpPr txBox="1"/>
            <p:nvPr/>
          </p:nvSpPr>
          <p:spPr>
            <a:xfrm>
              <a:off x="1847" y="3543"/>
              <a:ext cx="436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3600" dirty="0">
                  <a:solidFill>
                    <a:schemeClr val="tx2"/>
                  </a:solidFill>
                </a:rPr>
                <a:t>m</a:t>
              </a:r>
              <a:r>
                <a:rPr lang="en-US" altLang="zh-CN" sz="3600" baseline="-25000" dirty="0">
                  <a:solidFill>
                    <a:schemeClr val="tx2"/>
                  </a:solidFill>
                </a:rPr>
                <a:t>3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77858" name="Line 26"/>
            <p:cNvSpPr/>
            <p:nvPr/>
          </p:nvSpPr>
          <p:spPr>
            <a:xfrm>
              <a:off x="1920" y="3648"/>
              <a:ext cx="14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27"/>
          <p:cNvGrpSpPr/>
          <p:nvPr/>
        </p:nvGrpSpPr>
        <p:grpSpPr>
          <a:xfrm>
            <a:off x="5105400" y="5268913"/>
            <a:ext cx="692150" cy="641350"/>
            <a:chOff x="1847" y="3543"/>
            <a:chExt cx="436" cy="404"/>
          </a:xfrm>
        </p:grpSpPr>
        <p:sp>
          <p:nvSpPr>
            <p:cNvPr id="77855" name="Text Box 28"/>
            <p:cNvSpPr txBox="1"/>
            <p:nvPr/>
          </p:nvSpPr>
          <p:spPr>
            <a:xfrm>
              <a:off x="1847" y="3543"/>
              <a:ext cx="436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3600" dirty="0">
                  <a:solidFill>
                    <a:schemeClr val="tx2"/>
                  </a:solidFill>
                </a:rPr>
                <a:t>m</a:t>
              </a:r>
              <a:r>
                <a:rPr lang="en-US" altLang="zh-CN" sz="3600" baseline="-25000" dirty="0">
                  <a:solidFill>
                    <a:schemeClr val="tx2"/>
                  </a:solidFill>
                </a:rPr>
                <a:t>5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77856" name="Line 29"/>
            <p:cNvSpPr/>
            <p:nvPr/>
          </p:nvSpPr>
          <p:spPr>
            <a:xfrm>
              <a:off x="1920" y="3648"/>
              <a:ext cx="14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30"/>
          <p:cNvGrpSpPr/>
          <p:nvPr/>
        </p:nvGrpSpPr>
        <p:grpSpPr>
          <a:xfrm>
            <a:off x="6096000" y="5224463"/>
            <a:ext cx="692150" cy="641350"/>
            <a:chOff x="1847" y="3543"/>
            <a:chExt cx="436" cy="404"/>
          </a:xfrm>
        </p:grpSpPr>
        <p:sp>
          <p:nvSpPr>
            <p:cNvPr id="77853" name="Text Box 31"/>
            <p:cNvSpPr txBox="1"/>
            <p:nvPr/>
          </p:nvSpPr>
          <p:spPr>
            <a:xfrm>
              <a:off x="1847" y="3543"/>
              <a:ext cx="436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3600" dirty="0">
                  <a:solidFill>
                    <a:schemeClr val="tx2"/>
                  </a:solidFill>
                </a:rPr>
                <a:t>m</a:t>
              </a:r>
              <a:r>
                <a:rPr lang="en-US" altLang="zh-CN" sz="3600" baseline="-25000" dirty="0">
                  <a:solidFill>
                    <a:schemeClr val="tx2"/>
                  </a:solidFill>
                </a:rPr>
                <a:t>7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77854" name="Line 32"/>
            <p:cNvSpPr/>
            <p:nvPr/>
          </p:nvSpPr>
          <p:spPr>
            <a:xfrm>
              <a:off x="1920" y="3648"/>
              <a:ext cx="14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4545" name="Text Box 33"/>
          <p:cNvSpPr txBox="1"/>
          <p:nvPr/>
        </p:nvSpPr>
        <p:spPr>
          <a:xfrm>
            <a:off x="2682875" y="5224463"/>
            <a:ext cx="441325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3600" dirty="0">
                <a:solidFill>
                  <a:schemeClr val="tx2"/>
                </a:solidFill>
              </a:rPr>
              <a:t>=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64546" name="Text Box 34"/>
          <p:cNvSpPr txBox="1"/>
          <p:nvPr/>
        </p:nvSpPr>
        <p:spPr>
          <a:xfrm>
            <a:off x="3733800" y="5334000"/>
            <a:ext cx="30162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sym typeface="Symbol" panose="05050102010706020507" pitchFamily="18" charset="2"/>
              </a:rPr>
              <a:t>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64547" name="Text Box 35"/>
          <p:cNvSpPr txBox="1"/>
          <p:nvPr/>
        </p:nvSpPr>
        <p:spPr>
          <a:xfrm>
            <a:off x="4719638" y="5391150"/>
            <a:ext cx="30162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sym typeface="Symbol" panose="05050102010706020507" pitchFamily="18" charset="2"/>
              </a:rPr>
              <a:t></a:t>
            </a:r>
            <a:endParaRPr lang="en-US" altLang="zh-CN" sz="2000" b="1" dirty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  <p:sp>
        <p:nvSpPr>
          <p:cNvPr id="64548" name="Text Box 36"/>
          <p:cNvSpPr txBox="1"/>
          <p:nvPr/>
        </p:nvSpPr>
        <p:spPr>
          <a:xfrm>
            <a:off x="5722938" y="5422900"/>
            <a:ext cx="30162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sym typeface="Symbol" panose="05050102010706020507" pitchFamily="18" charset="2"/>
              </a:rPr>
              <a:t></a:t>
            </a:r>
            <a:endParaRPr lang="en-US" altLang="zh-CN" sz="2000" b="1" dirty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64549" name="Object 37"/>
          <p:cNvGraphicFramePr>
            <a:graphicFrameLocks noChangeAspect="1"/>
          </p:cNvGraphicFramePr>
          <p:nvPr/>
        </p:nvGraphicFramePr>
        <p:xfrm>
          <a:off x="3216275" y="5791200"/>
          <a:ext cx="348932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5" imgW="1117600" imgH="228600" progId="Equation.3">
                  <p:embed/>
                </p:oleObj>
              </mc:Choice>
              <mc:Fallback>
                <p:oleObj name="" r:id="rId5" imgW="1117600" imgH="228600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16275" y="5791200"/>
                        <a:ext cx="3489325" cy="628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50" name="Text Box 38"/>
          <p:cNvSpPr txBox="1"/>
          <p:nvPr/>
        </p:nvSpPr>
        <p:spPr>
          <a:xfrm>
            <a:off x="2682875" y="5715000"/>
            <a:ext cx="441325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3600" dirty="0">
                <a:solidFill>
                  <a:schemeClr val="tx2"/>
                </a:solidFill>
              </a:rPr>
              <a:t>=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pic>
        <p:nvPicPr>
          <p:cNvPr id="77851" name="Picture 41" descr="wb01508_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3150" y="7620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7852" name="Text Box 42">
            <a:hlinkClick r:id="rId7" action="ppaction://hlinksldjump"/>
          </p:cNvPr>
          <p:cNvSpPr txBox="1"/>
          <p:nvPr/>
        </p:nvSpPr>
        <p:spPr>
          <a:xfrm>
            <a:off x="7620000" y="8382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4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45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45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4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4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4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4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4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4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4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4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6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6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/>
      <p:bldP spid="64516" grpId="0"/>
      <p:bldP spid="64517" grpId="0"/>
      <p:bldP spid="64518" grpId="0"/>
      <p:bldP spid="64519" grpId="0"/>
      <p:bldP spid="64520" grpId="0"/>
      <p:bldP spid="64523" grpId="0"/>
      <p:bldP spid="64524" grpId="0"/>
      <p:bldP spid="64526" grpId="0"/>
      <p:bldP spid="64527" grpId="0"/>
      <p:bldP spid="64545" grpId="0"/>
      <p:bldP spid="64546" grpId="0"/>
      <p:bldP spid="64547" grpId="0"/>
      <p:bldP spid="64548" grpId="0"/>
      <p:bldP spid="64550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Text Box 2"/>
          <p:cNvSpPr txBox="1"/>
          <p:nvPr/>
        </p:nvSpPr>
        <p:spPr>
          <a:xfrm>
            <a:off x="990600" y="334963"/>
            <a:ext cx="7315200" cy="823912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4800" b="1" dirty="0">
                <a:solidFill>
                  <a:srgbClr val="990033"/>
                </a:solidFill>
                <a:ea typeface="隶书" panose="02010509060101010101" pitchFamily="49" charset="-122"/>
              </a:rPr>
              <a:t>逻辑函数的标准形式</a:t>
            </a:r>
            <a:endParaRPr lang="zh-CN" altLang="en-US" sz="4800" b="1" dirty="0">
              <a:solidFill>
                <a:srgbClr val="990033"/>
              </a:solidFill>
              <a:ea typeface="隶书" panose="02010509060101010101" pitchFamily="49" charset="-122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533400" y="1187450"/>
            <a:ext cx="5275263" cy="641350"/>
            <a:chOff x="500" y="950"/>
            <a:chExt cx="3323" cy="404"/>
          </a:xfrm>
        </p:grpSpPr>
        <p:sp>
          <p:nvSpPr>
            <p:cNvPr id="78960" name="Text Box 3"/>
            <p:cNvSpPr txBox="1"/>
            <p:nvPr/>
          </p:nvSpPr>
          <p:spPr>
            <a:xfrm>
              <a:off x="500" y="950"/>
              <a:ext cx="249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3600" b="1" dirty="0">
                  <a:solidFill>
                    <a:srgbClr val="CC3300"/>
                  </a:solidFill>
                  <a:sym typeface="Symbol" panose="05050102010706020507" pitchFamily="18" charset="2"/>
                </a:rPr>
                <a:t>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78961" name="Text Box 4"/>
            <p:cNvSpPr txBox="1"/>
            <p:nvPr/>
          </p:nvSpPr>
          <p:spPr>
            <a:xfrm>
              <a:off x="864" y="1008"/>
              <a:ext cx="295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chemeClr val="accent2"/>
                  </a:solidFill>
                </a:rPr>
                <a:t>标准积之和</a:t>
              </a:r>
              <a:r>
                <a:rPr lang="en-US" altLang="zh-CN" sz="2800" b="1" dirty="0">
                  <a:solidFill>
                    <a:schemeClr val="accent2"/>
                  </a:solidFill>
                </a:rPr>
                <a:t>( </a:t>
              </a:r>
              <a:r>
                <a:rPr lang="zh-CN" altLang="en-US" sz="2800" b="1" dirty="0">
                  <a:solidFill>
                    <a:schemeClr val="accent2"/>
                  </a:solidFill>
                </a:rPr>
                <a:t>最小项）表达式</a:t>
              </a:r>
              <a:endParaRPr lang="zh-CN" altLang="en-US" sz="2400" dirty="0"/>
            </a:p>
          </p:txBody>
        </p:sp>
      </p:grpSp>
      <p:grpSp>
        <p:nvGrpSpPr>
          <p:cNvPr id="3" name="Group 41"/>
          <p:cNvGrpSpPr/>
          <p:nvPr/>
        </p:nvGrpSpPr>
        <p:grpSpPr>
          <a:xfrm>
            <a:off x="5562600" y="381000"/>
            <a:ext cx="2743200" cy="990600"/>
            <a:chOff x="3504" y="240"/>
            <a:chExt cx="1728" cy="624"/>
          </a:xfrm>
        </p:grpSpPr>
        <p:sp>
          <p:nvSpPr>
            <p:cNvPr id="78958" name="AutoShape 5"/>
            <p:cNvSpPr/>
            <p:nvPr/>
          </p:nvSpPr>
          <p:spPr>
            <a:xfrm>
              <a:off x="3504" y="240"/>
              <a:ext cx="1728" cy="624"/>
            </a:xfrm>
            <a:prstGeom prst="wedgeRectCallout">
              <a:avLst>
                <a:gd name="adj1" fmla="val -45139"/>
                <a:gd name="adj2" fmla="val 76602"/>
              </a:avLst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78959" name="Text Box 6"/>
            <p:cNvSpPr txBox="1"/>
            <p:nvPr/>
          </p:nvSpPr>
          <p:spPr>
            <a:xfrm>
              <a:off x="3552" y="288"/>
              <a:ext cx="1608" cy="51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式中的每一个乘积项均为最小项</a:t>
              </a:r>
              <a:endParaRPr lang="zh-CN" altLang="en-US" sz="2400" dirty="0"/>
            </a:p>
          </p:txBody>
        </p:sp>
      </p:grpSp>
      <p:grpSp>
        <p:nvGrpSpPr>
          <p:cNvPr id="4" name="Group 16"/>
          <p:cNvGrpSpPr/>
          <p:nvPr/>
        </p:nvGrpSpPr>
        <p:grpSpPr>
          <a:xfrm>
            <a:off x="685800" y="1752600"/>
            <a:ext cx="7848600" cy="1905000"/>
            <a:chOff x="816" y="1344"/>
            <a:chExt cx="4320" cy="1200"/>
          </a:xfrm>
        </p:grpSpPr>
        <p:sp>
          <p:nvSpPr>
            <p:cNvPr id="78955" name="Rectangle 10"/>
            <p:cNvSpPr/>
            <p:nvPr/>
          </p:nvSpPr>
          <p:spPr>
            <a:xfrm>
              <a:off x="816" y="1344"/>
              <a:ext cx="4320" cy="1200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78956" name="Text Box 11"/>
            <p:cNvSpPr txBox="1"/>
            <p:nvPr/>
          </p:nvSpPr>
          <p:spPr>
            <a:xfrm>
              <a:off x="992" y="1440"/>
              <a:ext cx="119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F(A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、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B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、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C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、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D)</a:t>
              </a:r>
              <a:endParaRPr lang="en-US" altLang="zh-CN" sz="2400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78957" name="Object 12"/>
            <p:cNvGraphicFramePr>
              <a:graphicFrameLocks noChangeAspect="1"/>
            </p:cNvGraphicFramePr>
            <p:nvPr/>
          </p:nvGraphicFramePr>
          <p:xfrm>
            <a:off x="2204" y="1392"/>
            <a:ext cx="2836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6" name="" r:id="rId1" imgW="2451100" imgH="215900" progId="Equation.3">
                    <p:embed/>
                  </p:oleObj>
                </mc:Choice>
                <mc:Fallback>
                  <p:oleObj name="" r:id="rId1" imgW="2451100" imgH="215900" progId="Equation.3">
                    <p:embed/>
                    <p:pic>
                      <p:nvPicPr>
                        <p:cNvPr id="0" name="图片 31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204" y="1392"/>
                          <a:ext cx="2836" cy="3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5549" name="Object 13"/>
          <p:cNvGraphicFramePr>
            <a:graphicFrameLocks noChangeAspect="1"/>
          </p:cNvGraphicFramePr>
          <p:nvPr/>
        </p:nvGraphicFramePr>
        <p:xfrm>
          <a:off x="3276600" y="2316163"/>
          <a:ext cx="3300413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3" imgW="1282700" imgH="228600" progId="Equation.3">
                  <p:embed/>
                </p:oleObj>
              </mc:Choice>
              <mc:Fallback>
                <p:oleObj name="" r:id="rId3" imgW="1282700" imgH="228600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76600" y="2316163"/>
                        <a:ext cx="3300413" cy="588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0" name="Object 14"/>
          <p:cNvGraphicFramePr>
            <a:graphicFrameLocks noChangeAspect="1"/>
          </p:cNvGraphicFramePr>
          <p:nvPr/>
        </p:nvGraphicFramePr>
        <p:xfrm>
          <a:off x="3276600" y="2921000"/>
          <a:ext cx="318135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" r:id="rId5" imgW="1180465" imgH="254000" progId="Equation.3">
                  <p:embed/>
                </p:oleObj>
              </mc:Choice>
              <mc:Fallback>
                <p:oleObj name="" r:id="rId5" imgW="1180465" imgH="254000" progId="Equation.3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76600" y="2921000"/>
                        <a:ext cx="3181350" cy="679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8"/>
          <p:cNvGrpSpPr/>
          <p:nvPr/>
        </p:nvGrpSpPr>
        <p:grpSpPr>
          <a:xfrm>
            <a:off x="685800" y="3733800"/>
            <a:ext cx="7848600" cy="2667000"/>
            <a:chOff x="432" y="2352"/>
            <a:chExt cx="4944" cy="1680"/>
          </a:xfrm>
        </p:grpSpPr>
        <p:sp>
          <p:nvSpPr>
            <p:cNvPr id="78953" name="Rectangle 17"/>
            <p:cNvSpPr/>
            <p:nvPr/>
          </p:nvSpPr>
          <p:spPr>
            <a:xfrm>
              <a:off x="432" y="2352"/>
              <a:ext cx="4944" cy="1680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78954" name="Text Box 18"/>
            <p:cNvSpPr txBox="1"/>
            <p:nvPr/>
          </p:nvSpPr>
          <p:spPr>
            <a:xfrm>
              <a:off x="528" y="2400"/>
              <a:ext cx="5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例：</a:t>
              </a:r>
              <a:endPara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6" name="Group 39"/>
          <p:cNvGrpSpPr/>
          <p:nvPr/>
        </p:nvGrpSpPr>
        <p:grpSpPr>
          <a:xfrm>
            <a:off x="1447800" y="3733800"/>
            <a:ext cx="6781800" cy="990600"/>
            <a:chOff x="912" y="2352"/>
            <a:chExt cx="4272" cy="624"/>
          </a:xfrm>
        </p:grpSpPr>
        <p:sp>
          <p:nvSpPr>
            <p:cNvPr id="78949" name="Text Box 19"/>
            <p:cNvSpPr txBox="1"/>
            <p:nvPr/>
          </p:nvSpPr>
          <p:spPr>
            <a:xfrm>
              <a:off x="1048" y="2399"/>
              <a:ext cx="1678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求函数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F(A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、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B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、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C)</a:t>
              </a:r>
              <a:endParaRPr lang="en-US" altLang="zh-CN" sz="2400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78950" name="Object 20"/>
            <p:cNvGraphicFramePr>
              <a:graphicFrameLocks noChangeAspect="1"/>
            </p:cNvGraphicFramePr>
            <p:nvPr/>
          </p:nvGraphicFramePr>
          <p:xfrm>
            <a:off x="2832" y="2352"/>
            <a:ext cx="1152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0" name="" r:id="rId7" imgW="989965" imgH="241300" progId="Equation.3">
                    <p:embed/>
                  </p:oleObj>
                </mc:Choice>
                <mc:Fallback>
                  <p:oleObj name="" r:id="rId7" imgW="989965" imgH="241300" progId="Equation.3">
                    <p:embed/>
                    <p:pic>
                      <p:nvPicPr>
                        <p:cNvPr id="0" name="图片 317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832" y="2352"/>
                          <a:ext cx="1152" cy="3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951" name="Text Box 22"/>
            <p:cNvSpPr txBox="1"/>
            <p:nvPr/>
          </p:nvSpPr>
          <p:spPr>
            <a:xfrm>
              <a:off x="4080" y="2400"/>
              <a:ext cx="11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的标准积之</a:t>
              </a:r>
              <a:endParaRPr lang="zh-CN" altLang="en-US" sz="2400" b="1" dirty="0"/>
            </a:p>
          </p:txBody>
        </p:sp>
        <p:sp>
          <p:nvSpPr>
            <p:cNvPr id="78952" name="Text Box 23"/>
            <p:cNvSpPr txBox="1"/>
            <p:nvPr/>
          </p:nvSpPr>
          <p:spPr>
            <a:xfrm>
              <a:off x="912" y="2688"/>
              <a:ext cx="8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和表达式</a:t>
              </a:r>
              <a:endParaRPr lang="zh-CN" altLang="en-US" sz="2400" dirty="0"/>
            </a:p>
          </p:txBody>
        </p:sp>
      </p:grpSp>
      <p:grpSp>
        <p:nvGrpSpPr>
          <p:cNvPr id="7" name="Group 40"/>
          <p:cNvGrpSpPr/>
          <p:nvPr/>
        </p:nvGrpSpPr>
        <p:grpSpPr>
          <a:xfrm>
            <a:off x="1119188" y="4648200"/>
            <a:ext cx="4976812" cy="571500"/>
            <a:chOff x="705" y="2928"/>
            <a:chExt cx="3135" cy="360"/>
          </a:xfrm>
        </p:grpSpPr>
        <p:sp>
          <p:nvSpPr>
            <p:cNvPr id="78947" name="Text Box 24"/>
            <p:cNvSpPr txBox="1"/>
            <p:nvPr/>
          </p:nvSpPr>
          <p:spPr>
            <a:xfrm>
              <a:off x="705" y="2975"/>
              <a:ext cx="1484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解：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F(A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、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B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、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C)</a:t>
              </a:r>
              <a:endParaRPr lang="en-US" altLang="zh-CN" sz="2400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78948" name="Object 25"/>
            <p:cNvGraphicFramePr>
              <a:graphicFrameLocks noChangeAspect="1"/>
            </p:cNvGraphicFramePr>
            <p:nvPr/>
          </p:nvGraphicFramePr>
          <p:xfrm>
            <a:off x="2256" y="2928"/>
            <a:ext cx="1584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" name="" r:id="rId9" imgW="989965" imgH="241300" progId="Equation.3">
                    <p:embed/>
                  </p:oleObj>
                </mc:Choice>
                <mc:Fallback>
                  <p:oleObj name="" r:id="rId9" imgW="989965" imgH="241300" progId="Equation.3">
                    <p:embed/>
                    <p:pic>
                      <p:nvPicPr>
                        <p:cNvPr id="0" name="图片 317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256" y="2928"/>
                          <a:ext cx="1584" cy="3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5562" name="Object 26"/>
          <p:cNvGraphicFramePr>
            <a:graphicFrameLocks noChangeAspect="1"/>
          </p:cNvGraphicFramePr>
          <p:nvPr/>
        </p:nvGraphicFramePr>
        <p:xfrm>
          <a:off x="6096000" y="4648200"/>
          <a:ext cx="20574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10" imgW="939165" imgH="215900" progId="Equation.3">
                  <p:embed/>
                </p:oleObj>
              </mc:Choice>
              <mc:Fallback>
                <p:oleObj name="" r:id="rId10" imgW="939165" imgH="215900" progId="Equation.3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096000" y="4648200"/>
                        <a:ext cx="2057400" cy="522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3" name="Object 27"/>
          <p:cNvGraphicFramePr>
            <a:graphicFrameLocks noChangeAspect="1"/>
          </p:cNvGraphicFramePr>
          <p:nvPr/>
        </p:nvGraphicFramePr>
        <p:xfrm>
          <a:off x="2438400" y="5221288"/>
          <a:ext cx="274320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" name="" r:id="rId12" imgW="1282700" imgH="241300" progId="Equation.3">
                  <p:embed/>
                </p:oleObj>
              </mc:Choice>
              <mc:Fallback>
                <p:oleObj name="" r:id="rId12" imgW="1282700" imgH="241300" progId="Equation.3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438400" y="5221288"/>
                        <a:ext cx="2743200" cy="569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4" name="Object 28"/>
          <p:cNvGraphicFramePr>
            <a:graphicFrameLocks noChangeAspect="1"/>
          </p:cNvGraphicFramePr>
          <p:nvPr/>
        </p:nvGraphicFramePr>
        <p:xfrm>
          <a:off x="5257800" y="5181600"/>
          <a:ext cx="28956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14" imgW="1383665" imgH="215900" progId="Equation.3">
                  <p:embed/>
                </p:oleObj>
              </mc:Choice>
              <mc:Fallback>
                <p:oleObj name="" r:id="rId14" imgW="1383665" imgH="215900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257800" y="5181600"/>
                        <a:ext cx="2895600" cy="541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5" name="Object 29"/>
          <p:cNvGraphicFramePr>
            <a:graphicFrameLocks noChangeAspect="1"/>
          </p:cNvGraphicFramePr>
          <p:nvPr/>
        </p:nvGraphicFramePr>
        <p:xfrm>
          <a:off x="2438400" y="5715000"/>
          <a:ext cx="24384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" r:id="rId16" imgW="965200" imgH="228600" progId="Equation.3">
                  <p:embed/>
                </p:oleObj>
              </mc:Choice>
              <mc:Fallback>
                <p:oleObj name="" r:id="rId16" imgW="965200" imgH="228600" progId="Equation.3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438400" y="5715000"/>
                        <a:ext cx="2438400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6" name="Object 30"/>
          <p:cNvGraphicFramePr>
            <a:graphicFrameLocks noChangeAspect="1"/>
          </p:cNvGraphicFramePr>
          <p:nvPr/>
        </p:nvGraphicFramePr>
        <p:xfrm>
          <a:off x="4914900" y="5715000"/>
          <a:ext cx="255270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18" imgW="989965" imgH="254000" progId="Equation.3">
                  <p:embed/>
                </p:oleObj>
              </mc:Choice>
              <mc:Fallback>
                <p:oleObj name="" r:id="rId18" imgW="989965" imgH="254000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914900" y="5715000"/>
                        <a:ext cx="2552700" cy="649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33"/>
          <p:cNvGrpSpPr/>
          <p:nvPr/>
        </p:nvGrpSpPr>
        <p:grpSpPr>
          <a:xfrm>
            <a:off x="4343400" y="3124200"/>
            <a:ext cx="1905000" cy="1143000"/>
            <a:chOff x="2688" y="1920"/>
            <a:chExt cx="1200" cy="720"/>
          </a:xfrm>
        </p:grpSpPr>
        <p:sp>
          <p:nvSpPr>
            <p:cNvPr id="78945" name="AutoShape 31" descr="羊皮纸"/>
            <p:cNvSpPr/>
            <p:nvPr/>
          </p:nvSpPr>
          <p:spPr>
            <a:xfrm>
              <a:off x="2688" y="1920"/>
              <a:ext cx="1200" cy="720"/>
            </a:xfrm>
            <a:prstGeom prst="wedgeEllipseCallout">
              <a:avLst>
                <a:gd name="adj1" fmla="val -48750"/>
                <a:gd name="adj2" fmla="val 91667"/>
              </a:avLst>
            </a:prstGeom>
            <a:blipFill rotWithShape="0">
              <a:blip r:embed="rId20"/>
            </a:blip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78946" name="Text Box 32"/>
            <p:cNvSpPr txBox="1"/>
            <p:nvPr/>
          </p:nvSpPr>
          <p:spPr>
            <a:xfrm>
              <a:off x="2736" y="2112"/>
              <a:ext cx="108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利用反演律</a:t>
              </a:r>
              <a:endParaRPr lang="zh-CN" altLang="en-US" sz="36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9" name="Group 37"/>
          <p:cNvGrpSpPr/>
          <p:nvPr/>
        </p:nvGrpSpPr>
        <p:grpSpPr>
          <a:xfrm>
            <a:off x="5867400" y="3200400"/>
            <a:ext cx="3276600" cy="1295400"/>
            <a:chOff x="3648" y="1968"/>
            <a:chExt cx="2064" cy="816"/>
          </a:xfrm>
        </p:grpSpPr>
        <p:sp>
          <p:nvSpPr>
            <p:cNvPr id="78943" name="AutoShape 34"/>
            <p:cNvSpPr/>
            <p:nvPr/>
          </p:nvSpPr>
          <p:spPr>
            <a:xfrm>
              <a:off x="3648" y="1968"/>
              <a:ext cx="2064" cy="816"/>
            </a:xfrm>
            <a:prstGeom prst="wedgeEllipseCallout">
              <a:avLst>
                <a:gd name="adj1" fmla="val -19333"/>
                <a:gd name="adj2" fmla="val 72917"/>
              </a:avLst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78944" name="Text Box 35"/>
            <p:cNvSpPr txBox="1"/>
            <p:nvPr/>
          </p:nvSpPr>
          <p:spPr>
            <a:xfrm>
              <a:off x="3865" y="2112"/>
              <a:ext cx="1630" cy="51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利用互补律，补上所缺变量</a:t>
              </a:r>
              <a:r>
                <a:rPr lang="en-US" altLang="zh-CN" sz="2400" b="1" dirty="0">
                  <a:solidFill>
                    <a:schemeClr val="tx2"/>
                  </a:solidFill>
                </a:rPr>
                <a:t>C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0" name="Group 96"/>
          <p:cNvGrpSpPr/>
          <p:nvPr/>
        </p:nvGrpSpPr>
        <p:grpSpPr>
          <a:xfrm>
            <a:off x="525463" y="1763713"/>
            <a:ext cx="8077200" cy="4648200"/>
            <a:chOff x="432" y="1104"/>
            <a:chExt cx="5088" cy="2928"/>
          </a:xfrm>
        </p:grpSpPr>
        <p:grpSp>
          <p:nvGrpSpPr>
            <p:cNvPr id="78894" name="Group 95"/>
            <p:cNvGrpSpPr/>
            <p:nvPr/>
          </p:nvGrpSpPr>
          <p:grpSpPr>
            <a:xfrm>
              <a:off x="432" y="1104"/>
              <a:ext cx="5088" cy="2928"/>
              <a:chOff x="480" y="1104"/>
              <a:chExt cx="5088" cy="2928"/>
            </a:xfrm>
          </p:grpSpPr>
          <p:sp>
            <p:nvSpPr>
              <p:cNvPr id="78896" name="Rectangle 42" descr="蓝色砂纸"/>
              <p:cNvSpPr/>
              <p:nvPr/>
            </p:nvSpPr>
            <p:spPr>
              <a:xfrm>
                <a:off x="480" y="1104"/>
                <a:ext cx="5088" cy="2928"/>
              </a:xfrm>
              <a:prstGeom prst="rect">
                <a:avLst/>
              </a:prstGeom>
              <a:blipFill rotWithShape="0">
                <a:blip r:embed="rId21"/>
              </a:blipFill>
              <a:ln w="57150" cap="flat" cmpd="thinThick">
                <a:solidFill>
                  <a:srgbClr val="33CC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3600" b="1" dirty="0">
                  <a:solidFill>
                    <a:schemeClr val="tx2"/>
                  </a:solidFill>
                </a:endParaRPr>
              </a:p>
            </p:txBody>
          </p:sp>
          <p:grpSp>
            <p:nvGrpSpPr>
              <p:cNvPr id="78897" name="Group 94"/>
              <p:cNvGrpSpPr/>
              <p:nvPr/>
            </p:nvGrpSpPr>
            <p:grpSpPr>
              <a:xfrm>
                <a:off x="3216" y="1727"/>
                <a:ext cx="2112" cy="2017"/>
                <a:chOff x="3216" y="1727"/>
                <a:chExt cx="2112" cy="2017"/>
              </a:xfrm>
            </p:grpSpPr>
            <p:sp>
              <p:nvSpPr>
                <p:cNvPr id="78938" name="Rectangle 45"/>
                <p:cNvSpPr/>
                <p:nvPr/>
              </p:nvSpPr>
              <p:spPr>
                <a:xfrm>
                  <a:off x="3216" y="1728"/>
                  <a:ext cx="2112" cy="201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78939" name="Line 46"/>
                <p:cNvSpPr/>
                <p:nvPr/>
              </p:nvSpPr>
              <p:spPr>
                <a:xfrm>
                  <a:off x="3216" y="2016"/>
                  <a:ext cx="2112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8940" name="Line 47"/>
                <p:cNvSpPr/>
                <p:nvPr/>
              </p:nvSpPr>
              <p:spPr>
                <a:xfrm>
                  <a:off x="4032" y="1727"/>
                  <a:ext cx="0" cy="2015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8941" name="Line 48"/>
                <p:cNvSpPr/>
                <p:nvPr/>
              </p:nvSpPr>
              <p:spPr>
                <a:xfrm>
                  <a:off x="4464" y="1728"/>
                  <a:ext cx="0" cy="2015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8942" name="Line 49"/>
                <p:cNvSpPr/>
                <p:nvPr/>
              </p:nvSpPr>
              <p:spPr>
                <a:xfrm>
                  <a:off x="4896" y="1728"/>
                  <a:ext cx="0" cy="2015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8898" name="Group 90"/>
              <p:cNvGrpSpPr/>
              <p:nvPr/>
            </p:nvGrpSpPr>
            <p:grpSpPr>
              <a:xfrm>
                <a:off x="3264" y="1728"/>
                <a:ext cx="720" cy="1968"/>
                <a:chOff x="3264" y="1728"/>
                <a:chExt cx="720" cy="1968"/>
              </a:xfrm>
            </p:grpSpPr>
            <p:sp>
              <p:nvSpPr>
                <p:cNvPr id="78929" name="Text Box 53"/>
                <p:cNvSpPr txBox="1"/>
                <p:nvPr/>
              </p:nvSpPr>
              <p:spPr>
                <a:xfrm>
                  <a:off x="3264" y="1728"/>
                  <a:ext cx="720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latin typeface="宋体" panose="02010600030101010101" pitchFamily="2" charset="-122"/>
                    </a:rPr>
                    <a:t>A B C</a:t>
                  </a:r>
                  <a:endParaRPr lang="en-US" altLang="zh-CN" sz="2400" dirty="0">
                    <a:latin typeface="宋体" panose="02010600030101010101" pitchFamily="2" charset="-122"/>
                  </a:endParaRPr>
                </a:p>
              </p:txBody>
            </p:sp>
            <p:sp>
              <p:nvSpPr>
                <p:cNvPr id="78930" name="Text Box 54"/>
                <p:cNvSpPr txBox="1"/>
                <p:nvPr/>
              </p:nvSpPr>
              <p:spPr>
                <a:xfrm>
                  <a:off x="3340" y="2064"/>
                  <a:ext cx="596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0  0  0</a:t>
                  </a:r>
                  <a:endParaRPr lang="en-US" altLang="zh-CN" sz="2400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78931" name="Text Box 55"/>
                <p:cNvSpPr txBox="1"/>
                <p:nvPr/>
              </p:nvSpPr>
              <p:spPr>
                <a:xfrm>
                  <a:off x="3340" y="2256"/>
                  <a:ext cx="596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0  0  1</a:t>
                  </a:r>
                  <a:endParaRPr lang="en-US" altLang="zh-CN" sz="2400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78932" name="Text Box 56"/>
                <p:cNvSpPr txBox="1"/>
                <p:nvPr/>
              </p:nvSpPr>
              <p:spPr>
                <a:xfrm>
                  <a:off x="3340" y="2448"/>
                  <a:ext cx="596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0  1  0</a:t>
                  </a:r>
                  <a:endParaRPr lang="en-US" altLang="zh-CN" sz="2400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78933" name="Text Box 57"/>
                <p:cNvSpPr txBox="1"/>
                <p:nvPr/>
              </p:nvSpPr>
              <p:spPr>
                <a:xfrm>
                  <a:off x="3340" y="2640"/>
                  <a:ext cx="596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0  1  1</a:t>
                  </a:r>
                  <a:endParaRPr lang="en-US" altLang="zh-CN" sz="2400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78934" name="Text Box 58"/>
                <p:cNvSpPr txBox="1"/>
                <p:nvPr/>
              </p:nvSpPr>
              <p:spPr>
                <a:xfrm>
                  <a:off x="3340" y="2832"/>
                  <a:ext cx="596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1  0  0</a:t>
                  </a:r>
                  <a:endParaRPr lang="en-US" altLang="zh-CN" sz="2400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78935" name="Text Box 59"/>
                <p:cNvSpPr txBox="1"/>
                <p:nvPr/>
              </p:nvSpPr>
              <p:spPr>
                <a:xfrm>
                  <a:off x="3340" y="3024"/>
                  <a:ext cx="596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1  0  1</a:t>
                  </a:r>
                  <a:endParaRPr lang="en-US" altLang="zh-CN" sz="2400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78936" name="Text Box 60"/>
                <p:cNvSpPr txBox="1"/>
                <p:nvPr/>
              </p:nvSpPr>
              <p:spPr>
                <a:xfrm>
                  <a:off x="3340" y="3216"/>
                  <a:ext cx="596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1  1  0</a:t>
                  </a:r>
                  <a:endParaRPr lang="en-US" altLang="zh-CN" sz="2400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78937" name="Text Box 61"/>
                <p:cNvSpPr txBox="1"/>
                <p:nvPr/>
              </p:nvSpPr>
              <p:spPr>
                <a:xfrm>
                  <a:off x="3340" y="3408"/>
                  <a:ext cx="596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1  1  1</a:t>
                  </a:r>
                  <a:endParaRPr lang="en-US" altLang="zh-CN" sz="24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78899" name="Group 91"/>
              <p:cNvGrpSpPr/>
              <p:nvPr/>
            </p:nvGrpSpPr>
            <p:grpSpPr>
              <a:xfrm>
                <a:off x="4048" y="1651"/>
                <a:ext cx="376" cy="2045"/>
                <a:chOff x="4048" y="1651"/>
                <a:chExt cx="376" cy="2045"/>
              </a:xfrm>
            </p:grpSpPr>
            <p:sp>
              <p:nvSpPr>
                <p:cNvPr id="78920" name="Text Box 62"/>
                <p:cNvSpPr txBox="1"/>
                <p:nvPr/>
              </p:nvSpPr>
              <p:spPr>
                <a:xfrm>
                  <a:off x="4048" y="1651"/>
                  <a:ext cx="376" cy="36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b="1" dirty="0">
                      <a:solidFill>
                        <a:schemeClr val="tx2"/>
                      </a:solidFill>
                    </a:rPr>
                    <a:t>m</a:t>
                  </a:r>
                  <a:r>
                    <a:rPr lang="en-US" altLang="zh-CN" b="1" baseline="-25000" dirty="0">
                      <a:solidFill>
                        <a:schemeClr val="tx2"/>
                      </a:solidFill>
                    </a:rPr>
                    <a:t>i</a:t>
                  </a:r>
                  <a:endParaRPr lang="en-US" altLang="zh-CN" sz="36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78921" name="Text Box 66"/>
                <p:cNvSpPr txBox="1"/>
                <p:nvPr/>
              </p:nvSpPr>
              <p:spPr>
                <a:xfrm>
                  <a:off x="4128" y="2064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0</a:t>
                  </a:r>
                  <a:endParaRPr lang="en-US" altLang="zh-CN" sz="36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78922" name="Text Box 67"/>
                <p:cNvSpPr txBox="1"/>
                <p:nvPr/>
              </p:nvSpPr>
              <p:spPr>
                <a:xfrm>
                  <a:off x="4128" y="2256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1</a:t>
                  </a:r>
                  <a:endParaRPr lang="en-US" altLang="zh-CN" sz="36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78923" name="Text Box 68"/>
                <p:cNvSpPr txBox="1"/>
                <p:nvPr/>
              </p:nvSpPr>
              <p:spPr>
                <a:xfrm>
                  <a:off x="4128" y="2448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2</a:t>
                  </a:r>
                  <a:endParaRPr lang="en-US" altLang="zh-CN" sz="36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78924" name="Text Box 69"/>
                <p:cNvSpPr txBox="1"/>
                <p:nvPr/>
              </p:nvSpPr>
              <p:spPr>
                <a:xfrm>
                  <a:off x="4128" y="2640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3</a:t>
                  </a:r>
                  <a:endParaRPr lang="en-US" altLang="zh-CN" sz="36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78925" name="Text Box 70"/>
                <p:cNvSpPr txBox="1"/>
                <p:nvPr/>
              </p:nvSpPr>
              <p:spPr>
                <a:xfrm>
                  <a:off x="4128" y="2832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4</a:t>
                  </a:r>
                  <a:endParaRPr lang="en-US" altLang="zh-CN" sz="36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78926" name="Text Box 71"/>
                <p:cNvSpPr txBox="1"/>
                <p:nvPr/>
              </p:nvSpPr>
              <p:spPr>
                <a:xfrm>
                  <a:off x="4128" y="3024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5</a:t>
                  </a:r>
                  <a:endParaRPr lang="en-US" altLang="zh-CN" sz="36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78927" name="Text Box 72"/>
                <p:cNvSpPr txBox="1"/>
                <p:nvPr/>
              </p:nvSpPr>
              <p:spPr>
                <a:xfrm>
                  <a:off x="4128" y="3216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6</a:t>
                  </a:r>
                  <a:endParaRPr lang="en-US" altLang="zh-CN" sz="36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78928" name="Text Box 73"/>
                <p:cNvSpPr txBox="1"/>
                <p:nvPr/>
              </p:nvSpPr>
              <p:spPr>
                <a:xfrm>
                  <a:off x="4128" y="3408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7</a:t>
                  </a:r>
                  <a:endParaRPr lang="en-US" altLang="zh-CN" sz="3600" b="1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78900" name="Group 93"/>
              <p:cNvGrpSpPr/>
              <p:nvPr/>
            </p:nvGrpSpPr>
            <p:grpSpPr>
              <a:xfrm>
                <a:off x="4512" y="1680"/>
                <a:ext cx="743" cy="2016"/>
                <a:chOff x="4512" y="1680"/>
                <a:chExt cx="743" cy="2016"/>
              </a:xfrm>
            </p:grpSpPr>
            <p:sp>
              <p:nvSpPr>
                <p:cNvPr id="78901" name="Text Box 64"/>
                <p:cNvSpPr txBox="1"/>
                <p:nvPr/>
              </p:nvSpPr>
              <p:spPr>
                <a:xfrm>
                  <a:off x="4983" y="1680"/>
                  <a:ext cx="272" cy="36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b="1" dirty="0">
                      <a:solidFill>
                        <a:schemeClr val="tx2"/>
                      </a:solidFill>
                    </a:rPr>
                    <a:t>F</a:t>
                  </a:r>
                  <a:endParaRPr lang="en-US" altLang="zh-CN" sz="3600" b="1" dirty="0">
                    <a:solidFill>
                      <a:schemeClr val="tx2"/>
                    </a:solidFill>
                  </a:endParaRPr>
                </a:p>
              </p:txBody>
            </p:sp>
            <p:grpSp>
              <p:nvGrpSpPr>
                <p:cNvPr id="78902" name="Group 92"/>
                <p:cNvGrpSpPr/>
                <p:nvPr/>
              </p:nvGrpSpPr>
              <p:grpSpPr>
                <a:xfrm>
                  <a:off x="4512" y="1680"/>
                  <a:ext cx="369" cy="2016"/>
                  <a:chOff x="4512" y="1680"/>
                  <a:chExt cx="369" cy="2016"/>
                </a:xfrm>
              </p:grpSpPr>
              <p:sp>
                <p:nvSpPr>
                  <p:cNvPr id="78911" name="Text Box 63"/>
                  <p:cNvSpPr txBox="1"/>
                  <p:nvPr/>
                </p:nvSpPr>
                <p:spPr>
                  <a:xfrm>
                    <a:off x="4512" y="1680"/>
                    <a:ext cx="369" cy="3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800" b="1" dirty="0">
                        <a:solidFill>
                          <a:schemeClr val="tx2"/>
                        </a:solidFill>
                      </a:rPr>
                      <a:t>M</a:t>
                    </a:r>
                    <a:r>
                      <a:rPr lang="en-US" altLang="zh-CN" sz="2800" b="1" baseline="-25000" dirty="0">
                        <a:solidFill>
                          <a:schemeClr val="tx2"/>
                        </a:solidFill>
                      </a:rPr>
                      <a:t>i</a:t>
                    </a:r>
                    <a:endParaRPr lang="en-US" altLang="zh-CN" sz="28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78912" name="Text Box 74"/>
                  <p:cNvSpPr txBox="1"/>
                  <p:nvPr/>
                </p:nvSpPr>
                <p:spPr>
                  <a:xfrm>
                    <a:off x="4588" y="2064"/>
                    <a:ext cx="212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solidFill>
                          <a:schemeClr val="tx2"/>
                        </a:solidFill>
                      </a:rPr>
                      <a:t>0</a:t>
                    </a:r>
                    <a:endParaRPr lang="en-US" altLang="zh-CN" sz="36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78913" name="Text Box 75"/>
                  <p:cNvSpPr txBox="1"/>
                  <p:nvPr/>
                </p:nvSpPr>
                <p:spPr>
                  <a:xfrm>
                    <a:off x="4588" y="2256"/>
                    <a:ext cx="212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solidFill>
                          <a:schemeClr val="tx2"/>
                        </a:solidFill>
                      </a:rPr>
                      <a:t>1</a:t>
                    </a:r>
                    <a:endParaRPr lang="en-US" altLang="zh-CN" sz="36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78914" name="Text Box 76"/>
                  <p:cNvSpPr txBox="1"/>
                  <p:nvPr/>
                </p:nvSpPr>
                <p:spPr>
                  <a:xfrm>
                    <a:off x="4588" y="2448"/>
                    <a:ext cx="212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solidFill>
                          <a:schemeClr val="tx2"/>
                        </a:solidFill>
                      </a:rPr>
                      <a:t>2</a:t>
                    </a:r>
                    <a:endParaRPr lang="en-US" altLang="zh-CN" sz="36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78915" name="Text Box 77"/>
                  <p:cNvSpPr txBox="1"/>
                  <p:nvPr/>
                </p:nvSpPr>
                <p:spPr>
                  <a:xfrm>
                    <a:off x="4588" y="2640"/>
                    <a:ext cx="212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solidFill>
                          <a:schemeClr val="tx2"/>
                        </a:solidFill>
                      </a:rPr>
                      <a:t>3</a:t>
                    </a:r>
                    <a:endParaRPr lang="en-US" altLang="zh-CN" sz="36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78916" name="Text Box 78"/>
                  <p:cNvSpPr txBox="1"/>
                  <p:nvPr/>
                </p:nvSpPr>
                <p:spPr>
                  <a:xfrm>
                    <a:off x="4588" y="2832"/>
                    <a:ext cx="212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solidFill>
                          <a:schemeClr val="tx2"/>
                        </a:solidFill>
                      </a:rPr>
                      <a:t>4</a:t>
                    </a:r>
                    <a:endParaRPr lang="en-US" altLang="zh-CN" sz="36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78917" name="Text Box 79"/>
                  <p:cNvSpPr txBox="1"/>
                  <p:nvPr/>
                </p:nvSpPr>
                <p:spPr>
                  <a:xfrm>
                    <a:off x="4588" y="3024"/>
                    <a:ext cx="212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solidFill>
                          <a:schemeClr val="tx2"/>
                        </a:solidFill>
                      </a:rPr>
                      <a:t>5</a:t>
                    </a:r>
                    <a:endParaRPr lang="en-US" altLang="zh-CN" sz="36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78918" name="Text Box 80"/>
                  <p:cNvSpPr txBox="1"/>
                  <p:nvPr/>
                </p:nvSpPr>
                <p:spPr>
                  <a:xfrm>
                    <a:off x="4588" y="3216"/>
                    <a:ext cx="212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solidFill>
                          <a:schemeClr val="tx2"/>
                        </a:solidFill>
                      </a:rPr>
                      <a:t>6</a:t>
                    </a:r>
                    <a:endParaRPr lang="en-US" altLang="zh-CN" sz="36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78919" name="Text Box 81"/>
                  <p:cNvSpPr txBox="1"/>
                  <p:nvPr/>
                </p:nvSpPr>
                <p:spPr>
                  <a:xfrm>
                    <a:off x="4588" y="3408"/>
                    <a:ext cx="212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solidFill>
                          <a:schemeClr val="tx2"/>
                        </a:solidFill>
                      </a:rPr>
                      <a:t>7</a:t>
                    </a:r>
                    <a:endParaRPr lang="en-US" altLang="zh-CN" sz="3600" b="1" dirty="0">
                      <a:solidFill>
                        <a:schemeClr val="tx2"/>
                      </a:solidFill>
                    </a:endParaRPr>
                  </a:p>
                </p:txBody>
              </p:sp>
            </p:grpSp>
            <p:sp>
              <p:nvSpPr>
                <p:cNvPr id="78903" name="Text Box 82"/>
                <p:cNvSpPr txBox="1"/>
                <p:nvPr/>
              </p:nvSpPr>
              <p:spPr>
                <a:xfrm>
                  <a:off x="5020" y="2064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0</a:t>
                  </a:r>
                  <a:endParaRPr lang="en-US" altLang="zh-CN" sz="36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78904" name="Text Box 83"/>
                <p:cNvSpPr txBox="1"/>
                <p:nvPr/>
              </p:nvSpPr>
              <p:spPr>
                <a:xfrm>
                  <a:off x="5020" y="2256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0</a:t>
                  </a:r>
                  <a:endParaRPr lang="en-US" altLang="zh-CN" sz="36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78905" name="Text Box 84"/>
                <p:cNvSpPr txBox="1"/>
                <p:nvPr/>
              </p:nvSpPr>
              <p:spPr>
                <a:xfrm>
                  <a:off x="5020" y="2448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0</a:t>
                  </a:r>
                  <a:endParaRPr lang="en-US" altLang="zh-CN" sz="36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78906" name="Text Box 85"/>
                <p:cNvSpPr txBox="1"/>
                <p:nvPr/>
              </p:nvSpPr>
              <p:spPr>
                <a:xfrm>
                  <a:off x="5020" y="2640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1</a:t>
                  </a:r>
                  <a:endParaRPr lang="en-US" altLang="zh-CN" sz="36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78907" name="Text Box 86"/>
                <p:cNvSpPr txBox="1"/>
                <p:nvPr/>
              </p:nvSpPr>
              <p:spPr>
                <a:xfrm>
                  <a:off x="5020" y="2832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0</a:t>
                  </a:r>
                  <a:endParaRPr lang="en-US" altLang="zh-CN" sz="36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78908" name="Text Box 87"/>
                <p:cNvSpPr txBox="1"/>
                <p:nvPr/>
              </p:nvSpPr>
              <p:spPr>
                <a:xfrm>
                  <a:off x="5020" y="3024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1</a:t>
                  </a:r>
                  <a:endParaRPr lang="en-US" altLang="zh-CN" sz="36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78909" name="Text Box 88"/>
                <p:cNvSpPr txBox="1"/>
                <p:nvPr/>
              </p:nvSpPr>
              <p:spPr>
                <a:xfrm>
                  <a:off x="5020" y="3216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1</a:t>
                  </a:r>
                  <a:endParaRPr lang="en-US" altLang="zh-CN" sz="36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78910" name="Text Box 89"/>
                <p:cNvSpPr txBox="1"/>
                <p:nvPr/>
              </p:nvSpPr>
              <p:spPr>
                <a:xfrm>
                  <a:off x="5020" y="3408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1</a:t>
                  </a:r>
                  <a:endParaRPr lang="en-US" altLang="zh-CN" sz="3600" b="1" dirty="0">
                    <a:solidFill>
                      <a:schemeClr val="tx2"/>
                    </a:solidFill>
                  </a:endParaRPr>
                </a:p>
              </p:txBody>
            </p:sp>
          </p:grpSp>
        </p:grpSp>
        <p:sp>
          <p:nvSpPr>
            <p:cNvPr id="78895" name="Text Box 44"/>
            <p:cNvSpPr txBox="1"/>
            <p:nvPr/>
          </p:nvSpPr>
          <p:spPr>
            <a:xfrm>
              <a:off x="482" y="1152"/>
              <a:ext cx="492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例：</a:t>
              </a:r>
              <a:r>
                <a:rPr lang="zh-CN" altLang="en-US" sz="2400" b="1" dirty="0"/>
                <a:t>已知函数的真值表，写出该函数的标准积之和表达式</a:t>
              </a:r>
              <a:endParaRPr lang="zh-CN" altLang="en-US" sz="2400" dirty="0"/>
            </a:p>
          </p:txBody>
        </p:sp>
      </p:grpSp>
      <p:sp>
        <p:nvSpPr>
          <p:cNvPr id="65633" name="Text Box 97"/>
          <p:cNvSpPr txBox="1"/>
          <p:nvPr/>
        </p:nvSpPr>
        <p:spPr>
          <a:xfrm>
            <a:off x="1295400" y="2286000"/>
            <a:ext cx="3200400" cy="10064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CC3300"/>
                </a:solidFill>
                <a:sym typeface="Symbol" panose="05050102010706020507" pitchFamily="18" charset="2"/>
              </a:rPr>
              <a:t></a:t>
            </a:r>
            <a:r>
              <a:rPr lang="en-US" altLang="zh-CN" sz="3600" b="1" dirty="0">
                <a:solidFill>
                  <a:srgbClr val="CC3300"/>
                </a:solidFill>
                <a:sym typeface="Symbol" panose="05050102010706020507" pitchFamily="18" charset="2"/>
              </a:rPr>
              <a:t> </a:t>
            </a:r>
            <a:r>
              <a:rPr lang="zh-CN" altLang="en-US" sz="2400" b="1" dirty="0"/>
              <a:t>从真值表找出</a:t>
            </a:r>
            <a:r>
              <a:rPr lang="en-US" altLang="zh-CN" sz="2400" b="1" dirty="0"/>
              <a:t>F</a:t>
            </a:r>
            <a:r>
              <a:rPr lang="zh-CN" altLang="en-US" sz="2400" b="1" dirty="0"/>
              <a:t>为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的对应最小项</a:t>
            </a:r>
            <a:endParaRPr lang="zh-CN" altLang="en-US" sz="2400" dirty="0"/>
          </a:p>
        </p:txBody>
      </p:sp>
      <p:sp>
        <p:nvSpPr>
          <p:cNvPr id="65634" name="Text Box 98"/>
          <p:cNvSpPr txBox="1"/>
          <p:nvPr/>
        </p:nvSpPr>
        <p:spPr>
          <a:xfrm>
            <a:off x="762000" y="2362200"/>
            <a:ext cx="5937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解</a:t>
            </a:r>
            <a:r>
              <a:rPr lang="en-US" altLang="zh-CN" sz="2400" b="1" dirty="0"/>
              <a:t>:</a:t>
            </a:r>
            <a:endParaRPr lang="en-US" altLang="zh-CN" sz="2400" b="1" dirty="0"/>
          </a:p>
        </p:txBody>
      </p:sp>
      <p:grpSp>
        <p:nvGrpSpPr>
          <p:cNvPr id="17" name="Group 103"/>
          <p:cNvGrpSpPr/>
          <p:nvPr/>
        </p:nvGrpSpPr>
        <p:grpSpPr>
          <a:xfrm>
            <a:off x="5073650" y="4191000"/>
            <a:ext cx="3079750" cy="457200"/>
            <a:chOff x="3196" y="2640"/>
            <a:chExt cx="1940" cy="288"/>
          </a:xfrm>
        </p:grpSpPr>
        <p:sp>
          <p:nvSpPr>
            <p:cNvPr id="78890" name="Text Box 99"/>
            <p:cNvSpPr txBox="1"/>
            <p:nvPr/>
          </p:nvSpPr>
          <p:spPr>
            <a:xfrm>
              <a:off x="3196" y="2640"/>
              <a:ext cx="6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0  1  1 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  <p:sp>
          <p:nvSpPr>
            <p:cNvPr id="78891" name="Text Box 100"/>
            <p:cNvSpPr txBox="1"/>
            <p:nvPr/>
          </p:nvSpPr>
          <p:spPr>
            <a:xfrm>
              <a:off x="4444" y="2640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3 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  <p:sp>
          <p:nvSpPr>
            <p:cNvPr id="78892" name="Text Box 101"/>
            <p:cNvSpPr txBox="1"/>
            <p:nvPr/>
          </p:nvSpPr>
          <p:spPr>
            <a:xfrm>
              <a:off x="3984" y="2640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3 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  <p:sp>
          <p:nvSpPr>
            <p:cNvPr id="78893" name="Text Box 102"/>
            <p:cNvSpPr txBox="1"/>
            <p:nvPr/>
          </p:nvSpPr>
          <p:spPr>
            <a:xfrm>
              <a:off x="4876" y="2640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1 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</p:grpSp>
      <p:grpSp>
        <p:nvGrpSpPr>
          <p:cNvPr id="18" name="Group 104"/>
          <p:cNvGrpSpPr/>
          <p:nvPr/>
        </p:nvGrpSpPr>
        <p:grpSpPr>
          <a:xfrm>
            <a:off x="5073650" y="4800600"/>
            <a:ext cx="3079750" cy="457200"/>
            <a:chOff x="3196" y="2640"/>
            <a:chExt cx="1940" cy="288"/>
          </a:xfrm>
        </p:grpSpPr>
        <p:sp>
          <p:nvSpPr>
            <p:cNvPr id="78886" name="Text Box 105"/>
            <p:cNvSpPr txBox="1"/>
            <p:nvPr/>
          </p:nvSpPr>
          <p:spPr>
            <a:xfrm>
              <a:off x="3196" y="2640"/>
              <a:ext cx="6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1  0  1 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  <p:sp>
          <p:nvSpPr>
            <p:cNvPr id="78887" name="Text Box 106"/>
            <p:cNvSpPr txBox="1"/>
            <p:nvPr/>
          </p:nvSpPr>
          <p:spPr>
            <a:xfrm>
              <a:off x="4444" y="2640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5 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  <p:sp>
          <p:nvSpPr>
            <p:cNvPr id="78888" name="Text Box 107"/>
            <p:cNvSpPr txBox="1"/>
            <p:nvPr/>
          </p:nvSpPr>
          <p:spPr>
            <a:xfrm>
              <a:off x="3984" y="2640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5 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  <p:sp>
          <p:nvSpPr>
            <p:cNvPr id="78889" name="Text Box 108"/>
            <p:cNvSpPr txBox="1"/>
            <p:nvPr/>
          </p:nvSpPr>
          <p:spPr>
            <a:xfrm>
              <a:off x="4876" y="2640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1 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</p:grpSp>
      <p:grpSp>
        <p:nvGrpSpPr>
          <p:cNvPr id="19" name="Group 119"/>
          <p:cNvGrpSpPr/>
          <p:nvPr/>
        </p:nvGrpSpPr>
        <p:grpSpPr>
          <a:xfrm>
            <a:off x="5073650" y="5105400"/>
            <a:ext cx="3079750" cy="457200"/>
            <a:chOff x="3196" y="2640"/>
            <a:chExt cx="1940" cy="288"/>
          </a:xfrm>
        </p:grpSpPr>
        <p:sp>
          <p:nvSpPr>
            <p:cNvPr id="78882" name="Text Box 120"/>
            <p:cNvSpPr txBox="1"/>
            <p:nvPr/>
          </p:nvSpPr>
          <p:spPr>
            <a:xfrm>
              <a:off x="3196" y="2640"/>
              <a:ext cx="6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1  1  0 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  <p:sp>
          <p:nvSpPr>
            <p:cNvPr id="78883" name="Text Box 121"/>
            <p:cNvSpPr txBox="1"/>
            <p:nvPr/>
          </p:nvSpPr>
          <p:spPr>
            <a:xfrm>
              <a:off x="4444" y="2640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6 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  <p:sp>
          <p:nvSpPr>
            <p:cNvPr id="78884" name="Text Box 122"/>
            <p:cNvSpPr txBox="1"/>
            <p:nvPr/>
          </p:nvSpPr>
          <p:spPr>
            <a:xfrm>
              <a:off x="3984" y="2640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6 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  <p:sp>
          <p:nvSpPr>
            <p:cNvPr id="78885" name="Text Box 123"/>
            <p:cNvSpPr txBox="1"/>
            <p:nvPr/>
          </p:nvSpPr>
          <p:spPr>
            <a:xfrm>
              <a:off x="4876" y="2640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1 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</p:grpSp>
      <p:grpSp>
        <p:nvGrpSpPr>
          <p:cNvPr id="20" name="Group 124"/>
          <p:cNvGrpSpPr/>
          <p:nvPr/>
        </p:nvGrpSpPr>
        <p:grpSpPr>
          <a:xfrm>
            <a:off x="5073650" y="5410200"/>
            <a:ext cx="3079750" cy="457200"/>
            <a:chOff x="3196" y="2640"/>
            <a:chExt cx="1940" cy="288"/>
          </a:xfrm>
        </p:grpSpPr>
        <p:sp>
          <p:nvSpPr>
            <p:cNvPr id="78878" name="Text Box 125"/>
            <p:cNvSpPr txBox="1"/>
            <p:nvPr/>
          </p:nvSpPr>
          <p:spPr>
            <a:xfrm>
              <a:off x="3196" y="2640"/>
              <a:ext cx="6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1  1  1 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  <p:sp>
          <p:nvSpPr>
            <p:cNvPr id="78879" name="Text Box 126"/>
            <p:cNvSpPr txBox="1"/>
            <p:nvPr/>
          </p:nvSpPr>
          <p:spPr>
            <a:xfrm>
              <a:off x="4444" y="2640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7 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  <p:sp>
          <p:nvSpPr>
            <p:cNvPr id="78880" name="Text Box 127"/>
            <p:cNvSpPr txBox="1"/>
            <p:nvPr/>
          </p:nvSpPr>
          <p:spPr>
            <a:xfrm>
              <a:off x="3984" y="2640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7 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  <p:sp>
          <p:nvSpPr>
            <p:cNvPr id="78881" name="Text Box 128"/>
            <p:cNvSpPr txBox="1"/>
            <p:nvPr/>
          </p:nvSpPr>
          <p:spPr>
            <a:xfrm>
              <a:off x="4876" y="2640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1 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</p:grpSp>
      <p:sp>
        <p:nvSpPr>
          <p:cNvPr id="65665" name="Text Box 129"/>
          <p:cNvSpPr txBox="1"/>
          <p:nvPr/>
        </p:nvSpPr>
        <p:spPr>
          <a:xfrm>
            <a:off x="1295400" y="3351213"/>
            <a:ext cx="3429000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CC3300"/>
                </a:solidFill>
                <a:sym typeface="Symbol" panose="05050102010706020507" pitchFamily="18" charset="2"/>
              </a:rPr>
              <a:t> </a:t>
            </a:r>
            <a:r>
              <a:rPr lang="zh-CN" altLang="en-US" sz="2400" b="1" dirty="0"/>
              <a:t>然后将这些项逻辑加</a:t>
            </a:r>
            <a:endParaRPr lang="zh-CN" altLang="en-US" sz="2400" dirty="0"/>
          </a:p>
        </p:txBody>
      </p:sp>
      <p:sp>
        <p:nvSpPr>
          <p:cNvPr id="65666" name="Text Box 130"/>
          <p:cNvSpPr txBox="1"/>
          <p:nvPr/>
        </p:nvSpPr>
        <p:spPr>
          <a:xfrm>
            <a:off x="685800" y="4038600"/>
            <a:ext cx="17145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F(A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C)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  <p:graphicFrame>
        <p:nvGraphicFramePr>
          <p:cNvPr id="65667" name="Object 131"/>
          <p:cNvGraphicFramePr>
            <a:graphicFrameLocks noChangeAspect="1"/>
          </p:cNvGraphicFramePr>
          <p:nvPr/>
        </p:nvGraphicFramePr>
        <p:xfrm>
          <a:off x="666750" y="4667250"/>
          <a:ext cx="41910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" r:id="rId22" imgW="1803400" imgH="215900" progId="Equation.3">
                  <p:embed/>
                </p:oleObj>
              </mc:Choice>
              <mc:Fallback>
                <p:oleObj name="" r:id="rId22" imgW="1803400" imgH="215900" progId="Equation.3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66750" y="4667250"/>
                        <a:ext cx="4191000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668" name="Object 132"/>
          <p:cNvGraphicFramePr>
            <a:graphicFrameLocks noChangeAspect="1"/>
          </p:cNvGraphicFramePr>
          <p:nvPr/>
        </p:nvGraphicFramePr>
        <p:xfrm>
          <a:off x="685800" y="5181600"/>
          <a:ext cx="3048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" r:id="rId24" imgW="1308100" imgH="228600" progId="Equation.3">
                  <p:embed/>
                </p:oleObj>
              </mc:Choice>
              <mc:Fallback>
                <p:oleObj name="" r:id="rId24" imgW="1308100" imgH="228600" progId="Equation.3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85800" y="5181600"/>
                        <a:ext cx="30480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669" name="Object 133"/>
          <p:cNvGraphicFramePr>
            <a:graphicFrameLocks noChangeAspect="1"/>
          </p:cNvGraphicFramePr>
          <p:nvPr/>
        </p:nvGraphicFramePr>
        <p:xfrm>
          <a:off x="685800" y="5715000"/>
          <a:ext cx="266700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" r:id="rId26" imgW="1129665" imgH="254000" progId="Equation.3">
                  <p:embed/>
                </p:oleObj>
              </mc:Choice>
              <mc:Fallback>
                <p:oleObj name="" r:id="rId26" imgW="1129665" imgH="254000" progId="Equation.3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85800" y="5715000"/>
                        <a:ext cx="2667000" cy="595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5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5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5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5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5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5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56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56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5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65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65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65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65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5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8" grpId="0" animBg="1"/>
      <p:bldP spid="65633" grpId="0"/>
      <p:bldP spid="65634" grpId="0"/>
      <p:bldP spid="65665" grpId="0"/>
      <p:bldP spid="6566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Rectangle 1026"/>
          <p:cNvSpPr/>
          <p:nvPr/>
        </p:nvSpPr>
        <p:spPr>
          <a:xfrm>
            <a:off x="762000" y="609600"/>
            <a:ext cx="7696200" cy="11430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5400" b="1" dirty="0">
                <a:solidFill>
                  <a:srgbClr val="990033"/>
                </a:solidFill>
                <a:ea typeface="隶书" panose="02010509060101010101" pitchFamily="49" charset="-122"/>
              </a:rPr>
              <a:t>§1-4  </a:t>
            </a:r>
            <a:r>
              <a:rPr lang="zh-CN" altLang="en-US" sz="5400" b="1" dirty="0">
                <a:solidFill>
                  <a:srgbClr val="990033"/>
                </a:solidFill>
                <a:ea typeface="隶书" panose="02010509060101010101" pitchFamily="49" charset="-122"/>
              </a:rPr>
              <a:t>逻辑函数的简化</a:t>
            </a:r>
            <a:endParaRPr lang="zh-CN" altLang="en-US" sz="5400" dirty="0">
              <a:solidFill>
                <a:srgbClr val="990033"/>
              </a:solidFill>
              <a:ea typeface="隶书" panose="02010509060101010101" pitchFamily="49" charset="-122"/>
            </a:endParaRPr>
          </a:p>
        </p:txBody>
      </p:sp>
      <p:sp>
        <p:nvSpPr>
          <p:cNvPr id="79875" name="Text Box 1027"/>
          <p:cNvSpPr txBox="1"/>
          <p:nvPr/>
        </p:nvSpPr>
        <p:spPr>
          <a:xfrm>
            <a:off x="1752600" y="2514600"/>
            <a:ext cx="34290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ea typeface="幼圆" panose="02010509060101010101" pitchFamily="49" charset="-122"/>
              </a:rPr>
              <a:t>代数法化简函数</a:t>
            </a:r>
            <a:endParaRPr lang="zh-CN" altLang="en-US" sz="3600" b="1" dirty="0">
              <a:solidFill>
                <a:schemeClr val="tx2"/>
              </a:solidFill>
            </a:endParaRPr>
          </a:p>
        </p:txBody>
      </p:sp>
      <p:sp>
        <p:nvSpPr>
          <p:cNvPr id="79876" name="Text Box 1028"/>
          <p:cNvSpPr txBox="1"/>
          <p:nvPr/>
        </p:nvSpPr>
        <p:spPr>
          <a:xfrm>
            <a:off x="1524000" y="3429000"/>
            <a:ext cx="38100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latin typeface="幼圆" panose="02010509060101010101" pitchFamily="49" charset="-122"/>
                <a:ea typeface="幼圆" panose="02010509060101010101" pitchFamily="49" charset="-122"/>
              </a:rPr>
              <a:t>图解法化简函数</a:t>
            </a:r>
            <a:r>
              <a:rPr lang="zh-CN" altLang="en-US" sz="36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endParaRPr lang="zh-CN" altLang="en-US" sz="2400" dirty="0"/>
          </a:p>
        </p:txBody>
      </p:sp>
      <p:sp>
        <p:nvSpPr>
          <p:cNvPr id="79877" name="Text Box 1029"/>
          <p:cNvSpPr txBox="1"/>
          <p:nvPr/>
        </p:nvSpPr>
        <p:spPr>
          <a:xfrm>
            <a:off x="1524000" y="4327525"/>
            <a:ext cx="70866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latin typeface="幼圆" panose="02010509060101010101" pitchFamily="49" charset="-122"/>
                <a:ea typeface="幼圆" panose="02010509060101010101" pitchFamily="49" charset="-122"/>
              </a:rPr>
              <a:t>逻辑函数简化中的几个实际问题</a:t>
            </a:r>
            <a:endParaRPr lang="zh-CN" altLang="en-US" sz="36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79878" name="Picture 1030" descr="ball5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908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9879" name="Picture 1031" descr="ball5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052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9880" name="Picture 1032" descr="ball5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4196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9881" name="Picture 1034" descr="wb00677_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1400" y="5943600"/>
            <a:ext cx="838200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45"/>
          <p:cNvGrpSpPr/>
          <p:nvPr/>
        </p:nvGrpSpPr>
        <p:grpSpPr>
          <a:xfrm>
            <a:off x="2133600" y="1066800"/>
            <a:ext cx="5091113" cy="1219200"/>
            <a:chOff x="1099" y="672"/>
            <a:chExt cx="3207" cy="768"/>
          </a:xfrm>
        </p:grpSpPr>
        <p:sp>
          <p:nvSpPr>
            <p:cNvPr id="80915" name="Oval 34"/>
            <p:cNvSpPr/>
            <p:nvPr/>
          </p:nvSpPr>
          <p:spPr>
            <a:xfrm>
              <a:off x="1099" y="672"/>
              <a:ext cx="3207" cy="768"/>
            </a:xfrm>
            <a:prstGeom prst="ellipse">
              <a:avLst/>
            </a:prstGeom>
            <a:solidFill>
              <a:srgbClr val="FFCC66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80916" name="Text Box 22"/>
            <p:cNvSpPr txBox="1"/>
            <p:nvPr/>
          </p:nvSpPr>
          <p:spPr>
            <a:xfrm>
              <a:off x="1632" y="823"/>
              <a:ext cx="1968" cy="365"/>
            </a:xfrm>
            <a:prstGeom prst="rect">
              <a:avLst/>
            </a:prstGeom>
            <a:solidFill>
              <a:srgbClr val="FFCC66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b="1" dirty="0"/>
                <a:t>函数的简化依据</a:t>
              </a:r>
              <a:endParaRPr lang="zh-CN" altLang="en-US" dirty="0"/>
            </a:p>
          </p:txBody>
        </p:sp>
      </p:grpSp>
      <p:sp>
        <p:nvSpPr>
          <p:cNvPr id="67608" name="AutoShape 24"/>
          <p:cNvSpPr/>
          <p:nvPr/>
        </p:nvSpPr>
        <p:spPr>
          <a:xfrm>
            <a:off x="533400" y="2133600"/>
            <a:ext cx="8077200" cy="3505200"/>
          </a:xfrm>
          <a:prstGeom prst="upArrowCallout">
            <a:avLst>
              <a:gd name="adj1" fmla="val 21250"/>
              <a:gd name="adj2" fmla="val 32314"/>
              <a:gd name="adj3" fmla="val 11949"/>
              <a:gd name="adj4" fmla="val 80347"/>
            </a:avLst>
          </a:prstGeom>
          <a:solidFill>
            <a:srgbClr val="FFCC66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3600" b="1" dirty="0">
              <a:solidFill>
                <a:schemeClr val="tx2"/>
              </a:solidFill>
            </a:endParaRPr>
          </a:p>
        </p:txBody>
      </p:sp>
      <p:sp>
        <p:nvSpPr>
          <p:cNvPr id="67609" name="Text Box 25"/>
          <p:cNvSpPr txBox="1"/>
          <p:nvPr/>
        </p:nvSpPr>
        <p:spPr>
          <a:xfrm>
            <a:off x="685800" y="3048000"/>
            <a:ext cx="43434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  <a:sym typeface="Symbol" panose="05050102010706020507" pitchFamily="18" charset="2"/>
              </a:rPr>
              <a:t></a:t>
            </a:r>
            <a:r>
              <a:rPr lang="en-US" altLang="zh-CN" sz="2400" b="1" dirty="0">
                <a:solidFill>
                  <a:schemeClr val="tx2"/>
                </a:solidFill>
                <a:sym typeface="Symbol" panose="05050102010706020507" pitchFamily="18" charset="2"/>
              </a:rPr>
              <a:t>    </a:t>
            </a:r>
            <a:r>
              <a:rPr lang="en-US" altLang="zh-CN" sz="2400" dirty="0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</a:rPr>
              <a:t>逻辑电路所用门的数量少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67610" name="Text Box 26"/>
          <p:cNvSpPr txBox="1"/>
          <p:nvPr/>
        </p:nvSpPr>
        <p:spPr>
          <a:xfrm>
            <a:off x="811213" y="3733800"/>
            <a:ext cx="37607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  <a:sym typeface="Symbol" panose="05050102010706020507" pitchFamily="18" charset="2"/>
              </a:rPr>
              <a:t></a:t>
            </a:r>
            <a:r>
              <a:rPr lang="en-US" altLang="zh-CN" sz="2400" b="1" dirty="0">
                <a:solidFill>
                  <a:schemeClr val="tx2"/>
                </a:solidFill>
                <a:sym typeface="Symbol" panose="05050102010706020507" pitchFamily="18" charset="2"/>
              </a:rPr>
              <a:t>    </a:t>
            </a:r>
            <a:r>
              <a:rPr lang="zh-CN" altLang="en-US" sz="2400" b="1" dirty="0">
                <a:latin typeface="宋体" panose="02010600030101010101" pitchFamily="2" charset="-122"/>
              </a:rPr>
              <a:t>每个门的输入端个数少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67611" name="Text Box 27"/>
          <p:cNvSpPr txBox="1"/>
          <p:nvPr/>
        </p:nvSpPr>
        <p:spPr>
          <a:xfrm>
            <a:off x="800100" y="4419600"/>
            <a:ext cx="3465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sym typeface="Symbol" panose="05050102010706020507" pitchFamily="18" charset="2"/>
              </a:rPr>
              <a:t></a:t>
            </a:r>
            <a:r>
              <a:rPr lang="en-US" altLang="zh-CN" sz="2400" b="1" dirty="0">
                <a:solidFill>
                  <a:srgbClr val="CC3300"/>
                </a:solidFill>
                <a:sym typeface="Symbol" panose="05050102010706020507" pitchFamily="18" charset="2"/>
              </a:rPr>
              <a:t> </a:t>
            </a:r>
            <a:r>
              <a:rPr lang="en-US" altLang="zh-CN" sz="2400" b="1" dirty="0">
                <a:solidFill>
                  <a:schemeClr val="tx2"/>
                </a:solidFill>
                <a:sym typeface="Symbol" panose="05050102010706020507" pitchFamily="18" charset="2"/>
              </a:rPr>
              <a:t>   </a:t>
            </a:r>
            <a:r>
              <a:rPr lang="zh-CN" altLang="en-US" sz="2400" b="1" dirty="0">
                <a:latin typeface="宋体" panose="02010600030101010101" pitchFamily="2" charset="-122"/>
              </a:rPr>
              <a:t>逻辑电路构成级数少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67612" name="Text Box 28"/>
          <p:cNvSpPr txBox="1"/>
          <p:nvPr/>
        </p:nvSpPr>
        <p:spPr>
          <a:xfrm>
            <a:off x="635000" y="5029200"/>
            <a:ext cx="4622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CC3300"/>
                </a:solidFill>
                <a:sym typeface="Symbol" panose="05050102010706020507" pitchFamily="18" charset="2"/>
              </a:rPr>
              <a:t></a:t>
            </a:r>
            <a:r>
              <a:rPr lang="en-US" altLang="zh-CN" sz="2400" b="1" dirty="0">
                <a:solidFill>
                  <a:schemeClr val="tx2"/>
                </a:solidFill>
                <a:sym typeface="Symbol" panose="05050102010706020507" pitchFamily="18" charset="2"/>
              </a:rPr>
              <a:t>     </a:t>
            </a:r>
            <a:r>
              <a:rPr lang="zh-CN" altLang="en-US" sz="2400" b="1" dirty="0">
                <a:latin typeface="宋体" panose="02010600030101010101" pitchFamily="2" charset="-122"/>
              </a:rPr>
              <a:t>逻辑电路保证能可靠地工作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67613" name="AutoShape 29"/>
          <p:cNvSpPr/>
          <p:nvPr/>
        </p:nvSpPr>
        <p:spPr>
          <a:xfrm>
            <a:off x="5181600" y="3200400"/>
            <a:ext cx="76200" cy="838200"/>
          </a:xfrm>
          <a:prstGeom prst="rightBrace">
            <a:avLst>
              <a:gd name="adj1" fmla="val 91666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67617" name="AutoShape 33"/>
          <p:cNvSpPr/>
          <p:nvPr/>
        </p:nvSpPr>
        <p:spPr>
          <a:xfrm>
            <a:off x="5257800" y="4572000"/>
            <a:ext cx="76200" cy="838200"/>
          </a:xfrm>
          <a:prstGeom prst="rightBrace">
            <a:avLst>
              <a:gd name="adj1" fmla="val 91666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grpSp>
        <p:nvGrpSpPr>
          <p:cNvPr id="3" name="Group 49"/>
          <p:cNvGrpSpPr/>
          <p:nvPr/>
        </p:nvGrpSpPr>
        <p:grpSpPr>
          <a:xfrm>
            <a:off x="5029200" y="2514600"/>
            <a:ext cx="2362200" cy="762000"/>
            <a:chOff x="3168" y="1584"/>
            <a:chExt cx="1488" cy="480"/>
          </a:xfrm>
        </p:grpSpPr>
        <p:sp>
          <p:nvSpPr>
            <p:cNvPr id="80913" name="AutoShape 39"/>
            <p:cNvSpPr/>
            <p:nvPr/>
          </p:nvSpPr>
          <p:spPr>
            <a:xfrm>
              <a:off x="3168" y="1584"/>
              <a:ext cx="1488" cy="480"/>
            </a:xfrm>
            <a:prstGeom prst="wedgeEllipseCallout">
              <a:avLst>
                <a:gd name="adj1" fmla="val -37903"/>
                <a:gd name="adj2" fmla="val 92500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0914" name="Text Box 37"/>
            <p:cNvSpPr txBox="1"/>
            <p:nvPr/>
          </p:nvSpPr>
          <p:spPr>
            <a:xfrm>
              <a:off x="3456" y="1680"/>
              <a:ext cx="9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0000"/>
                  </a:solidFill>
                  <a:latin typeface="宋体" panose="02010600030101010101" pitchFamily="2" charset="-122"/>
                </a:rPr>
                <a:t>降低成本</a:t>
              </a:r>
              <a:endParaRPr lang="zh-CN" altLang="en-US" sz="2400" dirty="0">
                <a:solidFill>
                  <a:srgbClr val="CC00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4" name="Group 47"/>
          <p:cNvGrpSpPr/>
          <p:nvPr/>
        </p:nvGrpSpPr>
        <p:grpSpPr>
          <a:xfrm>
            <a:off x="5867400" y="3505200"/>
            <a:ext cx="2819400" cy="1066800"/>
            <a:chOff x="3696" y="2208"/>
            <a:chExt cx="1776" cy="672"/>
          </a:xfrm>
        </p:grpSpPr>
        <p:sp>
          <p:nvSpPr>
            <p:cNvPr id="80911" name="AutoShape 41"/>
            <p:cNvSpPr/>
            <p:nvPr/>
          </p:nvSpPr>
          <p:spPr>
            <a:xfrm>
              <a:off x="3696" y="2208"/>
              <a:ext cx="1776" cy="672"/>
            </a:xfrm>
            <a:prstGeom prst="wedgeRoundRectCallout">
              <a:avLst>
                <a:gd name="adj1" fmla="val -64583"/>
                <a:gd name="adj2" fmla="val 86014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100000">
                  <a:srgbClr val="FFFF99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0912" name="Text Box 38"/>
            <p:cNvSpPr txBox="1"/>
            <p:nvPr/>
          </p:nvSpPr>
          <p:spPr>
            <a:xfrm>
              <a:off x="3792" y="2304"/>
              <a:ext cx="1488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0000"/>
                  </a:solidFill>
                  <a:latin typeface="宋体" panose="02010600030101010101" pitchFamily="2" charset="-122"/>
                </a:rPr>
                <a:t>提高电路的工作速度和可靠性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80908" name="Rectangle 43"/>
          <p:cNvSpPr/>
          <p:nvPr/>
        </p:nvSpPr>
        <p:spPr>
          <a:xfrm>
            <a:off x="914400" y="304800"/>
            <a:ext cx="5257800" cy="7620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>
            <a:noFill/>
          </a:ln>
          <a:effectLst>
            <a:outerShdw dist="107763" dir="13499999" algn="ctr" rotWithShape="0">
              <a:srgbClr val="808080"/>
            </a:outerShdw>
          </a:effectLst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4400" b="1" dirty="0">
                <a:solidFill>
                  <a:srgbClr val="A50021"/>
                </a:solidFill>
                <a:ea typeface="隶书" panose="02010509060101010101" pitchFamily="49" charset="-122"/>
              </a:rPr>
              <a:t>逻辑函数的简化</a:t>
            </a:r>
            <a:endParaRPr lang="zh-CN" altLang="en-US" sz="4400" b="1" dirty="0">
              <a:solidFill>
                <a:srgbClr val="A50021"/>
              </a:solidFill>
              <a:ea typeface="隶书" panose="02010509060101010101" pitchFamily="49" charset="-122"/>
            </a:endParaRPr>
          </a:p>
        </p:txBody>
      </p:sp>
      <p:pic>
        <p:nvPicPr>
          <p:cNvPr id="80909" name="Picture 50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0198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0910" name="Text Box 51">
            <a:hlinkClick r:id="rId1" action="ppaction://hlinksldjump"/>
          </p:cNvPr>
          <p:cNvSpPr txBox="1"/>
          <p:nvPr/>
        </p:nvSpPr>
        <p:spPr>
          <a:xfrm>
            <a:off x="7512050" y="60960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7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7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7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7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08" grpId="0" animBg="1"/>
      <p:bldP spid="67609" grpId="0"/>
      <p:bldP spid="67610" grpId="0"/>
      <p:bldP spid="67611" grpId="0"/>
      <p:bldP spid="67612" grpId="0"/>
      <p:bldP spid="67613" grpId="0" animBg="1"/>
      <p:bldP spid="6761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25" name="AutoShape 17"/>
          <p:cNvSpPr/>
          <p:nvPr/>
        </p:nvSpPr>
        <p:spPr>
          <a:xfrm>
            <a:off x="3886200" y="533400"/>
            <a:ext cx="4953000" cy="1752600"/>
          </a:xfrm>
          <a:prstGeom prst="leftArrowCallout">
            <a:avLst>
              <a:gd name="adj1" fmla="val 30796"/>
              <a:gd name="adj2" fmla="val 25000"/>
              <a:gd name="adj3" fmla="val 34056"/>
              <a:gd name="adj4" fmla="val 83333"/>
            </a:avLst>
          </a:prstGeom>
          <a:solidFill>
            <a:srgbClr val="FFCC66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68611" name="Text Box 3"/>
          <p:cNvSpPr txBox="1"/>
          <p:nvPr/>
        </p:nvSpPr>
        <p:spPr>
          <a:xfrm>
            <a:off x="4800600" y="609600"/>
            <a:ext cx="20193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最简式的标准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68614" name="Text Box 6"/>
          <p:cNvSpPr txBox="1"/>
          <p:nvPr/>
        </p:nvSpPr>
        <p:spPr>
          <a:xfrm>
            <a:off x="4876800" y="1143000"/>
            <a:ext cx="3868738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CC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zh-CN" altLang="en-US" sz="2400" b="1" dirty="0">
                <a:latin typeface="宋体" panose="02010600030101010101" pitchFamily="2" charset="-122"/>
              </a:rPr>
              <a:t>首先是式中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乘积项最少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grpSp>
        <p:nvGrpSpPr>
          <p:cNvPr id="2" name="Group 41"/>
          <p:cNvGrpSpPr/>
          <p:nvPr/>
        </p:nvGrpSpPr>
        <p:grpSpPr>
          <a:xfrm>
            <a:off x="4910138" y="1676400"/>
            <a:ext cx="3471862" cy="457200"/>
            <a:chOff x="3093" y="1056"/>
            <a:chExt cx="2187" cy="288"/>
          </a:xfrm>
        </p:grpSpPr>
        <p:sp>
          <p:nvSpPr>
            <p:cNvPr id="81952" name="Text Box 5"/>
            <p:cNvSpPr txBox="1"/>
            <p:nvPr/>
          </p:nvSpPr>
          <p:spPr>
            <a:xfrm>
              <a:off x="3093" y="1056"/>
              <a:ext cx="2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solidFill>
                    <a:srgbClr val="CC3300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</a:t>
              </a:r>
              <a:r>
                <a:rPr lang="en-US" altLang="zh-CN" sz="2400" dirty="0">
                  <a:latin typeface="宋体" panose="02010600030101010101" pitchFamily="2" charset="-122"/>
                  <a:sym typeface="Symbol" panose="05050102010706020507" pitchFamily="18" charset="2"/>
                </a:rPr>
                <a:t>  </a:t>
              </a:r>
              <a:endParaRPr lang="en-US" altLang="zh-CN" sz="2400" dirty="0">
                <a:latin typeface="宋体" panose="02010600030101010101" pitchFamily="2" charset="-122"/>
              </a:endParaRPr>
            </a:p>
          </p:txBody>
        </p:sp>
        <p:sp>
          <p:nvSpPr>
            <p:cNvPr id="81953" name="Text Box 7"/>
            <p:cNvSpPr txBox="1"/>
            <p:nvPr/>
          </p:nvSpPr>
          <p:spPr>
            <a:xfrm>
              <a:off x="3426" y="1056"/>
              <a:ext cx="185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乘积项中含的变量少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68616" name="Text Box 8" descr="羊皮纸"/>
          <p:cNvSpPr txBox="1"/>
          <p:nvPr/>
        </p:nvSpPr>
        <p:spPr>
          <a:xfrm>
            <a:off x="533400" y="1143000"/>
            <a:ext cx="3371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CC3300"/>
                </a:solidFill>
                <a:sym typeface="Symbol" panose="05050102010706020507" pitchFamily="18" charset="2"/>
              </a:rPr>
              <a:t>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  </a:t>
            </a:r>
            <a:r>
              <a:rPr lang="zh-CN" altLang="en-US" sz="2800" b="1" dirty="0">
                <a:solidFill>
                  <a:schemeClr val="tx2"/>
                </a:solidFill>
              </a:rPr>
              <a:t>与或表达式的简化</a:t>
            </a:r>
            <a:endParaRPr lang="zh-CN" altLang="en-US" sz="3600" b="1" dirty="0">
              <a:solidFill>
                <a:schemeClr val="tx2"/>
              </a:solidFill>
            </a:endParaRPr>
          </a:p>
        </p:txBody>
      </p:sp>
      <p:sp>
        <p:nvSpPr>
          <p:cNvPr id="68617" name="Text Box 9"/>
          <p:cNvSpPr txBox="1"/>
          <p:nvPr/>
        </p:nvSpPr>
        <p:spPr>
          <a:xfrm>
            <a:off x="533400" y="304800"/>
            <a:ext cx="3429000" cy="64135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Left">
              <a:rot lat="0" lon="0" rev="0"/>
            </a:camera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A50021"/>
                </a:solidFill>
                <a:ea typeface="隶书" panose="02010509060101010101" pitchFamily="49" charset="-122"/>
              </a:rPr>
              <a:t>代数法化简函数</a:t>
            </a:r>
            <a:endParaRPr lang="zh-CN" altLang="en-US" sz="3600" b="1" dirty="0">
              <a:solidFill>
                <a:srgbClr val="A50021"/>
              </a:solidFill>
              <a:ea typeface="隶书" panose="02010509060101010101" pitchFamily="49" charset="-122"/>
            </a:endParaRPr>
          </a:p>
        </p:txBody>
      </p:sp>
      <p:sp>
        <p:nvSpPr>
          <p:cNvPr id="68630" name="AutoShape 22" descr="羊皮纸"/>
          <p:cNvSpPr/>
          <p:nvPr/>
        </p:nvSpPr>
        <p:spPr>
          <a:xfrm>
            <a:off x="4800600" y="838200"/>
            <a:ext cx="3429000" cy="685800"/>
          </a:xfrm>
          <a:prstGeom prst="wedgeRoundRectCallout">
            <a:avLst>
              <a:gd name="adj1" fmla="val 13333"/>
              <a:gd name="adj2" fmla="val 88426"/>
              <a:gd name="adj3" fmla="val 16667"/>
            </a:avLst>
          </a:prstGeom>
          <a:blipFill rotWithShape="0">
            <a:blip r:embed="rId1"/>
          </a:blip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与门的输入端个数少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3" name="Group 49"/>
          <p:cNvGrpSpPr/>
          <p:nvPr/>
        </p:nvGrpSpPr>
        <p:grpSpPr>
          <a:xfrm>
            <a:off x="3962400" y="228600"/>
            <a:ext cx="3962400" cy="838200"/>
            <a:chOff x="2496" y="144"/>
            <a:chExt cx="2496" cy="528"/>
          </a:xfrm>
        </p:grpSpPr>
        <p:sp>
          <p:nvSpPr>
            <p:cNvPr id="81950" name="AutoShape 19" descr="羊皮纸"/>
            <p:cNvSpPr/>
            <p:nvPr/>
          </p:nvSpPr>
          <p:spPr>
            <a:xfrm>
              <a:off x="2496" y="144"/>
              <a:ext cx="2496" cy="528"/>
            </a:xfrm>
            <a:prstGeom prst="wedgeRoundRectCallout">
              <a:avLst>
                <a:gd name="adj1" fmla="val 41106"/>
                <a:gd name="adj2" fmla="val 66287"/>
                <a:gd name="adj3" fmla="val 16667"/>
              </a:avLst>
            </a:prstGeom>
            <a:blipFill rotWithShape="0">
              <a:blip r:embed="rId1"/>
            </a:blip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3600" b="1" dirty="0"/>
            </a:p>
          </p:txBody>
        </p:sp>
        <p:sp>
          <p:nvSpPr>
            <p:cNvPr id="81951" name="Text Box 20" descr="羊皮纸"/>
            <p:cNvSpPr txBox="1"/>
            <p:nvPr/>
          </p:nvSpPr>
          <p:spPr>
            <a:xfrm>
              <a:off x="2592" y="144"/>
              <a:ext cx="2266" cy="518"/>
            </a:xfrm>
            <a:prstGeom prst="rect">
              <a:avLst/>
            </a:prstGeom>
            <a:blipFill rotWithShape="0">
              <a:blip r:embed="rId1"/>
            </a:blip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  <a:sym typeface="Symbol" panose="05050102010706020507" pitchFamily="18" charset="2"/>
                </a:rPr>
                <a:t>  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实现电路的与门少</a:t>
              </a:r>
              <a:endParaRPr lang="zh-CN" altLang="en-US" sz="2400" b="1" dirty="0">
                <a:latin typeface="宋体" panose="02010600030101010101" pitchFamily="2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  <a:sym typeface="Symbol" panose="05050102010706020507" pitchFamily="18" charset="2"/>
                </a:rPr>
                <a:t> 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下级或门输入端个数少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4" name="Group 42"/>
          <p:cNvGrpSpPr/>
          <p:nvPr/>
        </p:nvGrpSpPr>
        <p:grpSpPr>
          <a:xfrm>
            <a:off x="685800" y="2362200"/>
            <a:ext cx="7848600" cy="4114800"/>
            <a:chOff x="432" y="1488"/>
            <a:chExt cx="4944" cy="2592"/>
          </a:xfrm>
        </p:grpSpPr>
        <p:sp>
          <p:nvSpPr>
            <p:cNvPr id="81948" name="Rectangle 26"/>
            <p:cNvSpPr/>
            <p:nvPr/>
          </p:nvSpPr>
          <p:spPr>
            <a:xfrm>
              <a:off x="432" y="1488"/>
              <a:ext cx="4944" cy="2592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81949" name="Text Box 27"/>
            <p:cNvSpPr txBox="1"/>
            <p:nvPr/>
          </p:nvSpPr>
          <p:spPr>
            <a:xfrm>
              <a:off x="550" y="1536"/>
              <a:ext cx="986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3600" b="1" dirty="0">
                  <a:solidFill>
                    <a:schemeClr val="tx2"/>
                  </a:solidFill>
                </a:rPr>
                <a:t>方法：</a:t>
              </a:r>
              <a:endParaRPr lang="zh-CN" altLang="en-US" sz="36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5" name="Group 43"/>
          <p:cNvGrpSpPr/>
          <p:nvPr/>
        </p:nvGrpSpPr>
        <p:grpSpPr>
          <a:xfrm>
            <a:off x="914400" y="3048000"/>
            <a:ext cx="7010400" cy="1082675"/>
            <a:chOff x="576" y="1930"/>
            <a:chExt cx="4416" cy="682"/>
          </a:xfrm>
        </p:grpSpPr>
        <p:sp>
          <p:nvSpPr>
            <p:cNvPr id="81944" name="Text Box 28" descr="羊皮纸"/>
            <p:cNvSpPr txBox="1"/>
            <p:nvPr/>
          </p:nvSpPr>
          <p:spPr>
            <a:xfrm>
              <a:off x="576" y="1968"/>
              <a:ext cx="14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CC3300"/>
                  </a:solidFill>
                  <a:sym typeface="Symbol" panose="05050102010706020507" pitchFamily="18" charset="2"/>
                </a:rPr>
                <a:t>   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并项： 利用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81945" name="Object 29"/>
            <p:cNvGraphicFramePr>
              <a:graphicFrameLocks noChangeAspect="1"/>
            </p:cNvGraphicFramePr>
            <p:nvPr/>
          </p:nvGraphicFramePr>
          <p:xfrm>
            <a:off x="2016" y="1930"/>
            <a:ext cx="1392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4" name="" r:id="rId2" imgW="876300" imgH="203200" progId="Equation.3">
                    <p:embed/>
                  </p:oleObj>
                </mc:Choice>
                <mc:Fallback>
                  <p:oleObj name="" r:id="rId2" imgW="876300" imgH="203200" progId="Equation.3">
                    <p:embed/>
                    <p:pic>
                      <p:nvPicPr>
                        <p:cNvPr id="0" name="图片 3183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016" y="1930"/>
                          <a:ext cx="1392" cy="3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946" name="Text Box 30"/>
            <p:cNvSpPr txBox="1"/>
            <p:nvPr/>
          </p:nvSpPr>
          <p:spPr>
            <a:xfrm>
              <a:off x="3344" y="1968"/>
              <a:ext cx="164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将两项并为一项，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  <p:sp>
          <p:nvSpPr>
            <p:cNvPr id="81947" name="Text Box 31"/>
            <p:cNvSpPr txBox="1"/>
            <p:nvPr/>
          </p:nvSpPr>
          <p:spPr>
            <a:xfrm>
              <a:off x="1432" y="2285"/>
              <a:ext cx="15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且消去一个变量</a:t>
              </a:r>
              <a:r>
                <a:rPr lang="en-US" altLang="zh-CN" sz="28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24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68640" name="Text Box 32" descr="羊皮纸"/>
          <p:cNvSpPr txBox="1"/>
          <p:nvPr/>
        </p:nvSpPr>
        <p:spPr>
          <a:xfrm>
            <a:off x="914400" y="4129088"/>
            <a:ext cx="6256338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CC3300"/>
                </a:solidFill>
                <a:sym typeface="Symbol" panose="05050102010706020507" pitchFamily="18" charset="2"/>
              </a:rPr>
              <a:t>   </a:t>
            </a:r>
            <a:r>
              <a:rPr lang="zh-CN" altLang="en-US" sz="2400" b="1" dirty="0">
                <a:latin typeface="宋体" panose="02010600030101010101" pitchFamily="2" charset="-122"/>
              </a:rPr>
              <a:t>消项： 利用</a:t>
            </a:r>
            <a:r>
              <a:rPr lang="en-US" altLang="zh-CN" sz="2800" b="1" dirty="0">
                <a:latin typeface="宋体" panose="02010600030101010101" pitchFamily="2" charset="-122"/>
              </a:rPr>
              <a:t>A + AB = A</a:t>
            </a:r>
            <a:r>
              <a:rPr lang="zh-CN" altLang="en-US" sz="2400" b="1" dirty="0">
                <a:latin typeface="宋体" panose="02010600030101010101" pitchFamily="2" charset="-122"/>
              </a:rPr>
              <a:t>消去多余的项</a:t>
            </a:r>
            <a:r>
              <a:rPr lang="en-US" altLang="zh-CN" sz="2800" b="1" dirty="0">
                <a:solidFill>
                  <a:srgbClr val="CC3300"/>
                </a:solidFill>
                <a:latin typeface="宋体" panose="02010600030101010101" pitchFamily="2" charset="-122"/>
              </a:rPr>
              <a:t>AB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  <p:grpSp>
        <p:nvGrpSpPr>
          <p:cNvPr id="6" name="Group 45"/>
          <p:cNvGrpSpPr/>
          <p:nvPr/>
        </p:nvGrpSpPr>
        <p:grpSpPr>
          <a:xfrm>
            <a:off x="914400" y="5334000"/>
            <a:ext cx="6781800" cy="1022350"/>
            <a:chOff x="576" y="3360"/>
            <a:chExt cx="4272" cy="644"/>
          </a:xfrm>
        </p:grpSpPr>
        <p:sp>
          <p:nvSpPr>
            <p:cNvPr id="81940" name="Text Box 37" descr="羊皮纸"/>
            <p:cNvSpPr txBox="1"/>
            <p:nvPr/>
          </p:nvSpPr>
          <p:spPr>
            <a:xfrm>
              <a:off x="576" y="3360"/>
              <a:ext cx="134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CC3300"/>
                  </a:solidFill>
                  <a:sym typeface="Symbol" panose="05050102010706020507" pitchFamily="18" charset="2"/>
                </a:rPr>
                <a:t>   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配项：利用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81941" name="Object 38"/>
            <p:cNvGraphicFramePr>
              <a:graphicFrameLocks noChangeAspect="1"/>
            </p:cNvGraphicFramePr>
            <p:nvPr/>
          </p:nvGraphicFramePr>
          <p:xfrm>
            <a:off x="1872" y="3360"/>
            <a:ext cx="1956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" name="" r:id="rId4" imgW="1637665" imgH="215900" progId="Equation.3">
                    <p:embed/>
                  </p:oleObj>
                </mc:Choice>
                <mc:Fallback>
                  <p:oleObj name="" r:id="rId4" imgW="1637665" imgH="215900" progId="Equation.3">
                    <p:embed/>
                    <p:pic>
                      <p:nvPicPr>
                        <p:cNvPr id="0" name="图片 3185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872" y="3360"/>
                          <a:ext cx="1956" cy="2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942" name="Text Box 39"/>
            <p:cNvSpPr txBox="1"/>
            <p:nvPr/>
          </p:nvSpPr>
          <p:spPr>
            <a:xfrm>
              <a:off x="3766" y="3408"/>
              <a:ext cx="108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和互补律、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  <p:sp>
          <p:nvSpPr>
            <p:cNvPr id="81943" name="Text Box 40"/>
            <p:cNvSpPr txBox="1"/>
            <p:nvPr/>
          </p:nvSpPr>
          <p:spPr>
            <a:xfrm>
              <a:off x="1376" y="3677"/>
              <a:ext cx="30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重叠律先增添项，再消去多余项</a:t>
              </a:r>
              <a:r>
                <a:rPr lang="en-US" altLang="zh-CN" sz="28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BC</a:t>
              </a:r>
              <a:endParaRPr lang="en-US" altLang="zh-CN" sz="28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7" name="Group 48"/>
          <p:cNvGrpSpPr/>
          <p:nvPr/>
        </p:nvGrpSpPr>
        <p:grpSpPr>
          <a:xfrm>
            <a:off x="914400" y="4724400"/>
            <a:ext cx="6629400" cy="519113"/>
            <a:chOff x="576" y="2976"/>
            <a:chExt cx="4176" cy="327"/>
          </a:xfrm>
        </p:grpSpPr>
        <p:grpSp>
          <p:nvGrpSpPr>
            <p:cNvPr id="81935" name="Group 47"/>
            <p:cNvGrpSpPr/>
            <p:nvPr/>
          </p:nvGrpSpPr>
          <p:grpSpPr>
            <a:xfrm>
              <a:off x="576" y="2976"/>
              <a:ext cx="4176" cy="327"/>
              <a:chOff x="576" y="2976"/>
              <a:chExt cx="4176" cy="327"/>
            </a:xfrm>
          </p:grpSpPr>
          <p:sp>
            <p:nvSpPr>
              <p:cNvPr id="81937" name="Text Box 33" descr="羊皮纸"/>
              <p:cNvSpPr txBox="1"/>
              <p:nvPr/>
            </p:nvSpPr>
            <p:spPr>
              <a:xfrm>
                <a:off x="576" y="2976"/>
                <a:ext cx="1353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800" b="1" dirty="0">
                    <a:solidFill>
                      <a:srgbClr val="CC3300"/>
                    </a:solidFill>
                    <a:sym typeface="Symbol" panose="05050102010706020507" pitchFamily="18" charset="2"/>
                  </a:rPr>
                  <a:t>   </a:t>
                </a:r>
                <a:r>
                  <a:rPr lang="zh-CN" altLang="en-US" sz="2400" b="1" dirty="0">
                    <a:latin typeface="宋体" panose="02010600030101010101" pitchFamily="2" charset="-122"/>
                  </a:rPr>
                  <a:t>消元：利用</a:t>
                </a:r>
                <a:endParaRPr lang="zh-CN" altLang="en-US" sz="2400" dirty="0">
                  <a:latin typeface="宋体" panose="02010600030101010101" pitchFamily="2" charset="-122"/>
                </a:endParaRPr>
              </a:p>
            </p:txBody>
          </p:sp>
          <p:graphicFrame>
            <p:nvGraphicFramePr>
              <p:cNvPr id="81938" name="Object 34"/>
              <p:cNvGraphicFramePr>
                <a:graphicFrameLocks noChangeAspect="1"/>
              </p:cNvGraphicFramePr>
              <p:nvPr/>
            </p:nvGraphicFramePr>
            <p:xfrm>
              <a:off x="1920" y="2976"/>
              <a:ext cx="1488" cy="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5" name="" r:id="rId6" imgW="1002665" imgH="203200" progId="Equation.3">
                      <p:embed/>
                    </p:oleObj>
                  </mc:Choice>
                  <mc:Fallback>
                    <p:oleObj name="" r:id="rId6" imgW="1002665" imgH="203200" progId="Equation.3">
                      <p:embed/>
                      <p:pic>
                        <p:nvPicPr>
                          <p:cNvPr id="0" name="图片 3184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1920" y="2976"/>
                            <a:ext cx="1488" cy="30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1939" name="Text Box 35"/>
              <p:cNvSpPr txBox="1"/>
              <p:nvPr/>
            </p:nvSpPr>
            <p:spPr>
              <a:xfrm>
                <a:off x="3364" y="2976"/>
                <a:ext cx="138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>
                    <a:latin typeface="宋体" panose="02010600030101010101" pitchFamily="2" charset="-122"/>
                  </a:rPr>
                  <a:t>消去多余变量</a:t>
                </a:r>
                <a:r>
                  <a:rPr lang="en-US" altLang="zh-CN" sz="2800" b="1" dirty="0">
                    <a:solidFill>
                      <a:srgbClr val="CC3300"/>
                    </a:solidFill>
                    <a:latin typeface="宋体" panose="02010600030101010101" pitchFamily="2" charset="-122"/>
                  </a:rPr>
                  <a:t>A</a:t>
                </a:r>
                <a:endParaRPr lang="en-US" altLang="zh-CN" sz="2800" b="1" dirty="0"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81936" name="Line 46"/>
            <p:cNvSpPr/>
            <p:nvPr/>
          </p:nvSpPr>
          <p:spPr>
            <a:xfrm>
              <a:off x="4608" y="3024"/>
              <a:ext cx="96" cy="0"/>
            </a:xfrm>
            <a:prstGeom prst="line">
              <a:avLst/>
            </a:prstGeom>
            <a:ln w="3810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6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8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8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8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8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25" grpId="0" animBg="1"/>
      <p:bldP spid="68611" grpId="0"/>
      <p:bldP spid="68614" grpId="0"/>
      <p:bldP spid="68616" grpId="0"/>
      <p:bldP spid="68617" grpId="0" animBg="1"/>
      <p:bldP spid="68630" grpId="0" animBg="1"/>
      <p:bldP spid="68640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Text Box 9"/>
          <p:cNvSpPr txBox="1"/>
          <p:nvPr/>
        </p:nvSpPr>
        <p:spPr>
          <a:xfrm>
            <a:off x="533400" y="304800"/>
            <a:ext cx="3429000" cy="64135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Left">
              <a:rot lat="0" lon="0" rev="0"/>
            </a:camera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A50021"/>
                </a:solidFill>
                <a:ea typeface="隶书" panose="02010509060101010101" pitchFamily="49" charset="-122"/>
              </a:rPr>
              <a:t>代数法化简函数</a:t>
            </a:r>
            <a:endParaRPr lang="zh-CN" altLang="en-US" sz="3600" b="1" dirty="0">
              <a:solidFill>
                <a:srgbClr val="A50021"/>
              </a:solidFill>
              <a:ea typeface="隶书" panose="02010509060101010101" pitchFamily="49" charset="-122"/>
            </a:endParaRPr>
          </a:p>
        </p:txBody>
      </p:sp>
      <p:grpSp>
        <p:nvGrpSpPr>
          <p:cNvPr id="2" name="Group 40"/>
          <p:cNvGrpSpPr/>
          <p:nvPr/>
        </p:nvGrpSpPr>
        <p:grpSpPr>
          <a:xfrm>
            <a:off x="533400" y="1066800"/>
            <a:ext cx="8077200" cy="4495800"/>
            <a:chOff x="336" y="816"/>
            <a:chExt cx="5088" cy="2832"/>
          </a:xfrm>
        </p:grpSpPr>
        <p:sp>
          <p:nvSpPr>
            <p:cNvPr id="82982" name="Rectangle 10"/>
            <p:cNvSpPr/>
            <p:nvPr/>
          </p:nvSpPr>
          <p:spPr>
            <a:xfrm>
              <a:off x="336" y="816"/>
              <a:ext cx="5088" cy="2832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graphicFrame>
          <p:nvGraphicFramePr>
            <p:cNvPr id="82983" name="Object 11"/>
            <p:cNvGraphicFramePr>
              <a:graphicFrameLocks noChangeAspect="1"/>
            </p:cNvGraphicFramePr>
            <p:nvPr/>
          </p:nvGraphicFramePr>
          <p:xfrm>
            <a:off x="1968" y="864"/>
            <a:ext cx="1968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9" name="" r:id="rId1" imgW="1523365" imgH="215900" progId="Equation.3">
                    <p:embed/>
                  </p:oleObj>
                </mc:Choice>
                <mc:Fallback>
                  <p:oleObj name="" r:id="rId1" imgW="1523365" imgH="215900" progId="Equation.3">
                    <p:embed/>
                    <p:pic>
                      <p:nvPicPr>
                        <p:cNvPr id="0" name="图片 318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968" y="864"/>
                          <a:ext cx="1968" cy="3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984" name="Text Box 12"/>
            <p:cNvSpPr txBox="1"/>
            <p:nvPr/>
          </p:nvSpPr>
          <p:spPr>
            <a:xfrm>
              <a:off x="528" y="912"/>
              <a:ext cx="146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例：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试简化函数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69645" name="Text Box 13"/>
          <p:cNvSpPr txBox="1"/>
          <p:nvPr/>
        </p:nvSpPr>
        <p:spPr>
          <a:xfrm>
            <a:off x="876300" y="1831975"/>
            <a:ext cx="8001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解：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graphicFrame>
        <p:nvGraphicFramePr>
          <p:cNvPr id="69646" name="Object 14"/>
          <p:cNvGraphicFramePr>
            <a:graphicFrameLocks noChangeAspect="1"/>
          </p:cNvGraphicFramePr>
          <p:nvPr/>
        </p:nvGraphicFramePr>
        <p:xfrm>
          <a:off x="1600200" y="1752600"/>
          <a:ext cx="31242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" r:id="rId3" imgW="1523365" imgH="215900" progId="Equation.3">
                  <p:embed/>
                </p:oleObj>
              </mc:Choice>
              <mc:Fallback>
                <p:oleObj name="" r:id="rId3" imgW="1523365" imgH="215900" progId="Equation.3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00200" y="1752600"/>
                        <a:ext cx="3124200" cy="514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7" name="Line 15"/>
          <p:cNvSpPr/>
          <p:nvPr/>
        </p:nvSpPr>
        <p:spPr>
          <a:xfrm>
            <a:off x="2895600" y="2286000"/>
            <a:ext cx="990600" cy="1588"/>
          </a:xfrm>
          <a:prstGeom prst="line">
            <a:avLst/>
          </a:prstGeom>
          <a:ln w="5715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" name="Group 19"/>
          <p:cNvGrpSpPr/>
          <p:nvPr/>
        </p:nvGrpSpPr>
        <p:grpSpPr>
          <a:xfrm>
            <a:off x="3429000" y="1295400"/>
            <a:ext cx="2133600" cy="838200"/>
            <a:chOff x="1824" y="624"/>
            <a:chExt cx="1344" cy="528"/>
          </a:xfrm>
        </p:grpSpPr>
        <p:sp>
          <p:nvSpPr>
            <p:cNvPr id="82980" name="AutoShape 16"/>
            <p:cNvSpPr/>
            <p:nvPr/>
          </p:nvSpPr>
          <p:spPr>
            <a:xfrm>
              <a:off x="1824" y="624"/>
              <a:ext cx="1344" cy="528"/>
            </a:xfrm>
            <a:prstGeom prst="wedgeRoundRectCallout">
              <a:avLst>
                <a:gd name="adj1" fmla="val -24778"/>
                <a:gd name="adj2" fmla="val 85986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2981" name="Text Box 17"/>
            <p:cNvSpPr txBox="1"/>
            <p:nvPr/>
          </p:nvSpPr>
          <p:spPr>
            <a:xfrm>
              <a:off x="1968" y="768"/>
              <a:ext cx="108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利用反演律</a:t>
              </a:r>
              <a:endParaRPr lang="zh-CN" altLang="en-US" sz="3600" b="1" dirty="0">
                <a:solidFill>
                  <a:schemeClr val="tx2"/>
                </a:solidFill>
              </a:endParaRPr>
            </a:p>
          </p:txBody>
        </p:sp>
      </p:grpSp>
      <p:graphicFrame>
        <p:nvGraphicFramePr>
          <p:cNvPr id="69652" name="Object 20"/>
          <p:cNvGraphicFramePr>
            <a:graphicFrameLocks noChangeAspect="1"/>
          </p:cNvGraphicFramePr>
          <p:nvPr/>
        </p:nvGraphicFramePr>
        <p:xfrm>
          <a:off x="1752600" y="2427288"/>
          <a:ext cx="27686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" r:id="rId4" imgW="1422400" imgH="241300" progId="Equation.3">
                  <p:embed/>
                </p:oleObj>
              </mc:Choice>
              <mc:Fallback>
                <p:oleObj name="" r:id="rId4" imgW="1422400" imgH="241300" progId="Equation.3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52600" y="2427288"/>
                        <a:ext cx="2768600" cy="544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53" name="Line 21"/>
          <p:cNvSpPr/>
          <p:nvPr/>
        </p:nvSpPr>
        <p:spPr>
          <a:xfrm>
            <a:off x="3429000" y="2971800"/>
            <a:ext cx="990600" cy="1588"/>
          </a:xfrm>
          <a:prstGeom prst="line">
            <a:avLst/>
          </a:prstGeom>
          <a:ln w="5715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69655" name="Object 23"/>
          <p:cNvGraphicFramePr>
            <a:graphicFrameLocks noChangeAspect="1"/>
          </p:cNvGraphicFramePr>
          <p:nvPr/>
        </p:nvGraphicFramePr>
        <p:xfrm>
          <a:off x="1778000" y="3008313"/>
          <a:ext cx="2641600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" r:id="rId6" imgW="1168400" imgH="241300" progId="Equation.3">
                  <p:embed/>
                </p:oleObj>
              </mc:Choice>
              <mc:Fallback>
                <p:oleObj name="" r:id="rId6" imgW="1168400" imgH="241300" progId="Equation.3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78000" y="3008313"/>
                        <a:ext cx="2641600" cy="573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56" name="Line 24"/>
          <p:cNvSpPr/>
          <p:nvPr/>
        </p:nvSpPr>
        <p:spPr>
          <a:xfrm>
            <a:off x="2057400" y="3505200"/>
            <a:ext cx="1219200" cy="1588"/>
          </a:xfrm>
          <a:prstGeom prst="line">
            <a:avLst/>
          </a:prstGeom>
          <a:ln w="5715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" name="Group 25"/>
          <p:cNvGrpSpPr/>
          <p:nvPr/>
        </p:nvGrpSpPr>
        <p:grpSpPr>
          <a:xfrm>
            <a:off x="1981200" y="2057400"/>
            <a:ext cx="1828800" cy="838200"/>
            <a:chOff x="1824" y="624"/>
            <a:chExt cx="1344" cy="528"/>
          </a:xfrm>
        </p:grpSpPr>
        <p:sp>
          <p:nvSpPr>
            <p:cNvPr id="82978" name="AutoShape 26"/>
            <p:cNvSpPr/>
            <p:nvPr/>
          </p:nvSpPr>
          <p:spPr>
            <a:xfrm>
              <a:off x="1824" y="624"/>
              <a:ext cx="1344" cy="528"/>
            </a:xfrm>
            <a:prstGeom prst="wedgeRoundRectCallout">
              <a:avLst>
                <a:gd name="adj1" fmla="val -24778"/>
                <a:gd name="adj2" fmla="val 85986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2979" name="Text Box 27"/>
            <p:cNvSpPr txBox="1"/>
            <p:nvPr/>
          </p:nvSpPr>
          <p:spPr>
            <a:xfrm>
              <a:off x="1992" y="768"/>
              <a:ext cx="103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配项加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AB</a:t>
              </a:r>
              <a:endParaRPr lang="en-US" altLang="zh-CN" sz="2400" dirty="0">
                <a:latin typeface="宋体" panose="02010600030101010101" pitchFamily="2" charset="-122"/>
              </a:endParaRPr>
            </a:p>
          </p:txBody>
        </p:sp>
      </p:grpSp>
      <p:graphicFrame>
        <p:nvGraphicFramePr>
          <p:cNvPr id="69660" name="Object 28"/>
          <p:cNvGraphicFramePr>
            <a:graphicFrameLocks noChangeAspect="1"/>
          </p:cNvGraphicFramePr>
          <p:nvPr/>
        </p:nvGraphicFramePr>
        <p:xfrm>
          <a:off x="1752600" y="3657600"/>
          <a:ext cx="31242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" r:id="rId8" imgW="1511300" imgH="241300" progId="Equation.3">
                  <p:embed/>
                </p:oleObj>
              </mc:Choice>
              <mc:Fallback>
                <p:oleObj name="" r:id="rId8" imgW="1511300" imgH="241300" progId="Equation.3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52600" y="3657600"/>
                        <a:ext cx="3124200" cy="557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61" name="Line 29"/>
          <p:cNvSpPr/>
          <p:nvPr/>
        </p:nvSpPr>
        <p:spPr>
          <a:xfrm>
            <a:off x="3429000" y="4114800"/>
            <a:ext cx="1371600" cy="1588"/>
          </a:xfrm>
          <a:prstGeom prst="line">
            <a:avLst/>
          </a:prstGeom>
          <a:ln w="5715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5" name="Group 30"/>
          <p:cNvGrpSpPr/>
          <p:nvPr/>
        </p:nvGrpSpPr>
        <p:grpSpPr>
          <a:xfrm>
            <a:off x="3886200" y="2667000"/>
            <a:ext cx="1447800" cy="838200"/>
            <a:chOff x="1824" y="624"/>
            <a:chExt cx="1344" cy="528"/>
          </a:xfrm>
        </p:grpSpPr>
        <p:sp>
          <p:nvSpPr>
            <p:cNvPr id="82976" name="AutoShape 31"/>
            <p:cNvSpPr/>
            <p:nvPr/>
          </p:nvSpPr>
          <p:spPr>
            <a:xfrm>
              <a:off x="1824" y="624"/>
              <a:ext cx="1344" cy="528"/>
            </a:xfrm>
            <a:prstGeom prst="wedgeRoundRectCallout">
              <a:avLst>
                <a:gd name="adj1" fmla="val -24778"/>
                <a:gd name="adj2" fmla="val 85986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2977" name="Text Box 32"/>
            <p:cNvSpPr txBox="1"/>
            <p:nvPr/>
          </p:nvSpPr>
          <p:spPr>
            <a:xfrm>
              <a:off x="1995" y="768"/>
              <a:ext cx="102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消因律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</p:grpSp>
      <p:graphicFrame>
        <p:nvGraphicFramePr>
          <p:cNvPr id="69665" name="Object 33"/>
          <p:cNvGraphicFramePr>
            <a:graphicFrameLocks noChangeAspect="1"/>
          </p:cNvGraphicFramePr>
          <p:nvPr/>
        </p:nvGraphicFramePr>
        <p:xfrm>
          <a:off x="1752600" y="4267200"/>
          <a:ext cx="25146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" name="" r:id="rId10" imgW="1308100" imgH="241300" progId="Equation.3">
                  <p:embed/>
                </p:oleObj>
              </mc:Choice>
              <mc:Fallback>
                <p:oleObj name="" r:id="rId10" imgW="1308100" imgH="241300" progId="Equation.3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752600" y="4267200"/>
                        <a:ext cx="2514600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66" name="Line 34"/>
          <p:cNvSpPr/>
          <p:nvPr/>
        </p:nvSpPr>
        <p:spPr>
          <a:xfrm>
            <a:off x="1981200" y="4724400"/>
            <a:ext cx="1752600" cy="1588"/>
          </a:xfrm>
          <a:prstGeom prst="line">
            <a:avLst/>
          </a:prstGeom>
          <a:ln w="5715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" name="Group 35"/>
          <p:cNvGrpSpPr/>
          <p:nvPr/>
        </p:nvGrpSpPr>
        <p:grpSpPr>
          <a:xfrm>
            <a:off x="2286000" y="3276600"/>
            <a:ext cx="1447800" cy="838200"/>
            <a:chOff x="1824" y="624"/>
            <a:chExt cx="1344" cy="528"/>
          </a:xfrm>
        </p:grpSpPr>
        <p:sp>
          <p:nvSpPr>
            <p:cNvPr id="82974" name="AutoShape 36"/>
            <p:cNvSpPr/>
            <p:nvPr/>
          </p:nvSpPr>
          <p:spPr>
            <a:xfrm>
              <a:off x="1824" y="624"/>
              <a:ext cx="1344" cy="528"/>
            </a:xfrm>
            <a:prstGeom prst="wedgeRoundRectCallout">
              <a:avLst>
                <a:gd name="adj1" fmla="val -24778"/>
                <a:gd name="adj2" fmla="val 85986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2975" name="Text Box 37"/>
            <p:cNvSpPr txBox="1"/>
            <p:nvPr/>
          </p:nvSpPr>
          <p:spPr>
            <a:xfrm>
              <a:off x="1999" y="768"/>
              <a:ext cx="102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消项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AB</a:t>
              </a:r>
              <a:endParaRPr lang="en-US" altLang="zh-CN" sz="2400" dirty="0">
                <a:latin typeface="宋体" panose="02010600030101010101" pitchFamily="2" charset="-122"/>
              </a:endParaRPr>
            </a:p>
          </p:txBody>
        </p:sp>
      </p:grpSp>
      <p:graphicFrame>
        <p:nvGraphicFramePr>
          <p:cNvPr id="69670" name="Object 38"/>
          <p:cNvGraphicFramePr>
            <a:graphicFrameLocks noChangeAspect="1"/>
          </p:cNvGraphicFramePr>
          <p:nvPr/>
        </p:nvGraphicFramePr>
        <p:xfrm>
          <a:off x="1752600" y="4946650"/>
          <a:ext cx="20574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" name="" r:id="rId12" imgW="964565" imgH="215900" progId="Equation.3">
                  <p:embed/>
                </p:oleObj>
              </mc:Choice>
              <mc:Fallback>
                <p:oleObj name="" r:id="rId12" imgW="964565" imgH="215900" progId="Equation.3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752600" y="4946650"/>
                        <a:ext cx="2057400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73" name="Text Box 41" descr="羊皮纸"/>
          <p:cNvSpPr txBox="1"/>
          <p:nvPr/>
        </p:nvSpPr>
        <p:spPr>
          <a:xfrm>
            <a:off x="685800" y="5638800"/>
            <a:ext cx="3371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CC3300"/>
                </a:solidFill>
                <a:sym typeface="Symbol" panose="05050102010706020507" pitchFamily="18" charset="2"/>
              </a:rPr>
              <a:t>  </a:t>
            </a:r>
            <a:r>
              <a:rPr lang="zh-CN" altLang="en-US" sz="2800" b="1" dirty="0">
                <a:solidFill>
                  <a:schemeClr val="tx2"/>
                </a:solidFill>
              </a:rPr>
              <a:t>或与表达式的简化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grpSp>
        <p:nvGrpSpPr>
          <p:cNvPr id="7" name="Group 53"/>
          <p:cNvGrpSpPr/>
          <p:nvPr/>
        </p:nvGrpSpPr>
        <p:grpSpPr>
          <a:xfrm>
            <a:off x="2743200" y="4495800"/>
            <a:ext cx="6172200" cy="1066800"/>
            <a:chOff x="1728" y="2832"/>
            <a:chExt cx="3888" cy="672"/>
          </a:xfrm>
        </p:grpSpPr>
        <p:sp>
          <p:nvSpPr>
            <p:cNvPr id="82968" name="AutoShape 46"/>
            <p:cNvSpPr/>
            <p:nvPr/>
          </p:nvSpPr>
          <p:spPr>
            <a:xfrm>
              <a:off x="1920" y="2832"/>
              <a:ext cx="3648" cy="672"/>
            </a:xfrm>
            <a:prstGeom prst="wedgeRoundRectCallout">
              <a:avLst>
                <a:gd name="adj1" fmla="val -34620"/>
                <a:gd name="adj2" fmla="val 74255"/>
                <a:gd name="adj3" fmla="val 16667"/>
              </a:avLst>
            </a:prstGeom>
            <a:gradFill rotWithShape="0">
              <a:gsLst>
                <a:gs pos="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3600" b="1" dirty="0">
                <a:solidFill>
                  <a:schemeClr val="tx2"/>
                </a:solidFill>
              </a:endParaRPr>
            </a:p>
          </p:txBody>
        </p:sp>
        <p:grpSp>
          <p:nvGrpSpPr>
            <p:cNvPr id="82969" name="Group 52"/>
            <p:cNvGrpSpPr/>
            <p:nvPr/>
          </p:nvGrpSpPr>
          <p:grpSpPr>
            <a:xfrm>
              <a:off x="1728" y="2880"/>
              <a:ext cx="3888" cy="518"/>
              <a:chOff x="1248" y="2995"/>
              <a:chExt cx="3888" cy="518"/>
            </a:xfrm>
          </p:grpSpPr>
          <p:sp>
            <p:nvSpPr>
              <p:cNvPr id="82970" name="Text Box 47"/>
              <p:cNvSpPr txBox="1"/>
              <p:nvPr/>
            </p:nvSpPr>
            <p:spPr>
              <a:xfrm>
                <a:off x="1248" y="2995"/>
                <a:ext cx="3888" cy="5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F</a:t>
                </a:r>
                <a:r>
                  <a:rPr lang="zh-CN" altLang="en-US" sz="2400" b="1" dirty="0">
                    <a:solidFill>
                      <a:schemeClr val="tx2"/>
                    </a:solidFill>
                  </a:rPr>
                  <a:t>（或与式）</a:t>
                </a:r>
                <a:r>
                  <a:rPr lang="zh-CN" altLang="en-US" sz="2000" b="1" dirty="0">
                    <a:solidFill>
                      <a:schemeClr val="tx2"/>
                    </a:solidFill>
                  </a:rPr>
                  <a:t>求对偶式 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F</a:t>
                </a:r>
                <a:r>
                  <a:rPr lang="en-US" altLang="zh-CN" sz="2400" b="1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</a:t>
                </a:r>
                <a:r>
                  <a:rPr lang="zh-CN" altLang="en-US" sz="2400" b="1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（与或式）</a:t>
                </a:r>
                <a:r>
                  <a:rPr lang="zh-CN" altLang="en-US" sz="2000" b="1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简化 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F</a:t>
                </a:r>
                <a:r>
                  <a:rPr lang="en-US" altLang="zh-CN" sz="2400" b="1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</a:t>
                </a:r>
                <a:r>
                  <a:rPr lang="zh-CN" altLang="en-US" sz="2400" b="1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（最简与或式）</a:t>
                </a:r>
                <a:r>
                  <a:rPr lang="zh-CN" altLang="en-US" sz="2000" b="1" dirty="0">
                    <a:solidFill>
                      <a:schemeClr val="tx2"/>
                    </a:solidFill>
                  </a:rPr>
                  <a:t>求对偶式 </a:t>
                </a:r>
                <a:r>
                  <a:rPr lang="en-US" altLang="zh-CN" sz="2400" b="1" dirty="0">
                    <a:solidFill>
                      <a:schemeClr val="tx2"/>
                    </a:solidFill>
                  </a:rPr>
                  <a:t>F</a:t>
                </a:r>
                <a:r>
                  <a:rPr lang="zh-CN" altLang="en-US" sz="2400" b="1" dirty="0">
                    <a:solidFill>
                      <a:schemeClr val="tx2"/>
                    </a:solidFill>
                  </a:rPr>
                  <a:t>（</a:t>
                </a:r>
                <a:r>
                  <a:rPr lang="zh-CN" altLang="en-US" sz="2400" b="1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最简</a:t>
                </a:r>
                <a:r>
                  <a:rPr lang="zh-CN" altLang="en-US" sz="2400" b="1" dirty="0">
                    <a:solidFill>
                      <a:schemeClr val="tx2"/>
                    </a:solidFill>
                  </a:rPr>
                  <a:t>或与式）</a:t>
                </a:r>
                <a:endParaRPr lang="zh-CN" altLang="en-US" sz="36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82971" name="Line 49"/>
              <p:cNvSpPr/>
              <p:nvPr/>
            </p:nvSpPr>
            <p:spPr>
              <a:xfrm>
                <a:off x="2592" y="3216"/>
                <a:ext cx="672" cy="0"/>
              </a:xfrm>
              <a:prstGeom prst="line">
                <a:avLst/>
              </a:prstGeom>
              <a:ln w="38100" cap="flat" cmpd="sng">
                <a:solidFill>
                  <a:srgbClr val="CC33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2972" name="Line 50"/>
              <p:cNvSpPr/>
              <p:nvPr/>
            </p:nvSpPr>
            <p:spPr>
              <a:xfrm>
                <a:off x="4368" y="3216"/>
                <a:ext cx="336" cy="0"/>
              </a:xfrm>
              <a:prstGeom prst="line">
                <a:avLst/>
              </a:prstGeom>
              <a:ln w="38100" cap="flat" cmpd="sng">
                <a:solidFill>
                  <a:srgbClr val="CC33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2973" name="Line 51"/>
              <p:cNvSpPr/>
              <p:nvPr/>
            </p:nvSpPr>
            <p:spPr>
              <a:xfrm>
                <a:off x="2784" y="3456"/>
                <a:ext cx="672" cy="0"/>
              </a:xfrm>
              <a:prstGeom prst="line">
                <a:avLst/>
              </a:prstGeom>
              <a:ln w="38100" cap="flat" cmpd="sng">
                <a:solidFill>
                  <a:srgbClr val="CC33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pic>
        <p:nvPicPr>
          <p:cNvPr id="82966" name="Picture 55" descr="wb01508_">
            <a:hlinkClick r:id="rId14" action="ppaction://hlinksldjump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39000" y="60198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967" name="Text Box 56">
            <a:hlinkClick r:id="rId14" action="ppaction://hlinksldjump"/>
          </p:cNvPr>
          <p:cNvSpPr txBox="1"/>
          <p:nvPr/>
        </p:nvSpPr>
        <p:spPr>
          <a:xfrm>
            <a:off x="7435850" y="60960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69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6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69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9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9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8" dur="500"/>
                                        <p:tgtEl>
                                          <p:spTgt spid="69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3" dur="500"/>
                                        <p:tgtEl>
                                          <p:spTgt spid="69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45" grpId="0"/>
      <p:bldP spid="69673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Text Box 2"/>
          <p:cNvSpPr txBox="1"/>
          <p:nvPr/>
        </p:nvSpPr>
        <p:spPr>
          <a:xfrm>
            <a:off x="533400" y="304800"/>
            <a:ext cx="3429000" cy="64135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Left">
              <a:rot lat="0" lon="0" rev="0"/>
            </a:camera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990033"/>
                </a:solidFill>
                <a:ea typeface="隶书" panose="02010509060101010101" pitchFamily="49" charset="-122"/>
              </a:rPr>
              <a:t>图形法化简函数</a:t>
            </a:r>
            <a:endParaRPr lang="zh-CN" altLang="en-US" sz="3600" b="1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  <p:sp>
        <p:nvSpPr>
          <p:cNvPr id="70659" name="Text Box 3" descr="羊皮纸"/>
          <p:cNvSpPr txBox="1"/>
          <p:nvPr/>
        </p:nvSpPr>
        <p:spPr>
          <a:xfrm>
            <a:off x="609600" y="1066800"/>
            <a:ext cx="29464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CC3300"/>
                </a:solidFill>
                <a:sym typeface="Symbol" panose="05050102010706020507" pitchFamily="18" charset="2"/>
              </a:rPr>
              <a:t>  </a:t>
            </a:r>
            <a:r>
              <a:rPr lang="zh-CN" altLang="en-US" sz="2800" b="1" dirty="0">
                <a:solidFill>
                  <a:schemeClr val="tx2"/>
                </a:solidFill>
              </a:rPr>
              <a:t>卡诺图（</a:t>
            </a:r>
            <a:r>
              <a:rPr lang="en-US" altLang="zh-CN" sz="2800" b="1" dirty="0">
                <a:solidFill>
                  <a:schemeClr val="tx2"/>
                </a:solidFill>
              </a:rPr>
              <a:t>K</a:t>
            </a:r>
            <a:r>
              <a:rPr lang="zh-CN" altLang="en-US" sz="2800" b="1" dirty="0">
                <a:solidFill>
                  <a:schemeClr val="tx2"/>
                </a:solidFill>
              </a:rPr>
              <a:t>图）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grpSp>
        <p:nvGrpSpPr>
          <p:cNvPr id="2" name="Group 93"/>
          <p:cNvGrpSpPr/>
          <p:nvPr/>
        </p:nvGrpSpPr>
        <p:grpSpPr>
          <a:xfrm>
            <a:off x="3276600" y="381000"/>
            <a:ext cx="5105400" cy="990600"/>
            <a:chOff x="2064" y="240"/>
            <a:chExt cx="3216" cy="624"/>
          </a:xfrm>
        </p:grpSpPr>
        <p:sp>
          <p:nvSpPr>
            <p:cNvPr id="84105" name="AutoShape 4"/>
            <p:cNvSpPr/>
            <p:nvPr/>
          </p:nvSpPr>
          <p:spPr>
            <a:xfrm>
              <a:off x="2064" y="240"/>
              <a:ext cx="3216" cy="624"/>
            </a:xfrm>
            <a:prstGeom prst="wedgeRoundRectCallout">
              <a:avLst>
                <a:gd name="adj1" fmla="val -51491"/>
                <a:gd name="adj2" fmla="val 60736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4106" name="Text Box 5"/>
            <p:cNvSpPr txBox="1"/>
            <p:nvPr/>
          </p:nvSpPr>
          <p:spPr>
            <a:xfrm>
              <a:off x="2160" y="336"/>
              <a:ext cx="3072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图中的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一小格</a:t>
              </a:r>
              <a:r>
                <a:rPr lang="zh-CN" altLang="en-US" sz="2400" b="1" dirty="0"/>
                <a:t>对应真值表中的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一行</a:t>
              </a:r>
              <a:r>
                <a:rPr lang="zh-CN" altLang="en-US" sz="2400" b="1" dirty="0"/>
                <a:t>，即对应一个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最小项</a:t>
              </a:r>
              <a:r>
                <a:rPr lang="zh-CN" altLang="en-US" sz="2400" b="1" dirty="0"/>
                <a:t>，又称真值图</a:t>
              </a:r>
              <a:endParaRPr lang="zh-CN" altLang="en-US" sz="2400" dirty="0"/>
            </a:p>
          </p:txBody>
        </p:sp>
      </p:grpSp>
      <p:grpSp>
        <p:nvGrpSpPr>
          <p:cNvPr id="3" name="Group 94"/>
          <p:cNvGrpSpPr/>
          <p:nvPr/>
        </p:nvGrpSpPr>
        <p:grpSpPr>
          <a:xfrm>
            <a:off x="1524000" y="1752600"/>
            <a:ext cx="1981200" cy="1828800"/>
            <a:chOff x="480" y="1536"/>
            <a:chExt cx="960" cy="1008"/>
          </a:xfrm>
        </p:grpSpPr>
        <p:sp>
          <p:nvSpPr>
            <p:cNvPr id="84102" name="Rectangle 7"/>
            <p:cNvSpPr/>
            <p:nvPr/>
          </p:nvSpPr>
          <p:spPr>
            <a:xfrm>
              <a:off x="480" y="1536"/>
              <a:ext cx="960" cy="1008"/>
            </a:xfrm>
            <a:prstGeom prst="rect">
              <a:avLst/>
            </a:prstGeom>
            <a:noFill/>
            <a:ln w="57150" cap="flat" cmpd="thinThick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84103" name="Line 8"/>
            <p:cNvSpPr/>
            <p:nvPr/>
          </p:nvSpPr>
          <p:spPr>
            <a:xfrm>
              <a:off x="480" y="1728"/>
              <a:ext cx="960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4104" name="Line 9"/>
            <p:cNvSpPr/>
            <p:nvPr/>
          </p:nvSpPr>
          <p:spPr>
            <a:xfrm>
              <a:off x="1104" y="1536"/>
              <a:ext cx="0" cy="10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0666" name="Text Box 10"/>
          <p:cNvSpPr txBox="1"/>
          <p:nvPr/>
        </p:nvSpPr>
        <p:spPr>
          <a:xfrm>
            <a:off x="1677988" y="1752600"/>
            <a:ext cx="9890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A     B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667" name="Text Box 11"/>
          <p:cNvSpPr txBox="1"/>
          <p:nvPr/>
        </p:nvSpPr>
        <p:spPr>
          <a:xfrm>
            <a:off x="1720850" y="22098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0      0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669" name="Text Box 13"/>
          <p:cNvSpPr txBox="1"/>
          <p:nvPr/>
        </p:nvSpPr>
        <p:spPr>
          <a:xfrm>
            <a:off x="1720850" y="25146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0      1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670" name="Text Box 14"/>
          <p:cNvSpPr txBox="1"/>
          <p:nvPr/>
        </p:nvSpPr>
        <p:spPr>
          <a:xfrm>
            <a:off x="1720850" y="28194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1      0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671" name="Text Box 15"/>
          <p:cNvSpPr txBox="1"/>
          <p:nvPr/>
        </p:nvSpPr>
        <p:spPr>
          <a:xfrm>
            <a:off x="1720850" y="31242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1      1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672" name="Text Box 16"/>
          <p:cNvSpPr txBox="1"/>
          <p:nvPr/>
        </p:nvSpPr>
        <p:spPr>
          <a:xfrm>
            <a:off x="2813050" y="2133600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0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673" name="Text Box 17"/>
          <p:cNvSpPr txBox="1"/>
          <p:nvPr/>
        </p:nvSpPr>
        <p:spPr>
          <a:xfrm>
            <a:off x="2819400" y="2438400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1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674" name="Text Box 18"/>
          <p:cNvSpPr txBox="1"/>
          <p:nvPr/>
        </p:nvSpPr>
        <p:spPr>
          <a:xfrm>
            <a:off x="2819400" y="2743200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2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675" name="Text Box 19"/>
          <p:cNvSpPr txBox="1"/>
          <p:nvPr/>
        </p:nvSpPr>
        <p:spPr>
          <a:xfrm>
            <a:off x="2813050" y="3124200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3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grpSp>
        <p:nvGrpSpPr>
          <p:cNvPr id="4" name="Group 96"/>
          <p:cNvGrpSpPr/>
          <p:nvPr/>
        </p:nvGrpSpPr>
        <p:grpSpPr>
          <a:xfrm>
            <a:off x="4572000" y="1905000"/>
            <a:ext cx="1600200" cy="1447800"/>
            <a:chOff x="1920" y="1536"/>
            <a:chExt cx="1008" cy="912"/>
          </a:xfrm>
        </p:grpSpPr>
        <p:sp>
          <p:nvSpPr>
            <p:cNvPr id="84098" name="Rectangle 20"/>
            <p:cNvSpPr/>
            <p:nvPr/>
          </p:nvSpPr>
          <p:spPr>
            <a:xfrm>
              <a:off x="2112" y="1776"/>
              <a:ext cx="816" cy="6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84099" name="Line 21"/>
            <p:cNvSpPr/>
            <p:nvPr/>
          </p:nvSpPr>
          <p:spPr>
            <a:xfrm>
              <a:off x="2112" y="2112"/>
              <a:ext cx="8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4100" name="Line 22"/>
            <p:cNvSpPr/>
            <p:nvPr/>
          </p:nvSpPr>
          <p:spPr>
            <a:xfrm>
              <a:off x="2496" y="1776"/>
              <a:ext cx="0" cy="6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4101" name="Line 23"/>
            <p:cNvSpPr/>
            <p:nvPr/>
          </p:nvSpPr>
          <p:spPr>
            <a:xfrm flipH="1" flipV="1">
              <a:off x="1920" y="1536"/>
              <a:ext cx="192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0682" name="Text Box 26"/>
          <p:cNvSpPr txBox="1"/>
          <p:nvPr/>
        </p:nvSpPr>
        <p:spPr>
          <a:xfrm>
            <a:off x="4419600" y="2895600"/>
            <a:ext cx="4048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A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grpSp>
        <p:nvGrpSpPr>
          <p:cNvPr id="5" name="Group 28"/>
          <p:cNvGrpSpPr/>
          <p:nvPr/>
        </p:nvGrpSpPr>
        <p:grpSpPr>
          <a:xfrm>
            <a:off x="4419600" y="2362200"/>
            <a:ext cx="404813" cy="457200"/>
            <a:chOff x="1792" y="2880"/>
            <a:chExt cx="255" cy="288"/>
          </a:xfrm>
        </p:grpSpPr>
        <p:sp>
          <p:nvSpPr>
            <p:cNvPr id="84096" name="Text Box 24"/>
            <p:cNvSpPr txBox="1"/>
            <p:nvPr/>
          </p:nvSpPr>
          <p:spPr>
            <a:xfrm>
              <a:off x="1792" y="2880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A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4097" name="Line 27"/>
            <p:cNvSpPr/>
            <p:nvPr/>
          </p:nvSpPr>
          <p:spPr>
            <a:xfrm>
              <a:off x="1872" y="2928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29"/>
          <p:cNvGrpSpPr/>
          <p:nvPr/>
        </p:nvGrpSpPr>
        <p:grpSpPr>
          <a:xfrm>
            <a:off x="4960938" y="1828800"/>
            <a:ext cx="387350" cy="457200"/>
            <a:chOff x="1797" y="2880"/>
            <a:chExt cx="244" cy="288"/>
          </a:xfrm>
        </p:grpSpPr>
        <p:sp>
          <p:nvSpPr>
            <p:cNvPr id="84094" name="Text Box 30"/>
            <p:cNvSpPr txBox="1"/>
            <p:nvPr/>
          </p:nvSpPr>
          <p:spPr>
            <a:xfrm>
              <a:off x="1797" y="2880"/>
              <a:ext cx="2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B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4095" name="Line 31"/>
            <p:cNvSpPr/>
            <p:nvPr/>
          </p:nvSpPr>
          <p:spPr>
            <a:xfrm>
              <a:off x="1872" y="2928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0689" name="Text Box 33"/>
          <p:cNvSpPr txBox="1"/>
          <p:nvPr/>
        </p:nvSpPr>
        <p:spPr>
          <a:xfrm>
            <a:off x="5646738" y="1828800"/>
            <a:ext cx="387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B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grpSp>
        <p:nvGrpSpPr>
          <p:cNvPr id="7" name="Group 42"/>
          <p:cNvGrpSpPr/>
          <p:nvPr/>
        </p:nvGrpSpPr>
        <p:grpSpPr>
          <a:xfrm>
            <a:off x="4870450" y="2362200"/>
            <a:ext cx="615950" cy="457200"/>
            <a:chOff x="1920" y="2880"/>
            <a:chExt cx="388" cy="288"/>
          </a:xfrm>
        </p:grpSpPr>
        <p:grpSp>
          <p:nvGrpSpPr>
            <p:cNvPr id="84088" name="Group 34"/>
            <p:cNvGrpSpPr/>
            <p:nvPr/>
          </p:nvGrpSpPr>
          <p:grpSpPr>
            <a:xfrm>
              <a:off x="1920" y="2880"/>
              <a:ext cx="255" cy="288"/>
              <a:chOff x="1792" y="2880"/>
              <a:chExt cx="255" cy="288"/>
            </a:xfrm>
          </p:grpSpPr>
          <p:sp>
            <p:nvSpPr>
              <p:cNvPr id="84092" name="Text Box 35"/>
              <p:cNvSpPr txBox="1"/>
              <p:nvPr/>
            </p:nvSpPr>
            <p:spPr>
              <a:xfrm>
                <a:off x="1792" y="2880"/>
                <a:ext cx="25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A</a:t>
                </a:r>
                <a:endParaRPr lang="en-US" altLang="zh-CN" sz="36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84093" name="Line 36"/>
              <p:cNvSpPr/>
              <p:nvPr/>
            </p:nvSpPr>
            <p:spPr>
              <a:xfrm>
                <a:off x="1872" y="2928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84089" name="Group 37"/>
            <p:cNvGrpSpPr/>
            <p:nvPr/>
          </p:nvGrpSpPr>
          <p:grpSpPr>
            <a:xfrm>
              <a:off x="2064" y="2880"/>
              <a:ext cx="244" cy="288"/>
              <a:chOff x="1797" y="2880"/>
              <a:chExt cx="244" cy="288"/>
            </a:xfrm>
          </p:grpSpPr>
          <p:sp>
            <p:nvSpPr>
              <p:cNvPr id="84090" name="Text Box 38"/>
              <p:cNvSpPr txBox="1"/>
              <p:nvPr/>
            </p:nvSpPr>
            <p:spPr>
              <a:xfrm>
                <a:off x="1797" y="2880"/>
                <a:ext cx="2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B</a:t>
                </a:r>
                <a:endParaRPr lang="en-US" altLang="zh-CN" sz="36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84091" name="Line 39"/>
              <p:cNvSpPr/>
              <p:nvPr/>
            </p:nvSpPr>
            <p:spPr>
              <a:xfrm>
                <a:off x="1872" y="2928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0" name="Group 46"/>
          <p:cNvGrpSpPr/>
          <p:nvPr/>
        </p:nvGrpSpPr>
        <p:grpSpPr>
          <a:xfrm>
            <a:off x="5486400" y="2362200"/>
            <a:ext cx="601663" cy="457200"/>
            <a:chOff x="1872" y="2688"/>
            <a:chExt cx="379" cy="288"/>
          </a:xfrm>
        </p:grpSpPr>
        <p:sp>
          <p:nvSpPr>
            <p:cNvPr id="84084" name="Text Box 40"/>
            <p:cNvSpPr txBox="1"/>
            <p:nvPr/>
          </p:nvSpPr>
          <p:spPr>
            <a:xfrm>
              <a:off x="1968" y="2688"/>
              <a:ext cx="2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B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grpSp>
          <p:nvGrpSpPr>
            <p:cNvPr id="84085" name="Group 43"/>
            <p:cNvGrpSpPr/>
            <p:nvPr/>
          </p:nvGrpSpPr>
          <p:grpSpPr>
            <a:xfrm>
              <a:off x="1872" y="2688"/>
              <a:ext cx="255" cy="288"/>
              <a:chOff x="1792" y="2880"/>
              <a:chExt cx="255" cy="288"/>
            </a:xfrm>
          </p:grpSpPr>
          <p:sp>
            <p:nvSpPr>
              <p:cNvPr id="84086" name="Text Box 44"/>
              <p:cNvSpPr txBox="1"/>
              <p:nvPr/>
            </p:nvSpPr>
            <p:spPr>
              <a:xfrm>
                <a:off x="1792" y="2880"/>
                <a:ext cx="25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A</a:t>
                </a:r>
                <a:endParaRPr lang="en-US" altLang="zh-CN" sz="36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84087" name="Line 45"/>
              <p:cNvSpPr/>
              <p:nvPr/>
            </p:nvSpPr>
            <p:spPr>
              <a:xfrm>
                <a:off x="1872" y="2928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2" name="Group 51"/>
          <p:cNvGrpSpPr/>
          <p:nvPr/>
        </p:nvGrpSpPr>
        <p:grpSpPr>
          <a:xfrm>
            <a:off x="4876800" y="2895600"/>
            <a:ext cx="609600" cy="457200"/>
            <a:chOff x="3120" y="2784"/>
            <a:chExt cx="384" cy="288"/>
          </a:xfrm>
        </p:grpSpPr>
        <p:sp>
          <p:nvSpPr>
            <p:cNvPr id="84080" name="Text Box 41"/>
            <p:cNvSpPr txBox="1"/>
            <p:nvPr/>
          </p:nvSpPr>
          <p:spPr>
            <a:xfrm>
              <a:off x="3120" y="2784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A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grpSp>
          <p:nvGrpSpPr>
            <p:cNvPr id="84081" name="Group 47"/>
            <p:cNvGrpSpPr/>
            <p:nvPr/>
          </p:nvGrpSpPr>
          <p:grpSpPr>
            <a:xfrm>
              <a:off x="3260" y="2784"/>
              <a:ext cx="244" cy="288"/>
              <a:chOff x="1797" y="2880"/>
              <a:chExt cx="244" cy="288"/>
            </a:xfrm>
          </p:grpSpPr>
          <p:sp>
            <p:nvSpPr>
              <p:cNvPr id="84082" name="Text Box 48"/>
              <p:cNvSpPr txBox="1"/>
              <p:nvPr/>
            </p:nvSpPr>
            <p:spPr>
              <a:xfrm>
                <a:off x="1797" y="2880"/>
                <a:ext cx="2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B</a:t>
                </a:r>
                <a:endParaRPr lang="en-US" altLang="zh-CN" sz="36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84083" name="Line 49"/>
              <p:cNvSpPr/>
              <p:nvPr/>
            </p:nvSpPr>
            <p:spPr>
              <a:xfrm>
                <a:off x="1872" y="2928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70708" name="Text Box 52"/>
          <p:cNvSpPr txBox="1"/>
          <p:nvPr/>
        </p:nvSpPr>
        <p:spPr>
          <a:xfrm>
            <a:off x="5486400" y="2895600"/>
            <a:ext cx="6080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AB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grpSp>
        <p:nvGrpSpPr>
          <p:cNvPr id="14" name="Group 97"/>
          <p:cNvGrpSpPr/>
          <p:nvPr/>
        </p:nvGrpSpPr>
        <p:grpSpPr>
          <a:xfrm>
            <a:off x="6629400" y="1905000"/>
            <a:ext cx="1600200" cy="1447800"/>
            <a:chOff x="3456" y="1536"/>
            <a:chExt cx="1008" cy="912"/>
          </a:xfrm>
        </p:grpSpPr>
        <p:sp>
          <p:nvSpPr>
            <p:cNvPr id="84076" name="Rectangle 53"/>
            <p:cNvSpPr/>
            <p:nvPr/>
          </p:nvSpPr>
          <p:spPr>
            <a:xfrm>
              <a:off x="3648" y="1776"/>
              <a:ext cx="816" cy="6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84077" name="Line 54"/>
            <p:cNvSpPr/>
            <p:nvPr/>
          </p:nvSpPr>
          <p:spPr>
            <a:xfrm>
              <a:off x="3648" y="2112"/>
              <a:ext cx="8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4078" name="Line 55"/>
            <p:cNvSpPr/>
            <p:nvPr/>
          </p:nvSpPr>
          <p:spPr>
            <a:xfrm>
              <a:off x="4032" y="1776"/>
              <a:ext cx="0" cy="6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4079" name="Line 56"/>
            <p:cNvSpPr/>
            <p:nvPr/>
          </p:nvSpPr>
          <p:spPr>
            <a:xfrm flipH="1" flipV="1">
              <a:off x="3456" y="1536"/>
              <a:ext cx="192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0713" name="Text Box 57"/>
          <p:cNvSpPr txBox="1"/>
          <p:nvPr/>
        </p:nvSpPr>
        <p:spPr>
          <a:xfrm>
            <a:off x="6453188" y="1981200"/>
            <a:ext cx="4048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A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20" name="Text Box 64"/>
          <p:cNvSpPr txBox="1"/>
          <p:nvPr/>
        </p:nvSpPr>
        <p:spPr>
          <a:xfrm>
            <a:off x="6705600" y="1676400"/>
            <a:ext cx="387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B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39" name="Text Box 83"/>
          <p:cNvSpPr txBox="1"/>
          <p:nvPr/>
        </p:nvSpPr>
        <p:spPr>
          <a:xfrm>
            <a:off x="7664450" y="19050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40" name="Text Box 84"/>
          <p:cNvSpPr txBox="1"/>
          <p:nvPr/>
        </p:nvSpPr>
        <p:spPr>
          <a:xfrm>
            <a:off x="7054850" y="19050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41" name="Text Box 85"/>
          <p:cNvSpPr txBox="1"/>
          <p:nvPr/>
        </p:nvSpPr>
        <p:spPr>
          <a:xfrm>
            <a:off x="6477000" y="28956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42" name="Text Box 86"/>
          <p:cNvSpPr txBox="1"/>
          <p:nvPr/>
        </p:nvSpPr>
        <p:spPr>
          <a:xfrm>
            <a:off x="6477000" y="23622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45" name="Text Box 89"/>
          <p:cNvSpPr txBox="1"/>
          <p:nvPr/>
        </p:nvSpPr>
        <p:spPr>
          <a:xfrm>
            <a:off x="6934200" y="2286000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0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46" name="Text Box 90"/>
          <p:cNvSpPr txBox="1"/>
          <p:nvPr/>
        </p:nvSpPr>
        <p:spPr>
          <a:xfrm>
            <a:off x="7543800" y="2286000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1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47" name="Text Box 91"/>
          <p:cNvSpPr txBox="1"/>
          <p:nvPr/>
        </p:nvSpPr>
        <p:spPr>
          <a:xfrm>
            <a:off x="6934200" y="2819400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2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48" name="Text Box 92"/>
          <p:cNvSpPr txBox="1"/>
          <p:nvPr/>
        </p:nvSpPr>
        <p:spPr>
          <a:xfrm>
            <a:off x="7543800" y="2819400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3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51" name="Text Box 95"/>
          <p:cNvSpPr txBox="1"/>
          <p:nvPr/>
        </p:nvSpPr>
        <p:spPr>
          <a:xfrm>
            <a:off x="2857500" y="1676400"/>
            <a:ext cx="5715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i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grpSp>
        <p:nvGrpSpPr>
          <p:cNvPr id="15" name="Group 106"/>
          <p:cNvGrpSpPr/>
          <p:nvPr/>
        </p:nvGrpSpPr>
        <p:grpSpPr>
          <a:xfrm>
            <a:off x="1524000" y="4724400"/>
            <a:ext cx="2743200" cy="1447800"/>
            <a:chOff x="336" y="2976"/>
            <a:chExt cx="1728" cy="912"/>
          </a:xfrm>
        </p:grpSpPr>
        <p:sp>
          <p:nvSpPr>
            <p:cNvPr id="84069" name="Line 100"/>
            <p:cNvSpPr/>
            <p:nvPr/>
          </p:nvSpPr>
          <p:spPr>
            <a:xfrm>
              <a:off x="528" y="3552"/>
              <a:ext cx="15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84070" name="Group 105"/>
            <p:cNvGrpSpPr/>
            <p:nvPr/>
          </p:nvGrpSpPr>
          <p:grpSpPr>
            <a:xfrm>
              <a:off x="336" y="2976"/>
              <a:ext cx="1728" cy="912"/>
              <a:chOff x="336" y="2976"/>
              <a:chExt cx="1728" cy="912"/>
            </a:xfrm>
          </p:grpSpPr>
          <p:sp>
            <p:nvSpPr>
              <p:cNvPr id="84071" name="Rectangle 99"/>
              <p:cNvSpPr/>
              <p:nvPr/>
            </p:nvSpPr>
            <p:spPr>
              <a:xfrm>
                <a:off x="528" y="3216"/>
                <a:ext cx="1536" cy="67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84072" name="Line 101"/>
              <p:cNvSpPr/>
              <p:nvPr/>
            </p:nvSpPr>
            <p:spPr>
              <a:xfrm>
                <a:off x="912" y="3216"/>
                <a:ext cx="0" cy="6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73" name="Line 102"/>
              <p:cNvSpPr/>
              <p:nvPr/>
            </p:nvSpPr>
            <p:spPr>
              <a:xfrm>
                <a:off x="1296" y="3216"/>
                <a:ext cx="0" cy="6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74" name="Line 103"/>
              <p:cNvSpPr/>
              <p:nvPr/>
            </p:nvSpPr>
            <p:spPr>
              <a:xfrm>
                <a:off x="1680" y="3216"/>
                <a:ext cx="0" cy="6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4075" name="Line 104"/>
              <p:cNvSpPr/>
              <p:nvPr/>
            </p:nvSpPr>
            <p:spPr>
              <a:xfrm>
                <a:off x="336" y="2976"/>
                <a:ext cx="192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7" name="Group 159"/>
          <p:cNvGrpSpPr/>
          <p:nvPr/>
        </p:nvGrpSpPr>
        <p:grpSpPr>
          <a:xfrm>
            <a:off x="5105400" y="4191000"/>
            <a:ext cx="3124200" cy="2362200"/>
            <a:chOff x="3216" y="2496"/>
            <a:chExt cx="1968" cy="1488"/>
          </a:xfrm>
        </p:grpSpPr>
        <p:sp>
          <p:nvSpPr>
            <p:cNvPr id="84061" name="Rectangle 108"/>
            <p:cNvSpPr/>
            <p:nvPr/>
          </p:nvSpPr>
          <p:spPr>
            <a:xfrm>
              <a:off x="3600" y="2736"/>
              <a:ext cx="1584" cy="124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84062" name="Line 109"/>
            <p:cNvSpPr/>
            <p:nvPr/>
          </p:nvSpPr>
          <p:spPr>
            <a:xfrm>
              <a:off x="3600" y="3312"/>
              <a:ext cx="15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4063" name="Line 110"/>
            <p:cNvSpPr/>
            <p:nvPr/>
          </p:nvSpPr>
          <p:spPr>
            <a:xfrm>
              <a:off x="3600" y="3648"/>
              <a:ext cx="15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4064" name="Line 111"/>
            <p:cNvSpPr/>
            <p:nvPr/>
          </p:nvSpPr>
          <p:spPr>
            <a:xfrm>
              <a:off x="3600" y="3024"/>
              <a:ext cx="15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4065" name="Line 112"/>
            <p:cNvSpPr/>
            <p:nvPr/>
          </p:nvSpPr>
          <p:spPr>
            <a:xfrm>
              <a:off x="4416" y="2736"/>
              <a:ext cx="0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4066" name="Line 113"/>
            <p:cNvSpPr/>
            <p:nvPr/>
          </p:nvSpPr>
          <p:spPr>
            <a:xfrm>
              <a:off x="4800" y="2736"/>
              <a:ext cx="0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4067" name="Line 114"/>
            <p:cNvSpPr/>
            <p:nvPr/>
          </p:nvSpPr>
          <p:spPr>
            <a:xfrm>
              <a:off x="4032" y="2736"/>
              <a:ext cx="0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4068" name="Line 115"/>
            <p:cNvSpPr/>
            <p:nvPr/>
          </p:nvSpPr>
          <p:spPr>
            <a:xfrm>
              <a:off x="3216" y="2496"/>
              <a:ext cx="384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0772" name="Text Box 116"/>
          <p:cNvSpPr txBox="1"/>
          <p:nvPr/>
        </p:nvSpPr>
        <p:spPr>
          <a:xfrm>
            <a:off x="1347788" y="4800600"/>
            <a:ext cx="4048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A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73" name="Text Box 117"/>
          <p:cNvSpPr txBox="1"/>
          <p:nvPr/>
        </p:nvSpPr>
        <p:spPr>
          <a:xfrm>
            <a:off x="1524000" y="4495800"/>
            <a:ext cx="6080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BC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74" name="Text Box 118"/>
          <p:cNvSpPr txBox="1"/>
          <p:nvPr/>
        </p:nvSpPr>
        <p:spPr>
          <a:xfrm>
            <a:off x="1447800" y="51054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75" name="Text Box 119"/>
          <p:cNvSpPr txBox="1"/>
          <p:nvPr/>
        </p:nvSpPr>
        <p:spPr>
          <a:xfrm>
            <a:off x="1447800" y="56388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76" name="Text Box 120"/>
          <p:cNvSpPr txBox="1"/>
          <p:nvPr/>
        </p:nvSpPr>
        <p:spPr>
          <a:xfrm>
            <a:off x="5835650" y="41910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00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77" name="Text Box 121"/>
          <p:cNvSpPr txBox="1"/>
          <p:nvPr/>
        </p:nvSpPr>
        <p:spPr>
          <a:xfrm>
            <a:off x="6445250" y="41910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01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78" name="Text Box 122"/>
          <p:cNvSpPr txBox="1"/>
          <p:nvPr/>
        </p:nvSpPr>
        <p:spPr>
          <a:xfrm>
            <a:off x="7054850" y="41910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11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79" name="Text Box 123"/>
          <p:cNvSpPr txBox="1"/>
          <p:nvPr/>
        </p:nvSpPr>
        <p:spPr>
          <a:xfrm>
            <a:off x="7664450" y="41910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10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80" name="Text Box 124"/>
          <p:cNvSpPr txBox="1"/>
          <p:nvPr/>
        </p:nvSpPr>
        <p:spPr>
          <a:xfrm>
            <a:off x="1828800" y="47244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00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81" name="Text Box 125"/>
          <p:cNvSpPr txBox="1"/>
          <p:nvPr/>
        </p:nvSpPr>
        <p:spPr>
          <a:xfrm>
            <a:off x="2438400" y="47244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01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82" name="Text Box 126"/>
          <p:cNvSpPr txBox="1"/>
          <p:nvPr/>
        </p:nvSpPr>
        <p:spPr>
          <a:xfrm>
            <a:off x="3048000" y="47244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11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83" name="Text Box 127"/>
          <p:cNvSpPr txBox="1"/>
          <p:nvPr/>
        </p:nvSpPr>
        <p:spPr>
          <a:xfrm>
            <a:off x="3657600" y="47244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10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84" name="Text Box 128"/>
          <p:cNvSpPr txBox="1"/>
          <p:nvPr/>
        </p:nvSpPr>
        <p:spPr>
          <a:xfrm>
            <a:off x="5181600" y="45720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00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85" name="Text Box 129"/>
          <p:cNvSpPr txBox="1"/>
          <p:nvPr/>
        </p:nvSpPr>
        <p:spPr>
          <a:xfrm>
            <a:off x="5181600" y="50292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01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86" name="Text Box 130"/>
          <p:cNvSpPr txBox="1"/>
          <p:nvPr/>
        </p:nvSpPr>
        <p:spPr>
          <a:xfrm>
            <a:off x="5149850" y="55626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11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87" name="Text Box 131"/>
          <p:cNvSpPr txBox="1"/>
          <p:nvPr/>
        </p:nvSpPr>
        <p:spPr>
          <a:xfrm>
            <a:off x="5105400" y="60198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10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88" name="Text Box 132"/>
          <p:cNvSpPr txBox="1"/>
          <p:nvPr/>
        </p:nvSpPr>
        <p:spPr>
          <a:xfrm>
            <a:off x="1828800" y="5105400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0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89" name="Text Box 133"/>
          <p:cNvSpPr txBox="1"/>
          <p:nvPr/>
        </p:nvSpPr>
        <p:spPr>
          <a:xfrm>
            <a:off x="2432050" y="5105400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1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90" name="Text Box 134"/>
          <p:cNvSpPr txBox="1"/>
          <p:nvPr/>
        </p:nvSpPr>
        <p:spPr>
          <a:xfrm>
            <a:off x="3651250" y="5105400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2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91" name="Text Box 135"/>
          <p:cNvSpPr txBox="1"/>
          <p:nvPr/>
        </p:nvSpPr>
        <p:spPr>
          <a:xfrm>
            <a:off x="3041650" y="5105400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3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92" name="Text Box 136"/>
          <p:cNvSpPr txBox="1"/>
          <p:nvPr/>
        </p:nvSpPr>
        <p:spPr>
          <a:xfrm>
            <a:off x="1828800" y="5638800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4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93" name="Text Box 137"/>
          <p:cNvSpPr txBox="1"/>
          <p:nvPr/>
        </p:nvSpPr>
        <p:spPr>
          <a:xfrm>
            <a:off x="2432050" y="5638800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5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94" name="Text Box 138"/>
          <p:cNvSpPr txBox="1"/>
          <p:nvPr/>
        </p:nvSpPr>
        <p:spPr>
          <a:xfrm>
            <a:off x="3651250" y="5638800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6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95" name="Text Box 139"/>
          <p:cNvSpPr txBox="1"/>
          <p:nvPr/>
        </p:nvSpPr>
        <p:spPr>
          <a:xfrm>
            <a:off x="3048000" y="5638800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7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96" name="Text Box 140"/>
          <p:cNvSpPr txBox="1"/>
          <p:nvPr/>
        </p:nvSpPr>
        <p:spPr>
          <a:xfrm>
            <a:off x="5791200" y="4572000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0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97" name="Text Box 141"/>
          <p:cNvSpPr txBox="1"/>
          <p:nvPr/>
        </p:nvSpPr>
        <p:spPr>
          <a:xfrm>
            <a:off x="6400800" y="4572000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1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98" name="Text Box 142"/>
          <p:cNvSpPr txBox="1"/>
          <p:nvPr/>
        </p:nvSpPr>
        <p:spPr>
          <a:xfrm>
            <a:off x="7620000" y="4572000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2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799" name="Text Box 143"/>
          <p:cNvSpPr txBox="1"/>
          <p:nvPr/>
        </p:nvSpPr>
        <p:spPr>
          <a:xfrm>
            <a:off x="7004050" y="4572000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3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801" name="Text Box 145"/>
          <p:cNvSpPr txBox="1"/>
          <p:nvPr/>
        </p:nvSpPr>
        <p:spPr>
          <a:xfrm>
            <a:off x="5791200" y="4953000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4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802" name="Text Box 146"/>
          <p:cNvSpPr txBox="1"/>
          <p:nvPr/>
        </p:nvSpPr>
        <p:spPr>
          <a:xfrm>
            <a:off x="6400800" y="4953000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5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803" name="Text Box 147"/>
          <p:cNvSpPr txBox="1"/>
          <p:nvPr/>
        </p:nvSpPr>
        <p:spPr>
          <a:xfrm>
            <a:off x="7620000" y="4953000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6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804" name="Text Box 148"/>
          <p:cNvSpPr txBox="1"/>
          <p:nvPr/>
        </p:nvSpPr>
        <p:spPr>
          <a:xfrm>
            <a:off x="7004050" y="4953000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7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806" name="Text Box 150"/>
          <p:cNvSpPr txBox="1"/>
          <p:nvPr/>
        </p:nvSpPr>
        <p:spPr>
          <a:xfrm>
            <a:off x="5740400" y="5486400"/>
            <a:ext cx="717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12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807" name="Text Box 151"/>
          <p:cNvSpPr txBox="1"/>
          <p:nvPr/>
        </p:nvSpPr>
        <p:spPr>
          <a:xfrm>
            <a:off x="6350000" y="5486400"/>
            <a:ext cx="717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13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808" name="Text Box 152"/>
          <p:cNvSpPr txBox="1"/>
          <p:nvPr/>
        </p:nvSpPr>
        <p:spPr>
          <a:xfrm>
            <a:off x="7569200" y="5486400"/>
            <a:ext cx="717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14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809" name="Text Box 153"/>
          <p:cNvSpPr txBox="1"/>
          <p:nvPr/>
        </p:nvSpPr>
        <p:spPr>
          <a:xfrm>
            <a:off x="6953250" y="5486400"/>
            <a:ext cx="717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15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811" name="Text Box 155"/>
          <p:cNvSpPr txBox="1"/>
          <p:nvPr/>
        </p:nvSpPr>
        <p:spPr>
          <a:xfrm>
            <a:off x="5715000" y="5943600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8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812" name="Text Box 156"/>
          <p:cNvSpPr txBox="1"/>
          <p:nvPr/>
        </p:nvSpPr>
        <p:spPr>
          <a:xfrm>
            <a:off x="6394450" y="5943600"/>
            <a:ext cx="615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9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813" name="Text Box 157"/>
          <p:cNvSpPr txBox="1"/>
          <p:nvPr/>
        </p:nvSpPr>
        <p:spPr>
          <a:xfrm>
            <a:off x="7569200" y="5943600"/>
            <a:ext cx="717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10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814" name="Text Box 158"/>
          <p:cNvSpPr txBox="1"/>
          <p:nvPr/>
        </p:nvSpPr>
        <p:spPr>
          <a:xfrm>
            <a:off x="6953250" y="5943600"/>
            <a:ext cx="717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m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11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0816" name="Text Box 160"/>
          <p:cNvSpPr txBox="1"/>
          <p:nvPr/>
        </p:nvSpPr>
        <p:spPr>
          <a:xfrm>
            <a:off x="4802188" y="4191000"/>
            <a:ext cx="6080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AB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70817" name="Text Box 161"/>
          <p:cNvSpPr txBox="1"/>
          <p:nvPr/>
        </p:nvSpPr>
        <p:spPr>
          <a:xfrm>
            <a:off x="5105400" y="3886200"/>
            <a:ext cx="6254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CD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70819" name="AutoShape 163"/>
          <p:cNvSpPr/>
          <p:nvPr/>
        </p:nvSpPr>
        <p:spPr>
          <a:xfrm>
            <a:off x="3733800" y="2438400"/>
            <a:ext cx="533400" cy="457200"/>
          </a:xfrm>
          <a:prstGeom prst="rightArrow">
            <a:avLst>
              <a:gd name="adj1" fmla="val 50000"/>
              <a:gd name="adj2" fmla="val 29166"/>
            </a:avLst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grpSp>
        <p:nvGrpSpPr>
          <p:cNvPr id="18" name="Group 176"/>
          <p:cNvGrpSpPr/>
          <p:nvPr/>
        </p:nvGrpSpPr>
        <p:grpSpPr>
          <a:xfrm>
            <a:off x="533400" y="1600200"/>
            <a:ext cx="8001000" cy="5029200"/>
            <a:chOff x="336" y="1008"/>
            <a:chExt cx="5040" cy="3120"/>
          </a:xfrm>
        </p:grpSpPr>
        <p:sp>
          <p:nvSpPr>
            <p:cNvPr id="84059" name="Line 164"/>
            <p:cNvSpPr/>
            <p:nvPr/>
          </p:nvSpPr>
          <p:spPr>
            <a:xfrm>
              <a:off x="336" y="2448"/>
              <a:ext cx="5040" cy="0"/>
            </a:xfrm>
            <a:prstGeom prst="line">
              <a:avLst/>
            </a:prstGeom>
            <a:ln w="57150" cap="flat" cmpd="sng">
              <a:pattFill prst="trellis">
                <a:fgClr>
                  <a:srgbClr val="33CCCC"/>
                </a:fgClr>
                <a:bgClr>
                  <a:srgbClr val="FFFFFF"/>
                </a:bgClr>
              </a:pattFill>
              <a:prstDash val="solid"/>
              <a:headEnd type="none" w="med" len="med"/>
              <a:tailEnd type="none" w="med" len="med"/>
            </a:ln>
          </p:spPr>
        </p:sp>
        <p:sp>
          <p:nvSpPr>
            <p:cNvPr id="84060" name="Rectangle 165"/>
            <p:cNvSpPr/>
            <p:nvPr/>
          </p:nvSpPr>
          <p:spPr>
            <a:xfrm>
              <a:off x="336" y="1008"/>
              <a:ext cx="5040" cy="3120"/>
            </a:xfrm>
            <a:prstGeom prst="rect">
              <a:avLst/>
            </a:prstGeom>
            <a:noFill/>
            <a:ln w="57150" cap="flat" cmpd="sng">
              <a:pattFill prst="trellis">
                <a:fgClr>
                  <a:srgbClr val="33CCCC"/>
                </a:fgClr>
                <a:bgClr>
                  <a:srgbClr val="FFFFFF"/>
                </a:bgClr>
              </a:patt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9" name="Group 178"/>
          <p:cNvGrpSpPr/>
          <p:nvPr/>
        </p:nvGrpSpPr>
        <p:grpSpPr>
          <a:xfrm>
            <a:off x="609600" y="1676400"/>
            <a:ext cx="609600" cy="2362200"/>
            <a:chOff x="384" y="1056"/>
            <a:chExt cx="384" cy="1488"/>
          </a:xfrm>
        </p:grpSpPr>
        <p:sp>
          <p:nvSpPr>
            <p:cNvPr id="84057" name="Oval 167"/>
            <p:cNvSpPr/>
            <p:nvPr/>
          </p:nvSpPr>
          <p:spPr>
            <a:xfrm>
              <a:off x="384" y="1056"/>
              <a:ext cx="384" cy="1344"/>
            </a:xfrm>
            <a:prstGeom prst="ellipse">
              <a:avLst/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>
              <a:noFill/>
            </a:ln>
            <a:effectLst>
              <a:outerShdw dist="35921" dir="2699999" algn="ctr" rotWithShape="0">
                <a:srgbClr val="808080"/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84058" name="Text Box 168"/>
            <p:cNvSpPr txBox="1"/>
            <p:nvPr/>
          </p:nvSpPr>
          <p:spPr>
            <a:xfrm>
              <a:off x="461" y="1106"/>
              <a:ext cx="248" cy="1438"/>
            </a:xfrm>
            <a:prstGeom prst="rect">
              <a:avLst/>
            </a:prstGeom>
            <a:noFill/>
            <a:ln w="9525">
              <a:noFill/>
            </a:ln>
            <a:effectLst>
              <a:outerShdw dist="35921" dir="2699999" algn="ctr" rotWithShape="0">
                <a:srgbClr val="808080"/>
              </a:outerShdw>
            </a:effectLst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A50021"/>
                  </a:solidFill>
                </a:rPr>
                <a:t>二</a:t>
              </a:r>
              <a:endParaRPr lang="zh-CN" altLang="en-US" sz="2400" b="1" dirty="0">
                <a:solidFill>
                  <a:srgbClr val="A50021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A50021"/>
                  </a:solidFill>
                </a:rPr>
                <a:t>变</a:t>
              </a:r>
              <a:endParaRPr lang="zh-CN" altLang="en-US" sz="2400" b="1" dirty="0">
                <a:solidFill>
                  <a:srgbClr val="A50021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A50021"/>
                  </a:solidFill>
                </a:rPr>
                <a:t>量</a:t>
              </a:r>
              <a:endParaRPr lang="zh-CN" altLang="en-US" sz="2400" b="1" dirty="0">
                <a:solidFill>
                  <a:srgbClr val="A50021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A50021"/>
                  </a:solidFill>
                </a:rPr>
                <a:t>K</a:t>
              </a:r>
              <a:endParaRPr lang="en-US" altLang="zh-CN" sz="2400" b="1" dirty="0">
                <a:solidFill>
                  <a:srgbClr val="A50021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A50021"/>
                  </a:solidFill>
                </a:rPr>
                <a:t>图</a:t>
              </a:r>
              <a:endParaRPr lang="zh-CN" altLang="en-US" sz="2400" b="1" dirty="0">
                <a:solidFill>
                  <a:srgbClr val="A50021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en-US" altLang="zh-CN" sz="2400" b="1" dirty="0">
                <a:solidFill>
                  <a:srgbClr val="A50021"/>
                </a:solidFill>
              </a:endParaRPr>
            </a:p>
          </p:txBody>
        </p:sp>
      </p:grpSp>
      <p:grpSp>
        <p:nvGrpSpPr>
          <p:cNvPr id="20" name="Group 179"/>
          <p:cNvGrpSpPr/>
          <p:nvPr/>
        </p:nvGrpSpPr>
        <p:grpSpPr>
          <a:xfrm>
            <a:off x="685800" y="4267200"/>
            <a:ext cx="609600" cy="2362200"/>
            <a:chOff x="432" y="2688"/>
            <a:chExt cx="384" cy="1488"/>
          </a:xfrm>
        </p:grpSpPr>
        <p:sp>
          <p:nvSpPr>
            <p:cNvPr id="84055" name="Oval 171"/>
            <p:cNvSpPr/>
            <p:nvPr/>
          </p:nvSpPr>
          <p:spPr>
            <a:xfrm>
              <a:off x="432" y="2688"/>
              <a:ext cx="384" cy="1344"/>
            </a:xfrm>
            <a:prstGeom prst="ellipse">
              <a:avLst/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>
              <a:noFill/>
            </a:ln>
            <a:effectLst>
              <a:outerShdw dist="35921" dir="2699999" algn="ctr" rotWithShape="0">
                <a:srgbClr val="808080"/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84056" name="Text Box 172"/>
            <p:cNvSpPr txBox="1"/>
            <p:nvPr/>
          </p:nvSpPr>
          <p:spPr>
            <a:xfrm>
              <a:off x="509" y="2738"/>
              <a:ext cx="248" cy="1438"/>
            </a:xfrm>
            <a:prstGeom prst="rect">
              <a:avLst/>
            </a:prstGeom>
            <a:noFill/>
            <a:ln w="9525">
              <a:noFill/>
            </a:ln>
            <a:effectLst>
              <a:outerShdw dist="35921" dir="2699999" algn="ctr" rotWithShape="0">
                <a:srgbClr val="808080"/>
              </a:outerShdw>
            </a:effectLst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A50021"/>
                  </a:solidFill>
                </a:rPr>
                <a:t>三</a:t>
              </a:r>
              <a:endParaRPr lang="zh-CN" altLang="en-US" sz="2400" b="1" dirty="0">
                <a:solidFill>
                  <a:srgbClr val="A50021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A50021"/>
                  </a:solidFill>
                </a:rPr>
                <a:t>变</a:t>
              </a:r>
              <a:endParaRPr lang="zh-CN" altLang="en-US" sz="2400" b="1" dirty="0">
                <a:solidFill>
                  <a:srgbClr val="A50021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A50021"/>
                  </a:solidFill>
                </a:rPr>
                <a:t>量</a:t>
              </a:r>
              <a:endParaRPr lang="zh-CN" altLang="en-US" sz="2400" b="1" dirty="0">
                <a:solidFill>
                  <a:srgbClr val="A50021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A50021"/>
                  </a:solidFill>
                </a:rPr>
                <a:t>K</a:t>
              </a:r>
              <a:endParaRPr lang="en-US" altLang="zh-CN" sz="2400" b="1" dirty="0">
                <a:solidFill>
                  <a:srgbClr val="A50021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A50021"/>
                  </a:solidFill>
                </a:rPr>
                <a:t>图</a:t>
              </a:r>
              <a:endParaRPr lang="zh-CN" altLang="en-US" sz="2400" b="1" dirty="0">
                <a:solidFill>
                  <a:srgbClr val="A50021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en-US" altLang="zh-CN" sz="2400" b="1" dirty="0">
                <a:solidFill>
                  <a:srgbClr val="A50021"/>
                </a:solidFill>
              </a:endParaRPr>
            </a:p>
          </p:txBody>
        </p:sp>
      </p:grpSp>
      <p:grpSp>
        <p:nvGrpSpPr>
          <p:cNvPr id="21" name="Group 180"/>
          <p:cNvGrpSpPr/>
          <p:nvPr/>
        </p:nvGrpSpPr>
        <p:grpSpPr>
          <a:xfrm>
            <a:off x="4419600" y="4267200"/>
            <a:ext cx="609600" cy="2362200"/>
            <a:chOff x="2784" y="2688"/>
            <a:chExt cx="384" cy="1488"/>
          </a:xfrm>
        </p:grpSpPr>
        <p:sp>
          <p:nvSpPr>
            <p:cNvPr id="84053" name="Oval 174"/>
            <p:cNvSpPr/>
            <p:nvPr/>
          </p:nvSpPr>
          <p:spPr>
            <a:xfrm>
              <a:off x="2784" y="2688"/>
              <a:ext cx="384" cy="1344"/>
            </a:xfrm>
            <a:prstGeom prst="ellipse">
              <a:avLst/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>
              <a:noFill/>
            </a:ln>
            <a:effectLst>
              <a:outerShdw dist="35921" dir="2699999" algn="ctr" rotWithShape="0">
                <a:srgbClr val="808080"/>
              </a:outerShdw>
            </a:effectLst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84054" name="Text Box 175"/>
            <p:cNvSpPr txBox="1"/>
            <p:nvPr/>
          </p:nvSpPr>
          <p:spPr>
            <a:xfrm>
              <a:off x="2861" y="2738"/>
              <a:ext cx="248" cy="1438"/>
            </a:xfrm>
            <a:prstGeom prst="rect">
              <a:avLst/>
            </a:prstGeom>
            <a:noFill/>
            <a:ln w="9525">
              <a:noFill/>
            </a:ln>
            <a:effectLst>
              <a:outerShdw dist="35921" dir="2699999" algn="ctr" rotWithShape="0">
                <a:srgbClr val="808080"/>
              </a:outerShdw>
            </a:effectLst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A50021"/>
                  </a:solidFill>
                </a:rPr>
                <a:t>四</a:t>
              </a:r>
              <a:endParaRPr lang="zh-CN" altLang="en-US" sz="2400" b="1" dirty="0">
                <a:solidFill>
                  <a:srgbClr val="A50021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A50021"/>
                  </a:solidFill>
                </a:rPr>
                <a:t>变</a:t>
              </a:r>
              <a:endParaRPr lang="zh-CN" altLang="en-US" sz="2400" b="1" dirty="0">
                <a:solidFill>
                  <a:srgbClr val="A50021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A50021"/>
                  </a:solidFill>
                </a:rPr>
                <a:t>量</a:t>
              </a:r>
              <a:endParaRPr lang="zh-CN" altLang="en-US" sz="2400" b="1" dirty="0">
                <a:solidFill>
                  <a:srgbClr val="A50021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A50021"/>
                  </a:solidFill>
                </a:rPr>
                <a:t>K</a:t>
              </a:r>
              <a:endParaRPr lang="en-US" altLang="zh-CN" sz="2400" b="1" dirty="0">
                <a:solidFill>
                  <a:srgbClr val="A50021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A50021"/>
                  </a:solidFill>
                </a:rPr>
                <a:t>图</a:t>
              </a:r>
              <a:endParaRPr lang="zh-CN" altLang="en-US" sz="2400" b="1" dirty="0">
                <a:solidFill>
                  <a:srgbClr val="A50021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en-US" altLang="zh-CN" sz="2400" b="1" dirty="0">
                <a:solidFill>
                  <a:srgbClr val="A50021"/>
                </a:solidFill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0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0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7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0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0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500"/>
                                        <p:tgtEl>
                                          <p:spTgt spid="70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0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0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0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70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70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7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7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70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70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70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70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70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70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70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70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70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70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70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70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70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70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500"/>
                            </p:stCondLst>
                            <p:childTnLst>
                              <p:par>
                                <p:cTn id="19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2000"/>
                            </p:stCondLst>
                            <p:childTnLst>
                              <p:par>
                                <p:cTn id="20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3500"/>
                            </p:stCondLst>
                            <p:childTnLst>
                              <p:par>
                                <p:cTn id="20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5000"/>
                            </p:stCondLst>
                            <p:childTnLst>
                              <p:par>
                                <p:cTn id="20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6500"/>
                            </p:stCondLst>
                            <p:childTnLst>
                              <p:par>
                                <p:cTn id="2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8000"/>
                            </p:stCondLst>
                            <p:childTnLst>
                              <p:par>
                                <p:cTn id="2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9500"/>
                            </p:stCondLst>
                            <p:childTnLst>
                              <p:par>
                                <p:cTn id="2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11000"/>
                            </p:stCondLst>
                            <p:childTnLst>
                              <p:par>
                                <p:cTn id="2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12500"/>
                            </p:stCondLst>
                            <p:childTnLst>
                              <p:par>
                                <p:cTn id="2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14000"/>
                            </p:stCondLst>
                            <p:childTnLst>
                              <p:par>
                                <p:cTn id="2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15500"/>
                            </p:stCondLst>
                            <p:childTnLst>
                              <p:par>
                                <p:cTn id="2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17000"/>
                            </p:stCondLst>
                            <p:childTnLst>
                              <p:par>
                                <p:cTn id="2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18500"/>
                            </p:stCondLst>
                            <p:childTnLst>
                              <p:par>
                                <p:cTn id="2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20000"/>
                            </p:stCondLst>
                            <p:childTnLst>
                              <p:par>
                                <p:cTn id="2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21500"/>
                            </p:stCondLst>
                            <p:childTnLst>
                              <p:par>
                                <p:cTn id="2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23000"/>
                            </p:stCondLst>
                            <p:childTnLst>
                              <p:par>
                                <p:cTn id="2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500"/>
                            </p:stCondLst>
                            <p:childTnLst>
                              <p:par>
                                <p:cTn id="25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2000"/>
                            </p:stCondLst>
                            <p:childTnLst>
                              <p:par>
                                <p:cTn id="26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3500"/>
                            </p:stCondLst>
                            <p:childTnLst>
                              <p:par>
                                <p:cTn id="26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5000"/>
                            </p:stCondLst>
                            <p:childTnLst>
                              <p:par>
                                <p:cTn id="26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6500"/>
                            </p:stCondLst>
                            <p:childTnLst>
                              <p:par>
                                <p:cTn id="27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8000"/>
                            </p:stCondLst>
                            <p:childTnLst>
                              <p:par>
                                <p:cTn id="27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9500"/>
                            </p:stCondLst>
                            <p:childTnLst>
                              <p:par>
                                <p:cTn id="27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11000"/>
                            </p:stCondLst>
                            <p:childTnLst>
                              <p:par>
                                <p:cTn id="27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12500"/>
                            </p:stCondLst>
                            <p:childTnLst>
                              <p:par>
                                <p:cTn id="28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14000"/>
                            </p:stCondLst>
                            <p:childTnLst>
                              <p:par>
                                <p:cTn id="28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15500"/>
                            </p:stCondLst>
                            <p:childTnLst>
                              <p:par>
                                <p:cTn id="28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17000"/>
                            </p:stCondLst>
                            <p:childTnLst>
                              <p:par>
                                <p:cTn id="29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18500"/>
                            </p:stCondLst>
                            <p:childTnLst>
                              <p:par>
                                <p:cTn id="29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20000"/>
                            </p:stCondLst>
                            <p:childTnLst>
                              <p:par>
                                <p:cTn id="29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21500"/>
                            </p:stCondLst>
                            <p:childTnLst>
                              <p:par>
                                <p:cTn id="30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23000"/>
                            </p:stCondLst>
                            <p:childTnLst>
                              <p:par>
                                <p:cTn id="30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24500"/>
                            </p:stCondLst>
                            <p:childTnLst>
                              <p:par>
                                <p:cTn id="30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" fill="hold">
                            <p:stCondLst>
                              <p:cond delay="26000"/>
                            </p:stCondLst>
                            <p:childTnLst>
                              <p:par>
                                <p:cTn id="30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27500"/>
                            </p:stCondLst>
                            <p:childTnLst>
                              <p:par>
                                <p:cTn id="31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29000"/>
                            </p:stCondLst>
                            <p:childTnLst>
                              <p:par>
                                <p:cTn id="31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30500"/>
                            </p:stCondLst>
                            <p:childTnLst>
                              <p:par>
                                <p:cTn id="31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32000"/>
                            </p:stCondLst>
                            <p:childTnLst>
                              <p:par>
                                <p:cTn id="32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33500"/>
                            </p:stCondLst>
                            <p:childTnLst>
                              <p:par>
                                <p:cTn id="32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6" fill="hold">
                            <p:stCondLst>
                              <p:cond delay="35000"/>
                            </p:stCondLst>
                            <p:childTnLst>
                              <p:par>
                                <p:cTn id="32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9" fill="hold">
                            <p:stCondLst>
                              <p:cond delay="36500"/>
                            </p:stCondLst>
                            <p:childTnLst>
                              <p:par>
                                <p:cTn id="33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>
                            <p:stCondLst>
                              <p:cond delay="38000"/>
                            </p:stCondLst>
                            <p:childTnLst>
                              <p:par>
                                <p:cTn id="33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 animBg="1"/>
      <p:bldP spid="70659" grpId="0"/>
      <p:bldP spid="70666" grpId="0"/>
      <p:bldP spid="70667" grpId="0"/>
      <p:bldP spid="70669" grpId="0"/>
      <p:bldP spid="70670" grpId="0"/>
      <p:bldP spid="70671" grpId="0"/>
      <p:bldP spid="70672" grpId="0"/>
      <p:bldP spid="70673" grpId="0"/>
      <p:bldP spid="70674" grpId="0"/>
      <p:bldP spid="70675" grpId="0"/>
      <p:bldP spid="70682" grpId="0"/>
      <p:bldP spid="70689" grpId="0"/>
      <p:bldP spid="70708" grpId="0"/>
      <p:bldP spid="70713" grpId="0"/>
      <p:bldP spid="70720" grpId="0"/>
      <p:bldP spid="70739" grpId="0"/>
      <p:bldP spid="70740" grpId="0"/>
      <p:bldP spid="70741" grpId="0"/>
      <p:bldP spid="70742" grpId="0"/>
      <p:bldP spid="70745" grpId="0"/>
      <p:bldP spid="70746" grpId="0"/>
      <p:bldP spid="70747" grpId="0"/>
      <p:bldP spid="70748" grpId="0"/>
      <p:bldP spid="70751" grpId="0"/>
      <p:bldP spid="70772" grpId="0"/>
      <p:bldP spid="70773" grpId="0"/>
      <p:bldP spid="70774" grpId="0"/>
      <p:bldP spid="70775" grpId="0"/>
      <p:bldP spid="70776" grpId="0"/>
      <p:bldP spid="70777" grpId="0"/>
      <p:bldP spid="70778" grpId="0"/>
      <p:bldP spid="70779" grpId="0"/>
      <p:bldP spid="70780" grpId="0"/>
      <p:bldP spid="70781" grpId="0"/>
      <p:bldP spid="70782" grpId="0"/>
      <p:bldP spid="70783" grpId="0"/>
      <p:bldP spid="70784" grpId="0"/>
      <p:bldP spid="70785" grpId="0"/>
      <p:bldP spid="70786" grpId="0"/>
      <p:bldP spid="70787" grpId="0"/>
      <p:bldP spid="70788" grpId="0"/>
      <p:bldP spid="70789" grpId="0"/>
      <p:bldP spid="70790" grpId="0"/>
      <p:bldP spid="70791" grpId="0"/>
      <p:bldP spid="70792" grpId="0"/>
      <p:bldP spid="70793" grpId="0"/>
      <p:bldP spid="70794" grpId="0"/>
      <p:bldP spid="70795" grpId="0"/>
      <p:bldP spid="70796" grpId="0"/>
      <p:bldP spid="70797" grpId="0"/>
      <p:bldP spid="70798" grpId="0"/>
      <p:bldP spid="70799" grpId="0"/>
      <p:bldP spid="70801" grpId="0"/>
      <p:bldP spid="70802" grpId="0"/>
      <p:bldP spid="70803" grpId="0"/>
      <p:bldP spid="70804" grpId="0"/>
      <p:bldP spid="70806" grpId="0"/>
      <p:bldP spid="70807" grpId="0"/>
      <p:bldP spid="70808" grpId="0"/>
      <p:bldP spid="70809" grpId="0"/>
      <p:bldP spid="70811" grpId="0"/>
      <p:bldP spid="70812" grpId="0"/>
      <p:bldP spid="70813" grpId="0"/>
      <p:bldP spid="70814" grpId="0"/>
      <p:bldP spid="70816" grpId="0"/>
      <p:bldP spid="70817" grpId="0"/>
      <p:bldP spid="7081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Text Box 2"/>
          <p:cNvSpPr txBox="1"/>
          <p:nvPr/>
        </p:nvSpPr>
        <p:spPr>
          <a:xfrm>
            <a:off x="533400" y="304800"/>
            <a:ext cx="3429000" cy="64135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Left">
              <a:rot lat="0" lon="0" rev="0"/>
            </a:camera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990033"/>
                </a:solidFill>
                <a:ea typeface="隶书" panose="02010509060101010101" pitchFamily="49" charset="-122"/>
              </a:rPr>
              <a:t>图形法化简函数</a:t>
            </a:r>
            <a:endParaRPr lang="zh-CN" altLang="en-US" sz="3600" b="1" dirty="0">
              <a:solidFill>
                <a:schemeClr val="tx2"/>
              </a:solidFill>
              <a:ea typeface="隶书" panose="02010509060101010101" pitchFamily="49" charset="-122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285750" y="1214438"/>
            <a:ext cx="8286750" cy="30908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4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所谓几何相邻，一是相接，即紧挨着； 二是相对，即任意一行或一列的两头；三是相重， 即对折起来位置重合。 </a:t>
            </a:r>
            <a:endParaRPr kumimoji="1" lang="zh-CN" altLang="en-US" sz="284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4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所谓逻辑相邻，是指除了一个变量不同外其余变量都相同的两个与项。  </a:t>
            </a:r>
            <a:endParaRPr kumimoji="1" lang="zh-CN" altLang="en-US" sz="284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0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0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5"/>
          <p:cNvGrpSpPr/>
          <p:nvPr/>
        </p:nvGrpSpPr>
        <p:grpSpPr>
          <a:xfrm>
            <a:off x="533400" y="1143000"/>
            <a:ext cx="762000" cy="2438400"/>
            <a:chOff x="240" y="720"/>
            <a:chExt cx="480" cy="1536"/>
          </a:xfrm>
        </p:grpSpPr>
        <p:sp>
          <p:nvSpPr>
            <p:cNvPr id="86106" name="Oval 4"/>
            <p:cNvSpPr/>
            <p:nvPr/>
          </p:nvSpPr>
          <p:spPr>
            <a:xfrm>
              <a:off x="240" y="720"/>
              <a:ext cx="480" cy="1536"/>
            </a:xfrm>
            <a:prstGeom prst="ellipse">
              <a:avLst/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86107" name="Text Box 2"/>
            <p:cNvSpPr txBox="1"/>
            <p:nvPr/>
          </p:nvSpPr>
          <p:spPr>
            <a:xfrm>
              <a:off x="336" y="864"/>
              <a:ext cx="310" cy="12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K</a:t>
              </a:r>
              <a:endParaRPr lang="en-US" altLang="zh-CN" sz="24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图</a:t>
              </a:r>
              <a:endPara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的</a:t>
              </a:r>
              <a:endPara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特</a:t>
              </a:r>
              <a:endPara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点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86019" name="Text Box 3"/>
          <p:cNvSpPr txBox="1"/>
          <p:nvPr/>
        </p:nvSpPr>
        <p:spPr>
          <a:xfrm>
            <a:off x="533400" y="334963"/>
            <a:ext cx="3429000" cy="579437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Left">
              <a:rot lat="0" lon="0" rev="0"/>
            </a:camera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rgbClr val="990033"/>
                </a:solidFill>
                <a:ea typeface="幼圆" panose="02010509060101010101" pitchFamily="49" charset="-122"/>
              </a:rPr>
              <a:t>图形法化简函数</a:t>
            </a:r>
            <a:endParaRPr lang="zh-CN" altLang="en-US" sz="3600" b="1" dirty="0">
              <a:solidFill>
                <a:schemeClr val="tx2"/>
              </a:solidFill>
            </a:endParaRPr>
          </a:p>
        </p:txBody>
      </p:sp>
      <p:sp>
        <p:nvSpPr>
          <p:cNvPr id="86020" name="Rectangle 6"/>
          <p:cNvSpPr/>
          <p:nvPr/>
        </p:nvSpPr>
        <p:spPr>
          <a:xfrm>
            <a:off x="457200" y="1066800"/>
            <a:ext cx="8229600" cy="2590800"/>
          </a:xfrm>
          <a:prstGeom prst="rect">
            <a:avLst/>
          </a:prstGeom>
          <a:noFill/>
          <a:ln w="38100" cap="flat" cmpd="sng">
            <a:pattFill prst="trellis">
              <a:fgClr>
                <a:srgbClr val="33CCCC"/>
              </a:fgClr>
              <a:bgClr>
                <a:srgbClr val="FFFFFF"/>
              </a:bgClr>
            </a:patt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71687" name="Text Box 7"/>
          <p:cNvSpPr txBox="1"/>
          <p:nvPr/>
        </p:nvSpPr>
        <p:spPr>
          <a:xfrm>
            <a:off x="1447800" y="1143000"/>
            <a:ext cx="685800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CC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</a:t>
            </a:r>
            <a:r>
              <a:rPr lang="en-US" altLang="zh-CN" sz="2400" dirty="0"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宋体" panose="02010600030101010101" pitchFamily="2" charset="-122"/>
              </a:rPr>
              <a:t>k</a:t>
            </a:r>
            <a:r>
              <a:rPr lang="zh-CN" altLang="en-US" sz="2400" b="1" dirty="0">
                <a:latin typeface="宋体" panose="02010600030101010101" pitchFamily="2" charset="-122"/>
              </a:rPr>
              <a:t>图为方形图。</a:t>
            </a:r>
            <a:r>
              <a:rPr lang="en-US" altLang="zh-CN" sz="2400" b="1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个变量的函数</a:t>
            </a:r>
            <a:r>
              <a:rPr lang="en-US" altLang="zh-CN" sz="2400" b="1" dirty="0">
                <a:latin typeface="宋体" panose="02010600030101010101" pitchFamily="2" charset="-122"/>
              </a:rPr>
              <a:t>--k</a:t>
            </a:r>
            <a:r>
              <a:rPr lang="zh-CN" altLang="en-US" sz="2400" b="1" dirty="0">
                <a:latin typeface="宋体" panose="02010600030101010101" pitchFamily="2" charset="-122"/>
              </a:rPr>
              <a:t>图有</a:t>
            </a: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en-US" altLang="zh-CN" sz="2400" b="1" baseline="30000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个小方格，分别对应</a:t>
            </a: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en-US" altLang="zh-CN" sz="2400" b="1" baseline="30000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个最小项</a:t>
            </a:r>
            <a:r>
              <a:rPr lang="zh-CN" altLang="en-US" sz="2400" dirty="0">
                <a:latin typeface="宋体" panose="02010600030101010101" pitchFamily="2" charset="-122"/>
              </a:rPr>
              <a:t>；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71688" name="Text Box 8"/>
          <p:cNvSpPr txBox="1"/>
          <p:nvPr/>
        </p:nvSpPr>
        <p:spPr>
          <a:xfrm>
            <a:off x="1447800" y="1905000"/>
            <a:ext cx="685800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CC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</a:t>
            </a:r>
            <a:r>
              <a:rPr lang="en-US" altLang="zh-CN" sz="2400" dirty="0">
                <a:latin typeface="宋体" panose="02010600030101010101" pitchFamily="2" charset="-122"/>
              </a:rPr>
              <a:t>  </a:t>
            </a:r>
            <a:r>
              <a:rPr lang="en-US" altLang="zh-CN" sz="2400" b="1" dirty="0">
                <a:latin typeface="宋体" panose="02010600030101010101" pitchFamily="2" charset="-122"/>
              </a:rPr>
              <a:t>k</a:t>
            </a:r>
            <a:r>
              <a:rPr lang="zh-CN" altLang="en-US" sz="2400" b="1" dirty="0">
                <a:latin typeface="宋体" panose="02010600030101010101" pitchFamily="2" charset="-122"/>
              </a:rPr>
              <a:t>图中行、列两组变量取值按循环码规律排列，使变量各最小项之间具有</a:t>
            </a:r>
            <a:r>
              <a: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</a:rPr>
              <a:t>逻辑相邻性</a:t>
            </a:r>
            <a:r>
              <a:rPr lang="zh-CN" altLang="en-US" sz="2400" b="1" dirty="0">
                <a:latin typeface="宋体" panose="02010600030101010101" pitchFamily="2" charset="-122"/>
              </a:rPr>
              <a:t>。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grpSp>
        <p:nvGrpSpPr>
          <p:cNvPr id="3" name="Group 58"/>
          <p:cNvGrpSpPr/>
          <p:nvPr/>
        </p:nvGrpSpPr>
        <p:grpSpPr>
          <a:xfrm>
            <a:off x="3352800" y="762000"/>
            <a:ext cx="3733800" cy="1219200"/>
            <a:chOff x="2112" y="480"/>
            <a:chExt cx="2352" cy="768"/>
          </a:xfrm>
        </p:grpSpPr>
        <p:sp>
          <p:nvSpPr>
            <p:cNvPr id="86104" name="AutoShape 10"/>
            <p:cNvSpPr/>
            <p:nvPr/>
          </p:nvSpPr>
          <p:spPr>
            <a:xfrm>
              <a:off x="2112" y="480"/>
              <a:ext cx="2352" cy="768"/>
            </a:xfrm>
            <a:prstGeom prst="wedgeRoundRectCallout">
              <a:avLst>
                <a:gd name="adj1" fmla="val 4972"/>
                <a:gd name="adj2" fmla="val 78778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105" name="Text Box 11"/>
            <p:cNvSpPr txBox="1"/>
            <p:nvPr/>
          </p:nvSpPr>
          <p:spPr>
            <a:xfrm>
              <a:off x="2112" y="576"/>
              <a:ext cx="2352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上下左右几何相邻的方格内，只有一个因子不同</a:t>
              </a:r>
              <a:endParaRPr lang="zh-CN" altLang="en-US" sz="36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71689" name="Text Box 9"/>
          <p:cNvSpPr txBox="1"/>
          <p:nvPr/>
        </p:nvSpPr>
        <p:spPr>
          <a:xfrm>
            <a:off x="1447800" y="2743200"/>
            <a:ext cx="716280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CC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latin typeface="宋体" panose="02010600030101010101" pitchFamily="2" charset="-122"/>
              </a:rPr>
              <a:t>有三种几何相邻：</a:t>
            </a:r>
            <a:r>
              <a: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</a:rPr>
              <a:t>邻接、相对（行列两端）和对称</a:t>
            </a:r>
            <a:r>
              <a:rPr lang="zh-CN" altLang="en-US" sz="2400" b="1" dirty="0">
                <a:latin typeface="宋体" panose="02010600030101010101" pitchFamily="2" charset="-122"/>
              </a:rPr>
              <a:t>（图中以</a:t>
            </a:r>
            <a:r>
              <a:rPr lang="en-US" altLang="zh-CN" sz="2400" b="1" dirty="0">
                <a:latin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分割线为对称轴）方格均属相邻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grpSp>
        <p:nvGrpSpPr>
          <p:cNvPr id="4" name="Group 68"/>
          <p:cNvGrpSpPr/>
          <p:nvPr/>
        </p:nvGrpSpPr>
        <p:grpSpPr>
          <a:xfrm>
            <a:off x="457200" y="3581400"/>
            <a:ext cx="4038600" cy="2819400"/>
            <a:chOff x="2832" y="2256"/>
            <a:chExt cx="2544" cy="1776"/>
          </a:xfrm>
        </p:grpSpPr>
        <p:grpSp>
          <p:nvGrpSpPr>
            <p:cNvPr id="86066" name="Group 13"/>
            <p:cNvGrpSpPr/>
            <p:nvPr/>
          </p:nvGrpSpPr>
          <p:grpSpPr>
            <a:xfrm>
              <a:off x="3372" y="2448"/>
              <a:ext cx="1968" cy="1488"/>
              <a:chOff x="3216" y="2496"/>
              <a:chExt cx="1968" cy="1488"/>
            </a:xfrm>
          </p:grpSpPr>
          <p:sp>
            <p:nvSpPr>
              <p:cNvPr id="86096" name="Rectangle 14"/>
              <p:cNvSpPr/>
              <p:nvPr/>
            </p:nvSpPr>
            <p:spPr>
              <a:xfrm>
                <a:off x="3600" y="2736"/>
                <a:ext cx="1584" cy="1248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86097" name="Line 15"/>
              <p:cNvSpPr/>
              <p:nvPr/>
            </p:nvSpPr>
            <p:spPr>
              <a:xfrm>
                <a:off x="3600" y="3312"/>
                <a:ext cx="158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6098" name="Line 16"/>
              <p:cNvSpPr/>
              <p:nvPr/>
            </p:nvSpPr>
            <p:spPr>
              <a:xfrm>
                <a:off x="3600" y="3648"/>
                <a:ext cx="158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6099" name="Line 17"/>
              <p:cNvSpPr/>
              <p:nvPr/>
            </p:nvSpPr>
            <p:spPr>
              <a:xfrm>
                <a:off x="3600" y="3024"/>
                <a:ext cx="158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6100" name="Line 18"/>
              <p:cNvSpPr/>
              <p:nvPr/>
            </p:nvSpPr>
            <p:spPr>
              <a:xfrm>
                <a:off x="4416" y="2736"/>
                <a:ext cx="0" cy="124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6101" name="Line 19"/>
              <p:cNvSpPr/>
              <p:nvPr/>
            </p:nvSpPr>
            <p:spPr>
              <a:xfrm>
                <a:off x="4800" y="2736"/>
                <a:ext cx="0" cy="124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6102" name="Line 20"/>
              <p:cNvSpPr/>
              <p:nvPr/>
            </p:nvSpPr>
            <p:spPr>
              <a:xfrm>
                <a:off x="4032" y="2736"/>
                <a:ext cx="0" cy="124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6103" name="Line 21"/>
              <p:cNvSpPr/>
              <p:nvPr/>
            </p:nvSpPr>
            <p:spPr>
              <a:xfrm>
                <a:off x="3216" y="2496"/>
                <a:ext cx="384" cy="2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86067" name="Text Box 22"/>
            <p:cNvSpPr txBox="1"/>
            <p:nvPr/>
          </p:nvSpPr>
          <p:spPr>
            <a:xfrm>
              <a:off x="3832" y="2448"/>
              <a:ext cx="30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68" name="Text Box 23"/>
            <p:cNvSpPr txBox="1"/>
            <p:nvPr/>
          </p:nvSpPr>
          <p:spPr>
            <a:xfrm>
              <a:off x="4216" y="2448"/>
              <a:ext cx="30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01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69" name="Text Box 24"/>
            <p:cNvSpPr txBox="1"/>
            <p:nvPr/>
          </p:nvSpPr>
          <p:spPr>
            <a:xfrm>
              <a:off x="4600" y="2448"/>
              <a:ext cx="30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11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70" name="Text Box 25"/>
            <p:cNvSpPr txBox="1"/>
            <p:nvPr/>
          </p:nvSpPr>
          <p:spPr>
            <a:xfrm>
              <a:off x="4984" y="2448"/>
              <a:ext cx="30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71" name="Text Box 26"/>
            <p:cNvSpPr txBox="1"/>
            <p:nvPr/>
          </p:nvSpPr>
          <p:spPr>
            <a:xfrm>
              <a:off x="3420" y="2688"/>
              <a:ext cx="30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72" name="Text Box 27"/>
            <p:cNvSpPr txBox="1"/>
            <p:nvPr/>
          </p:nvSpPr>
          <p:spPr>
            <a:xfrm>
              <a:off x="3420" y="2976"/>
              <a:ext cx="30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01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73" name="Text Box 28"/>
            <p:cNvSpPr txBox="1"/>
            <p:nvPr/>
          </p:nvSpPr>
          <p:spPr>
            <a:xfrm>
              <a:off x="3400" y="3312"/>
              <a:ext cx="30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11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74" name="Text Box 29"/>
            <p:cNvSpPr txBox="1"/>
            <p:nvPr/>
          </p:nvSpPr>
          <p:spPr>
            <a:xfrm>
              <a:off x="3372" y="3600"/>
              <a:ext cx="30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75" name="Text Box 30"/>
            <p:cNvSpPr txBox="1"/>
            <p:nvPr/>
          </p:nvSpPr>
          <p:spPr>
            <a:xfrm>
              <a:off x="3804" y="2688"/>
              <a:ext cx="38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m</a:t>
              </a:r>
              <a:r>
                <a:rPr lang="en-US" altLang="zh-CN" sz="2400" b="1" baseline="-25000" dirty="0">
                  <a:solidFill>
                    <a:schemeClr val="tx2"/>
                  </a:solidFill>
                </a:rPr>
                <a:t>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76" name="Text Box 31"/>
            <p:cNvSpPr txBox="1"/>
            <p:nvPr/>
          </p:nvSpPr>
          <p:spPr>
            <a:xfrm>
              <a:off x="4188" y="2688"/>
              <a:ext cx="38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m</a:t>
              </a:r>
              <a:r>
                <a:rPr lang="en-US" altLang="zh-CN" sz="2400" b="1" baseline="-25000" dirty="0">
                  <a:solidFill>
                    <a:schemeClr val="tx2"/>
                  </a:solidFill>
                </a:rPr>
                <a:t>1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77" name="Text Box 32"/>
            <p:cNvSpPr txBox="1"/>
            <p:nvPr/>
          </p:nvSpPr>
          <p:spPr>
            <a:xfrm>
              <a:off x="4956" y="2688"/>
              <a:ext cx="38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m</a:t>
              </a:r>
              <a:r>
                <a:rPr lang="en-US" altLang="zh-CN" sz="2400" b="1" baseline="-25000" dirty="0">
                  <a:solidFill>
                    <a:schemeClr val="tx2"/>
                  </a:solidFill>
                </a:rPr>
                <a:t>2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78" name="Text Box 33"/>
            <p:cNvSpPr txBox="1"/>
            <p:nvPr/>
          </p:nvSpPr>
          <p:spPr>
            <a:xfrm>
              <a:off x="4568" y="2688"/>
              <a:ext cx="38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m</a:t>
              </a:r>
              <a:r>
                <a:rPr lang="en-US" altLang="zh-CN" sz="2400" b="1" baseline="-25000" dirty="0">
                  <a:solidFill>
                    <a:schemeClr val="tx2"/>
                  </a:solidFill>
                </a:rPr>
                <a:t>3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79" name="Text Box 34"/>
            <p:cNvSpPr txBox="1"/>
            <p:nvPr/>
          </p:nvSpPr>
          <p:spPr>
            <a:xfrm>
              <a:off x="3804" y="2928"/>
              <a:ext cx="38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m</a:t>
              </a:r>
              <a:r>
                <a:rPr lang="en-US" altLang="zh-CN" sz="2400" b="1" baseline="-25000" dirty="0">
                  <a:solidFill>
                    <a:schemeClr val="tx2"/>
                  </a:solidFill>
                </a:rPr>
                <a:t>4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80" name="Text Box 35"/>
            <p:cNvSpPr txBox="1"/>
            <p:nvPr/>
          </p:nvSpPr>
          <p:spPr>
            <a:xfrm>
              <a:off x="4188" y="2928"/>
              <a:ext cx="38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m</a:t>
              </a:r>
              <a:r>
                <a:rPr lang="en-US" altLang="zh-CN" sz="2400" b="1" baseline="-25000" dirty="0">
                  <a:solidFill>
                    <a:schemeClr val="tx2"/>
                  </a:solidFill>
                </a:rPr>
                <a:t>5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81" name="Text Box 36"/>
            <p:cNvSpPr txBox="1"/>
            <p:nvPr/>
          </p:nvSpPr>
          <p:spPr>
            <a:xfrm>
              <a:off x="4956" y="2928"/>
              <a:ext cx="38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m</a:t>
              </a:r>
              <a:r>
                <a:rPr lang="en-US" altLang="zh-CN" sz="2400" b="1" baseline="-25000" dirty="0">
                  <a:solidFill>
                    <a:schemeClr val="tx2"/>
                  </a:solidFill>
                </a:rPr>
                <a:t>6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82" name="Text Box 37"/>
            <p:cNvSpPr txBox="1"/>
            <p:nvPr/>
          </p:nvSpPr>
          <p:spPr>
            <a:xfrm>
              <a:off x="4568" y="2928"/>
              <a:ext cx="38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m</a:t>
              </a:r>
              <a:r>
                <a:rPr lang="en-US" altLang="zh-CN" sz="2400" b="1" baseline="-25000" dirty="0">
                  <a:solidFill>
                    <a:schemeClr val="tx2"/>
                  </a:solidFill>
                </a:rPr>
                <a:t>7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83" name="Text Box 38"/>
            <p:cNvSpPr txBox="1"/>
            <p:nvPr/>
          </p:nvSpPr>
          <p:spPr>
            <a:xfrm>
              <a:off x="3772" y="3264"/>
              <a:ext cx="45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m</a:t>
              </a:r>
              <a:r>
                <a:rPr lang="en-US" altLang="zh-CN" sz="2400" b="1" baseline="-25000" dirty="0">
                  <a:solidFill>
                    <a:schemeClr val="tx2"/>
                  </a:solidFill>
                </a:rPr>
                <a:t>12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84" name="Text Box 39"/>
            <p:cNvSpPr txBox="1"/>
            <p:nvPr/>
          </p:nvSpPr>
          <p:spPr>
            <a:xfrm>
              <a:off x="4156" y="3264"/>
              <a:ext cx="45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m</a:t>
              </a:r>
              <a:r>
                <a:rPr lang="en-US" altLang="zh-CN" sz="2400" b="1" baseline="-25000" dirty="0">
                  <a:solidFill>
                    <a:schemeClr val="tx2"/>
                  </a:solidFill>
                </a:rPr>
                <a:t>13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85" name="Text Box 40"/>
            <p:cNvSpPr txBox="1"/>
            <p:nvPr/>
          </p:nvSpPr>
          <p:spPr>
            <a:xfrm>
              <a:off x="4924" y="3264"/>
              <a:ext cx="45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m</a:t>
              </a:r>
              <a:r>
                <a:rPr lang="en-US" altLang="zh-CN" sz="2400" b="1" baseline="-25000" dirty="0">
                  <a:solidFill>
                    <a:schemeClr val="tx2"/>
                  </a:solidFill>
                </a:rPr>
                <a:t>14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86" name="Text Box 41"/>
            <p:cNvSpPr txBox="1"/>
            <p:nvPr/>
          </p:nvSpPr>
          <p:spPr>
            <a:xfrm>
              <a:off x="4536" y="3264"/>
              <a:ext cx="45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m</a:t>
              </a:r>
              <a:r>
                <a:rPr lang="en-US" altLang="zh-CN" sz="2400" b="1" baseline="-25000" dirty="0">
                  <a:solidFill>
                    <a:schemeClr val="tx2"/>
                  </a:solidFill>
                </a:rPr>
                <a:t>15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87" name="Text Box 42"/>
            <p:cNvSpPr txBox="1"/>
            <p:nvPr/>
          </p:nvSpPr>
          <p:spPr>
            <a:xfrm>
              <a:off x="3756" y="3552"/>
              <a:ext cx="38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m</a:t>
              </a:r>
              <a:r>
                <a:rPr lang="en-US" altLang="zh-CN" sz="2400" b="1" baseline="-25000" dirty="0">
                  <a:solidFill>
                    <a:schemeClr val="tx2"/>
                  </a:solidFill>
                </a:rPr>
                <a:t>8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88" name="Text Box 43"/>
            <p:cNvSpPr txBox="1"/>
            <p:nvPr/>
          </p:nvSpPr>
          <p:spPr>
            <a:xfrm>
              <a:off x="4184" y="3552"/>
              <a:ext cx="38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m</a:t>
              </a:r>
              <a:r>
                <a:rPr lang="en-US" altLang="zh-CN" sz="2400" b="1" baseline="-25000" dirty="0">
                  <a:solidFill>
                    <a:schemeClr val="tx2"/>
                  </a:solidFill>
                </a:rPr>
                <a:t>9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89" name="Text Box 44"/>
            <p:cNvSpPr txBox="1"/>
            <p:nvPr/>
          </p:nvSpPr>
          <p:spPr>
            <a:xfrm>
              <a:off x="4924" y="3552"/>
              <a:ext cx="45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m</a:t>
              </a:r>
              <a:r>
                <a:rPr lang="en-US" altLang="zh-CN" sz="2400" b="1" baseline="-25000" dirty="0">
                  <a:solidFill>
                    <a:schemeClr val="tx2"/>
                  </a:solidFill>
                </a:rPr>
                <a:t>10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90" name="Text Box 45"/>
            <p:cNvSpPr txBox="1"/>
            <p:nvPr/>
          </p:nvSpPr>
          <p:spPr>
            <a:xfrm>
              <a:off x="4536" y="3552"/>
              <a:ext cx="45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m</a:t>
              </a:r>
              <a:r>
                <a:rPr lang="en-US" altLang="zh-CN" sz="2400" b="1" baseline="-25000" dirty="0">
                  <a:solidFill>
                    <a:schemeClr val="tx2"/>
                  </a:solidFill>
                </a:rPr>
                <a:t>11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91" name="Text Box 46"/>
            <p:cNvSpPr txBox="1"/>
            <p:nvPr/>
          </p:nvSpPr>
          <p:spPr>
            <a:xfrm>
              <a:off x="3181" y="2448"/>
              <a:ext cx="38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AB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86092" name="Text Box 47"/>
            <p:cNvSpPr txBox="1"/>
            <p:nvPr/>
          </p:nvSpPr>
          <p:spPr>
            <a:xfrm>
              <a:off x="3372" y="2256"/>
              <a:ext cx="39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CD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grpSp>
          <p:nvGrpSpPr>
            <p:cNvPr id="86093" name="Group 65"/>
            <p:cNvGrpSpPr/>
            <p:nvPr/>
          </p:nvGrpSpPr>
          <p:grpSpPr>
            <a:xfrm>
              <a:off x="2832" y="2448"/>
              <a:ext cx="480" cy="1584"/>
              <a:chOff x="2832" y="2448"/>
              <a:chExt cx="480" cy="1584"/>
            </a:xfrm>
          </p:grpSpPr>
          <p:sp>
            <p:nvSpPr>
              <p:cNvPr id="86094" name="Oval 63"/>
              <p:cNvSpPr/>
              <p:nvPr/>
            </p:nvSpPr>
            <p:spPr>
              <a:xfrm>
                <a:off x="2832" y="2448"/>
                <a:ext cx="480" cy="1536"/>
              </a:xfrm>
              <a:prstGeom prst="ellipse">
                <a:avLst/>
              </a:prstGeom>
              <a:gradFill rotWithShape="0">
                <a:gsLst>
                  <a:gs pos="0">
                    <a:srgbClr val="767647"/>
                  </a:gs>
                  <a:gs pos="50000">
                    <a:srgbClr val="FFFF99"/>
                  </a:gs>
                  <a:gs pos="100000">
                    <a:srgbClr val="767647"/>
                  </a:gs>
                </a:gsLst>
                <a:lin ang="5400000" scaled="1"/>
                <a:tileRect/>
              </a:gradFill>
              <a:ln w="38100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86095" name="Text Box 53"/>
              <p:cNvSpPr txBox="1"/>
              <p:nvPr/>
            </p:nvSpPr>
            <p:spPr>
              <a:xfrm>
                <a:off x="2928" y="2594"/>
                <a:ext cx="248" cy="1438"/>
              </a:xfrm>
              <a:prstGeom prst="rect">
                <a:avLst/>
              </a:prstGeom>
              <a:noFill/>
              <a:ln w="38100">
                <a:noFill/>
              </a:ln>
              <a:effectLst>
                <a:outerShdw dist="35921" dir="2699999" algn="ctr" rotWithShape="0">
                  <a:srgbClr val="808080"/>
                </a:outerShdw>
              </a:effectLst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>
                    <a:solidFill>
                      <a:srgbClr val="CC3300"/>
                    </a:solidFill>
                  </a:rPr>
                  <a:t>四</a:t>
                </a:r>
                <a:endParaRPr lang="zh-CN" altLang="en-US" sz="2400" b="1" dirty="0">
                  <a:solidFill>
                    <a:srgbClr val="CC3300"/>
                  </a:solidFill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>
                    <a:solidFill>
                      <a:srgbClr val="CC3300"/>
                    </a:solidFill>
                  </a:rPr>
                  <a:t>变</a:t>
                </a:r>
                <a:endParaRPr lang="zh-CN" altLang="en-US" sz="2400" b="1" dirty="0">
                  <a:solidFill>
                    <a:srgbClr val="CC3300"/>
                  </a:solidFill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>
                    <a:solidFill>
                      <a:srgbClr val="CC3300"/>
                    </a:solidFill>
                  </a:rPr>
                  <a:t>量</a:t>
                </a:r>
                <a:endParaRPr lang="zh-CN" altLang="en-US" sz="2400" b="1" dirty="0">
                  <a:solidFill>
                    <a:srgbClr val="CC3300"/>
                  </a:solidFill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CC3300"/>
                    </a:solidFill>
                  </a:rPr>
                  <a:t>K</a:t>
                </a:r>
                <a:endParaRPr lang="en-US" altLang="zh-CN" sz="2400" b="1" dirty="0">
                  <a:solidFill>
                    <a:srgbClr val="CC3300"/>
                  </a:solidFill>
                </a:endParaRPr>
              </a:p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>
                    <a:solidFill>
                      <a:srgbClr val="CC3300"/>
                    </a:solidFill>
                  </a:rPr>
                  <a:t>图</a:t>
                </a:r>
                <a:endParaRPr lang="zh-CN" altLang="en-US" sz="2400" b="1" dirty="0"/>
              </a:p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</p:grpSp>
      </p:grpSp>
      <p:grpSp>
        <p:nvGrpSpPr>
          <p:cNvPr id="7" name="Group 102"/>
          <p:cNvGrpSpPr/>
          <p:nvPr/>
        </p:nvGrpSpPr>
        <p:grpSpPr>
          <a:xfrm>
            <a:off x="5486400" y="3733800"/>
            <a:ext cx="3352800" cy="1143000"/>
            <a:chOff x="3456" y="2304"/>
            <a:chExt cx="2112" cy="720"/>
          </a:xfrm>
        </p:grpSpPr>
        <p:sp>
          <p:nvSpPr>
            <p:cNvPr id="86064" name="AutoShape 101"/>
            <p:cNvSpPr/>
            <p:nvPr/>
          </p:nvSpPr>
          <p:spPr>
            <a:xfrm>
              <a:off x="3456" y="2304"/>
              <a:ext cx="2112" cy="720"/>
            </a:xfrm>
            <a:prstGeom prst="wedgeRoundRectCallout">
              <a:avLst>
                <a:gd name="adj1" fmla="val -48153"/>
                <a:gd name="adj2" fmla="val 63611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100000">
                  <a:srgbClr val="FFFF99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65" name="Text Box 79" descr="75%"/>
            <p:cNvSpPr txBox="1"/>
            <p:nvPr/>
          </p:nvSpPr>
          <p:spPr>
            <a:xfrm>
              <a:off x="3600" y="2448"/>
              <a:ext cx="1968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两个相邻格圈在一起，结果消去一个变量</a:t>
              </a:r>
              <a:endParaRPr lang="zh-CN" altLang="en-US" sz="2400" dirty="0"/>
            </a:p>
          </p:txBody>
        </p:sp>
      </p:grpSp>
      <p:grpSp>
        <p:nvGrpSpPr>
          <p:cNvPr id="8" name="Group 85"/>
          <p:cNvGrpSpPr/>
          <p:nvPr/>
        </p:nvGrpSpPr>
        <p:grpSpPr>
          <a:xfrm>
            <a:off x="2743200" y="4724400"/>
            <a:ext cx="2886075" cy="457200"/>
            <a:chOff x="1728" y="2976"/>
            <a:chExt cx="1818" cy="288"/>
          </a:xfrm>
        </p:grpSpPr>
        <p:sp>
          <p:nvSpPr>
            <p:cNvPr id="86059" name="Rectangle 80" descr="75%"/>
            <p:cNvSpPr/>
            <p:nvPr/>
          </p:nvSpPr>
          <p:spPr>
            <a:xfrm>
              <a:off x="1728" y="2976"/>
              <a:ext cx="672" cy="240"/>
            </a:xfrm>
            <a:prstGeom prst="rect">
              <a:avLst/>
            </a:prstGeom>
            <a:noFill/>
            <a:ln w="38100" cap="flat" cmpd="sng">
              <a:solidFill>
                <a:srgbClr val="CC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86060" name="Line 81"/>
            <p:cNvSpPr/>
            <p:nvPr/>
          </p:nvSpPr>
          <p:spPr>
            <a:xfrm>
              <a:off x="2400" y="3120"/>
              <a:ext cx="624" cy="0"/>
            </a:xfrm>
            <a:prstGeom prst="line">
              <a:avLst/>
            </a:prstGeom>
            <a:ln w="38100" cap="flat" cmpd="sng">
              <a:solidFill>
                <a:srgbClr val="CC3300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86061" name="Group 84"/>
            <p:cNvGrpSpPr/>
            <p:nvPr/>
          </p:nvGrpSpPr>
          <p:grpSpPr>
            <a:xfrm>
              <a:off x="3024" y="2976"/>
              <a:ext cx="522" cy="288"/>
              <a:chOff x="4128" y="3264"/>
              <a:chExt cx="522" cy="288"/>
            </a:xfrm>
          </p:grpSpPr>
          <p:sp>
            <p:nvSpPr>
              <p:cNvPr id="86062" name="Text Box 82" descr="75%"/>
              <p:cNvSpPr txBox="1"/>
              <p:nvPr/>
            </p:nvSpPr>
            <p:spPr>
              <a:xfrm>
                <a:off x="4128" y="3264"/>
                <a:ext cx="52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ABD</a:t>
                </a:r>
                <a:endParaRPr lang="en-US" altLang="zh-CN" sz="36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86063" name="Line 83"/>
              <p:cNvSpPr/>
              <p:nvPr/>
            </p:nvSpPr>
            <p:spPr>
              <a:xfrm>
                <a:off x="4224" y="3312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0" name="Group 93"/>
          <p:cNvGrpSpPr/>
          <p:nvPr/>
        </p:nvGrpSpPr>
        <p:grpSpPr>
          <a:xfrm>
            <a:off x="1905000" y="5257800"/>
            <a:ext cx="3902075" cy="990600"/>
            <a:chOff x="1200" y="3312"/>
            <a:chExt cx="2458" cy="624"/>
          </a:xfrm>
        </p:grpSpPr>
        <p:sp>
          <p:nvSpPr>
            <p:cNvPr id="86053" name="AutoShape 87" descr="75%"/>
            <p:cNvSpPr/>
            <p:nvPr/>
          </p:nvSpPr>
          <p:spPr>
            <a:xfrm>
              <a:off x="2400" y="3312"/>
              <a:ext cx="336" cy="624"/>
            </a:xfrm>
            <a:prstGeom prst="leftBracket">
              <a:avLst>
                <a:gd name="adj" fmla="val 15476"/>
              </a:avLst>
            </a:prstGeom>
            <a:noFill/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86054" name="AutoShape 88" descr="75%"/>
            <p:cNvSpPr/>
            <p:nvPr/>
          </p:nvSpPr>
          <p:spPr>
            <a:xfrm>
              <a:off x="1200" y="3312"/>
              <a:ext cx="432" cy="624"/>
            </a:xfrm>
            <a:prstGeom prst="rightBracket">
              <a:avLst>
                <a:gd name="adj" fmla="val 14812"/>
              </a:avLst>
            </a:prstGeom>
            <a:noFill/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86055" name="Line 89"/>
            <p:cNvSpPr/>
            <p:nvPr/>
          </p:nvSpPr>
          <p:spPr>
            <a:xfrm>
              <a:off x="2832" y="3600"/>
              <a:ext cx="384" cy="0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86056" name="Group 92"/>
            <p:cNvGrpSpPr/>
            <p:nvPr/>
          </p:nvGrpSpPr>
          <p:grpSpPr>
            <a:xfrm>
              <a:off x="3216" y="3456"/>
              <a:ext cx="442" cy="288"/>
              <a:chOff x="3336" y="3456"/>
              <a:chExt cx="442" cy="288"/>
            </a:xfrm>
          </p:grpSpPr>
          <p:sp>
            <p:nvSpPr>
              <p:cNvPr id="86057" name="Text Box 90" descr="75%"/>
              <p:cNvSpPr txBox="1"/>
              <p:nvPr/>
            </p:nvSpPr>
            <p:spPr>
              <a:xfrm>
                <a:off x="3336" y="3456"/>
                <a:ext cx="44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 AD</a:t>
                </a:r>
                <a:endParaRPr lang="en-US" altLang="zh-CN" sz="36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86058" name="Line 91"/>
              <p:cNvSpPr/>
              <p:nvPr/>
            </p:nvSpPr>
            <p:spPr>
              <a:xfrm>
                <a:off x="3600" y="3504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2" name="Group 114"/>
          <p:cNvGrpSpPr/>
          <p:nvPr/>
        </p:nvGrpSpPr>
        <p:grpSpPr>
          <a:xfrm>
            <a:off x="1981200" y="5257800"/>
            <a:ext cx="3605213" cy="1066800"/>
            <a:chOff x="1248" y="3312"/>
            <a:chExt cx="2271" cy="672"/>
          </a:xfrm>
        </p:grpSpPr>
        <p:sp>
          <p:nvSpPr>
            <p:cNvPr id="86050" name="Rectangle 94" descr="75%"/>
            <p:cNvSpPr/>
            <p:nvPr/>
          </p:nvSpPr>
          <p:spPr>
            <a:xfrm>
              <a:off x="1248" y="3312"/>
              <a:ext cx="1536" cy="576"/>
            </a:xfrm>
            <a:prstGeom prst="rect">
              <a:avLst/>
            </a:prstGeom>
            <a:noFill/>
            <a:ln w="38100" cap="flat" cmpd="sng">
              <a:solidFill>
                <a:srgbClr val="00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86051" name="Line 95"/>
            <p:cNvSpPr/>
            <p:nvPr/>
          </p:nvSpPr>
          <p:spPr>
            <a:xfrm>
              <a:off x="2784" y="3840"/>
              <a:ext cx="480" cy="0"/>
            </a:xfrm>
            <a:prstGeom prst="line">
              <a:avLst/>
            </a:prstGeom>
            <a:ln w="38100" cap="flat" cmpd="sng">
              <a:solidFill>
                <a:srgbClr val="008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6052" name="Text Box 96" descr="75%"/>
            <p:cNvSpPr txBox="1"/>
            <p:nvPr/>
          </p:nvSpPr>
          <p:spPr>
            <a:xfrm>
              <a:off x="3264" y="3696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A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3" name="Group 113"/>
          <p:cNvGrpSpPr/>
          <p:nvPr/>
        </p:nvGrpSpPr>
        <p:grpSpPr>
          <a:xfrm>
            <a:off x="1981200" y="4114800"/>
            <a:ext cx="3536950" cy="1981200"/>
            <a:chOff x="1248" y="2592"/>
            <a:chExt cx="2228" cy="1248"/>
          </a:xfrm>
        </p:grpSpPr>
        <p:sp>
          <p:nvSpPr>
            <p:cNvPr id="86047" name="Rectangle 98" descr="75%"/>
            <p:cNvSpPr/>
            <p:nvPr/>
          </p:nvSpPr>
          <p:spPr>
            <a:xfrm>
              <a:off x="1248" y="2736"/>
              <a:ext cx="1488" cy="1104"/>
            </a:xfrm>
            <a:prstGeom prst="rect">
              <a:avLst/>
            </a:prstGeom>
            <a:noFill/>
            <a:ln w="38100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86048" name="Line 99"/>
            <p:cNvSpPr/>
            <p:nvPr/>
          </p:nvSpPr>
          <p:spPr>
            <a:xfrm>
              <a:off x="2736" y="2736"/>
              <a:ext cx="528" cy="0"/>
            </a:xfrm>
            <a:prstGeom prst="line">
              <a:avLst/>
            </a:prstGeom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6049" name="Text Box 100" descr="75%"/>
            <p:cNvSpPr txBox="1"/>
            <p:nvPr/>
          </p:nvSpPr>
          <p:spPr>
            <a:xfrm>
              <a:off x="3264" y="259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04"/>
          <p:cNvGrpSpPr/>
          <p:nvPr/>
        </p:nvGrpSpPr>
        <p:grpSpPr>
          <a:xfrm>
            <a:off x="5562600" y="4419600"/>
            <a:ext cx="3352800" cy="1143000"/>
            <a:chOff x="3456" y="2304"/>
            <a:chExt cx="2112" cy="720"/>
          </a:xfrm>
        </p:grpSpPr>
        <p:sp>
          <p:nvSpPr>
            <p:cNvPr id="86045" name="AutoShape 105"/>
            <p:cNvSpPr/>
            <p:nvPr/>
          </p:nvSpPr>
          <p:spPr>
            <a:xfrm>
              <a:off x="3456" y="2304"/>
              <a:ext cx="2112" cy="720"/>
            </a:xfrm>
            <a:prstGeom prst="wedgeRoundRectCallout">
              <a:avLst>
                <a:gd name="adj1" fmla="val -48153"/>
                <a:gd name="adj2" fmla="val 63611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100000">
                  <a:srgbClr val="FFFF99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46" name="Text Box 106" descr="75%"/>
            <p:cNvSpPr txBox="1"/>
            <p:nvPr/>
          </p:nvSpPr>
          <p:spPr>
            <a:xfrm>
              <a:off x="3600" y="2448"/>
              <a:ext cx="1968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四个相邻格圈在一起，结果消去两个变量</a:t>
              </a:r>
              <a:endParaRPr lang="zh-CN" altLang="en-US" sz="2400" dirty="0"/>
            </a:p>
          </p:txBody>
        </p:sp>
      </p:grpSp>
      <p:grpSp>
        <p:nvGrpSpPr>
          <p:cNvPr id="15" name="Group 107"/>
          <p:cNvGrpSpPr/>
          <p:nvPr/>
        </p:nvGrpSpPr>
        <p:grpSpPr>
          <a:xfrm>
            <a:off x="5410200" y="4800600"/>
            <a:ext cx="3352800" cy="1143000"/>
            <a:chOff x="3456" y="2304"/>
            <a:chExt cx="2112" cy="720"/>
          </a:xfrm>
        </p:grpSpPr>
        <p:sp>
          <p:nvSpPr>
            <p:cNvPr id="86043" name="AutoShape 108"/>
            <p:cNvSpPr/>
            <p:nvPr/>
          </p:nvSpPr>
          <p:spPr>
            <a:xfrm>
              <a:off x="3456" y="2304"/>
              <a:ext cx="2112" cy="720"/>
            </a:xfrm>
            <a:prstGeom prst="wedgeRoundRectCallout">
              <a:avLst>
                <a:gd name="adj1" fmla="val -48153"/>
                <a:gd name="adj2" fmla="val 63611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100000">
                  <a:srgbClr val="FFFF99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44" name="Text Box 109" descr="75%"/>
            <p:cNvSpPr txBox="1"/>
            <p:nvPr/>
          </p:nvSpPr>
          <p:spPr>
            <a:xfrm>
              <a:off x="3600" y="2448"/>
              <a:ext cx="1968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八个相邻格圈在一起，结果消去三个变量</a:t>
              </a:r>
              <a:endParaRPr lang="zh-CN" altLang="en-US" sz="2400" dirty="0"/>
            </a:p>
          </p:txBody>
        </p:sp>
      </p:grpSp>
      <p:grpSp>
        <p:nvGrpSpPr>
          <p:cNvPr id="16" name="Group 117"/>
          <p:cNvGrpSpPr/>
          <p:nvPr/>
        </p:nvGrpSpPr>
        <p:grpSpPr>
          <a:xfrm>
            <a:off x="5486400" y="3581400"/>
            <a:ext cx="2971800" cy="1143000"/>
            <a:chOff x="5760" y="1296"/>
            <a:chExt cx="1872" cy="720"/>
          </a:xfrm>
        </p:grpSpPr>
        <p:sp>
          <p:nvSpPr>
            <p:cNvPr id="86041" name="AutoShape 111"/>
            <p:cNvSpPr/>
            <p:nvPr/>
          </p:nvSpPr>
          <p:spPr>
            <a:xfrm>
              <a:off x="5760" y="1296"/>
              <a:ext cx="1872" cy="720"/>
            </a:xfrm>
            <a:prstGeom prst="wedgeRoundRectCallout">
              <a:avLst>
                <a:gd name="adj1" fmla="val -62231"/>
                <a:gd name="adj2" fmla="val 20278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100000">
                  <a:srgbClr val="FFFF99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42" name="Text Box 112" descr="75%"/>
            <p:cNvSpPr txBox="1"/>
            <p:nvPr/>
          </p:nvSpPr>
          <p:spPr>
            <a:xfrm>
              <a:off x="5808" y="1392"/>
              <a:ext cx="1743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十六个相邻格圈在一起，结果</a:t>
              </a:r>
              <a:r>
                <a:rPr lang="zh-CN" altLang="en-US" sz="2400" b="1" dirty="0">
                  <a:solidFill>
                    <a:srgbClr val="CC3300"/>
                  </a:solidFill>
                  <a:sym typeface="Symbol" panose="05050102010706020507" pitchFamily="18" charset="2"/>
                </a:rPr>
                <a:t></a:t>
              </a:r>
              <a:r>
                <a:rPr lang="en-US" altLang="zh-CN" sz="2400" b="1" dirty="0">
                  <a:solidFill>
                    <a:srgbClr val="CC3300"/>
                  </a:solidFill>
                  <a:sym typeface="Symbol" panose="05050102010706020507" pitchFamily="18" charset="2"/>
                </a:rPr>
                <a:t>m</a:t>
              </a:r>
              <a:r>
                <a:rPr lang="en-US" altLang="zh-CN" sz="2400" b="1" baseline="-25000" dirty="0">
                  <a:solidFill>
                    <a:srgbClr val="CC3300"/>
                  </a:solidFill>
                  <a:sym typeface="Symbol" panose="05050102010706020507" pitchFamily="18" charset="2"/>
                </a:rPr>
                <a:t>i</a:t>
              </a:r>
              <a:r>
                <a:rPr lang="en-US" altLang="zh-CN" sz="2400" b="1" dirty="0">
                  <a:solidFill>
                    <a:srgbClr val="CC3300"/>
                  </a:solidFill>
                  <a:sym typeface="Symbol" panose="05050102010706020507" pitchFamily="18" charset="2"/>
                </a:rPr>
                <a:t>=1</a:t>
              </a:r>
              <a:endParaRPr lang="en-US" altLang="zh-CN" sz="2400" dirty="0"/>
            </a:p>
          </p:txBody>
        </p:sp>
      </p:grpSp>
      <p:grpSp>
        <p:nvGrpSpPr>
          <p:cNvPr id="17" name="Group 115"/>
          <p:cNvGrpSpPr/>
          <p:nvPr/>
        </p:nvGrpSpPr>
        <p:grpSpPr>
          <a:xfrm>
            <a:off x="381000" y="1066800"/>
            <a:ext cx="8274050" cy="2590800"/>
            <a:chOff x="260" y="672"/>
            <a:chExt cx="5212" cy="1632"/>
          </a:xfrm>
        </p:grpSpPr>
        <p:sp>
          <p:nvSpPr>
            <p:cNvPr id="86039" name="Rectangle 75" descr="蓝色砂纸"/>
            <p:cNvSpPr/>
            <p:nvPr/>
          </p:nvSpPr>
          <p:spPr>
            <a:xfrm>
              <a:off x="288" y="672"/>
              <a:ext cx="5184" cy="1632"/>
            </a:xfrm>
            <a:prstGeom prst="rect">
              <a:avLst/>
            </a:prstGeom>
            <a:blipFill rotWithShape="0">
              <a:blip r:embed="rId1"/>
            </a:blipFill>
            <a:ln w="38100" cap="flat" cmpd="sng">
              <a:pattFill prst="trellis">
                <a:fgClr>
                  <a:srgbClr val="33CCCC"/>
                </a:fgClr>
                <a:bgClr>
                  <a:srgbClr val="FFFFFF"/>
                </a:bgClr>
              </a:patt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86040" name="Text Box 78" descr="75%"/>
            <p:cNvSpPr txBox="1"/>
            <p:nvPr/>
          </p:nvSpPr>
          <p:spPr>
            <a:xfrm>
              <a:off x="260" y="768"/>
              <a:ext cx="205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卡诺图化简函数规则：</a:t>
              </a:r>
              <a:endParaRPr lang="zh-CN" altLang="en-US" sz="2400" b="1" dirty="0"/>
            </a:p>
          </p:txBody>
        </p:sp>
      </p:grpSp>
      <p:sp>
        <p:nvSpPr>
          <p:cNvPr id="71796" name="Text Box 116" descr="75%"/>
          <p:cNvSpPr txBox="1"/>
          <p:nvPr/>
        </p:nvSpPr>
        <p:spPr>
          <a:xfrm>
            <a:off x="1143000" y="1752600"/>
            <a:ext cx="6705600" cy="1249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CC3300"/>
                </a:solidFill>
                <a:sym typeface="Symbol" panose="05050102010706020507" pitchFamily="18" charset="2"/>
              </a:rPr>
              <a:t>   </a:t>
            </a:r>
            <a:r>
              <a:rPr lang="zh-CN" altLang="en-US" sz="2400" b="1" dirty="0"/>
              <a:t>几何相邻的</a:t>
            </a:r>
            <a:r>
              <a:rPr lang="en-US" altLang="zh-CN" sz="2400" b="1" dirty="0">
                <a:solidFill>
                  <a:srgbClr val="CC3300"/>
                </a:solidFill>
              </a:rPr>
              <a:t>2</a:t>
            </a:r>
            <a:r>
              <a:rPr lang="en-US" altLang="zh-CN" sz="2400" b="1" baseline="30000" dirty="0">
                <a:solidFill>
                  <a:srgbClr val="CC3300"/>
                </a:solidFill>
              </a:rPr>
              <a:t>i</a:t>
            </a:r>
            <a:r>
              <a:rPr lang="zh-CN" altLang="en-US" sz="2400" b="1" dirty="0">
                <a:solidFill>
                  <a:srgbClr val="CC3300"/>
                </a:solidFill>
              </a:rPr>
              <a:t>（</a:t>
            </a:r>
            <a:r>
              <a:rPr lang="en-US" altLang="zh-CN" sz="2400" b="1" dirty="0">
                <a:solidFill>
                  <a:srgbClr val="CC3300"/>
                </a:solidFill>
              </a:rPr>
              <a:t>i = 1</a:t>
            </a:r>
            <a:r>
              <a:rPr lang="zh-CN" altLang="en-US" sz="2400" b="1" dirty="0">
                <a:solidFill>
                  <a:srgbClr val="CC3300"/>
                </a:solidFill>
              </a:rPr>
              <a:t>、</a:t>
            </a:r>
            <a:r>
              <a:rPr lang="en-US" altLang="zh-CN" sz="2400" b="1" dirty="0">
                <a:solidFill>
                  <a:srgbClr val="CC3300"/>
                </a:solidFill>
              </a:rPr>
              <a:t>2</a:t>
            </a:r>
            <a:r>
              <a:rPr lang="zh-CN" altLang="en-US" sz="2400" b="1" dirty="0">
                <a:solidFill>
                  <a:srgbClr val="CC3300"/>
                </a:solidFill>
              </a:rPr>
              <a:t>、</a:t>
            </a:r>
            <a:r>
              <a:rPr lang="en-US" altLang="zh-CN" sz="2400" b="1" dirty="0">
                <a:solidFill>
                  <a:srgbClr val="CC3300"/>
                </a:solidFill>
              </a:rPr>
              <a:t>3…n</a:t>
            </a:r>
            <a:r>
              <a:rPr lang="zh-CN" altLang="en-US" sz="2400" b="1" dirty="0">
                <a:solidFill>
                  <a:srgbClr val="CC3300"/>
                </a:solidFill>
              </a:rPr>
              <a:t>）个小格</a:t>
            </a:r>
            <a:r>
              <a:rPr lang="zh-CN" altLang="en-US" sz="2400" b="1" dirty="0"/>
              <a:t>可合并在一起构成正方形或矩形圈，消去</a:t>
            </a:r>
            <a:r>
              <a:rPr lang="en-US" altLang="zh-CN" sz="2400" b="1" dirty="0">
                <a:solidFill>
                  <a:srgbClr val="CC3300"/>
                </a:solidFill>
              </a:rPr>
              <a:t>i</a:t>
            </a:r>
            <a:r>
              <a:rPr lang="zh-CN" altLang="en-US" sz="2400" b="1" dirty="0"/>
              <a:t>个变量，而用含</a:t>
            </a:r>
            <a:r>
              <a:rPr lang="zh-CN" altLang="en-US" sz="2400" b="1" dirty="0">
                <a:solidFill>
                  <a:srgbClr val="CC3300"/>
                </a:solidFill>
              </a:rPr>
              <a:t>（</a:t>
            </a:r>
            <a:r>
              <a:rPr lang="en-US" altLang="zh-CN" sz="2400" b="1" dirty="0">
                <a:solidFill>
                  <a:srgbClr val="CC3300"/>
                </a:solidFill>
              </a:rPr>
              <a:t>n - i</a:t>
            </a:r>
            <a:r>
              <a:rPr lang="zh-CN" altLang="en-US" sz="2400" b="1" dirty="0">
                <a:solidFill>
                  <a:srgbClr val="CC3300"/>
                </a:solidFill>
              </a:rPr>
              <a:t>）</a:t>
            </a:r>
            <a:r>
              <a:rPr lang="zh-CN" altLang="en-US" sz="2400" b="1" dirty="0"/>
              <a:t>个变量的积项标注该圈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86036" name="Text Box 119" descr="75%">
            <a:hlinkClick r:id="rId2"/>
          </p:cNvPr>
          <p:cNvSpPr txBox="1"/>
          <p:nvPr/>
        </p:nvSpPr>
        <p:spPr>
          <a:xfrm>
            <a:off x="5791200" y="6172200"/>
            <a:ext cx="8001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动画</a:t>
            </a:r>
            <a:endParaRPr lang="zh-CN" altLang="en-US" sz="2400" dirty="0">
              <a:solidFill>
                <a:schemeClr val="tx2"/>
              </a:solidFill>
            </a:endParaRPr>
          </a:p>
        </p:txBody>
      </p:sp>
      <p:pic>
        <p:nvPicPr>
          <p:cNvPr id="86037" name="Picture 120" descr="wb01508_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0" y="60198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6038" name="Text Box 121">
            <a:hlinkClick r:id="rId3" action="ppaction://hlinksldjump"/>
          </p:cNvPr>
          <p:cNvSpPr txBox="1"/>
          <p:nvPr/>
        </p:nvSpPr>
        <p:spPr>
          <a:xfrm>
            <a:off x="7588250" y="60960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1" dur="500"/>
                                        <p:tgtEl>
                                          <p:spTgt spid="7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0" grpId="0" animBg="1"/>
      <p:bldP spid="71687" grpId="0"/>
      <p:bldP spid="71688" grpId="0"/>
      <p:bldP spid="71689" grpId="0"/>
      <p:bldP spid="7179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Text Box 2"/>
          <p:cNvSpPr txBox="1"/>
          <p:nvPr/>
        </p:nvSpPr>
        <p:spPr>
          <a:xfrm>
            <a:off x="533400" y="304800"/>
            <a:ext cx="3429000" cy="64135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Left">
              <a:rot lat="0" lon="0" rev="0"/>
            </a:camera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A50021"/>
                </a:solidFill>
                <a:ea typeface="隶书" panose="02010509060101010101" pitchFamily="49" charset="-122"/>
              </a:rPr>
              <a:t>图形法化简函数</a:t>
            </a:r>
            <a:endParaRPr lang="zh-CN" altLang="en-US" sz="3600" b="1" dirty="0">
              <a:solidFill>
                <a:srgbClr val="A50021"/>
              </a:solidFill>
              <a:ea typeface="隶书" panose="02010509060101010101" pitchFamily="49" charset="-122"/>
            </a:endParaRPr>
          </a:p>
        </p:txBody>
      </p:sp>
      <p:sp>
        <p:nvSpPr>
          <p:cNvPr id="72707" name="Text Box 3" descr="75%"/>
          <p:cNvSpPr txBox="1"/>
          <p:nvPr/>
        </p:nvSpPr>
        <p:spPr>
          <a:xfrm>
            <a:off x="612775" y="1295400"/>
            <a:ext cx="29225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  <a:sym typeface="Symbol" panose="05050102010706020507" pitchFamily="18" charset="2"/>
              </a:rPr>
              <a:t> </a:t>
            </a:r>
            <a:r>
              <a:rPr lang="en-US" altLang="zh-CN" sz="2400" b="1" dirty="0">
                <a:sym typeface="Symbol" panose="05050102010706020507" pitchFamily="18" charset="2"/>
              </a:rPr>
              <a:t> </a:t>
            </a:r>
            <a:r>
              <a:rPr lang="zh-CN" altLang="en-US" sz="2400" b="1" dirty="0"/>
              <a:t>与或表达式的简化</a:t>
            </a:r>
            <a:endParaRPr lang="zh-CN" altLang="en-US" sz="2400" b="1" dirty="0"/>
          </a:p>
        </p:txBody>
      </p:sp>
      <p:sp>
        <p:nvSpPr>
          <p:cNvPr id="87044" name="Rectangle 4" descr="75%"/>
          <p:cNvSpPr/>
          <p:nvPr/>
        </p:nvSpPr>
        <p:spPr>
          <a:xfrm>
            <a:off x="762000" y="1981200"/>
            <a:ext cx="8001000" cy="3886200"/>
          </a:xfrm>
          <a:prstGeom prst="rect">
            <a:avLst/>
          </a:prstGeom>
          <a:noFill/>
          <a:ln w="38100" cap="flat" cmpd="sng">
            <a:pattFill prst="pct75">
              <a:fgClr>
                <a:srgbClr val="33CCCC"/>
              </a:fgClr>
              <a:bgClr>
                <a:srgbClr val="FFFFFF"/>
              </a:bgClr>
            </a:patt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grpSp>
        <p:nvGrpSpPr>
          <p:cNvPr id="2" name="Group 12"/>
          <p:cNvGrpSpPr/>
          <p:nvPr/>
        </p:nvGrpSpPr>
        <p:grpSpPr>
          <a:xfrm>
            <a:off x="838200" y="2590800"/>
            <a:ext cx="762000" cy="1905000"/>
            <a:chOff x="528" y="1632"/>
            <a:chExt cx="480" cy="1200"/>
          </a:xfrm>
        </p:grpSpPr>
        <p:sp>
          <p:nvSpPr>
            <p:cNvPr id="87052" name="Oval 5"/>
            <p:cNvSpPr/>
            <p:nvPr/>
          </p:nvSpPr>
          <p:spPr>
            <a:xfrm>
              <a:off x="528" y="1632"/>
              <a:ext cx="480" cy="1200"/>
            </a:xfrm>
            <a:prstGeom prst="ellipse">
              <a:avLst/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87053" name="Text Box 6" descr="75%"/>
            <p:cNvSpPr txBox="1"/>
            <p:nvPr/>
          </p:nvSpPr>
          <p:spPr>
            <a:xfrm>
              <a:off x="576" y="1886"/>
              <a:ext cx="342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CC3300"/>
                  </a:solidFill>
                </a:rPr>
                <a:t>步</a:t>
              </a:r>
              <a:endParaRPr lang="zh-CN" altLang="en-US" sz="2800" b="1" dirty="0">
                <a:solidFill>
                  <a:srgbClr val="CC3300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CC3300"/>
                  </a:solidFill>
                </a:rPr>
                <a:t>骤</a:t>
              </a:r>
              <a:endParaRPr lang="zh-CN" altLang="en-US" sz="36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72712" name="Text Box 8" descr="75%"/>
          <p:cNvSpPr txBox="1"/>
          <p:nvPr/>
        </p:nvSpPr>
        <p:spPr>
          <a:xfrm>
            <a:off x="2209800" y="2179638"/>
            <a:ext cx="640080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  <a:sym typeface="Symbol" panose="05050102010706020507" pitchFamily="18" charset="2"/>
              </a:rPr>
              <a:t>   </a:t>
            </a:r>
            <a:r>
              <a:rPr lang="zh-CN" altLang="en-US" sz="2400" b="1" dirty="0"/>
              <a:t>先将函数填入相应的卡诺图中，存在的最小项对应的方格填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，其它填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。</a:t>
            </a:r>
            <a:endParaRPr lang="zh-CN" altLang="en-US" sz="2400" b="1" dirty="0"/>
          </a:p>
        </p:txBody>
      </p:sp>
      <p:sp>
        <p:nvSpPr>
          <p:cNvPr id="72713" name="Text Box 9" descr="75%"/>
          <p:cNvSpPr txBox="1"/>
          <p:nvPr/>
        </p:nvSpPr>
        <p:spPr>
          <a:xfrm>
            <a:off x="2209800" y="3155950"/>
            <a:ext cx="6324600" cy="11874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  <a:sym typeface="Symbol" panose="05050102010706020507" pitchFamily="18" charset="2"/>
              </a:rPr>
              <a:t>    </a:t>
            </a:r>
            <a:r>
              <a:rPr lang="zh-CN" altLang="en-US" sz="2400" b="1" dirty="0"/>
              <a:t>合并：按作圈原则将图上填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的方格圈起来，要求圈的</a:t>
            </a:r>
            <a:r>
              <a:rPr lang="zh-CN" altLang="en-US" sz="2400" b="1" dirty="0">
                <a:solidFill>
                  <a:srgbClr val="CC3300"/>
                </a:solidFill>
              </a:rPr>
              <a:t>数量少</a:t>
            </a:r>
            <a:r>
              <a:rPr lang="zh-CN" altLang="en-US" sz="2400" b="1" dirty="0"/>
              <a:t>、</a:t>
            </a:r>
            <a:r>
              <a:rPr lang="zh-CN" altLang="en-US" sz="2400" b="1" dirty="0">
                <a:solidFill>
                  <a:srgbClr val="CC3300"/>
                </a:solidFill>
              </a:rPr>
              <a:t>范围大</a:t>
            </a:r>
            <a:r>
              <a:rPr lang="zh-CN" altLang="en-US" sz="2400" b="1" dirty="0"/>
              <a:t>，圈</a:t>
            </a:r>
            <a:r>
              <a:rPr lang="zh-CN" altLang="en-US" sz="2400" b="1" dirty="0">
                <a:solidFill>
                  <a:srgbClr val="CC3300"/>
                </a:solidFill>
              </a:rPr>
              <a:t>可重复包围</a:t>
            </a:r>
            <a:r>
              <a:rPr lang="zh-CN" altLang="en-US" sz="2400" b="1" dirty="0"/>
              <a:t>但每个圈内必须有</a:t>
            </a:r>
            <a:r>
              <a:rPr lang="zh-CN" altLang="en-US" sz="2400" b="1" dirty="0">
                <a:solidFill>
                  <a:srgbClr val="CC3300"/>
                </a:solidFill>
              </a:rPr>
              <a:t>新</a:t>
            </a:r>
            <a:r>
              <a:rPr lang="zh-CN" altLang="en-US" sz="2400" b="1" dirty="0"/>
              <a:t>的最小项。</a:t>
            </a:r>
            <a:endParaRPr lang="zh-CN" altLang="en-US" sz="2400" b="1" dirty="0"/>
          </a:p>
        </p:txBody>
      </p:sp>
      <p:sp>
        <p:nvSpPr>
          <p:cNvPr id="72714" name="Text Box 10" descr="75%"/>
          <p:cNvSpPr txBox="1"/>
          <p:nvPr/>
        </p:nvSpPr>
        <p:spPr>
          <a:xfrm>
            <a:off x="2209800" y="4495800"/>
            <a:ext cx="60531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  <a:sym typeface="Symbol" panose="05050102010706020507" pitchFamily="18" charset="2"/>
              </a:rPr>
              <a:t>   </a:t>
            </a:r>
            <a:r>
              <a:rPr lang="zh-CN" altLang="en-US" sz="2400" b="1" dirty="0"/>
              <a:t>每个圈写出一个乘积项。按取同去异原则</a:t>
            </a:r>
            <a:endParaRPr lang="zh-CN" altLang="en-US" sz="2400" b="1" dirty="0"/>
          </a:p>
        </p:txBody>
      </p:sp>
      <p:sp>
        <p:nvSpPr>
          <p:cNvPr id="72715" name="Text Box 11" descr="75%"/>
          <p:cNvSpPr txBox="1"/>
          <p:nvPr/>
        </p:nvSpPr>
        <p:spPr>
          <a:xfrm>
            <a:off x="2209800" y="5105400"/>
            <a:ext cx="64770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  <a:sym typeface="Symbol" panose="05050102010706020507" pitchFamily="18" charset="2"/>
              </a:rPr>
              <a:t>    </a:t>
            </a:r>
            <a:r>
              <a:rPr lang="zh-CN" altLang="en-US" sz="2400" b="1" dirty="0"/>
              <a:t>最后将全部积项逻辑加即得最简与或表达式</a:t>
            </a:r>
            <a:endParaRPr lang="zh-CN" altLang="en-US" sz="2400" b="1" dirty="0"/>
          </a:p>
        </p:txBody>
      </p:sp>
      <p:pic>
        <p:nvPicPr>
          <p:cNvPr id="87050" name="Picture 14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60198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7051" name="Text Box 15">
            <a:hlinkClick r:id="rId1" action="ppaction://hlinksldjump"/>
          </p:cNvPr>
          <p:cNvSpPr txBox="1"/>
          <p:nvPr/>
        </p:nvSpPr>
        <p:spPr>
          <a:xfrm>
            <a:off x="7435850" y="60960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7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7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7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/>
      <p:bldP spid="87044" grpId="0" animBg="1"/>
      <p:bldP spid="72712" grpId="0"/>
      <p:bldP spid="72713" grpId="0"/>
      <p:bldP spid="72714" grpId="0"/>
      <p:bldP spid="72715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5" name="Text Box 3" descr="75%"/>
          <p:cNvSpPr txBox="1"/>
          <p:nvPr/>
        </p:nvSpPr>
        <p:spPr>
          <a:xfrm>
            <a:off x="685800" y="1066800"/>
            <a:ext cx="331946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  <a:sym typeface="Symbol" panose="05050102010706020507" pitchFamily="18" charset="2"/>
              </a:rPr>
              <a:t>   </a:t>
            </a:r>
            <a:r>
              <a:rPr lang="zh-CN" altLang="en-US" sz="2400" b="1" dirty="0"/>
              <a:t>根据函数填写卡诺图</a:t>
            </a:r>
            <a:endParaRPr lang="zh-CN" altLang="en-US" sz="2400" dirty="0"/>
          </a:p>
        </p:txBody>
      </p:sp>
      <p:sp>
        <p:nvSpPr>
          <p:cNvPr id="74756" name="Text Box 4" descr="75%"/>
          <p:cNvSpPr txBox="1"/>
          <p:nvPr/>
        </p:nvSpPr>
        <p:spPr>
          <a:xfrm>
            <a:off x="762000" y="1646238"/>
            <a:ext cx="746760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、已知函数为最小项表达式，存在的最小项对应的格填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，其余格均填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。</a:t>
            </a:r>
            <a:endParaRPr lang="zh-CN" altLang="en-US" sz="2400" b="1" dirty="0"/>
          </a:p>
        </p:txBody>
      </p:sp>
      <p:sp>
        <p:nvSpPr>
          <p:cNvPr id="74757" name="Text Box 5" descr="75%"/>
          <p:cNvSpPr txBox="1"/>
          <p:nvPr/>
        </p:nvSpPr>
        <p:spPr>
          <a:xfrm>
            <a:off x="762000" y="2286000"/>
            <a:ext cx="7523163" cy="10064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2</a:t>
            </a:r>
            <a:r>
              <a:rPr lang="zh-CN" altLang="en-US" sz="3600" b="1" dirty="0">
                <a:solidFill>
                  <a:schemeClr val="tx2"/>
                </a:solidFill>
              </a:rPr>
              <a:t>、</a:t>
            </a:r>
            <a:r>
              <a:rPr lang="zh-CN" altLang="en-US" sz="2400" b="1" dirty="0"/>
              <a:t>若已知函数的真值表，将真值表中使函数值为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的那些最小项对应的方格填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，其余格均填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。</a:t>
            </a:r>
            <a:endParaRPr lang="zh-CN" altLang="en-US" sz="2400" b="1" dirty="0"/>
          </a:p>
        </p:txBody>
      </p:sp>
      <p:sp>
        <p:nvSpPr>
          <p:cNvPr id="74760" name="Text Box 8" descr="75%">
            <a:hlinkClick r:id="rId1" action="ppaction://hlinksldjump"/>
          </p:cNvPr>
          <p:cNvSpPr txBox="1"/>
          <p:nvPr/>
        </p:nvSpPr>
        <p:spPr>
          <a:xfrm>
            <a:off x="6477000" y="2819400"/>
            <a:ext cx="8001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例子</a:t>
            </a:r>
            <a:endParaRPr lang="zh-CN" altLang="en-US" sz="3600" b="1" dirty="0">
              <a:solidFill>
                <a:schemeClr val="tx2"/>
              </a:solidFill>
            </a:endParaRPr>
          </a:p>
        </p:txBody>
      </p:sp>
      <p:sp>
        <p:nvSpPr>
          <p:cNvPr id="74758" name="Text Box 6" descr="75%"/>
          <p:cNvSpPr txBox="1"/>
          <p:nvPr/>
        </p:nvSpPr>
        <p:spPr>
          <a:xfrm>
            <a:off x="762000" y="3352800"/>
            <a:ext cx="746760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3</a:t>
            </a:r>
            <a:r>
              <a:rPr lang="zh-CN" altLang="en-US" sz="2400" b="1" dirty="0">
                <a:solidFill>
                  <a:schemeClr val="tx2"/>
                </a:solidFill>
              </a:rPr>
              <a:t>、</a:t>
            </a:r>
            <a:r>
              <a:rPr lang="zh-CN" altLang="en-US" sz="2400" b="1" dirty="0"/>
              <a:t>函数为一个复杂的运算式，则先将其变成</a:t>
            </a:r>
            <a:r>
              <a:rPr lang="zh-CN" altLang="en-US" sz="2400" b="1" dirty="0">
                <a:solidFill>
                  <a:srgbClr val="CC3300"/>
                </a:solidFill>
              </a:rPr>
              <a:t>与或式</a:t>
            </a:r>
            <a:r>
              <a:rPr lang="zh-CN" altLang="en-US" sz="2400" b="1" dirty="0"/>
              <a:t>，再用直接法填写。</a:t>
            </a:r>
            <a:endParaRPr lang="zh-CN" altLang="en-US" sz="2400" b="1" dirty="0"/>
          </a:p>
        </p:txBody>
      </p:sp>
      <p:sp>
        <p:nvSpPr>
          <p:cNvPr id="74762" name="Text Box 10" descr="75%">
            <a:hlinkClick r:id="rId2" action="ppaction://hlinksldjump"/>
          </p:cNvPr>
          <p:cNvSpPr txBox="1"/>
          <p:nvPr/>
        </p:nvSpPr>
        <p:spPr>
          <a:xfrm>
            <a:off x="3276600" y="3657600"/>
            <a:ext cx="8001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例子</a:t>
            </a:r>
            <a:endParaRPr lang="zh-CN" altLang="en-US" sz="3600" b="1" dirty="0">
              <a:solidFill>
                <a:schemeClr val="tx2"/>
              </a:solidFill>
            </a:endParaRPr>
          </a:p>
        </p:txBody>
      </p:sp>
      <p:sp>
        <p:nvSpPr>
          <p:cNvPr id="88072" name="Rectangle 12" descr="75%"/>
          <p:cNvSpPr/>
          <p:nvPr/>
        </p:nvSpPr>
        <p:spPr>
          <a:xfrm>
            <a:off x="685800" y="1600200"/>
            <a:ext cx="7848600" cy="2743200"/>
          </a:xfrm>
          <a:prstGeom prst="rect">
            <a:avLst/>
          </a:prstGeom>
          <a:noFill/>
          <a:ln w="38100" cap="flat" cmpd="sng">
            <a:pattFill prst="pct75">
              <a:fgClr>
                <a:srgbClr val="33CCCC"/>
              </a:fgClr>
              <a:bgClr>
                <a:srgbClr val="FFFFFF"/>
              </a:bgClr>
            </a:patt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74765" name="Text Box 13" descr="75%"/>
          <p:cNvSpPr txBox="1"/>
          <p:nvPr/>
        </p:nvSpPr>
        <p:spPr>
          <a:xfrm>
            <a:off x="685800" y="4419600"/>
            <a:ext cx="201136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  <a:sym typeface="Symbol" panose="05050102010706020507" pitchFamily="18" charset="2"/>
              </a:rPr>
              <a:t>  </a:t>
            </a:r>
            <a:r>
              <a:rPr lang="zh-CN" altLang="en-US" sz="2400" b="1" dirty="0"/>
              <a:t>作圈的步骤</a:t>
            </a:r>
            <a:endParaRPr lang="zh-CN" altLang="en-US" sz="2400" b="1" dirty="0"/>
          </a:p>
        </p:txBody>
      </p:sp>
      <p:sp>
        <p:nvSpPr>
          <p:cNvPr id="88074" name="Rectangle 14" descr="75%"/>
          <p:cNvSpPr/>
          <p:nvPr/>
        </p:nvSpPr>
        <p:spPr>
          <a:xfrm>
            <a:off x="685800" y="4876800"/>
            <a:ext cx="7924800" cy="1752600"/>
          </a:xfrm>
          <a:prstGeom prst="rect">
            <a:avLst/>
          </a:prstGeom>
          <a:noFill/>
          <a:ln w="38100" cap="flat" cmpd="sng">
            <a:pattFill prst="pct75">
              <a:fgClr>
                <a:srgbClr val="33CCCC"/>
              </a:fgClr>
              <a:bgClr>
                <a:srgbClr val="FFFFFF"/>
              </a:bgClr>
            </a:patt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74767" name="Text Box 15" descr="75%"/>
          <p:cNvSpPr txBox="1"/>
          <p:nvPr/>
        </p:nvSpPr>
        <p:spPr>
          <a:xfrm>
            <a:off x="685800" y="4953000"/>
            <a:ext cx="3409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</a:t>
            </a:r>
            <a:r>
              <a:rPr lang="zh-CN" altLang="en-US" sz="2400" b="1" dirty="0">
                <a:solidFill>
                  <a:schemeClr val="tx2"/>
                </a:solidFill>
              </a:rPr>
              <a:t>、</a:t>
            </a:r>
            <a:r>
              <a:rPr lang="zh-CN" altLang="en-US" sz="2400" b="1" dirty="0">
                <a:latin typeface="宋体" panose="02010600030101010101" pitchFamily="2" charset="-122"/>
              </a:rPr>
              <a:t>孤立的单格单独画圈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74768" name="Text Box 16" descr="75%"/>
          <p:cNvSpPr txBox="1"/>
          <p:nvPr/>
        </p:nvSpPr>
        <p:spPr>
          <a:xfrm>
            <a:off x="685800" y="5410200"/>
            <a:ext cx="762000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2</a:t>
            </a:r>
            <a:r>
              <a:rPr lang="zh-CN" altLang="en-US" sz="2400" b="1" dirty="0">
                <a:solidFill>
                  <a:schemeClr val="tx2"/>
                </a:solidFill>
              </a:rPr>
              <a:t>、</a:t>
            </a:r>
            <a:r>
              <a:rPr lang="zh-CN" altLang="en-US" sz="2400" b="1" dirty="0"/>
              <a:t>圈的</a:t>
            </a:r>
            <a:r>
              <a:rPr lang="zh-CN" altLang="en-US" sz="2400" b="1" dirty="0">
                <a:solidFill>
                  <a:srgbClr val="CC3300"/>
                </a:solidFill>
              </a:rPr>
              <a:t>数量少</a:t>
            </a:r>
            <a:r>
              <a:rPr lang="zh-CN" altLang="en-US" sz="2400" b="1" dirty="0"/>
              <a:t>、</a:t>
            </a:r>
            <a:r>
              <a:rPr lang="zh-CN" altLang="en-US" sz="2400" b="1" dirty="0">
                <a:solidFill>
                  <a:srgbClr val="CC3300"/>
                </a:solidFill>
              </a:rPr>
              <a:t>范围大</a:t>
            </a:r>
            <a:r>
              <a:rPr lang="zh-CN" altLang="en-US" sz="2400" b="1" dirty="0"/>
              <a:t>，圈</a:t>
            </a:r>
            <a:r>
              <a:rPr lang="zh-CN" altLang="en-US" sz="2400" b="1" dirty="0">
                <a:solidFill>
                  <a:srgbClr val="CC3300"/>
                </a:solidFill>
              </a:rPr>
              <a:t>可重复包围</a:t>
            </a:r>
            <a:r>
              <a:rPr lang="zh-CN" altLang="en-US" sz="2400" b="1" dirty="0"/>
              <a:t>但每个圈内必须有</a:t>
            </a:r>
            <a:r>
              <a:rPr lang="zh-CN" altLang="en-US" sz="2400" b="1" dirty="0">
                <a:solidFill>
                  <a:srgbClr val="CC3300"/>
                </a:solidFill>
              </a:rPr>
              <a:t>新</a:t>
            </a:r>
            <a:r>
              <a:rPr lang="zh-CN" altLang="en-US" sz="2400" b="1" dirty="0"/>
              <a:t>的最小项</a:t>
            </a:r>
            <a:endParaRPr lang="zh-CN" altLang="en-US" sz="2400" b="1" dirty="0"/>
          </a:p>
        </p:txBody>
      </p:sp>
      <p:sp>
        <p:nvSpPr>
          <p:cNvPr id="74770" name="Text Box 18" descr="75%"/>
          <p:cNvSpPr txBox="1"/>
          <p:nvPr/>
        </p:nvSpPr>
        <p:spPr>
          <a:xfrm>
            <a:off x="685800" y="6172200"/>
            <a:ext cx="56991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3</a:t>
            </a:r>
            <a:r>
              <a:rPr lang="zh-CN" altLang="en-US" sz="2400" b="1" dirty="0"/>
              <a:t>、含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的格都应被圈入，以防止遗漏积项</a:t>
            </a:r>
            <a:endParaRPr lang="zh-CN" altLang="en-US" sz="2400" dirty="0"/>
          </a:p>
        </p:txBody>
      </p:sp>
      <p:sp>
        <p:nvSpPr>
          <p:cNvPr id="88078" name="Text Box 21"/>
          <p:cNvSpPr txBox="1"/>
          <p:nvPr/>
        </p:nvSpPr>
        <p:spPr>
          <a:xfrm>
            <a:off x="533400" y="304800"/>
            <a:ext cx="3429000" cy="64135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Left">
              <a:rot lat="0" lon="0" rev="0"/>
            </a:camera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A50021"/>
                </a:solidFill>
                <a:ea typeface="隶书" panose="02010509060101010101" pitchFamily="49" charset="-122"/>
              </a:rPr>
              <a:t>图形法化简函数</a:t>
            </a:r>
            <a:endParaRPr lang="zh-CN" altLang="en-US" sz="3600" b="1" dirty="0">
              <a:solidFill>
                <a:srgbClr val="A50021"/>
              </a:solidFill>
              <a:ea typeface="隶书" panose="02010509060101010101" pitchFamily="49" charset="-122"/>
            </a:endParaRPr>
          </a:p>
        </p:txBody>
      </p:sp>
      <p:pic>
        <p:nvPicPr>
          <p:cNvPr id="88079" name="Picture 22" descr="wb01508_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9436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8080" name="Text Box 23">
            <a:hlinkClick r:id="rId3" action="ppaction://hlinksldjump"/>
          </p:cNvPr>
          <p:cNvSpPr txBox="1"/>
          <p:nvPr/>
        </p:nvSpPr>
        <p:spPr>
          <a:xfrm>
            <a:off x="7512050" y="60198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7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7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500"/>
                                        <p:tgtEl>
                                          <p:spTgt spid="7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74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7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/>
      <p:bldP spid="74756" grpId="0"/>
      <p:bldP spid="74757" grpId="0"/>
      <p:bldP spid="74760" grpId="0"/>
      <p:bldP spid="74758" grpId="0"/>
      <p:bldP spid="74762" grpId="0"/>
      <p:bldP spid="88072" grpId="0" animBg="1"/>
      <p:bldP spid="74765" grpId="0"/>
      <p:bldP spid="88074" grpId="0" animBg="1"/>
      <p:bldP spid="74767" grpId="0"/>
      <p:bldP spid="74768" grpId="0"/>
      <p:bldP spid="74770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Text Box 3" descr="75%"/>
          <p:cNvSpPr txBox="1"/>
          <p:nvPr/>
        </p:nvSpPr>
        <p:spPr>
          <a:xfrm>
            <a:off x="457200" y="1447800"/>
            <a:ext cx="70612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例</a:t>
            </a:r>
            <a:r>
              <a:rPr lang="en-US" altLang="zh-CN" sz="2400" b="1" dirty="0">
                <a:solidFill>
                  <a:schemeClr val="tx2"/>
                </a:solidFill>
              </a:rPr>
              <a:t>1</a:t>
            </a:r>
            <a:r>
              <a:rPr lang="zh-CN" altLang="en-US" sz="2400" b="1" dirty="0">
                <a:solidFill>
                  <a:schemeClr val="tx2"/>
                </a:solidFill>
              </a:rPr>
              <a:t>：直接给出函数的真值表求函数的最简与或式。</a:t>
            </a:r>
            <a:endParaRPr lang="zh-CN" altLang="en-US" sz="3600" b="1" dirty="0">
              <a:solidFill>
                <a:schemeClr val="tx2"/>
              </a:solidFill>
            </a:endParaRPr>
          </a:p>
        </p:txBody>
      </p:sp>
      <p:sp>
        <p:nvSpPr>
          <p:cNvPr id="89091" name="Text Box 4" descr="75%">
            <a:hlinkClick r:id="rId1" action="ppaction://hlinksldjump"/>
          </p:cNvPr>
          <p:cNvSpPr txBox="1"/>
          <p:nvPr/>
        </p:nvSpPr>
        <p:spPr>
          <a:xfrm>
            <a:off x="7200900" y="1447800"/>
            <a:ext cx="9525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见例</a:t>
            </a:r>
            <a:r>
              <a:rPr lang="en-US" altLang="zh-CN" sz="2400" b="1" u="sng" dirty="0">
                <a:solidFill>
                  <a:schemeClr val="accent2"/>
                </a:solidFill>
              </a:rPr>
              <a:t>1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89092" name="Text Box 5" descr="75%"/>
          <p:cNvSpPr txBox="1"/>
          <p:nvPr/>
        </p:nvSpPr>
        <p:spPr>
          <a:xfrm>
            <a:off x="457200" y="2362200"/>
            <a:ext cx="52324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例</a:t>
            </a:r>
            <a:r>
              <a:rPr lang="en-US" altLang="zh-CN" sz="2400" b="1" dirty="0">
                <a:solidFill>
                  <a:schemeClr val="tx2"/>
                </a:solidFill>
              </a:rPr>
              <a:t>2</a:t>
            </a:r>
            <a:r>
              <a:rPr lang="zh-CN" altLang="en-US" sz="2400" b="1" dirty="0">
                <a:solidFill>
                  <a:schemeClr val="tx2"/>
                </a:solidFill>
              </a:rPr>
              <a:t>：直接给出函数的</a:t>
            </a:r>
            <a:r>
              <a:rPr lang="zh-CN" altLang="en-US" sz="2400" b="1" dirty="0"/>
              <a:t>复杂的运算式</a:t>
            </a:r>
            <a:r>
              <a:rPr lang="zh-CN" altLang="en-US" sz="2400" b="1" dirty="0">
                <a:solidFill>
                  <a:schemeClr val="tx2"/>
                </a:solidFill>
              </a:rPr>
              <a:t>。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89093" name="Text Box 6" descr="75%">
            <a:hlinkClick r:id="rId2" action="ppaction://hlinksldjump"/>
          </p:cNvPr>
          <p:cNvSpPr txBox="1"/>
          <p:nvPr/>
        </p:nvSpPr>
        <p:spPr>
          <a:xfrm>
            <a:off x="5715000" y="2286000"/>
            <a:ext cx="9525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见例</a:t>
            </a:r>
            <a:r>
              <a:rPr lang="en-US" altLang="zh-CN" sz="2400" b="1" u="sng" dirty="0">
                <a:solidFill>
                  <a:schemeClr val="accent2"/>
                </a:solidFill>
              </a:rPr>
              <a:t>2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89094" name="Text Box 9" descr="75%"/>
          <p:cNvSpPr txBox="1"/>
          <p:nvPr/>
        </p:nvSpPr>
        <p:spPr>
          <a:xfrm>
            <a:off x="457200" y="3352800"/>
            <a:ext cx="46101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例</a:t>
            </a:r>
            <a:r>
              <a:rPr lang="en-US" altLang="zh-CN" sz="2400" b="1" dirty="0">
                <a:solidFill>
                  <a:schemeClr val="tx2"/>
                </a:solidFill>
              </a:rPr>
              <a:t>4</a:t>
            </a:r>
            <a:r>
              <a:rPr lang="zh-CN" altLang="en-US" sz="2400" b="1" dirty="0">
                <a:solidFill>
                  <a:schemeClr val="tx2"/>
                </a:solidFill>
              </a:rPr>
              <a:t>：</a:t>
            </a:r>
            <a:r>
              <a:rPr lang="zh-CN" altLang="en-US" sz="2400" b="1" dirty="0">
                <a:latin typeface="宋体" panose="02010600030101010101" pitchFamily="2" charset="-122"/>
              </a:rPr>
              <a:t>含有无关项的函数的化简</a:t>
            </a:r>
            <a:r>
              <a:rPr lang="zh-CN" altLang="en-US" sz="2400" b="1" dirty="0">
                <a:solidFill>
                  <a:schemeClr val="tx2"/>
                </a:solidFill>
              </a:rPr>
              <a:t>。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89095" name="Text Box 12"/>
          <p:cNvSpPr txBox="1"/>
          <p:nvPr/>
        </p:nvSpPr>
        <p:spPr>
          <a:xfrm>
            <a:off x="533400" y="304800"/>
            <a:ext cx="3429000" cy="64135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Left">
              <a:rot lat="0" lon="0" rev="0"/>
            </a:camera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A50021"/>
                </a:solidFill>
                <a:ea typeface="隶书" panose="02010509060101010101" pitchFamily="49" charset="-122"/>
              </a:rPr>
              <a:t>图形法化简函数</a:t>
            </a:r>
            <a:endParaRPr lang="zh-CN" altLang="en-US" sz="3600" b="1" dirty="0">
              <a:solidFill>
                <a:srgbClr val="A50021"/>
              </a:solidFill>
              <a:ea typeface="隶书" panose="02010509060101010101" pitchFamily="49" charset="-122"/>
            </a:endParaRPr>
          </a:p>
        </p:txBody>
      </p:sp>
      <p:pic>
        <p:nvPicPr>
          <p:cNvPr id="89096" name="Picture 13" descr="wb01508_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60198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9097" name="Text Box 14">
            <a:hlinkClick r:id="rId3" action="ppaction://hlinksldjump"/>
          </p:cNvPr>
          <p:cNvSpPr txBox="1"/>
          <p:nvPr/>
        </p:nvSpPr>
        <p:spPr>
          <a:xfrm>
            <a:off x="7283450" y="60960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</p:spTree>
  </p:cSld>
  <p:clrMapOvr>
    <a:masterClrMapping/>
  </p:clrMapOvr>
  <p:transition spd="slow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Text Box 2" descr="75%"/>
          <p:cNvSpPr txBox="1"/>
          <p:nvPr/>
        </p:nvSpPr>
        <p:spPr>
          <a:xfrm>
            <a:off x="685800" y="1143000"/>
            <a:ext cx="41386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  </a:t>
            </a:r>
            <a:r>
              <a:rPr lang="zh-CN" altLang="en-US" sz="2400" b="1" dirty="0">
                <a:latin typeface="宋体" panose="02010600030101010101" pitchFamily="2" charset="-122"/>
              </a:rPr>
              <a:t>含有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无关项</a:t>
            </a:r>
            <a:r>
              <a:rPr lang="zh-CN" altLang="en-US" sz="2400" b="1" dirty="0">
                <a:latin typeface="宋体" panose="02010600030101010101" pitchFamily="2" charset="-122"/>
              </a:rPr>
              <a:t>的函数的化简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79879" name="Text Box 7" descr="75%"/>
          <p:cNvSpPr txBox="1"/>
          <p:nvPr/>
        </p:nvSpPr>
        <p:spPr>
          <a:xfrm>
            <a:off x="2286000" y="3048000"/>
            <a:ext cx="624840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  <a:sym typeface="Symbol" panose="05050102010706020507" pitchFamily="18" charset="2"/>
              </a:rPr>
              <a:t> </a:t>
            </a:r>
            <a:r>
              <a:rPr lang="en-US" altLang="zh-CN" sz="2400" b="1" dirty="0">
                <a:sym typeface="Symbol" panose="05050102010706020507" pitchFamily="18" charset="2"/>
              </a:rPr>
              <a:t> </a:t>
            </a:r>
            <a:r>
              <a:rPr lang="zh-CN" altLang="en-US" sz="2400" b="1" dirty="0"/>
              <a:t>填函数的卡诺图时只在无关项对应的格内填任意符号“</a:t>
            </a:r>
            <a:r>
              <a:rPr lang="en-US" altLang="zh-CN" sz="2400" b="1" dirty="0">
                <a:solidFill>
                  <a:srgbClr val="CC3300"/>
                </a:solidFill>
              </a:rPr>
              <a:t>Φ</a:t>
            </a:r>
            <a:r>
              <a:rPr lang="en-US" altLang="zh-CN" sz="2400" b="1" dirty="0"/>
              <a:t>”</a:t>
            </a:r>
            <a:r>
              <a:rPr lang="zh-CN" altLang="en-US" sz="2400" b="1" dirty="0"/>
              <a:t>、“</a:t>
            </a:r>
            <a:r>
              <a:rPr lang="en-US" altLang="zh-CN" sz="2400" b="1" dirty="0">
                <a:solidFill>
                  <a:srgbClr val="CC3300"/>
                </a:solidFill>
              </a:rPr>
              <a:t>d</a:t>
            </a:r>
            <a:r>
              <a:rPr lang="zh-CN" altLang="en-US" sz="2400" b="1" dirty="0"/>
              <a:t>或“</a:t>
            </a:r>
            <a:r>
              <a:rPr lang="en-US" altLang="zh-CN" sz="2400" b="1" dirty="0">
                <a:solidFill>
                  <a:srgbClr val="CC3300"/>
                </a:solidFill>
              </a:rPr>
              <a:t>×</a:t>
            </a:r>
            <a:r>
              <a:rPr lang="en-US" altLang="zh-CN" sz="2400" b="1" dirty="0"/>
              <a:t>”</a:t>
            </a:r>
            <a:r>
              <a:rPr lang="zh-CN" altLang="en-US" sz="2400" b="1" dirty="0"/>
              <a:t>。</a:t>
            </a:r>
            <a:endParaRPr lang="zh-CN" altLang="en-US" sz="2400" b="1" dirty="0"/>
          </a:p>
        </p:txBody>
      </p:sp>
      <p:sp>
        <p:nvSpPr>
          <p:cNvPr id="79880" name="Text Box 8" descr="75%"/>
          <p:cNvSpPr txBox="1"/>
          <p:nvPr/>
        </p:nvSpPr>
        <p:spPr>
          <a:xfrm>
            <a:off x="714375" y="3048000"/>
            <a:ext cx="17240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处理方法：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685800" y="1600200"/>
            <a:ext cx="1447800" cy="609600"/>
            <a:chOff x="480" y="1152"/>
            <a:chExt cx="912" cy="384"/>
          </a:xfrm>
        </p:grpSpPr>
        <p:sp>
          <p:nvSpPr>
            <p:cNvPr id="90124" name="Oval 12"/>
            <p:cNvSpPr/>
            <p:nvPr/>
          </p:nvSpPr>
          <p:spPr>
            <a:xfrm>
              <a:off x="480" y="1152"/>
              <a:ext cx="912" cy="384"/>
            </a:xfrm>
            <a:prstGeom prst="ellipse">
              <a:avLst/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90125" name="Text Box 13" descr="75%"/>
            <p:cNvSpPr txBox="1"/>
            <p:nvPr/>
          </p:nvSpPr>
          <p:spPr>
            <a:xfrm>
              <a:off x="576" y="1200"/>
              <a:ext cx="6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无关项</a:t>
              </a:r>
              <a:endParaRPr lang="zh-CN" altLang="en-US" sz="24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79887" name="Text Box 15" descr="75%"/>
          <p:cNvSpPr txBox="1"/>
          <p:nvPr/>
        </p:nvSpPr>
        <p:spPr>
          <a:xfrm>
            <a:off x="2362200" y="1676400"/>
            <a:ext cx="6096000" cy="11874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对于变量的</a:t>
            </a:r>
            <a:r>
              <a:rPr lang="zh-CN" altLang="en-US" sz="2400" b="1" dirty="0">
                <a:solidFill>
                  <a:srgbClr val="CC3300"/>
                </a:solidFill>
              </a:rPr>
              <a:t>某些取值组合</a:t>
            </a:r>
            <a:r>
              <a:rPr lang="zh-CN" altLang="en-US" sz="2400" b="1" dirty="0"/>
              <a:t>，所对应的</a:t>
            </a:r>
            <a:r>
              <a:rPr lang="zh-CN" altLang="en-US" sz="2400" b="1" dirty="0">
                <a:solidFill>
                  <a:srgbClr val="CC3300"/>
                </a:solidFill>
              </a:rPr>
              <a:t>函数值是不定</a:t>
            </a:r>
            <a:r>
              <a:rPr lang="zh-CN" altLang="en-US" sz="2400" b="1" dirty="0"/>
              <a:t>。通常</a:t>
            </a:r>
            <a:r>
              <a:rPr lang="zh-CN" altLang="en-US" sz="2400" b="1" dirty="0">
                <a:solidFill>
                  <a:srgbClr val="CC3300"/>
                </a:solidFill>
              </a:rPr>
              <a:t>约束项和任意项</a:t>
            </a:r>
            <a:r>
              <a:rPr lang="zh-CN" altLang="en-US" sz="2400" b="1" dirty="0"/>
              <a:t>在逻辑函数中统称为无关项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79881" name="Text Box 9" descr="75%"/>
          <p:cNvSpPr txBox="1"/>
          <p:nvPr/>
        </p:nvSpPr>
        <p:spPr>
          <a:xfrm>
            <a:off x="2286000" y="3886200"/>
            <a:ext cx="601980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  <a:sym typeface="Symbol" panose="05050102010706020507" pitchFamily="18" charset="2"/>
              </a:rPr>
              <a:t>  </a:t>
            </a:r>
            <a:r>
              <a:rPr lang="zh-CN" altLang="en-US" sz="2400" b="1" dirty="0"/>
              <a:t>化简时可根据需要视为“</a:t>
            </a:r>
            <a:r>
              <a:rPr lang="en-US" altLang="zh-CN" sz="2400" b="1" dirty="0"/>
              <a:t>1”</a:t>
            </a:r>
            <a:r>
              <a:rPr lang="zh-CN" altLang="en-US" sz="2400" b="1" dirty="0"/>
              <a:t>也可视为“</a:t>
            </a:r>
            <a:r>
              <a:rPr lang="en-US" altLang="zh-CN" sz="2400" b="1" dirty="0"/>
              <a:t>0”</a:t>
            </a:r>
            <a:r>
              <a:rPr lang="zh-CN" altLang="en-US" sz="2400" b="1" dirty="0"/>
              <a:t>，使函数化到最简。</a:t>
            </a:r>
            <a:endParaRPr lang="zh-CN" altLang="en-US" sz="2400" b="1" dirty="0"/>
          </a:p>
        </p:txBody>
      </p:sp>
      <p:sp>
        <p:nvSpPr>
          <p:cNvPr id="79888" name="Text Box 16" descr="75%">
            <a:hlinkClick r:id="rId1" action="ppaction://hlinksldjump"/>
          </p:cNvPr>
          <p:cNvSpPr txBox="1"/>
          <p:nvPr/>
        </p:nvSpPr>
        <p:spPr>
          <a:xfrm>
            <a:off x="4838700" y="4267200"/>
            <a:ext cx="8001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例子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90121" name="Text Box 22"/>
          <p:cNvSpPr txBox="1"/>
          <p:nvPr/>
        </p:nvSpPr>
        <p:spPr>
          <a:xfrm>
            <a:off x="533400" y="304800"/>
            <a:ext cx="3429000" cy="64135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Left">
              <a:rot lat="0" lon="0" rev="0"/>
            </a:camera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A50021"/>
                </a:solidFill>
                <a:ea typeface="隶书" panose="02010509060101010101" pitchFamily="49" charset="-122"/>
              </a:rPr>
              <a:t>图形法化简函数</a:t>
            </a:r>
            <a:endParaRPr lang="zh-CN" altLang="en-US" sz="3600" b="1" dirty="0">
              <a:solidFill>
                <a:srgbClr val="A50021"/>
              </a:solidFill>
              <a:ea typeface="隶书" panose="02010509060101010101" pitchFamily="49" charset="-122"/>
            </a:endParaRPr>
          </a:p>
        </p:txBody>
      </p:sp>
      <p:pic>
        <p:nvPicPr>
          <p:cNvPr id="90122" name="Picture 23" descr="wb01508_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60198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0123" name="Text Box 24">
            <a:hlinkClick r:id="rId2" action="ppaction://hlinksldjump"/>
          </p:cNvPr>
          <p:cNvSpPr txBox="1"/>
          <p:nvPr/>
        </p:nvSpPr>
        <p:spPr>
          <a:xfrm>
            <a:off x="7435850" y="60960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9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4" grpId="0"/>
      <p:bldP spid="79879" grpId="0"/>
      <p:bldP spid="79880" grpId="0"/>
      <p:bldP spid="79887" grpId="0"/>
      <p:bldP spid="79881" grpId="0"/>
      <p:bldP spid="79888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Text Box 2"/>
          <p:cNvSpPr txBox="1"/>
          <p:nvPr/>
        </p:nvSpPr>
        <p:spPr>
          <a:xfrm>
            <a:off x="990600" y="617538"/>
            <a:ext cx="7539038" cy="701675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4000" b="1" dirty="0">
                <a:solidFill>
                  <a:srgbClr val="A50021"/>
                </a:solidFill>
                <a:ea typeface="隶书" panose="02010509060101010101" pitchFamily="49" charset="-122"/>
              </a:rPr>
              <a:t>逻辑函数简化中的几个实际问题</a:t>
            </a:r>
            <a:endParaRPr lang="zh-CN" altLang="en-US" sz="4000" b="1" dirty="0">
              <a:solidFill>
                <a:srgbClr val="A50021"/>
              </a:solidFill>
              <a:ea typeface="隶书" panose="02010509060101010101" pitchFamily="49" charset="-122"/>
            </a:endParaRPr>
          </a:p>
        </p:txBody>
      </p:sp>
      <p:sp>
        <p:nvSpPr>
          <p:cNvPr id="83971" name="Text Box 3" descr="75%"/>
          <p:cNvSpPr txBox="1"/>
          <p:nvPr/>
        </p:nvSpPr>
        <p:spPr>
          <a:xfrm>
            <a:off x="1371600" y="1524000"/>
            <a:ext cx="399256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 </a:t>
            </a:r>
            <a:r>
              <a:rPr lang="zh-CN" altLang="en-US" sz="2400" b="1" dirty="0"/>
              <a:t>具有多输出端电路的简化</a:t>
            </a:r>
            <a:endParaRPr lang="zh-CN" altLang="en-US" sz="2400" dirty="0"/>
          </a:p>
        </p:txBody>
      </p:sp>
      <p:sp>
        <p:nvSpPr>
          <p:cNvPr id="83972" name="Text Box 4" descr="75%"/>
          <p:cNvSpPr txBox="1"/>
          <p:nvPr/>
        </p:nvSpPr>
        <p:spPr>
          <a:xfrm>
            <a:off x="1223963" y="2057400"/>
            <a:ext cx="58674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 </a:t>
            </a:r>
            <a:r>
              <a:rPr lang="zh-CN" altLang="en-US" sz="2400" b="1" dirty="0"/>
              <a:t>只允许原变量输入的逻辑电路的简化</a:t>
            </a:r>
            <a:endParaRPr lang="zh-CN" altLang="en-US" sz="2400" b="1" dirty="0"/>
          </a:p>
        </p:txBody>
      </p:sp>
      <p:pic>
        <p:nvPicPr>
          <p:cNvPr id="91141" name="Picture 6" descr="wb015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6019800"/>
            <a:ext cx="129540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1142" name="Text Box 7">
            <a:hlinkClick r:id="rId1" action="ppaction://hlinksldjump"/>
          </p:cNvPr>
          <p:cNvSpPr txBox="1"/>
          <p:nvPr/>
        </p:nvSpPr>
        <p:spPr>
          <a:xfrm>
            <a:off x="7359650" y="6096000"/>
            <a:ext cx="9525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  回</a:t>
            </a:r>
            <a:endParaRPr lang="zh-CN" altLang="en-US" sz="24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39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39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 animBg="1"/>
      <p:bldP spid="83971" grpId="0"/>
      <p:bldP spid="83972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1036"/>
          <p:cNvGrpSpPr/>
          <p:nvPr/>
        </p:nvGrpSpPr>
        <p:grpSpPr>
          <a:xfrm>
            <a:off x="2895600" y="533400"/>
            <a:ext cx="2819400" cy="762000"/>
            <a:chOff x="1824" y="336"/>
            <a:chExt cx="1776" cy="480"/>
          </a:xfrm>
        </p:grpSpPr>
        <p:sp>
          <p:nvSpPr>
            <p:cNvPr id="92172" name="Oval 1027"/>
            <p:cNvSpPr/>
            <p:nvPr/>
          </p:nvSpPr>
          <p:spPr>
            <a:xfrm>
              <a:off x="1824" y="336"/>
              <a:ext cx="1776" cy="480"/>
            </a:xfrm>
            <a:prstGeom prst="ellipse">
              <a:avLst/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92173" name="Text Box 1026" descr="75%"/>
            <p:cNvSpPr txBox="1"/>
            <p:nvPr/>
          </p:nvSpPr>
          <p:spPr>
            <a:xfrm>
              <a:off x="2168" y="403"/>
              <a:ext cx="104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CC3300"/>
                  </a:solidFill>
                  <a:ea typeface="黑体" panose="02010609060101010101" pitchFamily="49" charset="-122"/>
                </a:rPr>
                <a:t>小  结</a:t>
              </a:r>
              <a:endParaRPr lang="zh-CN" altLang="en-US" b="1" dirty="0">
                <a:ea typeface="黑体" panose="02010609060101010101" pitchFamily="49" charset="-122"/>
              </a:endParaRPr>
            </a:p>
          </p:txBody>
        </p:sp>
      </p:grpSp>
      <p:sp>
        <p:nvSpPr>
          <p:cNvPr id="82948" name="Text Box 1028" descr="75%"/>
          <p:cNvSpPr txBox="1"/>
          <p:nvPr/>
        </p:nvSpPr>
        <p:spPr>
          <a:xfrm>
            <a:off x="762000" y="1524000"/>
            <a:ext cx="7772400" cy="8842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CC3300"/>
                </a:solidFill>
                <a:sym typeface="Symbol" panose="05050102010706020507" pitchFamily="18" charset="2"/>
              </a:rPr>
              <a:t>  </a:t>
            </a:r>
            <a:r>
              <a:rPr lang="zh-CN" altLang="en-US" sz="2400" b="1" dirty="0"/>
              <a:t>几种常用的数制：二进制、八进制、十六进制和十进制以及相互间的转换</a:t>
            </a:r>
            <a:endParaRPr lang="zh-CN" altLang="en-US" sz="2400" dirty="0"/>
          </a:p>
        </p:txBody>
      </p:sp>
      <p:sp>
        <p:nvSpPr>
          <p:cNvPr id="82951" name="Text Box 1031" descr="75%"/>
          <p:cNvSpPr txBox="1"/>
          <p:nvPr/>
        </p:nvSpPr>
        <p:spPr>
          <a:xfrm>
            <a:off x="762000" y="2819400"/>
            <a:ext cx="77724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CC3300"/>
                </a:solidFill>
                <a:sym typeface="Symbol" panose="05050102010706020507" pitchFamily="18" charset="2"/>
              </a:rPr>
              <a:t>   </a:t>
            </a:r>
            <a:r>
              <a:rPr lang="zh-CN" altLang="en-US" sz="2400" b="1" dirty="0"/>
              <a:t>码制部分：自然二进制码、格雷码、和常用的</a:t>
            </a:r>
            <a:r>
              <a:rPr lang="en-US" altLang="zh-CN" sz="2400" b="1" dirty="0"/>
              <a:t>BCD</a:t>
            </a:r>
            <a:r>
              <a:rPr lang="zh-CN" altLang="en-US" sz="2400" b="1" dirty="0"/>
              <a:t>码</a:t>
            </a:r>
            <a:endParaRPr lang="zh-CN" altLang="en-US" sz="2400" b="1" dirty="0"/>
          </a:p>
        </p:txBody>
      </p:sp>
      <p:grpSp>
        <p:nvGrpSpPr>
          <p:cNvPr id="3" name="Group 1038"/>
          <p:cNvGrpSpPr/>
          <p:nvPr/>
        </p:nvGrpSpPr>
        <p:grpSpPr>
          <a:xfrm>
            <a:off x="833438" y="2079625"/>
            <a:ext cx="6481762" cy="968375"/>
            <a:chOff x="525" y="1310"/>
            <a:chExt cx="4083" cy="610"/>
          </a:xfrm>
        </p:grpSpPr>
        <p:sp>
          <p:nvSpPr>
            <p:cNvPr id="92170" name="Text Box 1029" descr="75%"/>
            <p:cNvSpPr txBox="1"/>
            <p:nvPr/>
          </p:nvSpPr>
          <p:spPr>
            <a:xfrm>
              <a:off x="525" y="1488"/>
              <a:ext cx="254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任意一个</a:t>
              </a:r>
              <a:r>
                <a:rPr lang="en-US" altLang="zh-CN" sz="2400" b="1" dirty="0"/>
                <a:t>R</a:t>
              </a:r>
              <a:r>
                <a:rPr lang="zh-CN" altLang="en-US" sz="2400" b="1" dirty="0"/>
                <a:t>进制数按权展开：</a:t>
              </a:r>
              <a:endParaRPr lang="zh-CN" altLang="en-US" sz="2400" dirty="0"/>
            </a:p>
          </p:txBody>
        </p:sp>
        <p:graphicFrame>
          <p:nvGraphicFramePr>
            <p:cNvPr id="92171" name="Object 1030" descr="75%"/>
            <p:cNvGraphicFramePr>
              <a:graphicFrameLocks noChangeAspect="1"/>
            </p:cNvGraphicFramePr>
            <p:nvPr/>
          </p:nvGraphicFramePr>
          <p:xfrm>
            <a:off x="3024" y="1310"/>
            <a:ext cx="1584" cy="6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4" name="" r:id="rId1" imgW="1117600" imgH="431800" progId="Equation.3">
                    <p:embed/>
                  </p:oleObj>
                </mc:Choice>
                <mc:Fallback>
                  <p:oleObj name="" r:id="rId1" imgW="1117600" imgH="431800" progId="Equation.3">
                    <p:embed/>
                    <p:pic>
                      <p:nvPicPr>
                        <p:cNvPr id="0" name="图片 319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024" y="1310"/>
                          <a:ext cx="1584" cy="61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952" name="Text Box 1032" descr="75%"/>
          <p:cNvSpPr txBox="1"/>
          <p:nvPr/>
        </p:nvSpPr>
        <p:spPr>
          <a:xfrm>
            <a:off x="762000" y="3262313"/>
            <a:ext cx="7772400" cy="16144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CC3300"/>
                </a:solidFill>
                <a:sym typeface="Symbol" panose="05050102010706020507" pitchFamily="18" charset="2"/>
              </a:rPr>
              <a:t>  </a:t>
            </a:r>
            <a:r>
              <a:rPr lang="zh-CN" altLang="en-US" sz="2400" b="1" dirty="0"/>
              <a:t>带符号数在计算机中的三种基本表示方法：原码、反码和补码，</a:t>
            </a:r>
            <a:endParaRPr lang="zh-CN" altLang="en-US" sz="2400" b="1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运算结果的正确性以及溢出的性质：利用变形补码可判断机器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82954" name="Text Box 1034" descr="75%"/>
          <p:cNvSpPr txBox="1"/>
          <p:nvPr/>
        </p:nvSpPr>
        <p:spPr>
          <a:xfrm>
            <a:off x="762000" y="5257800"/>
            <a:ext cx="7772400" cy="8842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CC3300"/>
                </a:solidFill>
                <a:sym typeface="Symbol" panose="05050102010706020507" pitchFamily="18" charset="2"/>
              </a:rPr>
              <a:t>  </a:t>
            </a:r>
            <a:r>
              <a:rPr lang="zh-CN" altLang="en-US" sz="2400" b="1" dirty="0"/>
              <a:t>逻辑问题的描述可用真值表、函数式、逻辑图、卡诺图和时序图</a:t>
            </a:r>
            <a:endParaRPr lang="zh-CN" altLang="en-US" sz="2400" b="1" dirty="0"/>
          </a:p>
        </p:txBody>
      </p:sp>
      <p:sp>
        <p:nvSpPr>
          <p:cNvPr id="82955" name="Text Box 1035" descr="75%"/>
          <p:cNvSpPr txBox="1"/>
          <p:nvPr/>
        </p:nvSpPr>
        <p:spPr>
          <a:xfrm>
            <a:off x="762000" y="4800600"/>
            <a:ext cx="77724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CC3300"/>
                </a:solidFill>
                <a:sym typeface="Symbol" panose="05050102010706020507" pitchFamily="18" charset="2"/>
              </a:rPr>
              <a:t>  </a:t>
            </a:r>
            <a:r>
              <a:rPr lang="zh-CN" altLang="en-US" sz="2400" b="1" dirty="0"/>
              <a:t>分析和设计逻辑电路的重要数学工具：布尔代数</a:t>
            </a:r>
            <a:endParaRPr lang="zh-CN" altLang="en-US" sz="2400" dirty="0"/>
          </a:p>
        </p:txBody>
      </p:sp>
      <p:pic>
        <p:nvPicPr>
          <p:cNvPr id="92169" name="Picture 1040" descr="wb00677_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5943600"/>
            <a:ext cx="838200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8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8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8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8" grpId="0"/>
      <p:bldP spid="82951" grpId="0"/>
      <p:bldP spid="82952" grpId="0"/>
      <p:bldP spid="82954" grpId="0"/>
      <p:bldP spid="8295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2895600" y="533400"/>
            <a:ext cx="2819400" cy="762000"/>
            <a:chOff x="1824" y="336"/>
            <a:chExt cx="1776" cy="480"/>
          </a:xfrm>
        </p:grpSpPr>
        <p:sp>
          <p:nvSpPr>
            <p:cNvPr id="93191" name="Oval 3"/>
            <p:cNvSpPr/>
            <p:nvPr/>
          </p:nvSpPr>
          <p:spPr>
            <a:xfrm>
              <a:off x="1824" y="336"/>
              <a:ext cx="1776" cy="480"/>
            </a:xfrm>
            <a:prstGeom prst="ellipse">
              <a:avLst/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93192" name="Text Box 4" descr="75%"/>
            <p:cNvSpPr txBox="1"/>
            <p:nvPr/>
          </p:nvSpPr>
          <p:spPr>
            <a:xfrm>
              <a:off x="2168" y="403"/>
              <a:ext cx="104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CC3300"/>
                  </a:solidFill>
                  <a:ea typeface="黑体" panose="02010609060101010101" pitchFamily="49" charset="-122"/>
                </a:rPr>
                <a:t>作业</a:t>
              </a:r>
              <a:endParaRPr lang="zh-CN" altLang="en-US" b="1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3" name="Group 8"/>
          <p:cNvGrpSpPr/>
          <p:nvPr/>
        </p:nvGrpSpPr>
        <p:grpSpPr>
          <a:xfrm>
            <a:off x="685800" y="1828800"/>
            <a:ext cx="7848600" cy="2209800"/>
            <a:chOff x="432" y="1152"/>
            <a:chExt cx="4944" cy="1392"/>
          </a:xfrm>
        </p:grpSpPr>
        <p:sp>
          <p:nvSpPr>
            <p:cNvPr id="93188" name="Rectangle 5" descr="75%"/>
            <p:cNvSpPr/>
            <p:nvPr/>
          </p:nvSpPr>
          <p:spPr>
            <a:xfrm>
              <a:off x="432" y="1152"/>
              <a:ext cx="4944" cy="1392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93189" name="Text Box 6" descr="75%"/>
            <p:cNvSpPr txBox="1"/>
            <p:nvPr/>
          </p:nvSpPr>
          <p:spPr>
            <a:xfrm>
              <a:off x="576" y="1296"/>
              <a:ext cx="3108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1-2    1-3    1-5    1-6   1-8   1-10   1-11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93190" name="Text Box 7" descr="75%"/>
            <p:cNvSpPr txBox="1"/>
            <p:nvPr/>
          </p:nvSpPr>
          <p:spPr>
            <a:xfrm>
              <a:off x="556" y="1920"/>
              <a:ext cx="2996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1-12   1-13   1-15    1-17   1-19   1-21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Rectangle 4" descr="75%"/>
          <p:cNvSpPr/>
          <p:nvPr/>
        </p:nvSpPr>
        <p:spPr>
          <a:xfrm>
            <a:off x="533400" y="1295400"/>
            <a:ext cx="8153400" cy="4724400"/>
          </a:xfrm>
          <a:prstGeom prst="rect">
            <a:avLst/>
          </a:prstGeom>
          <a:noFill/>
          <a:ln w="38100" cap="flat" cmpd="sng">
            <a:pattFill prst="pct75">
              <a:fgClr>
                <a:srgbClr val="33CCCC"/>
              </a:fgClr>
              <a:bgClr>
                <a:srgbClr val="FFFFFF"/>
              </a:bgClr>
            </a:patt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grpSp>
        <p:nvGrpSpPr>
          <p:cNvPr id="2" name="Group 89"/>
          <p:cNvGrpSpPr/>
          <p:nvPr/>
        </p:nvGrpSpPr>
        <p:grpSpPr>
          <a:xfrm>
            <a:off x="685800" y="1371600"/>
            <a:ext cx="7086600" cy="917575"/>
            <a:chOff x="432" y="864"/>
            <a:chExt cx="4464" cy="578"/>
          </a:xfrm>
        </p:grpSpPr>
        <p:sp>
          <p:nvSpPr>
            <p:cNvPr id="94326" name="Text Box 5" descr="75%"/>
            <p:cNvSpPr txBox="1"/>
            <p:nvPr/>
          </p:nvSpPr>
          <p:spPr>
            <a:xfrm>
              <a:off x="432" y="958"/>
              <a:ext cx="1952" cy="1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60000"/>
                </a:lnSpc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例：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将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F(A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、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B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、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C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、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D)</a:t>
              </a:r>
              <a:endParaRPr lang="en-US" altLang="zh-CN" sz="2400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94327" name="Object 6" descr="75%"/>
            <p:cNvGraphicFramePr>
              <a:graphicFrameLocks noChangeAspect="1"/>
            </p:cNvGraphicFramePr>
            <p:nvPr/>
          </p:nvGraphicFramePr>
          <p:xfrm>
            <a:off x="2324" y="864"/>
            <a:ext cx="2572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5" name="" r:id="rId1" imgW="2070100" imgH="215900" progId="Equation.3">
                    <p:embed/>
                  </p:oleObj>
                </mc:Choice>
                <mc:Fallback>
                  <p:oleObj name="" r:id="rId1" imgW="2070100" imgH="215900" progId="Equation.3">
                    <p:embed/>
                    <p:pic>
                      <p:nvPicPr>
                        <p:cNvPr id="0" name="图片 319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324" y="864"/>
                          <a:ext cx="2572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4328" name="Text Box 7" descr="75%"/>
            <p:cNvSpPr txBox="1"/>
            <p:nvPr/>
          </p:nvSpPr>
          <p:spPr>
            <a:xfrm>
              <a:off x="816" y="1246"/>
              <a:ext cx="2240" cy="1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60000"/>
                </a:lnSpc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化为最简与非</a:t>
              </a:r>
              <a:r>
                <a:rPr lang="en-US" altLang="zh-CN" sz="2400" b="1" dirty="0"/>
                <a:t>—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与非式。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76842" name="Text Box 42" descr="75%"/>
          <p:cNvSpPr txBox="1"/>
          <p:nvPr/>
        </p:nvSpPr>
        <p:spPr>
          <a:xfrm>
            <a:off x="723900" y="2435225"/>
            <a:ext cx="800100" cy="3111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6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解：</a:t>
            </a:r>
            <a:endParaRPr lang="zh-CN" altLang="en-US" sz="3600" b="1" dirty="0">
              <a:solidFill>
                <a:schemeClr val="tx2"/>
              </a:solidFill>
            </a:endParaRPr>
          </a:p>
        </p:txBody>
      </p:sp>
      <p:grpSp>
        <p:nvGrpSpPr>
          <p:cNvPr id="3" name="Group 88"/>
          <p:cNvGrpSpPr/>
          <p:nvPr/>
        </p:nvGrpSpPr>
        <p:grpSpPr>
          <a:xfrm>
            <a:off x="4876800" y="1981200"/>
            <a:ext cx="3598863" cy="2593975"/>
            <a:chOff x="3073" y="1246"/>
            <a:chExt cx="2267" cy="1634"/>
          </a:xfrm>
        </p:grpSpPr>
        <p:sp>
          <p:nvSpPr>
            <p:cNvPr id="94306" name="Text Box 22"/>
            <p:cNvSpPr txBox="1"/>
            <p:nvPr/>
          </p:nvSpPr>
          <p:spPr>
            <a:xfrm>
              <a:off x="3420" y="1966"/>
              <a:ext cx="308" cy="1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60000"/>
                </a:lnSpc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01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grpSp>
          <p:nvGrpSpPr>
            <p:cNvPr id="94307" name="Group 87"/>
            <p:cNvGrpSpPr/>
            <p:nvPr/>
          </p:nvGrpSpPr>
          <p:grpSpPr>
            <a:xfrm>
              <a:off x="3073" y="1246"/>
              <a:ext cx="2267" cy="1634"/>
              <a:chOff x="3073" y="1246"/>
              <a:chExt cx="2267" cy="1634"/>
            </a:xfrm>
          </p:grpSpPr>
          <p:grpSp>
            <p:nvGrpSpPr>
              <p:cNvPr id="94308" name="Group 8"/>
              <p:cNvGrpSpPr/>
              <p:nvPr/>
            </p:nvGrpSpPr>
            <p:grpSpPr>
              <a:xfrm>
                <a:off x="3372" y="1392"/>
                <a:ext cx="1968" cy="1488"/>
                <a:chOff x="3216" y="2496"/>
                <a:chExt cx="1968" cy="1488"/>
              </a:xfrm>
            </p:grpSpPr>
            <p:sp>
              <p:nvSpPr>
                <p:cNvPr id="94318" name="Rectangle 9"/>
                <p:cNvSpPr/>
                <p:nvPr/>
              </p:nvSpPr>
              <p:spPr>
                <a:xfrm>
                  <a:off x="3600" y="2736"/>
                  <a:ext cx="1584" cy="1248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94319" name="Line 10"/>
                <p:cNvSpPr/>
                <p:nvPr/>
              </p:nvSpPr>
              <p:spPr>
                <a:xfrm>
                  <a:off x="3600" y="3312"/>
                  <a:ext cx="158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4320" name="Line 11"/>
                <p:cNvSpPr/>
                <p:nvPr/>
              </p:nvSpPr>
              <p:spPr>
                <a:xfrm>
                  <a:off x="3600" y="3648"/>
                  <a:ext cx="158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4321" name="Line 12"/>
                <p:cNvSpPr/>
                <p:nvPr/>
              </p:nvSpPr>
              <p:spPr>
                <a:xfrm>
                  <a:off x="3600" y="3024"/>
                  <a:ext cx="158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4322" name="Line 13"/>
                <p:cNvSpPr/>
                <p:nvPr/>
              </p:nvSpPr>
              <p:spPr>
                <a:xfrm>
                  <a:off x="4416" y="2736"/>
                  <a:ext cx="0" cy="124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4323" name="Line 14"/>
                <p:cNvSpPr/>
                <p:nvPr/>
              </p:nvSpPr>
              <p:spPr>
                <a:xfrm>
                  <a:off x="4800" y="2736"/>
                  <a:ext cx="0" cy="124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4324" name="Line 15"/>
                <p:cNvSpPr/>
                <p:nvPr/>
              </p:nvSpPr>
              <p:spPr>
                <a:xfrm>
                  <a:off x="4032" y="2736"/>
                  <a:ext cx="0" cy="124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4325" name="Line 16"/>
                <p:cNvSpPr/>
                <p:nvPr/>
              </p:nvSpPr>
              <p:spPr>
                <a:xfrm>
                  <a:off x="3216" y="2496"/>
                  <a:ext cx="384" cy="24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94309" name="Text Box 17"/>
              <p:cNvSpPr txBox="1"/>
              <p:nvPr/>
            </p:nvSpPr>
            <p:spPr>
              <a:xfrm>
                <a:off x="3832" y="1438"/>
                <a:ext cx="308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00</a:t>
                </a:r>
                <a:endParaRPr lang="en-US" altLang="zh-CN" sz="36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4310" name="Text Box 18"/>
              <p:cNvSpPr txBox="1"/>
              <p:nvPr/>
            </p:nvSpPr>
            <p:spPr>
              <a:xfrm>
                <a:off x="4216" y="1438"/>
                <a:ext cx="308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01</a:t>
                </a:r>
                <a:endParaRPr lang="en-US" altLang="zh-CN" sz="36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4311" name="Text Box 19"/>
              <p:cNvSpPr txBox="1"/>
              <p:nvPr/>
            </p:nvSpPr>
            <p:spPr>
              <a:xfrm>
                <a:off x="4600" y="1438"/>
                <a:ext cx="308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11</a:t>
                </a:r>
                <a:endParaRPr lang="en-US" altLang="zh-CN" sz="36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4312" name="Text Box 20"/>
              <p:cNvSpPr txBox="1"/>
              <p:nvPr/>
            </p:nvSpPr>
            <p:spPr>
              <a:xfrm>
                <a:off x="4984" y="1438"/>
                <a:ext cx="308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10</a:t>
                </a:r>
                <a:endParaRPr lang="en-US" altLang="zh-CN" sz="36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4313" name="Text Box 21"/>
              <p:cNvSpPr txBox="1"/>
              <p:nvPr/>
            </p:nvSpPr>
            <p:spPr>
              <a:xfrm>
                <a:off x="3420" y="1678"/>
                <a:ext cx="308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00</a:t>
                </a:r>
                <a:endParaRPr lang="en-US" altLang="zh-CN" sz="36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4314" name="Text Box 23"/>
              <p:cNvSpPr txBox="1"/>
              <p:nvPr/>
            </p:nvSpPr>
            <p:spPr>
              <a:xfrm>
                <a:off x="3400" y="2302"/>
                <a:ext cx="308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11</a:t>
                </a:r>
                <a:endParaRPr lang="en-US" altLang="zh-CN" sz="36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4315" name="Text Box 24"/>
              <p:cNvSpPr txBox="1"/>
              <p:nvPr/>
            </p:nvSpPr>
            <p:spPr>
              <a:xfrm>
                <a:off x="3372" y="2590"/>
                <a:ext cx="308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10</a:t>
                </a:r>
                <a:endParaRPr lang="en-US" altLang="zh-CN" sz="36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4316" name="Text Box 41"/>
              <p:cNvSpPr txBox="1"/>
              <p:nvPr/>
            </p:nvSpPr>
            <p:spPr>
              <a:xfrm>
                <a:off x="3372" y="1246"/>
                <a:ext cx="394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CD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4317" name="Text Box 50"/>
              <p:cNvSpPr txBox="1"/>
              <p:nvPr/>
            </p:nvSpPr>
            <p:spPr>
              <a:xfrm>
                <a:off x="3073" y="1438"/>
                <a:ext cx="383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AB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</p:grpSp>
      </p:grpSp>
      <p:grpSp>
        <p:nvGrpSpPr>
          <p:cNvPr id="6" name="Group 133"/>
          <p:cNvGrpSpPr/>
          <p:nvPr/>
        </p:nvGrpSpPr>
        <p:grpSpPr>
          <a:xfrm>
            <a:off x="3581400" y="1905000"/>
            <a:ext cx="5181600" cy="3048000"/>
            <a:chOff x="2256" y="1200"/>
            <a:chExt cx="3264" cy="1920"/>
          </a:xfrm>
        </p:grpSpPr>
        <p:grpSp>
          <p:nvGrpSpPr>
            <p:cNvPr id="94295" name="Group 64"/>
            <p:cNvGrpSpPr/>
            <p:nvPr/>
          </p:nvGrpSpPr>
          <p:grpSpPr>
            <a:xfrm>
              <a:off x="2256" y="1584"/>
              <a:ext cx="3264" cy="480"/>
              <a:chOff x="2256" y="1584"/>
              <a:chExt cx="3264" cy="480"/>
            </a:xfrm>
          </p:grpSpPr>
          <p:sp>
            <p:nvSpPr>
              <p:cNvPr id="94301" name="Line 54"/>
              <p:cNvSpPr/>
              <p:nvPr/>
            </p:nvSpPr>
            <p:spPr>
              <a:xfrm>
                <a:off x="2352" y="1872"/>
                <a:ext cx="0" cy="192"/>
              </a:xfrm>
              <a:prstGeom prst="line">
                <a:avLst/>
              </a:prstGeom>
              <a:ln w="38100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4302" name="Rectangle 53" descr="75%"/>
              <p:cNvSpPr/>
              <p:nvPr/>
            </p:nvSpPr>
            <p:spPr>
              <a:xfrm>
                <a:off x="2256" y="1584"/>
                <a:ext cx="192" cy="288"/>
              </a:xfrm>
              <a:prstGeom prst="rect">
                <a:avLst/>
              </a:prstGeom>
              <a:noFill/>
              <a:ln w="38100" cap="flat" cmpd="sng">
                <a:solidFill>
                  <a:srgbClr val="008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4303" name="Line 55"/>
              <p:cNvSpPr/>
              <p:nvPr/>
            </p:nvSpPr>
            <p:spPr>
              <a:xfrm>
                <a:off x="2352" y="2064"/>
                <a:ext cx="3168" cy="0"/>
              </a:xfrm>
              <a:prstGeom prst="line">
                <a:avLst/>
              </a:prstGeom>
              <a:ln w="38100" cap="flat" cmpd="sng">
                <a:solidFill>
                  <a:srgbClr val="008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94304" name="Line 56"/>
              <p:cNvSpPr/>
              <p:nvPr/>
            </p:nvSpPr>
            <p:spPr>
              <a:xfrm flipV="1">
                <a:off x="3264" y="1776"/>
                <a:ext cx="0" cy="288"/>
              </a:xfrm>
              <a:prstGeom prst="line">
                <a:avLst/>
              </a:prstGeom>
              <a:ln w="38100" cap="flat" cmpd="sng">
                <a:solidFill>
                  <a:srgbClr val="008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4305" name="Line 57"/>
              <p:cNvSpPr/>
              <p:nvPr/>
            </p:nvSpPr>
            <p:spPr>
              <a:xfrm>
                <a:off x="3264" y="1776"/>
                <a:ext cx="2256" cy="0"/>
              </a:xfrm>
              <a:prstGeom prst="line">
                <a:avLst/>
              </a:prstGeom>
              <a:ln w="38100" cap="flat" cmpd="sng">
                <a:solidFill>
                  <a:srgbClr val="008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94296" name="Group 118"/>
            <p:cNvGrpSpPr/>
            <p:nvPr/>
          </p:nvGrpSpPr>
          <p:grpSpPr>
            <a:xfrm>
              <a:off x="2496" y="1200"/>
              <a:ext cx="1488" cy="1920"/>
              <a:chOff x="2496" y="1200"/>
              <a:chExt cx="1488" cy="1920"/>
            </a:xfrm>
          </p:grpSpPr>
          <p:sp>
            <p:nvSpPr>
              <p:cNvPr id="94297" name="Rectangle 58" descr="75%"/>
              <p:cNvSpPr/>
              <p:nvPr/>
            </p:nvSpPr>
            <p:spPr>
              <a:xfrm>
                <a:off x="2496" y="1584"/>
                <a:ext cx="336" cy="288"/>
              </a:xfrm>
              <a:prstGeom prst="rect">
                <a:avLst/>
              </a:prstGeom>
              <a:noFill/>
              <a:ln w="38100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4298" name="Line 59"/>
              <p:cNvSpPr/>
              <p:nvPr/>
            </p:nvSpPr>
            <p:spPr>
              <a:xfrm flipV="1">
                <a:off x="2688" y="1200"/>
                <a:ext cx="960" cy="384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4299" name="Line 60"/>
              <p:cNvSpPr/>
              <p:nvPr/>
            </p:nvSpPr>
            <p:spPr>
              <a:xfrm>
                <a:off x="3648" y="1200"/>
                <a:ext cx="336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4300" name="Line 61"/>
              <p:cNvSpPr/>
              <p:nvPr/>
            </p:nvSpPr>
            <p:spPr>
              <a:xfrm flipH="1">
                <a:off x="3984" y="1200"/>
                <a:ext cx="0" cy="192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sp>
        <p:nvSpPr>
          <p:cNvPr id="76868" name="Text Box 68" descr="75%"/>
          <p:cNvSpPr txBox="1"/>
          <p:nvPr/>
        </p:nvSpPr>
        <p:spPr>
          <a:xfrm>
            <a:off x="4114800" y="3654425"/>
            <a:ext cx="608013" cy="3111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6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AB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grpSp>
        <p:nvGrpSpPr>
          <p:cNvPr id="9" name="Group 81"/>
          <p:cNvGrpSpPr/>
          <p:nvPr/>
        </p:nvGrpSpPr>
        <p:grpSpPr>
          <a:xfrm>
            <a:off x="4191000" y="3657600"/>
            <a:ext cx="4495800" cy="304800"/>
            <a:chOff x="2640" y="2304"/>
            <a:chExt cx="2832" cy="192"/>
          </a:xfrm>
        </p:grpSpPr>
        <p:sp>
          <p:nvSpPr>
            <p:cNvPr id="94293" name="Rectangle 79" descr="75%"/>
            <p:cNvSpPr/>
            <p:nvPr/>
          </p:nvSpPr>
          <p:spPr>
            <a:xfrm>
              <a:off x="2640" y="2304"/>
              <a:ext cx="336" cy="192"/>
            </a:xfrm>
            <a:prstGeom prst="rect">
              <a:avLst/>
            </a:prstGeom>
            <a:noFill/>
            <a:ln w="38100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94294" name="Line 80"/>
            <p:cNvSpPr/>
            <p:nvPr/>
          </p:nvSpPr>
          <p:spPr>
            <a:xfrm>
              <a:off x="2976" y="2400"/>
              <a:ext cx="2496" cy="0"/>
            </a:xfrm>
            <a:prstGeom prst="line">
              <a:avLst/>
            </a:prstGeom>
            <a:ln w="38100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0" name="Group 82"/>
          <p:cNvGrpSpPr/>
          <p:nvPr/>
        </p:nvGrpSpPr>
        <p:grpSpPr>
          <a:xfrm>
            <a:off x="6170613" y="2746375"/>
            <a:ext cx="336550" cy="692150"/>
            <a:chOff x="4656" y="1726"/>
            <a:chExt cx="212" cy="436"/>
          </a:xfrm>
        </p:grpSpPr>
        <p:sp>
          <p:nvSpPr>
            <p:cNvPr id="94291" name="Text Box 66" descr="75%"/>
            <p:cNvSpPr txBox="1"/>
            <p:nvPr/>
          </p:nvSpPr>
          <p:spPr>
            <a:xfrm>
              <a:off x="4656" y="1726"/>
              <a:ext cx="212" cy="1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60000"/>
                </a:lnSpc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94292" name="Text Box 67" descr="75%"/>
            <p:cNvSpPr txBox="1"/>
            <p:nvPr/>
          </p:nvSpPr>
          <p:spPr>
            <a:xfrm>
              <a:off x="4656" y="1966"/>
              <a:ext cx="212" cy="1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60000"/>
                </a:lnSpc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1" name="Group 91"/>
          <p:cNvGrpSpPr/>
          <p:nvPr/>
        </p:nvGrpSpPr>
        <p:grpSpPr>
          <a:xfrm>
            <a:off x="6170613" y="3657600"/>
            <a:ext cx="2165350" cy="311150"/>
            <a:chOff x="3888" y="2302"/>
            <a:chExt cx="1364" cy="196"/>
          </a:xfrm>
        </p:grpSpPr>
        <p:sp>
          <p:nvSpPr>
            <p:cNvPr id="94287" name="Text Box 83" descr="75%"/>
            <p:cNvSpPr txBox="1"/>
            <p:nvPr/>
          </p:nvSpPr>
          <p:spPr>
            <a:xfrm>
              <a:off x="3888" y="2302"/>
              <a:ext cx="212" cy="1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60000"/>
                </a:lnSpc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94288" name="Text Box 84" descr="75%"/>
            <p:cNvSpPr txBox="1"/>
            <p:nvPr/>
          </p:nvSpPr>
          <p:spPr>
            <a:xfrm>
              <a:off x="4272" y="2302"/>
              <a:ext cx="212" cy="1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60000"/>
                </a:lnSpc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94289" name="Text Box 85" descr="75%"/>
            <p:cNvSpPr txBox="1"/>
            <p:nvPr/>
          </p:nvSpPr>
          <p:spPr>
            <a:xfrm>
              <a:off x="4656" y="2302"/>
              <a:ext cx="212" cy="1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60000"/>
                </a:lnSpc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94290" name="Text Box 86" descr="75%"/>
            <p:cNvSpPr txBox="1"/>
            <p:nvPr/>
          </p:nvSpPr>
          <p:spPr>
            <a:xfrm>
              <a:off x="5040" y="2302"/>
              <a:ext cx="212" cy="1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60000"/>
                </a:lnSpc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2" name="Group 103"/>
          <p:cNvGrpSpPr/>
          <p:nvPr/>
        </p:nvGrpSpPr>
        <p:grpSpPr>
          <a:xfrm>
            <a:off x="4619625" y="4873625"/>
            <a:ext cx="904875" cy="311150"/>
            <a:chOff x="2910" y="3070"/>
            <a:chExt cx="570" cy="196"/>
          </a:xfrm>
        </p:grpSpPr>
        <p:sp>
          <p:nvSpPr>
            <p:cNvPr id="94284" name="Text Box 92" descr="75%"/>
            <p:cNvSpPr txBox="1"/>
            <p:nvPr/>
          </p:nvSpPr>
          <p:spPr>
            <a:xfrm>
              <a:off x="2910" y="3070"/>
              <a:ext cx="570" cy="1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60000"/>
                </a:lnSpc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B CD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94285" name="Line 93"/>
            <p:cNvSpPr/>
            <p:nvPr/>
          </p:nvSpPr>
          <p:spPr>
            <a:xfrm>
              <a:off x="3154" y="3072"/>
              <a:ext cx="110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86" name="Line 94"/>
            <p:cNvSpPr/>
            <p:nvPr/>
          </p:nvSpPr>
          <p:spPr>
            <a:xfrm>
              <a:off x="2962" y="3072"/>
              <a:ext cx="110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3" name="Group 109"/>
          <p:cNvGrpSpPr/>
          <p:nvPr/>
        </p:nvGrpSpPr>
        <p:grpSpPr>
          <a:xfrm>
            <a:off x="4648200" y="2133600"/>
            <a:ext cx="4038600" cy="3048000"/>
            <a:chOff x="2928" y="1344"/>
            <a:chExt cx="2544" cy="1920"/>
          </a:xfrm>
        </p:grpSpPr>
        <p:grpSp>
          <p:nvGrpSpPr>
            <p:cNvPr id="94275" name="Group 104"/>
            <p:cNvGrpSpPr/>
            <p:nvPr/>
          </p:nvGrpSpPr>
          <p:grpSpPr>
            <a:xfrm>
              <a:off x="2928" y="1776"/>
              <a:ext cx="2544" cy="1488"/>
              <a:chOff x="2928" y="1776"/>
              <a:chExt cx="2544" cy="1488"/>
            </a:xfrm>
          </p:grpSpPr>
          <p:sp>
            <p:nvSpPr>
              <p:cNvPr id="94280" name="Rectangle 95" descr="75%"/>
              <p:cNvSpPr/>
              <p:nvPr/>
            </p:nvSpPr>
            <p:spPr>
              <a:xfrm>
                <a:off x="2928" y="3024"/>
                <a:ext cx="164" cy="240"/>
              </a:xfrm>
              <a:prstGeom prst="rect">
                <a:avLst/>
              </a:prstGeom>
              <a:noFill/>
              <a:ln w="38100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4281" name="Line 97"/>
              <p:cNvSpPr/>
              <p:nvPr/>
            </p:nvSpPr>
            <p:spPr>
              <a:xfrm flipV="1">
                <a:off x="3024" y="1776"/>
                <a:ext cx="0" cy="1248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4282" name="Line 98"/>
              <p:cNvSpPr/>
              <p:nvPr/>
            </p:nvSpPr>
            <p:spPr>
              <a:xfrm>
                <a:off x="3024" y="1776"/>
                <a:ext cx="2448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94283" name="Line 99"/>
              <p:cNvSpPr/>
              <p:nvPr/>
            </p:nvSpPr>
            <p:spPr>
              <a:xfrm>
                <a:off x="3024" y="2688"/>
                <a:ext cx="2400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94276" name="Group 105"/>
            <p:cNvGrpSpPr/>
            <p:nvPr/>
          </p:nvGrpSpPr>
          <p:grpSpPr>
            <a:xfrm>
              <a:off x="3120" y="1344"/>
              <a:ext cx="1248" cy="1920"/>
              <a:chOff x="3120" y="1344"/>
              <a:chExt cx="1248" cy="1920"/>
            </a:xfrm>
          </p:grpSpPr>
          <p:sp>
            <p:nvSpPr>
              <p:cNvPr id="94277" name="Rectangle 100" descr="75%"/>
              <p:cNvSpPr/>
              <p:nvPr/>
            </p:nvSpPr>
            <p:spPr>
              <a:xfrm>
                <a:off x="3120" y="2976"/>
                <a:ext cx="288" cy="288"/>
              </a:xfrm>
              <a:prstGeom prst="rect">
                <a:avLst/>
              </a:prstGeom>
              <a:noFill/>
              <a:ln w="38100" cap="flat" cmpd="sng">
                <a:solidFill>
                  <a:srgbClr val="FFFF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4278" name="Line 101"/>
              <p:cNvSpPr/>
              <p:nvPr/>
            </p:nvSpPr>
            <p:spPr>
              <a:xfrm>
                <a:off x="3408" y="3120"/>
                <a:ext cx="960" cy="0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4279" name="Line 102"/>
              <p:cNvSpPr/>
              <p:nvPr/>
            </p:nvSpPr>
            <p:spPr>
              <a:xfrm flipV="1">
                <a:off x="4368" y="1344"/>
                <a:ext cx="0" cy="1776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grpSp>
        <p:nvGrpSpPr>
          <p:cNvPr id="16" name="Group 223"/>
          <p:cNvGrpSpPr/>
          <p:nvPr/>
        </p:nvGrpSpPr>
        <p:grpSpPr>
          <a:xfrm>
            <a:off x="6780213" y="2743200"/>
            <a:ext cx="336550" cy="1752600"/>
            <a:chOff x="4271" y="1728"/>
            <a:chExt cx="212" cy="1104"/>
          </a:xfrm>
        </p:grpSpPr>
        <p:sp>
          <p:nvSpPr>
            <p:cNvPr id="94273" name="Text Box 106" descr="75%"/>
            <p:cNvSpPr txBox="1"/>
            <p:nvPr/>
          </p:nvSpPr>
          <p:spPr>
            <a:xfrm>
              <a:off x="4271" y="2636"/>
              <a:ext cx="212" cy="1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60000"/>
                </a:lnSpc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94274" name="Text Box 108" descr="75%"/>
            <p:cNvSpPr txBox="1"/>
            <p:nvPr/>
          </p:nvSpPr>
          <p:spPr>
            <a:xfrm>
              <a:off x="4271" y="1728"/>
              <a:ext cx="212" cy="1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60000"/>
                </a:lnSpc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7" name="Group 117"/>
          <p:cNvGrpSpPr/>
          <p:nvPr/>
        </p:nvGrpSpPr>
        <p:grpSpPr>
          <a:xfrm>
            <a:off x="3505200" y="2514600"/>
            <a:ext cx="922338" cy="457200"/>
            <a:chOff x="792" y="2016"/>
            <a:chExt cx="581" cy="288"/>
          </a:xfrm>
        </p:grpSpPr>
        <p:sp>
          <p:nvSpPr>
            <p:cNvPr id="94269" name="Line 47"/>
            <p:cNvSpPr/>
            <p:nvPr/>
          </p:nvSpPr>
          <p:spPr>
            <a:xfrm>
              <a:off x="912" y="2064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70" name="Line 48"/>
            <p:cNvSpPr/>
            <p:nvPr/>
          </p:nvSpPr>
          <p:spPr>
            <a:xfrm>
              <a:off x="1056" y="2064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71" name="Line 114"/>
            <p:cNvSpPr/>
            <p:nvPr/>
          </p:nvSpPr>
          <p:spPr>
            <a:xfrm>
              <a:off x="1200" y="2064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4272" name="Text Box 116" descr="75%"/>
            <p:cNvSpPr txBox="1"/>
            <p:nvPr/>
          </p:nvSpPr>
          <p:spPr>
            <a:xfrm>
              <a:off x="792" y="2016"/>
              <a:ext cx="58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ACD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8" name="Group 137"/>
          <p:cNvGrpSpPr/>
          <p:nvPr/>
        </p:nvGrpSpPr>
        <p:grpSpPr>
          <a:xfrm>
            <a:off x="6943725" y="5257800"/>
            <a:ext cx="904875" cy="457200"/>
            <a:chOff x="1800" y="2208"/>
            <a:chExt cx="570" cy="288"/>
          </a:xfrm>
        </p:grpSpPr>
        <p:sp>
          <p:nvSpPr>
            <p:cNvPr id="94267" name="Text Box 135" descr="75%"/>
            <p:cNvSpPr txBox="1"/>
            <p:nvPr/>
          </p:nvSpPr>
          <p:spPr>
            <a:xfrm>
              <a:off x="1800" y="2208"/>
              <a:ext cx="57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ABC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94268" name="Line 136"/>
            <p:cNvSpPr/>
            <p:nvPr/>
          </p:nvSpPr>
          <p:spPr>
            <a:xfrm>
              <a:off x="1920" y="2256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9" name="Group 156"/>
          <p:cNvGrpSpPr/>
          <p:nvPr/>
        </p:nvGrpSpPr>
        <p:grpSpPr>
          <a:xfrm>
            <a:off x="5486400" y="2057400"/>
            <a:ext cx="3048000" cy="3657600"/>
            <a:chOff x="3456" y="1296"/>
            <a:chExt cx="1920" cy="2304"/>
          </a:xfrm>
        </p:grpSpPr>
        <p:grpSp>
          <p:nvGrpSpPr>
            <p:cNvPr id="94256" name="Group 149"/>
            <p:cNvGrpSpPr/>
            <p:nvPr/>
          </p:nvGrpSpPr>
          <p:grpSpPr>
            <a:xfrm>
              <a:off x="3456" y="2064"/>
              <a:ext cx="1920" cy="1488"/>
              <a:chOff x="3456" y="2064"/>
              <a:chExt cx="1920" cy="1488"/>
            </a:xfrm>
          </p:grpSpPr>
          <p:sp>
            <p:nvSpPr>
              <p:cNvPr id="94262" name="Line 143"/>
              <p:cNvSpPr/>
              <p:nvPr/>
            </p:nvSpPr>
            <p:spPr>
              <a:xfrm flipV="1">
                <a:off x="3456" y="2064"/>
                <a:ext cx="0" cy="1344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94263" name="Group 148"/>
              <p:cNvGrpSpPr/>
              <p:nvPr/>
            </p:nvGrpSpPr>
            <p:grpSpPr>
              <a:xfrm>
                <a:off x="3456" y="2064"/>
                <a:ext cx="1920" cy="1488"/>
                <a:chOff x="3456" y="2064"/>
                <a:chExt cx="1920" cy="1488"/>
              </a:xfrm>
            </p:grpSpPr>
            <p:sp>
              <p:nvSpPr>
                <p:cNvPr id="94264" name="Rectangle 139" descr="75%"/>
                <p:cNvSpPr/>
                <p:nvPr/>
              </p:nvSpPr>
              <p:spPr>
                <a:xfrm>
                  <a:off x="4464" y="3312"/>
                  <a:ext cx="288" cy="240"/>
                </a:xfrm>
                <a:prstGeom prst="rect">
                  <a:avLst/>
                </a:prstGeom>
                <a:noFill/>
                <a:ln w="38100" cap="flat" cmpd="sng">
                  <a:solidFill>
                    <a:srgbClr val="0000F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94265" name="Line 142"/>
                <p:cNvSpPr/>
                <p:nvPr/>
              </p:nvSpPr>
              <p:spPr>
                <a:xfrm flipH="1">
                  <a:off x="3456" y="3408"/>
                  <a:ext cx="1008" cy="0"/>
                </a:xfrm>
                <a:prstGeom prst="line">
                  <a:avLst/>
                </a:prstGeom>
                <a:ln w="3810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4266" name="Line 144"/>
                <p:cNvSpPr/>
                <p:nvPr/>
              </p:nvSpPr>
              <p:spPr>
                <a:xfrm>
                  <a:off x="3456" y="2064"/>
                  <a:ext cx="1920" cy="0"/>
                </a:xfrm>
                <a:prstGeom prst="line">
                  <a:avLst/>
                </a:prstGeom>
                <a:ln w="38100" cap="flat" cmpd="sng">
                  <a:solidFill>
                    <a:srgbClr val="0000FF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</p:grpSp>
        <p:grpSp>
          <p:nvGrpSpPr>
            <p:cNvPr id="94257" name="Group 155"/>
            <p:cNvGrpSpPr/>
            <p:nvPr/>
          </p:nvGrpSpPr>
          <p:grpSpPr>
            <a:xfrm>
              <a:off x="4752" y="1296"/>
              <a:ext cx="480" cy="2304"/>
              <a:chOff x="4752" y="1296"/>
              <a:chExt cx="480" cy="2304"/>
            </a:xfrm>
          </p:grpSpPr>
          <p:sp>
            <p:nvSpPr>
              <p:cNvPr id="94258" name="Oval 140" descr="75%"/>
              <p:cNvSpPr/>
              <p:nvPr/>
            </p:nvSpPr>
            <p:spPr>
              <a:xfrm>
                <a:off x="4752" y="3264"/>
                <a:ext cx="96" cy="336"/>
              </a:xfrm>
              <a:prstGeom prst="ellipse">
                <a:avLst/>
              </a:prstGeom>
              <a:noFill/>
              <a:ln w="38100" cap="flat" cmpd="sng">
                <a:solidFill>
                  <a:srgbClr val="CC33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4259" name="Line 141"/>
              <p:cNvSpPr/>
              <p:nvPr/>
            </p:nvSpPr>
            <p:spPr>
              <a:xfrm flipV="1">
                <a:off x="4800" y="1296"/>
                <a:ext cx="0" cy="1968"/>
              </a:xfrm>
              <a:prstGeom prst="line">
                <a:avLst/>
              </a:prstGeom>
              <a:ln w="38100" cap="flat" cmpd="sng">
                <a:solidFill>
                  <a:srgbClr val="CC33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94260" name="Line 145"/>
              <p:cNvSpPr/>
              <p:nvPr/>
            </p:nvSpPr>
            <p:spPr>
              <a:xfrm flipH="1">
                <a:off x="4800" y="3024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CC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4261" name="Line 146"/>
              <p:cNvSpPr/>
              <p:nvPr/>
            </p:nvSpPr>
            <p:spPr>
              <a:xfrm flipV="1">
                <a:off x="5232" y="1344"/>
                <a:ext cx="0" cy="1680"/>
              </a:xfrm>
              <a:prstGeom prst="line">
                <a:avLst/>
              </a:prstGeom>
              <a:ln w="38100" cap="flat" cmpd="sng">
                <a:solidFill>
                  <a:srgbClr val="CC33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grpSp>
        <p:nvGrpSpPr>
          <p:cNvPr id="23" name="Group 154"/>
          <p:cNvGrpSpPr/>
          <p:nvPr/>
        </p:nvGrpSpPr>
        <p:grpSpPr>
          <a:xfrm>
            <a:off x="7389813" y="3051175"/>
            <a:ext cx="946150" cy="457200"/>
            <a:chOff x="4656" y="1920"/>
            <a:chExt cx="596" cy="288"/>
          </a:xfrm>
        </p:grpSpPr>
        <p:sp>
          <p:nvSpPr>
            <p:cNvPr id="94254" name="Text Box 152" descr="75%"/>
            <p:cNvSpPr txBox="1"/>
            <p:nvPr/>
          </p:nvSpPr>
          <p:spPr>
            <a:xfrm>
              <a:off x="4656" y="192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94255" name="Text Box 153" descr="75%"/>
            <p:cNvSpPr txBox="1"/>
            <p:nvPr/>
          </p:nvSpPr>
          <p:spPr>
            <a:xfrm>
              <a:off x="5040" y="192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76957" name="Text Box 157" descr="75%"/>
          <p:cNvSpPr txBox="1"/>
          <p:nvPr/>
        </p:nvSpPr>
        <p:spPr>
          <a:xfrm>
            <a:off x="5021263" y="5410200"/>
            <a:ext cx="6254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AC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grpSp>
        <p:nvGrpSpPr>
          <p:cNvPr id="24" name="Group 169"/>
          <p:cNvGrpSpPr/>
          <p:nvPr/>
        </p:nvGrpSpPr>
        <p:grpSpPr>
          <a:xfrm>
            <a:off x="5029200" y="2133600"/>
            <a:ext cx="3429000" cy="3657600"/>
            <a:chOff x="3168" y="1344"/>
            <a:chExt cx="2160" cy="2304"/>
          </a:xfrm>
        </p:grpSpPr>
        <p:grpSp>
          <p:nvGrpSpPr>
            <p:cNvPr id="94243" name="Group 163"/>
            <p:cNvGrpSpPr/>
            <p:nvPr/>
          </p:nvGrpSpPr>
          <p:grpSpPr>
            <a:xfrm>
              <a:off x="3168" y="2400"/>
              <a:ext cx="2160" cy="1248"/>
              <a:chOff x="3168" y="2400"/>
              <a:chExt cx="2160" cy="1248"/>
            </a:xfrm>
          </p:grpSpPr>
          <p:sp>
            <p:nvSpPr>
              <p:cNvPr id="94250" name="Rectangle 158" descr="75%"/>
              <p:cNvSpPr/>
              <p:nvPr/>
            </p:nvSpPr>
            <p:spPr>
              <a:xfrm>
                <a:off x="3168" y="3456"/>
                <a:ext cx="192" cy="192"/>
              </a:xfrm>
              <a:prstGeom prst="rect">
                <a:avLst/>
              </a:prstGeom>
              <a:noFill/>
              <a:ln w="38100" cap="flat" cmpd="sng">
                <a:solidFill>
                  <a:srgbClr val="FF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4251" name="Line 160"/>
              <p:cNvSpPr/>
              <p:nvPr/>
            </p:nvSpPr>
            <p:spPr>
              <a:xfrm flipV="1">
                <a:off x="3264" y="2400"/>
                <a:ext cx="0" cy="1056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94252" name="Line 161"/>
              <p:cNvSpPr/>
              <p:nvPr/>
            </p:nvSpPr>
            <p:spPr>
              <a:xfrm>
                <a:off x="3264" y="2400"/>
                <a:ext cx="2064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94253" name="Line 162"/>
              <p:cNvSpPr/>
              <p:nvPr/>
            </p:nvSpPr>
            <p:spPr>
              <a:xfrm>
                <a:off x="3264" y="2688"/>
                <a:ext cx="2064" cy="0"/>
              </a:xfrm>
              <a:prstGeom prst="line">
                <a:avLst/>
              </a:prstGeom>
              <a:ln w="38100" cap="flat" cmpd="sng">
                <a:solidFill>
                  <a:srgbClr val="FF00FF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94244" name="Group 168"/>
            <p:cNvGrpSpPr/>
            <p:nvPr/>
          </p:nvGrpSpPr>
          <p:grpSpPr>
            <a:xfrm>
              <a:off x="3360" y="1344"/>
              <a:ext cx="1872" cy="2304"/>
              <a:chOff x="3360" y="1344"/>
              <a:chExt cx="1872" cy="2304"/>
            </a:xfrm>
          </p:grpSpPr>
          <p:sp>
            <p:nvSpPr>
              <p:cNvPr id="94245" name="Oval 159" descr="75%"/>
              <p:cNvSpPr/>
              <p:nvPr/>
            </p:nvSpPr>
            <p:spPr>
              <a:xfrm>
                <a:off x="3360" y="3456"/>
                <a:ext cx="192" cy="192"/>
              </a:xfrm>
              <a:prstGeom prst="ellipse">
                <a:avLst/>
              </a:prstGeom>
              <a:noFill/>
              <a:ln w="38100" cap="flat" cmpd="sng">
                <a:solidFill>
                  <a:srgbClr val="00FF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4246" name="Line 164"/>
              <p:cNvSpPr/>
              <p:nvPr/>
            </p:nvSpPr>
            <p:spPr>
              <a:xfrm>
                <a:off x="3552" y="3552"/>
                <a:ext cx="1680" cy="0"/>
              </a:xfrm>
              <a:prstGeom prst="line">
                <a:avLst/>
              </a:prstGeom>
              <a:ln w="38100" cap="flat" cmpd="sng">
                <a:solidFill>
                  <a:srgbClr val="00FF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4247" name="Line 165"/>
              <p:cNvSpPr/>
              <p:nvPr/>
            </p:nvSpPr>
            <p:spPr>
              <a:xfrm flipV="1">
                <a:off x="5184" y="1344"/>
                <a:ext cx="0" cy="2208"/>
              </a:xfrm>
              <a:prstGeom prst="line">
                <a:avLst/>
              </a:prstGeom>
              <a:ln w="38100" cap="flat" cmpd="sng">
                <a:solidFill>
                  <a:srgbClr val="00FF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94248" name="Line 166"/>
              <p:cNvSpPr/>
              <p:nvPr/>
            </p:nvSpPr>
            <p:spPr>
              <a:xfrm flipH="1">
                <a:off x="4752" y="3120"/>
                <a:ext cx="432" cy="0"/>
              </a:xfrm>
              <a:prstGeom prst="line">
                <a:avLst/>
              </a:prstGeom>
              <a:ln w="38100" cap="flat" cmpd="sng">
                <a:solidFill>
                  <a:srgbClr val="00FF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94249" name="Line 167"/>
              <p:cNvSpPr/>
              <p:nvPr/>
            </p:nvSpPr>
            <p:spPr>
              <a:xfrm flipV="1">
                <a:off x="4752" y="1344"/>
                <a:ext cx="0" cy="1776"/>
              </a:xfrm>
              <a:prstGeom prst="line">
                <a:avLst/>
              </a:prstGeom>
              <a:ln w="38100" cap="flat" cmpd="sng">
                <a:solidFill>
                  <a:srgbClr val="00FF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grpSp>
        <p:nvGrpSpPr>
          <p:cNvPr id="27" name="Group 175"/>
          <p:cNvGrpSpPr/>
          <p:nvPr/>
        </p:nvGrpSpPr>
        <p:grpSpPr>
          <a:xfrm>
            <a:off x="7389813" y="3508375"/>
            <a:ext cx="946150" cy="990600"/>
            <a:chOff x="4656" y="2208"/>
            <a:chExt cx="596" cy="624"/>
          </a:xfrm>
        </p:grpSpPr>
        <p:sp>
          <p:nvSpPr>
            <p:cNvPr id="94239" name="Text Box 171" descr="75%"/>
            <p:cNvSpPr txBox="1"/>
            <p:nvPr/>
          </p:nvSpPr>
          <p:spPr>
            <a:xfrm>
              <a:off x="4656" y="220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1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  <p:sp>
          <p:nvSpPr>
            <p:cNvPr id="94240" name="Text Box 172" descr="75%"/>
            <p:cNvSpPr txBox="1"/>
            <p:nvPr/>
          </p:nvSpPr>
          <p:spPr>
            <a:xfrm>
              <a:off x="5040" y="220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1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  <p:sp>
          <p:nvSpPr>
            <p:cNvPr id="94241" name="Text Box 173" descr="75%"/>
            <p:cNvSpPr txBox="1"/>
            <p:nvPr/>
          </p:nvSpPr>
          <p:spPr>
            <a:xfrm>
              <a:off x="4656" y="254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94242" name="Text Box 174" descr="75%"/>
            <p:cNvSpPr txBox="1"/>
            <p:nvPr/>
          </p:nvSpPr>
          <p:spPr>
            <a:xfrm>
              <a:off x="5040" y="254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28" name="Group 177"/>
          <p:cNvGrpSpPr/>
          <p:nvPr/>
        </p:nvGrpSpPr>
        <p:grpSpPr>
          <a:xfrm>
            <a:off x="7391400" y="2667000"/>
            <a:ext cx="1752600" cy="990600"/>
            <a:chOff x="5760" y="1728"/>
            <a:chExt cx="1104" cy="624"/>
          </a:xfrm>
        </p:grpSpPr>
        <p:sp>
          <p:nvSpPr>
            <p:cNvPr id="94237" name="AutoShape 110"/>
            <p:cNvSpPr/>
            <p:nvPr/>
          </p:nvSpPr>
          <p:spPr>
            <a:xfrm>
              <a:off x="5760" y="1728"/>
              <a:ext cx="1104" cy="624"/>
            </a:xfrm>
            <a:prstGeom prst="wedgeEllipseCallout">
              <a:avLst>
                <a:gd name="adj1" fmla="val -39676"/>
                <a:gd name="adj2" fmla="val 62338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60000"/>
                </a:lnSpc>
                <a:spcBef>
                  <a:spcPct val="0"/>
                </a:spcBef>
                <a:buNone/>
              </a:pPr>
              <a:endParaRPr lang="zh-CN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4238" name="Text Box 176" descr="75%"/>
            <p:cNvSpPr txBox="1"/>
            <p:nvPr/>
          </p:nvSpPr>
          <p:spPr>
            <a:xfrm>
              <a:off x="5856" y="1824"/>
              <a:ext cx="1008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m14,m15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两次填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1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</p:grpSp>
      <p:grpSp>
        <p:nvGrpSpPr>
          <p:cNvPr id="29" name="Group 224"/>
          <p:cNvGrpSpPr/>
          <p:nvPr/>
        </p:nvGrpSpPr>
        <p:grpSpPr>
          <a:xfrm>
            <a:off x="6172200" y="2667000"/>
            <a:ext cx="2165350" cy="1828800"/>
            <a:chOff x="3888" y="1680"/>
            <a:chExt cx="1364" cy="1152"/>
          </a:xfrm>
        </p:grpSpPr>
        <p:sp>
          <p:nvSpPr>
            <p:cNvPr id="94233" name="Text Box 219" descr="75%"/>
            <p:cNvSpPr txBox="1"/>
            <p:nvPr/>
          </p:nvSpPr>
          <p:spPr>
            <a:xfrm>
              <a:off x="3888" y="254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2400" dirty="0">
                <a:solidFill>
                  <a:schemeClr val="tx2"/>
                </a:solidFill>
              </a:endParaRPr>
            </a:p>
          </p:txBody>
        </p:sp>
        <p:sp>
          <p:nvSpPr>
            <p:cNvPr id="94234" name="Text Box 220" descr="75%"/>
            <p:cNvSpPr txBox="1"/>
            <p:nvPr/>
          </p:nvSpPr>
          <p:spPr>
            <a:xfrm>
              <a:off x="4272" y="192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2400" dirty="0">
                <a:solidFill>
                  <a:schemeClr val="tx2"/>
                </a:solidFill>
              </a:endParaRPr>
            </a:p>
          </p:txBody>
        </p:sp>
        <p:sp>
          <p:nvSpPr>
            <p:cNvPr id="94235" name="Text Box 221" descr="75%"/>
            <p:cNvSpPr txBox="1"/>
            <p:nvPr/>
          </p:nvSpPr>
          <p:spPr>
            <a:xfrm>
              <a:off x="5040" y="168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2400" dirty="0">
                <a:solidFill>
                  <a:schemeClr val="tx2"/>
                </a:solidFill>
              </a:endParaRPr>
            </a:p>
          </p:txBody>
        </p:sp>
        <p:sp>
          <p:nvSpPr>
            <p:cNvPr id="94236" name="Text Box 222" descr="75%"/>
            <p:cNvSpPr txBox="1"/>
            <p:nvPr/>
          </p:nvSpPr>
          <p:spPr>
            <a:xfrm>
              <a:off x="4656" y="168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2400" dirty="0">
                <a:solidFill>
                  <a:schemeClr val="tx2"/>
                </a:solidFill>
              </a:endParaRPr>
            </a:p>
          </p:txBody>
        </p:sp>
      </p:grpSp>
      <p:sp>
        <p:nvSpPr>
          <p:cNvPr id="94231" name="Text Box 225"/>
          <p:cNvSpPr txBox="1"/>
          <p:nvPr/>
        </p:nvSpPr>
        <p:spPr>
          <a:xfrm>
            <a:off x="533400" y="304800"/>
            <a:ext cx="3429000" cy="64135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Left">
              <a:rot lat="0" lon="0" rev="0"/>
            </a:camera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CC0000"/>
                </a:solidFill>
                <a:ea typeface="隶书" panose="02010509060101010101" pitchFamily="49" charset="-122"/>
              </a:rPr>
              <a:t>图形法化简函数</a:t>
            </a:r>
            <a:endParaRPr lang="zh-CN" altLang="en-US" sz="3600" b="1" dirty="0">
              <a:solidFill>
                <a:srgbClr val="CC0000"/>
              </a:solidFill>
              <a:ea typeface="隶书" panose="02010509060101010101" pitchFamily="49" charset="-122"/>
            </a:endParaRPr>
          </a:p>
        </p:txBody>
      </p:sp>
      <p:pic>
        <p:nvPicPr>
          <p:cNvPr id="77027" name="Picture 227" descr="ag00108_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200" y="6172200"/>
            <a:ext cx="990600" cy="517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42" grpId="0"/>
      <p:bldP spid="76868" grpId="0"/>
      <p:bldP spid="76957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Rectangle 3" descr="75%"/>
          <p:cNvSpPr/>
          <p:nvPr/>
        </p:nvSpPr>
        <p:spPr>
          <a:xfrm>
            <a:off x="609600" y="1371600"/>
            <a:ext cx="8001000" cy="4572000"/>
          </a:xfrm>
          <a:prstGeom prst="rect">
            <a:avLst/>
          </a:prstGeom>
          <a:noFill/>
          <a:ln w="38100" cap="flat" cmpd="sng">
            <a:pattFill prst="pct75">
              <a:fgClr>
                <a:srgbClr val="33CCCC"/>
              </a:fgClr>
              <a:bgClr>
                <a:srgbClr val="FFFFFF"/>
              </a:bgClr>
            </a:patt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75780" name="Text Box 4" descr="75%"/>
          <p:cNvSpPr txBox="1"/>
          <p:nvPr/>
        </p:nvSpPr>
        <p:spPr>
          <a:xfrm>
            <a:off x="654050" y="1524000"/>
            <a:ext cx="803275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例：图中给出输入变量</a:t>
            </a:r>
            <a:r>
              <a:rPr lang="en-US" altLang="zh-CN" sz="2400" b="1" dirty="0">
                <a:solidFill>
                  <a:schemeClr val="tx2"/>
                </a:solidFill>
              </a:rPr>
              <a:t>A</a:t>
            </a:r>
            <a:r>
              <a:rPr lang="zh-CN" altLang="en-US" sz="2400" b="1" dirty="0">
                <a:solidFill>
                  <a:schemeClr val="tx2"/>
                </a:solidFill>
              </a:rPr>
              <a:t>、</a:t>
            </a:r>
            <a:r>
              <a:rPr lang="en-US" altLang="zh-CN" sz="2400" b="1" dirty="0">
                <a:solidFill>
                  <a:schemeClr val="tx2"/>
                </a:solidFill>
              </a:rPr>
              <a:t>B</a:t>
            </a:r>
            <a:r>
              <a:rPr lang="zh-CN" altLang="en-US" sz="2400" b="1" dirty="0">
                <a:solidFill>
                  <a:schemeClr val="tx2"/>
                </a:solidFill>
              </a:rPr>
              <a:t>、</a:t>
            </a:r>
            <a:r>
              <a:rPr lang="en-US" altLang="zh-CN" sz="2400" b="1" dirty="0">
                <a:solidFill>
                  <a:schemeClr val="tx2"/>
                </a:solidFill>
              </a:rPr>
              <a:t>C</a:t>
            </a:r>
            <a:r>
              <a:rPr lang="zh-CN" altLang="en-US" sz="2400" b="1" dirty="0">
                <a:solidFill>
                  <a:schemeClr val="tx2"/>
                </a:solidFill>
              </a:rPr>
              <a:t>的真值表，填写函数的卡诺图</a:t>
            </a:r>
            <a:endParaRPr lang="zh-CN" altLang="en-US" sz="3600" b="1" dirty="0">
              <a:solidFill>
                <a:schemeClr val="tx2"/>
              </a:solidFill>
            </a:endParaRPr>
          </a:p>
        </p:txBody>
      </p:sp>
      <p:grpSp>
        <p:nvGrpSpPr>
          <p:cNvPr id="2" name="Group 92"/>
          <p:cNvGrpSpPr/>
          <p:nvPr/>
        </p:nvGrpSpPr>
        <p:grpSpPr>
          <a:xfrm>
            <a:off x="762000" y="2590800"/>
            <a:ext cx="2439988" cy="3200400"/>
            <a:chOff x="575" y="1632"/>
            <a:chExt cx="1537" cy="2016"/>
          </a:xfrm>
        </p:grpSpPr>
        <p:sp>
          <p:nvSpPr>
            <p:cNvPr id="95282" name="Rectangle 5" descr="75%"/>
            <p:cNvSpPr/>
            <p:nvPr/>
          </p:nvSpPr>
          <p:spPr>
            <a:xfrm>
              <a:off x="576" y="1632"/>
              <a:ext cx="1536" cy="201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95283" name="Line 6"/>
            <p:cNvSpPr/>
            <p:nvPr/>
          </p:nvSpPr>
          <p:spPr>
            <a:xfrm>
              <a:off x="575" y="1967"/>
              <a:ext cx="1537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5284" name="Text Box 7" descr="75%"/>
            <p:cNvSpPr txBox="1"/>
            <p:nvPr/>
          </p:nvSpPr>
          <p:spPr>
            <a:xfrm>
              <a:off x="672" y="1680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A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95285" name="Text Box 8" descr="75%"/>
            <p:cNvSpPr txBox="1"/>
            <p:nvPr/>
          </p:nvSpPr>
          <p:spPr>
            <a:xfrm>
              <a:off x="965" y="1680"/>
              <a:ext cx="2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B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95286" name="Text Box 9" descr="75%"/>
            <p:cNvSpPr txBox="1"/>
            <p:nvPr/>
          </p:nvSpPr>
          <p:spPr>
            <a:xfrm>
              <a:off x="1248" y="1680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C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95287" name="Text Box 10" descr="75%"/>
            <p:cNvSpPr txBox="1"/>
            <p:nvPr/>
          </p:nvSpPr>
          <p:spPr>
            <a:xfrm>
              <a:off x="1739" y="1680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F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grpSp>
          <p:nvGrpSpPr>
            <p:cNvPr id="95288" name="Group 14"/>
            <p:cNvGrpSpPr/>
            <p:nvPr/>
          </p:nvGrpSpPr>
          <p:grpSpPr>
            <a:xfrm>
              <a:off x="652" y="1968"/>
              <a:ext cx="808" cy="288"/>
              <a:chOff x="652" y="2064"/>
              <a:chExt cx="808" cy="288"/>
            </a:xfrm>
          </p:grpSpPr>
          <p:sp>
            <p:nvSpPr>
              <p:cNvPr id="95326" name="Text Box 11" descr="75%"/>
              <p:cNvSpPr txBox="1"/>
              <p:nvPr/>
            </p:nvSpPr>
            <p:spPr>
              <a:xfrm>
                <a:off x="652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0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5327" name="Text Box 12" descr="75%"/>
              <p:cNvSpPr txBox="1"/>
              <p:nvPr/>
            </p:nvSpPr>
            <p:spPr>
              <a:xfrm>
                <a:off x="960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0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5328" name="Text Box 13" descr="75%"/>
              <p:cNvSpPr txBox="1"/>
              <p:nvPr/>
            </p:nvSpPr>
            <p:spPr>
              <a:xfrm>
                <a:off x="1248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0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95289" name="Group 15"/>
            <p:cNvGrpSpPr/>
            <p:nvPr/>
          </p:nvGrpSpPr>
          <p:grpSpPr>
            <a:xfrm>
              <a:off x="608" y="2160"/>
              <a:ext cx="856" cy="288"/>
              <a:chOff x="628" y="2064"/>
              <a:chExt cx="856" cy="288"/>
            </a:xfrm>
          </p:grpSpPr>
          <p:sp>
            <p:nvSpPr>
              <p:cNvPr id="95323" name="Text Box 16" descr="75%"/>
              <p:cNvSpPr txBox="1"/>
              <p:nvPr/>
            </p:nvSpPr>
            <p:spPr>
              <a:xfrm>
                <a:off x="628" y="2064"/>
                <a:ext cx="26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 0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5324" name="Text Box 17" descr="75%"/>
              <p:cNvSpPr txBox="1"/>
              <p:nvPr/>
            </p:nvSpPr>
            <p:spPr>
              <a:xfrm>
                <a:off x="936" y="2064"/>
                <a:ext cx="26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 0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5325" name="Text Box 18" descr="75%"/>
              <p:cNvSpPr txBox="1"/>
              <p:nvPr/>
            </p:nvSpPr>
            <p:spPr>
              <a:xfrm>
                <a:off x="1224" y="2064"/>
                <a:ext cx="26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 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95290" name="Group 19"/>
            <p:cNvGrpSpPr/>
            <p:nvPr/>
          </p:nvGrpSpPr>
          <p:grpSpPr>
            <a:xfrm>
              <a:off x="624" y="2352"/>
              <a:ext cx="832" cy="288"/>
              <a:chOff x="628" y="2064"/>
              <a:chExt cx="832" cy="288"/>
            </a:xfrm>
          </p:grpSpPr>
          <p:sp>
            <p:nvSpPr>
              <p:cNvPr id="95320" name="Text Box 20" descr="75%"/>
              <p:cNvSpPr txBox="1"/>
              <p:nvPr/>
            </p:nvSpPr>
            <p:spPr>
              <a:xfrm>
                <a:off x="628" y="2064"/>
                <a:ext cx="26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 0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5321" name="Text Box 21" descr="75%"/>
              <p:cNvSpPr txBox="1"/>
              <p:nvPr/>
            </p:nvSpPr>
            <p:spPr>
              <a:xfrm>
                <a:off x="960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5322" name="Text Box 22" descr="75%"/>
              <p:cNvSpPr txBox="1"/>
              <p:nvPr/>
            </p:nvSpPr>
            <p:spPr>
              <a:xfrm>
                <a:off x="1248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0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95291" name="Group 23"/>
            <p:cNvGrpSpPr/>
            <p:nvPr/>
          </p:nvGrpSpPr>
          <p:grpSpPr>
            <a:xfrm>
              <a:off x="680" y="2544"/>
              <a:ext cx="808" cy="288"/>
              <a:chOff x="652" y="2064"/>
              <a:chExt cx="808" cy="288"/>
            </a:xfrm>
          </p:grpSpPr>
          <p:sp>
            <p:nvSpPr>
              <p:cNvPr id="95317" name="Text Box 24" descr="75%"/>
              <p:cNvSpPr txBox="1"/>
              <p:nvPr/>
            </p:nvSpPr>
            <p:spPr>
              <a:xfrm>
                <a:off x="652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0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5318" name="Text Box 25" descr="75%"/>
              <p:cNvSpPr txBox="1"/>
              <p:nvPr/>
            </p:nvSpPr>
            <p:spPr>
              <a:xfrm>
                <a:off x="960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5319" name="Text Box 26" descr="75%"/>
              <p:cNvSpPr txBox="1"/>
              <p:nvPr/>
            </p:nvSpPr>
            <p:spPr>
              <a:xfrm>
                <a:off x="1248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95292" name="Group 27"/>
            <p:cNvGrpSpPr/>
            <p:nvPr/>
          </p:nvGrpSpPr>
          <p:grpSpPr>
            <a:xfrm>
              <a:off x="672" y="2736"/>
              <a:ext cx="808" cy="288"/>
              <a:chOff x="652" y="2064"/>
              <a:chExt cx="808" cy="288"/>
            </a:xfrm>
          </p:grpSpPr>
          <p:sp>
            <p:nvSpPr>
              <p:cNvPr id="95314" name="Text Box 28" descr="75%"/>
              <p:cNvSpPr txBox="1"/>
              <p:nvPr/>
            </p:nvSpPr>
            <p:spPr>
              <a:xfrm>
                <a:off x="652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5315" name="Text Box 29" descr="75%"/>
              <p:cNvSpPr txBox="1"/>
              <p:nvPr/>
            </p:nvSpPr>
            <p:spPr>
              <a:xfrm>
                <a:off x="960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0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5316" name="Text Box 30" descr="75%"/>
              <p:cNvSpPr txBox="1"/>
              <p:nvPr/>
            </p:nvSpPr>
            <p:spPr>
              <a:xfrm>
                <a:off x="1248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0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95293" name="Group 31"/>
            <p:cNvGrpSpPr/>
            <p:nvPr/>
          </p:nvGrpSpPr>
          <p:grpSpPr>
            <a:xfrm>
              <a:off x="672" y="2928"/>
              <a:ext cx="808" cy="288"/>
              <a:chOff x="652" y="2064"/>
              <a:chExt cx="808" cy="288"/>
            </a:xfrm>
          </p:grpSpPr>
          <p:sp>
            <p:nvSpPr>
              <p:cNvPr id="95311" name="Text Box 32" descr="75%"/>
              <p:cNvSpPr txBox="1"/>
              <p:nvPr/>
            </p:nvSpPr>
            <p:spPr>
              <a:xfrm>
                <a:off x="652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5312" name="Text Box 33" descr="75%"/>
              <p:cNvSpPr txBox="1"/>
              <p:nvPr/>
            </p:nvSpPr>
            <p:spPr>
              <a:xfrm>
                <a:off x="960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0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5313" name="Text Box 34" descr="75%"/>
              <p:cNvSpPr txBox="1"/>
              <p:nvPr/>
            </p:nvSpPr>
            <p:spPr>
              <a:xfrm>
                <a:off x="1248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95294" name="Group 35"/>
            <p:cNvGrpSpPr/>
            <p:nvPr/>
          </p:nvGrpSpPr>
          <p:grpSpPr>
            <a:xfrm>
              <a:off x="672" y="3120"/>
              <a:ext cx="808" cy="288"/>
              <a:chOff x="652" y="2064"/>
              <a:chExt cx="808" cy="288"/>
            </a:xfrm>
          </p:grpSpPr>
          <p:sp>
            <p:nvSpPr>
              <p:cNvPr id="95308" name="Text Box 36" descr="75%"/>
              <p:cNvSpPr txBox="1"/>
              <p:nvPr/>
            </p:nvSpPr>
            <p:spPr>
              <a:xfrm>
                <a:off x="652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5309" name="Text Box 37" descr="75%"/>
              <p:cNvSpPr txBox="1"/>
              <p:nvPr/>
            </p:nvSpPr>
            <p:spPr>
              <a:xfrm>
                <a:off x="960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5310" name="Text Box 38" descr="75%"/>
              <p:cNvSpPr txBox="1"/>
              <p:nvPr/>
            </p:nvSpPr>
            <p:spPr>
              <a:xfrm>
                <a:off x="1248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0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95295" name="Group 39"/>
            <p:cNvGrpSpPr/>
            <p:nvPr/>
          </p:nvGrpSpPr>
          <p:grpSpPr>
            <a:xfrm>
              <a:off x="672" y="3360"/>
              <a:ext cx="808" cy="288"/>
              <a:chOff x="652" y="2064"/>
              <a:chExt cx="808" cy="288"/>
            </a:xfrm>
          </p:grpSpPr>
          <p:sp>
            <p:nvSpPr>
              <p:cNvPr id="95305" name="Text Box 40" descr="75%"/>
              <p:cNvSpPr txBox="1"/>
              <p:nvPr/>
            </p:nvSpPr>
            <p:spPr>
              <a:xfrm>
                <a:off x="652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5306" name="Text Box 41" descr="75%"/>
              <p:cNvSpPr txBox="1"/>
              <p:nvPr/>
            </p:nvSpPr>
            <p:spPr>
              <a:xfrm>
                <a:off x="960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5307" name="Text Box 42" descr="75%"/>
              <p:cNvSpPr txBox="1"/>
              <p:nvPr/>
            </p:nvSpPr>
            <p:spPr>
              <a:xfrm>
                <a:off x="1248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95296" name="Line 43"/>
            <p:cNvSpPr/>
            <p:nvPr/>
          </p:nvSpPr>
          <p:spPr>
            <a:xfrm>
              <a:off x="1680" y="1632"/>
              <a:ext cx="0" cy="20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5297" name="Text Box 44" descr="75%"/>
            <p:cNvSpPr txBox="1"/>
            <p:nvPr/>
          </p:nvSpPr>
          <p:spPr>
            <a:xfrm>
              <a:off x="1776" y="196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5298" name="Text Box 45" descr="75%"/>
            <p:cNvSpPr txBox="1"/>
            <p:nvPr/>
          </p:nvSpPr>
          <p:spPr>
            <a:xfrm>
              <a:off x="1776" y="216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5299" name="Text Box 46" descr="75%"/>
            <p:cNvSpPr txBox="1"/>
            <p:nvPr/>
          </p:nvSpPr>
          <p:spPr>
            <a:xfrm>
              <a:off x="1776" y="235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5300" name="Text Box 47" descr="75%"/>
            <p:cNvSpPr txBox="1"/>
            <p:nvPr/>
          </p:nvSpPr>
          <p:spPr>
            <a:xfrm>
              <a:off x="1776" y="254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5301" name="Text Box 48" descr="75%"/>
            <p:cNvSpPr txBox="1"/>
            <p:nvPr/>
          </p:nvSpPr>
          <p:spPr>
            <a:xfrm>
              <a:off x="1776" y="273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5302" name="Text Box 49" descr="75%"/>
            <p:cNvSpPr txBox="1"/>
            <p:nvPr/>
          </p:nvSpPr>
          <p:spPr>
            <a:xfrm>
              <a:off x="1776" y="292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5303" name="Text Box 51" descr="75%"/>
            <p:cNvSpPr txBox="1"/>
            <p:nvPr/>
          </p:nvSpPr>
          <p:spPr>
            <a:xfrm>
              <a:off x="1776" y="312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5304" name="Text Box 52" descr="75%"/>
            <p:cNvSpPr txBox="1"/>
            <p:nvPr/>
          </p:nvSpPr>
          <p:spPr>
            <a:xfrm>
              <a:off x="1776" y="336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1" name="Group 93"/>
          <p:cNvGrpSpPr/>
          <p:nvPr/>
        </p:nvGrpSpPr>
        <p:grpSpPr>
          <a:xfrm>
            <a:off x="3894138" y="2209800"/>
            <a:ext cx="2976562" cy="1828800"/>
            <a:chOff x="2453" y="1392"/>
            <a:chExt cx="1875" cy="1152"/>
          </a:xfrm>
        </p:grpSpPr>
        <p:grpSp>
          <p:nvGrpSpPr>
            <p:cNvPr id="95266" name="Group 53"/>
            <p:cNvGrpSpPr/>
            <p:nvPr/>
          </p:nvGrpSpPr>
          <p:grpSpPr>
            <a:xfrm>
              <a:off x="2600" y="1632"/>
              <a:ext cx="1728" cy="912"/>
              <a:chOff x="336" y="2976"/>
              <a:chExt cx="1728" cy="912"/>
            </a:xfrm>
          </p:grpSpPr>
          <p:sp>
            <p:nvSpPr>
              <p:cNvPr id="95275" name="Line 54"/>
              <p:cNvSpPr/>
              <p:nvPr/>
            </p:nvSpPr>
            <p:spPr>
              <a:xfrm>
                <a:off x="528" y="3552"/>
                <a:ext cx="15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95276" name="Group 55"/>
              <p:cNvGrpSpPr/>
              <p:nvPr/>
            </p:nvGrpSpPr>
            <p:grpSpPr>
              <a:xfrm>
                <a:off x="336" y="2976"/>
                <a:ext cx="1728" cy="912"/>
                <a:chOff x="336" y="2976"/>
                <a:chExt cx="1728" cy="912"/>
              </a:xfrm>
            </p:grpSpPr>
            <p:sp>
              <p:nvSpPr>
                <p:cNvPr id="95277" name="Rectangle 56"/>
                <p:cNvSpPr/>
                <p:nvPr/>
              </p:nvSpPr>
              <p:spPr>
                <a:xfrm>
                  <a:off x="528" y="3216"/>
                  <a:ext cx="1536" cy="672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95278" name="Line 57"/>
                <p:cNvSpPr/>
                <p:nvPr/>
              </p:nvSpPr>
              <p:spPr>
                <a:xfrm>
                  <a:off x="912" y="3216"/>
                  <a:ext cx="0" cy="67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5279" name="Line 58"/>
                <p:cNvSpPr/>
                <p:nvPr/>
              </p:nvSpPr>
              <p:spPr>
                <a:xfrm>
                  <a:off x="1296" y="3216"/>
                  <a:ext cx="0" cy="67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5280" name="Line 59"/>
                <p:cNvSpPr/>
                <p:nvPr/>
              </p:nvSpPr>
              <p:spPr>
                <a:xfrm>
                  <a:off x="1680" y="3216"/>
                  <a:ext cx="0" cy="67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5281" name="Line 60"/>
                <p:cNvSpPr/>
                <p:nvPr/>
              </p:nvSpPr>
              <p:spPr>
                <a:xfrm>
                  <a:off x="336" y="2976"/>
                  <a:ext cx="192" cy="24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95267" name="Text Box 61"/>
            <p:cNvSpPr txBox="1"/>
            <p:nvPr/>
          </p:nvSpPr>
          <p:spPr>
            <a:xfrm>
              <a:off x="2453" y="1680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A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5268" name="Text Box 62"/>
            <p:cNvSpPr txBox="1"/>
            <p:nvPr/>
          </p:nvSpPr>
          <p:spPr>
            <a:xfrm>
              <a:off x="2688" y="1392"/>
              <a:ext cx="3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BC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5269" name="Text Box 63"/>
            <p:cNvSpPr txBox="1"/>
            <p:nvPr/>
          </p:nvSpPr>
          <p:spPr>
            <a:xfrm>
              <a:off x="2552" y="187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5270" name="Text Box 64"/>
            <p:cNvSpPr txBox="1"/>
            <p:nvPr/>
          </p:nvSpPr>
          <p:spPr>
            <a:xfrm>
              <a:off x="2552" y="220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5271" name="Text Box 65"/>
            <p:cNvSpPr txBox="1"/>
            <p:nvPr/>
          </p:nvSpPr>
          <p:spPr>
            <a:xfrm>
              <a:off x="2792" y="1632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5272" name="Text Box 66"/>
            <p:cNvSpPr txBox="1"/>
            <p:nvPr/>
          </p:nvSpPr>
          <p:spPr>
            <a:xfrm>
              <a:off x="3176" y="1632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01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5273" name="Text Box 67"/>
            <p:cNvSpPr txBox="1"/>
            <p:nvPr/>
          </p:nvSpPr>
          <p:spPr>
            <a:xfrm>
              <a:off x="3560" y="1632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11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5274" name="Text Box 68"/>
            <p:cNvSpPr txBox="1"/>
            <p:nvPr/>
          </p:nvSpPr>
          <p:spPr>
            <a:xfrm>
              <a:off x="3944" y="1632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75847" name="Text Box 71"/>
          <p:cNvSpPr txBox="1"/>
          <p:nvPr/>
        </p:nvSpPr>
        <p:spPr>
          <a:xfrm>
            <a:off x="6356350" y="2971800"/>
            <a:ext cx="412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1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5848" name="Text Box 72"/>
          <p:cNvSpPr txBox="1"/>
          <p:nvPr/>
        </p:nvSpPr>
        <p:spPr>
          <a:xfrm>
            <a:off x="5746750" y="2971800"/>
            <a:ext cx="412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1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5849" name="Text Box 73"/>
          <p:cNvSpPr txBox="1"/>
          <p:nvPr/>
        </p:nvSpPr>
        <p:spPr>
          <a:xfrm>
            <a:off x="4572000" y="35052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grpSp>
        <p:nvGrpSpPr>
          <p:cNvPr id="14" name="Group 97"/>
          <p:cNvGrpSpPr/>
          <p:nvPr/>
        </p:nvGrpSpPr>
        <p:grpSpPr>
          <a:xfrm>
            <a:off x="4572000" y="2971800"/>
            <a:ext cx="2197100" cy="990600"/>
            <a:chOff x="2880" y="1872"/>
            <a:chExt cx="1384" cy="624"/>
          </a:xfrm>
        </p:grpSpPr>
        <p:sp>
          <p:nvSpPr>
            <p:cNvPr id="95261" name="Text Box 69"/>
            <p:cNvSpPr txBox="1"/>
            <p:nvPr/>
          </p:nvSpPr>
          <p:spPr>
            <a:xfrm>
              <a:off x="2880" y="187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5262" name="Text Box 70"/>
            <p:cNvSpPr txBox="1"/>
            <p:nvPr/>
          </p:nvSpPr>
          <p:spPr>
            <a:xfrm>
              <a:off x="3236" y="1872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5263" name="Text Box 74"/>
            <p:cNvSpPr txBox="1"/>
            <p:nvPr/>
          </p:nvSpPr>
          <p:spPr>
            <a:xfrm>
              <a:off x="3236" y="2208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5264" name="Text Box 75"/>
            <p:cNvSpPr txBox="1"/>
            <p:nvPr/>
          </p:nvSpPr>
          <p:spPr>
            <a:xfrm>
              <a:off x="4004" y="2208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5265" name="Text Box 76"/>
            <p:cNvSpPr txBox="1"/>
            <p:nvPr/>
          </p:nvSpPr>
          <p:spPr>
            <a:xfrm>
              <a:off x="3624" y="2208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5" name="Group 94"/>
          <p:cNvGrpSpPr/>
          <p:nvPr/>
        </p:nvGrpSpPr>
        <p:grpSpPr>
          <a:xfrm>
            <a:off x="838200" y="3733800"/>
            <a:ext cx="2165350" cy="457200"/>
            <a:chOff x="528" y="2352"/>
            <a:chExt cx="1364" cy="288"/>
          </a:xfrm>
        </p:grpSpPr>
        <p:grpSp>
          <p:nvGrpSpPr>
            <p:cNvPr id="95256" name="Group 77"/>
            <p:cNvGrpSpPr/>
            <p:nvPr/>
          </p:nvGrpSpPr>
          <p:grpSpPr>
            <a:xfrm>
              <a:off x="528" y="2352"/>
              <a:ext cx="832" cy="288"/>
              <a:chOff x="628" y="2064"/>
              <a:chExt cx="832" cy="288"/>
            </a:xfrm>
          </p:grpSpPr>
          <p:sp>
            <p:nvSpPr>
              <p:cNvPr id="95258" name="Text Box 78" descr="75%"/>
              <p:cNvSpPr txBox="1"/>
              <p:nvPr/>
            </p:nvSpPr>
            <p:spPr>
              <a:xfrm>
                <a:off x="628" y="2064"/>
                <a:ext cx="26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CC3300"/>
                    </a:solidFill>
                  </a:rPr>
                  <a:t> 0</a:t>
                </a:r>
                <a:endParaRPr lang="en-US" altLang="zh-CN" sz="2400" b="1" dirty="0">
                  <a:solidFill>
                    <a:srgbClr val="CC3300"/>
                  </a:solidFill>
                </a:endParaRPr>
              </a:p>
            </p:txBody>
          </p:sp>
          <p:sp>
            <p:nvSpPr>
              <p:cNvPr id="95259" name="Text Box 79" descr="75%"/>
              <p:cNvSpPr txBox="1"/>
              <p:nvPr/>
            </p:nvSpPr>
            <p:spPr>
              <a:xfrm>
                <a:off x="960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CC3300"/>
                    </a:solidFill>
                  </a:rPr>
                  <a:t>1</a:t>
                </a:r>
                <a:endParaRPr lang="en-US" altLang="zh-CN" sz="2400" b="1" dirty="0">
                  <a:solidFill>
                    <a:srgbClr val="CC3300"/>
                  </a:solidFill>
                </a:endParaRPr>
              </a:p>
            </p:txBody>
          </p:sp>
          <p:sp>
            <p:nvSpPr>
              <p:cNvPr id="95260" name="Text Box 80" descr="75%"/>
              <p:cNvSpPr txBox="1"/>
              <p:nvPr/>
            </p:nvSpPr>
            <p:spPr>
              <a:xfrm>
                <a:off x="1248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CC3300"/>
                    </a:solidFill>
                  </a:rPr>
                  <a:t>0</a:t>
                </a:r>
                <a:endParaRPr lang="en-US" altLang="zh-CN" sz="2400" b="1" dirty="0">
                  <a:solidFill>
                    <a:srgbClr val="CC3300"/>
                  </a:solidFill>
                </a:endParaRPr>
              </a:p>
            </p:txBody>
          </p:sp>
        </p:grpSp>
        <p:sp>
          <p:nvSpPr>
            <p:cNvPr id="95257" name="Text Box 83" descr="75%"/>
            <p:cNvSpPr txBox="1"/>
            <p:nvPr/>
          </p:nvSpPr>
          <p:spPr>
            <a:xfrm>
              <a:off x="1680" y="235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1</a:t>
              </a:r>
              <a:endParaRPr lang="en-US" altLang="zh-CN" sz="3600" b="1" dirty="0">
                <a:solidFill>
                  <a:srgbClr val="CC3300"/>
                </a:solidFill>
              </a:endParaRPr>
            </a:p>
          </p:txBody>
        </p:sp>
      </p:grpSp>
      <p:grpSp>
        <p:nvGrpSpPr>
          <p:cNvPr id="17" name="Group 96"/>
          <p:cNvGrpSpPr/>
          <p:nvPr/>
        </p:nvGrpSpPr>
        <p:grpSpPr>
          <a:xfrm>
            <a:off x="914400" y="4343400"/>
            <a:ext cx="2089150" cy="457200"/>
            <a:chOff x="576" y="2736"/>
            <a:chExt cx="1316" cy="288"/>
          </a:xfrm>
        </p:grpSpPr>
        <p:sp>
          <p:nvSpPr>
            <p:cNvPr id="95251" name="Text Box 81" descr="75%"/>
            <p:cNvSpPr txBox="1"/>
            <p:nvPr/>
          </p:nvSpPr>
          <p:spPr>
            <a:xfrm>
              <a:off x="1680" y="273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1</a:t>
              </a:r>
              <a:endParaRPr lang="en-US" altLang="zh-CN" sz="3600" b="1" dirty="0">
                <a:solidFill>
                  <a:srgbClr val="CC3300"/>
                </a:solidFill>
              </a:endParaRPr>
            </a:p>
          </p:txBody>
        </p:sp>
        <p:grpSp>
          <p:nvGrpSpPr>
            <p:cNvPr id="95252" name="Group 88"/>
            <p:cNvGrpSpPr/>
            <p:nvPr/>
          </p:nvGrpSpPr>
          <p:grpSpPr>
            <a:xfrm>
              <a:off x="576" y="2736"/>
              <a:ext cx="808" cy="288"/>
              <a:chOff x="652" y="2064"/>
              <a:chExt cx="808" cy="288"/>
            </a:xfrm>
          </p:grpSpPr>
          <p:sp>
            <p:nvSpPr>
              <p:cNvPr id="95253" name="Text Box 89" descr="75%"/>
              <p:cNvSpPr txBox="1"/>
              <p:nvPr/>
            </p:nvSpPr>
            <p:spPr>
              <a:xfrm>
                <a:off x="652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CC3300"/>
                    </a:solidFill>
                  </a:rPr>
                  <a:t>1</a:t>
                </a:r>
                <a:endParaRPr lang="en-US" altLang="zh-CN" sz="2400" b="1" dirty="0">
                  <a:solidFill>
                    <a:srgbClr val="CC3300"/>
                  </a:solidFill>
                </a:endParaRPr>
              </a:p>
            </p:txBody>
          </p:sp>
          <p:sp>
            <p:nvSpPr>
              <p:cNvPr id="95254" name="Text Box 90" descr="75%"/>
              <p:cNvSpPr txBox="1"/>
              <p:nvPr/>
            </p:nvSpPr>
            <p:spPr>
              <a:xfrm>
                <a:off x="960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CC3300"/>
                    </a:solidFill>
                  </a:rPr>
                  <a:t>0</a:t>
                </a:r>
                <a:endParaRPr lang="en-US" altLang="zh-CN" sz="2400" b="1" dirty="0">
                  <a:solidFill>
                    <a:srgbClr val="CC3300"/>
                  </a:solidFill>
                </a:endParaRPr>
              </a:p>
            </p:txBody>
          </p:sp>
          <p:sp>
            <p:nvSpPr>
              <p:cNvPr id="95255" name="Text Box 91" descr="75%"/>
              <p:cNvSpPr txBox="1"/>
              <p:nvPr/>
            </p:nvSpPr>
            <p:spPr>
              <a:xfrm>
                <a:off x="1248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CC3300"/>
                    </a:solidFill>
                  </a:rPr>
                  <a:t>0</a:t>
                </a:r>
                <a:endParaRPr lang="en-US" altLang="zh-CN" sz="2400" b="1" dirty="0">
                  <a:solidFill>
                    <a:srgbClr val="CC3300"/>
                  </a:solidFill>
                </a:endParaRPr>
              </a:p>
            </p:txBody>
          </p:sp>
        </p:grpSp>
      </p:grpSp>
      <p:grpSp>
        <p:nvGrpSpPr>
          <p:cNvPr id="19" name="Group 100"/>
          <p:cNvGrpSpPr/>
          <p:nvPr/>
        </p:nvGrpSpPr>
        <p:grpSpPr>
          <a:xfrm>
            <a:off x="914400" y="4038600"/>
            <a:ext cx="2089150" cy="457200"/>
            <a:chOff x="576" y="2544"/>
            <a:chExt cx="1316" cy="288"/>
          </a:xfrm>
        </p:grpSpPr>
        <p:sp>
          <p:nvSpPr>
            <p:cNvPr id="95247" name="Text Box 82" descr="75%"/>
            <p:cNvSpPr txBox="1"/>
            <p:nvPr/>
          </p:nvSpPr>
          <p:spPr>
            <a:xfrm>
              <a:off x="1680" y="254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1</a:t>
              </a:r>
              <a:endParaRPr lang="en-US" altLang="zh-CN" sz="3600" b="1" dirty="0">
                <a:solidFill>
                  <a:srgbClr val="CC3300"/>
                </a:solidFill>
              </a:endParaRPr>
            </a:p>
          </p:txBody>
        </p:sp>
        <p:sp>
          <p:nvSpPr>
            <p:cNvPr id="95248" name="Text Box 86" descr="75%"/>
            <p:cNvSpPr txBox="1"/>
            <p:nvPr/>
          </p:nvSpPr>
          <p:spPr>
            <a:xfrm>
              <a:off x="884" y="254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1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  <p:sp>
          <p:nvSpPr>
            <p:cNvPr id="95249" name="Text Box 87" descr="75%"/>
            <p:cNvSpPr txBox="1"/>
            <p:nvPr/>
          </p:nvSpPr>
          <p:spPr>
            <a:xfrm>
              <a:off x="1180" y="254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1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  <p:sp>
          <p:nvSpPr>
            <p:cNvPr id="95250" name="Text Box 99" descr="75%"/>
            <p:cNvSpPr txBox="1"/>
            <p:nvPr/>
          </p:nvSpPr>
          <p:spPr>
            <a:xfrm>
              <a:off x="576" y="254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0</a:t>
              </a:r>
              <a:endParaRPr lang="en-US" altLang="zh-CN" sz="3600" b="1" dirty="0">
                <a:solidFill>
                  <a:srgbClr val="CC3300"/>
                </a:solidFill>
              </a:endParaRPr>
            </a:p>
          </p:txBody>
        </p:sp>
      </p:grpSp>
      <p:sp>
        <p:nvSpPr>
          <p:cNvPr id="95245" name="Text Box 102"/>
          <p:cNvSpPr txBox="1"/>
          <p:nvPr/>
        </p:nvSpPr>
        <p:spPr>
          <a:xfrm>
            <a:off x="533400" y="304800"/>
            <a:ext cx="3429000" cy="64135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Left">
              <a:rot lat="0" lon="0" rev="0"/>
            </a:camera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CC0000"/>
                </a:solidFill>
                <a:ea typeface="隶书" panose="02010509060101010101" pitchFamily="49" charset="-122"/>
              </a:rPr>
              <a:t>图形法化简函数</a:t>
            </a:r>
            <a:endParaRPr lang="zh-CN" altLang="en-US" sz="3600" b="1" dirty="0">
              <a:solidFill>
                <a:srgbClr val="CC0000"/>
              </a:solidFill>
              <a:ea typeface="隶书" panose="02010509060101010101" pitchFamily="49" charset="-122"/>
            </a:endParaRPr>
          </a:p>
        </p:txBody>
      </p:sp>
      <p:pic>
        <p:nvPicPr>
          <p:cNvPr id="75879" name="Picture 103" descr="ag001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6172200"/>
            <a:ext cx="990600" cy="517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4" grpId="0" animBg="1"/>
      <p:bldP spid="75780" grpId="0"/>
      <p:bldP spid="75847" grpId="0"/>
      <p:bldP spid="75848" grpId="0"/>
      <p:bldP spid="75849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8" name="Rectangle 3" descr="75%"/>
          <p:cNvSpPr/>
          <p:nvPr/>
        </p:nvSpPr>
        <p:spPr>
          <a:xfrm>
            <a:off x="609600" y="1371600"/>
            <a:ext cx="8001000" cy="4572000"/>
          </a:xfrm>
          <a:prstGeom prst="rect">
            <a:avLst/>
          </a:prstGeom>
          <a:noFill/>
          <a:ln w="38100" cap="flat" cmpd="sng">
            <a:pattFill prst="pct75">
              <a:fgClr>
                <a:srgbClr val="33CCCC"/>
              </a:fgClr>
              <a:bgClr>
                <a:srgbClr val="FFFFFF"/>
              </a:bgClr>
            </a:patt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77828" name="Text Box 4" descr="75%"/>
          <p:cNvSpPr txBox="1"/>
          <p:nvPr/>
        </p:nvSpPr>
        <p:spPr>
          <a:xfrm>
            <a:off x="654050" y="1524000"/>
            <a:ext cx="803275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例：图中给出输入变量</a:t>
            </a:r>
            <a:r>
              <a:rPr lang="en-US" altLang="zh-CN" sz="2400" b="1" dirty="0">
                <a:solidFill>
                  <a:schemeClr val="tx2"/>
                </a:solidFill>
              </a:rPr>
              <a:t>A</a:t>
            </a:r>
            <a:r>
              <a:rPr lang="zh-CN" altLang="en-US" sz="2400" b="1" dirty="0">
                <a:solidFill>
                  <a:schemeClr val="tx2"/>
                </a:solidFill>
              </a:rPr>
              <a:t>、</a:t>
            </a:r>
            <a:r>
              <a:rPr lang="en-US" altLang="zh-CN" sz="2400" b="1" dirty="0">
                <a:solidFill>
                  <a:schemeClr val="tx2"/>
                </a:solidFill>
              </a:rPr>
              <a:t>B</a:t>
            </a:r>
            <a:r>
              <a:rPr lang="zh-CN" altLang="en-US" sz="2400" b="1" dirty="0">
                <a:solidFill>
                  <a:schemeClr val="tx2"/>
                </a:solidFill>
              </a:rPr>
              <a:t>、</a:t>
            </a:r>
            <a:r>
              <a:rPr lang="en-US" altLang="zh-CN" sz="2400" b="1" dirty="0">
                <a:solidFill>
                  <a:schemeClr val="tx2"/>
                </a:solidFill>
              </a:rPr>
              <a:t>C</a:t>
            </a:r>
            <a:r>
              <a:rPr lang="zh-CN" altLang="en-US" sz="2400" b="1" dirty="0">
                <a:solidFill>
                  <a:schemeClr val="tx2"/>
                </a:solidFill>
              </a:rPr>
              <a:t>的真值表，填写函数的卡诺图</a:t>
            </a:r>
            <a:endParaRPr lang="zh-CN" altLang="en-US" sz="3600" b="1" dirty="0">
              <a:solidFill>
                <a:schemeClr val="tx2"/>
              </a:solidFill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762000" y="2590800"/>
            <a:ext cx="2439988" cy="3200400"/>
            <a:chOff x="575" y="1632"/>
            <a:chExt cx="1537" cy="2016"/>
          </a:xfrm>
        </p:grpSpPr>
        <p:sp>
          <p:nvSpPr>
            <p:cNvPr id="96310" name="Rectangle 6" descr="75%"/>
            <p:cNvSpPr/>
            <p:nvPr/>
          </p:nvSpPr>
          <p:spPr>
            <a:xfrm>
              <a:off x="576" y="1632"/>
              <a:ext cx="1536" cy="201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96311" name="Line 7"/>
            <p:cNvSpPr/>
            <p:nvPr/>
          </p:nvSpPr>
          <p:spPr>
            <a:xfrm>
              <a:off x="575" y="1967"/>
              <a:ext cx="1537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6312" name="Text Box 8" descr="75%"/>
            <p:cNvSpPr txBox="1"/>
            <p:nvPr/>
          </p:nvSpPr>
          <p:spPr>
            <a:xfrm>
              <a:off x="672" y="1680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A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96313" name="Text Box 9" descr="75%"/>
            <p:cNvSpPr txBox="1"/>
            <p:nvPr/>
          </p:nvSpPr>
          <p:spPr>
            <a:xfrm>
              <a:off x="965" y="1680"/>
              <a:ext cx="2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B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96314" name="Text Box 10" descr="75%"/>
            <p:cNvSpPr txBox="1"/>
            <p:nvPr/>
          </p:nvSpPr>
          <p:spPr>
            <a:xfrm>
              <a:off x="1248" y="1680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C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96315" name="Text Box 11" descr="75%"/>
            <p:cNvSpPr txBox="1"/>
            <p:nvPr/>
          </p:nvSpPr>
          <p:spPr>
            <a:xfrm>
              <a:off x="1739" y="1680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F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grpSp>
          <p:nvGrpSpPr>
            <p:cNvPr id="96316" name="Group 12"/>
            <p:cNvGrpSpPr/>
            <p:nvPr/>
          </p:nvGrpSpPr>
          <p:grpSpPr>
            <a:xfrm>
              <a:off x="652" y="1968"/>
              <a:ext cx="808" cy="288"/>
              <a:chOff x="652" y="2064"/>
              <a:chExt cx="808" cy="288"/>
            </a:xfrm>
          </p:grpSpPr>
          <p:sp>
            <p:nvSpPr>
              <p:cNvPr id="96354" name="Text Box 13" descr="75%"/>
              <p:cNvSpPr txBox="1"/>
              <p:nvPr/>
            </p:nvSpPr>
            <p:spPr>
              <a:xfrm>
                <a:off x="652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0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6355" name="Text Box 14" descr="75%"/>
              <p:cNvSpPr txBox="1"/>
              <p:nvPr/>
            </p:nvSpPr>
            <p:spPr>
              <a:xfrm>
                <a:off x="960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0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6356" name="Text Box 15" descr="75%"/>
              <p:cNvSpPr txBox="1"/>
              <p:nvPr/>
            </p:nvSpPr>
            <p:spPr>
              <a:xfrm>
                <a:off x="1248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0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96317" name="Group 16"/>
            <p:cNvGrpSpPr/>
            <p:nvPr/>
          </p:nvGrpSpPr>
          <p:grpSpPr>
            <a:xfrm>
              <a:off x="608" y="2160"/>
              <a:ext cx="856" cy="288"/>
              <a:chOff x="628" y="2064"/>
              <a:chExt cx="856" cy="288"/>
            </a:xfrm>
          </p:grpSpPr>
          <p:sp>
            <p:nvSpPr>
              <p:cNvPr id="96351" name="Text Box 17" descr="75%"/>
              <p:cNvSpPr txBox="1"/>
              <p:nvPr/>
            </p:nvSpPr>
            <p:spPr>
              <a:xfrm>
                <a:off x="628" y="2064"/>
                <a:ext cx="26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 0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6352" name="Text Box 18" descr="75%"/>
              <p:cNvSpPr txBox="1"/>
              <p:nvPr/>
            </p:nvSpPr>
            <p:spPr>
              <a:xfrm>
                <a:off x="936" y="2064"/>
                <a:ext cx="26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 0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6353" name="Text Box 19" descr="75%"/>
              <p:cNvSpPr txBox="1"/>
              <p:nvPr/>
            </p:nvSpPr>
            <p:spPr>
              <a:xfrm>
                <a:off x="1224" y="2064"/>
                <a:ext cx="26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 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96318" name="Group 20"/>
            <p:cNvGrpSpPr/>
            <p:nvPr/>
          </p:nvGrpSpPr>
          <p:grpSpPr>
            <a:xfrm>
              <a:off x="624" y="2352"/>
              <a:ext cx="832" cy="288"/>
              <a:chOff x="628" y="2064"/>
              <a:chExt cx="832" cy="288"/>
            </a:xfrm>
          </p:grpSpPr>
          <p:sp>
            <p:nvSpPr>
              <p:cNvPr id="96348" name="Text Box 21" descr="75%"/>
              <p:cNvSpPr txBox="1"/>
              <p:nvPr/>
            </p:nvSpPr>
            <p:spPr>
              <a:xfrm>
                <a:off x="628" y="2064"/>
                <a:ext cx="26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 0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6349" name="Text Box 22" descr="75%"/>
              <p:cNvSpPr txBox="1"/>
              <p:nvPr/>
            </p:nvSpPr>
            <p:spPr>
              <a:xfrm>
                <a:off x="960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6350" name="Text Box 23" descr="75%"/>
              <p:cNvSpPr txBox="1"/>
              <p:nvPr/>
            </p:nvSpPr>
            <p:spPr>
              <a:xfrm>
                <a:off x="1248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0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96319" name="Group 24"/>
            <p:cNvGrpSpPr/>
            <p:nvPr/>
          </p:nvGrpSpPr>
          <p:grpSpPr>
            <a:xfrm>
              <a:off x="680" y="2544"/>
              <a:ext cx="808" cy="288"/>
              <a:chOff x="652" y="2064"/>
              <a:chExt cx="808" cy="288"/>
            </a:xfrm>
          </p:grpSpPr>
          <p:sp>
            <p:nvSpPr>
              <p:cNvPr id="96345" name="Text Box 25" descr="75%"/>
              <p:cNvSpPr txBox="1"/>
              <p:nvPr/>
            </p:nvSpPr>
            <p:spPr>
              <a:xfrm>
                <a:off x="652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0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6346" name="Text Box 26" descr="75%"/>
              <p:cNvSpPr txBox="1"/>
              <p:nvPr/>
            </p:nvSpPr>
            <p:spPr>
              <a:xfrm>
                <a:off x="960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6347" name="Text Box 27" descr="75%"/>
              <p:cNvSpPr txBox="1"/>
              <p:nvPr/>
            </p:nvSpPr>
            <p:spPr>
              <a:xfrm>
                <a:off x="1248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96320" name="Group 28"/>
            <p:cNvGrpSpPr/>
            <p:nvPr/>
          </p:nvGrpSpPr>
          <p:grpSpPr>
            <a:xfrm>
              <a:off x="672" y="2736"/>
              <a:ext cx="808" cy="288"/>
              <a:chOff x="652" y="2064"/>
              <a:chExt cx="808" cy="288"/>
            </a:xfrm>
          </p:grpSpPr>
          <p:sp>
            <p:nvSpPr>
              <p:cNvPr id="96342" name="Text Box 29" descr="75%"/>
              <p:cNvSpPr txBox="1"/>
              <p:nvPr/>
            </p:nvSpPr>
            <p:spPr>
              <a:xfrm>
                <a:off x="652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6343" name="Text Box 30" descr="75%"/>
              <p:cNvSpPr txBox="1"/>
              <p:nvPr/>
            </p:nvSpPr>
            <p:spPr>
              <a:xfrm>
                <a:off x="960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0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6344" name="Text Box 31" descr="75%"/>
              <p:cNvSpPr txBox="1"/>
              <p:nvPr/>
            </p:nvSpPr>
            <p:spPr>
              <a:xfrm>
                <a:off x="1248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0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96321" name="Group 32"/>
            <p:cNvGrpSpPr/>
            <p:nvPr/>
          </p:nvGrpSpPr>
          <p:grpSpPr>
            <a:xfrm>
              <a:off x="672" y="2928"/>
              <a:ext cx="808" cy="288"/>
              <a:chOff x="652" y="2064"/>
              <a:chExt cx="808" cy="288"/>
            </a:xfrm>
          </p:grpSpPr>
          <p:sp>
            <p:nvSpPr>
              <p:cNvPr id="96339" name="Text Box 33" descr="75%"/>
              <p:cNvSpPr txBox="1"/>
              <p:nvPr/>
            </p:nvSpPr>
            <p:spPr>
              <a:xfrm>
                <a:off x="652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6340" name="Text Box 34" descr="75%"/>
              <p:cNvSpPr txBox="1"/>
              <p:nvPr/>
            </p:nvSpPr>
            <p:spPr>
              <a:xfrm>
                <a:off x="960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0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6341" name="Text Box 35" descr="75%"/>
              <p:cNvSpPr txBox="1"/>
              <p:nvPr/>
            </p:nvSpPr>
            <p:spPr>
              <a:xfrm>
                <a:off x="1248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96322" name="Group 36"/>
            <p:cNvGrpSpPr/>
            <p:nvPr/>
          </p:nvGrpSpPr>
          <p:grpSpPr>
            <a:xfrm>
              <a:off x="672" y="3120"/>
              <a:ext cx="808" cy="288"/>
              <a:chOff x="652" y="2064"/>
              <a:chExt cx="808" cy="288"/>
            </a:xfrm>
          </p:grpSpPr>
          <p:sp>
            <p:nvSpPr>
              <p:cNvPr id="96336" name="Text Box 37" descr="75%"/>
              <p:cNvSpPr txBox="1"/>
              <p:nvPr/>
            </p:nvSpPr>
            <p:spPr>
              <a:xfrm>
                <a:off x="652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6337" name="Text Box 38" descr="75%"/>
              <p:cNvSpPr txBox="1"/>
              <p:nvPr/>
            </p:nvSpPr>
            <p:spPr>
              <a:xfrm>
                <a:off x="960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6338" name="Text Box 39" descr="75%"/>
              <p:cNvSpPr txBox="1"/>
              <p:nvPr/>
            </p:nvSpPr>
            <p:spPr>
              <a:xfrm>
                <a:off x="1248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0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96323" name="Group 40"/>
            <p:cNvGrpSpPr/>
            <p:nvPr/>
          </p:nvGrpSpPr>
          <p:grpSpPr>
            <a:xfrm>
              <a:off x="672" y="3360"/>
              <a:ext cx="808" cy="288"/>
              <a:chOff x="652" y="2064"/>
              <a:chExt cx="808" cy="288"/>
            </a:xfrm>
          </p:grpSpPr>
          <p:sp>
            <p:nvSpPr>
              <p:cNvPr id="96333" name="Text Box 41" descr="75%"/>
              <p:cNvSpPr txBox="1"/>
              <p:nvPr/>
            </p:nvSpPr>
            <p:spPr>
              <a:xfrm>
                <a:off x="652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6334" name="Text Box 42" descr="75%"/>
              <p:cNvSpPr txBox="1"/>
              <p:nvPr/>
            </p:nvSpPr>
            <p:spPr>
              <a:xfrm>
                <a:off x="960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6335" name="Text Box 43" descr="75%"/>
              <p:cNvSpPr txBox="1"/>
              <p:nvPr/>
            </p:nvSpPr>
            <p:spPr>
              <a:xfrm>
                <a:off x="1248" y="2064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96324" name="Line 44"/>
            <p:cNvSpPr/>
            <p:nvPr/>
          </p:nvSpPr>
          <p:spPr>
            <a:xfrm>
              <a:off x="1680" y="1632"/>
              <a:ext cx="0" cy="20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6325" name="Text Box 45" descr="75%"/>
            <p:cNvSpPr txBox="1"/>
            <p:nvPr/>
          </p:nvSpPr>
          <p:spPr>
            <a:xfrm>
              <a:off x="1776" y="196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6326" name="Text Box 46" descr="75%"/>
            <p:cNvSpPr txBox="1"/>
            <p:nvPr/>
          </p:nvSpPr>
          <p:spPr>
            <a:xfrm>
              <a:off x="1776" y="216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6327" name="Text Box 47" descr="75%"/>
            <p:cNvSpPr txBox="1"/>
            <p:nvPr/>
          </p:nvSpPr>
          <p:spPr>
            <a:xfrm>
              <a:off x="1776" y="235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6328" name="Text Box 48" descr="75%"/>
            <p:cNvSpPr txBox="1"/>
            <p:nvPr/>
          </p:nvSpPr>
          <p:spPr>
            <a:xfrm>
              <a:off x="1776" y="254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6329" name="Text Box 49" descr="75%"/>
            <p:cNvSpPr txBox="1"/>
            <p:nvPr/>
          </p:nvSpPr>
          <p:spPr>
            <a:xfrm>
              <a:off x="1776" y="2736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6330" name="Text Box 50" descr="75%"/>
            <p:cNvSpPr txBox="1"/>
            <p:nvPr/>
          </p:nvSpPr>
          <p:spPr>
            <a:xfrm>
              <a:off x="1776" y="292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6331" name="Text Box 51" descr="75%"/>
            <p:cNvSpPr txBox="1"/>
            <p:nvPr/>
          </p:nvSpPr>
          <p:spPr>
            <a:xfrm>
              <a:off x="1776" y="312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6332" name="Text Box 52" descr="75%"/>
            <p:cNvSpPr txBox="1"/>
            <p:nvPr/>
          </p:nvSpPr>
          <p:spPr>
            <a:xfrm>
              <a:off x="1776" y="336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1" name="Group 53"/>
          <p:cNvGrpSpPr/>
          <p:nvPr/>
        </p:nvGrpSpPr>
        <p:grpSpPr>
          <a:xfrm>
            <a:off x="3894138" y="2209800"/>
            <a:ext cx="2976562" cy="1828800"/>
            <a:chOff x="2453" y="1392"/>
            <a:chExt cx="1875" cy="1152"/>
          </a:xfrm>
        </p:grpSpPr>
        <p:grpSp>
          <p:nvGrpSpPr>
            <p:cNvPr id="96294" name="Group 54"/>
            <p:cNvGrpSpPr/>
            <p:nvPr/>
          </p:nvGrpSpPr>
          <p:grpSpPr>
            <a:xfrm>
              <a:off x="2600" y="1632"/>
              <a:ext cx="1728" cy="912"/>
              <a:chOff x="336" y="2976"/>
              <a:chExt cx="1728" cy="912"/>
            </a:xfrm>
          </p:grpSpPr>
          <p:sp>
            <p:nvSpPr>
              <p:cNvPr id="96303" name="Line 55"/>
              <p:cNvSpPr/>
              <p:nvPr/>
            </p:nvSpPr>
            <p:spPr>
              <a:xfrm>
                <a:off x="528" y="3552"/>
                <a:ext cx="15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96304" name="Group 56"/>
              <p:cNvGrpSpPr/>
              <p:nvPr/>
            </p:nvGrpSpPr>
            <p:grpSpPr>
              <a:xfrm>
                <a:off x="336" y="2976"/>
                <a:ext cx="1728" cy="912"/>
                <a:chOff x="336" y="2976"/>
                <a:chExt cx="1728" cy="912"/>
              </a:xfrm>
            </p:grpSpPr>
            <p:sp>
              <p:nvSpPr>
                <p:cNvPr id="96305" name="Rectangle 57"/>
                <p:cNvSpPr/>
                <p:nvPr/>
              </p:nvSpPr>
              <p:spPr>
                <a:xfrm>
                  <a:off x="528" y="3216"/>
                  <a:ext cx="1536" cy="672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96306" name="Line 58"/>
                <p:cNvSpPr/>
                <p:nvPr/>
              </p:nvSpPr>
              <p:spPr>
                <a:xfrm>
                  <a:off x="912" y="3216"/>
                  <a:ext cx="0" cy="67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6307" name="Line 59"/>
                <p:cNvSpPr/>
                <p:nvPr/>
              </p:nvSpPr>
              <p:spPr>
                <a:xfrm>
                  <a:off x="1296" y="3216"/>
                  <a:ext cx="0" cy="67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6308" name="Line 60"/>
                <p:cNvSpPr/>
                <p:nvPr/>
              </p:nvSpPr>
              <p:spPr>
                <a:xfrm>
                  <a:off x="1680" y="3216"/>
                  <a:ext cx="0" cy="67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6309" name="Line 61"/>
                <p:cNvSpPr/>
                <p:nvPr/>
              </p:nvSpPr>
              <p:spPr>
                <a:xfrm>
                  <a:off x="336" y="2976"/>
                  <a:ext cx="192" cy="24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96295" name="Text Box 62"/>
            <p:cNvSpPr txBox="1"/>
            <p:nvPr/>
          </p:nvSpPr>
          <p:spPr>
            <a:xfrm>
              <a:off x="2453" y="1680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A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6296" name="Text Box 63"/>
            <p:cNvSpPr txBox="1"/>
            <p:nvPr/>
          </p:nvSpPr>
          <p:spPr>
            <a:xfrm>
              <a:off x="2688" y="1392"/>
              <a:ext cx="3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BC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6297" name="Text Box 64"/>
            <p:cNvSpPr txBox="1"/>
            <p:nvPr/>
          </p:nvSpPr>
          <p:spPr>
            <a:xfrm>
              <a:off x="2552" y="187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6298" name="Text Box 65"/>
            <p:cNvSpPr txBox="1"/>
            <p:nvPr/>
          </p:nvSpPr>
          <p:spPr>
            <a:xfrm>
              <a:off x="2552" y="220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6299" name="Text Box 66"/>
            <p:cNvSpPr txBox="1"/>
            <p:nvPr/>
          </p:nvSpPr>
          <p:spPr>
            <a:xfrm>
              <a:off x="2792" y="1632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6300" name="Text Box 67"/>
            <p:cNvSpPr txBox="1"/>
            <p:nvPr/>
          </p:nvSpPr>
          <p:spPr>
            <a:xfrm>
              <a:off x="3176" y="1632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01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6301" name="Text Box 68"/>
            <p:cNvSpPr txBox="1"/>
            <p:nvPr/>
          </p:nvSpPr>
          <p:spPr>
            <a:xfrm>
              <a:off x="3560" y="1632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11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6302" name="Text Box 69"/>
            <p:cNvSpPr txBox="1"/>
            <p:nvPr/>
          </p:nvSpPr>
          <p:spPr>
            <a:xfrm>
              <a:off x="3944" y="1632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77894" name="Text Box 70"/>
          <p:cNvSpPr txBox="1"/>
          <p:nvPr/>
        </p:nvSpPr>
        <p:spPr>
          <a:xfrm>
            <a:off x="6356350" y="2971800"/>
            <a:ext cx="412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1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7895" name="Text Box 71"/>
          <p:cNvSpPr txBox="1"/>
          <p:nvPr/>
        </p:nvSpPr>
        <p:spPr>
          <a:xfrm>
            <a:off x="5746750" y="2971800"/>
            <a:ext cx="412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1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sp>
        <p:nvSpPr>
          <p:cNvPr id="77896" name="Text Box 72"/>
          <p:cNvSpPr txBox="1"/>
          <p:nvPr/>
        </p:nvSpPr>
        <p:spPr>
          <a:xfrm>
            <a:off x="4572000" y="35052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</a:t>
            </a:r>
            <a:endParaRPr lang="en-US" altLang="zh-CN" sz="3600" b="1" dirty="0">
              <a:solidFill>
                <a:schemeClr val="tx2"/>
              </a:solidFill>
            </a:endParaRPr>
          </a:p>
        </p:txBody>
      </p:sp>
      <p:grpSp>
        <p:nvGrpSpPr>
          <p:cNvPr id="14" name="Group 73"/>
          <p:cNvGrpSpPr/>
          <p:nvPr/>
        </p:nvGrpSpPr>
        <p:grpSpPr>
          <a:xfrm>
            <a:off x="4572000" y="2971800"/>
            <a:ext cx="2197100" cy="990600"/>
            <a:chOff x="2880" y="1872"/>
            <a:chExt cx="1384" cy="624"/>
          </a:xfrm>
        </p:grpSpPr>
        <p:sp>
          <p:nvSpPr>
            <p:cNvPr id="96289" name="Text Box 74"/>
            <p:cNvSpPr txBox="1"/>
            <p:nvPr/>
          </p:nvSpPr>
          <p:spPr>
            <a:xfrm>
              <a:off x="2880" y="187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6290" name="Text Box 75"/>
            <p:cNvSpPr txBox="1"/>
            <p:nvPr/>
          </p:nvSpPr>
          <p:spPr>
            <a:xfrm>
              <a:off x="3236" y="1872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6291" name="Text Box 76"/>
            <p:cNvSpPr txBox="1"/>
            <p:nvPr/>
          </p:nvSpPr>
          <p:spPr>
            <a:xfrm>
              <a:off x="3236" y="2208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6292" name="Text Box 77"/>
            <p:cNvSpPr txBox="1"/>
            <p:nvPr/>
          </p:nvSpPr>
          <p:spPr>
            <a:xfrm>
              <a:off x="4004" y="2208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sp>
          <p:nvSpPr>
            <p:cNvPr id="96293" name="Text Box 78"/>
            <p:cNvSpPr txBox="1"/>
            <p:nvPr/>
          </p:nvSpPr>
          <p:spPr>
            <a:xfrm>
              <a:off x="3624" y="2208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 0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77920" name="Rectangle 96" descr="75%"/>
          <p:cNvSpPr/>
          <p:nvPr/>
        </p:nvSpPr>
        <p:spPr>
          <a:xfrm>
            <a:off x="4495800" y="3581400"/>
            <a:ext cx="457200" cy="381000"/>
          </a:xfrm>
          <a:prstGeom prst="rect">
            <a:avLst/>
          </a:prstGeom>
          <a:noFill/>
          <a:ln w="38100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77921" name="Rectangle 97" descr="75%"/>
          <p:cNvSpPr/>
          <p:nvPr/>
        </p:nvSpPr>
        <p:spPr>
          <a:xfrm>
            <a:off x="5867400" y="3048000"/>
            <a:ext cx="838200" cy="304800"/>
          </a:xfrm>
          <a:prstGeom prst="rect">
            <a:avLst/>
          </a:prstGeom>
          <a:noFill/>
          <a:ln w="38100" cap="flat" cmpd="sng">
            <a:solidFill>
              <a:srgbClr val="0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77922" name="Line 98"/>
          <p:cNvSpPr/>
          <p:nvPr/>
        </p:nvSpPr>
        <p:spPr>
          <a:xfrm>
            <a:off x="6705600" y="3200400"/>
            <a:ext cx="457200" cy="0"/>
          </a:xfrm>
          <a:prstGeom prst="line">
            <a:avLst/>
          </a:prstGeom>
          <a:ln w="38100" cap="flat" cmpd="sng">
            <a:solidFill>
              <a:srgbClr val="00808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5" name="Group 101"/>
          <p:cNvGrpSpPr/>
          <p:nvPr/>
        </p:nvGrpSpPr>
        <p:grpSpPr>
          <a:xfrm>
            <a:off x="7162800" y="2971800"/>
            <a:ext cx="608013" cy="457200"/>
            <a:chOff x="4512" y="1872"/>
            <a:chExt cx="383" cy="288"/>
          </a:xfrm>
        </p:grpSpPr>
        <p:sp>
          <p:nvSpPr>
            <p:cNvPr id="96287" name="Text Box 99" descr="75%"/>
            <p:cNvSpPr txBox="1"/>
            <p:nvPr/>
          </p:nvSpPr>
          <p:spPr>
            <a:xfrm>
              <a:off x="4512" y="1872"/>
              <a:ext cx="3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AB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96288" name="Line 100"/>
            <p:cNvSpPr/>
            <p:nvPr/>
          </p:nvSpPr>
          <p:spPr>
            <a:xfrm>
              <a:off x="4608" y="1920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7926" name="Line 102"/>
          <p:cNvSpPr/>
          <p:nvPr/>
        </p:nvSpPr>
        <p:spPr>
          <a:xfrm>
            <a:off x="4724400" y="3962400"/>
            <a:ext cx="0" cy="381000"/>
          </a:xfrm>
          <a:prstGeom prst="line">
            <a:avLst/>
          </a:prstGeom>
          <a:ln w="3810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6" name="Group 106"/>
          <p:cNvGrpSpPr/>
          <p:nvPr/>
        </p:nvGrpSpPr>
        <p:grpSpPr>
          <a:xfrm>
            <a:off x="4276725" y="4419600"/>
            <a:ext cx="828675" cy="457200"/>
            <a:chOff x="2620" y="2832"/>
            <a:chExt cx="522" cy="288"/>
          </a:xfrm>
        </p:grpSpPr>
        <p:sp>
          <p:nvSpPr>
            <p:cNvPr id="96284" name="Text Box 103" descr="75%"/>
            <p:cNvSpPr txBox="1"/>
            <p:nvPr/>
          </p:nvSpPr>
          <p:spPr>
            <a:xfrm>
              <a:off x="2620" y="2832"/>
              <a:ext cx="52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ABC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96285" name="Line 104"/>
            <p:cNvSpPr/>
            <p:nvPr/>
          </p:nvSpPr>
          <p:spPr>
            <a:xfrm>
              <a:off x="2832" y="2880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6286" name="Line 105"/>
            <p:cNvSpPr/>
            <p:nvPr/>
          </p:nvSpPr>
          <p:spPr>
            <a:xfrm>
              <a:off x="2688" y="2880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7931" name="Text Box 107" descr="75%"/>
          <p:cNvSpPr txBox="1"/>
          <p:nvPr/>
        </p:nvSpPr>
        <p:spPr>
          <a:xfrm>
            <a:off x="3962400" y="5029200"/>
            <a:ext cx="5429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F=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grpSp>
        <p:nvGrpSpPr>
          <p:cNvPr id="17" name="Group 108"/>
          <p:cNvGrpSpPr/>
          <p:nvPr/>
        </p:nvGrpSpPr>
        <p:grpSpPr>
          <a:xfrm>
            <a:off x="4429125" y="5029200"/>
            <a:ext cx="828675" cy="457200"/>
            <a:chOff x="2620" y="2832"/>
            <a:chExt cx="522" cy="288"/>
          </a:xfrm>
        </p:grpSpPr>
        <p:sp>
          <p:nvSpPr>
            <p:cNvPr id="96281" name="Text Box 109" descr="75%"/>
            <p:cNvSpPr txBox="1"/>
            <p:nvPr/>
          </p:nvSpPr>
          <p:spPr>
            <a:xfrm>
              <a:off x="2620" y="2832"/>
              <a:ext cx="52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ABC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96282" name="Line 110"/>
            <p:cNvSpPr/>
            <p:nvPr/>
          </p:nvSpPr>
          <p:spPr>
            <a:xfrm>
              <a:off x="2832" y="2880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6283" name="Line 111"/>
            <p:cNvSpPr/>
            <p:nvPr/>
          </p:nvSpPr>
          <p:spPr>
            <a:xfrm>
              <a:off x="2688" y="2880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7936" name="Text Box 112" descr="75%"/>
          <p:cNvSpPr txBox="1"/>
          <p:nvPr/>
        </p:nvSpPr>
        <p:spPr>
          <a:xfrm>
            <a:off x="5232400" y="5029200"/>
            <a:ext cx="3571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+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grpSp>
        <p:nvGrpSpPr>
          <p:cNvPr id="18" name="Group 113"/>
          <p:cNvGrpSpPr/>
          <p:nvPr/>
        </p:nvGrpSpPr>
        <p:grpSpPr>
          <a:xfrm>
            <a:off x="5638800" y="5029200"/>
            <a:ext cx="608013" cy="457200"/>
            <a:chOff x="4512" y="1872"/>
            <a:chExt cx="383" cy="288"/>
          </a:xfrm>
        </p:grpSpPr>
        <p:sp>
          <p:nvSpPr>
            <p:cNvPr id="96279" name="Text Box 114" descr="75%"/>
            <p:cNvSpPr txBox="1"/>
            <p:nvPr/>
          </p:nvSpPr>
          <p:spPr>
            <a:xfrm>
              <a:off x="4512" y="1872"/>
              <a:ext cx="3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AB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96280" name="Line 115"/>
            <p:cNvSpPr/>
            <p:nvPr/>
          </p:nvSpPr>
          <p:spPr>
            <a:xfrm>
              <a:off x="4608" y="1920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7940" name="Text Box 116" descr="75%"/>
          <p:cNvSpPr txBox="1"/>
          <p:nvPr/>
        </p:nvSpPr>
        <p:spPr>
          <a:xfrm>
            <a:off x="3276600" y="4724400"/>
            <a:ext cx="8001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得：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96277" name="Text Box 118"/>
          <p:cNvSpPr txBox="1"/>
          <p:nvPr/>
        </p:nvSpPr>
        <p:spPr>
          <a:xfrm>
            <a:off x="533400" y="304800"/>
            <a:ext cx="3429000" cy="64135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Left">
              <a:rot lat="0" lon="0" rev="0"/>
            </a:camera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CC0000"/>
                </a:solidFill>
                <a:ea typeface="隶书" panose="02010509060101010101" pitchFamily="49" charset="-122"/>
              </a:rPr>
              <a:t>图形法化简函数</a:t>
            </a:r>
            <a:endParaRPr lang="zh-CN" altLang="en-US" sz="3600" b="1" dirty="0">
              <a:solidFill>
                <a:srgbClr val="CC0000"/>
              </a:solidFill>
              <a:ea typeface="隶书" panose="02010509060101010101" pitchFamily="49" charset="-122"/>
            </a:endParaRPr>
          </a:p>
        </p:txBody>
      </p:sp>
      <p:pic>
        <p:nvPicPr>
          <p:cNvPr id="77943" name="Picture 119" descr="ag00108_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6172200"/>
            <a:ext cx="990600" cy="517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8" grpId="0" animBg="1"/>
      <p:bldP spid="77828" grpId="0"/>
      <p:bldP spid="77894" grpId="0"/>
      <p:bldP spid="77895" grpId="0"/>
      <p:bldP spid="77896" grpId="0"/>
      <p:bldP spid="77920" grpId="0" animBg="1"/>
      <p:bldP spid="77921" grpId="0" animBg="1"/>
      <p:bldP spid="77931" grpId="0"/>
      <p:bldP spid="77936" grpId="0"/>
      <p:bldP spid="77940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69"/>
          <p:cNvGrpSpPr/>
          <p:nvPr/>
        </p:nvGrpSpPr>
        <p:grpSpPr>
          <a:xfrm>
            <a:off x="914400" y="685800"/>
            <a:ext cx="7391400" cy="5410200"/>
            <a:chOff x="576" y="672"/>
            <a:chExt cx="4656" cy="3504"/>
          </a:xfrm>
        </p:grpSpPr>
        <p:sp>
          <p:nvSpPr>
            <p:cNvPr id="97395" name="Rectangle 2" descr="75%"/>
            <p:cNvSpPr/>
            <p:nvPr/>
          </p:nvSpPr>
          <p:spPr>
            <a:xfrm>
              <a:off x="576" y="672"/>
              <a:ext cx="4656" cy="3504"/>
            </a:xfrm>
            <a:prstGeom prst="rect">
              <a:avLst/>
            </a:prstGeom>
            <a:noFill/>
            <a:ln w="38100" cap="flat" cmpd="sng">
              <a:pattFill prst="pct80">
                <a:fgClr>
                  <a:srgbClr val="33CCCC"/>
                </a:fgClr>
                <a:bgClr>
                  <a:srgbClr val="FFFFFF"/>
                </a:bgClr>
              </a:patt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grpSp>
          <p:nvGrpSpPr>
            <p:cNvPr id="97396" name="Group 68"/>
            <p:cNvGrpSpPr/>
            <p:nvPr/>
          </p:nvGrpSpPr>
          <p:grpSpPr>
            <a:xfrm>
              <a:off x="672" y="744"/>
              <a:ext cx="4176" cy="1420"/>
              <a:chOff x="672" y="744"/>
              <a:chExt cx="4176" cy="1420"/>
            </a:xfrm>
          </p:grpSpPr>
          <p:graphicFrame>
            <p:nvGraphicFramePr>
              <p:cNvPr id="97397" name="Object 3" descr="75%"/>
              <p:cNvGraphicFramePr>
                <a:graphicFrameLocks noChangeAspect="1"/>
              </p:cNvGraphicFramePr>
              <p:nvPr/>
            </p:nvGraphicFramePr>
            <p:xfrm>
              <a:off x="720" y="1056"/>
              <a:ext cx="4128" cy="8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6" name="" r:id="rId1" imgW="2959100" imgH="533400" progId="Equation.3">
                      <p:embed/>
                    </p:oleObj>
                  </mc:Choice>
                  <mc:Fallback>
                    <p:oleObj name="" r:id="rId1" imgW="2959100" imgH="533400" progId="Equation.3">
                      <p:embed/>
                      <p:pic>
                        <p:nvPicPr>
                          <p:cNvPr id="0" name="图片 3195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720" y="1056"/>
                            <a:ext cx="4128" cy="8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7398" name="Text Box 4" descr="75%"/>
              <p:cNvSpPr txBox="1"/>
              <p:nvPr/>
            </p:nvSpPr>
            <p:spPr>
              <a:xfrm>
                <a:off x="672" y="744"/>
                <a:ext cx="1728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例：</a:t>
                </a:r>
                <a:r>
                  <a:rPr lang="zh-CN" altLang="en-US" sz="2400" b="1" dirty="0"/>
                  <a:t>已知函数</a:t>
                </a:r>
                <a:r>
                  <a:rPr lang="zh-CN" altLang="en-US" sz="2800" b="1" dirty="0"/>
                  <a:t>：</a:t>
                </a:r>
                <a:r>
                  <a:rPr lang="zh-CN" altLang="en-US" sz="2400" dirty="0"/>
                  <a:t> </a:t>
                </a:r>
                <a:endParaRPr lang="zh-CN" altLang="en-US" sz="2400" dirty="0"/>
              </a:p>
            </p:txBody>
          </p:sp>
          <p:sp>
            <p:nvSpPr>
              <p:cNvPr id="97399" name="Text Box 5" descr="75%"/>
              <p:cNvSpPr txBox="1"/>
              <p:nvPr/>
            </p:nvSpPr>
            <p:spPr>
              <a:xfrm>
                <a:off x="720" y="1868"/>
                <a:ext cx="1466" cy="2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/>
                  <a:t>求其最简与或式</a:t>
                </a:r>
                <a:endParaRPr lang="zh-CN" altLang="en-US" sz="2400" dirty="0"/>
              </a:p>
            </p:txBody>
          </p:sp>
        </p:grpSp>
      </p:grpSp>
      <p:grpSp>
        <p:nvGrpSpPr>
          <p:cNvPr id="4" name="Group 6"/>
          <p:cNvGrpSpPr/>
          <p:nvPr/>
        </p:nvGrpSpPr>
        <p:grpSpPr>
          <a:xfrm>
            <a:off x="4343400" y="2819400"/>
            <a:ext cx="3598863" cy="2593975"/>
            <a:chOff x="3073" y="1246"/>
            <a:chExt cx="2267" cy="1634"/>
          </a:xfrm>
        </p:grpSpPr>
        <p:sp>
          <p:nvSpPr>
            <p:cNvPr id="97375" name="Text Box 7"/>
            <p:cNvSpPr txBox="1"/>
            <p:nvPr/>
          </p:nvSpPr>
          <p:spPr>
            <a:xfrm>
              <a:off x="3420" y="1966"/>
              <a:ext cx="308" cy="1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lnSpc>
                  <a:spcPct val="60000"/>
                </a:lnSpc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01</a:t>
              </a:r>
              <a:endParaRPr lang="en-US" altLang="zh-CN" sz="3600" b="1" dirty="0">
                <a:solidFill>
                  <a:schemeClr val="tx2"/>
                </a:solidFill>
              </a:endParaRPr>
            </a:p>
          </p:txBody>
        </p:sp>
        <p:grpSp>
          <p:nvGrpSpPr>
            <p:cNvPr id="97376" name="Group 8"/>
            <p:cNvGrpSpPr/>
            <p:nvPr/>
          </p:nvGrpSpPr>
          <p:grpSpPr>
            <a:xfrm>
              <a:off x="3073" y="1246"/>
              <a:ext cx="2267" cy="1634"/>
              <a:chOff x="3073" y="1246"/>
              <a:chExt cx="2267" cy="1634"/>
            </a:xfrm>
          </p:grpSpPr>
          <p:grpSp>
            <p:nvGrpSpPr>
              <p:cNvPr id="97377" name="Group 9"/>
              <p:cNvGrpSpPr/>
              <p:nvPr/>
            </p:nvGrpSpPr>
            <p:grpSpPr>
              <a:xfrm>
                <a:off x="3372" y="1392"/>
                <a:ext cx="1968" cy="1488"/>
                <a:chOff x="3216" y="2496"/>
                <a:chExt cx="1968" cy="1488"/>
              </a:xfrm>
            </p:grpSpPr>
            <p:sp>
              <p:nvSpPr>
                <p:cNvPr id="97387" name="Rectangle 10"/>
                <p:cNvSpPr/>
                <p:nvPr/>
              </p:nvSpPr>
              <p:spPr>
                <a:xfrm>
                  <a:off x="3600" y="2736"/>
                  <a:ext cx="1584" cy="1248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97388" name="Line 11"/>
                <p:cNvSpPr/>
                <p:nvPr/>
              </p:nvSpPr>
              <p:spPr>
                <a:xfrm>
                  <a:off x="3600" y="3312"/>
                  <a:ext cx="158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7389" name="Line 12"/>
                <p:cNvSpPr/>
                <p:nvPr/>
              </p:nvSpPr>
              <p:spPr>
                <a:xfrm>
                  <a:off x="3600" y="3648"/>
                  <a:ext cx="158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7390" name="Line 13"/>
                <p:cNvSpPr/>
                <p:nvPr/>
              </p:nvSpPr>
              <p:spPr>
                <a:xfrm>
                  <a:off x="3600" y="3024"/>
                  <a:ext cx="158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7391" name="Line 14"/>
                <p:cNvSpPr/>
                <p:nvPr/>
              </p:nvSpPr>
              <p:spPr>
                <a:xfrm>
                  <a:off x="4416" y="2736"/>
                  <a:ext cx="0" cy="124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7392" name="Line 15"/>
                <p:cNvSpPr/>
                <p:nvPr/>
              </p:nvSpPr>
              <p:spPr>
                <a:xfrm>
                  <a:off x="4800" y="2736"/>
                  <a:ext cx="0" cy="124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7393" name="Line 16"/>
                <p:cNvSpPr/>
                <p:nvPr/>
              </p:nvSpPr>
              <p:spPr>
                <a:xfrm>
                  <a:off x="4032" y="2736"/>
                  <a:ext cx="0" cy="124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7394" name="Line 17"/>
                <p:cNvSpPr/>
                <p:nvPr/>
              </p:nvSpPr>
              <p:spPr>
                <a:xfrm>
                  <a:off x="3216" y="2496"/>
                  <a:ext cx="384" cy="24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97378" name="Text Box 18"/>
              <p:cNvSpPr txBox="1"/>
              <p:nvPr/>
            </p:nvSpPr>
            <p:spPr>
              <a:xfrm>
                <a:off x="3832" y="1438"/>
                <a:ext cx="308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00</a:t>
                </a:r>
                <a:endParaRPr lang="en-US" altLang="zh-CN" sz="36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7379" name="Text Box 19"/>
              <p:cNvSpPr txBox="1"/>
              <p:nvPr/>
            </p:nvSpPr>
            <p:spPr>
              <a:xfrm>
                <a:off x="4216" y="1438"/>
                <a:ext cx="308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01</a:t>
                </a:r>
                <a:endParaRPr lang="en-US" altLang="zh-CN" sz="36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7380" name="Text Box 20"/>
              <p:cNvSpPr txBox="1"/>
              <p:nvPr/>
            </p:nvSpPr>
            <p:spPr>
              <a:xfrm>
                <a:off x="4600" y="1438"/>
                <a:ext cx="308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11</a:t>
                </a:r>
                <a:endParaRPr lang="en-US" altLang="zh-CN" sz="36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7381" name="Text Box 21"/>
              <p:cNvSpPr txBox="1"/>
              <p:nvPr/>
            </p:nvSpPr>
            <p:spPr>
              <a:xfrm>
                <a:off x="4984" y="1438"/>
                <a:ext cx="308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10</a:t>
                </a:r>
                <a:endParaRPr lang="en-US" altLang="zh-CN" sz="36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7382" name="Text Box 22"/>
              <p:cNvSpPr txBox="1"/>
              <p:nvPr/>
            </p:nvSpPr>
            <p:spPr>
              <a:xfrm>
                <a:off x="3420" y="1678"/>
                <a:ext cx="308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00</a:t>
                </a:r>
                <a:endParaRPr lang="en-US" altLang="zh-CN" sz="36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7383" name="Text Box 23"/>
              <p:cNvSpPr txBox="1"/>
              <p:nvPr/>
            </p:nvSpPr>
            <p:spPr>
              <a:xfrm>
                <a:off x="3400" y="2302"/>
                <a:ext cx="308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11</a:t>
                </a:r>
                <a:endParaRPr lang="en-US" altLang="zh-CN" sz="36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7384" name="Text Box 24"/>
              <p:cNvSpPr txBox="1"/>
              <p:nvPr/>
            </p:nvSpPr>
            <p:spPr>
              <a:xfrm>
                <a:off x="3372" y="2590"/>
                <a:ext cx="308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10</a:t>
                </a:r>
                <a:endParaRPr lang="en-US" altLang="zh-CN" sz="36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7385" name="Text Box 25"/>
              <p:cNvSpPr txBox="1"/>
              <p:nvPr/>
            </p:nvSpPr>
            <p:spPr>
              <a:xfrm>
                <a:off x="3372" y="1246"/>
                <a:ext cx="394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CD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7386" name="Text Box 26"/>
              <p:cNvSpPr txBox="1"/>
              <p:nvPr/>
            </p:nvSpPr>
            <p:spPr>
              <a:xfrm>
                <a:off x="3073" y="1438"/>
                <a:ext cx="383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AB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</p:grpSp>
      </p:grpSp>
      <p:sp>
        <p:nvSpPr>
          <p:cNvPr id="80923" name="Text Box 27" descr="75%"/>
          <p:cNvSpPr txBox="1"/>
          <p:nvPr/>
        </p:nvSpPr>
        <p:spPr>
          <a:xfrm>
            <a:off x="1143000" y="3200400"/>
            <a:ext cx="8001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解：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80924" name="Text Box 28" descr="75%"/>
          <p:cNvSpPr txBox="1"/>
          <p:nvPr/>
        </p:nvSpPr>
        <p:spPr>
          <a:xfrm>
            <a:off x="1606550" y="3276600"/>
            <a:ext cx="262096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2400" b="1" dirty="0"/>
              <a:t>填函数的卡诺图</a:t>
            </a:r>
            <a:endParaRPr lang="zh-CN" altLang="en-US" sz="2400" b="1" dirty="0"/>
          </a:p>
        </p:txBody>
      </p:sp>
      <p:sp>
        <p:nvSpPr>
          <p:cNvPr id="80925" name="Text Box 29" descr="75%"/>
          <p:cNvSpPr txBox="1"/>
          <p:nvPr/>
        </p:nvSpPr>
        <p:spPr>
          <a:xfrm>
            <a:off x="5562600" y="34290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80926" name="Text Box 30" descr="75%"/>
          <p:cNvSpPr txBox="1"/>
          <p:nvPr/>
        </p:nvSpPr>
        <p:spPr>
          <a:xfrm>
            <a:off x="7467600" y="34290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80927" name="Text Box 31" descr="75%"/>
          <p:cNvSpPr txBox="1"/>
          <p:nvPr/>
        </p:nvSpPr>
        <p:spPr>
          <a:xfrm>
            <a:off x="6858000" y="34290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80928" name="Text Box 32" descr="75%"/>
          <p:cNvSpPr txBox="1"/>
          <p:nvPr/>
        </p:nvSpPr>
        <p:spPr>
          <a:xfrm>
            <a:off x="5562600" y="38862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80929" name="Text Box 33" descr="75%"/>
          <p:cNvSpPr txBox="1"/>
          <p:nvPr/>
        </p:nvSpPr>
        <p:spPr>
          <a:xfrm>
            <a:off x="7467600" y="38862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80930" name="Text Box 34" descr="75%"/>
          <p:cNvSpPr txBox="1"/>
          <p:nvPr/>
        </p:nvSpPr>
        <p:spPr>
          <a:xfrm>
            <a:off x="5562600" y="49530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80931" name="Text Box 35" descr="75%"/>
          <p:cNvSpPr txBox="1"/>
          <p:nvPr/>
        </p:nvSpPr>
        <p:spPr>
          <a:xfrm>
            <a:off x="7467600" y="49530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80932" name="Text Box 36" descr="75%"/>
          <p:cNvSpPr txBox="1"/>
          <p:nvPr/>
        </p:nvSpPr>
        <p:spPr>
          <a:xfrm>
            <a:off x="6781800" y="4953000"/>
            <a:ext cx="417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sym typeface="Symbol" panose="05050102010706020507" pitchFamily="18" charset="2"/>
              </a:rPr>
              <a:t>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80933" name="Text Box 37" descr="75%"/>
          <p:cNvSpPr txBox="1"/>
          <p:nvPr/>
        </p:nvSpPr>
        <p:spPr>
          <a:xfrm>
            <a:off x="5486400" y="4343400"/>
            <a:ext cx="417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sym typeface="Symbol" panose="05050102010706020507" pitchFamily="18" charset="2"/>
              </a:rPr>
              <a:t>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80934" name="Text Box 38" descr="75%"/>
          <p:cNvSpPr txBox="1"/>
          <p:nvPr/>
        </p:nvSpPr>
        <p:spPr>
          <a:xfrm>
            <a:off x="7391400" y="4343400"/>
            <a:ext cx="417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sym typeface="Symbol" panose="05050102010706020507" pitchFamily="18" charset="2"/>
              </a:rPr>
              <a:t>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80935" name="Text Box 39" descr="75%"/>
          <p:cNvSpPr txBox="1"/>
          <p:nvPr/>
        </p:nvSpPr>
        <p:spPr>
          <a:xfrm>
            <a:off x="6781800" y="4343400"/>
            <a:ext cx="417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sym typeface="Symbol" panose="05050102010706020507" pitchFamily="18" charset="2"/>
              </a:rPr>
              <a:t>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grpSp>
        <p:nvGrpSpPr>
          <p:cNvPr id="7" name="Group 70"/>
          <p:cNvGrpSpPr/>
          <p:nvPr/>
        </p:nvGrpSpPr>
        <p:grpSpPr>
          <a:xfrm>
            <a:off x="6248400" y="3429000"/>
            <a:ext cx="914400" cy="1981200"/>
            <a:chOff x="3936" y="2400"/>
            <a:chExt cx="576" cy="1248"/>
          </a:xfrm>
        </p:grpSpPr>
        <p:sp>
          <p:nvSpPr>
            <p:cNvPr id="97370" name="Text Box 40" descr="75%"/>
            <p:cNvSpPr txBox="1"/>
            <p:nvPr/>
          </p:nvSpPr>
          <p:spPr>
            <a:xfrm>
              <a:off x="3936" y="240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97371" name="Text Box 41" descr="75%"/>
            <p:cNvSpPr txBox="1"/>
            <p:nvPr/>
          </p:nvSpPr>
          <p:spPr>
            <a:xfrm>
              <a:off x="3936" y="268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97372" name="Text Box 42" descr="75%"/>
            <p:cNvSpPr txBox="1"/>
            <p:nvPr/>
          </p:nvSpPr>
          <p:spPr>
            <a:xfrm>
              <a:off x="3936" y="302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97373" name="Text Box 43" descr="75%"/>
            <p:cNvSpPr txBox="1"/>
            <p:nvPr/>
          </p:nvSpPr>
          <p:spPr>
            <a:xfrm>
              <a:off x="3936" y="336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97374" name="Text Box 44" descr="75%"/>
            <p:cNvSpPr txBox="1"/>
            <p:nvPr/>
          </p:nvSpPr>
          <p:spPr>
            <a:xfrm>
              <a:off x="4300" y="268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0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80941" name="Text Box 45" descr="75%"/>
          <p:cNvSpPr txBox="1"/>
          <p:nvPr/>
        </p:nvSpPr>
        <p:spPr>
          <a:xfrm>
            <a:off x="1600200" y="3733800"/>
            <a:ext cx="10937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sz="2400" b="1" dirty="0"/>
              <a:t>化简</a:t>
            </a:r>
            <a:endParaRPr lang="zh-CN" altLang="en-US" sz="2400" b="1" dirty="0"/>
          </a:p>
        </p:txBody>
      </p:sp>
      <p:sp>
        <p:nvSpPr>
          <p:cNvPr id="80942" name="Text Box 46" descr="75%"/>
          <p:cNvSpPr txBox="1"/>
          <p:nvPr/>
        </p:nvSpPr>
        <p:spPr>
          <a:xfrm>
            <a:off x="1066800" y="4191000"/>
            <a:ext cx="29495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不考虑约束条件时：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grpSp>
        <p:nvGrpSpPr>
          <p:cNvPr id="8" name="Group 56"/>
          <p:cNvGrpSpPr/>
          <p:nvPr/>
        </p:nvGrpSpPr>
        <p:grpSpPr>
          <a:xfrm>
            <a:off x="5334000" y="3505200"/>
            <a:ext cx="2667000" cy="762000"/>
            <a:chOff x="3360" y="2448"/>
            <a:chExt cx="1680" cy="480"/>
          </a:xfrm>
        </p:grpSpPr>
        <p:sp>
          <p:nvSpPr>
            <p:cNvPr id="97368" name="AutoShape 47" descr="75%"/>
            <p:cNvSpPr/>
            <p:nvPr/>
          </p:nvSpPr>
          <p:spPr>
            <a:xfrm>
              <a:off x="3360" y="2448"/>
              <a:ext cx="384" cy="480"/>
            </a:xfrm>
            <a:prstGeom prst="rightBracket">
              <a:avLst>
                <a:gd name="adj" fmla="val 10416"/>
              </a:avLst>
            </a:prstGeom>
            <a:noFill/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97369" name="AutoShape 48" descr="75%"/>
            <p:cNvSpPr/>
            <p:nvPr/>
          </p:nvSpPr>
          <p:spPr>
            <a:xfrm>
              <a:off x="4656" y="2448"/>
              <a:ext cx="384" cy="480"/>
            </a:xfrm>
            <a:prstGeom prst="leftBracket">
              <a:avLst>
                <a:gd name="adj" fmla="val 10416"/>
              </a:avLst>
            </a:prstGeom>
            <a:noFill/>
            <a:ln w="38100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9" name="Group 55"/>
          <p:cNvGrpSpPr/>
          <p:nvPr/>
        </p:nvGrpSpPr>
        <p:grpSpPr>
          <a:xfrm>
            <a:off x="5029200" y="2819400"/>
            <a:ext cx="3200400" cy="2895600"/>
            <a:chOff x="3168" y="2016"/>
            <a:chExt cx="2016" cy="1824"/>
          </a:xfrm>
        </p:grpSpPr>
        <p:sp>
          <p:nvSpPr>
            <p:cNvPr id="97364" name="Freeform 50" descr="75%"/>
            <p:cNvSpPr/>
            <p:nvPr/>
          </p:nvSpPr>
          <p:spPr>
            <a:xfrm>
              <a:off x="3168" y="2112"/>
              <a:ext cx="640" cy="600"/>
            </a:xfrm>
            <a:custGeom>
              <a:avLst/>
              <a:gdLst>
                <a:gd name="txL" fmla="*/ 0 w 640"/>
                <a:gd name="txT" fmla="*/ 0 h 600"/>
                <a:gd name="txR" fmla="*/ 640 w 640"/>
                <a:gd name="txB" fmla="*/ 600 h 600"/>
              </a:gdLst>
              <a:ahLst/>
              <a:cxnLst>
                <a:cxn ang="0">
                  <a:pos x="288" y="0"/>
                </a:cxn>
                <a:cxn ang="0">
                  <a:pos x="624" y="384"/>
                </a:cxn>
                <a:cxn ang="0">
                  <a:pos x="384" y="576"/>
                </a:cxn>
                <a:cxn ang="0">
                  <a:pos x="0" y="240"/>
                </a:cxn>
              </a:cxnLst>
              <a:rect l="txL" t="txT" r="txR" b="txB"/>
              <a:pathLst>
                <a:path w="640" h="600">
                  <a:moveTo>
                    <a:pt x="288" y="0"/>
                  </a:moveTo>
                  <a:cubicBezTo>
                    <a:pt x="448" y="144"/>
                    <a:pt x="608" y="288"/>
                    <a:pt x="624" y="384"/>
                  </a:cubicBezTo>
                  <a:cubicBezTo>
                    <a:pt x="640" y="480"/>
                    <a:pt x="488" y="600"/>
                    <a:pt x="384" y="576"/>
                  </a:cubicBezTo>
                  <a:cubicBezTo>
                    <a:pt x="280" y="552"/>
                    <a:pt x="64" y="296"/>
                    <a:pt x="0" y="240"/>
                  </a:cubicBezTo>
                </a:path>
              </a:pathLst>
            </a:custGeom>
            <a:noFill/>
            <a:ln w="38100" cap="flat" cmpd="sng">
              <a:solidFill>
                <a:srgbClr val="CC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7365" name="Freeform 52" descr="75%"/>
            <p:cNvSpPr/>
            <p:nvPr/>
          </p:nvSpPr>
          <p:spPr>
            <a:xfrm>
              <a:off x="3168" y="3360"/>
              <a:ext cx="656" cy="480"/>
            </a:xfrm>
            <a:custGeom>
              <a:avLst/>
              <a:gdLst>
                <a:gd name="txL" fmla="*/ 0 w 656"/>
                <a:gd name="txT" fmla="*/ 0 h 480"/>
                <a:gd name="txR" fmla="*/ 656 w 656"/>
                <a:gd name="txB" fmla="*/ 480 h 480"/>
              </a:gdLst>
              <a:ahLst/>
              <a:cxnLst>
                <a:cxn ang="0">
                  <a:pos x="0" y="192"/>
                </a:cxn>
                <a:cxn ang="0">
                  <a:pos x="432" y="0"/>
                </a:cxn>
                <a:cxn ang="0">
                  <a:pos x="624" y="192"/>
                </a:cxn>
                <a:cxn ang="0">
                  <a:pos x="240" y="480"/>
                </a:cxn>
              </a:cxnLst>
              <a:rect l="txL" t="txT" r="txR" b="txB"/>
              <a:pathLst>
                <a:path w="656" h="480">
                  <a:moveTo>
                    <a:pt x="0" y="192"/>
                  </a:moveTo>
                  <a:cubicBezTo>
                    <a:pt x="164" y="96"/>
                    <a:pt x="328" y="0"/>
                    <a:pt x="432" y="0"/>
                  </a:cubicBezTo>
                  <a:cubicBezTo>
                    <a:pt x="536" y="0"/>
                    <a:pt x="656" y="112"/>
                    <a:pt x="624" y="192"/>
                  </a:cubicBezTo>
                  <a:cubicBezTo>
                    <a:pt x="592" y="272"/>
                    <a:pt x="304" y="432"/>
                    <a:pt x="240" y="480"/>
                  </a:cubicBezTo>
                </a:path>
              </a:pathLst>
            </a:custGeom>
            <a:noFill/>
            <a:ln w="38100" cap="flat" cmpd="sng">
              <a:solidFill>
                <a:srgbClr val="CC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7366" name="Freeform 53" descr="75%"/>
            <p:cNvSpPr/>
            <p:nvPr/>
          </p:nvSpPr>
          <p:spPr>
            <a:xfrm>
              <a:off x="4640" y="3272"/>
              <a:ext cx="544" cy="520"/>
            </a:xfrm>
            <a:custGeom>
              <a:avLst/>
              <a:gdLst>
                <a:gd name="txL" fmla="*/ 0 w 544"/>
                <a:gd name="txT" fmla="*/ 0 h 520"/>
                <a:gd name="txR" fmla="*/ 544 w 544"/>
                <a:gd name="txB" fmla="*/ 520 h 520"/>
              </a:gdLst>
              <a:ahLst/>
              <a:cxnLst>
                <a:cxn ang="0">
                  <a:pos x="304" y="520"/>
                </a:cxn>
                <a:cxn ang="0">
                  <a:pos x="16" y="184"/>
                </a:cxn>
                <a:cxn ang="0">
                  <a:pos x="208" y="40"/>
                </a:cxn>
                <a:cxn ang="0">
                  <a:pos x="544" y="424"/>
                </a:cxn>
              </a:cxnLst>
              <a:rect l="txL" t="txT" r="txR" b="txB"/>
              <a:pathLst>
                <a:path w="544" h="520">
                  <a:moveTo>
                    <a:pt x="304" y="520"/>
                  </a:moveTo>
                  <a:cubicBezTo>
                    <a:pt x="168" y="392"/>
                    <a:pt x="32" y="264"/>
                    <a:pt x="16" y="184"/>
                  </a:cubicBezTo>
                  <a:cubicBezTo>
                    <a:pt x="0" y="104"/>
                    <a:pt x="120" y="0"/>
                    <a:pt x="208" y="40"/>
                  </a:cubicBezTo>
                  <a:cubicBezTo>
                    <a:pt x="296" y="80"/>
                    <a:pt x="496" y="376"/>
                    <a:pt x="544" y="424"/>
                  </a:cubicBezTo>
                </a:path>
              </a:pathLst>
            </a:custGeom>
            <a:noFill/>
            <a:ln w="38100" cap="flat" cmpd="sng">
              <a:solidFill>
                <a:srgbClr val="CC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7367" name="Freeform 54" descr="75%"/>
            <p:cNvSpPr/>
            <p:nvPr/>
          </p:nvSpPr>
          <p:spPr>
            <a:xfrm>
              <a:off x="4640" y="2016"/>
              <a:ext cx="544" cy="680"/>
            </a:xfrm>
            <a:custGeom>
              <a:avLst/>
              <a:gdLst>
                <a:gd name="txL" fmla="*/ 0 w 544"/>
                <a:gd name="txT" fmla="*/ 0 h 680"/>
                <a:gd name="txR" fmla="*/ 544 w 544"/>
                <a:gd name="txB" fmla="*/ 680 h 680"/>
              </a:gdLst>
              <a:ahLst/>
              <a:cxnLst>
                <a:cxn ang="0">
                  <a:pos x="352" y="0"/>
                </a:cxn>
                <a:cxn ang="0">
                  <a:pos x="16" y="528"/>
                </a:cxn>
                <a:cxn ang="0">
                  <a:pos x="256" y="624"/>
                </a:cxn>
                <a:cxn ang="0">
                  <a:pos x="544" y="192"/>
                </a:cxn>
              </a:cxnLst>
              <a:rect l="txL" t="txT" r="txR" b="txB"/>
              <a:pathLst>
                <a:path w="544" h="680">
                  <a:moveTo>
                    <a:pt x="352" y="0"/>
                  </a:moveTo>
                  <a:cubicBezTo>
                    <a:pt x="192" y="212"/>
                    <a:pt x="32" y="424"/>
                    <a:pt x="16" y="528"/>
                  </a:cubicBezTo>
                  <a:cubicBezTo>
                    <a:pt x="0" y="632"/>
                    <a:pt x="168" y="680"/>
                    <a:pt x="256" y="624"/>
                  </a:cubicBezTo>
                  <a:cubicBezTo>
                    <a:pt x="344" y="568"/>
                    <a:pt x="488" y="264"/>
                    <a:pt x="544" y="192"/>
                  </a:cubicBezTo>
                </a:path>
              </a:pathLst>
            </a:custGeom>
            <a:noFill/>
            <a:ln w="38100" cap="flat" cmpd="sng">
              <a:solidFill>
                <a:srgbClr val="CC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80953" name="Rectangle 57" descr="75%"/>
          <p:cNvSpPr/>
          <p:nvPr/>
        </p:nvSpPr>
        <p:spPr>
          <a:xfrm>
            <a:off x="6858000" y="3505200"/>
            <a:ext cx="990600" cy="304800"/>
          </a:xfrm>
          <a:prstGeom prst="rect">
            <a:avLst/>
          </a:prstGeom>
          <a:noFill/>
          <a:ln w="381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80954" name="Line 58"/>
          <p:cNvSpPr/>
          <p:nvPr/>
        </p:nvSpPr>
        <p:spPr>
          <a:xfrm flipV="1">
            <a:off x="7315200" y="2971800"/>
            <a:ext cx="0" cy="45720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0955" name="Line 59"/>
          <p:cNvSpPr/>
          <p:nvPr/>
        </p:nvSpPr>
        <p:spPr>
          <a:xfrm flipH="1">
            <a:off x="4876800" y="3886200"/>
            <a:ext cx="533400" cy="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0956" name="Line 60"/>
          <p:cNvSpPr/>
          <p:nvPr/>
        </p:nvSpPr>
        <p:spPr>
          <a:xfrm flipV="1">
            <a:off x="5867400" y="2971800"/>
            <a:ext cx="0" cy="381000"/>
          </a:xfrm>
          <a:prstGeom prst="line">
            <a:avLst/>
          </a:prstGeom>
          <a:ln w="3810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80957" name="Object 61" descr="75%"/>
          <p:cNvGraphicFramePr>
            <a:graphicFrameLocks noChangeAspect="1"/>
          </p:cNvGraphicFramePr>
          <p:nvPr/>
        </p:nvGraphicFramePr>
        <p:xfrm>
          <a:off x="1143000" y="4586288"/>
          <a:ext cx="32004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" r:id="rId3" imgW="1307465" imgH="215900" progId="Equation.3">
                  <p:embed/>
                </p:oleObj>
              </mc:Choice>
              <mc:Fallback>
                <p:oleObj name="" r:id="rId3" imgW="1307465" imgH="215900" progId="Equation.3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3000" y="4586288"/>
                        <a:ext cx="3200400" cy="52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58" name="Object 62" descr="75%"/>
          <p:cNvGraphicFramePr>
            <a:graphicFrameLocks noChangeAspect="1"/>
          </p:cNvGraphicFramePr>
          <p:nvPr/>
        </p:nvGraphicFramePr>
        <p:xfrm>
          <a:off x="5638800" y="2514600"/>
          <a:ext cx="6096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" name="" r:id="rId5" imgW="279400" imgH="203200" progId="Equation.3">
                  <p:embed/>
                </p:oleObj>
              </mc:Choice>
              <mc:Fallback>
                <p:oleObj name="" r:id="rId5" imgW="279400" imgH="203200" progId="Equation.3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38800" y="2514600"/>
                        <a:ext cx="609600" cy="439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59" name="Object 63" descr="75%"/>
          <p:cNvGraphicFramePr>
            <a:graphicFrameLocks noChangeAspect="1"/>
          </p:cNvGraphicFramePr>
          <p:nvPr/>
        </p:nvGraphicFramePr>
        <p:xfrm>
          <a:off x="4343400" y="3598863"/>
          <a:ext cx="533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name="" r:id="rId7" imgW="266700" imgH="203200" progId="Equation.3">
                  <p:embed/>
                </p:oleObj>
              </mc:Choice>
              <mc:Fallback>
                <p:oleObj name="" r:id="rId7" imgW="266700" imgH="203200" progId="Equation.3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43400" y="3598863"/>
                        <a:ext cx="5334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60" name="Object 64" descr="75%"/>
          <p:cNvGraphicFramePr>
            <a:graphicFrameLocks noChangeAspect="1"/>
          </p:cNvGraphicFramePr>
          <p:nvPr/>
        </p:nvGraphicFramePr>
        <p:xfrm>
          <a:off x="7010400" y="2511425"/>
          <a:ext cx="7620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" name="" r:id="rId9" imgW="355600" imgH="215900" progId="Equation.3">
                  <p:embed/>
                </p:oleObj>
              </mc:Choice>
              <mc:Fallback>
                <p:oleObj name="" r:id="rId9" imgW="355600" imgH="215900" progId="Equation.3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010400" y="2511425"/>
                        <a:ext cx="762000" cy="460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62" name="Text Box 66" descr="75%"/>
          <p:cNvSpPr txBox="1"/>
          <p:nvPr/>
        </p:nvSpPr>
        <p:spPr>
          <a:xfrm>
            <a:off x="1066800" y="5181600"/>
            <a:ext cx="2647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考虑约束条件时：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graphicFrame>
        <p:nvGraphicFramePr>
          <p:cNvPr id="80968" name="Object 72" descr="75%"/>
          <p:cNvGraphicFramePr>
            <a:graphicFrameLocks noChangeAspect="1"/>
          </p:cNvGraphicFramePr>
          <p:nvPr/>
        </p:nvGraphicFramePr>
        <p:xfrm>
          <a:off x="1143000" y="5562600"/>
          <a:ext cx="16002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" r:id="rId11" imgW="723900" imgH="215900" progId="Equation.3">
                  <p:embed/>
                </p:oleObj>
              </mc:Choice>
              <mc:Fallback>
                <p:oleObj name="" r:id="rId11" imgW="723900" imgH="215900" progId="Equation.3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43000" y="5562600"/>
                        <a:ext cx="1600200" cy="519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172"/>
          <p:cNvGrpSpPr/>
          <p:nvPr/>
        </p:nvGrpSpPr>
        <p:grpSpPr>
          <a:xfrm>
            <a:off x="4267200" y="2438400"/>
            <a:ext cx="3962400" cy="3352800"/>
            <a:chOff x="2688" y="1872"/>
            <a:chExt cx="2496" cy="2016"/>
          </a:xfrm>
        </p:grpSpPr>
        <p:sp>
          <p:nvSpPr>
            <p:cNvPr id="97324" name="Rectangle 73" descr="蓝色砂纸"/>
            <p:cNvSpPr/>
            <p:nvPr/>
          </p:nvSpPr>
          <p:spPr>
            <a:xfrm>
              <a:off x="2688" y="1872"/>
              <a:ext cx="2496" cy="2016"/>
            </a:xfrm>
            <a:prstGeom prst="rect">
              <a:avLst/>
            </a:prstGeom>
            <a:blipFill rotWithShape="0">
              <a:blip r:embed="rId13"/>
            </a:blip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grpSp>
          <p:nvGrpSpPr>
            <p:cNvPr id="97325" name="Group 122"/>
            <p:cNvGrpSpPr/>
            <p:nvPr/>
          </p:nvGrpSpPr>
          <p:grpSpPr>
            <a:xfrm>
              <a:off x="2688" y="2163"/>
              <a:ext cx="2267" cy="1630"/>
              <a:chOff x="2736" y="2020"/>
              <a:chExt cx="2267" cy="1630"/>
            </a:xfrm>
          </p:grpSpPr>
          <p:grpSp>
            <p:nvGrpSpPr>
              <p:cNvPr id="97326" name="Group 123"/>
              <p:cNvGrpSpPr/>
              <p:nvPr/>
            </p:nvGrpSpPr>
            <p:grpSpPr>
              <a:xfrm>
                <a:off x="2736" y="2020"/>
                <a:ext cx="2267" cy="1630"/>
                <a:chOff x="3073" y="1250"/>
                <a:chExt cx="2267" cy="1630"/>
              </a:xfrm>
            </p:grpSpPr>
            <p:sp>
              <p:nvSpPr>
                <p:cNvPr id="97344" name="Text Box 124"/>
                <p:cNvSpPr txBox="1"/>
                <p:nvPr/>
              </p:nvSpPr>
              <p:spPr>
                <a:xfrm>
                  <a:off x="3420" y="1970"/>
                  <a:ext cx="308" cy="18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01</a:t>
                  </a:r>
                  <a:endParaRPr lang="en-US" altLang="zh-CN" sz="3600" b="1" dirty="0">
                    <a:solidFill>
                      <a:schemeClr val="tx2"/>
                    </a:solidFill>
                  </a:endParaRPr>
                </a:p>
              </p:txBody>
            </p:sp>
            <p:grpSp>
              <p:nvGrpSpPr>
                <p:cNvPr id="97345" name="Group 125"/>
                <p:cNvGrpSpPr/>
                <p:nvPr/>
              </p:nvGrpSpPr>
              <p:grpSpPr>
                <a:xfrm>
                  <a:off x="3073" y="1250"/>
                  <a:ext cx="2267" cy="1630"/>
                  <a:chOff x="3073" y="1250"/>
                  <a:chExt cx="2267" cy="1630"/>
                </a:xfrm>
              </p:grpSpPr>
              <p:grpSp>
                <p:nvGrpSpPr>
                  <p:cNvPr id="97346" name="Group 126"/>
                  <p:cNvGrpSpPr/>
                  <p:nvPr/>
                </p:nvGrpSpPr>
                <p:grpSpPr>
                  <a:xfrm>
                    <a:off x="3372" y="1392"/>
                    <a:ext cx="1968" cy="1488"/>
                    <a:chOff x="3216" y="2496"/>
                    <a:chExt cx="1968" cy="1488"/>
                  </a:xfrm>
                </p:grpSpPr>
                <p:sp>
                  <p:nvSpPr>
                    <p:cNvPr id="97356" name="Rectangle 127"/>
                    <p:cNvSpPr/>
                    <p:nvPr/>
                  </p:nvSpPr>
                  <p:spPr>
                    <a:xfrm>
                      <a:off x="3600" y="2736"/>
                      <a:ext cx="1584" cy="1248"/>
                    </a:xfrm>
                    <a:prstGeom prst="rect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3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kumimoji="1" sz="24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2"/>
                        </a:solidFill>
                      </a:endParaRPr>
                    </a:p>
                  </p:txBody>
                </p:sp>
                <p:sp>
                  <p:nvSpPr>
                    <p:cNvPr id="97357" name="Line 128"/>
                    <p:cNvSpPr/>
                    <p:nvPr/>
                  </p:nvSpPr>
                  <p:spPr>
                    <a:xfrm>
                      <a:off x="3600" y="3312"/>
                      <a:ext cx="1584" cy="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7358" name="Line 129"/>
                    <p:cNvSpPr/>
                    <p:nvPr/>
                  </p:nvSpPr>
                  <p:spPr>
                    <a:xfrm>
                      <a:off x="3600" y="3648"/>
                      <a:ext cx="1584" cy="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7359" name="Line 130"/>
                    <p:cNvSpPr/>
                    <p:nvPr/>
                  </p:nvSpPr>
                  <p:spPr>
                    <a:xfrm>
                      <a:off x="3600" y="3024"/>
                      <a:ext cx="1584" cy="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7360" name="Line 131"/>
                    <p:cNvSpPr/>
                    <p:nvPr/>
                  </p:nvSpPr>
                  <p:spPr>
                    <a:xfrm>
                      <a:off x="4416" y="2736"/>
                      <a:ext cx="0" cy="1248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7361" name="Line 132"/>
                    <p:cNvSpPr/>
                    <p:nvPr/>
                  </p:nvSpPr>
                  <p:spPr>
                    <a:xfrm>
                      <a:off x="4800" y="2736"/>
                      <a:ext cx="0" cy="1248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7362" name="Line 133"/>
                    <p:cNvSpPr/>
                    <p:nvPr/>
                  </p:nvSpPr>
                  <p:spPr>
                    <a:xfrm>
                      <a:off x="4032" y="2736"/>
                      <a:ext cx="0" cy="1248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97363" name="Line 134"/>
                    <p:cNvSpPr/>
                    <p:nvPr/>
                  </p:nvSpPr>
                  <p:spPr>
                    <a:xfrm>
                      <a:off x="3216" y="2496"/>
                      <a:ext cx="384" cy="24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97347" name="Text Box 135"/>
                  <p:cNvSpPr txBox="1"/>
                  <p:nvPr/>
                </p:nvSpPr>
                <p:spPr>
                  <a:xfrm>
                    <a:off x="3832" y="1442"/>
                    <a:ext cx="308" cy="18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lnSpc>
                        <a:spcPct val="60000"/>
                      </a:lnSpc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solidFill>
                          <a:schemeClr val="tx2"/>
                        </a:solidFill>
                      </a:rPr>
                      <a:t>00</a:t>
                    </a:r>
                    <a:endParaRPr lang="en-US" altLang="zh-CN" sz="36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97348" name="Text Box 136"/>
                  <p:cNvSpPr txBox="1"/>
                  <p:nvPr/>
                </p:nvSpPr>
                <p:spPr>
                  <a:xfrm>
                    <a:off x="4216" y="1442"/>
                    <a:ext cx="308" cy="18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lnSpc>
                        <a:spcPct val="60000"/>
                      </a:lnSpc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solidFill>
                          <a:schemeClr val="tx2"/>
                        </a:solidFill>
                      </a:rPr>
                      <a:t>01</a:t>
                    </a:r>
                    <a:endParaRPr lang="en-US" altLang="zh-CN" sz="36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97349" name="Text Box 137"/>
                  <p:cNvSpPr txBox="1"/>
                  <p:nvPr/>
                </p:nvSpPr>
                <p:spPr>
                  <a:xfrm>
                    <a:off x="4600" y="1442"/>
                    <a:ext cx="308" cy="18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lnSpc>
                        <a:spcPct val="60000"/>
                      </a:lnSpc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solidFill>
                          <a:schemeClr val="tx2"/>
                        </a:solidFill>
                      </a:rPr>
                      <a:t>11</a:t>
                    </a:r>
                    <a:endParaRPr lang="en-US" altLang="zh-CN" sz="36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97350" name="Text Box 138"/>
                  <p:cNvSpPr txBox="1"/>
                  <p:nvPr/>
                </p:nvSpPr>
                <p:spPr>
                  <a:xfrm>
                    <a:off x="4984" y="1442"/>
                    <a:ext cx="308" cy="18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lnSpc>
                        <a:spcPct val="60000"/>
                      </a:lnSpc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solidFill>
                          <a:schemeClr val="tx2"/>
                        </a:solidFill>
                      </a:rPr>
                      <a:t>10</a:t>
                    </a:r>
                    <a:endParaRPr lang="en-US" altLang="zh-CN" sz="36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97351" name="Text Box 139"/>
                  <p:cNvSpPr txBox="1"/>
                  <p:nvPr/>
                </p:nvSpPr>
                <p:spPr>
                  <a:xfrm>
                    <a:off x="3420" y="1683"/>
                    <a:ext cx="308" cy="18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lnSpc>
                        <a:spcPct val="60000"/>
                      </a:lnSpc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solidFill>
                          <a:schemeClr val="tx2"/>
                        </a:solidFill>
                      </a:rPr>
                      <a:t>00</a:t>
                    </a:r>
                    <a:endParaRPr lang="en-US" altLang="zh-CN" sz="36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97352" name="Text Box 140"/>
                  <p:cNvSpPr txBox="1"/>
                  <p:nvPr/>
                </p:nvSpPr>
                <p:spPr>
                  <a:xfrm>
                    <a:off x="3400" y="2306"/>
                    <a:ext cx="308" cy="18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lnSpc>
                        <a:spcPct val="60000"/>
                      </a:lnSpc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solidFill>
                          <a:schemeClr val="tx2"/>
                        </a:solidFill>
                      </a:rPr>
                      <a:t>11</a:t>
                    </a:r>
                    <a:endParaRPr lang="en-US" altLang="zh-CN" sz="36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97353" name="Text Box 141"/>
                  <p:cNvSpPr txBox="1"/>
                  <p:nvPr/>
                </p:nvSpPr>
                <p:spPr>
                  <a:xfrm>
                    <a:off x="3372" y="2594"/>
                    <a:ext cx="308" cy="18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lnSpc>
                        <a:spcPct val="60000"/>
                      </a:lnSpc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solidFill>
                          <a:schemeClr val="tx2"/>
                        </a:solidFill>
                      </a:rPr>
                      <a:t>10</a:t>
                    </a:r>
                    <a:endParaRPr lang="en-US" altLang="zh-CN" sz="36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97354" name="Text Box 142"/>
                  <p:cNvSpPr txBox="1"/>
                  <p:nvPr/>
                </p:nvSpPr>
                <p:spPr>
                  <a:xfrm>
                    <a:off x="3372" y="1250"/>
                    <a:ext cx="394" cy="18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lnSpc>
                        <a:spcPct val="60000"/>
                      </a:lnSpc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solidFill>
                          <a:schemeClr val="tx2"/>
                        </a:solidFill>
                      </a:rPr>
                      <a:t>CD</a:t>
                    </a:r>
                    <a:endParaRPr lang="en-US" altLang="zh-CN" sz="2400" b="1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97355" name="Text Box 143"/>
                  <p:cNvSpPr txBox="1"/>
                  <p:nvPr/>
                </p:nvSpPr>
                <p:spPr>
                  <a:xfrm>
                    <a:off x="3073" y="1442"/>
                    <a:ext cx="383" cy="18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 anchor="ctr" anchorCtr="0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lnSpc>
                        <a:spcPct val="60000"/>
                      </a:lnSpc>
                      <a:spcBef>
                        <a:spcPct val="0"/>
                      </a:spcBef>
                      <a:buNone/>
                    </a:pPr>
                    <a:r>
                      <a:rPr lang="en-US" altLang="zh-CN" sz="2400" b="1" dirty="0">
                        <a:solidFill>
                          <a:schemeClr val="tx2"/>
                        </a:solidFill>
                      </a:rPr>
                      <a:t>AB</a:t>
                    </a:r>
                    <a:endParaRPr lang="en-US" altLang="zh-CN" sz="2400" b="1" dirty="0">
                      <a:solidFill>
                        <a:schemeClr val="tx2"/>
                      </a:solidFill>
                    </a:endParaRPr>
                  </a:p>
                </p:txBody>
              </p:sp>
            </p:grpSp>
          </p:grpSp>
          <p:sp>
            <p:nvSpPr>
              <p:cNvPr id="97327" name="Text Box 144" descr="75%"/>
              <p:cNvSpPr txBox="1"/>
              <p:nvPr/>
            </p:nvSpPr>
            <p:spPr>
              <a:xfrm>
                <a:off x="3504" y="2407"/>
                <a:ext cx="212" cy="2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7328" name="Text Box 145" descr="75%"/>
              <p:cNvSpPr txBox="1"/>
              <p:nvPr/>
            </p:nvSpPr>
            <p:spPr>
              <a:xfrm>
                <a:off x="4704" y="2407"/>
                <a:ext cx="212" cy="2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7329" name="Text Box 146" descr="75%"/>
              <p:cNvSpPr txBox="1"/>
              <p:nvPr/>
            </p:nvSpPr>
            <p:spPr>
              <a:xfrm>
                <a:off x="4320" y="2407"/>
                <a:ext cx="212" cy="2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7330" name="Text Box 147" descr="75%"/>
              <p:cNvSpPr txBox="1"/>
              <p:nvPr/>
            </p:nvSpPr>
            <p:spPr>
              <a:xfrm>
                <a:off x="3504" y="2694"/>
                <a:ext cx="212" cy="2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7331" name="Text Box 148" descr="75%"/>
              <p:cNvSpPr txBox="1"/>
              <p:nvPr/>
            </p:nvSpPr>
            <p:spPr>
              <a:xfrm>
                <a:off x="4704" y="2694"/>
                <a:ext cx="212" cy="2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7332" name="Text Box 149" descr="75%"/>
              <p:cNvSpPr txBox="1"/>
              <p:nvPr/>
            </p:nvSpPr>
            <p:spPr>
              <a:xfrm>
                <a:off x="3504" y="3318"/>
                <a:ext cx="212" cy="2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7333" name="Text Box 150" descr="75%"/>
              <p:cNvSpPr txBox="1"/>
              <p:nvPr/>
            </p:nvSpPr>
            <p:spPr>
              <a:xfrm>
                <a:off x="4704" y="3366"/>
                <a:ext cx="212" cy="2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7334" name="Text Box 151" descr="75%"/>
              <p:cNvSpPr txBox="1"/>
              <p:nvPr/>
            </p:nvSpPr>
            <p:spPr>
              <a:xfrm>
                <a:off x="4272" y="3366"/>
                <a:ext cx="263" cy="2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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7335" name="Text Box 152" descr="75%"/>
              <p:cNvSpPr txBox="1"/>
              <p:nvPr/>
            </p:nvSpPr>
            <p:spPr>
              <a:xfrm>
                <a:off x="3456" y="2982"/>
                <a:ext cx="263" cy="2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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7336" name="Text Box 153" descr="75%"/>
              <p:cNvSpPr txBox="1"/>
              <p:nvPr/>
            </p:nvSpPr>
            <p:spPr>
              <a:xfrm>
                <a:off x="4656" y="2982"/>
                <a:ext cx="263" cy="2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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7337" name="Text Box 154" descr="75%"/>
              <p:cNvSpPr txBox="1"/>
              <p:nvPr/>
            </p:nvSpPr>
            <p:spPr>
              <a:xfrm>
                <a:off x="4272" y="2982"/>
                <a:ext cx="263" cy="2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  <a:sym typeface="Symbol" panose="05050102010706020507" pitchFamily="18" charset="2"/>
                  </a:rPr>
                  <a:t>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grpSp>
            <p:nvGrpSpPr>
              <p:cNvPr id="97338" name="Group 155"/>
              <p:cNvGrpSpPr/>
              <p:nvPr/>
            </p:nvGrpSpPr>
            <p:grpSpPr>
              <a:xfrm>
                <a:off x="3936" y="2407"/>
                <a:ext cx="576" cy="1234"/>
                <a:chOff x="3936" y="2407"/>
                <a:chExt cx="576" cy="1234"/>
              </a:xfrm>
            </p:grpSpPr>
            <p:sp>
              <p:nvSpPr>
                <p:cNvPr id="97339" name="Text Box 156" descr="75%"/>
                <p:cNvSpPr txBox="1"/>
                <p:nvPr/>
              </p:nvSpPr>
              <p:spPr>
                <a:xfrm>
                  <a:off x="3936" y="2407"/>
                  <a:ext cx="212" cy="27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0</a:t>
                  </a:r>
                  <a:endParaRPr lang="en-US" altLang="zh-CN" sz="24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97340" name="Text Box 157" descr="75%"/>
                <p:cNvSpPr txBox="1"/>
                <p:nvPr/>
              </p:nvSpPr>
              <p:spPr>
                <a:xfrm>
                  <a:off x="3936" y="2694"/>
                  <a:ext cx="212" cy="27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0</a:t>
                  </a:r>
                  <a:endParaRPr lang="en-US" altLang="zh-CN" sz="24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97341" name="Text Box 158" descr="75%"/>
                <p:cNvSpPr txBox="1"/>
                <p:nvPr/>
              </p:nvSpPr>
              <p:spPr>
                <a:xfrm>
                  <a:off x="3936" y="3030"/>
                  <a:ext cx="212" cy="27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0</a:t>
                  </a:r>
                  <a:endParaRPr lang="en-US" altLang="zh-CN" sz="24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97342" name="Text Box 159" descr="75%"/>
                <p:cNvSpPr txBox="1"/>
                <p:nvPr/>
              </p:nvSpPr>
              <p:spPr>
                <a:xfrm>
                  <a:off x="3936" y="3366"/>
                  <a:ext cx="212" cy="27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0</a:t>
                  </a:r>
                  <a:endParaRPr lang="en-US" altLang="zh-CN" sz="24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97343" name="Text Box 160" descr="75%"/>
                <p:cNvSpPr txBox="1"/>
                <p:nvPr/>
              </p:nvSpPr>
              <p:spPr>
                <a:xfrm>
                  <a:off x="4300" y="2694"/>
                  <a:ext cx="212" cy="27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0</a:t>
                  </a:r>
                  <a:endParaRPr lang="en-US" altLang="zh-CN" sz="2400" b="1" dirty="0">
                    <a:solidFill>
                      <a:schemeClr val="tx2"/>
                    </a:solidFill>
                  </a:endParaRPr>
                </a:p>
              </p:txBody>
            </p:sp>
          </p:grpSp>
        </p:grpSp>
      </p:grpSp>
      <p:grpSp>
        <p:nvGrpSpPr>
          <p:cNvPr id="16" name="Group 161"/>
          <p:cNvGrpSpPr/>
          <p:nvPr/>
        </p:nvGrpSpPr>
        <p:grpSpPr>
          <a:xfrm>
            <a:off x="5427663" y="3656013"/>
            <a:ext cx="2514600" cy="1905000"/>
            <a:chOff x="3408" y="2448"/>
            <a:chExt cx="1584" cy="1200"/>
          </a:xfrm>
        </p:grpSpPr>
        <p:sp>
          <p:nvSpPr>
            <p:cNvPr id="97322" name="AutoShape 162" descr="75%"/>
            <p:cNvSpPr/>
            <p:nvPr/>
          </p:nvSpPr>
          <p:spPr>
            <a:xfrm>
              <a:off x="4656" y="2448"/>
              <a:ext cx="336" cy="1200"/>
            </a:xfrm>
            <a:prstGeom prst="leftBracket">
              <a:avLst>
                <a:gd name="adj" fmla="val 29761"/>
              </a:avLst>
            </a:prstGeom>
            <a:noFill/>
            <a:ln w="3810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97323" name="AutoShape 163" descr="75%"/>
            <p:cNvSpPr/>
            <p:nvPr/>
          </p:nvSpPr>
          <p:spPr>
            <a:xfrm>
              <a:off x="3408" y="2448"/>
              <a:ext cx="384" cy="1152"/>
            </a:xfrm>
            <a:prstGeom prst="rightBracket">
              <a:avLst>
                <a:gd name="adj" fmla="val 25000"/>
              </a:avLst>
            </a:prstGeom>
            <a:noFill/>
            <a:ln w="3810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7" name="Group 164"/>
          <p:cNvGrpSpPr/>
          <p:nvPr/>
        </p:nvGrpSpPr>
        <p:grpSpPr>
          <a:xfrm>
            <a:off x="6799263" y="3579813"/>
            <a:ext cx="914400" cy="2135187"/>
            <a:chOff x="4320" y="2351"/>
            <a:chExt cx="576" cy="1345"/>
          </a:xfrm>
        </p:grpSpPr>
        <p:sp>
          <p:nvSpPr>
            <p:cNvPr id="97320" name="AutoShape 165" descr="75%"/>
            <p:cNvSpPr/>
            <p:nvPr/>
          </p:nvSpPr>
          <p:spPr>
            <a:xfrm rot="-5468470">
              <a:off x="4440" y="3240"/>
              <a:ext cx="336" cy="576"/>
            </a:xfrm>
            <a:prstGeom prst="rightBracket">
              <a:avLst>
                <a:gd name="adj" fmla="val 14285"/>
              </a:avLst>
            </a:prstGeom>
            <a:noFill/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97321" name="AutoShape 166" descr="75%"/>
            <p:cNvSpPr/>
            <p:nvPr/>
          </p:nvSpPr>
          <p:spPr>
            <a:xfrm rot="5468470" flipV="1">
              <a:off x="4463" y="2207"/>
              <a:ext cx="288" cy="575"/>
            </a:xfrm>
            <a:prstGeom prst="rightBracket">
              <a:avLst>
                <a:gd name="adj" fmla="val 16637"/>
              </a:avLst>
            </a:prstGeom>
            <a:noFill/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</p:grpSp>
      <p:sp>
        <p:nvSpPr>
          <p:cNvPr id="81063" name="Line 167"/>
          <p:cNvSpPr/>
          <p:nvPr/>
        </p:nvSpPr>
        <p:spPr>
          <a:xfrm flipV="1">
            <a:off x="5503863" y="3046413"/>
            <a:ext cx="0" cy="609600"/>
          </a:xfrm>
          <a:prstGeom prst="line">
            <a:avLst/>
          </a:prstGeom>
          <a:ln w="3810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1064" name="Line 168"/>
          <p:cNvSpPr/>
          <p:nvPr/>
        </p:nvSpPr>
        <p:spPr>
          <a:xfrm flipV="1">
            <a:off x="7713663" y="3198813"/>
            <a:ext cx="0" cy="45720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81065" name="Object 169" descr="75%"/>
          <p:cNvGraphicFramePr>
            <a:graphicFrameLocks noChangeAspect="1"/>
          </p:cNvGraphicFramePr>
          <p:nvPr/>
        </p:nvGraphicFramePr>
        <p:xfrm>
          <a:off x="5351463" y="2589213"/>
          <a:ext cx="328612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" name="" r:id="rId14" imgW="165100" imgH="203200" progId="Equation.3">
                  <p:embed/>
                </p:oleObj>
              </mc:Choice>
              <mc:Fallback>
                <p:oleObj name="" r:id="rId14" imgW="165100" imgH="203200" progId="Equation.3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351463" y="2589213"/>
                        <a:ext cx="328612" cy="404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066" name="Object 170" descr="75%"/>
          <p:cNvGraphicFramePr>
            <a:graphicFrameLocks noChangeAspect="1"/>
          </p:cNvGraphicFramePr>
          <p:nvPr/>
        </p:nvGraphicFramePr>
        <p:xfrm>
          <a:off x="7485063" y="2514600"/>
          <a:ext cx="5334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" name="" r:id="rId16" imgW="241300" imgH="215900" progId="Equation.3">
                  <p:embed/>
                </p:oleObj>
              </mc:Choice>
              <mc:Fallback>
                <p:oleObj name="" r:id="rId16" imgW="241300" imgH="215900" progId="Equation.3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485063" y="2514600"/>
                        <a:ext cx="533400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1070" name="Picture 174" descr="ag00108_">
            <a:hlinkClick r:id="rId18" action="ppaction://hlinksldjump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15200" y="6172200"/>
            <a:ext cx="990600" cy="517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0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9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80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8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23" grpId="0"/>
      <p:bldP spid="80924" grpId="0"/>
      <p:bldP spid="80925" grpId="0"/>
      <p:bldP spid="80926" grpId="0"/>
      <p:bldP spid="80927" grpId="0"/>
      <p:bldP spid="80928" grpId="0"/>
      <p:bldP spid="80929" grpId="0"/>
      <p:bldP spid="80930" grpId="0"/>
      <p:bldP spid="80931" grpId="0"/>
      <p:bldP spid="80932" grpId="0"/>
      <p:bldP spid="80933" grpId="0"/>
      <p:bldP spid="80934" grpId="0"/>
      <p:bldP spid="80935" grpId="0"/>
      <p:bldP spid="80941" grpId="0"/>
      <p:bldP spid="80942" grpId="0"/>
      <p:bldP spid="80953" grpId="0" animBg="1"/>
      <p:bldP spid="80962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6" name="Rectangle 3" descr="75%"/>
          <p:cNvSpPr/>
          <p:nvPr/>
        </p:nvSpPr>
        <p:spPr>
          <a:xfrm>
            <a:off x="533400" y="1066800"/>
            <a:ext cx="8077200" cy="5029200"/>
          </a:xfrm>
          <a:prstGeom prst="rect">
            <a:avLst/>
          </a:prstGeom>
          <a:noFill/>
          <a:ln w="38100" cap="flat" cmpd="sng">
            <a:pattFill prst="trellis">
              <a:fgClr>
                <a:srgbClr val="33CCCC"/>
              </a:fgClr>
              <a:bgClr>
                <a:srgbClr val="FFFFFF"/>
              </a:bgClr>
            </a:patt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750888" y="1219200"/>
            <a:ext cx="7097712" cy="914400"/>
            <a:chOff x="473" y="1008"/>
            <a:chExt cx="4471" cy="576"/>
          </a:xfrm>
        </p:grpSpPr>
        <p:sp>
          <p:nvSpPr>
            <p:cNvPr id="98377" name="Text Box 5" descr="75%"/>
            <p:cNvSpPr txBox="1"/>
            <p:nvPr/>
          </p:nvSpPr>
          <p:spPr>
            <a:xfrm>
              <a:off x="473" y="1008"/>
              <a:ext cx="19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例：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将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F(A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、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B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、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C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、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D)</a:t>
              </a:r>
              <a:endParaRPr lang="en-US" altLang="zh-CN" sz="2400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98378" name="Object 6" descr="75%"/>
            <p:cNvGraphicFramePr>
              <a:graphicFrameLocks noChangeAspect="1"/>
            </p:cNvGraphicFramePr>
            <p:nvPr/>
          </p:nvGraphicFramePr>
          <p:xfrm>
            <a:off x="2352" y="1008"/>
            <a:ext cx="2592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4" name="" r:id="rId1" imgW="2070100" imgH="215900" progId="Equation.3">
                    <p:embed/>
                  </p:oleObj>
                </mc:Choice>
                <mc:Fallback>
                  <p:oleObj name="" r:id="rId1" imgW="2070100" imgH="215900" progId="Equation.3">
                    <p:embed/>
                    <p:pic>
                      <p:nvPicPr>
                        <p:cNvPr id="0" name="图片 320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352" y="1008"/>
                          <a:ext cx="2592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379" name="Text Box 7" descr="75%"/>
            <p:cNvSpPr txBox="1"/>
            <p:nvPr/>
          </p:nvSpPr>
          <p:spPr>
            <a:xfrm>
              <a:off x="864" y="1296"/>
              <a:ext cx="205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化为最简与非</a:t>
              </a:r>
              <a:r>
                <a:rPr lang="en-US" altLang="zh-CN" sz="2400" b="1" dirty="0"/>
                <a:t>—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与非式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90120" name="Text Box 8" descr="75%"/>
          <p:cNvSpPr txBox="1"/>
          <p:nvPr/>
        </p:nvSpPr>
        <p:spPr>
          <a:xfrm>
            <a:off x="800100" y="2057400"/>
            <a:ext cx="8001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解：</a:t>
            </a:r>
            <a:endParaRPr lang="zh-CN" altLang="en-US" sz="3600" b="1" dirty="0">
              <a:solidFill>
                <a:schemeClr val="tx2"/>
              </a:solidFill>
            </a:endParaRPr>
          </a:p>
        </p:txBody>
      </p:sp>
      <p:grpSp>
        <p:nvGrpSpPr>
          <p:cNvPr id="3" name="Group 9"/>
          <p:cNvGrpSpPr/>
          <p:nvPr/>
        </p:nvGrpSpPr>
        <p:grpSpPr>
          <a:xfrm>
            <a:off x="4800600" y="2209800"/>
            <a:ext cx="3598863" cy="2593975"/>
            <a:chOff x="3024" y="1632"/>
            <a:chExt cx="2267" cy="1634"/>
          </a:xfrm>
        </p:grpSpPr>
        <p:grpSp>
          <p:nvGrpSpPr>
            <p:cNvPr id="98340" name="Group 10"/>
            <p:cNvGrpSpPr/>
            <p:nvPr/>
          </p:nvGrpSpPr>
          <p:grpSpPr>
            <a:xfrm>
              <a:off x="3024" y="1632"/>
              <a:ext cx="2267" cy="1634"/>
              <a:chOff x="3073" y="1246"/>
              <a:chExt cx="2267" cy="1634"/>
            </a:xfrm>
          </p:grpSpPr>
          <p:sp>
            <p:nvSpPr>
              <p:cNvPr id="98357" name="Text Box 11"/>
              <p:cNvSpPr txBox="1"/>
              <p:nvPr/>
            </p:nvSpPr>
            <p:spPr>
              <a:xfrm>
                <a:off x="3420" y="1966"/>
                <a:ext cx="308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01</a:t>
                </a:r>
                <a:endParaRPr lang="en-US" altLang="zh-CN" sz="3600" b="1" dirty="0">
                  <a:solidFill>
                    <a:schemeClr val="tx2"/>
                  </a:solidFill>
                </a:endParaRPr>
              </a:p>
            </p:txBody>
          </p:sp>
          <p:grpSp>
            <p:nvGrpSpPr>
              <p:cNvPr id="98358" name="Group 12"/>
              <p:cNvGrpSpPr/>
              <p:nvPr/>
            </p:nvGrpSpPr>
            <p:grpSpPr>
              <a:xfrm>
                <a:off x="3073" y="1246"/>
                <a:ext cx="2267" cy="1634"/>
                <a:chOff x="3073" y="1246"/>
                <a:chExt cx="2267" cy="1634"/>
              </a:xfrm>
            </p:grpSpPr>
            <p:grpSp>
              <p:nvGrpSpPr>
                <p:cNvPr id="98359" name="Group 13"/>
                <p:cNvGrpSpPr/>
                <p:nvPr/>
              </p:nvGrpSpPr>
              <p:grpSpPr>
                <a:xfrm>
                  <a:off x="3372" y="1392"/>
                  <a:ext cx="1968" cy="1488"/>
                  <a:chOff x="3216" y="2496"/>
                  <a:chExt cx="1968" cy="1488"/>
                </a:xfrm>
              </p:grpSpPr>
              <p:sp>
                <p:nvSpPr>
                  <p:cNvPr id="98369" name="Rectangle 14"/>
                  <p:cNvSpPr/>
                  <p:nvPr/>
                </p:nvSpPr>
                <p:spPr>
                  <a:xfrm>
                    <a:off x="3600" y="2736"/>
                    <a:ext cx="1584" cy="1248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kumimoji="1"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2"/>
                      </a:solidFill>
                    </a:endParaRPr>
                  </a:p>
                </p:txBody>
              </p:sp>
              <p:sp>
                <p:nvSpPr>
                  <p:cNvPr id="98370" name="Line 15"/>
                  <p:cNvSpPr/>
                  <p:nvPr/>
                </p:nvSpPr>
                <p:spPr>
                  <a:xfrm>
                    <a:off x="3600" y="3312"/>
                    <a:ext cx="1584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8371" name="Line 16"/>
                  <p:cNvSpPr/>
                  <p:nvPr/>
                </p:nvSpPr>
                <p:spPr>
                  <a:xfrm>
                    <a:off x="3600" y="3648"/>
                    <a:ext cx="1584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8372" name="Line 17"/>
                  <p:cNvSpPr/>
                  <p:nvPr/>
                </p:nvSpPr>
                <p:spPr>
                  <a:xfrm>
                    <a:off x="3600" y="3024"/>
                    <a:ext cx="1584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8373" name="Line 18"/>
                  <p:cNvSpPr/>
                  <p:nvPr/>
                </p:nvSpPr>
                <p:spPr>
                  <a:xfrm>
                    <a:off x="4416" y="2736"/>
                    <a:ext cx="0" cy="1248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8374" name="Line 19"/>
                  <p:cNvSpPr/>
                  <p:nvPr/>
                </p:nvSpPr>
                <p:spPr>
                  <a:xfrm>
                    <a:off x="4800" y="2736"/>
                    <a:ext cx="0" cy="1248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8375" name="Line 20"/>
                  <p:cNvSpPr/>
                  <p:nvPr/>
                </p:nvSpPr>
                <p:spPr>
                  <a:xfrm>
                    <a:off x="4032" y="2736"/>
                    <a:ext cx="0" cy="1248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8376" name="Line 21"/>
                  <p:cNvSpPr/>
                  <p:nvPr/>
                </p:nvSpPr>
                <p:spPr>
                  <a:xfrm>
                    <a:off x="3216" y="2496"/>
                    <a:ext cx="384" cy="24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98360" name="Text Box 22"/>
                <p:cNvSpPr txBox="1"/>
                <p:nvPr/>
              </p:nvSpPr>
              <p:spPr>
                <a:xfrm>
                  <a:off x="3832" y="1438"/>
                  <a:ext cx="308" cy="1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00</a:t>
                  </a:r>
                  <a:endParaRPr lang="en-US" altLang="zh-CN" sz="36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98361" name="Text Box 23"/>
                <p:cNvSpPr txBox="1"/>
                <p:nvPr/>
              </p:nvSpPr>
              <p:spPr>
                <a:xfrm>
                  <a:off x="4216" y="1438"/>
                  <a:ext cx="308" cy="1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01</a:t>
                  </a:r>
                  <a:endParaRPr lang="en-US" altLang="zh-CN" sz="36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98362" name="Text Box 24"/>
                <p:cNvSpPr txBox="1"/>
                <p:nvPr/>
              </p:nvSpPr>
              <p:spPr>
                <a:xfrm>
                  <a:off x="4600" y="1438"/>
                  <a:ext cx="308" cy="1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11</a:t>
                  </a:r>
                  <a:endParaRPr lang="en-US" altLang="zh-CN" sz="36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98363" name="Text Box 25"/>
                <p:cNvSpPr txBox="1"/>
                <p:nvPr/>
              </p:nvSpPr>
              <p:spPr>
                <a:xfrm>
                  <a:off x="4984" y="1438"/>
                  <a:ext cx="308" cy="1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10</a:t>
                  </a:r>
                  <a:endParaRPr lang="en-US" altLang="zh-CN" sz="36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98364" name="Text Box 26"/>
                <p:cNvSpPr txBox="1"/>
                <p:nvPr/>
              </p:nvSpPr>
              <p:spPr>
                <a:xfrm>
                  <a:off x="3420" y="1678"/>
                  <a:ext cx="308" cy="1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00</a:t>
                  </a:r>
                  <a:endParaRPr lang="en-US" altLang="zh-CN" sz="36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98365" name="Text Box 27"/>
                <p:cNvSpPr txBox="1"/>
                <p:nvPr/>
              </p:nvSpPr>
              <p:spPr>
                <a:xfrm>
                  <a:off x="3400" y="2302"/>
                  <a:ext cx="308" cy="1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11</a:t>
                  </a:r>
                  <a:endParaRPr lang="en-US" altLang="zh-CN" sz="36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98366" name="Text Box 28"/>
                <p:cNvSpPr txBox="1"/>
                <p:nvPr/>
              </p:nvSpPr>
              <p:spPr>
                <a:xfrm>
                  <a:off x="3372" y="2590"/>
                  <a:ext cx="308" cy="1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10</a:t>
                  </a:r>
                  <a:endParaRPr lang="en-US" altLang="zh-CN" sz="36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98367" name="Text Box 29"/>
                <p:cNvSpPr txBox="1"/>
                <p:nvPr/>
              </p:nvSpPr>
              <p:spPr>
                <a:xfrm>
                  <a:off x="3372" y="1246"/>
                  <a:ext cx="394" cy="1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CD</a:t>
                  </a:r>
                  <a:endParaRPr lang="en-US" altLang="zh-CN" sz="2400" b="1" dirty="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98368" name="Text Box 30"/>
                <p:cNvSpPr txBox="1"/>
                <p:nvPr/>
              </p:nvSpPr>
              <p:spPr>
                <a:xfrm>
                  <a:off x="3073" y="1438"/>
                  <a:ext cx="383" cy="1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6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chemeClr val="tx2"/>
                      </a:solidFill>
                    </a:rPr>
                    <a:t>AB</a:t>
                  </a:r>
                  <a:endParaRPr lang="en-US" altLang="zh-CN" sz="2400" b="1" dirty="0">
                    <a:solidFill>
                      <a:schemeClr val="tx2"/>
                    </a:solidFill>
                  </a:endParaRPr>
                </a:p>
              </p:txBody>
            </p:sp>
          </p:grpSp>
        </p:grpSp>
        <p:grpSp>
          <p:nvGrpSpPr>
            <p:cNvPr id="98341" name="Group 31"/>
            <p:cNvGrpSpPr/>
            <p:nvPr/>
          </p:nvGrpSpPr>
          <p:grpSpPr>
            <a:xfrm>
              <a:off x="3839" y="2114"/>
              <a:ext cx="212" cy="436"/>
              <a:chOff x="4656" y="1726"/>
              <a:chExt cx="212" cy="436"/>
            </a:xfrm>
          </p:grpSpPr>
          <p:sp>
            <p:nvSpPr>
              <p:cNvPr id="98355" name="Text Box 32" descr="75%"/>
              <p:cNvSpPr txBox="1"/>
              <p:nvPr/>
            </p:nvSpPr>
            <p:spPr>
              <a:xfrm>
                <a:off x="4656" y="1726"/>
                <a:ext cx="212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8356" name="Text Box 33" descr="75%"/>
              <p:cNvSpPr txBox="1"/>
              <p:nvPr/>
            </p:nvSpPr>
            <p:spPr>
              <a:xfrm>
                <a:off x="4656" y="1966"/>
                <a:ext cx="212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98342" name="Group 34"/>
            <p:cNvGrpSpPr/>
            <p:nvPr/>
          </p:nvGrpSpPr>
          <p:grpSpPr>
            <a:xfrm>
              <a:off x="3839" y="2688"/>
              <a:ext cx="1364" cy="196"/>
              <a:chOff x="3888" y="2302"/>
              <a:chExt cx="1364" cy="196"/>
            </a:xfrm>
          </p:grpSpPr>
          <p:sp>
            <p:nvSpPr>
              <p:cNvPr id="98351" name="Text Box 35" descr="75%"/>
              <p:cNvSpPr txBox="1"/>
              <p:nvPr/>
            </p:nvSpPr>
            <p:spPr>
              <a:xfrm>
                <a:off x="3888" y="2302"/>
                <a:ext cx="212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5000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8352" name="Text Box 36" descr="75%"/>
              <p:cNvSpPr txBox="1"/>
              <p:nvPr/>
            </p:nvSpPr>
            <p:spPr>
              <a:xfrm>
                <a:off x="4272" y="2302"/>
                <a:ext cx="212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5000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8353" name="Text Box 37" descr="75%"/>
              <p:cNvSpPr txBox="1"/>
              <p:nvPr/>
            </p:nvSpPr>
            <p:spPr>
              <a:xfrm>
                <a:off x="4656" y="2302"/>
                <a:ext cx="212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5000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8354" name="Text Box 38" descr="75%"/>
              <p:cNvSpPr txBox="1"/>
              <p:nvPr/>
            </p:nvSpPr>
            <p:spPr>
              <a:xfrm>
                <a:off x="5040" y="2302"/>
                <a:ext cx="212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5000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98343" name="Group 39"/>
            <p:cNvGrpSpPr/>
            <p:nvPr/>
          </p:nvGrpSpPr>
          <p:grpSpPr>
            <a:xfrm>
              <a:off x="4223" y="2114"/>
              <a:ext cx="212" cy="1058"/>
              <a:chOff x="4272" y="1728"/>
              <a:chExt cx="212" cy="1058"/>
            </a:xfrm>
          </p:grpSpPr>
          <p:sp>
            <p:nvSpPr>
              <p:cNvPr id="98349" name="Text Box 40" descr="75%"/>
              <p:cNvSpPr txBox="1"/>
              <p:nvPr/>
            </p:nvSpPr>
            <p:spPr>
              <a:xfrm>
                <a:off x="4272" y="2590"/>
                <a:ext cx="212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8350" name="Text Box 41" descr="75%"/>
              <p:cNvSpPr txBox="1"/>
              <p:nvPr/>
            </p:nvSpPr>
            <p:spPr>
              <a:xfrm>
                <a:off x="4272" y="1728"/>
                <a:ext cx="212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lnSpc>
                    <a:spcPct val="6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98344" name="Group 42"/>
            <p:cNvGrpSpPr/>
            <p:nvPr/>
          </p:nvGrpSpPr>
          <p:grpSpPr>
            <a:xfrm>
              <a:off x="4607" y="2306"/>
              <a:ext cx="596" cy="288"/>
              <a:chOff x="4656" y="1920"/>
              <a:chExt cx="596" cy="288"/>
            </a:xfrm>
          </p:grpSpPr>
          <p:sp>
            <p:nvSpPr>
              <p:cNvPr id="98347" name="Text Box 43" descr="75%"/>
              <p:cNvSpPr txBox="1"/>
              <p:nvPr/>
            </p:nvSpPr>
            <p:spPr>
              <a:xfrm>
                <a:off x="4656" y="1920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8348" name="Text Box 44" descr="75%"/>
              <p:cNvSpPr txBox="1"/>
              <p:nvPr/>
            </p:nvSpPr>
            <p:spPr>
              <a:xfrm>
                <a:off x="5040" y="1920"/>
                <a:ext cx="2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chemeClr val="tx2"/>
                    </a:solidFill>
                  </a:rPr>
                  <a:t>1</a:t>
                </a:r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98345" name="Text Box 45" descr="75%"/>
            <p:cNvSpPr txBox="1"/>
            <p:nvPr/>
          </p:nvSpPr>
          <p:spPr>
            <a:xfrm>
              <a:off x="4607" y="293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98346" name="Text Box 46" descr="75%"/>
            <p:cNvSpPr txBox="1"/>
            <p:nvPr/>
          </p:nvSpPr>
          <p:spPr>
            <a:xfrm>
              <a:off x="4991" y="293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1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90159" name="Rectangle 47" descr="75%"/>
          <p:cNvSpPr/>
          <p:nvPr/>
        </p:nvSpPr>
        <p:spPr>
          <a:xfrm>
            <a:off x="7315200" y="3352800"/>
            <a:ext cx="990600" cy="8382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90160" name="Oval 48" descr="75%"/>
          <p:cNvSpPr/>
          <p:nvPr/>
        </p:nvSpPr>
        <p:spPr>
          <a:xfrm>
            <a:off x="6629400" y="3810000"/>
            <a:ext cx="1066800" cy="990600"/>
          </a:xfrm>
          <a:prstGeom prst="ellipse">
            <a:avLst/>
          </a:prstGeom>
          <a:noFill/>
          <a:ln w="38100" cap="flat" cmpd="sng">
            <a:solidFill>
              <a:srgbClr val="CC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90161" name="Oval 49" descr="75%"/>
          <p:cNvSpPr/>
          <p:nvPr/>
        </p:nvSpPr>
        <p:spPr>
          <a:xfrm>
            <a:off x="7315200" y="3733800"/>
            <a:ext cx="1066800" cy="1066800"/>
          </a:xfrm>
          <a:prstGeom prst="ellipse">
            <a:avLst/>
          </a:prstGeom>
          <a:noFill/>
          <a:ln w="3810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90162" name="Oval 50" descr="75%"/>
          <p:cNvSpPr/>
          <p:nvPr/>
        </p:nvSpPr>
        <p:spPr>
          <a:xfrm>
            <a:off x="6019800" y="2895600"/>
            <a:ext cx="1066800" cy="381000"/>
          </a:xfrm>
          <a:prstGeom prst="ellipse">
            <a:avLst/>
          </a:prstGeom>
          <a:noFill/>
          <a:ln w="38100" cap="flat" cmpd="sng">
            <a:solidFill>
              <a:srgbClr val="FFFF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90163" name="Line 51"/>
          <p:cNvSpPr/>
          <p:nvPr/>
        </p:nvSpPr>
        <p:spPr>
          <a:xfrm>
            <a:off x="7848600" y="4800600"/>
            <a:ext cx="0" cy="22860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64" name="Text Box 52" descr="75%"/>
          <p:cNvSpPr txBox="1"/>
          <p:nvPr/>
        </p:nvSpPr>
        <p:spPr>
          <a:xfrm>
            <a:off x="7604125" y="4953000"/>
            <a:ext cx="6254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AC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90165" name="Line 53"/>
          <p:cNvSpPr/>
          <p:nvPr/>
        </p:nvSpPr>
        <p:spPr>
          <a:xfrm>
            <a:off x="7162800" y="4800600"/>
            <a:ext cx="0" cy="381000"/>
          </a:xfrm>
          <a:prstGeom prst="line">
            <a:avLst/>
          </a:prstGeom>
          <a:ln w="3810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66" name="Text Box 54" descr="75%"/>
          <p:cNvSpPr txBox="1"/>
          <p:nvPr/>
        </p:nvSpPr>
        <p:spPr>
          <a:xfrm>
            <a:off x="6858000" y="5181600"/>
            <a:ext cx="6254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AD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90167" name="Line 55"/>
          <p:cNvSpPr/>
          <p:nvPr/>
        </p:nvSpPr>
        <p:spPr>
          <a:xfrm flipV="1">
            <a:off x="7543800" y="2286000"/>
            <a:ext cx="0" cy="1066800"/>
          </a:xfrm>
          <a:prstGeom prst="line">
            <a:avLst/>
          </a:prstGeom>
          <a:ln w="38100" cap="flat" cmpd="sng">
            <a:solidFill>
              <a:srgbClr val="00FF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68" name="Text Box 56" descr="75%"/>
          <p:cNvSpPr txBox="1"/>
          <p:nvPr/>
        </p:nvSpPr>
        <p:spPr>
          <a:xfrm>
            <a:off x="7162800" y="1828800"/>
            <a:ext cx="6080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BC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90169" name="Line 57"/>
          <p:cNvSpPr/>
          <p:nvPr/>
        </p:nvSpPr>
        <p:spPr>
          <a:xfrm flipH="1">
            <a:off x="5105400" y="3810000"/>
            <a:ext cx="838200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1" name="Group 58"/>
          <p:cNvGrpSpPr/>
          <p:nvPr/>
        </p:nvGrpSpPr>
        <p:grpSpPr>
          <a:xfrm>
            <a:off x="4495800" y="3581400"/>
            <a:ext cx="608013" cy="457200"/>
            <a:chOff x="2832" y="2496"/>
            <a:chExt cx="383" cy="288"/>
          </a:xfrm>
        </p:grpSpPr>
        <p:sp>
          <p:nvSpPr>
            <p:cNvPr id="98338" name="Text Box 59" descr="75%"/>
            <p:cNvSpPr txBox="1"/>
            <p:nvPr/>
          </p:nvSpPr>
          <p:spPr>
            <a:xfrm>
              <a:off x="2832" y="2496"/>
              <a:ext cx="3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BD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98339" name="Line 60"/>
            <p:cNvSpPr/>
            <p:nvPr/>
          </p:nvSpPr>
          <p:spPr>
            <a:xfrm>
              <a:off x="3024" y="2544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90173" name="Line 61"/>
          <p:cNvSpPr/>
          <p:nvPr/>
        </p:nvSpPr>
        <p:spPr>
          <a:xfrm flipV="1">
            <a:off x="6477000" y="2209800"/>
            <a:ext cx="0" cy="685800"/>
          </a:xfrm>
          <a:prstGeom prst="line">
            <a:avLst/>
          </a:prstGeom>
          <a:ln w="38100" cap="flat" cmpd="sng">
            <a:solidFill>
              <a:srgbClr val="FFFF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2" name="Group 62"/>
          <p:cNvGrpSpPr/>
          <p:nvPr/>
        </p:nvGrpSpPr>
        <p:grpSpPr>
          <a:xfrm>
            <a:off x="5953125" y="1828800"/>
            <a:ext cx="981075" cy="457200"/>
            <a:chOff x="3696" y="1440"/>
            <a:chExt cx="618" cy="288"/>
          </a:xfrm>
        </p:grpSpPr>
        <p:sp>
          <p:nvSpPr>
            <p:cNvPr id="98334" name="Text Box 63" descr="75%"/>
            <p:cNvSpPr txBox="1"/>
            <p:nvPr/>
          </p:nvSpPr>
          <p:spPr>
            <a:xfrm>
              <a:off x="3696" y="1440"/>
              <a:ext cx="61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chemeClr val="tx2"/>
                  </a:solidFill>
                </a:rPr>
                <a:t>A B C</a:t>
              </a:r>
              <a:endParaRPr lang="en-US" altLang="zh-CN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98335" name="Line 64"/>
            <p:cNvSpPr/>
            <p:nvPr/>
          </p:nvSpPr>
          <p:spPr>
            <a:xfrm>
              <a:off x="3792" y="1488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8336" name="Line 65"/>
            <p:cNvSpPr/>
            <p:nvPr/>
          </p:nvSpPr>
          <p:spPr>
            <a:xfrm>
              <a:off x="4128" y="1488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8337" name="Line 66"/>
            <p:cNvSpPr/>
            <p:nvPr/>
          </p:nvSpPr>
          <p:spPr>
            <a:xfrm>
              <a:off x="3936" y="1488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90179" name="Text Box 67" descr="75%"/>
          <p:cNvSpPr txBox="1"/>
          <p:nvPr/>
        </p:nvSpPr>
        <p:spPr>
          <a:xfrm>
            <a:off x="609600" y="2590800"/>
            <a:ext cx="14160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化简得：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grpSp>
        <p:nvGrpSpPr>
          <p:cNvPr id="13" name="Group 68"/>
          <p:cNvGrpSpPr/>
          <p:nvPr/>
        </p:nvGrpSpPr>
        <p:grpSpPr>
          <a:xfrm>
            <a:off x="5791200" y="3352800"/>
            <a:ext cx="2895600" cy="838200"/>
            <a:chOff x="3648" y="2352"/>
            <a:chExt cx="1824" cy="528"/>
          </a:xfrm>
        </p:grpSpPr>
        <p:sp>
          <p:nvSpPr>
            <p:cNvPr id="98332" name="AutoShape 69" descr="75%"/>
            <p:cNvSpPr/>
            <p:nvPr/>
          </p:nvSpPr>
          <p:spPr>
            <a:xfrm>
              <a:off x="3648" y="2352"/>
              <a:ext cx="432" cy="528"/>
            </a:xfrm>
            <a:prstGeom prst="rightBracket">
              <a:avLst>
                <a:gd name="adj" fmla="val 10185"/>
              </a:avLst>
            </a:prstGeom>
            <a:noFill/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98333" name="AutoShape 70" descr="75%"/>
            <p:cNvSpPr/>
            <p:nvPr/>
          </p:nvSpPr>
          <p:spPr>
            <a:xfrm>
              <a:off x="4896" y="2352"/>
              <a:ext cx="576" cy="528"/>
            </a:xfrm>
            <a:prstGeom prst="leftBracket">
              <a:avLst>
                <a:gd name="adj" fmla="val 8333"/>
              </a:avLst>
            </a:prstGeom>
            <a:noFill/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2"/>
                </a:solidFill>
              </a:endParaRPr>
            </a:p>
          </p:txBody>
        </p:sp>
      </p:grpSp>
      <p:graphicFrame>
        <p:nvGraphicFramePr>
          <p:cNvPr id="90183" name="Object 71" descr="75%"/>
          <p:cNvGraphicFramePr>
            <a:graphicFrameLocks noChangeAspect="1"/>
          </p:cNvGraphicFramePr>
          <p:nvPr/>
        </p:nvGraphicFramePr>
        <p:xfrm>
          <a:off x="685800" y="2986088"/>
          <a:ext cx="396875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" r:id="rId3" imgW="1993265" imgH="215900" progId="Equation.3">
                  <p:embed/>
                </p:oleObj>
              </mc:Choice>
              <mc:Fallback>
                <p:oleObj name="" r:id="rId3" imgW="1993265" imgH="215900" progId="Equation.3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5800" y="2986088"/>
                        <a:ext cx="3968750" cy="519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84" name="Text Box 72" descr="75%"/>
          <p:cNvSpPr txBox="1"/>
          <p:nvPr/>
        </p:nvSpPr>
        <p:spPr>
          <a:xfrm>
            <a:off x="685800" y="3810000"/>
            <a:ext cx="3254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最简与非</a:t>
            </a:r>
            <a:r>
              <a:rPr lang="en-US" altLang="zh-CN" sz="2400" b="1" dirty="0"/>
              <a:t>—</a:t>
            </a:r>
            <a:r>
              <a:rPr lang="zh-CN" altLang="en-US" sz="2400" b="1" dirty="0">
                <a:latin typeface="宋体" panose="02010600030101010101" pitchFamily="2" charset="-122"/>
              </a:rPr>
              <a:t>与非式为：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graphicFrame>
        <p:nvGraphicFramePr>
          <p:cNvPr id="90185" name="Object 73" descr="75%"/>
          <p:cNvGraphicFramePr>
            <a:graphicFrameLocks noChangeAspect="1"/>
          </p:cNvGraphicFramePr>
          <p:nvPr/>
        </p:nvGraphicFramePr>
        <p:xfrm>
          <a:off x="681038" y="4495800"/>
          <a:ext cx="4424362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" name="" r:id="rId5" imgW="2222500" imgH="266700" progId="Equation.3">
                  <p:embed/>
                </p:oleObj>
              </mc:Choice>
              <mc:Fallback>
                <p:oleObj name="" r:id="rId5" imgW="2222500" imgH="266700" progId="Equation.3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1038" y="4495800"/>
                        <a:ext cx="4424362" cy="642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86" name="Object 74" descr="75%"/>
          <p:cNvGraphicFramePr>
            <a:graphicFrameLocks noChangeAspect="1"/>
          </p:cNvGraphicFramePr>
          <p:nvPr/>
        </p:nvGraphicFramePr>
        <p:xfrm>
          <a:off x="1371600" y="5257800"/>
          <a:ext cx="4191000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" r:id="rId7" imgW="1701800" imgH="266700" progId="Equation.3">
                  <p:embed/>
                </p:oleObj>
              </mc:Choice>
              <mc:Fallback>
                <p:oleObj name="" r:id="rId7" imgW="1701800" imgH="266700" progId="Equation.3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71600" y="5257800"/>
                        <a:ext cx="4191000" cy="652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30" name="Text Box 76"/>
          <p:cNvSpPr txBox="1"/>
          <p:nvPr/>
        </p:nvSpPr>
        <p:spPr>
          <a:xfrm>
            <a:off x="533400" y="304800"/>
            <a:ext cx="3429000" cy="64135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Left">
              <a:rot lat="0" lon="0" rev="0"/>
            </a:camera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 anchorCtr="0"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rgbClr val="CC0000"/>
                </a:solidFill>
                <a:ea typeface="隶书" panose="02010509060101010101" pitchFamily="49" charset="-122"/>
              </a:rPr>
              <a:t>图形法化简函数</a:t>
            </a:r>
            <a:endParaRPr lang="zh-CN" altLang="en-US" sz="3600" b="1" dirty="0">
              <a:solidFill>
                <a:srgbClr val="CC0000"/>
              </a:solidFill>
              <a:ea typeface="隶书" panose="02010509060101010101" pitchFamily="49" charset="-122"/>
            </a:endParaRPr>
          </a:p>
        </p:txBody>
      </p:sp>
      <p:pic>
        <p:nvPicPr>
          <p:cNvPr id="90189" name="Picture 77" descr="ag00108_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0" y="6172200"/>
            <a:ext cx="990600" cy="517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9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5" dur="500"/>
                                        <p:tgtEl>
                                          <p:spTgt spid="9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0" dur="500"/>
                                        <p:tgtEl>
                                          <p:spTgt spid="9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5" dur="500"/>
                                        <p:tgtEl>
                                          <p:spTgt spid="9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0" dur="500"/>
                                        <p:tgtEl>
                                          <p:spTgt spid="9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20" grpId="0"/>
      <p:bldP spid="90159" grpId="0" animBg="1"/>
      <p:bldP spid="90160" grpId="0" animBg="1"/>
      <p:bldP spid="90161" grpId="0" animBg="1"/>
      <p:bldP spid="90162" grpId="0" animBg="1"/>
      <p:bldP spid="90164" grpId="0"/>
      <p:bldP spid="90166" grpId="0"/>
      <p:bldP spid="90168" grpId="0"/>
      <p:bldP spid="90179" grpId="0"/>
      <p:bldP spid="90184" grpId="0"/>
    </p:bldLst>
  </p:timing>
</p:sld>
</file>

<file path=ppt/theme/theme1.xml><?xml version="1.0" encoding="utf-8"?>
<a:theme xmlns:a="http://schemas.openxmlformats.org/drawingml/2006/main" name="空演示文稿">
  <a:themeElements>
    <a:clrScheme name="空演示文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空演示文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  <a:txDef>
      <a:spPr bwMode="auto">
        <a:gradFill rotWithShape="0">
          <a:gsLst>
            <a:gs pos="0">
              <a:srgbClr val="FFFFFF">
                <a:gamma/>
                <a:shade val="46275"/>
                <a:invGamma/>
              </a:srgbClr>
            </a:gs>
            <a:gs pos="50000">
              <a:srgbClr val="FFFFFF"/>
            </a:gs>
            <a:gs pos="100000">
              <a:srgbClr val="FFFFFF">
                <a:gamma/>
                <a:shade val="46275"/>
                <a:invGamma/>
              </a:srgbClr>
            </a:gs>
          </a:gsLst>
          <a:lin ang="5400000" scaled="1"/>
        </a:gradFill>
        <a:ln>
          <a:noFill/>
        </a:ln>
        <a:scene3d>
          <a:camera prst="legacyPerspectiveBottom"/>
          <a:lightRig rig="legacyFlat3" dir="t"/>
        </a:scene3d>
        <a:sp3d extrusionH="887400" prstMaterial="legacyMatte">
          <a:bevelT w="13500" h="13500" prst="angle"/>
          <a:bevelB w="13500" h="13500" prst="angle"/>
          <a:extrusionClr>
            <a:srgbClr val="FFFFFF"/>
          </a:extrusionClr>
        </a:sp3d>
      </a:spPr>
      <a:bodyPr vert="horz" wrap="square" lIns="91440" tIns="45720" rIns="91440" bIns="45720" numCol="1" anchor="ctr" anchorCtr="0" compatLnSpc="1">
        <a:flatTx/>
      </a:bodyPr>
      <a:lstStyle>
        <a:defPPr>
          <a:spcBef>
            <a:spcPts val="1800"/>
          </a:spcBef>
          <a:defRPr sz="6600" b="1" dirty="0" smtClean="0">
            <a:solidFill>
              <a:srgbClr val="A50021"/>
            </a:solidFill>
            <a:latin typeface="隶书" panose="02010509060101010101" pitchFamily="49" charset="-122"/>
            <a:ea typeface="隶书" panose="02010509060101010101" pitchFamily="49" charset="-122"/>
          </a:defRPr>
        </a:defPPr>
      </a:lstStyle>
    </a:txDef>
  </a:objectDefaults>
  <a:extraClrSchemeLst>
    <a:extraClrScheme>
      <a:clrScheme name="空演示文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空演示文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Office\Templates\演示文稿设计\狂热型模板.pot</Template>
  <TotalTime>0</TotalTime>
  <Words>13691</Words>
  <Application>WPS 演示</Application>
  <PresentationFormat>全屏显示(4:3)</PresentationFormat>
  <Paragraphs>3445</Paragraphs>
  <Slides>90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132</vt:i4>
      </vt:variant>
      <vt:variant>
        <vt:lpstr>幻灯片标题</vt:lpstr>
      </vt:variant>
      <vt:variant>
        <vt:i4>90</vt:i4>
      </vt:variant>
    </vt:vector>
  </HeadingPairs>
  <TitlesOfParts>
    <vt:vector size="242" baseType="lpstr">
      <vt:lpstr>Arial</vt:lpstr>
      <vt:lpstr>宋体</vt:lpstr>
      <vt:lpstr>Wingdings</vt:lpstr>
      <vt:lpstr>Times New Roman</vt:lpstr>
      <vt:lpstr>楷体_GB2312</vt:lpstr>
      <vt:lpstr>新宋体</vt:lpstr>
      <vt:lpstr>隶书</vt:lpstr>
      <vt:lpstr>Garamond</vt:lpstr>
      <vt:lpstr>Symbol</vt:lpstr>
      <vt:lpstr>Verdana</vt:lpstr>
      <vt:lpstr>Arial Narrow</vt:lpstr>
      <vt:lpstr>华文行楷</vt:lpstr>
      <vt:lpstr>华康简宋</vt:lpstr>
      <vt:lpstr>幼圆</vt:lpstr>
      <vt:lpstr>黑体</vt:lpstr>
      <vt:lpstr>等线</vt:lpstr>
      <vt:lpstr>微软雅黑</vt:lpstr>
      <vt:lpstr>Arial Unicode MS</vt:lpstr>
      <vt:lpstr>Times New Roman</vt:lpstr>
      <vt:lpstr>空演示文稿</vt:lpstr>
      <vt:lpstr>Photoshop.Image.8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Equation.3</vt:lpstr>
      <vt:lpstr>Equation.3</vt:lpstr>
      <vt:lpstr>Equation.3</vt:lpstr>
      <vt:lpstr>Paint.Picture</vt:lpstr>
      <vt:lpstr>Paint.Picture</vt:lpstr>
      <vt:lpstr>Paint.Picture</vt:lpstr>
      <vt:lpstr>Paint.Picture</vt:lpstr>
      <vt:lpstr>Paint.Picture</vt:lpstr>
      <vt:lpstr>Paint.Picture</vt:lpstr>
      <vt:lpstr>Photoshop.Image.8</vt:lpstr>
      <vt:lpstr>Paint.Picture</vt:lpstr>
      <vt:lpstr>Paint.Picture</vt:lpstr>
      <vt:lpstr>MS_ClipArt_Gallery.2</vt:lpstr>
      <vt:lpstr>MS_ClipArt_Gallery.2</vt:lpstr>
      <vt:lpstr>MS_ClipArt_Gallery.2</vt:lpstr>
      <vt:lpstr>MS_ClipArt_Gallery.2</vt:lpstr>
      <vt:lpstr>Paint.Picture</vt:lpstr>
      <vt:lpstr>Paint.Picture</vt:lpstr>
      <vt:lpstr>Paint.Picture</vt:lpstr>
      <vt:lpstr>MS_ClipArt_Gallery.2</vt:lpstr>
      <vt:lpstr>Photoshop.Image.8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Photoshop.Image.8</vt:lpstr>
      <vt:lpstr>MS_ClipArt_Gallery.2</vt:lpstr>
      <vt:lpstr>MS_ClipArt_Gallery.2</vt:lpstr>
      <vt:lpstr>MS_ClipArt_Gallery.2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Photoshop.Image.8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Photoshop.Image.8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d7</dc:creator>
  <cp:lastModifiedBy>WPS_1640354101</cp:lastModifiedBy>
  <cp:revision>160</cp:revision>
  <dcterms:created xsi:type="dcterms:W3CDTF">1999-06-03T07:45:11Z</dcterms:created>
  <dcterms:modified xsi:type="dcterms:W3CDTF">2024-03-03T13:54:57Z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119EDF82A2804EE895B671D38C97497B_13</vt:lpwstr>
  </property>
  <property fmtid="{D5CDD505-2E9C-101B-9397-08002B2CF9AE}" pid="3" name="KSOProductBuildVer">
    <vt:lpwstr>2052-12.1.0.16388</vt:lpwstr>
  </property>
</Properties>
</file>